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picnic</c:v>
                </c:pt>
              </c:strCache>
            </c:strRef>
          </c:tx>
          <c:spPr>
            <a:solidFill>
              <a:srgbClr val="D97A14"/>
            </a:solidFill>
          </c:spPr>
          <c:cat>
            <c:strRef>
              <c:f>Sheet1!$A$2:$A$4</c:f>
              <c:strCache>
                <c:ptCount val="3"/>
                <c:pt idx="0">
                  <c:v>apples</c:v>
                </c:pt>
                <c:pt idx="1">
                  <c:v>cups</c:v>
                </c:pt>
                <c:pt idx="2">
                  <c:v>eggs</c:v>
                </c:pt>
              </c:strCache>
            </c:strRef>
          </c:cat>
          <c:val>
            <c:numRef>
              <c:f>Sheet1!$B$2:$B$4</c:f>
              <c:numCache>
                <c:formatCode>General</c:formatCode>
                <c:ptCount val="3"/>
                <c:pt idx="0">
                  <c:v>5</c:v>
                </c:pt>
                <c:pt idx="1">
                  <c:v>2</c:v>
                </c:pt>
                <c:pt idx="2">
                  <c:v>12</c:v>
                </c:pt>
              </c:numCache>
            </c:numRef>
          </c:val>
        </c:ser>
        <c:dLbls>
          <c:numFmt formatCode="0" sourceLinked="0"/>
          <c:txPr>
            <a:bodyPr/>
            <a:lstStyle/>
            <a:p>
              <a:pPr>
                <a:defRPr sz="10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majorTickMark val="out"/>
        <c:minorTickMark val="none"/>
        <c:tickLblPos val="nextTo"/>
        <c:txPr>
          <a:bodyPr/>
          <a:lstStyle/>
          <a:p>
            <a:pPr>
              <a:defRPr sz="900"/>
            </a:pPr>
          </a:p>
        </c:txPr>
        <c:crossAx val="-2068027336"/>
        <c:crosses val="autoZero"/>
      </c:valAx>
    </c:plotArea>
    <c:dispBlanksAs val="gap"/>
  </c:chart>
  <c:txPr>
    <a:bodyPr/>
    <a:lstStyle/>
    <a:p>
      <a:pPr>
        <a:defRPr sz="1000">
          <a:solidFill>
            <a:srgbClr val="2B262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count</c:v>
                </c:pt>
              </c:strCache>
            </c:strRef>
          </c:tx>
          <c:spPr>
            <a:solidFill>
              <a:srgbClr val="D97A14"/>
            </a:solidFill>
          </c:spPr>
          <c:cat>
            <c:strRef>
              <c:f>Sheet1!$A$2:$A$9</c:f>
              <c:strCache>
                <c:ptCount val="8"/>
                <c:pt idx="0">
                  <c:v>space</c:v>
                </c:pt>
                <c:pt idx="1">
                  <c:v>t</c:v>
                </c:pt>
                <c:pt idx="2">
                  <c:v>i</c:v>
                </c:pt>
                <c:pt idx="3">
                  <c:v>r</c:v>
                </c:pt>
                <c:pt idx="4">
                  <c:v>e</c:v>
                </c:pt>
                <c:pt idx="5">
                  <c:v>a</c:v>
                </c:pt>
                <c:pt idx="6">
                  <c:v>n</c:v>
                </c:pt>
                <c:pt idx="7">
                  <c:v>s</c:v>
                </c:pt>
              </c:strCache>
            </c:strRef>
          </c:cat>
          <c:val>
            <c:numRef>
              <c:f>Sheet1!$B$2:$B$9</c:f>
              <c:numCache>
                <c:formatCode>General</c:formatCode>
                <c:ptCount val="8"/>
                <c:pt idx="0">
                  <c:v>13</c:v>
                </c:pt>
                <c:pt idx="1">
                  <c:v>6</c:v>
                </c:pt>
                <c:pt idx="2">
                  <c:v>6</c:v>
                </c:pt>
                <c:pt idx="3">
                  <c:v>5</c:v>
                </c:pt>
                <c:pt idx="4">
                  <c:v>5</c:v>
                </c:pt>
                <c:pt idx="5">
                  <c:v>4</c:v>
                </c:pt>
                <c:pt idx="6">
                  <c:v>4</c:v>
                </c:pt>
                <c:pt idx="7">
                  <c:v>3</c:v>
                </c:pt>
              </c:numCache>
            </c:numRef>
          </c:val>
        </c:ser>
        <c:dLbls>
          <c:numFmt formatCode="0" sourceLinked="0"/>
          <c:txPr>
            <a:bodyPr/>
            <a:lstStyle/>
            <a:p>
              <a:pPr>
                <a:defRPr sz="10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majorTickMark val="out"/>
        <c:minorTickMark val="none"/>
        <c:tickLblPos val="nextTo"/>
        <c:txPr>
          <a:bodyPr/>
          <a:lstStyle/>
          <a:p>
            <a:pPr>
              <a:defRPr sz="900"/>
            </a:pPr>
          </a:p>
        </c:txPr>
        <c:crossAx val="-2068027336"/>
        <c:crosses val="autoZero"/>
      </c:valAx>
    </c:plotArea>
    <c:dispBlanksAs val="gap"/>
  </c:chart>
  <c:txPr>
    <a:bodyPr/>
    <a:lstStyle/>
    <a:p>
      <a:pPr>
        <a:defRPr sz="1000">
          <a:solidFill>
            <a:srgbClr val="2B262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count</c:v>
                </c:pt>
              </c:strCache>
            </c:strRef>
          </c:tx>
          <c:spPr>
            <a:solidFill>
              <a:srgbClr val="D97A14"/>
            </a:solidFill>
          </c:spPr>
          <c:cat>
            <c:strRef>
              <c:f>Sheet1!$A$2:$A$6</c:f>
              <c:strCache>
                <c:ptCount val="5"/>
                <c:pt idx="0">
                  <c:v>a</c:v>
                </c:pt>
                <c:pt idx="1">
                  <c:v>b</c:v>
                </c:pt>
                <c:pt idx="2">
                  <c:v>r</c:v>
                </c:pt>
                <c:pt idx="3">
                  <c:v>c</c:v>
                </c:pt>
                <c:pt idx="4">
                  <c:v>d</c:v>
                </c:pt>
              </c:strCache>
            </c:strRef>
          </c:cat>
          <c:val>
            <c:numRef>
              <c:f>Sheet1!$B$2:$B$6</c:f>
              <c:numCache>
                <c:formatCode>General</c:formatCode>
                <c:ptCount val="5"/>
                <c:pt idx="0">
                  <c:v>5</c:v>
                </c:pt>
                <c:pt idx="1">
                  <c:v>2</c:v>
                </c:pt>
                <c:pt idx="2">
                  <c:v>2</c:v>
                </c:pt>
                <c:pt idx="3">
                  <c:v>1</c:v>
                </c:pt>
                <c:pt idx="4">
                  <c:v>1</c:v>
                </c:pt>
              </c:numCache>
            </c:numRef>
          </c:val>
        </c:ser>
        <c:dLbls>
          <c:numFmt formatCode="0" sourceLinked="0"/>
          <c:txPr>
            <a:bodyPr/>
            <a:lstStyle/>
            <a:p>
              <a:pPr>
                <a:defRPr sz="10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majorTickMark val="out"/>
        <c:minorTickMark val="none"/>
        <c:tickLblPos val="nextTo"/>
        <c:txPr>
          <a:bodyPr/>
          <a:lstStyle/>
          <a:p>
            <a:pPr>
              <a:defRPr sz="900"/>
            </a:pPr>
          </a:p>
        </c:txPr>
        <c:crossAx val="-2068027336"/>
        <c:crosses val="autoZero"/>
      </c:valAx>
    </c:plotArea>
    <c:dispBlanksAs val="gap"/>
  </c:chart>
  <c:txPr>
    <a:bodyPr/>
    <a:lstStyle/>
    <a:p>
      <a:pPr>
        <a:defRPr sz="1000">
          <a:solidFill>
            <a:srgbClr val="2B262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Alice</c:v>
                </c:pt>
              </c:strCache>
            </c:strRef>
          </c:tx>
          <c:spPr>
            <a:solidFill>
              <a:srgbClr val="D97A14"/>
            </a:solidFill>
          </c:spPr>
          <c:cat>
            <c:strRef>
              <c:f>Sheet1!$A$2:$A$4</c:f>
              <c:strCache>
                <c:ptCount val="3"/>
                <c:pt idx="0">
                  <c:v>apples</c:v>
                </c:pt>
                <c:pt idx="1">
                  <c:v>pretzels</c:v>
                </c:pt>
                <c:pt idx="2">
                  <c:v>ham sandwiches</c:v>
                </c:pt>
              </c:strCache>
            </c:strRef>
          </c:cat>
          <c:val>
            <c:numRef>
              <c:f>Sheet1!$B$2:$B$4</c:f>
              <c:numCache>
                <c:formatCode>General</c:formatCode>
                <c:ptCount val="3"/>
                <c:pt idx="0">
                  <c:v>5</c:v>
                </c:pt>
                <c:pt idx="1">
                  <c:v>12</c:v>
                </c:pt>
              </c:numCache>
            </c:numRef>
          </c:val>
        </c:ser>
        <c:ser>
          <c:idx val="1"/>
          <c:order val="1"/>
          <c:tx>
            <c:strRef>
              <c:f>Sheet1!$C$1</c:f>
              <c:strCache>
                <c:ptCount val="1"/>
                <c:pt idx="0">
                  <c:v>Bob</c:v>
                </c:pt>
              </c:strCache>
            </c:strRef>
          </c:tx>
          <c:spPr>
            <a:solidFill>
              <a:srgbClr val="2F6D62"/>
            </a:solidFill>
          </c:spPr>
          <c:cat>
            <c:strRef>
              <c:f>Sheet1!$A$2:$A$4</c:f>
              <c:strCache>
                <c:ptCount val="3"/>
                <c:pt idx="0">
                  <c:v>apples</c:v>
                </c:pt>
                <c:pt idx="1">
                  <c:v>pretzels</c:v>
                </c:pt>
                <c:pt idx="2">
                  <c:v>ham sandwiches</c:v>
                </c:pt>
              </c:strCache>
            </c:strRef>
          </c:cat>
          <c:val>
            <c:numRef>
              <c:f>Sheet1!$C$2:$C$4</c:f>
              <c:numCache>
                <c:formatCode>General</c:formatCode>
                <c:ptCount val="3"/>
                <c:pt idx="0">
                  <c:v>2</c:v>
                </c:pt>
                <c:pt idx="2">
                  <c:v>3</c:v>
                </c:pt>
              </c:numCache>
            </c:numRef>
          </c:val>
        </c:ser>
        <c:dLbls>
          <c:numFmt formatCode="0" sourceLinked="0"/>
          <c:txPr>
            <a:bodyPr/>
            <a:lstStyle/>
            <a:p>
              <a:pPr>
                <a:defRPr sz="1000" b="1"/>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majorTickMark val="out"/>
        <c:minorTickMark val="none"/>
        <c:tickLblPos val="nextTo"/>
        <c:txPr>
          <a:bodyPr/>
          <a:lstStyle/>
          <a:p>
            <a:pPr>
              <a:defRPr sz="900"/>
            </a:pPr>
          </a:p>
        </c:txPr>
        <c:crossAx val="-2068027336"/>
        <c:crosses val="autoZero"/>
      </c:valAx>
    </c:plotArea>
    <c:legend>
      <c:legendPos/>
      <c:overlay val="0"/>
      <c:txPr>
        <a:bodyPr/>
        <a:lstStyle/>
        <a:p>
          <a:pPr>
            <a:defRPr sz="1000"/>
          </a:pPr>
        </a:p>
      </c:txPr>
    </c:legend>
    <c:dispBlanksAs val="gap"/>
  </c:chart>
  <c:txPr>
    <a:bodyPr/>
    <a:lstStyle/>
    <a:p>
      <a:pPr>
        <a:defRPr sz="1000">
          <a:solidFill>
            <a:srgbClr val="2B262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how many</c:v>
                </c:pt>
              </c:strCache>
            </c:strRef>
          </c:tx>
          <c:spPr>
            <a:solidFill>
              <a:srgbClr val="D97A14"/>
            </a:solidFill>
          </c:spPr>
          <c:cat>
            <c:strRef>
              <c:f>Sheet1!$A$2:$A$4</c:f>
              <c:strCache>
                <c:ptCount val="3"/>
                <c:pt idx="0">
                  <c:v>rope</c:v>
                </c:pt>
                <c:pt idx="1">
                  <c:v>torch</c:v>
                </c:pt>
                <c:pt idx="2">
                  <c:v>gold coin</c:v>
                </c:pt>
              </c:strCache>
            </c:strRef>
          </c:cat>
          <c:val>
            <c:numRef>
              <c:f>Sheet1!$B$2:$B$4</c:f>
              <c:numCache>
                <c:formatCode>General</c:formatCode>
                <c:ptCount val="3"/>
                <c:pt idx="0">
                  <c:v>1</c:v>
                </c:pt>
                <c:pt idx="1">
                  <c:v>6</c:v>
                </c:pt>
                <c:pt idx="2">
                  <c:v>42</c:v>
                </c:pt>
              </c:numCache>
            </c:numRef>
          </c:val>
        </c:ser>
        <c:dLbls>
          <c:numFmt formatCode="0" sourceLinked="0"/>
          <c:txPr>
            <a:bodyPr/>
            <a:lstStyle/>
            <a:p>
              <a:pPr>
                <a:defRPr sz="10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in val="0.0"/>
        </c:scaling>
        <c:delete val="0"/>
        <c:axPos val="b"/>
        <c:majorGridlines>
          <c:spPr>
            <a:ln>
              <a:solidFill>
                <a:srgbClr val="DFD6C7"/>
              </a:solidFill>
            </a:ln>
          </c:spPr>
        </c:majorGridlines>
        <c:majorTickMark val="out"/>
        <c:minorTickMark val="none"/>
        <c:tickLblPos val="nextTo"/>
        <c:txPr>
          <a:bodyPr/>
          <a:lstStyle/>
          <a:p>
            <a:pPr>
              <a:defRPr sz="900"/>
            </a:pPr>
          </a:p>
        </c:txPr>
        <c:crossAx val="-2068027336"/>
        <c:crosses val="autoZero"/>
      </c:valAx>
    </c:plotArea>
    <c:dispBlanksAs val="gap"/>
  </c:chart>
  <c:txPr>
    <a:bodyPr/>
    <a:lstStyle/>
    <a:p>
      <a:pPr>
        <a:defRPr sz="1000">
          <a:solidFill>
            <a:srgbClr val="2B2622"/>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before</c:v>
                </c:pt>
              </c:strCache>
            </c:strRef>
          </c:tx>
          <c:spPr>
            <a:solidFill>
              <a:srgbClr val="D97A14"/>
            </a:solidFill>
          </c:spPr>
          <c:cat>
            <c:strRef>
              <c:f>Sheet1!$A$2:$A$5</c:f>
              <c:strCache>
                <c:ptCount val="4"/>
                <c:pt idx="0">
                  <c:v>gold coin</c:v>
                </c:pt>
                <c:pt idx="1">
                  <c:v>rope</c:v>
                </c:pt>
                <c:pt idx="2">
                  <c:v>dagger</c:v>
                </c:pt>
                <c:pt idx="3">
                  <c:v>ruby</c:v>
                </c:pt>
              </c:strCache>
            </c:strRef>
          </c:cat>
          <c:val>
            <c:numRef>
              <c:f>Sheet1!$B$2:$B$5</c:f>
              <c:numCache>
                <c:formatCode>General</c:formatCode>
                <c:ptCount val="4"/>
                <c:pt idx="0">
                  <c:v>42</c:v>
                </c:pt>
                <c:pt idx="1">
                  <c:v>1</c:v>
                </c:pt>
              </c:numCache>
            </c:numRef>
          </c:val>
        </c:ser>
        <c:ser>
          <c:idx val="1"/>
          <c:order val="1"/>
          <c:tx>
            <c:strRef>
              <c:f>Sheet1!$C$1</c:f>
              <c:strCache>
                <c:ptCount val="1"/>
                <c:pt idx="0">
                  <c:v>after</c:v>
                </c:pt>
              </c:strCache>
            </c:strRef>
          </c:tx>
          <c:spPr>
            <a:solidFill>
              <a:srgbClr val="2F6D62"/>
            </a:solidFill>
          </c:spPr>
          <c:cat>
            <c:strRef>
              <c:f>Sheet1!$A$2:$A$5</c:f>
              <c:strCache>
                <c:ptCount val="4"/>
                <c:pt idx="0">
                  <c:v>gold coin</c:v>
                </c:pt>
                <c:pt idx="1">
                  <c:v>rope</c:v>
                </c:pt>
                <c:pt idx="2">
                  <c:v>dagger</c:v>
                </c:pt>
                <c:pt idx="3">
                  <c:v>ruby</c:v>
                </c:pt>
              </c:strCache>
            </c:strRef>
          </c:cat>
          <c:val>
            <c:numRef>
              <c:f>Sheet1!$C$2:$C$5</c:f>
              <c:numCache>
                <c:formatCode>General</c:formatCode>
                <c:ptCount val="4"/>
                <c:pt idx="0">
                  <c:v>44</c:v>
                </c:pt>
                <c:pt idx="1">
                  <c:v>1</c:v>
                </c:pt>
                <c:pt idx="2">
                  <c:v>1</c:v>
                </c:pt>
                <c:pt idx="3">
                  <c:v>1</c:v>
                </c:pt>
              </c:numCache>
            </c:numRef>
          </c:val>
        </c:ser>
        <c:dLbls>
          <c:numFmt formatCode="0" sourceLinked="0"/>
          <c:txPr>
            <a:bodyPr/>
            <a:lstStyle/>
            <a:p>
              <a:pPr>
                <a:defRPr sz="10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majorTickMark val="out"/>
        <c:minorTickMark val="none"/>
        <c:tickLblPos val="nextTo"/>
        <c:txPr>
          <a:bodyPr/>
          <a:lstStyle/>
          <a:p>
            <a:pPr>
              <a:defRPr sz="900"/>
            </a:pPr>
          </a:p>
        </c:txPr>
        <c:crossAx val="-2068027336"/>
        <c:crosses val="autoZero"/>
      </c:valAx>
    </c:plotArea>
    <c:legend>
      <c:legendPos/>
      <c:overlay val="0"/>
      <c:txPr>
        <a:bodyPr/>
        <a:lstStyle/>
        <a:p>
          <a:pPr>
            <a:defRPr sz="1000"/>
          </a:pPr>
        </a:p>
      </c:txPr>
    </c:legend>
    <c:dispBlanksAs val="gap"/>
  </c:chart>
  <c:txPr>
    <a:bodyPr/>
    <a:lstStyle/>
    <a:p>
      <a:pPr>
        <a:defRPr sz="1000">
          <a:solidFill>
            <a:srgbClr val="2B262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is about the dictionary: pairs of a key and a value, found by key. We count with it, model a chessboard with it, copy it and write it down as text. Every result you see was run under Python 3.14.6.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take us from one pair to a chessboard. Each part opens with a divider that names its concepts. The deck follows the sections of the book chapter and adds what current Python offers.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questions are the chapter. Keep them in mind: each part of the deck answers one, and the summary answers all five in a line each.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introduces the dictionary data type. A dictionary holds key-value pairs. A key must be hashable, and since Python 3.7 the keys remember the order in which they were added.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dictionary is a collection of key-value pairs between braces. You ask by key and the value comes back at once, however many pairs there are. len() counts the pairs.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list names its items by position, so order matters for equality. A dictionary names them by key, so two dictionaries with the same pairs are equal. Insertion order is still kept and shown by list().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says a dictionary has no first item. That was true of old Python. Since 3.7 the language guarantees that keys keep the order in which they were added, and a re-added key goes to the 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15 December 2017 Guido van Rossum answered a question about ordered dictionaries with the words 'Make it so'. From Python 3.7 the order of adding is part of the language, and the book's 'no first item' is out of date.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files each key by its hash, a number that must never change while the key is in the dictionary. Lists, sets and dictionaries can change, so they are unhashable and cannot be keys. Equal numbers share one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dictionary is like a phone book or a coat check. The key is the ticket, the value is the coat, and a key must never change, or the coat is lost.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covers the everyday operations. We read keys, values and items, test for a key safely, set defaults, and add, remove and merge pairs.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methods return views, not lists. Wrapping them in list() makes them printable. items() is the one you use in loops, because it gives the key and the value together.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Brackets on a missing key raise a KeyError. The in test and get() do not, so they suit data where a key may be absent. get() lets you choose the fallback value.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setdefault() does two jobs in one call. If the key is missing it stores your default; either way it returns the value now in the dictionary. That makes counting and grouping short.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Assignment adds a pair or replaces its value. del removes by key and pop also returns the value. The merge operator arrived in Python 3.9 and builds a new dictionary instead of changing either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keys(), values() and items() return views that show later changes. list() copies the keys at one moment. sorted() returns a new sorted list, and reversed() walks the keys from the newest.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keys, values and items are like the labels, the goods and both together on a shop shelf. A view is a window onto the shop, and list() is a photograph of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for a key is like asking the desk about a ticket. get() is the polite attendant, setdefault() hangs a coat only on a free hook, and del tears the line out.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uses the dictionary as a program's memory. birthdays.py learns new pairs, characterCount.py counts characters, and Counter and defaultdict shorten counting and grouping.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book's program asks with input() and leaves the loop with break; sys.exit() would end the whole program. Here a scripted list stands in for the keyboard so that the run is repeatable.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character is a key and its count is the value. setdefault() makes sure the key exists before one is added. The chart shows the eight most frequent characters of the sentence.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 in the character counter is the first sentence of Nineteen Eighty-Four, published on 8 June 1949. A real sentence makes the counts meaningful: thirteen spaces, and the same table would count the whole book.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Counter is a dictionary built for counting. It does by itself what the setdefault loop did. A key that was never seen answers 0 without being added.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Grouping is counting with lists instead of numbers. The first letter is the key and the list of words is the value. defaultdict(list) builds the empty list automatically, so the loop gets shorter.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birthdays.py is like a pocket diary and characterCount.py like tally marks. input() waits at the counter like an assistant, and sys.exit() is the fire door.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is about structuring data. We model a chessboard, validate it, nest dictionaries for a picnic, and turn lists of loot into inventories.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board of the book's Figure 7-2. Only occupied squares are keys, so an empty square is simply absent. The model keeps the data apart from how it is drawn.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Philipp Stamma used the modern square names in the 1730s, Howard Staunton described the system in 1847, and FIDE stopped recognising descriptive notation in 1981. The chessboard dictionary borrows those names as its keys.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printing code never changes the dictionary. For each rank it looks up eight squares with get() and a fallback of two dots. The table shows the printed lines as a board.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simulator's move command is an assignment followed by del. format() builds the sentence that reports the move. copy.copy() makes sure that START is still intact afterwards.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rule looks at the keys: each must be a real square. The second looks at the values: one white king and one black king. The shortened validator shows the idea of the chapter's practice program.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outer dictionary maps a guest to an inner dictionary. Two brackets reach an inner value. get() with 0 avoids a KeyError for guests who did not bring an item.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display function of the inventory practice program. items() gives the item and its count, and the running total adds the counts. The chart draws the same dictionary.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looks up each item with get() and a default of 0, adds one and stores it back. Known items grow and new items appear. The chart shows the resulting inventory.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 model is like a floor plan and a street map: it keeps what matters. Nested dictionaries are like Russian dolls, and format is like a letter template.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chessboard is like a pocket chess set and the validator like an arbiter. copy.copy() is like photocopying a folder's cover, not its pages.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finishes the chapter. We copy dictionaries with care, write them as JSON, name their keys with TypedDict, and match their shape with the match statement.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alias is the same object, so it sees every change. The shallow copy has its own outer dictionary but shares the inner ones, so it sees the change too. Only deepcopy is independent.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JSON is plain text built from the same pieces as a dictionary: pairs and lists. dumps() writes it and loads() reads it back. pprint is for people reading nested data, not for storing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Douglas Crockford and Chip Morningstar sent the first JSON message in April 2001. Yahoo began offering web services in JSON in December 2005, and the IETF published it as RFC 8259 in December 2017. Python's json module converts between it and dictionaries.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TypedDict documents what keys a record has, but Python does not enforce it while running. MappingProxyType is a read-only window onto a dictionary, which stops accidental changes.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mapping pattern checks that the keys exist and binds the values to names. Extra keys are allowed. The first case that fits wins, and a guard such as a &gt; 5 can refuse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chapter's printed outputs still hold. Six things differ or go further: the order promise, the merge operators, live views, the hashing rule, TypedDict and mapping patterns.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ends with questions and programs. Answer the questions from the examples you have seen, then write the three programs yourself: the validator, the inventory and the loot conversion.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summary is like the last line of a recipe card. Practice questions are like mock driving questions, and practice programs are like a workshop evening.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five lines that answer the five questions. If one of them feels unproven, go back to the slide that carries its example.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links lead to the textbook, the official documentation, the history behind the stories, a talk on modern dictionaries and a tool to step through your code. The last one is this course's own repository.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claims are what you should leave with. Bring one example you could not predict, and we will run it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hyperlink" Target="https://mail.python.org/pipermail/python-dev/2017-December/151283.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chart" Target="../charts/char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3.jpg"/><Relationship Id="rId4" Type="http://schemas.openxmlformats.org/officeDocument/2006/relationships/hyperlink" Target="https://en.wikipedia.org/wiki/Nineteen_Eighty-Four"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chart" Target="../charts/char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5.jpg"/><Relationship Id="rId4" Type="http://schemas.openxmlformats.org/officeDocument/2006/relationships/hyperlink" Target="https://en.wikipedia.org/wiki/Algebraic_notation_(ches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chart" Target="../charts/char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chart" Target="../charts/char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chart" Target="../charts/char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6.jpg"/><Relationship Id="rId4" Type="http://schemas.openxmlformats.org/officeDocument/2006/relationships/hyperlink" Target="https://www.json.org/json-en.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hyperlink" Target="https://automatetheboringstuff.com/3e/chapter7.html" TargetMode="External"/><Relationship Id="rId4" Type="http://schemas.openxmlformats.org/officeDocument/2006/relationships/hyperlink" Target="https://docs.python.org/3/tutorial/datastructures.html" TargetMode="External"/><Relationship Id="rId5" Type="http://schemas.openxmlformats.org/officeDocument/2006/relationships/hyperlink" Target="https://docs.python.org/3/library/stdtypes.html#mapping-types-dict" TargetMode="External"/><Relationship Id="rId6" Type="http://schemas.openxmlformats.org/officeDocument/2006/relationships/hyperlink" Target="https://docs.python.org/3/library/collections.html" TargetMode="External"/><Relationship Id="rId7" Type="http://schemas.openxmlformats.org/officeDocument/2006/relationships/hyperlink" Target="https://docs.python.org/3/library/copy.html" TargetMode="External"/><Relationship Id="rId8" Type="http://schemas.openxmlformats.org/officeDocument/2006/relationships/hyperlink" Target="https://docs.python.org/3/library/json.html" TargetMode="External"/><Relationship Id="rId9" Type="http://schemas.openxmlformats.org/officeDocument/2006/relationships/hyperlink" Target="https://mail.python.org/pipermail/python-dev/2017-December/151283.html" TargetMode="External"/><Relationship Id="rId10" Type="http://schemas.openxmlformats.org/officeDocument/2006/relationships/hyperlink" Target="https://peps.python.org/pep-0584/" TargetMode="External"/><Relationship Id="rId11" Type="http://schemas.openxmlformats.org/officeDocument/2006/relationships/hyperlink" Target="https://datatracker.ietf.org/doc/html/rfc8259" TargetMode="External"/><Relationship Id="rId12" Type="http://schemas.openxmlformats.org/officeDocument/2006/relationships/hyperlink" Target="https://www.youtube.com/watch?v=p33CVV29OG8" TargetMode="External"/><Relationship Id="rId13" Type="http://schemas.openxmlformats.org/officeDocument/2006/relationships/hyperlink" Target="https://pythontutor.com/" TargetMode="External"/><Relationship Id="rId14" Type="http://schemas.openxmlformats.org/officeDocument/2006/relationships/hyperlink" Target="https://docs.python.org/3/library/pprint.html" TargetMode="External"/><Relationship Id="rId15" Type="http://schemas.openxmlformats.org/officeDocument/2006/relationships/hyperlink" Target="https://github.com/altunelyusuf/AdvancedProgrammingWithPytho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548640" y="822960"/>
            <a:ext cx="4754880" cy="1554480"/>
          </a:xfrm>
        </p:spPr>
        <p:txBody>
          <a:bodyPr wrap="square" anchor="ctr" lIns="0" rIns="0" tIns="0" bIns="0"/>
          <a:lstStyle/>
          <a:p>
            <a:pPr algn="l"/>
            <a:r>
              <a:rPr b="1" sz="3000">
                <a:solidFill>
                  <a:srgbClr val="2B2622"/>
                </a:solidFill>
                <a:latin typeface="Cambria"/>
              </a:rPr>
              <a:t>Chapter 7: Dictionaries and Structuring Data</a:t>
            </a:r>
          </a:p>
        </p:txBody>
      </p:sp>
      <p:sp>
        <p:nvSpPr>
          <p:cNvPr id="3" name="accent"/>
          <p:cNvSpPr/>
          <p:nvPr/>
        </p:nvSpPr>
        <p:spPr>
          <a:xfrm>
            <a:off x="548640" y="502920"/>
            <a:ext cx="822960" cy="109728"/>
          </a:xfrm>
          <a:prstGeom prst="roundRect">
            <a:avLst>
              <a:gd name="adj" fmla="val 50000"/>
            </a:avLst>
          </a:prstGeom>
          <a:solidFill>
            <a:srgbClr val="D97A14"/>
          </a:solidFill>
          <a:ln>
            <a:solidFill>
              <a:srgbClr val="D97A14"/>
            </a:solidFill>
          </a:ln>
        </p:spPr>
        <p:txBody>
          <a:bodyPr rtlCol="0" anchor="ctr"/>
          <a:lstStyle/>
          <a:p>
            <a:pPr algn="ctr"/>
          </a:p>
        </p:txBody>
      </p:sp>
      <p:sp>
        <p:nvSpPr>
          <p:cNvPr id="4" name="subtitle"/>
          <p:cNvSpPr txBox="1"/>
          <p:nvPr/>
        </p:nvSpPr>
        <p:spPr>
          <a:xfrm>
            <a:off x="548640" y="2514600"/>
            <a:ext cx="4754880" cy="731520"/>
          </a:xfrm>
          <a:prstGeom prst="rect">
            <a:avLst/>
          </a:prstGeom>
          <a:noFill/>
        </p:spPr>
        <p:txBody>
          <a:bodyPr wrap="square" anchor="t" lIns="45720" rIns="45720" tIns="36576" bIns="36576">
            <a:spAutoFit/>
          </a:bodyPr>
          <a:lstStyle/>
          <a:p>
            <a:pPr algn="l"/>
            <a:r>
              <a:rPr sz="1800" b="0" i="1">
                <a:solidFill>
                  <a:srgbClr val="2F6D62"/>
                </a:solidFill>
                <a:latin typeface="Calibri"/>
              </a:rPr>
              <a:t>Pairs, counts, models and the text that carries them</a:t>
            </a:r>
          </a:p>
        </p:txBody>
      </p:sp>
      <p:sp>
        <p:nvSpPr>
          <p:cNvPr id="5" name="course line"/>
          <p:cNvSpPr txBox="1"/>
          <p:nvPr/>
        </p:nvSpPr>
        <p:spPr>
          <a:xfrm>
            <a:off x="548640" y="3429000"/>
            <a:ext cx="4754880" cy="685800"/>
          </a:xfrm>
          <a:prstGeom prst="rect">
            <a:avLst/>
          </a:prstGeom>
          <a:noFill/>
        </p:spPr>
        <p:txBody>
          <a:bodyPr wrap="square" anchor="t" lIns="45720" rIns="45720" tIns="36576" bIns="36576">
            <a:spAutoFit/>
          </a:bodyPr>
          <a:lstStyle/>
          <a:p>
            <a:pPr algn="l"/>
            <a:r>
              <a:rPr sz="1200" b="0" i="0">
                <a:solidFill>
                  <a:srgbClr val="6E655C"/>
                </a:solidFill>
                <a:latin typeface="Calibri"/>
              </a:rPr>
              <a:t>SEN0414 Advanced Programming · Fall 2026 · Yusuf Altunel, PhD · İstanbul Kültür University</a:t>
            </a:r>
          </a:p>
        </p:txBody>
      </p:sp>
      <p:pic>
        <p:nvPicPr>
          <p:cNvPr id="6" name="picture" descr="Sweigart (2025), chapter 7 opener illustration"/>
          <p:cNvPicPr>
            <a:picLocks noChangeAspect="1"/>
          </p:cNvPicPr>
          <p:nvPr/>
        </p:nvPicPr>
        <p:blipFill>
          <a:blip r:embed="rId3"/>
          <a:stretch>
            <a:fillRect/>
          </a:stretch>
        </p:blipFill>
        <p:spPr>
          <a:xfrm>
            <a:off x="5669280" y="822960"/>
            <a:ext cx="2926079" cy="2926079"/>
          </a:xfrm>
          <a:prstGeom prst="rect">
            <a:avLst/>
          </a:prstGeom>
        </p:spPr>
      </p:pic>
      <p:sp>
        <p:nvSpPr>
          <p:cNvPr id="7" name="credit"/>
          <p:cNvSpPr txBox="1"/>
          <p:nvPr/>
        </p:nvSpPr>
        <p:spPr>
          <a:xfrm>
            <a:off x="5669280" y="3758184"/>
            <a:ext cx="2926080" cy="329184"/>
          </a:xfrm>
          <a:prstGeom prst="rect">
            <a:avLst/>
          </a:prstGeom>
          <a:noFill/>
        </p:spPr>
        <p:txBody>
          <a:bodyPr wrap="square" anchor="t" lIns="45720" rIns="45720" tIns="36576" bIns="36576">
            <a:spAutoFit/>
          </a:bodyPr>
          <a:lstStyle/>
          <a:p>
            <a:pPr algn="ctr"/>
            <a:r>
              <a:rPr sz="900" b="0" i="1">
                <a:solidFill>
                  <a:srgbClr val="6E655C"/>
                </a:solidFill>
                <a:latin typeface="Calibri"/>
              </a:rPr>
              <a:t>Sweigart (2025), chapter 7 opener illustration</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 / 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Today's route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Five parts; every range is a run of slides you can jump to</a:t>
            </a:r>
          </a:p>
        </p:txBody>
      </p:sp>
      <p:sp>
        <p:nvSpPr>
          <p:cNvPr id="5" name="route number"/>
          <p:cNvSpPr/>
          <p:nvPr/>
        </p:nvSpPr>
        <p:spPr>
          <a:xfrm>
            <a:off x="457200" y="1143000"/>
            <a:ext cx="365760" cy="329184"/>
          </a:xfrm>
          <a:prstGeom prst="roundRect">
            <a:avLst>
              <a:gd name="adj" fmla="val 22222"/>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1</a:t>
            </a:r>
          </a:p>
        </p:txBody>
      </p:sp>
      <p:sp>
        <p:nvSpPr>
          <p:cNvPr id="6" name="route row"/>
          <p:cNvSpPr/>
          <p:nvPr/>
        </p:nvSpPr>
        <p:spPr>
          <a:xfrm>
            <a:off x="914400" y="1143000"/>
            <a:ext cx="5120640" cy="329184"/>
          </a:xfrm>
          <a:prstGeom prst="roundRect">
            <a:avLst>
              <a:gd name="adj" fmla="val 22222"/>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Opening: questions and the map of the chapter  (slides 1-3)</a:t>
            </a:r>
          </a:p>
        </p:txBody>
      </p:sp>
      <p:sp>
        <p:nvSpPr>
          <p:cNvPr id="7" name="route number"/>
          <p:cNvSpPr/>
          <p:nvPr/>
        </p:nvSpPr>
        <p:spPr>
          <a:xfrm>
            <a:off x="457200" y="1545336"/>
            <a:ext cx="365760" cy="329184"/>
          </a:xfrm>
          <a:prstGeom prst="roundRect">
            <a:avLst>
              <a:gd name="adj" fmla="val 22222"/>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2</a:t>
            </a:r>
          </a:p>
        </p:txBody>
      </p:sp>
      <p:sp>
        <p:nvSpPr>
          <p:cNvPr id="8" name="route row"/>
          <p:cNvSpPr/>
          <p:nvPr/>
        </p:nvSpPr>
        <p:spPr>
          <a:xfrm>
            <a:off x="914400" y="1545336"/>
            <a:ext cx="5120640" cy="329184"/>
          </a:xfrm>
          <a:prstGeom prst="roundRect">
            <a:avLst>
              <a:gd name="adj" fmla="val 22222"/>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1: The dictionary and its keys  (slides 4-10)</a:t>
            </a:r>
          </a:p>
        </p:txBody>
      </p:sp>
      <p:sp>
        <p:nvSpPr>
          <p:cNvPr id="9" name="route number"/>
          <p:cNvSpPr/>
          <p:nvPr/>
        </p:nvSpPr>
        <p:spPr>
          <a:xfrm>
            <a:off x="457200" y="1947672"/>
            <a:ext cx="365760" cy="329184"/>
          </a:xfrm>
          <a:prstGeom prst="roundRect">
            <a:avLst>
              <a:gd name="adj" fmla="val 22222"/>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3</a:t>
            </a:r>
          </a:p>
        </p:txBody>
      </p:sp>
      <p:sp>
        <p:nvSpPr>
          <p:cNvPr id="10" name="route row"/>
          <p:cNvSpPr/>
          <p:nvPr/>
        </p:nvSpPr>
        <p:spPr>
          <a:xfrm>
            <a:off x="914400" y="1947672"/>
            <a:ext cx="5120640" cy="329184"/>
          </a:xfrm>
          <a:prstGeom prst="roundRect">
            <a:avLst>
              <a:gd name="adj" fmla="val 22222"/>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2: Reading and changing pairs  (slides 11-18)</a:t>
            </a:r>
          </a:p>
        </p:txBody>
      </p:sp>
      <p:sp>
        <p:nvSpPr>
          <p:cNvPr id="11" name="route number"/>
          <p:cNvSpPr/>
          <p:nvPr/>
        </p:nvSpPr>
        <p:spPr>
          <a:xfrm>
            <a:off x="457200" y="2350008"/>
            <a:ext cx="365760" cy="329184"/>
          </a:xfrm>
          <a:prstGeom prst="roundRect">
            <a:avLst>
              <a:gd name="adj" fmla="val 22222"/>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4</a:t>
            </a:r>
          </a:p>
        </p:txBody>
      </p:sp>
      <p:sp>
        <p:nvSpPr>
          <p:cNvPr id="12" name="route row"/>
          <p:cNvSpPr/>
          <p:nvPr/>
        </p:nvSpPr>
        <p:spPr>
          <a:xfrm>
            <a:off x="914400" y="2350008"/>
            <a:ext cx="5120640" cy="329184"/>
          </a:xfrm>
          <a:prstGeom prst="roundRect">
            <a:avLst>
              <a:gd name="adj" fmla="val 22222"/>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3: Programs that count and learn  (slides 19-25)</a:t>
            </a:r>
          </a:p>
        </p:txBody>
      </p:sp>
      <p:sp>
        <p:nvSpPr>
          <p:cNvPr id="13" name="route number"/>
          <p:cNvSpPr/>
          <p:nvPr/>
        </p:nvSpPr>
        <p:spPr>
          <a:xfrm>
            <a:off x="457200" y="2752344"/>
            <a:ext cx="365760" cy="329184"/>
          </a:xfrm>
          <a:prstGeom prst="roundRect">
            <a:avLst>
              <a:gd name="adj" fmla="val 22222"/>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5</a:t>
            </a:r>
          </a:p>
        </p:txBody>
      </p:sp>
      <p:sp>
        <p:nvSpPr>
          <p:cNvPr id="14" name="route row"/>
          <p:cNvSpPr/>
          <p:nvPr/>
        </p:nvSpPr>
        <p:spPr>
          <a:xfrm>
            <a:off x="914400" y="2752344"/>
            <a:ext cx="5120640" cy="329184"/>
          </a:xfrm>
          <a:prstGeom prst="roundRect">
            <a:avLst>
              <a:gd name="adj" fmla="val 22222"/>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4: Structuring data  (slides 26-36)</a:t>
            </a:r>
          </a:p>
        </p:txBody>
      </p:sp>
      <p:sp>
        <p:nvSpPr>
          <p:cNvPr id="15" name="route number"/>
          <p:cNvSpPr/>
          <p:nvPr/>
        </p:nvSpPr>
        <p:spPr>
          <a:xfrm>
            <a:off x="457200" y="3154680"/>
            <a:ext cx="365760" cy="329184"/>
          </a:xfrm>
          <a:prstGeom prst="roundRect">
            <a:avLst>
              <a:gd name="adj" fmla="val 22222"/>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6</a:t>
            </a:r>
          </a:p>
        </p:txBody>
      </p:sp>
      <p:sp>
        <p:nvSpPr>
          <p:cNvPr id="16" name="route row"/>
          <p:cNvSpPr/>
          <p:nvPr/>
        </p:nvSpPr>
        <p:spPr>
          <a:xfrm>
            <a:off x="914400" y="3154680"/>
            <a:ext cx="5120640" cy="329184"/>
          </a:xfrm>
          <a:prstGeom prst="roundRect">
            <a:avLst>
              <a:gd name="adj" fmla="val 22222"/>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5: Copies and writing data down  (slides 37-42)</a:t>
            </a:r>
          </a:p>
        </p:txBody>
      </p:sp>
      <p:sp>
        <p:nvSpPr>
          <p:cNvPr id="17" name="route number"/>
          <p:cNvSpPr/>
          <p:nvPr/>
        </p:nvSpPr>
        <p:spPr>
          <a:xfrm>
            <a:off x="457200" y="3557016"/>
            <a:ext cx="365760" cy="329184"/>
          </a:xfrm>
          <a:prstGeom prst="roundRect">
            <a:avLst>
              <a:gd name="adj" fmla="val 22222"/>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7</a:t>
            </a:r>
          </a:p>
        </p:txBody>
      </p:sp>
      <p:sp>
        <p:nvSpPr>
          <p:cNvPr id="18" name="route row"/>
          <p:cNvSpPr/>
          <p:nvPr/>
        </p:nvSpPr>
        <p:spPr>
          <a:xfrm>
            <a:off x="914400" y="3557016"/>
            <a:ext cx="5120640" cy="329184"/>
          </a:xfrm>
          <a:prstGeom prst="roundRect">
            <a:avLst>
              <a:gd name="adj" fmla="val 22222"/>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Today's Python, practice, summary and resources  (slides 43-48)</a:t>
            </a:r>
          </a:p>
        </p:txBody>
      </p:sp>
      <p:sp>
        <p:nvSpPr>
          <p:cNvPr id="19" name="stat card"/>
          <p:cNvSpPr/>
          <p:nvPr/>
        </p:nvSpPr>
        <p:spPr>
          <a:xfrm>
            <a:off x="6309360" y="1143000"/>
            <a:ext cx="2377440" cy="850392"/>
          </a:xfrm>
          <a:prstGeom prst="roundRect">
            <a:avLst>
              <a:gd name="adj" fmla="val 8602"/>
            </a:avLst>
          </a:prstGeom>
          <a:solidFill>
            <a:srgbClr val="F2ECE1"/>
          </a:solidFill>
          <a:ln>
            <a:solidFill>
              <a:srgbClr val="F2ECE1"/>
            </a:solidFill>
          </a:ln>
        </p:spPr>
        <p:txBody>
          <a:bodyPr rtlCol="0" anchor="ctr"/>
          <a:lstStyle/>
          <a:p>
            <a:pPr algn="ctr"/>
          </a:p>
        </p:txBody>
      </p:sp>
      <p:sp>
        <p:nvSpPr>
          <p:cNvPr id="20" name="stat number"/>
          <p:cNvSpPr txBox="1"/>
          <p:nvPr/>
        </p:nvSpPr>
        <p:spPr>
          <a:xfrm>
            <a:off x="6355080" y="1143000"/>
            <a:ext cx="2286000" cy="411480"/>
          </a:xfrm>
          <a:prstGeom prst="rect">
            <a:avLst/>
          </a:prstGeom>
          <a:noFill/>
        </p:spPr>
        <p:txBody>
          <a:bodyPr wrap="square" anchor="t" lIns="45720" rIns="45720" tIns="36576" bIns="36576">
            <a:spAutoFit/>
          </a:bodyPr>
          <a:lstStyle/>
          <a:p>
            <a:pPr algn="ctr"/>
            <a:r>
              <a:rPr sz="2400" b="1" i="0">
                <a:solidFill>
                  <a:srgbClr val="D97A14"/>
                </a:solidFill>
                <a:latin typeface="Cambria"/>
              </a:rPr>
              <a:t>48</a:t>
            </a:r>
          </a:p>
        </p:txBody>
      </p:sp>
      <p:sp>
        <p:nvSpPr>
          <p:cNvPr id="21" name="stat label"/>
          <p:cNvSpPr txBox="1"/>
          <p:nvPr/>
        </p:nvSpPr>
        <p:spPr>
          <a:xfrm>
            <a:off x="6355080" y="1536192"/>
            <a:ext cx="2286000" cy="438912"/>
          </a:xfrm>
          <a:prstGeom prst="rect">
            <a:avLst/>
          </a:prstGeom>
          <a:noFill/>
        </p:spPr>
        <p:txBody>
          <a:bodyPr wrap="square" anchor="t" lIns="45720" rIns="45720" tIns="36576" bIns="36576">
            <a:spAutoFit/>
          </a:bodyPr>
          <a:lstStyle/>
          <a:p>
            <a:pPr algn="ctr"/>
            <a:r>
              <a:rPr sz="1050" b="0" i="0">
                <a:solidFill>
                  <a:srgbClr val="2B2622"/>
                </a:solidFill>
                <a:latin typeface="Calibri"/>
              </a:rPr>
              <a:t>slides, numbered bottom-right</a:t>
            </a:r>
          </a:p>
        </p:txBody>
      </p:sp>
      <p:sp>
        <p:nvSpPr>
          <p:cNvPr id="22" name="stat card"/>
          <p:cNvSpPr/>
          <p:nvPr/>
        </p:nvSpPr>
        <p:spPr>
          <a:xfrm>
            <a:off x="6309360" y="2084832"/>
            <a:ext cx="2377440" cy="850392"/>
          </a:xfrm>
          <a:prstGeom prst="roundRect">
            <a:avLst>
              <a:gd name="adj" fmla="val 8602"/>
            </a:avLst>
          </a:prstGeom>
          <a:solidFill>
            <a:srgbClr val="F2ECE1"/>
          </a:solidFill>
          <a:ln>
            <a:solidFill>
              <a:srgbClr val="F2ECE1"/>
            </a:solidFill>
          </a:ln>
        </p:spPr>
        <p:txBody>
          <a:bodyPr rtlCol="0" anchor="ctr"/>
          <a:lstStyle/>
          <a:p>
            <a:pPr algn="ctr"/>
          </a:p>
        </p:txBody>
      </p:sp>
      <p:sp>
        <p:nvSpPr>
          <p:cNvPr id="23" name="stat number"/>
          <p:cNvSpPr txBox="1"/>
          <p:nvPr/>
        </p:nvSpPr>
        <p:spPr>
          <a:xfrm>
            <a:off x="6355080" y="2084832"/>
            <a:ext cx="2286000" cy="411480"/>
          </a:xfrm>
          <a:prstGeom prst="rect">
            <a:avLst/>
          </a:prstGeom>
          <a:noFill/>
        </p:spPr>
        <p:txBody>
          <a:bodyPr wrap="square" anchor="t" lIns="45720" rIns="45720" tIns="36576" bIns="36576">
            <a:spAutoFit/>
          </a:bodyPr>
          <a:lstStyle/>
          <a:p>
            <a:pPr algn="ctr"/>
            <a:r>
              <a:rPr sz="2400" b="1" i="0">
                <a:solidFill>
                  <a:srgbClr val="D97A14"/>
                </a:solidFill>
                <a:latin typeface="Cambria"/>
              </a:rPr>
              <a:t>24</a:t>
            </a:r>
          </a:p>
        </p:txBody>
      </p:sp>
      <p:sp>
        <p:nvSpPr>
          <p:cNvPr id="24" name="stat label"/>
          <p:cNvSpPr txBox="1"/>
          <p:nvPr/>
        </p:nvSpPr>
        <p:spPr>
          <a:xfrm>
            <a:off x="6355080" y="2478024"/>
            <a:ext cx="2286000" cy="438912"/>
          </a:xfrm>
          <a:prstGeom prst="rect">
            <a:avLst/>
          </a:prstGeom>
          <a:noFill/>
        </p:spPr>
        <p:txBody>
          <a:bodyPr wrap="square" anchor="t" lIns="45720" rIns="45720" tIns="36576" bIns="36576">
            <a:spAutoFit/>
          </a:bodyPr>
          <a:lstStyle/>
          <a:p>
            <a:pPr algn="ctr"/>
            <a:r>
              <a:rPr sz="1050" b="0" i="0">
                <a:solidFill>
                  <a:srgbClr val="2B2622"/>
                </a:solidFill>
                <a:latin typeface="Calibri"/>
              </a:rPr>
              <a:t>code examples, each with its result</a:t>
            </a:r>
          </a:p>
        </p:txBody>
      </p:sp>
      <p:sp>
        <p:nvSpPr>
          <p:cNvPr id="25" name="stat card"/>
          <p:cNvSpPr/>
          <p:nvPr/>
        </p:nvSpPr>
        <p:spPr>
          <a:xfrm>
            <a:off x="6309360" y="3026664"/>
            <a:ext cx="2377440" cy="850392"/>
          </a:xfrm>
          <a:prstGeom prst="roundRect">
            <a:avLst>
              <a:gd name="adj" fmla="val 8602"/>
            </a:avLst>
          </a:prstGeom>
          <a:solidFill>
            <a:srgbClr val="F2ECE1"/>
          </a:solidFill>
          <a:ln>
            <a:solidFill>
              <a:srgbClr val="F2ECE1"/>
            </a:solidFill>
          </a:ln>
        </p:spPr>
        <p:txBody>
          <a:bodyPr rtlCol="0" anchor="ctr"/>
          <a:lstStyle/>
          <a:p>
            <a:pPr algn="ctr"/>
          </a:p>
        </p:txBody>
      </p:sp>
      <p:sp>
        <p:nvSpPr>
          <p:cNvPr id="26" name="stat number"/>
          <p:cNvSpPr txBox="1"/>
          <p:nvPr/>
        </p:nvSpPr>
        <p:spPr>
          <a:xfrm>
            <a:off x="6355080" y="3026664"/>
            <a:ext cx="2286000" cy="411480"/>
          </a:xfrm>
          <a:prstGeom prst="rect">
            <a:avLst/>
          </a:prstGeom>
          <a:noFill/>
        </p:spPr>
        <p:txBody>
          <a:bodyPr wrap="square" anchor="t" lIns="45720" rIns="45720" tIns="36576" bIns="36576">
            <a:spAutoFit/>
          </a:bodyPr>
          <a:lstStyle/>
          <a:p>
            <a:pPr algn="ctr"/>
            <a:r>
              <a:rPr sz="2400" b="1" i="0">
                <a:solidFill>
                  <a:srgbClr val="D97A14"/>
                </a:solidFill>
                <a:latin typeface="Cambria"/>
              </a:rPr>
              <a:t>4</a:t>
            </a:r>
          </a:p>
        </p:txBody>
      </p:sp>
      <p:sp>
        <p:nvSpPr>
          <p:cNvPr id="27" name="stat label"/>
          <p:cNvSpPr txBox="1"/>
          <p:nvPr/>
        </p:nvSpPr>
        <p:spPr>
          <a:xfrm>
            <a:off x="6355080" y="3419856"/>
            <a:ext cx="2286000" cy="438912"/>
          </a:xfrm>
          <a:prstGeom prst="rect">
            <a:avLst/>
          </a:prstGeom>
          <a:noFill/>
        </p:spPr>
        <p:txBody>
          <a:bodyPr wrap="square" anchor="t" lIns="45720" rIns="45720" tIns="36576" bIns="36576">
            <a:spAutoFit/>
          </a:bodyPr>
          <a:lstStyle/>
          <a:p>
            <a:pPr algn="ctr"/>
            <a:r>
              <a:rPr sz="1050" b="0" i="0">
                <a:solidFill>
                  <a:srgbClr val="2B2622"/>
                </a:solidFill>
                <a:latin typeface="Calibri"/>
              </a:rPr>
              <a:t>true stories: who, what, when, where, why, how</a:t>
            </a:r>
          </a:p>
        </p:txBody>
      </p:sp>
      <p:sp>
        <p:nvSpPr>
          <p:cNvPr id="28" name="book sections"/>
          <p:cNvSpPr txBox="1"/>
          <p:nvPr/>
        </p:nvSpPr>
        <p:spPr>
          <a:xfrm>
            <a:off x="457200" y="4023360"/>
            <a:ext cx="8229600" cy="411480"/>
          </a:xfrm>
          <a:prstGeom prst="rect">
            <a:avLst/>
          </a:prstGeom>
          <a:noFill/>
        </p:spPr>
        <p:txBody>
          <a:bodyPr wrap="square" anchor="t" lIns="45720" rIns="45720" tIns="36576" bIns="36576">
            <a:spAutoFit/>
          </a:bodyPr>
          <a:lstStyle/>
          <a:p>
            <a:pPr algn="l"/>
            <a:r>
              <a:rPr sz="1100" b="0" i="1">
                <a:solidFill>
                  <a:srgbClr val="6E655C"/>
                </a:solidFill>
                <a:latin typeface="Calibri"/>
              </a:rPr>
              <a:t>Book sections: The Dictionary Data Type, Model Real-World Things Using Data Structures, Nested Dictionaries and Lists, Summary, Practice Questions, Practice Programs.</a:t>
            </a:r>
          </a:p>
        </p:txBody>
      </p:sp>
      <p:sp>
        <p:nvSpPr>
          <p:cNvPr id="29"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Five parts, from one pair to a chessboard, all of it executed.</a:t>
            </a:r>
          </a:p>
        </p:txBody>
      </p:sp>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 /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questions this chapter answers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The summary comes back to each of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Summary</a:t>
            </a:r>
          </a:p>
        </p:txBody>
      </p:sp>
      <p:sp>
        <p:nvSpPr>
          <p:cNvPr id="6" name="question number"/>
          <p:cNvSpPr/>
          <p:nvPr/>
        </p:nvSpPr>
        <p:spPr>
          <a:xfrm>
            <a:off x="457200" y="1188720"/>
            <a:ext cx="457200" cy="512064"/>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1</a:t>
            </a:r>
          </a:p>
        </p:txBody>
      </p:sp>
      <p:sp>
        <p:nvSpPr>
          <p:cNvPr id="7" name="question"/>
          <p:cNvSpPr/>
          <p:nvPr/>
        </p:nvSpPr>
        <p:spPr>
          <a:xfrm>
            <a:off x="1005840" y="1188720"/>
            <a:ext cx="768096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400" b="0" i="0">
                <a:solidFill>
                  <a:srgbClr val="2B2622"/>
                </a:solidFill>
                <a:latin typeface="Calibri"/>
              </a:rPr>
              <a:t>Which operations read, add, replace and remove the pairs of a dictionary?</a:t>
            </a:r>
          </a:p>
        </p:txBody>
      </p:sp>
      <p:sp>
        <p:nvSpPr>
          <p:cNvPr id="8" name="question number"/>
          <p:cNvSpPr/>
          <p:nvPr/>
        </p:nvSpPr>
        <p:spPr>
          <a:xfrm>
            <a:off x="457200" y="1810512"/>
            <a:ext cx="457200" cy="512064"/>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2</a:t>
            </a:r>
          </a:p>
        </p:txBody>
      </p:sp>
      <p:sp>
        <p:nvSpPr>
          <p:cNvPr id="9" name="question"/>
          <p:cNvSpPr/>
          <p:nvPr/>
        </p:nvSpPr>
        <p:spPr>
          <a:xfrm>
            <a:off x="1005840" y="1810512"/>
            <a:ext cx="768096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400" b="0" i="0">
                <a:solidFill>
                  <a:srgbClr val="2B2622"/>
                </a:solidFill>
                <a:latin typeface="Calibri"/>
              </a:rPr>
              <a:t>Which values may be keys, and why must a key be hashable?</a:t>
            </a:r>
          </a:p>
        </p:txBody>
      </p:sp>
      <p:sp>
        <p:nvSpPr>
          <p:cNvPr id="10" name="question number"/>
          <p:cNvSpPr/>
          <p:nvPr/>
        </p:nvSpPr>
        <p:spPr>
          <a:xfrm>
            <a:off x="457200" y="2432304"/>
            <a:ext cx="457200" cy="512064"/>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3</a:t>
            </a:r>
          </a:p>
        </p:txBody>
      </p:sp>
      <p:sp>
        <p:nvSpPr>
          <p:cNvPr id="11" name="question"/>
          <p:cNvSpPr/>
          <p:nvPr/>
        </p:nvSpPr>
        <p:spPr>
          <a:xfrm>
            <a:off x="1005840" y="2432304"/>
            <a:ext cx="768096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400" b="0" i="0">
                <a:solidFill>
                  <a:srgbClr val="2B2622"/>
                </a:solidFill>
                <a:latin typeface="Calibri"/>
              </a:rPr>
              <a:t>How are counting, grouping and nesting solved with dictionaries?</a:t>
            </a:r>
          </a:p>
        </p:txBody>
      </p:sp>
      <p:sp>
        <p:nvSpPr>
          <p:cNvPr id="12" name="question number"/>
          <p:cNvSpPr/>
          <p:nvPr/>
        </p:nvSpPr>
        <p:spPr>
          <a:xfrm>
            <a:off x="457200" y="3054096"/>
            <a:ext cx="457200" cy="512064"/>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4</a:t>
            </a:r>
          </a:p>
        </p:txBody>
      </p:sp>
      <p:sp>
        <p:nvSpPr>
          <p:cNvPr id="13" name="question"/>
          <p:cNvSpPr/>
          <p:nvPr/>
        </p:nvSpPr>
        <p:spPr>
          <a:xfrm>
            <a:off x="1005840" y="3054096"/>
            <a:ext cx="768096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400" b="0" i="0">
                <a:solidFill>
                  <a:srgbClr val="2B2622"/>
                </a:solidFill>
                <a:latin typeface="Calibri"/>
              </a:rPr>
              <a:t>How is a real thing modelled, displayed, copied and written down?</a:t>
            </a:r>
          </a:p>
        </p:txBody>
      </p:sp>
      <p:sp>
        <p:nvSpPr>
          <p:cNvPr id="14" name="question number"/>
          <p:cNvSpPr/>
          <p:nvPr/>
        </p:nvSpPr>
        <p:spPr>
          <a:xfrm>
            <a:off x="457200" y="3675888"/>
            <a:ext cx="457200" cy="512064"/>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5</a:t>
            </a:r>
          </a:p>
        </p:txBody>
      </p:sp>
      <p:sp>
        <p:nvSpPr>
          <p:cNvPr id="15" name="question"/>
          <p:cNvSpPr/>
          <p:nvPr/>
        </p:nvSpPr>
        <p:spPr>
          <a:xfrm>
            <a:off x="1005840" y="3675888"/>
            <a:ext cx="768096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400" b="0" i="0">
                <a:solidFill>
                  <a:srgbClr val="2B2622"/>
                </a:solidFill>
                <a:latin typeface="Calibri"/>
              </a:rPr>
              <a:t>Which terms must a learner look up, and what is each one in everyday life?</a:t>
            </a:r>
          </a:p>
        </p:txBody>
      </p:sp>
      <p:sp>
        <p:nvSpPr>
          <p:cNvPr id="1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Answer these five questions and you have the chapter.</a:t>
            </a:r>
          </a:p>
        </p:txBody>
      </p:sp>
      <p:sp>
        <p:nvSpPr>
          <p:cNvPr id="1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 / 48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300">
                <a:solidFill>
                  <a:srgbClr val="2B2622"/>
                </a:solidFill>
                <a:latin typeface="Cambria"/>
              </a:rPr>
              <a:t>Part 1: The dictionary and its keys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Pairs in braces, found by key</a:t>
            </a:r>
          </a:p>
        </p:txBody>
      </p:sp>
      <p:sp>
        <p:nvSpPr>
          <p:cNvPr id="4" name="concept row"/>
          <p:cNvSpPr/>
          <p:nvPr/>
        </p:nvSpPr>
        <p:spPr>
          <a:xfrm>
            <a:off x="457200" y="1280160"/>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5" name="concept accent"/>
          <p:cNvSpPr/>
          <p:nvPr/>
        </p:nvSpPr>
        <p:spPr>
          <a:xfrm>
            <a:off x="457200" y="1280160"/>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6" name="concept"/>
          <p:cNvSpPr txBox="1"/>
          <p:nvPr/>
        </p:nvSpPr>
        <p:spPr>
          <a:xfrm>
            <a:off x="594360" y="1280160"/>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Dictionary</a:t>
            </a:r>
          </a:p>
        </p:txBody>
      </p:sp>
      <p:sp>
        <p:nvSpPr>
          <p:cNvPr id="7" name="concept meaning"/>
          <p:cNvSpPr txBox="1"/>
          <p:nvPr/>
        </p:nvSpPr>
        <p:spPr>
          <a:xfrm>
            <a:off x="2286000" y="1280160"/>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A collection of key-value pairs, found by key.</a:t>
            </a:r>
          </a:p>
        </p:txBody>
      </p:sp>
      <p:sp>
        <p:nvSpPr>
          <p:cNvPr id="8" name="concept row"/>
          <p:cNvSpPr/>
          <p:nvPr/>
        </p:nvSpPr>
        <p:spPr>
          <a:xfrm>
            <a:off x="457200" y="2029967"/>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9" name="concept accent"/>
          <p:cNvSpPr/>
          <p:nvPr/>
        </p:nvSpPr>
        <p:spPr>
          <a:xfrm>
            <a:off x="457200" y="2029967"/>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0" name="concept"/>
          <p:cNvSpPr txBox="1"/>
          <p:nvPr/>
        </p:nvSpPr>
        <p:spPr>
          <a:xfrm>
            <a:off x="594360" y="2029967"/>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Key and value</a:t>
            </a:r>
          </a:p>
        </p:txBody>
      </p:sp>
      <p:sp>
        <p:nvSpPr>
          <p:cNvPr id="11" name="concept meaning"/>
          <p:cNvSpPr txBox="1"/>
          <p:nvPr/>
        </p:nvSpPr>
        <p:spPr>
          <a:xfrm>
            <a:off x="2286000" y="2029967"/>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The key is the label; the value is what it finds.</a:t>
            </a:r>
          </a:p>
        </p:txBody>
      </p:sp>
      <p:sp>
        <p:nvSpPr>
          <p:cNvPr id="12" name="concept row"/>
          <p:cNvSpPr/>
          <p:nvPr/>
        </p:nvSpPr>
        <p:spPr>
          <a:xfrm>
            <a:off x="457200" y="2779776"/>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13" name="concept accent"/>
          <p:cNvSpPr/>
          <p:nvPr/>
        </p:nvSpPr>
        <p:spPr>
          <a:xfrm>
            <a:off x="457200" y="2779776"/>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4" name="concept"/>
          <p:cNvSpPr txBox="1"/>
          <p:nvPr/>
        </p:nvSpPr>
        <p:spPr>
          <a:xfrm>
            <a:off x="594360" y="2779776"/>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Hashable keys</a:t>
            </a:r>
          </a:p>
        </p:txBody>
      </p:sp>
      <p:sp>
        <p:nvSpPr>
          <p:cNvPr id="15" name="concept meaning"/>
          <p:cNvSpPr txBox="1"/>
          <p:nvPr/>
        </p:nvSpPr>
        <p:spPr>
          <a:xfrm>
            <a:off x="2286000" y="2779776"/>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A key must never change, so lists cannot be keys.</a:t>
            </a:r>
          </a:p>
        </p:txBody>
      </p:sp>
      <p:sp>
        <p:nvSpPr>
          <p:cNvPr id="16" name="concept row"/>
          <p:cNvSpPr/>
          <p:nvPr/>
        </p:nvSpPr>
        <p:spPr>
          <a:xfrm>
            <a:off x="457200" y="3529584"/>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17" name="concept accent"/>
          <p:cNvSpPr/>
          <p:nvPr/>
        </p:nvSpPr>
        <p:spPr>
          <a:xfrm>
            <a:off x="457200" y="3529584"/>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8" name="concept"/>
          <p:cNvSpPr txBox="1"/>
          <p:nvPr/>
        </p:nvSpPr>
        <p:spPr>
          <a:xfrm>
            <a:off x="594360" y="3529584"/>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Insertion order</a:t>
            </a:r>
          </a:p>
        </p:txBody>
      </p:sp>
      <p:sp>
        <p:nvSpPr>
          <p:cNvPr id="19" name="concept meaning"/>
          <p:cNvSpPr txBox="1"/>
          <p:nvPr/>
        </p:nvSpPr>
        <p:spPr>
          <a:xfrm>
            <a:off x="2286000" y="3529584"/>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Keys stay in the order they were added.</a:t>
            </a:r>
          </a:p>
        </p:txBody>
      </p:sp>
      <p:graphicFrame>
        <p:nvGraphicFramePr>
          <p:cNvPr id="20" name="visual: how the concepts fit"/>
          <p:cNvGraphicFramePr>
            <a:graphicFrameLocks noGrp="1"/>
          </p:cNvGraphicFramePr>
          <p:nvPr/>
        </p:nvGraphicFramePr>
        <p:xfrm>
          <a:off x="6172200" y="1280160"/>
          <a:ext cx="2514600" cy="3200400"/>
        </p:xfrm>
        <a:graphic>
          <a:graphicData uri="http://schemas.openxmlformats.org/drawingml/2006/table">
            <a:tbl>
              <a:tblPr firstRow="1" bandRow="1">
                <a:tableStyleId>{5C22544A-7EE6-4342-B048-85BDC9FD1C3A}</a:tableStyleId>
              </a:tblPr>
              <a:tblGrid>
                <a:gridCol w="2514600"/>
              </a:tblGrid>
              <a:tr h="640080">
                <a:tc>
                  <a:txBody>
                    <a:bodyPr wrap="square"/>
                    <a:lstStyle/>
                    <a:p>
                      <a:r>
                        <a:rPr sz="1300" b="1">
                          <a:solidFill>
                            <a:srgbClr val="FFFFFF"/>
                          </a:solidFill>
                          <a:latin typeface="Calibri"/>
                        </a:rPr>
                        <a:t>How they fit together</a:t>
                      </a:r>
                    </a:p>
                  </a:txBody>
                  <a:tcPr marL="64008" marR="64008" marT="18288" marB="18288" anchor="ctr">
                    <a:solidFill>
                      <a:srgbClr val="2B2622"/>
                    </a:solidFill>
                  </a:tcPr>
                </a:tc>
              </a:tr>
              <a:tr h="640080">
                <a:tc>
                  <a:txBody>
                    <a:bodyPr wrap="square"/>
                    <a:lstStyle/>
                    <a:p>
                      <a:r>
                        <a:rPr sz="1300" b="0">
                          <a:solidFill>
                            <a:srgbClr val="2B2622"/>
                          </a:solidFill>
                          <a:latin typeface="Calibri"/>
                        </a:rPr>
                        <a:t>1.  Pairs sit in braces</a:t>
                      </a:r>
                    </a:p>
                  </a:txBody>
                  <a:tcPr marL="64008" marR="64008" marT="18288" marB="18288" anchor="ctr">
                    <a:solidFill>
                      <a:srgbClr val="F2ECE1"/>
                    </a:solidFill>
                  </a:tcPr>
                </a:tc>
              </a:tr>
              <a:tr h="640080">
                <a:tc>
                  <a:txBody>
                    <a:bodyPr wrap="square"/>
                    <a:lstStyle/>
                    <a:p>
                      <a:r>
                        <a:rPr sz="1300" b="0">
                          <a:solidFill>
                            <a:srgbClr val="2B2622"/>
                          </a:solidFill>
                          <a:latin typeface="Calibri"/>
                        </a:rPr>
                        <a:t>2.  A key finds its value</a:t>
                      </a:r>
                    </a:p>
                  </a:txBody>
                  <a:tcPr marL="64008" marR="64008" marT="18288" marB="18288" anchor="ctr">
                    <a:solidFill>
                      <a:srgbClr val="FFFFFF"/>
                    </a:solidFill>
                  </a:tcPr>
                </a:tc>
              </a:tr>
              <a:tr h="640080">
                <a:tc>
                  <a:txBody>
                    <a:bodyPr wrap="square"/>
                    <a:lstStyle/>
                    <a:p>
                      <a:r>
                        <a:rPr sz="1300" b="0">
                          <a:solidFill>
                            <a:srgbClr val="2B2622"/>
                          </a:solidFill>
                          <a:latin typeface="Calibri"/>
                        </a:rPr>
                        <a:t>3.  Keys must be hashable</a:t>
                      </a:r>
                    </a:p>
                  </a:txBody>
                  <a:tcPr marL="64008" marR="64008" marT="18288" marB="18288" anchor="ctr">
                    <a:solidFill>
                      <a:srgbClr val="F2ECE1"/>
                    </a:solidFill>
                  </a:tcPr>
                </a:tc>
              </a:tr>
              <a:tr h="640080">
                <a:tc>
                  <a:txBody>
                    <a:bodyPr wrap="square"/>
                    <a:lstStyle/>
                    <a:p>
                      <a:r>
                        <a:rPr sz="1300" b="0">
                          <a:solidFill>
                            <a:srgbClr val="2B2622"/>
                          </a:solidFill>
                          <a:latin typeface="Calibri"/>
                        </a:rPr>
                        <a:t>4.  The order of adding is kept</a:t>
                      </a:r>
                    </a:p>
                  </a:txBody>
                  <a:tcPr marL="64008" marR="64008" marT="18288" marB="18288" anchor="ctr">
                    <a:solidFill>
                      <a:srgbClr val="FFFFFF"/>
                    </a:solidFill>
                  </a:tcPr>
                </a:tc>
              </a:tr>
            </a:tbl>
          </a:graphicData>
        </a:graphic>
      </p:graphicFrame>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 / 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 A dictionary holds key-value pairs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Braces hold the pairs; a key finds its value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The Dictionary Data Type</a:t>
            </a:r>
          </a:p>
        </p:txBody>
      </p:sp>
      <p:sp>
        <p:nvSpPr>
          <p:cNvPr id="6" name="code"/>
          <p:cNvSpPr/>
          <p:nvPr/>
        </p:nvSpPr>
        <p:spPr>
          <a:xfrm>
            <a:off x="365760" y="1097280"/>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my_cat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'size'</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'fat'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'color'</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'gray'</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'age'</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8</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my_cat</a:t>
            </a:r>
            <a:r>
              <a:rPr sz="1050" b="0" i="0">
                <a:solidFill>
                  <a:srgbClr val="E6EDF3"/>
                </a:solidFill>
                <a:latin typeface="Courier New"/>
              </a:rPr>
              <a:t>[</a:t>
            </a:r>
            <a:r>
              <a:rPr sz="1050" b="0" i="0">
                <a:solidFill>
                  <a:srgbClr val="7EE787"/>
                </a:solidFill>
                <a:latin typeface="Courier New"/>
              </a:rPr>
              <a:t>'size'</a:t>
            </a:r>
            <a:r>
              <a:rPr sz="1050" b="0" i="0">
                <a:solidFill>
                  <a:srgbClr val="E6EDF3"/>
                </a:solidFill>
                <a:latin typeface="Courier New"/>
              </a:rPr>
              <a:t>]</a:t>
            </a:r>
            <a:r>
              <a:rPr sz="1050" b="0" i="0">
                <a:solidFill>
                  <a:srgbClr val="E6EDF3"/>
                </a:solidFill>
                <a:latin typeface="Courier New"/>
              </a:rPr>
              <a:t>)</a:t>
            </a:r>
          </a:p>
        </p:txBody>
      </p:sp>
      <p:sp>
        <p:nvSpPr>
          <p:cNvPr id="7" name="explanation"/>
          <p:cNvSpPr/>
          <p:nvPr/>
        </p:nvSpPr>
        <p:spPr>
          <a:xfrm>
            <a:off x="5148072" y="1097280"/>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Braces hold three pairs. The key 'size' finds its value, 'fat', directly.</a:t>
            </a:r>
          </a:p>
        </p:txBody>
      </p:sp>
      <p:sp>
        <p:nvSpPr>
          <p:cNvPr id="8" name="code"/>
          <p:cNvSpPr/>
          <p:nvPr/>
        </p:nvSpPr>
        <p:spPr>
          <a:xfrm>
            <a:off x="365760" y="1618234"/>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7EE787"/>
                </a:solidFill>
                <a:latin typeface="Courier New"/>
              </a:rPr>
              <a:t>'My cat has '</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my_cat</a:t>
            </a:r>
            <a:r>
              <a:rPr sz="1050" b="0" i="0">
                <a:solidFill>
                  <a:srgbClr val="E6EDF3"/>
                </a:solidFill>
                <a:latin typeface="Courier New"/>
              </a:rPr>
              <a:t>[</a:t>
            </a:r>
            <a:r>
              <a:rPr sz="1050" b="0" i="0">
                <a:solidFill>
                  <a:srgbClr val="7EE787"/>
                </a:solidFill>
                <a:latin typeface="Courier New"/>
              </a:rPr>
              <a:t>'color'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 fur.'</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FFA657"/>
                </a:solidFill>
                <a:latin typeface="Courier New"/>
              </a:rPr>
              <a:t>len</a:t>
            </a:r>
            <a:r>
              <a:rPr sz="1050" b="0" i="0">
                <a:solidFill>
                  <a:srgbClr val="E6EDF3"/>
                </a:solidFill>
                <a:latin typeface="Courier New"/>
              </a:rPr>
              <a:t>(</a:t>
            </a:r>
            <a:r>
              <a:rPr sz="1050" b="0" i="0">
                <a:solidFill>
                  <a:srgbClr val="E6EDF3"/>
                </a:solidFill>
                <a:latin typeface="Courier New"/>
              </a:rPr>
              <a:t>my_cat</a:t>
            </a:r>
            <a:r>
              <a:rPr sz="1050" b="0" i="0">
                <a:solidFill>
                  <a:srgbClr val="E6EDF3"/>
                </a:solidFill>
                <a:latin typeface="Courier New"/>
              </a:rPr>
              <a:t>)</a:t>
            </a:r>
            <a:r>
              <a:rPr sz="1050" b="0" i="0">
                <a:solidFill>
                  <a:srgbClr val="E6EDF3"/>
                </a:solidFill>
                <a:latin typeface="Courier New"/>
              </a:rPr>
              <a:t>)</a:t>
            </a:r>
          </a:p>
        </p:txBody>
      </p:sp>
      <p:sp>
        <p:nvSpPr>
          <p:cNvPr id="9" name="explanation"/>
          <p:cNvSpPr/>
          <p:nvPr/>
        </p:nvSpPr>
        <p:spPr>
          <a:xfrm>
            <a:off x="5148072" y="1618234"/>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value can be used like any text. len() counts the pairs, not the characters.</a:t>
            </a:r>
          </a:p>
        </p:txBody>
      </p:sp>
      <p:sp>
        <p:nvSpPr>
          <p:cNvPr id="10" name="result label"/>
          <p:cNvSpPr txBox="1"/>
          <p:nvPr/>
        </p:nvSpPr>
        <p:spPr>
          <a:xfrm>
            <a:off x="365760" y="2166619"/>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1" name="visual: key to value"/>
          <p:cNvGrpSpPr/>
          <p:nvPr/>
        </p:nvGrpSpPr>
        <p:grpSpPr>
          <a:xfrm>
            <a:off x="365760" y="2779522"/>
            <a:ext cx="4114800" cy="1280160"/>
            <a:chOff x="365760" y="2779522"/>
            <a:chExt cx="4114800" cy="1280160"/>
          </a:xfrm>
        </p:grpSpPr>
        <p:sp>
          <p:nvSpPr>
            <p:cNvPr id="12" name="Rounded Rectangle 11"/>
            <p:cNvSpPr/>
            <p:nvPr/>
          </p:nvSpPr>
          <p:spPr>
            <a:xfrm>
              <a:off x="365760" y="2779522"/>
              <a:ext cx="1563624" cy="384048"/>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00" b="1" i="0">
                  <a:solidFill>
                    <a:srgbClr val="FFFFFF"/>
                  </a:solidFill>
                  <a:latin typeface="Courier New"/>
                </a:rPr>
                <a:t>size</a:t>
              </a:r>
            </a:p>
          </p:txBody>
        </p:sp>
        <p:sp>
          <p:nvSpPr>
            <p:cNvPr id="13" name="Rounded Rectangle 12"/>
            <p:cNvSpPr/>
            <p:nvPr/>
          </p:nvSpPr>
          <p:spPr>
            <a:xfrm>
              <a:off x="2340864" y="2779522"/>
              <a:ext cx="2139696" cy="384048"/>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00" b="0" i="0">
                  <a:solidFill>
                    <a:srgbClr val="2B2622"/>
                  </a:solidFill>
                  <a:latin typeface="Courier New"/>
                </a:rPr>
                <a:t>fat</a:t>
              </a:r>
            </a:p>
          </p:txBody>
        </p:sp>
        <p:cxnSp>
          <p:nvCxnSpPr>
            <p:cNvPr id="14" name="Connector 13"/>
            <p:cNvCxnSpPr/>
            <p:nvPr/>
          </p:nvCxnSpPr>
          <p:spPr>
            <a:xfrm>
              <a:off x="1929384" y="2971546"/>
              <a:ext cx="411480" cy="0"/>
            </a:xfrm>
            <a:prstGeom prst="line">
              <a:avLst/>
            </a:prstGeom>
            <a:ln w="25400">
              <a:solidFill>
                <a:srgbClr val="6E655C"/>
              </a:solidFill>
              <a:tailEnd type="triangle"/>
            </a:ln>
          </p:spPr>
        </p:cxnSp>
        <p:sp>
          <p:nvSpPr>
            <p:cNvPr id="15" name="Rounded Rectangle 14"/>
            <p:cNvSpPr/>
            <p:nvPr/>
          </p:nvSpPr>
          <p:spPr>
            <a:xfrm>
              <a:off x="365760" y="3227578"/>
              <a:ext cx="1563624" cy="384048"/>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00" b="1" i="0">
                  <a:solidFill>
                    <a:srgbClr val="FFFFFF"/>
                  </a:solidFill>
                  <a:latin typeface="Courier New"/>
                </a:rPr>
                <a:t>color</a:t>
              </a:r>
            </a:p>
          </p:txBody>
        </p:sp>
        <p:sp>
          <p:nvSpPr>
            <p:cNvPr id="16" name="Rounded Rectangle 15"/>
            <p:cNvSpPr/>
            <p:nvPr/>
          </p:nvSpPr>
          <p:spPr>
            <a:xfrm>
              <a:off x="2340864" y="3227578"/>
              <a:ext cx="2139696" cy="384048"/>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00" b="0" i="0">
                  <a:solidFill>
                    <a:srgbClr val="2B2622"/>
                  </a:solidFill>
                  <a:latin typeface="Courier New"/>
                </a:rPr>
                <a:t>gray</a:t>
              </a:r>
            </a:p>
          </p:txBody>
        </p:sp>
        <p:cxnSp>
          <p:nvCxnSpPr>
            <p:cNvPr id="17" name="Connector 16"/>
            <p:cNvCxnSpPr/>
            <p:nvPr/>
          </p:nvCxnSpPr>
          <p:spPr>
            <a:xfrm>
              <a:off x="1929384" y="3419602"/>
              <a:ext cx="411480" cy="0"/>
            </a:xfrm>
            <a:prstGeom prst="line">
              <a:avLst/>
            </a:prstGeom>
            <a:ln w="25400">
              <a:solidFill>
                <a:srgbClr val="6E655C"/>
              </a:solidFill>
              <a:tailEnd type="triangle"/>
            </a:ln>
          </p:spPr>
        </p:cxnSp>
        <p:sp>
          <p:nvSpPr>
            <p:cNvPr id="18" name="Rounded Rectangle 17"/>
            <p:cNvSpPr/>
            <p:nvPr/>
          </p:nvSpPr>
          <p:spPr>
            <a:xfrm>
              <a:off x="365760" y="3675634"/>
              <a:ext cx="1563624" cy="384048"/>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00" b="1" i="0">
                  <a:solidFill>
                    <a:srgbClr val="FFFFFF"/>
                  </a:solidFill>
                  <a:latin typeface="Courier New"/>
                </a:rPr>
                <a:t>age</a:t>
              </a:r>
            </a:p>
          </p:txBody>
        </p:sp>
        <p:sp>
          <p:nvSpPr>
            <p:cNvPr id="19" name="Rounded Rectangle 18"/>
            <p:cNvSpPr/>
            <p:nvPr/>
          </p:nvSpPr>
          <p:spPr>
            <a:xfrm>
              <a:off x="2340864" y="3675634"/>
              <a:ext cx="2139696" cy="384048"/>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00" b="0" i="0">
                  <a:solidFill>
                    <a:srgbClr val="2B2622"/>
                  </a:solidFill>
                  <a:latin typeface="Courier New"/>
                </a:rPr>
                <a:t>8</a:t>
              </a:r>
            </a:p>
          </p:txBody>
        </p:sp>
        <p:cxnSp>
          <p:nvCxnSpPr>
            <p:cNvPr id="20" name="Connector 19"/>
            <p:cNvCxnSpPr/>
            <p:nvPr/>
          </p:nvCxnSpPr>
          <p:spPr>
            <a:xfrm>
              <a:off x="1929384" y="3867658"/>
              <a:ext cx="411480" cy="0"/>
            </a:xfrm>
            <a:prstGeom prst="line">
              <a:avLst/>
            </a:prstGeom>
            <a:ln w="25400">
              <a:solidFill>
                <a:srgbClr val="6E655C"/>
              </a:solidFill>
              <a:tailEnd type="triangle"/>
            </a:ln>
          </p:spPr>
        </p:cxnSp>
      </p:grpSp>
      <p:graphicFrame>
        <p:nvGraphicFramePr>
          <p:cNvPr id="21" name="result table"/>
          <p:cNvGraphicFramePr>
            <a:graphicFrameLocks noGrp="1"/>
          </p:cNvGraphicFramePr>
          <p:nvPr/>
        </p:nvGraphicFramePr>
        <p:xfrm>
          <a:off x="4754880" y="2413507"/>
          <a:ext cx="4023360" cy="1243584"/>
        </p:xfrm>
        <a:graphic>
          <a:graphicData uri="http://schemas.openxmlformats.org/drawingml/2006/table">
            <a:tbl>
              <a:tblPr firstRow="1" bandRow="1">
                <a:tableStyleId>{5C22544A-7EE6-4342-B048-85BDC9FD1C3A}</a:tableStyleId>
              </a:tblPr>
              <a:tblGrid>
                <a:gridCol w="2011680"/>
                <a:gridCol w="2011680"/>
              </a:tblGrid>
              <a:tr h="310896">
                <a:tc>
                  <a:txBody>
                    <a:bodyPr wrap="square"/>
                    <a:lstStyle/>
                    <a:p>
                      <a:r>
                        <a:rPr sz="1200" b="1">
                          <a:solidFill>
                            <a:srgbClr val="FFFFFF"/>
                          </a:solidFill>
                          <a:latin typeface="Calibri"/>
                        </a:rPr>
                        <a:t>Expression</a:t>
                      </a:r>
                    </a:p>
                  </a:txBody>
                  <a:tcPr marL="64008" marR="64008" marT="18288" marB="18288" anchor="ctr">
                    <a:solidFill>
                      <a:srgbClr val="2B2622"/>
                    </a:solidFill>
                  </a:tcPr>
                </a:tc>
                <a:tc>
                  <a:txBody>
                    <a:bodyPr wrap="square"/>
                    <a:lstStyle/>
                    <a:p>
                      <a:r>
                        <a:rPr sz="1200" b="1">
                          <a:solidFill>
                            <a:srgbClr val="FFFFFF"/>
                          </a:solidFill>
                          <a:latin typeface="Calibri"/>
                        </a:rPr>
                        <a:t>Printed</a:t>
                      </a:r>
                    </a:p>
                  </a:txBody>
                  <a:tcPr marL="64008" marR="64008" marT="18288" marB="18288" anchor="ctr">
                    <a:solidFill>
                      <a:srgbClr val="2B2622"/>
                    </a:solidFill>
                  </a:tcPr>
                </a:tc>
              </a:tr>
              <a:tr h="310896">
                <a:tc>
                  <a:txBody>
                    <a:bodyPr wrap="square"/>
                    <a:lstStyle/>
                    <a:p>
                      <a:r>
                        <a:rPr sz="1200" b="0">
                          <a:solidFill>
                            <a:srgbClr val="2B2622"/>
                          </a:solidFill>
                          <a:latin typeface="Courier New"/>
                        </a:rPr>
                        <a:t>my_cat['size']</a:t>
                      </a:r>
                    </a:p>
                  </a:txBody>
                  <a:tcPr marL="64008" marR="64008" marT="18288" marB="18288" anchor="ctr">
                    <a:solidFill>
                      <a:srgbClr val="F2ECE1"/>
                    </a:solidFill>
                  </a:tcPr>
                </a:tc>
                <a:tc>
                  <a:txBody>
                    <a:bodyPr wrap="square"/>
                    <a:lstStyle/>
                    <a:p>
                      <a:r>
                        <a:rPr sz="1200" b="0">
                          <a:solidFill>
                            <a:srgbClr val="2B2622"/>
                          </a:solidFill>
                          <a:latin typeface="Calibri"/>
                        </a:rPr>
                        <a:t>fat</a:t>
                      </a:r>
                    </a:p>
                  </a:txBody>
                  <a:tcPr marL="64008" marR="64008" marT="18288" marB="18288" anchor="ctr">
                    <a:solidFill>
                      <a:srgbClr val="F2ECE1"/>
                    </a:solidFill>
                  </a:tcPr>
                </a:tc>
              </a:tr>
              <a:tr h="310896">
                <a:tc>
                  <a:txBody>
                    <a:bodyPr wrap="square"/>
                    <a:lstStyle/>
                    <a:p>
                      <a:r>
                        <a:rPr sz="1200" b="0">
                          <a:solidFill>
                            <a:srgbClr val="2B2622"/>
                          </a:solidFill>
                          <a:latin typeface="Courier New"/>
                        </a:rPr>
                        <a:t>'My cat has ' + color</a:t>
                      </a:r>
                    </a:p>
                  </a:txBody>
                  <a:tcPr marL="64008" marR="64008" marT="18288" marB="18288" anchor="ctr">
                    <a:solidFill>
                      <a:srgbClr val="FFFFFF"/>
                    </a:solidFill>
                  </a:tcPr>
                </a:tc>
                <a:tc>
                  <a:txBody>
                    <a:bodyPr wrap="square"/>
                    <a:lstStyle/>
                    <a:p>
                      <a:r>
                        <a:rPr sz="1200" b="0">
                          <a:solidFill>
                            <a:srgbClr val="2B2622"/>
                          </a:solidFill>
                          <a:latin typeface="Calibri"/>
                        </a:rPr>
                        <a:t>My cat has gray fur.</a:t>
                      </a:r>
                    </a:p>
                  </a:txBody>
                  <a:tcPr marL="64008" marR="64008" marT="18288" marB="18288" anchor="ctr">
                    <a:solidFill>
                      <a:srgbClr val="FFFFFF"/>
                    </a:solidFill>
                  </a:tcPr>
                </a:tc>
              </a:tr>
              <a:tr h="310896">
                <a:tc>
                  <a:txBody>
                    <a:bodyPr wrap="square"/>
                    <a:lstStyle/>
                    <a:p>
                      <a:r>
                        <a:rPr sz="1200" b="0">
                          <a:solidFill>
                            <a:srgbClr val="2B2622"/>
                          </a:solidFill>
                          <a:latin typeface="Courier New"/>
                        </a:rPr>
                        <a:t>len(my_cat)</a:t>
                      </a:r>
                    </a:p>
                  </a:txBody>
                  <a:tcPr marL="64008" marR="64008" marT="18288" marB="18288" anchor="ctr">
                    <a:solidFill>
                      <a:srgbClr val="F2ECE1"/>
                    </a:solidFill>
                  </a:tcPr>
                </a:tc>
                <a:tc>
                  <a:txBody>
                    <a:bodyPr wrap="square"/>
                    <a:lstStyle/>
                    <a:p>
                      <a:r>
                        <a:rPr sz="1200" b="0">
                          <a:solidFill>
                            <a:srgbClr val="2B2622"/>
                          </a:solidFill>
                          <a:latin typeface="Calibri"/>
                        </a:rPr>
                        <a:t>3</a:t>
                      </a:r>
                    </a:p>
                  </a:txBody>
                  <a:tcPr marL="64008" marR="64008" marT="18288" marB="18288" anchor="ctr">
                    <a:solidFill>
                      <a:srgbClr val="F2ECE1"/>
                    </a:solidFill>
                  </a:tcPr>
                </a:tc>
              </a:tr>
            </a:tbl>
          </a:graphicData>
        </a:graphic>
      </p:graphicFrame>
      <p:sp>
        <p:nvSpPr>
          <p:cNvPr id="22"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key finds its value; the position of the pair does not matter.</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 / 48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Code 2: Dictionaries versus lists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Two containers, two ways to name an item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Comparing Dictionaries and Lists</a:t>
            </a:r>
          </a:p>
        </p:txBody>
      </p:sp>
      <p:sp>
        <p:nvSpPr>
          <p:cNvPr id="6" name="code"/>
          <p:cNvSpPr/>
          <p:nvPr/>
        </p:nvSpPr>
        <p:spPr>
          <a:xfrm>
            <a:off x="365760" y="1097280"/>
            <a:ext cx="4800600" cy="597789"/>
          </a:xfrm>
          <a:prstGeom prst="roundRect">
            <a:avLst>
              <a:gd name="adj" fmla="val 1223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'cats'</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'dogs'</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'moose'</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bacon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'moose'</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'dogs'</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'cats'</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bacon</a:t>
            </a:r>
            <a:r>
              <a:rPr sz="1050" b="0" i="0">
                <a:solidFill>
                  <a:srgbClr val="E6EDF3"/>
                </a:solidFill>
                <a:latin typeface="Courier New"/>
              </a:rPr>
              <a:t>)</a:t>
            </a:r>
          </a:p>
        </p:txBody>
      </p:sp>
      <p:sp>
        <p:nvSpPr>
          <p:cNvPr id="7" name="explanation"/>
          <p:cNvSpPr/>
          <p:nvPr/>
        </p:nvSpPr>
        <p:spPr>
          <a:xfrm>
            <a:off x="5148072" y="1097280"/>
            <a:ext cx="3584448" cy="597789"/>
          </a:xfrm>
          <a:prstGeom prst="roundRect">
            <a:avLst>
              <a:gd name="adj" fmla="val 1223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Two lists with the same items in another order are not equal.</a:t>
            </a:r>
          </a:p>
        </p:txBody>
      </p:sp>
      <p:sp>
        <p:nvSpPr>
          <p:cNvPr id="8" name="code"/>
          <p:cNvSpPr/>
          <p:nvPr/>
        </p:nvSpPr>
        <p:spPr>
          <a:xfrm>
            <a:off x="365760" y="1749932"/>
            <a:ext cx="4800600" cy="597789"/>
          </a:xfrm>
          <a:prstGeom prst="roundRect">
            <a:avLst>
              <a:gd name="adj" fmla="val 1223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eggs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'name'</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'Zophie'</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'age'</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'species'</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'cat'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ham</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'age'</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'species'</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'cat'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'name'</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'Zophie'</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eggs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ham</a:t>
            </a:r>
            <a:r>
              <a:rPr sz="1050" b="0" i="0">
                <a:solidFill>
                  <a:srgbClr val="E6EDF3"/>
                </a:solidFill>
                <a:latin typeface="Courier New"/>
              </a:rPr>
              <a:t>)</a:t>
            </a:r>
          </a:p>
        </p:txBody>
      </p:sp>
      <p:sp>
        <p:nvSpPr>
          <p:cNvPr id="9" name="explanation"/>
          <p:cNvSpPr/>
          <p:nvPr/>
        </p:nvSpPr>
        <p:spPr>
          <a:xfrm>
            <a:off x="5148072" y="1749932"/>
            <a:ext cx="3584448" cy="597789"/>
          </a:xfrm>
          <a:prstGeom prst="roundRect">
            <a:avLst>
              <a:gd name="adj" fmla="val 1223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Two dictionaries with the same pairs are equal, whatever the order.</a:t>
            </a:r>
          </a:p>
        </p:txBody>
      </p:sp>
      <p:sp>
        <p:nvSpPr>
          <p:cNvPr id="10" name="code"/>
          <p:cNvSpPr/>
          <p:nvPr/>
        </p:nvSpPr>
        <p:spPr>
          <a:xfrm>
            <a:off x="365760" y="2402585"/>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FFA657"/>
                </a:solidFill>
                <a:latin typeface="Courier New"/>
              </a:rPr>
              <a:t>list</a:t>
            </a:r>
            <a:r>
              <a:rPr sz="1050" b="0" i="0">
                <a:solidFill>
                  <a:srgbClr val="E6EDF3"/>
                </a:solidFill>
                <a:latin typeface="Courier New"/>
              </a:rPr>
              <a:t>(</a:t>
            </a:r>
            <a:r>
              <a:rPr sz="1050" b="0" i="0">
                <a:solidFill>
                  <a:srgbClr val="E6EDF3"/>
                </a:solidFill>
                <a:latin typeface="Courier New"/>
              </a:rPr>
              <a:t>ham</a:t>
            </a:r>
            <a:r>
              <a:rPr sz="1050" b="0" i="0">
                <a:solidFill>
                  <a:srgbClr val="E6EDF3"/>
                </a:solidFill>
                <a:latin typeface="Courier New"/>
              </a:rPr>
              <a:t>)</a:t>
            </a:r>
            <a:r>
              <a:rPr sz="1050" b="0" i="0">
                <a:solidFill>
                  <a:srgbClr val="E6EDF3"/>
                </a:solidFill>
                <a:latin typeface="Courier New"/>
              </a:rPr>
              <a:t>)</a:t>
            </a:r>
          </a:p>
        </p:txBody>
      </p:sp>
      <p:sp>
        <p:nvSpPr>
          <p:cNvPr id="11" name="explanation"/>
          <p:cNvSpPr/>
          <p:nvPr/>
        </p:nvSpPr>
        <p:spPr>
          <a:xfrm>
            <a:off x="5148072" y="2402585"/>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Yet the dictionary still remembers the order in which its keys were added.</a:t>
            </a:r>
          </a:p>
        </p:txBody>
      </p:sp>
      <p:sp>
        <p:nvSpPr>
          <p:cNvPr id="12" name="result label"/>
          <p:cNvSpPr txBox="1"/>
          <p:nvPr/>
        </p:nvSpPr>
        <p:spPr>
          <a:xfrm>
            <a:off x="365760" y="2950971"/>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97859"/>
          <a:ext cx="8412478" cy="1227836"/>
        </p:xfrm>
        <a:graphic>
          <a:graphicData uri="http://schemas.openxmlformats.org/drawingml/2006/table">
            <a:tbl>
              <a:tblPr firstRow="1" bandRow="1">
                <a:tableStyleId>{5C22544A-7EE6-4342-B048-85BDC9FD1C3A}</a:tableStyleId>
              </a:tblPr>
              <a:tblGrid>
                <a:gridCol w="1869439"/>
                <a:gridCol w="2804160"/>
                <a:gridCol w="3738879"/>
              </a:tblGrid>
              <a:tr h="306959">
                <a:tc>
                  <a:txBody>
                    <a:bodyPr wrap="square"/>
                    <a:lstStyle/>
                    <a:p>
                      <a:r>
                        <a:rPr sz="1200" b="1">
                          <a:solidFill>
                            <a:srgbClr val="FFFFFF"/>
                          </a:solidFill>
                          <a:latin typeface="Calibri"/>
                        </a:rPr>
                        <a:t>Expression</a:t>
                      </a:r>
                    </a:p>
                  </a:txBody>
                  <a:tcPr marL="64008" marR="64008" marT="18288" marB="18288" anchor="ctr">
                    <a:solidFill>
                      <a:srgbClr val="2B2622"/>
                    </a:solidFill>
                  </a:tcPr>
                </a:tc>
                <a:tc>
                  <a:txBody>
                    <a:bodyPr wrap="square"/>
                    <a:lstStyle/>
                    <a:p>
                      <a:r>
                        <a:rPr sz="1200" b="1">
                          <a:solidFill>
                            <a:srgbClr val="FFFFFF"/>
                          </a:solidFill>
                          <a:latin typeface="Calibri"/>
                        </a:rPr>
                        <a:t>Printed</a:t>
                      </a:r>
                    </a:p>
                  </a:txBody>
                  <a:tcPr marL="64008" marR="64008" marT="18288" marB="18288" anchor="ctr">
                    <a:solidFill>
                      <a:srgbClr val="2B2622"/>
                    </a:solidFill>
                  </a:tcPr>
                </a:tc>
                <a:tc>
                  <a:txBody>
                    <a:bodyPr wrap="square"/>
                    <a:lstStyle/>
                    <a:p>
                      <a:r>
                        <a:rPr sz="1200" b="1">
                          <a:solidFill>
                            <a:srgbClr val="FFFFFF"/>
                          </a:solidFill>
                          <a:latin typeface="Calibri"/>
                        </a:rPr>
                        <a:t>Why</a:t>
                      </a:r>
                    </a:p>
                  </a:txBody>
                  <a:tcPr marL="64008" marR="64008" marT="18288" marB="18288" anchor="ctr">
                    <a:solidFill>
                      <a:srgbClr val="2B2622"/>
                    </a:solidFill>
                  </a:tcPr>
                </a:tc>
              </a:tr>
              <a:tr h="306959">
                <a:tc>
                  <a:txBody>
                    <a:bodyPr wrap="square"/>
                    <a:lstStyle/>
                    <a:p>
                      <a:r>
                        <a:rPr sz="1200" b="0">
                          <a:solidFill>
                            <a:srgbClr val="2B2622"/>
                          </a:solidFill>
                          <a:latin typeface="Courier New"/>
                        </a:rPr>
                        <a:t>spam == bacon</a:t>
                      </a:r>
                    </a:p>
                  </a:txBody>
                  <a:tcPr marL="64008" marR="64008" marT="18288" marB="18288" anchor="ctr">
                    <a:solidFill>
                      <a:srgbClr val="F2ECE1"/>
                    </a:solidFill>
                  </a:tcPr>
                </a:tc>
                <a:tc>
                  <a:txBody>
                    <a:bodyPr wrap="square"/>
                    <a:lstStyle/>
                    <a:p>
                      <a:r>
                        <a:rPr sz="1200" b="0">
                          <a:solidFill>
                            <a:srgbClr val="2B2622"/>
                          </a:solidFill>
                          <a:latin typeface="Courier New"/>
                        </a:rPr>
                        <a:t>False</a:t>
                      </a:r>
                    </a:p>
                  </a:txBody>
                  <a:tcPr marL="64008" marR="64008" marT="18288" marB="18288" anchor="ctr">
                    <a:solidFill>
                      <a:srgbClr val="F2ECE1"/>
                    </a:solidFill>
                  </a:tcPr>
                </a:tc>
                <a:tc>
                  <a:txBody>
                    <a:bodyPr wrap="square"/>
                    <a:lstStyle/>
                    <a:p>
                      <a:r>
                        <a:rPr sz="1200" b="0">
                          <a:solidFill>
                            <a:srgbClr val="2B2622"/>
                          </a:solidFill>
                          <a:latin typeface="Calibri"/>
                        </a:rPr>
                        <a:t>the same items in a different order</a:t>
                      </a:r>
                    </a:p>
                  </a:txBody>
                  <a:tcPr marL="64008" marR="64008" marT="18288" marB="18288" anchor="ctr">
                    <a:solidFill>
                      <a:srgbClr val="F2ECE1"/>
                    </a:solidFill>
                  </a:tcPr>
                </a:tc>
              </a:tr>
              <a:tr h="306959">
                <a:tc>
                  <a:txBody>
                    <a:bodyPr wrap="square"/>
                    <a:lstStyle/>
                    <a:p>
                      <a:r>
                        <a:rPr sz="1200" b="0">
                          <a:solidFill>
                            <a:srgbClr val="2B2622"/>
                          </a:solidFill>
                          <a:latin typeface="Courier New"/>
                        </a:rPr>
                        <a:t>eggs == ham</a:t>
                      </a:r>
                    </a:p>
                  </a:txBody>
                  <a:tcPr marL="64008" marR="64008" marT="18288" marB="18288" anchor="ctr">
                    <a:solidFill>
                      <a:srgbClr val="FFFFFF"/>
                    </a:solidFill>
                  </a:tcPr>
                </a:tc>
                <a:tc>
                  <a:txBody>
                    <a:bodyPr wrap="square"/>
                    <a:lstStyle/>
                    <a:p>
                      <a:r>
                        <a:rPr sz="1200" b="0">
                          <a:solidFill>
                            <a:srgbClr val="2B2622"/>
                          </a:solidFill>
                          <a:latin typeface="Courier New"/>
                        </a:rPr>
                        <a:t>True</a:t>
                      </a:r>
                    </a:p>
                  </a:txBody>
                  <a:tcPr marL="64008" marR="64008" marT="18288" marB="18288" anchor="ctr">
                    <a:solidFill>
                      <a:srgbClr val="FFFFFF"/>
                    </a:solidFill>
                  </a:tcPr>
                </a:tc>
                <a:tc>
                  <a:txBody>
                    <a:bodyPr wrap="square"/>
                    <a:lstStyle/>
                    <a:p>
                      <a:r>
                        <a:rPr sz="1200" b="0">
                          <a:solidFill>
                            <a:srgbClr val="2B2622"/>
                          </a:solidFill>
                          <a:latin typeface="Calibri"/>
                        </a:rPr>
                        <a:t>the same pairs, in any order</a:t>
                      </a:r>
                    </a:p>
                  </a:txBody>
                  <a:tcPr marL="64008" marR="64008" marT="18288" marB="18288" anchor="ctr">
                    <a:solidFill>
                      <a:srgbClr val="FFFFFF"/>
                    </a:solidFill>
                  </a:tcPr>
                </a:tc>
              </a:tr>
              <a:tr h="306959">
                <a:tc>
                  <a:txBody>
                    <a:bodyPr wrap="square"/>
                    <a:lstStyle/>
                    <a:p>
                      <a:r>
                        <a:rPr sz="1200" b="0">
                          <a:solidFill>
                            <a:srgbClr val="2B2622"/>
                          </a:solidFill>
                          <a:latin typeface="Courier New"/>
                        </a:rPr>
                        <a:t>list(ham)</a:t>
                      </a:r>
                    </a:p>
                  </a:txBody>
                  <a:tcPr marL="64008" marR="64008" marT="18288" marB="18288" anchor="ctr">
                    <a:solidFill>
                      <a:srgbClr val="F2ECE1"/>
                    </a:solidFill>
                  </a:tcPr>
                </a:tc>
                <a:tc>
                  <a:txBody>
                    <a:bodyPr wrap="square"/>
                    <a:lstStyle/>
                    <a:p>
                      <a:r>
                        <a:rPr sz="1200" b="0">
                          <a:solidFill>
                            <a:srgbClr val="2B2622"/>
                          </a:solidFill>
                          <a:latin typeface="Courier New"/>
                        </a:rPr>
                        <a:t>['age', 'species', 'name']</a:t>
                      </a:r>
                    </a:p>
                  </a:txBody>
                  <a:tcPr marL="64008" marR="64008" marT="18288" marB="18288" anchor="ctr">
                    <a:solidFill>
                      <a:srgbClr val="F2ECE1"/>
                    </a:solidFill>
                  </a:tcPr>
                </a:tc>
                <a:tc>
                  <a:txBody>
                    <a:bodyPr wrap="square"/>
                    <a:lstStyle/>
                    <a:p>
                      <a:r>
                        <a:rPr sz="1200" b="0">
                          <a:solidFill>
                            <a:srgbClr val="2B2622"/>
                          </a:solidFill>
                          <a:latin typeface="Calibri"/>
                        </a:rPr>
                        <a:t>the order of adding is still kept</a:t>
                      </a:r>
                    </a:p>
                  </a:txBody>
                  <a:tcPr marL="64008" marR="64008" marT="18288" marB="18288" anchor="ctr">
                    <a:solidFill>
                      <a:srgbClr val="F2ECE1"/>
                    </a:solidFill>
                  </a:tcPr>
                </a:tc>
              </a:tr>
            </a:tbl>
          </a:graphicData>
        </a:graphic>
      </p:graphicFrame>
      <p:sp>
        <p:nvSpPr>
          <p:cNvPr id="14"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Lists compare by position; dictionaries compare by pairs.</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 / 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3: Dictionaries remember insertion order</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Since Python 3.7 the order of adding is a promise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The Dictionary Data Type</a:t>
            </a:r>
          </a:p>
        </p:txBody>
      </p:sp>
      <p:sp>
        <p:nvSpPr>
          <p:cNvPr id="6" name="code"/>
          <p:cNvSpPr/>
          <p:nvPr/>
        </p:nvSpPr>
        <p:spPr>
          <a:xfrm>
            <a:off x="365760" y="1097280"/>
            <a:ext cx="4800600" cy="791464"/>
          </a:xfrm>
          <a:prstGeom prst="roundRect">
            <a:avLst>
              <a:gd name="adj" fmla="val 9242"/>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E6EDF3"/>
                </a:solidFill>
                <a:latin typeface="Courier New"/>
              </a:rPr>
              <a:t>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d</a:t>
            </a:r>
            <a:r>
              <a:rPr sz="1100" b="0" i="0">
                <a:solidFill>
                  <a:srgbClr val="E6EDF3"/>
                </a:solidFill>
                <a:latin typeface="Courier New"/>
              </a:rPr>
              <a:t>[</a:t>
            </a:r>
            <a:r>
              <a:rPr sz="1100" b="0" i="0">
                <a:solidFill>
                  <a:srgbClr val="7EE787"/>
                </a:solidFill>
                <a:latin typeface="Courier New"/>
              </a:rPr>
              <a:t>'pear'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3</a:t>
            </a:r>
          </a:p>
          <a:p>
            <a:pPr algn="l"/>
            <a:r>
              <a:rPr sz="1100" b="0" i="0">
                <a:solidFill>
                  <a:srgbClr val="8A9B94"/>
                </a:solidFill>
                <a:latin typeface="Courier New"/>
              </a:rPr>
              <a:t>&gt;&gt;&gt; </a:t>
            </a:r>
            <a:r>
              <a:rPr sz="1100" b="0" i="0">
                <a:solidFill>
                  <a:srgbClr val="E6EDF3"/>
                </a:solidFill>
                <a:latin typeface="Courier New"/>
              </a:rPr>
              <a:t>d</a:t>
            </a:r>
            <a:r>
              <a:rPr sz="1100" b="0" i="0">
                <a:solidFill>
                  <a:srgbClr val="E6EDF3"/>
                </a:solidFill>
                <a:latin typeface="Courier New"/>
              </a:rPr>
              <a:t>[</a:t>
            </a:r>
            <a:r>
              <a:rPr sz="1100" b="0" i="0">
                <a:solidFill>
                  <a:srgbClr val="7EE787"/>
                </a:solidFill>
                <a:latin typeface="Courier New"/>
              </a:rPr>
              <a:t>'apple'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5</a:t>
            </a:r>
          </a:p>
          <a:p>
            <a:pPr algn="l"/>
            <a:r>
              <a:rPr sz="1100" b="0" i="0">
                <a:solidFill>
                  <a:srgbClr val="8A9B94"/>
                </a:solidFill>
                <a:latin typeface="Courier New"/>
              </a:rPr>
              <a:t>&gt;&gt;&gt; </a:t>
            </a:r>
            <a:r>
              <a:rPr sz="1100" b="0" i="0">
                <a:solidFill>
                  <a:srgbClr val="E6EDF3"/>
                </a:solidFill>
                <a:latin typeface="Courier New"/>
              </a:rPr>
              <a:t>d</a:t>
            </a:r>
            <a:r>
              <a:rPr sz="1100" b="0" i="0">
                <a:solidFill>
                  <a:srgbClr val="E6EDF3"/>
                </a:solidFill>
                <a:latin typeface="Courier New"/>
              </a:rPr>
              <a:t>[</a:t>
            </a:r>
            <a:r>
              <a:rPr sz="1100" b="0" i="0">
                <a:solidFill>
                  <a:srgbClr val="7EE787"/>
                </a:solidFill>
                <a:latin typeface="Courier New"/>
              </a:rPr>
              <a:t>'fig'</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a:t>
            </a:r>
          </a:p>
        </p:txBody>
      </p:sp>
      <p:sp>
        <p:nvSpPr>
          <p:cNvPr id="7" name="explanation"/>
          <p:cNvSpPr/>
          <p:nvPr/>
        </p:nvSpPr>
        <p:spPr>
          <a:xfrm>
            <a:off x="5148072" y="1097280"/>
            <a:ext cx="3584448" cy="791464"/>
          </a:xfrm>
          <a:prstGeom prst="roundRect">
            <a:avLst>
              <a:gd name="adj" fmla="val 9242"/>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Add three pairs one after another: pear, apple, fig.</a:t>
            </a:r>
          </a:p>
        </p:txBody>
      </p:sp>
      <p:sp>
        <p:nvSpPr>
          <p:cNvPr id="8" name="code"/>
          <p:cNvSpPr/>
          <p:nvPr/>
        </p:nvSpPr>
        <p:spPr>
          <a:xfrm>
            <a:off x="365760" y="1943608"/>
            <a:ext cx="4800600" cy="481583"/>
          </a:xfrm>
          <a:prstGeom prst="roundRect">
            <a:avLst>
              <a:gd name="adj" fmla="val 15189"/>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FFA657"/>
                </a:solidFill>
                <a:latin typeface="Courier New"/>
              </a:rPr>
              <a:t>list</a:t>
            </a:r>
            <a:r>
              <a:rPr sz="1100" b="0" i="0">
                <a:solidFill>
                  <a:srgbClr val="E6EDF3"/>
                </a:solidFill>
                <a:latin typeface="Courier New"/>
              </a:rPr>
              <a:t>(</a:t>
            </a:r>
            <a:r>
              <a:rPr sz="1100" b="0" i="0">
                <a:solidFill>
                  <a:srgbClr val="E6EDF3"/>
                </a:solidFill>
                <a:latin typeface="Courier New"/>
              </a:rPr>
              <a:t>d</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EE787"/>
                </a:solidFill>
                <a:latin typeface="Courier New"/>
              </a:rPr>
              <a:t>'fig'</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EE787"/>
                </a:solidFill>
                <a:latin typeface="Courier New"/>
              </a:rPr>
              <a:t>'pear'</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3</a:t>
            </a:r>
            <a:r>
              <a:rPr sz="1100" b="0" i="0">
                <a:solidFill>
                  <a:srgbClr val="E6EDF3"/>
                </a:solidFill>
                <a:latin typeface="Courier New"/>
              </a:rPr>
              <a:t>,</a:t>
            </a:r>
            <a:r>
              <a:rPr sz="1100" b="0" i="0">
                <a:solidFill>
                  <a:srgbClr val="E6EDF3"/>
                </a:solidFill>
                <a:latin typeface="Courier New"/>
              </a:rPr>
              <a:t> </a:t>
            </a:r>
            <a:r>
              <a:rPr sz="1100" b="0" i="0">
                <a:solidFill>
                  <a:srgbClr val="7EE787"/>
                </a:solidFill>
                <a:latin typeface="Courier New"/>
              </a:rPr>
              <a:t>'apple'</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5</a:t>
            </a:r>
            <a:r>
              <a:rPr sz="1100" b="0" i="0">
                <a:solidFill>
                  <a:srgbClr val="E6EDF3"/>
                </a:solidFill>
                <a:latin typeface="Courier New"/>
              </a:rPr>
              <a:t>}</a:t>
            </a:r>
            <a:r>
              <a:rPr sz="1100" b="0" i="0">
                <a:solidFill>
                  <a:srgbClr val="E6EDF3"/>
                </a:solidFill>
                <a:latin typeface="Courier New"/>
              </a:rPr>
              <a:t>)</a:t>
            </a:r>
          </a:p>
        </p:txBody>
      </p:sp>
      <p:sp>
        <p:nvSpPr>
          <p:cNvPr id="9" name="explanation"/>
          <p:cNvSpPr/>
          <p:nvPr/>
        </p:nvSpPr>
        <p:spPr>
          <a:xfrm>
            <a:off x="5148072" y="1943608"/>
            <a:ext cx="3584448" cy="481583"/>
          </a:xfrm>
          <a:prstGeom prst="roundRect">
            <a:avLst>
              <a:gd name="adj" fmla="val 1518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Loops and list() follow the order of adding. Equality ignores the order.</a:t>
            </a:r>
          </a:p>
        </p:txBody>
      </p:sp>
      <p:sp>
        <p:nvSpPr>
          <p:cNvPr id="10" name="code"/>
          <p:cNvSpPr/>
          <p:nvPr/>
        </p:nvSpPr>
        <p:spPr>
          <a:xfrm>
            <a:off x="365760" y="2480056"/>
            <a:ext cx="4800600" cy="621029"/>
          </a:xfrm>
          <a:prstGeom prst="roundRect">
            <a:avLst>
              <a:gd name="adj" fmla="val 11779"/>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del</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a:t>
            </a:r>
            <a:r>
              <a:rPr sz="1100" b="0" i="0">
                <a:solidFill>
                  <a:srgbClr val="7EE787"/>
                </a:solidFill>
                <a:latin typeface="Courier New"/>
              </a:rPr>
              <a:t>'pear'</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d</a:t>
            </a:r>
            <a:r>
              <a:rPr sz="1100" b="0" i="0">
                <a:solidFill>
                  <a:srgbClr val="E6EDF3"/>
                </a:solidFill>
                <a:latin typeface="Courier New"/>
              </a:rPr>
              <a:t>[</a:t>
            </a:r>
            <a:r>
              <a:rPr sz="1100" b="0" i="0">
                <a:solidFill>
                  <a:srgbClr val="7EE787"/>
                </a:solidFill>
                <a:latin typeface="Courier New"/>
              </a:rPr>
              <a:t>'pear'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9</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FFA657"/>
                </a:solidFill>
                <a:latin typeface="Courier New"/>
              </a:rPr>
              <a:t>list</a:t>
            </a:r>
            <a:r>
              <a:rPr sz="1100" b="0" i="0">
                <a:solidFill>
                  <a:srgbClr val="E6EDF3"/>
                </a:solidFill>
                <a:latin typeface="Courier New"/>
              </a:rPr>
              <a:t>(</a:t>
            </a:r>
            <a:r>
              <a:rPr sz="1100" b="0" i="0">
                <a:solidFill>
                  <a:srgbClr val="E6EDF3"/>
                </a:solidFill>
                <a:latin typeface="Courier New"/>
              </a:rPr>
              <a:t>d</a:t>
            </a:r>
            <a:r>
              <a:rPr sz="1100" b="0" i="0">
                <a:solidFill>
                  <a:srgbClr val="E6EDF3"/>
                </a:solidFill>
                <a:latin typeface="Courier New"/>
              </a:rPr>
              <a:t>)</a:t>
            </a:r>
            <a:r>
              <a:rPr sz="1100" b="0" i="0">
                <a:solidFill>
                  <a:srgbClr val="E6EDF3"/>
                </a:solidFill>
                <a:latin typeface="Courier New"/>
              </a:rPr>
              <a:t>)</a:t>
            </a:r>
          </a:p>
        </p:txBody>
      </p:sp>
      <p:sp>
        <p:nvSpPr>
          <p:cNvPr id="11" name="explanation"/>
          <p:cNvSpPr/>
          <p:nvPr/>
        </p:nvSpPr>
        <p:spPr>
          <a:xfrm>
            <a:off x="5148072" y="2480056"/>
            <a:ext cx="3584448" cy="621029"/>
          </a:xfrm>
          <a:prstGeom prst="roundRect">
            <a:avLst>
              <a:gd name="adj" fmla="val 1177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A key removed and added again joins the end of the line.</a:t>
            </a:r>
          </a:p>
        </p:txBody>
      </p:sp>
      <p:sp>
        <p:nvSpPr>
          <p:cNvPr id="12" name="result label"/>
          <p:cNvSpPr txBox="1"/>
          <p:nvPr/>
        </p:nvSpPr>
        <p:spPr>
          <a:xfrm>
            <a:off x="365760" y="3183382"/>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sp>
        <p:nvSpPr>
          <p:cNvPr id="13" name="row label"/>
          <p:cNvSpPr txBox="1"/>
          <p:nvPr/>
        </p:nvSpPr>
        <p:spPr>
          <a:xfrm>
            <a:off x="365760" y="3430270"/>
            <a:ext cx="2194560" cy="442848"/>
          </a:xfrm>
          <a:prstGeom prst="rect">
            <a:avLst/>
          </a:prstGeom>
          <a:noFill/>
        </p:spPr>
        <p:txBody>
          <a:bodyPr wrap="square" anchor="ctr" lIns="45720" rIns="45720" tIns="36576" bIns="36576">
            <a:spAutoFit/>
          </a:bodyPr>
          <a:lstStyle/>
          <a:p>
            <a:pPr algn="l"/>
            <a:r>
              <a:rPr sz="1100" b="0" i="1">
                <a:solidFill>
                  <a:srgbClr val="6E655C"/>
                </a:solidFill>
                <a:latin typeface="Calibri"/>
              </a:rPr>
              <a:t>after the three assignments</a:t>
            </a:r>
          </a:p>
        </p:txBody>
      </p:sp>
      <p:grpSp>
        <p:nvGrpSpPr>
          <p:cNvPr id="14" name="visual: order before"/>
          <p:cNvGrpSpPr/>
          <p:nvPr/>
        </p:nvGrpSpPr>
        <p:grpSpPr>
          <a:xfrm>
            <a:off x="2651760" y="3430270"/>
            <a:ext cx="5852160" cy="442848"/>
            <a:chOff x="2651760" y="3430270"/>
            <a:chExt cx="5852160" cy="442848"/>
          </a:xfrm>
        </p:grpSpPr>
        <p:sp>
          <p:nvSpPr>
            <p:cNvPr id="15" name="Rounded Rectangle 14"/>
            <p:cNvSpPr/>
            <p:nvPr/>
          </p:nvSpPr>
          <p:spPr>
            <a:xfrm>
              <a:off x="2651760" y="3430270"/>
              <a:ext cx="1767840" cy="442848"/>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ourier New"/>
                </a:rPr>
                <a:t>pear</a:t>
              </a:r>
            </a:p>
          </p:txBody>
        </p:sp>
        <p:cxnSp>
          <p:nvCxnSpPr>
            <p:cNvPr id="16" name="Connector 15"/>
            <p:cNvCxnSpPr/>
            <p:nvPr/>
          </p:nvCxnSpPr>
          <p:spPr>
            <a:xfrm>
              <a:off x="4419600" y="3651694"/>
              <a:ext cx="274320" cy="0"/>
            </a:xfrm>
            <a:prstGeom prst="line">
              <a:avLst/>
            </a:prstGeom>
            <a:ln w="25400">
              <a:solidFill>
                <a:srgbClr val="6E655C"/>
              </a:solidFill>
              <a:tailEnd type="triangle"/>
            </a:ln>
          </p:spPr>
        </p:cxnSp>
        <p:sp>
          <p:nvSpPr>
            <p:cNvPr id="17" name="Rounded Rectangle 16"/>
            <p:cNvSpPr/>
            <p:nvPr/>
          </p:nvSpPr>
          <p:spPr>
            <a:xfrm>
              <a:off x="4693920" y="3430270"/>
              <a:ext cx="1767840" cy="442848"/>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ourier New"/>
                </a:rPr>
                <a:t>apple</a:t>
              </a:r>
            </a:p>
          </p:txBody>
        </p:sp>
        <p:cxnSp>
          <p:nvCxnSpPr>
            <p:cNvPr id="18" name="Connector 17"/>
            <p:cNvCxnSpPr/>
            <p:nvPr/>
          </p:nvCxnSpPr>
          <p:spPr>
            <a:xfrm>
              <a:off x="6461760" y="3651694"/>
              <a:ext cx="274320" cy="0"/>
            </a:xfrm>
            <a:prstGeom prst="line">
              <a:avLst/>
            </a:prstGeom>
            <a:ln w="25400">
              <a:solidFill>
                <a:srgbClr val="6E655C"/>
              </a:solidFill>
              <a:tailEnd type="triangle"/>
            </a:ln>
          </p:spPr>
        </p:cxnSp>
        <p:sp>
          <p:nvSpPr>
            <p:cNvPr id="19" name="Rounded Rectangle 18"/>
            <p:cNvSpPr/>
            <p:nvPr/>
          </p:nvSpPr>
          <p:spPr>
            <a:xfrm>
              <a:off x="6736080" y="3430270"/>
              <a:ext cx="1767840" cy="442848"/>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ourier New"/>
                </a:rPr>
                <a:t>fig</a:t>
              </a:r>
            </a:p>
          </p:txBody>
        </p:sp>
      </p:grpSp>
      <p:sp>
        <p:nvSpPr>
          <p:cNvPr id="20" name="row label"/>
          <p:cNvSpPr txBox="1"/>
          <p:nvPr/>
        </p:nvSpPr>
        <p:spPr>
          <a:xfrm>
            <a:off x="365760" y="3982847"/>
            <a:ext cx="2194560" cy="442848"/>
          </a:xfrm>
          <a:prstGeom prst="rect">
            <a:avLst/>
          </a:prstGeom>
          <a:noFill/>
        </p:spPr>
        <p:txBody>
          <a:bodyPr wrap="square" anchor="ctr" lIns="45720" rIns="45720" tIns="36576" bIns="36576">
            <a:spAutoFit/>
          </a:bodyPr>
          <a:lstStyle/>
          <a:p>
            <a:pPr algn="l"/>
            <a:r>
              <a:rPr sz="1100" b="0" i="1">
                <a:solidFill>
                  <a:srgbClr val="6E655C"/>
                </a:solidFill>
                <a:latin typeface="Calibri"/>
              </a:rPr>
              <a:t>after del and adding again</a:t>
            </a:r>
          </a:p>
        </p:txBody>
      </p:sp>
      <p:grpSp>
        <p:nvGrpSpPr>
          <p:cNvPr id="21" name="visual: order after"/>
          <p:cNvGrpSpPr/>
          <p:nvPr/>
        </p:nvGrpSpPr>
        <p:grpSpPr>
          <a:xfrm>
            <a:off x="2651760" y="3982847"/>
            <a:ext cx="5852160" cy="442848"/>
            <a:chOff x="2651760" y="3982847"/>
            <a:chExt cx="5852160" cy="442848"/>
          </a:xfrm>
        </p:grpSpPr>
        <p:sp>
          <p:nvSpPr>
            <p:cNvPr id="22" name="Rounded Rectangle 21"/>
            <p:cNvSpPr/>
            <p:nvPr/>
          </p:nvSpPr>
          <p:spPr>
            <a:xfrm>
              <a:off x="2651760" y="3982847"/>
              <a:ext cx="1767840" cy="442848"/>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ourier New"/>
                </a:rPr>
                <a:t>apple</a:t>
              </a:r>
            </a:p>
          </p:txBody>
        </p:sp>
        <p:cxnSp>
          <p:nvCxnSpPr>
            <p:cNvPr id="23" name="Connector 22"/>
            <p:cNvCxnSpPr/>
            <p:nvPr/>
          </p:nvCxnSpPr>
          <p:spPr>
            <a:xfrm>
              <a:off x="4419600" y="4204271"/>
              <a:ext cx="274320" cy="0"/>
            </a:xfrm>
            <a:prstGeom prst="line">
              <a:avLst/>
            </a:prstGeom>
            <a:ln w="25400">
              <a:solidFill>
                <a:srgbClr val="6E655C"/>
              </a:solidFill>
              <a:tailEnd type="triangle"/>
            </a:ln>
          </p:spPr>
        </p:cxnSp>
        <p:sp>
          <p:nvSpPr>
            <p:cNvPr id="24" name="Rounded Rectangle 23"/>
            <p:cNvSpPr/>
            <p:nvPr/>
          </p:nvSpPr>
          <p:spPr>
            <a:xfrm>
              <a:off x="4693920" y="3982847"/>
              <a:ext cx="1767840" cy="442848"/>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ourier New"/>
                </a:rPr>
                <a:t>fig</a:t>
              </a:r>
            </a:p>
          </p:txBody>
        </p:sp>
        <p:cxnSp>
          <p:nvCxnSpPr>
            <p:cNvPr id="25" name="Connector 24"/>
            <p:cNvCxnSpPr/>
            <p:nvPr/>
          </p:nvCxnSpPr>
          <p:spPr>
            <a:xfrm>
              <a:off x="6461760" y="4204271"/>
              <a:ext cx="274320" cy="0"/>
            </a:xfrm>
            <a:prstGeom prst="line">
              <a:avLst/>
            </a:prstGeom>
            <a:ln w="25400">
              <a:solidFill>
                <a:srgbClr val="6E655C"/>
              </a:solidFill>
              <a:tailEnd type="triangle"/>
            </a:ln>
          </p:spPr>
        </p:cxnSp>
        <p:sp>
          <p:nvSpPr>
            <p:cNvPr id="26" name="Rounded Rectangle 25"/>
            <p:cNvSpPr/>
            <p:nvPr/>
          </p:nvSpPr>
          <p:spPr>
            <a:xfrm>
              <a:off x="6736080" y="3982847"/>
              <a:ext cx="1767840" cy="442848"/>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ourier New"/>
                </a:rPr>
                <a:t>pear</a:t>
              </a:r>
            </a:p>
          </p:txBody>
        </p:sp>
      </p:grpSp>
      <p:sp>
        <p:nvSpPr>
          <p:cNvPr id="27"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Keys come back in the order they were added; equality does not care.</a:t>
            </a:r>
          </a:p>
        </p:txBody>
      </p:sp>
      <p:sp>
        <p:nvSpPr>
          <p:cNvPr id="2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7 / 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Five words that gave dictionaries an order</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Guido van Rossum - photo: Daniel Stroud, CC BY-SA 4.0"/>
          <p:cNvPicPr>
            <a:picLocks noChangeAspect="1"/>
          </p:cNvPicPr>
          <p:nvPr/>
        </p:nvPicPr>
        <p:blipFill>
          <a:blip r:embed="rId3"/>
          <a:stretch>
            <a:fillRect/>
          </a:stretch>
        </p:blipFill>
        <p:spPr>
          <a:xfrm>
            <a:off x="457200" y="1628024"/>
            <a:ext cx="3017520" cy="2010894"/>
          </a:xfrm>
          <a:prstGeom prst="rect">
            <a:avLst/>
          </a:prstGeom>
        </p:spPr>
      </p:pic>
      <p:sp>
        <p:nvSpPr>
          <p:cNvPr id="6" name="credit"/>
          <p:cNvSpPr txBox="1"/>
          <p:nvPr/>
        </p:nvSpPr>
        <p:spPr>
          <a:xfrm>
            <a:off x="457200" y="410565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Guido van Rossum - photo: Daniel Stroud, CC BY-SA 4.0</a:t>
            </a:r>
          </a:p>
        </p:txBody>
      </p:sp>
      <p:sp>
        <p:nvSpPr>
          <p:cNvPr id="7" name="5N1K row"/>
          <p:cNvSpPr/>
          <p:nvPr/>
        </p:nvSpPr>
        <p:spPr>
          <a:xfrm>
            <a:off x="3611880" y="1115568"/>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15568"/>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15568"/>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Guido van Rossum, Python's creator, answering core developer INADA Naoki.</a:t>
            </a:r>
          </a:p>
        </p:txBody>
      </p:sp>
      <p:sp>
        <p:nvSpPr>
          <p:cNvPr id="10" name="5N1K row"/>
          <p:cNvSpPr/>
          <p:nvPr/>
        </p:nvSpPr>
        <p:spPr>
          <a:xfrm>
            <a:off x="3611880" y="1623060"/>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23060"/>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23060"/>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He ruled that a dict keeps insertion order: 'Make it so.'</a:t>
            </a:r>
          </a:p>
        </p:txBody>
      </p:sp>
      <p:sp>
        <p:nvSpPr>
          <p:cNvPr id="13" name="5N1K row"/>
          <p:cNvSpPr/>
          <p:nvPr/>
        </p:nvSpPr>
        <p:spPr>
          <a:xfrm>
            <a:off x="3611880" y="2130552"/>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0552"/>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0552"/>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Friday 15 December 2017, at 10:53 Eastern time.</a:t>
            </a:r>
          </a:p>
        </p:txBody>
      </p:sp>
      <p:sp>
        <p:nvSpPr>
          <p:cNvPr id="16" name="5N1K row"/>
          <p:cNvSpPr/>
          <p:nvPr/>
        </p:nvSpPr>
        <p:spPr>
          <a:xfrm>
            <a:off x="3611880" y="2638044"/>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8044"/>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8044"/>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The python-dev mailing list, in the thread 'Guarantee ordered dict literals in v3.7?'</a:t>
            </a:r>
          </a:p>
        </p:txBody>
      </p:sp>
      <p:sp>
        <p:nvSpPr>
          <p:cNvPr id="19" name="5N1K row"/>
          <p:cNvSpPr/>
          <p:nvPr/>
        </p:nvSpPr>
        <p:spPr>
          <a:xfrm>
            <a:off x="3611880" y="3145536"/>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45536"/>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45536"/>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Python 3.6's dict kept order only as an implementation detail; users wanted a promise.</a:t>
            </a:r>
          </a:p>
        </p:txBody>
      </p:sp>
      <p:sp>
        <p:nvSpPr>
          <p:cNvPr id="22" name="5N1K row"/>
          <p:cNvSpPr/>
          <p:nvPr/>
        </p:nvSpPr>
        <p:spPr>
          <a:xfrm>
            <a:off x="3611880" y="3653028"/>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53028"/>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53028"/>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Python 3.7 made insertion order 'an official part of the Python language spec'.</a:t>
            </a:r>
          </a:p>
        </p:txBody>
      </p:sp>
      <p:sp>
        <p:nvSpPr>
          <p:cNvPr id="25" name="live link"/>
          <p:cNvSpPr txBox="1"/>
          <p:nvPr/>
        </p:nvSpPr>
        <p:spPr>
          <a:xfrm>
            <a:off x="3611880" y="4160520"/>
            <a:ext cx="5074920" cy="310896"/>
          </a:xfrm>
          <a:prstGeom prst="rect">
            <a:avLst/>
          </a:prstGeom>
          <a:noFill/>
        </p:spPr>
        <p:txBody>
          <a:bodyPr wrap="square" anchor="t" lIns="45720" rIns="45720" tIns="36576" bIns="36576">
            <a:spAutoFit/>
          </a:bodyPr>
          <a:lstStyle/>
          <a:p>
            <a:pPr algn="l"/>
            <a:r>
              <a:rPr sz="1100" b="1" i="0">
                <a:solidFill>
                  <a:srgbClr val="D97A14"/>
                </a:solidFill>
                <a:latin typeface="Calibri"/>
              </a:rPr>
              <a:t>READ  </a:t>
            </a:r>
            <a:r>
              <a:rPr sz="1100" b="1" i="0">
                <a:solidFill>
                  <a:srgbClr val="2F6D62"/>
                </a:solidFill>
                <a:latin typeface="Calibri"/>
                <a:hlinkClick r:id="rId4"/>
              </a:rPr>
              <a:t>Guido's ruling on python-dev, 15 December 2017</a:t>
            </a:r>
            <a:r>
              <a:rPr sz="1000" b="0" i="0">
                <a:solidFill>
                  <a:srgbClr val="6E655C"/>
                </a:solidFill>
                <a:latin typeface="Calibri"/>
              </a:rPr>
              <a:t>   mail.python.org</a:t>
            </a:r>
          </a:p>
        </p:txBody>
      </p:sp>
      <p:sp>
        <p:nvSpPr>
          <p:cNvPr id="26" name="takeaway"/>
          <p:cNvSpPr txBox="1"/>
          <p:nvPr/>
        </p:nvSpPr>
        <p:spPr>
          <a:xfrm>
            <a:off x="457200" y="450799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short message turned an implementation detail into a promise.</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8 / 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Code 4: Keys must be hashable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key has to be a value that never changes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The Dictionary Data Type</a:t>
            </a:r>
          </a:p>
        </p:txBody>
      </p:sp>
      <p:sp>
        <p:nvSpPr>
          <p:cNvPr id="6" name="code"/>
          <p:cNvSpPr/>
          <p:nvPr/>
        </p:nvSpPr>
        <p:spPr>
          <a:xfrm>
            <a:off x="365760" y="1097280"/>
            <a:ext cx="4800600" cy="667512"/>
          </a:xfrm>
          <a:prstGeom prst="roundRect">
            <a:avLst>
              <a:gd name="adj" fmla="val 10958"/>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d</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'a tuple works'</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d</a:t>
            </a:r>
            <a:r>
              <a:rPr sz="1200" b="0" i="0">
                <a:solidFill>
                  <a:srgbClr val="E6EDF3"/>
                </a:solidFill>
                <a:latin typeface="Courier New"/>
              </a:rPr>
              <a:t>)</a:t>
            </a:r>
          </a:p>
        </p:txBody>
      </p:sp>
      <p:sp>
        <p:nvSpPr>
          <p:cNvPr id="7" name="explanation"/>
          <p:cNvSpPr/>
          <p:nvPr/>
        </p:nvSpPr>
        <p:spPr>
          <a:xfrm>
            <a:off x="5148072" y="1097280"/>
            <a:ext cx="3584448" cy="667512"/>
          </a:xfrm>
          <a:prstGeom prst="roundRect">
            <a:avLst>
              <a:gd name="adj" fmla="val 10958"/>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A tuple of numbers never changes, so it can be a key.</a:t>
            </a:r>
          </a:p>
        </p:txBody>
      </p:sp>
      <p:sp>
        <p:nvSpPr>
          <p:cNvPr id="8" name="code"/>
          <p:cNvSpPr/>
          <p:nvPr/>
        </p:nvSpPr>
        <p:spPr>
          <a:xfrm>
            <a:off x="365760" y="1819656"/>
            <a:ext cx="4800600" cy="853440"/>
          </a:xfrm>
          <a:prstGeom prst="roundRect">
            <a:avLst>
              <a:gd name="adj" fmla="val 8571"/>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try</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d</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'a list fails'</a:t>
            </a:r>
          </a:p>
          <a:p>
            <a:pPr algn="l"/>
            <a:r>
              <a:rPr sz="1200" b="0" i="0">
                <a:solidFill>
                  <a:srgbClr val="8A9B94"/>
                </a:solidFill>
                <a:latin typeface="Courier New"/>
              </a:rPr>
              <a:t>&gt;&gt;&gt; </a:t>
            </a:r>
            <a:r>
              <a:rPr sz="1200" b="0" i="0">
                <a:solidFill>
                  <a:srgbClr val="FFA657"/>
                </a:solidFill>
                <a:latin typeface="Courier New"/>
              </a:rPr>
              <a:t>except</a:t>
            </a:r>
            <a:r>
              <a:rPr sz="1200" b="0" i="0">
                <a:solidFill>
                  <a:srgbClr val="E6EDF3"/>
                </a:solidFill>
                <a:latin typeface="Courier New"/>
              </a:rPr>
              <a:t> </a:t>
            </a:r>
            <a:r>
              <a:rPr sz="1200" b="0" i="0">
                <a:solidFill>
                  <a:srgbClr val="E6EDF3"/>
                </a:solidFill>
                <a:latin typeface="Courier New"/>
              </a:rPr>
              <a:t>TypeError</a:t>
            </a:r>
            <a:r>
              <a:rPr sz="1200" b="0" i="0">
                <a:solidFill>
                  <a:srgbClr val="E6EDF3"/>
                </a:solidFill>
                <a:latin typeface="Courier New"/>
              </a:rPr>
              <a:t> </a:t>
            </a:r>
            <a:r>
              <a:rPr sz="1200" b="0" i="0">
                <a:solidFill>
                  <a:srgbClr val="FFA657"/>
                </a:solidFill>
                <a:latin typeface="Courier New"/>
              </a:rPr>
              <a:t>as</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type</a:t>
            </a:r>
            <a:r>
              <a:rPr sz="1200" b="0" i="0">
                <a:solidFill>
                  <a:srgbClr val="E6EDF3"/>
                </a:solidFill>
                <a:latin typeface="Courier New"/>
              </a:rPr>
              <a:t>(</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__name__</a:t>
            </a:r>
            <a:r>
              <a:rPr sz="1200" b="0" i="0">
                <a:solidFill>
                  <a:srgbClr val="E6EDF3"/>
                </a:solidFill>
                <a:latin typeface="Courier New"/>
              </a:rPr>
              <a:t>)</a:t>
            </a:r>
          </a:p>
        </p:txBody>
      </p:sp>
      <p:sp>
        <p:nvSpPr>
          <p:cNvPr id="9" name="explanation"/>
          <p:cNvSpPr/>
          <p:nvPr/>
        </p:nvSpPr>
        <p:spPr>
          <a:xfrm>
            <a:off x="5148072" y="1819656"/>
            <a:ext cx="3584448" cy="853440"/>
          </a:xfrm>
          <a:prstGeom prst="roundRect">
            <a:avLst>
              <a:gd name="adj" fmla="val 8571"/>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A list can change, so it is unhashable and refused with a TypeError.</a:t>
            </a:r>
          </a:p>
        </p:txBody>
      </p:sp>
      <p:sp>
        <p:nvSpPr>
          <p:cNvPr id="10" name="code"/>
          <p:cNvSpPr/>
          <p:nvPr/>
        </p:nvSpPr>
        <p:spPr>
          <a:xfrm>
            <a:off x="365760" y="2727960"/>
            <a:ext cx="4800600" cy="497077"/>
          </a:xfrm>
          <a:prstGeom prst="roundRect">
            <a:avLst>
              <a:gd name="adj" fmla="val 14716"/>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'int'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1.0</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'float'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True</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'bool'</a:t>
            </a:r>
            <a:r>
              <a:rPr sz="1200" b="0" i="0">
                <a:solidFill>
                  <a:srgbClr val="E6EDF3"/>
                </a:solidFill>
                <a:latin typeface="Courier New"/>
              </a:rPr>
              <a:t>}</a:t>
            </a:r>
            <a:r>
              <a:rPr sz="1200" b="0" i="0">
                <a:solidFill>
                  <a:srgbClr val="E6EDF3"/>
                </a:solidFill>
                <a:latin typeface="Courier New"/>
              </a:rPr>
              <a:t>)</a:t>
            </a:r>
          </a:p>
        </p:txBody>
      </p:sp>
      <p:sp>
        <p:nvSpPr>
          <p:cNvPr id="11" name="explanation"/>
          <p:cNvSpPr/>
          <p:nvPr/>
        </p:nvSpPr>
        <p:spPr>
          <a:xfrm>
            <a:off x="5148072" y="2727960"/>
            <a:ext cx="3584448" cy="497077"/>
          </a:xfrm>
          <a:prstGeom prst="roundRect">
            <a:avLst>
              <a:gd name="adj" fmla="val 14716"/>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numbers 1, 1.0 and True are equal and hash alike, so they are one key.</a:t>
            </a:r>
          </a:p>
        </p:txBody>
      </p:sp>
      <p:sp>
        <p:nvSpPr>
          <p:cNvPr id="12" name="result label"/>
          <p:cNvSpPr txBox="1"/>
          <p:nvPr/>
        </p:nvSpPr>
        <p:spPr>
          <a:xfrm>
            <a:off x="365760" y="3307334"/>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554222"/>
          <a:ext cx="8412478" cy="871472"/>
        </p:xfrm>
        <a:graphic>
          <a:graphicData uri="http://schemas.openxmlformats.org/drawingml/2006/table">
            <a:tbl>
              <a:tblPr firstRow="1" bandRow="1">
                <a:tableStyleId>{5C22544A-7EE6-4342-B048-85BDC9FD1C3A}</a:tableStyleId>
              </a:tblPr>
              <a:tblGrid>
                <a:gridCol w="2403565"/>
                <a:gridCol w="2403565"/>
                <a:gridCol w="3605348"/>
              </a:tblGrid>
              <a:tr h="217868">
                <a:tc>
                  <a:txBody>
                    <a:bodyPr wrap="square"/>
                    <a:lstStyle/>
                    <a:p>
                      <a:r>
                        <a:rPr sz="1000" b="1">
                          <a:solidFill>
                            <a:srgbClr val="FFFFFF"/>
                          </a:solidFill>
                          <a:latin typeface="Calibri"/>
                        </a:rPr>
                        <a:t>Key tried</a:t>
                      </a:r>
                    </a:p>
                  </a:txBody>
                  <a:tcPr marL="64008" marR="64008" marT="18288" marB="18288" anchor="ctr">
                    <a:solidFill>
                      <a:srgbClr val="2B2622"/>
                    </a:solidFill>
                  </a:tcPr>
                </a:tc>
                <a:tc>
                  <a:txBody>
                    <a:bodyPr wrap="square"/>
                    <a:lstStyle/>
                    <a:p>
                      <a:r>
                        <a:rPr sz="1000" b="1">
                          <a:solidFill>
                            <a:srgbClr val="FFFFFF"/>
                          </a:solidFill>
                          <a:latin typeface="Calibri"/>
                        </a:rPr>
                        <a:t>Allowed?</a:t>
                      </a:r>
                    </a:p>
                  </a:txBody>
                  <a:tcPr marL="64008" marR="64008" marT="18288" marB="18288" anchor="ctr">
                    <a:solidFill>
                      <a:srgbClr val="2B2622"/>
                    </a:solidFill>
                  </a:tcPr>
                </a:tc>
                <a:tc>
                  <a:txBody>
                    <a:bodyPr wrap="square"/>
                    <a:lstStyle/>
                    <a:p>
                      <a:r>
                        <a:rPr sz="1000" b="1">
                          <a:solidFill>
                            <a:srgbClr val="FFFFFF"/>
                          </a:solidFill>
                          <a:latin typeface="Calibri"/>
                        </a:rPr>
                        <a:t>Printed</a:t>
                      </a:r>
                    </a:p>
                  </a:txBody>
                  <a:tcPr marL="64008" marR="64008" marT="18288" marB="18288" anchor="ctr">
                    <a:solidFill>
                      <a:srgbClr val="2B2622"/>
                    </a:solidFill>
                  </a:tcPr>
                </a:tc>
              </a:tr>
              <a:tr h="217868">
                <a:tc>
                  <a:txBody>
                    <a:bodyPr wrap="square"/>
                    <a:lstStyle/>
                    <a:p>
                      <a:r>
                        <a:rPr sz="1000" b="0">
                          <a:solidFill>
                            <a:srgbClr val="2B2622"/>
                          </a:solidFill>
                          <a:latin typeface="Calibri"/>
                        </a:rPr>
                        <a:t>(1, 2)  a tuple</a:t>
                      </a:r>
                    </a:p>
                  </a:txBody>
                  <a:tcPr marL="64008" marR="64008" marT="18288" marB="18288" anchor="ctr">
                    <a:solidFill>
                      <a:srgbClr val="F2ECE1"/>
                    </a:solidFill>
                  </a:tcPr>
                </a:tc>
                <a:tc>
                  <a:txBody>
                    <a:bodyPr wrap="square"/>
                    <a:lstStyle/>
                    <a:p>
                      <a:r>
                        <a:rPr sz="1000" b="0">
                          <a:solidFill>
                            <a:srgbClr val="2B2622"/>
                          </a:solidFill>
                          <a:latin typeface="Calibri"/>
                        </a:rPr>
                        <a:t>yes</a:t>
                      </a:r>
                    </a:p>
                  </a:txBody>
                  <a:tcPr marL="64008" marR="64008" marT="18288" marB="18288" anchor="ctr">
                    <a:solidFill>
                      <a:srgbClr val="F2ECE1"/>
                    </a:solidFill>
                  </a:tcPr>
                </a:tc>
                <a:tc>
                  <a:txBody>
                    <a:bodyPr wrap="square"/>
                    <a:lstStyle/>
                    <a:p>
                      <a:r>
                        <a:rPr sz="1000" b="0">
                          <a:solidFill>
                            <a:srgbClr val="2B2622"/>
                          </a:solidFill>
                          <a:latin typeface="Courier New"/>
                        </a:rPr>
                        <a:t>{(1, 2): 'a tuple works'}</a:t>
                      </a:r>
                    </a:p>
                  </a:txBody>
                  <a:tcPr marL="64008" marR="64008" marT="18288" marB="18288" anchor="ctr">
                    <a:solidFill>
                      <a:srgbClr val="F2ECE1"/>
                    </a:solidFill>
                  </a:tcPr>
                </a:tc>
              </a:tr>
              <a:tr h="217868">
                <a:tc>
                  <a:txBody>
                    <a:bodyPr wrap="square"/>
                    <a:lstStyle/>
                    <a:p>
                      <a:r>
                        <a:rPr sz="1000" b="0">
                          <a:solidFill>
                            <a:srgbClr val="2B2622"/>
                          </a:solidFill>
                          <a:latin typeface="Calibri"/>
                        </a:rPr>
                        <a:t>[1, 2]  a list</a:t>
                      </a:r>
                    </a:p>
                  </a:txBody>
                  <a:tcPr marL="64008" marR="64008" marT="18288" marB="18288" anchor="ctr">
                    <a:solidFill>
                      <a:srgbClr val="FFFFFF"/>
                    </a:solidFill>
                  </a:tcPr>
                </a:tc>
                <a:tc>
                  <a:txBody>
                    <a:bodyPr wrap="square"/>
                    <a:lstStyle/>
                    <a:p>
                      <a:r>
                        <a:rPr sz="1000" b="0">
                          <a:solidFill>
                            <a:srgbClr val="2B2622"/>
                          </a:solidFill>
                          <a:latin typeface="Calibri"/>
                        </a:rPr>
                        <a:t>no, unhashable</a:t>
                      </a:r>
                    </a:p>
                  </a:txBody>
                  <a:tcPr marL="64008" marR="64008" marT="18288" marB="18288" anchor="ctr">
                    <a:solidFill>
                      <a:srgbClr val="FFFFFF"/>
                    </a:solidFill>
                  </a:tcPr>
                </a:tc>
                <a:tc>
                  <a:txBody>
                    <a:bodyPr wrap="square"/>
                    <a:lstStyle/>
                    <a:p>
                      <a:r>
                        <a:rPr sz="1000" b="0">
                          <a:solidFill>
                            <a:srgbClr val="2B2622"/>
                          </a:solidFill>
                          <a:latin typeface="Courier New"/>
                        </a:rPr>
                        <a:t>TypeError</a:t>
                      </a:r>
                    </a:p>
                  </a:txBody>
                  <a:tcPr marL="64008" marR="64008" marT="18288" marB="18288" anchor="ctr">
                    <a:solidFill>
                      <a:srgbClr val="FFFFFF"/>
                    </a:solidFill>
                  </a:tcPr>
                </a:tc>
              </a:tr>
              <a:tr h="217868">
                <a:tc>
                  <a:txBody>
                    <a:bodyPr wrap="square"/>
                    <a:lstStyle/>
                    <a:p>
                      <a:r>
                        <a:rPr sz="1000" b="0">
                          <a:solidFill>
                            <a:srgbClr val="2B2622"/>
                          </a:solidFill>
                          <a:latin typeface="Calibri"/>
                        </a:rPr>
                        <a:t>1, 1.0 and True</a:t>
                      </a:r>
                    </a:p>
                  </a:txBody>
                  <a:tcPr marL="64008" marR="64008" marT="18288" marB="18288" anchor="ctr">
                    <a:solidFill>
                      <a:srgbClr val="F2ECE1"/>
                    </a:solidFill>
                  </a:tcPr>
                </a:tc>
                <a:tc>
                  <a:txBody>
                    <a:bodyPr wrap="square"/>
                    <a:lstStyle/>
                    <a:p>
                      <a:r>
                        <a:rPr sz="1000" b="0">
                          <a:solidFill>
                            <a:srgbClr val="2B2622"/>
                          </a:solidFill>
                          <a:latin typeface="Calibri"/>
                        </a:rPr>
                        <a:t>yes, but one key</a:t>
                      </a:r>
                    </a:p>
                  </a:txBody>
                  <a:tcPr marL="64008" marR="64008" marT="18288" marB="18288" anchor="ctr">
                    <a:solidFill>
                      <a:srgbClr val="F2ECE1"/>
                    </a:solidFill>
                  </a:tcPr>
                </a:tc>
                <a:tc>
                  <a:txBody>
                    <a:bodyPr wrap="square"/>
                    <a:lstStyle/>
                    <a:p>
                      <a:r>
                        <a:rPr sz="1000" b="0">
                          <a:solidFill>
                            <a:srgbClr val="2B2622"/>
                          </a:solidFill>
                          <a:latin typeface="Courier New"/>
                        </a:rPr>
                        <a:t>{1: 'bool'}</a:t>
                      </a:r>
                    </a:p>
                  </a:txBody>
                  <a:tcPr marL="64008" marR="64008" marT="18288" marB="18288" anchor="ctr">
                    <a:solidFill>
                      <a:srgbClr val="F2ECE1"/>
                    </a:solidFill>
                  </a:tcPr>
                </a:tc>
              </a:tr>
            </a:tbl>
          </a:graphicData>
        </a:graphic>
      </p:graphicFrame>
      <p:sp>
        <p:nvSpPr>
          <p:cNvPr id="14"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key must never change, so tuples are welcome and lists are not.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9 / 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the dictionary and its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Each term of this part, as something you already know</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The Dictionary Data Type</a:t>
            </a:r>
          </a:p>
        </p:txBody>
      </p:sp>
      <p:sp>
        <p:nvSpPr>
          <p:cNvPr id="6" name="everyday card"/>
          <p:cNvSpPr/>
          <p:nvPr/>
        </p:nvSpPr>
        <p:spPr>
          <a:xfrm>
            <a:off x="457200" y="1170432"/>
            <a:ext cx="4023360" cy="717804"/>
          </a:xfrm>
          <a:prstGeom prst="roundRect">
            <a:avLst>
              <a:gd name="adj" fmla="val 10191"/>
            </a:avLst>
          </a:prstGeom>
          <a:solidFill>
            <a:srgbClr val="F2ECE1"/>
          </a:solidFill>
          <a:ln>
            <a:solidFill>
              <a:srgbClr val="F2ECE1"/>
            </a:solidFill>
          </a:ln>
        </p:spPr>
        <p:txBody>
          <a:bodyPr rtlCol="0" anchor="ctr" wrap="square" lIns="146304" rIns="146304" tIns="36576" bIns="36576"/>
          <a:lstStyle/>
          <a:p>
            <a:pPr algn="l"/>
            <a:r>
              <a:rPr sz="950" b="1" i="0">
                <a:solidFill>
                  <a:srgbClr val="D97A14"/>
                </a:solidFill>
                <a:latin typeface="Calibri"/>
              </a:rPr>
              <a:t>EVERYDAY  </a:t>
            </a:r>
            <a:r>
              <a:rPr sz="1300" b="1" i="0">
                <a:solidFill>
                  <a:srgbClr val="2B2622"/>
                </a:solidFill>
                <a:latin typeface="Cambria"/>
              </a:rPr>
              <a:t>The Dictionary Data Type</a:t>
            </a:r>
          </a:p>
          <a:p>
            <a:pPr algn="l"/>
            <a:r>
              <a:rPr sz="1200" b="0" i="0">
                <a:solidFill>
                  <a:srgbClr val="2B2622"/>
                </a:solidFill>
                <a:latin typeface="Calibri"/>
              </a:rPr>
              <a:t>A filing cabinet with labelled tabs: you jump to the tab instead of leafing through every page.</a:t>
            </a:r>
          </a:p>
        </p:txBody>
      </p:sp>
      <p:sp>
        <p:nvSpPr>
          <p:cNvPr id="7" name="card accent"/>
          <p:cNvSpPr/>
          <p:nvPr/>
        </p:nvSpPr>
        <p:spPr>
          <a:xfrm>
            <a:off x="457200" y="1170432"/>
            <a:ext cx="64008" cy="717804"/>
          </a:xfrm>
          <a:prstGeom prst="roundRect">
            <a:avLst>
              <a:gd name="adj" fmla="val 50000"/>
            </a:avLst>
          </a:prstGeom>
          <a:solidFill>
            <a:srgbClr val="D97A14"/>
          </a:solidFill>
          <a:ln>
            <a:solidFill>
              <a:srgbClr val="D97A14"/>
            </a:solidFill>
          </a:ln>
        </p:spPr>
        <p:txBody>
          <a:bodyPr rtlCol="0" anchor="ctr"/>
          <a:lstStyle/>
          <a:p>
            <a:pPr algn="ctr"/>
          </a:p>
        </p:txBody>
      </p:sp>
      <p:sp>
        <p:nvSpPr>
          <p:cNvPr id="8" name="everyday card"/>
          <p:cNvSpPr/>
          <p:nvPr/>
        </p:nvSpPr>
        <p:spPr>
          <a:xfrm>
            <a:off x="4663440" y="1170432"/>
            <a:ext cx="4023360" cy="717804"/>
          </a:xfrm>
          <a:prstGeom prst="roundRect">
            <a:avLst>
              <a:gd name="adj" fmla="val 10191"/>
            </a:avLst>
          </a:prstGeom>
          <a:solidFill>
            <a:srgbClr val="F2ECE1"/>
          </a:solidFill>
          <a:ln>
            <a:solidFill>
              <a:srgbClr val="F2ECE1"/>
            </a:solidFill>
          </a:ln>
        </p:spPr>
        <p:txBody>
          <a:bodyPr rtlCol="0" anchor="ctr" wrap="square" lIns="146304" rIns="146304" tIns="36576" bIns="36576"/>
          <a:lstStyle/>
          <a:p>
            <a:pPr algn="l"/>
            <a:r>
              <a:rPr sz="950" b="1" i="0">
                <a:solidFill>
                  <a:srgbClr val="D97A14"/>
                </a:solidFill>
                <a:latin typeface="Calibri"/>
              </a:rPr>
              <a:t>EVERYDAY  </a:t>
            </a:r>
            <a:r>
              <a:rPr sz="1300" b="1" i="0">
                <a:solidFill>
                  <a:srgbClr val="2B2622"/>
                </a:solidFill>
                <a:latin typeface="Cambria"/>
              </a:rPr>
              <a:t>Comparing Dictionaries and Lists</a:t>
            </a:r>
          </a:p>
          <a:p>
            <a:pPr algn="l"/>
            <a:r>
              <a:rPr sz="1200" b="0" i="0">
                <a:solidFill>
                  <a:srgbClr val="2B2622"/>
                </a:solidFill>
                <a:latin typeface="Calibri"/>
              </a:rPr>
              <a:t>A queue cares who stands where; a coat rack only cares which labels hang on it.</a:t>
            </a:r>
          </a:p>
        </p:txBody>
      </p:sp>
      <p:sp>
        <p:nvSpPr>
          <p:cNvPr id="9" name="card accent"/>
          <p:cNvSpPr/>
          <p:nvPr/>
        </p:nvSpPr>
        <p:spPr>
          <a:xfrm>
            <a:off x="4663440" y="1170432"/>
            <a:ext cx="64008" cy="717804"/>
          </a:xfrm>
          <a:prstGeom prst="roundRect">
            <a:avLst>
              <a:gd name="adj" fmla="val 50000"/>
            </a:avLst>
          </a:prstGeom>
          <a:solidFill>
            <a:srgbClr val="D97A14"/>
          </a:solidFill>
          <a:ln>
            <a:solidFill>
              <a:srgbClr val="D97A14"/>
            </a:solidFill>
          </a:ln>
        </p:spPr>
        <p:txBody>
          <a:bodyPr rtlCol="0" anchor="ctr"/>
          <a:lstStyle/>
          <a:p>
            <a:pPr algn="ctr"/>
          </a:p>
        </p:txBody>
      </p:sp>
      <p:sp>
        <p:nvSpPr>
          <p:cNvPr id="10" name="everyday card"/>
          <p:cNvSpPr/>
          <p:nvPr/>
        </p:nvSpPr>
        <p:spPr>
          <a:xfrm>
            <a:off x="457200" y="1997964"/>
            <a:ext cx="4023360" cy="717804"/>
          </a:xfrm>
          <a:prstGeom prst="roundRect">
            <a:avLst>
              <a:gd name="adj" fmla="val 10191"/>
            </a:avLst>
          </a:prstGeom>
          <a:solidFill>
            <a:srgbClr val="F2ECE1"/>
          </a:solidFill>
          <a:ln>
            <a:solidFill>
              <a:srgbClr val="F2ECE1"/>
            </a:solidFill>
          </a:ln>
        </p:spPr>
        <p:txBody>
          <a:bodyPr rtlCol="0" anchor="ctr" wrap="square" lIns="146304" rIns="146304" tIns="36576" bIns="36576"/>
          <a:lstStyle/>
          <a:p>
            <a:pPr algn="l"/>
            <a:r>
              <a:rPr sz="950" b="1" i="0">
                <a:solidFill>
                  <a:srgbClr val="D97A14"/>
                </a:solidFill>
                <a:latin typeface="Calibri"/>
              </a:rPr>
              <a:t>EVERYDAY  </a:t>
            </a:r>
            <a:r>
              <a:rPr sz="1300" b="1" i="0">
                <a:solidFill>
                  <a:srgbClr val="2B2622"/>
                </a:solidFill>
                <a:latin typeface="Cambria"/>
              </a:rPr>
              <a:t>dictionary</a:t>
            </a:r>
          </a:p>
          <a:p>
            <a:pPr algn="l"/>
            <a:r>
              <a:rPr sz="1200" b="0" i="0">
                <a:solidFill>
                  <a:srgbClr val="2B2622"/>
                </a:solidFill>
                <a:latin typeface="Calibri"/>
              </a:rPr>
              <a:t>A phone book: look up a name and the number is next to it.</a:t>
            </a:r>
          </a:p>
        </p:txBody>
      </p:sp>
      <p:sp>
        <p:nvSpPr>
          <p:cNvPr id="11" name="card accent"/>
          <p:cNvSpPr/>
          <p:nvPr/>
        </p:nvSpPr>
        <p:spPr>
          <a:xfrm>
            <a:off x="457200" y="1997964"/>
            <a:ext cx="64008" cy="717804"/>
          </a:xfrm>
          <a:prstGeom prst="roundRect">
            <a:avLst>
              <a:gd name="adj" fmla="val 50000"/>
            </a:avLst>
          </a:prstGeom>
          <a:solidFill>
            <a:srgbClr val="D97A14"/>
          </a:solidFill>
          <a:ln>
            <a:solidFill>
              <a:srgbClr val="D97A14"/>
            </a:solidFill>
          </a:ln>
        </p:spPr>
        <p:txBody>
          <a:bodyPr rtlCol="0" anchor="ctr"/>
          <a:lstStyle/>
          <a:p>
            <a:pPr algn="ctr"/>
          </a:p>
        </p:txBody>
      </p:sp>
      <p:sp>
        <p:nvSpPr>
          <p:cNvPr id="12" name="everyday card"/>
          <p:cNvSpPr/>
          <p:nvPr/>
        </p:nvSpPr>
        <p:spPr>
          <a:xfrm>
            <a:off x="4663440" y="1997964"/>
            <a:ext cx="4023360" cy="717804"/>
          </a:xfrm>
          <a:prstGeom prst="roundRect">
            <a:avLst>
              <a:gd name="adj" fmla="val 10191"/>
            </a:avLst>
          </a:prstGeom>
          <a:solidFill>
            <a:srgbClr val="F2ECE1"/>
          </a:solidFill>
          <a:ln>
            <a:solidFill>
              <a:srgbClr val="F2ECE1"/>
            </a:solidFill>
          </a:ln>
        </p:spPr>
        <p:txBody>
          <a:bodyPr rtlCol="0" anchor="ctr" wrap="square" lIns="146304" rIns="146304" tIns="36576" bIns="36576"/>
          <a:lstStyle/>
          <a:p>
            <a:pPr algn="l"/>
            <a:r>
              <a:rPr sz="950" b="1" i="0">
                <a:solidFill>
                  <a:srgbClr val="D97A14"/>
                </a:solidFill>
                <a:latin typeface="Calibri"/>
              </a:rPr>
              <a:t>EVERYDAY  </a:t>
            </a:r>
            <a:r>
              <a:rPr sz="1300" b="1" i="0">
                <a:solidFill>
                  <a:srgbClr val="2B2622"/>
                </a:solidFill>
                <a:latin typeface="Cambria"/>
              </a:rPr>
              <a:t>key</a:t>
            </a:r>
          </a:p>
          <a:p>
            <a:pPr algn="l"/>
            <a:r>
              <a:rPr sz="1200" b="0" i="0">
                <a:solidFill>
                  <a:srgbClr val="2B2622"/>
                </a:solidFill>
                <a:latin typeface="Calibri"/>
              </a:rPr>
              <a:t>The ticket you hand over at the coat check; it names exactly one coat.</a:t>
            </a:r>
          </a:p>
        </p:txBody>
      </p:sp>
      <p:sp>
        <p:nvSpPr>
          <p:cNvPr id="13" name="card accent"/>
          <p:cNvSpPr/>
          <p:nvPr/>
        </p:nvSpPr>
        <p:spPr>
          <a:xfrm>
            <a:off x="4663440" y="1997964"/>
            <a:ext cx="64008" cy="717804"/>
          </a:xfrm>
          <a:prstGeom prst="roundRect">
            <a:avLst>
              <a:gd name="adj" fmla="val 50000"/>
            </a:avLst>
          </a:prstGeom>
          <a:solidFill>
            <a:srgbClr val="D97A14"/>
          </a:solidFill>
          <a:ln>
            <a:solidFill>
              <a:srgbClr val="D97A14"/>
            </a:solidFill>
          </a:ln>
        </p:spPr>
        <p:txBody>
          <a:bodyPr rtlCol="0" anchor="ctr"/>
          <a:lstStyle/>
          <a:p>
            <a:pPr algn="ctr"/>
          </a:p>
        </p:txBody>
      </p:sp>
      <p:sp>
        <p:nvSpPr>
          <p:cNvPr id="14" name="everyday card"/>
          <p:cNvSpPr/>
          <p:nvPr/>
        </p:nvSpPr>
        <p:spPr>
          <a:xfrm>
            <a:off x="457200" y="2825496"/>
            <a:ext cx="4023360" cy="717804"/>
          </a:xfrm>
          <a:prstGeom prst="roundRect">
            <a:avLst>
              <a:gd name="adj" fmla="val 10191"/>
            </a:avLst>
          </a:prstGeom>
          <a:solidFill>
            <a:srgbClr val="F2ECE1"/>
          </a:solidFill>
          <a:ln>
            <a:solidFill>
              <a:srgbClr val="F2ECE1"/>
            </a:solidFill>
          </a:ln>
        </p:spPr>
        <p:txBody>
          <a:bodyPr rtlCol="0" anchor="ctr" wrap="square" lIns="146304" rIns="146304" tIns="36576" bIns="36576"/>
          <a:lstStyle/>
          <a:p>
            <a:pPr algn="l"/>
            <a:r>
              <a:rPr sz="950" b="1" i="0">
                <a:solidFill>
                  <a:srgbClr val="D97A14"/>
                </a:solidFill>
                <a:latin typeface="Calibri"/>
              </a:rPr>
              <a:t>EVERYDAY  </a:t>
            </a:r>
            <a:r>
              <a:rPr sz="1300" b="1" i="0">
                <a:solidFill>
                  <a:srgbClr val="2B2622"/>
                </a:solidFill>
                <a:latin typeface="Cambria"/>
              </a:rPr>
              <a:t>value</a:t>
            </a:r>
          </a:p>
          <a:p>
            <a:pPr algn="l"/>
            <a:r>
              <a:rPr sz="1200" b="0" i="0">
                <a:solidFill>
                  <a:srgbClr val="2B2622"/>
                </a:solidFill>
                <a:latin typeface="Calibri"/>
              </a:rPr>
              <a:t>The coat itself: the thing you get back when you present the ticket.</a:t>
            </a:r>
          </a:p>
        </p:txBody>
      </p:sp>
      <p:sp>
        <p:nvSpPr>
          <p:cNvPr id="15" name="card accent"/>
          <p:cNvSpPr/>
          <p:nvPr/>
        </p:nvSpPr>
        <p:spPr>
          <a:xfrm>
            <a:off x="457200" y="2825496"/>
            <a:ext cx="64008" cy="717804"/>
          </a:xfrm>
          <a:prstGeom prst="roundRect">
            <a:avLst>
              <a:gd name="adj" fmla="val 50000"/>
            </a:avLst>
          </a:prstGeom>
          <a:solidFill>
            <a:srgbClr val="D97A14"/>
          </a:solidFill>
          <a:ln>
            <a:solidFill>
              <a:srgbClr val="D97A14"/>
            </a:solidFill>
          </a:ln>
        </p:spPr>
        <p:txBody>
          <a:bodyPr rtlCol="0" anchor="ctr"/>
          <a:lstStyle/>
          <a:p>
            <a:pPr algn="ctr"/>
          </a:p>
        </p:txBody>
      </p:sp>
      <p:sp>
        <p:nvSpPr>
          <p:cNvPr id="16" name="everyday card"/>
          <p:cNvSpPr/>
          <p:nvPr/>
        </p:nvSpPr>
        <p:spPr>
          <a:xfrm>
            <a:off x="4663440" y="2825496"/>
            <a:ext cx="4023360" cy="717804"/>
          </a:xfrm>
          <a:prstGeom prst="roundRect">
            <a:avLst>
              <a:gd name="adj" fmla="val 10191"/>
            </a:avLst>
          </a:prstGeom>
          <a:solidFill>
            <a:srgbClr val="F2ECE1"/>
          </a:solidFill>
          <a:ln>
            <a:solidFill>
              <a:srgbClr val="F2ECE1"/>
            </a:solidFill>
          </a:ln>
        </p:spPr>
        <p:txBody>
          <a:bodyPr rtlCol="0" anchor="ctr" wrap="square" lIns="146304" rIns="146304" tIns="36576" bIns="36576"/>
          <a:lstStyle/>
          <a:p>
            <a:pPr algn="l"/>
            <a:r>
              <a:rPr sz="950" b="1" i="0">
                <a:solidFill>
                  <a:srgbClr val="D97A14"/>
                </a:solidFill>
                <a:latin typeface="Calibri"/>
              </a:rPr>
              <a:t>EVERYDAY  </a:t>
            </a:r>
            <a:r>
              <a:rPr sz="1300" b="1" i="0">
                <a:solidFill>
                  <a:srgbClr val="2B2622"/>
                </a:solidFill>
                <a:latin typeface="Cambria"/>
              </a:rPr>
              <a:t>key-value pair</a:t>
            </a:r>
          </a:p>
          <a:p>
            <a:pPr algn="l"/>
            <a:r>
              <a:rPr sz="1200" b="0" i="0">
                <a:solidFill>
                  <a:srgbClr val="2B2622"/>
                </a:solidFill>
                <a:latin typeface="Calibri"/>
              </a:rPr>
              <a:t>One line of the phone book: a name and its number, written together.</a:t>
            </a:r>
          </a:p>
        </p:txBody>
      </p:sp>
      <p:sp>
        <p:nvSpPr>
          <p:cNvPr id="17" name="card accent"/>
          <p:cNvSpPr/>
          <p:nvPr/>
        </p:nvSpPr>
        <p:spPr>
          <a:xfrm>
            <a:off x="4663440" y="2825496"/>
            <a:ext cx="64008" cy="717804"/>
          </a:xfrm>
          <a:prstGeom prst="roundRect">
            <a:avLst>
              <a:gd name="adj" fmla="val 50000"/>
            </a:avLst>
          </a:prstGeom>
          <a:solidFill>
            <a:srgbClr val="D97A14"/>
          </a:solidFill>
          <a:ln>
            <a:solidFill>
              <a:srgbClr val="D97A14"/>
            </a:solidFill>
          </a:ln>
        </p:spPr>
        <p:txBody>
          <a:bodyPr rtlCol="0" anchor="ctr"/>
          <a:lstStyle/>
          <a:p>
            <a:pPr algn="ctr"/>
          </a:p>
        </p:txBody>
      </p:sp>
      <p:sp>
        <p:nvSpPr>
          <p:cNvPr id="18" name="everyday card"/>
          <p:cNvSpPr/>
          <p:nvPr/>
        </p:nvSpPr>
        <p:spPr>
          <a:xfrm>
            <a:off x="457200" y="3653028"/>
            <a:ext cx="4023360" cy="717804"/>
          </a:xfrm>
          <a:prstGeom prst="roundRect">
            <a:avLst>
              <a:gd name="adj" fmla="val 10191"/>
            </a:avLst>
          </a:prstGeom>
          <a:solidFill>
            <a:srgbClr val="F2ECE1"/>
          </a:solidFill>
          <a:ln>
            <a:solidFill>
              <a:srgbClr val="F2ECE1"/>
            </a:solidFill>
          </a:ln>
        </p:spPr>
        <p:txBody>
          <a:bodyPr rtlCol="0" anchor="ctr" wrap="square" lIns="146304" rIns="146304" tIns="36576" bIns="36576"/>
          <a:lstStyle/>
          <a:p>
            <a:pPr algn="l"/>
            <a:r>
              <a:rPr sz="950" b="1" i="0">
                <a:solidFill>
                  <a:srgbClr val="D97A14"/>
                </a:solidFill>
                <a:latin typeface="Calibri"/>
              </a:rPr>
              <a:t>EVERYDAY  </a:t>
            </a:r>
            <a:r>
              <a:rPr sz="1300" b="1" i="0">
                <a:solidFill>
                  <a:srgbClr val="2B2622"/>
                </a:solidFill>
                <a:latin typeface="Cambria"/>
              </a:rPr>
              <a:t>unhashable type</a:t>
            </a:r>
          </a:p>
          <a:p>
            <a:pPr algn="l"/>
            <a:r>
              <a:rPr sz="1200" b="0" i="0">
                <a:solidFill>
                  <a:srgbClr val="2B2622"/>
                </a:solidFill>
                <a:latin typeface="Calibri"/>
              </a:rPr>
              <a:t>Lockers numbered by hair colour: when the colour changes, the locker is lost.</a:t>
            </a:r>
          </a:p>
        </p:txBody>
      </p:sp>
      <p:sp>
        <p:nvSpPr>
          <p:cNvPr id="19" name="card accent"/>
          <p:cNvSpPr/>
          <p:nvPr/>
        </p:nvSpPr>
        <p:spPr>
          <a:xfrm>
            <a:off x="457200" y="3653028"/>
            <a:ext cx="64008" cy="717804"/>
          </a:xfrm>
          <a:prstGeom prst="roundRect">
            <a:avLst>
              <a:gd name="adj" fmla="val 50000"/>
            </a:avLst>
          </a:prstGeom>
          <a:solidFill>
            <a:srgbClr val="D97A14"/>
          </a:solidFill>
          <a:ln>
            <a:solidFill>
              <a:srgbClr val="D97A14"/>
            </a:solidFill>
          </a:ln>
        </p:spPr>
        <p:txBody>
          <a:bodyPr rtlCol="0" anchor="ctr"/>
          <a:lstStyle/>
          <a:p>
            <a:pPr algn="ctr"/>
          </a:p>
        </p:txBody>
      </p:sp>
      <p:sp>
        <p:nvSpPr>
          <p:cNvPr id="2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10 / 48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2: Reading and changing pairs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Look at the parts, ask for a key, fill in defaults</a:t>
            </a:r>
          </a:p>
        </p:txBody>
      </p:sp>
      <p:sp>
        <p:nvSpPr>
          <p:cNvPr id="4" name="concept row"/>
          <p:cNvSpPr/>
          <p:nvPr/>
        </p:nvSpPr>
        <p:spPr>
          <a:xfrm>
            <a:off x="457200" y="1280160"/>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5" name="concept accent"/>
          <p:cNvSpPr/>
          <p:nvPr/>
        </p:nvSpPr>
        <p:spPr>
          <a:xfrm>
            <a:off x="457200" y="1280160"/>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6" name="concept"/>
          <p:cNvSpPr txBox="1"/>
          <p:nvPr/>
        </p:nvSpPr>
        <p:spPr>
          <a:xfrm>
            <a:off x="594360" y="1280160"/>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Keys, values, items</a:t>
            </a:r>
          </a:p>
        </p:txBody>
      </p:sp>
      <p:sp>
        <p:nvSpPr>
          <p:cNvPr id="7" name="concept meaning"/>
          <p:cNvSpPr txBox="1"/>
          <p:nvPr/>
        </p:nvSpPr>
        <p:spPr>
          <a:xfrm>
            <a:off x="2286000" y="1280160"/>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Three views of the parts of a dictionary.</a:t>
            </a:r>
          </a:p>
        </p:txBody>
      </p:sp>
      <p:sp>
        <p:nvSpPr>
          <p:cNvPr id="8" name="concept row"/>
          <p:cNvSpPr/>
          <p:nvPr/>
        </p:nvSpPr>
        <p:spPr>
          <a:xfrm>
            <a:off x="457200" y="2029967"/>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9" name="concept accent"/>
          <p:cNvSpPr/>
          <p:nvPr/>
        </p:nvSpPr>
        <p:spPr>
          <a:xfrm>
            <a:off x="457200" y="2029967"/>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0" name="concept"/>
          <p:cNvSpPr txBox="1"/>
          <p:nvPr/>
        </p:nvSpPr>
        <p:spPr>
          <a:xfrm>
            <a:off x="594360" y="2029967"/>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in and get()</a:t>
            </a:r>
          </a:p>
        </p:txBody>
      </p:sp>
      <p:sp>
        <p:nvSpPr>
          <p:cNvPr id="11" name="concept meaning"/>
          <p:cNvSpPr txBox="1"/>
          <p:nvPr/>
        </p:nvSpPr>
        <p:spPr>
          <a:xfrm>
            <a:off x="2286000" y="2029967"/>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Ask whether a key exists without an error.</a:t>
            </a:r>
          </a:p>
        </p:txBody>
      </p:sp>
      <p:sp>
        <p:nvSpPr>
          <p:cNvPr id="12" name="concept row"/>
          <p:cNvSpPr/>
          <p:nvPr/>
        </p:nvSpPr>
        <p:spPr>
          <a:xfrm>
            <a:off x="457200" y="2779776"/>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13" name="concept accent"/>
          <p:cNvSpPr/>
          <p:nvPr/>
        </p:nvSpPr>
        <p:spPr>
          <a:xfrm>
            <a:off x="457200" y="2779776"/>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4" name="concept"/>
          <p:cNvSpPr txBox="1"/>
          <p:nvPr/>
        </p:nvSpPr>
        <p:spPr>
          <a:xfrm>
            <a:off x="594360" y="2779776"/>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setdefault()</a:t>
            </a:r>
          </a:p>
        </p:txBody>
      </p:sp>
      <p:sp>
        <p:nvSpPr>
          <p:cNvPr id="15" name="concept meaning"/>
          <p:cNvSpPr txBox="1"/>
          <p:nvPr/>
        </p:nvSpPr>
        <p:spPr>
          <a:xfrm>
            <a:off x="2286000" y="2779776"/>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Add a pair only when the key is missing.</a:t>
            </a:r>
          </a:p>
        </p:txBody>
      </p:sp>
      <p:sp>
        <p:nvSpPr>
          <p:cNvPr id="16" name="concept row"/>
          <p:cNvSpPr/>
          <p:nvPr/>
        </p:nvSpPr>
        <p:spPr>
          <a:xfrm>
            <a:off x="457200" y="3529584"/>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17" name="concept accent"/>
          <p:cNvSpPr/>
          <p:nvPr/>
        </p:nvSpPr>
        <p:spPr>
          <a:xfrm>
            <a:off x="457200" y="3529584"/>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8" name="concept"/>
          <p:cNvSpPr txBox="1"/>
          <p:nvPr/>
        </p:nvSpPr>
        <p:spPr>
          <a:xfrm>
            <a:off x="594360" y="3529584"/>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Change a pair</a:t>
            </a:r>
          </a:p>
        </p:txBody>
      </p:sp>
      <p:sp>
        <p:nvSpPr>
          <p:cNvPr id="19" name="concept meaning"/>
          <p:cNvSpPr txBox="1"/>
          <p:nvPr/>
        </p:nvSpPr>
        <p:spPr>
          <a:xfrm>
            <a:off x="2286000" y="3529584"/>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Assign, del, pop and merge change the contents.</a:t>
            </a:r>
          </a:p>
        </p:txBody>
      </p:sp>
      <p:graphicFrame>
        <p:nvGraphicFramePr>
          <p:cNvPr id="20" name="visual: how the concepts fit"/>
          <p:cNvGraphicFramePr>
            <a:graphicFrameLocks noGrp="1"/>
          </p:cNvGraphicFramePr>
          <p:nvPr/>
        </p:nvGraphicFramePr>
        <p:xfrm>
          <a:off x="6172200" y="1280160"/>
          <a:ext cx="2514600" cy="3200400"/>
        </p:xfrm>
        <a:graphic>
          <a:graphicData uri="http://schemas.openxmlformats.org/drawingml/2006/table">
            <a:tbl>
              <a:tblPr firstRow="1" bandRow="1">
                <a:tableStyleId>{5C22544A-7EE6-4342-B048-85BDC9FD1C3A}</a:tableStyleId>
              </a:tblPr>
              <a:tblGrid>
                <a:gridCol w="2514600"/>
              </a:tblGrid>
              <a:tr h="640080">
                <a:tc>
                  <a:txBody>
                    <a:bodyPr wrap="square"/>
                    <a:lstStyle/>
                    <a:p>
                      <a:r>
                        <a:rPr sz="1300" b="1">
                          <a:solidFill>
                            <a:srgbClr val="FFFFFF"/>
                          </a:solidFill>
                          <a:latin typeface="Calibri"/>
                        </a:rPr>
                        <a:t>How they fit together</a:t>
                      </a:r>
                    </a:p>
                  </a:txBody>
                  <a:tcPr marL="64008" marR="64008" marT="18288" marB="18288" anchor="ctr">
                    <a:solidFill>
                      <a:srgbClr val="2B2622"/>
                    </a:solidFill>
                  </a:tcPr>
                </a:tc>
              </a:tr>
              <a:tr h="640080">
                <a:tc>
                  <a:txBody>
                    <a:bodyPr wrap="square"/>
                    <a:lstStyle/>
                    <a:p>
                      <a:r>
                        <a:rPr sz="1300" b="0">
                          <a:solidFill>
                            <a:srgbClr val="2B2622"/>
                          </a:solidFill>
                          <a:latin typeface="Calibri"/>
                        </a:rPr>
                        <a:t>1.  Look at the parts</a:t>
                      </a:r>
                    </a:p>
                  </a:txBody>
                  <a:tcPr marL="64008" marR="64008" marT="18288" marB="18288" anchor="ctr">
                    <a:solidFill>
                      <a:srgbClr val="F2ECE1"/>
                    </a:solidFill>
                  </a:tcPr>
                </a:tc>
              </a:tr>
              <a:tr h="640080">
                <a:tc>
                  <a:txBody>
                    <a:bodyPr wrap="square"/>
                    <a:lstStyle/>
                    <a:p>
                      <a:r>
                        <a:rPr sz="1300" b="0">
                          <a:solidFill>
                            <a:srgbClr val="2B2622"/>
                          </a:solidFill>
                          <a:latin typeface="Calibri"/>
                        </a:rPr>
                        <a:t>2.  Test for a key</a:t>
                      </a:r>
                    </a:p>
                  </a:txBody>
                  <a:tcPr marL="64008" marR="64008" marT="18288" marB="18288" anchor="ctr">
                    <a:solidFill>
                      <a:srgbClr val="FFFFFF"/>
                    </a:solidFill>
                  </a:tcPr>
                </a:tc>
              </a:tr>
              <a:tr h="640080">
                <a:tc>
                  <a:txBody>
                    <a:bodyPr wrap="square"/>
                    <a:lstStyle/>
                    <a:p>
                      <a:r>
                        <a:rPr sz="1300" b="0">
                          <a:solidFill>
                            <a:srgbClr val="2B2622"/>
                          </a:solidFill>
                          <a:latin typeface="Calibri"/>
                        </a:rPr>
                        <a:t>3.  Fill in a default</a:t>
                      </a:r>
                    </a:p>
                  </a:txBody>
                  <a:tcPr marL="64008" marR="64008" marT="18288" marB="18288" anchor="ctr">
                    <a:solidFill>
                      <a:srgbClr val="F2ECE1"/>
                    </a:solidFill>
                  </a:tcPr>
                </a:tc>
              </a:tr>
              <a:tr h="640080">
                <a:tc>
                  <a:txBody>
                    <a:bodyPr wrap="square"/>
                    <a:lstStyle/>
                    <a:p>
                      <a:r>
                        <a:rPr sz="1300" b="0">
                          <a:solidFill>
                            <a:srgbClr val="2B2622"/>
                          </a:solidFill>
                          <a:latin typeface="Calibri"/>
                        </a:rPr>
                        <a:t>4.  Add, remove or merge</a:t>
                      </a:r>
                    </a:p>
                  </a:txBody>
                  <a:tcPr marL="64008" marR="64008" marT="18288" marB="18288" anchor="ctr">
                    <a:solidFill>
                      <a:srgbClr val="FFFFFF"/>
                    </a:solidFill>
                  </a:tcPr>
                </a:tc>
              </a:tr>
            </a:tbl>
          </a:graphicData>
        </a:graphic>
      </p:graphicFrame>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11 / 48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5: Reading keys, values and items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Three methods return the parts of a dictionary</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Returning Keys and Values</a:t>
            </a:r>
          </a:p>
        </p:txBody>
      </p:sp>
      <p:sp>
        <p:nvSpPr>
          <p:cNvPr id="6" name="code"/>
          <p:cNvSpPr/>
          <p:nvPr/>
        </p:nvSpPr>
        <p:spPr>
          <a:xfrm>
            <a:off x="365760" y="1097280"/>
            <a:ext cx="4800600" cy="667512"/>
          </a:xfrm>
          <a:prstGeom prst="roundRect">
            <a:avLst>
              <a:gd name="adj" fmla="val 10958"/>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spam</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EE787"/>
                </a:solidFill>
                <a:latin typeface="Courier New"/>
              </a:rPr>
              <a:t>'color'</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'red'</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'age'</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42</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list</a:t>
            </a:r>
            <a:r>
              <a:rPr sz="1200" b="0" i="0">
                <a:solidFill>
                  <a:srgbClr val="E6EDF3"/>
                </a:solidFill>
                <a:latin typeface="Courier New"/>
              </a:rPr>
              <a:t>(</a:t>
            </a:r>
            <a:r>
              <a:rPr sz="1200" b="0" i="0">
                <a:solidFill>
                  <a:srgbClr val="E6EDF3"/>
                </a:solidFill>
                <a:latin typeface="Courier New"/>
              </a:rPr>
              <a:t>spam</a:t>
            </a:r>
            <a:r>
              <a:rPr sz="1200" b="0" i="0">
                <a:solidFill>
                  <a:srgbClr val="E6EDF3"/>
                </a:solidFill>
                <a:latin typeface="Courier New"/>
              </a:rPr>
              <a:t>.</a:t>
            </a:r>
            <a:r>
              <a:rPr sz="1200" b="0" i="0">
                <a:solidFill>
                  <a:srgbClr val="E6EDF3"/>
                </a:solidFill>
                <a:latin typeface="Courier New"/>
              </a:rPr>
              <a:t>keys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list</a:t>
            </a:r>
            <a:r>
              <a:rPr sz="1200" b="0" i="0">
                <a:solidFill>
                  <a:srgbClr val="E6EDF3"/>
                </a:solidFill>
                <a:latin typeface="Courier New"/>
              </a:rPr>
              <a:t>(</a:t>
            </a:r>
            <a:r>
              <a:rPr sz="1200" b="0" i="0">
                <a:solidFill>
                  <a:srgbClr val="E6EDF3"/>
                </a:solidFill>
                <a:latin typeface="Courier New"/>
              </a:rPr>
              <a:t>spam</a:t>
            </a:r>
            <a:r>
              <a:rPr sz="1200" b="0" i="0">
                <a:solidFill>
                  <a:srgbClr val="E6EDF3"/>
                </a:solidFill>
                <a:latin typeface="Courier New"/>
              </a:rPr>
              <a:t>.</a:t>
            </a:r>
            <a:r>
              <a:rPr sz="1200" b="0" i="0">
                <a:solidFill>
                  <a:srgbClr val="E6EDF3"/>
                </a:solidFill>
                <a:latin typeface="Courier New"/>
              </a:rPr>
              <a:t>values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p:txBody>
      </p:sp>
      <p:sp>
        <p:nvSpPr>
          <p:cNvPr id="7" name="explanation"/>
          <p:cNvSpPr/>
          <p:nvPr/>
        </p:nvSpPr>
        <p:spPr>
          <a:xfrm>
            <a:off x="5148072" y="1097280"/>
            <a:ext cx="3584448" cy="667512"/>
          </a:xfrm>
          <a:prstGeom prst="roundRect">
            <a:avLst>
              <a:gd name="adj" fmla="val 10958"/>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keys() gives the keys and values() the values; list() makes them printable.</a:t>
            </a:r>
          </a:p>
        </p:txBody>
      </p:sp>
      <p:sp>
        <p:nvSpPr>
          <p:cNvPr id="8" name="code"/>
          <p:cNvSpPr/>
          <p:nvPr/>
        </p:nvSpPr>
        <p:spPr>
          <a:xfrm>
            <a:off x="365760" y="1819656"/>
            <a:ext cx="4800600" cy="497077"/>
          </a:xfrm>
          <a:prstGeom prst="roundRect">
            <a:avLst>
              <a:gd name="adj" fmla="val 14716"/>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v</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E6EDF3"/>
                </a:solidFill>
                <a:latin typeface="Courier New"/>
              </a:rPr>
              <a:t>spam</a:t>
            </a:r>
            <a:r>
              <a:rPr sz="1200" b="0" i="0">
                <a:solidFill>
                  <a:srgbClr val="E6EDF3"/>
                </a:solidFill>
                <a:latin typeface="Courier New"/>
              </a:rPr>
              <a:t>.</a:t>
            </a:r>
            <a:r>
              <a:rPr sz="1200" b="0" i="0">
                <a:solidFill>
                  <a:srgbClr val="E6EDF3"/>
                </a:solidFill>
                <a:latin typeface="Courier New"/>
              </a:rPr>
              <a:t>items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'-&gt;'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v</a:t>
            </a:r>
            <a:r>
              <a:rPr sz="1200" b="0" i="0">
                <a:solidFill>
                  <a:srgbClr val="E6EDF3"/>
                </a:solidFill>
                <a:latin typeface="Courier New"/>
              </a:rPr>
              <a:t>)</a:t>
            </a:r>
          </a:p>
        </p:txBody>
      </p:sp>
      <p:sp>
        <p:nvSpPr>
          <p:cNvPr id="9" name="explanation"/>
          <p:cNvSpPr/>
          <p:nvPr/>
        </p:nvSpPr>
        <p:spPr>
          <a:xfrm>
            <a:off x="5148072" y="1819656"/>
            <a:ext cx="3584448" cy="497077"/>
          </a:xfrm>
          <a:prstGeom prst="roundRect">
            <a:avLst>
              <a:gd name="adj" fmla="val 14716"/>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items() hands over one (key, value) pair on each turn of the loop.</a:t>
            </a:r>
          </a:p>
        </p:txBody>
      </p:sp>
      <p:sp>
        <p:nvSpPr>
          <p:cNvPr id="10" name="code"/>
          <p:cNvSpPr/>
          <p:nvPr/>
        </p:nvSpPr>
        <p:spPr>
          <a:xfrm>
            <a:off x="365760" y="2371598"/>
            <a:ext cx="4800600" cy="497077"/>
          </a:xfrm>
          <a:prstGeom prst="roundRect">
            <a:avLst>
              <a:gd name="adj" fmla="val 14716"/>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list</a:t>
            </a:r>
            <a:r>
              <a:rPr sz="1200" b="0" i="0">
                <a:solidFill>
                  <a:srgbClr val="E6EDF3"/>
                </a:solidFill>
                <a:latin typeface="Courier New"/>
              </a:rPr>
              <a:t>(</a:t>
            </a:r>
            <a:r>
              <a:rPr sz="1200" b="0" i="0">
                <a:solidFill>
                  <a:srgbClr val="E6EDF3"/>
                </a:solidFill>
                <a:latin typeface="Courier New"/>
              </a:rPr>
              <a:t>spam</a:t>
            </a:r>
            <a:r>
              <a:rPr sz="1200" b="0" i="0">
                <a:solidFill>
                  <a:srgbClr val="E6EDF3"/>
                </a:solidFill>
                <a:latin typeface="Courier New"/>
              </a:rPr>
              <a:t>.</a:t>
            </a:r>
            <a:r>
              <a:rPr sz="1200" b="0" i="0">
                <a:solidFill>
                  <a:srgbClr val="E6EDF3"/>
                </a:solidFill>
                <a:latin typeface="Courier New"/>
              </a:rPr>
              <a:t>items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p:txBody>
      </p:sp>
      <p:sp>
        <p:nvSpPr>
          <p:cNvPr id="11" name="explanation"/>
          <p:cNvSpPr/>
          <p:nvPr/>
        </p:nvSpPr>
        <p:spPr>
          <a:xfrm>
            <a:off x="5148072" y="2371598"/>
            <a:ext cx="3584448" cy="497077"/>
          </a:xfrm>
          <a:prstGeom prst="roundRect">
            <a:avLst>
              <a:gd name="adj" fmla="val 14716"/>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Each pair is a tuple that holds the key first and then the value.</a:t>
            </a:r>
          </a:p>
        </p:txBody>
      </p:sp>
      <p:sp>
        <p:nvSpPr>
          <p:cNvPr id="12" name="result label"/>
          <p:cNvSpPr txBox="1"/>
          <p:nvPr/>
        </p:nvSpPr>
        <p:spPr>
          <a:xfrm>
            <a:off x="365760" y="2950971"/>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97859"/>
          <a:ext cx="8412478" cy="1227836"/>
        </p:xfrm>
        <a:graphic>
          <a:graphicData uri="http://schemas.openxmlformats.org/drawingml/2006/table">
            <a:tbl>
              <a:tblPr firstRow="1" bandRow="1">
                <a:tableStyleId>{5C22544A-7EE6-4342-B048-85BDC9FD1C3A}</a:tableStyleId>
              </a:tblPr>
              <a:tblGrid>
                <a:gridCol w="1869439"/>
                <a:gridCol w="1869439"/>
                <a:gridCol w="4673600"/>
              </a:tblGrid>
              <a:tr h="306959">
                <a:tc>
                  <a:txBody>
                    <a:bodyPr wrap="square"/>
                    <a:lstStyle/>
                    <a:p>
                      <a:r>
                        <a:rPr sz="1200" b="1">
                          <a:solidFill>
                            <a:srgbClr val="FFFFFF"/>
                          </a:solidFill>
                          <a:latin typeface="Calibri"/>
                        </a:rPr>
                        <a:t>Method</a:t>
                      </a:r>
                    </a:p>
                  </a:txBody>
                  <a:tcPr marL="64008" marR="64008" marT="18288" marB="18288" anchor="ctr">
                    <a:solidFill>
                      <a:srgbClr val="2B2622"/>
                    </a:solidFill>
                  </a:tcPr>
                </a:tc>
                <a:tc>
                  <a:txBody>
                    <a:bodyPr wrap="square"/>
                    <a:lstStyle/>
                    <a:p>
                      <a:r>
                        <a:rPr sz="1200" b="1">
                          <a:solidFill>
                            <a:srgbClr val="FFFFFF"/>
                          </a:solidFill>
                          <a:latin typeface="Calibri"/>
                        </a:rPr>
                        <a:t>Gives</a:t>
                      </a:r>
                    </a:p>
                  </a:txBody>
                  <a:tcPr marL="64008" marR="64008" marT="18288" marB="18288" anchor="ctr">
                    <a:solidFill>
                      <a:srgbClr val="2B2622"/>
                    </a:solidFill>
                  </a:tcPr>
                </a:tc>
                <a:tc>
                  <a:txBody>
                    <a:bodyPr wrap="square"/>
                    <a:lstStyle/>
                    <a:p>
                      <a:r>
                        <a:rPr sz="1200" b="1">
                          <a:solidFill>
                            <a:srgbClr val="FFFFFF"/>
                          </a:solidFill>
                          <a:latin typeface="Calibri"/>
                        </a:rPr>
                        <a:t>Printed</a:t>
                      </a:r>
                    </a:p>
                  </a:txBody>
                  <a:tcPr marL="64008" marR="64008" marT="18288" marB="18288" anchor="ctr">
                    <a:solidFill>
                      <a:srgbClr val="2B2622"/>
                    </a:solidFill>
                  </a:tcPr>
                </a:tc>
              </a:tr>
              <a:tr h="306959">
                <a:tc>
                  <a:txBody>
                    <a:bodyPr wrap="square"/>
                    <a:lstStyle/>
                    <a:p>
                      <a:r>
                        <a:rPr sz="1200" b="0">
                          <a:solidFill>
                            <a:srgbClr val="2B2622"/>
                          </a:solidFill>
                          <a:latin typeface="Courier New"/>
                        </a:rPr>
                        <a:t>spam.keys()</a:t>
                      </a:r>
                    </a:p>
                  </a:txBody>
                  <a:tcPr marL="64008" marR="64008" marT="18288" marB="18288" anchor="ctr">
                    <a:solidFill>
                      <a:srgbClr val="F2ECE1"/>
                    </a:solidFill>
                  </a:tcPr>
                </a:tc>
                <a:tc>
                  <a:txBody>
                    <a:bodyPr wrap="square"/>
                    <a:lstStyle/>
                    <a:p>
                      <a:r>
                        <a:rPr sz="1200" b="0">
                          <a:solidFill>
                            <a:srgbClr val="2B2622"/>
                          </a:solidFill>
                          <a:latin typeface="Calibri"/>
                        </a:rPr>
                        <a:t>the labels</a:t>
                      </a:r>
                    </a:p>
                  </a:txBody>
                  <a:tcPr marL="64008" marR="64008" marT="18288" marB="18288" anchor="ctr">
                    <a:solidFill>
                      <a:srgbClr val="F2ECE1"/>
                    </a:solidFill>
                  </a:tcPr>
                </a:tc>
                <a:tc>
                  <a:txBody>
                    <a:bodyPr wrap="square"/>
                    <a:lstStyle/>
                    <a:p>
                      <a:r>
                        <a:rPr sz="1200" b="0">
                          <a:solidFill>
                            <a:srgbClr val="2B2622"/>
                          </a:solidFill>
                          <a:latin typeface="Courier New"/>
                        </a:rPr>
                        <a:t>['color', 'age']</a:t>
                      </a:r>
                    </a:p>
                  </a:txBody>
                  <a:tcPr marL="64008" marR="64008" marT="18288" marB="18288" anchor="ctr">
                    <a:solidFill>
                      <a:srgbClr val="F2ECE1"/>
                    </a:solidFill>
                  </a:tcPr>
                </a:tc>
              </a:tr>
              <a:tr h="306959">
                <a:tc>
                  <a:txBody>
                    <a:bodyPr wrap="square"/>
                    <a:lstStyle/>
                    <a:p>
                      <a:r>
                        <a:rPr sz="1200" b="0">
                          <a:solidFill>
                            <a:srgbClr val="2B2622"/>
                          </a:solidFill>
                          <a:latin typeface="Courier New"/>
                        </a:rPr>
                        <a:t>spam.values()</a:t>
                      </a:r>
                    </a:p>
                  </a:txBody>
                  <a:tcPr marL="64008" marR="64008" marT="18288" marB="18288" anchor="ctr">
                    <a:solidFill>
                      <a:srgbClr val="FFFFFF"/>
                    </a:solidFill>
                  </a:tcPr>
                </a:tc>
                <a:tc>
                  <a:txBody>
                    <a:bodyPr wrap="square"/>
                    <a:lstStyle/>
                    <a:p>
                      <a:r>
                        <a:rPr sz="1200" b="0">
                          <a:solidFill>
                            <a:srgbClr val="2B2622"/>
                          </a:solidFill>
                          <a:latin typeface="Calibri"/>
                        </a:rPr>
                        <a:t>the contents</a:t>
                      </a:r>
                    </a:p>
                  </a:txBody>
                  <a:tcPr marL="64008" marR="64008" marT="18288" marB="18288" anchor="ctr">
                    <a:solidFill>
                      <a:srgbClr val="FFFFFF"/>
                    </a:solidFill>
                  </a:tcPr>
                </a:tc>
                <a:tc>
                  <a:txBody>
                    <a:bodyPr wrap="square"/>
                    <a:lstStyle/>
                    <a:p>
                      <a:r>
                        <a:rPr sz="1200" b="0">
                          <a:solidFill>
                            <a:srgbClr val="2B2622"/>
                          </a:solidFill>
                          <a:latin typeface="Courier New"/>
                        </a:rPr>
                        <a:t>['red', 42]</a:t>
                      </a:r>
                    </a:p>
                  </a:txBody>
                  <a:tcPr marL="64008" marR="64008" marT="18288" marB="18288" anchor="ctr">
                    <a:solidFill>
                      <a:srgbClr val="FFFFFF"/>
                    </a:solidFill>
                  </a:tcPr>
                </a:tc>
              </a:tr>
              <a:tr h="306959">
                <a:tc>
                  <a:txBody>
                    <a:bodyPr wrap="square"/>
                    <a:lstStyle/>
                    <a:p>
                      <a:r>
                        <a:rPr sz="1200" b="0">
                          <a:solidFill>
                            <a:srgbClr val="2B2622"/>
                          </a:solidFill>
                          <a:latin typeface="Courier New"/>
                        </a:rPr>
                        <a:t>spam.items()</a:t>
                      </a:r>
                    </a:p>
                  </a:txBody>
                  <a:tcPr marL="64008" marR="64008" marT="18288" marB="18288" anchor="ctr">
                    <a:solidFill>
                      <a:srgbClr val="F2ECE1"/>
                    </a:solidFill>
                  </a:tcPr>
                </a:tc>
                <a:tc>
                  <a:txBody>
                    <a:bodyPr wrap="square"/>
                    <a:lstStyle/>
                    <a:p>
                      <a:r>
                        <a:rPr sz="1200" b="0">
                          <a:solidFill>
                            <a:srgbClr val="2B2622"/>
                          </a:solidFill>
                          <a:latin typeface="Calibri"/>
                        </a:rPr>
                        <a:t>both, as pairs</a:t>
                      </a:r>
                    </a:p>
                  </a:txBody>
                  <a:tcPr marL="64008" marR="64008" marT="18288" marB="18288" anchor="ctr">
                    <a:solidFill>
                      <a:srgbClr val="F2ECE1"/>
                    </a:solidFill>
                  </a:tcPr>
                </a:tc>
                <a:tc>
                  <a:txBody>
                    <a:bodyPr wrap="square"/>
                    <a:lstStyle/>
                    <a:p>
                      <a:r>
                        <a:rPr sz="1200" b="0">
                          <a:solidFill>
                            <a:srgbClr val="2B2622"/>
                          </a:solidFill>
                          <a:latin typeface="Courier New"/>
                        </a:rPr>
                        <a:t>[('color', 'red'), ('age', 42)]</a:t>
                      </a:r>
                    </a:p>
                  </a:txBody>
                  <a:tcPr marL="64008" marR="64008" marT="18288" marB="18288" anchor="ctr">
                    <a:solidFill>
                      <a:srgbClr val="F2ECE1"/>
                    </a:solidFill>
                  </a:tcPr>
                </a:tc>
              </a:tr>
            </a:tbl>
          </a:graphicData>
        </a:graphic>
      </p:graphicFrame>
      <p:sp>
        <p:nvSpPr>
          <p:cNvPr id="14"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keys() for the labels, values() for the contents, items() for both.</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12 / 48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6: Checking whether a key exists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Test first, or ask with a fallback</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Checking Whether a Key Exists</a:t>
            </a:r>
          </a:p>
        </p:txBody>
      </p:sp>
      <p:sp>
        <p:nvSpPr>
          <p:cNvPr id="6" name="code"/>
          <p:cNvSpPr/>
          <p:nvPr/>
        </p:nvSpPr>
        <p:spPr>
          <a:xfrm>
            <a:off x="365760" y="1097280"/>
            <a:ext cx="4800600" cy="597789"/>
          </a:xfrm>
          <a:prstGeom prst="roundRect">
            <a:avLst>
              <a:gd name="adj" fmla="val 1223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picnic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'apples'</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5</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'cups'</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7EE787"/>
                </a:solidFill>
                <a:latin typeface="Courier New"/>
              </a:rPr>
              <a:t>'cups'</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picnic</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7EE787"/>
                </a:solidFill>
                <a:latin typeface="Courier New"/>
              </a:rPr>
              <a:t>'eggs'</a:t>
            </a:r>
            <a:r>
              <a:rPr sz="1050" b="0" i="0">
                <a:solidFill>
                  <a:srgbClr val="E6EDF3"/>
                </a:solidFill>
                <a:latin typeface="Courier New"/>
              </a:rPr>
              <a:t> </a:t>
            </a:r>
            <a:r>
              <a:rPr sz="1050" b="0" i="0">
                <a:solidFill>
                  <a:srgbClr val="FFA657"/>
                </a:solidFill>
                <a:latin typeface="Courier New"/>
              </a:rPr>
              <a:t>not</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picnic</a:t>
            </a:r>
            <a:r>
              <a:rPr sz="1050" b="0" i="0">
                <a:solidFill>
                  <a:srgbClr val="E6EDF3"/>
                </a:solidFill>
                <a:latin typeface="Courier New"/>
              </a:rPr>
              <a:t>)</a:t>
            </a:r>
          </a:p>
        </p:txBody>
      </p:sp>
      <p:sp>
        <p:nvSpPr>
          <p:cNvPr id="7" name="explanation"/>
          <p:cNvSpPr/>
          <p:nvPr/>
        </p:nvSpPr>
        <p:spPr>
          <a:xfrm>
            <a:off x="5148072" y="1097280"/>
            <a:ext cx="3584448" cy="597789"/>
          </a:xfrm>
          <a:prstGeom prst="roundRect">
            <a:avLst>
              <a:gd name="adj" fmla="val 1223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in asks about keys, not values. Both tests answer True or False.</a:t>
            </a:r>
          </a:p>
        </p:txBody>
      </p:sp>
      <p:sp>
        <p:nvSpPr>
          <p:cNvPr id="8" name="code"/>
          <p:cNvSpPr/>
          <p:nvPr/>
        </p:nvSpPr>
        <p:spPr>
          <a:xfrm>
            <a:off x="365760" y="1749932"/>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picnic</a:t>
            </a:r>
            <a:r>
              <a:rPr sz="1050" b="0" i="0">
                <a:solidFill>
                  <a:srgbClr val="E6EDF3"/>
                </a:solidFill>
                <a:latin typeface="Courier New"/>
              </a:rPr>
              <a:t>.</a:t>
            </a:r>
            <a:r>
              <a:rPr sz="1050" b="0" i="0">
                <a:solidFill>
                  <a:srgbClr val="E6EDF3"/>
                </a:solidFill>
                <a:latin typeface="Courier New"/>
              </a:rPr>
              <a:t>get</a:t>
            </a:r>
            <a:r>
              <a:rPr sz="1050" b="0" i="0">
                <a:solidFill>
                  <a:srgbClr val="E6EDF3"/>
                </a:solidFill>
                <a:latin typeface="Courier New"/>
              </a:rPr>
              <a:t>(</a:t>
            </a:r>
            <a:r>
              <a:rPr sz="1050" b="0" i="0">
                <a:solidFill>
                  <a:srgbClr val="7EE787"/>
                </a:solidFill>
                <a:latin typeface="Courier New"/>
              </a:rPr>
              <a:t>'eggs'</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picnic</a:t>
            </a:r>
            <a:r>
              <a:rPr sz="1050" b="0" i="0">
                <a:solidFill>
                  <a:srgbClr val="E6EDF3"/>
                </a:solidFill>
                <a:latin typeface="Courier New"/>
              </a:rPr>
              <a:t>.</a:t>
            </a:r>
            <a:r>
              <a:rPr sz="1050" b="0" i="0">
                <a:solidFill>
                  <a:srgbClr val="E6EDF3"/>
                </a:solidFill>
                <a:latin typeface="Courier New"/>
              </a:rPr>
              <a:t>get</a:t>
            </a:r>
            <a:r>
              <a:rPr sz="1050" b="0" i="0">
                <a:solidFill>
                  <a:srgbClr val="E6EDF3"/>
                </a:solidFill>
                <a:latin typeface="Courier New"/>
              </a:rPr>
              <a:t>(</a:t>
            </a:r>
            <a:r>
              <a:rPr sz="1050" b="0" i="0">
                <a:solidFill>
                  <a:srgbClr val="7EE787"/>
                </a:solidFill>
                <a:latin typeface="Courier New"/>
              </a:rPr>
              <a:t>'cups'</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a:t>
            </a:r>
          </a:p>
        </p:txBody>
      </p:sp>
      <p:sp>
        <p:nvSpPr>
          <p:cNvPr id="9" name="explanation"/>
          <p:cNvSpPr/>
          <p:nvPr/>
        </p:nvSpPr>
        <p:spPr>
          <a:xfrm>
            <a:off x="5148072" y="1749932"/>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get() returns the value, or your fallback when the key is missing.</a:t>
            </a:r>
          </a:p>
        </p:txBody>
      </p:sp>
      <p:sp>
        <p:nvSpPr>
          <p:cNvPr id="10" name="code"/>
          <p:cNvSpPr/>
          <p:nvPr/>
        </p:nvSpPr>
        <p:spPr>
          <a:xfrm>
            <a:off x="365760" y="2270886"/>
            <a:ext cx="4800600" cy="760476"/>
          </a:xfrm>
          <a:prstGeom prst="roundRect">
            <a:avLst>
              <a:gd name="adj" fmla="val 9619"/>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try</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picnic</a:t>
            </a:r>
            <a:r>
              <a:rPr sz="1050" b="0" i="0">
                <a:solidFill>
                  <a:srgbClr val="E6EDF3"/>
                </a:solidFill>
                <a:latin typeface="Courier New"/>
              </a:rPr>
              <a:t>[</a:t>
            </a:r>
            <a:r>
              <a:rPr sz="1050" b="0" i="0">
                <a:solidFill>
                  <a:srgbClr val="7EE787"/>
                </a:solidFill>
                <a:latin typeface="Courier New"/>
              </a:rPr>
              <a:t>'eggs'</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except</a:t>
            </a:r>
            <a:r>
              <a:rPr sz="1050" b="0" i="0">
                <a:solidFill>
                  <a:srgbClr val="E6EDF3"/>
                </a:solidFill>
                <a:latin typeface="Courier New"/>
              </a:rPr>
              <a:t> </a:t>
            </a:r>
            <a:r>
              <a:rPr sz="1050" b="0" i="0">
                <a:solidFill>
                  <a:srgbClr val="E6EDF3"/>
                </a:solidFill>
                <a:latin typeface="Courier New"/>
              </a:rPr>
              <a:t>KeyError</a:t>
            </a:r>
            <a:r>
              <a:rPr sz="1050" b="0" i="0">
                <a:solidFill>
                  <a:srgbClr val="E6EDF3"/>
                </a:solidFill>
                <a:latin typeface="Courier New"/>
              </a:rPr>
              <a:t> </a:t>
            </a:r>
            <a:r>
              <a:rPr sz="1050" b="0" i="0">
                <a:solidFill>
                  <a:srgbClr val="FFA657"/>
                </a:solidFill>
                <a:latin typeface="Courier New"/>
              </a:rPr>
              <a:t>as</a:t>
            </a:r>
            <a:r>
              <a:rPr sz="1050" b="0" i="0">
                <a:solidFill>
                  <a:srgbClr val="E6EDF3"/>
                </a:solidFill>
                <a:latin typeface="Courier New"/>
              </a:rPr>
              <a:t> </a:t>
            </a:r>
            <a:r>
              <a:rPr sz="1050" b="0" i="0">
                <a:solidFill>
                  <a:srgbClr val="E6EDF3"/>
                </a:solidFill>
                <a:latin typeface="Courier New"/>
              </a:rPr>
              <a:t>e</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7EE787"/>
                </a:solidFill>
                <a:latin typeface="Courier New"/>
              </a:rPr>
              <a:t>'KeyError'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e</a:t>
            </a:r>
            <a:r>
              <a:rPr sz="1050" b="0" i="0">
                <a:solidFill>
                  <a:srgbClr val="E6EDF3"/>
                </a:solidFill>
                <a:latin typeface="Courier New"/>
              </a:rPr>
              <a:t>)</a:t>
            </a:r>
          </a:p>
        </p:txBody>
      </p:sp>
      <p:sp>
        <p:nvSpPr>
          <p:cNvPr id="11" name="explanation"/>
          <p:cNvSpPr/>
          <p:nvPr/>
        </p:nvSpPr>
        <p:spPr>
          <a:xfrm>
            <a:off x="5148072" y="2270886"/>
            <a:ext cx="3584448" cy="760476"/>
          </a:xfrm>
          <a:prstGeom prst="roundRect">
            <a:avLst>
              <a:gd name="adj" fmla="val 9619"/>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Square brackets on a missing key raise a KeyError that names the key.</a:t>
            </a:r>
          </a:p>
        </p:txBody>
      </p:sp>
      <p:sp>
        <p:nvSpPr>
          <p:cNvPr id="12" name="result label"/>
          <p:cNvSpPr txBox="1"/>
          <p:nvPr/>
        </p:nvSpPr>
        <p:spPr>
          <a:xfrm>
            <a:off x="365760" y="3113658"/>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60546"/>
          <a:ext cx="8412479" cy="1065144"/>
        </p:xfrm>
        <a:graphic>
          <a:graphicData uri="http://schemas.openxmlformats.org/drawingml/2006/table">
            <a:tbl>
              <a:tblPr firstRow="1" bandRow="1">
                <a:tableStyleId>{5C22544A-7EE6-4342-B048-85BDC9FD1C3A}</a:tableStyleId>
              </a:tblPr>
              <a:tblGrid>
                <a:gridCol w="4807131"/>
                <a:gridCol w="3605348"/>
              </a:tblGrid>
              <a:tr h="177524">
                <a:tc>
                  <a:txBody>
                    <a:bodyPr wrap="square"/>
                    <a:lstStyle/>
                    <a:p>
                      <a:r>
                        <a:rPr sz="1000" b="1">
                          <a:solidFill>
                            <a:srgbClr val="FFFFFF"/>
                          </a:solidFill>
                          <a:latin typeface="Calibri"/>
                        </a:rPr>
                        <a:t>Question</a:t>
                      </a:r>
                    </a:p>
                  </a:txBody>
                  <a:tcPr marL="64008" marR="64008" marT="18288" marB="18288" anchor="ctr">
                    <a:solidFill>
                      <a:srgbClr val="2B2622"/>
                    </a:solidFill>
                  </a:tcPr>
                </a:tc>
                <a:tc>
                  <a:txBody>
                    <a:bodyPr wrap="square"/>
                    <a:lstStyle/>
                    <a:p>
                      <a:r>
                        <a:rPr sz="1000" b="1">
                          <a:solidFill>
                            <a:srgbClr val="FFFFFF"/>
                          </a:solidFill>
                          <a:latin typeface="Calibri"/>
                        </a:rPr>
                        <a:t>Printed</a:t>
                      </a:r>
                    </a:p>
                  </a:txBody>
                  <a:tcPr marL="64008" marR="64008" marT="18288" marB="18288" anchor="ctr">
                    <a:solidFill>
                      <a:srgbClr val="2B2622"/>
                    </a:solidFill>
                  </a:tcPr>
                </a:tc>
              </a:tr>
              <a:tr h="177524">
                <a:tc>
                  <a:txBody>
                    <a:bodyPr wrap="square"/>
                    <a:lstStyle/>
                    <a:p>
                      <a:r>
                        <a:rPr sz="1000" b="0">
                          <a:solidFill>
                            <a:srgbClr val="2B2622"/>
                          </a:solidFill>
                          <a:latin typeface="Courier New"/>
                        </a:rPr>
                        <a:t>'cups' in picnic</a:t>
                      </a:r>
                    </a:p>
                  </a:txBody>
                  <a:tcPr marL="64008" marR="64008" marT="18288" marB="18288" anchor="ctr">
                    <a:solidFill>
                      <a:srgbClr val="F2ECE1"/>
                    </a:solidFill>
                  </a:tcPr>
                </a:tc>
                <a:tc>
                  <a:txBody>
                    <a:bodyPr wrap="square"/>
                    <a:lstStyle/>
                    <a:p>
                      <a:r>
                        <a:rPr sz="1000" b="0">
                          <a:solidFill>
                            <a:srgbClr val="2B2622"/>
                          </a:solidFill>
                          <a:latin typeface="Calibri"/>
                        </a:rPr>
                        <a:t>True</a:t>
                      </a:r>
                    </a:p>
                  </a:txBody>
                  <a:tcPr marL="64008" marR="64008" marT="18288" marB="18288" anchor="ctr">
                    <a:solidFill>
                      <a:srgbClr val="F2ECE1"/>
                    </a:solidFill>
                  </a:tcPr>
                </a:tc>
              </a:tr>
              <a:tr h="177524">
                <a:tc>
                  <a:txBody>
                    <a:bodyPr wrap="square"/>
                    <a:lstStyle/>
                    <a:p>
                      <a:r>
                        <a:rPr sz="1000" b="0">
                          <a:solidFill>
                            <a:srgbClr val="2B2622"/>
                          </a:solidFill>
                          <a:latin typeface="Courier New"/>
                        </a:rPr>
                        <a:t>'eggs' not in picnic</a:t>
                      </a:r>
                    </a:p>
                  </a:txBody>
                  <a:tcPr marL="64008" marR="64008" marT="18288" marB="18288" anchor="ctr">
                    <a:solidFill>
                      <a:srgbClr val="FFFFFF"/>
                    </a:solidFill>
                  </a:tcPr>
                </a:tc>
                <a:tc>
                  <a:txBody>
                    <a:bodyPr wrap="square"/>
                    <a:lstStyle/>
                    <a:p>
                      <a:r>
                        <a:rPr sz="1000" b="0">
                          <a:solidFill>
                            <a:srgbClr val="2B2622"/>
                          </a:solidFill>
                          <a:latin typeface="Calibri"/>
                        </a:rPr>
                        <a:t>True</a:t>
                      </a:r>
                    </a:p>
                  </a:txBody>
                  <a:tcPr marL="64008" marR="64008" marT="18288" marB="18288" anchor="ctr">
                    <a:solidFill>
                      <a:srgbClr val="FFFFFF"/>
                    </a:solidFill>
                  </a:tcPr>
                </a:tc>
              </a:tr>
              <a:tr h="177524">
                <a:tc>
                  <a:txBody>
                    <a:bodyPr wrap="square"/>
                    <a:lstStyle/>
                    <a:p>
                      <a:r>
                        <a:rPr sz="1000" b="0">
                          <a:solidFill>
                            <a:srgbClr val="2B2622"/>
                          </a:solidFill>
                          <a:latin typeface="Courier New"/>
                        </a:rPr>
                        <a:t>picnic.get('eggs', 0)</a:t>
                      </a:r>
                    </a:p>
                  </a:txBody>
                  <a:tcPr marL="64008" marR="64008" marT="18288" marB="18288" anchor="ctr">
                    <a:solidFill>
                      <a:srgbClr val="F2ECE1"/>
                    </a:solidFill>
                  </a:tcPr>
                </a:tc>
                <a:tc>
                  <a:txBody>
                    <a:bodyPr wrap="square"/>
                    <a:lstStyle/>
                    <a:p>
                      <a:r>
                        <a:rPr sz="1000" b="0">
                          <a:solidFill>
                            <a:srgbClr val="2B2622"/>
                          </a:solidFill>
                          <a:latin typeface="Calibri"/>
                        </a:rPr>
                        <a:t>0</a:t>
                      </a:r>
                    </a:p>
                  </a:txBody>
                  <a:tcPr marL="64008" marR="64008" marT="18288" marB="18288" anchor="ctr">
                    <a:solidFill>
                      <a:srgbClr val="F2ECE1"/>
                    </a:solidFill>
                  </a:tcPr>
                </a:tc>
              </a:tr>
              <a:tr h="177524">
                <a:tc>
                  <a:txBody>
                    <a:bodyPr wrap="square"/>
                    <a:lstStyle/>
                    <a:p>
                      <a:r>
                        <a:rPr sz="1000" b="0">
                          <a:solidFill>
                            <a:srgbClr val="2B2622"/>
                          </a:solidFill>
                          <a:latin typeface="Courier New"/>
                        </a:rPr>
                        <a:t>picnic.get('cups', 0)</a:t>
                      </a:r>
                    </a:p>
                  </a:txBody>
                  <a:tcPr marL="64008" marR="64008" marT="18288" marB="18288" anchor="ctr">
                    <a:solidFill>
                      <a:srgbClr val="FFFFFF"/>
                    </a:solidFill>
                  </a:tcPr>
                </a:tc>
                <a:tc>
                  <a:txBody>
                    <a:bodyPr wrap="square"/>
                    <a:lstStyle/>
                    <a:p>
                      <a:r>
                        <a:rPr sz="1000" b="0">
                          <a:solidFill>
                            <a:srgbClr val="2B2622"/>
                          </a:solidFill>
                          <a:latin typeface="Calibri"/>
                        </a:rPr>
                        <a:t>2</a:t>
                      </a:r>
                    </a:p>
                  </a:txBody>
                  <a:tcPr marL="64008" marR="64008" marT="18288" marB="18288" anchor="ctr">
                    <a:solidFill>
                      <a:srgbClr val="FFFFFF"/>
                    </a:solidFill>
                  </a:tcPr>
                </a:tc>
              </a:tr>
              <a:tr h="177524">
                <a:tc>
                  <a:txBody>
                    <a:bodyPr wrap="square"/>
                    <a:lstStyle/>
                    <a:p>
                      <a:r>
                        <a:rPr sz="1000" b="0">
                          <a:solidFill>
                            <a:srgbClr val="2B2622"/>
                          </a:solidFill>
                          <a:latin typeface="Courier New"/>
                        </a:rPr>
                        <a:t>picnic['eggs']</a:t>
                      </a:r>
                    </a:p>
                  </a:txBody>
                  <a:tcPr marL="64008" marR="64008" marT="18288" marB="18288" anchor="ctr">
                    <a:solidFill>
                      <a:srgbClr val="F2ECE1"/>
                    </a:solidFill>
                  </a:tcPr>
                </a:tc>
                <a:tc>
                  <a:txBody>
                    <a:bodyPr wrap="square"/>
                    <a:lstStyle/>
                    <a:p>
                      <a:r>
                        <a:rPr sz="1000" b="0">
                          <a:solidFill>
                            <a:srgbClr val="2B2622"/>
                          </a:solidFill>
                          <a:latin typeface="Calibri"/>
                        </a:rPr>
                        <a:t>KeyError 'eggs'</a:t>
                      </a:r>
                    </a:p>
                  </a:txBody>
                  <a:tcPr marL="64008" marR="64008" marT="18288" marB="18288" anchor="ctr">
                    <a:solidFill>
                      <a:srgbClr val="F2ECE1"/>
                    </a:solidFill>
                  </a:tcPr>
                </a:tc>
              </a:tr>
            </a:tbl>
          </a:graphicData>
        </a:graphic>
      </p:graphicFrame>
      <p:sp>
        <p:nvSpPr>
          <p:cNvPr id="14"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Use get() when a missing key is normal, and brackets when it is a bug.</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13 / 48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7: Setting default values with setdefault</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Add the pair only when the key is missing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Setting Default Values</a:t>
            </a:r>
          </a:p>
        </p:txBody>
      </p:sp>
      <p:sp>
        <p:nvSpPr>
          <p:cNvPr id="6" name="code"/>
          <p:cNvSpPr/>
          <p:nvPr/>
        </p:nvSpPr>
        <p:spPr>
          <a:xfrm>
            <a:off x="365760" y="1097280"/>
            <a:ext cx="4800600" cy="690753"/>
          </a:xfrm>
          <a:prstGeom prst="roundRect">
            <a:avLst>
              <a:gd name="adj" fmla="val 10590"/>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picnic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EE787"/>
                </a:solidFill>
                <a:latin typeface="Courier New"/>
              </a:rPr>
              <a:t>'apples'</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'cups'</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picnic</a:t>
            </a:r>
            <a:r>
              <a:rPr sz="1200" b="0" i="0">
                <a:solidFill>
                  <a:srgbClr val="E6EDF3"/>
                </a:solidFill>
                <a:latin typeface="Courier New"/>
              </a:rPr>
              <a:t>.</a:t>
            </a:r>
            <a:r>
              <a:rPr sz="1200" b="0" i="0">
                <a:solidFill>
                  <a:srgbClr val="E6EDF3"/>
                </a:solidFill>
                <a:latin typeface="Courier New"/>
              </a:rPr>
              <a:t>setdefault</a:t>
            </a:r>
            <a:r>
              <a:rPr sz="1200" b="0" i="0">
                <a:solidFill>
                  <a:srgbClr val="E6EDF3"/>
                </a:solidFill>
                <a:latin typeface="Courier New"/>
              </a:rPr>
              <a:t>(</a:t>
            </a:r>
            <a:r>
              <a:rPr sz="1200" b="0" i="0">
                <a:solidFill>
                  <a:srgbClr val="7EE787"/>
                </a:solidFill>
                <a:latin typeface="Courier New"/>
              </a:rPr>
              <a:t>'eggs'</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12</a:t>
            </a:r>
            <a:r>
              <a:rPr sz="1200" b="0" i="0">
                <a:solidFill>
                  <a:srgbClr val="E6EDF3"/>
                </a:solidFill>
                <a:latin typeface="Courier New"/>
              </a:rPr>
              <a:t>)</a:t>
            </a:r>
            <a:r>
              <a:rPr sz="1200" b="0" i="0">
                <a:solidFill>
                  <a:srgbClr val="E6EDF3"/>
                </a:solidFill>
                <a:latin typeface="Courier New"/>
              </a:rPr>
              <a:t>)</a:t>
            </a:r>
          </a:p>
        </p:txBody>
      </p:sp>
      <p:sp>
        <p:nvSpPr>
          <p:cNvPr id="7" name="explanation"/>
          <p:cNvSpPr/>
          <p:nvPr/>
        </p:nvSpPr>
        <p:spPr>
          <a:xfrm>
            <a:off x="5148072" y="1097280"/>
            <a:ext cx="3584448" cy="690753"/>
          </a:xfrm>
          <a:prstGeom prst="roundRect">
            <a:avLst>
              <a:gd name="adj" fmla="val 10590"/>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setdefault() adds the pair only when the key is missing, and returns the value.</a:t>
            </a:r>
          </a:p>
        </p:txBody>
      </p:sp>
      <p:sp>
        <p:nvSpPr>
          <p:cNvPr id="8" name="code"/>
          <p:cNvSpPr/>
          <p:nvPr/>
        </p:nvSpPr>
        <p:spPr>
          <a:xfrm>
            <a:off x="365760" y="1842897"/>
            <a:ext cx="4800600" cy="497077"/>
          </a:xfrm>
          <a:prstGeom prst="roundRect">
            <a:avLst>
              <a:gd name="adj" fmla="val 14716"/>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picnic</a:t>
            </a:r>
            <a:r>
              <a:rPr sz="1200" b="0" i="0">
                <a:solidFill>
                  <a:srgbClr val="E6EDF3"/>
                </a:solidFill>
                <a:latin typeface="Courier New"/>
              </a:rPr>
              <a:t>.</a:t>
            </a:r>
            <a:r>
              <a:rPr sz="1200" b="0" i="0">
                <a:solidFill>
                  <a:srgbClr val="E6EDF3"/>
                </a:solidFill>
                <a:latin typeface="Courier New"/>
              </a:rPr>
              <a:t>setdefault</a:t>
            </a:r>
            <a:r>
              <a:rPr sz="1200" b="0" i="0">
                <a:solidFill>
                  <a:srgbClr val="E6EDF3"/>
                </a:solidFill>
                <a:latin typeface="Courier New"/>
              </a:rPr>
              <a:t>(</a:t>
            </a:r>
            <a:r>
              <a:rPr sz="1200" b="0" i="0">
                <a:solidFill>
                  <a:srgbClr val="7EE787"/>
                </a:solidFill>
                <a:latin typeface="Courier New"/>
              </a:rPr>
              <a:t>'eggs'</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99</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picnic</a:t>
            </a:r>
            <a:r>
              <a:rPr sz="1200" b="0" i="0">
                <a:solidFill>
                  <a:srgbClr val="E6EDF3"/>
                </a:solidFill>
                <a:latin typeface="Courier New"/>
              </a:rPr>
              <a:t>)</a:t>
            </a:r>
          </a:p>
        </p:txBody>
      </p:sp>
      <p:sp>
        <p:nvSpPr>
          <p:cNvPr id="9" name="explanation"/>
          <p:cNvSpPr/>
          <p:nvPr/>
        </p:nvSpPr>
        <p:spPr>
          <a:xfrm>
            <a:off x="5148072" y="1842897"/>
            <a:ext cx="3584448" cy="497077"/>
          </a:xfrm>
          <a:prstGeom prst="roundRect">
            <a:avLst>
              <a:gd name="adj" fmla="val 14716"/>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second call finds 'eggs' and leaves it alone, so 99 is never used.</a:t>
            </a:r>
          </a:p>
        </p:txBody>
      </p:sp>
      <p:sp>
        <p:nvSpPr>
          <p:cNvPr id="10" name="result label"/>
          <p:cNvSpPr txBox="1"/>
          <p:nvPr/>
        </p:nvSpPr>
        <p:spPr>
          <a:xfrm>
            <a:off x="365760" y="2422271"/>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p:cNvGraphicFramePr>
            <a:graphicFrameLocks noGrp="1"/>
          </p:cNvGraphicFramePr>
          <p:nvPr/>
        </p:nvGraphicFramePr>
        <p:xfrm>
          <a:off x="365760" y="2669159"/>
          <a:ext cx="3931920" cy="1756536"/>
        </p:xfrm>
        <a:graphic>
          <a:graphicData uri="http://schemas.openxmlformats.org/drawingml/2006/chart">
            <c:chart xmlns:c="http://schemas.openxmlformats.org/drawingml/2006/chart" r:id="rId3"/>
          </a:graphicData>
        </a:graphic>
      </p:graphicFrame>
      <p:graphicFrame>
        <p:nvGraphicFramePr>
          <p:cNvPr id="12" name="result table"/>
          <p:cNvGraphicFramePr>
            <a:graphicFrameLocks noGrp="1"/>
          </p:cNvGraphicFramePr>
          <p:nvPr/>
        </p:nvGraphicFramePr>
        <p:xfrm>
          <a:off x="4572000" y="2669159"/>
          <a:ext cx="4206238" cy="932688"/>
        </p:xfrm>
        <a:graphic>
          <a:graphicData uri="http://schemas.openxmlformats.org/drawingml/2006/table">
            <a:tbl>
              <a:tblPr firstRow="1" bandRow="1">
                <a:tableStyleId>{5C22544A-7EE6-4342-B048-85BDC9FD1C3A}</a:tableStyleId>
              </a:tblPr>
              <a:tblGrid>
                <a:gridCol w="934719"/>
                <a:gridCol w="934719"/>
                <a:gridCol w="2336800"/>
              </a:tblGrid>
              <a:tr h="310896">
                <a:tc>
                  <a:txBody>
                    <a:bodyPr wrap="square"/>
                    <a:lstStyle/>
                    <a:p>
                      <a:r>
                        <a:rPr sz="1200" b="1">
                          <a:solidFill>
                            <a:srgbClr val="FFFFFF"/>
                          </a:solidFill>
                          <a:latin typeface="Calibri"/>
                        </a:rPr>
                        <a:t>Call</a:t>
                      </a:r>
                    </a:p>
                  </a:txBody>
                  <a:tcPr marL="64008" marR="64008" marT="18288" marB="18288" anchor="ctr">
                    <a:solidFill>
                      <a:srgbClr val="2B2622"/>
                    </a:solidFill>
                  </a:tcPr>
                </a:tc>
                <a:tc>
                  <a:txBody>
                    <a:bodyPr wrap="square"/>
                    <a:lstStyle/>
                    <a:p>
                      <a:r>
                        <a:rPr sz="1200" b="1">
                          <a:solidFill>
                            <a:srgbClr val="FFFFFF"/>
                          </a:solidFill>
                          <a:latin typeface="Calibri"/>
                        </a:rPr>
                        <a:t>Printed</a:t>
                      </a:r>
                    </a:p>
                  </a:txBody>
                  <a:tcPr marL="64008" marR="64008" marT="18288" marB="18288" anchor="ctr">
                    <a:solidFill>
                      <a:srgbClr val="2B2622"/>
                    </a:solidFill>
                  </a:tcPr>
                </a:tc>
                <a:tc>
                  <a:txBody>
                    <a:bodyPr wrap="square"/>
                    <a:lstStyle/>
                    <a:p>
                      <a:r>
                        <a:rPr sz="1200" b="1">
                          <a:solidFill>
                            <a:srgbClr val="FFFFFF"/>
                          </a:solidFill>
                          <a:latin typeface="Calibri"/>
                        </a:rPr>
                        <a:t>What happened</a:t>
                      </a:r>
                    </a:p>
                  </a:txBody>
                  <a:tcPr marL="64008" marR="64008" marT="18288" marB="18288" anchor="ctr">
                    <a:solidFill>
                      <a:srgbClr val="2B2622"/>
                    </a:solidFill>
                  </a:tcPr>
                </a:tc>
              </a:tr>
              <a:tr h="310896">
                <a:tc>
                  <a:txBody>
                    <a:bodyPr wrap="square"/>
                    <a:lstStyle/>
                    <a:p>
                      <a:r>
                        <a:rPr sz="1200" b="0">
                          <a:solidFill>
                            <a:srgbClr val="2B2622"/>
                          </a:solidFill>
                          <a:latin typeface="Calibri"/>
                        </a:rPr>
                        <a:t>first</a:t>
                      </a:r>
                    </a:p>
                  </a:txBody>
                  <a:tcPr marL="64008" marR="64008" marT="18288" marB="18288" anchor="ctr">
                    <a:solidFill>
                      <a:srgbClr val="F2ECE1"/>
                    </a:solidFill>
                  </a:tcPr>
                </a:tc>
                <a:tc>
                  <a:txBody>
                    <a:bodyPr wrap="square"/>
                    <a:lstStyle/>
                    <a:p>
                      <a:r>
                        <a:rPr sz="1200" b="0">
                          <a:solidFill>
                            <a:srgbClr val="2B2622"/>
                          </a:solidFill>
                          <a:latin typeface="Calibri"/>
                        </a:rPr>
                        <a:t>12</a:t>
                      </a:r>
                    </a:p>
                  </a:txBody>
                  <a:tcPr marL="64008" marR="64008" marT="18288" marB="18288" anchor="ctr">
                    <a:solidFill>
                      <a:srgbClr val="F2ECE1"/>
                    </a:solidFill>
                  </a:tcPr>
                </a:tc>
                <a:tc>
                  <a:txBody>
                    <a:bodyPr wrap="square"/>
                    <a:lstStyle/>
                    <a:p>
                      <a:r>
                        <a:rPr sz="1200" b="0">
                          <a:solidFill>
                            <a:srgbClr val="2B2622"/>
                          </a:solidFill>
                          <a:latin typeface="Calibri"/>
                        </a:rPr>
                        <a:t>key missing: 12 stored</a:t>
                      </a:r>
                    </a:p>
                  </a:txBody>
                  <a:tcPr marL="64008" marR="64008" marT="18288" marB="18288" anchor="ctr">
                    <a:solidFill>
                      <a:srgbClr val="F2ECE1"/>
                    </a:solidFill>
                  </a:tcPr>
                </a:tc>
              </a:tr>
              <a:tr h="310896">
                <a:tc>
                  <a:txBody>
                    <a:bodyPr wrap="square"/>
                    <a:lstStyle/>
                    <a:p>
                      <a:r>
                        <a:rPr sz="1200" b="0">
                          <a:solidFill>
                            <a:srgbClr val="2B2622"/>
                          </a:solidFill>
                          <a:latin typeface="Calibri"/>
                        </a:rPr>
                        <a:t>second</a:t>
                      </a:r>
                    </a:p>
                  </a:txBody>
                  <a:tcPr marL="64008" marR="64008" marT="18288" marB="18288" anchor="ctr">
                    <a:solidFill>
                      <a:srgbClr val="FFFFFF"/>
                    </a:solidFill>
                  </a:tcPr>
                </a:tc>
                <a:tc>
                  <a:txBody>
                    <a:bodyPr wrap="square"/>
                    <a:lstStyle/>
                    <a:p>
                      <a:r>
                        <a:rPr sz="1200" b="0">
                          <a:solidFill>
                            <a:srgbClr val="2B2622"/>
                          </a:solidFill>
                          <a:latin typeface="Calibri"/>
                        </a:rPr>
                        <a:t>12</a:t>
                      </a:r>
                    </a:p>
                  </a:txBody>
                  <a:tcPr marL="64008" marR="64008" marT="18288" marB="18288" anchor="ctr">
                    <a:solidFill>
                      <a:srgbClr val="FFFFFF"/>
                    </a:solidFill>
                  </a:tcPr>
                </a:tc>
                <a:tc>
                  <a:txBody>
                    <a:bodyPr wrap="square"/>
                    <a:lstStyle/>
                    <a:p>
                      <a:r>
                        <a:rPr sz="1200" b="0">
                          <a:solidFill>
                            <a:srgbClr val="2B2622"/>
                          </a:solidFill>
                          <a:latin typeface="Calibri"/>
                        </a:rPr>
                        <a:t>key found: 99 unused</a:t>
                      </a:r>
                    </a:p>
                  </a:txBody>
                  <a:tcPr marL="64008" marR="64008" marT="18288" marB="18288" anchor="ctr">
                    <a:solidFill>
                      <a:srgbClr val="FFFFFF"/>
                    </a:solidFill>
                  </a:tcPr>
                </a:tc>
              </a:tr>
            </a:tbl>
          </a:graphicData>
        </a:graphic>
      </p:graphicFrame>
      <p:sp>
        <p:nvSpPr>
          <p:cNvPr id="13"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setdefault() sets a value once and then leaves it alone.</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14 / 48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8: Adding, removing and merging pairs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Assign, del, pop and the | operator</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The Dictionary Data Type</a:t>
            </a:r>
          </a:p>
        </p:txBody>
      </p:sp>
      <p:sp>
        <p:nvSpPr>
          <p:cNvPr id="6" name="code"/>
          <p:cNvSpPr/>
          <p:nvPr/>
        </p:nvSpPr>
        <p:spPr>
          <a:xfrm>
            <a:off x="365760" y="1097280"/>
            <a:ext cx="4800600" cy="644270"/>
          </a:xfrm>
          <a:prstGeom prst="roundRect">
            <a:avLst>
              <a:gd name="adj" fmla="val 11354"/>
            </a:avLst>
          </a:prstGeom>
          <a:solidFill>
            <a:srgbClr val="23272E"/>
          </a:solidFill>
          <a:ln>
            <a:solidFill>
              <a:srgbClr val="23272E"/>
            </a:solidFill>
          </a:ln>
        </p:spPr>
        <p:txBody>
          <a:bodyPr rtlCol="0" anchor="ctr" wrap="none" tIns="36576" bIns="36576"/>
          <a:lstStyle/>
          <a:p>
            <a:pPr algn="l"/>
            <a:r>
              <a:rPr sz="1150" b="0" i="0">
                <a:solidFill>
                  <a:srgbClr val="8A9B94"/>
                </a:solidFill>
                <a:latin typeface="Courier New"/>
              </a:rPr>
              <a:t>&gt;&gt;&gt; </a:t>
            </a:r>
            <a:r>
              <a:rPr sz="1150" b="0" i="0">
                <a:solidFill>
                  <a:srgbClr val="E6EDF3"/>
                </a:solidFill>
                <a:latin typeface="Courier New"/>
              </a:rPr>
              <a:t>spam</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a:t>
            </a:r>
            <a:r>
              <a:rPr sz="1150" b="0" i="0">
                <a:solidFill>
                  <a:srgbClr val="7EE787"/>
                </a:solidFill>
                <a:latin typeface="Courier New"/>
              </a:rPr>
              <a:t>'color'</a:t>
            </a:r>
            <a:r>
              <a:rPr sz="1150" b="0" i="0">
                <a:solidFill>
                  <a:srgbClr val="E6EDF3"/>
                </a:solidFill>
                <a:latin typeface="Courier New"/>
              </a:rPr>
              <a:t>:</a:t>
            </a:r>
            <a:r>
              <a:rPr sz="1150" b="0" i="0">
                <a:solidFill>
                  <a:srgbClr val="E6EDF3"/>
                </a:solidFill>
                <a:latin typeface="Courier New"/>
              </a:rPr>
              <a:t> </a:t>
            </a:r>
            <a:r>
              <a:rPr sz="1150" b="0" i="0">
                <a:solidFill>
                  <a:srgbClr val="7EE787"/>
                </a:solidFill>
                <a:latin typeface="Courier New"/>
              </a:rPr>
              <a:t>'red'</a:t>
            </a:r>
            <a:r>
              <a:rPr sz="1150" b="0" i="0">
                <a:solidFill>
                  <a:srgbClr val="E6EDF3"/>
                </a:solidFill>
                <a:latin typeface="Courier New"/>
              </a:rPr>
              <a:t>,</a:t>
            </a:r>
            <a:r>
              <a:rPr sz="1150" b="0" i="0">
                <a:solidFill>
                  <a:srgbClr val="E6EDF3"/>
                </a:solidFill>
                <a:latin typeface="Courier New"/>
              </a:rPr>
              <a:t> </a:t>
            </a:r>
            <a:r>
              <a:rPr sz="1150" b="0" i="0">
                <a:solidFill>
                  <a:srgbClr val="7EE787"/>
                </a:solidFill>
                <a:latin typeface="Courier New"/>
              </a:rPr>
              <a:t>'age'</a:t>
            </a:r>
            <a:r>
              <a:rPr sz="1150" b="0" i="0">
                <a:solidFill>
                  <a:srgbClr val="E6EDF3"/>
                </a:solidFill>
                <a:latin typeface="Courier New"/>
              </a:rPr>
              <a:t>:</a:t>
            </a:r>
            <a:r>
              <a:rPr sz="1150" b="0" i="0">
                <a:solidFill>
                  <a:srgbClr val="E6EDF3"/>
                </a:solidFill>
                <a:latin typeface="Courier New"/>
              </a:rPr>
              <a:t> </a:t>
            </a:r>
            <a:r>
              <a:rPr sz="1150" b="0" i="0">
                <a:solidFill>
                  <a:srgbClr val="79C0FF"/>
                </a:solidFill>
                <a:latin typeface="Courier New"/>
              </a:rPr>
              <a:t>42</a:t>
            </a:r>
            <a:r>
              <a:rPr sz="1150" b="0" i="0">
                <a:solidFill>
                  <a:srgbClr val="E6EDF3"/>
                </a:solidFill>
                <a:latin typeface="Courier New"/>
              </a:rPr>
              <a:t>}</a:t>
            </a:r>
          </a:p>
          <a:p>
            <a:pPr algn="l"/>
            <a:r>
              <a:rPr sz="1150" b="0" i="0">
                <a:solidFill>
                  <a:srgbClr val="8A9B94"/>
                </a:solidFill>
                <a:latin typeface="Courier New"/>
              </a:rPr>
              <a:t>&gt;&gt;&gt; </a:t>
            </a:r>
            <a:r>
              <a:rPr sz="1150" b="0" i="0">
                <a:solidFill>
                  <a:srgbClr val="E6EDF3"/>
                </a:solidFill>
                <a:latin typeface="Courier New"/>
              </a:rPr>
              <a:t>spam</a:t>
            </a:r>
            <a:r>
              <a:rPr sz="1150" b="0" i="0">
                <a:solidFill>
                  <a:srgbClr val="E6EDF3"/>
                </a:solidFill>
                <a:latin typeface="Courier New"/>
              </a:rPr>
              <a:t>[</a:t>
            </a:r>
            <a:r>
              <a:rPr sz="1150" b="0" i="0">
                <a:solidFill>
                  <a:srgbClr val="7EE787"/>
                </a:solidFill>
                <a:latin typeface="Courier New"/>
              </a:rPr>
              <a:t>'name'</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7EE787"/>
                </a:solidFill>
                <a:latin typeface="Courier New"/>
              </a:rPr>
              <a:t>'Pooka'</a:t>
            </a:r>
          </a:p>
          <a:p>
            <a:pPr algn="l"/>
            <a:r>
              <a:rPr sz="1150" b="0" i="0">
                <a:solidFill>
                  <a:srgbClr val="8A9B94"/>
                </a:solidFill>
                <a:latin typeface="Courier New"/>
              </a:rPr>
              <a:t>&gt;&gt;&gt; </a:t>
            </a:r>
            <a:r>
              <a:rPr sz="1150" b="0" i="0">
                <a:solidFill>
                  <a:srgbClr val="FFA657"/>
                </a:solidFill>
                <a:latin typeface="Courier New"/>
              </a:rPr>
              <a:t>del</a:t>
            </a:r>
            <a:r>
              <a:rPr sz="1150" b="0" i="0">
                <a:solidFill>
                  <a:srgbClr val="E6EDF3"/>
                </a:solidFill>
                <a:latin typeface="Courier New"/>
              </a:rPr>
              <a:t> </a:t>
            </a:r>
            <a:r>
              <a:rPr sz="1150" b="0" i="0">
                <a:solidFill>
                  <a:srgbClr val="E6EDF3"/>
                </a:solidFill>
                <a:latin typeface="Courier New"/>
              </a:rPr>
              <a:t>spam</a:t>
            </a:r>
            <a:r>
              <a:rPr sz="1150" b="0" i="0">
                <a:solidFill>
                  <a:srgbClr val="E6EDF3"/>
                </a:solidFill>
                <a:latin typeface="Courier New"/>
              </a:rPr>
              <a:t>[</a:t>
            </a:r>
            <a:r>
              <a:rPr sz="1150" b="0" i="0">
                <a:solidFill>
                  <a:srgbClr val="7EE787"/>
                </a:solidFill>
                <a:latin typeface="Courier New"/>
              </a:rPr>
              <a:t>'age'</a:t>
            </a:r>
            <a:r>
              <a:rPr sz="1150" b="0" i="0">
                <a:solidFill>
                  <a:srgbClr val="E6EDF3"/>
                </a:solidFill>
                <a:latin typeface="Courier New"/>
              </a:rPr>
              <a:t>]</a:t>
            </a:r>
          </a:p>
        </p:txBody>
      </p:sp>
      <p:sp>
        <p:nvSpPr>
          <p:cNvPr id="7" name="explanation"/>
          <p:cNvSpPr/>
          <p:nvPr/>
        </p:nvSpPr>
        <p:spPr>
          <a:xfrm>
            <a:off x="5148072" y="1097280"/>
            <a:ext cx="3584448" cy="644270"/>
          </a:xfrm>
          <a:prstGeom prst="roundRect">
            <a:avLst>
              <a:gd name="adj" fmla="val 1135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Assignment adds a pair; del removes one. A missing key in del raises a KeyError.</a:t>
            </a:r>
          </a:p>
        </p:txBody>
      </p:sp>
      <p:sp>
        <p:nvSpPr>
          <p:cNvPr id="8" name="code"/>
          <p:cNvSpPr/>
          <p:nvPr/>
        </p:nvSpPr>
        <p:spPr>
          <a:xfrm>
            <a:off x="365760" y="1796414"/>
            <a:ext cx="4800600" cy="481583"/>
          </a:xfrm>
          <a:prstGeom prst="roundRect">
            <a:avLst>
              <a:gd name="adj" fmla="val 15189"/>
            </a:avLst>
          </a:prstGeom>
          <a:solidFill>
            <a:srgbClr val="23272E"/>
          </a:solidFill>
          <a:ln>
            <a:solidFill>
              <a:srgbClr val="23272E"/>
            </a:solidFill>
          </a:ln>
        </p:spPr>
        <p:txBody>
          <a:bodyPr rtlCol="0" anchor="ctr" wrap="none" tIns="36576" bIns="36576"/>
          <a:lstStyle/>
          <a:p>
            <a:pPr algn="l"/>
            <a:r>
              <a:rPr sz="1150" b="0" i="0">
                <a:solidFill>
                  <a:srgbClr val="8A9B94"/>
                </a:solidFill>
                <a:latin typeface="Courier New"/>
              </a:rPr>
              <a:t>&gt;&gt;&gt; </a:t>
            </a:r>
            <a:r>
              <a:rPr sz="1150" b="0" i="0">
                <a:solidFill>
                  <a:srgbClr val="FFA657"/>
                </a:solidFill>
                <a:latin typeface="Courier New"/>
              </a:rPr>
              <a:t>print</a:t>
            </a:r>
            <a:r>
              <a:rPr sz="1150" b="0" i="0">
                <a:solidFill>
                  <a:srgbClr val="E6EDF3"/>
                </a:solidFill>
                <a:latin typeface="Courier New"/>
              </a:rPr>
              <a:t>(</a:t>
            </a:r>
            <a:r>
              <a:rPr sz="1150" b="0" i="0">
                <a:solidFill>
                  <a:srgbClr val="E6EDF3"/>
                </a:solidFill>
                <a:latin typeface="Courier New"/>
              </a:rPr>
              <a:t>spam</a:t>
            </a:r>
            <a:r>
              <a:rPr sz="1150" b="0" i="0">
                <a:solidFill>
                  <a:srgbClr val="E6EDF3"/>
                </a:solidFill>
                <a:latin typeface="Courier New"/>
              </a:rPr>
              <a:t>.</a:t>
            </a:r>
            <a:r>
              <a:rPr sz="1150" b="0" i="0">
                <a:solidFill>
                  <a:srgbClr val="E6EDF3"/>
                </a:solidFill>
                <a:latin typeface="Courier New"/>
              </a:rPr>
              <a:t>pop</a:t>
            </a:r>
            <a:r>
              <a:rPr sz="1150" b="0" i="0">
                <a:solidFill>
                  <a:srgbClr val="E6EDF3"/>
                </a:solidFill>
                <a:latin typeface="Courier New"/>
              </a:rPr>
              <a:t>(</a:t>
            </a:r>
            <a:r>
              <a:rPr sz="1150" b="0" i="0">
                <a:solidFill>
                  <a:srgbClr val="7EE787"/>
                </a:solidFill>
                <a:latin typeface="Courier New"/>
              </a:rPr>
              <a:t>'color'</a:t>
            </a:r>
            <a:r>
              <a:rPr sz="1150" b="0" i="0">
                <a:solidFill>
                  <a:srgbClr val="E6EDF3"/>
                </a:solidFill>
                <a:latin typeface="Courier New"/>
              </a:rPr>
              <a:t>)</a:t>
            </a:r>
            <a:r>
              <a:rPr sz="1150" b="0" i="0">
                <a:solidFill>
                  <a:srgbClr val="E6EDF3"/>
                </a:solidFill>
                <a:latin typeface="Courier New"/>
              </a:rPr>
              <a:t>)</a:t>
            </a:r>
          </a:p>
          <a:p>
            <a:pPr algn="l"/>
            <a:r>
              <a:rPr sz="1150" b="0" i="0">
                <a:solidFill>
                  <a:srgbClr val="8A9B94"/>
                </a:solidFill>
                <a:latin typeface="Courier New"/>
              </a:rPr>
              <a:t>&gt;&gt;&gt; </a:t>
            </a:r>
            <a:r>
              <a:rPr sz="1150" b="0" i="0">
                <a:solidFill>
                  <a:srgbClr val="FFA657"/>
                </a:solidFill>
                <a:latin typeface="Courier New"/>
              </a:rPr>
              <a:t>print</a:t>
            </a:r>
            <a:r>
              <a:rPr sz="1150" b="0" i="0">
                <a:solidFill>
                  <a:srgbClr val="E6EDF3"/>
                </a:solidFill>
                <a:latin typeface="Courier New"/>
              </a:rPr>
              <a:t>(</a:t>
            </a:r>
            <a:r>
              <a:rPr sz="1150" b="0" i="0">
                <a:solidFill>
                  <a:srgbClr val="E6EDF3"/>
                </a:solidFill>
                <a:latin typeface="Courier New"/>
              </a:rPr>
              <a:t>spam</a:t>
            </a:r>
            <a:r>
              <a:rPr sz="1150" b="0" i="0">
                <a:solidFill>
                  <a:srgbClr val="E6EDF3"/>
                </a:solidFill>
                <a:latin typeface="Courier New"/>
              </a:rPr>
              <a:t>)</a:t>
            </a:r>
          </a:p>
        </p:txBody>
      </p:sp>
      <p:sp>
        <p:nvSpPr>
          <p:cNvPr id="9" name="explanation"/>
          <p:cNvSpPr/>
          <p:nvPr/>
        </p:nvSpPr>
        <p:spPr>
          <a:xfrm>
            <a:off x="5148072" y="1796414"/>
            <a:ext cx="3584448" cy="481583"/>
          </a:xfrm>
          <a:prstGeom prst="roundRect">
            <a:avLst>
              <a:gd name="adj" fmla="val 1518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pop() removes a pair and hands its value back to you.</a:t>
            </a:r>
          </a:p>
        </p:txBody>
      </p:sp>
      <p:sp>
        <p:nvSpPr>
          <p:cNvPr id="10" name="code"/>
          <p:cNvSpPr/>
          <p:nvPr/>
        </p:nvSpPr>
        <p:spPr>
          <a:xfrm>
            <a:off x="365760" y="2332862"/>
            <a:ext cx="4800600" cy="667512"/>
          </a:xfrm>
          <a:prstGeom prst="roundRect">
            <a:avLst>
              <a:gd name="adj" fmla="val 10958"/>
            </a:avLst>
          </a:prstGeom>
          <a:solidFill>
            <a:srgbClr val="23272E"/>
          </a:solidFill>
          <a:ln>
            <a:solidFill>
              <a:srgbClr val="23272E"/>
            </a:solidFill>
          </a:ln>
        </p:spPr>
        <p:txBody>
          <a:bodyPr rtlCol="0" anchor="ctr" wrap="none" tIns="36576" bIns="36576"/>
          <a:lstStyle/>
          <a:p>
            <a:pPr algn="l"/>
            <a:r>
              <a:rPr sz="1150" b="0" i="0">
                <a:solidFill>
                  <a:srgbClr val="8A9B94"/>
                </a:solidFill>
                <a:latin typeface="Courier New"/>
              </a:rPr>
              <a:t>&gt;&gt;&gt; </a:t>
            </a:r>
            <a:r>
              <a:rPr sz="1150" b="0" i="0">
                <a:solidFill>
                  <a:srgbClr val="FFA657"/>
                </a:solidFill>
                <a:latin typeface="Courier New"/>
              </a:rPr>
              <a:t>print</a:t>
            </a:r>
            <a:r>
              <a:rPr sz="1150" b="0" i="0">
                <a:solidFill>
                  <a:srgbClr val="E6EDF3"/>
                </a:solidFill>
                <a:latin typeface="Courier New"/>
              </a:rPr>
              <a:t>(</a:t>
            </a:r>
            <a:r>
              <a:rPr sz="1150" b="0" i="0">
                <a:solidFill>
                  <a:srgbClr val="E6EDF3"/>
                </a:solidFill>
                <a:latin typeface="Courier New"/>
              </a:rPr>
              <a:t>spam</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a:t>
            </a:r>
            <a:r>
              <a:rPr sz="1150" b="0" i="0">
                <a:solidFill>
                  <a:srgbClr val="7EE787"/>
                </a:solidFill>
                <a:latin typeface="Courier New"/>
              </a:rPr>
              <a:t>'name'</a:t>
            </a:r>
            <a:r>
              <a:rPr sz="1150" b="0" i="0">
                <a:solidFill>
                  <a:srgbClr val="E6EDF3"/>
                </a:solidFill>
                <a:latin typeface="Courier New"/>
              </a:rPr>
              <a:t>:</a:t>
            </a:r>
            <a:r>
              <a:rPr sz="1150" b="0" i="0">
                <a:solidFill>
                  <a:srgbClr val="E6EDF3"/>
                </a:solidFill>
                <a:latin typeface="Courier New"/>
              </a:rPr>
              <a:t> </a:t>
            </a:r>
            <a:r>
              <a:rPr sz="1150" b="0" i="0">
                <a:solidFill>
                  <a:srgbClr val="7EE787"/>
                </a:solidFill>
                <a:latin typeface="Courier New"/>
              </a:rPr>
              <a:t>'Rex'</a:t>
            </a:r>
            <a:r>
              <a:rPr sz="1150" b="0" i="0">
                <a:solidFill>
                  <a:srgbClr val="E6EDF3"/>
                </a:solidFill>
                <a:latin typeface="Courier New"/>
              </a:rPr>
              <a:t>,</a:t>
            </a:r>
            <a:r>
              <a:rPr sz="1150" b="0" i="0">
                <a:solidFill>
                  <a:srgbClr val="E6EDF3"/>
                </a:solidFill>
                <a:latin typeface="Courier New"/>
              </a:rPr>
              <a:t> </a:t>
            </a:r>
            <a:r>
              <a:rPr sz="1150" b="0" i="0">
                <a:solidFill>
                  <a:srgbClr val="7EE787"/>
                </a:solidFill>
                <a:latin typeface="Courier New"/>
              </a:rPr>
              <a:t>'legs'</a:t>
            </a:r>
            <a:r>
              <a:rPr sz="1150" b="0" i="0">
                <a:solidFill>
                  <a:srgbClr val="E6EDF3"/>
                </a:solidFill>
                <a:latin typeface="Courier New"/>
              </a:rPr>
              <a:t>:</a:t>
            </a:r>
            <a:r>
              <a:rPr sz="1150" b="0" i="0">
                <a:solidFill>
                  <a:srgbClr val="E6EDF3"/>
                </a:solidFill>
                <a:latin typeface="Courier New"/>
              </a:rPr>
              <a:t> </a:t>
            </a:r>
            <a:r>
              <a:rPr sz="1150" b="0" i="0">
                <a:solidFill>
                  <a:srgbClr val="79C0FF"/>
                </a:solidFill>
                <a:latin typeface="Courier New"/>
              </a:rPr>
              <a:t>4</a:t>
            </a:r>
            <a:r>
              <a:rPr sz="1150" b="0" i="0">
                <a:solidFill>
                  <a:srgbClr val="E6EDF3"/>
                </a:solidFill>
                <a:latin typeface="Courier New"/>
              </a:rPr>
              <a:t>}</a:t>
            </a:r>
            <a:r>
              <a:rPr sz="1150" b="0" i="0">
                <a:solidFill>
                  <a:srgbClr val="E6EDF3"/>
                </a:solidFill>
                <a:latin typeface="Courier New"/>
              </a:rPr>
              <a:t>)</a:t>
            </a:r>
          </a:p>
          <a:p>
            <a:pPr algn="l"/>
            <a:r>
              <a:rPr sz="1150" b="0" i="0">
                <a:solidFill>
                  <a:srgbClr val="8A9B94"/>
                </a:solidFill>
                <a:latin typeface="Courier New"/>
              </a:rPr>
              <a:t>&gt;&gt;&gt; </a:t>
            </a:r>
            <a:r>
              <a:rPr sz="1150" b="0" i="0">
                <a:solidFill>
                  <a:srgbClr val="FFA657"/>
                </a:solidFill>
                <a:latin typeface="Courier New"/>
              </a:rPr>
              <a:t>print</a:t>
            </a:r>
            <a:r>
              <a:rPr sz="1150" b="0" i="0">
                <a:solidFill>
                  <a:srgbClr val="E6EDF3"/>
                </a:solidFill>
                <a:latin typeface="Courier New"/>
              </a:rPr>
              <a:t>(</a:t>
            </a:r>
            <a:r>
              <a:rPr sz="1150" b="0" i="0">
                <a:solidFill>
                  <a:srgbClr val="E6EDF3"/>
                </a:solidFill>
                <a:latin typeface="Courier New"/>
              </a:rPr>
              <a:t>spam</a:t>
            </a:r>
            <a:r>
              <a:rPr sz="1150" b="0" i="0">
                <a:solidFill>
                  <a:srgbClr val="E6EDF3"/>
                </a:solidFill>
                <a:latin typeface="Courier New"/>
              </a:rPr>
              <a:t>)</a:t>
            </a:r>
          </a:p>
        </p:txBody>
      </p:sp>
      <p:sp>
        <p:nvSpPr>
          <p:cNvPr id="11" name="explanation"/>
          <p:cNvSpPr/>
          <p:nvPr/>
        </p:nvSpPr>
        <p:spPr>
          <a:xfrm>
            <a:off x="5148072" y="2332862"/>
            <a:ext cx="3584448" cy="667512"/>
          </a:xfrm>
          <a:prstGeom prst="roundRect">
            <a:avLst>
              <a:gd name="adj" fmla="val 10958"/>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The | operator builds a new dictionary; the right-hand value wins. spam is unchanged.</a:t>
            </a:r>
          </a:p>
        </p:txBody>
      </p:sp>
      <p:sp>
        <p:nvSpPr>
          <p:cNvPr id="12" name="result label"/>
          <p:cNvSpPr txBox="1"/>
          <p:nvPr/>
        </p:nvSpPr>
        <p:spPr>
          <a:xfrm>
            <a:off x="365760" y="3082670"/>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29558"/>
          <a:ext cx="8412479" cy="1096135"/>
        </p:xfrm>
        <a:graphic>
          <a:graphicData uri="http://schemas.openxmlformats.org/drawingml/2006/table">
            <a:tbl>
              <a:tblPr firstRow="1" bandRow="1">
                <a:tableStyleId>{5C22544A-7EE6-4342-B048-85BDC9FD1C3A}</a:tableStyleId>
              </a:tblPr>
              <a:tblGrid>
                <a:gridCol w="3738879"/>
                <a:gridCol w="4673600"/>
              </a:tblGrid>
              <a:tr h="219227">
                <a:tc>
                  <a:txBody>
                    <a:bodyPr wrap="square"/>
                    <a:lstStyle/>
                    <a:p>
                      <a:r>
                        <a:rPr sz="1000" b="1">
                          <a:solidFill>
                            <a:srgbClr val="FFFFFF"/>
                          </a:solidFill>
                          <a:latin typeface="Calibri"/>
                        </a:rPr>
                        <a:t>Line</a:t>
                      </a:r>
                    </a:p>
                  </a:txBody>
                  <a:tcPr marL="64008" marR="64008" marT="18288" marB="18288" anchor="ctr">
                    <a:solidFill>
                      <a:srgbClr val="2B2622"/>
                    </a:solidFill>
                  </a:tcPr>
                </a:tc>
                <a:tc>
                  <a:txBody>
                    <a:bodyPr wrap="square"/>
                    <a:lstStyle/>
                    <a:p>
                      <a:r>
                        <a:rPr sz="1000" b="1">
                          <a:solidFill>
                            <a:srgbClr val="FFFFFF"/>
                          </a:solidFill>
                          <a:latin typeface="Calibri"/>
                        </a:rPr>
                        <a:t>Printed</a:t>
                      </a:r>
                    </a:p>
                  </a:txBody>
                  <a:tcPr marL="64008" marR="64008" marT="18288" marB="18288" anchor="ctr">
                    <a:solidFill>
                      <a:srgbClr val="2B2622"/>
                    </a:solidFill>
                  </a:tcPr>
                </a:tc>
              </a:tr>
              <a:tr h="219227">
                <a:tc>
                  <a:txBody>
                    <a:bodyPr wrap="square"/>
                    <a:lstStyle/>
                    <a:p>
                      <a:r>
                        <a:rPr sz="1000" b="0">
                          <a:solidFill>
                            <a:srgbClr val="2B2622"/>
                          </a:solidFill>
                          <a:latin typeface="Courier New"/>
                        </a:rPr>
                        <a:t>spam.pop('color')</a:t>
                      </a:r>
                    </a:p>
                  </a:txBody>
                  <a:tcPr marL="64008" marR="64008" marT="18288" marB="18288" anchor="ctr">
                    <a:solidFill>
                      <a:srgbClr val="F2ECE1"/>
                    </a:solidFill>
                  </a:tcPr>
                </a:tc>
                <a:tc>
                  <a:txBody>
                    <a:bodyPr wrap="square"/>
                    <a:lstStyle/>
                    <a:p>
                      <a:r>
                        <a:rPr sz="1000" b="0">
                          <a:solidFill>
                            <a:srgbClr val="2B2622"/>
                          </a:solidFill>
                          <a:latin typeface="Courier New"/>
                        </a:rPr>
                        <a:t>red</a:t>
                      </a:r>
                    </a:p>
                  </a:txBody>
                  <a:tcPr marL="64008" marR="64008" marT="18288" marB="18288" anchor="ctr">
                    <a:solidFill>
                      <a:srgbClr val="F2ECE1"/>
                    </a:solidFill>
                  </a:tcPr>
                </a:tc>
              </a:tr>
              <a:tr h="219227">
                <a:tc>
                  <a:txBody>
                    <a:bodyPr wrap="square"/>
                    <a:lstStyle/>
                    <a:p>
                      <a:r>
                        <a:rPr sz="1000" b="0">
                          <a:solidFill>
                            <a:srgbClr val="2B2622"/>
                          </a:solidFill>
                          <a:latin typeface="Courier New"/>
                        </a:rPr>
                        <a:t>print(spam)</a:t>
                      </a:r>
                    </a:p>
                  </a:txBody>
                  <a:tcPr marL="64008" marR="64008" marT="18288" marB="18288" anchor="ctr">
                    <a:solidFill>
                      <a:srgbClr val="FFFFFF"/>
                    </a:solidFill>
                  </a:tcPr>
                </a:tc>
                <a:tc>
                  <a:txBody>
                    <a:bodyPr wrap="square"/>
                    <a:lstStyle/>
                    <a:p>
                      <a:r>
                        <a:rPr sz="1000" b="0">
                          <a:solidFill>
                            <a:srgbClr val="2B2622"/>
                          </a:solidFill>
                          <a:latin typeface="Courier New"/>
                        </a:rPr>
                        <a:t>{'name': 'Pooka'}</a:t>
                      </a:r>
                    </a:p>
                  </a:txBody>
                  <a:tcPr marL="64008" marR="64008" marT="18288" marB="18288" anchor="ctr">
                    <a:solidFill>
                      <a:srgbClr val="FFFFFF"/>
                    </a:solidFill>
                  </a:tcPr>
                </a:tc>
              </a:tr>
              <a:tr h="219227">
                <a:tc>
                  <a:txBody>
                    <a:bodyPr wrap="square"/>
                    <a:lstStyle/>
                    <a:p>
                      <a:r>
                        <a:rPr sz="1000" b="0">
                          <a:solidFill>
                            <a:srgbClr val="2B2622"/>
                          </a:solidFill>
                          <a:latin typeface="Courier New"/>
                        </a:rPr>
                        <a:t>spam | {'name': 'Rex', 'legs': 4}</a:t>
                      </a:r>
                    </a:p>
                  </a:txBody>
                  <a:tcPr marL="64008" marR="64008" marT="18288" marB="18288" anchor="ctr">
                    <a:solidFill>
                      <a:srgbClr val="F2ECE1"/>
                    </a:solidFill>
                  </a:tcPr>
                </a:tc>
                <a:tc>
                  <a:txBody>
                    <a:bodyPr wrap="square"/>
                    <a:lstStyle/>
                    <a:p>
                      <a:r>
                        <a:rPr sz="1000" b="0">
                          <a:solidFill>
                            <a:srgbClr val="2B2622"/>
                          </a:solidFill>
                          <a:latin typeface="Courier New"/>
                        </a:rPr>
                        <a:t>{'name': 'Rex', 'legs': 4}</a:t>
                      </a:r>
                    </a:p>
                  </a:txBody>
                  <a:tcPr marL="64008" marR="64008" marT="18288" marB="18288" anchor="ctr">
                    <a:solidFill>
                      <a:srgbClr val="F2ECE1"/>
                    </a:solidFill>
                  </a:tcPr>
                </a:tc>
              </a:tr>
              <a:tr h="219227">
                <a:tc>
                  <a:txBody>
                    <a:bodyPr wrap="square"/>
                    <a:lstStyle/>
                    <a:p>
                      <a:r>
                        <a:rPr sz="1000" b="0">
                          <a:solidFill>
                            <a:srgbClr val="2B2622"/>
                          </a:solidFill>
                          <a:latin typeface="Courier New"/>
                        </a:rPr>
                        <a:t>print(spam) again</a:t>
                      </a:r>
                    </a:p>
                  </a:txBody>
                  <a:tcPr marL="64008" marR="64008" marT="18288" marB="18288" anchor="ctr">
                    <a:solidFill>
                      <a:srgbClr val="FFFFFF"/>
                    </a:solidFill>
                  </a:tcPr>
                </a:tc>
                <a:tc>
                  <a:txBody>
                    <a:bodyPr wrap="square"/>
                    <a:lstStyle/>
                    <a:p>
                      <a:r>
                        <a:rPr sz="1000" b="0">
                          <a:solidFill>
                            <a:srgbClr val="2B2622"/>
                          </a:solidFill>
                          <a:latin typeface="Courier New"/>
                        </a:rPr>
                        <a:t>{'name': 'Pooka'}</a:t>
                      </a:r>
                    </a:p>
                  </a:txBody>
                  <a:tcPr marL="64008" marR="64008" marT="18288" marB="18288" anchor="ctr">
                    <a:solidFill>
                      <a:srgbClr val="FFFFFF"/>
                    </a:solidFill>
                  </a:tcPr>
                </a:tc>
              </a:tr>
            </a:tbl>
          </a:graphicData>
        </a:graphic>
      </p:graphicFrame>
      <p:sp>
        <p:nvSpPr>
          <p:cNvPr id="14"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Assignment adds or replaces, del and pop remove, and | merges into a new dictionary.</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15 / 48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9: Views follow the dictionary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view is a window; list() is a photograph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Returning Keys and Values</a:t>
            </a:r>
          </a:p>
        </p:txBody>
      </p:sp>
      <p:sp>
        <p:nvSpPr>
          <p:cNvPr id="6" name="code"/>
          <p:cNvSpPr/>
          <p:nvPr/>
        </p:nvSpPr>
        <p:spPr>
          <a:xfrm>
            <a:off x="365760" y="1097280"/>
            <a:ext cx="4800600" cy="667512"/>
          </a:xfrm>
          <a:prstGeom prst="roundRect">
            <a:avLst>
              <a:gd name="adj" fmla="val 10958"/>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stock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EE787"/>
                </a:solidFill>
                <a:latin typeface="Courier New"/>
              </a:rPr>
              <a:t>'pear'</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'apple'</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stock</a:t>
            </a:r>
            <a:r>
              <a:rPr sz="1200" b="0" i="0">
                <a:solidFill>
                  <a:srgbClr val="E6EDF3"/>
                </a:solidFill>
                <a:latin typeface="Courier New"/>
              </a:rPr>
              <a:t>.</a:t>
            </a:r>
            <a:r>
              <a:rPr sz="1200" b="0" i="0">
                <a:solidFill>
                  <a:srgbClr val="E6EDF3"/>
                </a:solidFill>
                <a:latin typeface="Courier New"/>
              </a:rPr>
              <a:t>keys</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frozen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list</a:t>
            </a:r>
            <a:r>
              <a:rPr sz="1200" b="0" i="0">
                <a:solidFill>
                  <a:srgbClr val="E6EDF3"/>
                </a:solidFill>
                <a:latin typeface="Courier New"/>
              </a:rPr>
              <a:t>(</a:t>
            </a:r>
            <a:r>
              <a:rPr sz="1200" b="0" i="0">
                <a:solidFill>
                  <a:srgbClr val="E6EDF3"/>
                </a:solidFill>
                <a:latin typeface="Courier New"/>
              </a:rPr>
              <a:t>stock</a:t>
            </a:r>
            <a:r>
              <a:rPr sz="1200" b="0" i="0">
                <a:solidFill>
                  <a:srgbClr val="E6EDF3"/>
                </a:solidFill>
                <a:latin typeface="Courier New"/>
              </a:rPr>
              <a:t>)</a:t>
            </a:r>
          </a:p>
        </p:txBody>
      </p:sp>
      <p:sp>
        <p:nvSpPr>
          <p:cNvPr id="7" name="explanation"/>
          <p:cNvSpPr/>
          <p:nvPr/>
        </p:nvSpPr>
        <p:spPr>
          <a:xfrm>
            <a:off x="5148072" y="1097280"/>
            <a:ext cx="3584448" cy="667512"/>
          </a:xfrm>
          <a:prstGeom prst="roundRect">
            <a:avLst>
              <a:gd name="adj" fmla="val 10958"/>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A view is a live window; list() takes a photograph of the keys right now.</a:t>
            </a:r>
          </a:p>
        </p:txBody>
      </p:sp>
      <p:sp>
        <p:nvSpPr>
          <p:cNvPr id="8" name="code"/>
          <p:cNvSpPr/>
          <p:nvPr/>
        </p:nvSpPr>
        <p:spPr>
          <a:xfrm>
            <a:off x="365760" y="1819656"/>
            <a:ext cx="4800600" cy="667512"/>
          </a:xfrm>
          <a:prstGeom prst="roundRect">
            <a:avLst>
              <a:gd name="adj" fmla="val 10958"/>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stock</a:t>
            </a:r>
            <a:r>
              <a:rPr sz="1200" b="0" i="0">
                <a:solidFill>
                  <a:srgbClr val="E6EDF3"/>
                </a:solidFill>
                <a:latin typeface="Courier New"/>
              </a:rPr>
              <a:t>[</a:t>
            </a:r>
            <a:r>
              <a:rPr sz="1200" b="0" i="0">
                <a:solidFill>
                  <a:srgbClr val="7EE787"/>
                </a:solidFill>
                <a:latin typeface="Courier New"/>
              </a:rPr>
              <a:t>'fig'</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list</a:t>
            </a:r>
            <a:r>
              <a:rPr sz="1200" b="0" i="0">
                <a:solidFill>
                  <a:srgbClr val="E6EDF3"/>
                </a:solidFill>
                <a:latin typeface="Courier New"/>
              </a:rPr>
              <a:t>(</a:t>
            </a:r>
            <a:r>
              <a:rPr sz="1200" b="0" i="0">
                <a:solidFill>
                  <a:srgbClr val="E6EDF3"/>
                </a:solidFill>
                <a:latin typeface="Courier New"/>
              </a:rPr>
              <a:t>ks</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frozen</a:t>
            </a:r>
            <a:r>
              <a:rPr sz="1200" b="0" i="0">
                <a:solidFill>
                  <a:srgbClr val="E6EDF3"/>
                </a:solidFill>
                <a:latin typeface="Courier New"/>
              </a:rPr>
              <a:t>)</a:t>
            </a:r>
          </a:p>
        </p:txBody>
      </p:sp>
      <p:sp>
        <p:nvSpPr>
          <p:cNvPr id="9" name="explanation"/>
          <p:cNvSpPr/>
          <p:nvPr/>
        </p:nvSpPr>
        <p:spPr>
          <a:xfrm>
            <a:off x="5148072" y="1819656"/>
            <a:ext cx="3584448" cy="667512"/>
          </a:xfrm>
          <a:prstGeom prst="roundRect">
            <a:avLst>
              <a:gd name="adj" fmla="val 10958"/>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After a change the window shows 'fig', but the photograph does not.</a:t>
            </a:r>
          </a:p>
        </p:txBody>
      </p:sp>
      <p:sp>
        <p:nvSpPr>
          <p:cNvPr id="10" name="code"/>
          <p:cNvSpPr/>
          <p:nvPr/>
        </p:nvSpPr>
        <p:spPr>
          <a:xfrm>
            <a:off x="365760" y="2542032"/>
            <a:ext cx="4800600" cy="497077"/>
          </a:xfrm>
          <a:prstGeom prst="roundRect">
            <a:avLst>
              <a:gd name="adj" fmla="val 14716"/>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sorted</a:t>
            </a:r>
            <a:r>
              <a:rPr sz="1200" b="0" i="0">
                <a:solidFill>
                  <a:srgbClr val="E6EDF3"/>
                </a:solidFill>
                <a:latin typeface="Courier New"/>
              </a:rPr>
              <a:t>(</a:t>
            </a:r>
            <a:r>
              <a:rPr sz="1200" b="0" i="0">
                <a:solidFill>
                  <a:srgbClr val="E6EDF3"/>
                </a:solidFill>
                <a:latin typeface="Courier New"/>
              </a:rPr>
              <a:t>stock</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list</a:t>
            </a:r>
            <a:r>
              <a:rPr sz="1200" b="0" i="0">
                <a:solidFill>
                  <a:srgbClr val="E6EDF3"/>
                </a:solidFill>
                <a:latin typeface="Courier New"/>
              </a:rPr>
              <a:t>(</a:t>
            </a:r>
            <a:r>
              <a:rPr sz="1200" b="0" i="0">
                <a:solidFill>
                  <a:srgbClr val="FFA657"/>
                </a:solidFill>
                <a:latin typeface="Courier New"/>
              </a:rPr>
              <a:t>reversed</a:t>
            </a:r>
            <a:r>
              <a:rPr sz="1200" b="0" i="0">
                <a:solidFill>
                  <a:srgbClr val="E6EDF3"/>
                </a:solidFill>
                <a:latin typeface="Courier New"/>
              </a:rPr>
              <a:t>(</a:t>
            </a:r>
            <a:r>
              <a:rPr sz="1200" b="0" i="0">
                <a:solidFill>
                  <a:srgbClr val="E6EDF3"/>
                </a:solidFill>
                <a:latin typeface="Courier New"/>
              </a:rPr>
              <a:t>stock</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p:txBody>
      </p:sp>
      <p:sp>
        <p:nvSpPr>
          <p:cNvPr id="11" name="explanation"/>
          <p:cNvSpPr/>
          <p:nvPr/>
        </p:nvSpPr>
        <p:spPr>
          <a:xfrm>
            <a:off x="5148072" y="2542032"/>
            <a:ext cx="3584448" cy="497077"/>
          </a:xfrm>
          <a:prstGeom prst="roundRect">
            <a:avLst>
              <a:gd name="adj" fmla="val 14716"/>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sorted() returns a new sorted list; reversed() walks the newest key first.</a:t>
            </a:r>
          </a:p>
        </p:txBody>
      </p:sp>
      <p:sp>
        <p:nvSpPr>
          <p:cNvPr id="12" name="result label"/>
          <p:cNvSpPr txBox="1"/>
          <p:nvPr/>
        </p:nvSpPr>
        <p:spPr>
          <a:xfrm>
            <a:off x="365760" y="3121406"/>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68294"/>
          <a:ext cx="8412479" cy="1057400"/>
        </p:xfrm>
        <a:graphic>
          <a:graphicData uri="http://schemas.openxmlformats.org/drawingml/2006/table">
            <a:tbl>
              <a:tblPr firstRow="1" bandRow="1">
                <a:tableStyleId>{5C22544A-7EE6-4342-B048-85BDC9FD1C3A}</a:tableStyleId>
              </a:tblPr>
              <a:tblGrid>
                <a:gridCol w="2684834"/>
                <a:gridCol w="2147867"/>
                <a:gridCol w="3579778"/>
              </a:tblGrid>
              <a:tr h="211480">
                <a:tc>
                  <a:txBody>
                    <a:bodyPr wrap="square"/>
                    <a:lstStyle/>
                    <a:p>
                      <a:r>
                        <a:rPr sz="1000" b="1">
                          <a:solidFill>
                            <a:srgbClr val="FFFFFF"/>
                          </a:solidFill>
                          <a:latin typeface="Calibri"/>
                        </a:rPr>
                        <a:t>Name</a:t>
                      </a:r>
                    </a:p>
                  </a:txBody>
                  <a:tcPr marL="64008" marR="64008" marT="18288" marB="18288" anchor="ctr">
                    <a:solidFill>
                      <a:srgbClr val="2B2622"/>
                    </a:solidFill>
                  </a:tcPr>
                </a:tc>
                <a:tc>
                  <a:txBody>
                    <a:bodyPr wrap="square"/>
                    <a:lstStyle/>
                    <a:p>
                      <a:r>
                        <a:rPr sz="1000" b="1">
                          <a:solidFill>
                            <a:srgbClr val="FFFFFF"/>
                          </a:solidFill>
                          <a:latin typeface="Calibri"/>
                        </a:rPr>
                        <a:t>What it is</a:t>
                      </a:r>
                    </a:p>
                  </a:txBody>
                  <a:tcPr marL="64008" marR="64008" marT="18288" marB="18288" anchor="ctr">
                    <a:solidFill>
                      <a:srgbClr val="2B2622"/>
                    </a:solidFill>
                  </a:tcPr>
                </a:tc>
                <a:tc>
                  <a:txBody>
                    <a:bodyPr wrap="square"/>
                    <a:lstStyle/>
                    <a:p>
                      <a:r>
                        <a:rPr sz="1000" b="1">
                          <a:solidFill>
                            <a:srgbClr val="FFFFFF"/>
                          </a:solidFill>
                          <a:latin typeface="Calibri"/>
                        </a:rPr>
                        <a:t>Shows</a:t>
                      </a:r>
                    </a:p>
                  </a:txBody>
                  <a:tcPr marL="64008" marR="64008" marT="18288" marB="18288" anchor="ctr">
                    <a:solidFill>
                      <a:srgbClr val="2B2622"/>
                    </a:solidFill>
                  </a:tcPr>
                </a:tc>
              </a:tr>
              <a:tr h="211480">
                <a:tc>
                  <a:txBody>
                    <a:bodyPr wrap="square"/>
                    <a:lstStyle/>
                    <a:p>
                      <a:r>
                        <a:rPr sz="1000" b="0">
                          <a:solidFill>
                            <a:srgbClr val="2B2622"/>
                          </a:solidFill>
                          <a:latin typeface="Courier New"/>
                        </a:rPr>
                        <a:t>ks = stock.keys()</a:t>
                      </a:r>
                    </a:p>
                  </a:txBody>
                  <a:tcPr marL="64008" marR="64008" marT="18288" marB="18288" anchor="ctr">
                    <a:solidFill>
                      <a:srgbClr val="F2ECE1"/>
                    </a:solidFill>
                  </a:tcPr>
                </a:tc>
                <a:tc>
                  <a:txBody>
                    <a:bodyPr wrap="square"/>
                    <a:lstStyle/>
                    <a:p>
                      <a:r>
                        <a:rPr sz="1000" b="0">
                          <a:solidFill>
                            <a:srgbClr val="2B2622"/>
                          </a:solidFill>
                          <a:latin typeface="Calibri"/>
                        </a:rPr>
                        <a:t>a live view</a:t>
                      </a:r>
                    </a:p>
                  </a:txBody>
                  <a:tcPr marL="64008" marR="64008" marT="18288" marB="18288" anchor="ctr">
                    <a:solidFill>
                      <a:srgbClr val="F2ECE1"/>
                    </a:solidFill>
                  </a:tcPr>
                </a:tc>
                <a:tc>
                  <a:txBody>
                    <a:bodyPr wrap="square"/>
                    <a:lstStyle/>
                    <a:p>
                      <a:r>
                        <a:rPr sz="1000" b="0">
                          <a:solidFill>
                            <a:srgbClr val="2B2622"/>
                          </a:solidFill>
                          <a:latin typeface="Courier New"/>
                        </a:rPr>
                        <a:t>['pear', 'apple', 'fig']</a:t>
                      </a:r>
                    </a:p>
                  </a:txBody>
                  <a:tcPr marL="64008" marR="64008" marT="18288" marB="18288" anchor="ctr">
                    <a:solidFill>
                      <a:srgbClr val="F2ECE1"/>
                    </a:solidFill>
                  </a:tcPr>
                </a:tc>
              </a:tr>
              <a:tr h="211480">
                <a:tc>
                  <a:txBody>
                    <a:bodyPr wrap="square"/>
                    <a:lstStyle/>
                    <a:p>
                      <a:r>
                        <a:rPr sz="1000" b="0">
                          <a:solidFill>
                            <a:srgbClr val="2B2622"/>
                          </a:solidFill>
                          <a:latin typeface="Courier New"/>
                        </a:rPr>
                        <a:t>frozen = list(stock)</a:t>
                      </a:r>
                    </a:p>
                  </a:txBody>
                  <a:tcPr marL="64008" marR="64008" marT="18288" marB="18288" anchor="ctr">
                    <a:solidFill>
                      <a:srgbClr val="FFFFFF"/>
                    </a:solidFill>
                  </a:tcPr>
                </a:tc>
                <a:tc>
                  <a:txBody>
                    <a:bodyPr wrap="square"/>
                    <a:lstStyle/>
                    <a:p>
                      <a:r>
                        <a:rPr sz="1000" b="0">
                          <a:solidFill>
                            <a:srgbClr val="2B2622"/>
                          </a:solidFill>
                          <a:latin typeface="Calibri"/>
                        </a:rPr>
                        <a:t>a photograph</a:t>
                      </a:r>
                    </a:p>
                  </a:txBody>
                  <a:tcPr marL="64008" marR="64008" marT="18288" marB="18288" anchor="ctr">
                    <a:solidFill>
                      <a:srgbClr val="FFFFFF"/>
                    </a:solidFill>
                  </a:tcPr>
                </a:tc>
                <a:tc>
                  <a:txBody>
                    <a:bodyPr wrap="square"/>
                    <a:lstStyle/>
                    <a:p>
                      <a:r>
                        <a:rPr sz="1000" b="0">
                          <a:solidFill>
                            <a:srgbClr val="2B2622"/>
                          </a:solidFill>
                          <a:latin typeface="Courier New"/>
                        </a:rPr>
                        <a:t>['pear', 'apple']</a:t>
                      </a:r>
                    </a:p>
                  </a:txBody>
                  <a:tcPr marL="64008" marR="64008" marT="18288" marB="18288" anchor="ctr">
                    <a:solidFill>
                      <a:srgbClr val="FFFFFF"/>
                    </a:solidFill>
                  </a:tcPr>
                </a:tc>
              </a:tr>
              <a:tr h="211480">
                <a:tc>
                  <a:txBody>
                    <a:bodyPr wrap="square"/>
                    <a:lstStyle/>
                    <a:p>
                      <a:r>
                        <a:rPr sz="1000" b="0">
                          <a:solidFill>
                            <a:srgbClr val="2B2622"/>
                          </a:solidFill>
                          <a:latin typeface="Courier New"/>
                        </a:rPr>
                        <a:t>sorted(stock)</a:t>
                      </a:r>
                    </a:p>
                  </a:txBody>
                  <a:tcPr marL="64008" marR="64008" marT="18288" marB="18288" anchor="ctr">
                    <a:solidFill>
                      <a:srgbClr val="F2ECE1"/>
                    </a:solidFill>
                  </a:tcPr>
                </a:tc>
                <a:tc>
                  <a:txBody>
                    <a:bodyPr wrap="square"/>
                    <a:lstStyle/>
                    <a:p>
                      <a:r>
                        <a:rPr sz="1000" b="0">
                          <a:solidFill>
                            <a:srgbClr val="2B2622"/>
                          </a:solidFill>
                          <a:latin typeface="Calibri"/>
                        </a:rPr>
                        <a:t>a new sorted list</a:t>
                      </a:r>
                    </a:p>
                  </a:txBody>
                  <a:tcPr marL="64008" marR="64008" marT="18288" marB="18288" anchor="ctr">
                    <a:solidFill>
                      <a:srgbClr val="F2ECE1"/>
                    </a:solidFill>
                  </a:tcPr>
                </a:tc>
                <a:tc>
                  <a:txBody>
                    <a:bodyPr wrap="square"/>
                    <a:lstStyle/>
                    <a:p>
                      <a:r>
                        <a:rPr sz="1000" b="0">
                          <a:solidFill>
                            <a:srgbClr val="2B2622"/>
                          </a:solidFill>
                          <a:latin typeface="Courier New"/>
                        </a:rPr>
                        <a:t>['apple', 'fig', 'pear']</a:t>
                      </a:r>
                    </a:p>
                  </a:txBody>
                  <a:tcPr marL="64008" marR="64008" marT="18288" marB="18288" anchor="ctr">
                    <a:solidFill>
                      <a:srgbClr val="F2ECE1"/>
                    </a:solidFill>
                  </a:tcPr>
                </a:tc>
              </a:tr>
              <a:tr h="211480">
                <a:tc>
                  <a:txBody>
                    <a:bodyPr wrap="square"/>
                    <a:lstStyle/>
                    <a:p>
                      <a:r>
                        <a:rPr sz="1000" b="0">
                          <a:solidFill>
                            <a:srgbClr val="2B2622"/>
                          </a:solidFill>
                          <a:latin typeface="Courier New"/>
                        </a:rPr>
                        <a:t>reversed(stock)</a:t>
                      </a:r>
                    </a:p>
                  </a:txBody>
                  <a:tcPr marL="64008" marR="64008" marT="18288" marB="18288" anchor="ctr">
                    <a:solidFill>
                      <a:srgbClr val="FFFFFF"/>
                    </a:solidFill>
                  </a:tcPr>
                </a:tc>
                <a:tc>
                  <a:txBody>
                    <a:bodyPr wrap="square"/>
                    <a:lstStyle/>
                    <a:p>
                      <a:r>
                        <a:rPr sz="1000" b="0">
                          <a:solidFill>
                            <a:srgbClr val="2B2622"/>
                          </a:solidFill>
                          <a:latin typeface="Calibri"/>
                        </a:rPr>
                        <a:t>newest first</a:t>
                      </a:r>
                    </a:p>
                  </a:txBody>
                  <a:tcPr marL="64008" marR="64008" marT="18288" marB="18288" anchor="ctr">
                    <a:solidFill>
                      <a:srgbClr val="FFFFFF"/>
                    </a:solidFill>
                  </a:tcPr>
                </a:tc>
                <a:tc>
                  <a:txBody>
                    <a:bodyPr wrap="square"/>
                    <a:lstStyle/>
                    <a:p>
                      <a:r>
                        <a:rPr sz="1000" b="0">
                          <a:solidFill>
                            <a:srgbClr val="2B2622"/>
                          </a:solidFill>
                          <a:latin typeface="Courier New"/>
                        </a:rPr>
                        <a:t>['fig', 'apple', 'pear']</a:t>
                      </a:r>
                    </a:p>
                  </a:txBody>
                  <a:tcPr marL="64008" marR="64008" marT="18288" marB="18288" anchor="ctr">
                    <a:solidFill>
                      <a:srgbClr val="FFFFFF"/>
                    </a:solidFill>
                  </a:tcPr>
                </a:tc>
              </a:tr>
            </a:tbl>
          </a:graphicData>
        </a:graphic>
      </p:graphicFrame>
      <p:sp>
        <p:nvSpPr>
          <p:cNvPr id="14"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view follows the dictionary; list() and sorted() freeze it.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16 / 48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reading the parts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Keys, values, items and the views that follow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Returning Keys and Values</a:t>
            </a:r>
          </a:p>
        </p:txBody>
      </p:sp>
      <p:sp>
        <p:nvSpPr>
          <p:cNvPr id="6" name="everyday card"/>
          <p:cNvSpPr/>
          <p:nvPr/>
        </p:nvSpPr>
        <p:spPr>
          <a:xfrm>
            <a:off x="457200" y="1170432"/>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Returning Keys and Values</a:t>
            </a:r>
          </a:p>
          <a:p>
            <a:pPr algn="l"/>
            <a:r>
              <a:rPr sz="1300" b="0" i="0">
                <a:solidFill>
                  <a:srgbClr val="2B2622"/>
                </a:solidFill>
                <a:latin typeface="Calibri"/>
              </a:rPr>
              <a:t>Reading only the index of a book, only its chapters, or both together.</a:t>
            </a:r>
          </a:p>
        </p:txBody>
      </p:sp>
      <p:sp>
        <p:nvSpPr>
          <p:cNvPr id="7" name="card accent"/>
          <p:cNvSpPr/>
          <p:nvPr/>
        </p:nvSpPr>
        <p:spPr>
          <a:xfrm>
            <a:off x="457200" y="1170432"/>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8" name="everyday card"/>
          <p:cNvSpPr/>
          <p:nvPr/>
        </p:nvSpPr>
        <p:spPr>
          <a:xfrm>
            <a:off x="4663440" y="1170432"/>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keys</a:t>
            </a:r>
          </a:p>
          <a:p>
            <a:pPr algn="l"/>
            <a:r>
              <a:rPr sz="1300" b="0" i="0">
                <a:solidFill>
                  <a:srgbClr val="2B2622"/>
                </a:solidFill>
                <a:latin typeface="Calibri"/>
              </a:rPr>
              <a:t>The labels along a shelf edge, without the goods.</a:t>
            </a:r>
          </a:p>
        </p:txBody>
      </p:sp>
      <p:sp>
        <p:nvSpPr>
          <p:cNvPr id="9" name="card accent"/>
          <p:cNvSpPr/>
          <p:nvPr/>
        </p:nvSpPr>
        <p:spPr>
          <a:xfrm>
            <a:off x="4663440" y="1170432"/>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0" name="everyday card"/>
          <p:cNvSpPr/>
          <p:nvPr/>
        </p:nvSpPr>
        <p:spPr>
          <a:xfrm>
            <a:off x="457200" y="2273807"/>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values</a:t>
            </a:r>
          </a:p>
          <a:p>
            <a:pPr algn="l"/>
            <a:r>
              <a:rPr sz="1300" b="0" i="0">
                <a:solidFill>
                  <a:srgbClr val="2B2622"/>
                </a:solidFill>
                <a:latin typeface="Calibri"/>
              </a:rPr>
              <a:t>The goods on the shelves, without their labels.</a:t>
            </a:r>
          </a:p>
        </p:txBody>
      </p:sp>
      <p:sp>
        <p:nvSpPr>
          <p:cNvPr id="11" name="card accent"/>
          <p:cNvSpPr/>
          <p:nvPr/>
        </p:nvSpPr>
        <p:spPr>
          <a:xfrm>
            <a:off x="457200" y="2273807"/>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2" name="everyday card"/>
          <p:cNvSpPr/>
          <p:nvPr/>
        </p:nvSpPr>
        <p:spPr>
          <a:xfrm>
            <a:off x="4663440" y="2273807"/>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items</a:t>
            </a:r>
          </a:p>
          <a:p>
            <a:pPr algn="l"/>
            <a:r>
              <a:rPr sz="1300" b="0" i="0">
                <a:solidFill>
                  <a:srgbClr val="2B2622"/>
                </a:solidFill>
                <a:latin typeface="Calibri"/>
              </a:rPr>
              <a:t>Each shelf label together with its goods, one pair at a time.</a:t>
            </a:r>
          </a:p>
        </p:txBody>
      </p:sp>
      <p:sp>
        <p:nvSpPr>
          <p:cNvPr id="13" name="card accent"/>
          <p:cNvSpPr/>
          <p:nvPr/>
        </p:nvSpPr>
        <p:spPr>
          <a:xfrm>
            <a:off x="4663440" y="2273807"/>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4" name="everyday card"/>
          <p:cNvSpPr/>
          <p:nvPr/>
        </p:nvSpPr>
        <p:spPr>
          <a:xfrm>
            <a:off x="457200" y="3377184"/>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list()</a:t>
            </a:r>
          </a:p>
          <a:p>
            <a:pPr algn="l"/>
            <a:r>
              <a:rPr sz="1300" b="0" i="0">
                <a:solidFill>
                  <a:srgbClr val="2B2622"/>
                </a:solidFill>
                <a:latin typeface="Calibri"/>
              </a:rPr>
              <a:t>A photograph of the shop window: it freezes what the window showed a moment ago.</a:t>
            </a:r>
          </a:p>
        </p:txBody>
      </p:sp>
      <p:sp>
        <p:nvSpPr>
          <p:cNvPr id="15" name="card accent"/>
          <p:cNvSpPr/>
          <p:nvPr/>
        </p:nvSpPr>
        <p:spPr>
          <a:xfrm>
            <a:off x="457200" y="3377184"/>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17 / 48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asking and changing</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Existence tests, defaults and removal</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Checking Whether a Key Exists</a:t>
            </a:r>
          </a:p>
        </p:txBody>
      </p:sp>
      <p:sp>
        <p:nvSpPr>
          <p:cNvPr id="6" name="everyday card"/>
          <p:cNvSpPr/>
          <p:nvPr/>
        </p:nvSpPr>
        <p:spPr>
          <a:xfrm>
            <a:off x="457200" y="1170432"/>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Checking Whether a Key Exists</a:t>
            </a:r>
          </a:p>
          <a:p>
            <a:pPr algn="l"/>
            <a:r>
              <a:rPr sz="1300" b="0" i="0">
                <a:solidFill>
                  <a:srgbClr val="2B2622"/>
                </a:solidFill>
                <a:latin typeface="Calibri"/>
              </a:rPr>
              <a:t>Asking at the desk whether a ticket was ever issued, before you hand it over.</a:t>
            </a:r>
          </a:p>
        </p:txBody>
      </p:sp>
      <p:sp>
        <p:nvSpPr>
          <p:cNvPr id="7" name="card accent"/>
          <p:cNvSpPr/>
          <p:nvPr/>
        </p:nvSpPr>
        <p:spPr>
          <a:xfrm>
            <a:off x="457200" y="1170432"/>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8" name="everyday card"/>
          <p:cNvSpPr/>
          <p:nvPr/>
        </p:nvSpPr>
        <p:spPr>
          <a:xfrm>
            <a:off x="4663440" y="1170432"/>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get</a:t>
            </a:r>
          </a:p>
          <a:p>
            <a:pPr algn="l"/>
            <a:r>
              <a:rPr sz="1300" b="0" i="0">
                <a:solidFill>
                  <a:srgbClr val="2B2622"/>
                </a:solidFill>
                <a:latin typeface="Calibri"/>
              </a:rPr>
              <a:t>A polite attendant who answers 'none' instead of shouting when the ticket is unknown.</a:t>
            </a:r>
          </a:p>
        </p:txBody>
      </p:sp>
      <p:sp>
        <p:nvSpPr>
          <p:cNvPr id="9" name="card accent"/>
          <p:cNvSpPr/>
          <p:nvPr/>
        </p:nvSpPr>
        <p:spPr>
          <a:xfrm>
            <a:off x="4663440" y="1170432"/>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0" name="everyday card"/>
          <p:cNvSpPr/>
          <p:nvPr/>
        </p:nvSpPr>
        <p:spPr>
          <a:xfrm>
            <a:off x="457200" y="2273807"/>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Setting Default Values</a:t>
            </a:r>
          </a:p>
          <a:p>
            <a:pPr algn="l"/>
            <a:r>
              <a:rPr sz="1300" b="0" i="0">
                <a:solidFill>
                  <a:srgbClr val="2B2622"/>
                </a:solidFill>
                <a:latin typeface="Calibri"/>
              </a:rPr>
              <a:t>An empty form with a pre-printed zero in every box, so counting can start at once.</a:t>
            </a:r>
          </a:p>
        </p:txBody>
      </p:sp>
      <p:sp>
        <p:nvSpPr>
          <p:cNvPr id="11" name="card accent"/>
          <p:cNvSpPr/>
          <p:nvPr/>
        </p:nvSpPr>
        <p:spPr>
          <a:xfrm>
            <a:off x="457200" y="2273807"/>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2" name="everyday card"/>
          <p:cNvSpPr/>
          <p:nvPr/>
        </p:nvSpPr>
        <p:spPr>
          <a:xfrm>
            <a:off x="4663440" y="2273807"/>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setdefault</a:t>
            </a:r>
          </a:p>
          <a:p>
            <a:pPr algn="l"/>
            <a:r>
              <a:rPr sz="1300" b="0" i="0">
                <a:solidFill>
                  <a:srgbClr val="2B2622"/>
                </a:solidFill>
                <a:latin typeface="Calibri"/>
              </a:rPr>
              <a:t>Hanging a new coat on a fresh hook only when the hook is free; otherwise the old coat stays.</a:t>
            </a:r>
          </a:p>
        </p:txBody>
      </p:sp>
      <p:sp>
        <p:nvSpPr>
          <p:cNvPr id="13" name="card accent"/>
          <p:cNvSpPr/>
          <p:nvPr/>
        </p:nvSpPr>
        <p:spPr>
          <a:xfrm>
            <a:off x="4663440" y="2273807"/>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4" name="everyday card"/>
          <p:cNvSpPr/>
          <p:nvPr/>
        </p:nvSpPr>
        <p:spPr>
          <a:xfrm>
            <a:off x="457200" y="3377184"/>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del</a:t>
            </a:r>
          </a:p>
          <a:p>
            <a:pPr algn="l"/>
            <a:r>
              <a:rPr sz="1300" b="0" i="0">
                <a:solidFill>
                  <a:srgbClr val="2B2622"/>
                </a:solidFill>
                <a:latin typeface="Calibri"/>
              </a:rPr>
              <a:t>Tearing one line out of the phone book: the name and the number go together.</a:t>
            </a:r>
          </a:p>
        </p:txBody>
      </p:sp>
      <p:sp>
        <p:nvSpPr>
          <p:cNvPr id="15" name="card accent"/>
          <p:cNvSpPr/>
          <p:nvPr/>
        </p:nvSpPr>
        <p:spPr>
          <a:xfrm>
            <a:off x="457200" y="3377184"/>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18 / 48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300">
                <a:solidFill>
                  <a:srgbClr val="2B2622"/>
                </a:solidFill>
                <a:latin typeface="Cambria"/>
              </a:rPr>
              <a:t>Part 3: Programs that count and learn</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A dictionary as the memory of a program</a:t>
            </a:r>
          </a:p>
        </p:txBody>
      </p:sp>
      <p:sp>
        <p:nvSpPr>
          <p:cNvPr id="4" name="concept row"/>
          <p:cNvSpPr/>
          <p:nvPr/>
        </p:nvSpPr>
        <p:spPr>
          <a:xfrm>
            <a:off x="457200" y="1280160"/>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5" name="concept accent"/>
          <p:cNvSpPr/>
          <p:nvPr/>
        </p:nvSpPr>
        <p:spPr>
          <a:xfrm>
            <a:off x="457200" y="1280160"/>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6" name="concept"/>
          <p:cNvSpPr txBox="1"/>
          <p:nvPr/>
        </p:nvSpPr>
        <p:spPr>
          <a:xfrm>
            <a:off x="594360" y="1280160"/>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birthdays.py</a:t>
            </a:r>
          </a:p>
        </p:txBody>
      </p:sp>
      <p:sp>
        <p:nvSpPr>
          <p:cNvPr id="7" name="concept meaning"/>
          <p:cNvSpPr txBox="1"/>
          <p:nvPr/>
        </p:nvSpPr>
        <p:spPr>
          <a:xfrm>
            <a:off x="2286000" y="1280160"/>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A program that learns a new pair when asked.</a:t>
            </a:r>
          </a:p>
        </p:txBody>
      </p:sp>
      <p:sp>
        <p:nvSpPr>
          <p:cNvPr id="8" name="concept row"/>
          <p:cNvSpPr/>
          <p:nvPr/>
        </p:nvSpPr>
        <p:spPr>
          <a:xfrm>
            <a:off x="457200" y="2029967"/>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9" name="concept accent"/>
          <p:cNvSpPr/>
          <p:nvPr/>
        </p:nvSpPr>
        <p:spPr>
          <a:xfrm>
            <a:off x="457200" y="2029967"/>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0" name="concept"/>
          <p:cNvSpPr txBox="1"/>
          <p:nvPr/>
        </p:nvSpPr>
        <p:spPr>
          <a:xfrm>
            <a:off x="594360" y="2029967"/>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characterCount.py</a:t>
            </a:r>
          </a:p>
        </p:txBody>
      </p:sp>
      <p:sp>
        <p:nvSpPr>
          <p:cNvPr id="11" name="concept meaning"/>
          <p:cNvSpPr txBox="1"/>
          <p:nvPr/>
        </p:nvSpPr>
        <p:spPr>
          <a:xfrm>
            <a:off x="2286000" y="2029967"/>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Count every character of a text by key.</a:t>
            </a:r>
          </a:p>
        </p:txBody>
      </p:sp>
      <p:sp>
        <p:nvSpPr>
          <p:cNvPr id="12" name="concept row"/>
          <p:cNvSpPr/>
          <p:nvPr/>
        </p:nvSpPr>
        <p:spPr>
          <a:xfrm>
            <a:off x="457200" y="2779776"/>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13" name="concept accent"/>
          <p:cNvSpPr/>
          <p:nvPr/>
        </p:nvSpPr>
        <p:spPr>
          <a:xfrm>
            <a:off x="457200" y="2779776"/>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4" name="concept"/>
          <p:cNvSpPr txBox="1"/>
          <p:nvPr/>
        </p:nvSpPr>
        <p:spPr>
          <a:xfrm>
            <a:off x="594360" y="2779776"/>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Counter</a:t>
            </a:r>
          </a:p>
        </p:txBody>
      </p:sp>
      <p:sp>
        <p:nvSpPr>
          <p:cNvPr id="15" name="concept meaning"/>
          <p:cNvSpPr txBox="1"/>
          <p:nvPr/>
        </p:nvSpPr>
        <p:spPr>
          <a:xfrm>
            <a:off x="2286000" y="2779776"/>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One call builds the whole table of counts.</a:t>
            </a:r>
          </a:p>
        </p:txBody>
      </p:sp>
      <p:sp>
        <p:nvSpPr>
          <p:cNvPr id="16" name="concept row"/>
          <p:cNvSpPr/>
          <p:nvPr/>
        </p:nvSpPr>
        <p:spPr>
          <a:xfrm>
            <a:off x="457200" y="3529584"/>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17" name="concept accent"/>
          <p:cNvSpPr/>
          <p:nvPr/>
        </p:nvSpPr>
        <p:spPr>
          <a:xfrm>
            <a:off x="457200" y="3529584"/>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8" name="concept"/>
          <p:cNvSpPr txBox="1"/>
          <p:nvPr/>
        </p:nvSpPr>
        <p:spPr>
          <a:xfrm>
            <a:off x="594360" y="3529584"/>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Grouping</a:t>
            </a:r>
          </a:p>
        </p:txBody>
      </p:sp>
      <p:sp>
        <p:nvSpPr>
          <p:cNvPr id="19" name="concept meaning"/>
          <p:cNvSpPr txBox="1"/>
          <p:nvPr/>
        </p:nvSpPr>
        <p:spPr>
          <a:xfrm>
            <a:off x="2286000" y="3529584"/>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Lists as values collect items under one key.</a:t>
            </a:r>
          </a:p>
        </p:txBody>
      </p:sp>
      <p:graphicFrame>
        <p:nvGraphicFramePr>
          <p:cNvPr id="20" name="visual: how the concepts fit"/>
          <p:cNvGraphicFramePr>
            <a:graphicFrameLocks noGrp="1"/>
          </p:cNvGraphicFramePr>
          <p:nvPr/>
        </p:nvGraphicFramePr>
        <p:xfrm>
          <a:off x="6172200" y="1280160"/>
          <a:ext cx="2514600" cy="3200400"/>
        </p:xfrm>
        <a:graphic>
          <a:graphicData uri="http://schemas.openxmlformats.org/drawingml/2006/table">
            <a:tbl>
              <a:tblPr firstRow="1" bandRow="1">
                <a:tableStyleId>{5C22544A-7EE6-4342-B048-85BDC9FD1C3A}</a:tableStyleId>
              </a:tblPr>
              <a:tblGrid>
                <a:gridCol w="2514600"/>
              </a:tblGrid>
              <a:tr h="640080">
                <a:tc>
                  <a:txBody>
                    <a:bodyPr wrap="square"/>
                    <a:lstStyle/>
                    <a:p>
                      <a:r>
                        <a:rPr sz="1300" b="1">
                          <a:solidFill>
                            <a:srgbClr val="FFFFFF"/>
                          </a:solidFill>
                          <a:latin typeface="Calibri"/>
                        </a:rPr>
                        <a:t>How they fit together</a:t>
                      </a:r>
                    </a:p>
                  </a:txBody>
                  <a:tcPr marL="64008" marR="64008" marT="18288" marB="18288" anchor="ctr">
                    <a:solidFill>
                      <a:srgbClr val="2B2622"/>
                    </a:solidFill>
                  </a:tcPr>
                </a:tc>
              </a:tr>
              <a:tr h="640080">
                <a:tc>
                  <a:txBody>
                    <a:bodyPr wrap="square"/>
                    <a:lstStyle/>
                    <a:p>
                      <a:r>
                        <a:rPr sz="1300" b="0">
                          <a:solidFill>
                            <a:srgbClr val="2B2622"/>
                          </a:solidFill>
                          <a:latin typeface="Calibri"/>
                        </a:rPr>
                        <a:t>1.  Ask and remember</a:t>
                      </a:r>
                    </a:p>
                  </a:txBody>
                  <a:tcPr marL="64008" marR="64008" marT="18288" marB="18288" anchor="ctr">
                    <a:solidFill>
                      <a:srgbClr val="F2ECE1"/>
                    </a:solidFill>
                  </a:tcPr>
                </a:tc>
              </a:tr>
              <a:tr h="640080">
                <a:tc>
                  <a:txBody>
                    <a:bodyPr wrap="square"/>
                    <a:lstStyle/>
                    <a:p>
                      <a:r>
                        <a:rPr sz="1300" b="0">
                          <a:solidFill>
                            <a:srgbClr val="2B2622"/>
                          </a:solidFill>
                          <a:latin typeface="Calibri"/>
                        </a:rPr>
                        <a:t>2.  Count by key</a:t>
                      </a:r>
                    </a:p>
                  </a:txBody>
                  <a:tcPr marL="64008" marR="64008" marT="18288" marB="18288" anchor="ctr">
                    <a:solidFill>
                      <a:srgbClr val="FFFFFF"/>
                    </a:solidFill>
                  </a:tcPr>
                </a:tc>
              </a:tr>
              <a:tr h="640080">
                <a:tc>
                  <a:txBody>
                    <a:bodyPr wrap="square"/>
                    <a:lstStyle/>
                    <a:p>
                      <a:r>
                        <a:rPr sz="1300" b="0">
                          <a:solidFill>
                            <a:srgbClr val="2B2622"/>
                          </a:solidFill>
                          <a:latin typeface="Calibri"/>
                        </a:rPr>
                        <a:t>3.  Let Counter count</a:t>
                      </a:r>
                    </a:p>
                  </a:txBody>
                  <a:tcPr marL="64008" marR="64008" marT="18288" marB="18288" anchor="ctr">
                    <a:solidFill>
                      <a:srgbClr val="F2ECE1"/>
                    </a:solidFill>
                  </a:tcPr>
                </a:tc>
              </a:tr>
              <a:tr h="640080">
                <a:tc>
                  <a:txBody>
                    <a:bodyPr wrap="square"/>
                    <a:lstStyle/>
                    <a:p>
                      <a:r>
                        <a:rPr sz="1300" b="0">
                          <a:solidFill>
                            <a:srgbClr val="2B2622"/>
                          </a:solidFill>
                          <a:latin typeface="Calibri"/>
                        </a:rPr>
                        <a:t>4.  Group items in lists</a:t>
                      </a:r>
                    </a:p>
                  </a:txBody>
                  <a:tcPr marL="64008" marR="64008" marT="18288" marB="18288" anchor="ctr">
                    <a:solidFill>
                      <a:srgbClr val="FFFFFF"/>
                    </a:solidFill>
                  </a:tcPr>
                </a:tc>
              </a:tr>
            </a:tbl>
          </a:graphicData>
        </a:graphic>
      </p:graphicFrame>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19 / 48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10: birthdays.py with the typing scripted</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in test chooses between a lookup and a new pair</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birthdays.py</a:t>
            </a:r>
          </a:p>
        </p:txBody>
      </p:sp>
      <p:sp>
        <p:nvSpPr>
          <p:cNvPr id="6" name="code"/>
          <p:cNvSpPr/>
          <p:nvPr/>
        </p:nvSpPr>
        <p:spPr>
          <a:xfrm>
            <a:off x="365760" y="1097280"/>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birthdays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'Alice'</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'Apr 1'</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'Bob'</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'Dec 12'</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typed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iter</a:t>
            </a:r>
            <a:r>
              <a:rPr sz="1050" b="0" i="0">
                <a:solidFill>
                  <a:srgbClr val="E6EDF3"/>
                </a:solidFill>
                <a:latin typeface="Courier New"/>
              </a:rPr>
              <a:t>(</a:t>
            </a:r>
            <a:r>
              <a:rPr sz="1050" b="0" i="0">
                <a:solidFill>
                  <a:srgbClr val="E6EDF3"/>
                </a:solidFill>
                <a:latin typeface="Courier New"/>
              </a:rPr>
              <a:t>[</a:t>
            </a:r>
            <a:r>
              <a:rPr sz="1050" b="0" i="0">
                <a:solidFill>
                  <a:srgbClr val="7EE787"/>
                </a:solidFill>
                <a:latin typeface="Courier New"/>
              </a:rPr>
              <a:t>'Alice'</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'Eve'</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'Dec 5'</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'Eve'</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7" name="explanation"/>
          <p:cNvSpPr/>
          <p:nvPr/>
        </p:nvSpPr>
        <p:spPr>
          <a:xfrm>
            <a:off x="5148072" y="1097280"/>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names and dates a person would type are scripted in a list.</a:t>
            </a:r>
          </a:p>
        </p:txBody>
      </p:sp>
      <p:sp>
        <p:nvSpPr>
          <p:cNvPr id="8" name="code"/>
          <p:cNvSpPr/>
          <p:nvPr/>
        </p:nvSpPr>
        <p:spPr>
          <a:xfrm>
            <a:off x="365760" y="1618234"/>
            <a:ext cx="4800600" cy="597789"/>
          </a:xfrm>
          <a:prstGeom prst="roundRect">
            <a:avLst>
              <a:gd name="adj" fmla="val 1223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while</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name</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next</a:t>
            </a:r>
            <a:r>
              <a:rPr sz="1050" b="0" i="0">
                <a:solidFill>
                  <a:srgbClr val="E6EDF3"/>
                </a:solidFill>
                <a:latin typeface="Courier New"/>
              </a:rPr>
              <a:t>(</a:t>
            </a:r>
            <a:r>
              <a:rPr sz="1050" b="0" i="0">
                <a:solidFill>
                  <a:srgbClr val="E6EDF3"/>
                </a:solidFill>
                <a:latin typeface="Courier New"/>
              </a:rPr>
              <a:t>typed</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if</a:t>
            </a:r>
            <a:r>
              <a:rPr sz="1050" b="0" i="0">
                <a:solidFill>
                  <a:srgbClr val="E6EDF3"/>
                </a:solidFill>
                <a:latin typeface="Courier New"/>
              </a:rPr>
              <a:t> </a:t>
            </a:r>
            <a:r>
              <a:rPr sz="1050" b="0" i="0">
                <a:solidFill>
                  <a:srgbClr val="E6EDF3"/>
                </a:solidFill>
                <a:latin typeface="Courier New"/>
              </a:rPr>
              <a:t>name</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birthdays</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name</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'has birthday'</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birthdays</a:t>
            </a:r>
            <a:r>
              <a:rPr sz="1050" b="0" i="0">
                <a:solidFill>
                  <a:srgbClr val="E6EDF3"/>
                </a:solidFill>
                <a:latin typeface="Courier New"/>
              </a:rPr>
              <a:t>[</a:t>
            </a:r>
            <a:r>
              <a:rPr sz="1050" b="0" i="0">
                <a:solidFill>
                  <a:srgbClr val="E6EDF3"/>
                </a:solidFill>
                <a:latin typeface="Courier New"/>
              </a:rPr>
              <a:t>name</a:t>
            </a:r>
            <a:r>
              <a:rPr sz="1050" b="0" i="0">
                <a:solidFill>
                  <a:srgbClr val="E6EDF3"/>
                </a:solidFill>
                <a:latin typeface="Courier New"/>
              </a:rPr>
              <a:t>]</a:t>
            </a:r>
            <a:r>
              <a:rPr sz="1050" b="0" i="0">
                <a:solidFill>
                  <a:srgbClr val="E6EDF3"/>
                </a:solidFill>
                <a:latin typeface="Courier New"/>
              </a:rPr>
              <a:t>)</a:t>
            </a:r>
          </a:p>
        </p:txBody>
      </p:sp>
      <p:sp>
        <p:nvSpPr>
          <p:cNvPr id="9" name="explanation"/>
          <p:cNvSpPr/>
          <p:nvPr/>
        </p:nvSpPr>
        <p:spPr>
          <a:xfrm>
            <a:off x="5148072" y="1618234"/>
            <a:ext cx="3584448" cy="597789"/>
          </a:xfrm>
          <a:prstGeom prst="roundRect">
            <a:avLst>
              <a:gd name="adj" fmla="val 1223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Read a name; an empty name ends the loop. A known name prints its date.</a:t>
            </a:r>
          </a:p>
        </p:txBody>
      </p:sp>
      <p:sp>
        <p:nvSpPr>
          <p:cNvPr id="10" name="code"/>
          <p:cNvSpPr/>
          <p:nvPr/>
        </p:nvSpPr>
        <p:spPr>
          <a:xfrm>
            <a:off x="365760" y="2270886"/>
            <a:ext cx="4800600" cy="597789"/>
          </a:xfrm>
          <a:prstGeom prst="roundRect">
            <a:avLst>
              <a:gd name="adj" fmla="val 1223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else</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birthdays</a:t>
            </a:r>
            <a:r>
              <a:rPr sz="1050" b="0" i="0">
                <a:solidFill>
                  <a:srgbClr val="E6EDF3"/>
                </a:solidFill>
                <a:latin typeface="Courier New"/>
              </a:rPr>
              <a:t>[</a:t>
            </a:r>
            <a:r>
              <a:rPr sz="1050" b="0" i="0">
                <a:solidFill>
                  <a:srgbClr val="E6EDF3"/>
                </a:solidFill>
                <a:latin typeface="Courier New"/>
              </a:rPr>
              <a:t>name</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next</a:t>
            </a:r>
            <a:r>
              <a:rPr sz="1050" b="0" i="0">
                <a:solidFill>
                  <a:srgbClr val="E6EDF3"/>
                </a:solidFill>
                <a:latin typeface="Courier New"/>
              </a:rPr>
              <a:t>(</a:t>
            </a:r>
            <a:r>
              <a:rPr sz="1050" b="0" i="0">
                <a:solidFill>
                  <a:srgbClr val="E6EDF3"/>
                </a:solidFill>
                <a:latin typeface="Courier New"/>
              </a:rPr>
              <a:t>typed</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7EE787"/>
                </a:solidFill>
                <a:latin typeface="Courier New"/>
              </a:rPr>
              <a:t>'Learned'</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name</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birthdays</a:t>
            </a:r>
            <a:r>
              <a:rPr sz="1050" b="0" i="0">
                <a:solidFill>
                  <a:srgbClr val="E6EDF3"/>
                </a:solidFill>
                <a:latin typeface="Courier New"/>
              </a:rPr>
              <a:t>[</a:t>
            </a:r>
            <a:r>
              <a:rPr sz="1050" b="0" i="0">
                <a:solidFill>
                  <a:srgbClr val="E6EDF3"/>
                </a:solidFill>
                <a:latin typeface="Courier New"/>
              </a:rPr>
              <a:t>name</a:t>
            </a:r>
            <a:r>
              <a:rPr sz="1050" b="0" i="0">
                <a:solidFill>
                  <a:srgbClr val="E6EDF3"/>
                </a:solidFill>
                <a:latin typeface="Courier New"/>
              </a:rPr>
              <a:t>]</a:t>
            </a:r>
            <a:r>
              <a:rPr sz="1050" b="0" i="0">
                <a:solidFill>
                  <a:srgbClr val="E6EDF3"/>
                </a:solidFill>
                <a:latin typeface="Courier New"/>
              </a:rPr>
              <a:t>)</a:t>
            </a:r>
          </a:p>
        </p:txBody>
      </p:sp>
      <p:sp>
        <p:nvSpPr>
          <p:cNvPr id="11" name="explanation"/>
          <p:cNvSpPr/>
          <p:nvPr/>
        </p:nvSpPr>
        <p:spPr>
          <a:xfrm>
            <a:off x="5148072" y="2270886"/>
            <a:ext cx="3584448" cy="597789"/>
          </a:xfrm>
          <a:prstGeom prst="roundRect">
            <a:avLst>
              <a:gd name="adj" fmla="val 1223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An unknown name takes the next typed line as its date and is stored.</a:t>
            </a:r>
          </a:p>
        </p:txBody>
      </p:sp>
      <p:sp>
        <p:nvSpPr>
          <p:cNvPr id="12" name="result label"/>
          <p:cNvSpPr txBox="1"/>
          <p:nvPr/>
        </p:nvSpPr>
        <p:spPr>
          <a:xfrm>
            <a:off x="365760" y="2950971"/>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97859"/>
          <a:ext cx="8412479" cy="1227835"/>
        </p:xfrm>
        <a:graphic>
          <a:graphicData uri="http://schemas.openxmlformats.org/drawingml/2006/table">
            <a:tbl>
              <a:tblPr firstRow="1" bandRow="1">
                <a:tableStyleId>{5C22544A-7EE6-4342-B048-85BDC9FD1C3A}</a:tableStyleId>
              </a:tblPr>
              <a:tblGrid>
                <a:gridCol w="1869439"/>
                <a:gridCol w="2243328"/>
                <a:gridCol w="4299712"/>
              </a:tblGrid>
              <a:tr h="245567">
                <a:tc>
                  <a:txBody>
                    <a:bodyPr wrap="square"/>
                    <a:lstStyle/>
                    <a:p>
                      <a:r>
                        <a:rPr sz="1100" b="1">
                          <a:solidFill>
                            <a:srgbClr val="FFFFFF"/>
                          </a:solidFill>
                          <a:latin typeface="Calibri"/>
                        </a:rPr>
                        <a:t>Typed</a:t>
                      </a:r>
                    </a:p>
                  </a:txBody>
                  <a:tcPr marL="64008" marR="64008" marT="18288" marB="18288" anchor="ctr">
                    <a:solidFill>
                      <a:srgbClr val="2B2622"/>
                    </a:solidFill>
                  </a:tcPr>
                </a:tc>
                <a:tc>
                  <a:txBody>
                    <a:bodyPr wrap="square"/>
                    <a:lstStyle/>
                    <a:p>
                      <a:r>
                        <a:rPr sz="1100" b="1">
                          <a:solidFill>
                            <a:srgbClr val="FFFFFF"/>
                          </a:solidFill>
                          <a:latin typeface="Calibri"/>
                        </a:rPr>
                        <a:t>The program did</a:t>
                      </a:r>
                    </a:p>
                  </a:txBody>
                  <a:tcPr marL="64008" marR="64008" marT="18288" marB="18288" anchor="ctr">
                    <a:solidFill>
                      <a:srgbClr val="2B2622"/>
                    </a:solidFill>
                  </a:tcPr>
                </a:tc>
                <a:tc>
                  <a:txBody>
                    <a:bodyPr wrap="square"/>
                    <a:lstStyle/>
                    <a:p>
                      <a:r>
                        <a:rPr sz="1100" b="1">
                          <a:solidFill>
                            <a:srgbClr val="FFFFFF"/>
                          </a:solidFill>
                          <a:latin typeface="Calibri"/>
                        </a:rPr>
                        <a:t>Printed</a:t>
                      </a:r>
                    </a:p>
                  </a:txBody>
                  <a:tcPr marL="64008" marR="64008" marT="18288" marB="18288" anchor="ctr">
                    <a:solidFill>
                      <a:srgbClr val="2B2622"/>
                    </a:solidFill>
                  </a:tcPr>
                </a:tc>
              </a:tr>
              <a:tr h="245567">
                <a:tc>
                  <a:txBody>
                    <a:bodyPr wrap="square"/>
                    <a:lstStyle/>
                    <a:p>
                      <a:r>
                        <a:rPr sz="1100" b="0">
                          <a:solidFill>
                            <a:srgbClr val="2B2622"/>
                          </a:solidFill>
                          <a:latin typeface="Calibri"/>
                        </a:rPr>
                        <a:t>Alice</a:t>
                      </a:r>
                    </a:p>
                  </a:txBody>
                  <a:tcPr marL="64008" marR="64008" marT="18288" marB="18288" anchor="ctr">
                    <a:solidFill>
                      <a:srgbClr val="F2ECE1"/>
                    </a:solidFill>
                  </a:tcPr>
                </a:tc>
                <a:tc>
                  <a:txBody>
                    <a:bodyPr wrap="square"/>
                    <a:lstStyle/>
                    <a:p>
                      <a:r>
                        <a:rPr sz="1100" b="0">
                          <a:solidFill>
                            <a:srgbClr val="2B2622"/>
                          </a:solidFill>
                          <a:latin typeface="Calibri"/>
                        </a:rPr>
                        <a:t>found the key</a:t>
                      </a:r>
                    </a:p>
                  </a:txBody>
                  <a:tcPr marL="64008" marR="64008" marT="18288" marB="18288" anchor="ctr">
                    <a:solidFill>
                      <a:srgbClr val="F2ECE1"/>
                    </a:solidFill>
                  </a:tcPr>
                </a:tc>
                <a:tc>
                  <a:txBody>
                    <a:bodyPr wrap="square"/>
                    <a:lstStyle/>
                    <a:p>
                      <a:r>
                        <a:rPr sz="1100" b="0">
                          <a:solidFill>
                            <a:srgbClr val="2B2622"/>
                          </a:solidFill>
                          <a:latin typeface="Calibri"/>
                        </a:rPr>
                        <a:t>Alice has birthday Apr 1</a:t>
                      </a:r>
                    </a:p>
                  </a:txBody>
                  <a:tcPr marL="64008" marR="64008" marT="18288" marB="18288" anchor="ctr">
                    <a:solidFill>
                      <a:srgbClr val="F2ECE1"/>
                    </a:solidFill>
                  </a:tcPr>
                </a:tc>
              </a:tr>
              <a:tr h="245567">
                <a:tc>
                  <a:txBody>
                    <a:bodyPr wrap="square"/>
                    <a:lstStyle/>
                    <a:p>
                      <a:r>
                        <a:rPr sz="1100" b="0">
                          <a:solidFill>
                            <a:srgbClr val="2B2622"/>
                          </a:solidFill>
                          <a:latin typeface="Calibri"/>
                        </a:rPr>
                        <a:t>Eve, then Dec 5</a:t>
                      </a:r>
                    </a:p>
                  </a:txBody>
                  <a:tcPr marL="64008" marR="64008" marT="18288" marB="18288" anchor="ctr">
                    <a:solidFill>
                      <a:srgbClr val="FFFFFF"/>
                    </a:solidFill>
                  </a:tcPr>
                </a:tc>
                <a:tc>
                  <a:txBody>
                    <a:bodyPr wrap="square"/>
                    <a:lstStyle/>
                    <a:p>
                      <a:r>
                        <a:rPr sz="1100" b="0">
                          <a:solidFill>
                            <a:srgbClr val="2B2622"/>
                          </a:solidFill>
                          <a:latin typeface="Calibri"/>
                        </a:rPr>
                        <a:t>stored a new pair</a:t>
                      </a:r>
                    </a:p>
                  </a:txBody>
                  <a:tcPr marL="64008" marR="64008" marT="18288" marB="18288" anchor="ctr">
                    <a:solidFill>
                      <a:srgbClr val="FFFFFF"/>
                    </a:solidFill>
                  </a:tcPr>
                </a:tc>
                <a:tc>
                  <a:txBody>
                    <a:bodyPr wrap="square"/>
                    <a:lstStyle/>
                    <a:p>
                      <a:r>
                        <a:rPr sz="1100" b="0">
                          <a:solidFill>
                            <a:srgbClr val="2B2622"/>
                          </a:solidFill>
                          <a:latin typeface="Calibri"/>
                        </a:rPr>
                        <a:t>Learned Eve Dec 5</a:t>
                      </a:r>
                    </a:p>
                  </a:txBody>
                  <a:tcPr marL="64008" marR="64008" marT="18288" marB="18288" anchor="ctr">
                    <a:solidFill>
                      <a:srgbClr val="FFFFFF"/>
                    </a:solidFill>
                  </a:tcPr>
                </a:tc>
              </a:tr>
              <a:tr h="245567">
                <a:tc>
                  <a:txBody>
                    <a:bodyPr wrap="square"/>
                    <a:lstStyle/>
                    <a:p>
                      <a:r>
                        <a:rPr sz="1100" b="0">
                          <a:solidFill>
                            <a:srgbClr val="2B2622"/>
                          </a:solidFill>
                          <a:latin typeface="Calibri"/>
                        </a:rPr>
                        <a:t>Eve</a:t>
                      </a:r>
                    </a:p>
                  </a:txBody>
                  <a:tcPr marL="64008" marR="64008" marT="18288" marB="18288" anchor="ctr">
                    <a:solidFill>
                      <a:srgbClr val="F2ECE1"/>
                    </a:solidFill>
                  </a:tcPr>
                </a:tc>
                <a:tc>
                  <a:txBody>
                    <a:bodyPr wrap="square"/>
                    <a:lstStyle/>
                    <a:p>
                      <a:r>
                        <a:rPr sz="1100" b="0">
                          <a:solidFill>
                            <a:srgbClr val="2B2622"/>
                          </a:solidFill>
                          <a:latin typeface="Calibri"/>
                        </a:rPr>
                        <a:t>found the new key</a:t>
                      </a:r>
                    </a:p>
                  </a:txBody>
                  <a:tcPr marL="64008" marR="64008" marT="18288" marB="18288" anchor="ctr">
                    <a:solidFill>
                      <a:srgbClr val="F2ECE1"/>
                    </a:solidFill>
                  </a:tcPr>
                </a:tc>
                <a:tc>
                  <a:txBody>
                    <a:bodyPr wrap="square"/>
                    <a:lstStyle/>
                    <a:p>
                      <a:r>
                        <a:rPr sz="1100" b="0">
                          <a:solidFill>
                            <a:srgbClr val="2B2622"/>
                          </a:solidFill>
                          <a:latin typeface="Calibri"/>
                        </a:rPr>
                        <a:t>Eve has birthday Dec 5</a:t>
                      </a:r>
                    </a:p>
                  </a:txBody>
                  <a:tcPr marL="64008" marR="64008" marT="18288" marB="18288" anchor="ctr">
                    <a:solidFill>
                      <a:srgbClr val="F2ECE1"/>
                    </a:solidFill>
                  </a:tcPr>
                </a:tc>
              </a:tr>
              <a:tr h="245567">
                <a:tc>
                  <a:txBody>
                    <a:bodyPr wrap="square"/>
                    <a:lstStyle/>
                    <a:p>
                      <a:r>
                        <a:rPr sz="1100" b="0">
                          <a:solidFill>
                            <a:srgbClr val="2B2622"/>
                          </a:solidFill>
                          <a:latin typeface="Calibri"/>
                        </a:rPr>
                        <a:t>dictionary now</a:t>
                      </a:r>
                    </a:p>
                  </a:txBody>
                  <a:tcPr marL="64008" marR="64008" marT="18288" marB="18288" anchor="ctr">
                    <a:solidFill>
                      <a:srgbClr val="FFFFFF"/>
                    </a:solidFill>
                  </a:tcPr>
                </a:tc>
                <a:tc>
                  <a:txBody>
                    <a:bodyPr wrap="square"/>
                    <a:lstStyle/>
                    <a:p>
                      <a:r>
                        <a:rPr sz="1100" b="0">
                          <a:solidFill>
                            <a:srgbClr val="2B2622"/>
                          </a:solidFill>
                          <a:latin typeface="Calibri"/>
                        </a:rPr>
                        <a:t>3 pairs</a:t>
                      </a:r>
                    </a:p>
                  </a:txBody>
                  <a:tcPr marL="64008" marR="64008" marT="18288" marB="18288" anchor="ctr">
                    <a:solidFill>
                      <a:srgbClr val="FFFFFF"/>
                    </a:solidFill>
                  </a:tcPr>
                </a:tc>
                <a:tc>
                  <a:txBody>
                    <a:bodyPr wrap="square"/>
                    <a:lstStyle/>
                    <a:p>
                      <a:r>
                        <a:rPr sz="1100" b="0">
                          <a:solidFill>
                            <a:srgbClr val="2B2622"/>
                          </a:solidFill>
                          <a:latin typeface="Calibri"/>
                        </a:rPr>
                        <a:t>Alice, Bob, Eve</a:t>
                      </a:r>
                    </a:p>
                  </a:txBody>
                  <a:tcPr marL="64008" marR="64008" marT="18288" marB="18288" anchor="ctr">
                    <a:solidFill>
                      <a:srgbClr val="FFFFFF"/>
                    </a:solidFill>
                  </a:tcPr>
                </a:tc>
              </a:tr>
            </a:tbl>
          </a:graphicData>
        </a:graphic>
      </p:graphicFrame>
      <p:sp>
        <p:nvSpPr>
          <p:cNvPr id="14"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in test and one assignment make a program that learns.</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20 / 48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11: characterCount.py counts every character</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setdefault() starts each count at 0, then one is added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characterCount.py</a:t>
            </a:r>
          </a:p>
        </p:txBody>
      </p:sp>
      <p:sp>
        <p:nvSpPr>
          <p:cNvPr id="6" name="code"/>
          <p:cNvSpPr/>
          <p:nvPr/>
        </p:nvSpPr>
        <p:spPr>
          <a:xfrm>
            <a:off x="365760" y="1097280"/>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message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EE787"/>
                </a:solidFill>
                <a:latin typeface="Courier New"/>
              </a:rPr>
              <a:t>'It was a bright cold day in April, '</a:t>
            </a:r>
          </a:p>
          <a:p>
            <a:pPr algn="l"/>
            <a:r>
              <a:rPr sz="1000" b="0" i="0">
                <a:solidFill>
                  <a:srgbClr val="8A9B94"/>
                </a:solidFill>
                <a:latin typeface="Courier New"/>
              </a:rPr>
              <a:t>&gt;&gt;&gt; </a:t>
            </a:r>
            <a:r>
              <a:rPr sz="1000" b="0" i="0">
                <a:solidFill>
                  <a:srgbClr val="E6EDF3"/>
                </a:solidFill>
                <a:latin typeface="Courier New"/>
              </a:rPr>
              <a:t>           </a:t>
            </a:r>
            <a:r>
              <a:rPr sz="1000" b="0" i="0">
                <a:solidFill>
                  <a:srgbClr val="7EE787"/>
                </a:solidFill>
                <a:latin typeface="Courier New"/>
              </a:rPr>
              <a:t>'and the clocks were striking thirteen.'</a:t>
            </a:r>
            <a:r>
              <a:rPr sz="1000" b="0" i="0">
                <a:solidFill>
                  <a:srgbClr val="E6EDF3"/>
                </a:solidFill>
                <a:latin typeface="Courier New"/>
              </a:rPr>
              <a:t>)</a:t>
            </a:r>
          </a:p>
        </p:txBody>
      </p:sp>
      <p:sp>
        <p:nvSpPr>
          <p:cNvPr id="7" name="explanation"/>
          <p:cNvSpPr/>
          <p:nvPr/>
        </p:nvSpPr>
        <p:spPr>
          <a:xfrm>
            <a:off x="5148072" y="1097280"/>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first sentence of a famous novel is the text to count.</a:t>
            </a:r>
          </a:p>
        </p:txBody>
      </p:sp>
      <p:sp>
        <p:nvSpPr>
          <p:cNvPr id="8" name="code"/>
          <p:cNvSpPr/>
          <p:nvPr/>
        </p:nvSpPr>
        <p:spPr>
          <a:xfrm>
            <a:off x="365760" y="1618234"/>
            <a:ext cx="4800600" cy="729487"/>
          </a:xfrm>
          <a:prstGeom prst="roundRect">
            <a:avLst>
              <a:gd name="adj" fmla="val 10027"/>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count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ch</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E6EDF3"/>
                </a:solidFill>
                <a:latin typeface="Courier New"/>
              </a:rPr>
              <a:t>message</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    </a:t>
            </a:r>
            <a:r>
              <a:rPr sz="1000" b="0" i="0">
                <a:solidFill>
                  <a:srgbClr val="E6EDF3"/>
                </a:solidFill>
                <a:latin typeface="Courier New"/>
              </a:rPr>
              <a:t>count</a:t>
            </a:r>
            <a:r>
              <a:rPr sz="1000" b="0" i="0">
                <a:solidFill>
                  <a:srgbClr val="E6EDF3"/>
                </a:solidFill>
                <a:latin typeface="Courier New"/>
              </a:rPr>
              <a:t>.</a:t>
            </a:r>
            <a:r>
              <a:rPr sz="1000" b="0" i="0">
                <a:solidFill>
                  <a:srgbClr val="E6EDF3"/>
                </a:solidFill>
                <a:latin typeface="Courier New"/>
              </a:rPr>
              <a:t>setdefault</a:t>
            </a:r>
            <a:r>
              <a:rPr sz="1000" b="0" i="0">
                <a:solidFill>
                  <a:srgbClr val="E6EDF3"/>
                </a:solidFill>
                <a:latin typeface="Courier New"/>
              </a:rPr>
              <a:t>(</a:t>
            </a:r>
            <a:r>
              <a:rPr sz="1000" b="0" i="0">
                <a:solidFill>
                  <a:srgbClr val="E6EDF3"/>
                </a:solidFill>
                <a:latin typeface="Courier New"/>
              </a:rPr>
              <a:t>ch</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0</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    </a:t>
            </a:r>
            <a:r>
              <a:rPr sz="1000" b="0" i="0">
                <a:solidFill>
                  <a:srgbClr val="E6EDF3"/>
                </a:solidFill>
                <a:latin typeface="Courier New"/>
              </a:rPr>
              <a:t>count</a:t>
            </a:r>
            <a:r>
              <a:rPr sz="1000" b="0" i="0">
                <a:solidFill>
                  <a:srgbClr val="E6EDF3"/>
                </a:solidFill>
                <a:latin typeface="Courier New"/>
              </a:rPr>
              <a:t>[</a:t>
            </a:r>
            <a:r>
              <a:rPr sz="1000" b="0" i="0">
                <a:solidFill>
                  <a:srgbClr val="E6EDF3"/>
                </a:solidFill>
                <a:latin typeface="Courier New"/>
              </a:rPr>
              <a:t>ch</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1</a:t>
            </a:r>
          </a:p>
        </p:txBody>
      </p:sp>
      <p:sp>
        <p:nvSpPr>
          <p:cNvPr id="9" name="explanation"/>
          <p:cNvSpPr/>
          <p:nvPr/>
        </p:nvSpPr>
        <p:spPr>
          <a:xfrm>
            <a:off x="5148072" y="1618234"/>
            <a:ext cx="3584448" cy="729487"/>
          </a:xfrm>
          <a:prstGeom prst="roundRect">
            <a:avLst>
              <a:gd name="adj" fmla="val 1002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setdefault() starts a new character at 0; then one is added per sighting.</a:t>
            </a:r>
          </a:p>
        </p:txBody>
      </p:sp>
      <p:sp>
        <p:nvSpPr>
          <p:cNvPr id="10" name="code"/>
          <p:cNvSpPr/>
          <p:nvPr/>
        </p:nvSpPr>
        <p:spPr>
          <a:xfrm>
            <a:off x="365760" y="2402586"/>
            <a:ext cx="4800600" cy="574548"/>
          </a:xfrm>
          <a:prstGeom prst="roundRect">
            <a:avLst>
              <a:gd name="adj" fmla="val 1273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top</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sorted</a:t>
            </a:r>
            <a:r>
              <a:rPr sz="1000" b="0" i="0">
                <a:solidFill>
                  <a:srgbClr val="E6EDF3"/>
                </a:solidFill>
                <a:latin typeface="Courier New"/>
              </a:rPr>
              <a:t>(</a:t>
            </a:r>
            <a:r>
              <a:rPr sz="1000" b="0" i="0">
                <a:solidFill>
                  <a:srgbClr val="E6EDF3"/>
                </a:solidFill>
                <a:latin typeface="Courier New"/>
              </a:rPr>
              <a:t>count</a:t>
            </a:r>
            <a:r>
              <a:rPr sz="1000" b="0" i="0">
                <a:solidFill>
                  <a:srgbClr val="E6EDF3"/>
                </a:solidFill>
                <a:latin typeface="Courier New"/>
              </a:rPr>
              <a:t>.</a:t>
            </a:r>
            <a:r>
              <a:rPr sz="1000" b="0" i="0">
                <a:solidFill>
                  <a:srgbClr val="E6EDF3"/>
                </a:solidFill>
                <a:latin typeface="Courier New"/>
              </a:rPr>
              <a:t>items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key</a:t>
            </a:r>
            <a:r>
              <a:rPr sz="1000" b="0" i="0">
                <a:solidFill>
                  <a:srgbClr val="E6EDF3"/>
                </a:solidFill>
                <a:latin typeface="Courier New"/>
              </a:rPr>
              <a:t>=</a:t>
            </a:r>
            <a:r>
              <a:rPr sz="1000" b="0" i="0">
                <a:solidFill>
                  <a:srgbClr val="FFA657"/>
                </a:solidFill>
                <a:latin typeface="Courier New"/>
              </a:rPr>
              <a:t>lambda</a:t>
            </a:r>
            <a:r>
              <a:rPr sz="1000" b="0" i="0">
                <a:solidFill>
                  <a:srgbClr val="E6EDF3"/>
                </a:solidFill>
                <a:latin typeface="Courier New"/>
              </a:rPr>
              <a:t> </a:t>
            </a:r>
            <a:r>
              <a:rPr sz="1000" b="0" i="0">
                <a:solidFill>
                  <a:srgbClr val="E6EDF3"/>
                </a:solidFill>
                <a:latin typeface="Courier New"/>
              </a:rPr>
              <a:t>kv</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kv</a:t>
            </a:r>
            <a:r>
              <a:rPr sz="1000" b="0" i="0">
                <a:solidFill>
                  <a:srgbClr val="E6EDF3"/>
                </a:solidFill>
                <a:latin typeface="Courier New"/>
              </a:rPr>
              <a:t>[</a:t>
            </a:r>
            <a:r>
              <a:rPr sz="1000" b="0" i="0">
                <a:solidFill>
                  <a:srgbClr val="79C0FF"/>
                </a:solidFill>
                <a:latin typeface="Courier New"/>
              </a:rPr>
              <a:t>1</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8</a:t>
            </a:r>
            <a:r>
              <a:rPr sz="1000" b="0" i="0">
                <a:solidFill>
                  <a:srgbClr val="E6EDF3"/>
                </a:solidFill>
                <a:latin typeface="Courier New"/>
              </a:rPr>
              <a:t>]</a:t>
            </a:r>
          </a:p>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top</a:t>
            </a:r>
            <a:r>
              <a:rPr sz="1000" b="0" i="0">
                <a:solidFill>
                  <a:srgbClr val="E6EDF3"/>
                </a:solidFill>
                <a:latin typeface="Courier New"/>
              </a:rPr>
              <a:t>)</a:t>
            </a:r>
          </a:p>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FFA657"/>
                </a:solidFill>
                <a:latin typeface="Courier New"/>
              </a:rPr>
              <a:t>sum</a:t>
            </a:r>
            <a:r>
              <a:rPr sz="1000" b="0" i="0">
                <a:solidFill>
                  <a:srgbClr val="E6EDF3"/>
                </a:solidFill>
                <a:latin typeface="Courier New"/>
              </a:rPr>
              <a:t>(</a:t>
            </a:r>
            <a:r>
              <a:rPr sz="1000" b="0" i="0">
                <a:solidFill>
                  <a:srgbClr val="E6EDF3"/>
                </a:solidFill>
                <a:latin typeface="Courier New"/>
              </a:rPr>
              <a:t>count</a:t>
            </a:r>
            <a:r>
              <a:rPr sz="1000" b="0" i="0">
                <a:solidFill>
                  <a:srgbClr val="E6EDF3"/>
                </a:solidFill>
                <a:latin typeface="Courier New"/>
              </a:rPr>
              <a:t>.</a:t>
            </a:r>
            <a:r>
              <a:rPr sz="1000" b="0" i="0">
                <a:solidFill>
                  <a:srgbClr val="E6EDF3"/>
                </a:solidFill>
                <a:latin typeface="Courier New"/>
              </a:rPr>
              <a:t>values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len</a:t>
            </a:r>
            <a:r>
              <a:rPr sz="1000" b="0" i="0">
                <a:solidFill>
                  <a:srgbClr val="E6EDF3"/>
                </a:solidFill>
                <a:latin typeface="Courier New"/>
              </a:rPr>
              <a:t>(</a:t>
            </a:r>
            <a:r>
              <a:rPr sz="1000" b="0" i="0">
                <a:solidFill>
                  <a:srgbClr val="E6EDF3"/>
                </a:solidFill>
                <a:latin typeface="Courier New"/>
              </a:rPr>
              <a:t>count</a:t>
            </a:r>
            <a:r>
              <a:rPr sz="1000" b="0" i="0">
                <a:solidFill>
                  <a:srgbClr val="E6EDF3"/>
                </a:solidFill>
                <a:latin typeface="Courier New"/>
              </a:rPr>
              <a:t>)</a:t>
            </a:r>
            <a:r>
              <a:rPr sz="1000" b="0" i="0">
                <a:solidFill>
                  <a:srgbClr val="E6EDF3"/>
                </a:solidFill>
                <a:latin typeface="Courier New"/>
              </a:rPr>
              <a:t>)</a:t>
            </a:r>
          </a:p>
        </p:txBody>
      </p:sp>
      <p:sp>
        <p:nvSpPr>
          <p:cNvPr id="11" name="explanation"/>
          <p:cNvSpPr/>
          <p:nvPr/>
        </p:nvSpPr>
        <p:spPr>
          <a:xfrm>
            <a:off x="5148072" y="2402586"/>
            <a:ext cx="3584448" cy="574548"/>
          </a:xfrm>
          <a:prstGeom prst="roundRect">
            <a:avLst>
              <a:gd name="adj" fmla="val 1273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Sort the pairs by count, biggest first. Then total the counts and count the keys.</a:t>
            </a:r>
          </a:p>
        </p:txBody>
      </p:sp>
      <p:sp>
        <p:nvSpPr>
          <p:cNvPr id="12" name="result label"/>
          <p:cNvSpPr txBox="1"/>
          <p:nvPr/>
        </p:nvSpPr>
        <p:spPr>
          <a:xfrm>
            <a:off x="365760" y="3059429"/>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p:cNvGraphicFramePr>
            <a:graphicFrameLocks noGrp="1"/>
          </p:cNvGraphicFramePr>
          <p:nvPr/>
        </p:nvGraphicFramePr>
        <p:xfrm>
          <a:off x="365760" y="3306317"/>
          <a:ext cx="5486400" cy="1119378"/>
        </p:xfrm>
        <a:graphic>
          <a:graphicData uri="http://schemas.openxmlformats.org/drawingml/2006/chart">
            <c:chart xmlns:c="http://schemas.openxmlformats.org/drawingml/2006/chart" r:id="rId3"/>
          </a:graphicData>
        </a:graphic>
      </p:graphicFrame>
      <p:graphicFrame>
        <p:nvGraphicFramePr>
          <p:cNvPr id="14" name="result table"/>
          <p:cNvGraphicFramePr>
            <a:graphicFrameLocks noGrp="1"/>
          </p:cNvGraphicFramePr>
          <p:nvPr/>
        </p:nvGraphicFramePr>
        <p:xfrm>
          <a:off x="6126480" y="3306317"/>
          <a:ext cx="2651760" cy="822960"/>
        </p:xfrm>
        <a:graphic>
          <a:graphicData uri="http://schemas.openxmlformats.org/drawingml/2006/table">
            <a:tbl>
              <a:tblPr firstRow="1" bandRow="1">
                <a:tableStyleId>{5C22544A-7EE6-4342-B048-85BDC9FD1C3A}</a:tableStyleId>
              </a:tblPr>
              <a:tblGrid>
                <a:gridCol w="1767840"/>
                <a:gridCol w="883920"/>
              </a:tblGrid>
              <a:tr h="274320">
                <a:tc>
                  <a:txBody>
                    <a:bodyPr wrap="square"/>
                    <a:lstStyle/>
                    <a:p>
                      <a:r>
                        <a:rPr sz="1200" b="1">
                          <a:solidFill>
                            <a:srgbClr val="FFFFFF"/>
                          </a:solidFill>
                          <a:latin typeface="Calibri"/>
                        </a:rPr>
                        <a:t>Measure</a:t>
                      </a:r>
                    </a:p>
                  </a:txBody>
                  <a:tcPr marL="64008" marR="64008" marT="18288" marB="18288" anchor="ctr">
                    <a:solidFill>
                      <a:srgbClr val="2B2622"/>
                    </a:solidFill>
                  </a:tcPr>
                </a:tc>
                <a:tc>
                  <a:txBody>
                    <a:bodyPr wrap="square"/>
                    <a:lstStyle/>
                    <a:p>
                      <a:r>
                        <a:rPr sz="1200" b="1">
                          <a:solidFill>
                            <a:srgbClr val="FFFFFF"/>
                          </a:solidFill>
                          <a:latin typeface="Calibri"/>
                        </a:rPr>
                        <a:t>Value</a:t>
                      </a:r>
                    </a:p>
                  </a:txBody>
                  <a:tcPr marL="64008" marR="64008" marT="18288" marB="18288" anchor="ctr">
                    <a:solidFill>
                      <a:srgbClr val="2B2622"/>
                    </a:solidFill>
                  </a:tcPr>
                </a:tc>
              </a:tr>
              <a:tr h="274320">
                <a:tc>
                  <a:txBody>
                    <a:bodyPr wrap="square"/>
                    <a:lstStyle/>
                    <a:p>
                      <a:r>
                        <a:rPr sz="1200" b="0">
                          <a:solidFill>
                            <a:srgbClr val="2B2622"/>
                          </a:solidFill>
                          <a:latin typeface="Calibri"/>
                        </a:rPr>
                        <a:t>characters</a:t>
                      </a:r>
                    </a:p>
                  </a:txBody>
                  <a:tcPr marL="64008" marR="64008" marT="18288" marB="18288" anchor="ctr">
                    <a:solidFill>
                      <a:srgbClr val="F2ECE1"/>
                    </a:solidFill>
                  </a:tcPr>
                </a:tc>
                <a:tc>
                  <a:txBody>
                    <a:bodyPr wrap="square"/>
                    <a:lstStyle/>
                    <a:p>
                      <a:r>
                        <a:rPr sz="1200" b="0">
                          <a:solidFill>
                            <a:srgbClr val="2B2622"/>
                          </a:solidFill>
                          <a:latin typeface="Calibri"/>
                        </a:rPr>
                        <a:t>73</a:t>
                      </a:r>
                    </a:p>
                  </a:txBody>
                  <a:tcPr marL="64008" marR="64008" marT="18288" marB="18288" anchor="ctr">
                    <a:solidFill>
                      <a:srgbClr val="F2ECE1"/>
                    </a:solidFill>
                  </a:tcPr>
                </a:tc>
              </a:tr>
              <a:tr h="274320">
                <a:tc>
                  <a:txBody>
                    <a:bodyPr wrap="square"/>
                    <a:lstStyle/>
                    <a:p>
                      <a:r>
                        <a:rPr sz="1200" b="0">
                          <a:solidFill>
                            <a:srgbClr val="2B2622"/>
                          </a:solidFill>
                          <a:latin typeface="Calibri"/>
                        </a:rPr>
                        <a:t>different ones</a:t>
                      </a:r>
                    </a:p>
                  </a:txBody>
                  <a:tcPr marL="64008" marR="64008" marT="18288" marB="18288" anchor="ctr">
                    <a:solidFill>
                      <a:srgbClr val="FFFFFF"/>
                    </a:solidFill>
                  </a:tcPr>
                </a:tc>
                <a:tc>
                  <a:txBody>
                    <a:bodyPr wrap="square"/>
                    <a:lstStyle/>
                    <a:p>
                      <a:r>
                        <a:rPr sz="1200" b="0">
                          <a:solidFill>
                            <a:srgbClr val="2B2622"/>
                          </a:solidFill>
                          <a:latin typeface="Calibri"/>
                        </a:rPr>
                        <a:t>23</a:t>
                      </a:r>
                    </a:p>
                  </a:txBody>
                  <a:tcPr marL="64008" marR="64008" marT="18288" marB="18288" anchor="ctr">
                    <a:solidFill>
                      <a:srgbClr val="FFFFFF"/>
                    </a:solidFill>
                  </a:tcPr>
                </a:tc>
              </a:tr>
            </a:tbl>
          </a:graphicData>
        </a:graphic>
      </p:graphicFrame>
      <p:sp>
        <p:nvSpPr>
          <p:cNvPr id="15"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Counting by key turns any text into a table of totals.</a:t>
            </a:r>
          </a:p>
        </p:txBody>
      </p:sp>
      <p:sp>
        <p:nvSpPr>
          <p:cNvPr id="1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21 / 48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The sentence the character counter counts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George Orwell, press card photo, 1943 - National Union of Journalists, public domain"/>
          <p:cNvPicPr>
            <a:picLocks noChangeAspect="1"/>
          </p:cNvPicPr>
          <p:nvPr/>
        </p:nvPicPr>
        <p:blipFill>
          <a:blip r:embed="rId3"/>
          <a:stretch>
            <a:fillRect/>
          </a:stretch>
        </p:blipFill>
        <p:spPr>
          <a:xfrm>
            <a:off x="886225" y="1170432"/>
            <a:ext cx="2159468" cy="2926080"/>
          </a:xfrm>
          <a:prstGeom prst="rect">
            <a:avLst/>
          </a:prstGeom>
        </p:spPr>
      </p:pic>
      <p:sp>
        <p:nvSpPr>
          <p:cNvPr id="6" name="credit"/>
          <p:cNvSpPr txBox="1"/>
          <p:nvPr/>
        </p:nvSpPr>
        <p:spPr>
          <a:xfrm>
            <a:off x="457200" y="410565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George Orwell, press card photo, 1943 - National Union of Journalists, public domain</a:t>
            </a:r>
          </a:p>
        </p:txBody>
      </p:sp>
      <p:sp>
        <p:nvSpPr>
          <p:cNvPr id="7" name="5N1K row"/>
          <p:cNvSpPr/>
          <p:nvPr/>
        </p:nvSpPr>
        <p:spPr>
          <a:xfrm>
            <a:off x="3611880" y="1115568"/>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15568"/>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15568"/>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George Orwell, the pen name of the writer Eric Blair.</a:t>
            </a:r>
          </a:p>
        </p:txBody>
      </p:sp>
      <p:sp>
        <p:nvSpPr>
          <p:cNvPr id="10" name="5N1K row"/>
          <p:cNvSpPr/>
          <p:nvPr/>
        </p:nvSpPr>
        <p:spPr>
          <a:xfrm>
            <a:off x="3611880" y="1623060"/>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23060"/>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23060"/>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His novel Nineteen Eighty-Four opens with the sentence our program counts.</a:t>
            </a:r>
          </a:p>
        </p:txBody>
      </p:sp>
      <p:sp>
        <p:nvSpPr>
          <p:cNvPr id="13" name="5N1K row"/>
          <p:cNvSpPr/>
          <p:nvPr/>
        </p:nvSpPr>
        <p:spPr>
          <a:xfrm>
            <a:off x="3611880" y="2130552"/>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0552"/>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0552"/>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8 June 1949.</a:t>
            </a:r>
          </a:p>
        </p:txBody>
      </p:sp>
      <p:sp>
        <p:nvSpPr>
          <p:cNvPr id="16" name="5N1K row"/>
          <p:cNvSpPr/>
          <p:nvPr/>
        </p:nvSpPr>
        <p:spPr>
          <a:xfrm>
            <a:off x="3611880" y="2638044"/>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8044"/>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8044"/>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London: Secker &amp; Warburg published the novel in the United Kingdom.</a:t>
            </a:r>
          </a:p>
        </p:txBody>
      </p:sp>
      <p:sp>
        <p:nvSpPr>
          <p:cNvPr id="19" name="5N1K row"/>
          <p:cNvSpPr/>
          <p:nvPr/>
        </p:nvSpPr>
        <p:spPr>
          <a:xfrm>
            <a:off x="3611880" y="3145536"/>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45536"/>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45536"/>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A famous, real sentence is honest test data for counting characters.</a:t>
            </a:r>
          </a:p>
        </p:txBody>
      </p:sp>
      <p:sp>
        <p:nvSpPr>
          <p:cNvPr id="22" name="5N1K row"/>
          <p:cNvSpPr/>
          <p:nvPr/>
        </p:nvSpPr>
        <p:spPr>
          <a:xfrm>
            <a:off x="3611880" y="3653028"/>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53028"/>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53028"/>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Our loop counts 73 characters, 23 of them different, using setdefault().</a:t>
            </a:r>
          </a:p>
        </p:txBody>
      </p:sp>
      <p:sp>
        <p:nvSpPr>
          <p:cNvPr id="25" name="live link"/>
          <p:cNvSpPr txBox="1"/>
          <p:nvPr/>
        </p:nvSpPr>
        <p:spPr>
          <a:xfrm>
            <a:off x="3611880" y="4160520"/>
            <a:ext cx="5074920" cy="310896"/>
          </a:xfrm>
          <a:prstGeom prst="rect">
            <a:avLst/>
          </a:prstGeom>
          <a:noFill/>
        </p:spPr>
        <p:txBody>
          <a:bodyPr wrap="square" anchor="t" lIns="45720" rIns="45720" tIns="36576" bIns="36576">
            <a:spAutoFit/>
          </a:bodyPr>
          <a:lstStyle/>
          <a:p>
            <a:pPr algn="l"/>
            <a:r>
              <a:rPr sz="1100" b="1" i="0">
                <a:solidFill>
                  <a:srgbClr val="D97A14"/>
                </a:solidFill>
                <a:latin typeface="Calibri"/>
              </a:rPr>
              <a:t>READ  </a:t>
            </a:r>
            <a:r>
              <a:rPr sz="1100" b="1" i="0">
                <a:solidFill>
                  <a:srgbClr val="2F6D62"/>
                </a:solidFill>
                <a:latin typeface="Calibri"/>
                <a:hlinkClick r:id="rId4"/>
              </a:rPr>
              <a:t>Nineteen Eighty-Four, on Wikipedia</a:t>
            </a:r>
            <a:r>
              <a:rPr sz="1000" b="0" i="0">
                <a:solidFill>
                  <a:srgbClr val="6E655C"/>
                </a:solidFill>
                <a:latin typeface="Calibri"/>
              </a:rPr>
              <a:t>   en.wikipedia.org</a:t>
            </a:r>
          </a:p>
        </p:txBody>
      </p:sp>
      <p:sp>
        <p:nvSpPr>
          <p:cNvPr id="26" name="takeaway"/>
          <p:cNvSpPr txBox="1"/>
          <p:nvPr/>
        </p:nvSpPr>
        <p:spPr>
          <a:xfrm>
            <a:off x="457200" y="450799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lines that count one sentence count a whole novel.</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22 / 48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Code 12: Counter does the counting</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call replaces the whole counting loop</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Setting Default Values</a:t>
            </a:r>
          </a:p>
        </p:txBody>
      </p:sp>
      <p:sp>
        <p:nvSpPr>
          <p:cNvPr id="6" name="code"/>
          <p:cNvSpPr/>
          <p:nvPr/>
        </p:nvSpPr>
        <p:spPr>
          <a:xfrm>
            <a:off x="365760" y="1097280"/>
            <a:ext cx="4800600" cy="690753"/>
          </a:xfrm>
          <a:prstGeom prst="roundRect">
            <a:avLst>
              <a:gd name="adj" fmla="val 10590"/>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from</a:t>
            </a:r>
            <a:r>
              <a:rPr sz="1200" b="0" i="0">
                <a:solidFill>
                  <a:srgbClr val="E6EDF3"/>
                </a:solidFill>
                <a:latin typeface="Courier New"/>
              </a:rPr>
              <a:t> </a:t>
            </a:r>
            <a:r>
              <a:rPr sz="1200" b="0" i="0">
                <a:solidFill>
                  <a:srgbClr val="E6EDF3"/>
                </a:solidFill>
                <a:latin typeface="Courier New"/>
              </a:rPr>
              <a:t>collections</a:t>
            </a:r>
            <a:r>
              <a:rPr sz="1200" b="0" i="0">
                <a:solidFill>
                  <a:srgbClr val="E6EDF3"/>
                </a:solidFill>
                <a:latin typeface="Courier New"/>
              </a:rPr>
              <a:t> </a:t>
            </a:r>
            <a:r>
              <a:rPr sz="1200" b="0" i="0">
                <a:solidFill>
                  <a:srgbClr val="FFA657"/>
                </a:solidFill>
                <a:latin typeface="Courier New"/>
              </a:rPr>
              <a:t>import</a:t>
            </a:r>
            <a:r>
              <a:rPr sz="1200" b="0" i="0">
                <a:solidFill>
                  <a:srgbClr val="E6EDF3"/>
                </a:solidFill>
                <a:latin typeface="Courier New"/>
              </a:rPr>
              <a:t> </a:t>
            </a:r>
            <a:r>
              <a:rPr sz="1200" b="0" i="0">
                <a:solidFill>
                  <a:srgbClr val="E6EDF3"/>
                </a:solidFill>
                <a:latin typeface="Courier New"/>
              </a:rPr>
              <a:t>Counter</a:t>
            </a:r>
          </a:p>
          <a:p>
            <a:pPr algn="l"/>
            <a:r>
              <a:rPr sz="1200" b="0" i="0">
                <a:solidFill>
                  <a:srgbClr val="8A9B94"/>
                </a:solidFill>
                <a:latin typeface="Courier New"/>
              </a:rPr>
              <a:t>&gt;&gt;&gt;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Counter</a:t>
            </a:r>
            <a:r>
              <a:rPr sz="1200" b="0" i="0">
                <a:solidFill>
                  <a:srgbClr val="E6EDF3"/>
                </a:solidFill>
                <a:latin typeface="Courier New"/>
              </a:rPr>
              <a:t>(</a:t>
            </a:r>
            <a:r>
              <a:rPr sz="1200" b="0" i="0">
                <a:solidFill>
                  <a:srgbClr val="7EE787"/>
                </a:solidFill>
                <a:latin typeface="Courier New"/>
              </a:rPr>
              <a:t>'abracadabra'</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most_common</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r>
              <a:rPr sz="1200" b="0" i="0">
                <a:solidFill>
                  <a:srgbClr val="E6EDF3"/>
                </a:solidFill>
                <a:latin typeface="Courier New"/>
              </a:rPr>
              <a:t>)</a:t>
            </a:r>
          </a:p>
        </p:txBody>
      </p:sp>
      <p:sp>
        <p:nvSpPr>
          <p:cNvPr id="7" name="explanation"/>
          <p:cNvSpPr/>
          <p:nvPr/>
        </p:nvSpPr>
        <p:spPr>
          <a:xfrm>
            <a:off x="5148072" y="1097280"/>
            <a:ext cx="3584448" cy="690753"/>
          </a:xfrm>
          <a:prstGeom prst="roundRect">
            <a:avLst>
              <a:gd name="adj" fmla="val 10590"/>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Counter builds the table of counts in one call. most_common() lists the leaders.</a:t>
            </a:r>
          </a:p>
        </p:txBody>
      </p:sp>
      <p:sp>
        <p:nvSpPr>
          <p:cNvPr id="8" name="code"/>
          <p:cNvSpPr/>
          <p:nvPr/>
        </p:nvSpPr>
        <p:spPr>
          <a:xfrm>
            <a:off x="365760" y="1842897"/>
            <a:ext cx="4800600" cy="690753"/>
          </a:xfrm>
          <a:prstGeom prst="roundRect">
            <a:avLst>
              <a:gd name="adj" fmla="val 10590"/>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c</a:t>
            </a:r>
            <a:r>
              <a:rPr sz="1200" b="0" i="0">
                <a:solidFill>
                  <a:srgbClr val="E6EDF3"/>
                </a:solidFill>
                <a:latin typeface="Courier New"/>
              </a:rPr>
              <a:t>[</a:t>
            </a:r>
            <a:r>
              <a:rPr sz="1200" b="0" i="0">
                <a:solidFill>
                  <a:srgbClr val="7EE787"/>
                </a:solidFill>
                <a:latin typeface="Courier New"/>
              </a:rPr>
              <a:t>'a'</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7EE787"/>
                </a:solidFill>
                <a:latin typeface="Courier New"/>
              </a:rPr>
              <a:t>'z'</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sum</a:t>
            </a:r>
            <a:r>
              <a:rPr sz="1200" b="0" i="0">
                <a:solidFill>
                  <a:srgbClr val="E6EDF3"/>
                </a:solidFill>
                <a:latin typeface="Courier New"/>
              </a:rPr>
              <a:t>(</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values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dict</a:t>
            </a:r>
            <a:r>
              <a:rPr sz="1200" b="0" i="0">
                <a:solidFill>
                  <a:srgbClr val="E6EDF3"/>
                </a:solidFill>
                <a:latin typeface="Courier New"/>
              </a:rPr>
              <a:t>(</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a:t>
            </a:r>
          </a:p>
        </p:txBody>
      </p:sp>
      <p:sp>
        <p:nvSpPr>
          <p:cNvPr id="9" name="explanation"/>
          <p:cNvSpPr/>
          <p:nvPr/>
        </p:nvSpPr>
        <p:spPr>
          <a:xfrm>
            <a:off x="5148072" y="1842897"/>
            <a:ext cx="3584448" cy="690753"/>
          </a:xfrm>
          <a:prstGeom prst="roundRect">
            <a:avLst>
              <a:gd name="adj" fmla="val 10590"/>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A missing key counts as 0 and is not added. The counts add up to the text length.</a:t>
            </a:r>
          </a:p>
        </p:txBody>
      </p:sp>
      <p:sp>
        <p:nvSpPr>
          <p:cNvPr id="10" name="result label"/>
          <p:cNvSpPr txBox="1"/>
          <p:nvPr/>
        </p:nvSpPr>
        <p:spPr>
          <a:xfrm>
            <a:off x="365760" y="2615946"/>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p:cNvGraphicFramePr>
            <a:graphicFrameLocks noGrp="1"/>
          </p:cNvGraphicFramePr>
          <p:nvPr/>
        </p:nvGraphicFramePr>
        <p:xfrm>
          <a:off x="365760" y="2862834"/>
          <a:ext cx="4206240" cy="1562861"/>
        </p:xfrm>
        <a:graphic>
          <a:graphicData uri="http://schemas.openxmlformats.org/drawingml/2006/chart">
            <c:chart xmlns:c="http://schemas.openxmlformats.org/drawingml/2006/chart" r:id="rId3"/>
          </a:graphicData>
        </a:graphic>
      </p:graphicFrame>
      <p:graphicFrame>
        <p:nvGraphicFramePr>
          <p:cNvPr id="12" name="result table"/>
          <p:cNvGraphicFramePr>
            <a:graphicFrameLocks noGrp="1"/>
          </p:cNvGraphicFramePr>
          <p:nvPr/>
        </p:nvGraphicFramePr>
        <p:xfrm>
          <a:off x="4846320" y="2862834"/>
          <a:ext cx="3931919" cy="1243584"/>
        </p:xfrm>
        <a:graphic>
          <a:graphicData uri="http://schemas.openxmlformats.org/drawingml/2006/table">
            <a:tbl>
              <a:tblPr firstRow="1" bandRow="1">
                <a:tableStyleId>{5C22544A-7EE6-4342-B048-85BDC9FD1C3A}</a:tableStyleId>
              </a:tblPr>
              <a:tblGrid>
                <a:gridCol w="1880483"/>
                <a:gridCol w="2051436"/>
              </a:tblGrid>
              <a:tr h="310896">
                <a:tc>
                  <a:txBody>
                    <a:bodyPr wrap="square"/>
                    <a:lstStyle/>
                    <a:p>
                      <a:r>
                        <a:rPr sz="1200" b="1">
                          <a:solidFill>
                            <a:srgbClr val="FFFFFF"/>
                          </a:solidFill>
                          <a:latin typeface="Calibri"/>
                        </a:rPr>
                        <a:t>Expression</a:t>
                      </a:r>
                    </a:p>
                  </a:txBody>
                  <a:tcPr marL="64008" marR="64008" marT="18288" marB="18288" anchor="ctr">
                    <a:solidFill>
                      <a:srgbClr val="2B2622"/>
                    </a:solidFill>
                  </a:tcPr>
                </a:tc>
                <a:tc>
                  <a:txBody>
                    <a:bodyPr wrap="square"/>
                    <a:lstStyle/>
                    <a:p>
                      <a:r>
                        <a:rPr sz="1200" b="1">
                          <a:solidFill>
                            <a:srgbClr val="FFFFFF"/>
                          </a:solidFill>
                          <a:latin typeface="Calibri"/>
                        </a:rPr>
                        <a:t>Printed</a:t>
                      </a:r>
                    </a:p>
                  </a:txBody>
                  <a:tcPr marL="64008" marR="64008" marT="18288" marB="18288" anchor="ctr">
                    <a:solidFill>
                      <a:srgbClr val="2B2622"/>
                    </a:solidFill>
                  </a:tcPr>
                </a:tc>
              </a:tr>
              <a:tr h="310896">
                <a:tc>
                  <a:txBody>
                    <a:bodyPr wrap="square"/>
                    <a:lstStyle/>
                    <a:p>
                      <a:r>
                        <a:rPr sz="1200" b="0">
                          <a:solidFill>
                            <a:srgbClr val="2B2622"/>
                          </a:solidFill>
                          <a:latin typeface="Courier New"/>
                        </a:rPr>
                        <a:t>c.most_common(2)</a:t>
                      </a:r>
                    </a:p>
                  </a:txBody>
                  <a:tcPr marL="64008" marR="64008" marT="18288" marB="18288" anchor="ctr">
                    <a:solidFill>
                      <a:srgbClr val="F2ECE1"/>
                    </a:solidFill>
                  </a:tcPr>
                </a:tc>
                <a:tc>
                  <a:txBody>
                    <a:bodyPr wrap="square"/>
                    <a:lstStyle/>
                    <a:p>
                      <a:r>
                        <a:rPr sz="1200" b="0">
                          <a:solidFill>
                            <a:srgbClr val="2B2622"/>
                          </a:solidFill>
                          <a:latin typeface="Courier New"/>
                        </a:rPr>
                        <a:t>[('a', 5), ('b', 2)]</a:t>
                      </a:r>
                    </a:p>
                  </a:txBody>
                  <a:tcPr marL="64008" marR="64008" marT="18288" marB="18288" anchor="ctr">
                    <a:solidFill>
                      <a:srgbClr val="F2ECE1"/>
                    </a:solidFill>
                  </a:tcPr>
                </a:tc>
              </a:tr>
              <a:tr h="310896">
                <a:tc>
                  <a:txBody>
                    <a:bodyPr wrap="square"/>
                    <a:lstStyle/>
                    <a:p>
                      <a:r>
                        <a:rPr sz="1200" b="0">
                          <a:solidFill>
                            <a:srgbClr val="2B2622"/>
                          </a:solidFill>
                          <a:latin typeface="Courier New"/>
                        </a:rPr>
                        <a:t>c['a'], c['z']</a:t>
                      </a:r>
                    </a:p>
                  </a:txBody>
                  <a:tcPr marL="64008" marR="64008" marT="18288" marB="18288" anchor="ctr">
                    <a:solidFill>
                      <a:srgbClr val="FFFFFF"/>
                    </a:solidFill>
                  </a:tcPr>
                </a:tc>
                <a:tc>
                  <a:txBody>
                    <a:bodyPr wrap="square"/>
                    <a:lstStyle/>
                    <a:p>
                      <a:r>
                        <a:rPr sz="1200" b="0">
                          <a:solidFill>
                            <a:srgbClr val="2B2622"/>
                          </a:solidFill>
                          <a:latin typeface="Courier New"/>
                        </a:rPr>
                        <a:t>5 0</a:t>
                      </a:r>
                    </a:p>
                  </a:txBody>
                  <a:tcPr marL="64008" marR="64008" marT="18288" marB="18288" anchor="ctr">
                    <a:solidFill>
                      <a:srgbClr val="FFFFFF"/>
                    </a:solidFill>
                  </a:tcPr>
                </a:tc>
              </a:tr>
              <a:tr h="310896">
                <a:tc>
                  <a:txBody>
                    <a:bodyPr wrap="square"/>
                    <a:lstStyle/>
                    <a:p>
                      <a:r>
                        <a:rPr sz="1200" b="0">
                          <a:solidFill>
                            <a:srgbClr val="2B2622"/>
                          </a:solidFill>
                          <a:latin typeface="Courier New"/>
                        </a:rPr>
                        <a:t>sum(c.values())</a:t>
                      </a:r>
                    </a:p>
                  </a:txBody>
                  <a:tcPr marL="64008" marR="64008" marT="18288" marB="18288" anchor="ctr">
                    <a:solidFill>
                      <a:srgbClr val="F2ECE1"/>
                    </a:solidFill>
                  </a:tcPr>
                </a:tc>
                <a:tc>
                  <a:txBody>
                    <a:bodyPr wrap="square"/>
                    <a:lstStyle/>
                    <a:p>
                      <a:r>
                        <a:rPr sz="1200" b="0">
                          <a:solidFill>
                            <a:srgbClr val="2B2622"/>
                          </a:solidFill>
                          <a:latin typeface="Courier New"/>
                        </a:rPr>
                        <a:t>11</a:t>
                      </a:r>
                    </a:p>
                  </a:txBody>
                  <a:tcPr marL="64008" marR="64008" marT="18288" marB="18288" anchor="ctr">
                    <a:solidFill>
                      <a:srgbClr val="F2ECE1"/>
                    </a:solidFill>
                  </a:tcPr>
                </a:tc>
              </a:tr>
            </a:tbl>
          </a:graphicData>
        </a:graphic>
      </p:graphicFrame>
      <p:sp>
        <p:nvSpPr>
          <p:cNvPr id="13"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Counter counts in one call, and a missing key simply counts as zero.</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23 / 48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13: Grouping with setdefault and defaultdict</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Each item is slipped into the list for its first letter</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Setting Default Values</a:t>
            </a:r>
          </a:p>
        </p:txBody>
      </p:sp>
      <p:sp>
        <p:nvSpPr>
          <p:cNvPr id="6" name="code"/>
          <p:cNvSpPr/>
          <p:nvPr/>
        </p:nvSpPr>
        <p:spPr>
          <a:xfrm>
            <a:off x="365760" y="1097280"/>
            <a:ext cx="4800600" cy="481583"/>
          </a:xfrm>
          <a:prstGeom prst="roundRect">
            <a:avLst>
              <a:gd name="adj" fmla="val 15189"/>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E6EDF3"/>
                </a:solidFill>
                <a:latin typeface="Courier New"/>
              </a:rPr>
              <a:t>words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EE787"/>
                </a:solidFill>
                <a:latin typeface="Courier New"/>
              </a:rPr>
              <a:t>'ant'</a:t>
            </a:r>
            <a:r>
              <a:rPr sz="1100" b="0" i="0">
                <a:solidFill>
                  <a:srgbClr val="E6EDF3"/>
                </a:solidFill>
                <a:latin typeface="Courier New"/>
              </a:rPr>
              <a:t>,</a:t>
            </a:r>
            <a:r>
              <a:rPr sz="1100" b="0" i="0">
                <a:solidFill>
                  <a:srgbClr val="E6EDF3"/>
                </a:solidFill>
                <a:latin typeface="Courier New"/>
              </a:rPr>
              <a:t> </a:t>
            </a:r>
            <a:r>
              <a:rPr sz="1100" b="0" i="0">
                <a:solidFill>
                  <a:srgbClr val="7EE787"/>
                </a:solidFill>
                <a:latin typeface="Courier New"/>
              </a:rPr>
              <a:t>'ape'</a:t>
            </a:r>
            <a:r>
              <a:rPr sz="1100" b="0" i="0">
                <a:solidFill>
                  <a:srgbClr val="E6EDF3"/>
                </a:solidFill>
                <a:latin typeface="Courier New"/>
              </a:rPr>
              <a:t>,</a:t>
            </a:r>
            <a:r>
              <a:rPr sz="1100" b="0" i="0">
                <a:solidFill>
                  <a:srgbClr val="E6EDF3"/>
                </a:solidFill>
                <a:latin typeface="Courier New"/>
              </a:rPr>
              <a:t> </a:t>
            </a:r>
            <a:r>
              <a:rPr sz="1100" b="0" i="0">
                <a:solidFill>
                  <a:srgbClr val="7EE787"/>
                </a:solidFill>
                <a:latin typeface="Courier New"/>
              </a:rPr>
              <a:t>'bee'</a:t>
            </a:r>
            <a:r>
              <a:rPr sz="1100" b="0" i="0">
                <a:solidFill>
                  <a:srgbClr val="E6EDF3"/>
                </a:solidFill>
                <a:latin typeface="Courier New"/>
              </a:rPr>
              <a:t>,</a:t>
            </a:r>
            <a:r>
              <a:rPr sz="1100" b="0" i="0">
                <a:solidFill>
                  <a:srgbClr val="E6EDF3"/>
                </a:solidFill>
                <a:latin typeface="Courier New"/>
              </a:rPr>
              <a:t> </a:t>
            </a:r>
            <a:r>
              <a:rPr sz="1100" b="0" i="0">
                <a:solidFill>
                  <a:srgbClr val="7EE787"/>
                </a:solidFill>
                <a:latin typeface="Courier New"/>
              </a:rPr>
              <a:t>'bat'</a:t>
            </a:r>
            <a:r>
              <a:rPr sz="1100" b="0" i="0">
                <a:solidFill>
                  <a:srgbClr val="E6EDF3"/>
                </a:solidFill>
                <a:latin typeface="Courier New"/>
              </a:rPr>
              <a:t>,</a:t>
            </a:r>
            <a:r>
              <a:rPr sz="1100" b="0" i="0">
                <a:solidFill>
                  <a:srgbClr val="E6EDF3"/>
                </a:solidFill>
                <a:latin typeface="Courier New"/>
              </a:rPr>
              <a:t> </a:t>
            </a:r>
            <a:r>
              <a:rPr sz="1100" b="0" i="0">
                <a:solidFill>
                  <a:srgbClr val="7EE787"/>
                </a:solidFill>
                <a:latin typeface="Courier New"/>
              </a:rPr>
              <a:t>'cat'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groups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p>
        </p:txBody>
      </p:sp>
      <p:sp>
        <p:nvSpPr>
          <p:cNvPr id="7" name="explanation"/>
          <p:cNvSpPr/>
          <p:nvPr/>
        </p:nvSpPr>
        <p:spPr>
          <a:xfrm>
            <a:off x="5148072" y="1097280"/>
            <a:ext cx="3584448" cy="481583"/>
          </a:xfrm>
          <a:prstGeom prst="roundRect">
            <a:avLst>
              <a:gd name="adj" fmla="val 1518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Five words to sort by their first letter, and an empty dictionary to fill.</a:t>
            </a:r>
          </a:p>
        </p:txBody>
      </p:sp>
      <p:sp>
        <p:nvSpPr>
          <p:cNvPr id="8" name="code"/>
          <p:cNvSpPr/>
          <p:nvPr/>
        </p:nvSpPr>
        <p:spPr>
          <a:xfrm>
            <a:off x="365760" y="1633728"/>
            <a:ext cx="4800600" cy="621029"/>
          </a:xfrm>
          <a:prstGeom prst="roundRect">
            <a:avLst>
              <a:gd name="adj" fmla="val 11779"/>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for</a:t>
            </a:r>
            <a:r>
              <a:rPr sz="1100" b="0" i="0">
                <a:solidFill>
                  <a:srgbClr val="E6EDF3"/>
                </a:solidFill>
                <a:latin typeface="Courier New"/>
              </a:rPr>
              <a:t> </a:t>
            </a:r>
            <a:r>
              <a:rPr sz="1100" b="0" i="0">
                <a:solidFill>
                  <a:srgbClr val="E6EDF3"/>
                </a:solidFill>
                <a:latin typeface="Courier New"/>
              </a:rPr>
              <a:t>w</a:t>
            </a:r>
            <a:r>
              <a:rPr sz="1100" b="0" i="0">
                <a:solidFill>
                  <a:srgbClr val="E6EDF3"/>
                </a:solidFill>
                <a:latin typeface="Courier New"/>
              </a:rPr>
              <a:t> </a:t>
            </a:r>
            <a:r>
              <a:rPr sz="1100" b="0" i="0">
                <a:solidFill>
                  <a:srgbClr val="FFA657"/>
                </a:solidFill>
                <a:latin typeface="Courier New"/>
              </a:rPr>
              <a:t>in</a:t>
            </a:r>
            <a:r>
              <a:rPr sz="1100" b="0" i="0">
                <a:solidFill>
                  <a:srgbClr val="E6EDF3"/>
                </a:solidFill>
                <a:latin typeface="Courier New"/>
              </a:rPr>
              <a:t> </a:t>
            </a:r>
            <a:r>
              <a:rPr sz="1100" b="0" i="0">
                <a:solidFill>
                  <a:srgbClr val="E6EDF3"/>
                </a:solidFill>
                <a:latin typeface="Courier New"/>
              </a:rPr>
              <a:t>words</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E6EDF3"/>
                </a:solidFill>
                <a:latin typeface="Courier New"/>
              </a:rPr>
              <a:t>groups</a:t>
            </a:r>
            <a:r>
              <a:rPr sz="1100" b="0" i="0">
                <a:solidFill>
                  <a:srgbClr val="E6EDF3"/>
                </a:solidFill>
                <a:latin typeface="Courier New"/>
              </a:rPr>
              <a:t>.</a:t>
            </a:r>
            <a:r>
              <a:rPr sz="1100" b="0" i="0">
                <a:solidFill>
                  <a:srgbClr val="E6EDF3"/>
                </a:solidFill>
                <a:latin typeface="Courier New"/>
              </a:rPr>
              <a:t>setdefault</a:t>
            </a:r>
            <a:r>
              <a:rPr sz="1100" b="0" i="0">
                <a:solidFill>
                  <a:srgbClr val="E6EDF3"/>
                </a:solidFill>
                <a:latin typeface="Courier New"/>
              </a:rPr>
              <a:t>(</a:t>
            </a:r>
            <a:r>
              <a:rPr sz="1100" b="0" i="0">
                <a:solidFill>
                  <a:srgbClr val="E6EDF3"/>
                </a:solidFill>
                <a:latin typeface="Courier New"/>
              </a:rPr>
              <a:t>w</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E6EDF3"/>
                </a:solidFill>
                <a:latin typeface="Courier New"/>
              </a:rPr>
              <a:t>w</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groups</a:t>
            </a:r>
            <a:r>
              <a:rPr sz="1100" b="0" i="0">
                <a:solidFill>
                  <a:srgbClr val="E6EDF3"/>
                </a:solidFill>
                <a:latin typeface="Courier New"/>
              </a:rPr>
              <a:t>)</a:t>
            </a:r>
          </a:p>
        </p:txBody>
      </p:sp>
      <p:sp>
        <p:nvSpPr>
          <p:cNvPr id="9" name="explanation"/>
          <p:cNvSpPr/>
          <p:nvPr/>
        </p:nvSpPr>
        <p:spPr>
          <a:xfrm>
            <a:off x="5148072" y="1633728"/>
            <a:ext cx="3584448" cy="621029"/>
          </a:xfrm>
          <a:prstGeom prst="roundRect">
            <a:avLst>
              <a:gd name="adj" fmla="val 1177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setdefault() creates the list for a letter once; append() then adds the word.</a:t>
            </a:r>
          </a:p>
        </p:txBody>
      </p:sp>
      <p:sp>
        <p:nvSpPr>
          <p:cNvPr id="10" name="code"/>
          <p:cNvSpPr/>
          <p:nvPr/>
        </p:nvSpPr>
        <p:spPr>
          <a:xfrm>
            <a:off x="365760" y="2309621"/>
            <a:ext cx="4800600" cy="961898"/>
          </a:xfrm>
          <a:prstGeom prst="roundRect">
            <a:avLst>
              <a:gd name="adj" fmla="val 760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from</a:t>
            </a:r>
            <a:r>
              <a:rPr sz="1100" b="0" i="0">
                <a:solidFill>
                  <a:srgbClr val="E6EDF3"/>
                </a:solidFill>
                <a:latin typeface="Courier New"/>
              </a:rPr>
              <a:t> </a:t>
            </a:r>
            <a:r>
              <a:rPr sz="1100" b="0" i="0">
                <a:solidFill>
                  <a:srgbClr val="E6EDF3"/>
                </a:solidFill>
                <a:latin typeface="Courier New"/>
              </a:rPr>
              <a:t>collections</a:t>
            </a:r>
            <a:r>
              <a:rPr sz="1100" b="0" i="0">
                <a:solidFill>
                  <a:srgbClr val="E6EDF3"/>
                </a:solidFill>
                <a:latin typeface="Courier New"/>
              </a:rPr>
              <a:t> </a:t>
            </a:r>
            <a:r>
              <a:rPr sz="1100" b="0" i="0">
                <a:solidFill>
                  <a:srgbClr val="FFA657"/>
                </a:solidFill>
                <a:latin typeface="Courier New"/>
              </a:rPr>
              <a:t>import</a:t>
            </a:r>
            <a:r>
              <a:rPr sz="1100" b="0" i="0">
                <a:solidFill>
                  <a:srgbClr val="E6EDF3"/>
                </a:solidFill>
                <a:latin typeface="Courier New"/>
              </a:rPr>
              <a:t> </a:t>
            </a:r>
            <a:r>
              <a:rPr sz="1100" b="0" i="0">
                <a:solidFill>
                  <a:srgbClr val="E6EDF3"/>
                </a:solidFill>
                <a:latin typeface="Courier New"/>
              </a:rPr>
              <a:t>defaultdict</a:t>
            </a:r>
          </a:p>
          <a:p>
            <a:pPr algn="l"/>
            <a:r>
              <a:rPr sz="1100" b="0" i="0">
                <a:solidFill>
                  <a:srgbClr val="8A9B94"/>
                </a:solidFill>
                <a:latin typeface="Courier New"/>
              </a:rPr>
              <a:t>&gt;&gt;&gt; </a:t>
            </a:r>
            <a:r>
              <a:rPr sz="1100" b="0" i="0">
                <a:solidFill>
                  <a:srgbClr val="E6EDF3"/>
                </a:solidFill>
                <a:latin typeface="Courier New"/>
              </a:rPr>
              <a:t>g2</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defaultdict</a:t>
            </a:r>
            <a:r>
              <a:rPr sz="1100" b="0" i="0">
                <a:solidFill>
                  <a:srgbClr val="E6EDF3"/>
                </a:solidFill>
                <a:latin typeface="Courier New"/>
              </a:rPr>
              <a:t>(</a:t>
            </a:r>
            <a:r>
              <a:rPr sz="1100" b="0" i="0">
                <a:solidFill>
                  <a:srgbClr val="FFA657"/>
                </a:solidFill>
                <a:latin typeface="Courier New"/>
              </a:rPr>
              <a:t>list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for</a:t>
            </a:r>
            <a:r>
              <a:rPr sz="1100" b="0" i="0">
                <a:solidFill>
                  <a:srgbClr val="E6EDF3"/>
                </a:solidFill>
                <a:latin typeface="Courier New"/>
              </a:rPr>
              <a:t> </a:t>
            </a:r>
            <a:r>
              <a:rPr sz="1100" b="0" i="0">
                <a:solidFill>
                  <a:srgbClr val="E6EDF3"/>
                </a:solidFill>
                <a:latin typeface="Courier New"/>
              </a:rPr>
              <a:t>w</a:t>
            </a:r>
            <a:r>
              <a:rPr sz="1100" b="0" i="0">
                <a:solidFill>
                  <a:srgbClr val="E6EDF3"/>
                </a:solidFill>
                <a:latin typeface="Courier New"/>
              </a:rPr>
              <a:t> </a:t>
            </a:r>
            <a:r>
              <a:rPr sz="1100" b="0" i="0">
                <a:solidFill>
                  <a:srgbClr val="FFA657"/>
                </a:solidFill>
                <a:latin typeface="Courier New"/>
              </a:rPr>
              <a:t>in</a:t>
            </a:r>
            <a:r>
              <a:rPr sz="1100" b="0" i="0">
                <a:solidFill>
                  <a:srgbClr val="E6EDF3"/>
                </a:solidFill>
                <a:latin typeface="Courier New"/>
              </a:rPr>
              <a:t> </a:t>
            </a:r>
            <a:r>
              <a:rPr sz="1100" b="0" i="0">
                <a:solidFill>
                  <a:srgbClr val="E6EDF3"/>
                </a:solidFill>
                <a:latin typeface="Courier New"/>
              </a:rPr>
              <a:t>words</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E6EDF3"/>
                </a:solidFill>
                <a:latin typeface="Courier New"/>
              </a:rPr>
              <a:t>g2</a:t>
            </a:r>
            <a:r>
              <a:rPr sz="1100" b="0" i="0">
                <a:solidFill>
                  <a:srgbClr val="E6EDF3"/>
                </a:solidFill>
                <a:latin typeface="Courier New"/>
              </a:rPr>
              <a:t>[</a:t>
            </a:r>
            <a:r>
              <a:rPr sz="1100" b="0" i="0">
                <a:solidFill>
                  <a:srgbClr val="E6EDF3"/>
                </a:solidFill>
                <a:latin typeface="Courier New"/>
              </a:rPr>
              <a:t>w</a:t>
            </a:r>
            <a:r>
              <a:rPr sz="1100" b="0" i="0">
                <a:solidFill>
                  <a:srgbClr val="E6EDF3"/>
                </a:solidFill>
                <a:latin typeface="Courier New"/>
              </a:rPr>
              <a:t>[</a:t>
            </a:r>
            <a:r>
              <a:rPr sz="1100" b="0" i="0">
                <a:solidFill>
                  <a:srgbClr val="79C0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E6EDF3"/>
                </a:solidFill>
                <a:latin typeface="Courier New"/>
              </a:rPr>
              <a:t>w</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g2</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groups</a:t>
            </a:r>
            <a:r>
              <a:rPr sz="1100" b="0" i="0">
                <a:solidFill>
                  <a:srgbClr val="E6EDF3"/>
                </a:solidFill>
                <a:latin typeface="Courier New"/>
              </a:rPr>
              <a:t>)</a:t>
            </a:r>
          </a:p>
        </p:txBody>
      </p:sp>
      <p:sp>
        <p:nvSpPr>
          <p:cNvPr id="11" name="explanation"/>
          <p:cNvSpPr/>
          <p:nvPr/>
        </p:nvSpPr>
        <p:spPr>
          <a:xfrm>
            <a:off x="5148072" y="2309621"/>
            <a:ext cx="3584448" cy="961898"/>
          </a:xfrm>
          <a:prstGeom prst="roundRect">
            <a:avLst>
              <a:gd name="adj" fmla="val 760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defaultdict(list) creates the missing list by itself, with the same result.</a:t>
            </a:r>
          </a:p>
        </p:txBody>
      </p:sp>
      <p:sp>
        <p:nvSpPr>
          <p:cNvPr id="12" name="result label"/>
          <p:cNvSpPr txBox="1"/>
          <p:nvPr/>
        </p:nvSpPr>
        <p:spPr>
          <a:xfrm>
            <a:off x="365760" y="3353815"/>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key to value"/>
          <p:cNvGrpSpPr/>
          <p:nvPr/>
        </p:nvGrpSpPr>
        <p:grpSpPr>
          <a:xfrm>
            <a:off x="365760" y="3600703"/>
            <a:ext cx="4754879" cy="824992"/>
            <a:chOff x="365760" y="3600703"/>
            <a:chExt cx="4754879" cy="824992"/>
          </a:xfrm>
        </p:grpSpPr>
        <p:sp>
          <p:nvSpPr>
            <p:cNvPr id="14" name="Rounded Rectangle 13"/>
            <p:cNvSpPr/>
            <p:nvPr/>
          </p:nvSpPr>
          <p:spPr>
            <a:xfrm>
              <a:off x="365760" y="3600703"/>
              <a:ext cx="1806854" cy="232325"/>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00" b="1" i="0">
                  <a:solidFill>
                    <a:srgbClr val="FFFFFF"/>
                  </a:solidFill>
                  <a:latin typeface="Courier New"/>
                </a:rPr>
                <a:t>a</a:t>
              </a:r>
            </a:p>
          </p:txBody>
        </p:sp>
        <p:sp>
          <p:nvSpPr>
            <p:cNvPr id="15" name="Rounded Rectangle 14"/>
            <p:cNvSpPr/>
            <p:nvPr/>
          </p:nvSpPr>
          <p:spPr>
            <a:xfrm>
              <a:off x="2584094" y="3600703"/>
              <a:ext cx="2536545" cy="232325"/>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00" b="0" i="0">
                  <a:solidFill>
                    <a:srgbClr val="2B2622"/>
                  </a:solidFill>
                  <a:latin typeface="Courier New"/>
                </a:rPr>
                <a:t>['ant', 'ape']</a:t>
              </a:r>
            </a:p>
          </p:txBody>
        </p:sp>
        <p:cxnSp>
          <p:nvCxnSpPr>
            <p:cNvPr id="16" name="Connector 15"/>
            <p:cNvCxnSpPr/>
            <p:nvPr/>
          </p:nvCxnSpPr>
          <p:spPr>
            <a:xfrm>
              <a:off x="2172614" y="3716866"/>
              <a:ext cx="411480" cy="0"/>
            </a:xfrm>
            <a:prstGeom prst="line">
              <a:avLst/>
            </a:prstGeom>
            <a:ln w="25400">
              <a:solidFill>
                <a:srgbClr val="6E655C"/>
              </a:solidFill>
              <a:tailEnd type="triangle"/>
            </a:ln>
          </p:spPr>
        </p:cxnSp>
        <p:sp>
          <p:nvSpPr>
            <p:cNvPr id="17" name="Rounded Rectangle 16"/>
            <p:cNvSpPr/>
            <p:nvPr/>
          </p:nvSpPr>
          <p:spPr>
            <a:xfrm>
              <a:off x="365760" y="3897037"/>
              <a:ext cx="1806854" cy="232325"/>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00" b="1" i="0">
                  <a:solidFill>
                    <a:srgbClr val="FFFFFF"/>
                  </a:solidFill>
                  <a:latin typeface="Courier New"/>
                </a:rPr>
                <a:t>b</a:t>
              </a:r>
            </a:p>
          </p:txBody>
        </p:sp>
        <p:sp>
          <p:nvSpPr>
            <p:cNvPr id="18" name="Rounded Rectangle 17"/>
            <p:cNvSpPr/>
            <p:nvPr/>
          </p:nvSpPr>
          <p:spPr>
            <a:xfrm>
              <a:off x="2584094" y="3897037"/>
              <a:ext cx="2536545" cy="232325"/>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00" b="0" i="0">
                  <a:solidFill>
                    <a:srgbClr val="2B2622"/>
                  </a:solidFill>
                  <a:latin typeface="Courier New"/>
                </a:rPr>
                <a:t>['bee', 'bat']</a:t>
              </a:r>
            </a:p>
          </p:txBody>
        </p:sp>
        <p:cxnSp>
          <p:nvCxnSpPr>
            <p:cNvPr id="19" name="Connector 18"/>
            <p:cNvCxnSpPr/>
            <p:nvPr/>
          </p:nvCxnSpPr>
          <p:spPr>
            <a:xfrm>
              <a:off x="2172614" y="4013199"/>
              <a:ext cx="411480" cy="0"/>
            </a:xfrm>
            <a:prstGeom prst="line">
              <a:avLst/>
            </a:prstGeom>
            <a:ln w="25400">
              <a:solidFill>
                <a:srgbClr val="6E655C"/>
              </a:solidFill>
              <a:tailEnd type="triangle"/>
            </a:ln>
          </p:spPr>
        </p:cxnSp>
        <p:sp>
          <p:nvSpPr>
            <p:cNvPr id="20" name="Rounded Rectangle 19"/>
            <p:cNvSpPr/>
            <p:nvPr/>
          </p:nvSpPr>
          <p:spPr>
            <a:xfrm>
              <a:off x="365760" y="4193370"/>
              <a:ext cx="1806854" cy="232325"/>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00" b="1" i="0">
                  <a:solidFill>
                    <a:srgbClr val="FFFFFF"/>
                  </a:solidFill>
                  <a:latin typeface="Courier New"/>
                </a:rPr>
                <a:t>c</a:t>
              </a:r>
            </a:p>
          </p:txBody>
        </p:sp>
        <p:sp>
          <p:nvSpPr>
            <p:cNvPr id="21" name="Rounded Rectangle 20"/>
            <p:cNvSpPr/>
            <p:nvPr/>
          </p:nvSpPr>
          <p:spPr>
            <a:xfrm>
              <a:off x="2584094" y="4193370"/>
              <a:ext cx="2536545" cy="232325"/>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00" b="0" i="0">
                  <a:solidFill>
                    <a:srgbClr val="2B2622"/>
                  </a:solidFill>
                  <a:latin typeface="Courier New"/>
                </a:rPr>
                <a:t>['cat']</a:t>
              </a:r>
            </a:p>
          </p:txBody>
        </p:sp>
        <p:cxnSp>
          <p:nvCxnSpPr>
            <p:cNvPr id="22" name="Connector 21"/>
            <p:cNvCxnSpPr/>
            <p:nvPr/>
          </p:nvCxnSpPr>
          <p:spPr>
            <a:xfrm>
              <a:off x="2172614" y="4309533"/>
              <a:ext cx="411480" cy="0"/>
            </a:xfrm>
            <a:prstGeom prst="line">
              <a:avLst/>
            </a:prstGeom>
            <a:ln w="25400">
              <a:solidFill>
                <a:srgbClr val="6E655C"/>
              </a:solidFill>
              <a:tailEnd type="triangle"/>
            </a:ln>
          </p:spPr>
        </p:cxnSp>
      </p:grpSp>
      <p:graphicFrame>
        <p:nvGraphicFramePr>
          <p:cNvPr id="23" name="result table"/>
          <p:cNvGraphicFramePr>
            <a:graphicFrameLocks noGrp="1"/>
          </p:cNvGraphicFramePr>
          <p:nvPr/>
        </p:nvGraphicFramePr>
        <p:xfrm>
          <a:off x="5394960" y="3600703"/>
          <a:ext cx="3383279" cy="621792"/>
        </p:xfrm>
        <a:graphic>
          <a:graphicData uri="http://schemas.openxmlformats.org/drawingml/2006/table">
            <a:tbl>
              <a:tblPr firstRow="1" bandRow="1">
                <a:tableStyleId>{5C22544A-7EE6-4342-B048-85BDC9FD1C3A}</a:tableStyleId>
              </a:tblPr>
              <a:tblGrid>
                <a:gridCol w="2189181"/>
                <a:gridCol w="1194098"/>
              </a:tblGrid>
              <a:tr h="310896">
                <a:tc>
                  <a:txBody>
                    <a:bodyPr wrap="square"/>
                    <a:lstStyle/>
                    <a:p>
                      <a:r>
                        <a:rPr sz="1200" b="1">
                          <a:solidFill>
                            <a:srgbClr val="FFFFFF"/>
                          </a:solidFill>
                          <a:latin typeface="Calibri"/>
                        </a:rPr>
                        <a:t>Is g2 == groups?</a:t>
                      </a:r>
                    </a:p>
                  </a:txBody>
                  <a:tcPr marL="64008" marR="64008" marT="18288" marB="18288" anchor="ctr">
                    <a:solidFill>
                      <a:srgbClr val="2B2622"/>
                    </a:solidFill>
                  </a:tcPr>
                </a:tc>
                <a:tc>
                  <a:txBody>
                    <a:bodyPr wrap="square"/>
                    <a:lstStyle/>
                    <a:p>
                      <a:r>
                        <a:rPr sz="1200" b="1">
                          <a:solidFill>
                            <a:srgbClr val="FFFFFF"/>
                          </a:solidFill>
                          <a:latin typeface="Calibri"/>
                        </a:rPr>
                        <a:t>Printed</a:t>
                      </a:r>
                    </a:p>
                  </a:txBody>
                  <a:tcPr marL="64008" marR="64008" marT="18288" marB="18288" anchor="ctr">
                    <a:solidFill>
                      <a:srgbClr val="2B2622"/>
                    </a:solidFill>
                  </a:tcPr>
                </a:tc>
              </a:tr>
              <a:tr h="310896">
                <a:tc>
                  <a:txBody>
                    <a:bodyPr wrap="square"/>
                    <a:lstStyle/>
                    <a:p>
                      <a:r>
                        <a:rPr sz="1200" b="0">
                          <a:solidFill>
                            <a:srgbClr val="2B2622"/>
                          </a:solidFill>
                          <a:latin typeface="Calibri"/>
                        </a:rPr>
                        <a:t>defaultdict result</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bl>
          </a:graphicData>
        </a:graphic>
      </p:graphicFrame>
      <p:sp>
        <p:nvSpPr>
          <p:cNvPr id="24"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setdefault() and defaultdict both create the missing list for you.</a:t>
            </a:r>
          </a:p>
        </p:txBody>
      </p:sp>
      <p:sp>
        <p:nvSpPr>
          <p:cNvPr id="2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24 / 48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programs that remember</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Two programs and the two calls that stop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birthdays.py</a:t>
            </a:r>
          </a:p>
        </p:txBody>
      </p:sp>
      <p:sp>
        <p:nvSpPr>
          <p:cNvPr id="6" name="everyday card"/>
          <p:cNvSpPr/>
          <p:nvPr/>
        </p:nvSpPr>
        <p:spPr>
          <a:xfrm>
            <a:off x="457200" y="1170432"/>
            <a:ext cx="4023360" cy="1051560"/>
          </a:xfrm>
          <a:prstGeom prst="roundRect">
            <a:avLst>
              <a:gd name="adj" fmla="val 6956"/>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birthdays.py</a:t>
            </a:r>
          </a:p>
          <a:p>
            <a:pPr algn="l"/>
            <a:r>
              <a:rPr sz="1300" b="0" i="0">
                <a:solidFill>
                  <a:srgbClr val="2B2622"/>
                </a:solidFill>
                <a:latin typeface="Calibri"/>
              </a:rPr>
              <a:t>A pocket diary that learns a new friend's date the first time you ask.</a:t>
            </a:r>
          </a:p>
        </p:txBody>
      </p:sp>
      <p:sp>
        <p:nvSpPr>
          <p:cNvPr id="7" name="card accent"/>
          <p:cNvSpPr/>
          <p:nvPr/>
        </p:nvSpPr>
        <p:spPr>
          <a:xfrm>
            <a:off x="457200" y="1170432"/>
            <a:ext cx="64008" cy="1051560"/>
          </a:xfrm>
          <a:prstGeom prst="roundRect">
            <a:avLst>
              <a:gd name="adj" fmla="val 50000"/>
            </a:avLst>
          </a:prstGeom>
          <a:solidFill>
            <a:srgbClr val="D97A14"/>
          </a:solidFill>
          <a:ln>
            <a:solidFill>
              <a:srgbClr val="D97A14"/>
            </a:solidFill>
          </a:ln>
        </p:spPr>
        <p:txBody>
          <a:bodyPr rtlCol="0" anchor="ctr"/>
          <a:lstStyle/>
          <a:p>
            <a:pPr algn="ctr"/>
          </a:p>
        </p:txBody>
      </p:sp>
      <p:sp>
        <p:nvSpPr>
          <p:cNvPr id="8" name="everyday card"/>
          <p:cNvSpPr/>
          <p:nvPr/>
        </p:nvSpPr>
        <p:spPr>
          <a:xfrm>
            <a:off x="4663440" y="1170432"/>
            <a:ext cx="4023360" cy="1051560"/>
          </a:xfrm>
          <a:prstGeom prst="roundRect">
            <a:avLst>
              <a:gd name="adj" fmla="val 6956"/>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characterCount.py</a:t>
            </a:r>
          </a:p>
          <a:p>
            <a:pPr algn="l"/>
            <a:r>
              <a:rPr sz="1300" b="0" i="0">
                <a:solidFill>
                  <a:srgbClr val="2B2622"/>
                </a:solidFill>
                <a:latin typeface="Calibri"/>
              </a:rPr>
              <a:t>Tally marks on paper: one stroke per sighting, one row per character.</a:t>
            </a:r>
          </a:p>
        </p:txBody>
      </p:sp>
      <p:sp>
        <p:nvSpPr>
          <p:cNvPr id="9" name="card accent"/>
          <p:cNvSpPr/>
          <p:nvPr/>
        </p:nvSpPr>
        <p:spPr>
          <a:xfrm>
            <a:off x="4663440" y="1170432"/>
            <a:ext cx="64008" cy="1051560"/>
          </a:xfrm>
          <a:prstGeom prst="roundRect">
            <a:avLst>
              <a:gd name="adj" fmla="val 50000"/>
            </a:avLst>
          </a:prstGeom>
          <a:solidFill>
            <a:srgbClr val="D97A14"/>
          </a:solidFill>
          <a:ln>
            <a:solidFill>
              <a:srgbClr val="D97A14"/>
            </a:solidFill>
          </a:ln>
        </p:spPr>
        <p:txBody>
          <a:bodyPr rtlCol="0" anchor="ctr"/>
          <a:lstStyle/>
          <a:p>
            <a:pPr algn="ctr"/>
          </a:p>
        </p:txBody>
      </p:sp>
      <p:sp>
        <p:nvSpPr>
          <p:cNvPr id="10" name="everyday card"/>
          <p:cNvSpPr/>
          <p:nvPr/>
        </p:nvSpPr>
        <p:spPr>
          <a:xfrm>
            <a:off x="457200" y="2331720"/>
            <a:ext cx="4023360" cy="1051560"/>
          </a:xfrm>
          <a:prstGeom prst="roundRect">
            <a:avLst>
              <a:gd name="adj" fmla="val 6956"/>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input()</a:t>
            </a:r>
          </a:p>
          <a:p>
            <a:pPr algn="l"/>
            <a:r>
              <a:rPr sz="1300" b="0" i="0">
                <a:solidFill>
                  <a:srgbClr val="2B2622"/>
                </a:solidFill>
                <a:latin typeface="Calibri"/>
              </a:rPr>
              <a:t>A shop assistant who stops and waits at the counter until you answer.</a:t>
            </a:r>
          </a:p>
        </p:txBody>
      </p:sp>
      <p:sp>
        <p:nvSpPr>
          <p:cNvPr id="11" name="card accent"/>
          <p:cNvSpPr/>
          <p:nvPr/>
        </p:nvSpPr>
        <p:spPr>
          <a:xfrm>
            <a:off x="457200" y="2331720"/>
            <a:ext cx="64008" cy="1051560"/>
          </a:xfrm>
          <a:prstGeom prst="roundRect">
            <a:avLst>
              <a:gd name="adj" fmla="val 50000"/>
            </a:avLst>
          </a:prstGeom>
          <a:solidFill>
            <a:srgbClr val="D97A14"/>
          </a:solidFill>
          <a:ln>
            <a:solidFill>
              <a:srgbClr val="D97A14"/>
            </a:solidFill>
          </a:ln>
        </p:spPr>
        <p:txBody>
          <a:bodyPr rtlCol="0" anchor="ctr"/>
          <a:lstStyle/>
          <a:p>
            <a:pPr algn="ctr"/>
          </a:p>
        </p:txBody>
      </p:sp>
      <p:sp>
        <p:nvSpPr>
          <p:cNvPr id="12" name="everyday card"/>
          <p:cNvSpPr/>
          <p:nvPr/>
        </p:nvSpPr>
        <p:spPr>
          <a:xfrm>
            <a:off x="4663440" y="2331720"/>
            <a:ext cx="4023360" cy="1051560"/>
          </a:xfrm>
          <a:prstGeom prst="roundRect">
            <a:avLst>
              <a:gd name="adj" fmla="val 6956"/>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sys.exit()</a:t>
            </a:r>
          </a:p>
          <a:p>
            <a:pPr algn="l"/>
            <a:r>
              <a:rPr sz="1300" b="0" i="0">
                <a:solidFill>
                  <a:srgbClr val="2B2622"/>
                </a:solidFill>
                <a:latin typeface="Calibri"/>
              </a:rPr>
              <a:t>The fire door: you leave the building at once, whatever you were doing.</a:t>
            </a:r>
          </a:p>
        </p:txBody>
      </p:sp>
      <p:sp>
        <p:nvSpPr>
          <p:cNvPr id="13" name="card accent"/>
          <p:cNvSpPr/>
          <p:nvPr/>
        </p:nvSpPr>
        <p:spPr>
          <a:xfrm>
            <a:off x="4663440" y="2331720"/>
            <a:ext cx="64008" cy="1051560"/>
          </a:xfrm>
          <a:prstGeom prst="roundRect">
            <a:avLst>
              <a:gd name="adj" fmla="val 50000"/>
            </a:avLst>
          </a:prstGeom>
          <a:solidFill>
            <a:srgbClr val="D97A14"/>
          </a:solidFill>
          <a:ln>
            <a:solidFill>
              <a:srgbClr val="D97A14"/>
            </a:solidFill>
          </a:ln>
        </p:spPr>
        <p:txBody>
          <a:bodyPr rtlCol="0" anchor="ctr"/>
          <a:lstStyle/>
          <a:p>
            <a:pPr algn="ct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25 / 48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4: Structuring data</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Model a real thing with dictionaries and lists</a:t>
            </a:r>
          </a:p>
        </p:txBody>
      </p:sp>
      <p:sp>
        <p:nvSpPr>
          <p:cNvPr id="4" name="concept row"/>
          <p:cNvSpPr/>
          <p:nvPr/>
        </p:nvSpPr>
        <p:spPr>
          <a:xfrm>
            <a:off x="457200" y="1280160"/>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5" name="concept accent"/>
          <p:cNvSpPr/>
          <p:nvPr/>
        </p:nvSpPr>
        <p:spPr>
          <a:xfrm>
            <a:off x="457200" y="1280160"/>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6" name="concept"/>
          <p:cNvSpPr txBox="1"/>
          <p:nvPr/>
        </p:nvSpPr>
        <p:spPr>
          <a:xfrm>
            <a:off x="594360" y="1280160"/>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Data model</a:t>
            </a:r>
          </a:p>
        </p:txBody>
      </p:sp>
      <p:sp>
        <p:nvSpPr>
          <p:cNvPr id="7" name="concept meaning"/>
          <p:cNvSpPr txBox="1"/>
          <p:nvPr/>
        </p:nvSpPr>
        <p:spPr>
          <a:xfrm>
            <a:off x="2286000" y="1280160"/>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Decide what a real thing must record.</a:t>
            </a:r>
          </a:p>
        </p:txBody>
      </p:sp>
      <p:sp>
        <p:nvSpPr>
          <p:cNvPr id="8" name="concept row"/>
          <p:cNvSpPr/>
          <p:nvPr/>
        </p:nvSpPr>
        <p:spPr>
          <a:xfrm>
            <a:off x="457200" y="2029967"/>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9" name="concept accent"/>
          <p:cNvSpPr/>
          <p:nvPr/>
        </p:nvSpPr>
        <p:spPr>
          <a:xfrm>
            <a:off x="457200" y="2029967"/>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0" name="concept"/>
          <p:cNvSpPr txBox="1"/>
          <p:nvPr/>
        </p:nvSpPr>
        <p:spPr>
          <a:xfrm>
            <a:off x="594360" y="2029967"/>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Chessboard</a:t>
            </a:r>
          </a:p>
        </p:txBody>
      </p:sp>
      <p:sp>
        <p:nvSpPr>
          <p:cNvPr id="11" name="concept meaning"/>
          <p:cNvSpPr txBox="1"/>
          <p:nvPr/>
        </p:nvSpPr>
        <p:spPr>
          <a:xfrm>
            <a:off x="2286000" y="2029967"/>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Squares are keys and pieces are values.</a:t>
            </a:r>
          </a:p>
        </p:txBody>
      </p:sp>
      <p:sp>
        <p:nvSpPr>
          <p:cNvPr id="12" name="concept row"/>
          <p:cNvSpPr/>
          <p:nvPr/>
        </p:nvSpPr>
        <p:spPr>
          <a:xfrm>
            <a:off x="457200" y="2779776"/>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13" name="concept accent"/>
          <p:cNvSpPr/>
          <p:nvPr/>
        </p:nvSpPr>
        <p:spPr>
          <a:xfrm>
            <a:off x="457200" y="2779776"/>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4" name="concept"/>
          <p:cNvSpPr txBox="1"/>
          <p:nvPr/>
        </p:nvSpPr>
        <p:spPr>
          <a:xfrm>
            <a:off x="594360" y="2779776"/>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Nested records</a:t>
            </a:r>
          </a:p>
        </p:txBody>
      </p:sp>
      <p:sp>
        <p:nvSpPr>
          <p:cNvPr id="15" name="concept meaning"/>
          <p:cNvSpPr txBox="1"/>
          <p:nvPr/>
        </p:nvSpPr>
        <p:spPr>
          <a:xfrm>
            <a:off x="2286000" y="2779776"/>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A dictionary inside a dictionary holds records.</a:t>
            </a:r>
          </a:p>
        </p:txBody>
      </p:sp>
      <p:sp>
        <p:nvSpPr>
          <p:cNvPr id="16" name="concept row"/>
          <p:cNvSpPr/>
          <p:nvPr/>
        </p:nvSpPr>
        <p:spPr>
          <a:xfrm>
            <a:off x="457200" y="3529584"/>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17" name="concept accent"/>
          <p:cNvSpPr/>
          <p:nvPr/>
        </p:nvSpPr>
        <p:spPr>
          <a:xfrm>
            <a:off x="457200" y="3529584"/>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8" name="concept"/>
          <p:cNvSpPr txBox="1"/>
          <p:nvPr/>
        </p:nvSpPr>
        <p:spPr>
          <a:xfrm>
            <a:off x="594360" y="3529584"/>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Inventory and loot</a:t>
            </a:r>
          </a:p>
        </p:txBody>
      </p:sp>
      <p:sp>
        <p:nvSpPr>
          <p:cNvPr id="19" name="concept meaning"/>
          <p:cNvSpPr txBox="1"/>
          <p:nvPr/>
        </p:nvSpPr>
        <p:spPr>
          <a:xfrm>
            <a:off x="2286000" y="3529584"/>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Counts per item, built from lists.</a:t>
            </a:r>
          </a:p>
        </p:txBody>
      </p:sp>
      <p:graphicFrame>
        <p:nvGraphicFramePr>
          <p:cNvPr id="20" name="visual: how the concepts fit"/>
          <p:cNvGraphicFramePr>
            <a:graphicFrameLocks noGrp="1"/>
          </p:cNvGraphicFramePr>
          <p:nvPr/>
        </p:nvGraphicFramePr>
        <p:xfrm>
          <a:off x="6172200" y="1280160"/>
          <a:ext cx="2514600" cy="3200400"/>
        </p:xfrm>
        <a:graphic>
          <a:graphicData uri="http://schemas.openxmlformats.org/drawingml/2006/table">
            <a:tbl>
              <a:tblPr firstRow="1" bandRow="1">
                <a:tableStyleId>{5C22544A-7EE6-4342-B048-85BDC9FD1C3A}</a:tableStyleId>
              </a:tblPr>
              <a:tblGrid>
                <a:gridCol w="2514600"/>
              </a:tblGrid>
              <a:tr h="640080">
                <a:tc>
                  <a:txBody>
                    <a:bodyPr wrap="square"/>
                    <a:lstStyle/>
                    <a:p>
                      <a:r>
                        <a:rPr sz="1300" b="1">
                          <a:solidFill>
                            <a:srgbClr val="FFFFFF"/>
                          </a:solidFill>
                          <a:latin typeface="Calibri"/>
                        </a:rPr>
                        <a:t>How they fit together</a:t>
                      </a:r>
                    </a:p>
                  </a:txBody>
                  <a:tcPr marL="64008" marR="64008" marT="18288" marB="18288" anchor="ctr">
                    <a:solidFill>
                      <a:srgbClr val="2B2622"/>
                    </a:solidFill>
                  </a:tcPr>
                </a:tc>
              </a:tr>
              <a:tr h="640080">
                <a:tc>
                  <a:txBody>
                    <a:bodyPr wrap="square"/>
                    <a:lstStyle/>
                    <a:p>
                      <a:r>
                        <a:rPr sz="1300" b="0">
                          <a:solidFill>
                            <a:srgbClr val="2B2622"/>
                          </a:solidFill>
                          <a:latin typeface="Calibri"/>
                        </a:rPr>
                        <a:t>1.  Model the thing</a:t>
                      </a:r>
                    </a:p>
                  </a:txBody>
                  <a:tcPr marL="64008" marR="64008" marT="18288" marB="18288" anchor="ctr">
                    <a:solidFill>
                      <a:srgbClr val="F2ECE1"/>
                    </a:solidFill>
                  </a:tcPr>
                </a:tc>
              </a:tr>
              <a:tr h="640080">
                <a:tc>
                  <a:txBody>
                    <a:bodyPr wrap="square"/>
                    <a:lstStyle/>
                    <a:p>
                      <a:r>
                        <a:rPr sz="1300" b="0">
                          <a:solidFill>
                            <a:srgbClr val="2B2622"/>
                          </a:solidFill>
                          <a:latin typeface="Calibri"/>
                        </a:rPr>
                        <a:t>2.  Print a view of it</a:t>
                      </a:r>
                    </a:p>
                  </a:txBody>
                  <a:tcPr marL="64008" marR="64008" marT="18288" marB="18288" anchor="ctr">
                    <a:solidFill>
                      <a:srgbClr val="FFFFFF"/>
                    </a:solidFill>
                  </a:tcPr>
                </a:tc>
              </a:tr>
              <a:tr h="640080">
                <a:tc>
                  <a:txBody>
                    <a:bodyPr wrap="square"/>
                    <a:lstStyle/>
                    <a:p>
                      <a:r>
                        <a:rPr sz="1300" b="0">
                          <a:solidFill>
                            <a:srgbClr val="2B2622"/>
                          </a:solidFill>
                          <a:latin typeface="Calibri"/>
                        </a:rPr>
                        <a:t>3.  Nest the records</a:t>
                      </a:r>
                    </a:p>
                  </a:txBody>
                  <a:tcPr marL="64008" marR="64008" marT="18288" marB="18288" anchor="ctr">
                    <a:solidFill>
                      <a:srgbClr val="F2ECE1"/>
                    </a:solidFill>
                  </a:tcPr>
                </a:tc>
              </a:tr>
              <a:tr h="640080">
                <a:tc>
                  <a:txBody>
                    <a:bodyPr wrap="square"/>
                    <a:lstStyle/>
                    <a:p>
                      <a:r>
                        <a:rPr sz="1300" b="0">
                          <a:solidFill>
                            <a:srgbClr val="2B2622"/>
                          </a:solidFill>
                          <a:latin typeface="Calibri"/>
                        </a:rPr>
                        <a:t>4.  Total and convert</a:t>
                      </a:r>
                    </a:p>
                  </a:txBody>
                  <a:tcPr marL="64008" marR="64008" marT="18288" marB="18288" anchor="ctr">
                    <a:solidFill>
                      <a:srgbClr val="FFFFFF"/>
                    </a:solidFill>
                  </a:tcPr>
                </a:tc>
              </a:tr>
            </a:tbl>
          </a:graphicData>
        </a:graphic>
      </p:graphicFrame>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26 / 48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Code 14: Modelling a chessboard</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square is a key; the piece is the value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Model Real-World Things Using Data Structures</a:t>
            </a:r>
          </a:p>
        </p:txBody>
      </p:sp>
      <p:sp>
        <p:nvSpPr>
          <p:cNvPr id="6" name="code"/>
          <p:cNvSpPr/>
          <p:nvPr/>
        </p:nvSpPr>
        <p:spPr>
          <a:xfrm>
            <a:off x="365760" y="1097280"/>
            <a:ext cx="4800600" cy="690753"/>
          </a:xfrm>
          <a:prstGeom prst="roundRect">
            <a:avLst>
              <a:gd name="adj" fmla="val 10590"/>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board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EE787"/>
                </a:solidFill>
                <a:latin typeface="Courier New"/>
              </a:rPr>
              <a:t>'h1'</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'bK'</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'c6'</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'wQ'</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'g2'</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'bB'</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7EE787"/>
                </a:solidFill>
                <a:latin typeface="Courier New"/>
              </a:rPr>
              <a:t>'h5'</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'bQ'</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'e3'</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'wK'</a:t>
            </a:r>
            <a:r>
              <a:rPr sz="1200" b="0" i="0">
                <a:solidFill>
                  <a:srgbClr val="E6EDF3"/>
                </a:solidFill>
                <a:latin typeface="Courier New"/>
              </a:rPr>
              <a:t>}</a:t>
            </a:r>
          </a:p>
        </p:txBody>
      </p:sp>
      <p:sp>
        <p:nvSpPr>
          <p:cNvPr id="7" name="explanation"/>
          <p:cNvSpPr/>
          <p:nvPr/>
        </p:nvSpPr>
        <p:spPr>
          <a:xfrm>
            <a:off x="5148072" y="1097280"/>
            <a:ext cx="3584448" cy="690753"/>
          </a:xfrm>
          <a:prstGeom prst="roundRect">
            <a:avLst>
              <a:gd name="adj" fmla="val 10590"/>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Each occupied square is a key; the piece is its value, a colour letter then a piece letter.</a:t>
            </a:r>
          </a:p>
        </p:txBody>
      </p:sp>
      <p:sp>
        <p:nvSpPr>
          <p:cNvPr id="8" name="code"/>
          <p:cNvSpPr/>
          <p:nvPr/>
        </p:nvSpPr>
        <p:spPr>
          <a:xfrm>
            <a:off x="365760" y="1842897"/>
            <a:ext cx="4800600" cy="497077"/>
          </a:xfrm>
          <a:prstGeom prst="roundRect">
            <a:avLst>
              <a:gd name="adj" fmla="val 14716"/>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7EE787"/>
                </a:solidFill>
                <a:latin typeface="Courier New"/>
              </a:rPr>
              <a:t>'c6'</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E6EDF3"/>
                </a:solidFill>
                <a:latin typeface="Courier New"/>
              </a:rPr>
              <a:t>board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board</a:t>
            </a:r>
            <a:r>
              <a:rPr sz="1200" b="0" i="0">
                <a:solidFill>
                  <a:srgbClr val="E6EDF3"/>
                </a:solidFill>
                <a:latin typeface="Courier New"/>
              </a:rPr>
              <a:t>.</a:t>
            </a:r>
            <a:r>
              <a:rPr sz="1200" b="0" i="0">
                <a:solidFill>
                  <a:srgbClr val="E6EDF3"/>
                </a:solidFill>
                <a:latin typeface="Courier New"/>
              </a:rPr>
              <a:t>get</a:t>
            </a:r>
            <a:r>
              <a:rPr sz="1200" b="0" i="0">
                <a:solidFill>
                  <a:srgbClr val="E6EDF3"/>
                </a:solidFill>
                <a:latin typeface="Courier New"/>
              </a:rPr>
              <a:t>(</a:t>
            </a:r>
            <a:r>
              <a:rPr sz="1200" b="0" i="0">
                <a:solidFill>
                  <a:srgbClr val="7EE787"/>
                </a:solidFill>
                <a:latin typeface="Courier New"/>
              </a:rPr>
              <a:t>'a1'</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'empty'</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sorted</a:t>
            </a:r>
            <a:r>
              <a:rPr sz="1200" b="0" i="0">
                <a:solidFill>
                  <a:srgbClr val="E6EDF3"/>
                </a:solidFill>
                <a:latin typeface="Courier New"/>
              </a:rPr>
              <a:t>(</a:t>
            </a:r>
            <a:r>
              <a:rPr sz="1200" b="0" i="0">
                <a:solidFill>
                  <a:srgbClr val="E6EDF3"/>
                </a:solidFill>
                <a:latin typeface="Courier New"/>
              </a:rPr>
              <a:t>board</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board</a:t>
            </a:r>
            <a:r>
              <a:rPr sz="1200" b="0" i="0">
                <a:solidFill>
                  <a:srgbClr val="E6EDF3"/>
                </a:solidFill>
                <a:latin typeface="Courier New"/>
              </a:rPr>
              <a:t>)</a:t>
            </a:r>
            <a:r>
              <a:rPr sz="1200" b="0" i="0">
                <a:solidFill>
                  <a:srgbClr val="E6EDF3"/>
                </a:solidFill>
                <a:latin typeface="Courier New"/>
              </a:rPr>
              <a:t>)</a:t>
            </a:r>
          </a:p>
        </p:txBody>
      </p:sp>
      <p:sp>
        <p:nvSpPr>
          <p:cNvPr id="9" name="explanation"/>
          <p:cNvSpPr/>
          <p:nvPr/>
        </p:nvSpPr>
        <p:spPr>
          <a:xfrm>
            <a:off x="5148072" y="1842897"/>
            <a:ext cx="3584448" cy="497077"/>
          </a:xfrm>
          <a:prstGeom prst="roundRect">
            <a:avLst>
              <a:gd name="adj" fmla="val 14716"/>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Ask about squares: c6 is occupied, a1 is empty, and only five keys exist.</a:t>
            </a:r>
          </a:p>
        </p:txBody>
      </p:sp>
      <p:sp>
        <p:nvSpPr>
          <p:cNvPr id="10" name="result label"/>
          <p:cNvSpPr txBox="1"/>
          <p:nvPr/>
        </p:nvSpPr>
        <p:spPr>
          <a:xfrm>
            <a:off x="365760" y="2422271"/>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1" name="visual: key to value"/>
          <p:cNvGrpSpPr/>
          <p:nvPr/>
        </p:nvGrpSpPr>
        <p:grpSpPr>
          <a:xfrm>
            <a:off x="365760" y="2669159"/>
            <a:ext cx="2743200" cy="1756535"/>
            <a:chOff x="365760" y="2669159"/>
            <a:chExt cx="2743200" cy="1756535"/>
          </a:xfrm>
        </p:grpSpPr>
        <p:sp>
          <p:nvSpPr>
            <p:cNvPr id="12" name="Rounded Rectangle 11"/>
            <p:cNvSpPr/>
            <p:nvPr/>
          </p:nvSpPr>
          <p:spPr>
            <a:xfrm>
              <a:off x="365760" y="2669159"/>
              <a:ext cx="1042416" cy="3001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000" b="1" i="0">
                  <a:solidFill>
                    <a:srgbClr val="FFFFFF"/>
                  </a:solidFill>
                  <a:latin typeface="Courier New"/>
                </a:rPr>
                <a:t>h1</a:t>
              </a:r>
            </a:p>
          </p:txBody>
        </p:sp>
        <p:sp>
          <p:nvSpPr>
            <p:cNvPr id="13" name="Rounded Rectangle 12"/>
            <p:cNvSpPr/>
            <p:nvPr/>
          </p:nvSpPr>
          <p:spPr>
            <a:xfrm>
              <a:off x="1819656" y="2669159"/>
              <a:ext cx="1289304" cy="3001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000" b="0" i="0">
                  <a:solidFill>
                    <a:srgbClr val="2B2622"/>
                  </a:solidFill>
                  <a:latin typeface="Courier New"/>
                </a:rPr>
                <a:t>bK</a:t>
              </a:r>
            </a:p>
          </p:txBody>
        </p:sp>
        <p:cxnSp>
          <p:nvCxnSpPr>
            <p:cNvPr id="14" name="Connector 13"/>
            <p:cNvCxnSpPr/>
            <p:nvPr/>
          </p:nvCxnSpPr>
          <p:spPr>
            <a:xfrm>
              <a:off x="1408176" y="2819209"/>
              <a:ext cx="411480" cy="0"/>
            </a:xfrm>
            <a:prstGeom prst="line">
              <a:avLst/>
            </a:prstGeom>
            <a:ln w="25400">
              <a:solidFill>
                <a:srgbClr val="6E655C"/>
              </a:solidFill>
              <a:tailEnd type="triangle"/>
            </a:ln>
          </p:spPr>
        </p:cxnSp>
        <p:sp>
          <p:nvSpPr>
            <p:cNvPr id="15" name="Rounded Rectangle 14"/>
            <p:cNvSpPr/>
            <p:nvPr/>
          </p:nvSpPr>
          <p:spPr>
            <a:xfrm>
              <a:off x="365760" y="3033268"/>
              <a:ext cx="1042416" cy="3001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000" b="1" i="0">
                  <a:solidFill>
                    <a:srgbClr val="FFFFFF"/>
                  </a:solidFill>
                  <a:latin typeface="Courier New"/>
                </a:rPr>
                <a:t>c6</a:t>
              </a:r>
            </a:p>
          </p:txBody>
        </p:sp>
        <p:sp>
          <p:nvSpPr>
            <p:cNvPr id="16" name="Rounded Rectangle 15"/>
            <p:cNvSpPr/>
            <p:nvPr/>
          </p:nvSpPr>
          <p:spPr>
            <a:xfrm>
              <a:off x="1819656" y="3033268"/>
              <a:ext cx="1289304" cy="3001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000" b="0" i="0">
                  <a:solidFill>
                    <a:srgbClr val="2B2622"/>
                  </a:solidFill>
                  <a:latin typeface="Courier New"/>
                </a:rPr>
                <a:t>wQ</a:t>
              </a:r>
            </a:p>
          </p:txBody>
        </p:sp>
        <p:cxnSp>
          <p:nvCxnSpPr>
            <p:cNvPr id="17" name="Connector 16"/>
            <p:cNvCxnSpPr/>
            <p:nvPr/>
          </p:nvCxnSpPr>
          <p:spPr>
            <a:xfrm>
              <a:off x="1408176" y="3183318"/>
              <a:ext cx="411480" cy="0"/>
            </a:xfrm>
            <a:prstGeom prst="line">
              <a:avLst/>
            </a:prstGeom>
            <a:ln w="25400">
              <a:solidFill>
                <a:srgbClr val="6E655C"/>
              </a:solidFill>
              <a:tailEnd type="triangle"/>
            </a:ln>
          </p:spPr>
        </p:cxnSp>
        <p:sp>
          <p:nvSpPr>
            <p:cNvPr id="18" name="Rounded Rectangle 17"/>
            <p:cNvSpPr/>
            <p:nvPr/>
          </p:nvSpPr>
          <p:spPr>
            <a:xfrm>
              <a:off x="365760" y="3397377"/>
              <a:ext cx="1042416" cy="3001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000" b="1" i="0">
                  <a:solidFill>
                    <a:srgbClr val="FFFFFF"/>
                  </a:solidFill>
                  <a:latin typeface="Courier New"/>
                </a:rPr>
                <a:t>g2</a:t>
              </a:r>
            </a:p>
          </p:txBody>
        </p:sp>
        <p:sp>
          <p:nvSpPr>
            <p:cNvPr id="19" name="Rounded Rectangle 18"/>
            <p:cNvSpPr/>
            <p:nvPr/>
          </p:nvSpPr>
          <p:spPr>
            <a:xfrm>
              <a:off x="1819656" y="3397377"/>
              <a:ext cx="1289304" cy="3001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000" b="0" i="0">
                  <a:solidFill>
                    <a:srgbClr val="2B2622"/>
                  </a:solidFill>
                  <a:latin typeface="Courier New"/>
                </a:rPr>
                <a:t>bB</a:t>
              </a:r>
            </a:p>
          </p:txBody>
        </p:sp>
        <p:cxnSp>
          <p:nvCxnSpPr>
            <p:cNvPr id="20" name="Connector 19"/>
            <p:cNvCxnSpPr/>
            <p:nvPr/>
          </p:nvCxnSpPr>
          <p:spPr>
            <a:xfrm>
              <a:off x="1408176" y="3547427"/>
              <a:ext cx="411480" cy="0"/>
            </a:xfrm>
            <a:prstGeom prst="line">
              <a:avLst/>
            </a:prstGeom>
            <a:ln w="25400">
              <a:solidFill>
                <a:srgbClr val="6E655C"/>
              </a:solidFill>
              <a:tailEnd type="triangle"/>
            </a:ln>
          </p:spPr>
        </p:cxnSp>
        <p:sp>
          <p:nvSpPr>
            <p:cNvPr id="21" name="Rounded Rectangle 20"/>
            <p:cNvSpPr/>
            <p:nvPr/>
          </p:nvSpPr>
          <p:spPr>
            <a:xfrm>
              <a:off x="365760" y="3761486"/>
              <a:ext cx="1042416" cy="3001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000" b="1" i="0">
                  <a:solidFill>
                    <a:srgbClr val="FFFFFF"/>
                  </a:solidFill>
                  <a:latin typeface="Courier New"/>
                </a:rPr>
                <a:t>h5</a:t>
              </a:r>
            </a:p>
          </p:txBody>
        </p:sp>
        <p:sp>
          <p:nvSpPr>
            <p:cNvPr id="22" name="Rounded Rectangle 21"/>
            <p:cNvSpPr/>
            <p:nvPr/>
          </p:nvSpPr>
          <p:spPr>
            <a:xfrm>
              <a:off x="1819656" y="3761486"/>
              <a:ext cx="1289304" cy="3001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000" b="0" i="0">
                  <a:solidFill>
                    <a:srgbClr val="2B2622"/>
                  </a:solidFill>
                  <a:latin typeface="Courier New"/>
                </a:rPr>
                <a:t>bQ</a:t>
              </a:r>
            </a:p>
          </p:txBody>
        </p:sp>
        <p:cxnSp>
          <p:nvCxnSpPr>
            <p:cNvPr id="23" name="Connector 22"/>
            <p:cNvCxnSpPr/>
            <p:nvPr/>
          </p:nvCxnSpPr>
          <p:spPr>
            <a:xfrm>
              <a:off x="1408176" y="3911536"/>
              <a:ext cx="411480" cy="0"/>
            </a:xfrm>
            <a:prstGeom prst="line">
              <a:avLst/>
            </a:prstGeom>
            <a:ln w="25400">
              <a:solidFill>
                <a:srgbClr val="6E655C"/>
              </a:solidFill>
              <a:tailEnd type="triangle"/>
            </a:ln>
          </p:spPr>
        </p:cxnSp>
        <p:sp>
          <p:nvSpPr>
            <p:cNvPr id="24" name="Rounded Rectangle 23"/>
            <p:cNvSpPr/>
            <p:nvPr/>
          </p:nvSpPr>
          <p:spPr>
            <a:xfrm>
              <a:off x="365760" y="4125594"/>
              <a:ext cx="1042416" cy="3001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000" b="1" i="0">
                  <a:solidFill>
                    <a:srgbClr val="FFFFFF"/>
                  </a:solidFill>
                  <a:latin typeface="Courier New"/>
                </a:rPr>
                <a:t>e3</a:t>
              </a:r>
            </a:p>
          </p:txBody>
        </p:sp>
        <p:sp>
          <p:nvSpPr>
            <p:cNvPr id="25" name="Rounded Rectangle 24"/>
            <p:cNvSpPr/>
            <p:nvPr/>
          </p:nvSpPr>
          <p:spPr>
            <a:xfrm>
              <a:off x="1819656" y="4125594"/>
              <a:ext cx="1289304" cy="3001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000" b="0" i="0">
                  <a:solidFill>
                    <a:srgbClr val="2B2622"/>
                  </a:solidFill>
                  <a:latin typeface="Courier New"/>
                </a:rPr>
                <a:t>wK</a:t>
              </a:r>
            </a:p>
          </p:txBody>
        </p:sp>
        <p:cxnSp>
          <p:nvCxnSpPr>
            <p:cNvPr id="26" name="Connector 25"/>
            <p:cNvCxnSpPr/>
            <p:nvPr/>
          </p:nvCxnSpPr>
          <p:spPr>
            <a:xfrm>
              <a:off x="1408176" y="4275645"/>
              <a:ext cx="411480" cy="0"/>
            </a:xfrm>
            <a:prstGeom prst="line">
              <a:avLst/>
            </a:prstGeom>
            <a:ln w="25400">
              <a:solidFill>
                <a:srgbClr val="6E655C"/>
              </a:solidFill>
              <a:tailEnd type="triangle"/>
            </a:ln>
          </p:spPr>
        </p:cxnSp>
      </p:grpSp>
      <p:graphicFrame>
        <p:nvGraphicFramePr>
          <p:cNvPr id="27" name="result table"/>
          <p:cNvGraphicFramePr>
            <a:graphicFrameLocks noGrp="1"/>
          </p:cNvGraphicFramePr>
          <p:nvPr/>
        </p:nvGraphicFramePr>
        <p:xfrm>
          <a:off x="3383279" y="2669159"/>
          <a:ext cx="4023360" cy="822960"/>
        </p:xfrm>
        <a:graphic>
          <a:graphicData uri="http://schemas.openxmlformats.org/drawingml/2006/table">
            <a:tbl>
              <a:tblPr firstRow="1" bandRow="1">
                <a:tableStyleId>{5C22544A-7EE6-4342-B048-85BDC9FD1C3A}</a:tableStyleId>
              </a:tblPr>
              <a:tblGrid>
                <a:gridCol w="2377440"/>
                <a:gridCol w="1645920"/>
              </a:tblGrid>
              <a:tr h="274320">
                <a:tc>
                  <a:txBody>
                    <a:bodyPr wrap="square"/>
                    <a:lstStyle/>
                    <a:p>
                      <a:r>
                        <a:rPr sz="1200" b="1">
                          <a:solidFill>
                            <a:srgbClr val="FFFFFF"/>
                          </a:solidFill>
                          <a:latin typeface="Calibri"/>
                        </a:rPr>
                        <a:t>Printed</a:t>
                      </a:r>
                    </a:p>
                  </a:txBody>
                  <a:tcPr marL="64008" marR="64008" marT="18288" marB="18288" anchor="ctr">
                    <a:solidFill>
                      <a:srgbClr val="2B2622"/>
                    </a:solidFill>
                  </a:tcPr>
                </a:tc>
                <a:tc>
                  <a:txBody>
                    <a:bodyPr wrap="square"/>
                    <a:lstStyle/>
                    <a:p>
                      <a:r>
                        <a:rPr sz="1200" b="1">
                          <a:solidFill>
                            <a:srgbClr val="FFFFFF"/>
                          </a:solidFill>
                          <a:latin typeface="Calibri"/>
                        </a:rPr>
                        <a:t>Meaning</a:t>
                      </a:r>
                    </a:p>
                  </a:txBody>
                  <a:tcPr marL="64008" marR="64008" marT="18288" marB="18288" anchor="ctr">
                    <a:solidFill>
                      <a:srgbClr val="2B2622"/>
                    </a:solidFill>
                  </a:tcPr>
                </a:tc>
              </a:tr>
              <a:tr h="274320">
                <a:tc>
                  <a:txBody>
                    <a:bodyPr wrap="square"/>
                    <a:lstStyle/>
                    <a:p>
                      <a:r>
                        <a:rPr sz="1200" b="0">
                          <a:solidFill>
                            <a:srgbClr val="2B2622"/>
                          </a:solidFill>
                          <a:latin typeface="Courier New"/>
                        </a:rPr>
                        <a:t>True empty</a:t>
                      </a:r>
                    </a:p>
                  </a:txBody>
                  <a:tcPr marL="64008" marR="64008" marT="18288" marB="18288" anchor="ctr">
                    <a:solidFill>
                      <a:srgbClr val="F2ECE1"/>
                    </a:solidFill>
                  </a:tcPr>
                </a:tc>
                <a:tc>
                  <a:txBody>
                    <a:bodyPr wrap="square"/>
                    <a:lstStyle/>
                    <a:p>
                      <a:r>
                        <a:rPr sz="1200" b="0">
                          <a:solidFill>
                            <a:srgbClr val="2B2622"/>
                          </a:solidFill>
                          <a:latin typeface="Calibri"/>
                        </a:rPr>
                        <a:t>c6 occupied, a1 empty</a:t>
                      </a:r>
                    </a:p>
                  </a:txBody>
                  <a:tcPr marL="64008" marR="64008" marT="18288" marB="18288" anchor="ctr">
                    <a:solidFill>
                      <a:srgbClr val="F2ECE1"/>
                    </a:solidFill>
                  </a:tcPr>
                </a:tc>
              </a:tr>
              <a:tr h="274320">
                <a:tc>
                  <a:txBody>
                    <a:bodyPr wrap="square"/>
                    <a:lstStyle/>
                    <a:p>
                      <a:r>
                        <a:rPr sz="1200" b="0">
                          <a:solidFill>
                            <a:srgbClr val="2B2622"/>
                          </a:solidFill>
                          <a:latin typeface="Courier New"/>
                        </a:rPr>
                        <a:t>['c6', 'e3', 'g2', 'h1', 'h5'] 5</a:t>
                      </a:r>
                    </a:p>
                  </a:txBody>
                  <a:tcPr marL="64008" marR="64008" marT="18288" marB="18288" anchor="ctr">
                    <a:solidFill>
                      <a:srgbClr val="FFFFFF"/>
                    </a:solidFill>
                  </a:tcPr>
                </a:tc>
                <a:tc>
                  <a:txBody>
                    <a:bodyPr wrap="square"/>
                    <a:lstStyle/>
                    <a:p>
                      <a:r>
                        <a:rPr sz="1200" b="0">
                          <a:solidFill>
                            <a:srgbClr val="2B2622"/>
                          </a:solidFill>
                          <a:latin typeface="Calibri"/>
                        </a:rPr>
                        <a:t>five keys, sorted</a:t>
                      </a:r>
                    </a:p>
                  </a:txBody>
                  <a:tcPr marL="64008" marR="64008" marT="18288" marB="18288" anchor="ctr">
                    <a:solidFill>
                      <a:srgbClr val="FFFFFF"/>
                    </a:solidFill>
                  </a:tcPr>
                </a:tc>
              </a:tr>
            </a:tbl>
          </a:graphicData>
        </a:graphic>
      </p:graphicFrame>
      <p:pic>
        <p:nvPicPr>
          <p:cNvPr id="28" name="Figure 7-2, the chessboard of the model" descr="Figure 7-2, the chessboard of the model"/>
          <p:cNvPicPr>
            <a:picLocks noChangeAspect="1"/>
          </p:cNvPicPr>
          <p:nvPr/>
        </p:nvPicPr>
        <p:blipFill>
          <a:blip r:embed="rId3"/>
          <a:stretch>
            <a:fillRect/>
          </a:stretch>
        </p:blipFill>
        <p:spPr>
          <a:xfrm>
            <a:off x="7543800" y="2871443"/>
            <a:ext cx="1234440" cy="1278815"/>
          </a:xfrm>
          <a:prstGeom prst="rect">
            <a:avLst/>
          </a:prstGeom>
        </p:spPr>
      </p:pic>
      <p:sp>
        <p:nvSpPr>
          <p:cNvPr id="29"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good model stores only what is there.</a:t>
            </a:r>
          </a:p>
        </p:txBody>
      </p:sp>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27 / 48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The squares a1 to h8 are almost three centuries old</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A Staunton chess set - photo: Wilfredor, CC0"/>
          <p:cNvPicPr>
            <a:picLocks noChangeAspect="1"/>
          </p:cNvPicPr>
          <p:nvPr/>
        </p:nvPicPr>
        <p:blipFill>
          <a:blip r:embed="rId3"/>
          <a:stretch>
            <a:fillRect/>
          </a:stretch>
        </p:blipFill>
        <p:spPr>
          <a:xfrm>
            <a:off x="457200" y="1643348"/>
            <a:ext cx="3017520" cy="1980247"/>
          </a:xfrm>
          <a:prstGeom prst="rect">
            <a:avLst/>
          </a:prstGeom>
        </p:spPr>
      </p:pic>
      <p:sp>
        <p:nvSpPr>
          <p:cNvPr id="6" name="credit"/>
          <p:cNvSpPr txBox="1"/>
          <p:nvPr/>
        </p:nvSpPr>
        <p:spPr>
          <a:xfrm>
            <a:off x="457200" y="410565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A Staunton chess set - photo: Wilfredor, CC0</a:t>
            </a:r>
          </a:p>
        </p:txBody>
      </p:sp>
      <p:sp>
        <p:nvSpPr>
          <p:cNvPr id="7" name="5N1K row"/>
          <p:cNvSpPr/>
          <p:nvPr/>
        </p:nvSpPr>
        <p:spPr>
          <a:xfrm>
            <a:off x="3611880" y="1115568"/>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15568"/>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15568"/>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Philipp Stamma, Howard Staunton and the chess federation FIDE.</a:t>
            </a:r>
          </a:p>
        </p:txBody>
      </p:sp>
      <p:sp>
        <p:nvSpPr>
          <p:cNvPr id="10" name="5N1K row"/>
          <p:cNvSpPr/>
          <p:nvPr/>
        </p:nvSpPr>
        <p:spPr>
          <a:xfrm>
            <a:off x="3611880" y="1623060"/>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23060"/>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23060"/>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They named every square a1 to h8 and made that notation the standard.</a:t>
            </a:r>
          </a:p>
        </p:txBody>
      </p:sp>
      <p:sp>
        <p:nvSpPr>
          <p:cNvPr id="13" name="5N1K row"/>
          <p:cNvSpPr/>
          <p:nvPr/>
        </p:nvSpPr>
        <p:spPr>
          <a:xfrm>
            <a:off x="3611880" y="2130552"/>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0552"/>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0552"/>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1730s: Stamma. 1847: Staunton's handbook. 1981: FIDE.</a:t>
            </a:r>
          </a:p>
        </p:txBody>
      </p:sp>
      <p:sp>
        <p:nvSpPr>
          <p:cNvPr id="16" name="5N1K row"/>
          <p:cNvSpPr/>
          <p:nvPr/>
        </p:nvSpPr>
        <p:spPr>
          <a:xfrm>
            <a:off x="3611880" y="2638044"/>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8044"/>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8044"/>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In chess books such as Staunton's Chess-Player's Handbook, then in FIDE rules.</a:t>
            </a:r>
          </a:p>
        </p:txBody>
      </p:sp>
      <p:sp>
        <p:nvSpPr>
          <p:cNvPr id="19" name="5N1K row"/>
          <p:cNvSpPr/>
          <p:nvPr/>
        </p:nvSpPr>
        <p:spPr>
          <a:xfrm>
            <a:off x="3611880" y="3145536"/>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45536"/>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45536"/>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Players needed one short name for each of the 64 squares to write moves down.</a:t>
            </a:r>
          </a:p>
        </p:txBody>
      </p:sp>
      <p:sp>
        <p:nvSpPr>
          <p:cNvPr id="22" name="5N1K row"/>
          <p:cNvSpPr/>
          <p:nvPr/>
        </p:nvSpPr>
        <p:spPr>
          <a:xfrm>
            <a:off x="3611880" y="3653028"/>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53028"/>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53028"/>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Our keys 'a1' to 'h8' reuse those names, so a position reads like a score sheet.</a:t>
            </a:r>
          </a:p>
        </p:txBody>
      </p:sp>
      <p:sp>
        <p:nvSpPr>
          <p:cNvPr id="25" name="live link"/>
          <p:cNvSpPr txBox="1"/>
          <p:nvPr/>
        </p:nvSpPr>
        <p:spPr>
          <a:xfrm>
            <a:off x="3611880" y="4160520"/>
            <a:ext cx="5074920" cy="310896"/>
          </a:xfrm>
          <a:prstGeom prst="rect">
            <a:avLst/>
          </a:prstGeom>
          <a:noFill/>
        </p:spPr>
        <p:txBody>
          <a:bodyPr wrap="square" anchor="t" lIns="45720" rIns="45720" tIns="36576" bIns="36576">
            <a:spAutoFit/>
          </a:bodyPr>
          <a:lstStyle/>
          <a:p>
            <a:pPr algn="l"/>
            <a:r>
              <a:rPr sz="1100" b="1" i="0">
                <a:solidFill>
                  <a:srgbClr val="D97A14"/>
                </a:solidFill>
                <a:latin typeface="Calibri"/>
              </a:rPr>
              <a:t>READ  </a:t>
            </a:r>
            <a:r>
              <a:rPr sz="1100" b="1" i="0">
                <a:solidFill>
                  <a:srgbClr val="2F6D62"/>
                </a:solidFill>
                <a:latin typeface="Calibri"/>
                <a:hlinkClick r:id="rId4"/>
              </a:rPr>
              <a:t>Algebraic notation (chess), on Wikipedia</a:t>
            </a:r>
            <a:r>
              <a:rPr sz="1000" b="0" i="0">
                <a:solidFill>
                  <a:srgbClr val="6E655C"/>
                </a:solidFill>
                <a:latin typeface="Calibri"/>
              </a:rPr>
              <a:t>   en.wikipedia.org</a:t>
            </a:r>
          </a:p>
        </p:txBody>
      </p:sp>
      <p:sp>
        <p:nvSpPr>
          <p:cNvPr id="26" name="takeaway"/>
          <p:cNvSpPr txBox="1"/>
          <p:nvPr/>
        </p:nvSpPr>
        <p:spPr>
          <a:xfrm>
            <a:off x="457200" y="450799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best keys are often a notation people already use.</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28 / 48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15: Printing the board from the dictionary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The dictionary is the data; the printout is one view</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chessboard.py</a:t>
            </a:r>
          </a:p>
        </p:txBody>
      </p:sp>
      <p:sp>
        <p:nvSpPr>
          <p:cNvPr id="6" name="code"/>
          <p:cNvSpPr/>
          <p:nvPr/>
        </p:nvSpPr>
        <p:spPr>
          <a:xfrm>
            <a:off x="365760" y="1097280"/>
            <a:ext cx="4800600" cy="574548"/>
          </a:xfrm>
          <a:prstGeom prst="roundRect">
            <a:avLst>
              <a:gd name="adj" fmla="val 1273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board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EE787"/>
                </a:solidFill>
                <a:latin typeface="Courier New"/>
              </a:rPr>
              <a:t>'a1'</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'wR'</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'e1'</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'wK'</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'e8'</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'bK'</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files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'abcdefgh'</a:t>
            </a:r>
          </a:p>
          <a:p>
            <a:pPr algn="l"/>
            <a:r>
              <a:rPr sz="1000" b="0" i="0">
                <a:solidFill>
                  <a:srgbClr val="8A9B94"/>
                </a:solidFill>
                <a:latin typeface="Courier New"/>
              </a:rPr>
              <a:t>&gt;&gt;&gt;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FFA657"/>
                </a:solidFill>
                <a:latin typeface="Courier New"/>
              </a:rPr>
              <a:t>range</a:t>
            </a:r>
            <a:r>
              <a:rPr sz="1000" b="0" i="0">
                <a:solidFill>
                  <a:srgbClr val="E6EDF3"/>
                </a:solidFill>
                <a:latin typeface="Courier New"/>
              </a:rPr>
              <a:t>(</a:t>
            </a:r>
            <a:r>
              <a:rPr sz="1000" b="0" i="0">
                <a:solidFill>
                  <a:srgbClr val="79C0FF"/>
                </a:solidFill>
                <a:latin typeface="Courier New"/>
              </a:rPr>
              <a:t>8</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9C0FF"/>
                </a:solidFill>
                <a:latin typeface="Courier New"/>
              </a:rPr>
              <a:t>1</a:t>
            </a:r>
            <a:r>
              <a:rPr sz="1000" b="0" i="0">
                <a:solidFill>
                  <a:srgbClr val="E6EDF3"/>
                </a:solidFill>
                <a:latin typeface="Courier New"/>
              </a:rPr>
              <a:t>)</a:t>
            </a:r>
            <a:r>
              <a:rPr sz="1000" b="0" i="0">
                <a:solidFill>
                  <a:srgbClr val="E6EDF3"/>
                </a:solidFill>
                <a:latin typeface="Courier New"/>
              </a:rPr>
              <a:t>:</a:t>
            </a:r>
          </a:p>
        </p:txBody>
      </p:sp>
      <p:sp>
        <p:nvSpPr>
          <p:cNvPr id="7" name="explanation"/>
          <p:cNvSpPr/>
          <p:nvPr/>
        </p:nvSpPr>
        <p:spPr>
          <a:xfrm>
            <a:off x="5148072" y="1097280"/>
            <a:ext cx="3584448" cy="574548"/>
          </a:xfrm>
          <a:prstGeom prst="roundRect">
            <a:avLst>
              <a:gd name="adj" fmla="val 1273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small position. Walk the ranks from 8 down to 1, as a chess diagram is drawn.</a:t>
            </a:r>
          </a:p>
        </p:txBody>
      </p:sp>
      <p:sp>
        <p:nvSpPr>
          <p:cNvPr id="8" name="code"/>
          <p:cNvSpPr/>
          <p:nvPr/>
        </p:nvSpPr>
        <p:spPr>
          <a:xfrm>
            <a:off x="365760" y="1726691"/>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    </a:t>
            </a:r>
            <a:r>
              <a:rPr sz="1000" b="0" i="0">
                <a:solidFill>
                  <a:srgbClr val="E6EDF3"/>
                </a:solidFill>
                <a:latin typeface="Courier New"/>
              </a:rPr>
              <a:t>row</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board</a:t>
            </a:r>
            <a:r>
              <a:rPr sz="1000" b="0" i="0">
                <a:solidFill>
                  <a:srgbClr val="E6EDF3"/>
                </a:solidFill>
                <a:latin typeface="Courier New"/>
              </a:rPr>
              <a:t>.</a:t>
            </a:r>
            <a:r>
              <a:rPr sz="1000" b="0" i="0">
                <a:solidFill>
                  <a:srgbClr val="E6EDF3"/>
                </a:solidFill>
                <a:latin typeface="Courier New"/>
              </a:rPr>
              <a:t>get</a:t>
            </a:r>
            <a:r>
              <a:rPr sz="1000" b="0" i="0">
                <a:solidFill>
                  <a:srgbClr val="E6EDF3"/>
                </a:solidFill>
                <a:latin typeface="Courier New"/>
              </a:rPr>
              <a:t>(</a:t>
            </a:r>
            <a:r>
              <a:rPr sz="1000" b="0" i="0">
                <a:solidFill>
                  <a:srgbClr val="E6EDF3"/>
                </a:solidFill>
                <a:latin typeface="Courier New"/>
              </a:rPr>
              <a:t>f</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str</a:t>
            </a:r>
            <a:r>
              <a:rPr sz="1000" b="0" i="0">
                <a:solidFill>
                  <a:srgbClr val="E6EDF3"/>
                </a:solidFill>
                <a:latin typeface="Courier New"/>
              </a:rPr>
              <a:t>(</a:t>
            </a:r>
            <a:r>
              <a:rPr sz="1000" b="0" i="0">
                <a:solidFill>
                  <a:srgbClr val="E6EDF3"/>
                </a:solidFill>
                <a:latin typeface="Courier New"/>
              </a:rPr>
              <a:t>r</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E6EDF3"/>
                </a:solidFill>
                <a:latin typeface="Courier New"/>
              </a:rPr>
              <a:t>files</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r</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 '</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row</a:t>
            </a:r>
            <a:r>
              <a:rPr sz="1000" b="0" i="0">
                <a:solidFill>
                  <a:srgbClr val="E6EDF3"/>
                </a:solidFill>
                <a:latin typeface="Courier New"/>
              </a:rPr>
              <a:t>)</a:t>
            </a:r>
            <a:r>
              <a:rPr sz="1000" b="0" i="0">
                <a:solidFill>
                  <a:srgbClr val="E6EDF3"/>
                </a:solidFill>
                <a:latin typeface="Courier New"/>
              </a:rPr>
              <a:t>)</a:t>
            </a:r>
          </a:p>
        </p:txBody>
      </p:sp>
      <p:sp>
        <p:nvSpPr>
          <p:cNvPr id="9" name="explanation"/>
          <p:cNvSpPr/>
          <p:nvPr/>
        </p:nvSpPr>
        <p:spPr>
          <a:xfrm>
            <a:off x="5148072" y="1726691"/>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Look up every square of the rank; an empty square prints as two dots.</a:t>
            </a:r>
          </a:p>
        </p:txBody>
      </p:sp>
      <p:sp>
        <p:nvSpPr>
          <p:cNvPr id="10" name="result label"/>
          <p:cNvSpPr txBox="1"/>
          <p:nvPr/>
        </p:nvSpPr>
        <p:spPr>
          <a:xfrm>
            <a:off x="365760" y="2275077"/>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521965"/>
          <a:ext cx="4206234" cy="1903725"/>
        </p:xfrm>
        <a:graphic>
          <a:graphicData uri="http://schemas.openxmlformats.org/drawingml/2006/table">
            <a:tbl>
              <a:tblPr firstRow="1" bandRow="1">
                <a:tableStyleId>{5C22544A-7EE6-4342-B048-85BDC9FD1C3A}</a:tableStyleId>
              </a:tblPr>
              <a:tblGrid>
                <a:gridCol w="293458"/>
                <a:gridCol w="489097"/>
                <a:gridCol w="489097"/>
                <a:gridCol w="489097"/>
                <a:gridCol w="489097"/>
                <a:gridCol w="489097"/>
                <a:gridCol w="489097"/>
                <a:gridCol w="489097"/>
                <a:gridCol w="489097"/>
              </a:tblGrid>
              <a:tr h="211525">
                <a:tc>
                  <a:txBody>
                    <a:bodyPr wrap="square"/>
                    <a:lstStyle/>
                    <a:p>
                      <a:r>
                        <a:rPr sz="950" b="1">
                          <a:solidFill>
                            <a:srgbClr val="FFFFFF"/>
                          </a:solidFill>
                          <a:latin typeface="Calibri"/>
                        </a:rPr>
                        <a:t> </a:t>
                      </a:r>
                    </a:p>
                  </a:txBody>
                  <a:tcPr marL="64008" marR="64008" marT="18288" marB="18288" anchor="ctr">
                    <a:solidFill>
                      <a:srgbClr val="2B2622"/>
                    </a:solidFill>
                  </a:tcPr>
                </a:tc>
                <a:tc>
                  <a:txBody>
                    <a:bodyPr wrap="square"/>
                    <a:lstStyle/>
                    <a:p>
                      <a:r>
                        <a:rPr sz="950" b="1">
                          <a:solidFill>
                            <a:srgbClr val="FFFFFF"/>
                          </a:solidFill>
                          <a:latin typeface="Calibri"/>
                        </a:rPr>
                        <a:t>a</a:t>
                      </a:r>
                    </a:p>
                  </a:txBody>
                  <a:tcPr marL="64008" marR="64008" marT="18288" marB="18288" anchor="ctr">
                    <a:solidFill>
                      <a:srgbClr val="2B2622"/>
                    </a:solidFill>
                  </a:tcPr>
                </a:tc>
                <a:tc>
                  <a:txBody>
                    <a:bodyPr wrap="square"/>
                    <a:lstStyle/>
                    <a:p>
                      <a:r>
                        <a:rPr sz="950" b="1">
                          <a:solidFill>
                            <a:srgbClr val="FFFFFF"/>
                          </a:solidFill>
                          <a:latin typeface="Calibri"/>
                        </a:rPr>
                        <a:t>b</a:t>
                      </a:r>
                    </a:p>
                  </a:txBody>
                  <a:tcPr marL="64008" marR="64008" marT="18288" marB="18288" anchor="ctr">
                    <a:solidFill>
                      <a:srgbClr val="2B2622"/>
                    </a:solidFill>
                  </a:tcPr>
                </a:tc>
                <a:tc>
                  <a:txBody>
                    <a:bodyPr wrap="square"/>
                    <a:lstStyle/>
                    <a:p>
                      <a:r>
                        <a:rPr sz="950" b="1">
                          <a:solidFill>
                            <a:srgbClr val="FFFFFF"/>
                          </a:solidFill>
                          <a:latin typeface="Calibri"/>
                        </a:rPr>
                        <a:t>c</a:t>
                      </a:r>
                    </a:p>
                  </a:txBody>
                  <a:tcPr marL="64008" marR="64008" marT="18288" marB="18288" anchor="ctr">
                    <a:solidFill>
                      <a:srgbClr val="2B2622"/>
                    </a:solidFill>
                  </a:tcPr>
                </a:tc>
                <a:tc>
                  <a:txBody>
                    <a:bodyPr wrap="square"/>
                    <a:lstStyle/>
                    <a:p>
                      <a:r>
                        <a:rPr sz="950" b="1">
                          <a:solidFill>
                            <a:srgbClr val="FFFFFF"/>
                          </a:solidFill>
                          <a:latin typeface="Calibri"/>
                        </a:rPr>
                        <a:t>d</a:t>
                      </a:r>
                    </a:p>
                  </a:txBody>
                  <a:tcPr marL="64008" marR="64008" marT="18288" marB="18288" anchor="ctr">
                    <a:solidFill>
                      <a:srgbClr val="2B2622"/>
                    </a:solidFill>
                  </a:tcPr>
                </a:tc>
                <a:tc>
                  <a:txBody>
                    <a:bodyPr wrap="square"/>
                    <a:lstStyle/>
                    <a:p>
                      <a:r>
                        <a:rPr sz="950" b="1">
                          <a:solidFill>
                            <a:srgbClr val="FFFFFF"/>
                          </a:solidFill>
                          <a:latin typeface="Calibri"/>
                        </a:rPr>
                        <a:t>e</a:t>
                      </a:r>
                    </a:p>
                  </a:txBody>
                  <a:tcPr marL="64008" marR="64008" marT="18288" marB="18288" anchor="ctr">
                    <a:solidFill>
                      <a:srgbClr val="2B2622"/>
                    </a:solidFill>
                  </a:tcPr>
                </a:tc>
                <a:tc>
                  <a:txBody>
                    <a:bodyPr wrap="square"/>
                    <a:lstStyle/>
                    <a:p>
                      <a:r>
                        <a:rPr sz="950" b="1">
                          <a:solidFill>
                            <a:srgbClr val="FFFFFF"/>
                          </a:solidFill>
                          <a:latin typeface="Calibri"/>
                        </a:rPr>
                        <a:t>f</a:t>
                      </a:r>
                    </a:p>
                  </a:txBody>
                  <a:tcPr marL="64008" marR="64008" marT="18288" marB="18288" anchor="ctr">
                    <a:solidFill>
                      <a:srgbClr val="2B2622"/>
                    </a:solidFill>
                  </a:tcPr>
                </a:tc>
                <a:tc>
                  <a:txBody>
                    <a:bodyPr wrap="square"/>
                    <a:lstStyle/>
                    <a:p>
                      <a:r>
                        <a:rPr sz="950" b="1">
                          <a:solidFill>
                            <a:srgbClr val="FFFFFF"/>
                          </a:solidFill>
                          <a:latin typeface="Calibri"/>
                        </a:rPr>
                        <a:t>g</a:t>
                      </a:r>
                    </a:p>
                  </a:txBody>
                  <a:tcPr marL="64008" marR="64008" marT="18288" marB="18288" anchor="ctr">
                    <a:solidFill>
                      <a:srgbClr val="2B2622"/>
                    </a:solidFill>
                  </a:tcPr>
                </a:tc>
                <a:tc>
                  <a:txBody>
                    <a:bodyPr wrap="square"/>
                    <a:lstStyle/>
                    <a:p>
                      <a:r>
                        <a:rPr sz="950" b="1">
                          <a:solidFill>
                            <a:srgbClr val="FFFFFF"/>
                          </a:solidFill>
                          <a:latin typeface="Calibri"/>
                        </a:rPr>
                        <a:t>h</a:t>
                      </a:r>
                    </a:p>
                  </a:txBody>
                  <a:tcPr marL="64008" marR="64008" marT="18288" marB="18288" anchor="ctr">
                    <a:solidFill>
                      <a:srgbClr val="2B2622"/>
                    </a:solidFill>
                  </a:tcPr>
                </a:tc>
              </a:tr>
              <a:tr h="211525">
                <a:tc>
                  <a:txBody>
                    <a:bodyPr wrap="square"/>
                    <a:lstStyle/>
                    <a:p>
                      <a:r>
                        <a:rPr sz="950" b="1">
                          <a:solidFill>
                            <a:srgbClr val="2B2622"/>
                          </a:solidFill>
                          <a:latin typeface="Calibri"/>
                        </a:rPr>
                        <a:t>8</a:t>
                      </a:r>
                    </a:p>
                  </a:txBody>
                  <a:tcPr marL="64008" marR="64008" marT="18288" marB="18288" anchor="ctr">
                    <a:solidFill>
                      <a:srgbClr val="F2ECE1"/>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bK</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r>
              <a:tr h="211525">
                <a:tc>
                  <a:txBody>
                    <a:bodyPr wrap="square"/>
                    <a:lstStyle/>
                    <a:p>
                      <a:r>
                        <a:rPr sz="950" b="1">
                          <a:solidFill>
                            <a:srgbClr val="2B2622"/>
                          </a:solidFill>
                          <a:latin typeface="Calibri"/>
                        </a:rPr>
                        <a:t>7</a:t>
                      </a:r>
                    </a:p>
                  </a:txBody>
                  <a:tcPr marL="64008" marR="64008" marT="18288" marB="18288" anchor="ctr">
                    <a:solidFill>
                      <a:srgbClr val="FFFFFF"/>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r>
              <a:tr h="211525">
                <a:tc>
                  <a:txBody>
                    <a:bodyPr wrap="square"/>
                    <a:lstStyle/>
                    <a:p>
                      <a:r>
                        <a:rPr sz="950" b="1">
                          <a:solidFill>
                            <a:srgbClr val="2B2622"/>
                          </a:solidFill>
                          <a:latin typeface="Calibri"/>
                        </a:rPr>
                        <a:t>6</a:t>
                      </a:r>
                    </a:p>
                  </a:txBody>
                  <a:tcPr marL="64008" marR="64008" marT="18288" marB="18288" anchor="ctr">
                    <a:solidFill>
                      <a:srgbClr val="F2ECE1"/>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r>
              <a:tr h="211525">
                <a:tc>
                  <a:txBody>
                    <a:bodyPr wrap="square"/>
                    <a:lstStyle/>
                    <a:p>
                      <a:r>
                        <a:rPr sz="950" b="1">
                          <a:solidFill>
                            <a:srgbClr val="2B2622"/>
                          </a:solidFill>
                          <a:latin typeface="Calibri"/>
                        </a:rPr>
                        <a:t>5</a:t>
                      </a:r>
                    </a:p>
                  </a:txBody>
                  <a:tcPr marL="64008" marR="64008" marT="18288" marB="18288" anchor="ctr">
                    <a:solidFill>
                      <a:srgbClr val="FFFFFF"/>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r>
              <a:tr h="211525">
                <a:tc>
                  <a:txBody>
                    <a:bodyPr wrap="square"/>
                    <a:lstStyle/>
                    <a:p>
                      <a:r>
                        <a:rPr sz="950" b="1">
                          <a:solidFill>
                            <a:srgbClr val="2B2622"/>
                          </a:solidFill>
                          <a:latin typeface="Calibri"/>
                        </a:rPr>
                        <a:t>4</a:t>
                      </a:r>
                    </a:p>
                  </a:txBody>
                  <a:tcPr marL="64008" marR="64008" marT="18288" marB="18288" anchor="ctr">
                    <a:solidFill>
                      <a:srgbClr val="F2ECE1"/>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r>
              <a:tr h="211525">
                <a:tc>
                  <a:txBody>
                    <a:bodyPr wrap="square"/>
                    <a:lstStyle/>
                    <a:p>
                      <a:r>
                        <a:rPr sz="950" b="1">
                          <a:solidFill>
                            <a:srgbClr val="2B2622"/>
                          </a:solidFill>
                          <a:latin typeface="Calibri"/>
                        </a:rPr>
                        <a:t>3</a:t>
                      </a:r>
                    </a:p>
                  </a:txBody>
                  <a:tcPr marL="64008" marR="64008" marT="18288" marB="18288" anchor="ctr">
                    <a:solidFill>
                      <a:srgbClr val="FFFFFF"/>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r>
              <a:tr h="211525">
                <a:tc>
                  <a:txBody>
                    <a:bodyPr wrap="square"/>
                    <a:lstStyle/>
                    <a:p>
                      <a:r>
                        <a:rPr sz="950" b="1">
                          <a:solidFill>
                            <a:srgbClr val="2B2622"/>
                          </a:solidFill>
                          <a:latin typeface="Calibri"/>
                        </a:rPr>
                        <a:t>2</a:t>
                      </a:r>
                    </a:p>
                  </a:txBody>
                  <a:tcPr marL="64008" marR="64008" marT="18288" marB="18288" anchor="ctr">
                    <a:solidFill>
                      <a:srgbClr val="F2ECE1"/>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r>
              <a:tr h="211525">
                <a:tc>
                  <a:txBody>
                    <a:bodyPr wrap="square"/>
                    <a:lstStyle/>
                    <a:p>
                      <a:r>
                        <a:rPr sz="950" b="1">
                          <a:solidFill>
                            <a:srgbClr val="2B2622"/>
                          </a:solidFill>
                          <a:latin typeface="Calibri"/>
                        </a:rPr>
                        <a:t>1</a:t>
                      </a:r>
                    </a:p>
                  </a:txBody>
                  <a:tcPr marL="64008" marR="64008" marT="18288" marB="18288" anchor="ctr">
                    <a:solidFill>
                      <a:srgbClr val="FFFFFF"/>
                    </a:solidFill>
                  </a:tcPr>
                </a:tc>
                <a:tc>
                  <a:txBody>
                    <a:bodyPr wrap="square"/>
                    <a:lstStyle/>
                    <a:p>
                      <a:r>
                        <a:rPr sz="950" b="1">
                          <a:solidFill>
                            <a:srgbClr val="2B2622"/>
                          </a:solidFill>
                          <a:latin typeface="Calibri"/>
                        </a:rPr>
                        <a:t>wR</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wK</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c>
                  <a:txBody>
                    <a:bodyPr wrap="square"/>
                    <a:lstStyle/>
                    <a:p>
                      <a:r>
                        <a:rPr sz="950" b="1">
                          <a:solidFill>
                            <a:srgbClr val="2B2622"/>
                          </a:solidFill>
                          <a:latin typeface="Calibri"/>
                        </a:rPr>
                        <a:t> </a:t>
                      </a:r>
                    </a:p>
                  </a:txBody>
                  <a:tcPr marL="64008" marR="64008" marT="18288" marB="18288" anchor="ctr">
                    <a:solidFill>
                      <a:srgbClr val="B7A98F"/>
                    </a:solidFill>
                  </a:tcPr>
                </a:tc>
                <a:tc>
                  <a:txBody>
                    <a:bodyPr wrap="square"/>
                    <a:lstStyle/>
                    <a:p>
                      <a:r>
                        <a:rPr sz="950" b="1">
                          <a:solidFill>
                            <a:srgbClr val="2B2622"/>
                          </a:solidFill>
                          <a:latin typeface="Calibri"/>
                        </a:rPr>
                        <a:t> </a:t>
                      </a:r>
                    </a:p>
                  </a:txBody>
                  <a:tcPr marL="64008" marR="64008" marT="18288" marB="18288" anchor="ctr">
                    <a:solidFill>
                      <a:srgbClr val="F0E6D2"/>
                    </a:solidFill>
                  </a:tcPr>
                </a:tc>
              </a:tr>
            </a:tbl>
          </a:graphicData>
        </a:graphic>
      </p:graphicFrame>
      <p:graphicFrame>
        <p:nvGraphicFramePr>
          <p:cNvPr id="12" name="result table"/>
          <p:cNvGraphicFramePr>
            <a:graphicFrameLocks noGrp="1"/>
          </p:cNvGraphicFramePr>
          <p:nvPr/>
        </p:nvGraphicFramePr>
        <p:xfrm>
          <a:off x="4846320" y="2521965"/>
          <a:ext cx="3931919" cy="1097280"/>
        </p:xfrm>
        <a:graphic>
          <a:graphicData uri="http://schemas.openxmlformats.org/drawingml/2006/table">
            <a:tbl>
              <a:tblPr firstRow="1" bandRow="1">
                <a:tableStyleId>{5C22544A-7EE6-4342-B048-85BDC9FD1C3A}</a:tableStyleId>
              </a:tblPr>
              <a:tblGrid>
                <a:gridCol w="2808514"/>
                <a:gridCol w="1123405"/>
              </a:tblGrid>
              <a:tr h="274320">
                <a:tc>
                  <a:txBody>
                    <a:bodyPr wrap="square"/>
                    <a:lstStyle/>
                    <a:p>
                      <a:r>
                        <a:rPr sz="1200" b="1">
                          <a:solidFill>
                            <a:srgbClr val="FFFFFF"/>
                          </a:solidFill>
                          <a:latin typeface="Calibri"/>
                        </a:rPr>
                        <a:t>Measure</a:t>
                      </a:r>
                    </a:p>
                  </a:txBody>
                  <a:tcPr marL="64008" marR="64008" marT="18288" marB="18288" anchor="ctr">
                    <a:solidFill>
                      <a:srgbClr val="2B2622"/>
                    </a:solidFill>
                  </a:tcPr>
                </a:tc>
                <a:tc>
                  <a:txBody>
                    <a:bodyPr wrap="square"/>
                    <a:lstStyle/>
                    <a:p>
                      <a:r>
                        <a:rPr sz="1200" b="1">
                          <a:solidFill>
                            <a:srgbClr val="FFFFFF"/>
                          </a:solidFill>
                          <a:latin typeface="Calibri"/>
                        </a:rPr>
                        <a:t>Value</a:t>
                      </a:r>
                    </a:p>
                  </a:txBody>
                  <a:tcPr marL="64008" marR="64008" marT="18288" marB="18288" anchor="ctr">
                    <a:solidFill>
                      <a:srgbClr val="2B2622"/>
                    </a:solidFill>
                  </a:tcPr>
                </a:tc>
              </a:tr>
              <a:tr h="274320">
                <a:tc>
                  <a:txBody>
                    <a:bodyPr wrap="square"/>
                    <a:lstStyle/>
                    <a:p>
                      <a:r>
                        <a:rPr sz="1200" b="0">
                          <a:solidFill>
                            <a:srgbClr val="2B2622"/>
                          </a:solidFill>
                          <a:latin typeface="Calibri"/>
                        </a:rPr>
                        <a:t>keys in the dictionary</a:t>
                      </a:r>
                    </a:p>
                  </a:txBody>
                  <a:tcPr marL="64008" marR="64008" marT="18288" marB="18288" anchor="ctr">
                    <a:solidFill>
                      <a:srgbClr val="F2ECE1"/>
                    </a:solidFill>
                  </a:tcPr>
                </a:tc>
                <a:tc>
                  <a:txBody>
                    <a:bodyPr wrap="square"/>
                    <a:lstStyle/>
                    <a:p>
                      <a:r>
                        <a:rPr sz="1200" b="0">
                          <a:solidFill>
                            <a:srgbClr val="2B2622"/>
                          </a:solidFill>
                          <a:latin typeface="Calibri"/>
                        </a:rPr>
                        <a:t>3</a:t>
                      </a:r>
                    </a:p>
                  </a:txBody>
                  <a:tcPr marL="64008" marR="64008" marT="18288" marB="18288" anchor="ctr">
                    <a:solidFill>
                      <a:srgbClr val="F2ECE1"/>
                    </a:solidFill>
                  </a:tcPr>
                </a:tc>
              </a:tr>
              <a:tr h="274320">
                <a:tc>
                  <a:txBody>
                    <a:bodyPr wrap="square"/>
                    <a:lstStyle/>
                    <a:p>
                      <a:r>
                        <a:rPr sz="1200" b="0">
                          <a:solidFill>
                            <a:srgbClr val="2B2622"/>
                          </a:solidFill>
                          <a:latin typeface="Calibri"/>
                        </a:rPr>
                        <a:t>squares drawn</a:t>
                      </a:r>
                    </a:p>
                  </a:txBody>
                  <a:tcPr marL="64008" marR="64008" marT="18288" marB="18288" anchor="ctr">
                    <a:solidFill>
                      <a:srgbClr val="FFFFFF"/>
                    </a:solidFill>
                  </a:tcPr>
                </a:tc>
                <a:tc>
                  <a:txBody>
                    <a:bodyPr wrap="square"/>
                    <a:lstStyle/>
                    <a:p>
                      <a:r>
                        <a:rPr sz="1200" b="0">
                          <a:solidFill>
                            <a:srgbClr val="2B2622"/>
                          </a:solidFill>
                          <a:latin typeface="Calibri"/>
                        </a:rPr>
                        <a:t>64</a:t>
                      </a:r>
                    </a:p>
                  </a:txBody>
                  <a:tcPr marL="64008" marR="64008" marT="18288" marB="18288" anchor="ctr">
                    <a:solidFill>
                      <a:srgbClr val="FFFFFF"/>
                    </a:solidFill>
                  </a:tcPr>
                </a:tc>
              </a:tr>
              <a:tr h="274320">
                <a:tc>
                  <a:txBody>
                    <a:bodyPr wrap="square"/>
                    <a:lstStyle/>
                    <a:p>
                      <a:r>
                        <a:rPr sz="1200" b="0">
                          <a:solidFill>
                            <a:srgbClr val="2B2622"/>
                          </a:solidFill>
                          <a:latin typeface="Calibri"/>
                        </a:rPr>
                        <a:t>squares without a key</a:t>
                      </a:r>
                    </a:p>
                  </a:txBody>
                  <a:tcPr marL="64008" marR="64008" marT="18288" marB="18288" anchor="ctr">
                    <a:solidFill>
                      <a:srgbClr val="F2ECE1"/>
                    </a:solidFill>
                  </a:tcPr>
                </a:tc>
                <a:tc>
                  <a:txBody>
                    <a:bodyPr wrap="square"/>
                    <a:lstStyle/>
                    <a:p>
                      <a:r>
                        <a:rPr sz="1200" b="0">
                          <a:solidFill>
                            <a:srgbClr val="2B2622"/>
                          </a:solidFill>
                          <a:latin typeface="Calibri"/>
                        </a:rPr>
                        <a:t>61</a:t>
                      </a:r>
                    </a:p>
                  </a:txBody>
                  <a:tcPr marL="64008" marR="64008" marT="18288" marB="18288" anchor="ctr">
                    <a:solidFill>
                      <a:srgbClr val="F2ECE1"/>
                    </a:solidFill>
                  </a:tcPr>
                </a:tc>
              </a:tr>
            </a:tbl>
          </a:graphicData>
        </a:graphic>
      </p:graphicFrame>
      <p:sp>
        <p:nvSpPr>
          <p:cNvPr id="13"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same dictionary can be drawn in any way you like.</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29 / 48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16: Chess commands are dictionary operations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Moving a piece is copy-then-delete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Project 1: Interactive Chessboard Simulator</a:t>
            </a:r>
          </a:p>
        </p:txBody>
      </p:sp>
      <p:sp>
        <p:nvSpPr>
          <p:cNvPr id="6" name="code"/>
          <p:cNvSpPr/>
          <p:nvPr/>
        </p:nvSpPr>
        <p:spPr>
          <a:xfrm>
            <a:off x="365760" y="1097280"/>
            <a:ext cx="4800600" cy="597789"/>
          </a:xfrm>
          <a:prstGeom prst="roundRect">
            <a:avLst>
              <a:gd name="adj" fmla="val 1223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import</a:t>
            </a:r>
            <a:r>
              <a:rPr sz="1050" b="0" i="0">
                <a:solidFill>
                  <a:srgbClr val="E6EDF3"/>
                </a:solidFill>
                <a:latin typeface="Courier New"/>
              </a:rPr>
              <a:t> </a:t>
            </a:r>
            <a:r>
              <a:rPr sz="1050" b="0" i="0">
                <a:solidFill>
                  <a:srgbClr val="E6EDF3"/>
                </a:solidFill>
                <a:latin typeface="Courier New"/>
              </a:rPr>
              <a:t>copy</a:t>
            </a:r>
          </a:p>
          <a:p>
            <a:pPr algn="l"/>
            <a:r>
              <a:rPr sz="1050" b="0" i="0">
                <a:solidFill>
                  <a:srgbClr val="8A9B94"/>
                </a:solidFill>
                <a:latin typeface="Courier New"/>
              </a:rPr>
              <a:t>&gt;&gt;&gt; </a:t>
            </a:r>
            <a:r>
              <a:rPr sz="1050" b="0" i="0">
                <a:solidFill>
                  <a:srgbClr val="E6EDF3"/>
                </a:solidFill>
                <a:latin typeface="Courier New"/>
              </a:rPr>
              <a:t>START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'a1'</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'wR'</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'e1'</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'wK'</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'e2'</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'wP'</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board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copy</a:t>
            </a:r>
            <a:r>
              <a:rPr sz="1050" b="0" i="0">
                <a:solidFill>
                  <a:srgbClr val="E6EDF3"/>
                </a:solidFill>
                <a:latin typeface="Courier New"/>
              </a:rPr>
              <a:t>.</a:t>
            </a:r>
            <a:r>
              <a:rPr sz="1050" b="0" i="0">
                <a:solidFill>
                  <a:srgbClr val="E6EDF3"/>
                </a:solidFill>
                <a:latin typeface="Courier New"/>
              </a:rPr>
              <a:t>copy</a:t>
            </a:r>
            <a:r>
              <a:rPr sz="1050" b="0" i="0">
                <a:solidFill>
                  <a:srgbClr val="E6EDF3"/>
                </a:solidFill>
                <a:latin typeface="Courier New"/>
              </a:rPr>
              <a:t>(</a:t>
            </a:r>
            <a:r>
              <a:rPr sz="1050" b="0" i="0">
                <a:solidFill>
                  <a:srgbClr val="E6EDF3"/>
                </a:solidFill>
                <a:latin typeface="Courier New"/>
              </a:rPr>
              <a:t>START</a:t>
            </a:r>
            <a:r>
              <a:rPr sz="1050" b="0" i="0">
                <a:solidFill>
                  <a:srgbClr val="E6EDF3"/>
                </a:solidFill>
                <a:latin typeface="Courier New"/>
              </a:rPr>
              <a:t>)</a:t>
            </a:r>
          </a:p>
        </p:txBody>
      </p:sp>
      <p:sp>
        <p:nvSpPr>
          <p:cNvPr id="7" name="explanation"/>
          <p:cNvSpPr/>
          <p:nvPr/>
        </p:nvSpPr>
        <p:spPr>
          <a:xfrm>
            <a:off x="5148072" y="1097280"/>
            <a:ext cx="3584448" cy="597789"/>
          </a:xfrm>
          <a:prstGeom prst="roundRect">
            <a:avLst>
              <a:gd name="adj" fmla="val 1223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Keep the starting position safe and play on a copy of it.</a:t>
            </a:r>
          </a:p>
        </p:txBody>
      </p:sp>
      <p:sp>
        <p:nvSpPr>
          <p:cNvPr id="8" name="code"/>
          <p:cNvSpPr/>
          <p:nvPr/>
        </p:nvSpPr>
        <p:spPr>
          <a:xfrm>
            <a:off x="365760" y="1749932"/>
            <a:ext cx="4800600" cy="597789"/>
          </a:xfrm>
          <a:prstGeom prst="roundRect">
            <a:avLst>
              <a:gd name="adj" fmla="val 1223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board</a:t>
            </a:r>
            <a:r>
              <a:rPr sz="1050" b="0" i="0">
                <a:solidFill>
                  <a:srgbClr val="E6EDF3"/>
                </a:solidFill>
                <a:latin typeface="Courier New"/>
              </a:rPr>
              <a:t>[</a:t>
            </a:r>
            <a:r>
              <a:rPr sz="1050" b="0" i="0">
                <a:solidFill>
                  <a:srgbClr val="7EE787"/>
                </a:solidFill>
                <a:latin typeface="Courier New"/>
              </a:rPr>
              <a:t>'e4'</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board</a:t>
            </a:r>
            <a:r>
              <a:rPr sz="1050" b="0" i="0">
                <a:solidFill>
                  <a:srgbClr val="E6EDF3"/>
                </a:solidFill>
                <a:latin typeface="Courier New"/>
              </a:rPr>
              <a:t>[</a:t>
            </a:r>
            <a:r>
              <a:rPr sz="1050" b="0" i="0">
                <a:solidFill>
                  <a:srgbClr val="7EE787"/>
                </a:solidFill>
                <a:latin typeface="Courier New"/>
              </a:rPr>
              <a:t>'e2'</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del</a:t>
            </a:r>
            <a:r>
              <a:rPr sz="1050" b="0" i="0">
                <a:solidFill>
                  <a:srgbClr val="E6EDF3"/>
                </a:solidFill>
                <a:latin typeface="Courier New"/>
              </a:rPr>
              <a:t> </a:t>
            </a:r>
            <a:r>
              <a:rPr sz="1050" b="0" i="0">
                <a:solidFill>
                  <a:srgbClr val="E6EDF3"/>
                </a:solidFill>
                <a:latin typeface="Courier New"/>
              </a:rPr>
              <a:t>board</a:t>
            </a:r>
            <a:r>
              <a:rPr sz="1050" b="0" i="0">
                <a:solidFill>
                  <a:srgbClr val="E6EDF3"/>
                </a:solidFill>
                <a:latin typeface="Courier New"/>
              </a:rPr>
              <a:t>[</a:t>
            </a:r>
            <a:r>
              <a:rPr sz="1050" b="0" i="0">
                <a:solidFill>
                  <a:srgbClr val="7EE787"/>
                </a:solidFill>
                <a:latin typeface="Courier New"/>
              </a:rPr>
              <a:t>'e2'</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7EE787"/>
                </a:solidFill>
                <a:latin typeface="Courier New"/>
              </a:rPr>
              <a:t>'{} moves {} to {}'</a:t>
            </a:r>
            <a:r>
              <a:rPr sz="1050" b="0" i="0">
                <a:solidFill>
                  <a:srgbClr val="E6EDF3"/>
                </a:solidFill>
                <a:latin typeface="Courier New"/>
              </a:rPr>
              <a:t>.</a:t>
            </a:r>
            <a:r>
              <a:rPr sz="1050" b="0" i="0">
                <a:solidFill>
                  <a:srgbClr val="E6EDF3"/>
                </a:solidFill>
                <a:latin typeface="Courier New"/>
              </a:rPr>
              <a:t>format</a:t>
            </a:r>
            <a:r>
              <a:rPr sz="1050" b="0" i="0">
                <a:solidFill>
                  <a:srgbClr val="E6EDF3"/>
                </a:solidFill>
                <a:latin typeface="Courier New"/>
              </a:rPr>
              <a:t>(</a:t>
            </a:r>
            <a:r>
              <a:rPr sz="1050" b="0" i="0">
                <a:solidFill>
                  <a:srgbClr val="7EE787"/>
                </a:solidFill>
                <a:latin typeface="Courier New"/>
              </a:rPr>
              <a:t>'wP'</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'e2'</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'e4'</a:t>
            </a:r>
            <a:r>
              <a:rPr sz="1050" b="0" i="0">
                <a:solidFill>
                  <a:srgbClr val="E6EDF3"/>
                </a:solidFill>
                <a:latin typeface="Courier New"/>
              </a:rPr>
              <a:t>)</a:t>
            </a:r>
            <a:r>
              <a:rPr sz="1050" b="0" i="0">
                <a:solidFill>
                  <a:srgbClr val="E6EDF3"/>
                </a:solidFill>
                <a:latin typeface="Courier New"/>
              </a:rPr>
              <a:t>)</a:t>
            </a:r>
          </a:p>
        </p:txBody>
      </p:sp>
      <p:sp>
        <p:nvSpPr>
          <p:cNvPr id="9" name="explanation"/>
          <p:cNvSpPr/>
          <p:nvPr/>
        </p:nvSpPr>
        <p:spPr>
          <a:xfrm>
            <a:off x="5148072" y="1749932"/>
            <a:ext cx="3584448" cy="597789"/>
          </a:xfrm>
          <a:prstGeom prst="roundRect">
            <a:avLst>
              <a:gd name="adj" fmla="val 1223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move copies the piece to the new square, deletes the old one, and reports it.</a:t>
            </a:r>
          </a:p>
        </p:txBody>
      </p:sp>
      <p:sp>
        <p:nvSpPr>
          <p:cNvPr id="10" name="code"/>
          <p:cNvSpPr/>
          <p:nvPr/>
        </p:nvSpPr>
        <p:spPr>
          <a:xfrm>
            <a:off x="365760" y="2402585"/>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FFA657"/>
                </a:solidFill>
                <a:latin typeface="Courier New"/>
              </a:rPr>
              <a:t>sorted</a:t>
            </a:r>
            <a:r>
              <a:rPr sz="1050" b="0" i="0">
                <a:solidFill>
                  <a:srgbClr val="E6EDF3"/>
                </a:solidFill>
                <a:latin typeface="Courier New"/>
              </a:rPr>
              <a:t>(</a:t>
            </a:r>
            <a:r>
              <a:rPr sz="1050" b="0" i="0">
                <a:solidFill>
                  <a:srgbClr val="E6EDF3"/>
                </a:solidFill>
                <a:latin typeface="Courier New"/>
              </a:rPr>
              <a:t>board</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FFA657"/>
                </a:solidFill>
                <a:latin typeface="Courier New"/>
              </a:rPr>
              <a:t>sorted</a:t>
            </a:r>
            <a:r>
              <a:rPr sz="1050" b="0" i="0">
                <a:solidFill>
                  <a:srgbClr val="E6EDF3"/>
                </a:solidFill>
                <a:latin typeface="Courier New"/>
              </a:rPr>
              <a:t>(</a:t>
            </a:r>
            <a:r>
              <a:rPr sz="1050" b="0" i="0">
                <a:solidFill>
                  <a:srgbClr val="E6EDF3"/>
                </a:solidFill>
                <a:latin typeface="Courier New"/>
              </a:rPr>
              <a:t>START</a:t>
            </a:r>
            <a:r>
              <a:rPr sz="1050" b="0" i="0">
                <a:solidFill>
                  <a:srgbClr val="E6EDF3"/>
                </a:solidFill>
                <a:latin typeface="Courier New"/>
              </a:rPr>
              <a:t>)</a:t>
            </a:r>
            <a:r>
              <a:rPr sz="1050" b="0" i="0">
                <a:solidFill>
                  <a:srgbClr val="E6EDF3"/>
                </a:solidFill>
                <a:latin typeface="Courier New"/>
              </a:rPr>
              <a:t>)</a:t>
            </a:r>
          </a:p>
        </p:txBody>
      </p:sp>
      <p:sp>
        <p:nvSpPr>
          <p:cNvPr id="11" name="explanation"/>
          <p:cNvSpPr/>
          <p:nvPr/>
        </p:nvSpPr>
        <p:spPr>
          <a:xfrm>
            <a:off x="5148072" y="2402585"/>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board changed; the starting position did not.</a:t>
            </a:r>
          </a:p>
        </p:txBody>
      </p:sp>
      <p:sp>
        <p:nvSpPr>
          <p:cNvPr id="12" name="result label"/>
          <p:cNvSpPr txBox="1"/>
          <p:nvPr/>
        </p:nvSpPr>
        <p:spPr>
          <a:xfrm>
            <a:off x="365760" y="2950971"/>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flow"/>
          <p:cNvGrpSpPr/>
          <p:nvPr/>
        </p:nvGrpSpPr>
        <p:grpSpPr>
          <a:xfrm>
            <a:off x="365760" y="3197859"/>
            <a:ext cx="8412480" cy="761258"/>
            <a:chOff x="365760" y="3197859"/>
            <a:chExt cx="8412480" cy="761258"/>
          </a:xfrm>
        </p:grpSpPr>
        <p:sp>
          <p:nvSpPr>
            <p:cNvPr id="14" name="Rounded Rectangle 13"/>
            <p:cNvSpPr/>
            <p:nvPr/>
          </p:nvSpPr>
          <p:spPr>
            <a:xfrm>
              <a:off x="365760" y="3197859"/>
              <a:ext cx="2621280" cy="761258"/>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START</a:t>
              </a:r>
            </a:p>
            <a:p>
              <a:pPr algn="ctr"/>
              <a:r>
                <a:rPr sz="1200" b="0" i="0">
                  <a:solidFill>
                    <a:srgbClr val="2B2622"/>
                  </a:solidFill>
                  <a:latin typeface="Calibri"/>
                </a:rPr>
                <a:t>a1  e1  e2</a:t>
              </a:r>
            </a:p>
          </p:txBody>
        </p:sp>
        <p:cxnSp>
          <p:nvCxnSpPr>
            <p:cNvPr id="15" name="Connector 14"/>
            <p:cNvCxnSpPr/>
            <p:nvPr/>
          </p:nvCxnSpPr>
          <p:spPr>
            <a:xfrm>
              <a:off x="2987040" y="3578489"/>
              <a:ext cx="274320" cy="0"/>
            </a:xfrm>
            <a:prstGeom prst="line">
              <a:avLst/>
            </a:prstGeom>
            <a:ln w="25400">
              <a:solidFill>
                <a:srgbClr val="6E655C"/>
              </a:solidFill>
              <a:tailEnd type="triangle"/>
            </a:ln>
          </p:spPr>
        </p:cxnSp>
        <p:sp>
          <p:nvSpPr>
            <p:cNvPr id="16" name="Rounded Rectangle 15"/>
            <p:cNvSpPr/>
            <p:nvPr/>
          </p:nvSpPr>
          <p:spPr>
            <a:xfrm>
              <a:off x="3261360" y="3197859"/>
              <a:ext cx="2621280" cy="761258"/>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board = copy.copy(START)</a:t>
              </a:r>
            </a:p>
            <a:p>
              <a:pPr algn="ctr"/>
              <a:r>
                <a:rPr sz="1200" b="0" i="0">
                  <a:solidFill>
                    <a:srgbClr val="2B2622"/>
                  </a:solidFill>
                  <a:latin typeface="Calibri"/>
                </a:rPr>
                <a:t>a1  e1  e2</a:t>
              </a:r>
            </a:p>
          </p:txBody>
        </p:sp>
        <p:cxnSp>
          <p:nvCxnSpPr>
            <p:cNvPr id="17" name="Connector 16"/>
            <p:cNvCxnSpPr/>
            <p:nvPr/>
          </p:nvCxnSpPr>
          <p:spPr>
            <a:xfrm>
              <a:off x="5882640" y="3578489"/>
              <a:ext cx="274320" cy="0"/>
            </a:xfrm>
            <a:prstGeom prst="line">
              <a:avLst/>
            </a:prstGeom>
            <a:ln w="25400">
              <a:solidFill>
                <a:srgbClr val="6E655C"/>
              </a:solidFill>
              <a:tailEnd type="triangle"/>
            </a:ln>
          </p:spPr>
        </p:cxnSp>
        <p:sp>
          <p:nvSpPr>
            <p:cNvPr id="18" name="Rounded Rectangle 17"/>
            <p:cNvSpPr/>
            <p:nvPr/>
          </p:nvSpPr>
          <p:spPr>
            <a:xfrm>
              <a:off x="6156960" y="3197859"/>
              <a:ext cx="2621280" cy="761258"/>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e2 moves to e4</a:t>
              </a:r>
            </a:p>
            <a:p>
              <a:pPr algn="ctr"/>
              <a:r>
                <a:rPr sz="1200" b="1" i="0">
                  <a:solidFill>
                    <a:srgbClr val="FFFFFF"/>
                  </a:solidFill>
                  <a:latin typeface="Calibri"/>
                </a:rPr>
                <a:t>board: a1  e1  e4</a:t>
              </a:r>
            </a:p>
          </p:txBody>
        </p:sp>
      </p:grpSp>
      <p:sp>
        <p:nvSpPr>
          <p:cNvPr id="19" name="result note"/>
          <p:cNvSpPr txBox="1"/>
          <p:nvPr/>
        </p:nvSpPr>
        <p:spPr>
          <a:xfrm>
            <a:off x="365760" y="4008231"/>
            <a:ext cx="8412480" cy="368350"/>
          </a:xfrm>
          <a:prstGeom prst="rect">
            <a:avLst/>
          </a:prstGeom>
          <a:noFill/>
        </p:spPr>
        <p:txBody>
          <a:bodyPr wrap="square" anchor="t" lIns="45720" rIns="45720" tIns="36576" bIns="36576">
            <a:spAutoFit/>
          </a:bodyPr>
          <a:lstStyle/>
          <a:p>
            <a:pPr algn="l"/>
            <a:r>
              <a:rPr sz="1100" b="1" i="0">
                <a:solidFill>
                  <a:srgbClr val="2F6D62"/>
                </a:solidFill>
                <a:latin typeface="Calibri"/>
              </a:rPr>
              <a:t>Printed report: wP moves e2 to e4.   START still holds a1 e1 e2.</a:t>
            </a:r>
          </a:p>
        </p:txBody>
      </p:sp>
      <p:sp>
        <p:nvSpPr>
          <p:cNvPr id="20"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Every simulator command is one or two dictionary operations.</a:t>
            </a:r>
          </a:p>
        </p:txBody>
      </p:sp>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30 / 48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17: A chess dictionary validator</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Every rule becomes a check on keys or values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Chess Dictionary Validator</a:t>
            </a:r>
          </a:p>
        </p:txBody>
      </p:sp>
      <p:sp>
        <p:nvSpPr>
          <p:cNvPr id="6" name="code"/>
          <p:cNvSpPr/>
          <p:nvPr/>
        </p:nvSpPr>
        <p:spPr>
          <a:xfrm>
            <a:off x="365760" y="1097280"/>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squares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f</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7EE787"/>
                </a:solidFill>
                <a:latin typeface="Courier New"/>
              </a:rPr>
              <a:t>'abcdefgh'</a:t>
            </a:r>
          </a:p>
          <a:p>
            <a:pPr algn="l"/>
            <a:r>
              <a:rPr sz="1000" b="0" i="0">
                <a:solidFill>
                  <a:srgbClr val="8A9B94"/>
                </a:solidFill>
                <a:latin typeface="Courier New"/>
              </a:rPr>
              <a:t>&gt;&gt;&gt; </a:t>
            </a:r>
            <a:r>
              <a:rPr sz="1000" b="0" i="0">
                <a:solidFill>
                  <a:srgbClr val="E6EDF3"/>
                </a:solidFill>
                <a:latin typeface="Courier New"/>
              </a:rPr>
              <a: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7EE787"/>
                </a:solidFill>
                <a:latin typeface="Courier New"/>
              </a:rPr>
              <a:t>'12345678'</a:t>
            </a:r>
            <a:r>
              <a:rPr sz="1000" b="0" i="0">
                <a:solidFill>
                  <a:srgbClr val="E6EDF3"/>
                </a:solidFill>
                <a:latin typeface="Courier New"/>
              </a:rPr>
              <a:t>}</a:t>
            </a:r>
          </a:p>
        </p:txBody>
      </p:sp>
      <p:sp>
        <p:nvSpPr>
          <p:cNvPr id="7" name="explanation"/>
          <p:cNvSpPr/>
          <p:nvPr/>
        </p:nvSpPr>
        <p:spPr>
          <a:xfrm>
            <a:off x="5148072" y="1097280"/>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Build the set of all 64 legal square names, a1 to h8.</a:t>
            </a:r>
          </a:p>
        </p:txBody>
      </p:sp>
      <p:sp>
        <p:nvSpPr>
          <p:cNvPr id="8" name="code"/>
          <p:cNvSpPr/>
          <p:nvPr/>
        </p:nvSpPr>
        <p:spPr>
          <a:xfrm>
            <a:off x="365760" y="1618234"/>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board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EE787"/>
                </a:solidFill>
                <a:latin typeface="Courier New"/>
              </a:rPr>
              <a:t>'e1'</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'wK'</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'e8'</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'bK'</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'z9'</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'wQ'</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bad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s</a:t>
            </a:r>
            <a:r>
              <a:rPr sz="1000" b="0" i="0">
                <a:solidFill>
                  <a:srgbClr val="E6EDF3"/>
                </a:solidFill>
                <a:latin typeface="Courier New"/>
              </a:rPr>
              <a: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s</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E6EDF3"/>
                </a:solidFill>
                <a:latin typeface="Courier New"/>
              </a:rPr>
              <a:t>board</a:t>
            </a:r>
            <a:r>
              <a:rPr sz="1000" b="0" i="0">
                <a:solidFill>
                  <a:srgbClr val="E6EDF3"/>
                </a:solidFill>
                <a:latin typeface="Courier New"/>
              </a:rPr>
              <a:t> </a:t>
            </a:r>
            <a:r>
              <a:rPr sz="1000" b="0" i="0">
                <a:solidFill>
                  <a:srgbClr val="FFA657"/>
                </a:solidFill>
                <a:latin typeface="Courier New"/>
              </a:rPr>
              <a:t>if</a:t>
            </a:r>
            <a:r>
              <a:rPr sz="1000" b="0" i="0">
                <a:solidFill>
                  <a:srgbClr val="E6EDF3"/>
                </a:solidFill>
                <a:latin typeface="Courier New"/>
              </a:rPr>
              <a:t> </a:t>
            </a:r>
            <a:r>
              <a:rPr sz="1000" b="0" i="0">
                <a:solidFill>
                  <a:srgbClr val="E6EDF3"/>
                </a:solidFill>
                <a:latin typeface="Courier New"/>
              </a:rPr>
              <a:t>s</a:t>
            </a:r>
            <a:r>
              <a:rPr sz="1000" b="0" i="0">
                <a:solidFill>
                  <a:srgbClr val="E6EDF3"/>
                </a:solidFill>
                <a:latin typeface="Courier New"/>
              </a:rPr>
              <a:t> </a:t>
            </a:r>
            <a:r>
              <a:rPr sz="1000" b="0" i="0">
                <a:solidFill>
                  <a:srgbClr val="FFA657"/>
                </a:solidFill>
                <a:latin typeface="Courier New"/>
              </a:rPr>
              <a:t>not</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E6EDF3"/>
                </a:solidFill>
                <a:latin typeface="Courier New"/>
              </a:rPr>
              <a:t>squares</a:t>
            </a:r>
            <a:r>
              <a:rPr sz="1000" b="0" i="0">
                <a:solidFill>
                  <a:srgbClr val="E6EDF3"/>
                </a:solidFill>
                <a:latin typeface="Courier New"/>
              </a:rPr>
              <a:t>]</a:t>
            </a:r>
          </a:p>
        </p:txBody>
      </p:sp>
      <p:sp>
        <p:nvSpPr>
          <p:cNvPr id="9" name="explanation"/>
          <p:cNvSpPr/>
          <p:nvPr/>
        </p:nvSpPr>
        <p:spPr>
          <a:xfrm>
            <a:off x="5148072" y="1618234"/>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position with one impossible square, z9. List every key that is not a square.</a:t>
            </a:r>
          </a:p>
        </p:txBody>
      </p:sp>
      <p:sp>
        <p:nvSpPr>
          <p:cNvPr id="10" name="code"/>
          <p:cNvSpPr/>
          <p:nvPr/>
        </p:nvSpPr>
        <p:spPr>
          <a:xfrm>
            <a:off x="365760" y="2139188"/>
            <a:ext cx="4800600" cy="644270"/>
          </a:xfrm>
          <a:prstGeom prst="roundRect">
            <a:avLst>
              <a:gd name="adj" fmla="val 11354"/>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kings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sorted</a:t>
            </a:r>
            <a:r>
              <a:rPr sz="1000" b="0" i="0">
                <a:solidFill>
                  <a:srgbClr val="E6EDF3"/>
                </a:solidFill>
                <a:latin typeface="Courier New"/>
              </a:rPr>
              <a:t>(</a:t>
            </a:r>
            <a:r>
              <a:rPr sz="1000" b="0" i="0">
                <a:solidFill>
                  <a:srgbClr val="E6EDF3"/>
                </a:solidFill>
                <a:latin typeface="Courier New"/>
              </a:rPr>
              <a:t>p</a:t>
            </a:r>
            <a:r>
              <a:rPr sz="1000" b="0" i="0">
                <a:solidFill>
                  <a:srgbClr val="E6EDF3"/>
                </a:solidFill>
                <a:latin typeface="Courier New"/>
              </a:rPr>
              <a: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E6EDF3"/>
                </a:solidFill>
                <a:latin typeface="Courier New"/>
              </a:rPr>
              <a:t>board</a:t>
            </a:r>
            <a:r>
              <a:rPr sz="1000" b="0" i="0">
                <a:solidFill>
                  <a:srgbClr val="E6EDF3"/>
                </a:solidFill>
                <a:latin typeface="Courier New"/>
              </a:rPr>
              <a:t>.</a:t>
            </a:r>
            <a:r>
              <a:rPr sz="1000" b="0" i="0">
                <a:solidFill>
                  <a:srgbClr val="E6EDF3"/>
                </a:solidFill>
                <a:latin typeface="Courier New"/>
              </a:rPr>
              <a:t>values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if</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a:t>
            </a:r>
            <a:r>
              <a:rPr sz="1000" b="0" i="0">
                <a:solidFill>
                  <a:srgbClr val="79C0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'K'</a:t>
            </a:r>
            <a:r>
              <a:rPr sz="1000" b="0" i="0">
                <a:solidFill>
                  <a:srgbClr val="E6EDF3"/>
                </a:solidFill>
                <a:latin typeface="Courier New"/>
              </a:rPr>
              <a:t>)</a:t>
            </a:r>
          </a:p>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bad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kings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kings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EE787"/>
                </a:solidFill>
                <a:latin typeface="Courier New"/>
              </a:rPr>
              <a:t>'bK'</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'wK'</a:t>
            </a:r>
            <a:r>
              <a:rPr sz="1000" b="0" i="0">
                <a:solidFill>
                  <a:srgbClr val="E6EDF3"/>
                </a:solidFill>
                <a:latin typeface="Courier New"/>
              </a:rPr>
              <a:t>]</a:t>
            </a:r>
            <a:r>
              <a:rPr sz="1000" b="0" i="0">
                <a:solidFill>
                  <a:srgbClr val="E6EDF3"/>
                </a:solidFill>
                <a:latin typeface="Courier New"/>
              </a:rPr>
              <a:t>)</a:t>
            </a:r>
          </a:p>
        </p:txBody>
      </p:sp>
      <p:sp>
        <p:nvSpPr>
          <p:cNvPr id="11" name="explanation"/>
          <p:cNvSpPr/>
          <p:nvPr/>
        </p:nvSpPr>
        <p:spPr>
          <a:xfrm>
            <a:off x="5148072" y="2139188"/>
            <a:ext cx="3584448" cy="644270"/>
          </a:xfrm>
          <a:prstGeom prst="roundRect">
            <a:avLst>
              <a:gd name="adj" fmla="val 1135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Collect the kings from the values. A legal position has exactly one king of each colour.</a:t>
            </a:r>
          </a:p>
        </p:txBody>
      </p:sp>
      <p:sp>
        <p:nvSpPr>
          <p:cNvPr id="12" name="result label"/>
          <p:cNvSpPr txBox="1"/>
          <p:nvPr/>
        </p:nvSpPr>
        <p:spPr>
          <a:xfrm>
            <a:off x="365760" y="2865754"/>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12642"/>
          <a:ext cx="8412480" cy="932688"/>
        </p:xfrm>
        <a:graphic>
          <a:graphicData uri="http://schemas.openxmlformats.org/drawingml/2006/table">
            <a:tbl>
              <a:tblPr firstRow="1" bandRow="1">
                <a:tableStyleId>{5C22544A-7EE6-4342-B048-85BDC9FD1C3A}</a:tableStyleId>
              </a:tblPr>
              <a:tblGrid>
                <a:gridCol w="2991104"/>
                <a:gridCol w="1308608"/>
                <a:gridCol w="2991104"/>
                <a:gridCol w="1121664"/>
              </a:tblGrid>
              <a:tr h="310896">
                <a:tc>
                  <a:txBody>
                    <a:bodyPr wrap="square"/>
                    <a:lstStyle/>
                    <a:p>
                      <a:r>
                        <a:rPr sz="1200" b="1">
                          <a:solidFill>
                            <a:srgbClr val="FFFFFF"/>
                          </a:solidFill>
                          <a:latin typeface="Calibri"/>
                        </a:rPr>
                        <a:t>Rule of the game</a:t>
                      </a:r>
                    </a:p>
                  </a:txBody>
                  <a:tcPr marL="64008" marR="64008" marT="18288" marB="18288" anchor="ctr">
                    <a:solidFill>
                      <a:srgbClr val="2B2622"/>
                    </a:solidFill>
                  </a:tcPr>
                </a:tc>
                <a:tc>
                  <a:txBody>
                    <a:bodyPr wrap="square"/>
                    <a:lstStyle/>
                    <a:p>
                      <a:r>
                        <a:rPr sz="1200" b="1">
                          <a:solidFill>
                            <a:srgbClr val="FFFFFF"/>
                          </a:solidFill>
                          <a:latin typeface="Calibri"/>
                        </a:rPr>
                        <a:t>Looks at</a:t>
                      </a:r>
                    </a:p>
                  </a:txBody>
                  <a:tcPr marL="64008" marR="64008" marT="18288" marB="18288" anchor="ctr">
                    <a:solidFill>
                      <a:srgbClr val="2B2622"/>
                    </a:solidFill>
                  </a:tcPr>
                </a:tc>
                <a:tc>
                  <a:txBody>
                    <a:bodyPr wrap="square"/>
                    <a:lstStyle/>
                    <a:p>
                      <a:r>
                        <a:rPr sz="1200" b="1">
                          <a:solidFill>
                            <a:srgbClr val="FFFFFF"/>
                          </a:solidFill>
                          <a:latin typeface="Calibri"/>
                        </a:rPr>
                        <a:t>Found</a:t>
                      </a:r>
                    </a:p>
                  </a:txBody>
                  <a:tcPr marL="64008" marR="64008" marT="18288" marB="18288" anchor="ctr">
                    <a:solidFill>
                      <a:srgbClr val="2B2622"/>
                    </a:solidFill>
                  </a:tcPr>
                </a:tc>
                <a:tc>
                  <a:txBody>
                    <a:bodyPr wrap="square"/>
                    <a:lstStyle/>
                    <a:p>
                      <a:r>
                        <a:rPr sz="1200" b="1">
                          <a:solidFill>
                            <a:srgbClr val="FFFFFF"/>
                          </a:solidFill>
                          <a:latin typeface="Calibri"/>
                        </a:rPr>
                        <a:t>Verdict</a:t>
                      </a:r>
                    </a:p>
                  </a:txBody>
                  <a:tcPr marL="64008" marR="64008" marT="18288" marB="18288" anchor="ctr">
                    <a:solidFill>
                      <a:srgbClr val="2B2622"/>
                    </a:solidFill>
                  </a:tcPr>
                </a:tc>
              </a:tr>
              <a:tr h="310896">
                <a:tc>
                  <a:txBody>
                    <a:bodyPr wrap="square"/>
                    <a:lstStyle/>
                    <a:p>
                      <a:r>
                        <a:rPr sz="1200" b="0">
                          <a:solidFill>
                            <a:srgbClr val="2B2622"/>
                          </a:solidFill>
                          <a:latin typeface="Calibri"/>
                        </a:rPr>
                        <a:t>every key is a real square</a:t>
                      </a:r>
                    </a:p>
                  </a:txBody>
                  <a:tcPr marL="64008" marR="64008" marT="18288" marB="18288" anchor="ctr">
                    <a:solidFill>
                      <a:srgbClr val="F2ECE1"/>
                    </a:solidFill>
                  </a:tcPr>
                </a:tc>
                <a:tc>
                  <a:txBody>
                    <a:bodyPr wrap="square"/>
                    <a:lstStyle/>
                    <a:p>
                      <a:r>
                        <a:rPr sz="1200" b="0">
                          <a:solidFill>
                            <a:srgbClr val="2B2622"/>
                          </a:solidFill>
                          <a:latin typeface="Calibri"/>
                        </a:rPr>
                        <a:t>the keys</a:t>
                      </a:r>
                    </a:p>
                  </a:txBody>
                  <a:tcPr marL="64008" marR="64008" marT="18288" marB="18288" anchor="ctr">
                    <a:solidFill>
                      <a:srgbClr val="F2ECE1"/>
                    </a:solidFill>
                  </a:tcPr>
                </a:tc>
                <a:tc>
                  <a:txBody>
                    <a:bodyPr wrap="square"/>
                    <a:lstStyle/>
                    <a:p>
                      <a:r>
                        <a:rPr sz="1200" b="0">
                          <a:solidFill>
                            <a:srgbClr val="2B2622"/>
                          </a:solidFill>
                          <a:latin typeface="Calibri"/>
                        </a:rPr>
                        <a:t>bad squares: ['z9']</a:t>
                      </a:r>
                    </a:p>
                  </a:txBody>
                  <a:tcPr marL="64008" marR="64008" marT="18288" marB="18288" anchor="ctr">
                    <a:solidFill>
                      <a:srgbClr val="F2ECE1"/>
                    </a:solidFill>
                  </a:tcPr>
                </a:tc>
                <a:tc>
                  <a:txBody>
                    <a:bodyPr wrap="square"/>
                    <a:lstStyle/>
                    <a:p>
                      <a:r>
                        <a:rPr sz="1200" b="0">
                          <a:solidFill>
                            <a:srgbClr val="2B2622"/>
                          </a:solidFill>
                          <a:latin typeface="Calibri"/>
                        </a:rPr>
                        <a:t>FAIL</a:t>
                      </a:r>
                    </a:p>
                  </a:txBody>
                  <a:tcPr marL="64008" marR="64008" marT="18288" marB="18288" anchor="ctr">
                    <a:solidFill>
                      <a:srgbClr val="F2ECE1"/>
                    </a:solidFill>
                  </a:tcPr>
                </a:tc>
              </a:tr>
              <a:tr h="310896">
                <a:tc>
                  <a:txBody>
                    <a:bodyPr wrap="square"/>
                    <a:lstStyle/>
                    <a:p>
                      <a:r>
                        <a:rPr sz="1200" b="0">
                          <a:solidFill>
                            <a:srgbClr val="2B2622"/>
                          </a:solidFill>
                          <a:latin typeface="Calibri"/>
                        </a:rPr>
                        <a:t>one king of each colour</a:t>
                      </a:r>
                    </a:p>
                  </a:txBody>
                  <a:tcPr marL="64008" marR="64008" marT="18288" marB="18288" anchor="ctr">
                    <a:solidFill>
                      <a:srgbClr val="FFFFFF"/>
                    </a:solidFill>
                  </a:tcPr>
                </a:tc>
                <a:tc>
                  <a:txBody>
                    <a:bodyPr wrap="square"/>
                    <a:lstStyle/>
                    <a:p>
                      <a:r>
                        <a:rPr sz="1200" b="0">
                          <a:solidFill>
                            <a:srgbClr val="2B2622"/>
                          </a:solidFill>
                          <a:latin typeface="Calibri"/>
                        </a:rPr>
                        <a:t>the values</a:t>
                      </a:r>
                    </a:p>
                  </a:txBody>
                  <a:tcPr marL="64008" marR="64008" marT="18288" marB="18288" anchor="ctr">
                    <a:solidFill>
                      <a:srgbClr val="FFFFFF"/>
                    </a:solidFill>
                  </a:tcPr>
                </a:tc>
                <a:tc>
                  <a:txBody>
                    <a:bodyPr wrap="square"/>
                    <a:lstStyle/>
                    <a:p>
                      <a:r>
                        <a:rPr sz="1200" b="0">
                          <a:solidFill>
                            <a:srgbClr val="2B2622"/>
                          </a:solidFill>
                          <a:latin typeface="Calibri"/>
                        </a:rPr>
                        <a:t>kings: ['bK', 'wK']</a:t>
                      </a:r>
                    </a:p>
                  </a:txBody>
                  <a:tcPr marL="64008" marR="64008" marT="18288" marB="18288" anchor="ctr">
                    <a:solidFill>
                      <a:srgbClr val="FFFFFF"/>
                    </a:solidFill>
                  </a:tcPr>
                </a:tc>
                <a:tc>
                  <a:txBody>
                    <a:bodyPr wrap="square"/>
                    <a:lstStyle/>
                    <a:p>
                      <a:r>
                        <a:rPr sz="1200" b="0">
                          <a:solidFill>
                            <a:srgbClr val="2B2622"/>
                          </a:solidFill>
                          <a:latin typeface="Calibri"/>
                        </a:rPr>
                        <a:t>PASS</a:t>
                      </a:r>
                    </a:p>
                  </a:txBody>
                  <a:tcPr marL="64008" marR="64008" marT="18288" marB="18288" anchor="ctr">
                    <a:solidFill>
                      <a:srgbClr val="FFFFFF"/>
                    </a:solidFill>
                  </a:tcPr>
                </a:tc>
              </a:tr>
            </a:tbl>
          </a:graphicData>
        </a:graphic>
      </p:graphicFrame>
      <p:sp>
        <p:nvSpPr>
          <p:cNvPr id="14"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validator turns each rule of the game into a test on keys or values.</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31 / 48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18: Nested dictionaries: the picnic</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dictionary inside a dictionary holds a record inside a record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Nested Dictionaries and Lists</a:t>
            </a:r>
          </a:p>
        </p:txBody>
      </p:sp>
      <p:sp>
        <p:nvSpPr>
          <p:cNvPr id="6" name="code"/>
          <p:cNvSpPr/>
          <p:nvPr/>
        </p:nvSpPr>
        <p:spPr>
          <a:xfrm>
            <a:off x="365760" y="1097280"/>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guests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EE787"/>
                </a:solidFill>
                <a:latin typeface="Courier New"/>
              </a:rPr>
              <a:t>'Alice'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EE787"/>
                </a:solidFill>
                <a:latin typeface="Courier New"/>
              </a:rPr>
              <a:t>'apples'</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5</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'pretzels'</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12</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          </a:t>
            </a:r>
            <a:r>
              <a:rPr sz="1000" b="0" i="0">
                <a:solidFill>
                  <a:srgbClr val="7EE787"/>
                </a:solidFill>
                <a:latin typeface="Courier New"/>
              </a:rPr>
              <a:t>'Bob'</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EE787"/>
                </a:solidFill>
                <a:latin typeface="Courier New"/>
              </a:rPr>
              <a:t>'apples'</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2</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'ham sandwiches'</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3</a:t>
            </a:r>
            <a:r>
              <a:rPr sz="1000" b="0" i="0">
                <a:solidFill>
                  <a:srgbClr val="E6EDF3"/>
                </a:solidFill>
                <a:latin typeface="Courier New"/>
              </a:rPr>
              <a:t>}</a:t>
            </a:r>
            <a:r>
              <a:rPr sz="1000" b="0" i="0">
                <a:solidFill>
                  <a:srgbClr val="E6EDF3"/>
                </a:solidFill>
                <a:latin typeface="Courier New"/>
              </a:rPr>
              <a:t>}</a:t>
            </a:r>
          </a:p>
        </p:txBody>
      </p:sp>
      <p:sp>
        <p:nvSpPr>
          <p:cNvPr id="7" name="explanation"/>
          <p:cNvSpPr/>
          <p:nvPr/>
        </p:nvSpPr>
        <p:spPr>
          <a:xfrm>
            <a:off x="5148072" y="1097280"/>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Each guest is a key; the value is another dictionary of what they brought.</a:t>
            </a:r>
          </a:p>
        </p:txBody>
      </p:sp>
      <p:sp>
        <p:nvSpPr>
          <p:cNvPr id="8" name="code"/>
          <p:cNvSpPr/>
          <p:nvPr/>
        </p:nvSpPr>
        <p:spPr>
          <a:xfrm>
            <a:off x="365760" y="1618234"/>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def</a:t>
            </a:r>
            <a:r>
              <a:rPr sz="1000" b="0" i="0">
                <a:solidFill>
                  <a:srgbClr val="E6EDF3"/>
                </a:solidFill>
                <a:latin typeface="Courier New"/>
              </a:rPr>
              <a:t> </a:t>
            </a:r>
            <a:r>
              <a:rPr sz="1000" b="0" i="0">
                <a:solidFill>
                  <a:srgbClr val="E6EDF3"/>
                </a:solidFill>
                <a:latin typeface="Courier New"/>
              </a:rPr>
              <a:t>total</a:t>
            </a:r>
            <a:r>
              <a:rPr sz="1000" b="0" i="0">
                <a:solidFill>
                  <a:srgbClr val="E6EDF3"/>
                </a:solidFill>
                <a:latin typeface="Courier New"/>
              </a:rPr>
              <a:t>(</a:t>
            </a:r>
            <a:r>
              <a:rPr sz="1000" b="0" i="0">
                <a:solidFill>
                  <a:srgbClr val="E6EDF3"/>
                </a:solidFill>
                <a:latin typeface="Courier New"/>
              </a:rPr>
              <a:t>item</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    </a:t>
            </a:r>
            <a:r>
              <a:rPr sz="1000" b="0" i="0">
                <a:solidFill>
                  <a:srgbClr val="FFA657"/>
                </a:solidFill>
                <a:latin typeface="Courier New"/>
              </a:rPr>
              <a:t>return</a:t>
            </a:r>
            <a:r>
              <a:rPr sz="1000" b="0" i="0">
                <a:solidFill>
                  <a:srgbClr val="E6EDF3"/>
                </a:solidFill>
                <a:latin typeface="Courier New"/>
              </a:rPr>
              <a:t> </a:t>
            </a:r>
            <a:r>
              <a:rPr sz="1000" b="0" i="0">
                <a:solidFill>
                  <a:srgbClr val="FFA657"/>
                </a:solidFill>
                <a:latin typeface="Courier New"/>
              </a:rPr>
              <a:t>sum</a:t>
            </a:r>
            <a:r>
              <a:rPr sz="1000" b="0" i="0">
                <a:solidFill>
                  <a:srgbClr val="E6EDF3"/>
                </a:solidFill>
                <a:latin typeface="Courier New"/>
              </a:rPr>
              <a:t>(</a:t>
            </a:r>
            <a:r>
              <a:rPr sz="1000" b="0" i="0">
                <a:solidFill>
                  <a:srgbClr val="E6EDF3"/>
                </a:solidFill>
                <a:latin typeface="Courier New"/>
              </a:rPr>
              <a:t>v</a:t>
            </a:r>
            <a:r>
              <a:rPr sz="1000" b="0" i="0">
                <a:solidFill>
                  <a:srgbClr val="E6EDF3"/>
                </a:solidFill>
                <a:latin typeface="Courier New"/>
              </a:rPr>
              <a:t>.</a:t>
            </a:r>
            <a:r>
              <a:rPr sz="1000" b="0" i="0">
                <a:solidFill>
                  <a:srgbClr val="E6EDF3"/>
                </a:solidFill>
                <a:latin typeface="Courier New"/>
              </a:rPr>
              <a:t>get</a:t>
            </a:r>
            <a:r>
              <a:rPr sz="1000" b="0" i="0">
                <a:solidFill>
                  <a:srgbClr val="E6EDF3"/>
                </a:solidFill>
                <a:latin typeface="Courier New"/>
              </a:rPr>
              <a:t>(</a:t>
            </a:r>
            <a:r>
              <a:rPr sz="1000" b="0" i="0">
                <a:solidFill>
                  <a:srgbClr val="E6EDF3"/>
                </a:solidFill>
                <a:latin typeface="Courier New"/>
              </a:rPr>
              <a:t>item</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v</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E6EDF3"/>
                </a:solidFill>
                <a:latin typeface="Courier New"/>
              </a:rPr>
              <a:t>guests</a:t>
            </a:r>
            <a:r>
              <a:rPr sz="1000" b="0" i="0">
                <a:solidFill>
                  <a:srgbClr val="E6EDF3"/>
                </a:solidFill>
                <a:latin typeface="Courier New"/>
              </a:rPr>
              <a:t>.</a:t>
            </a:r>
            <a:r>
              <a:rPr sz="1000" b="0" i="0">
                <a:solidFill>
                  <a:srgbClr val="E6EDF3"/>
                </a:solidFill>
                <a:latin typeface="Courier New"/>
              </a:rPr>
              <a:t>values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p:nvPr/>
        </p:nvSpPr>
        <p:spPr>
          <a:xfrm>
            <a:off x="5148072" y="1618234"/>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Add up one item over all guests; get() gives 0 for a guest who did not bring it.</a:t>
            </a:r>
          </a:p>
        </p:txBody>
      </p:sp>
      <p:sp>
        <p:nvSpPr>
          <p:cNvPr id="10" name="code"/>
          <p:cNvSpPr/>
          <p:nvPr/>
        </p:nvSpPr>
        <p:spPr>
          <a:xfrm>
            <a:off x="365760" y="2139188"/>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total</a:t>
            </a:r>
            <a:r>
              <a:rPr sz="1000" b="0" i="0">
                <a:solidFill>
                  <a:srgbClr val="E6EDF3"/>
                </a:solidFill>
                <a:latin typeface="Courier New"/>
              </a:rPr>
              <a:t>(</a:t>
            </a:r>
            <a:r>
              <a:rPr sz="1000" b="0" i="0">
                <a:solidFill>
                  <a:srgbClr val="7EE787"/>
                </a:solidFill>
                <a:latin typeface="Courier New"/>
              </a:rPr>
              <a:t>'apples'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total</a:t>
            </a:r>
            <a:r>
              <a:rPr sz="1000" b="0" i="0">
                <a:solidFill>
                  <a:srgbClr val="E6EDF3"/>
                </a:solidFill>
                <a:latin typeface="Courier New"/>
              </a:rPr>
              <a:t>(</a:t>
            </a:r>
            <a:r>
              <a:rPr sz="1000" b="0" i="0">
                <a:solidFill>
                  <a:srgbClr val="7EE787"/>
                </a:solidFill>
                <a:latin typeface="Courier New"/>
              </a:rPr>
              <a:t>'cups'</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guests</a:t>
            </a:r>
            <a:r>
              <a:rPr sz="1000" b="0" i="0">
                <a:solidFill>
                  <a:srgbClr val="E6EDF3"/>
                </a:solidFill>
                <a:latin typeface="Courier New"/>
              </a:rPr>
              <a:t>[</a:t>
            </a:r>
            <a:r>
              <a:rPr sz="1000" b="0" i="0">
                <a:solidFill>
                  <a:srgbClr val="7EE787"/>
                </a:solidFill>
                <a:latin typeface="Courier New"/>
              </a:rPr>
              <a:t>'Alice'</a:t>
            </a:r>
            <a:r>
              <a:rPr sz="1000" b="0" i="0">
                <a:solidFill>
                  <a:srgbClr val="E6EDF3"/>
                </a:solidFill>
                <a:latin typeface="Courier New"/>
              </a:rPr>
              <a:t>]</a:t>
            </a:r>
            <a:r>
              <a:rPr sz="1000" b="0" i="0">
                <a:solidFill>
                  <a:srgbClr val="E6EDF3"/>
                </a:solidFill>
                <a:latin typeface="Courier New"/>
              </a:rPr>
              <a:t>[</a:t>
            </a:r>
            <a:r>
              <a:rPr sz="1000" b="0" i="0">
                <a:solidFill>
                  <a:srgbClr val="7EE787"/>
                </a:solidFill>
                <a:latin typeface="Courier New"/>
              </a:rPr>
              <a:t>'pretzels'</a:t>
            </a:r>
            <a:r>
              <a:rPr sz="1000" b="0" i="0">
                <a:solidFill>
                  <a:srgbClr val="E6EDF3"/>
                </a:solidFill>
                <a:latin typeface="Courier New"/>
              </a:rPr>
              <a:t>]</a:t>
            </a:r>
            <a:r>
              <a:rPr sz="1000" b="0" i="0">
                <a:solidFill>
                  <a:srgbClr val="E6EDF3"/>
                </a:solidFill>
                <a:latin typeface="Courier New"/>
              </a:rPr>
              <a:t>)</a:t>
            </a:r>
          </a:p>
        </p:txBody>
      </p:sp>
      <p:sp>
        <p:nvSpPr>
          <p:cNvPr id="11" name="explanation"/>
          <p:cNvSpPr/>
          <p:nvPr/>
        </p:nvSpPr>
        <p:spPr>
          <a:xfrm>
            <a:off x="5148072" y="2139188"/>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Two keys in a row reach the inner value. Nobody brought cups, so the total is 0.</a:t>
            </a:r>
          </a:p>
        </p:txBody>
      </p:sp>
      <p:sp>
        <p:nvSpPr>
          <p:cNvPr id="12" name="result label"/>
          <p:cNvSpPr txBox="1"/>
          <p:nvPr/>
        </p:nvSpPr>
        <p:spPr>
          <a:xfrm>
            <a:off x="365760" y="2687574"/>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p:cNvGraphicFramePr>
            <a:graphicFrameLocks noGrp="1"/>
          </p:cNvGraphicFramePr>
          <p:nvPr/>
        </p:nvGraphicFramePr>
        <p:xfrm>
          <a:off x="365760" y="2934462"/>
          <a:ext cx="5120640" cy="1491234"/>
        </p:xfrm>
        <a:graphic>
          <a:graphicData uri="http://schemas.openxmlformats.org/drawingml/2006/chart">
            <c:chart xmlns:c="http://schemas.openxmlformats.org/drawingml/2006/chart" r:id="rId3"/>
          </a:graphicData>
        </a:graphic>
      </p:graphicFrame>
      <p:graphicFrame>
        <p:nvGraphicFramePr>
          <p:cNvPr id="14" name="result table"/>
          <p:cNvGraphicFramePr>
            <a:graphicFrameLocks noGrp="1"/>
          </p:cNvGraphicFramePr>
          <p:nvPr/>
        </p:nvGraphicFramePr>
        <p:xfrm>
          <a:off x="5760720" y="2934462"/>
          <a:ext cx="3017519" cy="932688"/>
        </p:xfrm>
        <a:graphic>
          <a:graphicData uri="http://schemas.openxmlformats.org/drawingml/2006/table">
            <a:tbl>
              <a:tblPr firstRow="1" bandRow="1">
                <a:tableStyleId>{5C22544A-7EE6-4342-B048-85BDC9FD1C3A}</a:tableStyleId>
              </a:tblPr>
              <a:tblGrid>
                <a:gridCol w="2130014"/>
                <a:gridCol w="887505"/>
              </a:tblGrid>
              <a:tr h="310896">
                <a:tc>
                  <a:txBody>
                    <a:bodyPr wrap="square"/>
                    <a:lstStyle/>
                    <a:p>
                      <a:r>
                        <a:rPr sz="1200" b="1">
                          <a:solidFill>
                            <a:srgbClr val="FFFFFF"/>
                          </a:solidFill>
                          <a:latin typeface="Calibri"/>
                        </a:rPr>
                        <a:t>Expression</a:t>
                      </a:r>
                    </a:p>
                  </a:txBody>
                  <a:tcPr marL="64008" marR="64008" marT="18288" marB="18288" anchor="ctr">
                    <a:solidFill>
                      <a:srgbClr val="2B2622"/>
                    </a:solidFill>
                  </a:tcPr>
                </a:tc>
                <a:tc>
                  <a:txBody>
                    <a:bodyPr wrap="square"/>
                    <a:lstStyle/>
                    <a:p>
                      <a:r>
                        <a:rPr sz="1200" b="1">
                          <a:solidFill>
                            <a:srgbClr val="FFFFFF"/>
                          </a:solidFill>
                          <a:latin typeface="Calibri"/>
                        </a:rPr>
                        <a:t>Printed</a:t>
                      </a:r>
                    </a:p>
                  </a:txBody>
                  <a:tcPr marL="64008" marR="64008" marT="18288" marB="18288" anchor="ctr">
                    <a:solidFill>
                      <a:srgbClr val="2B2622"/>
                    </a:solidFill>
                  </a:tcPr>
                </a:tc>
              </a:tr>
              <a:tr h="310896">
                <a:tc>
                  <a:txBody>
                    <a:bodyPr wrap="square"/>
                    <a:lstStyle/>
                    <a:p>
                      <a:r>
                        <a:rPr sz="1200" b="0">
                          <a:solidFill>
                            <a:srgbClr val="2B2622"/>
                          </a:solidFill>
                          <a:latin typeface="Courier New"/>
                        </a:rPr>
                        <a:t>total('apples'), total('cups')</a:t>
                      </a:r>
                    </a:p>
                  </a:txBody>
                  <a:tcPr marL="64008" marR="64008" marT="18288" marB="18288" anchor="ctr">
                    <a:solidFill>
                      <a:srgbClr val="F2ECE1"/>
                    </a:solidFill>
                  </a:tcPr>
                </a:tc>
                <a:tc>
                  <a:txBody>
                    <a:bodyPr wrap="square"/>
                    <a:lstStyle/>
                    <a:p>
                      <a:r>
                        <a:rPr sz="1200" b="0">
                          <a:solidFill>
                            <a:srgbClr val="2B2622"/>
                          </a:solidFill>
                          <a:latin typeface="Calibri"/>
                        </a:rPr>
                        <a:t>7 0</a:t>
                      </a:r>
                    </a:p>
                  </a:txBody>
                  <a:tcPr marL="64008" marR="64008" marT="18288" marB="18288" anchor="ctr">
                    <a:solidFill>
                      <a:srgbClr val="F2ECE1"/>
                    </a:solidFill>
                  </a:tcPr>
                </a:tc>
              </a:tr>
              <a:tr h="310896">
                <a:tc>
                  <a:txBody>
                    <a:bodyPr wrap="square"/>
                    <a:lstStyle/>
                    <a:p>
                      <a:r>
                        <a:rPr sz="1200" b="0">
                          <a:solidFill>
                            <a:srgbClr val="2B2622"/>
                          </a:solidFill>
                          <a:latin typeface="Courier New"/>
                        </a:rPr>
                        <a:t>Alice's pretzels</a:t>
                      </a:r>
                    </a:p>
                  </a:txBody>
                  <a:tcPr marL="64008" marR="64008" marT="18288" marB="18288" anchor="ctr">
                    <a:solidFill>
                      <a:srgbClr val="FFFFFF"/>
                    </a:solidFill>
                  </a:tcPr>
                </a:tc>
                <a:tc>
                  <a:txBody>
                    <a:bodyPr wrap="square"/>
                    <a:lstStyle/>
                    <a:p>
                      <a:r>
                        <a:rPr sz="1200" b="0">
                          <a:solidFill>
                            <a:srgbClr val="2B2622"/>
                          </a:solidFill>
                          <a:latin typeface="Calibri"/>
                        </a:rPr>
                        <a:t>12</a:t>
                      </a:r>
                    </a:p>
                  </a:txBody>
                  <a:tcPr marL="64008" marR="64008" marT="18288" marB="18288" anchor="ctr">
                    <a:solidFill>
                      <a:srgbClr val="FFFFFF"/>
                    </a:solidFill>
                  </a:tcPr>
                </a:tc>
              </a:tr>
            </a:tbl>
          </a:graphicData>
        </a:graphic>
      </p:graphicFrame>
      <p:sp>
        <p:nvSpPr>
          <p:cNvPr id="15"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get() with a default keeps the picnic totals honest.</a:t>
            </a:r>
          </a:p>
        </p:txBody>
      </p:sp>
      <p:sp>
        <p:nvSpPr>
          <p:cNvPr id="1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32 / 48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Code 19: Fantasy game inventory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Display a dictionary of items and total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Fantasy Game Inventory</a:t>
            </a:r>
          </a:p>
        </p:txBody>
      </p:sp>
      <p:sp>
        <p:nvSpPr>
          <p:cNvPr id="6" name="code"/>
          <p:cNvSpPr/>
          <p:nvPr/>
        </p:nvSpPr>
        <p:spPr>
          <a:xfrm>
            <a:off x="365760" y="1097280"/>
            <a:ext cx="4800600" cy="481583"/>
          </a:xfrm>
          <a:prstGeom prst="roundRect">
            <a:avLst>
              <a:gd name="adj" fmla="val 15189"/>
            </a:avLst>
          </a:prstGeom>
          <a:solidFill>
            <a:srgbClr val="23272E"/>
          </a:solidFill>
          <a:ln>
            <a:solidFill>
              <a:srgbClr val="23272E"/>
            </a:solidFill>
          </a:ln>
        </p:spPr>
        <p:txBody>
          <a:bodyPr rtlCol="0" anchor="ctr" wrap="none" tIns="36576" bIns="36576"/>
          <a:lstStyle/>
          <a:p>
            <a:pPr algn="l"/>
            <a:r>
              <a:rPr sz="1150" b="0" i="0">
                <a:solidFill>
                  <a:srgbClr val="8A9B94"/>
                </a:solidFill>
                <a:latin typeface="Courier New"/>
              </a:rPr>
              <a:t>&gt;&gt;&gt; </a:t>
            </a:r>
            <a:r>
              <a:rPr sz="1150" b="0" i="0">
                <a:solidFill>
                  <a:srgbClr val="E6EDF3"/>
                </a:solidFill>
                <a:latin typeface="Courier New"/>
              </a:rPr>
              <a:t>stuff</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a:t>
            </a:r>
            <a:r>
              <a:rPr sz="1150" b="0" i="0">
                <a:solidFill>
                  <a:srgbClr val="7EE787"/>
                </a:solidFill>
                <a:latin typeface="Courier New"/>
              </a:rPr>
              <a:t>'rope'</a:t>
            </a:r>
            <a:r>
              <a:rPr sz="1150" b="0" i="0">
                <a:solidFill>
                  <a:srgbClr val="E6EDF3"/>
                </a:solidFill>
                <a:latin typeface="Courier New"/>
              </a:rPr>
              <a:t>:</a:t>
            </a:r>
            <a:r>
              <a:rPr sz="1150" b="0" i="0">
                <a:solidFill>
                  <a:srgbClr val="E6EDF3"/>
                </a:solidFill>
                <a:latin typeface="Courier New"/>
              </a:rPr>
              <a:t> </a:t>
            </a:r>
            <a:r>
              <a:rPr sz="1150" b="0" i="0">
                <a:solidFill>
                  <a:srgbClr val="79C0FF"/>
                </a:solidFill>
                <a:latin typeface="Courier New"/>
              </a:rPr>
              <a:t>1</a:t>
            </a:r>
            <a:r>
              <a:rPr sz="1150" b="0" i="0">
                <a:solidFill>
                  <a:srgbClr val="E6EDF3"/>
                </a:solidFill>
                <a:latin typeface="Courier New"/>
              </a:rPr>
              <a:t>,</a:t>
            </a:r>
            <a:r>
              <a:rPr sz="1150" b="0" i="0">
                <a:solidFill>
                  <a:srgbClr val="E6EDF3"/>
                </a:solidFill>
                <a:latin typeface="Courier New"/>
              </a:rPr>
              <a:t> </a:t>
            </a:r>
            <a:r>
              <a:rPr sz="1150" b="0" i="0">
                <a:solidFill>
                  <a:srgbClr val="7EE787"/>
                </a:solidFill>
                <a:latin typeface="Courier New"/>
              </a:rPr>
              <a:t>'torch'</a:t>
            </a:r>
            <a:r>
              <a:rPr sz="1150" b="0" i="0">
                <a:solidFill>
                  <a:srgbClr val="E6EDF3"/>
                </a:solidFill>
                <a:latin typeface="Courier New"/>
              </a:rPr>
              <a:t>:</a:t>
            </a:r>
            <a:r>
              <a:rPr sz="1150" b="0" i="0">
                <a:solidFill>
                  <a:srgbClr val="E6EDF3"/>
                </a:solidFill>
                <a:latin typeface="Courier New"/>
              </a:rPr>
              <a:t> </a:t>
            </a:r>
            <a:r>
              <a:rPr sz="1150" b="0" i="0">
                <a:solidFill>
                  <a:srgbClr val="79C0FF"/>
                </a:solidFill>
                <a:latin typeface="Courier New"/>
              </a:rPr>
              <a:t>6</a:t>
            </a:r>
            <a:r>
              <a:rPr sz="1150" b="0" i="0">
                <a:solidFill>
                  <a:srgbClr val="E6EDF3"/>
                </a:solidFill>
                <a:latin typeface="Courier New"/>
              </a:rPr>
              <a:t>,</a:t>
            </a:r>
            <a:r>
              <a:rPr sz="1150" b="0" i="0">
                <a:solidFill>
                  <a:srgbClr val="E6EDF3"/>
                </a:solidFill>
                <a:latin typeface="Courier New"/>
              </a:rPr>
              <a:t> </a:t>
            </a:r>
            <a:r>
              <a:rPr sz="1150" b="0" i="0">
                <a:solidFill>
                  <a:srgbClr val="7EE787"/>
                </a:solidFill>
                <a:latin typeface="Courier New"/>
              </a:rPr>
              <a:t>'gold coin'</a:t>
            </a:r>
            <a:r>
              <a:rPr sz="1150" b="0" i="0">
                <a:solidFill>
                  <a:srgbClr val="E6EDF3"/>
                </a:solidFill>
                <a:latin typeface="Courier New"/>
              </a:rPr>
              <a:t>:</a:t>
            </a:r>
            <a:r>
              <a:rPr sz="1150" b="0" i="0">
                <a:solidFill>
                  <a:srgbClr val="E6EDF3"/>
                </a:solidFill>
                <a:latin typeface="Courier New"/>
              </a:rPr>
              <a:t> </a:t>
            </a:r>
            <a:r>
              <a:rPr sz="1150" b="0" i="0">
                <a:solidFill>
                  <a:srgbClr val="79C0FF"/>
                </a:solidFill>
                <a:latin typeface="Courier New"/>
              </a:rPr>
              <a:t>42</a:t>
            </a:r>
            <a:r>
              <a:rPr sz="1150" b="0" i="0">
                <a:solidFill>
                  <a:srgbClr val="E6EDF3"/>
                </a:solidFill>
                <a:latin typeface="Courier New"/>
              </a:rPr>
              <a:t>}</a:t>
            </a:r>
          </a:p>
          <a:p>
            <a:pPr algn="l"/>
            <a:r>
              <a:rPr sz="1150" b="0" i="0">
                <a:solidFill>
                  <a:srgbClr val="8A9B94"/>
                </a:solidFill>
                <a:latin typeface="Courier New"/>
              </a:rPr>
              <a:t>&gt;&gt;&gt; </a:t>
            </a:r>
            <a:r>
              <a:rPr sz="1150" b="0" i="0">
                <a:solidFill>
                  <a:srgbClr val="E6EDF3"/>
                </a:solidFill>
                <a:latin typeface="Courier New"/>
              </a:rPr>
              <a:t>total</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79C0FF"/>
                </a:solidFill>
                <a:latin typeface="Courier New"/>
              </a:rPr>
              <a:t>0</a:t>
            </a:r>
          </a:p>
        </p:txBody>
      </p:sp>
      <p:sp>
        <p:nvSpPr>
          <p:cNvPr id="7" name="explanation"/>
          <p:cNvSpPr/>
          <p:nvPr/>
        </p:nvSpPr>
        <p:spPr>
          <a:xfrm>
            <a:off x="5148072" y="1097280"/>
            <a:ext cx="3584448" cy="481583"/>
          </a:xfrm>
          <a:prstGeom prst="roundRect">
            <a:avLst>
              <a:gd name="adj" fmla="val 1518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The inventory maps each item to how many the player carries.</a:t>
            </a:r>
          </a:p>
        </p:txBody>
      </p:sp>
      <p:sp>
        <p:nvSpPr>
          <p:cNvPr id="8" name="code"/>
          <p:cNvSpPr/>
          <p:nvPr/>
        </p:nvSpPr>
        <p:spPr>
          <a:xfrm>
            <a:off x="365760" y="1633728"/>
            <a:ext cx="4800600" cy="644270"/>
          </a:xfrm>
          <a:prstGeom prst="roundRect">
            <a:avLst>
              <a:gd name="adj" fmla="val 11354"/>
            </a:avLst>
          </a:prstGeom>
          <a:solidFill>
            <a:srgbClr val="23272E"/>
          </a:solidFill>
          <a:ln>
            <a:solidFill>
              <a:srgbClr val="23272E"/>
            </a:solidFill>
          </a:ln>
        </p:spPr>
        <p:txBody>
          <a:bodyPr rtlCol="0" anchor="ctr" wrap="none" tIns="36576" bIns="36576"/>
          <a:lstStyle/>
          <a:p>
            <a:pPr algn="l"/>
            <a:r>
              <a:rPr sz="1150" b="0" i="0">
                <a:solidFill>
                  <a:srgbClr val="8A9B94"/>
                </a:solidFill>
                <a:latin typeface="Courier New"/>
              </a:rPr>
              <a:t>&gt;&gt;&gt; </a:t>
            </a:r>
            <a:r>
              <a:rPr sz="1150" b="0" i="0">
                <a:solidFill>
                  <a:srgbClr val="FFA657"/>
                </a:solidFill>
                <a:latin typeface="Courier New"/>
              </a:rPr>
              <a:t>for</a:t>
            </a:r>
            <a:r>
              <a:rPr sz="1150" b="0" i="0">
                <a:solidFill>
                  <a:srgbClr val="E6EDF3"/>
                </a:solidFill>
                <a:latin typeface="Courier New"/>
              </a:rPr>
              <a:t> </a:t>
            </a:r>
            <a:r>
              <a:rPr sz="1150" b="0" i="0">
                <a:solidFill>
                  <a:srgbClr val="E6EDF3"/>
                </a:solidFill>
                <a:latin typeface="Courier New"/>
              </a:rPr>
              <a:t>k</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v</a:t>
            </a:r>
            <a:r>
              <a:rPr sz="1150" b="0" i="0">
                <a:solidFill>
                  <a:srgbClr val="E6EDF3"/>
                </a:solidFill>
                <a:latin typeface="Courier New"/>
              </a:rPr>
              <a:t> </a:t>
            </a:r>
            <a:r>
              <a:rPr sz="1150" b="0" i="0">
                <a:solidFill>
                  <a:srgbClr val="FFA657"/>
                </a:solidFill>
                <a:latin typeface="Courier New"/>
              </a:rPr>
              <a:t>in</a:t>
            </a:r>
            <a:r>
              <a:rPr sz="1150" b="0" i="0">
                <a:solidFill>
                  <a:srgbClr val="E6EDF3"/>
                </a:solidFill>
                <a:latin typeface="Courier New"/>
              </a:rPr>
              <a:t> </a:t>
            </a:r>
            <a:r>
              <a:rPr sz="1150" b="0" i="0">
                <a:solidFill>
                  <a:srgbClr val="E6EDF3"/>
                </a:solidFill>
                <a:latin typeface="Courier New"/>
              </a:rPr>
              <a:t>stuff</a:t>
            </a:r>
            <a:r>
              <a:rPr sz="1150" b="0" i="0">
                <a:solidFill>
                  <a:srgbClr val="E6EDF3"/>
                </a:solidFill>
                <a:latin typeface="Courier New"/>
              </a:rPr>
              <a:t>.</a:t>
            </a:r>
            <a:r>
              <a:rPr sz="1150" b="0" i="0">
                <a:solidFill>
                  <a:srgbClr val="E6EDF3"/>
                </a:solidFill>
                <a:latin typeface="Courier New"/>
              </a:rPr>
              <a:t>items</a:t>
            </a:r>
            <a:r>
              <a:rPr sz="1150" b="0" i="0">
                <a:solidFill>
                  <a:srgbClr val="E6EDF3"/>
                </a:solidFill>
                <a:latin typeface="Courier New"/>
              </a:rPr>
              <a:t>(</a:t>
            </a:r>
            <a:r>
              <a:rPr sz="1150" b="0" i="0">
                <a:solidFill>
                  <a:srgbClr val="E6EDF3"/>
                </a:solidFill>
                <a:latin typeface="Courier New"/>
              </a:rPr>
              <a:t>)</a:t>
            </a:r>
            <a:r>
              <a:rPr sz="1150" b="0" i="0">
                <a:solidFill>
                  <a:srgbClr val="E6EDF3"/>
                </a:solidFill>
                <a:latin typeface="Courier New"/>
              </a:rPr>
              <a:t>:</a:t>
            </a:r>
          </a:p>
          <a:p>
            <a:pPr algn="l"/>
            <a:r>
              <a:rPr sz="1150" b="0" i="0">
                <a:solidFill>
                  <a:srgbClr val="8A9B94"/>
                </a:solidFill>
                <a:latin typeface="Courier New"/>
              </a:rPr>
              <a:t>&gt;&gt;&gt; </a:t>
            </a:r>
            <a:r>
              <a:rPr sz="1150" b="0" i="0">
                <a:solidFill>
                  <a:srgbClr val="E6EDF3"/>
                </a:solidFill>
                <a:latin typeface="Courier New"/>
              </a:rPr>
              <a:t>    </a:t>
            </a:r>
            <a:r>
              <a:rPr sz="1150" b="0" i="0">
                <a:solidFill>
                  <a:srgbClr val="FFA657"/>
                </a:solidFill>
                <a:latin typeface="Courier New"/>
              </a:rPr>
              <a:t>print</a:t>
            </a:r>
            <a:r>
              <a:rPr sz="1150" b="0" i="0">
                <a:solidFill>
                  <a:srgbClr val="E6EDF3"/>
                </a:solidFill>
                <a:latin typeface="Courier New"/>
              </a:rPr>
              <a:t>(</a:t>
            </a:r>
            <a:r>
              <a:rPr sz="1150" b="0" i="0">
                <a:solidFill>
                  <a:srgbClr val="FFA657"/>
                </a:solidFill>
                <a:latin typeface="Courier New"/>
              </a:rPr>
              <a:t>str</a:t>
            </a:r>
            <a:r>
              <a:rPr sz="1150" b="0" i="0">
                <a:solidFill>
                  <a:srgbClr val="E6EDF3"/>
                </a:solidFill>
                <a:latin typeface="Courier New"/>
              </a:rPr>
              <a:t>(</a:t>
            </a:r>
            <a:r>
              <a:rPr sz="1150" b="0" i="0">
                <a:solidFill>
                  <a:srgbClr val="E6EDF3"/>
                </a:solidFill>
                <a:latin typeface="Courier New"/>
              </a:rPr>
              <a:t>v</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7EE787"/>
                </a:solidFill>
                <a:latin typeface="Courier New"/>
              </a:rPr>
              <a:t>' '</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k</a:t>
            </a:r>
            <a:r>
              <a:rPr sz="1150" b="0" i="0">
                <a:solidFill>
                  <a:srgbClr val="E6EDF3"/>
                </a:solidFill>
                <a:latin typeface="Courier New"/>
              </a:rPr>
              <a:t>)</a:t>
            </a:r>
          </a:p>
          <a:p>
            <a:pPr algn="l"/>
            <a:r>
              <a:rPr sz="1150" b="0" i="0">
                <a:solidFill>
                  <a:srgbClr val="8A9B94"/>
                </a:solidFill>
                <a:latin typeface="Courier New"/>
              </a:rPr>
              <a:t>&gt;&gt;&gt; </a:t>
            </a:r>
            <a:r>
              <a:rPr sz="1150" b="0" i="0">
                <a:solidFill>
                  <a:srgbClr val="E6EDF3"/>
                </a:solidFill>
                <a:latin typeface="Courier New"/>
              </a:rPr>
              <a:t>    </a:t>
            </a:r>
            <a:r>
              <a:rPr sz="1150" b="0" i="0">
                <a:solidFill>
                  <a:srgbClr val="E6EDF3"/>
                </a:solidFill>
                <a:latin typeface="Courier New"/>
              </a:rPr>
              <a:t>total</a:t>
            </a:r>
            <a:r>
              <a:rPr sz="1150" b="0" i="0">
                <a:solidFill>
                  <a:srgbClr val="E6EDF3"/>
                </a:solidFill>
                <a:latin typeface="Courier New"/>
              </a:rPr>
              <a:t> </a:t>
            </a:r>
            <a:r>
              <a:rPr sz="1150" b="0" i="0">
                <a:solidFill>
                  <a:srgbClr val="E6EDF3"/>
                </a:solidFill>
                <a:latin typeface="Courier New"/>
              </a:rPr>
              <a:t>+</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v</a:t>
            </a:r>
          </a:p>
        </p:txBody>
      </p:sp>
      <p:sp>
        <p:nvSpPr>
          <p:cNvPr id="9" name="explanation"/>
          <p:cNvSpPr/>
          <p:nvPr/>
        </p:nvSpPr>
        <p:spPr>
          <a:xfrm>
            <a:off x="5148072" y="1633728"/>
            <a:ext cx="3584448" cy="644270"/>
          </a:xfrm>
          <a:prstGeom prst="roundRect">
            <a:avLst>
              <a:gd name="adj" fmla="val 1135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Print each item with its count, and add the count to a running total.</a:t>
            </a:r>
          </a:p>
        </p:txBody>
      </p:sp>
      <p:sp>
        <p:nvSpPr>
          <p:cNvPr id="10" name="code"/>
          <p:cNvSpPr/>
          <p:nvPr/>
        </p:nvSpPr>
        <p:spPr>
          <a:xfrm>
            <a:off x="365760" y="2332862"/>
            <a:ext cx="4800600" cy="481583"/>
          </a:xfrm>
          <a:prstGeom prst="roundRect">
            <a:avLst>
              <a:gd name="adj" fmla="val 15189"/>
            </a:avLst>
          </a:prstGeom>
          <a:solidFill>
            <a:srgbClr val="23272E"/>
          </a:solidFill>
          <a:ln>
            <a:solidFill>
              <a:srgbClr val="23272E"/>
            </a:solidFill>
          </a:ln>
        </p:spPr>
        <p:txBody>
          <a:bodyPr rtlCol="0" anchor="ctr" wrap="none" tIns="36576" bIns="36576"/>
          <a:lstStyle/>
          <a:p>
            <a:pPr algn="l"/>
            <a:r>
              <a:rPr sz="1150" b="0" i="0">
                <a:solidFill>
                  <a:srgbClr val="8A9B94"/>
                </a:solidFill>
                <a:latin typeface="Courier New"/>
              </a:rPr>
              <a:t>&gt;&gt;&gt; </a:t>
            </a:r>
            <a:r>
              <a:rPr sz="1150" b="0" i="0">
                <a:solidFill>
                  <a:srgbClr val="FFA657"/>
                </a:solidFill>
                <a:latin typeface="Courier New"/>
              </a:rPr>
              <a:t>print</a:t>
            </a:r>
            <a:r>
              <a:rPr sz="1150" b="0" i="0">
                <a:solidFill>
                  <a:srgbClr val="E6EDF3"/>
                </a:solidFill>
                <a:latin typeface="Courier New"/>
              </a:rPr>
              <a:t>(</a:t>
            </a:r>
            <a:r>
              <a:rPr sz="1150" b="0" i="0">
                <a:solidFill>
                  <a:srgbClr val="7EE787"/>
                </a:solidFill>
                <a:latin typeface="Courier New"/>
              </a:rPr>
              <a:t>'Total number of items:'</a:t>
            </a:r>
            <a:r>
              <a:rPr sz="1150" b="0" i="0">
                <a:solidFill>
                  <a:srgbClr val="E6EDF3"/>
                </a:solidFill>
                <a:latin typeface="Courier New"/>
              </a:rPr>
              <a:t>,</a:t>
            </a:r>
            <a:r>
              <a:rPr sz="1150" b="0" i="0">
                <a:solidFill>
                  <a:srgbClr val="E6EDF3"/>
                </a:solidFill>
                <a:latin typeface="Courier New"/>
              </a:rPr>
              <a:t> </a:t>
            </a:r>
            <a:r>
              <a:rPr sz="1150" b="0" i="0">
                <a:solidFill>
                  <a:srgbClr val="E6EDF3"/>
                </a:solidFill>
                <a:latin typeface="Courier New"/>
              </a:rPr>
              <a:t>total</a:t>
            </a:r>
            <a:r>
              <a:rPr sz="1150" b="0" i="0">
                <a:solidFill>
                  <a:srgbClr val="E6EDF3"/>
                </a:solidFill>
                <a:latin typeface="Courier New"/>
              </a:rPr>
              <a:t>)</a:t>
            </a:r>
          </a:p>
        </p:txBody>
      </p:sp>
      <p:sp>
        <p:nvSpPr>
          <p:cNvPr id="11" name="explanation"/>
          <p:cNvSpPr/>
          <p:nvPr/>
        </p:nvSpPr>
        <p:spPr>
          <a:xfrm>
            <a:off x="5148072" y="2332862"/>
            <a:ext cx="3584448" cy="481583"/>
          </a:xfrm>
          <a:prstGeom prst="roundRect">
            <a:avLst>
              <a:gd name="adj" fmla="val 1518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The total is the sum of the values, not the number of keys.</a:t>
            </a:r>
          </a:p>
        </p:txBody>
      </p:sp>
      <p:sp>
        <p:nvSpPr>
          <p:cNvPr id="12" name="result label"/>
          <p:cNvSpPr txBox="1"/>
          <p:nvPr/>
        </p:nvSpPr>
        <p:spPr>
          <a:xfrm>
            <a:off x="365760" y="2896742"/>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p:cNvGraphicFramePr>
            <a:graphicFrameLocks noGrp="1"/>
          </p:cNvGraphicFramePr>
          <p:nvPr/>
        </p:nvGraphicFramePr>
        <p:xfrm>
          <a:off x="365760" y="3143630"/>
          <a:ext cx="4754880" cy="1282065"/>
        </p:xfrm>
        <a:graphic>
          <a:graphicData uri="http://schemas.openxmlformats.org/drawingml/2006/chart">
            <c:chart xmlns:c="http://schemas.openxmlformats.org/drawingml/2006/chart" r:id="rId3"/>
          </a:graphicData>
        </a:graphic>
      </p:graphicFrame>
      <p:graphicFrame>
        <p:nvGraphicFramePr>
          <p:cNvPr id="14" name="result table"/>
          <p:cNvGraphicFramePr>
            <a:graphicFrameLocks noGrp="1"/>
          </p:cNvGraphicFramePr>
          <p:nvPr/>
        </p:nvGraphicFramePr>
        <p:xfrm>
          <a:off x="5394960" y="3143630"/>
          <a:ext cx="3383280" cy="621792"/>
        </p:xfrm>
        <a:graphic>
          <a:graphicData uri="http://schemas.openxmlformats.org/drawingml/2006/table">
            <a:tbl>
              <a:tblPr firstRow="1" bandRow="1">
                <a:tableStyleId>{5C22544A-7EE6-4342-B048-85BDC9FD1C3A}</a:tableStyleId>
              </a:tblPr>
              <a:tblGrid>
                <a:gridCol w="3383280"/>
              </a:tblGrid>
              <a:tr h="310896">
                <a:tc>
                  <a:txBody>
                    <a:bodyPr wrap="square"/>
                    <a:lstStyle/>
                    <a:p>
                      <a:r>
                        <a:rPr sz="1200" b="1">
                          <a:solidFill>
                            <a:srgbClr val="FFFFFF"/>
                          </a:solidFill>
                          <a:latin typeface="Calibri"/>
                        </a:rPr>
                        <a:t>Last line printed</a:t>
                      </a:r>
                    </a:p>
                  </a:txBody>
                  <a:tcPr marL="64008" marR="64008" marT="18288" marB="18288" anchor="ctr">
                    <a:solidFill>
                      <a:srgbClr val="2B2622"/>
                    </a:solidFill>
                  </a:tcPr>
                </a:tc>
              </a:tr>
              <a:tr h="310896">
                <a:tc>
                  <a:txBody>
                    <a:bodyPr wrap="square"/>
                    <a:lstStyle/>
                    <a:p>
                      <a:r>
                        <a:rPr sz="1200" b="0">
                          <a:solidFill>
                            <a:srgbClr val="2B2622"/>
                          </a:solidFill>
                          <a:latin typeface="Calibri"/>
                        </a:rPr>
                        <a:t>Total number of items: 49</a:t>
                      </a:r>
                    </a:p>
                  </a:txBody>
                  <a:tcPr marL="64008" marR="64008" marT="18288" marB="18288" anchor="ctr">
                    <a:solidFill>
                      <a:srgbClr val="F2ECE1"/>
                    </a:solidFill>
                  </a:tcPr>
                </a:tc>
              </a:tr>
            </a:tbl>
          </a:graphicData>
        </a:graphic>
      </p:graphicFrame>
      <p:sp>
        <p:nvSpPr>
          <p:cNvPr id="15"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Each practice program reads a dictionary and applies a rule.</a:t>
            </a:r>
          </a:p>
        </p:txBody>
      </p:sp>
      <p:sp>
        <p:nvSpPr>
          <p:cNvPr id="1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33 / 48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20: List-to-dictionary loot conversion</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list of loot is added into the inventory</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List-to-Dictionary Loot Conversion</a:t>
            </a:r>
          </a:p>
        </p:txBody>
      </p:sp>
      <p:sp>
        <p:nvSpPr>
          <p:cNvPr id="6" name="code"/>
          <p:cNvSpPr/>
          <p:nvPr/>
        </p:nvSpPr>
        <p:spPr>
          <a:xfrm>
            <a:off x="365760" y="1097280"/>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loot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'gold coin'</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'dagger'</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'gold coin'</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'ruby'</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inv</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'gold coin'</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42</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'rope'</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1</a:t>
            </a:r>
            <a:r>
              <a:rPr sz="1050" b="0" i="0">
                <a:solidFill>
                  <a:srgbClr val="E6EDF3"/>
                </a:solidFill>
                <a:latin typeface="Courier New"/>
              </a:rPr>
              <a:t>}</a:t>
            </a:r>
          </a:p>
        </p:txBody>
      </p:sp>
      <p:sp>
        <p:nvSpPr>
          <p:cNvPr id="7" name="explanation"/>
          <p:cNvSpPr/>
          <p:nvPr/>
        </p:nvSpPr>
        <p:spPr>
          <a:xfrm>
            <a:off x="5148072" y="1097280"/>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list of loot from the dragon, and the inventory so far.</a:t>
            </a:r>
          </a:p>
        </p:txBody>
      </p:sp>
      <p:sp>
        <p:nvSpPr>
          <p:cNvPr id="8" name="code"/>
          <p:cNvSpPr/>
          <p:nvPr/>
        </p:nvSpPr>
        <p:spPr>
          <a:xfrm>
            <a:off x="365760" y="1618234"/>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item</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loot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inv</a:t>
            </a:r>
            <a:r>
              <a:rPr sz="1050" b="0" i="0">
                <a:solidFill>
                  <a:srgbClr val="E6EDF3"/>
                </a:solidFill>
                <a:latin typeface="Courier New"/>
              </a:rPr>
              <a:t>[</a:t>
            </a:r>
            <a:r>
              <a:rPr sz="1050" b="0" i="0">
                <a:solidFill>
                  <a:srgbClr val="E6EDF3"/>
                </a:solidFill>
                <a:latin typeface="Courier New"/>
              </a:rPr>
              <a:t>item</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inv</a:t>
            </a:r>
            <a:r>
              <a:rPr sz="1050" b="0" i="0">
                <a:solidFill>
                  <a:srgbClr val="E6EDF3"/>
                </a:solidFill>
                <a:latin typeface="Courier New"/>
              </a:rPr>
              <a:t>.</a:t>
            </a:r>
            <a:r>
              <a:rPr sz="1050" b="0" i="0">
                <a:solidFill>
                  <a:srgbClr val="E6EDF3"/>
                </a:solidFill>
                <a:latin typeface="Courier New"/>
              </a:rPr>
              <a:t>get</a:t>
            </a:r>
            <a:r>
              <a:rPr sz="1050" b="0" i="0">
                <a:solidFill>
                  <a:srgbClr val="E6EDF3"/>
                </a:solidFill>
                <a:latin typeface="Courier New"/>
              </a:rPr>
              <a:t>(</a:t>
            </a:r>
            <a:r>
              <a:rPr sz="1050" b="0" i="0">
                <a:solidFill>
                  <a:srgbClr val="E6EDF3"/>
                </a:solidFill>
                <a:latin typeface="Courier New"/>
              </a:rPr>
              <a:t>item</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1</a:t>
            </a:r>
          </a:p>
        </p:txBody>
      </p:sp>
      <p:sp>
        <p:nvSpPr>
          <p:cNvPr id="9" name="explanation"/>
          <p:cNvSpPr/>
          <p:nvPr/>
        </p:nvSpPr>
        <p:spPr>
          <a:xfrm>
            <a:off x="5148072" y="1618234"/>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For every piece of loot, read the current count (0 if new) and add one.</a:t>
            </a:r>
          </a:p>
        </p:txBody>
      </p:sp>
      <p:sp>
        <p:nvSpPr>
          <p:cNvPr id="10" name="code"/>
          <p:cNvSpPr/>
          <p:nvPr/>
        </p:nvSpPr>
        <p:spPr>
          <a:xfrm>
            <a:off x="365760" y="2139188"/>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inv</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FFA657"/>
                </a:solidFill>
                <a:latin typeface="Courier New"/>
              </a:rPr>
              <a:t>sum</a:t>
            </a:r>
            <a:r>
              <a:rPr sz="1050" b="0" i="0">
                <a:solidFill>
                  <a:srgbClr val="E6EDF3"/>
                </a:solidFill>
                <a:latin typeface="Courier New"/>
              </a:rPr>
              <a:t>(</a:t>
            </a:r>
            <a:r>
              <a:rPr sz="1050" b="0" i="0">
                <a:solidFill>
                  <a:srgbClr val="E6EDF3"/>
                </a:solidFill>
                <a:latin typeface="Courier New"/>
              </a:rPr>
              <a:t>inv</a:t>
            </a:r>
            <a:r>
              <a:rPr sz="1050" b="0" i="0">
                <a:solidFill>
                  <a:srgbClr val="E6EDF3"/>
                </a:solidFill>
                <a:latin typeface="Courier New"/>
              </a:rPr>
              <a:t>.</a:t>
            </a:r>
            <a:r>
              <a:rPr sz="1050" b="0" i="0">
                <a:solidFill>
                  <a:srgbClr val="E6EDF3"/>
                </a:solidFill>
                <a:latin typeface="Courier New"/>
              </a:rPr>
              <a:t>values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11" name="explanation"/>
          <p:cNvSpPr/>
          <p:nvPr/>
        </p:nvSpPr>
        <p:spPr>
          <a:xfrm>
            <a:off x="5148072" y="2139188"/>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Gold coin grew to 44, and two new items joined. Forty-seven items in all.</a:t>
            </a:r>
          </a:p>
        </p:txBody>
      </p:sp>
      <p:sp>
        <p:nvSpPr>
          <p:cNvPr id="12" name="result label"/>
          <p:cNvSpPr txBox="1"/>
          <p:nvPr/>
        </p:nvSpPr>
        <p:spPr>
          <a:xfrm>
            <a:off x="365760" y="2687574"/>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p:cNvGraphicFramePr>
            <a:graphicFrameLocks noGrp="1"/>
          </p:cNvGraphicFramePr>
          <p:nvPr/>
        </p:nvGraphicFramePr>
        <p:xfrm>
          <a:off x="365760" y="2934462"/>
          <a:ext cx="5486400" cy="1491234"/>
        </p:xfrm>
        <a:graphic>
          <a:graphicData uri="http://schemas.openxmlformats.org/drawingml/2006/chart">
            <c:chart xmlns:c="http://schemas.openxmlformats.org/drawingml/2006/chart" r:id="rId3"/>
          </a:graphicData>
        </a:graphic>
      </p:graphicFrame>
      <p:graphicFrame>
        <p:nvGraphicFramePr>
          <p:cNvPr id="14" name="result table"/>
          <p:cNvGraphicFramePr>
            <a:graphicFrameLocks noGrp="1"/>
          </p:cNvGraphicFramePr>
          <p:nvPr/>
        </p:nvGraphicFramePr>
        <p:xfrm>
          <a:off x="6126480" y="2934462"/>
          <a:ext cx="2651760" cy="822960"/>
        </p:xfrm>
        <a:graphic>
          <a:graphicData uri="http://schemas.openxmlformats.org/drawingml/2006/table">
            <a:tbl>
              <a:tblPr firstRow="1" bandRow="1">
                <a:tableStyleId>{5C22544A-7EE6-4342-B048-85BDC9FD1C3A}</a:tableStyleId>
              </a:tblPr>
              <a:tblGrid>
                <a:gridCol w="1767840"/>
                <a:gridCol w="883920"/>
              </a:tblGrid>
              <a:tr h="274320">
                <a:tc>
                  <a:txBody>
                    <a:bodyPr wrap="square"/>
                    <a:lstStyle/>
                    <a:p>
                      <a:r>
                        <a:rPr sz="1200" b="1">
                          <a:solidFill>
                            <a:srgbClr val="FFFFFF"/>
                          </a:solidFill>
                          <a:latin typeface="Calibri"/>
                        </a:rPr>
                        <a:t>Measure</a:t>
                      </a:r>
                    </a:p>
                  </a:txBody>
                  <a:tcPr marL="64008" marR="64008" marT="18288" marB="18288" anchor="ctr">
                    <a:solidFill>
                      <a:srgbClr val="2B2622"/>
                    </a:solidFill>
                  </a:tcPr>
                </a:tc>
                <a:tc>
                  <a:txBody>
                    <a:bodyPr wrap="square"/>
                    <a:lstStyle/>
                    <a:p>
                      <a:r>
                        <a:rPr sz="1200" b="1">
                          <a:solidFill>
                            <a:srgbClr val="FFFFFF"/>
                          </a:solidFill>
                          <a:latin typeface="Calibri"/>
                        </a:rPr>
                        <a:t>Value</a:t>
                      </a:r>
                    </a:p>
                  </a:txBody>
                  <a:tcPr marL="64008" marR="64008" marT="18288" marB="18288" anchor="ctr">
                    <a:solidFill>
                      <a:srgbClr val="2B2622"/>
                    </a:solidFill>
                  </a:tcPr>
                </a:tc>
              </a:tr>
              <a:tr h="274320">
                <a:tc>
                  <a:txBody>
                    <a:bodyPr wrap="square"/>
                    <a:lstStyle/>
                    <a:p>
                      <a:r>
                        <a:rPr sz="1200" b="0">
                          <a:solidFill>
                            <a:srgbClr val="2B2622"/>
                          </a:solidFill>
                          <a:latin typeface="Calibri"/>
                        </a:rPr>
                        <a:t>items before</a:t>
                      </a:r>
                    </a:p>
                  </a:txBody>
                  <a:tcPr marL="64008" marR="64008" marT="18288" marB="18288" anchor="ctr">
                    <a:solidFill>
                      <a:srgbClr val="F2ECE1"/>
                    </a:solidFill>
                  </a:tcPr>
                </a:tc>
                <a:tc>
                  <a:txBody>
                    <a:bodyPr wrap="square"/>
                    <a:lstStyle/>
                    <a:p>
                      <a:r>
                        <a:rPr sz="1200" b="0">
                          <a:solidFill>
                            <a:srgbClr val="2B2622"/>
                          </a:solidFill>
                          <a:latin typeface="Calibri"/>
                        </a:rPr>
                        <a:t>43</a:t>
                      </a:r>
                    </a:p>
                  </a:txBody>
                  <a:tcPr marL="64008" marR="64008" marT="18288" marB="18288" anchor="ctr">
                    <a:solidFill>
                      <a:srgbClr val="F2ECE1"/>
                    </a:solidFill>
                  </a:tcPr>
                </a:tc>
              </a:tr>
              <a:tr h="274320">
                <a:tc>
                  <a:txBody>
                    <a:bodyPr wrap="square"/>
                    <a:lstStyle/>
                    <a:p>
                      <a:r>
                        <a:rPr sz="1200" b="0">
                          <a:solidFill>
                            <a:srgbClr val="2B2622"/>
                          </a:solidFill>
                          <a:latin typeface="Calibri"/>
                        </a:rPr>
                        <a:t>items after</a:t>
                      </a:r>
                    </a:p>
                  </a:txBody>
                  <a:tcPr marL="64008" marR="64008" marT="18288" marB="18288" anchor="ctr">
                    <a:solidFill>
                      <a:srgbClr val="FFFFFF"/>
                    </a:solidFill>
                  </a:tcPr>
                </a:tc>
                <a:tc>
                  <a:txBody>
                    <a:bodyPr wrap="square"/>
                    <a:lstStyle/>
                    <a:p>
                      <a:r>
                        <a:rPr sz="1200" b="0">
                          <a:solidFill>
                            <a:srgbClr val="2B2622"/>
                          </a:solidFill>
                          <a:latin typeface="Calibri"/>
                        </a:rPr>
                        <a:t>47</a:t>
                      </a:r>
                    </a:p>
                  </a:txBody>
                  <a:tcPr marL="64008" marR="64008" marT="18288" marB="18288" anchor="ctr">
                    <a:solidFill>
                      <a:srgbClr val="FFFFFF"/>
                    </a:solidFill>
                  </a:tcPr>
                </a:tc>
              </a:tr>
            </a:tbl>
          </a:graphicData>
        </a:graphic>
      </p:graphicFrame>
      <p:sp>
        <p:nvSpPr>
          <p:cNvPr id="15"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get(item, 0) + 1 turns any list into counts.</a:t>
            </a:r>
          </a:p>
        </p:txBody>
      </p:sp>
      <p:sp>
        <p:nvSpPr>
          <p:cNvPr id="1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34 / 48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models and structures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model keeps what matters and leaves the rest out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Model Real-World Things Using Data Structures</a:t>
            </a:r>
          </a:p>
        </p:txBody>
      </p:sp>
      <p:sp>
        <p:nvSpPr>
          <p:cNvPr id="6" name="everyday card"/>
          <p:cNvSpPr/>
          <p:nvPr/>
        </p:nvSpPr>
        <p:spPr>
          <a:xfrm>
            <a:off x="457200" y="1170432"/>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data structure</a:t>
            </a:r>
          </a:p>
          <a:p>
            <a:pPr algn="l"/>
            <a:r>
              <a:rPr sz="1300" b="0" i="0">
                <a:solidFill>
                  <a:srgbClr val="2B2622"/>
                </a:solidFill>
                <a:latin typeface="Calibri"/>
              </a:rPr>
              <a:t>A shelf layout: where each item is placed decides how quickly you find it.</a:t>
            </a:r>
          </a:p>
        </p:txBody>
      </p:sp>
      <p:sp>
        <p:nvSpPr>
          <p:cNvPr id="7" name="card accent"/>
          <p:cNvSpPr/>
          <p:nvPr/>
        </p:nvSpPr>
        <p:spPr>
          <a:xfrm>
            <a:off x="457200" y="1170432"/>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8" name="everyday card"/>
          <p:cNvSpPr/>
          <p:nvPr/>
        </p:nvSpPr>
        <p:spPr>
          <a:xfrm>
            <a:off x="4663440" y="1170432"/>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data model</a:t>
            </a:r>
          </a:p>
          <a:p>
            <a:pPr algn="l"/>
            <a:r>
              <a:rPr sz="1300" b="0" i="0">
                <a:solidFill>
                  <a:srgbClr val="2B2622"/>
                </a:solidFill>
                <a:latin typeface="Calibri"/>
              </a:rPr>
              <a:t>The floor plan drawn before building: it decides which rooms and which details exist at all.</a:t>
            </a:r>
          </a:p>
        </p:txBody>
      </p:sp>
      <p:sp>
        <p:nvSpPr>
          <p:cNvPr id="9" name="card accent"/>
          <p:cNvSpPr/>
          <p:nvPr/>
        </p:nvSpPr>
        <p:spPr>
          <a:xfrm>
            <a:off x="4663440" y="1170432"/>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0" name="everyday card"/>
          <p:cNvSpPr/>
          <p:nvPr/>
        </p:nvSpPr>
        <p:spPr>
          <a:xfrm>
            <a:off x="457200" y="2273807"/>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Model Real-World Things Using Data Structures</a:t>
            </a:r>
          </a:p>
          <a:p>
            <a:pPr algn="l"/>
            <a:r>
              <a:rPr sz="1300" b="0" i="0">
                <a:solidFill>
                  <a:srgbClr val="2B2622"/>
                </a:solidFill>
                <a:latin typeface="Calibri"/>
              </a:rPr>
              <a:t>A street map keeps the streets and drops every leaf and parked car.</a:t>
            </a:r>
          </a:p>
        </p:txBody>
      </p:sp>
      <p:sp>
        <p:nvSpPr>
          <p:cNvPr id="11" name="card accent"/>
          <p:cNvSpPr/>
          <p:nvPr/>
        </p:nvSpPr>
        <p:spPr>
          <a:xfrm>
            <a:off x="457200" y="2273807"/>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2" name="everyday card"/>
          <p:cNvSpPr/>
          <p:nvPr/>
        </p:nvSpPr>
        <p:spPr>
          <a:xfrm>
            <a:off x="4663440" y="2273807"/>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Nested Dictionaries and Lists</a:t>
            </a:r>
          </a:p>
          <a:p>
            <a:pPr algn="l"/>
            <a:r>
              <a:rPr sz="1300" b="0" i="0">
                <a:solidFill>
                  <a:srgbClr val="2B2622"/>
                </a:solidFill>
                <a:latin typeface="Calibri"/>
              </a:rPr>
              <a:t>Russian dolls: each doll holds a smaller one, and you open them in turn.</a:t>
            </a:r>
          </a:p>
        </p:txBody>
      </p:sp>
      <p:sp>
        <p:nvSpPr>
          <p:cNvPr id="13" name="card accent"/>
          <p:cNvSpPr/>
          <p:nvPr/>
        </p:nvSpPr>
        <p:spPr>
          <a:xfrm>
            <a:off x="4663440" y="2273807"/>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4" name="everyday card"/>
          <p:cNvSpPr/>
          <p:nvPr/>
        </p:nvSpPr>
        <p:spPr>
          <a:xfrm>
            <a:off x="457200" y="3377184"/>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guestpicnic.py</a:t>
            </a:r>
          </a:p>
          <a:p>
            <a:pPr algn="l"/>
            <a:r>
              <a:rPr sz="1300" b="0" i="0">
                <a:solidFill>
                  <a:srgbClr val="2B2622"/>
                </a:solidFill>
                <a:latin typeface="Calibri"/>
              </a:rPr>
              <a:t>A picnic checklist that adds up what each guest's basket holds.</a:t>
            </a:r>
          </a:p>
        </p:txBody>
      </p:sp>
      <p:sp>
        <p:nvSpPr>
          <p:cNvPr id="15" name="card accent"/>
          <p:cNvSpPr/>
          <p:nvPr/>
        </p:nvSpPr>
        <p:spPr>
          <a:xfrm>
            <a:off x="457200" y="3377184"/>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6" name="everyday card"/>
          <p:cNvSpPr/>
          <p:nvPr/>
        </p:nvSpPr>
        <p:spPr>
          <a:xfrm>
            <a:off x="4663440" y="3377184"/>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format</a:t>
            </a:r>
          </a:p>
          <a:p>
            <a:pPr algn="l"/>
            <a:r>
              <a:rPr sz="1300" b="0" i="0">
                <a:solidFill>
                  <a:srgbClr val="2B2622"/>
                </a:solidFill>
                <a:latin typeface="Calibri"/>
              </a:rPr>
              <a:t>A letter template with blanks, filled in once the names are known.</a:t>
            </a:r>
          </a:p>
        </p:txBody>
      </p:sp>
      <p:sp>
        <p:nvSpPr>
          <p:cNvPr id="17" name="card accent"/>
          <p:cNvSpPr/>
          <p:nvPr/>
        </p:nvSpPr>
        <p:spPr>
          <a:xfrm>
            <a:off x="4663440" y="3377184"/>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35 / 48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the practice projects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The chessboard, its checker, the inventory and the loot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Project 1: Interactive Chessboard Simulator</a:t>
            </a:r>
          </a:p>
        </p:txBody>
      </p:sp>
      <p:sp>
        <p:nvSpPr>
          <p:cNvPr id="6" name="everyday card"/>
          <p:cNvSpPr/>
          <p:nvPr/>
        </p:nvSpPr>
        <p:spPr>
          <a:xfrm>
            <a:off x="457200" y="1170432"/>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Project 1: Interactive Chessboard Simulator</a:t>
            </a:r>
          </a:p>
          <a:p>
            <a:pPr algn="l"/>
            <a:r>
              <a:rPr sz="1300" b="0" i="0">
                <a:solidFill>
                  <a:srgbClr val="2B2622"/>
                </a:solidFill>
                <a:latin typeface="Calibri"/>
              </a:rPr>
              <a:t>A pocket chess set that remembers where every piece stands and moves them when told.</a:t>
            </a:r>
          </a:p>
        </p:txBody>
      </p:sp>
      <p:sp>
        <p:nvSpPr>
          <p:cNvPr id="7" name="card accent"/>
          <p:cNvSpPr/>
          <p:nvPr/>
        </p:nvSpPr>
        <p:spPr>
          <a:xfrm>
            <a:off x="457200" y="1170432"/>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8" name="everyday card"/>
          <p:cNvSpPr/>
          <p:nvPr/>
        </p:nvSpPr>
        <p:spPr>
          <a:xfrm>
            <a:off x="4663440" y="1170432"/>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chessboard.py</a:t>
            </a:r>
          </a:p>
          <a:p>
            <a:pPr algn="l"/>
            <a:r>
              <a:rPr sz="1300" b="0" i="0">
                <a:solidFill>
                  <a:srgbClr val="2B2622"/>
                </a:solidFill>
                <a:latin typeface="Calibri"/>
              </a:rPr>
              <a:t>A seating chart printed from the guest list: the list is the data, the picture is a view.</a:t>
            </a:r>
          </a:p>
        </p:txBody>
      </p:sp>
      <p:sp>
        <p:nvSpPr>
          <p:cNvPr id="9" name="card accent"/>
          <p:cNvSpPr/>
          <p:nvPr/>
        </p:nvSpPr>
        <p:spPr>
          <a:xfrm>
            <a:off x="4663440" y="1170432"/>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0" name="everyday card"/>
          <p:cNvSpPr/>
          <p:nvPr/>
        </p:nvSpPr>
        <p:spPr>
          <a:xfrm>
            <a:off x="457200" y="2273807"/>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Chess Dictionary Validator</a:t>
            </a:r>
          </a:p>
          <a:p>
            <a:pPr algn="l"/>
            <a:r>
              <a:rPr sz="1300" b="0" i="0">
                <a:solidFill>
                  <a:srgbClr val="2B2622"/>
                </a:solidFill>
                <a:latin typeface="Calibri"/>
              </a:rPr>
              <a:t>A match arbiter checking a position is legal: one king each, every piece on a real square.</a:t>
            </a:r>
          </a:p>
        </p:txBody>
      </p:sp>
      <p:sp>
        <p:nvSpPr>
          <p:cNvPr id="11" name="card accent"/>
          <p:cNvSpPr/>
          <p:nvPr/>
        </p:nvSpPr>
        <p:spPr>
          <a:xfrm>
            <a:off x="457200" y="2273807"/>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2" name="everyday card"/>
          <p:cNvSpPr/>
          <p:nvPr/>
        </p:nvSpPr>
        <p:spPr>
          <a:xfrm>
            <a:off x="4663440" y="2273807"/>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Fantasy Game Inventory</a:t>
            </a:r>
          </a:p>
          <a:p>
            <a:pPr algn="l"/>
            <a:r>
              <a:rPr sz="1300" b="0" i="0">
                <a:solidFill>
                  <a:srgbClr val="2B2622"/>
                </a:solidFill>
                <a:latin typeface="Calibri"/>
              </a:rPr>
              <a:t>A backpack list that says which items you carry and how many of each.</a:t>
            </a:r>
          </a:p>
        </p:txBody>
      </p:sp>
      <p:sp>
        <p:nvSpPr>
          <p:cNvPr id="13" name="card accent"/>
          <p:cNvSpPr/>
          <p:nvPr/>
        </p:nvSpPr>
        <p:spPr>
          <a:xfrm>
            <a:off x="4663440" y="2273807"/>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4" name="everyday card"/>
          <p:cNvSpPr/>
          <p:nvPr/>
        </p:nvSpPr>
        <p:spPr>
          <a:xfrm>
            <a:off x="457200" y="3377184"/>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List-to-Dictionary Loot Conversion</a:t>
            </a:r>
          </a:p>
          <a:p>
            <a:pPr algn="l"/>
            <a:r>
              <a:rPr sz="1300" b="0" i="0">
                <a:solidFill>
                  <a:srgbClr val="2B2622"/>
                </a:solidFill>
                <a:latin typeface="Calibri"/>
              </a:rPr>
              <a:t>Sorting a heap of loot into labelled bins, one tally per bin.</a:t>
            </a:r>
          </a:p>
        </p:txBody>
      </p:sp>
      <p:sp>
        <p:nvSpPr>
          <p:cNvPr id="15" name="card accent"/>
          <p:cNvSpPr/>
          <p:nvPr/>
        </p:nvSpPr>
        <p:spPr>
          <a:xfrm>
            <a:off x="457200" y="3377184"/>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6" name="everyday card"/>
          <p:cNvSpPr/>
          <p:nvPr/>
        </p:nvSpPr>
        <p:spPr>
          <a:xfrm>
            <a:off x="4663440" y="3377184"/>
            <a:ext cx="4023360" cy="993648"/>
          </a:xfrm>
          <a:prstGeom prst="roundRect">
            <a:avLst>
              <a:gd name="adj" fmla="val 7361"/>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copy.copy()</a:t>
            </a:r>
          </a:p>
          <a:p>
            <a:pPr algn="l"/>
            <a:r>
              <a:rPr sz="1300" b="0" i="0">
                <a:solidFill>
                  <a:srgbClr val="2B2622"/>
                </a:solidFill>
                <a:latin typeface="Calibri"/>
              </a:rPr>
              <a:t>A photocopy of a folder's cover: the new cover still points at the same pages inside.</a:t>
            </a:r>
          </a:p>
        </p:txBody>
      </p:sp>
      <p:sp>
        <p:nvSpPr>
          <p:cNvPr id="17" name="card accent"/>
          <p:cNvSpPr/>
          <p:nvPr/>
        </p:nvSpPr>
        <p:spPr>
          <a:xfrm>
            <a:off x="4663440" y="3377184"/>
            <a:ext cx="64008" cy="993648"/>
          </a:xfrm>
          <a:prstGeom prst="roundRect">
            <a:avLst>
              <a:gd name="adj" fmla="val 50000"/>
            </a:avLst>
          </a:prstGeom>
          <a:solidFill>
            <a:srgbClr val="D97A14"/>
          </a:solidFill>
          <a:ln>
            <a:solidFill>
              <a:srgbClr val="D97A14"/>
            </a:solidFill>
          </a:ln>
        </p:spPr>
        <p:txBody>
          <a:bodyPr rtlCol="0" anchor="ctr"/>
          <a:lstStyle/>
          <a:p>
            <a:pPr algn="ctr"/>
          </a:p>
        </p:txBody>
      </p:sp>
      <p:sp>
        <p:nvSpPr>
          <p:cNvPr id="1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36 / 48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300">
                <a:solidFill>
                  <a:srgbClr val="2B2622"/>
                </a:solidFill>
                <a:latin typeface="Cambria"/>
              </a:rPr>
              <a:t>Part 5: Copies and writing data down</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Keep a copy safe, carry data out, check its shape</a:t>
            </a:r>
          </a:p>
        </p:txBody>
      </p:sp>
      <p:sp>
        <p:nvSpPr>
          <p:cNvPr id="4" name="concept row"/>
          <p:cNvSpPr/>
          <p:nvPr/>
        </p:nvSpPr>
        <p:spPr>
          <a:xfrm>
            <a:off x="457200" y="1280160"/>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5" name="concept accent"/>
          <p:cNvSpPr/>
          <p:nvPr/>
        </p:nvSpPr>
        <p:spPr>
          <a:xfrm>
            <a:off x="457200" y="1280160"/>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6" name="concept"/>
          <p:cNvSpPr txBox="1"/>
          <p:nvPr/>
        </p:nvSpPr>
        <p:spPr>
          <a:xfrm>
            <a:off x="594360" y="1280160"/>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Alias and copies</a:t>
            </a:r>
          </a:p>
        </p:txBody>
      </p:sp>
      <p:sp>
        <p:nvSpPr>
          <p:cNvPr id="7" name="concept meaning"/>
          <p:cNvSpPr txBox="1"/>
          <p:nvPr/>
        </p:nvSpPr>
        <p:spPr>
          <a:xfrm>
            <a:off x="2286000" y="1280160"/>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Shallow copies share what is inside them.</a:t>
            </a:r>
          </a:p>
        </p:txBody>
      </p:sp>
      <p:sp>
        <p:nvSpPr>
          <p:cNvPr id="8" name="concept row"/>
          <p:cNvSpPr/>
          <p:nvPr/>
        </p:nvSpPr>
        <p:spPr>
          <a:xfrm>
            <a:off x="457200" y="2029967"/>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9" name="concept accent"/>
          <p:cNvSpPr/>
          <p:nvPr/>
        </p:nvSpPr>
        <p:spPr>
          <a:xfrm>
            <a:off x="457200" y="2029967"/>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0" name="concept"/>
          <p:cNvSpPr txBox="1"/>
          <p:nvPr/>
        </p:nvSpPr>
        <p:spPr>
          <a:xfrm>
            <a:off x="594360" y="2029967"/>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JSON and pprint</a:t>
            </a:r>
          </a:p>
        </p:txBody>
      </p:sp>
      <p:sp>
        <p:nvSpPr>
          <p:cNvPr id="11" name="concept meaning"/>
          <p:cNvSpPr txBox="1"/>
          <p:nvPr/>
        </p:nvSpPr>
        <p:spPr>
          <a:xfrm>
            <a:off x="2286000" y="2029967"/>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Text carries a dictionary out and back.</a:t>
            </a:r>
          </a:p>
        </p:txBody>
      </p:sp>
      <p:sp>
        <p:nvSpPr>
          <p:cNvPr id="12" name="concept row"/>
          <p:cNvSpPr/>
          <p:nvPr/>
        </p:nvSpPr>
        <p:spPr>
          <a:xfrm>
            <a:off x="457200" y="2779776"/>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13" name="concept accent"/>
          <p:cNvSpPr/>
          <p:nvPr/>
        </p:nvSpPr>
        <p:spPr>
          <a:xfrm>
            <a:off x="457200" y="2779776"/>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4" name="concept"/>
          <p:cNvSpPr txBox="1"/>
          <p:nvPr/>
        </p:nvSpPr>
        <p:spPr>
          <a:xfrm>
            <a:off x="594360" y="2779776"/>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TypedDict</a:t>
            </a:r>
          </a:p>
        </p:txBody>
      </p:sp>
      <p:sp>
        <p:nvSpPr>
          <p:cNvPr id="15" name="concept meaning"/>
          <p:cNvSpPr txBox="1"/>
          <p:nvPr/>
        </p:nvSpPr>
        <p:spPr>
          <a:xfrm>
            <a:off x="2286000" y="2779776"/>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Names the keys of a record for checkers.</a:t>
            </a:r>
          </a:p>
        </p:txBody>
      </p:sp>
      <p:sp>
        <p:nvSpPr>
          <p:cNvPr id="16" name="concept row"/>
          <p:cNvSpPr/>
          <p:nvPr/>
        </p:nvSpPr>
        <p:spPr>
          <a:xfrm>
            <a:off x="457200" y="3529584"/>
            <a:ext cx="5440680" cy="676656"/>
          </a:xfrm>
          <a:prstGeom prst="roundRect">
            <a:avLst>
              <a:gd name="adj" fmla="val 10810"/>
            </a:avLst>
          </a:prstGeom>
          <a:solidFill>
            <a:srgbClr val="F2ECE1"/>
          </a:solidFill>
          <a:ln>
            <a:solidFill>
              <a:srgbClr val="F2ECE1"/>
            </a:solidFill>
          </a:ln>
        </p:spPr>
        <p:txBody>
          <a:bodyPr rtlCol="0" anchor="ctr"/>
          <a:lstStyle/>
          <a:p>
            <a:pPr algn="ctr"/>
          </a:p>
        </p:txBody>
      </p:sp>
      <p:sp>
        <p:nvSpPr>
          <p:cNvPr id="17" name="concept accent"/>
          <p:cNvSpPr/>
          <p:nvPr/>
        </p:nvSpPr>
        <p:spPr>
          <a:xfrm>
            <a:off x="457200" y="3529584"/>
            <a:ext cx="64008" cy="676656"/>
          </a:xfrm>
          <a:prstGeom prst="roundRect">
            <a:avLst>
              <a:gd name="adj" fmla="val 50000"/>
            </a:avLst>
          </a:prstGeom>
          <a:solidFill>
            <a:srgbClr val="D97A14"/>
          </a:solidFill>
          <a:ln>
            <a:solidFill>
              <a:srgbClr val="D97A14"/>
            </a:solidFill>
          </a:ln>
        </p:spPr>
        <p:txBody>
          <a:bodyPr rtlCol="0" anchor="ctr"/>
          <a:lstStyle/>
          <a:p>
            <a:pPr algn="ctr"/>
          </a:p>
        </p:txBody>
      </p:sp>
      <p:sp>
        <p:nvSpPr>
          <p:cNvPr id="18" name="concept"/>
          <p:cNvSpPr txBox="1"/>
          <p:nvPr/>
        </p:nvSpPr>
        <p:spPr>
          <a:xfrm>
            <a:off x="594360" y="3529584"/>
            <a:ext cx="1691640" cy="676656"/>
          </a:xfrm>
          <a:prstGeom prst="rect">
            <a:avLst/>
          </a:prstGeom>
          <a:noFill/>
        </p:spPr>
        <p:txBody>
          <a:bodyPr wrap="square" anchor="ctr" lIns="45720" rIns="45720" tIns="36576" bIns="36576">
            <a:spAutoFit/>
          </a:bodyPr>
          <a:lstStyle/>
          <a:p>
            <a:pPr algn="l"/>
            <a:r>
              <a:rPr sz="1350" b="1" i="0">
                <a:solidFill>
                  <a:srgbClr val="2B2622"/>
                </a:solidFill>
                <a:latin typeface="Calibri"/>
              </a:rPr>
              <a:t>match patterns</a:t>
            </a:r>
          </a:p>
        </p:txBody>
      </p:sp>
      <p:sp>
        <p:nvSpPr>
          <p:cNvPr id="19" name="concept meaning"/>
          <p:cNvSpPr txBox="1"/>
          <p:nvPr/>
        </p:nvSpPr>
        <p:spPr>
          <a:xfrm>
            <a:off x="2286000" y="3529584"/>
            <a:ext cx="3566160" cy="676656"/>
          </a:xfrm>
          <a:prstGeom prst="rect">
            <a:avLst/>
          </a:prstGeom>
          <a:noFill/>
        </p:spPr>
        <p:txBody>
          <a:bodyPr wrap="square" anchor="ctr" lIns="45720" rIns="45720" tIns="36576" bIns="36576">
            <a:spAutoFit/>
          </a:bodyPr>
          <a:lstStyle/>
          <a:p>
            <a:pPr algn="l"/>
            <a:r>
              <a:rPr sz="1300" b="0" i="0">
                <a:solidFill>
                  <a:srgbClr val="2B2622"/>
                </a:solidFill>
                <a:latin typeface="Calibri"/>
              </a:rPr>
              <a:t>Test the shape of a dictionary and bind values.</a:t>
            </a:r>
          </a:p>
        </p:txBody>
      </p:sp>
      <p:graphicFrame>
        <p:nvGraphicFramePr>
          <p:cNvPr id="20" name="visual: how the concepts fit"/>
          <p:cNvGraphicFramePr>
            <a:graphicFrameLocks noGrp="1"/>
          </p:cNvGraphicFramePr>
          <p:nvPr/>
        </p:nvGraphicFramePr>
        <p:xfrm>
          <a:off x="6172200" y="1280160"/>
          <a:ext cx="2514600" cy="3200400"/>
        </p:xfrm>
        <a:graphic>
          <a:graphicData uri="http://schemas.openxmlformats.org/drawingml/2006/table">
            <a:tbl>
              <a:tblPr firstRow="1" bandRow="1">
                <a:tableStyleId>{5C22544A-7EE6-4342-B048-85BDC9FD1C3A}</a:tableStyleId>
              </a:tblPr>
              <a:tblGrid>
                <a:gridCol w="2514600"/>
              </a:tblGrid>
              <a:tr h="640080">
                <a:tc>
                  <a:txBody>
                    <a:bodyPr wrap="square"/>
                    <a:lstStyle/>
                    <a:p>
                      <a:r>
                        <a:rPr sz="1300" b="1">
                          <a:solidFill>
                            <a:srgbClr val="FFFFFF"/>
                          </a:solidFill>
                          <a:latin typeface="Calibri"/>
                        </a:rPr>
                        <a:t>How they fit together</a:t>
                      </a:r>
                    </a:p>
                  </a:txBody>
                  <a:tcPr marL="64008" marR="64008" marT="18288" marB="18288" anchor="ctr">
                    <a:solidFill>
                      <a:srgbClr val="2B2622"/>
                    </a:solidFill>
                  </a:tcPr>
                </a:tc>
              </a:tr>
              <a:tr h="640080">
                <a:tc>
                  <a:txBody>
                    <a:bodyPr wrap="square"/>
                    <a:lstStyle/>
                    <a:p>
                      <a:r>
                        <a:rPr sz="1300" b="0">
                          <a:solidFill>
                            <a:srgbClr val="2B2622"/>
                          </a:solidFill>
                          <a:latin typeface="Calibri"/>
                        </a:rPr>
                        <a:t>1.  Copy with care</a:t>
                      </a:r>
                    </a:p>
                  </a:txBody>
                  <a:tcPr marL="64008" marR="64008" marT="18288" marB="18288" anchor="ctr">
                    <a:solidFill>
                      <a:srgbClr val="F2ECE1"/>
                    </a:solidFill>
                  </a:tcPr>
                </a:tc>
              </a:tr>
              <a:tr h="640080">
                <a:tc>
                  <a:txBody>
                    <a:bodyPr wrap="square"/>
                    <a:lstStyle/>
                    <a:p>
                      <a:r>
                        <a:rPr sz="1300" b="0">
                          <a:solidFill>
                            <a:srgbClr val="2B2622"/>
                          </a:solidFill>
                          <a:latin typeface="Calibri"/>
                        </a:rPr>
                        <a:t>2.  Write it down</a:t>
                      </a:r>
                    </a:p>
                  </a:txBody>
                  <a:tcPr marL="64008" marR="64008" marT="18288" marB="18288" anchor="ctr">
                    <a:solidFill>
                      <a:srgbClr val="FFFFFF"/>
                    </a:solidFill>
                  </a:tcPr>
                </a:tc>
              </a:tr>
              <a:tr h="640080">
                <a:tc>
                  <a:txBody>
                    <a:bodyPr wrap="square"/>
                    <a:lstStyle/>
                    <a:p>
                      <a:r>
                        <a:rPr sz="1300" b="0">
                          <a:solidFill>
                            <a:srgbClr val="2B2622"/>
                          </a:solidFill>
                          <a:latin typeface="Calibri"/>
                        </a:rPr>
                        <a:t>3.  Name the keys</a:t>
                      </a:r>
                    </a:p>
                  </a:txBody>
                  <a:tcPr marL="64008" marR="64008" marT="18288" marB="18288" anchor="ctr">
                    <a:solidFill>
                      <a:srgbClr val="F2ECE1"/>
                    </a:solidFill>
                  </a:tcPr>
                </a:tc>
              </a:tr>
              <a:tr h="640080">
                <a:tc>
                  <a:txBody>
                    <a:bodyPr wrap="square"/>
                    <a:lstStyle/>
                    <a:p>
                      <a:r>
                        <a:rPr sz="1300" b="0">
                          <a:solidFill>
                            <a:srgbClr val="2B2622"/>
                          </a:solidFill>
                          <a:latin typeface="Calibri"/>
                        </a:rPr>
                        <a:t>4.  Match the shape</a:t>
                      </a:r>
                    </a:p>
                  </a:txBody>
                  <a:tcPr marL="64008" marR="64008" marT="18288" marB="18288" anchor="ctr">
                    <a:solidFill>
                      <a:srgbClr val="FFFFFF"/>
                    </a:solidFill>
                  </a:tcPr>
                </a:tc>
              </a:tr>
            </a:tbl>
          </a:graphicData>
        </a:graphic>
      </p:graphicFrame>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37 / 48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21: Alias, shallow copy and deep copy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Changing an inner dictionary shows which copies share it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Nested Dictionaries and Lists</a:t>
            </a:r>
          </a:p>
        </p:txBody>
      </p:sp>
      <p:sp>
        <p:nvSpPr>
          <p:cNvPr id="6" name="code"/>
          <p:cNvSpPr/>
          <p:nvPr/>
        </p:nvSpPr>
        <p:spPr>
          <a:xfrm>
            <a:off x="365760" y="1097280"/>
            <a:ext cx="4800600" cy="574548"/>
          </a:xfrm>
          <a:prstGeom prst="roundRect">
            <a:avLst>
              <a:gd name="adj" fmla="val 1273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import</a:t>
            </a:r>
            <a:r>
              <a:rPr sz="1000" b="0" i="0">
                <a:solidFill>
                  <a:srgbClr val="E6EDF3"/>
                </a:solidFill>
                <a:latin typeface="Courier New"/>
              </a:rPr>
              <a:t> </a:t>
            </a:r>
            <a:r>
              <a:rPr sz="1000" b="0" i="0">
                <a:solidFill>
                  <a:srgbClr val="E6EDF3"/>
                </a:solidFill>
                <a:latin typeface="Courier New"/>
              </a:rPr>
              <a:t>copy</a:t>
            </a:r>
          </a:p>
          <a:p>
            <a:pPr algn="l"/>
            <a:r>
              <a:rPr sz="1000" b="0" i="0">
                <a:solidFill>
                  <a:srgbClr val="8A9B94"/>
                </a:solidFill>
                <a:latin typeface="Courier New"/>
              </a:rPr>
              <a:t>&gt;&gt;&gt; </a:t>
            </a:r>
            <a:r>
              <a:rPr sz="1000" b="0" i="0">
                <a:solidFill>
                  <a:srgbClr val="E6EDF3"/>
                </a:solidFill>
                <a:latin typeface="Courier New"/>
              </a:rPr>
              <a:t>original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EE787"/>
                </a:solidFill>
                <a:latin typeface="Courier New"/>
              </a:rPr>
              <a:t>'Alice'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EE787"/>
                </a:solidFill>
                <a:latin typeface="Courier New"/>
              </a:rPr>
              <a:t>'apples'</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5</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alias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original</a:t>
            </a:r>
          </a:p>
        </p:txBody>
      </p:sp>
      <p:sp>
        <p:nvSpPr>
          <p:cNvPr id="7" name="explanation"/>
          <p:cNvSpPr/>
          <p:nvPr/>
        </p:nvSpPr>
        <p:spPr>
          <a:xfrm>
            <a:off x="5148072" y="1097280"/>
            <a:ext cx="3584448" cy="574548"/>
          </a:xfrm>
          <a:prstGeom prst="roundRect">
            <a:avLst>
              <a:gd name="adj" fmla="val 12732"/>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An alias is only a second name for the same dictionary.</a:t>
            </a:r>
          </a:p>
        </p:txBody>
      </p:sp>
      <p:sp>
        <p:nvSpPr>
          <p:cNvPr id="8" name="code"/>
          <p:cNvSpPr/>
          <p:nvPr/>
        </p:nvSpPr>
        <p:spPr>
          <a:xfrm>
            <a:off x="365760" y="1726691"/>
            <a:ext cx="4800600" cy="450596"/>
          </a:xfrm>
          <a:prstGeom prst="roundRect">
            <a:avLst>
              <a:gd name="adj" fmla="val 16234"/>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shallow</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copy</a:t>
            </a:r>
            <a:r>
              <a:rPr sz="1000" b="0" i="0">
                <a:solidFill>
                  <a:srgbClr val="E6EDF3"/>
                </a:solidFill>
                <a:latin typeface="Courier New"/>
              </a:rPr>
              <a:t>.</a:t>
            </a:r>
            <a:r>
              <a:rPr sz="1000" b="0" i="0">
                <a:solidFill>
                  <a:srgbClr val="E6EDF3"/>
                </a:solidFill>
                <a:latin typeface="Courier New"/>
              </a:rPr>
              <a:t>copy</a:t>
            </a:r>
            <a:r>
              <a:rPr sz="1000" b="0" i="0">
                <a:solidFill>
                  <a:srgbClr val="E6EDF3"/>
                </a:solidFill>
                <a:latin typeface="Courier New"/>
              </a:rPr>
              <a:t>(</a:t>
            </a:r>
            <a:r>
              <a:rPr sz="1000" b="0" i="0">
                <a:solidFill>
                  <a:srgbClr val="E6EDF3"/>
                </a:solidFill>
                <a:latin typeface="Courier New"/>
              </a:rPr>
              <a:t>original</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deep</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copy</a:t>
            </a:r>
            <a:r>
              <a:rPr sz="1000" b="0" i="0">
                <a:solidFill>
                  <a:srgbClr val="E6EDF3"/>
                </a:solidFill>
                <a:latin typeface="Courier New"/>
              </a:rPr>
              <a:t>.</a:t>
            </a:r>
            <a:r>
              <a:rPr sz="1000" b="0" i="0">
                <a:solidFill>
                  <a:srgbClr val="E6EDF3"/>
                </a:solidFill>
                <a:latin typeface="Courier New"/>
              </a:rPr>
              <a:t>deepcopy</a:t>
            </a:r>
            <a:r>
              <a:rPr sz="1000" b="0" i="0">
                <a:solidFill>
                  <a:srgbClr val="E6EDF3"/>
                </a:solidFill>
                <a:latin typeface="Courier New"/>
              </a:rPr>
              <a:t>(</a:t>
            </a:r>
            <a:r>
              <a:rPr sz="1000" b="0" i="0">
                <a:solidFill>
                  <a:srgbClr val="E6EDF3"/>
                </a:solidFill>
                <a:latin typeface="Courier New"/>
              </a:rPr>
              <a:t>original</a:t>
            </a:r>
            <a:r>
              <a:rPr sz="1000" b="0" i="0">
                <a:solidFill>
                  <a:srgbClr val="E6EDF3"/>
                </a:solidFill>
                <a:latin typeface="Courier New"/>
              </a:rPr>
              <a:t>)</a:t>
            </a:r>
          </a:p>
        </p:txBody>
      </p:sp>
      <p:sp>
        <p:nvSpPr>
          <p:cNvPr id="9" name="explanation"/>
          <p:cNvSpPr/>
          <p:nvPr/>
        </p:nvSpPr>
        <p:spPr>
          <a:xfrm>
            <a:off x="5148072" y="1726691"/>
            <a:ext cx="3584448" cy="450596"/>
          </a:xfrm>
          <a:prstGeom prst="roundRect">
            <a:avLst>
              <a:gd name="adj" fmla="val 16234"/>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copy() copies the outside only; deepcopy() copies everything inside as well.</a:t>
            </a:r>
          </a:p>
        </p:txBody>
      </p:sp>
      <p:sp>
        <p:nvSpPr>
          <p:cNvPr id="10" name="code"/>
          <p:cNvSpPr/>
          <p:nvPr/>
        </p:nvSpPr>
        <p:spPr>
          <a:xfrm>
            <a:off x="365760" y="2232151"/>
            <a:ext cx="4800600" cy="574548"/>
          </a:xfrm>
          <a:prstGeom prst="roundRect">
            <a:avLst>
              <a:gd name="adj" fmla="val 1273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original</a:t>
            </a:r>
            <a:r>
              <a:rPr sz="1000" b="0" i="0">
                <a:solidFill>
                  <a:srgbClr val="E6EDF3"/>
                </a:solidFill>
                <a:latin typeface="Courier New"/>
              </a:rPr>
              <a:t>[</a:t>
            </a:r>
            <a:r>
              <a:rPr sz="1000" b="0" i="0">
                <a:solidFill>
                  <a:srgbClr val="7EE787"/>
                </a:solidFill>
                <a:latin typeface="Courier New"/>
              </a:rPr>
              <a:t>'Alice'</a:t>
            </a:r>
            <a:r>
              <a:rPr sz="1000" b="0" i="0">
                <a:solidFill>
                  <a:srgbClr val="E6EDF3"/>
                </a:solidFill>
                <a:latin typeface="Courier New"/>
              </a:rPr>
              <a:t>]</a:t>
            </a:r>
            <a:r>
              <a:rPr sz="1000" b="0" i="0">
                <a:solidFill>
                  <a:srgbClr val="E6EDF3"/>
                </a:solidFill>
                <a:latin typeface="Courier New"/>
              </a:rPr>
              <a:t>[</a:t>
            </a:r>
            <a:r>
              <a:rPr sz="1000" b="0" i="0">
                <a:solidFill>
                  <a:srgbClr val="7EE787"/>
                </a:solidFill>
                <a:latin typeface="Courier New"/>
              </a:rPr>
              <a:t>'apples'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99</a:t>
            </a:r>
          </a:p>
          <a:p>
            <a:pPr algn="l"/>
            <a:r>
              <a:rPr sz="1000" b="0" i="0">
                <a:solidFill>
                  <a:srgbClr val="8A9B94"/>
                </a:solidFill>
                <a:latin typeface="Courier New"/>
              </a:rPr>
              <a:t>&gt;&gt;&gt; </a:t>
            </a:r>
            <a:r>
              <a:rPr sz="1000" b="0" i="0">
                <a:solidFill>
                  <a:srgbClr val="E6EDF3"/>
                </a:solidFill>
                <a:latin typeface="Courier New"/>
              </a:rPr>
              <a:t>apples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lambda</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a:t>
            </a:r>
            <a:r>
              <a:rPr sz="1000" b="0" i="0">
                <a:solidFill>
                  <a:srgbClr val="7EE787"/>
                </a:solidFill>
                <a:latin typeface="Courier New"/>
              </a:rPr>
              <a:t>'Alice'</a:t>
            </a:r>
            <a:r>
              <a:rPr sz="1000" b="0" i="0">
                <a:solidFill>
                  <a:srgbClr val="E6EDF3"/>
                </a:solidFill>
                <a:latin typeface="Courier New"/>
              </a:rPr>
              <a:t>]</a:t>
            </a:r>
            <a:r>
              <a:rPr sz="1000" b="0" i="0">
                <a:solidFill>
                  <a:srgbClr val="E6EDF3"/>
                </a:solidFill>
                <a:latin typeface="Courier New"/>
              </a:rPr>
              <a:t>[</a:t>
            </a:r>
            <a:r>
              <a:rPr sz="1000" b="0" i="0">
                <a:solidFill>
                  <a:srgbClr val="7EE787"/>
                </a:solidFill>
                <a:latin typeface="Courier New"/>
              </a:rPr>
              <a:t>'apples'</a:t>
            </a:r>
            <a:r>
              <a:rPr sz="1000" b="0" i="0">
                <a:solidFill>
                  <a:srgbClr val="E6EDF3"/>
                </a:solidFill>
                <a:latin typeface="Courier New"/>
              </a:rPr>
              <a:t>]</a:t>
            </a:r>
          </a:p>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apples</a:t>
            </a:r>
            <a:r>
              <a:rPr sz="1000" b="0" i="0">
                <a:solidFill>
                  <a:srgbClr val="E6EDF3"/>
                </a:solidFill>
                <a:latin typeface="Courier New"/>
              </a:rPr>
              <a:t>(</a:t>
            </a:r>
            <a:r>
              <a:rPr sz="1000" b="0" i="0">
                <a:solidFill>
                  <a:srgbClr val="E6EDF3"/>
                </a:solidFill>
                <a:latin typeface="Courier New"/>
              </a:rPr>
              <a:t>alias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apples</a:t>
            </a:r>
            <a:r>
              <a:rPr sz="1000" b="0" i="0">
                <a:solidFill>
                  <a:srgbClr val="E6EDF3"/>
                </a:solidFill>
                <a:latin typeface="Courier New"/>
              </a:rPr>
              <a:t>(</a:t>
            </a:r>
            <a:r>
              <a:rPr sz="1000" b="0" i="0">
                <a:solidFill>
                  <a:srgbClr val="E6EDF3"/>
                </a:solidFill>
                <a:latin typeface="Courier New"/>
              </a:rPr>
              <a:t>shallow</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apples</a:t>
            </a:r>
            <a:r>
              <a:rPr sz="1000" b="0" i="0">
                <a:solidFill>
                  <a:srgbClr val="E6EDF3"/>
                </a:solidFill>
                <a:latin typeface="Courier New"/>
              </a:rPr>
              <a:t>(</a:t>
            </a:r>
            <a:r>
              <a:rPr sz="1000" b="0" i="0">
                <a:solidFill>
                  <a:srgbClr val="E6EDF3"/>
                </a:solidFill>
                <a:latin typeface="Courier New"/>
              </a:rPr>
              <a:t>deep</a:t>
            </a:r>
            <a:r>
              <a:rPr sz="1000" b="0" i="0">
                <a:solidFill>
                  <a:srgbClr val="E6EDF3"/>
                </a:solidFill>
                <a:latin typeface="Courier New"/>
              </a:rPr>
              <a:t>)</a:t>
            </a:r>
            <a:r>
              <a:rPr sz="1000" b="0" i="0">
                <a:solidFill>
                  <a:srgbClr val="E6EDF3"/>
                </a:solidFill>
                <a:latin typeface="Courier New"/>
              </a:rPr>
              <a:t>)</a:t>
            </a:r>
          </a:p>
        </p:txBody>
      </p:sp>
      <p:sp>
        <p:nvSpPr>
          <p:cNvPr id="11" name="explanation"/>
          <p:cNvSpPr/>
          <p:nvPr/>
        </p:nvSpPr>
        <p:spPr>
          <a:xfrm>
            <a:off x="5148072" y="2232151"/>
            <a:ext cx="3584448" cy="574548"/>
          </a:xfrm>
          <a:prstGeom prst="roundRect">
            <a:avLst>
              <a:gd name="adj" fmla="val 12732"/>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Change the inner dictionary through the original, then ask the three others.</a:t>
            </a:r>
          </a:p>
        </p:txBody>
      </p:sp>
      <p:sp>
        <p:nvSpPr>
          <p:cNvPr id="12" name="code"/>
          <p:cNvSpPr/>
          <p:nvPr/>
        </p:nvSpPr>
        <p:spPr>
          <a:xfrm>
            <a:off x="365760" y="2861564"/>
            <a:ext cx="4800600" cy="450596"/>
          </a:xfrm>
          <a:prstGeom prst="roundRect">
            <a:avLst>
              <a:gd name="adj" fmla="val 16234"/>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alias</a:t>
            </a:r>
            <a:r>
              <a:rPr sz="1000" b="0" i="0">
                <a:solidFill>
                  <a:srgbClr val="E6EDF3"/>
                </a:solidFill>
                <a:latin typeface="Courier New"/>
              </a:rPr>
              <a:t> </a:t>
            </a:r>
            <a:r>
              <a:rPr sz="1000" b="0" i="0">
                <a:solidFill>
                  <a:srgbClr val="FFA657"/>
                </a:solidFill>
                <a:latin typeface="Courier New"/>
              </a:rPr>
              <a:t>is</a:t>
            </a:r>
            <a:r>
              <a:rPr sz="1000" b="0" i="0">
                <a:solidFill>
                  <a:srgbClr val="E6EDF3"/>
                </a:solidFill>
                <a:latin typeface="Courier New"/>
              </a:rPr>
              <a:t> </a:t>
            </a:r>
            <a:r>
              <a:rPr sz="1000" b="0" i="0">
                <a:solidFill>
                  <a:srgbClr val="E6EDF3"/>
                </a:solidFill>
                <a:latin typeface="Courier New"/>
              </a:rPr>
              <a:t>original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shallow</a:t>
            </a:r>
            <a:r>
              <a:rPr sz="1000" b="0" i="0">
                <a:solidFill>
                  <a:srgbClr val="E6EDF3"/>
                </a:solidFill>
                <a:latin typeface="Courier New"/>
              </a:rPr>
              <a:t> </a:t>
            </a:r>
            <a:r>
              <a:rPr sz="1000" b="0" i="0">
                <a:solidFill>
                  <a:srgbClr val="FFA657"/>
                </a:solidFill>
                <a:latin typeface="Courier New"/>
              </a:rPr>
              <a:t>is</a:t>
            </a:r>
            <a:r>
              <a:rPr sz="1000" b="0" i="0">
                <a:solidFill>
                  <a:srgbClr val="E6EDF3"/>
                </a:solidFill>
                <a:latin typeface="Courier New"/>
              </a:rPr>
              <a:t> </a:t>
            </a:r>
            <a:r>
              <a:rPr sz="1000" b="0" i="0">
                <a:solidFill>
                  <a:srgbClr val="E6EDF3"/>
                </a:solidFill>
                <a:latin typeface="Courier New"/>
              </a:rPr>
              <a:t>original</a:t>
            </a:r>
            <a:r>
              <a:rPr sz="1000" b="0" i="0">
                <a:solidFill>
                  <a:srgbClr val="E6EDF3"/>
                </a:solidFill>
                <a:latin typeface="Courier New"/>
              </a:rPr>
              <a:t>)</a:t>
            </a:r>
          </a:p>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shallow</a:t>
            </a:r>
            <a:r>
              <a:rPr sz="1000" b="0" i="0">
                <a:solidFill>
                  <a:srgbClr val="E6EDF3"/>
                </a:solidFill>
                <a:latin typeface="Courier New"/>
              </a:rPr>
              <a:t>[</a:t>
            </a:r>
            <a:r>
              <a:rPr sz="1000" b="0" i="0">
                <a:solidFill>
                  <a:srgbClr val="7EE787"/>
                </a:solidFill>
                <a:latin typeface="Courier New"/>
              </a:rPr>
              <a:t>'Alice'</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is</a:t>
            </a:r>
            <a:r>
              <a:rPr sz="1000" b="0" i="0">
                <a:solidFill>
                  <a:srgbClr val="E6EDF3"/>
                </a:solidFill>
                <a:latin typeface="Courier New"/>
              </a:rPr>
              <a:t> </a:t>
            </a:r>
            <a:r>
              <a:rPr sz="1000" b="0" i="0">
                <a:solidFill>
                  <a:srgbClr val="E6EDF3"/>
                </a:solidFill>
                <a:latin typeface="Courier New"/>
              </a:rPr>
              <a:t>original</a:t>
            </a:r>
            <a:r>
              <a:rPr sz="1000" b="0" i="0">
                <a:solidFill>
                  <a:srgbClr val="E6EDF3"/>
                </a:solidFill>
                <a:latin typeface="Courier New"/>
              </a:rPr>
              <a:t>[</a:t>
            </a:r>
            <a:r>
              <a:rPr sz="1000" b="0" i="0">
                <a:solidFill>
                  <a:srgbClr val="7EE787"/>
                </a:solidFill>
                <a:latin typeface="Courier New"/>
              </a:rPr>
              <a:t>'Alice'</a:t>
            </a:r>
            <a:r>
              <a:rPr sz="1000" b="0" i="0">
                <a:solidFill>
                  <a:srgbClr val="E6EDF3"/>
                </a:solidFill>
                <a:latin typeface="Courier New"/>
              </a:rPr>
              <a:t>]</a:t>
            </a:r>
            <a:r>
              <a:rPr sz="1000" b="0" i="0">
                <a:solidFill>
                  <a:srgbClr val="E6EDF3"/>
                </a:solidFill>
                <a:latin typeface="Courier New"/>
              </a:rPr>
              <a:t>)</a:t>
            </a:r>
          </a:p>
        </p:txBody>
      </p:sp>
      <p:sp>
        <p:nvSpPr>
          <p:cNvPr id="13" name="explanation"/>
          <p:cNvSpPr/>
          <p:nvPr/>
        </p:nvSpPr>
        <p:spPr>
          <a:xfrm>
            <a:off x="5148072" y="2861564"/>
            <a:ext cx="3584448" cy="450596"/>
          </a:xfrm>
          <a:prstGeom prst="roundRect">
            <a:avLst>
              <a:gd name="adj" fmla="val 16234"/>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A shallow copy is a new outer dictionary that still shares the inner ones.</a:t>
            </a:r>
          </a:p>
        </p:txBody>
      </p:sp>
      <p:sp>
        <p:nvSpPr>
          <p:cNvPr id="14" name="result label"/>
          <p:cNvSpPr txBox="1"/>
          <p:nvPr/>
        </p:nvSpPr>
        <p:spPr>
          <a:xfrm>
            <a:off x="365760" y="3394456"/>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5" name="result table"/>
          <p:cNvGraphicFramePr>
            <a:graphicFrameLocks noGrp="1"/>
          </p:cNvGraphicFramePr>
          <p:nvPr/>
        </p:nvGraphicFramePr>
        <p:xfrm>
          <a:off x="365760" y="3641344"/>
          <a:ext cx="8412477" cy="784352"/>
        </p:xfrm>
        <a:graphic>
          <a:graphicData uri="http://schemas.openxmlformats.org/drawingml/2006/table">
            <a:tbl>
              <a:tblPr firstRow="1" bandRow="1">
                <a:tableStyleId>{5C22544A-7EE6-4342-B048-85BDC9FD1C3A}</a:tableStyleId>
              </a:tblPr>
              <a:tblGrid>
                <a:gridCol w="1529541"/>
                <a:gridCol w="2294312"/>
                <a:gridCol w="2294312"/>
                <a:gridCol w="2294312"/>
              </a:tblGrid>
              <a:tr h="196088">
                <a:tc>
                  <a:txBody>
                    <a:bodyPr wrap="square"/>
                    <a:lstStyle/>
                    <a:p>
                      <a:r>
                        <a:rPr sz="1000" b="1">
                          <a:solidFill>
                            <a:srgbClr val="FFFFFF"/>
                          </a:solidFill>
                          <a:latin typeface="Calibri"/>
                        </a:rPr>
                        <a:t>Name</a:t>
                      </a:r>
                    </a:p>
                  </a:txBody>
                  <a:tcPr marL="64008" marR="64008" marT="18288" marB="18288" anchor="ctr">
                    <a:solidFill>
                      <a:srgbClr val="2B2622"/>
                    </a:solidFill>
                  </a:tcPr>
                </a:tc>
                <a:tc>
                  <a:txBody>
                    <a:bodyPr wrap="square"/>
                    <a:lstStyle/>
                    <a:p>
                      <a:r>
                        <a:rPr sz="1000" b="1">
                          <a:solidFill>
                            <a:srgbClr val="FFFFFF"/>
                          </a:solidFill>
                          <a:latin typeface="Calibri"/>
                        </a:rPr>
                        <a:t>New outer dictionary?</a:t>
                      </a:r>
                    </a:p>
                  </a:txBody>
                  <a:tcPr marL="64008" marR="64008" marT="18288" marB="18288" anchor="ctr">
                    <a:solidFill>
                      <a:srgbClr val="2B2622"/>
                    </a:solidFill>
                  </a:tcPr>
                </a:tc>
                <a:tc>
                  <a:txBody>
                    <a:bodyPr wrap="square"/>
                    <a:lstStyle/>
                    <a:p>
                      <a:r>
                        <a:rPr sz="1000" b="1">
                          <a:solidFill>
                            <a:srgbClr val="FFFFFF"/>
                          </a:solidFill>
                          <a:latin typeface="Calibri"/>
                        </a:rPr>
                        <a:t>Shares the inner one?</a:t>
                      </a:r>
                    </a:p>
                  </a:txBody>
                  <a:tcPr marL="64008" marR="64008" marT="18288" marB="18288" anchor="ctr">
                    <a:solidFill>
                      <a:srgbClr val="2B2622"/>
                    </a:solidFill>
                  </a:tcPr>
                </a:tc>
                <a:tc>
                  <a:txBody>
                    <a:bodyPr wrap="square"/>
                    <a:lstStyle/>
                    <a:p>
                      <a:r>
                        <a:rPr sz="1000" b="1">
                          <a:solidFill>
                            <a:srgbClr val="FFFFFF"/>
                          </a:solidFill>
                          <a:latin typeface="Calibri"/>
                        </a:rPr>
                        <a:t>Apples after the change</a:t>
                      </a:r>
                    </a:p>
                  </a:txBody>
                  <a:tcPr marL="64008" marR="64008" marT="18288" marB="18288" anchor="ctr">
                    <a:solidFill>
                      <a:srgbClr val="2B2622"/>
                    </a:solidFill>
                  </a:tcPr>
                </a:tc>
              </a:tr>
              <a:tr h="196088">
                <a:tc>
                  <a:txBody>
                    <a:bodyPr wrap="square"/>
                    <a:lstStyle/>
                    <a:p>
                      <a:r>
                        <a:rPr sz="1000" b="0">
                          <a:solidFill>
                            <a:srgbClr val="2B2622"/>
                          </a:solidFill>
                          <a:latin typeface="Calibri"/>
                        </a:rPr>
                        <a:t>alias</a:t>
                      </a:r>
                    </a:p>
                  </a:txBody>
                  <a:tcPr marL="64008" marR="64008" marT="18288" marB="18288" anchor="ctr">
                    <a:solidFill>
                      <a:srgbClr val="F2ECE1"/>
                    </a:solidFill>
                  </a:tcPr>
                </a:tc>
                <a:tc>
                  <a:txBody>
                    <a:bodyPr wrap="square"/>
                    <a:lstStyle/>
                    <a:p>
                      <a:r>
                        <a:rPr sz="1000" b="0">
                          <a:solidFill>
                            <a:srgbClr val="2B2622"/>
                          </a:solidFill>
                          <a:latin typeface="Calibri"/>
                        </a:rPr>
                        <a:t>no, same object</a:t>
                      </a:r>
                    </a:p>
                  </a:txBody>
                  <a:tcPr marL="64008" marR="64008" marT="18288" marB="18288" anchor="ctr">
                    <a:solidFill>
                      <a:srgbClr val="F2ECE1"/>
                    </a:solidFill>
                  </a:tcPr>
                </a:tc>
                <a:tc>
                  <a:txBody>
                    <a:bodyPr wrap="square"/>
                    <a:lstStyle/>
                    <a:p>
                      <a:r>
                        <a:rPr sz="1000" b="0">
                          <a:solidFill>
                            <a:srgbClr val="2B2622"/>
                          </a:solidFill>
                          <a:latin typeface="Calibri"/>
                        </a:rPr>
                        <a:t>yes</a:t>
                      </a:r>
                    </a:p>
                  </a:txBody>
                  <a:tcPr marL="64008" marR="64008" marT="18288" marB="18288" anchor="ctr">
                    <a:solidFill>
                      <a:srgbClr val="F2ECE1"/>
                    </a:solidFill>
                  </a:tcPr>
                </a:tc>
                <a:tc>
                  <a:txBody>
                    <a:bodyPr wrap="square"/>
                    <a:lstStyle/>
                    <a:p>
                      <a:r>
                        <a:rPr sz="1000" b="0">
                          <a:solidFill>
                            <a:srgbClr val="2B2622"/>
                          </a:solidFill>
                          <a:latin typeface="Calibri"/>
                        </a:rPr>
                        <a:t>99</a:t>
                      </a:r>
                    </a:p>
                  </a:txBody>
                  <a:tcPr marL="64008" marR="64008" marT="18288" marB="18288" anchor="ctr">
                    <a:solidFill>
                      <a:srgbClr val="F2ECE1"/>
                    </a:solidFill>
                  </a:tcPr>
                </a:tc>
              </a:tr>
              <a:tr h="196088">
                <a:tc>
                  <a:txBody>
                    <a:bodyPr wrap="square"/>
                    <a:lstStyle/>
                    <a:p>
                      <a:r>
                        <a:rPr sz="1000" b="0">
                          <a:solidFill>
                            <a:srgbClr val="2B2622"/>
                          </a:solidFill>
                          <a:latin typeface="Calibri"/>
                        </a:rPr>
                        <a:t>shallow copy</a:t>
                      </a:r>
                    </a:p>
                  </a:txBody>
                  <a:tcPr marL="64008" marR="64008" marT="18288" marB="18288" anchor="ctr">
                    <a:solidFill>
                      <a:srgbClr val="FFFFFF"/>
                    </a:solidFill>
                  </a:tcPr>
                </a:tc>
                <a:tc>
                  <a:txBody>
                    <a:bodyPr wrap="square"/>
                    <a:lstStyle/>
                    <a:p>
                      <a:r>
                        <a:rPr sz="1000" b="0">
                          <a:solidFill>
                            <a:srgbClr val="2B2622"/>
                          </a:solidFill>
                          <a:latin typeface="Calibri"/>
                        </a:rPr>
                        <a:t>yes</a:t>
                      </a:r>
                    </a:p>
                  </a:txBody>
                  <a:tcPr marL="64008" marR="64008" marT="18288" marB="18288" anchor="ctr">
                    <a:solidFill>
                      <a:srgbClr val="FFFFFF"/>
                    </a:solidFill>
                  </a:tcPr>
                </a:tc>
                <a:tc>
                  <a:txBody>
                    <a:bodyPr wrap="square"/>
                    <a:lstStyle/>
                    <a:p>
                      <a:r>
                        <a:rPr sz="1000" b="0">
                          <a:solidFill>
                            <a:srgbClr val="2B2622"/>
                          </a:solidFill>
                          <a:latin typeface="Calibri"/>
                        </a:rPr>
                        <a:t>yes</a:t>
                      </a:r>
                    </a:p>
                  </a:txBody>
                  <a:tcPr marL="64008" marR="64008" marT="18288" marB="18288" anchor="ctr">
                    <a:solidFill>
                      <a:srgbClr val="FFFFFF"/>
                    </a:solidFill>
                  </a:tcPr>
                </a:tc>
                <a:tc>
                  <a:txBody>
                    <a:bodyPr wrap="square"/>
                    <a:lstStyle/>
                    <a:p>
                      <a:r>
                        <a:rPr sz="1000" b="0">
                          <a:solidFill>
                            <a:srgbClr val="2B2622"/>
                          </a:solidFill>
                          <a:latin typeface="Calibri"/>
                        </a:rPr>
                        <a:t>99</a:t>
                      </a:r>
                    </a:p>
                  </a:txBody>
                  <a:tcPr marL="64008" marR="64008" marT="18288" marB="18288" anchor="ctr">
                    <a:solidFill>
                      <a:srgbClr val="FFFFFF"/>
                    </a:solidFill>
                  </a:tcPr>
                </a:tc>
              </a:tr>
              <a:tr h="196088">
                <a:tc>
                  <a:txBody>
                    <a:bodyPr wrap="square"/>
                    <a:lstStyle/>
                    <a:p>
                      <a:r>
                        <a:rPr sz="1000" b="0">
                          <a:solidFill>
                            <a:srgbClr val="2B2622"/>
                          </a:solidFill>
                          <a:latin typeface="Calibri"/>
                        </a:rPr>
                        <a:t>deep copy</a:t>
                      </a:r>
                    </a:p>
                  </a:txBody>
                  <a:tcPr marL="64008" marR="64008" marT="18288" marB="18288" anchor="ctr">
                    <a:solidFill>
                      <a:srgbClr val="F2ECE1"/>
                    </a:solidFill>
                  </a:tcPr>
                </a:tc>
                <a:tc>
                  <a:txBody>
                    <a:bodyPr wrap="square"/>
                    <a:lstStyle/>
                    <a:p>
                      <a:r>
                        <a:rPr sz="1000" b="0">
                          <a:solidFill>
                            <a:srgbClr val="2B2622"/>
                          </a:solidFill>
                          <a:latin typeface="Calibri"/>
                        </a:rPr>
                        <a:t>yes</a:t>
                      </a:r>
                    </a:p>
                  </a:txBody>
                  <a:tcPr marL="64008" marR="64008" marT="18288" marB="18288" anchor="ctr">
                    <a:solidFill>
                      <a:srgbClr val="F2ECE1"/>
                    </a:solidFill>
                  </a:tcPr>
                </a:tc>
                <a:tc>
                  <a:txBody>
                    <a:bodyPr wrap="square"/>
                    <a:lstStyle/>
                    <a:p>
                      <a:r>
                        <a:rPr sz="1000" b="0">
                          <a:solidFill>
                            <a:srgbClr val="2B2622"/>
                          </a:solidFill>
                          <a:latin typeface="Calibri"/>
                        </a:rPr>
                        <a:t>no</a:t>
                      </a:r>
                    </a:p>
                  </a:txBody>
                  <a:tcPr marL="64008" marR="64008" marT="18288" marB="18288" anchor="ctr">
                    <a:solidFill>
                      <a:srgbClr val="F2ECE1"/>
                    </a:solidFill>
                  </a:tcPr>
                </a:tc>
                <a:tc>
                  <a:txBody>
                    <a:bodyPr wrap="square"/>
                    <a:lstStyle/>
                    <a:p>
                      <a:r>
                        <a:rPr sz="1000" b="0">
                          <a:solidFill>
                            <a:srgbClr val="2B2622"/>
                          </a:solidFill>
                          <a:latin typeface="Calibri"/>
                        </a:rPr>
                        <a:t>5</a:t>
                      </a:r>
                    </a:p>
                  </a:txBody>
                  <a:tcPr marL="64008" marR="64008" marT="18288" marB="18288" anchor="ctr">
                    <a:solidFill>
                      <a:srgbClr val="F2ECE1"/>
                    </a:solidFill>
                  </a:tcPr>
                </a:tc>
              </a:tr>
            </a:tbl>
          </a:graphicData>
        </a:graphic>
      </p:graphicFrame>
      <p:sp>
        <p:nvSpPr>
          <p:cNvPr id="16"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shallow copy shares the inner dictionaries; deepcopy does not.</a:t>
            </a:r>
          </a:p>
        </p:txBody>
      </p:sp>
      <p:sp>
        <p:nvSpPr>
          <p:cNvPr id="1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38 / 48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22: Writing data down with json and pprint</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Text carries a dictionary out of a program and back</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Nested Dictionaries and Lists</a:t>
            </a:r>
          </a:p>
        </p:txBody>
      </p:sp>
      <p:sp>
        <p:nvSpPr>
          <p:cNvPr id="6" name="code"/>
          <p:cNvSpPr/>
          <p:nvPr/>
        </p:nvSpPr>
        <p:spPr>
          <a:xfrm>
            <a:off x="365760" y="1097280"/>
            <a:ext cx="4800600" cy="597789"/>
          </a:xfrm>
          <a:prstGeom prst="roundRect">
            <a:avLst>
              <a:gd name="adj" fmla="val 1223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import</a:t>
            </a:r>
            <a:r>
              <a:rPr sz="1050" b="0" i="0">
                <a:solidFill>
                  <a:srgbClr val="E6EDF3"/>
                </a:solidFill>
                <a:latin typeface="Courier New"/>
              </a:rPr>
              <a:t> </a:t>
            </a:r>
            <a:r>
              <a:rPr sz="1050" b="0" i="0">
                <a:solidFill>
                  <a:srgbClr val="E6EDF3"/>
                </a:solidFill>
                <a:latin typeface="Courier New"/>
              </a:rPr>
              <a:t>json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pprint</a:t>
            </a:r>
          </a:p>
          <a:p>
            <a:pPr algn="l"/>
            <a:r>
              <a:rPr sz="1050" b="0" i="0">
                <a:solidFill>
                  <a:srgbClr val="8A9B94"/>
                </a:solidFill>
                <a:latin typeface="Courier New"/>
              </a:rPr>
              <a:t>&gt;&gt;&gt; </a:t>
            </a:r>
            <a:r>
              <a:rPr sz="1050" b="0" i="0">
                <a:solidFill>
                  <a:srgbClr val="E6EDF3"/>
                </a:solidFill>
                <a:latin typeface="Courier New"/>
              </a:rPr>
              <a:t>cat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'name'</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'Zophie'</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'toys'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'ball'</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'mouse'</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text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json</a:t>
            </a:r>
            <a:r>
              <a:rPr sz="1050" b="0" i="0">
                <a:solidFill>
                  <a:srgbClr val="E6EDF3"/>
                </a:solidFill>
                <a:latin typeface="Courier New"/>
              </a:rPr>
              <a:t>.</a:t>
            </a:r>
            <a:r>
              <a:rPr sz="1050" b="0" i="0">
                <a:solidFill>
                  <a:srgbClr val="E6EDF3"/>
                </a:solidFill>
                <a:latin typeface="Courier New"/>
              </a:rPr>
              <a:t>dumps</a:t>
            </a:r>
            <a:r>
              <a:rPr sz="1050" b="0" i="0">
                <a:solidFill>
                  <a:srgbClr val="E6EDF3"/>
                </a:solidFill>
                <a:latin typeface="Courier New"/>
              </a:rPr>
              <a:t>(</a:t>
            </a:r>
            <a:r>
              <a:rPr sz="1050" b="0" i="0">
                <a:solidFill>
                  <a:srgbClr val="E6EDF3"/>
                </a:solidFill>
                <a:latin typeface="Courier New"/>
              </a:rPr>
              <a:t>cat</a:t>
            </a:r>
            <a:r>
              <a:rPr sz="1050" b="0" i="0">
                <a:solidFill>
                  <a:srgbClr val="E6EDF3"/>
                </a:solidFill>
                <a:latin typeface="Courier New"/>
              </a:rPr>
              <a:t>)</a:t>
            </a:r>
          </a:p>
        </p:txBody>
      </p:sp>
      <p:sp>
        <p:nvSpPr>
          <p:cNvPr id="7" name="explanation"/>
          <p:cNvSpPr/>
          <p:nvPr/>
        </p:nvSpPr>
        <p:spPr>
          <a:xfrm>
            <a:off x="5148072" y="1097280"/>
            <a:ext cx="3584448" cy="597789"/>
          </a:xfrm>
          <a:prstGeom prst="roundRect">
            <a:avLst>
              <a:gd name="adj" fmla="val 1223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dumps() turns the dictionary into text; the text could be saved in a file.</a:t>
            </a:r>
          </a:p>
        </p:txBody>
      </p:sp>
      <p:sp>
        <p:nvSpPr>
          <p:cNvPr id="8" name="code"/>
          <p:cNvSpPr/>
          <p:nvPr/>
        </p:nvSpPr>
        <p:spPr>
          <a:xfrm>
            <a:off x="365760" y="1749932"/>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text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json</a:t>
            </a:r>
            <a:r>
              <a:rPr sz="1050" b="0" i="0">
                <a:solidFill>
                  <a:srgbClr val="E6EDF3"/>
                </a:solidFill>
                <a:latin typeface="Courier New"/>
              </a:rPr>
              <a:t>.</a:t>
            </a:r>
            <a:r>
              <a:rPr sz="1050" b="0" i="0">
                <a:solidFill>
                  <a:srgbClr val="E6EDF3"/>
                </a:solidFill>
                <a:latin typeface="Courier New"/>
              </a:rPr>
              <a:t>loads</a:t>
            </a:r>
            <a:r>
              <a:rPr sz="1050" b="0" i="0">
                <a:solidFill>
                  <a:srgbClr val="E6EDF3"/>
                </a:solidFill>
                <a:latin typeface="Courier New"/>
              </a:rPr>
              <a:t>(</a:t>
            </a:r>
            <a:r>
              <a:rPr sz="1050" b="0" i="0">
                <a:solidFill>
                  <a:srgbClr val="E6EDF3"/>
                </a:solidFill>
                <a:latin typeface="Courier New"/>
              </a:rPr>
              <a:t>text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a:t>
            </a:r>
            <a:r>
              <a:rPr sz="1050" b="0" i="0">
                <a:solidFill>
                  <a:srgbClr val="E6EDF3"/>
                </a:solidFill>
                <a:latin typeface="Courier New"/>
              </a:rPr>
              <a:t>)</a:t>
            </a:r>
          </a:p>
        </p:txBody>
      </p:sp>
      <p:sp>
        <p:nvSpPr>
          <p:cNvPr id="9" name="explanation"/>
          <p:cNvSpPr/>
          <p:nvPr/>
        </p:nvSpPr>
        <p:spPr>
          <a:xfrm>
            <a:off x="5148072" y="1749932"/>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loads() turns the text back into an equal dictionary.</a:t>
            </a:r>
          </a:p>
        </p:txBody>
      </p:sp>
      <p:sp>
        <p:nvSpPr>
          <p:cNvPr id="10" name="code"/>
          <p:cNvSpPr/>
          <p:nvPr/>
        </p:nvSpPr>
        <p:spPr>
          <a:xfrm>
            <a:off x="365760" y="2270886"/>
            <a:ext cx="4800600" cy="466089"/>
          </a:xfrm>
          <a:prstGeom prst="roundRect">
            <a:avLst>
              <a:gd name="adj" fmla="val 15694"/>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pprint</a:t>
            </a:r>
            <a:r>
              <a:rPr sz="1050" b="0" i="0">
                <a:solidFill>
                  <a:srgbClr val="E6EDF3"/>
                </a:solidFill>
                <a:latin typeface="Courier New"/>
              </a:rPr>
              <a:t>.</a:t>
            </a:r>
            <a:r>
              <a:rPr sz="1050" b="0" i="0">
                <a:solidFill>
                  <a:srgbClr val="E6EDF3"/>
                </a:solidFill>
                <a:latin typeface="Courier New"/>
              </a:rPr>
              <a:t>pprint</a:t>
            </a:r>
            <a:r>
              <a:rPr sz="1050" b="0" i="0">
                <a:solidFill>
                  <a:srgbClr val="E6EDF3"/>
                </a:solidFill>
                <a:latin typeface="Courier New"/>
              </a:rPr>
              <a:t>(</a:t>
            </a:r>
            <a:r>
              <a:rPr sz="1050" b="0" i="0">
                <a:solidFill>
                  <a:srgbClr val="E6EDF3"/>
                </a:solidFill>
                <a:latin typeface="Courier New"/>
              </a:rPr>
              <a:t>{</a:t>
            </a:r>
            <a:r>
              <a:rPr sz="1050" b="0" i="0">
                <a:solidFill>
                  <a:srgbClr val="7EE787"/>
                </a:solidFill>
                <a:latin typeface="Courier New"/>
              </a:rPr>
              <a:t>'b'</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9C0FF"/>
                </a:solidFill>
                <a:latin typeface="Courier New"/>
              </a:rPr>
              <a:t>1</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2</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'a'</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EE787"/>
                </a:solidFill>
                <a:latin typeface="Courier New"/>
              </a:rPr>
              <a:t>'x'</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1</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width</a:t>
            </a:r>
            <a:r>
              <a:rPr sz="1050" b="0" i="0">
                <a:solidFill>
                  <a:srgbClr val="E6EDF3"/>
                </a:solidFill>
                <a:latin typeface="Courier New"/>
              </a:rPr>
              <a:t>=</a:t>
            </a:r>
            <a:r>
              <a:rPr sz="1050" b="0" i="0">
                <a:solidFill>
                  <a:srgbClr val="79C0FF"/>
                </a:solidFill>
                <a:latin typeface="Courier New"/>
              </a:rPr>
              <a:t>20</a:t>
            </a:r>
            <a:r>
              <a:rPr sz="1050" b="0" i="0">
                <a:solidFill>
                  <a:srgbClr val="E6EDF3"/>
                </a:solidFill>
                <a:latin typeface="Courier New"/>
              </a:rPr>
              <a:t>)</a:t>
            </a:r>
          </a:p>
        </p:txBody>
      </p:sp>
      <p:sp>
        <p:nvSpPr>
          <p:cNvPr id="11" name="explanation"/>
          <p:cNvSpPr/>
          <p:nvPr/>
        </p:nvSpPr>
        <p:spPr>
          <a:xfrm>
            <a:off x="5148072" y="2270886"/>
            <a:ext cx="3584448" cy="466089"/>
          </a:xfrm>
          <a:prstGeom prst="roundRect">
            <a:avLst>
              <a:gd name="adj" fmla="val 15694"/>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pprint() lays nested data out tidily, one key to a line, sorted by key.</a:t>
            </a:r>
          </a:p>
        </p:txBody>
      </p:sp>
      <p:sp>
        <p:nvSpPr>
          <p:cNvPr id="12" name="result label"/>
          <p:cNvSpPr txBox="1"/>
          <p:nvPr/>
        </p:nvSpPr>
        <p:spPr>
          <a:xfrm>
            <a:off x="365760" y="2819272"/>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flow"/>
          <p:cNvGrpSpPr/>
          <p:nvPr/>
        </p:nvGrpSpPr>
        <p:grpSpPr>
          <a:xfrm>
            <a:off x="365760" y="3066160"/>
            <a:ext cx="8412480" cy="951674"/>
            <a:chOff x="365760" y="3066160"/>
            <a:chExt cx="8412480" cy="951674"/>
          </a:xfrm>
        </p:grpSpPr>
        <p:sp>
          <p:nvSpPr>
            <p:cNvPr id="14" name="Rounded Rectangle 13"/>
            <p:cNvSpPr/>
            <p:nvPr/>
          </p:nvSpPr>
          <p:spPr>
            <a:xfrm>
              <a:off x="365760" y="3066160"/>
              <a:ext cx="2621280" cy="951674"/>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00" b="0" i="0">
                  <a:solidFill>
                    <a:srgbClr val="2B2622"/>
                  </a:solidFill>
                  <a:latin typeface="Calibri"/>
                </a:rPr>
                <a:t>dictionary</a:t>
              </a:r>
            </a:p>
            <a:p>
              <a:pPr algn="ctr"/>
              <a:r>
                <a:rPr sz="1100" b="0" i="0">
                  <a:solidFill>
                    <a:srgbClr val="2B2622"/>
                  </a:solidFill>
                  <a:latin typeface="Calibri"/>
                </a:rPr>
                <a:t>cat</a:t>
              </a:r>
            </a:p>
          </p:txBody>
        </p:sp>
        <p:cxnSp>
          <p:nvCxnSpPr>
            <p:cNvPr id="15" name="Connector 14"/>
            <p:cNvCxnSpPr/>
            <p:nvPr/>
          </p:nvCxnSpPr>
          <p:spPr>
            <a:xfrm>
              <a:off x="2987040" y="3541998"/>
              <a:ext cx="274320" cy="0"/>
            </a:xfrm>
            <a:prstGeom prst="line">
              <a:avLst/>
            </a:prstGeom>
            <a:ln w="25400">
              <a:solidFill>
                <a:srgbClr val="6E655C"/>
              </a:solidFill>
              <a:tailEnd type="triangle"/>
            </a:ln>
          </p:spPr>
        </p:cxnSp>
        <p:sp>
          <p:nvSpPr>
            <p:cNvPr id="16" name="Rounded Rectangle 15"/>
            <p:cNvSpPr/>
            <p:nvPr/>
          </p:nvSpPr>
          <p:spPr>
            <a:xfrm>
              <a:off x="3261360" y="3066160"/>
              <a:ext cx="2621280" cy="951674"/>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00" b="1" i="0">
                  <a:solidFill>
                    <a:srgbClr val="FFFFFF"/>
                  </a:solidFill>
                  <a:latin typeface="Calibri"/>
                </a:rPr>
                <a:t>text (JSON)</a:t>
              </a:r>
            </a:p>
            <a:p>
              <a:pPr algn="ctr"/>
              <a:r>
                <a:rPr sz="1100" b="1" i="0">
                  <a:solidFill>
                    <a:srgbClr val="FFFFFF"/>
                  </a:solidFill>
                  <a:latin typeface="Calibri"/>
                </a:rPr>
                <a:t>{"name": "Zophie", "toys": ["ball", "mouse"]}</a:t>
              </a:r>
            </a:p>
          </p:txBody>
        </p:sp>
        <p:cxnSp>
          <p:nvCxnSpPr>
            <p:cNvPr id="17" name="Connector 16"/>
            <p:cNvCxnSpPr/>
            <p:nvPr/>
          </p:nvCxnSpPr>
          <p:spPr>
            <a:xfrm>
              <a:off x="5882640" y="3541998"/>
              <a:ext cx="274320" cy="0"/>
            </a:xfrm>
            <a:prstGeom prst="line">
              <a:avLst/>
            </a:prstGeom>
            <a:ln w="25400">
              <a:solidFill>
                <a:srgbClr val="6E655C"/>
              </a:solidFill>
              <a:tailEnd type="triangle"/>
            </a:ln>
          </p:spPr>
        </p:cxnSp>
        <p:sp>
          <p:nvSpPr>
            <p:cNvPr id="18" name="Rounded Rectangle 17"/>
            <p:cNvSpPr/>
            <p:nvPr/>
          </p:nvSpPr>
          <p:spPr>
            <a:xfrm>
              <a:off x="6156960" y="3066160"/>
              <a:ext cx="2621280" cy="951674"/>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00" b="0" i="0">
                  <a:solidFill>
                    <a:srgbClr val="2B2622"/>
                  </a:solidFill>
                  <a:latin typeface="Calibri"/>
                </a:rPr>
                <a:t>equal again?</a:t>
              </a:r>
            </a:p>
            <a:p>
              <a:pPr algn="ctr"/>
              <a:r>
                <a:rPr sz="1100" b="0" i="0">
                  <a:solidFill>
                    <a:srgbClr val="2B2622"/>
                  </a:solidFill>
                  <a:latin typeface="Calibri"/>
                </a:rPr>
                <a:t>json.loads(text) == cat: True</a:t>
              </a:r>
            </a:p>
          </p:txBody>
        </p:sp>
      </p:grpSp>
      <p:sp>
        <p:nvSpPr>
          <p:cNvPr id="19" name="result note"/>
          <p:cNvSpPr txBox="1"/>
          <p:nvPr/>
        </p:nvSpPr>
        <p:spPr>
          <a:xfrm>
            <a:off x="365760" y="4072216"/>
            <a:ext cx="8412480" cy="353479"/>
          </a:xfrm>
          <a:prstGeom prst="rect">
            <a:avLst/>
          </a:prstGeom>
          <a:noFill/>
        </p:spPr>
        <p:txBody>
          <a:bodyPr wrap="square" anchor="t" lIns="45720" rIns="45720" tIns="36576" bIns="36576">
            <a:spAutoFit/>
          </a:bodyPr>
          <a:lstStyle/>
          <a:p>
            <a:pPr algn="l"/>
            <a:r>
              <a:rPr sz="1100" b="1" i="0">
                <a:solidFill>
                  <a:srgbClr val="2F6D62"/>
                </a:solidFill>
                <a:latin typeface="Courier New"/>
              </a:rPr>
              <a:t>pprint printed: {'a': {'x': 1}, 'b': [1, 2]}</a:t>
            </a:r>
          </a:p>
        </p:txBody>
      </p:sp>
      <p:sp>
        <p:nvSpPr>
          <p:cNvPr id="20"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JSON is how a dictionary leaves a program and comes back.</a:t>
            </a:r>
          </a:p>
        </p:txBody>
      </p:sp>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39 / 48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The notation that carries dictionaries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Douglas Crockford, 2013 - photo: Robert Claypool, CC0"/>
          <p:cNvPicPr>
            <a:picLocks noChangeAspect="1"/>
          </p:cNvPicPr>
          <p:nvPr/>
        </p:nvPicPr>
        <p:blipFill>
          <a:blip r:embed="rId3"/>
          <a:stretch>
            <a:fillRect/>
          </a:stretch>
        </p:blipFill>
        <p:spPr>
          <a:xfrm>
            <a:off x="457200" y="1633918"/>
            <a:ext cx="3017520" cy="1999106"/>
          </a:xfrm>
          <a:prstGeom prst="rect">
            <a:avLst/>
          </a:prstGeom>
        </p:spPr>
      </p:pic>
      <p:sp>
        <p:nvSpPr>
          <p:cNvPr id="6" name="credit"/>
          <p:cNvSpPr txBox="1"/>
          <p:nvPr/>
        </p:nvSpPr>
        <p:spPr>
          <a:xfrm>
            <a:off x="457200" y="410565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Douglas Crockford, 2013 - photo: Robert Claypool, CC0</a:t>
            </a:r>
          </a:p>
        </p:txBody>
      </p:sp>
      <p:sp>
        <p:nvSpPr>
          <p:cNvPr id="7" name="5N1K row"/>
          <p:cNvSpPr/>
          <p:nvPr/>
        </p:nvSpPr>
        <p:spPr>
          <a:xfrm>
            <a:off x="3611880" y="1115568"/>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15568"/>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15568"/>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Douglas Crockford and Chip Morningstar; the standards body IETF later.</a:t>
            </a:r>
          </a:p>
        </p:txBody>
      </p:sp>
      <p:sp>
        <p:nvSpPr>
          <p:cNvPr id="10" name="5N1K row"/>
          <p:cNvSpPr/>
          <p:nvPr/>
        </p:nvSpPr>
        <p:spPr>
          <a:xfrm>
            <a:off x="3611880" y="1623060"/>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23060"/>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23060"/>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A small text format of name-value pairs and lists, shaped like a Python dict.</a:t>
            </a:r>
          </a:p>
        </p:txBody>
      </p:sp>
      <p:sp>
        <p:nvSpPr>
          <p:cNvPr id="13" name="5N1K row"/>
          <p:cNvSpPr/>
          <p:nvPr/>
        </p:nvSpPr>
        <p:spPr>
          <a:xfrm>
            <a:off x="3611880" y="2130552"/>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0552"/>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0552"/>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April 2001: first message. December 2005: Yahoo! December 2017: RFC 8259.</a:t>
            </a:r>
          </a:p>
        </p:txBody>
      </p:sp>
      <p:sp>
        <p:nvSpPr>
          <p:cNvPr id="16" name="5N1K row"/>
          <p:cNvSpPr/>
          <p:nvPr/>
        </p:nvSpPr>
        <p:spPr>
          <a:xfrm>
            <a:off x="3611880" y="2638044"/>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8044"/>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8044"/>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State Software, the company Crockford co-founded, and the website json.org.</a:t>
            </a:r>
          </a:p>
        </p:txBody>
      </p:sp>
      <p:sp>
        <p:nvSpPr>
          <p:cNvPr id="19" name="5N1K row"/>
          <p:cNvSpPr/>
          <p:nvPr/>
        </p:nvSpPr>
        <p:spPr>
          <a:xfrm>
            <a:off x="3611880" y="3145536"/>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45536"/>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45536"/>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Web pages needed a light way to receive data without plug-ins such as Flash.</a:t>
            </a:r>
          </a:p>
        </p:txBody>
      </p:sp>
      <p:sp>
        <p:nvSpPr>
          <p:cNvPr id="22" name="5N1K row"/>
          <p:cNvSpPr/>
          <p:nvPr/>
        </p:nvSpPr>
        <p:spPr>
          <a:xfrm>
            <a:off x="3611880" y="3653028"/>
            <a:ext cx="5074920" cy="475488"/>
          </a:xfrm>
          <a:prstGeom prst="roundRect">
            <a:avLst>
              <a:gd name="adj" fmla="val 15384"/>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53028"/>
            <a:ext cx="731520" cy="475488"/>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53028"/>
            <a:ext cx="4251960" cy="475488"/>
          </a:xfrm>
          <a:prstGeom prst="rect">
            <a:avLst/>
          </a:prstGeom>
          <a:noFill/>
        </p:spPr>
        <p:txBody>
          <a:bodyPr wrap="square" anchor="ctr" lIns="45720" rIns="45720" tIns="36576" bIns="36576">
            <a:spAutoFit/>
          </a:bodyPr>
          <a:lstStyle/>
          <a:p>
            <a:pPr algn="l"/>
            <a:r>
              <a:rPr sz="1050" b="0" i="0">
                <a:solidFill>
                  <a:srgbClr val="2B2622"/>
                </a:solidFill>
                <a:latin typeface="Calibri"/>
              </a:rPr>
              <a:t>Python's json module writes a dictionary as that text with dumps() and reads it back with loads().</a:t>
            </a:r>
          </a:p>
        </p:txBody>
      </p:sp>
      <p:sp>
        <p:nvSpPr>
          <p:cNvPr id="25" name="live link"/>
          <p:cNvSpPr txBox="1"/>
          <p:nvPr/>
        </p:nvSpPr>
        <p:spPr>
          <a:xfrm>
            <a:off x="3611880" y="4160520"/>
            <a:ext cx="5074920" cy="310896"/>
          </a:xfrm>
          <a:prstGeom prst="rect">
            <a:avLst/>
          </a:prstGeom>
          <a:noFill/>
        </p:spPr>
        <p:txBody>
          <a:bodyPr wrap="square" anchor="t" lIns="45720" rIns="45720" tIns="36576" bIns="36576">
            <a:spAutoFit/>
          </a:bodyPr>
          <a:lstStyle/>
          <a:p>
            <a:pPr algn="l"/>
            <a:r>
              <a:rPr sz="1100" b="1" i="0">
                <a:solidFill>
                  <a:srgbClr val="D97A14"/>
                </a:solidFill>
                <a:latin typeface="Calibri"/>
              </a:rPr>
              <a:t>READ  </a:t>
            </a:r>
            <a:r>
              <a:rPr sz="1100" b="1" i="0">
                <a:solidFill>
                  <a:srgbClr val="2F6D62"/>
                </a:solidFill>
                <a:latin typeface="Calibri"/>
                <a:hlinkClick r:id="rId4"/>
              </a:rPr>
              <a:t>Introducing JSON, on json.org</a:t>
            </a:r>
            <a:r>
              <a:rPr sz="1000" b="0" i="0">
                <a:solidFill>
                  <a:srgbClr val="6E655C"/>
                </a:solidFill>
                <a:latin typeface="Calibri"/>
              </a:rPr>
              <a:t>   json.org</a:t>
            </a:r>
          </a:p>
        </p:txBody>
      </p:sp>
      <p:sp>
        <p:nvSpPr>
          <p:cNvPr id="26" name="takeaway"/>
          <p:cNvSpPr txBox="1"/>
          <p:nvPr/>
        </p:nvSpPr>
        <p:spPr>
          <a:xfrm>
            <a:off x="457200" y="450799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JSON is how a dictionary leaves a program and comes back.</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40 / 48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23: Typed records and read-only views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Naming the keys of a dictionary for the type checker</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Nested Dictionaries and Lists</a:t>
            </a:r>
          </a:p>
        </p:txBody>
      </p:sp>
      <p:sp>
        <p:nvSpPr>
          <p:cNvPr id="6" name="code"/>
          <p:cNvSpPr/>
          <p:nvPr/>
        </p:nvSpPr>
        <p:spPr>
          <a:xfrm>
            <a:off x="365760" y="1097280"/>
            <a:ext cx="4800600" cy="853440"/>
          </a:xfrm>
          <a:prstGeom prst="roundRect">
            <a:avLst>
              <a:gd name="adj" fmla="val 8571"/>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from</a:t>
            </a:r>
            <a:r>
              <a:rPr sz="1200" b="0" i="0">
                <a:solidFill>
                  <a:srgbClr val="E6EDF3"/>
                </a:solidFill>
                <a:latin typeface="Courier New"/>
              </a:rPr>
              <a:t> </a:t>
            </a:r>
            <a:r>
              <a:rPr sz="1200" b="0" i="0">
                <a:solidFill>
                  <a:srgbClr val="E6EDF3"/>
                </a:solidFill>
                <a:latin typeface="Courier New"/>
              </a:rPr>
              <a:t>typing</a:t>
            </a:r>
            <a:r>
              <a:rPr sz="1200" b="0" i="0">
                <a:solidFill>
                  <a:srgbClr val="E6EDF3"/>
                </a:solidFill>
                <a:latin typeface="Courier New"/>
              </a:rPr>
              <a:t> </a:t>
            </a:r>
            <a:r>
              <a:rPr sz="1200" b="0" i="0">
                <a:solidFill>
                  <a:srgbClr val="FFA657"/>
                </a:solidFill>
                <a:latin typeface="Courier New"/>
              </a:rPr>
              <a:t>import</a:t>
            </a:r>
            <a:r>
              <a:rPr sz="1200" b="0" i="0">
                <a:solidFill>
                  <a:srgbClr val="E6EDF3"/>
                </a:solidFill>
                <a:latin typeface="Courier New"/>
              </a:rPr>
              <a:t> </a:t>
            </a:r>
            <a:r>
              <a:rPr sz="1200" b="0" i="0">
                <a:solidFill>
                  <a:srgbClr val="E6EDF3"/>
                </a:solidFill>
                <a:latin typeface="Courier New"/>
              </a:rPr>
              <a:t>TypedDict</a:t>
            </a:r>
          </a:p>
          <a:p>
            <a:pPr algn="l"/>
            <a:r>
              <a:rPr sz="1200" b="0" i="0">
                <a:solidFill>
                  <a:srgbClr val="8A9B94"/>
                </a:solidFill>
                <a:latin typeface="Courier New"/>
              </a:rPr>
              <a:t>&gt;&gt;&gt; </a:t>
            </a:r>
            <a:r>
              <a:rPr sz="1200" b="0" i="0">
                <a:solidFill>
                  <a:srgbClr val="FFA657"/>
                </a:solidFill>
                <a:latin typeface="Courier New"/>
              </a:rPr>
              <a:t>class</a:t>
            </a:r>
            <a:r>
              <a:rPr sz="1200" b="0" i="0">
                <a:solidFill>
                  <a:srgbClr val="E6EDF3"/>
                </a:solidFill>
                <a:latin typeface="Courier New"/>
              </a:rPr>
              <a:t> </a:t>
            </a:r>
            <a:r>
              <a:rPr sz="1200" b="0" i="0">
                <a:solidFill>
                  <a:srgbClr val="E6EDF3"/>
                </a:solidFill>
                <a:latin typeface="Courier New"/>
              </a:rPr>
              <a:t>Cat</a:t>
            </a:r>
            <a:r>
              <a:rPr sz="1200" b="0" i="0">
                <a:solidFill>
                  <a:srgbClr val="E6EDF3"/>
                </a:solidFill>
                <a:latin typeface="Courier New"/>
              </a:rPr>
              <a:t>(</a:t>
            </a:r>
            <a:r>
              <a:rPr sz="1200" b="0" i="0">
                <a:solidFill>
                  <a:srgbClr val="E6EDF3"/>
                </a:solidFill>
                <a:latin typeface="Courier New"/>
              </a:rPr>
              <a:t>TypedDict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str</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age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int</a:t>
            </a:r>
          </a:p>
        </p:txBody>
      </p:sp>
      <p:sp>
        <p:nvSpPr>
          <p:cNvPr id="7" name="explanation"/>
          <p:cNvSpPr/>
          <p:nvPr/>
        </p:nvSpPr>
        <p:spPr>
          <a:xfrm>
            <a:off x="5148072" y="1097280"/>
            <a:ext cx="3584448" cy="853440"/>
          </a:xfrm>
          <a:prstGeom prst="roundRect">
            <a:avLst>
              <a:gd name="adj" fmla="val 8571"/>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A TypedDict names the keys of a record and the type of each value.</a:t>
            </a:r>
          </a:p>
        </p:txBody>
      </p:sp>
      <p:sp>
        <p:nvSpPr>
          <p:cNvPr id="8" name="code"/>
          <p:cNvSpPr/>
          <p:nvPr/>
        </p:nvSpPr>
        <p:spPr>
          <a:xfrm>
            <a:off x="365760" y="2005584"/>
            <a:ext cx="4800600" cy="497077"/>
          </a:xfrm>
          <a:prstGeom prst="roundRect">
            <a:avLst>
              <a:gd name="adj" fmla="val 14716"/>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a:t>
            </a:r>
            <a:r>
              <a:rPr sz="1200" b="0" i="0">
                <a:solidFill>
                  <a:srgbClr val="E6EDF3"/>
                </a:solidFill>
                <a:latin typeface="Courier New"/>
              </a:rPr>
              <a:t>(</a:t>
            </a:r>
            <a:r>
              <a:rPr sz="1200" b="0" i="0">
                <a:solidFill>
                  <a:srgbClr val="E6EDF3"/>
                </a:solidFill>
                <a:latin typeface="Courier New"/>
              </a:rPr>
              <a:t>name</a:t>
            </a:r>
            <a:r>
              <a:rPr sz="1200" b="0" i="0">
                <a:solidFill>
                  <a:srgbClr val="E6EDF3"/>
                </a:solidFill>
                <a:latin typeface="Courier New"/>
              </a:rPr>
              <a:t>=</a:t>
            </a:r>
            <a:r>
              <a:rPr sz="1200" b="0" i="0">
                <a:solidFill>
                  <a:srgbClr val="7EE787"/>
                </a:solidFill>
                <a:latin typeface="Courier New"/>
              </a:rPr>
              <a:t>'Zophie'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age</a:t>
            </a:r>
            <a:r>
              <a:rPr sz="1200" b="0" i="0">
                <a:solidFill>
                  <a:srgbClr val="E6EDF3"/>
                </a:solidFill>
                <a:latin typeface="Courier New"/>
              </a:rPr>
              <a:t>=</a:t>
            </a:r>
            <a:r>
              <a:rPr sz="1200" b="0" i="0">
                <a:solidFill>
                  <a:srgbClr val="79C0FF"/>
                </a:solidFill>
                <a:latin typeface="Courier New"/>
              </a:rPr>
              <a:t>8</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type</a:t>
            </a:r>
            <a:r>
              <a:rPr sz="1200" b="0" i="0">
                <a:solidFill>
                  <a:srgbClr val="E6EDF3"/>
                </a:solidFill>
                <a:latin typeface="Courier New"/>
              </a:rPr>
              <a:t>(</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__name__</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7EE787"/>
                </a:solidFill>
                <a:latin typeface="Courier New"/>
              </a:rPr>
              <a:t>'age'</a:t>
            </a:r>
            <a:r>
              <a:rPr sz="1200" b="0" i="0">
                <a:solidFill>
                  <a:srgbClr val="E6EDF3"/>
                </a:solidFill>
                <a:latin typeface="Courier New"/>
              </a:rPr>
              <a:t>]</a:t>
            </a:r>
            <a:r>
              <a:rPr sz="1200" b="0" i="0">
                <a:solidFill>
                  <a:srgbClr val="E6EDF3"/>
                </a:solidFill>
                <a:latin typeface="Courier New"/>
              </a:rPr>
              <a:t>)</a:t>
            </a:r>
          </a:p>
        </p:txBody>
      </p:sp>
      <p:sp>
        <p:nvSpPr>
          <p:cNvPr id="9" name="explanation"/>
          <p:cNvSpPr/>
          <p:nvPr/>
        </p:nvSpPr>
        <p:spPr>
          <a:xfrm>
            <a:off x="5148072" y="2005584"/>
            <a:ext cx="3584448" cy="497077"/>
          </a:xfrm>
          <a:prstGeom prst="roundRect">
            <a:avLst>
              <a:gd name="adj" fmla="val 14716"/>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At run time it is an ordinary dict; only a type checker enforces the keys.</a:t>
            </a:r>
          </a:p>
        </p:txBody>
      </p:sp>
      <p:sp>
        <p:nvSpPr>
          <p:cNvPr id="10" name="code"/>
          <p:cNvSpPr/>
          <p:nvPr/>
        </p:nvSpPr>
        <p:spPr>
          <a:xfrm>
            <a:off x="365760" y="2557526"/>
            <a:ext cx="4800600" cy="667512"/>
          </a:xfrm>
          <a:prstGeom prst="roundRect">
            <a:avLst>
              <a:gd name="adj" fmla="val 10958"/>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from</a:t>
            </a:r>
            <a:r>
              <a:rPr sz="1200" b="0" i="0">
                <a:solidFill>
                  <a:srgbClr val="E6EDF3"/>
                </a:solidFill>
                <a:latin typeface="Courier New"/>
              </a:rPr>
              <a:t> </a:t>
            </a:r>
            <a:r>
              <a:rPr sz="1200" b="0" i="0">
                <a:solidFill>
                  <a:srgbClr val="E6EDF3"/>
                </a:solidFill>
                <a:latin typeface="Courier New"/>
              </a:rPr>
              <a:t>types</a:t>
            </a:r>
            <a:r>
              <a:rPr sz="1200" b="0" i="0">
                <a:solidFill>
                  <a:srgbClr val="E6EDF3"/>
                </a:solidFill>
                <a:latin typeface="Courier New"/>
              </a:rPr>
              <a:t> </a:t>
            </a:r>
            <a:r>
              <a:rPr sz="1200" b="0" i="0">
                <a:solidFill>
                  <a:srgbClr val="FFA657"/>
                </a:solidFill>
                <a:latin typeface="Courier New"/>
              </a:rPr>
              <a:t>import</a:t>
            </a:r>
            <a:r>
              <a:rPr sz="1200" b="0" i="0">
                <a:solidFill>
                  <a:srgbClr val="E6EDF3"/>
                </a:solidFill>
                <a:latin typeface="Courier New"/>
              </a:rPr>
              <a:t> </a:t>
            </a:r>
            <a:r>
              <a:rPr sz="1200" b="0" i="0">
                <a:solidFill>
                  <a:srgbClr val="E6EDF3"/>
                </a:solidFill>
                <a:latin typeface="Courier New"/>
              </a:rPr>
              <a:t>MappingProxyType</a:t>
            </a:r>
          </a:p>
          <a:p>
            <a:pPr algn="l"/>
            <a:r>
              <a:rPr sz="1200" b="0" i="0">
                <a:solidFill>
                  <a:srgbClr val="8A9B94"/>
                </a:solidFill>
                <a:latin typeface="Courier New"/>
              </a:rPr>
              <a:t>&gt;&gt;&gt; </a:t>
            </a:r>
            <a:r>
              <a:rPr sz="1200" b="0" i="0">
                <a:solidFill>
                  <a:srgbClr val="E6EDF3"/>
                </a:solidFill>
                <a:latin typeface="Courier New"/>
              </a:rPr>
              <a:t>ro</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MappingProxyType</a:t>
            </a:r>
            <a:r>
              <a:rPr sz="1200" b="0" i="0">
                <a:solidFill>
                  <a:srgbClr val="E6EDF3"/>
                </a:solidFill>
                <a:latin typeface="Courier New"/>
              </a:rPr>
              <a:t>(</a:t>
            </a:r>
            <a:r>
              <a:rPr sz="1200" b="0" i="0">
                <a:solidFill>
                  <a:srgbClr val="E6EDF3"/>
                </a:solidFill>
                <a:latin typeface="Courier New"/>
              </a:rPr>
              <a:t>c</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ro</a:t>
            </a:r>
            <a:r>
              <a:rPr sz="1200" b="0" i="0">
                <a:solidFill>
                  <a:srgbClr val="E6EDF3"/>
                </a:solidFill>
                <a:latin typeface="Courier New"/>
              </a:rPr>
              <a:t>[</a:t>
            </a:r>
            <a:r>
              <a:rPr sz="1200" b="0" i="0">
                <a:solidFill>
                  <a:srgbClr val="7EE787"/>
                </a:solidFill>
                <a:latin typeface="Courier New"/>
              </a:rPr>
              <a:t>'age'</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ro</a:t>
            </a:r>
            <a:r>
              <a:rPr sz="1200" b="0" i="0">
                <a:solidFill>
                  <a:srgbClr val="E6EDF3"/>
                </a:solidFill>
                <a:latin typeface="Courier New"/>
              </a:rPr>
              <a:t>)</a:t>
            </a:r>
            <a:r>
              <a:rPr sz="1200" b="0" i="0">
                <a:solidFill>
                  <a:srgbClr val="E6EDF3"/>
                </a:solidFill>
                <a:latin typeface="Courier New"/>
              </a:rPr>
              <a:t>)</a:t>
            </a:r>
          </a:p>
        </p:txBody>
      </p:sp>
      <p:sp>
        <p:nvSpPr>
          <p:cNvPr id="11" name="explanation"/>
          <p:cNvSpPr/>
          <p:nvPr/>
        </p:nvSpPr>
        <p:spPr>
          <a:xfrm>
            <a:off x="5148072" y="2557526"/>
            <a:ext cx="3584448" cy="667512"/>
          </a:xfrm>
          <a:prstGeom prst="roundRect">
            <a:avLst>
              <a:gd name="adj" fmla="val 10958"/>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MappingProxyType gives a read-only view of the same dictionary.</a:t>
            </a:r>
          </a:p>
        </p:txBody>
      </p:sp>
      <p:sp>
        <p:nvSpPr>
          <p:cNvPr id="12" name="result label"/>
          <p:cNvSpPr txBox="1"/>
          <p:nvPr/>
        </p:nvSpPr>
        <p:spPr>
          <a:xfrm>
            <a:off x="365760" y="3307334"/>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554222"/>
          <a:ext cx="8412479" cy="871473"/>
        </p:xfrm>
        <a:graphic>
          <a:graphicData uri="http://schemas.openxmlformats.org/drawingml/2006/table">
            <a:tbl>
              <a:tblPr firstRow="1" bandRow="1">
                <a:tableStyleId>{5C22544A-7EE6-4342-B048-85BDC9FD1C3A}</a:tableStyleId>
              </a:tblPr>
              <a:tblGrid>
                <a:gridCol w="1979407"/>
                <a:gridCol w="3463962"/>
                <a:gridCol w="2969110"/>
              </a:tblGrid>
              <a:tr h="290491">
                <a:tc>
                  <a:txBody>
                    <a:bodyPr wrap="square"/>
                    <a:lstStyle/>
                    <a:p>
                      <a:r>
                        <a:rPr sz="1200" b="1">
                          <a:solidFill>
                            <a:srgbClr val="FFFFFF"/>
                          </a:solidFill>
                          <a:latin typeface="Calibri"/>
                        </a:rPr>
                        <a:t>Tool</a:t>
                      </a:r>
                    </a:p>
                  </a:txBody>
                  <a:tcPr marL="64008" marR="64008" marT="18288" marB="18288" anchor="ctr">
                    <a:solidFill>
                      <a:srgbClr val="2B2622"/>
                    </a:solidFill>
                  </a:tcPr>
                </a:tc>
                <a:tc>
                  <a:txBody>
                    <a:bodyPr wrap="square"/>
                    <a:lstStyle/>
                    <a:p>
                      <a:r>
                        <a:rPr sz="1200" b="1">
                          <a:solidFill>
                            <a:srgbClr val="FFFFFF"/>
                          </a:solidFill>
                          <a:latin typeface="Calibri"/>
                        </a:rPr>
                        <a:t>At run time</a:t>
                      </a:r>
                    </a:p>
                  </a:txBody>
                  <a:tcPr marL="64008" marR="64008" marT="18288" marB="18288" anchor="ctr">
                    <a:solidFill>
                      <a:srgbClr val="2B2622"/>
                    </a:solidFill>
                  </a:tcPr>
                </a:tc>
                <a:tc>
                  <a:txBody>
                    <a:bodyPr wrap="square"/>
                    <a:lstStyle/>
                    <a:p>
                      <a:r>
                        <a:rPr sz="1200" b="1">
                          <a:solidFill>
                            <a:srgbClr val="FFFFFF"/>
                          </a:solidFill>
                          <a:latin typeface="Calibri"/>
                        </a:rPr>
                        <a:t>Who enforces it</a:t>
                      </a:r>
                    </a:p>
                  </a:txBody>
                  <a:tcPr marL="64008" marR="64008" marT="18288" marB="18288" anchor="ctr">
                    <a:solidFill>
                      <a:srgbClr val="2B2622"/>
                    </a:solidFill>
                  </a:tcPr>
                </a:tc>
              </a:tr>
              <a:tr h="290491">
                <a:tc>
                  <a:txBody>
                    <a:bodyPr wrap="square"/>
                    <a:lstStyle/>
                    <a:p>
                      <a:r>
                        <a:rPr sz="1200" b="0">
                          <a:solidFill>
                            <a:srgbClr val="2B2622"/>
                          </a:solidFill>
                          <a:latin typeface="Calibri"/>
                        </a:rPr>
                        <a:t>TypedDict Cat</a:t>
                      </a:r>
                    </a:p>
                  </a:txBody>
                  <a:tcPr marL="64008" marR="64008" marT="18288" marB="18288" anchor="ctr">
                    <a:solidFill>
                      <a:srgbClr val="F2ECE1"/>
                    </a:solidFill>
                  </a:tcPr>
                </a:tc>
                <a:tc>
                  <a:txBody>
                    <a:bodyPr wrap="square"/>
                    <a:lstStyle/>
                    <a:p>
                      <a:r>
                        <a:rPr sz="1200" b="0">
                          <a:solidFill>
                            <a:srgbClr val="2B2622"/>
                          </a:solidFill>
                          <a:latin typeface="Calibri"/>
                        </a:rPr>
                        <a:t>type(c).__name__ is 'dict', age 8</a:t>
                      </a:r>
                    </a:p>
                  </a:txBody>
                  <a:tcPr marL="64008" marR="64008" marT="18288" marB="18288" anchor="ctr">
                    <a:solidFill>
                      <a:srgbClr val="F2ECE1"/>
                    </a:solidFill>
                  </a:tcPr>
                </a:tc>
                <a:tc>
                  <a:txBody>
                    <a:bodyPr wrap="square"/>
                    <a:lstStyle/>
                    <a:p>
                      <a:r>
                        <a:rPr sz="1200" b="0">
                          <a:solidFill>
                            <a:srgbClr val="2B2622"/>
                          </a:solidFill>
                          <a:latin typeface="Calibri"/>
                        </a:rPr>
                        <a:t>a type checker, not Python</a:t>
                      </a:r>
                    </a:p>
                  </a:txBody>
                  <a:tcPr marL="64008" marR="64008" marT="18288" marB="18288" anchor="ctr">
                    <a:solidFill>
                      <a:srgbClr val="F2ECE1"/>
                    </a:solidFill>
                  </a:tcPr>
                </a:tc>
              </a:tr>
              <a:tr h="290491">
                <a:tc>
                  <a:txBody>
                    <a:bodyPr wrap="square"/>
                    <a:lstStyle/>
                    <a:p>
                      <a:r>
                        <a:rPr sz="1200" b="0">
                          <a:solidFill>
                            <a:srgbClr val="2B2622"/>
                          </a:solidFill>
                          <a:latin typeface="Calibri"/>
                        </a:rPr>
                        <a:t>MappingProxyType</a:t>
                      </a:r>
                    </a:p>
                  </a:txBody>
                  <a:tcPr marL="64008" marR="64008" marT="18288" marB="18288" anchor="ctr">
                    <a:solidFill>
                      <a:srgbClr val="FFFFFF"/>
                    </a:solidFill>
                  </a:tcPr>
                </a:tc>
                <a:tc>
                  <a:txBody>
                    <a:bodyPr wrap="square"/>
                    <a:lstStyle/>
                    <a:p>
                      <a:r>
                        <a:rPr sz="1200" b="0">
                          <a:solidFill>
                            <a:srgbClr val="2B2622"/>
                          </a:solidFill>
                          <a:latin typeface="Calibri"/>
                        </a:rPr>
                        <a:t>age 8, length 2: read-only</a:t>
                      </a:r>
                    </a:p>
                  </a:txBody>
                  <a:tcPr marL="64008" marR="64008" marT="18288" marB="18288" anchor="ctr">
                    <a:solidFill>
                      <a:srgbClr val="FFFFFF"/>
                    </a:solidFill>
                  </a:tcPr>
                </a:tc>
                <a:tc>
                  <a:txBody>
                    <a:bodyPr wrap="square"/>
                    <a:lstStyle/>
                    <a:p>
                      <a:r>
                        <a:rPr sz="1200" b="0">
                          <a:solidFill>
                            <a:srgbClr val="2B2622"/>
                          </a:solidFill>
                          <a:latin typeface="Calibri"/>
                        </a:rPr>
                        <a:t>Python itself: item assignment fails</a:t>
                      </a:r>
                    </a:p>
                  </a:txBody>
                  <a:tcPr marL="64008" marR="64008" marT="18288" marB="18288" anchor="ctr">
                    <a:solidFill>
                      <a:srgbClr val="FFFFFF"/>
                    </a:solidFill>
                  </a:tcPr>
                </a:tc>
              </a:tr>
            </a:tbl>
          </a:graphicData>
        </a:graphic>
      </p:graphicFrame>
      <p:sp>
        <p:nvSpPr>
          <p:cNvPr id="14"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TypedDict is checked by type checkers only; at run time it is a plain dict.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41 / 48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24: Matching the shape of a dictionary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Keys are tested and values are bound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Nested Dictionaries and Lists</a:t>
            </a:r>
          </a:p>
        </p:txBody>
      </p:sp>
      <p:sp>
        <p:nvSpPr>
          <p:cNvPr id="6" name="code"/>
          <p:cNvSpPr/>
          <p:nvPr/>
        </p:nvSpPr>
        <p:spPr>
          <a:xfrm>
            <a:off x="365760" y="1097280"/>
            <a:ext cx="4800600" cy="497077"/>
          </a:xfrm>
          <a:prstGeom prst="roundRect">
            <a:avLst>
              <a:gd name="adj" fmla="val 14716"/>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cat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EE787"/>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'Zophie'</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'age'</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8</a:t>
            </a:r>
            <a:r>
              <a:rPr sz="1200" b="0" i="0">
                <a:solidFill>
                  <a:srgbClr val="E6EDF3"/>
                </a:solidFill>
                <a:latin typeface="Courier New"/>
              </a:rPr>
              <a:t>}</a:t>
            </a:r>
          </a:p>
        </p:txBody>
      </p:sp>
      <p:sp>
        <p:nvSpPr>
          <p:cNvPr id="7" name="explanation"/>
          <p:cNvSpPr/>
          <p:nvPr/>
        </p:nvSpPr>
        <p:spPr>
          <a:xfrm>
            <a:off x="5148072" y="1097280"/>
            <a:ext cx="3584448" cy="497077"/>
          </a:xfrm>
          <a:prstGeom prst="roundRect">
            <a:avLst>
              <a:gd name="adj" fmla="val 14716"/>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A record with two keys: a name and an age, ready to be matched.</a:t>
            </a:r>
          </a:p>
        </p:txBody>
      </p:sp>
      <p:sp>
        <p:nvSpPr>
          <p:cNvPr id="8" name="code"/>
          <p:cNvSpPr/>
          <p:nvPr/>
        </p:nvSpPr>
        <p:spPr>
          <a:xfrm>
            <a:off x="365760" y="1649222"/>
            <a:ext cx="4800600" cy="1039368"/>
          </a:xfrm>
          <a:prstGeom prst="roundRect">
            <a:avLst>
              <a:gd name="adj" fmla="val 7038"/>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match</a:t>
            </a:r>
            <a:r>
              <a:rPr sz="1200" b="0" i="0">
                <a:solidFill>
                  <a:srgbClr val="E6EDF3"/>
                </a:solidFill>
                <a:latin typeface="Courier New"/>
              </a:rPr>
              <a:t> </a:t>
            </a:r>
            <a:r>
              <a:rPr sz="1200" b="0" i="0">
                <a:solidFill>
                  <a:srgbClr val="E6EDF3"/>
                </a:solidFill>
                <a:latin typeface="Courier New"/>
              </a:rPr>
              <a:t>cat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case</a:t>
            </a:r>
            <a:r>
              <a:rPr sz="1200" b="0" i="0">
                <a:solidFill>
                  <a:srgbClr val="E6EDF3"/>
                </a:solidFill>
                <a:latin typeface="Courier New"/>
              </a:rPr>
              <a:t> </a:t>
            </a:r>
            <a:r>
              <a:rPr sz="1200" b="0" i="0">
                <a:solidFill>
                  <a:srgbClr val="E6EDF3"/>
                </a:solidFill>
                <a:latin typeface="Courier New"/>
              </a:rPr>
              <a:t>{</a:t>
            </a:r>
            <a:r>
              <a:rPr sz="1200" b="0" i="0">
                <a:solidFill>
                  <a:srgbClr val="7EE787"/>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'age'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if</a:t>
            </a:r>
            <a:r>
              <a:rPr sz="1200" b="0" i="0">
                <a:solidFill>
                  <a:srgbClr val="E6EDF3"/>
                </a:solidFill>
                <a:latin typeface="Courier New"/>
              </a:rPr>
              <a:t> </a:t>
            </a:r>
            <a:r>
              <a:rPr sz="1200" b="0" i="0">
                <a:solidFill>
                  <a:srgbClr val="E6EDF3"/>
                </a:solidFill>
                <a:latin typeface="Courier New"/>
              </a:rPr>
              <a:t>a</a:t>
            </a:r>
            <a:r>
              <a:rPr sz="1200" b="0" i="0">
                <a:solidFill>
                  <a:srgbClr val="E6EDF3"/>
                </a:solidFill>
                <a:latin typeface="Courier New"/>
              </a:rPr>
              <a:t> </a:t>
            </a:r>
            <a:r>
              <a:rPr sz="1200" b="0" i="0">
                <a:solidFill>
                  <a:srgbClr val="E6EDF3"/>
                </a:solidFill>
                <a:latin typeface="Courier New"/>
              </a:rPr>
              <a:t>&gt;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n</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'is a senior cat of'</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case</a:t>
            </a:r>
            <a:r>
              <a:rPr sz="1200" b="0" i="0">
                <a:solidFill>
                  <a:srgbClr val="E6EDF3"/>
                </a:solidFill>
                <a:latin typeface="Courier New"/>
              </a:rPr>
              <a:t> </a:t>
            </a:r>
            <a:r>
              <a:rPr sz="1200" b="0" i="0">
                <a:solidFill>
                  <a:srgbClr val="E6EDF3"/>
                </a:solidFill>
                <a:latin typeface="Courier New"/>
              </a:rPr>
              <a:t>{</a:t>
            </a:r>
            <a:r>
              <a:rPr sz="1200" b="0" i="0">
                <a:solidFill>
                  <a:srgbClr val="7EE787"/>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n</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'is a cat'</a:t>
            </a:r>
            <a:r>
              <a:rPr sz="1200" b="0" i="0">
                <a:solidFill>
                  <a:srgbClr val="E6EDF3"/>
                </a:solidFill>
                <a:latin typeface="Courier New"/>
              </a:rPr>
              <a:t>)</a:t>
            </a:r>
          </a:p>
        </p:txBody>
      </p:sp>
      <p:sp>
        <p:nvSpPr>
          <p:cNvPr id="9" name="explanation"/>
          <p:cNvSpPr/>
          <p:nvPr/>
        </p:nvSpPr>
        <p:spPr>
          <a:xfrm>
            <a:off x="5148072" y="1649222"/>
            <a:ext cx="3584448" cy="1039368"/>
          </a:xfrm>
          <a:prstGeom prst="roundRect">
            <a:avLst>
              <a:gd name="adj" fmla="val 7038"/>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first case needs both keys and an age above 5; otherwise the second case is tried.</a:t>
            </a:r>
          </a:p>
        </p:txBody>
      </p:sp>
      <p:sp>
        <p:nvSpPr>
          <p:cNvPr id="10" name="result label"/>
          <p:cNvSpPr txBox="1"/>
          <p:nvPr/>
        </p:nvSpPr>
        <p:spPr>
          <a:xfrm>
            <a:off x="365760" y="2770886"/>
            <a:ext cx="50292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1" name="visual: flow"/>
          <p:cNvGrpSpPr/>
          <p:nvPr/>
        </p:nvGrpSpPr>
        <p:grpSpPr>
          <a:xfrm>
            <a:off x="365760" y="3017774"/>
            <a:ext cx="8412480" cy="1055941"/>
            <a:chOff x="365760" y="3017774"/>
            <a:chExt cx="8412480" cy="1055941"/>
          </a:xfrm>
        </p:grpSpPr>
        <p:sp>
          <p:nvSpPr>
            <p:cNvPr id="12" name="Rounded Rectangle 11"/>
            <p:cNvSpPr/>
            <p:nvPr/>
          </p:nvSpPr>
          <p:spPr>
            <a:xfrm>
              <a:off x="365760" y="3017774"/>
              <a:ext cx="2621280" cy="105594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00" b="0" i="0">
                  <a:solidFill>
                    <a:srgbClr val="2B2622"/>
                  </a:solidFill>
                  <a:latin typeface="Calibri"/>
                </a:rPr>
                <a:t>cat</a:t>
              </a:r>
            </a:p>
            <a:p>
              <a:pPr algn="ctr"/>
              <a:r>
                <a:rPr sz="1100" b="0" i="0">
                  <a:solidFill>
                    <a:srgbClr val="2B2622"/>
                  </a:solidFill>
                  <a:latin typeface="Calibri"/>
                </a:rPr>
                <a:t>{'name': 'Zophie', 'age': 8}</a:t>
              </a:r>
            </a:p>
          </p:txBody>
        </p:sp>
        <p:cxnSp>
          <p:nvCxnSpPr>
            <p:cNvPr id="13" name="Connector 12"/>
            <p:cNvCxnSpPr/>
            <p:nvPr/>
          </p:nvCxnSpPr>
          <p:spPr>
            <a:xfrm>
              <a:off x="2987040" y="3545744"/>
              <a:ext cx="274320" cy="0"/>
            </a:xfrm>
            <a:prstGeom prst="line">
              <a:avLst/>
            </a:prstGeom>
            <a:ln w="25400">
              <a:solidFill>
                <a:srgbClr val="6E655C"/>
              </a:solidFill>
              <a:tailEnd type="triangle"/>
            </a:ln>
          </p:spPr>
        </p:cxnSp>
        <p:sp>
          <p:nvSpPr>
            <p:cNvPr id="14" name="Rounded Rectangle 13"/>
            <p:cNvSpPr/>
            <p:nvPr/>
          </p:nvSpPr>
          <p:spPr>
            <a:xfrm>
              <a:off x="3261360" y="3017774"/>
              <a:ext cx="2621280" cy="105594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00" b="0" i="0">
                  <a:solidFill>
                    <a:srgbClr val="2B2622"/>
                  </a:solidFill>
                  <a:latin typeface="Calibri"/>
                </a:rPr>
                <a:t>case 1 fits</a:t>
              </a:r>
            </a:p>
            <a:p>
              <a:pPr algn="ctr"/>
              <a:r>
                <a:rPr sz="1100" b="0" i="0">
                  <a:solidFill>
                    <a:srgbClr val="2B2622"/>
                  </a:solidFill>
                  <a:latin typeface="Calibri"/>
                </a:rPr>
                <a:t>name, age and a &gt; 5</a:t>
              </a:r>
            </a:p>
          </p:txBody>
        </p:sp>
        <p:cxnSp>
          <p:nvCxnSpPr>
            <p:cNvPr id="15" name="Connector 14"/>
            <p:cNvCxnSpPr/>
            <p:nvPr/>
          </p:nvCxnSpPr>
          <p:spPr>
            <a:xfrm>
              <a:off x="5882640" y="3545744"/>
              <a:ext cx="274320" cy="0"/>
            </a:xfrm>
            <a:prstGeom prst="line">
              <a:avLst/>
            </a:prstGeom>
            <a:ln w="25400">
              <a:solidFill>
                <a:srgbClr val="6E655C"/>
              </a:solidFill>
              <a:tailEnd type="triangle"/>
            </a:ln>
          </p:spPr>
        </p:cxnSp>
        <p:sp>
          <p:nvSpPr>
            <p:cNvPr id="16" name="Rounded Rectangle 15"/>
            <p:cNvSpPr/>
            <p:nvPr/>
          </p:nvSpPr>
          <p:spPr>
            <a:xfrm>
              <a:off x="6156960" y="3017774"/>
              <a:ext cx="2621280" cy="1055941"/>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00" b="1" i="0">
                  <a:solidFill>
                    <a:srgbClr val="FFFFFF"/>
                  </a:solidFill>
                  <a:latin typeface="Calibri"/>
                </a:rPr>
                <a:t>Zophie is a senior cat of 8</a:t>
              </a:r>
            </a:p>
          </p:txBody>
        </p:sp>
      </p:grpSp>
      <p:sp>
        <p:nvSpPr>
          <p:cNvPr id="17" name="result note"/>
          <p:cNvSpPr txBox="1"/>
          <p:nvPr/>
        </p:nvSpPr>
        <p:spPr>
          <a:xfrm>
            <a:off x="365760" y="4144111"/>
            <a:ext cx="8412480" cy="281584"/>
          </a:xfrm>
          <a:prstGeom prst="rect">
            <a:avLst/>
          </a:prstGeom>
          <a:noFill/>
        </p:spPr>
        <p:txBody>
          <a:bodyPr wrap="square" anchor="t" lIns="45720" rIns="45720" tIns="36576" bIns="36576">
            <a:spAutoFit/>
          </a:bodyPr>
          <a:lstStyle/>
          <a:p>
            <a:pPr algn="l"/>
            <a:r>
              <a:rPr sz="1100" b="1" i="0">
                <a:solidFill>
                  <a:srgbClr val="2F6D62"/>
                </a:solidFill>
                <a:latin typeface="Calibri"/>
              </a:rPr>
              <a:t>case 2 is never tried: the first fitting case wins.</a:t>
            </a:r>
          </a:p>
        </p:txBody>
      </p:sp>
      <p:sp>
        <p:nvSpPr>
          <p:cNvPr id="18" name="takeaway"/>
          <p:cNvSpPr txBox="1"/>
          <p:nvPr/>
        </p:nvSpPr>
        <p:spPr>
          <a:xfrm>
            <a:off x="457200" y="4498848"/>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match tests which keys a dictionary has and binds their values.</a:t>
            </a:r>
          </a:p>
        </p:txBody>
      </p:sp>
      <p:sp>
        <p:nvSpPr>
          <p:cNvPr id="1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42 / 48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What current Python adds to the chapter</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The book is right about the basics; six things have moved 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Summary</a:t>
            </a:r>
          </a:p>
        </p:txBody>
      </p:sp>
      <p:sp>
        <p:nvSpPr>
          <p:cNvPr id="6" name="card"/>
          <p:cNvSpPr/>
          <p:nvPr/>
        </p:nvSpPr>
        <p:spPr>
          <a:xfrm>
            <a:off x="457200" y="1188720"/>
            <a:ext cx="402336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7" name="card heading"/>
          <p:cNvSpPr txBox="1"/>
          <p:nvPr/>
        </p:nvSpPr>
        <p:spPr>
          <a:xfrm>
            <a:off x="566928" y="1225296"/>
            <a:ext cx="3794760" cy="274320"/>
          </a:xfrm>
          <a:prstGeom prst="rect">
            <a:avLst/>
          </a:prstGeom>
          <a:noFill/>
        </p:spPr>
        <p:txBody>
          <a:bodyPr wrap="square" anchor="t" lIns="45720" rIns="45720" tIns="36576" bIns="36576">
            <a:spAutoFit/>
          </a:bodyPr>
          <a:lstStyle/>
          <a:p>
            <a:pPr algn="l"/>
            <a:r>
              <a:rPr sz="1300" b="1" i="0">
                <a:solidFill>
                  <a:srgbClr val="D97A14"/>
                </a:solidFill>
                <a:latin typeface="Cambria"/>
              </a:rPr>
              <a:t>Insertion order</a:t>
            </a:r>
          </a:p>
        </p:txBody>
      </p:sp>
      <p:sp>
        <p:nvSpPr>
          <p:cNvPr id="8" name="card text"/>
          <p:cNvSpPr txBox="1"/>
          <p:nvPr/>
        </p:nvSpPr>
        <p:spPr>
          <a:xfrm>
            <a:off x="566928" y="1517904"/>
            <a:ext cx="3794760" cy="640080"/>
          </a:xfrm>
          <a:prstGeom prst="rect">
            <a:avLst/>
          </a:prstGeom>
          <a:noFill/>
        </p:spPr>
        <p:txBody>
          <a:bodyPr wrap="square" anchor="t" lIns="45720" rIns="45720" tIns="36576" bIns="36576">
            <a:spAutoFit/>
          </a:bodyPr>
          <a:lstStyle/>
          <a:p>
            <a:pPr algn="l"/>
            <a:r>
              <a:rPr sz="1150" b="0" i="0">
                <a:solidFill>
                  <a:srgbClr val="2B2622"/>
                </a:solidFill>
                <a:latin typeface="Calibri"/>
              </a:rPr>
              <a:t>Since Python 3.7 the order of adding is a promise, so the book's 'no first item' is out of date.</a:t>
            </a:r>
          </a:p>
        </p:txBody>
      </p:sp>
      <p:sp>
        <p:nvSpPr>
          <p:cNvPr id="9" name="card"/>
          <p:cNvSpPr/>
          <p:nvPr/>
        </p:nvSpPr>
        <p:spPr>
          <a:xfrm>
            <a:off x="4663440" y="1188720"/>
            <a:ext cx="402336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10" name="card heading"/>
          <p:cNvSpPr txBox="1"/>
          <p:nvPr/>
        </p:nvSpPr>
        <p:spPr>
          <a:xfrm>
            <a:off x="4773168" y="1225296"/>
            <a:ext cx="3794760" cy="274320"/>
          </a:xfrm>
          <a:prstGeom prst="rect">
            <a:avLst/>
          </a:prstGeom>
          <a:noFill/>
        </p:spPr>
        <p:txBody>
          <a:bodyPr wrap="square" anchor="t" lIns="45720" rIns="45720" tIns="36576" bIns="36576">
            <a:spAutoFit/>
          </a:bodyPr>
          <a:lstStyle/>
          <a:p>
            <a:pPr algn="l"/>
            <a:r>
              <a:rPr sz="1300" b="1" i="0">
                <a:solidFill>
                  <a:srgbClr val="D97A14"/>
                </a:solidFill>
                <a:latin typeface="Cambria"/>
              </a:rPr>
              <a:t>Merge operators</a:t>
            </a:r>
          </a:p>
        </p:txBody>
      </p:sp>
      <p:sp>
        <p:nvSpPr>
          <p:cNvPr id="11" name="card text"/>
          <p:cNvSpPr txBox="1"/>
          <p:nvPr/>
        </p:nvSpPr>
        <p:spPr>
          <a:xfrm>
            <a:off x="4773168" y="1517904"/>
            <a:ext cx="3794760" cy="640080"/>
          </a:xfrm>
          <a:prstGeom prst="rect">
            <a:avLst/>
          </a:prstGeom>
          <a:noFill/>
        </p:spPr>
        <p:txBody>
          <a:bodyPr wrap="square" anchor="t" lIns="45720" rIns="45720" tIns="36576" bIns="36576">
            <a:spAutoFit/>
          </a:bodyPr>
          <a:lstStyle/>
          <a:p>
            <a:pPr algn="l"/>
            <a:r>
              <a:rPr sz="1150" b="0" i="0">
                <a:solidFill>
                  <a:srgbClr val="2B2622"/>
                </a:solidFill>
                <a:latin typeface="Calibri"/>
              </a:rPr>
              <a:t>d1 | d2 builds a new dictionary and d1 |= d2 updates one (Python 3.9, PEP 584).</a:t>
            </a:r>
          </a:p>
        </p:txBody>
      </p:sp>
      <p:sp>
        <p:nvSpPr>
          <p:cNvPr id="12" name="card"/>
          <p:cNvSpPr/>
          <p:nvPr/>
        </p:nvSpPr>
        <p:spPr>
          <a:xfrm>
            <a:off x="457200" y="2286000"/>
            <a:ext cx="402336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13" name="card heading"/>
          <p:cNvSpPr txBox="1"/>
          <p:nvPr/>
        </p:nvSpPr>
        <p:spPr>
          <a:xfrm>
            <a:off x="566928" y="2322576"/>
            <a:ext cx="3794760" cy="274320"/>
          </a:xfrm>
          <a:prstGeom prst="rect">
            <a:avLst/>
          </a:prstGeom>
          <a:noFill/>
        </p:spPr>
        <p:txBody>
          <a:bodyPr wrap="square" anchor="t" lIns="45720" rIns="45720" tIns="36576" bIns="36576">
            <a:spAutoFit/>
          </a:bodyPr>
          <a:lstStyle/>
          <a:p>
            <a:pPr algn="l"/>
            <a:r>
              <a:rPr sz="1300" b="1" i="0">
                <a:solidFill>
                  <a:srgbClr val="D97A14"/>
                </a:solidFill>
                <a:latin typeface="Cambria"/>
              </a:rPr>
              <a:t>Live views</a:t>
            </a:r>
          </a:p>
        </p:txBody>
      </p:sp>
      <p:sp>
        <p:nvSpPr>
          <p:cNvPr id="14" name="card text"/>
          <p:cNvSpPr txBox="1"/>
          <p:nvPr/>
        </p:nvSpPr>
        <p:spPr>
          <a:xfrm>
            <a:off x="566928" y="2615184"/>
            <a:ext cx="3794760" cy="640080"/>
          </a:xfrm>
          <a:prstGeom prst="rect">
            <a:avLst/>
          </a:prstGeom>
          <a:noFill/>
        </p:spPr>
        <p:txBody>
          <a:bodyPr wrap="square" anchor="t" lIns="45720" rIns="45720" tIns="36576" bIns="36576">
            <a:spAutoFit/>
          </a:bodyPr>
          <a:lstStyle/>
          <a:p>
            <a:pPr algn="l"/>
            <a:r>
              <a:rPr sz="1150" b="0" i="0">
                <a:solidFill>
                  <a:srgbClr val="2B2622"/>
                </a:solidFill>
                <a:latin typeface="Calibri"/>
              </a:rPr>
              <a:t>keys(), values() and items() show later changes, and can be reversed since Python 3.8.</a:t>
            </a:r>
          </a:p>
        </p:txBody>
      </p:sp>
      <p:sp>
        <p:nvSpPr>
          <p:cNvPr id="15" name="card"/>
          <p:cNvSpPr/>
          <p:nvPr/>
        </p:nvSpPr>
        <p:spPr>
          <a:xfrm>
            <a:off x="4663440" y="2286000"/>
            <a:ext cx="402336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16" name="card heading"/>
          <p:cNvSpPr txBox="1"/>
          <p:nvPr/>
        </p:nvSpPr>
        <p:spPr>
          <a:xfrm>
            <a:off x="4773168" y="2322576"/>
            <a:ext cx="3794760" cy="274320"/>
          </a:xfrm>
          <a:prstGeom prst="rect">
            <a:avLst/>
          </a:prstGeom>
          <a:noFill/>
        </p:spPr>
        <p:txBody>
          <a:bodyPr wrap="square" anchor="t" lIns="45720" rIns="45720" tIns="36576" bIns="36576">
            <a:spAutoFit/>
          </a:bodyPr>
          <a:lstStyle/>
          <a:p>
            <a:pPr algn="l"/>
            <a:r>
              <a:rPr sz="1300" b="1" i="0">
                <a:solidFill>
                  <a:srgbClr val="D97A14"/>
                </a:solidFill>
                <a:latin typeface="Cambria"/>
              </a:rPr>
              <a:t>Hashing rule</a:t>
            </a:r>
          </a:p>
        </p:txBody>
      </p:sp>
      <p:sp>
        <p:nvSpPr>
          <p:cNvPr id="17" name="card text"/>
          <p:cNvSpPr txBox="1"/>
          <p:nvPr/>
        </p:nvSpPr>
        <p:spPr>
          <a:xfrm>
            <a:off x="4773168" y="2615184"/>
            <a:ext cx="3794760" cy="640080"/>
          </a:xfrm>
          <a:prstGeom prst="rect">
            <a:avLst/>
          </a:prstGeom>
          <a:noFill/>
        </p:spPr>
        <p:txBody>
          <a:bodyPr wrap="square" anchor="t" lIns="45720" rIns="45720" tIns="36576" bIns="36576">
            <a:spAutoFit/>
          </a:bodyPr>
          <a:lstStyle/>
          <a:p>
            <a:pPr algn="l"/>
            <a:r>
              <a:rPr sz="1150" b="0" i="0">
                <a:solidFill>
                  <a:srgbClr val="2B2622"/>
                </a:solidFill>
                <a:latin typeface="Calibri"/>
              </a:rPr>
              <a:t>Equal keys must hash alike; a class with __eq__ but no __hash__ cannot be a key.</a:t>
            </a:r>
          </a:p>
        </p:txBody>
      </p:sp>
      <p:sp>
        <p:nvSpPr>
          <p:cNvPr id="18" name="card"/>
          <p:cNvSpPr/>
          <p:nvPr/>
        </p:nvSpPr>
        <p:spPr>
          <a:xfrm>
            <a:off x="457200" y="3383280"/>
            <a:ext cx="402336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19" name="card heading"/>
          <p:cNvSpPr txBox="1"/>
          <p:nvPr/>
        </p:nvSpPr>
        <p:spPr>
          <a:xfrm>
            <a:off x="566928" y="3419856"/>
            <a:ext cx="3794760" cy="274320"/>
          </a:xfrm>
          <a:prstGeom prst="rect">
            <a:avLst/>
          </a:prstGeom>
          <a:noFill/>
        </p:spPr>
        <p:txBody>
          <a:bodyPr wrap="square" anchor="t" lIns="45720" rIns="45720" tIns="36576" bIns="36576">
            <a:spAutoFit/>
          </a:bodyPr>
          <a:lstStyle/>
          <a:p>
            <a:pPr algn="l"/>
            <a:r>
              <a:rPr sz="1300" b="1" i="0">
                <a:solidFill>
                  <a:srgbClr val="D97A14"/>
                </a:solidFill>
                <a:latin typeface="Cambria"/>
              </a:rPr>
              <a:t>TypedDict</a:t>
            </a:r>
          </a:p>
        </p:txBody>
      </p:sp>
      <p:sp>
        <p:nvSpPr>
          <p:cNvPr id="20" name="card text"/>
          <p:cNvSpPr txBox="1"/>
          <p:nvPr/>
        </p:nvSpPr>
        <p:spPr>
          <a:xfrm>
            <a:off x="566928" y="3712464"/>
            <a:ext cx="3794760" cy="640080"/>
          </a:xfrm>
          <a:prstGeom prst="rect">
            <a:avLst/>
          </a:prstGeom>
          <a:noFill/>
        </p:spPr>
        <p:txBody>
          <a:bodyPr wrap="square" anchor="t" lIns="45720" rIns="45720" tIns="36576" bIns="36576">
            <a:spAutoFit/>
          </a:bodyPr>
          <a:lstStyle/>
          <a:p>
            <a:pPr algn="l"/>
            <a:r>
              <a:rPr sz="1150" b="0" i="0">
                <a:solidFill>
                  <a:srgbClr val="2B2622"/>
                </a:solidFill>
                <a:latin typeface="Calibri"/>
              </a:rPr>
              <a:t>Names the keys of a record for a type checker, but is a plain dict at run time (PEP 589).</a:t>
            </a:r>
          </a:p>
        </p:txBody>
      </p:sp>
      <p:sp>
        <p:nvSpPr>
          <p:cNvPr id="21" name="card"/>
          <p:cNvSpPr/>
          <p:nvPr/>
        </p:nvSpPr>
        <p:spPr>
          <a:xfrm>
            <a:off x="4663440" y="3383280"/>
            <a:ext cx="402336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22" name="card heading"/>
          <p:cNvSpPr txBox="1"/>
          <p:nvPr/>
        </p:nvSpPr>
        <p:spPr>
          <a:xfrm>
            <a:off x="4773168" y="3419856"/>
            <a:ext cx="3794760" cy="274320"/>
          </a:xfrm>
          <a:prstGeom prst="rect">
            <a:avLst/>
          </a:prstGeom>
          <a:noFill/>
        </p:spPr>
        <p:txBody>
          <a:bodyPr wrap="square" anchor="t" lIns="45720" rIns="45720" tIns="36576" bIns="36576">
            <a:spAutoFit/>
          </a:bodyPr>
          <a:lstStyle/>
          <a:p>
            <a:pPr algn="l"/>
            <a:r>
              <a:rPr sz="1300" b="1" i="0">
                <a:solidFill>
                  <a:srgbClr val="D97A14"/>
                </a:solidFill>
                <a:latin typeface="Cambria"/>
              </a:rPr>
              <a:t>match patterns</a:t>
            </a:r>
          </a:p>
        </p:txBody>
      </p:sp>
      <p:sp>
        <p:nvSpPr>
          <p:cNvPr id="23" name="card text"/>
          <p:cNvSpPr txBox="1"/>
          <p:nvPr/>
        </p:nvSpPr>
        <p:spPr>
          <a:xfrm>
            <a:off x="4773168" y="3712464"/>
            <a:ext cx="3794760" cy="640080"/>
          </a:xfrm>
          <a:prstGeom prst="rect">
            <a:avLst/>
          </a:prstGeom>
          <a:noFill/>
        </p:spPr>
        <p:txBody>
          <a:bodyPr wrap="square" anchor="t" lIns="45720" rIns="45720" tIns="36576" bIns="36576">
            <a:spAutoFit/>
          </a:bodyPr>
          <a:lstStyle/>
          <a:p>
            <a:pPr algn="l"/>
            <a:r>
              <a:rPr sz="1150" b="0" i="0">
                <a:solidFill>
                  <a:srgbClr val="2B2622"/>
                </a:solidFill>
                <a:latin typeface="Calibri"/>
              </a:rPr>
              <a:t>Mapping patterns test keys and bind values (PEP 634, Python 3.10).</a:t>
            </a:r>
          </a:p>
        </p:txBody>
      </p:sp>
      <p:sp>
        <p:nvSpPr>
          <p:cNvPr id="24"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Teach the basics from the book and add what Python has learned since.</a:t>
            </a:r>
          </a:p>
        </p:txBody>
      </p:sp>
      <p:sp>
        <p:nvSpPr>
          <p:cNvPr id="2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43 / 48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Practice Questions and Practice Programs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Try these on your own, then compare with the examples of the deck</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Practice Questions</a:t>
            </a:r>
          </a:p>
        </p:txBody>
      </p:sp>
      <p:sp>
        <p:nvSpPr>
          <p:cNvPr id="6" name="column heading"/>
          <p:cNvSpPr txBox="1"/>
          <p:nvPr/>
        </p:nvSpPr>
        <p:spPr>
          <a:xfrm>
            <a:off x="457200" y="1143000"/>
            <a:ext cx="4114800" cy="274320"/>
          </a:xfrm>
          <a:prstGeom prst="rect">
            <a:avLst/>
          </a:prstGeom>
          <a:noFill/>
        </p:spPr>
        <p:txBody>
          <a:bodyPr wrap="square" anchor="t" lIns="45720" rIns="45720" tIns="36576" bIns="36576">
            <a:spAutoFit/>
          </a:bodyPr>
          <a:lstStyle/>
          <a:p>
            <a:pPr algn="l"/>
            <a:r>
              <a:rPr sz="1400" b="1" i="0">
                <a:solidFill>
                  <a:srgbClr val="D97A14"/>
                </a:solidFill>
                <a:latin typeface="Cambria"/>
              </a:rPr>
              <a:t>Practice Questions</a:t>
            </a:r>
          </a:p>
        </p:txBody>
      </p:sp>
      <p:sp>
        <p:nvSpPr>
          <p:cNvPr id="7" name="practice question"/>
          <p:cNvSpPr/>
          <p:nvPr/>
        </p:nvSpPr>
        <p:spPr>
          <a:xfrm>
            <a:off x="457200" y="1463040"/>
            <a:ext cx="411480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What does the code for an empty dictionary look like?</a:t>
            </a:r>
          </a:p>
        </p:txBody>
      </p:sp>
      <p:sp>
        <p:nvSpPr>
          <p:cNvPr id="8" name="practice question"/>
          <p:cNvSpPr/>
          <p:nvPr/>
        </p:nvSpPr>
        <p:spPr>
          <a:xfrm>
            <a:off x="457200" y="2048256"/>
            <a:ext cx="411480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What does a dictionary with the key 'foo' and the value 42 look like?</a:t>
            </a:r>
          </a:p>
        </p:txBody>
      </p:sp>
      <p:sp>
        <p:nvSpPr>
          <p:cNvPr id="9" name="practice question"/>
          <p:cNvSpPr/>
          <p:nvPr/>
        </p:nvSpPr>
        <p:spPr>
          <a:xfrm>
            <a:off x="457200" y="2633472"/>
            <a:ext cx="411480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What is the main difference between a dictionary and a list?</a:t>
            </a:r>
          </a:p>
        </p:txBody>
      </p:sp>
      <p:sp>
        <p:nvSpPr>
          <p:cNvPr id="10" name="practice question"/>
          <p:cNvSpPr/>
          <p:nvPr/>
        </p:nvSpPr>
        <p:spPr>
          <a:xfrm>
            <a:off x="457200" y="3218688"/>
            <a:ext cx="411480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What happens if you try spam['foo'] when spam is {'bar': 100}?</a:t>
            </a:r>
          </a:p>
        </p:txBody>
      </p:sp>
      <p:sp>
        <p:nvSpPr>
          <p:cNvPr id="11" name="practice question"/>
          <p:cNvSpPr/>
          <p:nvPr/>
        </p:nvSpPr>
        <p:spPr>
          <a:xfrm>
            <a:off x="457200" y="3803904"/>
            <a:ext cx="411480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What is the difference between 'cat' in spam and 'cat' in spam.keys()?</a:t>
            </a:r>
          </a:p>
        </p:txBody>
      </p:sp>
      <p:sp>
        <p:nvSpPr>
          <p:cNvPr id="12" name="column heading"/>
          <p:cNvSpPr txBox="1"/>
          <p:nvPr/>
        </p:nvSpPr>
        <p:spPr>
          <a:xfrm>
            <a:off x="4754880" y="1143000"/>
            <a:ext cx="3931920" cy="274320"/>
          </a:xfrm>
          <a:prstGeom prst="rect">
            <a:avLst/>
          </a:prstGeom>
          <a:noFill/>
        </p:spPr>
        <p:txBody>
          <a:bodyPr wrap="square" anchor="t" lIns="45720" rIns="45720" tIns="36576" bIns="36576">
            <a:spAutoFit/>
          </a:bodyPr>
          <a:lstStyle/>
          <a:p>
            <a:pPr algn="l"/>
            <a:r>
              <a:rPr sz="1400" b="1" i="0">
                <a:solidFill>
                  <a:srgbClr val="D97A14"/>
                </a:solidFill>
                <a:latin typeface="Cambria"/>
              </a:rPr>
              <a:t>Practice Programs</a:t>
            </a:r>
          </a:p>
        </p:txBody>
      </p:sp>
      <p:sp>
        <p:nvSpPr>
          <p:cNvPr id="13" name="practice program"/>
          <p:cNvSpPr/>
          <p:nvPr/>
        </p:nvSpPr>
        <p:spPr>
          <a:xfrm>
            <a:off x="4754880" y="1463040"/>
            <a:ext cx="3931920" cy="822960"/>
          </a:xfrm>
          <a:prstGeom prst="roundRect">
            <a:avLst>
              <a:gd name="adj" fmla="val 8888"/>
            </a:avLst>
          </a:prstGeom>
          <a:solidFill>
            <a:srgbClr val="F2ECE1"/>
          </a:solidFill>
          <a:ln>
            <a:solidFill>
              <a:srgbClr val="F2ECE1"/>
            </a:solidFill>
          </a:ln>
        </p:spPr>
        <p:txBody>
          <a:bodyPr rtlCol="0" anchor="ctr" wrap="square" lIns="73152" rIns="73152" tIns="36576" bIns="36576"/>
          <a:lstStyle/>
          <a:p>
            <a:pPr algn="l"/>
            <a:r>
              <a:rPr sz="1250" b="1" i="0">
                <a:solidFill>
                  <a:srgbClr val="2B2622"/>
                </a:solidFill>
                <a:latin typeface="Cambria"/>
              </a:rPr>
              <a:t>Chess Dictionary Validator</a:t>
            </a:r>
          </a:p>
          <a:p>
            <a:pPr algn="l"/>
            <a:r>
              <a:rPr sz="1150" b="0" i="0">
                <a:solidFill>
                  <a:srgbClr val="2B2622"/>
                </a:solidFill>
                <a:latin typeface="Calibri"/>
              </a:rPr>
              <a:t>Check that a board dictionary is a legal position.</a:t>
            </a:r>
          </a:p>
        </p:txBody>
      </p:sp>
      <p:sp>
        <p:nvSpPr>
          <p:cNvPr id="14" name="practice program"/>
          <p:cNvSpPr/>
          <p:nvPr/>
        </p:nvSpPr>
        <p:spPr>
          <a:xfrm>
            <a:off x="4754880" y="2377440"/>
            <a:ext cx="3931920" cy="822960"/>
          </a:xfrm>
          <a:prstGeom prst="roundRect">
            <a:avLst>
              <a:gd name="adj" fmla="val 8888"/>
            </a:avLst>
          </a:prstGeom>
          <a:solidFill>
            <a:srgbClr val="F2ECE1"/>
          </a:solidFill>
          <a:ln>
            <a:solidFill>
              <a:srgbClr val="F2ECE1"/>
            </a:solidFill>
          </a:ln>
        </p:spPr>
        <p:txBody>
          <a:bodyPr rtlCol="0" anchor="ctr" wrap="square" lIns="73152" rIns="73152" tIns="36576" bIns="36576"/>
          <a:lstStyle/>
          <a:p>
            <a:pPr algn="l"/>
            <a:r>
              <a:rPr sz="1250" b="1" i="0">
                <a:solidFill>
                  <a:srgbClr val="2B2622"/>
                </a:solidFill>
                <a:latin typeface="Cambria"/>
              </a:rPr>
              <a:t>Fantasy Game Inventory</a:t>
            </a:r>
          </a:p>
          <a:p>
            <a:pPr algn="l"/>
            <a:r>
              <a:rPr sz="1150" b="0" i="0">
                <a:solidFill>
                  <a:srgbClr val="2B2622"/>
                </a:solidFill>
                <a:latin typeface="Calibri"/>
              </a:rPr>
              <a:t>Display an inventory and add up its items.</a:t>
            </a:r>
          </a:p>
        </p:txBody>
      </p:sp>
      <p:sp>
        <p:nvSpPr>
          <p:cNvPr id="15" name="practice program"/>
          <p:cNvSpPr/>
          <p:nvPr/>
        </p:nvSpPr>
        <p:spPr>
          <a:xfrm>
            <a:off x="4754880" y="3291840"/>
            <a:ext cx="3931920" cy="822960"/>
          </a:xfrm>
          <a:prstGeom prst="roundRect">
            <a:avLst>
              <a:gd name="adj" fmla="val 8888"/>
            </a:avLst>
          </a:prstGeom>
          <a:solidFill>
            <a:srgbClr val="F2ECE1"/>
          </a:solidFill>
          <a:ln>
            <a:solidFill>
              <a:srgbClr val="F2ECE1"/>
            </a:solidFill>
          </a:ln>
        </p:spPr>
        <p:txBody>
          <a:bodyPr rtlCol="0" anchor="ctr" wrap="square" lIns="73152" rIns="73152" tIns="36576" bIns="36576"/>
          <a:lstStyle/>
          <a:p>
            <a:pPr algn="l"/>
            <a:r>
              <a:rPr sz="1250" b="1" i="0">
                <a:solidFill>
                  <a:srgbClr val="2B2622"/>
                </a:solidFill>
                <a:latin typeface="Cambria"/>
              </a:rPr>
              <a:t>List-to-Dictionary Loot Conversion</a:t>
            </a:r>
          </a:p>
          <a:p>
            <a:pPr algn="l"/>
            <a:r>
              <a:rPr sz="1150" b="0" i="0">
                <a:solidFill>
                  <a:srgbClr val="2B2622"/>
                </a:solidFill>
                <a:latin typeface="Calibri"/>
              </a:rPr>
              <a:t>Add a list of loot into the inventory.</a:t>
            </a:r>
          </a:p>
        </p:txBody>
      </p:sp>
      <p:sp>
        <p:nvSpPr>
          <p:cNvPr id="1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Each question is answered by an example in this deck.</a:t>
            </a:r>
          </a:p>
        </p:txBody>
      </p:sp>
      <p:sp>
        <p:nvSpPr>
          <p:cNvPr id="1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44 / 48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closing the chapter</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The last three terms of the chapter</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Summary</a:t>
            </a:r>
          </a:p>
        </p:txBody>
      </p:sp>
      <p:sp>
        <p:nvSpPr>
          <p:cNvPr id="6" name="everyday card"/>
          <p:cNvSpPr/>
          <p:nvPr/>
        </p:nvSpPr>
        <p:spPr>
          <a:xfrm>
            <a:off x="457200" y="1170432"/>
            <a:ext cx="4023360" cy="1051560"/>
          </a:xfrm>
          <a:prstGeom prst="roundRect">
            <a:avLst>
              <a:gd name="adj" fmla="val 6956"/>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Summary</a:t>
            </a:r>
          </a:p>
          <a:p>
            <a:pPr algn="l"/>
            <a:r>
              <a:rPr sz="1300" b="0" i="0">
                <a:solidFill>
                  <a:srgbClr val="2B2622"/>
                </a:solidFill>
                <a:latin typeface="Calibri"/>
              </a:rPr>
              <a:t>The last line of a recipe card: what you must remember when the cooking is done.</a:t>
            </a:r>
          </a:p>
        </p:txBody>
      </p:sp>
      <p:sp>
        <p:nvSpPr>
          <p:cNvPr id="7" name="card accent"/>
          <p:cNvSpPr/>
          <p:nvPr/>
        </p:nvSpPr>
        <p:spPr>
          <a:xfrm>
            <a:off x="457200" y="1170432"/>
            <a:ext cx="64008" cy="1051560"/>
          </a:xfrm>
          <a:prstGeom prst="roundRect">
            <a:avLst>
              <a:gd name="adj" fmla="val 50000"/>
            </a:avLst>
          </a:prstGeom>
          <a:solidFill>
            <a:srgbClr val="D97A14"/>
          </a:solidFill>
          <a:ln>
            <a:solidFill>
              <a:srgbClr val="D97A14"/>
            </a:solidFill>
          </a:ln>
        </p:spPr>
        <p:txBody>
          <a:bodyPr rtlCol="0" anchor="ctr"/>
          <a:lstStyle/>
          <a:p>
            <a:pPr algn="ctr"/>
          </a:p>
        </p:txBody>
      </p:sp>
      <p:sp>
        <p:nvSpPr>
          <p:cNvPr id="8" name="everyday card"/>
          <p:cNvSpPr/>
          <p:nvPr/>
        </p:nvSpPr>
        <p:spPr>
          <a:xfrm>
            <a:off x="4663440" y="1170432"/>
            <a:ext cx="4023360" cy="1051560"/>
          </a:xfrm>
          <a:prstGeom prst="roundRect">
            <a:avLst>
              <a:gd name="adj" fmla="val 6956"/>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Practice Questions</a:t>
            </a:r>
          </a:p>
          <a:p>
            <a:pPr algn="l"/>
            <a:r>
              <a:rPr sz="1300" b="0" i="0">
                <a:solidFill>
                  <a:srgbClr val="2B2622"/>
                </a:solidFill>
                <a:latin typeface="Calibri"/>
              </a:rPr>
              <a:t>Driving-school mock questions: quick checks that you understood before the real test.</a:t>
            </a:r>
          </a:p>
        </p:txBody>
      </p:sp>
      <p:sp>
        <p:nvSpPr>
          <p:cNvPr id="9" name="card accent"/>
          <p:cNvSpPr/>
          <p:nvPr/>
        </p:nvSpPr>
        <p:spPr>
          <a:xfrm>
            <a:off x="4663440" y="1170432"/>
            <a:ext cx="64008" cy="1051560"/>
          </a:xfrm>
          <a:prstGeom prst="roundRect">
            <a:avLst>
              <a:gd name="adj" fmla="val 50000"/>
            </a:avLst>
          </a:prstGeom>
          <a:solidFill>
            <a:srgbClr val="D97A14"/>
          </a:solidFill>
          <a:ln>
            <a:solidFill>
              <a:srgbClr val="D97A14"/>
            </a:solidFill>
          </a:ln>
        </p:spPr>
        <p:txBody>
          <a:bodyPr rtlCol="0" anchor="ctr"/>
          <a:lstStyle/>
          <a:p>
            <a:pPr algn="ctr"/>
          </a:p>
        </p:txBody>
      </p:sp>
      <p:sp>
        <p:nvSpPr>
          <p:cNvPr id="10" name="everyday card"/>
          <p:cNvSpPr/>
          <p:nvPr/>
        </p:nvSpPr>
        <p:spPr>
          <a:xfrm>
            <a:off x="457200" y="2331720"/>
            <a:ext cx="4023360" cy="1051560"/>
          </a:xfrm>
          <a:prstGeom prst="roundRect">
            <a:avLst>
              <a:gd name="adj" fmla="val 6956"/>
            </a:avLst>
          </a:prstGeom>
          <a:solidFill>
            <a:srgbClr val="F2ECE1"/>
          </a:solidFill>
          <a:ln>
            <a:solidFill>
              <a:srgbClr val="F2ECE1"/>
            </a:solidFill>
          </a:ln>
        </p:spPr>
        <p:txBody>
          <a:bodyPr rtlCol="0" anchor="ctr" wrap="square" lIns="146304" rIns="146304" tIns="36576" bIns="36576"/>
          <a:lstStyle/>
          <a:p>
            <a:pPr algn="l"/>
            <a:r>
              <a:rPr sz="1000" b="1" i="0">
                <a:solidFill>
                  <a:srgbClr val="D97A14"/>
                </a:solidFill>
                <a:latin typeface="Calibri"/>
              </a:rPr>
              <a:t>EVERYDAY  </a:t>
            </a:r>
            <a:r>
              <a:rPr sz="1400" b="1" i="0">
                <a:solidFill>
                  <a:srgbClr val="2B2622"/>
                </a:solidFill>
                <a:latin typeface="Cambria"/>
              </a:rPr>
              <a:t>Practice Programs</a:t>
            </a:r>
          </a:p>
          <a:p>
            <a:pPr algn="l"/>
            <a:r>
              <a:rPr sz="1300" b="0" i="0">
                <a:solidFill>
                  <a:srgbClr val="2B2622"/>
                </a:solidFill>
                <a:latin typeface="Calibri"/>
              </a:rPr>
              <a:t>A workshop evening: you build something real with the tools you have just learned.</a:t>
            </a:r>
          </a:p>
        </p:txBody>
      </p:sp>
      <p:sp>
        <p:nvSpPr>
          <p:cNvPr id="11" name="card accent"/>
          <p:cNvSpPr/>
          <p:nvPr/>
        </p:nvSpPr>
        <p:spPr>
          <a:xfrm>
            <a:off x="457200" y="2331720"/>
            <a:ext cx="64008" cy="1051560"/>
          </a:xfrm>
          <a:prstGeom prst="roundRect">
            <a:avLst>
              <a:gd name="adj" fmla="val 50000"/>
            </a:avLst>
          </a:prstGeom>
          <a:solidFill>
            <a:srgbClr val="D97A14"/>
          </a:solidFill>
          <a:ln>
            <a:solidFill>
              <a:srgbClr val="D97A14"/>
            </a:solidFill>
          </a:ln>
        </p:spPr>
        <p:txBody>
          <a:bodyPr rtlCol="0" anchor="ctr"/>
          <a:lstStyle/>
          <a:p>
            <a:pPr algn="ctr"/>
          </a:p>
        </p:txBody>
      </p:sp>
      <p:sp>
        <p:nvSpPr>
          <p:cNvPr id="12"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45 / 48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Summary: the chapter in five lines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line for each question the chapter set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Automate the Boring Stuff 3e, chapter 7: Summary</a:t>
            </a:r>
          </a:p>
        </p:txBody>
      </p:sp>
      <p:sp>
        <p:nvSpPr>
          <p:cNvPr id="6" name="summary number"/>
          <p:cNvSpPr/>
          <p:nvPr/>
        </p:nvSpPr>
        <p:spPr>
          <a:xfrm>
            <a:off x="457200" y="1188720"/>
            <a:ext cx="457200" cy="512064"/>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1</a:t>
            </a:r>
          </a:p>
        </p:txBody>
      </p:sp>
      <p:sp>
        <p:nvSpPr>
          <p:cNvPr id="7" name="summary line"/>
          <p:cNvSpPr/>
          <p:nvPr/>
        </p:nvSpPr>
        <p:spPr>
          <a:xfrm>
            <a:off x="1005840" y="1188720"/>
            <a:ext cx="768096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Assign to add or replace a pair; del and pop remove one; get() helps when a key may be missing.</a:t>
            </a:r>
          </a:p>
        </p:txBody>
      </p:sp>
      <p:sp>
        <p:nvSpPr>
          <p:cNvPr id="8" name="summary number"/>
          <p:cNvSpPr/>
          <p:nvPr/>
        </p:nvSpPr>
        <p:spPr>
          <a:xfrm>
            <a:off x="457200" y="1810512"/>
            <a:ext cx="457200" cy="512064"/>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2</a:t>
            </a:r>
          </a:p>
        </p:txBody>
      </p:sp>
      <p:sp>
        <p:nvSpPr>
          <p:cNvPr id="9" name="summary line"/>
          <p:cNvSpPr/>
          <p:nvPr/>
        </p:nvSpPr>
        <p:spPr>
          <a:xfrm>
            <a:off x="1005840" y="1810512"/>
            <a:ext cx="768096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 key must be hashable: tuples are welcome, lists are not; keys keep their order since Python 3.7.</a:t>
            </a:r>
          </a:p>
        </p:txBody>
      </p:sp>
      <p:sp>
        <p:nvSpPr>
          <p:cNvPr id="10" name="summary number"/>
          <p:cNvSpPr/>
          <p:nvPr/>
        </p:nvSpPr>
        <p:spPr>
          <a:xfrm>
            <a:off x="457200" y="2432304"/>
            <a:ext cx="457200" cy="512064"/>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3</a:t>
            </a:r>
          </a:p>
        </p:txBody>
      </p:sp>
      <p:sp>
        <p:nvSpPr>
          <p:cNvPr id="11" name="summary line"/>
          <p:cNvSpPr/>
          <p:nvPr/>
        </p:nvSpPr>
        <p:spPr>
          <a:xfrm>
            <a:off x="1005840" y="2432304"/>
            <a:ext cx="768096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Counting and grouping use setdefault, Counter or defaultdict; a view follows its dictionary.</a:t>
            </a:r>
          </a:p>
        </p:txBody>
      </p:sp>
      <p:sp>
        <p:nvSpPr>
          <p:cNvPr id="12" name="summary number"/>
          <p:cNvSpPr/>
          <p:nvPr/>
        </p:nvSpPr>
        <p:spPr>
          <a:xfrm>
            <a:off x="457200" y="3054096"/>
            <a:ext cx="457200" cy="512064"/>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4</a:t>
            </a:r>
          </a:p>
        </p:txBody>
      </p:sp>
      <p:sp>
        <p:nvSpPr>
          <p:cNvPr id="13" name="summary line"/>
          <p:cNvSpPr/>
          <p:nvPr/>
        </p:nvSpPr>
        <p:spPr>
          <a:xfrm>
            <a:off x="1005840" y="3054096"/>
            <a:ext cx="768096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 chessboard is a dictionary of occupied squares; a nested dictionary holds a record in a record.</a:t>
            </a:r>
          </a:p>
        </p:txBody>
      </p:sp>
      <p:sp>
        <p:nvSpPr>
          <p:cNvPr id="14" name="summary number"/>
          <p:cNvSpPr/>
          <p:nvPr/>
        </p:nvSpPr>
        <p:spPr>
          <a:xfrm>
            <a:off x="457200" y="3675888"/>
            <a:ext cx="457200" cy="512064"/>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5</a:t>
            </a:r>
          </a:p>
        </p:txBody>
      </p:sp>
      <p:sp>
        <p:nvSpPr>
          <p:cNvPr id="15" name="summary line"/>
          <p:cNvSpPr/>
          <p:nvPr/>
        </p:nvSpPr>
        <p:spPr>
          <a:xfrm>
            <a:off x="1005840" y="3675888"/>
            <a:ext cx="7680960" cy="512064"/>
          </a:xfrm>
          <a:prstGeom prst="roundRect">
            <a:avLst>
              <a:gd name="adj" fmla="val 14285"/>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copy.copy() shares the inner dictionaries, deepcopy() does not, and JSON writes the data as text.</a:t>
            </a:r>
          </a:p>
        </p:txBody>
      </p:sp>
      <p:sp>
        <p:nvSpPr>
          <p:cNvPr id="1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If a line feels unproven, its slides hold the example.</a:t>
            </a:r>
          </a:p>
        </p:txBody>
      </p:sp>
      <p:sp>
        <p:nvSpPr>
          <p:cNvPr id="1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46 / 48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Resources: where to go from here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Every link was opened on the day this deck was made</a:t>
            </a:r>
          </a:p>
        </p:txBody>
      </p:sp>
      <p:sp>
        <p:nvSpPr>
          <p:cNvPr id="5" name="link group"/>
          <p:cNvSpPr txBox="1"/>
          <p:nvPr/>
        </p:nvSpPr>
        <p:spPr>
          <a:xfrm>
            <a:off x="457200" y="1115568"/>
            <a:ext cx="1143000" cy="274320"/>
          </a:xfrm>
          <a:prstGeom prst="rect">
            <a:avLst/>
          </a:prstGeom>
          <a:noFill/>
        </p:spPr>
        <p:txBody>
          <a:bodyPr wrap="square" anchor="t" lIns="45720" rIns="45720" tIns="36576" bIns="36576">
            <a:spAutoFit/>
          </a:bodyPr>
          <a:lstStyle/>
          <a:p>
            <a:pPr algn="l"/>
            <a:r>
              <a:rPr sz="1250" b="1" i="0">
                <a:solidFill>
                  <a:srgbClr val="D97A14"/>
                </a:solidFill>
                <a:latin typeface="Cambria"/>
              </a:rPr>
              <a:t>Read</a:t>
            </a:r>
          </a:p>
        </p:txBody>
      </p:sp>
      <p:sp>
        <p:nvSpPr>
          <p:cNvPr id="6" name="link"/>
          <p:cNvSpPr txBox="1"/>
          <p:nvPr/>
        </p:nvSpPr>
        <p:spPr>
          <a:xfrm>
            <a:off x="1691640" y="1115568"/>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3"/>
              </a:rPr>
              <a:t>The textbook, chapter 7 (free online)</a:t>
            </a:r>
          </a:p>
        </p:txBody>
      </p:sp>
      <p:sp>
        <p:nvSpPr>
          <p:cNvPr id="7" name="link"/>
          <p:cNvSpPr txBox="1"/>
          <p:nvPr/>
        </p:nvSpPr>
        <p:spPr>
          <a:xfrm>
            <a:off x="5303520" y="1115568"/>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4"/>
              </a:rPr>
              <a:t>Python tutorial: data structures</a:t>
            </a:r>
          </a:p>
        </p:txBody>
      </p:sp>
      <p:sp>
        <p:nvSpPr>
          <p:cNvPr id="8" name="link"/>
          <p:cNvSpPr txBox="1"/>
          <p:nvPr/>
        </p:nvSpPr>
        <p:spPr>
          <a:xfrm>
            <a:off x="1691640" y="1408176"/>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5"/>
              </a:rPr>
              <a:t>Built-in types: dict and its views</a:t>
            </a:r>
          </a:p>
        </p:txBody>
      </p:sp>
      <p:sp>
        <p:nvSpPr>
          <p:cNvPr id="9" name="link group"/>
          <p:cNvSpPr txBox="1"/>
          <p:nvPr/>
        </p:nvSpPr>
        <p:spPr>
          <a:xfrm>
            <a:off x="457200" y="1828800"/>
            <a:ext cx="1143000" cy="274320"/>
          </a:xfrm>
          <a:prstGeom prst="rect">
            <a:avLst/>
          </a:prstGeom>
          <a:noFill/>
        </p:spPr>
        <p:txBody>
          <a:bodyPr wrap="square" anchor="t" lIns="45720" rIns="45720" tIns="36576" bIns="36576">
            <a:spAutoFit/>
          </a:bodyPr>
          <a:lstStyle/>
          <a:p>
            <a:pPr algn="l"/>
            <a:r>
              <a:rPr sz="1250" b="1" i="0">
                <a:solidFill>
                  <a:srgbClr val="D97A14"/>
                </a:solidFill>
                <a:latin typeface="Cambria"/>
              </a:rPr>
              <a:t>Libraries</a:t>
            </a:r>
          </a:p>
        </p:txBody>
      </p:sp>
      <p:sp>
        <p:nvSpPr>
          <p:cNvPr id="10" name="link"/>
          <p:cNvSpPr txBox="1"/>
          <p:nvPr/>
        </p:nvSpPr>
        <p:spPr>
          <a:xfrm>
            <a:off x="1691640" y="1828800"/>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6"/>
              </a:rPr>
              <a:t>collections: Counter and defaultdict</a:t>
            </a:r>
          </a:p>
        </p:txBody>
      </p:sp>
      <p:sp>
        <p:nvSpPr>
          <p:cNvPr id="11" name="link"/>
          <p:cNvSpPr txBox="1"/>
          <p:nvPr/>
        </p:nvSpPr>
        <p:spPr>
          <a:xfrm>
            <a:off x="5303520" y="1828800"/>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7"/>
              </a:rPr>
              <a:t>copy: shallow and deep copies</a:t>
            </a:r>
          </a:p>
        </p:txBody>
      </p:sp>
      <p:sp>
        <p:nvSpPr>
          <p:cNvPr id="12" name="link"/>
          <p:cNvSpPr txBox="1"/>
          <p:nvPr/>
        </p:nvSpPr>
        <p:spPr>
          <a:xfrm>
            <a:off x="1691640" y="2121408"/>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8"/>
              </a:rPr>
              <a:t>json: the JSON encoder and decoder</a:t>
            </a:r>
          </a:p>
        </p:txBody>
      </p:sp>
      <p:sp>
        <p:nvSpPr>
          <p:cNvPr id="13" name="link group"/>
          <p:cNvSpPr txBox="1"/>
          <p:nvPr/>
        </p:nvSpPr>
        <p:spPr>
          <a:xfrm>
            <a:off x="457200" y="2542032"/>
            <a:ext cx="1143000" cy="274320"/>
          </a:xfrm>
          <a:prstGeom prst="rect">
            <a:avLst/>
          </a:prstGeom>
          <a:noFill/>
        </p:spPr>
        <p:txBody>
          <a:bodyPr wrap="square" anchor="t" lIns="45720" rIns="45720" tIns="36576" bIns="36576">
            <a:spAutoFit/>
          </a:bodyPr>
          <a:lstStyle/>
          <a:p>
            <a:pPr algn="l"/>
            <a:r>
              <a:rPr sz="1250" b="1" i="0">
                <a:solidFill>
                  <a:srgbClr val="D97A14"/>
                </a:solidFill>
                <a:latin typeface="Cambria"/>
              </a:rPr>
              <a:t>History</a:t>
            </a:r>
          </a:p>
        </p:txBody>
      </p:sp>
      <p:sp>
        <p:nvSpPr>
          <p:cNvPr id="14" name="link"/>
          <p:cNvSpPr txBox="1"/>
          <p:nvPr/>
        </p:nvSpPr>
        <p:spPr>
          <a:xfrm>
            <a:off x="1691640" y="2542032"/>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9"/>
              </a:rPr>
              <a:t>Guido's ruling on dictionary order, 2017</a:t>
            </a:r>
          </a:p>
        </p:txBody>
      </p:sp>
      <p:sp>
        <p:nvSpPr>
          <p:cNvPr id="15" name="link"/>
          <p:cNvSpPr txBox="1"/>
          <p:nvPr/>
        </p:nvSpPr>
        <p:spPr>
          <a:xfrm>
            <a:off x="5303520" y="2542032"/>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10"/>
              </a:rPr>
              <a:t>PEP 584: merge operators for dict</a:t>
            </a:r>
          </a:p>
        </p:txBody>
      </p:sp>
      <p:sp>
        <p:nvSpPr>
          <p:cNvPr id="16" name="link"/>
          <p:cNvSpPr txBox="1"/>
          <p:nvPr/>
        </p:nvSpPr>
        <p:spPr>
          <a:xfrm>
            <a:off x="1691640" y="2834640"/>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11"/>
              </a:rPr>
              <a:t>RFC 8259: the JSON standard</a:t>
            </a:r>
          </a:p>
        </p:txBody>
      </p:sp>
      <p:sp>
        <p:nvSpPr>
          <p:cNvPr id="17" name="link group"/>
          <p:cNvSpPr txBox="1"/>
          <p:nvPr/>
        </p:nvSpPr>
        <p:spPr>
          <a:xfrm>
            <a:off x="457200" y="3255264"/>
            <a:ext cx="1143000" cy="274320"/>
          </a:xfrm>
          <a:prstGeom prst="rect">
            <a:avLst/>
          </a:prstGeom>
          <a:noFill/>
        </p:spPr>
        <p:txBody>
          <a:bodyPr wrap="square" anchor="t" lIns="45720" rIns="45720" tIns="36576" bIns="36576">
            <a:spAutoFit/>
          </a:bodyPr>
          <a:lstStyle/>
          <a:p>
            <a:pPr algn="l"/>
            <a:r>
              <a:rPr sz="1250" b="1" i="0">
                <a:solidFill>
                  <a:srgbClr val="D97A14"/>
                </a:solidFill>
                <a:latin typeface="Cambria"/>
              </a:rPr>
              <a:t>Try and watch</a:t>
            </a:r>
          </a:p>
        </p:txBody>
      </p:sp>
      <p:sp>
        <p:nvSpPr>
          <p:cNvPr id="18" name="link"/>
          <p:cNvSpPr txBox="1"/>
          <p:nvPr/>
        </p:nvSpPr>
        <p:spPr>
          <a:xfrm>
            <a:off x="1691640" y="3255264"/>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12"/>
              </a:rPr>
              <a:t>Modern Dictionaries, R. Hettinger (video)</a:t>
            </a:r>
          </a:p>
        </p:txBody>
      </p:sp>
      <p:sp>
        <p:nvSpPr>
          <p:cNvPr id="19" name="link"/>
          <p:cNvSpPr txBox="1"/>
          <p:nvPr/>
        </p:nvSpPr>
        <p:spPr>
          <a:xfrm>
            <a:off x="5303520" y="3255264"/>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13"/>
              </a:rPr>
              <a:t>Python Tutor: step through your code</a:t>
            </a:r>
          </a:p>
        </p:txBody>
      </p:sp>
      <p:sp>
        <p:nvSpPr>
          <p:cNvPr id="20" name="link"/>
          <p:cNvSpPr txBox="1"/>
          <p:nvPr/>
        </p:nvSpPr>
        <p:spPr>
          <a:xfrm>
            <a:off x="1691640" y="3547872"/>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14"/>
              </a:rPr>
              <a:t>pprint: tidy printing of nested data</a:t>
            </a:r>
          </a:p>
        </p:txBody>
      </p:sp>
      <p:sp>
        <p:nvSpPr>
          <p:cNvPr id="21" name="link"/>
          <p:cNvSpPr txBox="1"/>
          <p:nvPr/>
        </p:nvSpPr>
        <p:spPr>
          <a:xfrm>
            <a:off x="5303520" y="3547872"/>
            <a:ext cx="3474720" cy="274320"/>
          </a:xfrm>
          <a:prstGeom prst="rect">
            <a:avLst/>
          </a:prstGeom>
          <a:noFill/>
        </p:spPr>
        <p:txBody>
          <a:bodyPr wrap="square" anchor="t" lIns="45720" rIns="45720" tIns="36576" bIns="36576">
            <a:spAutoFit/>
          </a:bodyPr>
          <a:lstStyle/>
          <a:p>
            <a:pPr algn="l"/>
            <a:r>
              <a:rPr sz="1150" b="1" i="0">
                <a:solidFill>
                  <a:srgbClr val="2F6D62"/>
                </a:solidFill>
                <a:latin typeface="Calibri"/>
                <a:hlinkClick r:id="rId15"/>
              </a:rPr>
              <a:t>The course repository and corpus</a:t>
            </a:r>
          </a:p>
        </p:txBody>
      </p:sp>
      <p:sp>
        <p:nvSpPr>
          <p:cNvPr id="22" name="takeaway"/>
          <p:cNvSpPr txBox="1"/>
          <p:nvPr/>
        </p:nvSpPr>
        <p:spPr>
          <a:xfrm>
            <a:off x="457200" y="450799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13 links, each opened on the day this deck was built.</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47 / 48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you should now be able to say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400" b="1" i="0">
                <a:solidFill>
                  <a:srgbClr val="FFFFFF"/>
                </a:solidFill>
                <a:latin typeface="Courier New"/>
              </a:rPr>
              <a:t>&gt;&gt;&gt;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Four claims, each carried by a result you saw printed</a:t>
            </a:r>
          </a:p>
        </p:txBody>
      </p:sp>
      <p:sp>
        <p:nvSpPr>
          <p:cNvPr id="5" name="claim number"/>
          <p:cNvSpPr/>
          <p:nvPr/>
        </p:nvSpPr>
        <p:spPr>
          <a:xfrm>
            <a:off x="457200" y="1188720"/>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1</a:t>
            </a:r>
          </a:p>
        </p:txBody>
      </p:sp>
      <p:sp>
        <p:nvSpPr>
          <p:cNvPr id="6" name="claim"/>
          <p:cNvSpPr/>
          <p:nvPr/>
        </p:nvSpPr>
        <p:spPr>
          <a:xfrm>
            <a:off x="1005840" y="1188720"/>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400" b="0" i="0">
                <a:solidFill>
                  <a:srgbClr val="2B2622"/>
                </a:solidFill>
                <a:latin typeface="Calibri"/>
              </a:rPr>
              <a:t>A dictionary finds values by key, and keys must be hashable.</a:t>
            </a:r>
          </a:p>
        </p:txBody>
      </p:sp>
      <p:sp>
        <p:nvSpPr>
          <p:cNvPr id="7" name="claim number"/>
          <p:cNvSpPr/>
          <p:nvPr/>
        </p:nvSpPr>
        <p:spPr>
          <a:xfrm>
            <a:off x="457200" y="1828800"/>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2</a:t>
            </a:r>
          </a:p>
        </p:txBody>
      </p:sp>
      <p:sp>
        <p:nvSpPr>
          <p:cNvPr id="8" name="claim"/>
          <p:cNvSpPr/>
          <p:nvPr/>
        </p:nvSpPr>
        <p:spPr>
          <a:xfrm>
            <a:off x="1005840" y="1828800"/>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400" b="0" i="0">
                <a:solidFill>
                  <a:srgbClr val="2B2622"/>
                </a:solidFill>
                <a:latin typeface="Calibri"/>
              </a:rPr>
              <a:t>Counting and grouping are a few lines with setdefault, or one with Counter.</a:t>
            </a:r>
          </a:p>
        </p:txBody>
      </p:sp>
      <p:sp>
        <p:nvSpPr>
          <p:cNvPr id="9" name="claim number"/>
          <p:cNvSpPr/>
          <p:nvPr/>
        </p:nvSpPr>
        <p:spPr>
          <a:xfrm>
            <a:off x="457200" y="2468880"/>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3</a:t>
            </a:r>
          </a:p>
        </p:txBody>
      </p:sp>
      <p:sp>
        <p:nvSpPr>
          <p:cNvPr id="10" name="claim"/>
          <p:cNvSpPr/>
          <p:nvPr/>
        </p:nvSpPr>
        <p:spPr>
          <a:xfrm>
            <a:off x="1005840" y="2468880"/>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400" b="0" i="0">
                <a:solidFill>
                  <a:srgbClr val="2B2622"/>
                </a:solidFill>
                <a:latin typeface="Calibri"/>
              </a:rPr>
              <a:t>A real thing becomes a dictionary of the parts that are there.</a:t>
            </a:r>
          </a:p>
        </p:txBody>
      </p:sp>
      <p:sp>
        <p:nvSpPr>
          <p:cNvPr id="11" name="claim number"/>
          <p:cNvSpPr/>
          <p:nvPr/>
        </p:nvSpPr>
        <p:spPr>
          <a:xfrm>
            <a:off x="457200" y="3108959"/>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800" b="1" i="0">
                <a:solidFill>
                  <a:srgbClr val="FFFFFF"/>
                </a:solidFill>
                <a:latin typeface="Cambria"/>
              </a:rPr>
              <a:t>4</a:t>
            </a:r>
          </a:p>
        </p:txBody>
      </p:sp>
      <p:sp>
        <p:nvSpPr>
          <p:cNvPr id="12" name="claim"/>
          <p:cNvSpPr/>
          <p:nvPr/>
        </p:nvSpPr>
        <p:spPr>
          <a:xfrm>
            <a:off x="1005840" y="3108959"/>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400" b="0" i="0">
                <a:solidFill>
                  <a:srgbClr val="2B2622"/>
                </a:solidFill>
                <a:latin typeface="Calibri"/>
              </a:rPr>
              <a:t>A shallow copy shares the inner dictionaries, and JSON writes the data down.</a:t>
            </a:r>
          </a:p>
        </p:txBody>
      </p:sp>
      <p:sp>
        <p:nvSpPr>
          <p:cNvPr id="13"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Questions are welcome; bring one example you could not predict.</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48 / 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7: Dictionaries and Structuring Data (3rd edition), lecture deck v2.0.0</dc:title>
  <dc:subject>SEN0414 Advanced Programming</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