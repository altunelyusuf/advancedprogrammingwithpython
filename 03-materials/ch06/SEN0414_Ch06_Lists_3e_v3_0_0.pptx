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slice lengths</a:t>
            </a:r>
          </a:p>
        </c:rich>
      </c:tx>
      <c:layout/>
      <c:overlay val="0"/>
    </c:title>
    <c:autoTitleDeleted val="0"/>
    <c:plotArea>
      <c:barChart>
        <c:barDir val="col"/>
        <c:grouping val="clustered"/>
        <c:ser>
          <c:idx val="0"/>
          <c:order val="0"/>
          <c:tx>
            <c:strRef>
              <c:f>Sheet1!$B$1</c:f>
              <c:strCache>
                <c:ptCount val="1"/>
                <c:pt idx="0">
                  <c:v>slice lengths</c:v>
                </c:pt>
              </c:strCache>
            </c:strRef>
          </c:tx>
          <c:spPr>
            <a:solidFill>
              <a:srgbClr val="2F6D62"/>
            </a:solidFill>
          </c:spPr>
          <c:invertIfNegative val="0"/>
          <c:cat>
            <c:strRef>
              <c:f>Sheet1!$A$2:$A$4</c:f>
              <c:strCache>
                <c:ptCount val="3"/>
                <c:pt idx="0">
                  <c:v>first slice</c:v>
                </c:pt>
                <c:pt idx="1">
                  <c:v>second slice</c:v>
                </c:pt>
                <c:pt idx="2">
                  <c:v>whole list</c:v>
                </c:pt>
              </c:strCache>
            </c:strRef>
          </c:cat>
          <c:val>
            <c:numRef>
              <c:f>Sheet1!$B$2:$B$4</c:f>
              <c:numCache>
                <c:formatCode>General</c:formatCode>
                <c:ptCount val="3"/>
                <c:pt idx="0">
                  <c:v>3</c:v>
                </c:pt>
                <c:pt idx="1">
                  <c:v>7</c:v>
                </c:pt>
                <c:pt idx="2">
                  <c:v>10</c:v>
                </c:pt>
              </c:numCache>
            </c:numRef>
          </c:val>
        </c:ser>
        <c:dLbls>
          <c:numFmt formatCode="General" sourceLinked="0"/>
          <c:txPr>
            <a:bodyPr/>
            <a:lstStyle/>
            <a:p>
              <a:pPr>
                <a:defRPr sz="95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5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length of spam after each change</a:t>
            </a:r>
          </a:p>
        </c:rich>
      </c:tx>
      <c:layout/>
      <c:overlay val="0"/>
    </c:title>
    <c:autoTitleDeleted val="0"/>
    <c:plotArea>
      <c:lineChart>
        <c:grouping val="standard"/>
        <c:varyColors val="0"/>
        <c:ser>
          <c:idx val="0"/>
          <c:order val="0"/>
          <c:tx>
            <c:strRef>
              <c:f>Sheet1!$B$1</c:f>
              <c:strCache>
                <c:ptCount val="1"/>
                <c:pt idx="0">
                  <c:v>length of spam after each change</c:v>
                </c:pt>
              </c:strCache>
            </c:strRef>
          </c:tx>
          <c:spPr>
            <a:ln w="28575">
              <a:solidFill>
                <a:srgbClr val="2F6D62"/>
              </a:solidFill>
            </a:ln>
          </c:spPr>
          <c:marker>
            <c:spPr>
              <a:solidFill>
                <a:srgbClr val="D97A14"/>
              </a:solidFill>
            </c:spPr>
          </c:marker>
          <c:cat>
            <c:strRef>
              <c:f>Sheet1!$A$2:$A$8</c:f>
              <c:strCache>
                <c:ptCount val="7"/>
                <c:pt idx="0">
                  <c:v>start</c:v>
                </c:pt>
                <c:pt idx="1">
                  <c:v>assign</c:v>
                </c:pt>
                <c:pt idx="2">
                  <c:v>append</c:v>
                </c:pt>
                <c:pt idx="3">
                  <c:v>insert</c:v>
                </c:pt>
                <c:pt idx="4">
                  <c:v>pop</c:v>
                </c:pt>
                <c:pt idx="5">
                  <c:v>del</c:v>
                </c:pt>
                <c:pt idx="6">
                  <c:v>remove</c:v>
                </c:pt>
              </c:strCache>
            </c:strRef>
          </c:cat>
          <c:val>
            <c:numRef>
              <c:f>Sheet1!$B$2:$B$8</c:f>
              <c:numCache>
                <c:formatCode>General</c:formatCode>
                <c:ptCount val="7"/>
                <c:pt idx="0">
                  <c:v>4</c:v>
                </c:pt>
                <c:pt idx="1">
                  <c:v>4</c:v>
                </c:pt>
                <c:pt idx="2">
                  <c:v>5</c:v>
                </c:pt>
                <c:pt idx="3">
                  <c:v>6</c:v>
                </c:pt>
                <c:pt idx="4">
                  <c:v>5</c:v>
                </c:pt>
                <c:pt idx="5">
                  <c:v>4</c:v>
                </c:pt>
                <c:pt idx="6">
                  <c:v>3</c:v>
                </c:pt>
              </c:numCache>
            </c:numRef>
          </c:val>
          <c:smooth val="0"/>
        </c:ser>
        <c:dLbls>
          <c:numFmt formatCode="General" sourceLinked="0"/>
          <c:txPr>
            <a:bodyPr/>
            <a:lstStyle/>
            <a:p>
              <a:pPr>
                <a:defRPr sz="95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txPr>
          <a:bodyPr/>
          <a:lstStyle/>
          <a:p>
            <a:pPr>
              <a:defRPr sz="900"/>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95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length of spam</a:t>
            </a:r>
          </a:p>
        </c:rich>
      </c:tx>
      <c:layout/>
      <c:overlay val="0"/>
    </c:title>
    <c:autoTitleDeleted val="0"/>
    <c:plotArea>
      <c:lineChart>
        <c:grouping val="standard"/>
        <c:varyColors val="0"/>
        <c:ser>
          <c:idx val="0"/>
          <c:order val="0"/>
          <c:tx>
            <c:strRef>
              <c:f>Sheet1!$B$1</c:f>
              <c:strCache>
                <c:ptCount val="1"/>
                <c:pt idx="0">
                  <c:v>length of spam</c:v>
                </c:pt>
              </c:strCache>
            </c:strRef>
          </c:tx>
          <c:spPr>
            <a:ln w="28575">
              <a:solidFill>
                <a:srgbClr val="2F6D62"/>
              </a:solidFill>
            </a:ln>
          </c:spPr>
          <c:marker>
            <c:spPr>
              <a:solidFill>
                <a:srgbClr val="D97A14"/>
              </a:solidFill>
            </c:spPr>
          </c:marker>
          <c:cat>
            <c:strRef>
              <c:f>Sheet1!$A$2:$A$5</c:f>
              <c:strCache>
                <c:ptCount val="4"/>
                <c:pt idx="0">
                  <c:v>start</c:v>
                </c:pt>
                <c:pt idx="1">
                  <c:v>+= [4]</c:v>
                </c:pt>
                <c:pt idx="2">
                  <c:v>*= 2</c:v>
                </c:pt>
                <c:pt idx="3">
                  <c:v>extend</c:v>
                </c:pt>
              </c:strCache>
            </c:strRef>
          </c:cat>
          <c:val>
            <c:numRef>
              <c:f>Sheet1!$B$2:$B$5</c:f>
              <c:numCache>
                <c:formatCode>General</c:formatCode>
                <c:ptCount val="4"/>
                <c:pt idx="0">
                  <c:v>3</c:v>
                </c:pt>
                <c:pt idx="1">
                  <c:v>4</c:v>
                </c:pt>
                <c:pt idx="2">
                  <c:v>8</c:v>
                </c:pt>
                <c:pt idx="3">
                  <c:v>10</c:v>
                </c:pt>
              </c:numCache>
            </c:numRef>
          </c:val>
          <c:smooth val="0"/>
        </c:ser>
        <c:dLbls>
          <c:numFmt formatCode="General" sourceLinked="0"/>
          <c:txPr>
            <a:bodyPr/>
            <a:lstStyle/>
            <a:p>
              <a:pPr>
                <a:defRPr sz="95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txPr>
          <a:bodyPr/>
          <a:lstStyle/>
          <a:p>
            <a:pPr>
              <a:defRPr sz="900"/>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95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letters in each supply name</a:t>
            </a:r>
          </a:p>
        </c:rich>
      </c:tx>
      <c:layout/>
      <c:overlay val="0"/>
    </c:title>
    <c:autoTitleDeleted val="0"/>
    <c:plotArea>
      <c:barChart>
        <c:barDir val="col"/>
        <c:grouping val="clustered"/>
        <c:ser>
          <c:idx val="0"/>
          <c:order val="0"/>
          <c:tx>
            <c:strRef>
              <c:f>Sheet1!$B$1</c:f>
              <c:strCache>
                <c:ptCount val="1"/>
                <c:pt idx="0">
                  <c:v>letters in each supply name</c:v>
                </c:pt>
              </c:strCache>
            </c:strRef>
          </c:tx>
          <c:spPr>
            <a:solidFill>
              <a:srgbClr val="2F6D62"/>
            </a:solidFill>
          </c:spPr>
          <c:invertIfNegative val="0"/>
          <c:cat>
            <c:strRef>
              <c:f>Sheet1!$A$2:$A$5</c:f>
              <c:strCache>
                <c:ptCount val="4"/>
                <c:pt idx="0">
                  <c:v>pens</c:v>
                </c:pt>
                <c:pt idx="1">
                  <c:v>staplers</c:v>
                </c:pt>
                <c:pt idx="2">
                  <c:v>flamethrowers</c:v>
                </c:pt>
                <c:pt idx="3">
                  <c:v>binders</c:v>
                </c:pt>
              </c:strCache>
            </c:strRef>
          </c:cat>
          <c:val>
            <c:numRef>
              <c:f>Sheet1!$B$2:$B$5</c:f>
              <c:numCache>
                <c:formatCode>General</c:formatCode>
                <c:ptCount val="4"/>
                <c:pt idx="0">
                  <c:v>4</c:v>
                </c:pt>
                <c:pt idx="1">
                  <c:v>8</c:v>
                </c:pt>
                <c:pt idx="2">
                  <c:v>13</c:v>
                </c:pt>
                <c:pt idx="3">
                  <c:v>7</c:v>
                </c:pt>
              </c:numCache>
            </c:numRef>
          </c:val>
        </c:ser>
        <c:dLbls>
          <c:numFmt formatCode="General" sourceLinked="0"/>
          <c:txPr>
            <a:bodyPr/>
            <a:lstStyle/>
            <a:p>
              <a:pPr>
                <a:defRPr sz="95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5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the six squares</a:t>
            </a:r>
          </a:p>
        </c:rich>
      </c:tx>
      <c:layout/>
      <c:overlay val="0"/>
    </c:title>
    <c:autoTitleDeleted val="0"/>
    <c:plotArea>
      <c:barChart>
        <c:barDir val="col"/>
        <c:grouping val="clustered"/>
        <c:ser>
          <c:idx val="0"/>
          <c:order val="0"/>
          <c:tx>
            <c:strRef>
              <c:f>Sheet1!$B$1</c:f>
              <c:strCache>
                <c:ptCount val="1"/>
                <c:pt idx="0">
                  <c:v>the six squares</c:v>
                </c:pt>
              </c:strCache>
            </c:strRef>
          </c:tx>
          <c:spPr>
            <a:solidFill>
              <a:srgbClr val="2F6D62"/>
            </a:solidFill>
          </c:spPr>
          <c:invertIfNegative val="0"/>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1</c:v>
                </c:pt>
                <c:pt idx="1">
                  <c:v>4</c:v>
                </c:pt>
                <c:pt idx="2">
                  <c:v>9</c:v>
                </c:pt>
                <c:pt idx="3">
                  <c:v>16</c:v>
                </c:pt>
                <c:pt idx="4">
                  <c:v>25</c:v>
                </c:pt>
                <c:pt idx="5">
                  <c:v>36</c:v>
                </c:pt>
              </c:numCache>
            </c:numRef>
          </c:val>
        </c:ser>
        <c:dLbls>
          <c:numFmt formatCode="General" sourceLinked="0"/>
          <c:txPr>
            <a:bodyPr/>
            <a:lstStyle/>
            <a:p>
              <a:pPr>
                <a:defRPr sz="95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50">
          <a:solidFill>
            <a:srgbClr val="2B2622"/>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deals above or below 1000</a:t>
            </a:r>
          </a:p>
        </c:rich>
      </c:tx>
      <c:layout/>
      <c:overlay val="0"/>
    </c:title>
    <c:autoTitleDeleted val="0"/>
    <c:plotArea>
      <c:barChart>
        <c:barDir val="col"/>
        <c:grouping val="clustered"/>
        <c:ser>
          <c:idx val="0"/>
          <c:order val="0"/>
          <c:tx>
            <c:strRef>
              <c:f>Sheet1!$B$1</c:f>
              <c:strCache>
                <c:ptCount val="1"/>
                <c:pt idx="0">
                  <c:v>deals above or below 1000</c:v>
                </c:pt>
              </c:strCache>
            </c:strRef>
          </c:tx>
          <c:spPr>
            <a:solidFill>
              <a:srgbClr val="2F6D62"/>
            </a:solidFill>
          </c:spPr>
          <c:invertIfNegative val="0"/>
          <c:cat>
            <c:strRef>
              <c:f>Sheet1!$A$2:$A$7</c:f>
              <c:strCache>
                <c:ptCount val="6"/>
                <c:pt idx="0">
                  <c:v>abc</c:v>
                </c:pt>
                <c:pt idx="1">
                  <c:v>acb</c:v>
                </c:pt>
                <c:pt idx="2">
                  <c:v>bac</c:v>
                </c:pt>
                <c:pt idx="3">
                  <c:v>bca</c:v>
                </c:pt>
                <c:pt idx="4">
                  <c:v>cab</c:v>
                </c:pt>
                <c:pt idx="5">
                  <c:v>cba</c:v>
                </c:pt>
              </c:strCache>
            </c:strRef>
          </c:cat>
          <c:val>
            <c:numRef>
              <c:f>Sheet1!$B$2:$B$7</c:f>
              <c:numCache>
                <c:formatCode>General</c:formatCode>
                <c:ptCount val="6"/>
                <c:pt idx="0">
                  <c:v>-29</c:v>
                </c:pt>
                <c:pt idx="1">
                  <c:v>-27</c:v>
                </c:pt>
                <c:pt idx="2">
                  <c:v>9</c:v>
                </c:pt>
                <c:pt idx="3">
                  <c:v>14</c:v>
                </c:pt>
                <c:pt idx="4">
                  <c:v>45</c:v>
                </c:pt>
                <c:pt idx="5">
                  <c:v>-12</c:v>
                </c:pt>
              </c:numCache>
            </c:numRef>
          </c:val>
        </c:ser>
        <c:dLbls>
          <c:numFmt formatCode="General" sourceLinked="0"/>
          <c:txPr>
            <a:bodyPr/>
            <a:lstStyle/>
            <a:p>
              <a:pPr>
                <a:defRPr sz="95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50">
          <a:solidFill>
            <a:srgbClr val="2B2622"/>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2B2622"/>
                </a:solidFill>
                <a:latin typeface="Calibri"/>
              </a:rPr>
              <a:t>10,000 experiments</a:t>
            </a:r>
          </a:p>
        </c:rich>
      </c:tx>
      <c:layout/>
      <c:overlay val="0"/>
    </c:title>
    <c:autoTitleDeleted val="0"/>
    <c:plotArea>
      <c:barChart>
        <c:barDir val="col"/>
        <c:grouping val="clustered"/>
        <c:ser>
          <c:idx val="0"/>
          <c:order val="0"/>
          <c:tx>
            <c:strRef>
              <c:f>Sheet1!$B$1</c:f>
              <c:strCache>
                <c:ptCount val="1"/>
                <c:pt idx="0">
                  <c:v>10,000 experiments</c:v>
                </c:pt>
              </c:strCache>
            </c:strRef>
          </c:tx>
          <c:spPr>
            <a:solidFill>
              <a:srgbClr val="2F6D62"/>
            </a:solidFill>
          </c:spPr>
          <c:invertIfNegative val="0"/>
          <c:cat>
            <c:strRef>
              <c:f>Sheet1!$A$2:$A$3</c:f>
              <c:strCache>
                <c:ptCount val="2"/>
                <c:pt idx="0">
                  <c:v>with a streak of 6</c:v>
                </c:pt>
                <c:pt idx="1">
                  <c:v>without</c:v>
                </c:pt>
              </c:strCache>
            </c:strRef>
          </c:cat>
          <c:val>
            <c:numRef>
              <c:f>Sheet1!$B$2:$B$3</c:f>
              <c:numCache>
                <c:formatCode>General</c:formatCode>
                <c:ptCount val="2"/>
                <c:pt idx="0">
                  <c:v>8148</c:v>
                </c:pt>
                <c:pt idx="1">
                  <c:v>1852</c:v>
                </c:pt>
              </c:numCache>
            </c:numRef>
          </c:val>
        </c:ser>
        <c:dLbls>
          <c:numFmt formatCode="General" sourceLinked="0"/>
          <c:txPr>
            <a:bodyPr/>
            <a:lstStyle/>
            <a:p>
              <a:pPr>
                <a:defRPr sz="95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5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is about lists: one ordered, changeable row of values. The deck has five parts and ends with short programs. Every code box on these slides is also in the chapter-code tab of the course page, in the same order, and runs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has five parts and a wrap-up. The slide ranges are in the table, so you can jump. Each code slide shows its result as a table, chart or drawing. The hardest part is names and copies; mark it now and check it again at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chapter. They are printed here so you can return to them at the end. Which of the three could you already answer from what you know about variables and strings?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is one idea with six branches. Each box names a branch and the slides that teach it. The fifth branch, random choices, and the sixth, short programs, are where lists meet chance and real code. The branches are the same as the five parts, with the last part split in 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what a list is. Concepts: the list data type, indexes and slices, and the other sequence types. The picture is Figure 6-1 of the book: a list in spam and the number that reaches each item.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list as lockers with numbers on the doors. Index 0 is the first item, index minus 1 the last. The diagram shows both numberings for the same four items. len() counts the lockers, so the last valid index is len minus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Nested lists need one index per level: first the row, then the column. An index beyond the end raises IndexError. Catching it with try and except shows the message without a long traceback, and the program goes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11 August 1982 Dijkstra wrote EWD831 at home in Nuenen. His reasoning is why Python counts from zero and why spam[1:3] excludes its end. Lesson: counting from zero makes the index equal the number of items before it. Photo: A. F. Borchert, CC BY-SA 4.0.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ruler: the numbers sit between the items, and a slice takes what lies between two marks. A slice is always a new list, so spam[:] equals spam but is not spam. The diagram marks the slice spam[1:3].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Dijkstra's argument in running code. Because the end is excluded, a slice from 2 to 5 holds 5 minus 2 items, and the slices 0 to 3 and 3 to 10 fit together with no gap and no overlap. The chart shows the lengths adding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learned about indexes and slices is not only for lists. Strings, tuples and ranges are sequences too and answer the same questions. The difference is mutability: a list can change, a string and a tuple cannot.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everyday pictures for the first concepts. Keep the lockers in mind: they explain indexes, slices and len. Ask students to find the picture that fits a string.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change, combine, search and order. Keep one question in mind for every operation: does it change the list, return a new one, or return None? The picture is Figure 6-2 of the book.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list changes step by step; it is the same list the whole time. The chart plots its length after each change: assignment keeps it, append and insert add one, pop, del and remove take one away.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two families. Plus and times leave their operands alone and return a new list. Plus-equals and times-equals change the list in place. A method like extend is a function that belongs to the list and is called with a dot.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Searching a list means going through it from the front. in says whether the item is there, index says where the first copy is, count says how many copies. index raises ValueError for a missing item, so check first or catch the error.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Short-circuit evaluation is a guard. If the first operand of and is false, Python does not look at the second, so spam[0] on an empty list is never evaluated. Or and and return one of their operands, not necessarily True or False.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 that changes a list in place returns None, so never capture the result of sort. sorted returns a new list. The default order puts capital letters first; the key argument changes what is compared, not what is kept.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pictures separate changing a thing from making a new one. The pencil list and the jar are the same object after the change. The remote control explains why methods are called with a dot.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pictures for three methods. In a queue only the new person moves. On a shelf the books after the gap shift. On a guest list the names below the crossed one move 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Carter and Bookman invented the toy in 1946 in Cincinnati. A twenty-faced die floats in blue liquid. The program keeps some of the answers in a list. Lesson: put the answers in a list and the program need not change. Photo: Zaneology, CC BY 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 is data plus three lines of logic. Adding a fifth answer means adding one string to the list. The seed is fixed only so that the slide and the page show the same output; remove it and each run differs. This is the core of the book's program.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Searching and ordering. A finger moving down a guest list is a search from the front. Re-arranging the shelf is sort; making a second shelf in the same order would be sorted.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loops and unpacking. The removal trap is the memorable one. The picture is Figure 6-4 of the book: a list holds references to values, and each item carries a tag.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Looping over positions with range and len works but is easy to get wrong. enumerate gives the position and the item in one step and can start at any number. print shows each pair; the chart counts the letters of each name.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classic trap. The loop keeps its own position counter. Removing a, then looking at position 1, which is now c, skips b. The diagram traces the list after each pass. The safe way is to build a new list.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Unpacking assigns the items of a list to several names at once. The number of names must match the number of items, unless one name carries a star and takes the rest. The swap a, b = b, a relies on the same mechanism.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Comprehensions are the modern way to build one list from another. They are shorter than a loop with append and show the rule in one place. The chart plots the squares the first comprehension built.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never returns a number, always text. To get a list of numbers, split the text into words and convert each one. The typed text is written into the example so the slide and the page can run without a keyboard.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small tools. The turnstile explains why range stops one before its number. The loudspeaker shows print does not change the value. The desk explains why input always gives text.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the hardest part for beginners. A name is a tag on an object. Aliasing, shallow copy and deep copy are three answers to the question: who else sees my change? Picture: Figure 6-3 of the book.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holds a reference to a list, not the list. eggs = spam copies the reference, so both names reach one list. The is operator and id() confirm it. The diagram shows two tags on one list.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Arguments are passed by assignment: the parameter becomes another name for the caller's object. A function that appends to its parameter changes the caller's list. To protect the original, pass a copy.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shallow copy copies only the outer list, so the inner lists are shared. A deep copy copies all levels. The board line shows the same trap by repetition: two rows that are one list.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pictures of the chapter. Tags are references; two keys are two names for one list. A shallow copy copies the index card, a deep copy the whole folder.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lists meet chance. Choice and shuffle, then four short programs that use only what the chapter taught. The picture is Figure 6-5 of the book: the screensaver running in a console.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random module turns lists into games. The seed is fixed here only so the output repeats. Remember the in-place rule: shuffle changes the list and returns None, exactly like sort.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Fisher and Yates printed the pencil method in 1938; Durstenfeld published the computer version in 1964; Knuth described it. random.shuffle still works this way. Lesson: a shuffle is fair only if every order is equally likely. Photo: B. Eagel, CC BY-SA 4.0.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 counts how often each order appears. The differences from 1000 are small and have no pattern, which is what a fair shuffle gives. A biased shuffle would show a few bars far from zero.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Chance as a hat and a deck. Choice does not change the hat; shuffle changes the deck. A fixed seed is like agreeing in advance on the order of the slips.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Simon Whiteley designed the glyphs of the film's green rain. His 2017 sushi joke is disputed. The chapter imitates the rain with a list of counters. Lesson: a list of counters can animate a screen. Image: Figure 6-5, Sweigart 2025, CC BY-NC-SA.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column has a counter. At zero the column may start a new stream of digits; above zero it prints a random digit and counts down. Five rows are printed here; the real screensaver loops forever. The boxes show the counters after the last row.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slice items[:-1] takes everything but the last item; join glues the pieces with a comma and a space. The four tests cover the cases: many items, two, one and none. repr shows the quotes so empty text is visible.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people expect six in a row to be rare. The simulation says about eight experiments in ten contain one. The fixed seed makes the estimate repeatable; change it and the number moves a little.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Pictures for the closing parts. The summary is a postcard, the practice questions are scales, the practice programs a first tune. The two short programs are a box of cards and rain gauges.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as a decision guide. For every list operation ask three things: does it change the list, return a new list, or share one? Most list bugs come from mixing these up.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tasks. The three questions check understanding of indexes, loops and references. The two programs check that you can combine slices, loops and random. Both programs appeared on earlier slides; try them blind first.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here is free. Paste the aliasing example of this deck into Python Tutor and watch two name tags arrive on one list. Then read the official sorting HOWTO for the key argument.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claims, each carried by code that ran on a slide. The course page carries the same code in its chapter-code tab, the stories with their sources and the question bank. Use the four claims as a self-test.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hyperlink" Target="https://www.cs.utexas.edu/~EWD/transcriptions/EWD08xx/EWD831.html"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en.wikipedia.org/wiki/Magic_8_Ball"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hyperlink" Target="https://en.wikipedia.org/wiki/Fisher%E2%80%93Yates_shuffle"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hyperlink" Target="https://en.wikipedia.org/wiki/Matrix_digital_rain" TargetMode="Externa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automatetheboringstuff.com/3e/chapter6.html" TargetMode="External"/><Relationship Id="rId3" Type="http://schemas.openxmlformats.org/officeDocument/2006/relationships/hyperlink" Target="https://docs.python.org/3/tutorial/datastructures.html" TargetMode="External"/><Relationship Id="rId4" Type="http://schemas.openxmlformats.org/officeDocument/2006/relationships/hyperlink" Target="https://docs.python.org/3/howto/sorting.html" TargetMode="External"/><Relationship Id="rId5" Type="http://schemas.openxmlformats.org/officeDocument/2006/relationships/hyperlink" Target="https://docs.python.org/3/library/copy.html" TargetMode="External"/><Relationship Id="rId6" Type="http://schemas.openxmlformats.org/officeDocument/2006/relationships/hyperlink" Target="https://peps.python.org/pep-3132/" TargetMode="External"/><Relationship Id="rId7" Type="http://schemas.openxmlformats.org/officeDocument/2006/relationships/hyperlink" Target="https://docs.python.org/3/library/random.html" TargetMode="External"/><Relationship Id="rId8" Type="http://schemas.openxmlformats.org/officeDocument/2006/relationships/hyperlink" Target="https://nedbatchelder.com/text/names.html" TargetMode="External"/><Relationship Id="rId9" Type="http://schemas.openxmlformats.org/officeDocument/2006/relationships/hyperlink" Target="https://pythontutor.com/" TargetMode="External"/><Relationship Id="rId10" Type="http://schemas.openxmlformats.org/officeDocument/2006/relationships/hyperlink" Target="https://www.cs.utexas.edu/~EWD/transcriptions/EWD08xx/EWD831.html" TargetMode="External"/><Relationship Id="rId11" Type="http://schemas.openxmlformats.org/officeDocument/2006/relationships/hyperlink" Target="https://en.wikipedia.org/wiki/Fisher%E2%80%93Yates_shuffle" TargetMode="External"/><Relationship Id="rId12" Type="http://schemas.openxmlformats.org/officeDocument/2006/relationships/hyperlink" Target="https://en.wikipedia.org/wiki/Magic_8_Ball" TargetMode="External"/><Relationship Id="rId13" Type="http://schemas.openxmlformats.org/officeDocument/2006/relationships/hyperlink" Target="https://en.wikipedia.org/wiki/Matrix_digital_rain" TargetMode="External"/><Relationship Id="rId1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1554480"/>
            <a:ext cx="4663440" cy="731520"/>
          </a:xfrm>
        </p:spPr>
        <p:txBody>
          <a:bodyPr wrap="square" lIns="36576" tIns="18288" rIns="36576" bIns="18288" anchor="ctr">
            <a:noAutofit/>
          </a:bodyPr>
          <a:lstStyle/>
          <a:p>
            <a:pPr algn="l">
              <a:spcBef>
                <a:spcPts val="0"/>
              </a:spcBef>
              <a:spcAft>
                <a:spcPts val="0"/>
              </a:spcAft>
            </a:pPr>
            <a:r>
              <a:rPr sz="3600" b="1" i="0">
                <a:solidFill>
                  <a:srgbClr val="2B2622"/>
                </a:solidFill>
                <a:latin typeface="Cambria"/>
              </a:rPr>
              <a:t>Chapter 6: Lists</a:t>
            </a:r>
          </a:p>
        </p:txBody>
      </p:sp>
      <p:sp>
        <p:nvSpPr>
          <p:cNvPr id="3" name="Rectangle 2"/>
          <p:cNvSpPr/>
          <p:nvPr/>
        </p:nvSpPr>
        <p:spPr>
          <a:xfrm>
            <a:off x="457200" y="2395728"/>
            <a:ext cx="1097280" cy="54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457200" y="2542032"/>
            <a:ext cx="4663440" cy="411480"/>
          </a:xfrm>
          <a:prstGeom prst="rect">
            <a:avLst/>
          </a:prstGeom>
          <a:noFill/>
        </p:spPr>
        <p:txBody>
          <a:bodyPr wrap="square" lIns="73152" tIns="36576" rIns="73152" bIns="36576" anchor="t">
            <a:noAutofit/>
          </a:bodyPr>
          <a:lstStyle/>
          <a:p>
            <a:pPr algn="l">
              <a:spcBef>
                <a:spcPts val="0"/>
              </a:spcBef>
              <a:spcAft>
                <a:spcPts val="0"/>
              </a:spcAft>
            </a:pPr>
            <a:r>
              <a:rPr sz="1600" b="0" i="1">
                <a:solidFill>
                  <a:srgbClr val="2F6D62"/>
                </a:solidFill>
                <a:latin typeface="Calibri"/>
              </a:rPr>
              <a:t>One ordered, changeable row of values</a:t>
            </a:r>
          </a:p>
        </p:txBody>
      </p:sp>
      <p:sp>
        <p:nvSpPr>
          <p:cNvPr id="5" name="course line"/>
          <p:cNvSpPr txBox="1"/>
          <p:nvPr/>
        </p:nvSpPr>
        <p:spPr>
          <a:xfrm>
            <a:off x="457200" y="3931920"/>
            <a:ext cx="4663440" cy="566928"/>
          </a:xfrm>
          <a:prstGeom prst="rect">
            <a:avLst/>
          </a:prstGeom>
          <a:noFill/>
        </p:spPr>
        <p:txBody>
          <a:bodyPr wrap="square" lIns="73152" tIns="36576" rIns="73152" bIns="36576" anchor="t">
            <a:noAutofit/>
          </a:bodyPr>
          <a:lstStyle/>
          <a:p>
            <a:pPr algn="l">
              <a:spcBef>
                <a:spcPts val="0"/>
              </a:spcBef>
              <a:spcAft>
                <a:spcPts val="0"/>
              </a:spcAft>
            </a:pPr>
            <a:r>
              <a:rPr sz="1100" b="0" i="0">
                <a:solidFill>
                  <a:srgbClr val="6E655C"/>
                </a:solidFill>
                <a:latin typeface="Calibri"/>
              </a:rPr>
              <a:t>SEN0414 Advanced Programming - Fall 2026</a:t>
            </a:r>
          </a:p>
          <a:p>
            <a:pPr algn="l">
              <a:spcBef>
                <a:spcPts val="0"/>
              </a:spcBef>
              <a:spcAft>
                <a:spcPts val="0"/>
              </a:spcAft>
            </a:pPr>
            <a:r>
              <a:rPr sz="1100" b="0" i="0">
                <a:solidFill>
                  <a:srgbClr val="6E655C"/>
                </a:solidFill>
                <a:latin typeface="Calibri"/>
              </a:rPr>
              <a:t>Yusuf Altunel, PhD - Istanbul Kultur University</a:t>
            </a:r>
          </a:p>
        </p:txBody>
      </p:sp>
      <p:pic>
        <p:nvPicPr>
          <p:cNvPr id="6" name="picture: lists hold references" descr="Figure 6-4 of the textbook: a list holds items, each reached by its number"/>
          <p:cNvPicPr>
            <a:picLocks noChangeAspect="1"/>
          </p:cNvPicPr>
          <p:nvPr/>
        </p:nvPicPr>
        <p:blipFill>
          <a:blip r:embed="rId2"/>
          <a:stretch>
            <a:fillRect/>
          </a:stretch>
        </p:blipFill>
        <p:spPr>
          <a:xfrm>
            <a:off x="5303520" y="1234440"/>
            <a:ext cx="3520440" cy="2128440"/>
          </a:xfrm>
          <a:prstGeom prst="rect">
            <a:avLst/>
          </a:prstGeom>
        </p:spPr>
      </p:pic>
      <p:sp>
        <p:nvSpPr>
          <p:cNvPr id="7" name="credit"/>
          <p:cNvSpPr txBox="1"/>
          <p:nvPr/>
        </p:nvSpPr>
        <p:spPr>
          <a:xfrm>
            <a:off x="5303520" y="3429000"/>
            <a:ext cx="3520440" cy="365760"/>
          </a:xfrm>
          <a:prstGeom prst="rect">
            <a:avLst/>
          </a:prstGeom>
          <a:noFill/>
        </p:spPr>
        <p:txBody>
          <a:bodyPr wrap="square" lIns="73152" tIns="36576" rIns="73152" bIns="36576" anchor="t">
            <a:noAutofit/>
          </a:bodyPr>
          <a:lstStyle/>
          <a:p>
            <a:pPr algn="ctr">
              <a:spcBef>
                <a:spcPts val="0"/>
              </a:spcBef>
              <a:spcAft>
                <a:spcPts val="0"/>
              </a:spcAft>
            </a:pPr>
            <a:r>
              <a:rPr sz="900" b="0" i="1">
                <a:solidFill>
                  <a:srgbClr val="6E655C"/>
                </a:solidFill>
                <a:latin typeface="Calibri"/>
              </a:rPr>
              <a:t>Figure 6-4 - Sweigart, ATBS 3e, CC BY-NC-SA</a:t>
            </a:r>
          </a:p>
        </p:txBody>
      </p:sp>
      <p:sp>
        <p:nvSpPr>
          <p:cNvPr id="8"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 / 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Today's route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Five parts and a wrap-up; every number is a slide, every result a table, chart or drawing from the run.</a:t>
            </a:r>
          </a:p>
        </p:txBody>
      </p:sp>
      <p:graphicFrame>
        <p:nvGraphicFramePr>
          <p:cNvPr id="5" name="result table" descr="Result table: Questions -&gt; slides 2-4; 1  The list as a value -&gt; slides 5-12; 2  Changing, combining, searching -&gt; slides 13-23; 3  Loops and unpacking -&gt; slides 24-30; 4  Names and copies -&gt; slides 31-35; 5  Random choices and programs -&gt; slides 36-45"/>
          <p:cNvGraphicFramePr>
            <a:graphicFrameLocks noGrp="1"/>
          </p:cNvGraphicFramePr>
          <p:nvPr/>
        </p:nvGraphicFramePr>
        <p:xfrm>
          <a:off x="365760" y="1188720"/>
          <a:ext cx="8458199" cy="2926080"/>
        </p:xfrm>
        <a:graphic>
          <a:graphicData uri="http://schemas.openxmlformats.org/drawingml/2006/table">
            <a:tbl>
              <a:tblPr firstRow="1">
                <a:tableStyleId>{5C22544A-7EE6-4342-B048-85BDC9FD1C3A}</a:tableStyleId>
              </a:tblPr>
              <a:tblGrid>
                <a:gridCol w="3078536"/>
                <a:gridCol w="4115080"/>
                <a:gridCol w="1264583"/>
              </a:tblGrid>
              <a:tr h="365760">
                <a:tc>
                  <a:txBody>
                    <a:bodyPr wrap="none"/>
                    <a:lstStyle/>
                    <a:p>
                      <a:r>
                        <a:rPr sz="1200" b="1">
                          <a:solidFill>
                            <a:srgbClr val="FFFFFF"/>
                          </a:solidFill>
                          <a:latin typeface="Calibri"/>
                        </a:rPr>
                        <a:t>Part</a:t>
                      </a:r>
                    </a:p>
                  </a:txBody>
                  <a:tcPr marL="82296" marR="82296" marT="22860" marB="22860" anchor="ctr">
                    <a:solidFill>
                      <a:srgbClr val="2F6D62"/>
                    </a:solidFill>
                  </a:tcPr>
                </a:tc>
                <a:tc>
                  <a:txBody>
                    <a:bodyPr wrap="none"/>
                    <a:lstStyle/>
                    <a:p>
                      <a:r>
                        <a:rPr sz="1200" b="1">
                          <a:solidFill>
                            <a:srgbClr val="FFFFFF"/>
                          </a:solidFill>
                          <a:latin typeface="Calibri"/>
                        </a:rPr>
                        <a:t>What you learn</a:t>
                      </a:r>
                    </a:p>
                  </a:txBody>
                  <a:tcPr marL="82296" marR="82296" marT="22860" marB="22860" anchor="ctr">
                    <a:solidFill>
                      <a:srgbClr val="2F6D62"/>
                    </a:solidFill>
                  </a:tcPr>
                </a:tc>
                <a:tc>
                  <a:txBody>
                    <a:bodyPr wrap="none"/>
                    <a:lstStyle/>
                    <a:p>
                      <a:r>
                        <a:rPr sz="1200" b="1">
                          <a:solidFill>
                            <a:srgbClr val="FFFFFF"/>
                          </a:solidFill>
                          <a:latin typeface="Calibri"/>
                        </a:rPr>
                        <a:t>Slides</a:t>
                      </a:r>
                    </a:p>
                  </a:txBody>
                  <a:tcPr marL="82296" marR="82296" marT="22860" marB="22860" anchor="ctr">
                    <a:solidFill>
                      <a:srgbClr val="2F6D62"/>
                    </a:solidFill>
                  </a:tcPr>
                </a:tc>
              </a:tr>
              <a:tr h="365760">
                <a:tc>
                  <a:txBody>
                    <a:bodyPr wrap="none"/>
                    <a:lstStyle/>
                    <a:p>
                      <a:r>
                        <a:rPr sz="1200" b="0">
                          <a:solidFill>
                            <a:srgbClr val="2B2622"/>
                          </a:solidFill>
                          <a:latin typeface="Calibri"/>
                        </a:rPr>
                        <a:t>Questions</a:t>
                      </a:r>
                    </a:p>
                  </a:txBody>
                  <a:tcPr marL="82296" marR="82296" marT="22860" marB="22860" anchor="ctr">
                    <a:solidFill>
                      <a:srgbClr val="FFFFFF"/>
                    </a:solidFill>
                  </a:tcPr>
                </a:tc>
                <a:tc>
                  <a:txBody>
                    <a:bodyPr wrap="none"/>
                    <a:lstStyle/>
                    <a:p>
                      <a:r>
                        <a:rPr sz="1200" b="0">
                          <a:solidFill>
                            <a:srgbClr val="2B2622"/>
                          </a:solidFill>
                          <a:latin typeface="Calibri"/>
                        </a:rPr>
                        <a:t>The questions and the map of the chapter</a:t>
                      </a:r>
                    </a:p>
                  </a:txBody>
                  <a:tcPr marL="82296" marR="82296" marT="22860" marB="22860" anchor="ctr">
                    <a:solidFill>
                      <a:srgbClr val="FFFFFF"/>
                    </a:solidFill>
                  </a:tcPr>
                </a:tc>
                <a:tc>
                  <a:txBody>
                    <a:bodyPr wrap="none"/>
                    <a:lstStyle/>
                    <a:p>
                      <a:r>
                        <a:rPr sz="1200" b="0">
                          <a:solidFill>
                            <a:srgbClr val="2B2622"/>
                          </a:solidFill>
                          <a:latin typeface="Calibri"/>
                        </a:rPr>
                        <a:t>slides 2-4</a:t>
                      </a:r>
                    </a:p>
                  </a:txBody>
                  <a:tcPr marL="82296" marR="82296" marT="22860" marB="22860" anchor="ctr">
                    <a:solidFill>
                      <a:srgbClr val="FFFFFF"/>
                    </a:solidFill>
                  </a:tcPr>
                </a:tc>
              </a:tr>
              <a:tr h="365760">
                <a:tc>
                  <a:txBody>
                    <a:bodyPr wrap="none"/>
                    <a:lstStyle/>
                    <a:p>
                      <a:r>
                        <a:rPr sz="1200" b="0">
                          <a:solidFill>
                            <a:srgbClr val="2B2622"/>
                          </a:solidFill>
                          <a:latin typeface="Calibri"/>
                        </a:rPr>
                        <a:t>1  The list as a value</a:t>
                      </a:r>
                    </a:p>
                  </a:txBody>
                  <a:tcPr marL="82296" marR="82296" marT="22860" marB="22860" anchor="ctr">
                    <a:solidFill>
                      <a:srgbClr val="F1ECE2"/>
                    </a:solidFill>
                  </a:tcPr>
                </a:tc>
                <a:tc>
                  <a:txBody>
                    <a:bodyPr wrap="none"/>
                    <a:lstStyle/>
                    <a:p>
                      <a:r>
                        <a:rPr sz="1200" b="0">
                          <a:solidFill>
                            <a:srgbClr val="2B2622"/>
                          </a:solidFill>
                          <a:latin typeface="Calibri"/>
                        </a:rPr>
                        <a:t>Indexes, slices, other sequences</a:t>
                      </a:r>
                    </a:p>
                  </a:txBody>
                  <a:tcPr marL="82296" marR="82296" marT="22860" marB="22860" anchor="ctr">
                    <a:solidFill>
                      <a:srgbClr val="F1ECE2"/>
                    </a:solidFill>
                  </a:tcPr>
                </a:tc>
                <a:tc>
                  <a:txBody>
                    <a:bodyPr wrap="none"/>
                    <a:lstStyle/>
                    <a:p>
                      <a:r>
                        <a:rPr sz="1200" b="0">
                          <a:solidFill>
                            <a:srgbClr val="2B2622"/>
                          </a:solidFill>
                          <a:latin typeface="Calibri"/>
                        </a:rPr>
                        <a:t>slides 5-12</a:t>
                      </a:r>
                    </a:p>
                  </a:txBody>
                  <a:tcPr marL="82296" marR="82296" marT="22860" marB="22860" anchor="ctr">
                    <a:solidFill>
                      <a:srgbClr val="F1ECE2"/>
                    </a:solidFill>
                  </a:tcPr>
                </a:tc>
              </a:tr>
              <a:tr h="365760">
                <a:tc>
                  <a:txBody>
                    <a:bodyPr wrap="none"/>
                    <a:lstStyle/>
                    <a:p>
                      <a:r>
                        <a:rPr sz="1200" b="0">
                          <a:solidFill>
                            <a:srgbClr val="2B2622"/>
                          </a:solidFill>
                          <a:latin typeface="Calibri"/>
                        </a:rPr>
                        <a:t>2  Changing, combining, searching</a:t>
                      </a:r>
                    </a:p>
                  </a:txBody>
                  <a:tcPr marL="82296" marR="82296" marT="22860" marB="22860" anchor="ctr">
                    <a:solidFill>
                      <a:srgbClr val="FFFFFF"/>
                    </a:solidFill>
                  </a:tcPr>
                </a:tc>
                <a:tc>
                  <a:txBody>
                    <a:bodyPr wrap="none"/>
                    <a:lstStyle/>
                    <a:p>
                      <a:r>
                        <a:rPr sz="1200" b="0">
                          <a:solidFill>
                            <a:srgbClr val="2B2622"/>
                          </a:solidFill>
                          <a:latin typeface="Calibri"/>
                        </a:rPr>
                        <a:t>Methods, in-place change, sort, short-circuit</a:t>
                      </a:r>
                    </a:p>
                  </a:txBody>
                  <a:tcPr marL="82296" marR="82296" marT="22860" marB="22860" anchor="ctr">
                    <a:solidFill>
                      <a:srgbClr val="FFFFFF"/>
                    </a:solidFill>
                  </a:tcPr>
                </a:tc>
                <a:tc>
                  <a:txBody>
                    <a:bodyPr wrap="none"/>
                    <a:lstStyle/>
                    <a:p>
                      <a:r>
                        <a:rPr sz="1200" b="0">
                          <a:solidFill>
                            <a:srgbClr val="2B2622"/>
                          </a:solidFill>
                          <a:latin typeface="Calibri"/>
                        </a:rPr>
                        <a:t>slides 13-23</a:t>
                      </a:r>
                    </a:p>
                  </a:txBody>
                  <a:tcPr marL="82296" marR="82296" marT="22860" marB="22860" anchor="ctr">
                    <a:solidFill>
                      <a:srgbClr val="FFFFFF"/>
                    </a:solidFill>
                  </a:tcPr>
                </a:tc>
              </a:tr>
              <a:tr h="365760">
                <a:tc>
                  <a:txBody>
                    <a:bodyPr wrap="none"/>
                    <a:lstStyle/>
                    <a:p>
                      <a:r>
                        <a:rPr sz="1200" b="0">
                          <a:solidFill>
                            <a:srgbClr val="2B2622"/>
                          </a:solidFill>
                          <a:latin typeface="Calibri"/>
                        </a:rPr>
                        <a:t>3  Loops and unpacking</a:t>
                      </a:r>
                    </a:p>
                  </a:txBody>
                  <a:tcPr marL="82296" marR="82296" marT="22860" marB="22860" anchor="ctr">
                    <a:solidFill>
                      <a:srgbClr val="F1ECE2"/>
                    </a:solidFill>
                  </a:tcPr>
                </a:tc>
                <a:tc>
                  <a:txBody>
                    <a:bodyPr wrap="none"/>
                    <a:lstStyle/>
                    <a:p>
                      <a:r>
                        <a:rPr sz="1200" b="0">
                          <a:solidFill>
                            <a:srgbClr val="2B2622"/>
                          </a:solidFill>
                          <a:latin typeface="Calibri"/>
                        </a:rPr>
                        <a:t>range, enumerate, the removal trap, unpacking</a:t>
                      </a:r>
                    </a:p>
                  </a:txBody>
                  <a:tcPr marL="82296" marR="82296" marT="22860" marB="22860" anchor="ctr">
                    <a:solidFill>
                      <a:srgbClr val="F1ECE2"/>
                    </a:solidFill>
                  </a:tcPr>
                </a:tc>
                <a:tc>
                  <a:txBody>
                    <a:bodyPr wrap="none"/>
                    <a:lstStyle/>
                    <a:p>
                      <a:r>
                        <a:rPr sz="1200" b="0">
                          <a:solidFill>
                            <a:srgbClr val="2B2622"/>
                          </a:solidFill>
                          <a:latin typeface="Calibri"/>
                        </a:rPr>
                        <a:t>slides 24-30</a:t>
                      </a:r>
                    </a:p>
                  </a:txBody>
                  <a:tcPr marL="82296" marR="82296" marT="22860" marB="22860" anchor="ctr">
                    <a:solidFill>
                      <a:srgbClr val="F1ECE2"/>
                    </a:solidFill>
                  </a:tcPr>
                </a:tc>
              </a:tr>
              <a:tr h="365760">
                <a:tc>
                  <a:txBody>
                    <a:bodyPr wrap="none"/>
                    <a:lstStyle/>
                    <a:p>
                      <a:r>
                        <a:rPr sz="1200" b="0">
                          <a:solidFill>
                            <a:srgbClr val="2B2622"/>
                          </a:solidFill>
                          <a:latin typeface="Calibri"/>
                        </a:rPr>
                        <a:t>4  Names and copies</a:t>
                      </a:r>
                    </a:p>
                  </a:txBody>
                  <a:tcPr marL="82296" marR="82296" marT="22860" marB="22860" anchor="ctr">
                    <a:solidFill>
                      <a:srgbClr val="FFFFFF"/>
                    </a:solidFill>
                  </a:tcPr>
                </a:tc>
                <a:tc>
                  <a:txBody>
                    <a:bodyPr wrap="none"/>
                    <a:lstStyle/>
                    <a:p>
                      <a:r>
                        <a:rPr sz="1200" b="0">
                          <a:solidFill>
                            <a:srgbClr val="2B2622"/>
                          </a:solidFill>
                          <a:latin typeface="Calibri"/>
                        </a:rPr>
                        <a:t>References, aliasing, shallow and deep copies</a:t>
                      </a:r>
                    </a:p>
                  </a:txBody>
                  <a:tcPr marL="82296" marR="82296" marT="22860" marB="22860" anchor="ctr">
                    <a:solidFill>
                      <a:srgbClr val="FFFFFF"/>
                    </a:solidFill>
                  </a:tcPr>
                </a:tc>
                <a:tc>
                  <a:txBody>
                    <a:bodyPr wrap="none"/>
                    <a:lstStyle/>
                    <a:p>
                      <a:r>
                        <a:rPr sz="1200" b="0">
                          <a:solidFill>
                            <a:srgbClr val="2B2622"/>
                          </a:solidFill>
                          <a:latin typeface="Calibri"/>
                        </a:rPr>
                        <a:t>slides 31-35</a:t>
                      </a:r>
                    </a:p>
                  </a:txBody>
                  <a:tcPr marL="82296" marR="82296" marT="22860" marB="22860" anchor="ctr">
                    <a:solidFill>
                      <a:srgbClr val="FFFFFF"/>
                    </a:solidFill>
                  </a:tcPr>
                </a:tc>
              </a:tr>
              <a:tr h="365760">
                <a:tc>
                  <a:txBody>
                    <a:bodyPr wrap="none"/>
                    <a:lstStyle/>
                    <a:p>
                      <a:r>
                        <a:rPr sz="1200" b="0">
                          <a:solidFill>
                            <a:srgbClr val="2B2622"/>
                          </a:solidFill>
                          <a:latin typeface="Calibri"/>
                        </a:rPr>
                        <a:t>5  Random choices and programs</a:t>
                      </a:r>
                    </a:p>
                  </a:txBody>
                  <a:tcPr marL="82296" marR="82296" marT="22860" marB="22860" anchor="ctr">
                    <a:solidFill>
                      <a:srgbClr val="F1ECE2"/>
                    </a:solidFill>
                  </a:tcPr>
                </a:tc>
                <a:tc>
                  <a:txBody>
                    <a:bodyPr wrap="none"/>
                    <a:lstStyle/>
                    <a:p>
                      <a:r>
                        <a:rPr sz="1200" b="0">
                          <a:solidFill>
                            <a:srgbClr val="2B2622"/>
                          </a:solidFill>
                          <a:latin typeface="Calibri"/>
                        </a:rPr>
                        <a:t>choice, shuffle, four short programs</a:t>
                      </a:r>
                    </a:p>
                  </a:txBody>
                  <a:tcPr marL="82296" marR="82296" marT="22860" marB="22860" anchor="ctr">
                    <a:solidFill>
                      <a:srgbClr val="F1ECE2"/>
                    </a:solidFill>
                  </a:tcPr>
                </a:tc>
                <a:tc>
                  <a:txBody>
                    <a:bodyPr wrap="none"/>
                    <a:lstStyle/>
                    <a:p>
                      <a:r>
                        <a:rPr sz="1200" b="0">
                          <a:solidFill>
                            <a:srgbClr val="2B2622"/>
                          </a:solidFill>
                          <a:latin typeface="Calibri"/>
                        </a:rPr>
                        <a:t>slides 36-45</a:t>
                      </a:r>
                    </a:p>
                  </a:txBody>
                  <a:tcPr marL="82296" marR="82296" marT="22860" marB="22860" anchor="ctr">
                    <a:solidFill>
                      <a:srgbClr val="F1ECE2"/>
                    </a:solidFill>
                  </a:tcPr>
                </a:tc>
              </a:tr>
              <a:tr h="365760">
                <a:tc>
                  <a:txBody>
                    <a:bodyPr wrap="none"/>
                    <a:lstStyle/>
                    <a:p>
                      <a:r>
                        <a:rPr sz="1200" b="0">
                          <a:solidFill>
                            <a:srgbClr val="2B2622"/>
                          </a:solidFill>
                          <a:latin typeface="Calibri"/>
                        </a:rPr>
                        <a:t>Wrap-up</a:t>
                      </a:r>
                    </a:p>
                  </a:txBody>
                  <a:tcPr marL="82296" marR="82296" marT="22860" marB="22860" anchor="ctr">
                    <a:solidFill>
                      <a:srgbClr val="FFFFFF"/>
                    </a:solidFill>
                  </a:tcPr>
                </a:tc>
                <a:tc>
                  <a:txBody>
                    <a:bodyPr wrap="none"/>
                    <a:lstStyle/>
                    <a:p>
                      <a:r>
                        <a:rPr sz="1200" b="0">
                          <a:solidFill>
                            <a:srgbClr val="2B2622"/>
                          </a:solidFill>
                          <a:latin typeface="Calibri"/>
                        </a:rPr>
                        <a:t>Summary, practice, resources</a:t>
                      </a:r>
                    </a:p>
                  </a:txBody>
                  <a:tcPr marL="82296" marR="82296" marT="22860" marB="22860" anchor="ctr">
                    <a:solidFill>
                      <a:srgbClr val="FFFFFF"/>
                    </a:solidFill>
                  </a:tcPr>
                </a:tc>
                <a:tc>
                  <a:txBody>
                    <a:bodyPr wrap="none"/>
                    <a:lstStyle/>
                    <a:p>
                      <a:r>
                        <a:rPr sz="1200" b="0">
                          <a:solidFill>
                            <a:srgbClr val="2B2622"/>
                          </a:solidFill>
                          <a:latin typeface="Calibri"/>
                        </a:rPr>
                        <a:t>slides 46-49</a:t>
                      </a:r>
                    </a:p>
                  </a:txBody>
                  <a:tcPr marL="82296" marR="82296" marT="22860" marB="22860" anchor="ctr">
                    <a:solidFill>
                      <a:srgbClr val="FFFFFF"/>
                    </a:solidFill>
                  </a:tcPr>
                </a:tc>
              </a:tr>
            </a:tbl>
          </a:graphicData>
        </a:graphic>
      </p:graphicFrame>
      <p:sp>
        <p:nvSpPr>
          <p:cNvPr id="6"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Five parts, then programs you can read line by line</a:t>
            </a:r>
          </a:p>
        </p:txBody>
      </p:sp>
      <p:sp>
        <p:nvSpPr>
          <p:cNvPr id="7"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 / 49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The questions this chapter answers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Three competency questions frame the chapter; we come back to each one in the summary.</a:t>
            </a:r>
          </a:p>
        </p:txBody>
      </p:sp>
      <p:sp>
        <p:nvSpPr>
          <p:cNvPr id="5" name="Oval 4"/>
          <p:cNvSpPr/>
          <p:nvPr/>
        </p:nvSpPr>
        <p:spPr>
          <a:xfrm>
            <a:off x="411480" y="1298448"/>
            <a:ext cx="548640" cy="548640"/>
          </a:xfrm>
          <a:prstGeom prst="ellipse">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2200" b="1" i="0">
                <a:solidFill>
                  <a:srgbClr val="FFFFFF"/>
                </a:solidFill>
                <a:latin typeface="Cambria"/>
              </a:rPr>
              <a:t>1</a:t>
            </a:r>
          </a:p>
        </p:txBody>
      </p:sp>
      <p:sp>
        <p:nvSpPr>
          <p:cNvPr id="6" name="Rounded Rectangle 5"/>
          <p:cNvSpPr/>
          <p:nvPr/>
        </p:nvSpPr>
        <p:spPr>
          <a:xfrm>
            <a:off x="1143000" y="1188720"/>
            <a:ext cx="7680960" cy="80467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54864" rIns="109728" bIns="54864">
            <a:noAutofit/>
          </a:bodyPr>
          <a:lstStyle/>
          <a:p>
            <a:pPr algn="l">
              <a:spcBef>
                <a:spcPts val="0"/>
              </a:spcBef>
              <a:spcAft>
                <a:spcPts val="0"/>
              </a:spcAft>
            </a:pPr>
            <a:r>
              <a:rPr sz="1400" b="0" i="0">
                <a:solidFill>
                  <a:srgbClr val="2B2622"/>
                </a:solidFill>
                <a:latin typeface="Calibri"/>
              </a:rPr>
              <a:t>Which list operations read, replace, add, remove, find, order and combine items, and which of them change the list in place?</a:t>
            </a:r>
          </a:p>
        </p:txBody>
      </p:sp>
      <p:sp>
        <p:nvSpPr>
          <p:cNvPr id="7" name="Oval 6"/>
          <p:cNvSpPr/>
          <p:nvPr/>
        </p:nvSpPr>
        <p:spPr>
          <a:xfrm>
            <a:off x="411480" y="2322576"/>
            <a:ext cx="548640" cy="548640"/>
          </a:xfrm>
          <a:prstGeom prst="ellipse">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2200" b="1" i="0">
                <a:solidFill>
                  <a:srgbClr val="FFFFFF"/>
                </a:solidFill>
                <a:latin typeface="Cambria"/>
              </a:rPr>
              <a:t>2</a:t>
            </a:r>
          </a:p>
        </p:txBody>
      </p:sp>
      <p:sp>
        <p:nvSpPr>
          <p:cNvPr id="8" name="Rounded Rectangle 7"/>
          <p:cNvSpPr/>
          <p:nvPr/>
        </p:nvSpPr>
        <p:spPr>
          <a:xfrm>
            <a:off x="1143000" y="2212848"/>
            <a:ext cx="7680960" cy="80467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54864" rIns="109728" bIns="54864">
            <a:noAutofit/>
          </a:bodyPr>
          <a:lstStyle/>
          <a:p>
            <a:pPr algn="l">
              <a:spcBef>
                <a:spcPts val="0"/>
              </a:spcBef>
              <a:spcAft>
                <a:spcPts val="0"/>
              </a:spcAft>
            </a:pPr>
            <a:r>
              <a:rPr sz="1400" b="0" i="0">
                <a:solidFill>
                  <a:srgbClr val="2B2622"/>
                </a:solidFill>
                <a:latin typeface="Calibri"/>
              </a:rPr>
              <a:t>How do names, references, copies and function arguments decide whether a change to a list is seen elsewhere in a program?</a:t>
            </a:r>
          </a:p>
        </p:txBody>
      </p:sp>
      <p:sp>
        <p:nvSpPr>
          <p:cNvPr id="9" name="Oval 8"/>
          <p:cNvSpPr/>
          <p:nvPr/>
        </p:nvSpPr>
        <p:spPr>
          <a:xfrm>
            <a:off x="411480" y="3346704"/>
            <a:ext cx="548640" cy="548640"/>
          </a:xfrm>
          <a:prstGeom prst="ellipse">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2200" b="1" i="0">
                <a:solidFill>
                  <a:srgbClr val="FFFFFF"/>
                </a:solidFill>
                <a:latin typeface="Cambria"/>
              </a:rPr>
              <a:t>3</a:t>
            </a:r>
          </a:p>
        </p:txBody>
      </p:sp>
      <p:sp>
        <p:nvSpPr>
          <p:cNvPr id="10" name="Rounded Rectangle 9"/>
          <p:cNvSpPr/>
          <p:nvPr/>
        </p:nvSpPr>
        <p:spPr>
          <a:xfrm>
            <a:off x="1143000" y="3236976"/>
            <a:ext cx="7680960" cy="80467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54864" rIns="109728" bIns="54864">
            <a:noAutofit/>
          </a:bodyPr>
          <a:lstStyle/>
          <a:p>
            <a:pPr algn="l">
              <a:spcBef>
                <a:spcPts val="0"/>
              </a:spcBef>
              <a:spcAft>
                <a:spcPts val="0"/>
              </a:spcAft>
            </a:pPr>
            <a:r>
              <a:rPr sz="1400" b="0" i="0">
                <a:solidFill>
                  <a:srgbClr val="2B2622"/>
                </a:solidFill>
                <a:latin typeface="Calibri"/>
              </a:rPr>
              <a:t>Which printed results of the book differ in current Python, and which modern forms does the book leave out?</a:t>
            </a:r>
          </a:p>
        </p:txBody>
      </p:sp>
      <p:sp>
        <p:nvSpPr>
          <p:cNvPr id="11"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If you can answer these three, chapter 6 is yours</a:t>
            </a:r>
          </a:p>
        </p:txBody>
      </p:sp>
      <p:sp>
        <p:nvSpPr>
          <p:cNvPr id="12"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 /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One chapter, six branches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The map the whole chapter hangs on; the numbers under each branch are its slides.</a:t>
            </a:r>
          </a:p>
        </p:txBody>
      </p:sp>
      <p:sp>
        <p:nvSpPr>
          <p:cNvPr id="5" name="Rounded Rectangle 4"/>
          <p:cNvSpPr/>
          <p:nvPr/>
        </p:nvSpPr>
        <p:spPr>
          <a:xfrm>
            <a:off x="3566160" y="2331720"/>
            <a:ext cx="2011680" cy="68580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800" b="1" i="0">
                <a:solidFill>
                  <a:srgbClr val="FFFFFF"/>
                </a:solidFill>
                <a:latin typeface="Cambria"/>
              </a:rPr>
              <a:t>a list</a:t>
            </a:r>
          </a:p>
        </p:txBody>
      </p:sp>
      <p:cxnSp>
        <p:nvCxnSpPr>
          <p:cNvPr id="6" name="Connector 5"/>
          <p:cNvCxnSpPr/>
          <p:nvPr/>
        </p:nvCxnSpPr>
        <p:spPr>
          <a:xfrm flipH="1" flipV="1">
            <a:off x="2880360" y="1600200"/>
            <a:ext cx="685800" cy="1069848"/>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1480" y="1280160"/>
            <a:ext cx="2468880" cy="640080"/>
          </a:xfrm>
          <a:prstGeom prst="roundRect">
            <a:avLst>
              <a:gd name="adj" fmla="val 12000"/>
            </a:avLst>
          </a:prstGeom>
          <a:solidFill>
            <a:srgbClr val="FFFFFF"/>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300" b="1" i="0">
                <a:solidFill>
                  <a:srgbClr val="2B2622"/>
                </a:solidFill>
                <a:latin typeface="Calibri"/>
              </a:rPr>
              <a:t>The list data type</a:t>
            </a:r>
          </a:p>
          <a:p>
            <a:pPr algn="ctr">
              <a:spcBef>
                <a:spcPts val="0"/>
              </a:spcBef>
              <a:spcAft>
                <a:spcPts val="0"/>
              </a:spcAft>
            </a:pPr>
            <a:r>
              <a:rPr sz="1050" b="0" i="0">
                <a:solidFill>
                  <a:srgbClr val="6E655C"/>
                </a:solidFill>
                <a:latin typeface="Calibri"/>
              </a:rPr>
              <a:t>slides 5-12</a:t>
            </a:r>
          </a:p>
        </p:txBody>
      </p:sp>
      <p:cxnSp>
        <p:nvCxnSpPr>
          <p:cNvPr id="8" name="Connector 7"/>
          <p:cNvCxnSpPr/>
          <p:nvPr/>
        </p:nvCxnSpPr>
        <p:spPr>
          <a:xfrm flipH="1">
            <a:off x="2880360" y="2670048"/>
            <a:ext cx="685800" cy="27432"/>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11480" y="2377440"/>
            <a:ext cx="2468880" cy="640080"/>
          </a:xfrm>
          <a:prstGeom prst="roundRect">
            <a:avLst>
              <a:gd name="adj" fmla="val 12000"/>
            </a:avLst>
          </a:prstGeom>
          <a:solidFill>
            <a:srgbClr val="FFFFFF"/>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300" b="1" i="0">
                <a:solidFill>
                  <a:srgbClr val="2B2622"/>
                </a:solidFill>
                <a:latin typeface="Calibri"/>
              </a:rPr>
              <a:t>Changing, searching, ordering</a:t>
            </a:r>
          </a:p>
          <a:p>
            <a:pPr algn="ctr">
              <a:spcBef>
                <a:spcPts val="0"/>
              </a:spcBef>
              <a:spcAft>
                <a:spcPts val="0"/>
              </a:spcAft>
            </a:pPr>
            <a:r>
              <a:rPr sz="1050" b="0" i="0">
                <a:solidFill>
                  <a:srgbClr val="6E655C"/>
                </a:solidFill>
                <a:latin typeface="Calibri"/>
              </a:rPr>
              <a:t>slides 13-23</a:t>
            </a:r>
          </a:p>
        </p:txBody>
      </p:sp>
      <p:cxnSp>
        <p:nvCxnSpPr>
          <p:cNvPr id="10" name="Connector 9"/>
          <p:cNvCxnSpPr/>
          <p:nvPr/>
        </p:nvCxnSpPr>
        <p:spPr>
          <a:xfrm flipH="1">
            <a:off x="2880360" y="2670048"/>
            <a:ext cx="685800" cy="1124711"/>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1480" y="3474720"/>
            <a:ext cx="2468880" cy="640080"/>
          </a:xfrm>
          <a:prstGeom prst="roundRect">
            <a:avLst>
              <a:gd name="adj" fmla="val 12000"/>
            </a:avLst>
          </a:prstGeom>
          <a:solidFill>
            <a:srgbClr val="FFFFFF"/>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300" b="1" i="0">
                <a:solidFill>
                  <a:srgbClr val="2B2622"/>
                </a:solidFill>
                <a:latin typeface="Calibri"/>
              </a:rPr>
              <a:t>Looping and unpacking</a:t>
            </a:r>
          </a:p>
          <a:p>
            <a:pPr algn="ctr">
              <a:spcBef>
                <a:spcPts val="0"/>
              </a:spcBef>
              <a:spcAft>
                <a:spcPts val="0"/>
              </a:spcAft>
            </a:pPr>
            <a:r>
              <a:rPr sz="1050" b="0" i="0">
                <a:solidFill>
                  <a:srgbClr val="6E655C"/>
                </a:solidFill>
                <a:latin typeface="Calibri"/>
              </a:rPr>
              <a:t>slides 24-30</a:t>
            </a:r>
          </a:p>
        </p:txBody>
      </p:sp>
      <p:cxnSp>
        <p:nvCxnSpPr>
          <p:cNvPr id="12" name="Connector 11"/>
          <p:cNvCxnSpPr/>
          <p:nvPr/>
        </p:nvCxnSpPr>
        <p:spPr>
          <a:xfrm flipV="1">
            <a:off x="5577840" y="1600200"/>
            <a:ext cx="777240" cy="1069848"/>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355080" y="1280160"/>
            <a:ext cx="2468880" cy="640080"/>
          </a:xfrm>
          <a:prstGeom prst="roundRect">
            <a:avLst>
              <a:gd name="adj" fmla="val 12000"/>
            </a:avLst>
          </a:prstGeom>
          <a:solidFill>
            <a:srgbClr val="FFFFFF"/>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300" b="1" i="0">
                <a:solidFill>
                  <a:srgbClr val="2B2622"/>
                </a:solidFill>
                <a:latin typeface="Calibri"/>
              </a:rPr>
              <a:t>Names and copies</a:t>
            </a:r>
          </a:p>
          <a:p>
            <a:pPr algn="ctr">
              <a:spcBef>
                <a:spcPts val="0"/>
              </a:spcBef>
              <a:spcAft>
                <a:spcPts val="0"/>
              </a:spcAft>
            </a:pPr>
            <a:r>
              <a:rPr sz="1050" b="0" i="0">
                <a:solidFill>
                  <a:srgbClr val="6E655C"/>
                </a:solidFill>
                <a:latin typeface="Calibri"/>
              </a:rPr>
              <a:t>slides 31-35</a:t>
            </a:r>
          </a:p>
        </p:txBody>
      </p:sp>
      <p:cxnSp>
        <p:nvCxnSpPr>
          <p:cNvPr id="14" name="Connector 13"/>
          <p:cNvCxnSpPr/>
          <p:nvPr/>
        </p:nvCxnSpPr>
        <p:spPr>
          <a:xfrm>
            <a:off x="5577840" y="2670048"/>
            <a:ext cx="777240" cy="27432"/>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55080" y="2377440"/>
            <a:ext cx="2468880" cy="640080"/>
          </a:xfrm>
          <a:prstGeom prst="roundRect">
            <a:avLst>
              <a:gd name="adj" fmla="val 12000"/>
            </a:avLst>
          </a:prstGeom>
          <a:solidFill>
            <a:srgbClr val="FFFFFF"/>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300" b="1" i="0">
                <a:solidFill>
                  <a:srgbClr val="2B2622"/>
                </a:solidFill>
                <a:latin typeface="Calibri"/>
              </a:rPr>
              <a:t>Random choices</a:t>
            </a:r>
          </a:p>
          <a:p>
            <a:pPr algn="ctr">
              <a:spcBef>
                <a:spcPts val="0"/>
              </a:spcBef>
              <a:spcAft>
                <a:spcPts val="0"/>
              </a:spcAft>
            </a:pPr>
            <a:r>
              <a:rPr sz="1050" b="0" i="0">
                <a:solidFill>
                  <a:srgbClr val="6E655C"/>
                </a:solidFill>
                <a:latin typeface="Calibri"/>
              </a:rPr>
              <a:t>slides 36-40</a:t>
            </a:r>
          </a:p>
        </p:txBody>
      </p:sp>
      <p:cxnSp>
        <p:nvCxnSpPr>
          <p:cNvPr id="16" name="Connector 15"/>
          <p:cNvCxnSpPr/>
          <p:nvPr/>
        </p:nvCxnSpPr>
        <p:spPr>
          <a:xfrm>
            <a:off x="5577840" y="2670048"/>
            <a:ext cx="777240" cy="1124711"/>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55080" y="3474720"/>
            <a:ext cx="2468880" cy="640080"/>
          </a:xfrm>
          <a:prstGeom prst="roundRect">
            <a:avLst>
              <a:gd name="adj" fmla="val 12000"/>
            </a:avLst>
          </a:prstGeom>
          <a:solidFill>
            <a:srgbClr val="FFFFFF"/>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300" b="1" i="0">
                <a:solidFill>
                  <a:srgbClr val="2B2622"/>
                </a:solidFill>
                <a:latin typeface="Calibri"/>
              </a:rPr>
              <a:t>Short programs</a:t>
            </a:r>
          </a:p>
          <a:p>
            <a:pPr algn="ctr">
              <a:spcBef>
                <a:spcPts val="0"/>
              </a:spcBef>
              <a:spcAft>
                <a:spcPts val="0"/>
              </a:spcAft>
            </a:pPr>
            <a:r>
              <a:rPr sz="1050" b="0" i="0">
                <a:solidFill>
                  <a:srgbClr val="6E655C"/>
                </a:solidFill>
                <a:latin typeface="Calibri"/>
              </a:rPr>
              <a:t>slides 41-44</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Six branches: every slide today lives on this map</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 /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411480"/>
            <a:ext cx="8229600" cy="640080"/>
          </a:xfrm>
        </p:spPr>
        <p:txBody>
          <a:bodyPr wrap="square" lIns="36576" tIns="18288" rIns="36576" bIns="18288" anchor="ctr">
            <a:noAutofit/>
          </a:bodyPr>
          <a:lstStyle/>
          <a:p>
            <a:pPr algn="l">
              <a:spcBef>
                <a:spcPts val="0"/>
              </a:spcBef>
              <a:spcAft>
                <a:spcPts val="0"/>
              </a:spcAft>
            </a:pPr>
            <a:r>
              <a:rPr sz="3000" b="1" i="0">
                <a:solidFill>
                  <a:srgbClr val="2B2622"/>
                </a:solidFill>
                <a:latin typeface="Cambria"/>
              </a:rPr>
              <a:t>The list as a value</a:t>
            </a:r>
          </a:p>
        </p:txBody>
      </p:sp>
      <p:sp>
        <p:nvSpPr>
          <p:cNvPr id="3" name="Rectangle 2"/>
          <p:cNvSpPr/>
          <p:nvPr/>
        </p:nvSpPr>
        <p:spPr>
          <a:xfrm>
            <a:off x="457200" y="0"/>
            <a:ext cx="8229600" cy="822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457200" y="1051560"/>
            <a:ext cx="8229600" cy="365760"/>
          </a:xfrm>
          <a:prstGeom prst="rect">
            <a:avLst/>
          </a:prstGeom>
          <a:noFill/>
        </p:spPr>
        <p:txBody>
          <a:bodyPr wrap="square" lIns="73152" tIns="36576" rIns="73152" bIns="36576" anchor="t">
            <a:noAutofit/>
          </a:bodyPr>
          <a:lstStyle/>
          <a:p>
            <a:pPr algn="l">
              <a:spcBef>
                <a:spcPts val="0"/>
              </a:spcBef>
              <a:spcAft>
                <a:spcPts val="0"/>
              </a:spcAft>
            </a:pPr>
            <a:r>
              <a:rPr sz="1500" b="0" i="1">
                <a:solidFill>
                  <a:srgbClr val="2F6D62"/>
                </a:solidFill>
                <a:latin typeface="Calibri"/>
              </a:rPr>
              <a:t>One value, many items, each reachable by number.</a:t>
            </a:r>
          </a:p>
        </p:txBody>
      </p:sp>
      <p:sp>
        <p:nvSpPr>
          <p:cNvPr id="5" name="concept"/>
          <p:cNvSpPr/>
          <p:nvPr/>
        </p:nvSpPr>
        <p:spPr>
          <a:xfrm>
            <a:off x="457200" y="1691640"/>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The List Data Type</a:t>
            </a:r>
          </a:p>
        </p:txBody>
      </p:sp>
      <p:sp>
        <p:nvSpPr>
          <p:cNvPr id="6" name="meaning"/>
          <p:cNvSpPr txBox="1"/>
          <p:nvPr/>
        </p:nvSpPr>
        <p:spPr>
          <a:xfrm>
            <a:off x="2926080" y="1709928"/>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One value that holds many items in order.</a:t>
            </a:r>
          </a:p>
        </p:txBody>
      </p:sp>
      <p:sp>
        <p:nvSpPr>
          <p:cNvPr id="7" name="concept"/>
          <p:cNvSpPr/>
          <p:nvPr/>
        </p:nvSpPr>
        <p:spPr>
          <a:xfrm>
            <a:off x="457200" y="2404872"/>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Indexes and slices</a:t>
            </a:r>
          </a:p>
        </p:txBody>
      </p:sp>
      <p:sp>
        <p:nvSpPr>
          <p:cNvPr id="8" name="meaning"/>
          <p:cNvSpPr txBox="1"/>
          <p:nvPr/>
        </p:nvSpPr>
        <p:spPr>
          <a:xfrm>
            <a:off x="2926080" y="2423160"/>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Numbers from zero reach one item; slices cut a part.</a:t>
            </a:r>
          </a:p>
        </p:txBody>
      </p:sp>
      <p:sp>
        <p:nvSpPr>
          <p:cNvPr id="9" name="concept"/>
          <p:cNvSpPr/>
          <p:nvPr/>
        </p:nvSpPr>
        <p:spPr>
          <a:xfrm>
            <a:off x="457200" y="3118104"/>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Sequence Data Types</a:t>
            </a:r>
          </a:p>
        </p:txBody>
      </p:sp>
      <p:sp>
        <p:nvSpPr>
          <p:cNvPr id="10" name="meaning"/>
          <p:cNvSpPr txBox="1"/>
          <p:nvPr/>
        </p:nvSpPr>
        <p:spPr>
          <a:xfrm>
            <a:off x="2926080" y="3136392"/>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Strings and tuples share the same numbering.</a:t>
            </a:r>
          </a:p>
        </p:txBody>
      </p:sp>
      <p:pic>
        <p:nvPicPr>
          <p:cNvPr id="11" name="picture: Figure 6-1 - Sweigart, ATBS 3e, CC BY-NC-SA" descr="Textbook figure for the part: The list as a value"/>
          <p:cNvPicPr>
            <a:picLocks noChangeAspect="1"/>
          </p:cNvPicPr>
          <p:nvPr/>
        </p:nvPicPr>
        <p:blipFill>
          <a:blip r:embed="rId2"/>
          <a:stretch>
            <a:fillRect/>
          </a:stretch>
        </p:blipFill>
        <p:spPr>
          <a:xfrm>
            <a:off x="6172200" y="1828800"/>
            <a:ext cx="2651760" cy="570362"/>
          </a:xfrm>
          <a:prstGeom prst="rect">
            <a:avLst/>
          </a:prstGeom>
        </p:spPr>
      </p:pic>
      <p:sp>
        <p:nvSpPr>
          <p:cNvPr id="12" name="credit"/>
          <p:cNvSpPr txBox="1"/>
          <p:nvPr/>
        </p:nvSpPr>
        <p:spPr>
          <a:xfrm>
            <a:off x="6172200" y="2444882"/>
            <a:ext cx="2651760" cy="365760"/>
          </a:xfrm>
          <a:prstGeom prst="rect">
            <a:avLst/>
          </a:prstGeom>
          <a:noFill/>
        </p:spPr>
        <p:txBody>
          <a:bodyPr wrap="square" lIns="73152" tIns="36576" rIns="73152" bIns="36576" anchor="t">
            <a:noAutofit/>
          </a:bodyPr>
          <a:lstStyle/>
          <a:p>
            <a:pPr algn="ctr">
              <a:spcBef>
                <a:spcPts val="0"/>
              </a:spcBef>
              <a:spcAft>
                <a:spcPts val="0"/>
              </a:spcAft>
            </a:pPr>
            <a:r>
              <a:rPr sz="900" b="0" i="1">
                <a:solidFill>
                  <a:srgbClr val="6E655C"/>
                </a:solidFill>
                <a:latin typeface="Calibri"/>
              </a:rPr>
              <a:t>Figure 6-1 - Sweigart, ATBS 3e, CC BY-NC-SA</a:t>
            </a:r>
          </a:p>
        </p:txBody>
      </p:sp>
      <p:sp>
        <p:nvSpPr>
          <p:cNvPr id="13"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5 / 49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The List Data Type: a row of numbered lockers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Square brackets make a list; a number picks one item, from zero at the front or with a minus sign from the end.</a:t>
            </a:r>
          </a:p>
        </p:txBody>
      </p:sp>
      <p:sp>
        <p:nvSpPr>
          <p:cNvPr id="5" name="code"/>
          <p:cNvSpPr/>
          <p:nvPr/>
        </p:nvSpPr>
        <p:spPr>
          <a:xfrm>
            <a:off x="365760" y="960120"/>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'cat'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'rat'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'elephant'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Four items in one list called spam. The first item is number 0, so the fourth is number 3.</a:t>
            </a:r>
          </a:p>
        </p:txBody>
      </p:sp>
      <p:sp>
        <p:nvSpPr>
          <p:cNvPr id="8" name="code"/>
          <p:cNvSpPr/>
          <p:nvPr/>
        </p:nvSpPr>
        <p:spPr>
          <a:xfrm>
            <a:off x="365760" y="1677924"/>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77924"/>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77924"/>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minus sign counts from the end: -1 is the last item. len() tells how many items there are.</a:t>
            </a:r>
          </a:p>
        </p:txBody>
      </p:sp>
      <p:graphicFrame>
        <p:nvGraphicFramePr>
          <p:cNvPr id="11" name="result table" descr="Result table: spam[0], spam[3] -&gt; cat elephant; spam[-1], spam[-3] -&gt; elephant bat; len(spam) -&gt; 4"/>
          <p:cNvGraphicFramePr>
            <a:graphicFrameLocks noGrp="1"/>
          </p:cNvGraphicFramePr>
          <p:nvPr/>
        </p:nvGraphicFramePr>
        <p:xfrm>
          <a:off x="365760" y="2432304"/>
          <a:ext cx="2459736" cy="914400"/>
        </p:xfrm>
        <a:graphic>
          <a:graphicData uri="http://schemas.openxmlformats.org/drawingml/2006/table">
            <a:tbl>
              <a:tblPr firstRow="1">
                <a:tableStyleId>{5C22544A-7EE6-4342-B048-85BDC9FD1C3A}</a:tableStyleId>
              </a:tblPr>
              <a:tblGrid>
                <a:gridCol w="1344168"/>
                <a:gridCol w="11155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spam[0], spam[3]</a:t>
                      </a:r>
                    </a:p>
                  </a:txBody>
                  <a:tcPr marL="82296" marR="82296" marT="22860" marB="22860" anchor="ctr">
                    <a:solidFill>
                      <a:srgbClr val="FFFFFF"/>
                    </a:solidFill>
                  </a:tcPr>
                </a:tc>
                <a:tc>
                  <a:txBody>
                    <a:bodyPr wrap="none"/>
                    <a:lstStyle/>
                    <a:p>
                      <a:r>
                        <a:rPr sz="1000" b="0">
                          <a:solidFill>
                            <a:srgbClr val="2B2622"/>
                          </a:solidFill>
                          <a:latin typeface="Courier New"/>
                        </a:rPr>
                        <a:t>cat elephant</a:t>
                      </a:r>
                    </a:p>
                  </a:txBody>
                  <a:tcPr marL="82296" marR="82296" marT="22860" marB="22860" anchor="ctr">
                    <a:solidFill>
                      <a:srgbClr val="FFFFFF"/>
                    </a:solidFill>
                  </a:tcPr>
                </a:tc>
              </a:tr>
              <a:tr h="228600">
                <a:tc>
                  <a:txBody>
                    <a:bodyPr wrap="none"/>
                    <a:lstStyle/>
                    <a:p>
                      <a:r>
                        <a:rPr sz="1000" b="0">
                          <a:solidFill>
                            <a:srgbClr val="2B2622"/>
                          </a:solidFill>
                          <a:latin typeface="Calibri"/>
                        </a:rPr>
                        <a:t>spam[-1], spam[-3]</a:t>
                      </a:r>
                    </a:p>
                  </a:txBody>
                  <a:tcPr marL="82296" marR="82296" marT="22860" marB="22860" anchor="ctr">
                    <a:solidFill>
                      <a:srgbClr val="F1ECE2"/>
                    </a:solidFill>
                  </a:tcPr>
                </a:tc>
                <a:tc>
                  <a:txBody>
                    <a:bodyPr wrap="none"/>
                    <a:lstStyle/>
                    <a:p>
                      <a:r>
                        <a:rPr sz="1000" b="0">
                          <a:solidFill>
                            <a:srgbClr val="2B2622"/>
                          </a:solidFill>
                          <a:latin typeface="Courier New"/>
                        </a:rPr>
                        <a:t>elephant bat</a:t>
                      </a:r>
                    </a:p>
                  </a:txBody>
                  <a:tcPr marL="82296" marR="82296" marT="22860" marB="22860" anchor="ctr">
                    <a:solidFill>
                      <a:srgbClr val="F1ECE2"/>
                    </a:solidFill>
                  </a:tcPr>
                </a:tc>
              </a:tr>
              <a:tr h="228600">
                <a:tc>
                  <a:txBody>
                    <a:bodyPr wrap="none"/>
                    <a:lstStyle/>
                    <a:p>
                      <a:r>
                        <a:rPr sz="1000" b="0">
                          <a:solidFill>
                            <a:srgbClr val="2B2622"/>
                          </a:solidFill>
                          <a:latin typeface="Calibri"/>
                        </a:rPr>
                        <a:t>len(spam)</a:t>
                      </a:r>
                    </a:p>
                  </a:txBody>
                  <a:tcPr marL="82296" marR="82296" marT="22860" marB="22860" anchor="ctr">
                    <a:solidFill>
                      <a:srgbClr val="FFFFFF"/>
                    </a:solidFill>
                  </a:tcPr>
                </a:tc>
                <a:tc>
                  <a:txBody>
                    <a:bodyPr wrap="none"/>
                    <a:lstStyle/>
                    <a:p>
                      <a:r>
                        <a:rPr sz="1000" b="0">
                          <a:solidFill>
                            <a:srgbClr val="2B2622"/>
                          </a:solidFill>
                          <a:latin typeface="Courier New"/>
                        </a:rPr>
                        <a:t>4</a:t>
                      </a:r>
                    </a:p>
                  </a:txBody>
                  <a:tcPr marL="82296" marR="82296" marT="22860" marB="22860" anchor="ctr">
                    <a:solidFill>
                      <a:srgbClr val="FFFFFF"/>
                    </a:solidFill>
                  </a:tcPr>
                </a:tc>
              </a:tr>
            </a:tbl>
          </a:graphicData>
        </a:graphic>
      </p:graphicFrame>
      <p:sp>
        <p:nvSpPr>
          <p:cNvPr id="12" name="Rounded Rectangle 11"/>
          <p:cNvSpPr/>
          <p:nvPr/>
        </p:nvSpPr>
        <p:spPr>
          <a:xfrm>
            <a:off x="3008376" y="2432304"/>
            <a:ext cx="731520" cy="27432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FFFFFF"/>
                </a:solidFill>
                <a:latin typeface="Calibri"/>
              </a:rPr>
              <a:t>spam</a:t>
            </a:r>
          </a:p>
        </p:txBody>
      </p:sp>
      <p:cxnSp>
        <p:nvCxnSpPr>
          <p:cNvPr id="13" name="Connector 12"/>
          <p:cNvCxnSpPr/>
          <p:nvPr/>
        </p:nvCxnSpPr>
        <p:spPr>
          <a:xfrm>
            <a:off x="3374136" y="2706624"/>
            <a:ext cx="344043" cy="27432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08376" y="2999232"/>
            <a:ext cx="1419606" cy="56692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cat</a:t>
            </a:r>
          </a:p>
          <a:p>
            <a:pPr algn="ctr">
              <a:spcBef>
                <a:spcPts val="0"/>
              </a:spcBef>
              <a:spcAft>
                <a:spcPts val="0"/>
              </a:spcAft>
            </a:pPr>
            <a:r>
              <a:rPr sz="950" b="0" i="0">
                <a:solidFill>
                  <a:srgbClr val="6E655C"/>
                </a:solidFill>
                <a:latin typeface="Calibri"/>
              </a:rPr>
              <a:t>0 | -4</a:t>
            </a:r>
          </a:p>
        </p:txBody>
      </p:sp>
      <p:sp>
        <p:nvSpPr>
          <p:cNvPr id="15" name="Rounded Rectangle 14"/>
          <p:cNvSpPr/>
          <p:nvPr/>
        </p:nvSpPr>
        <p:spPr>
          <a:xfrm>
            <a:off x="4473702" y="2999232"/>
            <a:ext cx="1419606" cy="56692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bat</a:t>
            </a:r>
          </a:p>
          <a:p>
            <a:pPr algn="ctr">
              <a:spcBef>
                <a:spcPts val="0"/>
              </a:spcBef>
              <a:spcAft>
                <a:spcPts val="0"/>
              </a:spcAft>
            </a:pPr>
            <a:r>
              <a:rPr sz="950" b="0" i="0">
                <a:solidFill>
                  <a:srgbClr val="6E655C"/>
                </a:solidFill>
                <a:latin typeface="Calibri"/>
              </a:rPr>
              <a:t>1 | -3</a:t>
            </a:r>
          </a:p>
        </p:txBody>
      </p:sp>
      <p:sp>
        <p:nvSpPr>
          <p:cNvPr id="16" name="Rounded Rectangle 15"/>
          <p:cNvSpPr/>
          <p:nvPr/>
        </p:nvSpPr>
        <p:spPr>
          <a:xfrm>
            <a:off x="5939028" y="2999232"/>
            <a:ext cx="1419606" cy="56692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rat</a:t>
            </a:r>
          </a:p>
          <a:p>
            <a:pPr algn="ctr">
              <a:spcBef>
                <a:spcPts val="0"/>
              </a:spcBef>
              <a:spcAft>
                <a:spcPts val="0"/>
              </a:spcAft>
            </a:pPr>
            <a:r>
              <a:rPr sz="950" b="0" i="0">
                <a:solidFill>
                  <a:srgbClr val="6E655C"/>
                </a:solidFill>
                <a:latin typeface="Calibri"/>
              </a:rPr>
              <a:t>2 | -2</a:t>
            </a:r>
          </a:p>
        </p:txBody>
      </p:sp>
      <p:sp>
        <p:nvSpPr>
          <p:cNvPr id="17" name="Rounded Rectangle 16"/>
          <p:cNvSpPr/>
          <p:nvPr/>
        </p:nvSpPr>
        <p:spPr>
          <a:xfrm>
            <a:off x="7404354" y="2999232"/>
            <a:ext cx="1419606" cy="56692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elephant</a:t>
            </a:r>
          </a:p>
          <a:p>
            <a:pPr algn="ctr">
              <a:spcBef>
                <a:spcPts val="0"/>
              </a:spcBef>
              <a:spcAft>
                <a:spcPts val="0"/>
              </a:spcAft>
            </a:pPr>
            <a:r>
              <a:rPr sz="950" b="0" i="0">
                <a:solidFill>
                  <a:srgbClr val="6E655C"/>
                </a:solidFill>
                <a:latin typeface="Calibri"/>
              </a:rPr>
              <a:t>3 | -1</a:t>
            </a:r>
          </a:p>
        </p:txBody>
      </p:sp>
      <p:sp>
        <p:nvSpPr>
          <p:cNvPr id="18" name="diagram caption"/>
          <p:cNvSpPr txBox="1"/>
          <p:nvPr/>
        </p:nvSpPr>
        <p:spPr>
          <a:xfrm>
            <a:off x="3008376" y="3584448"/>
            <a:ext cx="5815584"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door number | number from the end</a:t>
            </a:r>
          </a:p>
        </p:txBody>
      </p:sp>
      <p:sp>
        <p:nvSpPr>
          <p:cNvPr id="1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Numbers start at zero; minus numbers start at the end</a:t>
            </a:r>
          </a:p>
        </p:txBody>
      </p:sp>
      <p:sp>
        <p:nvSpPr>
          <p:cNvPr id="2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6 / 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Lists inside lists, and an index too big</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 list may hold other lists; use one index per level. An index past the end raises an error that you can catch.</a:t>
            </a:r>
          </a:p>
        </p:txBody>
      </p:sp>
      <p:sp>
        <p:nvSpPr>
          <p:cNvPr id="5" name="code"/>
          <p:cNvSpPr/>
          <p:nvPr/>
        </p:nvSpPr>
        <p:spPr>
          <a:xfrm>
            <a:off x="365760" y="960120"/>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grid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'c'</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'd'</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'e'</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grid</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grid</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grid[1] is the second inner list; its item number 2 is 'e'. Two indexes, one per level.</a:t>
            </a:r>
          </a:p>
        </p:txBody>
      </p:sp>
      <p:sp>
        <p:nvSpPr>
          <p:cNvPr id="8" name="code"/>
          <p:cNvSpPr/>
          <p:nvPr/>
        </p:nvSpPr>
        <p:spPr>
          <a:xfrm>
            <a:off x="365760" y="1677924"/>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'cat'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'rat'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try</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10</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except</a:t>
            </a:r>
            <a:r>
              <a:rPr sz="1100" b="0" i="0">
                <a:solidFill>
                  <a:srgbClr val="E6EDF3"/>
                </a:solidFill>
                <a:latin typeface="Courier New"/>
              </a:rPr>
              <a:t> </a:t>
            </a:r>
            <a:r>
              <a:rPr sz="1100" b="0" i="0">
                <a:solidFill>
                  <a:srgbClr val="E6EDF3"/>
                </a:solidFill>
                <a:latin typeface="Courier New"/>
              </a:rPr>
              <a:t>IndexError</a:t>
            </a:r>
            <a:r>
              <a:rPr sz="1100" b="0" i="0">
                <a:solidFill>
                  <a:srgbClr val="E6EDF3"/>
                </a:solidFill>
                <a:latin typeface="Courier New"/>
              </a:rPr>
              <a:t> </a:t>
            </a:r>
            <a:r>
              <a:rPr sz="1100" b="0" i="0">
                <a:solidFill>
                  <a:srgbClr val="FF7B72"/>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A5D6FF"/>
                </a:solidFill>
                <a:latin typeface="Courier New"/>
              </a:rPr>
              <a:t>'IndexError:'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p:txBody>
      </p:sp>
      <p:sp>
        <p:nvSpPr>
          <p:cNvPr id="9" name="Rectangle 8"/>
          <p:cNvSpPr/>
          <p:nvPr/>
        </p:nvSpPr>
        <p:spPr>
          <a:xfrm>
            <a:off x="5321808" y="1677924"/>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77924"/>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Asking for item 10 of a three-item list fails with an IndexError; try and except let the program carry on.</a:t>
            </a:r>
          </a:p>
        </p:txBody>
      </p:sp>
      <p:graphicFrame>
        <p:nvGraphicFramePr>
          <p:cNvPr id="11" name="result table" descr="Result table: grid[1][2], len(grid[1]) -&gt; e 3; spam[10] -&gt; IndexError: list index out of range"/>
          <p:cNvGraphicFramePr>
            <a:graphicFrameLocks noGrp="1"/>
          </p:cNvGraphicFramePr>
          <p:nvPr/>
        </p:nvGraphicFramePr>
        <p:xfrm>
          <a:off x="365760" y="2772156"/>
          <a:ext cx="4593336" cy="685800"/>
        </p:xfrm>
        <a:graphic>
          <a:graphicData uri="http://schemas.openxmlformats.org/drawingml/2006/table">
            <a:tbl>
              <a:tblPr firstRow="1">
                <a:tableStyleId>{5C22544A-7EE6-4342-B048-85BDC9FD1C3A}</a:tableStyleId>
              </a:tblPr>
              <a:tblGrid>
                <a:gridCol w="1725168"/>
                <a:gridCol w="28681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grid[1][2], len(grid[1])</a:t>
                      </a:r>
                    </a:p>
                  </a:txBody>
                  <a:tcPr marL="82296" marR="82296" marT="22860" marB="22860" anchor="ctr">
                    <a:solidFill>
                      <a:srgbClr val="FFFFFF"/>
                    </a:solidFill>
                  </a:tcPr>
                </a:tc>
                <a:tc>
                  <a:txBody>
                    <a:bodyPr wrap="none"/>
                    <a:lstStyle/>
                    <a:p>
                      <a:r>
                        <a:rPr sz="1000" b="0">
                          <a:solidFill>
                            <a:srgbClr val="2B2622"/>
                          </a:solidFill>
                          <a:latin typeface="Courier New"/>
                        </a:rPr>
                        <a:t>e 3</a:t>
                      </a:r>
                    </a:p>
                  </a:txBody>
                  <a:tcPr marL="82296" marR="82296" marT="22860" marB="22860" anchor="ctr">
                    <a:solidFill>
                      <a:srgbClr val="FFFFFF"/>
                    </a:solidFill>
                  </a:tcPr>
                </a:tc>
              </a:tr>
              <a:tr h="228600">
                <a:tc>
                  <a:txBody>
                    <a:bodyPr wrap="none"/>
                    <a:lstStyle/>
                    <a:p>
                      <a:r>
                        <a:rPr sz="1000" b="0">
                          <a:solidFill>
                            <a:srgbClr val="2B2622"/>
                          </a:solidFill>
                          <a:latin typeface="Calibri"/>
                        </a:rPr>
                        <a:t>spam[10]</a:t>
                      </a:r>
                    </a:p>
                  </a:txBody>
                  <a:tcPr marL="82296" marR="82296" marT="22860" marB="22860" anchor="ctr">
                    <a:solidFill>
                      <a:srgbClr val="F1ECE2"/>
                    </a:solidFill>
                  </a:tcPr>
                </a:tc>
                <a:tc>
                  <a:txBody>
                    <a:bodyPr wrap="none"/>
                    <a:lstStyle/>
                    <a:p>
                      <a:r>
                        <a:rPr sz="1000" b="0">
                          <a:solidFill>
                            <a:srgbClr val="2B2622"/>
                          </a:solidFill>
                          <a:latin typeface="Courier New"/>
                        </a:rPr>
                        <a:t>IndexError: list index out of range</a:t>
                      </a:r>
                    </a:p>
                  </a:txBody>
                  <a:tcPr marL="82296" marR="82296" marT="22860" marB="22860" anchor="ctr">
                    <a:solidFill>
                      <a:srgbClr val="F1ECE2"/>
                    </a:solidFill>
                  </a:tcPr>
                </a:tc>
              </a:tr>
            </a:tbl>
          </a:graphicData>
        </a:graphic>
      </p:graphicFrame>
      <p:sp>
        <p:nvSpPr>
          <p:cNvPr id="12" name="Rounded Rectangle 11"/>
          <p:cNvSpPr/>
          <p:nvPr/>
        </p:nvSpPr>
        <p:spPr>
          <a:xfrm>
            <a:off x="5141976" y="2891028"/>
            <a:ext cx="777240" cy="310896"/>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FFFFFF"/>
                </a:solidFill>
                <a:latin typeface="Calibri"/>
              </a:rPr>
              <a:t>grid[0]</a:t>
            </a:r>
          </a:p>
        </p:txBody>
      </p:sp>
      <p:cxnSp>
        <p:nvCxnSpPr>
          <p:cNvPr id="13" name="Connector 12"/>
          <p:cNvCxnSpPr/>
          <p:nvPr/>
        </p:nvCxnSpPr>
        <p:spPr>
          <a:xfrm>
            <a:off x="5919216" y="3046476"/>
            <a:ext cx="27432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39256" y="2863596"/>
            <a:ext cx="502920"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0" i="0">
                <a:solidFill>
                  <a:srgbClr val="2B2622"/>
                </a:solidFill>
                <a:latin typeface="Calibri"/>
              </a:rPr>
              <a:t>a</a:t>
            </a:r>
          </a:p>
        </p:txBody>
      </p:sp>
      <p:sp>
        <p:nvSpPr>
          <p:cNvPr id="15" name="Rounded Rectangle 14"/>
          <p:cNvSpPr/>
          <p:nvPr/>
        </p:nvSpPr>
        <p:spPr>
          <a:xfrm>
            <a:off x="6806184" y="2863596"/>
            <a:ext cx="502920"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0" i="0">
                <a:solidFill>
                  <a:srgbClr val="2B2622"/>
                </a:solidFill>
                <a:latin typeface="Calibri"/>
              </a:rPr>
              <a:t>b</a:t>
            </a:r>
          </a:p>
        </p:txBody>
      </p:sp>
      <p:sp>
        <p:nvSpPr>
          <p:cNvPr id="16" name="Rounded Rectangle 15"/>
          <p:cNvSpPr/>
          <p:nvPr/>
        </p:nvSpPr>
        <p:spPr>
          <a:xfrm>
            <a:off x="5141976" y="3457956"/>
            <a:ext cx="777240" cy="310896"/>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FFFFFF"/>
                </a:solidFill>
                <a:latin typeface="Calibri"/>
              </a:rPr>
              <a:t>grid[1]</a:t>
            </a:r>
          </a:p>
        </p:txBody>
      </p:sp>
      <p:cxnSp>
        <p:nvCxnSpPr>
          <p:cNvPr id="17" name="Connector 16"/>
          <p:cNvCxnSpPr/>
          <p:nvPr/>
        </p:nvCxnSpPr>
        <p:spPr>
          <a:xfrm>
            <a:off x="5919216" y="3613404"/>
            <a:ext cx="27432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39256" y="3430524"/>
            <a:ext cx="502920"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0" i="0">
                <a:solidFill>
                  <a:srgbClr val="2B2622"/>
                </a:solidFill>
                <a:latin typeface="Calibri"/>
              </a:rPr>
              <a:t>c</a:t>
            </a:r>
          </a:p>
        </p:txBody>
      </p:sp>
      <p:sp>
        <p:nvSpPr>
          <p:cNvPr id="19" name="Rounded Rectangle 18"/>
          <p:cNvSpPr/>
          <p:nvPr/>
        </p:nvSpPr>
        <p:spPr>
          <a:xfrm>
            <a:off x="6806184" y="3430524"/>
            <a:ext cx="502920"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0" i="0">
                <a:solidFill>
                  <a:srgbClr val="2B2622"/>
                </a:solidFill>
                <a:latin typeface="Calibri"/>
              </a:rPr>
              <a:t>d</a:t>
            </a:r>
          </a:p>
        </p:txBody>
      </p:sp>
      <p:sp>
        <p:nvSpPr>
          <p:cNvPr id="20" name="Rounded Rectangle 19"/>
          <p:cNvSpPr/>
          <p:nvPr/>
        </p:nvSpPr>
        <p:spPr>
          <a:xfrm>
            <a:off x="7373112" y="3430524"/>
            <a:ext cx="502920" cy="36576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1" i="0">
                <a:solidFill>
                  <a:srgbClr val="2B2622"/>
                </a:solidFill>
                <a:latin typeface="Calibri"/>
              </a:rPr>
              <a:t>e</a:t>
            </a:r>
          </a:p>
        </p:txBody>
      </p:sp>
      <p:sp>
        <p:nvSpPr>
          <p:cNvPr id="21" name="diagram caption"/>
          <p:cNvSpPr txBox="1"/>
          <p:nvPr/>
        </p:nvSpPr>
        <p:spPr>
          <a:xfrm>
            <a:off x="5141976" y="3960876"/>
            <a:ext cx="3681983"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grid[1][2] is the highlighted 'e'</a:t>
            </a:r>
          </a:p>
        </p:txBody>
      </p:sp>
      <p:sp>
        <p:nvSpPr>
          <p:cNvPr id="22"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One index per level; a wrong index is an error you can catch</a:t>
            </a:r>
          </a:p>
        </p:txBody>
      </p:sp>
      <p:sp>
        <p:nvSpPr>
          <p:cNvPr id="23"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7 / 49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Why the first item is number zero</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74320"/>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1982-08-11 - the note EWD831</a:t>
            </a:r>
          </a:p>
        </p:txBody>
      </p:sp>
      <p:pic>
        <p:nvPicPr>
          <p:cNvPr id="5" name="picture: Why the first item is number zero" descr="Picture for the story: Dijkstra, 1994 - photo: Andreas F. Borchert, CC BY-SA 4.0"/>
          <p:cNvPicPr>
            <a:picLocks noChangeAspect="1"/>
          </p:cNvPicPr>
          <p:nvPr/>
        </p:nvPicPr>
        <p:blipFill>
          <a:blip r:embed="rId2"/>
          <a:stretch>
            <a:fillRect/>
          </a:stretch>
        </p:blipFill>
        <p:spPr>
          <a:xfrm>
            <a:off x="365760" y="1024128"/>
            <a:ext cx="2651760" cy="1815084"/>
          </a:xfrm>
          <a:prstGeom prst="rect">
            <a:avLst/>
          </a:prstGeom>
        </p:spPr>
      </p:pic>
      <p:sp>
        <p:nvSpPr>
          <p:cNvPr id="6" name="credit"/>
          <p:cNvSpPr txBox="1"/>
          <p:nvPr/>
        </p:nvSpPr>
        <p:spPr>
          <a:xfrm>
            <a:off x="365760" y="2875788"/>
            <a:ext cx="2651760" cy="384048"/>
          </a:xfrm>
          <a:prstGeom prst="rect">
            <a:avLst/>
          </a:prstGeom>
          <a:noFill/>
        </p:spPr>
        <p:txBody>
          <a:bodyPr wrap="square" lIns="73152" tIns="36576" rIns="73152" bIns="36576" anchor="t">
            <a:noAutofit/>
          </a:bodyPr>
          <a:lstStyle/>
          <a:p>
            <a:pPr algn="l">
              <a:spcBef>
                <a:spcPts val="0"/>
              </a:spcBef>
              <a:spcAft>
                <a:spcPts val="0"/>
              </a:spcAft>
            </a:pPr>
            <a:r>
              <a:rPr sz="900" b="0" i="1">
                <a:solidFill>
                  <a:srgbClr val="6E655C"/>
                </a:solidFill>
                <a:latin typeface="Calibri"/>
              </a:rPr>
              <a:t>Dijkstra, 1994 - photo: Andreas F. Borchert, CC BY-SA 4.0</a:t>
            </a:r>
          </a:p>
        </p:txBody>
      </p:sp>
      <p:sp>
        <p:nvSpPr>
          <p:cNvPr id="7" name="story who"/>
          <p:cNvSpPr/>
          <p:nvPr/>
        </p:nvSpPr>
        <p:spPr>
          <a:xfrm>
            <a:off x="3246120" y="1024128"/>
            <a:ext cx="273405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WHO  </a:t>
            </a:r>
            <a:r>
              <a:rPr sz="1050" b="0" i="0">
                <a:solidFill>
                  <a:srgbClr val="2B2622"/>
                </a:solidFill>
                <a:latin typeface="Calibri"/>
              </a:rPr>
              <a:t>Edsger W. Dijkstra, Dutch computer scientist, then a Burroughs Research Fellow.</a:t>
            </a:r>
          </a:p>
        </p:txBody>
      </p:sp>
      <p:sp>
        <p:nvSpPr>
          <p:cNvPr id="8" name="story what"/>
          <p:cNvSpPr/>
          <p:nvPr/>
        </p:nvSpPr>
        <p:spPr>
          <a:xfrm>
            <a:off x="6089904" y="1024128"/>
            <a:ext cx="273405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WHAT  </a:t>
            </a:r>
            <a:r>
              <a:rPr sz="1050" b="0" i="0">
                <a:solidFill>
                  <a:srgbClr val="2B2622"/>
                </a:solidFill>
                <a:latin typeface="Calibri"/>
              </a:rPr>
              <a:t>A short note arguing that N items should be numbered 0 to N-1: start included, end excluded.</a:t>
            </a:r>
          </a:p>
        </p:txBody>
      </p:sp>
      <p:sp>
        <p:nvSpPr>
          <p:cNvPr id="9" name="story when"/>
          <p:cNvSpPr/>
          <p:nvPr/>
        </p:nvSpPr>
        <p:spPr>
          <a:xfrm>
            <a:off x="3246120" y="1938528"/>
            <a:ext cx="273405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WHEN  </a:t>
            </a:r>
            <a:r>
              <a:rPr sz="1050" b="0" i="0">
                <a:solidFill>
                  <a:srgbClr val="2B2622"/>
                </a:solidFill>
                <a:latin typeface="Calibri"/>
              </a:rPr>
              <a:t>11 August 1982.</a:t>
            </a:r>
          </a:p>
        </p:txBody>
      </p:sp>
      <p:sp>
        <p:nvSpPr>
          <p:cNvPr id="10" name="story where"/>
          <p:cNvSpPr/>
          <p:nvPr/>
        </p:nvSpPr>
        <p:spPr>
          <a:xfrm>
            <a:off x="6089904" y="1938528"/>
            <a:ext cx="273405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WHERE  </a:t>
            </a:r>
            <a:r>
              <a:rPr sz="1050" b="0" i="0">
                <a:solidFill>
                  <a:srgbClr val="2B2622"/>
                </a:solidFill>
                <a:latin typeface="Calibri"/>
              </a:rPr>
              <a:t>At home in Nuenen, the Netherlands; the note EWD831 is kept in the University of Texas archive.</a:t>
            </a:r>
          </a:p>
        </p:txBody>
      </p:sp>
      <p:sp>
        <p:nvSpPr>
          <p:cNvPr id="11" name="story why"/>
          <p:cNvSpPr/>
          <p:nvPr/>
        </p:nvSpPr>
        <p:spPr>
          <a:xfrm>
            <a:off x="3246120" y="2852928"/>
            <a:ext cx="273405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WHY  </a:t>
            </a:r>
            <a:r>
              <a:rPr sz="1050" b="0" i="0">
                <a:solidFill>
                  <a:srgbClr val="2B2622"/>
                </a:solidFill>
                <a:latin typeface="Calibri"/>
              </a:rPr>
              <a:t>A mathematician had called young computing scientists pedantic for counting from zero, so Dijkstra set out his reasons.</a:t>
            </a:r>
          </a:p>
        </p:txBody>
      </p:sp>
      <p:sp>
        <p:nvSpPr>
          <p:cNvPr id="12" name="story how"/>
          <p:cNvSpPr/>
          <p:nvPr/>
        </p:nvSpPr>
        <p:spPr>
          <a:xfrm>
            <a:off x="6089904" y="2852928"/>
            <a:ext cx="273405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HOW  </a:t>
            </a:r>
            <a:r>
              <a:rPr sz="1050" b="0" i="0">
                <a:solidFill>
                  <a:srgbClr val="2B2622"/>
                </a:solidFill>
                <a:latin typeface="Calibri"/>
              </a:rPr>
              <a:t>He compared four ways to write bounds and chose 2 &lt;= i &lt; 13: the difference is the length and neighbours meet.</a:t>
            </a:r>
          </a:p>
        </p:txBody>
      </p:sp>
      <p:sp>
        <p:nvSpPr>
          <p:cNvPr id="13" name="story read"/>
          <p:cNvSpPr/>
          <p:nvPr/>
        </p:nvSpPr>
        <p:spPr>
          <a:xfrm>
            <a:off x="365760" y="3931920"/>
            <a:ext cx="8458200" cy="457200"/>
          </a:xfrm>
          <a:prstGeom prst="roundRect">
            <a:avLst>
              <a:gd name="adj" fmla="val 20000"/>
            </a:avLst>
          </a:prstGeom>
          <a:solidFill>
            <a:srgbClr val="DCE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spcBef>
                <a:spcPts val="0"/>
              </a:spcBef>
              <a:spcAft>
                <a:spcPts val="0"/>
              </a:spcAft>
            </a:pPr>
            <a:r>
              <a:rPr sz="1100" b="1" i="0">
                <a:solidFill>
                  <a:srgbClr val="D97A14"/>
                </a:solidFill>
                <a:latin typeface="Calibri"/>
              </a:rPr>
              <a:t>READ  </a:t>
            </a:r>
            <a:r>
              <a:rPr sz="1150" b="0" i="0">
                <a:solidFill>
                  <a:srgbClr val="2B2622"/>
                </a:solidFill>
                <a:latin typeface="Calibri"/>
                <a:hlinkClick r:id="rId3"/>
              </a:rPr>
              <a:t>Dijkstra: Why numbering should start at zero (EWD831)</a:t>
            </a:r>
          </a:p>
        </p:txBody>
      </p:sp>
      <p:sp>
        <p:nvSpPr>
          <p:cNvPr id="14"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true story, with its picture and its source</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8 / 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Slices: a part of a list, as a new list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list[start:stop:step]: the start is included, the stop is never included, and the result is a new list.</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'cat'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'rat'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'elephant'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Leave out the start and the slice begins at the front; leave out the stop and it runs to the end.</a:t>
            </a:r>
          </a:p>
        </p:txBody>
      </p:sp>
      <p:sp>
        <p:nvSpPr>
          <p:cNvPr id="8" name="code"/>
          <p:cNvSpPr/>
          <p:nvPr/>
        </p:nvSpPr>
        <p:spPr>
          <a:xfrm>
            <a:off x="365760" y="1682496"/>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7B72"/>
                </a:solidFill>
                <a:latin typeface="Courier New"/>
              </a:rPr>
              <a:t>is</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p>
        </p:txBody>
      </p:sp>
      <p:sp>
        <p:nvSpPr>
          <p:cNvPr id="9" name="Rectangle 8"/>
          <p:cNvSpPr/>
          <p:nvPr/>
        </p:nvSpPr>
        <p:spPr>
          <a:xfrm>
            <a:off x="5321808" y="1682496"/>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step of -1 walks backwards. spam[:] is a copy: equal in value, but not the same list.</a:t>
            </a:r>
          </a:p>
        </p:txBody>
      </p:sp>
      <p:graphicFrame>
        <p:nvGraphicFramePr>
          <p:cNvPr id="11" name="result table" descr="Result table: spam[1:3], spam[:2] -&gt; ['bat', 'rat'] ['cat', 'bat']; spam[2:], spam[::2] -&gt; ['rat', 'elephant'] ['cat', 'rat']; spam[::-1] -&gt; ['elephant', 'rat', 'bat', 'cat']; spam[:] == spam, spam[:] is spam -&gt; True False"/>
          <p:cNvGraphicFramePr>
            <a:graphicFrameLocks noGrp="1"/>
          </p:cNvGraphicFramePr>
          <p:nvPr/>
        </p:nvGraphicFramePr>
        <p:xfrm>
          <a:off x="365760" y="2436876"/>
          <a:ext cx="5025136" cy="1143000"/>
        </p:xfrm>
        <a:graphic>
          <a:graphicData uri="http://schemas.openxmlformats.org/drawingml/2006/table">
            <a:tbl>
              <a:tblPr firstRow="1">
                <a:tableStyleId>{5C22544A-7EE6-4342-B048-85BDC9FD1C3A}</a:tableStyleId>
              </a:tblPr>
              <a:tblGrid>
                <a:gridCol w="2233168"/>
                <a:gridCol w="27919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spam[1:3], spam[:2]</a:t>
                      </a:r>
                    </a:p>
                  </a:txBody>
                  <a:tcPr marL="82296" marR="82296" marT="22860" marB="22860" anchor="ctr">
                    <a:solidFill>
                      <a:srgbClr val="FFFFFF"/>
                    </a:solidFill>
                  </a:tcPr>
                </a:tc>
                <a:tc>
                  <a:txBody>
                    <a:bodyPr wrap="none"/>
                    <a:lstStyle/>
                    <a:p>
                      <a:r>
                        <a:rPr sz="1000" b="0">
                          <a:solidFill>
                            <a:srgbClr val="2B2622"/>
                          </a:solidFill>
                          <a:latin typeface="Courier New"/>
                        </a:rPr>
                        <a:t>['bat', 'rat'] ['cat', 'bat']</a:t>
                      </a:r>
                    </a:p>
                  </a:txBody>
                  <a:tcPr marL="82296" marR="82296" marT="22860" marB="22860" anchor="ctr">
                    <a:solidFill>
                      <a:srgbClr val="FFFFFF"/>
                    </a:solidFill>
                  </a:tcPr>
                </a:tc>
              </a:tr>
              <a:tr h="228600">
                <a:tc>
                  <a:txBody>
                    <a:bodyPr wrap="none"/>
                    <a:lstStyle/>
                    <a:p>
                      <a:r>
                        <a:rPr sz="1000" b="0">
                          <a:solidFill>
                            <a:srgbClr val="2B2622"/>
                          </a:solidFill>
                          <a:latin typeface="Calibri"/>
                        </a:rPr>
                        <a:t>spam[2:], spam[::2]</a:t>
                      </a:r>
                    </a:p>
                  </a:txBody>
                  <a:tcPr marL="82296" marR="82296" marT="22860" marB="22860" anchor="ctr">
                    <a:solidFill>
                      <a:srgbClr val="F1ECE2"/>
                    </a:solidFill>
                  </a:tcPr>
                </a:tc>
                <a:tc>
                  <a:txBody>
                    <a:bodyPr wrap="none"/>
                    <a:lstStyle/>
                    <a:p>
                      <a:r>
                        <a:rPr sz="1000" b="0">
                          <a:solidFill>
                            <a:srgbClr val="2B2622"/>
                          </a:solidFill>
                          <a:latin typeface="Courier New"/>
                        </a:rPr>
                        <a:t>['rat', 'elephant'] ['cat', 'rat']</a:t>
                      </a:r>
                    </a:p>
                  </a:txBody>
                  <a:tcPr marL="82296" marR="82296" marT="22860" marB="22860" anchor="ctr">
                    <a:solidFill>
                      <a:srgbClr val="F1ECE2"/>
                    </a:solidFill>
                  </a:tcPr>
                </a:tc>
              </a:tr>
              <a:tr h="228600">
                <a:tc>
                  <a:txBody>
                    <a:bodyPr wrap="none"/>
                    <a:lstStyle/>
                    <a:p>
                      <a:r>
                        <a:rPr sz="1000" b="0">
                          <a:solidFill>
                            <a:srgbClr val="2B2622"/>
                          </a:solidFill>
                          <a:latin typeface="Calibri"/>
                        </a:rPr>
                        <a:t>spam[::-1]</a:t>
                      </a:r>
                    </a:p>
                  </a:txBody>
                  <a:tcPr marL="82296" marR="82296" marT="22860" marB="22860" anchor="ctr">
                    <a:solidFill>
                      <a:srgbClr val="FFFFFF"/>
                    </a:solidFill>
                  </a:tcPr>
                </a:tc>
                <a:tc>
                  <a:txBody>
                    <a:bodyPr wrap="none"/>
                    <a:lstStyle/>
                    <a:p>
                      <a:r>
                        <a:rPr sz="1000" b="0">
                          <a:solidFill>
                            <a:srgbClr val="2B2622"/>
                          </a:solidFill>
                          <a:latin typeface="Courier New"/>
                        </a:rPr>
                        <a:t>['elephant', 'rat', 'bat', 'cat']</a:t>
                      </a:r>
                    </a:p>
                  </a:txBody>
                  <a:tcPr marL="82296" marR="82296" marT="22860" marB="22860" anchor="ctr">
                    <a:solidFill>
                      <a:srgbClr val="FFFFFF"/>
                    </a:solidFill>
                  </a:tcPr>
                </a:tc>
              </a:tr>
              <a:tr h="228600">
                <a:tc>
                  <a:txBody>
                    <a:bodyPr wrap="none"/>
                    <a:lstStyle/>
                    <a:p>
                      <a:r>
                        <a:rPr sz="1000" b="0">
                          <a:solidFill>
                            <a:srgbClr val="2B2622"/>
                          </a:solidFill>
                          <a:latin typeface="Calibri"/>
                        </a:rPr>
                        <a:t>spam[:] == spam, spam[:] is spam</a:t>
                      </a:r>
                    </a:p>
                  </a:txBody>
                  <a:tcPr marL="82296" marR="82296" marT="22860" marB="22860" anchor="ctr">
                    <a:solidFill>
                      <a:srgbClr val="F1ECE2"/>
                    </a:solidFill>
                  </a:tcPr>
                </a:tc>
                <a:tc>
                  <a:txBody>
                    <a:bodyPr wrap="none"/>
                    <a:lstStyle/>
                    <a:p>
                      <a:r>
                        <a:rPr sz="1000" b="0">
                          <a:solidFill>
                            <a:srgbClr val="2B2622"/>
                          </a:solidFill>
                          <a:latin typeface="Courier New"/>
                        </a:rPr>
                        <a:t>True False</a:t>
                      </a:r>
                    </a:p>
                  </a:txBody>
                  <a:tcPr marL="82296" marR="82296" marT="22860" marB="22860" anchor="ctr">
                    <a:solidFill>
                      <a:srgbClr val="F1ECE2"/>
                    </a:solidFill>
                  </a:tcPr>
                </a:tc>
              </a:tr>
            </a:tbl>
          </a:graphicData>
        </a:graphic>
      </p:graphicFrame>
      <p:cxnSp>
        <p:nvCxnSpPr>
          <p:cNvPr id="12" name="Connector 11"/>
          <p:cNvCxnSpPr/>
          <p:nvPr/>
        </p:nvCxnSpPr>
        <p:spPr>
          <a:xfrm>
            <a:off x="6409182" y="2711196"/>
            <a:ext cx="1579372" cy="0"/>
          </a:xfrm>
          <a:prstGeom prst="line">
            <a:avLst/>
          </a:prstGeom>
          <a:ln w="31750">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00622" y="2436876"/>
            <a:ext cx="1396491" cy="25603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FFFFFF"/>
                </a:solidFill>
                <a:latin typeface="Calibri"/>
              </a:rPr>
              <a:t>spam[1:3]</a:t>
            </a:r>
          </a:p>
        </p:txBody>
      </p:sp>
      <p:sp>
        <p:nvSpPr>
          <p:cNvPr id="14" name="Rounded Rectangle 13"/>
          <p:cNvSpPr/>
          <p:nvPr/>
        </p:nvSpPr>
        <p:spPr>
          <a:xfrm>
            <a:off x="5637784" y="2830068"/>
            <a:ext cx="753109" cy="45720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cat</a:t>
            </a:r>
          </a:p>
        </p:txBody>
      </p:sp>
      <p:sp>
        <p:nvSpPr>
          <p:cNvPr id="15" name="Rounded Rectangle 14"/>
          <p:cNvSpPr/>
          <p:nvPr/>
        </p:nvSpPr>
        <p:spPr>
          <a:xfrm>
            <a:off x="6427470" y="2830068"/>
            <a:ext cx="753109" cy="45720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bat</a:t>
            </a:r>
          </a:p>
        </p:txBody>
      </p:sp>
      <p:sp>
        <p:nvSpPr>
          <p:cNvPr id="16" name="Rounded Rectangle 15"/>
          <p:cNvSpPr/>
          <p:nvPr/>
        </p:nvSpPr>
        <p:spPr>
          <a:xfrm>
            <a:off x="7217156" y="2830068"/>
            <a:ext cx="753109" cy="45720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rat</a:t>
            </a:r>
          </a:p>
        </p:txBody>
      </p:sp>
      <p:sp>
        <p:nvSpPr>
          <p:cNvPr id="17" name="Rounded Rectangle 16"/>
          <p:cNvSpPr/>
          <p:nvPr/>
        </p:nvSpPr>
        <p:spPr>
          <a:xfrm>
            <a:off x="8006842" y="2830068"/>
            <a:ext cx="753109" cy="45720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elephant</a:t>
            </a:r>
          </a:p>
        </p:txBody>
      </p:sp>
      <p:sp>
        <p:nvSpPr>
          <p:cNvPr id="18" name="mark"/>
          <p:cNvSpPr txBox="1"/>
          <p:nvPr/>
        </p:nvSpPr>
        <p:spPr>
          <a:xfrm>
            <a:off x="5482336" y="3332988"/>
            <a:ext cx="274320" cy="237744"/>
          </a:xfrm>
          <a:prstGeom prst="rect">
            <a:avLst/>
          </a:prstGeom>
          <a:noFill/>
        </p:spPr>
        <p:txBody>
          <a:bodyPr wrap="square" lIns="0" tIns="0" rIns="0" bIns="0" anchor="t">
            <a:noAutofit/>
          </a:bodyPr>
          <a:lstStyle/>
          <a:p>
            <a:pPr algn="ctr">
              <a:spcBef>
                <a:spcPts val="0"/>
              </a:spcBef>
              <a:spcAft>
                <a:spcPts val="0"/>
              </a:spcAft>
            </a:pPr>
            <a:r>
              <a:rPr sz="1000" b="0" i="0">
                <a:solidFill>
                  <a:srgbClr val="6E655C"/>
                </a:solidFill>
                <a:latin typeface="Calibri"/>
              </a:rPr>
              <a:t>0</a:t>
            </a:r>
          </a:p>
        </p:txBody>
      </p:sp>
      <p:sp>
        <p:nvSpPr>
          <p:cNvPr id="19" name="mark"/>
          <p:cNvSpPr txBox="1"/>
          <p:nvPr/>
        </p:nvSpPr>
        <p:spPr>
          <a:xfrm>
            <a:off x="6272022" y="3332988"/>
            <a:ext cx="274320" cy="237744"/>
          </a:xfrm>
          <a:prstGeom prst="rect">
            <a:avLst/>
          </a:prstGeom>
          <a:noFill/>
        </p:spPr>
        <p:txBody>
          <a:bodyPr wrap="square" lIns="0" tIns="0" rIns="0" bIns="0" anchor="t">
            <a:noAutofit/>
          </a:bodyPr>
          <a:lstStyle/>
          <a:p>
            <a:pPr algn="ctr">
              <a:spcBef>
                <a:spcPts val="0"/>
              </a:spcBef>
              <a:spcAft>
                <a:spcPts val="0"/>
              </a:spcAft>
            </a:pPr>
            <a:r>
              <a:rPr sz="1000" b="0" i="0">
                <a:solidFill>
                  <a:srgbClr val="6E655C"/>
                </a:solidFill>
                <a:latin typeface="Calibri"/>
              </a:rPr>
              <a:t>1</a:t>
            </a:r>
          </a:p>
        </p:txBody>
      </p:sp>
      <p:sp>
        <p:nvSpPr>
          <p:cNvPr id="20" name="mark"/>
          <p:cNvSpPr txBox="1"/>
          <p:nvPr/>
        </p:nvSpPr>
        <p:spPr>
          <a:xfrm>
            <a:off x="7061708" y="3332988"/>
            <a:ext cx="274320" cy="237744"/>
          </a:xfrm>
          <a:prstGeom prst="rect">
            <a:avLst/>
          </a:prstGeom>
          <a:noFill/>
        </p:spPr>
        <p:txBody>
          <a:bodyPr wrap="square" lIns="0" tIns="0" rIns="0" bIns="0" anchor="t">
            <a:noAutofit/>
          </a:bodyPr>
          <a:lstStyle/>
          <a:p>
            <a:pPr algn="ctr">
              <a:spcBef>
                <a:spcPts val="0"/>
              </a:spcBef>
              <a:spcAft>
                <a:spcPts val="0"/>
              </a:spcAft>
            </a:pPr>
            <a:r>
              <a:rPr sz="1000" b="0" i="0">
                <a:solidFill>
                  <a:srgbClr val="6E655C"/>
                </a:solidFill>
                <a:latin typeface="Calibri"/>
              </a:rPr>
              <a:t>2</a:t>
            </a:r>
          </a:p>
        </p:txBody>
      </p:sp>
      <p:sp>
        <p:nvSpPr>
          <p:cNvPr id="21" name="mark"/>
          <p:cNvSpPr txBox="1"/>
          <p:nvPr/>
        </p:nvSpPr>
        <p:spPr>
          <a:xfrm>
            <a:off x="7851394" y="3332988"/>
            <a:ext cx="274320" cy="237744"/>
          </a:xfrm>
          <a:prstGeom prst="rect">
            <a:avLst/>
          </a:prstGeom>
          <a:noFill/>
        </p:spPr>
        <p:txBody>
          <a:bodyPr wrap="square" lIns="0" tIns="0" rIns="0" bIns="0" anchor="t">
            <a:noAutofit/>
          </a:bodyPr>
          <a:lstStyle/>
          <a:p>
            <a:pPr algn="ctr">
              <a:spcBef>
                <a:spcPts val="0"/>
              </a:spcBef>
              <a:spcAft>
                <a:spcPts val="0"/>
              </a:spcAft>
            </a:pPr>
            <a:r>
              <a:rPr sz="1000" b="0" i="0">
                <a:solidFill>
                  <a:srgbClr val="6E655C"/>
                </a:solidFill>
                <a:latin typeface="Calibri"/>
              </a:rPr>
              <a:t>3</a:t>
            </a:r>
          </a:p>
        </p:txBody>
      </p:sp>
      <p:sp>
        <p:nvSpPr>
          <p:cNvPr id="22" name="mark"/>
          <p:cNvSpPr txBox="1"/>
          <p:nvPr/>
        </p:nvSpPr>
        <p:spPr>
          <a:xfrm>
            <a:off x="8641080" y="3332988"/>
            <a:ext cx="274320" cy="237744"/>
          </a:xfrm>
          <a:prstGeom prst="rect">
            <a:avLst/>
          </a:prstGeom>
          <a:noFill/>
        </p:spPr>
        <p:txBody>
          <a:bodyPr wrap="square" lIns="0" tIns="0" rIns="0" bIns="0" anchor="t">
            <a:noAutofit/>
          </a:bodyPr>
          <a:lstStyle/>
          <a:p>
            <a:pPr algn="ctr">
              <a:spcBef>
                <a:spcPts val="0"/>
              </a:spcBef>
              <a:spcAft>
                <a:spcPts val="0"/>
              </a:spcAft>
            </a:pPr>
            <a:r>
              <a:rPr sz="1000" b="0" i="0">
                <a:solidFill>
                  <a:srgbClr val="6E655C"/>
                </a:solidFill>
                <a:latin typeface="Calibri"/>
              </a:rPr>
              <a:t>4</a:t>
            </a:r>
          </a:p>
        </p:txBody>
      </p:sp>
      <p:sp>
        <p:nvSpPr>
          <p:cNvPr id="23" name="diagram caption"/>
          <p:cNvSpPr txBox="1"/>
          <p:nvPr/>
        </p:nvSpPr>
        <p:spPr>
          <a:xfrm>
            <a:off x="5573776" y="3589020"/>
            <a:ext cx="3250183"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numbers sit between the items, like ruler marks</a:t>
            </a:r>
          </a:p>
        </p:txBody>
      </p:sp>
      <p:sp>
        <p:nvSpPr>
          <p:cNvPr id="24"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slice runs from the start up to, never including, the stop</a:t>
            </a:r>
          </a:p>
        </p:txBody>
      </p:sp>
      <p:sp>
        <p:nvSpPr>
          <p:cNvPr id="2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9 / 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Dijkstra's rule, checked in Python</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Start included, end excluded: bounds subtract to the length, and neighbouring slices meet without a gap.</a:t>
            </a:r>
          </a:p>
        </p:txBody>
      </p:sp>
      <p:sp>
        <p:nvSpPr>
          <p:cNvPr id="5" name="code"/>
          <p:cNvSpPr/>
          <p:nvPr/>
        </p:nvSpPr>
        <p:spPr>
          <a:xfrm>
            <a:off x="365760" y="960120"/>
            <a:ext cx="4937760" cy="481583"/>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list</a:t>
            </a:r>
            <a:r>
              <a:rPr sz="1100" b="0" i="0">
                <a:solidFill>
                  <a:srgbClr val="E6EDF3"/>
                </a:solidFill>
                <a:latin typeface="Courier New"/>
              </a:rPr>
              <a:t>(</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10</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79C0FF"/>
                </a:solidFill>
                <a:latin typeface="Courier New"/>
              </a:rPr>
              <a:t>5</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79C0FF"/>
                </a:solidFill>
                <a:latin typeface="Courier New"/>
              </a:rPr>
              <a:t>5</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481583"/>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481583"/>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Items 2 up to 5 of a list of ten: three items, and 5 minus 2 is 3.</a:t>
            </a:r>
          </a:p>
        </p:txBody>
      </p:sp>
      <p:sp>
        <p:nvSpPr>
          <p:cNvPr id="8" name="code"/>
          <p:cNvSpPr/>
          <p:nvPr/>
        </p:nvSpPr>
        <p:spPr>
          <a:xfrm>
            <a:off x="365760" y="1514856"/>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79C0FF"/>
                </a:solidFill>
                <a:latin typeface="Courier New"/>
              </a:rPr>
              <a:t>10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79C0FF"/>
                </a:solidFill>
                <a:latin typeface="Courier New"/>
              </a:rPr>
              <a:t>10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514856"/>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514856"/>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Two neighbouring slices put together give the whole list; their lengths add up to ten.</a:t>
            </a:r>
          </a:p>
        </p:txBody>
      </p:sp>
      <p:graphicFrame>
        <p:nvGraphicFramePr>
          <p:cNvPr id="11" name="result table" descr="Result table: s[2:5], len(s[2:5]) -&gt; [2, 3, 4] 3; s[0:3] + s[3:10] == s -&gt; True; lengths of the pieces -&gt; [3, 7, 10]"/>
          <p:cNvGraphicFramePr>
            <a:graphicFrameLocks noGrp="1"/>
          </p:cNvGraphicFramePr>
          <p:nvPr/>
        </p:nvGraphicFramePr>
        <p:xfrm>
          <a:off x="365760" y="2269236"/>
          <a:ext cx="2574036" cy="914400"/>
        </p:xfrm>
        <a:graphic>
          <a:graphicData uri="http://schemas.openxmlformats.org/drawingml/2006/table">
            <a:tbl>
              <a:tblPr firstRow="1">
                <a:tableStyleId>{5C22544A-7EE6-4342-B048-85BDC9FD1C3A}</a:tableStyleId>
              </a:tblPr>
              <a:tblGrid>
                <a:gridCol w="1534668"/>
                <a:gridCol w="10393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s[2:5], len(s[2:5])</a:t>
                      </a:r>
                    </a:p>
                  </a:txBody>
                  <a:tcPr marL="82296" marR="82296" marT="22860" marB="22860" anchor="ctr">
                    <a:solidFill>
                      <a:srgbClr val="FFFFFF"/>
                    </a:solidFill>
                  </a:tcPr>
                </a:tc>
                <a:tc>
                  <a:txBody>
                    <a:bodyPr wrap="none"/>
                    <a:lstStyle/>
                    <a:p>
                      <a:r>
                        <a:rPr sz="1000" b="0">
                          <a:solidFill>
                            <a:srgbClr val="2B2622"/>
                          </a:solidFill>
                          <a:latin typeface="Courier New"/>
                        </a:rPr>
                        <a:t>[2, 3, 4] 3</a:t>
                      </a:r>
                    </a:p>
                  </a:txBody>
                  <a:tcPr marL="82296" marR="82296" marT="22860" marB="22860" anchor="ctr">
                    <a:solidFill>
                      <a:srgbClr val="FFFFFF"/>
                    </a:solidFill>
                  </a:tcPr>
                </a:tc>
              </a:tr>
              <a:tr h="228600">
                <a:tc>
                  <a:txBody>
                    <a:bodyPr wrap="none"/>
                    <a:lstStyle/>
                    <a:p>
                      <a:r>
                        <a:rPr sz="1000" b="0">
                          <a:solidFill>
                            <a:srgbClr val="2B2622"/>
                          </a:solidFill>
                          <a:latin typeface="Calibri"/>
                        </a:rPr>
                        <a:t>s[0:3] + s[3:10] == s</a:t>
                      </a:r>
                    </a:p>
                  </a:txBody>
                  <a:tcPr marL="82296" marR="82296" marT="22860" marB="22860" anchor="ctr">
                    <a:solidFill>
                      <a:srgbClr val="F1ECE2"/>
                    </a:solidFill>
                  </a:tcPr>
                </a:tc>
                <a:tc>
                  <a:txBody>
                    <a:bodyPr wrap="none"/>
                    <a:lstStyle/>
                    <a:p>
                      <a:r>
                        <a:rPr sz="1000" b="0">
                          <a:solidFill>
                            <a:srgbClr val="2B2622"/>
                          </a:solidFill>
                          <a:latin typeface="Courier New"/>
                        </a:rPr>
                        <a:t>True</a:t>
                      </a:r>
                    </a:p>
                  </a:txBody>
                  <a:tcPr marL="82296" marR="82296" marT="22860" marB="22860" anchor="ctr">
                    <a:solidFill>
                      <a:srgbClr val="F1ECE2"/>
                    </a:solidFill>
                  </a:tcPr>
                </a:tc>
              </a:tr>
              <a:tr h="228600">
                <a:tc>
                  <a:txBody>
                    <a:bodyPr wrap="none"/>
                    <a:lstStyle/>
                    <a:p>
                      <a:r>
                        <a:rPr sz="1000" b="0">
                          <a:solidFill>
                            <a:srgbClr val="2B2622"/>
                          </a:solidFill>
                          <a:latin typeface="Calibri"/>
                        </a:rPr>
                        <a:t>lengths of the pieces</a:t>
                      </a:r>
                    </a:p>
                  </a:txBody>
                  <a:tcPr marL="82296" marR="82296" marT="22860" marB="22860" anchor="ctr">
                    <a:solidFill>
                      <a:srgbClr val="FFFFFF"/>
                    </a:solidFill>
                  </a:tcPr>
                </a:tc>
                <a:tc>
                  <a:txBody>
                    <a:bodyPr wrap="none"/>
                    <a:lstStyle/>
                    <a:p>
                      <a:r>
                        <a:rPr sz="1000" b="0">
                          <a:solidFill>
                            <a:srgbClr val="2B2622"/>
                          </a:solidFill>
                          <a:latin typeface="Courier New"/>
                        </a:rPr>
                        <a:t>[3, 7, 10]</a:t>
                      </a:r>
                    </a:p>
                  </a:txBody>
                  <a:tcPr marL="82296" marR="82296" marT="22860" marB="22860" anchor="ctr">
                    <a:solidFill>
                      <a:srgbClr val="FFFFFF"/>
                    </a:solidFill>
                  </a:tcPr>
                </a:tc>
              </a:tr>
            </a:tbl>
          </a:graphicData>
        </a:graphic>
      </p:graphicFrame>
      <p:graphicFrame>
        <p:nvGraphicFramePr>
          <p:cNvPr id="12" name="result chart" descr="Chart: slice lengths - first slice 3, second slice 7, whole list 10"/>
          <p:cNvGraphicFramePr>
            <a:graphicFrameLocks noGrp="1"/>
          </p:cNvGraphicFramePr>
          <p:nvPr/>
        </p:nvGraphicFramePr>
        <p:xfrm>
          <a:off x="3122676" y="2250948"/>
          <a:ext cx="5701283" cy="2247899"/>
        </p:xfrm>
        <a:graphic>
          <a:graphicData uri="http://schemas.openxmlformats.org/drawingml/2006/chart">
            <c:chart xmlns:c="http://schemas.openxmlformats.org/drawingml/2006/chart" r:id="rId2"/>
          </a:graphicData>
        </a:graphic>
      </p:graphicFrame>
      <p:sp>
        <p:nvSpPr>
          <p:cNvPr id="13"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Start in, end out: lengths subtract and neighbours fit</a:t>
            </a:r>
          </a:p>
        </p:txBody>
      </p:sp>
      <p:sp>
        <p:nvSpPr>
          <p:cNvPr id="14"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10 / 49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Sequence Data Types: lists, strings, tuples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Lists, strings, tuples and ranges are all sequences: they share indexes, slices, len() and the in operator.</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name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'Zophie'</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79C0FF"/>
                </a:solidFill>
                <a:latin typeface="Courier New"/>
              </a:rPr>
              <a:t>4</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list</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string is a sequence of letters: it has indexes and slices, and list() turns it into a list of letters.</a:t>
            </a:r>
          </a:p>
        </p:txBody>
      </p:sp>
      <p:sp>
        <p:nvSpPr>
          <p:cNvPr id="8" name="code"/>
          <p:cNvSpPr/>
          <p:nvPr/>
        </p:nvSpPr>
        <p:spPr>
          <a:xfrm>
            <a:off x="365760" y="1682496"/>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point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4</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point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point</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A5D6FF"/>
                </a:solidFill>
                <a:latin typeface="Courier New"/>
              </a:rPr>
              <a:t>'cat'</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82496"/>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tuple is a list that cannot change. in asks whether an item or a piece is present.</a:t>
            </a:r>
          </a:p>
        </p:txBody>
      </p:sp>
      <p:graphicFrame>
        <p:nvGraphicFramePr>
          <p:cNvPr id="11" name="result table" descr="Result table: name[0], name[-1], name[1:4] -&gt; Z e oph; list(name) -&gt; ['Z', 'o', 'p', 'h', 'i', 'e']; point[0], len(point) -&gt; 3 2; 'a' in 'cat', 3 in [1, 2, 3] -&gt; True True"/>
          <p:cNvGraphicFramePr>
            <a:graphicFrameLocks noGrp="1"/>
          </p:cNvGraphicFramePr>
          <p:nvPr/>
        </p:nvGraphicFramePr>
        <p:xfrm>
          <a:off x="365760" y="2441448"/>
          <a:ext cx="4466336" cy="1143000"/>
        </p:xfrm>
        <a:graphic>
          <a:graphicData uri="http://schemas.openxmlformats.org/drawingml/2006/table">
            <a:tbl>
              <a:tblPr firstRow="1">
                <a:tableStyleId>{5C22544A-7EE6-4342-B048-85BDC9FD1C3A}</a:tableStyleId>
              </a:tblPr>
              <a:tblGrid>
                <a:gridCol w="1979168"/>
                <a:gridCol w="24871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name[0], name[-1], name[1:4]</a:t>
                      </a:r>
                    </a:p>
                  </a:txBody>
                  <a:tcPr marL="82296" marR="82296" marT="22860" marB="22860" anchor="ctr">
                    <a:solidFill>
                      <a:srgbClr val="FFFFFF"/>
                    </a:solidFill>
                  </a:tcPr>
                </a:tc>
                <a:tc>
                  <a:txBody>
                    <a:bodyPr wrap="none"/>
                    <a:lstStyle/>
                    <a:p>
                      <a:r>
                        <a:rPr sz="1000" b="0">
                          <a:solidFill>
                            <a:srgbClr val="2B2622"/>
                          </a:solidFill>
                          <a:latin typeface="Courier New"/>
                        </a:rPr>
                        <a:t>Z e oph</a:t>
                      </a:r>
                    </a:p>
                  </a:txBody>
                  <a:tcPr marL="82296" marR="82296" marT="22860" marB="22860" anchor="ctr">
                    <a:solidFill>
                      <a:srgbClr val="FFFFFF"/>
                    </a:solidFill>
                  </a:tcPr>
                </a:tc>
              </a:tr>
              <a:tr h="228600">
                <a:tc>
                  <a:txBody>
                    <a:bodyPr wrap="none"/>
                    <a:lstStyle/>
                    <a:p>
                      <a:r>
                        <a:rPr sz="1000" b="0">
                          <a:solidFill>
                            <a:srgbClr val="2B2622"/>
                          </a:solidFill>
                          <a:latin typeface="Calibri"/>
                        </a:rPr>
                        <a:t>list(name)</a:t>
                      </a:r>
                    </a:p>
                  </a:txBody>
                  <a:tcPr marL="82296" marR="82296" marT="22860" marB="22860" anchor="ctr">
                    <a:solidFill>
                      <a:srgbClr val="F1ECE2"/>
                    </a:solidFill>
                  </a:tcPr>
                </a:tc>
                <a:tc>
                  <a:txBody>
                    <a:bodyPr wrap="none"/>
                    <a:lstStyle/>
                    <a:p>
                      <a:r>
                        <a:rPr sz="1000" b="0">
                          <a:solidFill>
                            <a:srgbClr val="2B2622"/>
                          </a:solidFill>
                          <a:latin typeface="Courier New"/>
                        </a:rPr>
                        <a:t>['Z', 'o', 'p', 'h', 'i', 'e']</a:t>
                      </a:r>
                    </a:p>
                  </a:txBody>
                  <a:tcPr marL="82296" marR="82296" marT="22860" marB="22860" anchor="ctr">
                    <a:solidFill>
                      <a:srgbClr val="F1ECE2"/>
                    </a:solidFill>
                  </a:tcPr>
                </a:tc>
              </a:tr>
              <a:tr h="228600">
                <a:tc>
                  <a:txBody>
                    <a:bodyPr wrap="none"/>
                    <a:lstStyle/>
                    <a:p>
                      <a:r>
                        <a:rPr sz="1000" b="0">
                          <a:solidFill>
                            <a:srgbClr val="2B2622"/>
                          </a:solidFill>
                          <a:latin typeface="Calibri"/>
                        </a:rPr>
                        <a:t>point[0], len(point)</a:t>
                      </a:r>
                    </a:p>
                  </a:txBody>
                  <a:tcPr marL="82296" marR="82296" marT="22860" marB="22860" anchor="ctr">
                    <a:solidFill>
                      <a:srgbClr val="FFFFFF"/>
                    </a:solidFill>
                  </a:tcPr>
                </a:tc>
                <a:tc>
                  <a:txBody>
                    <a:bodyPr wrap="none"/>
                    <a:lstStyle/>
                    <a:p>
                      <a:r>
                        <a:rPr sz="1000" b="0">
                          <a:solidFill>
                            <a:srgbClr val="2B2622"/>
                          </a:solidFill>
                          <a:latin typeface="Courier New"/>
                        </a:rPr>
                        <a:t>3 2</a:t>
                      </a:r>
                    </a:p>
                  </a:txBody>
                  <a:tcPr marL="82296" marR="82296" marT="22860" marB="22860" anchor="ctr">
                    <a:solidFill>
                      <a:srgbClr val="FFFFFF"/>
                    </a:solidFill>
                  </a:tcPr>
                </a:tc>
              </a:tr>
              <a:tr h="228600">
                <a:tc>
                  <a:txBody>
                    <a:bodyPr wrap="none"/>
                    <a:lstStyle/>
                    <a:p>
                      <a:r>
                        <a:rPr sz="1000" b="0">
                          <a:solidFill>
                            <a:srgbClr val="2B2622"/>
                          </a:solidFill>
                          <a:latin typeface="Calibri"/>
                        </a:rPr>
                        <a:t>'a' in 'cat', 3 in [1, 2, 3]</a:t>
                      </a:r>
                    </a:p>
                  </a:txBody>
                  <a:tcPr marL="82296" marR="82296" marT="22860" marB="22860" anchor="ctr">
                    <a:solidFill>
                      <a:srgbClr val="F1ECE2"/>
                    </a:solidFill>
                  </a:tcPr>
                </a:tc>
                <a:tc>
                  <a:txBody>
                    <a:bodyPr wrap="none"/>
                    <a:lstStyle/>
                    <a:p>
                      <a:r>
                        <a:rPr sz="1000" b="0">
                          <a:solidFill>
                            <a:srgbClr val="2B2622"/>
                          </a:solidFill>
                          <a:latin typeface="Courier New"/>
                        </a:rPr>
                        <a:t>True True</a:t>
                      </a:r>
                    </a:p>
                  </a:txBody>
                  <a:tcPr marL="82296" marR="82296" marT="22860" marB="22860" anchor="ctr">
                    <a:solidFill>
                      <a:srgbClr val="F1ECE2"/>
                    </a:solidFill>
                  </a:tcPr>
                </a:tc>
              </a:tr>
            </a:tbl>
          </a:graphicData>
        </a:graphic>
      </p:graphicFrame>
      <p:sp>
        <p:nvSpPr>
          <p:cNvPr id="12" name="Rounded Rectangle 11"/>
          <p:cNvSpPr/>
          <p:nvPr/>
        </p:nvSpPr>
        <p:spPr>
          <a:xfrm>
            <a:off x="6187948" y="2514600"/>
            <a:ext cx="1463040"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1" i="0">
                <a:solidFill>
                  <a:srgbClr val="FFFFFF"/>
                </a:solidFill>
                <a:latin typeface="Calibri"/>
              </a:rPr>
              <a:t>sequence</a:t>
            </a:r>
          </a:p>
        </p:txBody>
      </p:sp>
      <p:cxnSp>
        <p:nvCxnSpPr>
          <p:cNvPr id="13" name="Connector 12"/>
          <p:cNvCxnSpPr/>
          <p:nvPr/>
        </p:nvCxnSpPr>
        <p:spPr>
          <a:xfrm flipH="1">
            <a:off x="5439664" y="2862072"/>
            <a:ext cx="1479804" cy="45720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14976" y="3337560"/>
            <a:ext cx="849375"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list [ ]</a:t>
            </a:r>
          </a:p>
        </p:txBody>
      </p:sp>
      <p:cxnSp>
        <p:nvCxnSpPr>
          <p:cNvPr id="15" name="Connector 14"/>
          <p:cNvCxnSpPr/>
          <p:nvPr/>
        </p:nvCxnSpPr>
        <p:spPr>
          <a:xfrm flipH="1">
            <a:off x="6426200" y="2862072"/>
            <a:ext cx="493268" cy="45720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01512" y="3337560"/>
            <a:ext cx="849375"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str ' '</a:t>
            </a:r>
          </a:p>
        </p:txBody>
      </p:sp>
      <p:cxnSp>
        <p:nvCxnSpPr>
          <p:cNvPr id="17" name="Connector 16"/>
          <p:cNvCxnSpPr/>
          <p:nvPr/>
        </p:nvCxnSpPr>
        <p:spPr>
          <a:xfrm>
            <a:off x="6919468" y="2862072"/>
            <a:ext cx="493268" cy="45720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88048" y="3337560"/>
            <a:ext cx="849375"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tuple ( )</a:t>
            </a:r>
          </a:p>
        </p:txBody>
      </p:sp>
      <p:cxnSp>
        <p:nvCxnSpPr>
          <p:cNvPr id="19" name="Connector 18"/>
          <p:cNvCxnSpPr/>
          <p:nvPr/>
        </p:nvCxnSpPr>
        <p:spPr>
          <a:xfrm>
            <a:off x="6919468" y="2862072"/>
            <a:ext cx="1479803" cy="45720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974583" y="3337560"/>
            <a:ext cx="849375"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range</a:t>
            </a:r>
          </a:p>
        </p:txBody>
      </p:sp>
      <p:sp>
        <p:nvSpPr>
          <p:cNvPr id="21"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One numbering works for every sequence</a:t>
            </a:r>
          </a:p>
        </p:txBody>
      </p:sp>
      <p:sp>
        <p:nvSpPr>
          <p:cNvPr id="22"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11 / 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the list as a value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The List Data Type</a:t>
            </a:r>
          </a:p>
          <a:p>
            <a:pPr algn="l">
              <a:spcBef>
                <a:spcPts val="0"/>
              </a:spcBef>
              <a:spcAft>
                <a:spcPts val="200"/>
              </a:spcAft>
            </a:pPr>
            <a:r>
              <a:rPr sz="1200" b="0" i="0">
                <a:solidFill>
                  <a:srgbClr val="2B2622"/>
                </a:solidFill>
                <a:latin typeface="Calibri"/>
              </a:rPr>
              <a:t>A row of numbered lockers: each locker holds one thing, the number on its door stays, and the row can grow.</a:t>
            </a:r>
          </a:p>
        </p:txBody>
      </p:sp>
      <p:sp>
        <p:nvSpPr>
          <p:cNvPr id="6" name="analogy"/>
          <p:cNvSpPr/>
          <p:nvPr/>
        </p:nvSpPr>
        <p:spPr>
          <a:xfrm>
            <a:off x="47091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List</a:t>
            </a:r>
          </a:p>
          <a:p>
            <a:pPr algn="l">
              <a:spcBef>
                <a:spcPts val="0"/>
              </a:spcBef>
              <a:spcAft>
                <a:spcPts val="200"/>
              </a:spcAft>
            </a:pPr>
            <a:r>
              <a:rPr sz="1200" b="0" i="0">
                <a:solidFill>
                  <a:srgbClr val="2B2622"/>
                </a:solidFill>
                <a:latin typeface="Calibri"/>
              </a:rPr>
              <a:t>A shopping list in pencil: items keep the order you wrote them, and you may rub one out or add one.</a:t>
            </a:r>
          </a:p>
        </p:txBody>
      </p:sp>
      <p:sp>
        <p:nvSpPr>
          <p:cNvPr id="7" name="analogy"/>
          <p:cNvSpPr/>
          <p:nvPr/>
        </p:nvSpPr>
        <p:spPr>
          <a:xfrm>
            <a:off x="3657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Sequence Data Types</a:t>
            </a:r>
          </a:p>
          <a:p>
            <a:pPr algn="l">
              <a:spcBef>
                <a:spcPts val="0"/>
              </a:spcBef>
              <a:spcAft>
                <a:spcPts val="200"/>
              </a:spcAft>
            </a:pPr>
            <a:r>
              <a:rPr sz="1200" b="0" i="0">
                <a:solidFill>
                  <a:srgbClr val="2B2622"/>
                </a:solidFill>
                <a:latin typeface="Calibri"/>
              </a:rPr>
              <a:t>Beads on a string: lists, strings and tuples are all strings of beads, counted and cut the same way.</a:t>
            </a:r>
          </a:p>
        </p:txBody>
      </p:sp>
      <p:sp>
        <p:nvSpPr>
          <p:cNvPr id="8" name="analogy"/>
          <p:cNvSpPr/>
          <p:nvPr/>
        </p:nvSpPr>
        <p:spPr>
          <a:xfrm>
            <a:off x="47091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len()</a:t>
            </a:r>
          </a:p>
          <a:p>
            <a:pPr algn="l">
              <a:spcBef>
                <a:spcPts val="0"/>
              </a:spcBef>
              <a:spcAft>
                <a:spcPts val="200"/>
              </a:spcAft>
            </a:pPr>
            <a:r>
              <a:rPr sz="1200" b="0" i="0">
                <a:solidFill>
                  <a:srgbClr val="2B2622"/>
                </a:solidFill>
                <a:latin typeface="Calibri"/>
              </a:rPr>
              <a:t>Counting the lockers in the row: len() says how many there are, never what is inside them.</a:t>
            </a:r>
          </a:p>
        </p:txBody>
      </p:sp>
      <p:sp>
        <p:nvSpPr>
          <p:cNvPr id="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list is lockers in a row</a:t>
            </a:r>
          </a:p>
        </p:txBody>
      </p:sp>
      <p:sp>
        <p:nvSpPr>
          <p:cNvPr id="1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12 / 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411480"/>
            <a:ext cx="8229600" cy="640080"/>
          </a:xfrm>
        </p:spPr>
        <p:txBody>
          <a:bodyPr wrap="square" lIns="36576" tIns="18288" rIns="36576" bIns="18288" anchor="ctr">
            <a:noAutofit/>
          </a:bodyPr>
          <a:lstStyle/>
          <a:p>
            <a:pPr algn="l">
              <a:spcBef>
                <a:spcPts val="0"/>
              </a:spcBef>
              <a:spcAft>
                <a:spcPts val="0"/>
              </a:spcAft>
            </a:pPr>
            <a:r>
              <a:rPr sz="3000" b="1" i="0">
                <a:solidFill>
                  <a:srgbClr val="2B2622"/>
                </a:solidFill>
                <a:latin typeface="Cambria"/>
              </a:rPr>
              <a:t>Changing, combining, searching</a:t>
            </a:r>
          </a:p>
        </p:txBody>
      </p:sp>
      <p:sp>
        <p:nvSpPr>
          <p:cNvPr id="3" name="Rectangle 2"/>
          <p:cNvSpPr/>
          <p:nvPr/>
        </p:nvSpPr>
        <p:spPr>
          <a:xfrm>
            <a:off x="457200" y="0"/>
            <a:ext cx="8229600" cy="822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457200" y="1051560"/>
            <a:ext cx="8229600" cy="365760"/>
          </a:xfrm>
          <a:prstGeom prst="rect">
            <a:avLst/>
          </a:prstGeom>
          <a:noFill/>
        </p:spPr>
        <p:txBody>
          <a:bodyPr wrap="square" lIns="73152" tIns="36576" rIns="73152" bIns="36576" anchor="t">
            <a:noAutofit/>
          </a:bodyPr>
          <a:lstStyle/>
          <a:p>
            <a:pPr algn="l">
              <a:spcBef>
                <a:spcPts val="0"/>
              </a:spcBef>
              <a:spcAft>
                <a:spcPts val="0"/>
              </a:spcAft>
            </a:pPr>
            <a:r>
              <a:rPr sz="1500" b="0" i="1">
                <a:solidFill>
                  <a:srgbClr val="2F6D62"/>
                </a:solidFill>
                <a:latin typeface="Calibri"/>
              </a:rPr>
              <a:t>What a list can do, and which actions change the list itself.</a:t>
            </a:r>
          </a:p>
        </p:txBody>
      </p:sp>
      <p:sp>
        <p:nvSpPr>
          <p:cNvPr id="5" name="concept"/>
          <p:cNvSpPr/>
          <p:nvPr/>
        </p:nvSpPr>
        <p:spPr>
          <a:xfrm>
            <a:off x="457200" y="1691640"/>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In-place change</a:t>
            </a:r>
          </a:p>
        </p:txBody>
      </p:sp>
      <p:sp>
        <p:nvSpPr>
          <p:cNvPr id="6" name="meaning"/>
          <p:cNvSpPr txBox="1"/>
          <p:nvPr/>
        </p:nvSpPr>
        <p:spPr>
          <a:xfrm>
            <a:off x="2926080" y="1709928"/>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The same list is rewritten, not replaced.</a:t>
            </a:r>
          </a:p>
        </p:txBody>
      </p:sp>
      <p:sp>
        <p:nvSpPr>
          <p:cNvPr id="7" name="concept"/>
          <p:cNvSpPr/>
          <p:nvPr/>
        </p:nvSpPr>
        <p:spPr>
          <a:xfrm>
            <a:off x="457200" y="2404872"/>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Methods</a:t>
            </a:r>
          </a:p>
        </p:txBody>
      </p:sp>
      <p:sp>
        <p:nvSpPr>
          <p:cNvPr id="8" name="meaning"/>
          <p:cNvSpPr txBox="1"/>
          <p:nvPr/>
        </p:nvSpPr>
        <p:spPr>
          <a:xfrm>
            <a:off x="2926080" y="2423160"/>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Actions that belong to the list, like append.</a:t>
            </a:r>
          </a:p>
        </p:txBody>
      </p:sp>
      <p:sp>
        <p:nvSpPr>
          <p:cNvPr id="9" name="concept"/>
          <p:cNvSpPr/>
          <p:nvPr/>
        </p:nvSpPr>
        <p:spPr>
          <a:xfrm>
            <a:off x="457200" y="3118104"/>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Searching a list</a:t>
            </a:r>
          </a:p>
        </p:txBody>
      </p:sp>
      <p:sp>
        <p:nvSpPr>
          <p:cNvPr id="10" name="meaning"/>
          <p:cNvSpPr txBox="1"/>
          <p:nvPr/>
        </p:nvSpPr>
        <p:spPr>
          <a:xfrm>
            <a:off x="2926080" y="3136392"/>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Ask whether an item is there, and where.</a:t>
            </a:r>
          </a:p>
        </p:txBody>
      </p:sp>
      <p:sp>
        <p:nvSpPr>
          <p:cNvPr id="11" name="concept"/>
          <p:cNvSpPr/>
          <p:nvPr/>
        </p:nvSpPr>
        <p:spPr>
          <a:xfrm>
            <a:off x="457200" y="3831335"/>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Boolean short-circuit</a:t>
            </a:r>
          </a:p>
        </p:txBody>
      </p:sp>
      <p:sp>
        <p:nvSpPr>
          <p:cNvPr id="12" name="meaning"/>
          <p:cNvSpPr txBox="1"/>
          <p:nvPr/>
        </p:nvSpPr>
        <p:spPr>
          <a:xfrm>
            <a:off x="2926080" y="3849623"/>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Stop checking once the answer is known.</a:t>
            </a:r>
          </a:p>
        </p:txBody>
      </p:sp>
      <p:pic>
        <p:nvPicPr>
          <p:cNvPr id="13" name="picture: Figure 6-2 - Sweigart, ATBS 3e, CC BY-NC-SA" descr="Textbook figure for the part: Changing, combining, searching"/>
          <p:cNvPicPr>
            <a:picLocks noChangeAspect="1"/>
          </p:cNvPicPr>
          <p:nvPr/>
        </p:nvPicPr>
        <p:blipFill>
          <a:blip r:embed="rId2"/>
          <a:stretch>
            <a:fillRect/>
          </a:stretch>
        </p:blipFill>
        <p:spPr>
          <a:xfrm>
            <a:off x="6172200" y="1828800"/>
            <a:ext cx="2651760" cy="940411"/>
          </a:xfrm>
          <a:prstGeom prst="rect">
            <a:avLst/>
          </a:prstGeom>
        </p:spPr>
      </p:pic>
      <p:sp>
        <p:nvSpPr>
          <p:cNvPr id="14" name="credit"/>
          <p:cNvSpPr txBox="1"/>
          <p:nvPr/>
        </p:nvSpPr>
        <p:spPr>
          <a:xfrm>
            <a:off x="6172200" y="2814931"/>
            <a:ext cx="2651760" cy="365760"/>
          </a:xfrm>
          <a:prstGeom prst="rect">
            <a:avLst/>
          </a:prstGeom>
          <a:noFill/>
        </p:spPr>
        <p:txBody>
          <a:bodyPr wrap="square" lIns="73152" tIns="36576" rIns="73152" bIns="36576" anchor="t">
            <a:noAutofit/>
          </a:bodyPr>
          <a:lstStyle/>
          <a:p>
            <a:pPr algn="ctr">
              <a:spcBef>
                <a:spcPts val="0"/>
              </a:spcBef>
              <a:spcAft>
                <a:spcPts val="0"/>
              </a:spcAft>
            </a:pPr>
            <a:r>
              <a:rPr sz="900" b="0" i="1">
                <a:solidFill>
                  <a:srgbClr val="6E655C"/>
                </a:solidFill>
                <a:latin typeface="Calibri"/>
              </a:rPr>
              <a:t>Figure 6-2 - Sweigart, ATBS 3e, CC BY-NC-SA</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13 / 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Working with Lists: replace, add, remove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 list is mutable: these statements change the very list; only pop() also hands the removed item back.</a:t>
            </a:r>
          </a:p>
        </p:txBody>
      </p:sp>
      <p:sp>
        <p:nvSpPr>
          <p:cNvPr id="5" name="code"/>
          <p:cNvSpPr/>
          <p:nvPr/>
        </p:nvSpPr>
        <p:spPr>
          <a:xfrm>
            <a:off x="365760" y="960120"/>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'cat'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'rat'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'elephant'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'aardvark'</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A5D6FF"/>
                </a:solidFill>
                <a:latin typeface="Courier New"/>
              </a:rPr>
              <a:t>'moose'</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insert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'chicken'</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p>
        </p:txBody>
      </p:sp>
      <p:sp>
        <p:nvSpPr>
          <p:cNvPr id="6" name="Rectangle 5"/>
          <p:cNvSpPr/>
          <p:nvPr/>
        </p:nvSpPr>
        <p:spPr>
          <a:xfrm>
            <a:off x="5321808" y="960120"/>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Assign to an index to replace an item, append to add at the end, insert to add at a chosen place.</a:t>
            </a:r>
          </a:p>
        </p:txBody>
      </p:sp>
      <p:sp>
        <p:nvSpPr>
          <p:cNvPr id="8" name="code"/>
          <p:cNvSpPr/>
          <p:nvPr/>
        </p:nvSpPr>
        <p:spPr>
          <a:xfrm>
            <a:off x="365760" y="201777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pop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del</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remove</a:t>
            </a:r>
            <a:r>
              <a:rPr sz="1100" b="0" i="0">
                <a:solidFill>
                  <a:srgbClr val="E6EDF3"/>
                </a:solidFill>
                <a:latin typeface="Courier New"/>
              </a:rPr>
              <a:t>(</a:t>
            </a:r>
            <a:r>
              <a:rPr sz="1100" b="0" i="0">
                <a:solidFill>
                  <a:srgbClr val="A5D6FF"/>
                </a:solidFill>
                <a:latin typeface="Courier New"/>
              </a:rPr>
              <a:t>'rat'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p>
        </p:txBody>
      </p:sp>
      <p:sp>
        <p:nvSpPr>
          <p:cNvPr id="9" name="Rectangle 8"/>
          <p:cNvSpPr/>
          <p:nvPr/>
        </p:nvSpPr>
        <p:spPr>
          <a:xfrm>
            <a:off x="5321808" y="201777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201777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pop takes the last item and returns it; del and remove take an item out by place or by value.</a:t>
            </a:r>
          </a:p>
        </p:txBody>
      </p:sp>
      <p:graphicFrame>
        <p:nvGraphicFramePr>
          <p:cNvPr id="11" name="result table" descr="Result table: after assign, append, insert -&gt; ['cat', 'chicken', 'aardvark', 'rat', 'elephant', 'moose']; pop() and the length after it -&gt; moose 5; after del and remove -&gt; ['chicken', 'aardvark', 'elephant']"/>
          <p:cNvGraphicFramePr>
            <a:graphicFrameLocks noGrp="1"/>
          </p:cNvGraphicFramePr>
          <p:nvPr/>
        </p:nvGraphicFramePr>
        <p:xfrm>
          <a:off x="365760" y="2944368"/>
          <a:ext cx="5724271" cy="914400"/>
        </p:xfrm>
        <a:graphic>
          <a:graphicData uri="http://schemas.openxmlformats.org/drawingml/2006/table">
            <a:tbl>
              <a:tblPr firstRow="1">
                <a:tableStyleId>{5C22544A-7EE6-4342-B048-85BDC9FD1C3A}</a:tableStyleId>
              </a:tblPr>
              <a:tblGrid>
                <a:gridCol w="1766443"/>
                <a:gridCol w="3957828"/>
              </a:tblGrid>
              <a:tr h="228600">
                <a:tc>
                  <a:txBody>
                    <a:bodyPr wrap="none"/>
                    <a:lstStyle/>
                    <a:p>
                      <a:r>
                        <a:rPr sz="850" b="1">
                          <a:solidFill>
                            <a:srgbClr val="FFFFFF"/>
                          </a:solidFill>
                          <a:latin typeface="Calibri"/>
                        </a:rPr>
                        <a:t>printed</a:t>
                      </a:r>
                    </a:p>
                  </a:txBody>
                  <a:tcPr marL="82296" marR="82296" marT="22860" marB="22860" anchor="ctr">
                    <a:solidFill>
                      <a:srgbClr val="2F6D62"/>
                    </a:solidFill>
                  </a:tcPr>
                </a:tc>
                <a:tc>
                  <a:txBody>
                    <a:bodyPr wrap="none"/>
                    <a:lstStyle/>
                    <a:p>
                      <a:r>
                        <a:rPr sz="850" b="1">
                          <a:solidFill>
                            <a:srgbClr val="FFFFFF"/>
                          </a:solidFill>
                          <a:latin typeface="Calibri"/>
                        </a:rPr>
                        <a:t>result</a:t>
                      </a:r>
                    </a:p>
                  </a:txBody>
                  <a:tcPr marL="82296" marR="82296" marT="22860" marB="22860" anchor="ctr">
                    <a:solidFill>
                      <a:srgbClr val="2F6D62"/>
                    </a:solidFill>
                  </a:tcPr>
                </a:tc>
              </a:tr>
              <a:tr h="228600">
                <a:tc>
                  <a:txBody>
                    <a:bodyPr wrap="none"/>
                    <a:lstStyle/>
                    <a:p>
                      <a:r>
                        <a:rPr sz="850" b="0">
                          <a:solidFill>
                            <a:srgbClr val="2B2622"/>
                          </a:solidFill>
                          <a:latin typeface="Calibri"/>
                        </a:rPr>
                        <a:t>after assign, append, insert</a:t>
                      </a:r>
                    </a:p>
                  </a:txBody>
                  <a:tcPr marL="82296" marR="82296" marT="22860" marB="22860" anchor="ctr">
                    <a:solidFill>
                      <a:srgbClr val="FFFFFF"/>
                    </a:solidFill>
                  </a:tcPr>
                </a:tc>
                <a:tc>
                  <a:txBody>
                    <a:bodyPr wrap="none"/>
                    <a:lstStyle/>
                    <a:p>
                      <a:r>
                        <a:rPr sz="850" b="0">
                          <a:solidFill>
                            <a:srgbClr val="2B2622"/>
                          </a:solidFill>
                          <a:latin typeface="Courier New"/>
                        </a:rPr>
                        <a:t>['cat', 'chicken', 'aardvark', 'rat', 'elephant', 'moose']</a:t>
                      </a:r>
                    </a:p>
                  </a:txBody>
                  <a:tcPr marL="82296" marR="82296" marT="22860" marB="22860" anchor="ctr">
                    <a:solidFill>
                      <a:srgbClr val="FFFFFF"/>
                    </a:solidFill>
                  </a:tcPr>
                </a:tc>
              </a:tr>
              <a:tr h="228600">
                <a:tc>
                  <a:txBody>
                    <a:bodyPr wrap="none"/>
                    <a:lstStyle/>
                    <a:p>
                      <a:r>
                        <a:rPr sz="850" b="0">
                          <a:solidFill>
                            <a:srgbClr val="2B2622"/>
                          </a:solidFill>
                          <a:latin typeface="Calibri"/>
                        </a:rPr>
                        <a:t>pop() and the length after it</a:t>
                      </a:r>
                    </a:p>
                  </a:txBody>
                  <a:tcPr marL="82296" marR="82296" marT="22860" marB="22860" anchor="ctr">
                    <a:solidFill>
                      <a:srgbClr val="F1ECE2"/>
                    </a:solidFill>
                  </a:tcPr>
                </a:tc>
                <a:tc>
                  <a:txBody>
                    <a:bodyPr wrap="none"/>
                    <a:lstStyle/>
                    <a:p>
                      <a:r>
                        <a:rPr sz="850" b="0">
                          <a:solidFill>
                            <a:srgbClr val="2B2622"/>
                          </a:solidFill>
                          <a:latin typeface="Courier New"/>
                        </a:rPr>
                        <a:t>moose 5</a:t>
                      </a:r>
                    </a:p>
                  </a:txBody>
                  <a:tcPr marL="82296" marR="82296" marT="22860" marB="22860" anchor="ctr">
                    <a:solidFill>
                      <a:srgbClr val="F1ECE2"/>
                    </a:solidFill>
                  </a:tcPr>
                </a:tc>
              </a:tr>
              <a:tr h="228600">
                <a:tc>
                  <a:txBody>
                    <a:bodyPr wrap="none"/>
                    <a:lstStyle/>
                    <a:p>
                      <a:r>
                        <a:rPr sz="850" b="0">
                          <a:solidFill>
                            <a:srgbClr val="2B2622"/>
                          </a:solidFill>
                          <a:latin typeface="Calibri"/>
                        </a:rPr>
                        <a:t>after del and remove</a:t>
                      </a:r>
                    </a:p>
                  </a:txBody>
                  <a:tcPr marL="82296" marR="82296" marT="22860" marB="22860" anchor="ctr">
                    <a:solidFill>
                      <a:srgbClr val="FFFFFF"/>
                    </a:solidFill>
                  </a:tcPr>
                </a:tc>
                <a:tc>
                  <a:txBody>
                    <a:bodyPr wrap="none"/>
                    <a:lstStyle/>
                    <a:p>
                      <a:r>
                        <a:rPr sz="850" b="0">
                          <a:solidFill>
                            <a:srgbClr val="2B2622"/>
                          </a:solidFill>
                          <a:latin typeface="Courier New"/>
                        </a:rPr>
                        <a:t>['chicken', 'aardvark', 'elephant']</a:t>
                      </a:r>
                    </a:p>
                  </a:txBody>
                  <a:tcPr marL="82296" marR="82296" marT="22860" marB="22860" anchor="ctr">
                    <a:solidFill>
                      <a:srgbClr val="FFFFFF"/>
                    </a:solidFill>
                  </a:tcPr>
                </a:tc>
              </a:tr>
            </a:tbl>
          </a:graphicData>
        </a:graphic>
      </p:graphicFrame>
      <p:graphicFrame>
        <p:nvGraphicFramePr>
          <p:cNvPr id="12" name="result chart" descr="Chart: length of spam after each change - start 4, assign 4, append 5, insert 6, pop 5, del 4, remove 3"/>
          <p:cNvGraphicFramePr>
            <a:graphicFrameLocks noGrp="1"/>
          </p:cNvGraphicFramePr>
          <p:nvPr/>
        </p:nvGraphicFramePr>
        <p:xfrm>
          <a:off x="6272911" y="2926080"/>
          <a:ext cx="2551048" cy="1572767"/>
        </p:xfrm>
        <a:graphic>
          <a:graphicData uri="http://schemas.openxmlformats.org/drawingml/2006/chart">
            <c:chart xmlns:c="http://schemas.openxmlformats.org/drawingml/2006/chart" r:id="rId2"/>
          </a:graphicData>
        </a:graphic>
      </p:graphicFrame>
      <p:sp>
        <p:nvSpPr>
          <p:cNvPr id="13"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append, insert, pop, del and remove change the list itself</a:t>
            </a:r>
          </a:p>
        </p:txBody>
      </p:sp>
      <p:sp>
        <p:nvSpPr>
          <p:cNvPr id="14"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14 / 49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Augmented Assignment Operators on lists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 and * build a new list; += and *= change the existing list; the method extend adds many items at once.</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A5D6FF"/>
                </a:solidFill>
                <a:latin typeface="Courier New"/>
              </a:rPr>
              <a:t>'X'</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Joining and repeating make new lists; spam itself is untouched by these two lines.</a:t>
            </a:r>
          </a:p>
        </p:txBody>
      </p:sp>
      <p:sp>
        <p:nvSpPr>
          <p:cNvPr id="8" name="code"/>
          <p:cNvSpPr/>
          <p:nvPr/>
        </p:nvSpPr>
        <p:spPr>
          <a:xfrm>
            <a:off x="365760" y="1682496"/>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4</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extend</a:t>
            </a:r>
            <a:r>
              <a:rPr sz="1100" b="0" i="0">
                <a:solidFill>
                  <a:srgbClr val="E6EDF3"/>
                </a:solidFill>
                <a:latin typeface="Courier New"/>
              </a:rPr>
              <a:t>(</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p>
        </p:txBody>
      </p:sp>
      <p:sp>
        <p:nvSpPr>
          <p:cNvPr id="9" name="Rectangle 8"/>
          <p:cNvSpPr/>
          <p:nvPr/>
        </p:nvSpPr>
        <p:spPr>
          <a:xfrm>
            <a:off x="5321808" y="1682496"/>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 and *= update spam in place. A method such as extend is called on the list with a dot.</a:t>
            </a:r>
          </a:p>
        </p:txBody>
      </p:sp>
      <p:graphicFrame>
        <p:nvGraphicFramePr>
          <p:cNvPr id="11" name="result table" descr="Result table: spam + ['A', 'B'] -&gt; [1, 2, 3, 'A', 'B']; ['X', 'Y'] * 3 -&gt; ['X', 'Y', 'X', 'Y', 'X', 'Y']; after += and *= -&gt; [1, 2, 3, 4, 1, 2, 3, 4]; after extend -&gt; [1, 2, 3, 4, 1, 2, 3, 4, 'A', 'B']"/>
          <p:cNvGraphicFramePr>
            <a:graphicFrameLocks noGrp="1"/>
          </p:cNvGraphicFramePr>
          <p:nvPr/>
        </p:nvGraphicFramePr>
        <p:xfrm>
          <a:off x="365760" y="2776728"/>
          <a:ext cx="4072636" cy="1143000"/>
        </p:xfrm>
        <a:graphic>
          <a:graphicData uri="http://schemas.openxmlformats.org/drawingml/2006/table">
            <a:tbl>
              <a:tblPr firstRow="1">
                <a:tableStyleId>{5C22544A-7EE6-4342-B048-85BDC9FD1C3A}</a:tableStyleId>
              </a:tblPr>
              <a:tblGrid>
                <a:gridCol w="1280668"/>
                <a:gridCol w="27919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spam + ['A', 'B']</a:t>
                      </a:r>
                    </a:p>
                  </a:txBody>
                  <a:tcPr marL="82296" marR="82296" marT="22860" marB="22860" anchor="ctr">
                    <a:solidFill>
                      <a:srgbClr val="FFFFFF"/>
                    </a:solidFill>
                  </a:tcPr>
                </a:tc>
                <a:tc>
                  <a:txBody>
                    <a:bodyPr wrap="none"/>
                    <a:lstStyle/>
                    <a:p>
                      <a:r>
                        <a:rPr sz="1000" b="0">
                          <a:solidFill>
                            <a:srgbClr val="2B2622"/>
                          </a:solidFill>
                          <a:latin typeface="Courier New"/>
                        </a:rPr>
                        <a:t>[1, 2, 3, 'A', 'B']</a:t>
                      </a:r>
                    </a:p>
                  </a:txBody>
                  <a:tcPr marL="82296" marR="82296" marT="22860" marB="22860" anchor="ctr">
                    <a:solidFill>
                      <a:srgbClr val="FFFFFF"/>
                    </a:solidFill>
                  </a:tcPr>
                </a:tc>
              </a:tr>
              <a:tr h="228600">
                <a:tc>
                  <a:txBody>
                    <a:bodyPr wrap="none"/>
                    <a:lstStyle/>
                    <a:p>
                      <a:r>
                        <a:rPr sz="1000" b="0">
                          <a:solidFill>
                            <a:srgbClr val="2B2622"/>
                          </a:solidFill>
                          <a:latin typeface="Calibri"/>
                        </a:rPr>
                        <a:t>['X', 'Y'] * 3</a:t>
                      </a:r>
                    </a:p>
                  </a:txBody>
                  <a:tcPr marL="82296" marR="82296" marT="22860" marB="22860" anchor="ctr">
                    <a:solidFill>
                      <a:srgbClr val="F1ECE2"/>
                    </a:solidFill>
                  </a:tcPr>
                </a:tc>
                <a:tc>
                  <a:txBody>
                    <a:bodyPr wrap="none"/>
                    <a:lstStyle/>
                    <a:p>
                      <a:r>
                        <a:rPr sz="1000" b="0">
                          <a:solidFill>
                            <a:srgbClr val="2B2622"/>
                          </a:solidFill>
                          <a:latin typeface="Courier New"/>
                        </a:rPr>
                        <a:t>['X', 'Y', 'X', 'Y', 'X', 'Y']</a:t>
                      </a:r>
                    </a:p>
                  </a:txBody>
                  <a:tcPr marL="82296" marR="82296" marT="22860" marB="22860" anchor="ctr">
                    <a:solidFill>
                      <a:srgbClr val="F1ECE2"/>
                    </a:solidFill>
                  </a:tcPr>
                </a:tc>
              </a:tr>
              <a:tr h="228600">
                <a:tc>
                  <a:txBody>
                    <a:bodyPr wrap="none"/>
                    <a:lstStyle/>
                    <a:p>
                      <a:r>
                        <a:rPr sz="1000" b="0">
                          <a:solidFill>
                            <a:srgbClr val="2B2622"/>
                          </a:solidFill>
                          <a:latin typeface="Calibri"/>
                        </a:rPr>
                        <a:t>after += and *=</a:t>
                      </a:r>
                    </a:p>
                  </a:txBody>
                  <a:tcPr marL="82296" marR="82296" marT="22860" marB="22860" anchor="ctr">
                    <a:solidFill>
                      <a:srgbClr val="FFFFFF"/>
                    </a:solidFill>
                  </a:tcPr>
                </a:tc>
                <a:tc>
                  <a:txBody>
                    <a:bodyPr wrap="none"/>
                    <a:lstStyle/>
                    <a:p>
                      <a:r>
                        <a:rPr sz="1000" b="0">
                          <a:solidFill>
                            <a:srgbClr val="2B2622"/>
                          </a:solidFill>
                          <a:latin typeface="Courier New"/>
                        </a:rPr>
                        <a:t>[1, 2, 3, 4, 1, 2, 3, 4]</a:t>
                      </a:r>
                    </a:p>
                  </a:txBody>
                  <a:tcPr marL="82296" marR="82296" marT="22860" marB="22860" anchor="ctr">
                    <a:solidFill>
                      <a:srgbClr val="FFFFFF"/>
                    </a:solidFill>
                  </a:tcPr>
                </a:tc>
              </a:tr>
              <a:tr h="228600">
                <a:tc>
                  <a:txBody>
                    <a:bodyPr wrap="none"/>
                    <a:lstStyle/>
                    <a:p>
                      <a:r>
                        <a:rPr sz="1000" b="0">
                          <a:solidFill>
                            <a:srgbClr val="2B2622"/>
                          </a:solidFill>
                          <a:latin typeface="Calibri"/>
                        </a:rPr>
                        <a:t>after extend</a:t>
                      </a:r>
                    </a:p>
                  </a:txBody>
                  <a:tcPr marL="82296" marR="82296" marT="22860" marB="22860" anchor="ctr">
                    <a:solidFill>
                      <a:srgbClr val="F1ECE2"/>
                    </a:solidFill>
                  </a:tcPr>
                </a:tc>
                <a:tc>
                  <a:txBody>
                    <a:bodyPr wrap="none"/>
                    <a:lstStyle/>
                    <a:p>
                      <a:r>
                        <a:rPr sz="1000" b="0">
                          <a:solidFill>
                            <a:srgbClr val="2B2622"/>
                          </a:solidFill>
                          <a:latin typeface="Courier New"/>
                        </a:rPr>
                        <a:t>[1, 2, 3, 4, 1, 2, 3, 4, 'A', 'B']</a:t>
                      </a:r>
                    </a:p>
                  </a:txBody>
                  <a:tcPr marL="82296" marR="82296" marT="22860" marB="22860" anchor="ctr">
                    <a:solidFill>
                      <a:srgbClr val="F1ECE2"/>
                    </a:solidFill>
                  </a:tcPr>
                </a:tc>
              </a:tr>
            </a:tbl>
          </a:graphicData>
        </a:graphic>
      </p:graphicFrame>
      <p:graphicFrame>
        <p:nvGraphicFramePr>
          <p:cNvPr id="12" name="result chart" descr="Chart: length of spam - start 3, += [4] 4, *= 2 8, extend 10"/>
          <p:cNvGraphicFramePr>
            <a:graphicFrameLocks noGrp="1"/>
          </p:cNvGraphicFramePr>
          <p:nvPr/>
        </p:nvGraphicFramePr>
        <p:xfrm>
          <a:off x="4621276" y="2758440"/>
          <a:ext cx="4202684" cy="1740407"/>
        </p:xfrm>
        <a:graphic>
          <a:graphicData uri="http://schemas.openxmlformats.org/drawingml/2006/chart">
            <c:chart xmlns:c="http://schemas.openxmlformats.org/drawingml/2006/chart" r:id="rId2"/>
          </a:graphicData>
        </a:graphic>
      </p:graphicFrame>
      <p:sp>
        <p:nvSpPr>
          <p:cNvPr id="13"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 makes a new list; += changes the list you have</a:t>
            </a:r>
          </a:p>
        </p:txBody>
      </p:sp>
      <p:sp>
        <p:nvSpPr>
          <p:cNvPr id="14"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15 / 49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Searching a list: in, index, count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The in operator answers yes or no; index() answers where, and fails with a ValueError when the item is missing.</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pets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'Zophie'</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'Pooka'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'Fat-tail'</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'Pooka'</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A5D6FF"/>
                </a:solidFill>
                <a:latin typeface="Courier New"/>
              </a:rPr>
              <a:t>'Pooka'</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pets</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'Cat'</a:t>
            </a:r>
            <a:r>
              <a:rPr sz="1100" b="0" i="0">
                <a:solidFill>
                  <a:srgbClr val="E6EDF3"/>
                </a:solidFill>
                <a:latin typeface="Courier New"/>
              </a:rPr>
              <a:t> </a:t>
            </a:r>
            <a:r>
              <a:rPr sz="1100" b="0" i="0">
                <a:solidFill>
                  <a:srgbClr val="FF7B72"/>
                </a:solidFill>
                <a:latin typeface="Courier New"/>
              </a:rPr>
              <a:t>not</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pets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pets</a:t>
            </a:r>
            <a:r>
              <a:rPr sz="1100" b="0" i="0">
                <a:solidFill>
                  <a:srgbClr val="E6EDF3"/>
                </a:solidFill>
                <a:latin typeface="Courier New"/>
              </a:rPr>
              <a:t>.</a:t>
            </a:r>
            <a:r>
              <a:rPr sz="1100" b="0" i="0">
                <a:solidFill>
                  <a:srgbClr val="E6EDF3"/>
                </a:solidFill>
                <a:latin typeface="Courier New"/>
              </a:rPr>
              <a:t>index</a:t>
            </a:r>
            <a:r>
              <a:rPr sz="1100" b="0" i="0">
                <a:solidFill>
                  <a:srgbClr val="E6EDF3"/>
                </a:solidFill>
                <a:latin typeface="Courier New"/>
              </a:rPr>
              <a:t>(</a:t>
            </a:r>
            <a:r>
              <a:rPr sz="1100" b="0" i="0">
                <a:solidFill>
                  <a:srgbClr val="A5D6FF"/>
                </a:solidFill>
                <a:latin typeface="Courier New"/>
              </a:rPr>
              <a:t>'Pooka'</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in and not in give True or False. index() gives the first place where the item stands.</a:t>
            </a:r>
          </a:p>
        </p:txBody>
      </p:sp>
      <p:sp>
        <p:nvSpPr>
          <p:cNvPr id="8" name="code"/>
          <p:cNvSpPr/>
          <p:nvPr/>
        </p:nvSpPr>
        <p:spPr>
          <a:xfrm>
            <a:off x="365760" y="1682496"/>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try</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pets</a:t>
            </a:r>
            <a:r>
              <a:rPr sz="1100" b="0" i="0">
                <a:solidFill>
                  <a:srgbClr val="E6EDF3"/>
                </a:solidFill>
                <a:latin typeface="Courier New"/>
              </a:rPr>
              <a:t>.</a:t>
            </a:r>
            <a:r>
              <a:rPr sz="1100" b="0" i="0">
                <a:solidFill>
                  <a:srgbClr val="E6EDF3"/>
                </a:solidFill>
                <a:latin typeface="Courier New"/>
              </a:rPr>
              <a:t>index</a:t>
            </a:r>
            <a:r>
              <a:rPr sz="1100" b="0" i="0">
                <a:solidFill>
                  <a:srgbClr val="E6EDF3"/>
                </a:solidFill>
                <a:latin typeface="Courier New"/>
              </a:rPr>
              <a:t>(</a:t>
            </a:r>
            <a:r>
              <a:rPr sz="1100" b="0" i="0">
                <a:solidFill>
                  <a:srgbClr val="A5D6FF"/>
                </a:solidFill>
                <a:latin typeface="Courier New"/>
              </a:rPr>
              <a:t>'Cat'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except</a:t>
            </a:r>
            <a:r>
              <a:rPr sz="1100" b="0" i="0">
                <a:solidFill>
                  <a:srgbClr val="E6EDF3"/>
                </a:solidFill>
                <a:latin typeface="Courier New"/>
              </a:rPr>
              <a:t> </a:t>
            </a:r>
            <a:r>
              <a:rPr sz="1100" b="0" i="0">
                <a:solidFill>
                  <a:srgbClr val="E6EDF3"/>
                </a:solidFill>
                <a:latin typeface="Courier New"/>
              </a:rPr>
              <a:t>ValueError</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A5D6FF"/>
                </a:solidFill>
                <a:latin typeface="Courier New"/>
              </a:rPr>
              <a:t>'Cat is not in the list'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pets</a:t>
            </a:r>
            <a:r>
              <a:rPr sz="1100" b="0" i="0">
                <a:solidFill>
                  <a:srgbClr val="E6EDF3"/>
                </a:solidFill>
                <a:latin typeface="Courier New"/>
              </a:rPr>
              <a:t>.</a:t>
            </a:r>
            <a:r>
              <a:rPr sz="1100" b="0" i="0">
                <a:solidFill>
                  <a:srgbClr val="E6EDF3"/>
                </a:solidFill>
                <a:latin typeface="Courier New"/>
              </a:rPr>
              <a:t>count</a:t>
            </a:r>
            <a:r>
              <a:rPr sz="1100" b="0" i="0">
                <a:solidFill>
                  <a:srgbClr val="E6EDF3"/>
                </a:solidFill>
                <a:latin typeface="Courier New"/>
              </a:rPr>
              <a:t>(</a:t>
            </a:r>
            <a:r>
              <a:rPr sz="1100" b="0" i="0">
                <a:solidFill>
                  <a:srgbClr val="A5D6FF"/>
                </a:solidFill>
                <a:latin typeface="Courier New"/>
              </a:rPr>
              <a:t>'Pooka'</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82496"/>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missing item is an error for index(), so guard it with try. count() tells how often an item occurs.</a:t>
            </a:r>
          </a:p>
        </p:txBody>
      </p:sp>
      <p:graphicFrame>
        <p:nvGraphicFramePr>
          <p:cNvPr id="11" name="result table" descr="Result table: 'Pooka' in pets, 'Cat' not in pets -&gt; True True; pets.index('Pooka') -&gt; 1; pets.index('Cat') guarded -&gt; Cat is not in the list; pets.count('Pooka') -&gt; 2"/>
          <p:cNvGraphicFramePr>
            <a:graphicFrameLocks noGrp="1"/>
          </p:cNvGraphicFramePr>
          <p:nvPr/>
        </p:nvGraphicFramePr>
        <p:xfrm>
          <a:off x="365760" y="2776728"/>
          <a:ext cx="4237736" cy="1143000"/>
        </p:xfrm>
        <a:graphic>
          <a:graphicData uri="http://schemas.openxmlformats.org/drawingml/2006/table">
            <a:tbl>
              <a:tblPr firstRow="1">
                <a:tableStyleId>{5C22544A-7EE6-4342-B048-85BDC9FD1C3A}</a:tableStyleId>
              </a:tblPr>
              <a:tblGrid>
                <a:gridCol w="2360168"/>
                <a:gridCol w="18775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'Pooka' in pets, 'Cat' not in pets</a:t>
                      </a:r>
                    </a:p>
                  </a:txBody>
                  <a:tcPr marL="82296" marR="82296" marT="22860" marB="22860" anchor="ctr">
                    <a:solidFill>
                      <a:srgbClr val="FFFFFF"/>
                    </a:solidFill>
                  </a:tcPr>
                </a:tc>
                <a:tc>
                  <a:txBody>
                    <a:bodyPr wrap="none"/>
                    <a:lstStyle/>
                    <a:p>
                      <a:r>
                        <a:rPr sz="1000" b="0">
                          <a:solidFill>
                            <a:srgbClr val="2B2622"/>
                          </a:solidFill>
                          <a:latin typeface="Courier New"/>
                        </a:rPr>
                        <a:t>True True</a:t>
                      </a:r>
                    </a:p>
                  </a:txBody>
                  <a:tcPr marL="82296" marR="82296" marT="22860" marB="22860" anchor="ctr">
                    <a:solidFill>
                      <a:srgbClr val="FFFFFF"/>
                    </a:solidFill>
                  </a:tcPr>
                </a:tc>
              </a:tr>
              <a:tr h="228600">
                <a:tc>
                  <a:txBody>
                    <a:bodyPr wrap="none"/>
                    <a:lstStyle/>
                    <a:p>
                      <a:r>
                        <a:rPr sz="1000" b="0">
                          <a:solidFill>
                            <a:srgbClr val="2B2622"/>
                          </a:solidFill>
                          <a:latin typeface="Calibri"/>
                        </a:rPr>
                        <a:t>pets.index('Pooka')</a:t>
                      </a:r>
                    </a:p>
                  </a:txBody>
                  <a:tcPr marL="82296" marR="82296" marT="22860" marB="22860" anchor="ctr">
                    <a:solidFill>
                      <a:srgbClr val="F1ECE2"/>
                    </a:solidFill>
                  </a:tcPr>
                </a:tc>
                <a:tc>
                  <a:txBody>
                    <a:bodyPr wrap="none"/>
                    <a:lstStyle/>
                    <a:p>
                      <a:r>
                        <a:rPr sz="1000" b="0">
                          <a:solidFill>
                            <a:srgbClr val="2B2622"/>
                          </a:solidFill>
                          <a:latin typeface="Courier New"/>
                        </a:rPr>
                        <a:t>1</a:t>
                      </a:r>
                    </a:p>
                  </a:txBody>
                  <a:tcPr marL="82296" marR="82296" marT="22860" marB="22860" anchor="ctr">
                    <a:solidFill>
                      <a:srgbClr val="F1ECE2"/>
                    </a:solidFill>
                  </a:tcPr>
                </a:tc>
              </a:tr>
              <a:tr h="228600">
                <a:tc>
                  <a:txBody>
                    <a:bodyPr wrap="none"/>
                    <a:lstStyle/>
                    <a:p>
                      <a:r>
                        <a:rPr sz="1000" b="0">
                          <a:solidFill>
                            <a:srgbClr val="2B2622"/>
                          </a:solidFill>
                          <a:latin typeface="Calibri"/>
                        </a:rPr>
                        <a:t>pets.index('Cat') guarded</a:t>
                      </a:r>
                    </a:p>
                  </a:txBody>
                  <a:tcPr marL="82296" marR="82296" marT="22860" marB="22860" anchor="ctr">
                    <a:solidFill>
                      <a:srgbClr val="FFFFFF"/>
                    </a:solidFill>
                  </a:tcPr>
                </a:tc>
                <a:tc>
                  <a:txBody>
                    <a:bodyPr wrap="none"/>
                    <a:lstStyle/>
                    <a:p>
                      <a:r>
                        <a:rPr sz="1000" b="0">
                          <a:solidFill>
                            <a:srgbClr val="2B2622"/>
                          </a:solidFill>
                          <a:latin typeface="Courier New"/>
                        </a:rPr>
                        <a:t>Cat is not in the list</a:t>
                      </a:r>
                    </a:p>
                  </a:txBody>
                  <a:tcPr marL="82296" marR="82296" marT="22860" marB="22860" anchor="ctr">
                    <a:solidFill>
                      <a:srgbClr val="FFFFFF"/>
                    </a:solidFill>
                  </a:tcPr>
                </a:tc>
              </a:tr>
              <a:tr h="228600">
                <a:tc>
                  <a:txBody>
                    <a:bodyPr wrap="none"/>
                    <a:lstStyle/>
                    <a:p>
                      <a:r>
                        <a:rPr sz="1000" b="0">
                          <a:solidFill>
                            <a:srgbClr val="2B2622"/>
                          </a:solidFill>
                          <a:latin typeface="Calibri"/>
                        </a:rPr>
                        <a:t>pets.count('Pooka')</a:t>
                      </a:r>
                    </a:p>
                  </a:txBody>
                  <a:tcPr marL="82296" marR="82296" marT="22860" marB="22860" anchor="ctr">
                    <a:solidFill>
                      <a:srgbClr val="F1ECE2"/>
                    </a:solidFill>
                  </a:tcPr>
                </a:tc>
                <a:tc>
                  <a:txBody>
                    <a:bodyPr wrap="none"/>
                    <a:lstStyle/>
                    <a:p>
                      <a:r>
                        <a:rPr sz="1000" b="0">
                          <a:solidFill>
                            <a:srgbClr val="2B2622"/>
                          </a:solidFill>
                          <a:latin typeface="Courier New"/>
                        </a:rPr>
                        <a:t>2</a:t>
                      </a:r>
                    </a:p>
                  </a:txBody>
                  <a:tcPr marL="82296" marR="82296" marT="22860" marB="22860" anchor="ctr">
                    <a:solidFill>
                      <a:srgbClr val="F1ECE2"/>
                    </a:solidFill>
                  </a:tcPr>
                </a:tc>
              </a:tr>
            </a:tbl>
          </a:graphicData>
        </a:graphic>
      </p:graphicFrame>
      <p:sp>
        <p:nvSpPr>
          <p:cNvPr id="12" name="Rounded Rectangle 11"/>
          <p:cNvSpPr/>
          <p:nvPr/>
        </p:nvSpPr>
        <p:spPr>
          <a:xfrm>
            <a:off x="4786376" y="2776728"/>
            <a:ext cx="3763264" cy="27432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FFFFFF"/>
                </a:solidFill>
                <a:latin typeface="Calibri"/>
              </a:rPr>
              <a:t>pets.index('Pooka')  is  1</a:t>
            </a:r>
          </a:p>
        </p:txBody>
      </p:sp>
      <p:cxnSp>
        <p:nvCxnSpPr>
          <p:cNvPr id="13" name="Connector 12"/>
          <p:cNvCxnSpPr/>
          <p:nvPr/>
        </p:nvCxnSpPr>
        <p:spPr>
          <a:xfrm>
            <a:off x="6294755" y="3051048"/>
            <a:ext cx="0" cy="27432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86376" y="3343656"/>
            <a:ext cx="975106" cy="50292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Zophie</a:t>
            </a:r>
          </a:p>
          <a:p>
            <a:pPr algn="ctr">
              <a:spcBef>
                <a:spcPts val="0"/>
              </a:spcBef>
              <a:spcAft>
                <a:spcPts val="0"/>
              </a:spcAft>
            </a:pPr>
            <a:r>
              <a:rPr sz="900" b="0" i="0">
                <a:solidFill>
                  <a:srgbClr val="6E655C"/>
                </a:solidFill>
                <a:latin typeface="Calibri"/>
              </a:rPr>
              <a:t>number 0</a:t>
            </a:r>
          </a:p>
        </p:txBody>
      </p:sp>
      <p:sp>
        <p:nvSpPr>
          <p:cNvPr id="15" name="Rounded Rectangle 14"/>
          <p:cNvSpPr/>
          <p:nvPr/>
        </p:nvSpPr>
        <p:spPr>
          <a:xfrm>
            <a:off x="5807202" y="3343656"/>
            <a:ext cx="975106" cy="50292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Pooka</a:t>
            </a:r>
          </a:p>
          <a:p>
            <a:pPr algn="ctr">
              <a:spcBef>
                <a:spcPts val="0"/>
              </a:spcBef>
              <a:spcAft>
                <a:spcPts val="0"/>
              </a:spcAft>
            </a:pPr>
            <a:r>
              <a:rPr sz="900" b="0" i="0">
                <a:solidFill>
                  <a:srgbClr val="6E655C"/>
                </a:solidFill>
                <a:latin typeface="Calibri"/>
              </a:rPr>
              <a:t>number 1</a:t>
            </a:r>
          </a:p>
        </p:txBody>
      </p:sp>
      <p:sp>
        <p:nvSpPr>
          <p:cNvPr id="16" name="Rounded Rectangle 15"/>
          <p:cNvSpPr/>
          <p:nvPr/>
        </p:nvSpPr>
        <p:spPr>
          <a:xfrm>
            <a:off x="6828028" y="3343656"/>
            <a:ext cx="975106" cy="50292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Fat-tail</a:t>
            </a:r>
          </a:p>
          <a:p>
            <a:pPr algn="ctr">
              <a:spcBef>
                <a:spcPts val="0"/>
              </a:spcBef>
              <a:spcAft>
                <a:spcPts val="0"/>
              </a:spcAft>
            </a:pPr>
            <a:r>
              <a:rPr sz="900" b="0" i="0">
                <a:solidFill>
                  <a:srgbClr val="6E655C"/>
                </a:solidFill>
                <a:latin typeface="Calibri"/>
              </a:rPr>
              <a:t>number 2</a:t>
            </a:r>
          </a:p>
        </p:txBody>
      </p:sp>
      <p:sp>
        <p:nvSpPr>
          <p:cNvPr id="17" name="Rounded Rectangle 16"/>
          <p:cNvSpPr/>
          <p:nvPr/>
        </p:nvSpPr>
        <p:spPr>
          <a:xfrm>
            <a:off x="7848854" y="3343656"/>
            <a:ext cx="975106" cy="50292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Pooka</a:t>
            </a:r>
          </a:p>
          <a:p>
            <a:pPr algn="ctr">
              <a:spcBef>
                <a:spcPts val="0"/>
              </a:spcBef>
              <a:spcAft>
                <a:spcPts val="0"/>
              </a:spcAft>
            </a:pPr>
            <a:r>
              <a:rPr sz="900" b="0" i="0">
                <a:solidFill>
                  <a:srgbClr val="6E655C"/>
                </a:solidFill>
                <a:latin typeface="Calibri"/>
              </a:rPr>
              <a:t>number 3</a:t>
            </a:r>
          </a:p>
        </p:txBody>
      </p:sp>
      <p:sp>
        <p:nvSpPr>
          <p:cNvPr id="18" name="diagram caption"/>
          <p:cNvSpPr txBox="1"/>
          <p:nvPr/>
        </p:nvSpPr>
        <p:spPr>
          <a:xfrm>
            <a:off x="4786376" y="3901440"/>
            <a:ext cx="4037584" cy="219456"/>
          </a:xfrm>
          <a:prstGeom prst="rect">
            <a:avLst/>
          </a:prstGeom>
          <a:noFill/>
        </p:spPr>
        <p:txBody>
          <a:bodyPr wrap="square" lIns="73152" tIns="36576" rIns="73152" bIns="36576" anchor="t">
            <a:noAutofit/>
          </a:bodyPr>
          <a:lstStyle/>
          <a:p>
            <a:pPr algn="ctr">
              <a:spcBef>
                <a:spcPts val="0"/>
              </a:spcBef>
              <a:spcAft>
                <a:spcPts val="0"/>
              </a:spcAft>
            </a:pPr>
            <a:r>
              <a:rPr sz="1000" b="0" i="1">
                <a:solidFill>
                  <a:srgbClr val="6E655C"/>
                </a:solidFill>
                <a:latin typeface="Calibri"/>
              </a:rPr>
              <a:t>count('Pooka') = 2</a:t>
            </a:r>
          </a:p>
        </p:txBody>
      </p:sp>
      <p:sp>
        <p:nvSpPr>
          <p:cNvPr id="1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in asks whether; index asks where</a:t>
            </a:r>
          </a:p>
        </p:txBody>
      </p:sp>
      <p:sp>
        <p:nvSpPr>
          <p:cNvPr id="2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16 / 49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Short-Circuiting Boolean Operators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and and or stop as soon as the answer is known; the second operand is then never evaluated, so it cannot fail.</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 </a:t>
            </a:r>
            <a:r>
              <a:rPr sz="1100" b="0" i="0">
                <a:solidFill>
                  <a:srgbClr val="FF7B72"/>
                </a:solidFill>
                <a:latin typeface="Courier New"/>
              </a:rPr>
              <a:t>and</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'cat'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bool</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An empty list counts as false, so and stops at once and spam[0] is never tried: no IndexError.</a:t>
            </a:r>
          </a:p>
        </p:txBody>
      </p:sp>
      <p:sp>
        <p:nvSpPr>
          <p:cNvPr id="8" name="code"/>
          <p:cNvSpPr/>
          <p:nvPr/>
        </p:nvSpPr>
        <p:spPr>
          <a:xfrm>
            <a:off x="365760" y="168249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name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a:t>
            </a:r>
            <a:r>
              <a:rPr sz="1100" b="0" i="0">
                <a:solidFill>
                  <a:srgbClr val="E6EDF3"/>
                </a:solidFill>
                <a:latin typeface="Courier New"/>
              </a:rPr>
              <a:t> </a:t>
            </a:r>
            <a:r>
              <a:rPr sz="1100" b="0" i="0">
                <a:solidFill>
                  <a:srgbClr val="FF7B72"/>
                </a:solidFill>
                <a:latin typeface="Courier New"/>
              </a:rPr>
              <a:t>or</a:t>
            </a:r>
            <a:r>
              <a:rPr sz="1100" b="0" i="0">
                <a:solidFill>
                  <a:srgbClr val="E6EDF3"/>
                </a:solidFill>
                <a:latin typeface="Courier New"/>
              </a:rPr>
              <a:t> </a:t>
            </a:r>
            <a:r>
              <a:rPr sz="1100" b="0" i="0">
                <a:solidFill>
                  <a:srgbClr val="A5D6FF"/>
                </a:solidFill>
                <a:latin typeface="Courier New"/>
              </a:rPr>
              <a:t>'Guest'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 </a:t>
            </a:r>
            <a:r>
              <a:rPr sz="1100" b="0" i="0">
                <a:solidFill>
                  <a:srgbClr val="FF7B72"/>
                </a:solidFill>
                <a:latin typeface="Courier New"/>
              </a:rPr>
              <a:t>or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7B72"/>
                </a:solidFill>
                <a:latin typeface="Courier New"/>
              </a:rPr>
              <a:t>or</a:t>
            </a:r>
            <a:r>
              <a:rPr sz="1100" b="0" i="0">
                <a:solidFill>
                  <a:srgbClr val="E6EDF3"/>
                </a:solidFill>
                <a:latin typeface="Courier New"/>
              </a:rPr>
              <a:t> </a:t>
            </a:r>
            <a:r>
              <a:rPr sz="1100" b="0" i="0">
                <a:solidFill>
                  <a:srgbClr val="A5D6FF"/>
                </a:solidFill>
                <a:latin typeface="Courier New"/>
              </a:rPr>
              <a:t>'last'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 </a:t>
            </a:r>
            <a:r>
              <a:rPr sz="1100" b="0" i="0">
                <a:solidFill>
                  <a:srgbClr val="FF7B72"/>
                </a:solidFill>
                <a:latin typeface="Courier New"/>
              </a:rPr>
              <a:t>and</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 </a:t>
            </a:r>
            <a:r>
              <a:rPr sz="1100" b="0" i="0">
                <a:solidFill>
                  <a:srgbClr val="FF7B72"/>
                </a:solidFill>
                <a:latin typeface="Courier New"/>
              </a:rPr>
              <a:t>and</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p>
        </p:txBody>
      </p:sp>
      <p:sp>
        <p:nvSpPr>
          <p:cNvPr id="9" name="Rectangle 8"/>
          <p:cNvSpPr/>
          <p:nvPr/>
        </p:nvSpPr>
        <p:spPr>
          <a:xfrm>
            <a:off x="5321808" y="168249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or returns the first true value it meets; and returns the first false one, else the last value.</a:t>
            </a:r>
          </a:p>
        </p:txBody>
      </p:sp>
      <p:graphicFrame>
        <p:nvGraphicFramePr>
          <p:cNvPr id="11" name="result table" descr="Result table: spam and spam[0] == 'cat' -&gt; []; bool(spam) -&gt; False; name -&gt; Guest; 0 or [] or 'last' -&gt; last; 1 and 2 and 3 -&gt; 3"/>
          <p:cNvGraphicFramePr>
            <a:graphicFrameLocks noGrp="1"/>
          </p:cNvGraphicFramePr>
          <p:nvPr/>
        </p:nvGraphicFramePr>
        <p:xfrm>
          <a:off x="365760" y="2609088"/>
          <a:ext cx="2447036" cy="1371600"/>
        </p:xfrm>
        <a:graphic>
          <a:graphicData uri="http://schemas.openxmlformats.org/drawingml/2006/table">
            <a:tbl>
              <a:tblPr firstRow="1">
                <a:tableStyleId>{5C22544A-7EE6-4342-B048-85BDC9FD1C3A}</a:tableStyleId>
              </a:tblPr>
              <a:tblGrid>
                <a:gridCol w="1788668"/>
                <a:gridCol w="6583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spam and spam[0] == 'cat'</a:t>
                      </a:r>
                    </a:p>
                  </a:txBody>
                  <a:tcPr marL="82296" marR="82296" marT="22860" marB="22860" anchor="ctr">
                    <a:solidFill>
                      <a:srgbClr val="FFFFFF"/>
                    </a:solidFill>
                  </a:tcPr>
                </a:tc>
                <a:tc>
                  <a:txBody>
                    <a:bodyPr wrap="none"/>
                    <a:lstStyle/>
                    <a:p>
                      <a:r>
                        <a:rPr sz="1000" b="0">
                          <a:solidFill>
                            <a:srgbClr val="2B2622"/>
                          </a:solidFill>
                          <a:latin typeface="Courier New"/>
                        </a:rPr>
                        <a:t>[]</a:t>
                      </a:r>
                    </a:p>
                  </a:txBody>
                  <a:tcPr marL="82296" marR="82296" marT="22860" marB="22860" anchor="ctr">
                    <a:solidFill>
                      <a:srgbClr val="FFFFFF"/>
                    </a:solidFill>
                  </a:tcPr>
                </a:tc>
              </a:tr>
              <a:tr h="228600">
                <a:tc>
                  <a:txBody>
                    <a:bodyPr wrap="none"/>
                    <a:lstStyle/>
                    <a:p>
                      <a:r>
                        <a:rPr sz="1000" b="0">
                          <a:solidFill>
                            <a:srgbClr val="2B2622"/>
                          </a:solidFill>
                          <a:latin typeface="Calibri"/>
                        </a:rPr>
                        <a:t>bool(spam)</a:t>
                      </a:r>
                    </a:p>
                  </a:txBody>
                  <a:tcPr marL="82296" marR="82296" marT="22860" marB="22860" anchor="ctr">
                    <a:solidFill>
                      <a:srgbClr val="F1ECE2"/>
                    </a:solidFill>
                  </a:tcPr>
                </a:tc>
                <a:tc>
                  <a:txBody>
                    <a:bodyPr wrap="none"/>
                    <a:lstStyle/>
                    <a:p>
                      <a:r>
                        <a:rPr sz="1000" b="0">
                          <a:solidFill>
                            <a:srgbClr val="2B2622"/>
                          </a:solidFill>
                          <a:latin typeface="Courier New"/>
                        </a:rPr>
                        <a:t>False</a:t>
                      </a:r>
                    </a:p>
                  </a:txBody>
                  <a:tcPr marL="82296" marR="82296" marT="22860" marB="22860" anchor="ctr">
                    <a:solidFill>
                      <a:srgbClr val="F1ECE2"/>
                    </a:solidFill>
                  </a:tcPr>
                </a:tc>
              </a:tr>
              <a:tr h="228600">
                <a:tc>
                  <a:txBody>
                    <a:bodyPr wrap="none"/>
                    <a:lstStyle/>
                    <a:p>
                      <a:r>
                        <a:rPr sz="1000" b="0">
                          <a:solidFill>
                            <a:srgbClr val="2B2622"/>
                          </a:solidFill>
                          <a:latin typeface="Calibri"/>
                        </a:rPr>
                        <a:t>name</a:t>
                      </a:r>
                    </a:p>
                  </a:txBody>
                  <a:tcPr marL="82296" marR="82296" marT="22860" marB="22860" anchor="ctr">
                    <a:solidFill>
                      <a:srgbClr val="FFFFFF"/>
                    </a:solidFill>
                  </a:tcPr>
                </a:tc>
                <a:tc>
                  <a:txBody>
                    <a:bodyPr wrap="none"/>
                    <a:lstStyle/>
                    <a:p>
                      <a:r>
                        <a:rPr sz="1000" b="0">
                          <a:solidFill>
                            <a:srgbClr val="2B2622"/>
                          </a:solidFill>
                          <a:latin typeface="Courier New"/>
                        </a:rPr>
                        <a:t>Guest</a:t>
                      </a:r>
                    </a:p>
                  </a:txBody>
                  <a:tcPr marL="82296" marR="82296" marT="22860" marB="22860" anchor="ctr">
                    <a:solidFill>
                      <a:srgbClr val="FFFFFF"/>
                    </a:solidFill>
                  </a:tcPr>
                </a:tc>
              </a:tr>
              <a:tr h="228600">
                <a:tc>
                  <a:txBody>
                    <a:bodyPr wrap="none"/>
                    <a:lstStyle/>
                    <a:p>
                      <a:r>
                        <a:rPr sz="1000" b="0">
                          <a:solidFill>
                            <a:srgbClr val="2B2622"/>
                          </a:solidFill>
                          <a:latin typeface="Calibri"/>
                        </a:rPr>
                        <a:t>0 or [] or 'last'</a:t>
                      </a:r>
                    </a:p>
                  </a:txBody>
                  <a:tcPr marL="82296" marR="82296" marT="22860" marB="22860" anchor="ctr">
                    <a:solidFill>
                      <a:srgbClr val="F1ECE2"/>
                    </a:solidFill>
                  </a:tcPr>
                </a:tc>
                <a:tc>
                  <a:txBody>
                    <a:bodyPr wrap="none"/>
                    <a:lstStyle/>
                    <a:p>
                      <a:r>
                        <a:rPr sz="1000" b="0">
                          <a:solidFill>
                            <a:srgbClr val="2B2622"/>
                          </a:solidFill>
                          <a:latin typeface="Courier New"/>
                        </a:rPr>
                        <a:t>last</a:t>
                      </a:r>
                    </a:p>
                  </a:txBody>
                  <a:tcPr marL="82296" marR="82296" marT="22860" marB="22860" anchor="ctr">
                    <a:solidFill>
                      <a:srgbClr val="F1ECE2"/>
                    </a:solidFill>
                  </a:tcPr>
                </a:tc>
              </a:tr>
              <a:tr h="228600">
                <a:tc>
                  <a:txBody>
                    <a:bodyPr wrap="none"/>
                    <a:lstStyle/>
                    <a:p>
                      <a:r>
                        <a:rPr sz="1000" b="0">
                          <a:solidFill>
                            <a:srgbClr val="2B2622"/>
                          </a:solidFill>
                          <a:latin typeface="Calibri"/>
                        </a:rPr>
                        <a:t>1 and 2 and 3</a:t>
                      </a:r>
                    </a:p>
                  </a:txBody>
                  <a:tcPr marL="82296" marR="82296" marT="22860" marB="22860" anchor="ctr">
                    <a:solidFill>
                      <a:srgbClr val="FFFFFF"/>
                    </a:solidFill>
                  </a:tcPr>
                </a:tc>
                <a:tc>
                  <a:txBody>
                    <a:bodyPr wrap="none"/>
                    <a:lstStyle/>
                    <a:p>
                      <a:r>
                        <a:rPr sz="1000" b="0">
                          <a:solidFill>
                            <a:srgbClr val="2B2622"/>
                          </a:solidFill>
                          <a:latin typeface="Courier New"/>
                        </a:rPr>
                        <a:t>3</a:t>
                      </a:r>
                    </a:p>
                  </a:txBody>
                  <a:tcPr marL="82296" marR="82296" marT="22860" marB="22860" anchor="ctr">
                    <a:solidFill>
                      <a:srgbClr val="FFFFFF"/>
                    </a:solidFill>
                  </a:tcPr>
                </a:tc>
              </a:tr>
            </a:tbl>
          </a:graphicData>
        </a:graphic>
      </p:graphicFrame>
      <p:sp>
        <p:nvSpPr>
          <p:cNvPr id="12" name="Rounded Rectangle 11"/>
          <p:cNvSpPr/>
          <p:nvPr/>
        </p:nvSpPr>
        <p:spPr>
          <a:xfrm>
            <a:off x="2995676" y="2865120"/>
            <a:ext cx="1759881" cy="64008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spam is [] : false</a:t>
            </a:r>
          </a:p>
        </p:txBody>
      </p:sp>
      <p:cxnSp>
        <p:nvCxnSpPr>
          <p:cNvPr id="13" name="Connector 12"/>
          <p:cNvCxnSpPr/>
          <p:nvPr/>
        </p:nvCxnSpPr>
        <p:spPr>
          <a:xfrm>
            <a:off x="4755557" y="3185160"/>
            <a:ext cx="274320" cy="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877" y="2865120"/>
            <a:ext cx="1759881" cy="64008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and stops here</a:t>
            </a:r>
          </a:p>
        </p:txBody>
      </p:sp>
      <p:cxnSp>
        <p:nvCxnSpPr>
          <p:cNvPr id="15" name="Connector 14"/>
          <p:cNvCxnSpPr/>
          <p:nvPr/>
        </p:nvCxnSpPr>
        <p:spPr>
          <a:xfrm>
            <a:off x="6789758" y="3185160"/>
            <a:ext cx="274320" cy="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064078" y="2865120"/>
            <a:ext cx="1759881" cy="64008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spam[0] never runs</a:t>
            </a:r>
          </a:p>
        </p:txBody>
      </p:sp>
      <p:sp>
        <p:nvSpPr>
          <p:cNvPr id="17" name="diagram caption"/>
          <p:cNvSpPr txBox="1"/>
          <p:nvPr/>
        </p:nvSpPr>
        <p:spPr>
          <a:xfrm>
            <a:off x="2995676" y="3596640"/>
            <a:ext cx="5828284" cy="274320"/>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the guard saves us from an IndexError</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The second check runs only if the first did not decide</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17 / 49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Ordering a list: sort and sorted</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sort() reorders the list itself and returns None; sorted() leaves it alone and returns a new ordered list.</a:t>
            </a:r>
          </a:p>
        </p:txBody>
      </p:sp>
      <p:sp>
        <p:nvSpPr>
          <p:cNvPr id="5" name="code"/>
          <p:cNvSpPr/>
          <p:nvPr/>
        </p:nvSpPr>
        <p:spPr>
          <a:xfrm>
            <a:off x="365760" y="960120"/>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nums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5</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3.14</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7</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sort</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sort</a:t>
            </a:r>
            <a:r>
              <a:rPr sz="1100" b="0" i="0">
                <a:solidFill>
                  <a:srgbClr val="E6EDF3"/>
                </a:solidFill>
                <a:latin typeface="Courier New"/>
              </a:rPr>
              <a:t>(</a:t>
            </a:r>
            <a:r>
              <a:rPr sz="1100" b="0" i="0">
                <a:solidFill>
                  <a:srgbClr val="E6EDF3"/>
                </a:solidFill>
                <a:latin typeface="Courier New"/>
              </a:rPr>
              <a:t>reverse</a:t>
            </a:r>
            <a:r>
              <a:rPr sz="1100" b="0" i="0">
                <a:solidFill>
                  <a:srgbClr val="E6EDF3"/>
                </a:solidFill>
                <a:latin typeface="Courier New"/>
              </a:rPr>
              <a:t>=</a:t>
            </a:r>
            <a:r>
              <a:rPr sz="1100" b="0" i="0">
                <a:solidFill>
                  <a:srgbClr val="FF7B72"/>
                </a:solidFill>
                <a:latin typeface="Courier New"/>
              </a:rPr>
              <a:t>True</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p>
        </p:txBody>
      </p:sp>
      <p:sp>
        <p:nvSpPr>
          <p:cNvPr id="6" name="Rectangle 5"/>
          <p:cNvSpPr/>
          <p:nvPr/>
        </p:nvSpPr>
        <p:spPr>
          <a:xfrm>
            <a:off x="5321808" y="960120"/>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sort() works in place; reverse=True turns the order round. Do not write nums = nums.sort().</a:t>
            </a:r>
          </a:p>
        </p:txBody>
      </p:sp>
      <p:sp>
        <p:nvSpPr>
          <p:cNvPr id="8" name="code"/>
          <p:cNvSpPr/>
          <p:nvPr/>
        </p:nvSpPr>
        <p:spPr>
          <a:xfrm>
            <a:off x="365760" y="201777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letters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'z'</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'Z'</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sorted</a:t>
            </a:r>
            <a:r>
              <a:rPr sz="1100" b="0" i="0">
                <a:solidFill>
                  <a:srgbClr val="E6EDF3"/>
                </a:solidFill>
                <a:latin typeface="Courier New"/>
              </a:rPr>
              <a:t>(</a:t>
            </a:r>
            <a:r>
              <a:rPr sz="1100" b="0" i="0">
                <a:solidFill>
                  <a:srgbClr val="E6EDF3"/>
                </a:solidFill>
                <a:latin typeface="Courier New"/>
              </a:rPr>
              <a:t>letters</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sorted</a:t>
            </a:r>
            <a:r>
              <a:rPr sz="1100" b="0" i="0">
                <a:solidFill>
                  <a:srgbClr val="E6EDF3"/>
                </a:solidFill>
                <a:latin typeface="Courier New"/>
              </a:rPr>
              <a:t>(</a:t>
            </a:r>
            <a:r>
              <a:rPr sz="1100" b="0" i="0">
                <a:solidFill>
                  <a:srgbClr val="E6EDF3"/>
                </a:solidFill>
                <a:latin typeface="Courier New"/>
              </a:rPr>
              <a:t>letters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a:t>
            </a:r>
            <a:r>
              <a:rPr sz="1100" b="0" i="0">
                <a:solidFill>
                  <a:srgbClr val="D2A8FF"/>
                </a:solidFill>
                <a:latin typeface="Courier New"/>
              </a:rPr>
              <a:t>str</a:t>
            </a:r>
            <a:r>
              <a:rPr sz="1100" b="0" i="0">
                <a:solidFill>
                  <a:srgbClr val="E6EDF3"/>
                </a:solidFill>
                <a:latin typeface="Courier New"/>
              </a:rPr>
              <a:t>.</a:t>
            </a:r>
            <a:r>
              <a:rPr sz="1100" b="0" i="0">
                <a:solidFill>
                  <a:srgbClr val="E6EDF3"/>
                </a:solidFill>
                <a:latin typeface="Courier New"/>
              </a:rPr>
              <a:t>lower</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sort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201777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201777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Capital letters sort before small ones; key=str.lower compares lower-case forms. sort() itself returns None.</a:t>
            </a:r>
          </a:p>
        </p:txBody>
      </p:sp>
      <p:graphicFrame>
        <p:nvGraphicFramePr>
          <p:cNvPr id="11" name="result table" descr="Result table: nums after sort() -&gt; [-7, 1, 2, 3.14, 5]; nums after reverse=True -&gt; [5, 3.14, 2, 1, -7]; sorted(letters) -&gt; ['A', 'Z', 'a', 'z']; sorted(..., key=str.lower) -&gt; ['a', 'A', 'z', 'Z']; print(nums.sort()) -&gt; None"/>
          <p:cNvGraphicFramePr>
            <a:graphicFrameLocks noGrp="1"/>
          </p:cNvGraphicFramePr>
          <p:nvPr/>
        </p:nvGraphicFramePr>
        <p:xfrm>
          <a:off x="365760" y="2944368"/>
          <a:ext cx="3577335" cy="1371600"/>
        </p:xfrm>
        <a:graphic>
          <a:graphicData uri="http://schemas.openxmlformats.org/drawingml/2006/table">
            <a:tbl>
              <a:tblPr firstRow="1">
                <a:tableStyleId>{5C22544A-7EE6-4342-B048-85BDC9FD1C3A}</a:tableStyleId>
              </a:tblPr>
              <a:tblGrid>
                <a:gridCol w="1852168"/>
                <a:gridCol w="1725167"/>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nums after sort()</a:t>
                      </a:r>
                    </a:p>
                  </a:txBody>
                  <a:tcPr marL="82296" marR="82296" marT="22860" marB="22860" anchor="ctr">
                    <a:solidFill>
                      <a:srgbClr val="FFFFFF"/>
                    </a:solidFill>
                  </a:tcPr>
                </a:tc>
                <a:tc>
                  <a:txBody>
                    <a:bodyPr wrap="none"/>
                    <a:lstStyle/>
                    <a:p>
                      <a:r>
                        <a:rPr sz="1000" b="0">
                          <a:solidFill>
                            <a:srgbClr val="2B2622"/>
                          </a:solidFill>
                          <a:latin typeface="Courier New"/>
                        </a:rPr>
                        <a:t>[-7, 1, 2, 3.14, 5]</a:t>
                      </a:r>
                    </a:p>
                  </a:txBody>
                  <a:tcPr marL="82296" marR="82296" marT="22860" marB="22860" anchor="ctr">
                    <a:solidFill>
                      <a:srgbClr val="FFFFFF"/>
                    </a:solidFill>
                  </a:tcPr>
                </a:tc>
              </a:tr>
              <a:tr h="228600">
                <a:tc>
                  <a:txBody>
                    <a:bodyPr wrap="none"/>
                    <a:lstStyle/>
                    <a:p>
                      <a:r>
                        <a:rPr sz="1000" b="0">
                          <a:solidFill>
                            <a:srgbClr val="2B2622"/>
                          </a:solidFill>
                          <a:latin typeface="Calibri"/>
                        </a:rPr>
                        <a:t>nums after reverse=True</a:t>
                      </a:r>
                    </a:p>
                  </a:txBody>
                  <a:tcPr marL="82296" marR="82296" marT="22860" marB="22860" anchor="ctr">
                    <a:solidFill>
                      <a:srgbClr val="F1ECE2"/>
                    </a:solidFill>
                  </a:tcPr>
                </a:tc>
                <a:tc>
                  <a:txBody>
                    <a:bodyPr wrap="none"/>
                    <a:lstStyle/>
                    <a:p>
                      <a:r>
                        <a:rPr sz="1000" b="0">
                          <a:solidFill>
                            <a:srgbClr val="2B2622"/>
                          </a:solidFill>
                          <a:latin typeface="Courier New"/>
                        </a:rPr>
                        <a:t>[5, 3.14, 2, 1, -7]</a:t>
                      </a:r>
                    </a:p>
                  </a:txBody>
                  <a:tcPr marL="82296" marR="82296" marT="22860" marB="22860" anchor="ctr">
                    <a:solidFill>
                      <a:srgbClr val="F1ECE2"/>
                    </a:solidFill>
                  </a:tcPr>
                </a:tc>
              </a:tr>
              <a:tr h="228600">
                <a:tc>
                  <a:txBody>
                    <a:bodyPr wrap="none"/>
                    <a:lstStyle/>
                    <a:p>
                      <a:r>
                        <a:rPr sz="1000" b="0">
                          <a:solidFill>
                            <a:srgbClr val="2B2622"/>
                          </a:solidFill>
                          <a:latin typeface="Calibri"/>
                        </a:rPr>
                        <a:t>sorted(letters)</a:t>
                      </a:r>
                    </a:p>
                  </a:txBody>
                  <a:tcPr marL="82296" marR="82296" marT="22860" marB="22860" anchor="ctr">
                    <a:solidFill>
                      <a:srgbClr val="FFFFFF"/>
                    </a:solidFill>
                  </a:tcPr>
                </a:tc>
                <a:tc>
                  <a:txBody>
                    <a:bodyPr wrap="none"/>
                    <a:lstStyle/>
                    <a:p>
                      <a:r>
                        <a:rPr sz="1000" b="0">
                          <a:solidFill>
                            <a:srgbClr val="2B2622"/>
                          </a:solidFill>
                          <a:latin typeface="Courier New"/>
                        </a:rPr>
                        <a:t>['A', 'Z', 'a', 'z']</a:t>
                      </a:r>
                    </a:p>
                  </a:txBody>
                  <a:tcPr marL="82296" marR="82296" marT="22860" marB="22860" anchor="ctr">
                    <a:solidFill>
                      <a:srgbClr val="FFFFFF"/>
                    </a:solidFill>
                  </a:tcPr>
                </a:tc>
              </a:tr>
              <a:tr h="228600">
                <a:tc>
                  <a:txBody>
                    <a:bodyPr wrap="none"/>
                    <a:lstStyle/>
                    <a:p>
                      <a:r>
                        <a:rPr sz="1000" b="0">
                          <a:solidFill>
                            <a:srgbClr val="2B2622"/>
                          </a:solidFill>
                          <a:latin typeface="Calibri"/>
                        </a:rPr>
                        <a:t>sorted(..., key=str.lower)</a:t>
                      </a:r>
                    </a:p>
                  </a:txBody>
                  <a:tcPr marL="82296" marR="82296" marT="22860" marB="22860" anchor="ctr">
                    <a:solidFill>
                      <a:srgbClr val="F1ECE2"/>
                    </a:solidFill>
                  </a:tcPr>
                </a:tc>
                <a:tc>
                  <a:txBody>
                    <a:bodyPr wrap="none"/>
                    <a:lstStyle/>
                    <a:p>
                      <a:r>
                        <a:rPr sz="1000" b="0">
                          <a:solidFill>
                            <a:srgbClr val="2B2622"/>
                          </a:solidFill>
                          <a:latin typeface="Courier New"/>
                        </a:rPr>
                        <a:t>['a', 'A', 'z', 'Z']</a:t>
                      </a:r>
                    </a:p>
                  </a:txBody>
                  <a:tcPr marL="82296" marR="82296" marT="22860" marB="22860" anchor="ctr">
                    <a:solidFill>
                      <a:srgbClr val="F1ECE2"/>
                    </a:solidFill>
                  </a:tcPr>
                </a:tc>
              </a:tr>
              <a:tr h="228600">
                <a:tc>
                  <a:txBody>
                    <a:bodyPr wrap="none"/>
                    <a:lstStyle/>
                    <a:p>
                      <a:r>
                        <a:rPr sz="1000" b="0">
                          <a:solidFill>
                            <a:srgbClr val="2B2622"/>
                          </a:solidFill>
                          <a:latin typeface="Calibri"/>
                        </a:rPr>
                        <a:t>print(nums.sort())</a:t>
                      </a:r>
                    </a:p>
                  </a:txBody>
                  <a:tcPr marL="82296" marR="82296" marT="22860" marB="22860" anchor="ctr">
                    <a:solidFill>
                      <a:srgbClr val="FFFFFF"/>
                    </a:solidFill>
                  </a:tcPr>
                </a:tc>
                <a:tc>
                  <a:txBody>
                    <a:bodyPr wrap="none"/>
                    <a:lstStyle/>
                    <a:p>
                      <a:r>
                        <a:rPr sz="1000" b="0">
                          <a:solidFill>
                            <a:srgbClr val="2B2622"/>
                          </a:solidFill>
                          <a:latin typeface="Courier New"/>
                        </a:rPr>
                        <a:t>None</a:t>
                      </a:r>
                    </a:p>
                  </a:txBody>
                  <a:tcPr marL="82296" marR="82296" marT="22860" marB="22860" anchor="ctr">
                    <a:solidFill>
                      <a:srgbClr val="FFFFFF"/>
                    </a:solidFill>
                  </a:tcPr>
                </a:tc>
              </a:tr>
            </a:tbl>
          </a:graphicData>
        </a:graphic>
      </p:graphicFrame>
      <p:sp>
        <p:nvSpPr>
          <p:cNvPr id="12" name="Rounded Rectangle 11"/>
          <p:cNvSpPr/>
          <p:nvPr/>
        </p:nvSpPr>
        <p:spPr>
          <a:xfrm>
            <a:off x="4125976" y="3017520"/>
            <a:ext cx="1051560" cy="36576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ourier New"/>
              </a:rPr>
              <a:t>nums.sort()</a:t>
            </a:r>
          </a:p>
        </p:txBody>
      </p:sp>
      <p:cxnSp>
        <p:nvCxnSpPr>
          <p:cNvPr id="13" name="Connector 12"/>
          <p:cNvCxnSpPr/>
          <p:nvPr/>
        </p:nvCxnSpPr>
        <p:spPr>
          <a:xfrm>
            <a:off x="5177536" y="3200400"/>
            <a:ext cx="32004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97576" y="3017520"/>
            <a:ext cx="3326384"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same list, ordered</a:t>
            </a:r>
          </a:p>
        </p:txBody>
      </p:sp>
      <p:sp>
        <p:nvSpPr>
          <p:cNvPr id="15" name="diagram caption"/>
          <p:cNvSpPr txBox="1"/>
          <p:nvPr/>
        </p:nvSpPr>
        <p:spPr>
          <a:xfrm>
            <a:off x="5497576" y="3383280"/>
            <a:ext cx="3326384" cy="219456"/>
          </a:xfrm>
          <a:prstGeom prst="rect">
            <a:avLst/>
          </a:prstGeom>
          <a:noFill/>
        </p:spPr>
        <p:txBody>
          <a:bodyPr wrap="square" lIns="36576" tIns="0" rIns="36576" bIns="0" anchor="t">
            <a:noAutofit/>
          </a:bodyPr>
          <a:lstStyle/>
          <a:p>
            <a:pPr algn="l">
              <a:spcBef>
                <a:spcPts val="0"/>
              </a:spcBef>
              <a:spcAft>
                <a:spcPts val="0"/>
              </a:spcAft>
            </a:pPr>
            <a:r>
              <a:rPr sz="950" b="0" i="1">
                <a:solidFill>
                  <a:srgbClr val="6E655C"/>
                </a:solidFill>
                <a:latin typeface="Calibri"/>
              </a:rPr>
              <a:t>returns None</a:t>
            </a:r>
          </a:p>
        </p:txBody>
      </p:sp>
      <p:sp>
        <p:nvSpPr>
          <p:cNvPr id="16" name="Rounded Rectangle 15"/>
          <p:cNvSpPr/>
          <p:nvPr/>
        </p:nvSpPr>
        <p:spPr>
          <a:xfrm>
            <a:off x="4125976" y="3657600"/>
            <a:ext cx="1051560" cy="36576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ourier New"/>
              </a:rPr>
              <a:t>sorted(nums)</a:t>
            </a:r>
          </a:p>
        </p:txBody>
      </p:sp>
      <p:cxnSp>
        <p:nvCxnSpPr>
          <p:cNvPr id="17" name="Connector 16"/>
          <p:cNvCxnSpPr/>
          <p:nvPr/>
        </p:nvCxnSpPr>
        <p:spPr>
          <a:xfrm>
            <a:off x="5177536" y="3840480"/>
            <a:ext cx="32004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97576" y="3657600"/>
            <a:ext cx="3326384"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0" i="0">
                <a:solidFill>
                  <a:srgbClr val="2B2622"/>
                </a:solidFill>
                <a:latin typeface="Calibri"/>
              </a:rPr>
              <a:t>a new ordered list</a:t>
            </a:r>
          </a:p>
        </p:txBody>
      </p:sp>
      <p:sp>
        <p:nvSpPr>
          <p:cNvPr id="19" name="diagram caption"/>
          <p:cNvSpPr txBox="1"/>
          <p:nvPr/>
        </p:nvSpPr>
        <p:spPr>
          <a:xfrm>
            <a:off x="5497576" y="4023360"/>
            <a:ext cx="3326384" cy="219456"/>
          </a:xfrm>
          <a:prstGeom prst="rect">
            <a:avLst/>
          </a:prstGeom>
          <a:noFill/>
        </p:spPr>
        <p:txBody>
          <a:bodyPr wrap="square" lIns="36576" tIns="0" rIns="36576" bIns="0" anchor="t">
            <a:noAutofit/>
          </a:bodyPr>
          <a:lstStyle/>
          <a:p>
            <a:pPr algn="l">
              <a:spcBef>
                <a:spcPts val="0"/>
              </a:spcBef>
              <a:spcAft>
                <a:spcPts val="0"/>
              </a:spcAft>
            </a:pPr>
            <a:r>
              <a:rPr sz="950" b="0" i="1">
                <a:solidFill>
                  <a:srgbClr val="6E655C"/>
                </a:solidFill>
                <a:latin typeface="Calibri"/>
              </a:rPr>
              <a:t>nums unchanged</a:t>
            </a:r>
          </a:p>
        </p:txBody>
      </p:sp>
      <p:sp>
        <p:nvSpPr>
          <p:cNvPr id="20"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sort() changes the list and returns None</a:t>
            </a:r>
          </a:p>
        </p:txBody>
      </p:sp>
      <p:sp>
        <p:nvSpPr>
          <p:cNvPr id="21"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18 / 49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changing a list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Working with Lists</a:t>
            </a:r>
          </a:p>
          <a:p>
            <a:pPr algn="l">
              <a:spcBef>
                <a:spcPts val="0"/>
              </a:spcBef>
              <a:spcAft>
                <a:spcPts val="200"/>
              </a:spcAft>
            </a:pPr>
            <a:r>
              <a:rPr sz="1200" b="0" i="0">
                <a:solidFill>
                  <a:srgbClr val="2B2622"/>
                </a:solidFill>
                <a:latin typeface="Calibri"/>
              </a:rPr>
              <a:t>A tidy workbench: you take items out, add some, sort them and put them back, always on the same bench.</a:t>
            </a:r>
          </a:p>
        </p:txBody>
      </p:sp>
      <p:sp>
        <p:nvSpPr>
          <p:cNvPr id="6" name="analogy"/>
          <p:cNvSpPr/>
          <p:nvPr/>
        </p:nvSpPr>
        <p:spPr>
          <a:xfrm>
            <a:off x="47091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In-place change</a:t>
            </a:r>
          </a:p>
          <a:p>
            <a:pPr algn="l">
              <a:spcBef>
                <a:spcPts val="0"/>
              </a:spcBef>
              <a:spcAft>
                <a:spcPts val="200"/>
              </a:spcAft>
            </a:pPr>
            <a:r>
              <a:rPr sz="1200" b="0" i="0">
                <a:solidFill>
                  <a:srgbClr val="2B2622"/>
                </a:solidFill>
                <a:latin typeface="Calibri"/>
              </a:rPr>
              <a:t>Rubbing out a line on your shopping list: it is still the same sheet of paper, only the writing changed.</a:t>
            </a:r>
          </a:p>
        </p:txBody>
      </p:sp>
      <p:sp>
        <p:nvSpPr>
          <p:cNvPr id="7" name="analogy"/>
          <p:cNvSpPr/>
          <p:nvPr/>
        </p:nvSpPr>
        <p:spPr>
          <a:xfrm>
            <a:off x="3657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Augmented Assignment Operators</a:t>
            </a:r>
          </a:p>
          <a:p>
            <a:pPr algn="l">
              <a:spcBef>
                <a:spcPts val="0"/>
              </a:spcBef>
              <a:spcAft>
                <a:spcPts val="200"/>
              </a:spcAft>
            </a:pPr>
            <a:r>
              <a:rPr sz="1200" b="0" i="0">
                <a:solidFill>
                  <a:srgbClr val="2B2622"/>
                </a:solidFill>
                <a:latin typeface="Calibri"/>
              </a:rPr>
              <a:t>Dropping one more coin in your savings jar: spam += [4] means 'add to this jar', not 'buy a second jar'.</a:t>
            </a:r>
          </a:p>
        </p:txBody>
      </p:sp>
      <p:sp>
        <p:nvSpPr>
          <p:cNvPr id="8" name="analogy"/>
          <p:cNvSpPr/>
          <p:nvPr/>
        </p:nvSpPr>
        <p:spPr>
          <a:xfrm>
            <a:off x="47091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Methods</a:t>
            </a:r>
          </a:p>
          <a:p>
            <a:pPr algn="l">
              <a:spcBef>
                <a:spcPts val="0"/>
              </a:spcBef>
              <a:spcAft>
                <a:spcPts val="200"/>
              </a:spcAft>
            </a:pPr>
            <a:r>
              <a:rPr sz="1200" b="0" i="0">
                <a:solidFill>
                  <a:srgbClr val="2B2622"/>
                </a:solidFill>
                <a:latin typeface="Calibri"/>
              </a:rPr>
              <a:t>Buttons on a remote control: each button belongs to that one television, and pressing it changes that very television.</a:t>
            </a:r>
          </a:p>
        </p:txBody>
      </p:sp>
      <p:sp>
        <p:nvSpPr>
          <p:cNvPr id="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Same sheet, same bench, same jar</a:t>
            </a:r>
          </a:p>
        </p:txBody>
      </p:sp>
      <p:sp>
        <p:nvSpPr>
          <p:cNvPr id="1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19 / 49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add and remove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append</a:t>
            </a:r>
          </a:p>
          <a:p>
            <a:pPr algn="l">
              <a:spcBef>
                <a:spcPts val="0"/>
              </a:spcBef>
              <a:spcAft>
                <a:spcPts val="200"/>
              </a:spcAft>
            </a:pPr>
            <a:r>
              <a:rPr sz="1200" b="0" i="0">
                <a:solidFill>
                  <a:srgbClr val="2B2622"/>
                </a:solidFill>
                <a:latin typeface="Calibri"/>
              </a:rPr>
              <a:t>Joining the back of a queue: you stand at the end and nobody else has to move.</a:t>
            </a:r>
          </a:p>
        </p:txBody>
      </p:sp>
      <p:sp>
        <p:nvSpPr>
          <p:cNvPr id="6" name="analogy"/>
          <p:cNvSpPr/>
          <p:nvPr/>
        </p:nvSpPr>
        <p:spPr>
          <a:xfrm>
            <a:off x="365760" y="2212848"/>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insert</a:t>
            </a:r>
          </a:p>
          <a:p>
            <a:pPr algn="l">
              <a:spcBef>
                <a:spcPts val="0"/>
              </a:spcBef>
              <a:spcAft>
                <a:spcPts val="200"/>
              </a:spcAft>
            </a:pPr>
            <a:r>
              <a:rPr sz="1200" b="0" i="0">
                <a:solidFill>
                  <a:srgbClr val="2B2622"/>
                </a:solidFill>
                <a:latin typeface="Calibri"/>
              </a:rPr>
              <a:t>Sliding a new book into a chosen gap on a shelf: every book after it shifts one place to the right.</a:t>
            </a:r>
          </a:p>
        </p:txBody>
      </p:sp>
      <p:sp>
        <p:nvSpPr>
          <p:cNvPr id="7" name="analogy"/>
          <p:cNvSpPr/>
          <p:nvPr/>
        </p:nvSpPr>
        <p:spPr>
          <a:xfrm>
            <a:off x="365760" y="3236976"/>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remove</a:t>
            </a:r>
          </a:p>
          <a:p>
            <a:pPr algn="l">
              <a:spcBef>
                <a:spcPts val="0"/>
              </a:spcBef>
              <a:spcAft>
                <a:spcPts val="200"/>
              </a:spcAft>
            </a:pPr>
            <a:r>
              <a:rPr sz="1200" b="0" i="0">
                <a:solidFill>
                  <a:srgbClr val="2B2622"/>
                </a:solidFill>
                <a:latin typeface="Calibri"/>
              </a:rPr>
              <a:t>Crossing the first matching name off a guest list: the guests below it move up one line.</a:t>
            </a:r>
          </a:p>
        </p:txBody>
      </p:sp>
      <p:sp>
        <p:nvSpPr>
          <p:cNvPr id="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queue, a shelf and a guest list</a:t>
            </a:r>
          </a:p>
        </p:txBody>
      </p:sp>
      <p:sp>
        <p:nvSpPr>
          <p:cNvPr id="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20 / 49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Twenty answers in a toy, a few in a list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74320"/>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1946 patent - 1950 eight-ball shape</a:t>
            </a:r>
          </a:p>
        </p:txBody>
      </p:sp>
      <p:pic>
        <p:nvPicPr>
          <p:cNvPr id="5" name="picture: Twenty answers in a toy, a few in a list" descr="Picture for the story: 'It is certain.' - photo: Zaneology, CC BY 2.0"/>
          <p:cNvPicPr>
            <a:picLocks noChangeAspect="1"/>
          </p:cNvPicPr>
          <p:nvPr/>
        </p:nvPicPr>
        <p:blipFill>
          <a:blip r:embed="rId2"/>
          <a:stretch>
            <a:fillRect/>
          </a:stretch>
        </p:blipFill>
        <p:spPr>
          <a:xfrm>
            <a:off x="365760" y="1024128"/>
            <a:ext cx="2240280" cy="2240280"/>
          </a:xfrm>
          <a:prstGeom prst="rect">
            <a:avLst/>
          </a:prstGeom>
        </p:spPr>
      </p:pic>
      <p:sp>
        <p:nvSpPr>
          <p:cNvPr id="6" name="credit"/>
          <p:cNvSpPr txBox="1"/>
          <p:nvPr/>
        </p:nvSpPr>
        <p:spPr>
          <a:xfrm>
            <a:off x="365760" y="3300984"/>
            <a:ext cx="2240280" cy="384048"/>
          </a:xfrm>
          <a:prstGeom prst="rect">
            <a:avLst/>
          </a:prstGeom>
          <a:noFill/>
        </p:spPr>
        <p:txBody>
          <a:bodyPr wrap="square" lIns="73152" tIns="36576" rIns="73152" bIns="36576" anchor="t">
            <a:noAutofit/>
          </a:bodyPr>
          <a:lstStyle/>
          <a:p>
            <a:pPr algn="l">
              <a:spcBef>
                <a:spcPts val="0"/>
              </a:spcBef>
              <a:spcAft>
                <a:spcPts val="0"/>
              </a:spcAft>
            </a:pPr>
            <a:r>
              <a:rPr sz="900" b="0" i="1">
                <a:solidFill>
                  <a:srgbClr val="6E655C"/>
                </a:solidFill>
                <a:latin typeface="Calibri"/>
              </a:rPr>
              <a:t>'It is certain.' - photo: Zaneology, CC BY 2.0</a:t>
            </a:r>
          </a:p>
        </p:txBody>
      </p:sp>
      <p:sp>
        <p:nvSpPr>
          <p:cNvPr id="7" name="story who"/>
          <p:cNvSpPr/>
          <p:nvPr/>
        </p:nvSpPr>
        <p:spPr>
          <a:xfrm>
            <a:off x="2834640" y="1024128"/>
            <a:ext cx="293979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WHO  </a:t>
            </a:r>
            <a:r>
              <a:rPr sz="1050" b="0" i="0">
                <a:solidFill>
                  <a:srgbClr val="2B2622"/>
                </a:solidFill>
                <a:latin typeface="Calibri"/>
              </a:rPr>
              <a:t>Albert C. Carter and Abe Bookman, whose firm Alabe Crafts sold the toy.</a:t>
            </a:r>
          </a:p>
        </p:txBody>
      </p:sp>
      <p:sp>
        <p:nvSpPr>
          <p:cNvPr id="8" name="story what"/>
          <p:cNvSpPr/>
          <p:nvPr/>
        </p:nvSpPr>
        <p:spPr>
          <a:xfrm>
            <a:off x="5884164" y="1024128"/>
            <a:ext cx="293979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WHAT  </a:t>
            </a:r>
            <a:r>
              <a:rPr sz="1050" b="0" i="0">
                <a:solidFill>
                  <a:srgbClr val="2B2622"/>
                </a:solidFill>
                <a:latin typeface="Calibri"/>
              </a:rPr>
              <a:t>A fortune-telling toy: a die in blue liquid shows one of twenty answers after you ask a question.</a:t>
            </a:r>
          </a:p>
        </p:txBody>
      </p:sp>
      <p:sp>
        <p:nvSpPr>
          <p:cNvPr id="9" name="story when"/>
          <p:cNvSpPr/>
          <p:nvPr/>
        </p:nvSpPr>
        <p:spPr>
          <a:xfrm>
            <a:off x="2834640" y="1938528"/>
            <a:ext cx="293979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WHEN  </a:t>
            </a:r>
            <a:r>
              <a:rPr sz="1050" b="0" i="0">
                <a:solidFill>
                  <a:srgbClr val="2B2622"/>
                </a:solidFill>
                <a:latin typeface="Calibri"/>
              </a:rPr>
              <a:t>Invented in 1946 (patent filed); made the black-and-white eight ball in 1950.</a:t>
            </a:r>
          </a:p>
        </p:txBody>
      </p:sp>
      <p:sp>
        <p:nvSpPr>
          <p:cNvPr id="10" name="story where"/>
          <p:cNvSpPr/>
          <p:nvPr/>
        </p:nvSpPr>
        <p:spPr>
          <a:xfrm>
            <a:off x="5884164" y="1938528"/>
            <a:ext cx="293979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WHERE  </a:t>
            </a:r>
            <a:r>
              <a:rPr sz="1050" b="0" i="0">
                <a:solidFill>
                  <a:srgbClr val="2B2622"/>
                </a:solidFill>
                <a:latin typeface="Calibri"/>
              </a:rPr>
              <a:t>Cincinnati, Ohio; today the toy is made by Mattel.</a:t>
            </a:r>
          </a:p>
        </p:txBody>
      </p:sp>
      <p:sp>
        <p:nvSpPr>
          <p:cNvPr id="11" name="story why"/>
          <p:cNvSpPr/>
          <p:nvPr/>
        </p:nvSpPr>
        <p:spPr>
          <a:xfrm>
            <a:off x="2834640" y="2852928"/>
            <a:ext cx="293979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WHY  </a:t>
            </a:r>
            <a:r>
              <a:rPr sz="1050" b="0" i="0">
                <a:solidFill>
                  <a:srgbClr val="2B2622"/>
                </a:solidFill>
                <a:latin typeface="Calibri"/>
              </a:rPr>
              <a:t>To answer yes-or-no questions by chance: ten answers affirmative, five neutral, five negative.</a:t>
            </a:r>
          </a:p>
        </p:txBody>
      </p:sp>
      <p:sp>
        <p:nvSpPr>
          <p:cNvPr id="12" name="story how"/>
          <p:cNvSpPr/>
          <p:nvPr/>
        </p:nvSpPr>
        <p:spPr>
          <a:xfrm>
            <a:off x="5884164" y="2852928"/>
            <a:ext cx="293979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HOW  </a:t>
            </a:r>
            <a:r>
              <a:rPr sz="1050" b="0" i="0">
                <a:solidFill>
                  <a:srgbClr val="2B2622"/>
                </a:solidFill>
                <a:latin typeface="Calibri"/>
              </a:rPr>
              <a:t>One answer on each face of the die. The chapter's program keeps the answers in a list and picks one at a random index.</a:t>
            </a:r>
          </a:p>
        </p:txBody>
      </p:sp>
      <p:sp>
        <p:nvSpPr>
          <p:cNvPr id="13" name="story read"/>
          <p:cNvSpPr/>
          <p:nvPr/>
        </p:nvSpPr>
        <p:spPr>
          <a:xfrm>
            <a:off x="365760" y="3931920"/>
            <a:ext cx="8458200" cy="457200"/>
          </a:xfrm>
          <a:prstGeom prst="roundRect">
            <a:avLst>
              <a:gd name="adj" fmla="val 20000"/>
            </a:avLst>
          </a:prstGeom>
          <a:solidFill>
            <a:srgbClr val="DCE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spcBef>
                <a:spcPts val="0"/>
              </a:spcBef>
              <a:spcAft>
                <a:spcPts val="0"/>
              </a:spcAft>
            </a:pPr>
            <a:r>
              <a:rPr sz="1100" b="1" i="0">
                <a:solidFill>
                  <a:srgbClr val="D97A14"/>
                </a:solidFill>
                <a:latin typeface="Calibri"/>
              </a:rPr>
              <a:t>READ  </a:t>
            </a:r>
            <a:r>
              <a:rPr sz="1150" b="0" i="0">
                <a:solidFill>
                  <a:srgbClr val="2B2622"/>
                </a:solidFill>
                <a:latin typeface="Calibri"/>
                <a:hlinkClick r:id="rId3"/>
              </a:rPr>
              <a:t>Magic 8 Ball - Wikipedia</a:t>
            </a:r>
          </a:p>
        </p:txBody>
      </p:sp>
      <p:sp>
        <p:nvSpPr>
          <p:cNvPr id="14"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true story, with its picture and its source</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21 / 49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A Short Program: Magic 8 Ball with a List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The answers live in one list and a random index picks one; a new answer is one more item, not new code.</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messages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'It is certain'</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'Yes definitely'</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A5D6FF"/>
                </a:solidFill>
                <a:latin typeface="Courier New"/>
              </a:rPr>
              <a:t>'Ask again later'</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'Very doubtful'</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The list holds four of the toy's twenty answers. Adding a fifth answer means adding one more string here.</a:t>
            </a:r>
          </a:p>
        </p:txBody>
      </p:sp>
      <p:sp>
        <p:nvSpPr>
          <p:cNvPr id="8" name="code"/>
          <p:cNvSpPr/>
          <p:nvPr/>
        </p:nvSpPr>
        <p:spPr>
          <a:xfrm>
            <a:off x="365760" y="168249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9C0FF"/>
                </a:solidFill>
                <a:latin typeface="Courier New"/>
              </a:rPr>
              <a:t>1946</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_</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pick</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randint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messages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messages</a:t>
            </a:r>
            <a:r>
              <a:rPr sz="1100" b="0" i="0">
                <a:solidFill>
                  <a:srgbClr val="E6EDF3"/>
                </a:solidFill>
                <a:latin typeface="Courier New"/>
              </a:rPr>
              <a:t>[</a:t>
            </a:r>
            <a:r>
              <a:rPr sz="1100" b="0" i="0">
                <a:solidFill>
                  <a:srgbClr val="E6EDF3"/>
                </a:solidFill>
                <a:latin typeface="Courier New"/>
              </a:rPr>
              <a:t>pick</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8249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fixed seed makes every run print the same three answers. randint picks a random index; the list returns the answer.</a:t>
            </a:r>
          </a:p>
        </p:txBody>
      </p:sp>
      <p:graphicFrame>
        <p:nvGraphicFramePr>
          <p:cNvPr id="11" name="result table" descr="Result table: answer 1 -&gt; Yes definitely; answer 2 -&gt; It is certain; answer 3 -&gt; Yes definitely"/>
          <p:cNvGraphicFramePr>
            <a:graphicFrameLocks noGrp="1"/>
          </p:cNvGraphicFramePr>
          <p:nvPr/>
        </p:nvGraphicFramePr>
        <p:xfrm>
          <a:off x="365760" y="2609088"/>
          <a:ext cx="1977135" cy="914400"/>
        </p:xfrm>
        <a:graphic>
          <a:graphicData uri="http://schemas.openxmlformats.org/drawingml/2006/table">
            <a:tbl>
              <a:tblPr firstRow="1">
                <a:tableStyleId>{5C22544A-7EE6-4342-B048-85BDC9FD1C3A}</a:tableStyleId>
              </a:tblPr>
              <a:tblGrid>
                <a:gridCol w="709168"/>
                <a:gridCol w="1267967"/>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answer 1</a:t>
                      </a:r>
                    </a:p>
                  </a:txBody>
                  <a:tcPr marL="82296" marR="82296" marT="22860" marB="22860" anchor="ctr">
                    <a:solidFill>
                      <a:srgbClr val="FFFFFF"/>
                    </a:solidFill>
                  </a:tcPr>
                </a:tc>
                <a:tc>
                  <a:txBody>
                    <a:bodyPr wrap="none"/>
                    <a:lstStyle/>
                    <a:p>
                      <a:r>
                        <a:rPr sz="1000" b="0">
                          <a:solidFill>
                            <a:srgbClr val="2B2622"/>
                          </a:solidFill>
                          <a:latin typeface="Courier New"/>
                        </a:rPr>
                        <a:t>Yes definitely</a:t>
                      </a:r>
                    </a:p>
                  </a:txBody>
                  <a:tcPr marL="82296" marR="82296" marT="22860" marB="22860" anchor="ctr">
                    <a:solidFill>
                      <a:srgbClr val="FFFFFF"/>
                    </a:solidFill>
                  </a:tcPr>
                </a:tc>
              </a:tr>
              <a:tr h="228600">
                <a:tc>
                  <a:txBody>
                    <a:bodyPr wrap="none"/>
                    <a:lstStyle/>
                    <a:p>
                      <a:r>
                        <a:rPr sz="1000" b="0">
                          <a:solidFill>
                            <a:srgbClr val="2B2622"/>
                          </a:solidFill>
                          <a:latin typeface="Calibri"/>
                        </a:rPr>
                        <a:t>answer 2</a:t>
                      </a:r>
                    </a:p>
                  </a:txBody>
                  <a:tcPr marL="82296" marR="82296" marT="22860" marB="22860" anchor="ctr">
                    <a:solidFill>
                      <a:srgbClr val="F1ECE2"/>
                    </a:solidFill>
                  </a:tcPr>
                </a:tc>
                <a:tc>
                  <a:txBody>
                    <a:bodyPr wrap="none"/>
                    <a:lstStyle/>
                    <a:p>
                      <a:r>
                        <a:rPr sz="1000" b="0">
                          <a:solidFill>
                            <a:srgbClr val="2B2622"/>
                          </a:solidFill>
                          <a:latin typeface="Courier New"/>
                        </a:rPr>
                        <a:t>It is certain</a:t>
                      </a:r>
                    </a:p>
                  </a:txBody>
                  <a:tcPr marL="82296" marR="82296" marT="22860" marB="22860" anchor="ctr">
                    <a:solidFill>
                      <a:srgbClr val="F1ECE2"/>
                    </a:solidFill>
                  </a:tcPr>
                </a:tc>
              </a:tr>
              <a:tr h="228600">
                <a:tc>
                  <a:txBody>
                    <a:bodyPr wrap="none"/>
                    <a:lstStyle/>
                    <a:p>
                      <a:r>
                        <a:rPr sz="1000" b="0">
                          <a:solidFill>
                            <a:srgbClr val="2B2622"/>
                          </a:solidFill>
                          <a:latin typeface="Calibri"/>
                        </a:rPr>
                        <a:t>answer 3</a:t>
                      </a:r>
                    </a:p>
                  </a:txBody>
                  <a:tcPr marL="82296" marR="82296" marT="22860" marB="22860" anchor="ctr">
                    <a:solidFill>
                      <a:srgbClr val="FFFFFF"/>
                    </a:solidFill>
                  </a:tcPr>
                </a:tc>
                <a:tc>
                  <a:txBody>
                    <a:bodyPr wrap="none"/>
                    <a:lstStyle/>
                    <a:p>
                      <a:r>
                        <a:rPr sz="1000" b="0">
                          <a:solidFill>
                            <a:srgbClr val="2B2622"/>
                          </a:solidFill>
                          <a:latin typeface="Courier New"/>
                        </a:rPr>
                        <a:t>Yes definitely</a:t>
                      </a:r>
                    </a:p>
                  </a:txBody>
                  <a:tcPr marL="82296" marR="82296" marT="22860" marB="22860" anchor="ctr">
                    <a:solidFill>
                      <a:srgbClr val="FFFFFF"/>
                    </a:solidFill>
                  </a:tcPr>
                </a:tc>
              </a:tr>
            </a:tbl>
          </a:graphicData>
        </a:graphic>
      </p:graphicFrame>
      <p:sp>
        <p:nvSpPr>
          <p:cNvPr id="12" name="Rounded Rectangle 11"/>
          <p:cNvSpPr/>
          <p:nvPr/>
        </p:nvSpPr>
        <p:spPr>
          <a:xfrm>
            <a:off x="2525775" y="2773680"/>
            <a:ext cx="1855554" cy="68580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2B2622"/>
                </a:solidFill>
                <a:latin typeface="Courier New"/>
              </a:rPr>
              <a:t>messages</a:t>
            </a:r>
          </a:p>
          <a:p>
            <a:pPr algn="ctr">
              <a:spcBef>
                <a:spcPts val="0"/>
              </a:spcBef>
              <a:spcAft>
                <a:spcPts val="0"/>
              </a:spcAft>
            </a:pPr>
            <a:r>
              <a:rPr sz="950" b="0" i="0">
                <a:solidFill>
                  <a:srgbClr val="2B2622"/>
                </a:solidFill>
                <a:latin typeface="Calibri"/>
              </a:rPr>
              <a:t>a list of 4 answers</a:t>
            </a:r>
          </a:p>
        </p:txBody>
      </p:sp>
      <p:cxnSp>
        <p:nvCxnSpPr>
          <p:cNvPr id="13" name="Connector 12"/>
          <p:cNvCxnSpPr/>
          <p:nvPr/>
        </p:nvCxnSpPr>
        <p:spPr>
          <a:xfrm>
            <a:off x="4381330" y="3121152"/>
            <a:ext cx="365760" cy="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47090" y="2773680"/>
            <a:ext cx="1855554" cy="68580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2B2622"/>
                </a:solidFill>
                <a:latin typeface="Courier New"/>
              </a:rPr>
              <a:t>randint(0, 3)</a:t>
            </a:r>
          </a:p>
          <a:p>
            <a:pPr algn="ctr">
              <a:spcBef>
                <a:spcPts val="0"/>
              </a:spcBef>
              <a:spcAft>
                <a:spcPts val="0"/>
              </a:spcAft>
            </a:pPr>
            <a:r>
              <a:rPr sz="950" b="0" i="0">
                <a:solidFill>
                  <a:srgbClr val="2B2622"/>
                </a:solidFill>
                <a:latin typeface="Calibri"/>
              </a:rPr>
              <a:t>a random index</a:t>
            </a:r>
          </a:p>
        </p:txBody>
      </p:sp>
      <p:cxnSp>
        <p:nvCxnSpPr>
          <p:cNvPr id="15" name="Connector 14"/>
          <p:cNvCxnSpPr/>
          <p:nvPr/>
        </p:nvCxnSpPr>
        <p:spPr>
          <a:xfrm>
            <a:off x="6602645" y="3121152"/>
            <a:ext cx="365760" cy="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68405" y="2773680"/>
            <a:ext cx="1855554" cy="68580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2B2622"/>
                </a:solidFill>
                <a:latin typeface="Courier New"/>
              </a:rPr>
              <a:t>messages[pick]</a:t>
            </a:r>
          </a:p>
          <a:p>
            <a:pPr algn="ctr">
              <a:spcBef>
                <a:spcPts val="0"/>
              </a:spcBef>
              <a:spcAft>
                <a:spcPts val="0"/>
              </a:spcAft>
            </a:pPr>
            <a:r>
              <a:rPr sz="950" b="0" i="0">
                <a:solidFill>
                  <a:srgbClr val="2B2622"/>
                </a:solidFill>
                <a:latin typeface="Calibri"/>
              </a:rPr>
              <a:t>answer: Yes definitely</a:t>
            </a:r>
          </a:p>
        </p:txBody>
      </p:sp>
      <p:sp>
        <p:nvSpPr>
          <p:cNvPr id="17" name="diagram caption"/>
          <p:cNvSpPr txBox="1"/>
          <p:nvPr/>
        </p:nvSpPr>
        <p:spPr>
          <a:xfrm>
            <a:off x="2525775" y="3505200"/>
            <a:ext cx="6298184" cy="237744"/>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list, index, answer</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Put the answers in a list and the program need not change</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22 / 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finding and ordering</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Searching a list</a:t>
            </a:r>
          </a:p>
          <a:p>
            <a:pPr algn="l">
              <a:spcBef>
                <a:spcPts val="0"/>
              </a:spcBef>
              <a:spcAft>
                <a:spcPts val="200"/>
              </a:spcAft>
            </a:pPr>
            <a:r>
              <a:rPr sz="1200" b="0" i="0">
                <a:solidFill>
                  <a:srgbClr val="2B2622"/>
                </a:solidFill>
                <a:latin typeface="Calibri"/>
              </a:rPr>
              <a:t>Running a finger down a guest list: in says whether the name is there, index says on which line.</a:t>
            </a:r>
          </a:p>
        </p:txBody>
      </p:sp>
      <p:sp>
        <p:nvSpPr>
          <p:cNvPr id="6" name="analogy"/>
          <p:cNvSpPr/>
          <p:nvPr/>
        </p:nvSpPr>
        <p:spPr>
          <a:xfrm>
            <a:off x="47091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index</a:t>
            </a:r>
          </a:p>
          <a:p>
            <a:pPr algn="l">
              <a:spcBef>
                <a:spcPts val="0"/>
              </a:spcBef>
              <a:spcAft>
                <a:spcPts val="200"/>
              </a:spcAft>
            </a:pPr>
            <a:r>
              <a:rPr sz="1200" b="0" i="0">
                <a:solidFill>
                  <a:srgbClr val="2B2622"/>
                </a:solidFill>
                <a:latin typeface="Calibri"/>
              </a:rPr>
              <a:t>The line number beside a name on the guest list: index() gives the first line where the name stands.</a:t>
            </a:r>
          </a:p>
        </p:txBody>
      </p:sp>
      <p:sp>
        <p:nvSpPr>
          <p:cNvPr id="7" name="analogy"/>
          <p:cNvSpPr/>
          <p:nvPr/>
        </p:nvSpPr>
        <p:spPr>
          <a:xfrm>
            <a:off x="3657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sort</a:t>
            </a:r>
          </a:p>
          <a:p>
            <a:pPr algn="l">
              <a:spcBef>
                <a:spcPts val="0"/>
              </a:spcBef>
              <a:spcAft>
                <a:spcPts val="200"/>
              </a:spcAft>
            </a:pPr>
            <a:r>
              <a:rPr sz="1200" b="0" i="0">
                <a:solidFill>
                  <a:srgbClr val="2B2622"/>
                </a:solidFill>
                <a:latin typeface="Calibri"/>
              </a:rPr>
              <a:t>Re-arranging the books on the shelf itself: sort() reorders the very list and hands nothing back.</a:t>
            </a:r>
          </a:p>
        </p:txBody>
      </p:sp>
      <p:sp>
        <p:nvSpPr>
          <p:cNvPr id="8" name="analogy"/>
          <p:cNvSpPr/>
          <p:nvPr/>
        </p:nvSpPr>
        <p:spPr>
          <a:xfrm>
            <a:off x="47091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Short-Circuiting Boolean Operators</a:t>
            </a:r>
          </a:p>
          <a:p>
            <a:pPr algn="l">
              <a:spcBef>
                <a:spcPts val="0"/>
              </a:spcBef>
              <a:spcAft>
                <a:spcPts val="200"/>
              </a:spcAft>
            </a:pPr>
            <a:r>
              <a:rPr sz="1200" b="0" i="0">
                <a:solidFill>
                  <a:srgbClr val="2B2622"/>
                </a:solidFill>
                <a:latin typeface="Calibri"/>
              </a:rPr>
              <a:t>A guard at a door: if the first check already says no, the guard never reads the second ticket.</a:t>
            </a:r>
          </a:p>
        </p:txBody>
      </p:sp>
      <p:sp>
        <p:nvSpPr>
          <p:cNvPr id="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Finger down the list, books on the shelf</a:t>
            </a:r>
          </a:p>
        </p:txBody>
      </p:sp>
      <p:sp>
        <p:nvSpPr>
          <p:cNvPr id="1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23 / 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411480"/>
            <a:ext cx="8229600" cy="640080"/>
          </a:xfrm>
        </p:spPr>
        <p:txBody>
          <a:bodyPr wrap="square" lIns="36576" tIns="18288" rIns="36576" bIns="18288" anchor="ctr">
            <a:noAutofit/>
          </a:bodyPr>
          <a:lstStyle/>
          <a:p>
            <a:pPr algn="l">
              <a:spcBef>
                <a:spcPts val="0"/>
              </a:spcBef>
              <a:spcAft>
                <a:spcPts val="0"/>
              </a:spcAft>
            </a:pPr>
            <a:r>
              <a:rPr sz="3000" b="1" i="0">
                <a:solidFill>
                  <a:srgbClr val="2B2622"/>
                </a:solidFill>
                <a:latin typeface="Cambria"/>
              </a:rPr>
              <a:t>Loops and unpacking</a:t>
            </a:r>
          </a:p>
        </p:txBody>
      </p:sp>
      <p:sp>
        <p:nvSpPr>
          <p:cNvPr id="3" name="Rectangle 2"/>
          <p:cNvSpPr/>
          <p:nvPr/>
        </p:nvSpPr>
        <p:spPr>
          <a:xfrm>
            <a:off x="457200" y="0"/>
            <a:ext cx="8229600" cy="822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457200" y="1051560"/>
            <a:ext cx="8229600" cy="365760"/>
          </a:xfrm>
          <a:prstGeom prst="rect">
            <a:avLst/>
          </a:prstGeom>
          <a:noFill/>
        </p:spPr>
        <p:txBody>
          <a:bodyPr wrap="square" lIns="73152" tIns="36576" rIns="73152" bIns="36576" anchor="t">
            <a:noAutofit/>
          </a:bodyPr>
          <a:lstStyle/>
          <a:p>
            <a:pPr algn="l">
              <a:spcBef>
                <a:spcPts val="0"/>
              </a:spcBef>
              <a:spcAft>
                <a:spcPts val="0"/>
              </a:spcAft>
            </a:pPr>
            <a:r>
              <a:rPr sz="1500" b="0" i="1">
                <a:solidFill>
                  <a:srgbClr val="2F6D62"/>
                </a:solidFill>
                <a:latin typeface="Calibri"/>
              </a:rPr>
              <a:t>Walking a list, changing it safely, naming its items.</a:t>
            </a:r>
          </a:p>
        </p:txBody>
      </p:sp>
      <p:sp>
        <p:nvSpPr>
          <p:cNvPr id="5" name="concept"/>
          <p:cNvSpPr/>
          <p:nvPr/>
        </p:nvSpPr>
        <p:spPr>
          <a:xfrm>
            <a:off x="457200" y="1691640"/>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range() and len()</a:t>
            </a:r>
          </a:p>
        </p:txBody>
      </p:sp>
      <p:sp>
        <p:nvSpPr>
          <p:cNvPr id="6" name="meaning"/>
          <p:cNvSpPr txBox="1"/>
          <p:nvPr/>
        </p:nvSpPr>
        <p:spPr>
          <a:xfrm>
            <a:off x="2926080" y="1709928"/>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Walk a list by position.</a:t>
            </a:r>
          </a:p>
        </p:txBody>
      </p:sp>
      <p:sp>
        <p:nvSpPr>
          <p:cNvPr id="7" name="concept"/>
          <p:cNvSpPr/>
          <p:nvPr/>
        </p:nvSpPr>
        <p:spPr>
          <a:xfrm>
            <a:off x="457200" y="2404872"/>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enumerate</a:t>
            </a:r>
          </a:p>
        </p:txBody>
      </p:sp>
      <p:sp>
        <p:nvSpPr>
          <p:cNvPr id="8" name="meaning"/>
          <p:cNvSpPr txBox="1"/>
          <p:nvPr/>
        </p:nvSpPr>
        <p:spPr>
          <a:xfrm>
            <a:off x="2926080" y="2423160"/>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Pair every item with its number.</a:t>
            </a:r>
          </a:p>
        </p:txBody>
      </p:sp>
      <p:sp>
        <p:nvSpPr>
          <p:cNvPr id="9" name="concept"/>
          <p:cNvSpPr/>
          <p:nvPr/>
        </p:nvSpPr>
        <p:spPr>
          <a:xfrm>
            <a:off x="457200" y="3118104"/>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The removal trap</a:t>
            </a:r>
          </a:p>
        </p:txBody>
      </p:sp>
      <p:sp>
        <p:nvSpPr>
          <p:cNvPr id="10" name="meaning"/>
          <p:cNvSpPr txBox="1"/>
          <p:nvPr/>
        </p:nvSpPr>
        <p:spPr>
          <a:xfrm>
            <a:off x="2926080" y="3136392"/>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Never remove from the list you loop over.</a:t>
            </a:r>
          </a:p>
        </p:txBody>
      </p:sp>
      <p:sp>
        <p:nvSpPr>
          <p:cNvPr id="11" name="concept"/>
          <p:cNvSpPr/>
          <p:nvPr/>
        </p:nvSpPr>
        <p:spPr>
          <a:xfrm>
            <a:off x="457200" y="3831335"/>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Starred unpacking</a:t>
            </a:r>
          </a:p>
        </p:txBody>
      </p:sp>
      <p:sp>
        <p:nvSpPr>
          <p:cNvPr id="12" name="meaning"/>
          <p:cNvSpPr txBox="1"/>
          <p:nvPr/>
        </p:nvSpPr>
        <p:spPr>
          <a:xfrm>
            <a:off x="2926080" y="3849623"/>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Give each item a name in one line.</a:t>
            </a:r>
          </a:p>
        </p:txBody>
      </p:sp>
      <p:pic>
        <p:nvPicPr>
          <p:cNvPr id="13" name="picture: Figure 6-4 - Sweigart, ATBS 3e, CC BY-NC-SA" descr="Textbook figure for the part: Loops and unpacking"/>
          <p:cNvPicPr>
            <a:picLocks noChangeAspect="1"/>
          </p:cNvPicPr>
          <p:nvPr/>
        </p:nvPicPr>
        <p:blipFill>
          <a:blip r:embed="rId2"/>
          <a:stretch>
            <a:fillRect/>
          </a:stretch>
        </p:blipFill>
        <p:spPr>
          <a:xfrm>
            <a:off x="6172200" y="1828800"/>
            <a:ext cx="2651760" cy="1603551"/>
          </a:xfrm>
          <a:prstGeom prst="rect">
            <a:avLst/>
          </a:prstGeom>
        </p:spPr>
      </p:pic>
      <p:sp>
        <p:nvSpPr>
          <p:cNvPr id="14" name="credit"/>
          <p:cNvSpPr txBox="1"/>
          <p:nvPr/>
        </p:nvSpPr>
        <p:spPr>
          <a:xfrm>
            <a:off x="6172200" y="3478071"/>
            <a:ext cx="2651760" cy="365760"/>
          </a:xfrm>
          <a:prstGeom prst="rect">
            <a:avLst/>
          </a:prstGeom>
          <a:noFill/>
        </p:spPr>
        <p:txBody>
          <a:bodyPr wrap="square" lIns="73152" tIns="36576" rIns="73152" bIns="36576" anchor="t">
            <a:noAutofit/>
          </a:bodyPr>
          <a:lstStyle/>
          <a:p>
            <a:pPr algn="ctr">
              <a:spcBef>
                <a:spcPts val="0"/>
              </a:spcBef>
              <a:spcAft>
                <a:spcPts val="0"/>
              </a:spcAft>
            </a:pPr>
            <a:r>
              <a:rPr sz="900" b="0" i="1">
                <a:solidFill>
                  <a:srgbClr val="6E655C"/>
                </a:solidFill>
                <a:latin typeface="Calibri"/>
              </a:rPr>
              <a:t>Figure 6-4 - Sweigart, ATBS 3e, CC BY-NC-SA</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24 / 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Looping: range(), len() and enumerate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range(len(x)) walks the positions; enumerate hands you position and item together, from any start number.</a:t>
            </a:r>
          </a:p>
        </p:txBody>
      </p:sp>
      <p:sp>
        <p:nvSpPr>
          <p:cNvPr id="5" name="code"/>
          <p:cNvSpPr/>
          <p:nvPr/>
        </p:nvSpPr>
        <p:spPr>
          <a:xfrm>
            <a:off x="365760" y="960120"/>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supplies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'pens'</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'staplers'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A5D6FF"/>
                </a:solidFill>
                <a:latin typeface="Courier New"/>
              </a:rPr>
              <a:t>'flamethrowers'</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'binders'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i</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supplies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i</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supplies</a:t>
            </a:r>
            <a:r>
              <a:rPr sz="1100" b="0" i="0">
                <a:solidFill>
                  <a:srgbClr val="E6EDF3"/>
                </a:solidFill>
                <a:latin typeface="Courier New"/>
              </a:rPr>
              <a:t>[</a:t>
            </a:r>
            <a:r>
              <a:rPr sz="1100" b="0" i="0">
                <a:solidFill>
                  <a:srgbClr val="E6EDF3"/>
                </a:solidFill>
                <a:latin typeface="Courier New"/>
              </a:rPr>
              <a:t>i</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range(len(supplies)) gives 0, 1, 2, 3; supplies[i] fetches the item at each position.</a:t>
            </a:r>
          </a:p>
        </p:txBody>
      </p:sp>
      <p:sp>
        <p:nvSpPr>
          <p:cNvPr id="8" name="code"/>
          <p:cNvSpPr/>
          <p:nvPr/>
        </p:nvSpPr>
        <p:spPr>
          <a:xfrm>
            <a:off x="365760" y="1850136"/>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enumerate</a:t>
            </a:r>
            <a:r>
              <a:rPr sz="1100" b="0" i="0">
                <a:solidFill>
                  <a:srgbClr val="E6EDF3"/>
                </a:solidFill>
                <a:latin typeface="Courier New"/>
              </a:rPr>
              <a:t>(</a:t>
            </a:r>
            <a:r>
              <a:rPr sz="1100" b="0" i="0">
                <a:solidFill>
                  <a:srgbClr val="E6EDF3"/>
                </a:solidFill>
                <a:latin typeface="Courier New"/>
              </a:rPr>
              <a:t>supplies</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850136"/>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50136"/>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enumerate(supplies, 1) pairs a counter that starts at 1 with each item, and len(s) counts its letters.</a:t>
            </a:r>
          </a:p>
        </p:txBody>
      </p:sp>
      <p:graphicFrame>
        <p:nvGraphicFramePr>
          <p:cNvPr id="11" name="result table" descr="Result table: 0 -&gt; 1 pens 4; 1 -&gt; 2 staplers 8; 2 -&gt; 3 flamethrowers 13; 3 -&gt; 4 binders 7"/>
          <p:cNvGraphicFramePr>
            <a:graphicFrameLocks noGrp="1"/>
          </p:cNvGraphicFramePr>
          <p:nvPr/>
        </p:nvGraphicFramePr>
        <p:xfrm>
          <a:off x="365760" y="2604516"/>
          <a:ext cx="3880103" cy="1143000"/>
        </p:xfrm>
        <a:graphic>
          <a:graphicData uri="http://schemas.openxmlformats.org/drawingml/2006/table">
            <a:tbl>
              <a:tblPr firstRow="1">
                <a:tableStyleId>{5C22544A-7EE6-4342-B048-85BDC9FD1C3A}</a:tableStyleId>
              </a:tblPr>
              <a:tblGrid>
                <a:gridCol w="277368"/>
                <a:gridCol w="1725167"/>
                <a:gridCol w="1877568"/>
              </a:tblGrid>
              <a:tr h="228600">
                <a:tc>
                  <a:txBody>
                    <a:bodyPr wrap="none"/>
                    <a:lstStyle/>
                    <a:p>
                      <a:r>
                        <a:rPr sz="1000" b="1">
                          <a:solidFill>
                            <a:srgbClr val="FFFFFF"/>
                          </a:solidFill>
                          <a:latin typeface="Calibri"/>
                        </a:rPr>
                        <a:t>i</a:t>
                      </a:r>
                    </a:p>
                  </a:txBody>
                  <a:tcPr marL="82296" marR="82296" marT="22860" marB="22860" anchor="ctr">
                    <a:solidFill>
                      <a:srgbClr val="2F6D62"/>
                    </a:solidFill>
                  </a:tcPr>
                </a:tc>
                <a:tc>
                  <a:txBody>
                    <a:bodyPr wrap="none"/>
                    <a:lstStyle/>
                    <a:p>
                      <a:r>
                        <a:rPr sz="1000" b="1">
                          <a:solidFill>
                            <a:srgbClr val="FFFFFF"/>
                          </a:solidFill>
                          <a:latin typeface="Calibri"/>
                        </a:rPr>
                        <a:t>range(len(supplies))</a:t>
                      </a:r>
                    </a:p>
                  </a:txBody>
                  <a:tcPr marL="82296" marR="82296" marT="22860" marB="22860" anchor="ctr">
                    <a:solidFill>
                      <a:srgbClr val="2F6D62"/>
                    </a:solidFill>
                  </a:tcPr>
                </a:tc>
                <a:tc>
                  <a:txBody>
                    <a:bodyPr wrap="none"/>
                    <a:lstStyle/>
                    <a:p>
                      <a:r>
                        <a:rPr sz="1000" b="1">
                          <a:solidFill>
                            <a:srgbClr val="FFFFFF"/>
                          </a:solidFill>
                          <a:latin typeface="Calibri"/>
                        </a:rPr>
                        <a:t>enumerate(supplies, 1)</a:t>
                      </a:r>
                    </a:p>
                  </a:txBody>
                  <a:tcPr marL="82296" marR="82296" marT="22860" marB="22860" anchor="ctr">
                    <a:solidFill>
                      <a:srgbClr val="2F6D62"/>
                    </a:solidFill>
                  </a:tcPr>
                </a:tc>
              </a:tr>
              <a:tr h="228600">
                <a:tc>
                  <a:txBody>
                    <a:bodyPr wrap="none"/>
                    <a:lstStyle/>
                    <a:p>
                      <a:r>
                        <a:rPr sz="1000" b="0">
                          <a:solidFill>
                            <a:srgbClr val="2B2622"/>
                          </a:solidFill>
                          <a:latin typeface="Courier New"/>
                        </a:rPr>
                        <a:t>0</a:t>
                      </a:r>
                    </a:p>
                  </a:txBody>
                  <a:tcPr marL="82296" marR="82296" marT="22860" marB="22860" anchor="ctr">
                    <a:solidFill>
                      <a:srgbClr val="FFFFFF"/>
                    </a:solidFill>
                  </a:tcPr>
                </a:tc>
                <a:tc>
                  <a:txBody>
                    <a:bodyPr wrap="none"/>
                    <a:lstStyle/>
                    <a:p>
                      <a:r>
                        <a:rPr sz="1000" b="0">
                          <a:solidFill>
                            <a:srgbClr val="2B2622"/>
                          </a:solidFill>
                          <a:latin typeface="Courier New"/>
                        </a:rPr>
                        <a:t>0 pens</a:t>
                      </a:r>
                    </a:p>
                  </a:txBody>
                  <a:tcPr marL="82296" marR="82296" marT="22860" marB="22860" anchor="ctr">
                    <a:solidFill>
                      <a:srgbClr val="FFFFFF"/>
                    </a:solidFill>
                  </a:tcPr>
                </a:tc>
                <a:tc>
                  <a:txBody>
                    <a:bodyPr wrap="none"/>
                    <a:lstStyle/>
                    <a:p>
                      <a:r>
                        <a:rPr sz="1000" b="0">
                          <a:solidFill>
                            <a:srgbClr val="2B2622"/>
                          </a:solidFill>
                          <a:latin typeface="Courier New"/>
                        </a:rPr>
                        <a:t>1 pens 4</a:t>
                      </a:r>
                    </a:p>
                  </a:txBody>
                  <a:tcPr marL="82296" marR="82296" marT="22860" marB="22860" anchor="ctr">
                    <a:solidFill>
                      <a:srgbClr val="FFFFFF"/>
                    </a:solidFill>
                  </a:tcPr>
                </a:tc>
              </a:tr>
              <a:tr h="228600">
                <a:tc>
                  <a:txBody>
                    <a:bodyPr wrap="none"/>
                    <a:lstStyle/>
                    <a:p>
                      <a:r>
                        <a:rPr sz="1000" b="0">
                          <a:solidFill>
                            <a:srgbClr val="2B2622"/>
                          </a:solidFill>
                          <a:latin typeface="Courier New"/>
                        </a:rPr>
                        <a:t>1</a:t>
                      </a:r>
                    </a:p>
                  </a:txBody>
                  <a:tcPr marL="82296" marR="82296" marT="22860" marB="22860" anchor="ctr">
                    <a:solidFill>
                      <a:srgbClr val="F1ECE2"/>
                    </a:solidFill>
                  </a:tcPr>
                </a:tc>
                <a:tc>
                  <a:txBody>
                    <a:bodyPr wrap="none"/>
                    <a:lstStyle/>
                    <a:p>
                      <a:r>
                        <a:rPr sz="1000" b="0">
                          <a:solidFill>
                            <a:srgbClr val="2B2622"/>
                          </a:solidFill>
                          <a:latin typeface="Courier New"/>
                        </a:rPr>
                        <a:t>1 staplers</a:t>
                      </a:r>
                    </a:p>
                  </a:txBody>
                  <a:tcPr marL="82296" marR="82296" marT="22860" marB="22860" anchor="ctr">
                    <a:solidFill>
                      <a:srgbClr val="F1ECE2"/>
                    </a:solidFill>
                  </a:tcPr>
                </a:tc>
                <a:tc>
                  <a:txBody>
                    <a:bodyPr wrap="none"/>
                    <a:lstStyle/>
                    <a:p>
                      <a:r>
                        <a:rPr sz="1000" b="0">
                          <a:solidFill>
                            <a:srgbClr val="2B2622"/>
                          </a:solidFill>
                          <a:latin typeface="Courier New"/>
                        </a:rPr>
                        <a:t>2 staplers 8</a:t>
                      </a:r>
                    </a:p>
                  </a:txBody>
                  <a:tcPr marL="82296" marR="82296" marT="22860" marB="22860" anchor="ctr">
                    <a:solidFill>
                      <a:srgbClr val="F1ECE2"/>
                    </a:solidFill>
                  </a:tcPr>
                </a:tc>
              </a:tr>
              <a:tr h="228600">
                <a:tc>
                  <a:txBody>
                    <a:bodyPr wrap="none"/>
                    <a:lstStyle/>
                    <a:p>
                      <a:r>
                        <a:rPr sz="1000" b="0">
                          <a:solidFill>
                            <a:srgbClr val="2B2622"/>
                          </a:solidFill>
                          <a:latin typeface="Courier New"/>
                        </a:rPr>
                        <a:t>2</a:t>
                      </a:r>
                    </a:p>
                  </a:txBody>
                  <a:tcPr marL="82296" marR="82296" marT="22860" marB="22860" anchor="ctr">
                    <a:solidFill>
                      <a:srgbClr val="FFFFFF"/>
                    </a:solidFill>
                  </a:tcPr>
                </a:tc>
                <a:tc>
                  <a:txBody>
                    <a:bodyPr wrap="none"/>
                    <a:lstStyle/>
                    <a:p>
                      <a:r>
                        <a:rPr sz="1000" b="0">
                          <a:solidFill>
                            <a:srgbClr val="2B2622"/>
                          </a:solidFill>
                          <a:latin typeface="Courier New"/>
                        </a:rPr>
                        <a:t>2 flamethrowers</a:t>
                      </a:r>
                    </a:p>
                  </a:txBody>
                  <a:tcPr marL="82296" marR="82296" marT="22860" marB="22860" anchor="ctr">
                    <a:solidFill>
                      <a:srgbClr val="FFFFFF"/>
                    </a:solidFill>
                  </a:tcPr>
                </a:tc>
                <a:tc>
                  <a:txBody>
                    <a:bodyPr wrap="none"/>
                    <a:lstStyle/>
                    <a:p>
                      <a:r>
                        <a:rPr sz="1000" b="0">
                          <a:solidFill>
                            <a:srgbClr val="2B2622"/>
                          </a:solidFill>
                          <a:latin typeface="Courier New"/>
                        </a:rPr>
                        <a:t>3 flamethrowers 13</a:t>
                      </a:r>
                    </a:p>
                  </a:txBody>
                  <a:tcPr marL="82296" marR="82296" marT="22860" marB="22860" anchor="ctr">
                    <a:solidFill>
                      <a:srgbClr val="FFFFFF"/>
                    </a:solidFill>
                  </a:tcPr>
                </a:tc>
              </a:tr>
              <a:tr h="228600">
                <a:tc>
                  <a:txBody>
                    <a:bodyPr wrap="none"/>
                    <a:lstStyle/>
                    <a:p>
                      <a:r>
                        <a:rPr sz="1000" b="0">
                          <a:solidFill>
                            <a:srgbClr val="2B2622"/>
                          </a:solidFill>
                          <a:latin typeface="Courier New"/>
                        </a:rPr>
                        <a:t>3</a:t>
                      </a:r>
                    </a:p>
                  </a:txBody>
                  <a:tcPr marL="82296" marR="82296" marT="22860" marB="22860" anchor="ctr">
                    <a:solidFill>
                      <a:srgbClr val="F1ECE2"/>
                    </a:solidFill>
                  </a:tcPr>
                </a:tc>
                <a:tc>
                  <a:txBody>
                    <a:bodyPr wrap="none"/>
                    <a:lstStyle/>
                    <a:p>
                      <a:r>
                        <a:rPr sz="1000" b="0">
                          <a:solidFill>
                            <a:srgbClr val="2B2622"/>
                          </a:solidFill>
                          <a:latin typeface="Courier New"/>
                        </a:rPr>
                        <a:t>3 binders</a:t>
                      </a:r>
                    </a:p>
                  </a:txBody>
                  <a:tcPr marL="82296" marR="82296" marT="22860" marB="22860" anchor="ctr">
                    <a:solidFill>
                      <a:srgbClr val="F1ECE2"/>
                    </a:solidFill>
                  </a:tcPr>
                </a:tc>
                <a:tc>
                  <a:txBody>
                    <a:bodyPr wrap="none"/>
                    <a:lstStyle/>
                    <a:p>
                      <a:r>
                        <a:rPr sz="1000" b="0">
                          <a:solidFill>
                            <a:srgbClr val="2B2622"/>
                          </a:solidFill>
                          <a:latin typeface="Courier New"/>
                        </a:rPr>
                        <a:t>4 binders 7</a:t>
                      </a:r>
                    </a:p>
                  </a:txBody>
                  <a:tcPr marL="82296" marR="82296" marT="22860" marB="22860" anchor="ctr">
                    <a:solidFill>
                      <a:srgbClr val="F1ECE2"/>
                    </a:solidFill>
                  </a:tcPr>
                </a:tc>
              </a:tr>
            </a:tbl>
          </a:graphicData>
        </a:graphic>
      </p:graphicFrame>
      <p:graphicFrame>
        <p:nvGraphicFramePr>
          <p:cNvPr id="12" name="result chart" descr="Chart: letters in each supply name - pens 4, staplers 8, flamethrowers 13, binders 7"/>
          <p:cNvGraphicFramePr>
            <a:graphicFrameLocks noGrp="1"/>
          </p:cNvGraphicFramePr>
          <p:nvPr/>
        </p:nvGraphicFramePr>
        <p:xfrm>
          <a:off x="4428744" y="2586228"/>
          <a:ext cx="4395216" cy="1912619"/>
        </p:xfrm>
        <a:graphic>
          <a:graphicData uri="http://schemas.openxmlformats.org/drawingml/2006/chart">
            <c:chart xmlns:c="http://schemas.openxmlformats.org/drawingml/2006/chart" r:id="rId2"/>
          </a:graphicData>
        </a:graphic>
      </p:graphicFrame>
      <p:sp>
        <p:nvSpPr>
          <p:cNvPr id="13"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enumerate gives the number and the item together</a:t>
            </a:r>
          </a:p>
        </p:txBody>
      </p:sp>
      <p:sp>
        <p:nvSpPr>
          <p:cNvPr id="14"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25 / 49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Never remove from the list you loop over</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The loop counts positions: after a removal the next item slides into the place just left, and is skipped.</a:t>
            </a:r>
          </a:p>
        </p:txBody>
      </p:sp>
      <p:sp>
        <p:nvSpPr>
          <p:cNvPr id="5" name="code"/>
          <p:cNvSpPr/>
          <p:nvPr/>
        </p:nvSpPr>
        <p:spPr>
          <a:xfrm>
            <a:off x="365760" y="960120"/>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items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'c'</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'd'</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items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items</a:t>
            </a:r>
            <a:r>
              <a:rPr sz="1100" b="0" i="0">
                <a:solidFill>
                  <a:srgbClr val="E6EDF3"/>
                </a:solidFill>
                <a:latin typeface="Courier New"/>
              </a:rPr>
              <a:t>.</a:t>
            </a:r>
            <a:r>
              <a:rPr sz="1100" b="0" i="0">
                <a:solidFill>
                  <a:srgbClr val="E6EDF3"/>
                </a:solidFill>
                <a:latin typeface="Courier New"/>
              </a:rPr>
              <a:t>remove</a:t>
            </a:r>
            <a:r>
              <a:rPr sz="1100" b="0" i="0">
                <a:solidFill>
                  <a:srgbClr val="E6EDF3"/>
                </a:solidFill>
                <a:latin typeface="Courier New"/>
              </a:rPr>
              <a:t>(</a:t>
            </a:r>
            <a:r>
              <a:rPr sz="1100" b="0" i="0">
                <a:solidFill>
                  <a:srgbClr val="E6EDF3"/>
                </a:solidFill>
                <a:latin typeface="Courier New"/>
              </a:rPr>
              <a:t>x</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items</a:t>
            </a:r>
            <a:r>
              <a:rPr sz="1100" b="0" i="0">
                <a:solidFill>
                  <a:srgbClr val="E6EDF3"/>
                </a:solidFill>
                <a:latin typeface="Courier New"/>
              </a:rPr>
              <a:t>)</a:t>
            </a:r>
          </a:p>
        </p:txBody>
      </p:sp>
      <p:sp>
        <p:nvSpPr>
          <p:cNvPr id="6" name="Rectangle 5"/>
          <p:cNvSpPr/>
          <p:nvPr/>
        </p:nvSpPr>
        <p:spPr>
          <a:xfrm>
            <a:off x="5321808" y="960120"/>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Four items, four passes expected, but two letters are left behind: the loop skips every second item.</a:t>
            </a:r>
          </a:p>
        </p:txBody>
      </p:sp>
      <p:sp>
        <p:nvSpPr>
          <p:cNvPr id="8" name="code"/>
          <p:cNvSpPr/>
          <p:nvPr/>
        </p:nvSpPr>
        <p:spPr>
          <a:xfrm>
            <a:off x="365760" y="1850136"/>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items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'c'</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'd'</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keep</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items</a:t>
            </a:r>
            <a:r>
              <a:rPr sz="1100" b="0" i="0">
                <a:solidFill>
                  <a:srgbClr val="E6EDF3"/>
                </a:solidFill>
                <a:latin typeface="Courier New"/>
              </a:rPr>
              <a:t> </a:t>
            </a:r>
            <a:r>
              <a:rPr sz="1100" b="0" i="0">
                <a:solidFill>
                  <a:srgbClr val="FF7B72"/>
                </a:solidFill>
                <a:latin typeface="Courier New"/>
              </a:rPr>
              <a:t>if</a:t>
            </a:r>
            <a:r>
              <a:rPr sz="1100" b="0" i="0">
                <a:solidFill>
                  <a:srgbClr val="E6EDF3"/>
                </a:solidFill>
                <a:latin typeface="Courier New"/>
              </a:rPr>
              <a:t> </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not</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A5D6FF"/>
                </a:solidFill>
                <a:latin typeface="Courier New"/>
              </a:rPr>
              <a:t>'ab'</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keep</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items</a:t>
            </a:r>
            <a:r>
              <a:rPr sz="1100" b="0" i="0">
                <a:solidFill>
                  <a:srgbClr val="E6EDF3"/>
                </a:solidFill>
                <a:latin typeface="Courier New"/>
              </a:rPr>
              <a:t>.</a:t>
            </a:r>
            <a:r>
              <a:rPr sz="1100" b="0" i="0">
                <a:solidFill>
                  <a:srgbClr val="E6EDF3"/>
                </a:solidFill>
                <a:latin typeface="Courier New"/>
              </a:rPr>
              <a:t>clear</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items</a:t>
            </a:r>
            <a:r>
              <a:rPr sz="1100" b="0" i="0">
                <a:solidFill>
                  <a:srgbClr val="E6EDF3"/>
                </a:solidFill>
                <a:latin typeface="Courier New"/>
              </a:rPr>
              <a:t>)</a:t>
            </a:r>
          </a:p>
        </p:txBody>
      </p:sp>
      <p:sp>
        <p:nvSpPr>
          <p:cNvPr id="9" name="Rectangle 8"/>
          <p:cNvSpPr/>
          <p:nvPr/>
        </p:nvSpPr>
        <p:spPr>
          <a:xfrm>
            <a:off x="5321808" y="1850136"/>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50136"/>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Build a new list with a comprehension instead, or use clear() to empty the list in one safe step.</a:t>
            </a:r>
          </a:p>
        </p:txBody>
      </p:sp>
      <p:graphicFrame>
        <p:nvGraphicFramePr>
          <p:cNvPr id="11" name="result table" descr="Result table: items after the loop -&gt; ['b', 'd']; keep, built safely -&gt; ['c', 'd']; items after clear() -&gt; []"/>
          <p:cNvGraphicFramePr>
            <a:graphicFrameLocks noGrp="1"/>
          </p:cNvGraphicFramePr>
          <p:nvPr/>
        </p:nvGraphicFramePr>
        <p:xfrm>
          <a:off x="365760" y="2944368"/>
          <a:ext cx="2434335" cy="914400"/>
        </p:xfrm>
        <a:graphic>
          <a:graphicData uri="http://schemas.openxmlformats.org/drawingml/2006/table">
            <a:tbl>
              <a:tblPr firstRow="1">
                <a:tableStyleId>{5C22544A-7EE6-4342-B048-85BDC9FD1C3A}</a:tableStyleId>
              </a:tblPr>
              <a:tblGrid>
                <a:gridCol w="1471168"/>
                <a:gridCol w="963167"/>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items after the loop</a:t>
                      </a:r>
                    </a:p>
                  </a:txBody>
                  <a:tcPr marL="82296" marR="82296" marT="22860" marB="22860" anchor="ctr">
                    <a:solidFill>
                      <a:srgbClr val="FFFFFF"/>
                    </a:solidFill>
                  </a:tcPr>
                </a:tc>
                <a:tc>
                  <a:txBody>
                    <a:bodyPr wrap="none"/>
                    <a:lstStyle/>
                    <a:p>
                      <a:r>
                        <a:rPr sz="1000" b="0">
                          <a:solidFill>
                            <a:srgbClr val="2B2622"/>
                          </a:solidFill>
                          <a:latin typeface="Courier New"/>
                        </a:rPr>
                        <a:t>['b', 'd']</a:t>
                      </a:r>
                    </a:p>
                  </a:txBody>
                  <a:tcPr marL="82296" marR="82296" marT="22860" marB="22860" anchor="ctr">
                    <a:solidFill>
                      <a:srgbClr val="FFFFFF"/>
                    </a:solidFill>
                  </a:tcPr>
                </a:tc>
              </a:tr>
              <a:tr h="228600">
                <a:tc>
                  <a:txBody>
                    <a:bodyPr wrap="none"/>
                    <a:lstStyle/>
                    <a:p>
                      <a:r>
                        <a:rPr sz="1000" b="0">
                          <a:solidFill>
                            <a:srgbClr val="2B2622"/>
                          </a:solidFill>
                          <a:latin typeface="Calibri"/>
                        </a:rPr>
                        <a:t>keep, built safely</a:t>
                      </a:r>
                    </a:p>
                  </a:txBody>
                  <a:tcPr marL="82296" marR="82296" marT="22860" marB="22860" anchor="ctr">
                    <a:solidFill>
                      <a:srgbClr val="F1ECE2"/>
                    </a:solidFill>
                  </a:tcPr>
                </a:tc>
                <a:tc>
                  <a:txBody>
                    <a:bodyPr wrap="none"/>
                    <a:lstStyle/>
                    <a:p>
                      <a:r>
                        <a:rPr sz="1000" b="0">
                          <a:solidFill>
                            <a:srgbClr val="2B2622"/>
                          </a:solidFill>
                          <a:latin typeface="Courier New"/>
                        </a:rPr>
                        <a:t>['c', 'd']</a:t>
                      </a:r>
                    </a:p>
                  </a:txBody>
                  <a:tcPr marL="82296" marR="82296" marT="22860" marB="22860" anchor="ctr">
                    <a:solidFill>
                      <a:srgbClr val="F1ECE2"/>
                    </a:solidFill>
                  </a:tcPr>
                </a:tc>
              </a:tr>
              <a:tr h="228600">
                <a:tc>
                  <a:txBody>
                    <a:bodyPr wrap="none"/>
                    <a:lstStyle/>
                    <a:p>
                      <a:r>
                        <a:rPr sz="1000" b="0">
                          <a:solidFill>
                            <a:srgbClr val="2B2622"/>
                          </a:solidFill>
                          <a:latin typeface="Calibri"/>
                        </a:rPr>
                        <a:t>items after clear()</a:t>
                      </a:r>
                    </a:p>
                  </a:txBody>
                  <a:tcPr marL="82296" marR="82296" marT="22860" marB="22860" anchor="ctr">
                    <a:solidFill>
                      <a:srgbClr val="FFFFFF"/>
                    </a:solidFill>
                  </a:tcPr>
                </a:tc>
                <a:tc>
                  <a:txBody>
                    <a:bodyPr wrap="none"/>
                    <a:lstStyle/>
                    <a:p>
                      <a:r>
                        <a:rPr sz="1000" b="0">
                          <a:solidFill>
                            <a:srgbClr val="2B2622"/>
                          </a:solidFill>
                          <a:latin typeface="Courier New"/>
                        </a:rPr>
                        <a:t>[]</a:t>
                      </a:r>
                    </a:p>
                  </a:txBody>
                  <a:tcPr marL="82296" marR="82296" marT="22860" marB="22860" anchor="ctr">
                    <a:solidFill>
                      <a:srgbClr val="FFFFFF"/>
                    </a:solidFill>
                  </a:tcPr>
                </a:tc>
              </a:tr>
            </a:tbl>
          </a:graphicData>
        </a:graphic>
      </p:graphicFrame>
      <p:sp>
        <p:nvSpPr>
          <p:cNvPr id="12" name="step label"/>
          <p:cNvSpPr txBox="1"/>
          <p:nvPr/>
        </p:nvSpPr>
        <p:spPr>
          <a:xfrm>
            <a:off x="2982975" y="2990088"/>
            <a:ext cx="960120" cy="310896"/>
          </a:xfrm>
          <a:prstGeom prst="rect">
            <a:avLst/>
          </a:prstGeom>
          <a:noFill/>
        </p:spPr>
        <p:txBody>
          <a:bodyPr wrap="square" lIns="18288" tIns="18288" rIns="18288" bIns="18288" anchor="t">
            <a:noAutofit/>
          </a:bodyPr>
          <a:lstStyle/>
          <a:p>
            <a:pPr algn="l">
              <a:spcBef>
                <a:spcPts val="0"/>
              </a:spcBef>
              <a:spcAft>
                <a:spcPts val="0"/>
              </a:spcAft>
            </a:pPr>
            <a:r>
              <a:rPr sz="1000" b="0" i="0">
                <a:solidFill>
                  <a:srgbClr val="6E655C"/>
                </a:solidFill>
                <a:latin typeface="Calibri"/>
              </a:rPr>
              <a:t>start</a:t>
            </a:r>
          </a:p>
        </p:txBody>
      </p:sp>
      <p:sp>
        <p:nvSpPr>
          <p:cNvPr id="13" name="Rounded Rectangle 12"/>
          <p:cNvSpPr/>
          <p:nvPr/>
        </p:nvSpPr>
        <p:spPr>
          <a:xfrm>
            <a:off x="3988816" y="29626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a</a:t>
            </a:r>
          </a:p>
        </p:txBody>
      </p:sp>
      <p:sp>
        <p:nvSpPr>
          <p:cNvPr id="14" name="Rounded Rectangle 13"/>
          <p:cNvSpPr/>
          <p:nvPr/>
        </p:nvSpPr>
        <p:spPr>
          <a:xfrm>
            <a:off x="4491736" y="29626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b</a:t>
            </a:r>
          </a:p>
        </p:txBody>
      </p:sp>
      <p:sp>
        <p:nvSpPr>
          <p:cNvPr id="15" name="Rounded Rectangle 14"/>
          <p:cNvSpPr/>
          <p:nvPr/>
        </p:nvSpPr>
        <p:spPr>
          <a:xfrm>
            <a:off x="4994655" y="29626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c</a:t>
            </a:r>
          </a:p>
        </p:txBody>
      </p:sp>
      <p:sp>
        <p:nvSpPr>
          <p:cNvPr id="16" name="Rounded Rectangle 15"/>
          <p:cNvSpPr/>
          <p:nvPr/>
        </p:nvSpPr>
        <p:spPr>
          <a:xfrm>
            <a:off x="5497576" y="29626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d</a:t>
            </a:r>
          </a:p>
        </p:txBody>
      </p:sp>
      <p:cxnSp>
        <p:nvCxnSpPr>
          <p:cNvPr id="17" name="Connector 16"/>
          <p:cNvCxnSpPr/>
          <p:nvPr/>
        </p:nvCxnSpPr>
        <p:spPr>
          <a:xfrm>
            <a:off x="3485896" y="3310128"/>
            <a:ext cx="0" cy="128016"/>
          </a:xfrm>
          <a:prstGeom prst="line">
            <a:avLst/>
          </a:prstGeom>
          <a:ln w="19050">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8" name="step label"/>
          <p:cNvSpPr txBox="1"/>
          <p:nvPr/>
        </p:nvSpPr>
        <p:spPr>
          <a:xfrm>
            <a:off x="2982975" y="3447288"/>
            <a:ext cx="960120" cy="310896"/>
          </a:xfrm>
          <a:prstGeom prst="rect">
            <a:avLst/>
          </a:prstGeom>
          <a:noFill/>
        </p:spPr>
        <p:txBody>
          <a:bodyPr wrap="square" lIns="18288" tIns="18288" rIns="18288" bIns="18288" anchor="t">
            <a:noAutofit/>
          </a:bodyPr>
          <a:lstStyle/>
          <a:p>
            <a:pPr algn="l">
              <a:spcBef>
                <a:spcPts val="0"/>
              </a:spcBef>
              <a:spcAft>
                <a:spcPts val="0"/>
              </a:spcAft>
            </a:pPr>
            <a:r>
              <a:rPr sz="1000" b="0" i="0">
                <a:solidFill>
                  <a:srgbClr val="6E655C"/>
                </a:solidFill>
                <a:latin typeface="Calibri"/>
              </a:rPr>
              <a:t>after pass 1</a:t>
            </a:r>
          </a:p>
        </p:txBody>
      </p:sp>
      <p:sp>
        <p:nvSpPr>
          <p:cNvPr id="19" name="Rounded Rectangle 18"/>
          <p:cNvSpPr/>
          <p:nvPr/>
        </p:nvSpPr>
        <p:spPr>
          <a:xfrm>
            <a:off x="3988816" y="3419856"/>
            <a:ext cx="457200" cy="329184"/>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b</a:t>
            </a:r>
          </a:p>
        </p:txBody>
      </p:sp>
      <p:sp>
        <p:nvSpPr>
          <p:cNvPr id="20" name="Rounded Rectangle 19"/>
          <p:cNvSpPr/>
          <p:nvPr/>
        </p:nvSpPr>
        <p:spPr>
          <a:xfrm>
            <a:off x="4491736" y="34198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c</a:t>
            </a:r>
          </a:p>
        </p:txBody>
      </p:sp>
      <p:sp>
        <p:nvSpPr>
          <p:cNvPr id="21" name="Rounded Rectangle 20"/>
          <p:cNvSpPr/>
          <p:nvPr/>
        </p:nvSpPr>
        <p:spPr>
          <a:xfrm>
            <a:off x="4994655" y="34198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d</a:t>
            </a:r>
          </a:p>
        </p:txBody>
      </p:sp>
      <p:cxnSp>
        <p:nvCxnSpPr>
          <p:cNvPr id="22" name="Connector 21"/>
          <p:cNvCxnSpPr/>
          <p:nvPr/>
        </p:nvCxnSpPr>
        <p:spPr>
          <a:xfrm>
            <a:off x="3485896" y="3767328"/>
            <a:ext cx="0" cy="128016"/>
          </a:xfrm>
          <a:prstGeom prst="line">
            <a:avLst/>
          </a:prstGeom>
          <a:ln w="19050">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23" name="step label"/>
          <p:cNvSpPr txBox="1"/>
          <p:nvPr/>
        </p:nvSpPr>
        <p:spPr>
          <a:xfrm>
            <a:off x="2982975" y="3904488"/>
            <a:ext cx="960120" cy="310896"/>
          </a:xfrm>
          <a:prstGeom prst="rect">
            <a:avLst/>
          </a:prstGeom>
          <a:noFill/>
        </p:spPr>
        <p:txBody>
          <a:bodyPr wrap="square" lIns="18288" tIns="18288" rIns="18288" bIns="18288" anchor="t">
            <a:noAutofit/>
          </a:bodyPr>
          <a:lstStyle/>
          <a:p>
            <a:pPr algn="l">
              <a:spcBef>
                <a:spcPts val="0"/>
              </a:spcBef>
              <a:spcAft>
                <a:spcPts val="0"/>
              </a:spcAft>
            </a:pPr>
            <a:r>
              <a:rPr sz="1000" b="0" i="0">
                <a:solidFill>
                  <a:srgbClr val="6E655C"/>
                </a:solidFill>
                <a:latin typeface="Calibri"/>
              </a:rPr>
              <a:t>after pass 2</a:t>
            </a:r>
          </a:p>
        </p:txBody>
      </p:sp>
      <p:sp>
        <p:nvSpPr>
          <p:cNvPr id="24" name="Rounded Rectangle 23"/>
          <p:cNvSpPr/>
          <p:nvPr/>
        </p:nvSpPr>
        <p:spPr>
          <a:xfrm>
            <a:off x="3988816" y="3877056"/>
            <a:ext cx="457200" cy="329184"/>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b</a:t>
            </a:r>
          </a:p>
        </p:txBody>
      </p:sp>
      <p:sp>
        <p:nvSpPr>
          <p:cNvPr id="25" name="Rounded Rectangle 24"/>
          <p:cNvSpPr/>
          <p:nvPr/>
        </p:nvSpPr>
        <p:spPr>
          <a:xfrm>
            <a:off x="4491736" y="3877056"/>
            <a:ext cx="457200" cy="329184"/>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d</a:t>
            </a:r>
          </a:p>
        </p:txBody>
      </p:sp>
      <p:sp>
        <p:nvSpPr>
          <p:cNvPr id="26" name="diagram caption"/>
          <p:cNvSpPr txBox="1"/>
          <p:nvPr/>
        </p:nvSpPr>
        <p:spPr>
          <a:xfrm>
            <a:off x="2982975" y="4297680"/>
            <a:ext cx="5840984"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'b' is never visited: it is skipped and stays</a:t>
            </a:r>
          </a:p>
        </p:txBody>
      </p:sp>
      <p:sp>
        <p:nvSpPr>
          <p:cNvPr id="27"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Build a new list instead of removing while looping</a:t>
            </a:r>
          </a:p>
        </p:txBody>
      </p:sp>
      <p:sp>
        <p:nvSpPr>
          <p:cNvPr id="28"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26 / 49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Unpacking: names for the items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Several names left of one equals sign take a list's items in order; a starred name collects the rest.</a:t>
            </a:r>
          </a:p>
        </p:txBody>
      </p:sp>
      <p:sp>
        <p:nvSpPr>
          <p:cNvPr id="5" name="code"/>
          <p:cNvSpPr/>
          <p:nvPr/>
        </p:nvSpPr>
        <p:spPr>
          <a:xfrm>
            <a:off x="365760" y="960120"/>
            <a:ext cx="4937760" cy="481583"/>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size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color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mood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'fat'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'gray'</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'loud'</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size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color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mood</a:t>
            </a:r>
            <a:r>
              <a:rPr sz="1100" b="0" i="0">
                <a:solidFill>
                  <a:srgbClr val="E6EDF3"/>
                </a:solidFill>
                <a:latin typeface="Courier New"/>
              </a:rPr>
              <a:t>)</a:t>
            </a:r>
          </a:p>
        </p:txBody>
      </p:sp>
      <p:sp>
        <p:nvSpPr>
          <p:cNvPr id="6" name="Rectangle 5"/>
          <p:cNvSpPr/>
          <p:nvPr/>
        </p:nvSpPr>
        <p:spPr>
          <a:xfrm>
            <a:off x="5321808" y="960120"/>
            <a:ext cx="45720" cy="481583"/>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481583"/>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Three names, three items: size gets 'fat', color gets 'gray', mood gets 'loud'.</a:t>
            </a:r>
          </a:p>
        </p:txBody>
      </p:sp>
      <p:sp>
        <p:nvSpPr>
          <p:cNvPr id="8" name="code"/>
          <p:cNvSpPr/>
          <p:nvPr/>
        </p:nvSpPr>
        <p:spPr>
          <a:xfrm>
            <a:off x="365760" y="1514856"/>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first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rest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4</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first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rest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'x'</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'y'</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t>
            </a:r>
            <a:r>
              <a:rPr sz="1100" b="0" i="0">
                <a:solidFill>
                  <a:srgbClr val="E6EDF3"/>
                </a:solidFill>
                <a:latin typeface="Courier New"/>
              </a:rPr>
              <a:t>)</a:t>
            </a:r>
          </a:p>
        </p:txBody>
      </p:sp>
      <p:sp>
        <p:nvSpPr>
          <p:cNvPr id="9" name="Rectangle 8"/>
          <p:cNvSpPr/>
          <p:nvPr/>
        </p:nvSpPr>
        <p:spPr>
          <a:xfrm>
            <a:off x="5321808" y="1514856"/>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514856"/>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*rest takes whatever is left, as a list. a, b = b, a swaps two names without a helper variable.</a:t>
            </a:r>
          </a:p>
        </p:txBody>
      </p:sp>
      <p:graphicFrame>
        <p:nvGraphicFramePr>
          <p:cNvPr id="11" name="result table" descr="Result table: size, color, mood -&gt; fat gray loud; first, rest -&gt; 1 [2, 3, 4]; a, b after the swap -&gt; y x"/>
          <p:cNvGraphicFramePr>
            <a:graphicFrameLocks noGrp="1"/>
          </p:cNvGraphicFramePr>
          <p:nvPr/>
        </p:nvGraphicFramePr>
        <p:xfrm>
          <a:off x="365760" y="2609088"/>
          <a:ext cx="2599436" cy="914400"/>
        </p:xfrm>
        <a:graphic>
          <a:graphicData uri="http://schemas.openxmlformats.org/drawingml/2006/table">
            <a:tbl>
              <a:tblPr firstRow="1">
                <a:tableStyleId>{5C22544A-7EE6-4342-B048-85BDC9FD1C3A}</a:tableStyleId>
              </a:tblPr>
              <a:tblGrid>
                <a:gridCol w="1407668"/>
                <a:gridCol w="11917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size, color, mood</a:t>
                      </a:r>
                    </a:p>
                  </a:txBody>
                  <a:tcPr marL="82296" marR="82296" marT="22860" marB="22860" anchor="ctr">
                    <a:solidFill>
                      <a:srgbClr val="FFFFFF"/>
                    </a:solidFill>
                  </a:tcPr>
                </a:tc>
                <a:tc>
                  <a:txBody>
                    <a:bodyPr wrap="none"/>
                    <a:lstStyle/>
                    <a:p>
                      <a:r>
                        <a:rPr sz="1000" b="0">
                          <a:solidFill>
                            <a:srgbClr val="2B2622"/>
                          </a:solidFill>
                          <a:latin typeface="Courier New"/>
                        </a:rPr>
                        <a:t>fat gray loud</a:t>
                      </a:r>
                    </a:p>
                  </a:txBody>
                  <a:tcPr marL="82296" marR="82296" marT="22860" marB="22860" anchor="ctr">
                    <a:solidFill>
                      <a:srgbClr val="FFFFFF"/>
                    </a:solidFill>
                  </a:tcPr>
                </a:tc>
              </a:tr>
              <a:tr h="228600">
                <a:tc>
                  <a:txBody>
                    <a:bodyPr wrap="none"/>
                    <a:lstStyle/>
                    <a:p>
                      <a:r>
                        <a:rPr sz="1000" b="0">
                          <a:solidFill>
                            <a:srgbClr val="2B2622"/>
                          </a:solidFill>
                          <a:latin typeface="Calibri"/>
                        </a:rPr>
                        <a:t>first, rest</a:t>
                      </a:r>
                    </a:p>
                  </a:txBody>
                  <a:tcPr marL="82296" marR="82296" marT="22860" marB="22860" anchor="ctr">
                    <a:solidFill>
                      <a:srgbClr val="F1ECE2"/>
                    </a:solidFill>
                  </a:tcPr>
                </a:tc>
                <a:tc>
                  <a:txBody>
                    <a:bodyPr wrap="none"/>
                    <a:lstStyle/>
                    <a:p>
                      <a:r>
                        <a:rPr sz="1000" b="0">
                          <a:solidFill>
                            <a:srgbClr val="2B2622"/>
                          </a:solidFill>
                          <a:latin typeface="Courier New"/>
                        </a:rPr>
                        <a:t>1 [2, 3, 4]</a:t>
                      </a:r>
                    </a:p>
                  </a:txBody>
                  <a:tcPr marL="82296" marR="82296" marT="22860" marB="22860" anchor="ctr">
                    <a:solidFill>
                      <a:srgbClr val="F1ECE2"/>
                    </a:solidFill>
                  </a:tcPr>
                </a:tc>
              </a:tr>
              <a:tr h="228600">
                <a:tc>
                  <a:txBody>
                    <a:bodyPr wrap="none"/>
                    <a:lstStyle/>
                    <a:p>
                      <a:r>
                        <a:rPr sz="1000" b="0">
                          <a:solidFill>
                            <a:srgbClr val="2B2622"/>
                          </a:solidFill>
                          <a:latin typeface="Calibri"/>
                        </a:rPr>
                        <a:t>a, b after the swap</a:t>
                      </a:r>
                    </a:p>
                  </a:txBody>
                  <a:tcPr marL="82296" marR="82296" marT="22860" marB="22860" anchor="ctr">
                    <a:solidFill>
                      <a:srgbClr val="FFFFFF"/>
                    </a:solidFill>
                  </a:tcPr>
                </a:tc>
                <a:tc>
                  <a:txBody>
                    <a:bodyPr wrap="none"/>
                    <a:lstStyle/>
                    <a:p>
                      <a:r>
                        <a:rPr sz="1000" b="0">
                          <a:solidFill>
                            <a:srgbClr val="2B2622"/>
                          </a:solidFill>
                          <a:latin typeface="Courier New"/>
                        </a:rPr>
                        <a:t>y x</a:t>
                      </a:r>
                    </a:p>
                  </a:txBody>
                  <a:tcPr marL="82296" marR="82296" marT="22860" marB="22860" anchor="ctr">
                    <a:solidFill>
                      <a:srgbClr val="FFFFFF"/>
                    </a:solidFill>
                  </a:tcPr>
                </a:tc>
              </a:tr>
            </a:tbl>
          </a:graphicData>
        </a:graphic>
      </p:graphicFrame>
      <p:sp>
        <p:nvSpPr>
          <p:cNvPr id="12" name="Rounded Rectangle 11"/>
          <p:cNvSpPr/>
          <p:nvPr/>
        </p:nvSpPr>
        <p:spPr>
          <a:xfrm>
            <a:off x="3148076" y="2682240"/>
            <a:ext cx="1739561"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fat</a:t>
            </a:r>
          </a:p>
        </p:txBody>
      </p:sp>
      <p:cxnSp>
        <p:nvCxnSpPr>
          <p:cNvPr id="13" name="Connector 12"/>
          <p:cNvCxnSpPr/>
          <p:nvPr/>
        </p:nvCxnSpPr>
        <p:spPr>
          <a:xfrm>
            <a:off x="4017856" y="3066288"/>
            <a:ext cx="0" cy="36576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48076" y="3450336"/>
            <a:ext cx="1739561" cy="36576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FFFFFF"/>
                </a:solidFill>
                <a:latin typeface="Calibri"/>
              </a:rPr>
              <a:t>size</a:t>
            </a:r>
          </a:p>
        </p:txBody>
      </p:sp>
      <p:sp>
        <p:nvSpPr>
          <p:cNvPr id="15" name="Rounded Rectangle 14"/>
          <p:cNvSpPr/>
          <p:nvPr/>
        </p:nvSpPr>
        <p:spPr>
          <a:xfrm>
            <a:off x="5116237" y="2682240"/>
            <a:ext cx="1739561"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gray</a:t>
            </a:r>
          </a:p>
        </p:txBody>
      </p:sp>
      <p:cxnSp>
        <p:nvCxnSpPr>
          <p:cNvPr id="16" name="Connector 15"/>
          <p:cNvCxnSpPr/>
          <p:nvPr/>
        </p:nvCxnSpPr>
        <p:spPr>
          <a:xfrm>
            <a:off x="5986018" y="3066288"/>
            <a:ext cx="0" cy="36576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16237" y="3450336"/>
            <a:ext cx="1739561" cy="36576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FFFFFF"/>
                </a:solidFill>
                <a:latin typeface="Calibri"/>
              </a:rPr>
              <a:t>color</a:t>
            </a:r>
          </a:p>
        </p:txBody>
      </p:sp>
      <p:sp>
        <p:nvSpPr>
          <p:cNvPr id="18" name="Rounded Rectangle 17"/>
          <p:cNvSpPr/>
          <p:nvPr/>
        </p:nvSpPr>
        <p:spPr>
          <a:xfrm>
            <a:off x="7084398" y="2682240"/>
            <a:ext cx="1739561"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loud</a:t>
            </a:r>
          </a:p>
        </p:txBody>
      </p:sp>
      <p:cxnSp>
        <p:nvCxnSpPr>
          <p:cNvPr id="19" name="Connector 18"/>
          <p:cNvCxnSpPr/>
          <p:nvPr/>
        </p:nvCxnSpPr>
        <p:spPr>
          <a:xfrm>
            <a:off x="7954179" y="3066288"/>
            <a:ext cx="0" cy="36576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084398" y="3450336"/>
            <a:ext cx="1739561" cy="36576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FFFFFF"/>
                </a:solidFill>
                <a:latin typeface="Calibri"/>
              </a:rPr>
              <a:t>mood</a:t>
            </a:r>
          </a:p>
        </p:txBody>
      </p:sp>
      <p:sp>
        <p:nvSpPr>
          <p:cNvPr id="21" name="diagram caption"/>
          <p:cNvSpPr txBox="1"/>
          <p:nvPr/>
        </p:nvSpPr>
        <p:spPr>
          <a:xfrm>
            <a:off x="3148076" y="3852671"/>
            <a:ext cx="5675884"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each item gets the name in the same position</a:t>
            </a:r>
          </a:p>
        </p:txBody>
      </p:sp>
      <p:sp>
        <p:nvSpPr>
          <p:cNvPr id="22"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One line can give every item its own name</a:t>
            </a:r>
          </a:p>
        </p:txBody>
      </p:sp>
      <p:sp>
        <p:nvSpPr>
          <p:cNvPr id="23"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27 / 49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Building a list in one line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 comprehension says what each item is and, if you like, which items to keep; it replaces a loop that appends.</a:t>
            </a:r>
          </a:p>
        </p:txBody>
      </p:sp>
      <p:sp>
        <p:nvSpPr>
          <p:cNvPr id="5" name="code"/>
          <p:cNvSpPr/>
          <p:nvPr/>
        </p:nvSpPr>
        <p:spPr>
          <a:xfrm>
            <a:off x="365760" y="960120"/>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squares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x</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7</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squares</a:t>
            </a:r>
            <a:r>
              <a:rPr sz="1100" b="0" i="0">
                <a:solidFill>
                  <a:srgbClr val="E6EDF3"/>
                </a:solidFill>
                <a:latin typeface="Courier New"/>
              </a:rPr>
              <a:t>)</a:t>
            </a:r>
          </a:p>
        </p:txBody>
      </p:sp>
      <p:sp>
        <p:nvSpPr>
          <p:cNvPr id="6" name="Rectangle 5"/>
          <p:cNvSpPr/>
          <p:nvPr/>
        </p:nvSpPr>
        <p:spPr>
          <a:xfrm>
            <a:off x="5321808" y="960120"/>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For every x from 1 to 6, put x squared into a new list. The chart plots the six squares.</a:t>
            </a:r>
          </a:p>
        </p:txBody>
      </p:sp>
      <p:sp>
        <p:nvSpPr>
          <p:cNvPr id="8" name="code"/>
          <p:cNvSpPr/>
          <p:nvPr/>
        </p:nvSpPr>
        <p:spPr>
          <a:xfrm>
            <a:off x="365760" y="1677924"/>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evens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x</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10</a:t>
            </a:r>
            <a:r>
              <a:rPr sz="1100" b="0" i="0">
                <a:solidFill>
                  <a:srgbClr val="E6EDF3"/>
                </a:solidFill>
                <a:latin typeface="Courier New"/>
              </a:rPr>
              <a:t>)</a:t>
            </a:r>
            <a:r>
              <a:rPr sz="1100" b="0" i="0">
                <a:solidFill>
                  <a:srgbClr val="E6EDF3"/>
                </a:solidFill>
                <a:latin typeface="Courier New"/>
              </a:rPr>
              <a:t> </a:t>
            </a:r>
            <a:r>
              <a:rPr sz="1100" b="0" i="0">
                <a:solidFill>
                  <a:srgbClr val="FF7B72"/>
                </a:solidFill>
                <a:latin typeface="Courier New"/>
              </a:rPr>
              <a:t>if</a:t>
            </a:r>
            <a:r>
              <a:rPr sz="1100" b="0" i="0">
                <a:solidFill>
                  <a:srgbClr val="E6EDF3"/>
                </a:solidFill>
                <a:latin typeface="Courier New"/>
              </a:rPr>
              <a:t> </a:t>
            </a:r>
            <a:r>
              <a:rPr sz="1100" b="0" i="0">
                <a:solidFill>
                  <a:srgbClr val="E6EDF3"/>
                </a:solidFill>
                <a:latin typeface="Courier New"/>
              </a:rPr>
              <a:t>x</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0</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evens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sum</a:t>
            </a:r>
            <a:r>
              <a:rPr sz="1100" b="0" i="0">
                <a:solidFill>
                  <a:srgbClr val="E6EDF3"/>
                </a:solidFill>
                <a:latin typeface="Courier New"/>
              </a:rPr>
              <a:t>(</a:t>
            </a:r>
            <a:r>
              <a:rPr sz="1100" b="0" i="0">
                <a:solidFill>
                  <a:srgbClr val="E6EDF3"/>
                </a:solidFill>
                <a:latin typeface="Courier New"/>
              </a:rPr>
              <a:t>squares</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77924"/>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77924"/>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The if part keeps only some items. sum() adds up all the numbers of a list.</a:t>
            </a:r>
          </a:p>
        </p:txBody>
      </p:sp>
      <p:graphicFrame>
        <p:nvGraphicFramePr>
          <p:cNvPr id="11" name="result table" descr="Result table: squares -&gt; [1, 4, 9, 16, 25, 36]; evens -&gt; [0, 2, 4, 6, 8]; sum(squares) -&gt; 91"/>
          <p:cNvGraphicFramePr>
            <a:graphicFrameLocks noGrp="1"/>
          </p:cNvGraphicFramePr>
          <p:nvPr/>
        </p:nvGraphicFramePr>
        <p:xfrm>
          <a:off x="365760" y="2436876"/>
          <a:ext cx="2764536" cy="914400"/>
        </p:xfrm>
        <a:graphic>
          <a:graphicData uri="http://schemas.openxmlformats.org/drawingml/2006/table">
            <a:tbl>
              <a:tblPr firstRow="1">
                <a:tableStyleId>{5C22544A-7EE6-4342-B048-85BDC9FD1C3A}</a:tableStyleId>
              </a:tblPr>
              <a:tblGrid>
                <a:gridCol w="963168"/>
                <a:gridCol w="18013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squares</a:t>
                      </a:r>
                    </a:p>
                  </a:txBody>
                  <a:tcPr marL="82296" marR="82296" marT="22860" marB="22860" anchor="ctr">
                    <a:solidFill>
                      <a:srgbClr val="FFFFFF"/>
                    </a:solidFill>
                  </a:tcPr>
                </a:tc>
                <a:tc>
                  <a:txBody>
                    <a:bodyPr wrap="none"/>
                    <a:lstStyle/>
                    <a:p>
                      <a:r>
                        <a:rPr sz="1000" b="0">
                          <a:solidFill>
                            <a:srgbClr val="2B2622"/>
                          </a:solidFill>
                          <a:latin typeface="Courier New"/>
                        </a:rPr>
                        <a:t>[1, 4, 9, 16, 25, 36]</a:t>
                      </a:r>
                    </a:p>
                  </a:txBody>
                  <a:tcPr marL="82296" marR="82296" marT="22860" marB="22860" anchor="ctr">
                    <a:solidFill>
                      <a:srgbClr val="FFFFFF"/>
                    </a:solidFill>
                  </a:tcPr>
                </a:tc>
              </a:tr>
              <a:tr h="228600">
                <a:tc>
                  <a:txBody>
                    <a:bodyPr wrap="none"/>
                    <a:lstStyle/>
                    <a:p>
                      <a:r>
                        <a:rPr sz="1000" b="0">
                          <a:solidFill>
                            <a:srgbClr val="2B2622"/>
                          </a:solidFill>
                          <a:latin typeface="Calibri"/>
                        </a:rPr>
                        <a:t>evens</a:t>
                      </a:r>
                    </a:p>
                  </a:txBody>
                  <a:tcPr marL="82296" marR="82296" marT="22860" marB="22860" anchor="ctr">
                    <a:solidFill>
                      <a:srgbClr val="F1ECE2"/>
                    </a:solidFill>
                  </a:tcPr>
                </a:tc>
                <a:tc>
                  <a:txBody>
                    <a:bodyPr wrap="none"/>
                    <a:lstStyle/>
                    <a:p>
                      <a:r>
                        <a:rPr sz="1000" b="0">
                          <a:solidFill>
                            <a:srgbClr val="2B2622"/>
                          </a:solidFill>
                          <a:latin typeface="Courier New"/>
                        </a:rPr>
                        <a:t>[0, 2, 4, 6, 8]</a:t>
                      </a:r>
                    </a:p>
                  </a:txBody>
                  <a:tcPr marL="82296" marR="82296" marT="22860" marB="22860" anchor="ctr">
                    <a:solidFill>
                      <a:srgbClr val="F1ECE2"/>
                    </a:solidFill>
                  </a:tcPr>
                </a:tc>
              </a:tr>
              <a:tr h="228600">
                <a:tc>
                  <a:txBody>
                    <a:bodyPr wrap="none"/>
                    <a:lstStyle/>
                    <a:p>
                      <a:r>
                        <a:rPr sz="1000" b="0">
                          <a:solidFill>
                            <a:srgbClr val="2B2622"/>
                          </a:solidFill>
                          <a:latin typeface="Calibri"/>
                        </a:rPr>
                        <a:t>sum(squares)</a:t>
                      </a:r>
                    </a:p>
                  </a:txBody>
                  <a:tcPr marL="82296" marR="82296" marT="22860" marB="22860" anchor="ctr">
                    <a:solidFill>
                      <a:srgbClr val="FFFFFF"/>
                    </a:solidFill>
                  </a:tcPr>
                </a:tc>
                <a:tc>
                  <a:txBody>
                    <a:bodyPr wrap="none"/>
                    <a:lstStyle/>
                    <a:p>
                      <a:r>
                        <a:rPr sz="1000" b="0">
                          <a:solidFill>
                            <a:srgbClr val="2B2622"/>
                          </a:solidFill>
                          <a:latin typeface="Courier New"/>
                        </a:rPr>
                        <a:t>91</a:t>
                      </a:r>
                    </a:p>
                  </a:txBody>
                  <a:tcPr marL="82296" marR="82296" marT="22860" marB="22860" anchor="ctr">
                    <a:solidFill>
                      <a:srgbClr val="FFFFFF"/>
                    </a:solidFill>
                  </a:tcPr>
                </a:tc>
              </a:tr>
            </a:tbl>
          </a:graphicData>
        </a:graphic>
      </p:graphicFrame>
      <p:graphicFrame>
        <p:nvGraphicFramePr>
          <p:cNvPr id="12" name="result chart" descr="Chart: the six squares - 1 1, 2 4, 3 9, 4 16, 5 25, 6 36"/>
          <p:cNvGraphicFramePr>
            <a:graphicFrameLocks noGrp="1"/>
          </p:cNvGraphicFramePr>
          <p:nvPr/>
        </p:nvGraphicFramePr>
        <p:xfrm>
          <a:off x="3313176" y="2418588"/>
          <a:ext cx="5510784" cy="2080260"/>
        </p:xfrm>
        <a:graphic>
          <a:graphicData uri="http://schemas.openxmlformats.org/drawingml/2006/chart">
            <c:chart xmlns:c="http://schemas.openxmlformats.org/drawingml/2006/chart" r:id="rId2"/>
          </a:graphicData>
        </a:graphic>
      </p:graphicFrame>
      <p:sp>
        <p:nvSpPr>
          <p:cNvPr id="13"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comprehension is a loop that builds a list</a:t>
            </a:r>
          </a:p>
        </p:txBody>
      </p:sp>
      <p:sp>
        <p:nvSpPr>
          <p:cNvPr id="14"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28 / 49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input() returns text: turn it into a list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Whatever input() returns is a string; split() cuts it into words and int() turns each word into a number.</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line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'4 8 15 16 23 42'</a:t>
            </a:r>
            <a:r>
              <a:rPr sz="1100" b="0" i="0">
                <a:solidFill>
                  <a:srgbClr val="E6EDF3"/>
                </a:solidFill>
                <a:latin typeface="Courier New"/>
              </a:rPr>
              <a:t>  </a:t>
            </a:r>
            <a:r>
              <a:rPr sz="1100" b="0" i="0">
                <a:solidFill>
                  <a:srgbClr val="8B949E"/>
                </a:solidFill>
                <a:latin typeface="Courier New"/>
              </a:rPr>
              <a:t># what input() returns</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nums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D2A8FF"/>
                </a:solidFill>
                <a:latin typeface="Courier New"/>
              </a:rPr>
              <a:t>int</a:t>
            </a:r>
            <a:r>
              <a:rPr sz="1100" b="0" i="0">
                <a:solidFill>
                  <a:srgbClr val="E6EDF3"/>
                </a:solidFill>
                <a:latin typeface="Courier New"/>
              </a:rPr>
              <a:t>(</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split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In a real program line = input('Numbers: '). Here the typed text is written out so the page can run it.</a:t>
            </a:r>
          </a:p>
        </p:txBody>
      </p:sp>
      <p:sp>
        <p:nvSpPr>
          <p:cNvPr id="8" name="code"/>
          <p:cNvSpPr/>
          <p:nvPr/>
        </p:nvSpPr>
        <p:spPr>
          <a:xfrm>
            <a:off x="365760" y="1682496"/>
            <a:ext cx="4937760" cy="481583"/>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sum</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max</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type</a:t>
            </a:r>
            <a:r>
              <a:rPr sz="1100" b="0" i="0">
                <a:solidFill>
                  <a:srgbClr val="E6EDF3"/>
                </a:solidFill>
                <a:latin typeface="Courier New"/>
              </a:rPr>
              <a:t>(</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9" name="Rectangle 8"/>
          <p:cNvSpPr/>
          <p:nvPr/>
        </p:nvSpPr>
        <p:spPr>
          <a:xfrm>
            <a:off x="5321808" y="1682496"/>
            <a:ext cx="45720" cy="481583"/>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481583"/>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Sum, largest and count of the numbers; the last line proves that input() gave a str.</a:t>
            </a:r>
          </a:p>
        </p:txBody>
      </p:sp>
      <p:graphicFrame>
        <p:nvGraphicFramePr>
          <p:cNvPr id="11" name="result table" descr="Result table: nums -&gt; [4, 8, 15, 16, 23, 42]; sum, max, len -&gt; 108 42 6; type of line -&gt; str"/>
          <p:cNvGraphicFramePr>
            <a:graphicFrameLocks noGrp="1"/>
          </p:cNvGraphicFramePr>
          <p:nvPr/>
        </p:nvGraphicFramePr>
        <p:xfrm>
          <a:off x="365760" y="2273808"/>
          <a:ext cx="2904236" cy="914400"/>
        </p:xfrm>
        <a:graphic>
          <a:graphicData uri="http://schemas.openxmlformats.org/drawingml/2006/table">
            <a:tbl>
              <a:tblPr firstRow="1">
                <a:tableStyleId>{5C22544A-7EE6-4342-B048-85BDC9FD1C3A}</a:tableStyleId>
              </a:tblPr>
              <a:tblGrid>
                <a:gridCol w="1026668"/>
                <a:gridCol w="18775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nums</a:t>
                      </a:r>
                    </a:p>
                  </a:txBody>
                  <a:tcPr marL="82296" marR="82296" marT="22860" marB="22860" anchor="ctr">
                    <a:solidFill>
                      <a:srgbClr val="FFFFFF"/>
                    </a:solidFill>
                  </a:tcPr>
                </a:tc>
                <a:tc>
                  <a:txBody>
                    <a:bodyPr wrap="none"/>
                    <a:lstStyle/>
                    <a:p>
                      <a:r>
                        <a:rPr sz="1000" b="0">
                          <a:solidFill>
                            <a:srgbClr val="2B2622"/>
                          </a:solidFill>
                          <a:latin typeface="Courier New"/>
                        </a:rPr>
                        <a:t>[4, 8, 15, 16, 23, 42]</a:t>
                      </a:r>
                    </a:p>
                  </a:txBody>
                  <a:tcPr marL="82296" marR="82296" marT="22860" marB="22860" anchor="ctr">
                    <a:solidFill>
                      <a:srgbClr val="FFFFFF"/>
                    </a:solidFill>
                  </a:tcPr>
                </a:tc>
              </a:tr>
              <a:tr h="228600">
                <a:tc>
                  <a:txBody>
                    <a:bodyPr wrap="none"/>
                    <a:lstStyle/>
                    <a:p>
                      <a:r>
                        <a:rPr sz="1000" b="0">
                          <a:solidFill>
                            <a:srgbClr val="2B2622"/>
                          </a:solidFill>
                          <a:latin typeface="Calibri"/>
                        </a:rPr>
                        <a:t>sum, max, len</a:t>
                      </a:r>
                    </a:p>
                  </a:txBody>
                  <a:tcPr marL="82296" marR="82296" marT="22860" marB="22860" anchor="ctr">
                    <a:solidFill>
                      <a:srgbClr val="F1ECE2"/>
                    </a:solidFill>
                  </a:tcPr>
                </a:tc>
                <a:tc>
                  <a:txBody>
                    <a:bodyPr wrap="none"/>
                    <a:lstStyle/>
                    <a:p>
                      <a:r>
                        <a:rPr sz="1000" b="0">
                          <a:solidFill>
                            <a:srgbClr val="2B2622"/>
                          </a:solidFill>
                          <a:latin typeface="Courier New"/>
                        </a:rPr>
                        <a:t>108 42 6</a:t>
                      </a:r>
                    </a:p>
                  </a:txBody>
                  <a:tcPr marL="82296" marR="82296" marT="22860" marB="22860" anchor="ctr">
                    <a:solidFill>
                      <a:srgbClr val="F1ECE2"/>
                    </a:solidFill>
                  </a:tcPr>
                </a:tc>
              </a:tr>
              <a:tr h="228600">
                <a:tc>
                  <a:txBody>
                    <a:bodyPr wrap="none"/>
                    <a:lstStyle/>
                    <a:p>
                      <a:r>
                        <a:rPr sz="1000" b="0">
                          <a:solidFill>
                            <a:srgbClr val="2B2622"/>
                          </a:solidFill>
                          <a:latin typeface="Calibri"/>
                        </a:rPr>
                        <a:t>type of line</a:t>
                      </a:r>
                    </a:p>
                  </a:txBody>
                  <a:tcPr marL="82296" marR="82296" marT="22860" marB="22860" anchor="ctr">
                    <a:solidFill>
                      <a:srgbClr val="FFFFFF"/>
                    </a:solidFill>
                  </a:tcPr>
                </a:tc>
                <a:tc>
                  <a:txBody>
                    <a:bodyPr wrap="none"/>
                    <a:lstStyle/>
                    <a:p>
                      <a:r>
                        <a:rPr sz="1000" b="0">
                          <a:solidFill>
                            <a:srgbClr val="2B2622"/>
                          </a:solidFill>
                          <a:latin typeface="Courier New"/>
                        </a:rPr>
                        <a:t>str</a:t>
                      </a:r>
                    </a:p>
                  </a:txBody>
                  <a:tcPr marL="82296" marR="82296" marT="22860" marB="22860" anchor="ctr">
                    <a:solidFill>
                      <a:srgbClr val="FFFFFF"/>
                    </a:solidFill>
                  </a:tcPr>
                </a:tc>
              </a:tr>
            </a:tbl>
          </a:graphicData>
        </a:graphic>
      </p:graphicFrame>
      <p:sp>
        <p:nvSpPr>
          <p:cNvPr id="12" name="Rounded Rectangle 11"/>
          <p:cNvSpPr/>
          <p:nvPr/>
        </p:nvSpPr>
        <p:spPr>
          <a:xfrm>
            <a:off x="3452876" y="2484120"/>
            <a:ext cx="1516041" cy="64008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text</a:t>
            </a:r>
          </a:p>
          <a:p>
            <a:pPr algn="ctr">
              <a:spcBef>
                <a:spcPts val="0"/>
              </a:spcBef>
              <a:spcAft>
                <a:spcPts val="0"/>
              </a:spcAft>
            </a:pPr>
            <a:r>
              <a:rPr sz="900" b="0" i="0">
                <a:solidFill>
                  <a:srgbClr val="2B2622"/>
                </a:solidFill>
                <a:latin typeface="Courier New"/>
              </a:rPr>
              <a:t>'4 8 15 16 23 42'</a:t>
            </a:r>
          </a:p>
        </p:txBody>
      </p:sp>
      <p:cxnSp>
        <p:nvCxnSpPr>
          <p:cNvPr id="13" name="Connector 12"/>
          <p:cNvCxnSpPr/>
          <p:nvPr/>
        </p:nvCxnSpPr>
        <p:spPr>
          <a:xfrm>
            <a:off x="4968917" y="2804160"/>
            <a:ext cx="411480" cy="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80397" y="2484120"/>
            <a:ext cx="1516041" cy="64008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split()</a:t>
            </a:r>
          </a:p>
          <a:p>
            <a:pPr algn="ctr">
              <a:spcBef>
                <a:spcPts val="0"/>
              </a:spcBef>
              <a:spcAft>
                <a:spcPts val="0"/>
              </a:spcAft>
            </a:pPr>
            <a:r>
              <a:rPr sz="900" b="0" i="0">
                <a:solidFill>
                  <a:srgbClr val="2B2622"/>
                </a:solidFill>
                <a:latin typeface="Calibri"/>
              </a:rPr>
              <a:t>6 words</a:t>
            </a:r>
          </a:p>
        </p:txBody>
      </p:sp>
      <p:cxnSp>
        <p:nvCxnSpPr>
          <p:cNvPr id="15" name="Connector 14"/>
          <p:cNvCxnSpPr/>
          <p:nvPr/>
        </p:nvCxnSpPr>
        <p:spPr>
          <a:xfrm>
            <a:off x="6896438" y="2804160"/>
            <a:ext cx="411480" cy="0"/>
          </a:xfrm>
          <a:prstGeom prst="line">
            <a:avLst/>
          </a:prstGeom>
          <a:ln w="22225">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07918" y="2484120"/>
            <a:ext cx="1516041" cy="64008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50" b="1" i="0">
                <a:solidFill>
                  <a:srgbClr val="2B2622"/>
                </a:solidFill>
                <a:latin typeface="Calibri"/>
              </a:rPr>
              <a:t>int()</a:t>
            </a:r>
          </a:p>
          <a:p>
            <a:pPr algn="ctr">
              <a:spcBef>
                <a:spcPts val="0"/>
              </a:spcBef>
              <a:spcAft>
                <a:spcPts val="0"/>
              </a:spcAft>
            </a:pPr>
            <a:r>
              <a:rPr sz="900" b="0" i="0">
                <a:solidFill>
                  <a:srgbClr val="2B2622"/>
                </a:solidFill>
                <a:latin typeface="Calibri"/>
              </a:rPr>
              <a:t>6 numbers</a:t>
            </a:r>
          </a:p>
        </p:txBody>
      </p:sp>
      <p:sp>
        <p:nvSpPr>
          <p:cNvPr id="17" name="diagram caption"/>
          <p:cNvSpPr txBox="1"/>
          <p:nvPr/>
        </p:nvSpPr>
        <p:spPr>
          <a:xfrm>
            <a:off x="3452876" y="3215640"/>
            <a:ext cx="5371084" cy="274320"/>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input() gives the first box; the others are our work</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input() gives text; split() and int() give a list of numbers</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29 / 49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counting, showing, asking</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range()</a:t>
            </a:r>
          </a:p>
          <a:p>
            <a:pPr algn="l">
              <a:spcBef>
                <a:spcPts val="0"/>
              </a:spcBef>
              <a:spcAft>
                <a:spcPts val="200"/>
              </a:spcAft>
            </a:pPr>
            <a:r>
              <a:rPr sz="1200" b="0" i="0">
                <a:solidFill>
                  <a:srgbClr val="2B2622"/>
                </a:solidFill>
                <a:latin typeface="Calibri"/>
              </a:rPr>
              <a:t>A turnstile counter that clicks 0, 1, 2, 3 and stops one before the number you set.</a:t>
            </a:r>
          </a:p>
        </p:txBody>
      </p:sp>
      <p:sp>
        <p:nvSpPr>
          <p:cNvPr id="6" name="analogy"/>
          <p:cNvSpPr/>
          <p:nvPr/>
        </p:nvSpPr>
        <p:spPr>
          <a:xfrm>
            <a:off x="365760" y="2212848"/>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print()</a:t>
            </a:r>
          </a:p>
          <a:p>
            <a:pPr algn="l">
              <a:spcBef>
                <a:spcPts val="0"/>
              </a:spcBef>
              <a:spcAft>
                <a:spcPts val="200"/>
              </a:spcAft>
            </a:pPr>
            <a:r>
              <a:rPr sz="1200" b="0" i="0">
                <a:solidFill>
                  <a:srgbClr val="2B2622"/>
                </a:solidFill>
                <a:latin typeface="Calibri"/>
              </a:rPr>
              <a:t>A loudspeaker: it shows a value to the room, but the value stays where it was.</a:t>
            </a:r>
          </a:p>
        </p:txBody>
      </p:sp>
      <p:sp>
        <p:nvSpPr>
          <p:cNvPr id="7" name="analogy"/>
          <p:cNvSpPr/>
          <p:nvPr/>
        </p:nvSpPr>
        <p:spPr>
          <a:xfrm>
            <a:off x="365760" y="3236976"/>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input()</a:t>
            </a:r>
          </a:p>
          <a:p>
            <a:pPr algn="l">
              <a:spcBef>
                <a:spcPts val="0"/>
              </a:spcBef>
              <a:spcAft>
                <a:spcPts val="200"/>
              </a:spcAft>
            </a:pPr>
            <a:r>
              <a:rPr sz="1200" b="0" i="0">
                <a:solidFill>
                  <a:srgbClr val="2B2622"/>
                </a:solidFill>
                <a:latin typeface="Calibri"/>
              </a:rPr>
              <a:t>A question at a reception desk: whatever the visitor says comes back as plain text, even a number.</a:t>
            </a:r>
          </a:p>
        </p:txBody>
      </p:sp>
      <p:sp>
        <p:nvSpPr>
          <p:cNvPr id="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Count, say, ask</a:t>
            </a:r>
          </a:p>
        </p:txBody>
      </p:sp>
      <p:sp>
        <p:nvSpPr>
          <p:cNvPr id="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30 / 49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411480"/>
            <a:ext cx="8229600" cy="640080"/>
          </a:xfrm>
        </p:spPr>
        <p:txBody>
          <a:bodyPr wrap="square" lIns="36576" tIns="18288" rIns="36576" bIns="18288" anchor="ctr">
            <a:noAutofit/>
          </a:bodyPr>
          <a:lstStyle/>
          <a:p>
            <a:pPr algn="l">
              <a:spcBef>
                <a:spcPts val="0"/>
              </a:spcBef>
              <a:spcAft>
                <a:spcPts val="0"/>
              </a:spcAft>
            </a:pPr>
            <a:r>
              <a:rPr sz="3000" b="1" i="0">
                <a:solidFill>
                  <a:srgbClr val="2B2622"/>
                </a:solidFill>
                <a:latin typeface="Cambria"/>
              </a:rPr>
              <a:t>Names and copies</a:t>
            </a:r>
          </a:p>
        </p:txBody>
      </p:sp>
      <p:sp>
        <p:nvSpPr>
          <p:cNvPr id="3" name="Rectangle 2"/>
          <p:cNvSpPr/>
          <p:nvPr/>
        </p:nvSpPr>
        <p:spPr>
          <a:xfrm>
            <a:off x="457200" y="0"/>
            <a:ext cx="8229600" cy="822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457200" y="1051560"/>
            <a:ext cx="8229600" cy="365760"/>
          </a:xfrm>
          <a:prstGeom prst="rect">
            <a:avLst/>
          </a:prstGeom>
          <a:noFill/>
        </p:spPr>
        <p:txBody>
          <a:bodyPr wrap="square" lIns="73152" tIns="36576" rIns="73152" bIns="36576" anchor="t">
            <a:noAutofit/>
          </a:bodyPr>
          <a:lstStyle/>
          <a:p>
            <a:pPr algn="l">
              <a:spcBef>
                <a:spcPts val="0"/>
              </a:spcBef>
              <a:spcAft>
                <a:spcPts val="0"/>
              </a:spcAft>
            </a:pPr>
            <a:r>
              <a:rPr sz="1500" b="0" i="1">
                <a:solidFill>
                  <a:srgbClr val="2F6D62"/>
                </a:solidFill>
                <a:latin typeface="Calibri"/>
              </a:rPr>
              <a:t>A name is a tag; two tags can reach one list.</a:t>
            </a:r>
          </a:p>
        </p:txBody>
      </p:sp>
      <p:sp>
        <p:nvSpPr>
          <p:cNvPr id="5" name="concept"/>
          <p:cNvSpPr/>
          <p:nvPr/>
        </p:nvSpPr>
        <p:spPr>
          <a:xfrm>
            <a:off x="457200" y="1691640"/>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References</a:t>
            </a:r>
          </a:p>
        </p:txBody>
      </p:sp>
      <p:sp>
        <p:nvSpPr>
          <p:cNvPr id="6" name="meaning"/>
          <p:cNvSpPr txBox="1"/>
          <p:nvPr/>
        </p:nvSpPr>
        <p:spPr>
          <a:xfrm>
            <a:off x="2926080" y="1709928"/>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A variable holds a way to reach a list.</a:t>
            </a:r>
          </a:p>
        </p:txBody>
      </p:sp>
      <p:sp>
        <p:nvSpPr>
          <p:cNvPr id="7" name="concept"/>
          <p:cNvSpPr/>
          <p:nvPr/>
        </p:nvSpPr>
        <p:spPr>
          <a:xfrm>
            <a:off x="457200" y="2404872"/>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Aliasing</a:t>
            </a:r>
          </a:p>
        </p:txBody>
      </p:sp>
      <p:sp>
        <p:nvSpPr>
          <p:cNvPr id="8" name="meaning"/>
          <p:cNvSpPr txBox="1"/>
          <p:nvPr/>
        </p:nvSpPr>
        <p:spPr>
          <a:xfrm>
            <a:off x="2926080" y="2423160"/>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Two names, one list: change one, see both.</a:t>
            </a:r>
          </a:p>
        </p:txBody>
      </p:sp>
      <p:sp>
        <p:nvSpPr>
          <p:cNvPr id="9" name="concept"/>
          <p:cNvSpPr/>
          <p:nvPr/>
        </p:nvSpPr>
        <p:spPr>
          <a:xfrm>
            <a:off x="457200" y="3118104"/>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Shallow copy</a:t>
            </a:r>
          </a:p>
        </p:txBody>
      </p:sp>
      <p:sp>
        <p:nvSpPr>
          <p:cNvPr id="10" name="meaning"/>
          <p:cNvSpPr txBox="1"/>
          <p:nvPr/>
        </p:nvSpPr>
        <p:spPr>
          <a:xfrm>
            <a:off x="2926080" y="3136392"/>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A new outer list that shares its inner lists.</a:t>
            </a:r>
          </a:p>
        </p:txBody>
      </p:sp>
      <p:sp>
        <p:nvSpPr>
          <p:cNvPr id="11" name="concept"/>
          <p:cNvSpPr/>
          <p:nvPr/>
        </p:nvSpPr>
        <p:spPr>
          <a:xfrm>
            <a:off x="457200" y="3831335"/>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Deep copy</a:t>
            </a:r>
          </a:p>
        </p:txBody>
      </p:sp>
      <p:sp>
        <p:nvSpPr>
          <p:cNvPr id="12" name="meaning"/>
          <p:cNvSpPr txBox="1"/>
          <p:nvPr/>
        </p:nvSpPr>
        <p:spPr>
          <a:xfrm>
            <a:off x="2926080" y="3849623"/>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Every level copied; nothing shared.</a:t>
            </a:r>
          </a:p>
        </p:txBody>
      </p:sp>
      <p:pic>
        <p:nvPicPr>
          <p:cNvPr id="13" name="picture: Figure 6-3 - Sweigart, ATBS 3e, CC BY-NC-SA" descr="Textbook figure for the part: Names and copies"/>
          <p:cNvPicPr>
            <a:picLocks noChangeAspect="1"/>
          </p:cNvPicPr>
          <p:nvPr/>
        </p:nvPicPr>
        <p:blipFill>
          <a:blip r:embed="rId2"/>
          <a:stretch>
            <a:fillRect/>
          </a:stretch>
        </p:blipFill>
        <p:spPr>
          <a:xfrm>
            <a:off x="6172200" y="1828800"/>
            <a:ext cx="2651760" cy="840367"/>
          </a:xfrm>
          <a:prstGeom prst="rect">
            <a:avLst/>
          </a:prstGeom>
        </p:spPr>
      </p:pic>
      <p:sp>
        <p:nvSpPr>
          <p:cNvPr id="14" name="credit"/>
          <p:cNvSpPr txBox="1"/>
          <p:nvPr/>
        </p:nvSpPr>
        <p:spPr>
          <a:xfrm>
            <a:off x="6172200" y="2714887"/>
            <a:ext cx="2651760" cy="365760"/>
          </a:xfrm>
          <a:prstGeom prst="rect">
            <a:avLst/>
          </a:prstGeom>
          <a:noFill/>
        </p:spPr>
        <p:txBody>
          <a:bodyPr wrap="square" lIns="73152" tIns="36576" rIns="73152" bIns="36576" anchor="t">
            <a:noAutofit/>
          </a:bodyPr>
          <a:lstStyle/>
          <a:p>
            <a:pPr algn="ctr">
              <a:spcBef>
                <a:spcPts val="0"/>
              </a:spcBef>
              <a:spcAft>
                <a:spcPts val="0"/>
              </a:spcAft>
            </a:pPr>
            <a:r>
              <a:rPr sz="900" b="0" i="1">
                <a:solidFill>
                  <a:srgbClr val="6E655C"/>
                </a:solidFill>
                <a:latin typeface="Calibri"/>
              </a:rPr>
              <a:t>Figure 6-3 - Sweigart, ATBS 3e, CC BY-NC-SA</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31 / 49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References: two names, one list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Assigning a list to another name copies the reference, not the list: both names now reach the same list.</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spam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spam</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eggs</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'Hello!'</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eggs = spam puts a second name tag on the same list. Changing eggs[1] changes the list both names reach.</a:t>
            </a:r>
          </a:p>
        </p:txBody>
      </p:sp>
      <p:sp>
        <p:nvSpPr>
          <p:cNvPr id="8" name="code"/>
          <p:cNvSpPr/>
          <p:nvPr/>
        </p:nvSpPr>
        <p:spPr>
          <a:xfrm>
            <a:off x="365760" y="1682496"/>
            <a:ext cx="4937760" cy="481583"/>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 </a:t>
            </a:r>
            <a:r>
              <a:rPr sz="1100" b="0" i="0">
                <a:solidFill>
                  <a:srgbClr val="FF7B72"/>
                </a:solidFill>
                <a:latin typeface="Courier New"/>
              </a:rPr>
              <a:t>is</a:t>
            </a:r>
            <a:r>
              <a:rPr sz="1100" b="0" i="0">
                <a:solidFill>
                  <a:srgbClr val="E6EDF3"/>
                </a:solidFill>
                <a:latin typeface="Courier New"/>
              </a:rPr>
              <a:t> </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id</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id</a:t>
            </a:r>
            <a:r>
              <a:rPr sz="1100" b="0" i="0">
                <a:solidFill>
                  <a:srgbClr val="E6EDF3"/>
                </a:solidFill>
                <a:latin typeface="Courier New"/>
              </a:rPr>
              <a:t>(</a:t>
            </a:r>
            <a:r>
              <a:rPr sz="1100" b="0" i="0">
                <a:solidFill>
                  <a:srgbClr val="E6EDF3"/>
                </a:solidFill>
                <a:latin typeface="Courier New"/>
              </a:rPr>
              <a:t>spam</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82496"/>
            <a:ext cx="45720" cy="481583"/>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481583"/>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spam shows the change too, and is tells us the two names reach one object.</a:t>
            </a:r>
          </a:p>
        </p:txBody>
      </p:sp>
      <p:graphicFrame>
        <p:nvGraphicFramePr>
          <p:cNvPr id="11" name="result table" descr="Result table: spam -&gt; [0, 'Hello!', 2, 3]; eggs is spam, same id -&gt; True True"/>
          <p:cNvGraphicFramePr>
            <a:graphicFrameLocks noGrp="1"/>
          </p:cNvGraphicFramePr>
          <p:nvPr/>
        </p:nvGraphicFramePr>
        <p:xfrm>
          <a:off x="365760" y="2273808"/>
          <a:ext cx="3183636" cy="685800"/>
        </p:xfrm>
        <a:graphic>
          <a:graphicData uri="http://schemas.openxmlformats.org/drawingml/2006/table">
            <a:tbl>
              <a:tblPr firstRow="1">
                <a:tableStyleId>{5C22544A-7EE6-4342-B048-85BDC9FD1C3A}</a:tableStyleId>
              </a:tblPr>
              <a:tblGrid>
                <a:gridCol w="1534668"/>
                <a:gridCol w="16489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spam</a:t>
                      </a:r>
                    </a:p>
                  </a:txBody>
                  <a:tcPr marL="82296" marR="82296" marT="22860" marB="22860" anchor="ctr">
                    <a:solidFill>
                      <a:srgbClr val="FFFFFF"/>
                    </a:solidFill>
                  </a:tcPr>
                </a:tc>
                <a:tc>
                  <a:txBody>
                    <a:bodyPr wrap="none"/>
                    <a:lstStyle/>
                    <a:p>
                      <a:r>
                        <a:rPr sz="1000" b="0">
                          <a:solidFill>
                            <a:srgbClr val="2B2622"/>
                          </a:solidFill>
                          <a:latin typeface="Courier New"/>
                        </a:rPr>
                        <a:t>[0, 'Hello!', 2, 3]</a:t>
                      </a:r>
                    </a:p>
                  </a:txBody>
                  <a:tcPr marL="82296" marR="82296" marT="22860" marB="22860" anchor="ctr">
                    <a:solidFill>
                      <a:srgbClr val="FFFFFF"/>
                    </a:solidFill>
                  </a:tcPr>
                </a:tc>
              </a:tr>
              <a:tr h="228600">
                <a:tc>
                  <a:txBody>
                    <a:bodyPr wrap="none"/>
                    <a:lstStyle/>
                    <a:p>
                      <a:r>
                        <a:rPr sz="1000" b="0">
                          <a:solidFill>
                            <a:srgbClr val="2B2622"/>
                          </a:solidFill>
                          <a:latin typeface="Calibri"/>
                        </a:rPr>
                        <a:t>eggs is spam, same id</a:t>
                      </a:r>
                    </a:p>
                  </a:txBody>
                  <a:tcPr marL="82296" marR="82296" marT="22860" marB="22860" anchor="ctr">
                    <a:solidFill>
                      <a:srgbClr val="F1ECE2"/>
                    </a:solidFill>
                  </a:tcPr>
                </a:tc>
                <a:tc>
                  <a:txBody>
                    <a:bodyPr wrap="none"/>
                    <a:lstStyle/>
                    <a:p>
                      <a:r>
                        <a:rPr sz="1000" b="0">
                          <a:solidFill>
                            <a:srgbClr val="2B2622"/>
                          </a:solidFill>
                          <a:latin typeface="Courier New"/>
                        </a:rPr>
                        <a:t>True True</a:t>
                      </a:r>
                    </a:p>
                  </a:txBody>
                  <a:tcPr marL="82296" marR="82296" marT="22860" marB="22860" anchor="ctr">
                    <a:solidFill>
                      <a:srgbClr val="F1ECE2"/>
                    </a:solidFill>
                  </a:tcPr>
                </a:tc>
              </a:tr>
            </a:tbl>
          </a:graphicData>
        </a:graphic>
      </p:graphicFrame>
      <p:sp>
        <p:nvSpPr>
          <p:cNvPr id="12" name="Rounded Rectangle 11"/>
          <p:cNvSpPr/>
          <p:nvPr/>
        </p:nvSpPr>
        <p:spPr>
          <a:xfrm>
            <a:off x="3732275" y="2484120"/>
            <a:ext cx="822960"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FFFFFF"/>
                </a:solidFill>
                <a:latin typeface="Calibri"/>
              </a:rPr>
              <a:t>spam</a:t>
            </a:r>
          </a:p>
        </p:txBody>
      </p:sp>
      <p:cxnSp>
        <p:nvCxnSpPr>
          <p:cNvPr id="13" name="Connector 12"/>
          <p:cNvCxnSpPr/>
          <p:nvPr/>
        </p:nvCxnSpPr>
        <p:spPr>
          <a:xfrm>
            <a:off x="4555236" y="2657856"/>
            <a:ext cx="502920" cy="256032"/>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32275" y="3032760"/>
            <a:ext cx="822960"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FFFFFF"/>
                </a:solidFill>
                <a:latin typeface="Calibri"/>
              </a:rPr>
              <a:t>eggs</a:t>
            </a:r>
          </a:p>
        </p:txBody>
      </p:sp>
      <p:cxnSp>
        <p:nvCxnSpPr>
          <p:cNvPr id="15" name="Connector 14"/>
          <p:cNvCxnSpPr/>
          <p:nvPr/>
        </p:nvCxnSpPr>
        <p:spPr>
          <a:xfrm flipV="1">
            <a:off x="4555236" y="2913888"/>
            <a:ext cx="502920" cy="292608"/>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58156" y="2639568"/>
            <a:ext cx="3765804" cy="56692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2B2622"/>
                </a:solidFill>
                <a:latin typeface="Calibri"/>
              </a:rPr>
              <a:t>one list</a:t>
            </a:r>
          </a:p>
          <a:p>
            <a:pPr algn="ctr">
              <a:spcBef>
                <a:spcPts val="0"/>
              </a:spcBef>
              <a:spcAft>
                <a:spcPts val="0"/>
              </a:spcAft>
            </a:pPr>
            <a:r>
              <a:rPr sz="950" b="0" i="0">
                <a:solidFill>
                  <a:srgbClr val="2B2622"/>
                </a:solidFill>
                <a:latin typeface="Courier New"/>
              </a:rPr>
              <a:t>[0, 'Hello!', 2, 3]</a:t>
            </a:r>
          </a:p>
        </p:txBody>
      </p:sp>
      <p:sp>
        <p:nvSpPr>
          <p:cNvPr id="17" name="diagram caption"/>
          <p:cNvSpPr txBox="1"/>
          <p:nvPr/>
        </p:nvSpPr>
        <p:spPr>
          <a:xfrm>
            <a:off x="3732275" y="3489960"/>
            <a:ext cx="5091684"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two tags, one list</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Assignment copies the name, never the list</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32 / 49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Passing a list to a function</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 function receives a reference to the caller's list, so changing it inside the function changes it outside.</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def</a:t>
            </a:r>
            <a:r>
              <a:rPr sz="1100" b="0" i="0">
                <a:solidFill>
                  <a:srgbClr val="E6EDF3"/>
                </a:solidFill>
                <a:latin typeface="Courier New"/>
              </a:rPr>
              <a:t> </a:t>
            </a:r>
            <a:r>
              <a:rPr sz="1100" b="0" i="0">
                <a:solidFill>
                  <a:srgbClr val="E6EDF3"/>
                </a:solidFill>
                <a:latin typeface="Courier New"/>
              </a:rPr>
              <a:t>add_hello</a:t>
            </a:r>
            <a:r>
              <a:rPr sz="1100" b="0" i="0">
                <a:solidFill>
                  <a:srgbClr val="E6EDF3"/>
                </a:solidFill>
                <a:latin typeface="Courier New"/>
              </a:rPr>
              <a:t>(</a:t>
            </a:r>
            <a:r>
              <a:rPr sz="1100" b="0" i="0">
                <a:solidFill>
                  <a:srgbClr val="E6EDF3"/>
                </a:solidFill>
                <a:latin typeface="Courier New"/>
              </a:rPr>
              <a:t>items</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items</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A5D6FF"/>
                </a:solidFill>
                <a:latin typeface="Courier New"/>
              </a:rPr>
              <a:t>'Hello'</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FF7B72"/>
                </a:solidFill>
                <a:latin typeface="Courier New"/>
              </a:rPr>
              <a:t>return</a:t>
            </a:r>
            <a:r>
              <a:rPr sz="1100" b="0" i="0">
                <a:solidFill>
                  <a:srgbClr val="E6EDF3"/>
                </a:solidFill>
                <a:latin typeface="Courier New"/>
              </a:rPr>
              <a:t> </a:t>
            </a:r>
            <a:r>
              <a:rPr sz="1100" b="0" i="0">
                <a:solidFill>
                  <a:srgbClr val="E6EDF3"/>
                </a:solidFill>
                <a:latin typeface="Courier New"/>
              </a:rPr>
              <a:t>items</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The parameter items is a second name for whatever list the caller passes in.</a:t>
            </a:r>
          </a:p>
        </p:txBody>
      </p:sp>
      <p:sp>
        <p:nvSpPr>
          <p:cNvPr id="8" name="code"/>
          <p:cNvSpPr/>
          <p:nvPr/>
        </p:nvSpPr>
        <p:spPr>
          <a:xfrm>
            <a:off x="365760" y="168249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nums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result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add_hello</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result</a:t>
            </a:r>
            <a:r>
              <a:rPr sz="1100" b="0" i="0">
                <a:solidFill>
                  <a:srgbClr val="E6EDF3"/>
                </a:solidFill>
                <a:latin typeface="Courier New"/>
              </a:rPr>
              <a:t> </a:t>
            </a:r>
            <a:r>
              <a:rPr sz="1100" b="0" i="0">
                <a:solidFill>
                  <a:srgbClr val="FF7B72"/>
                </a:solidFill>
                <a:latin typeface="Courier New"/>
              </a:rPr>
              <a:t>is</a:t>
            </a:r>
            <a:r>
              <a:rPr sz="1100" b="0" i="0">
                <a:solidFill>
                  <a:srgbClr val="E6EDF3"/>
                </a:solidFill>
                <a:latin typeface="Courier New"/>
              </a:rPr>
              <a:t> </a:t>
            </a:r>
            <a:r>
              <a:rPr sz="1100" b="0" i="0">
                <a:solidFill>
                  <a:srgbClr val="E6EDF3"/>
                </a:solidFill>
                <a:latin typeface="Courier New"/>
              </a:rPr>
              <a:t>nums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len</a:t>
            </a:r>
            <a:r>
              <a:rPr sz="1100" b="0" i="0">
                <a:solidFill>
                  <a:srgbClr val="E6EDF3"/>
                </a:solidFill>
                <a:latin typeface="Courier New"/>
              </a:rPr>
              <a:t>(</a:t>
            </a:r>
            <a:r>
              <a:rPr sz="1100" b="0" i="0">
                <a:solidFill>
                  <a:srgbClr val="E6EDF3"/>
                </a:solidFill>
                <a:latin typeface="Courier New"/>
              </a:rPr>
              <a:t>nums</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68249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nums grew although we never assigned to it, and result is the very same list.</a:t>
            </a:r>
          </a:p>
        </p:txBody>
      </p:sp>
      <p:graphicFrame>
        <p:nvGraphicFramePr>
          <p:cNvPr id="11" name="result table" descr="Result table: nums, result is nums -&gt; [1, 2, 3, 'Hello'] True; len(nums) -&gt; 4"/>
          <p:cNvGraphicFramePr>
            <a:graphicFrameLocks noGrp="1"/>
          </p:cNvGraphicFramePr>
          <p:nvPr/>
        </p:nvGraphicFramePr>
        <p:xfrm>
          <a:off x="365760" y="2609088"/>
          <a:ext cx="3424936" cy="685800"/>
        </p:xfrm>
        <a:graphic>
          <a:graphicData uri="http://schemas.openxmlformats.org/drawingml/2006/table">
            <a:tbl>
              <a:tblPr firstRow="1">
                <a:tableStyleId>{5C22544A-7EE6-4342-B048-85BDC9FD1C3A}</a:tableStyleId>
              </a:tblPr>
              <a:tblGrid>
                <a:gridCol w="1471168"/>
                <a:gridCol w="19537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nums, result is nums</a:t>
                      </a:r>
                    </a:p>
                  </a:txBody>
                  <a:tcPr marL="82296" marR="82296" marT="22860" marB="22860" anchor="ctr">
                    <a:solidFill>
                      <a:srgbClr val="FFFFFF"/>
                    </a:solidFill>
                  </a:tcPr>
                </a:tc>
                <a:tc>
                  <a:txBody>
                    <a:bodyPr wrap="none"/>
                    <a:lstStyle/>
                    <a:p>
                      <a:r>
                        <a:rPr sz="1000" b="0">
                          <a:solidFill>
                            <a:srgbClr val="2B2622"/>
                          </a:solidFill>
                          <a:latin typeface="Courier New"/>
                        </a:rPr>
                        <a:t>[1, 2, 3, 'Hello'] True</a:t>
                      </a:r>
                    </a:p>
                  </a:txBody>
                  <a:tcPr marL="82296" marR="82296" marT="22860" marB="22860" anchor="ctr">
                    <a:solidFill>
                      <a:srgbClr val="FFFFFF"/>
                    </a:solidFill>
                  </a:tcPr>
                </a:tc>
              </a:tr>
              <a:tr h="228600">
                <a:tc>
                  <a:txBody>
                    <a:bodyPr wrap="none"/>
                    <a:lstStyle/>
                    <a:p>
                      <a:r>
                        <a:rPr sz="1000" b="0">
                          <a:solidFill>
                            <a:srgbClr val="2B2622"/>
                          </a:solidFill>
                          <a:latin typeface="Calibri"/>
                        </a:rPr>
                        <a:t>len(nums)</a:t>
                      </a:r>
                    </a:p>
                  </a:txBody>
                  <a:tcPr marL="82296" marR="82296" marT="22860" marB="22860" anchor="ctr">
                    <a:solidFill>
                      <a:srgbClr val="F1ECE2"/>
                    </a:solidFill>
                  </a:tcPr>
                </a:tc>
                <a:tc>
                  <a:txBody>
                    <a:bodyPr wrap="none"/>
                    <a:lstStyle/>
                    <a:p>
                      <a:r>
                        <a:rPr sz="1000" b="0">
                          <a:solidFill>
                            <a:srgbClr val="2B2622"/>
                          </a:solidFill>
                          <a:latin typeface="Courier New"/>
                        </a:rPr>
                        <a:t>4</a:t>
                      </a:r>
                    </a:p>
                  </a:txBody>
                  <a:tcPr marL="82296" marR="82296" marT="22860" marB="22860" anchor="ctr">
                    <a:solidFill>
                      <a:srgbClr val="F1ECE2"/>
                    </a:solidFill>
                  </a:tcPr>
                </a:tc>
              </a:tr>
            </a:tbl>
          </a:graphicData>
        </a:graphic>
      </p:graphicFrame>
      <p:sp>
        <p:nvSpPr>
          <p:cNvPr id="12" name="Rounded Rectangle 11"/>
          <p:cNvSpPr/>
          <p:nvPr/>
        </p:nvSpPr>
        <p:spPr>
          <a:xfrm>
            <a:off x="3973576" y="2773680"/>
            <a:ext cx="1234440"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alibri"/>
              </a:rPr>
              <a:t>nums (caller)</a:t>
            </a:r>
          </a:p>
        </p:txBody>
      </p:sp>
      <p:cxnSp>
        <p:nvCxnSpPr>
          <p:cNvPr id="13" name="Connector 12"/>
          <p:cNvCxnSpPr/>
          <p:nvPr/>
        </p:nvCxnSpPr>
        <p:spPr>
          <a:xfrm>
            <a:off x="5208016" y="2947416"/>
            <a:ext cx="320040" cy="283464"/>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973576" y="3322320"/>
            <a:ext cx="1234440"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alibri"/>
              </a:rPr>
              <a:t>items (function)</a:t>
            </a:r>
          </a:p>
        </p:txBody>
      </p:sp>
      <p:cxnSp>
        <p:nvCxnSpPr>
          <p:cNvPr id="15" name="Connector 14"/>
          <p:cNvCxnSpPr/>
          <p:nvPr/>
        </p:nvCxnSpPr>
        <p:spPr>
          <a:xfrm flipV="1">
            <a:off x="5208016" y="3230880"/>
            <a:ext cx="320040" cy="265176"/>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528056" y="2956560"/>
            <a:ext cx="3295903" cy="56692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2B2622"/>
                </a:solidFill>
                <a:latin typeface="Calibri"/>
              </a:rPr>
              <a:t>one list</a:t>
            </a:r>
          </a:p>
          <a:p>
            <a:pPr algn="ctr">
              <a:spcBef>
                <a:spcPts val="0"/>
              </a:spcBef>
              <a:spcAft>
                <a:spcPts val="0"/>
              </a:spcAft>
            </a:pPr>
            <a:r>
              <a:rPr sz="950" b="0" i="0">
                <a:solidFill>
                  <a:srgbClr val="2B2622"/>
                </a:solidFill>
                <a:latin typeface="Courier New"/>
              </a:rPr>
              <a:t>[1, 2, 3, 'Hello']</a:t>
            </a:r>
          </a:p>
        </p:txBody>
      </p:sp>
      <p:sp>
        <p:nvSpPr>
          <p:cNvPr id="17" name="diagram caption"/>
          <p:cNvSpPr txBox="1"/>
          <p:nvPr/>
        </p:nvSpPr>
        <p:spPr>
          <a:xfrm>
            <a:off x="3973576" y="3825240"/>
            <a:ext cx="4850384" cy="219456"/>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the function works on the caller's list</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function gets the list itself, not a copy</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33 / 49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Copies: shallow and deep</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copy.copy makes a new outer list that shares the inner lists; copy.deepcopy copies every level.</a:t>
            </a:r>
          </a:p>
        </p:txBody>
      </p:sp>
      <p:sp>
        <p:nvSpPr>
          <p:cNvPr id="5" name="code"/>
          <p:cNvSpPr/>
          <p:nvPr/>
        </p:nvSpPr>
        <p:spPr>
          <a:xfrm>
            <a:off x="365760" y="960120"/>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copy</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grid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4</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shallow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copy</a:t>
            </a:r>
            <a:r>
              <a:rPr sz="1100" b="0" i="0">
                <a:solidFill>
                  <a:srgbClr val="E6EDF3"/>
                </a:solidFill>
                <a:latin typeface="Courier New"/>
              </a:rPr>
              <a:t>.</a:t>
            </a:r>
            <a:r>
              <a:rPr sz="1100" b="0" i="0">
                <a:solidFill>
                  <a:srgbClr val="E6EDF3"/>
                </a:solidFill>
                <a:latin typeface="Courier New"/>
              </a:rPr>
              <a:t>copy</a:t>
            </a:r>
            <a:r>
              <a:rPr sz="1100" b="0" i="0">
                <a:solidFill>
                  <a:srgbClr val="E6EDF3"/>
                </a:solidFill>
                <a:latin typeface="Courier New"/>
              </a:rPr>
              <a:t>(</a:t>
            </a:r>
            <a:r>
              <a:rPr sz="1100" b="0" i="0">
                <a:solidFill>
                  <a:srgbClr val="E6EDF3"/>
                </a:solidFill>
                <a:latin typeface="Courier New"/>
              </a:rPr>
              <a:t>grid</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deep</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copy</a:t>
            </a:r>
            <a:r>
              <a:rPr sz="1100" b="0" i="0">
                <a:solidFill>
                  <a:srgbClr val="E6EDF3"/>
                </a:solidFill>
                <a:latin typeface="Courier New"/>
              </a:rPr>
              <a:t>.</a:t>
            </a:r>
            <a:r>
              <a:rPr sz="1100" b="0" i="0">
                <a:solidFill>
                  <a:srgbClr val="E6EDF3"/>
                </a:solidFill>
                <a:latin typeface="Courier New"/>
              </a:rPr>
              <a:t>deepcopy</a:t>
            </a:r>
            <a:r>
              <a:rPr sz="1100" b="0" i="0">
                <a:solidFill>
                  <a:srgbClr val="E6EDF3"/>
                </a:solidFill>
                <a:latin typeface="Courier New"/>
              </a:rPr>
              <a:t>(</a:t>
            </a:r>
            <a:r>
              <a:rPr sz="1100" b="0" i="0">
                <a:solidFill>
                  <a:srgbClr val="E6EDF3"/>
                </a:solidFill>
                <a:latin typeface="Courier New"/>
              </a:rPr>
              <a:t>grid</a:t>
            </a:r>
            <a:r>
              <a:rPr sz="1100" b="0" i="0">
                <a:solidFill>
                  <a:srgbClr val="E6EDF3"/>
                </a:solidFill>
                <a:latin typeface="Courier New"/>
              </a:rPr>
              <a:t>)</a:t>
            </a:r>
          </a:p>
        </p:txBody>
      </p:sp>
      <p:sp>
        <p:nvSpPr>
          <p:cNvPr id="6" name="Rectangle 5"/>
          <p:cNvSpPr/>
          <p:nvPr/>
        </p:nvSpPr>
        <p:spPr>
          <a:xfrm>
            <a:off x="5321808" y="960120"/>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shallow shares the inner lists with grid; deep owns its own inner lists.</a:t>
            </a:r>
          </a:p>
        </p:txBody>
      </p:sp>
      <p:sp>
        <p:nvSpPr>
          <p:cNvPr id="8" name="code"/>
          <p:cNvSpPr/>
          <p:nvPr/>
        </p:nvSpPr>
        <p:spPr>
          <a:xfrm>
            <a:off x="365760" y="1850136"/>
            <a:ext cx="4937760" cy="98450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grid</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99</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shallow</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deep</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board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board</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9</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board</a:t>
            </a:r>
            <a:r>
              <a:rPr sz="1100" b="0" i="0">
                <a:solidFill>
                  <a:srgbClr val="E6EDF3"/>
                </a:solidFill>
                <a:latin typeface="Courier New"/>
              </a:rPr>
              <a:t>)</a:t>
            </a:r>
          </a:p>
        </p:txBody>
      </p:sp>
      <p:sp>
        <p:nvSpPr>
          <p:cNvPr id="9" name="Rectangle 8"/>
          <p:cNvSpPr/>
          <p:nvPr/>
        </p:nvSpPr>
        <p:spPr>
          <a:xfrm>
            <a:off x="5321808" y="1850136"/>
            <a:ext cx="45720" cy="9845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50136"/>
            <a:ext cx="3538728" cy="98450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Changing an inner item shows through the shallow copy only. [[0] * 3] * 2 repeats one inner list twice.</a:t>
            </a:r>
          </a:p>
        </p:txBody>
      </p:sp>
      <p:graphicFrame>
        <p:nvGraphicFramePr>
          <p:cNvPr id="11" name="result table" descr="Result table: shallow[0][0], deep[0][0] -&gt; 99 1; board -&gt; [[9, 0, 0], [9, 0, 0]]"/>
          <p:cNvGraphicFramePr>
            <a:graphicFrameLocks noGrp="1"/>
          </p:cNvGraphicFramePr>
          <p:nvPr/>
        </p:nvGraphicFramePr>
        <p:xfrm>
          <a:off x="365760" y="2944368"/>
          <a:ext cx="3666236" cy="685800"/>
        </p:xfrm>
        <a:graphic>
          <a:graphicData uri="http://schemas.openxmlformats.org/drawingml/2006/table">
            <a:tbl>
              <a:tblPr firstRow="1">
                <a:tableStyleId>{5C22544A-7EE6-4342-B048-85BDC9FD1C3A}</a:tableStyleId>
              </a:tblPr>
              <a:tblGrid>
                <a:gridCol w="1788668"/>
                <a:gridCol w="18775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shallow[0][0], deep[0][0]</a:t>
                      </a:r>
                    </a:p>
                  </a:txBody>
                  <a:tcPr marL="82296" marR="82296" marT="22860" marB="22860" anchor="ctr">
                    <a:solidFill>
                      <a:srgbClr val="FFFFFF"/>
                    </a:solidFill>
                  </a:tcPr>
                </a:tc>
                <a:tc>
                  <a:txBody>
                    <a:bodyPr wrap="none"/>
                    <a:lstStyle/>
                    <a:p>
                      <a:r>
                        <a:rPr sz="1000" b="0">
                          <a:solidFill>
                            <a:srgbClr val="2B2622"/>
                          </a:solidFill>
                          <a:latin typeface="Courier New"/>
                        </a:rPr>
                        <a:t>99 1</a:t>
                      </a:r>
                    </a:p>
                  </a:txBody>
                  <a:tcPr marL="82296" marR="82296" marT="22860" marB="22860" anchor="ctr">
                    <a:solidFill>
                      <a:srgbClr val="FFFFFF"/>
                    </a:solidFill>
                  </a:tcPr>
                </a:tc>
              </a:tr>
              <a:tr h="228600">
                <a:tc>
                  <a:txBody>
                    <a:bodyPr wrap="none"/>
                    <a:lstStyle/>
                    <a:p>
                      <a:r>
                        <a:rPr sz="1000" b="0">
                          <a:solidFill>
                            <a:srgbClr val="2B2622"/>
                          </a:solidFill>
                          <a:latin typeface="Calibri"/>
                        </a:rPr>
                        <a:t>board</a:t>
                      </a:r>
                    </a:p>
                  </a:txBody>
                  <a:tcPr marL="82296" marR="82296" marT="22860" marB="22860" anchor="ctr">
                    <a:solidFill>
                      <a:srgbClr val="F1ECE2"/>
                    </a:solidFill>
                  </a:tcPr>
                </a:tc>
                <a:tc>
                  <a:txBody>
                    <a:bodyPr wrap="none"/>
                    <a:lstStyle/>
                    <a:p>
                      <a:r>
                        <a:rPr sz="1000" b="0">
                          <a:solidFill>
                            <a:srgbClr val="2B2622"/>
                          </a:solidFill>
                          <a:latin typeface="Courier New"/>
                        </a:rPr>
                        <a:t>[[9, 0, 0], [9, 0, 0]]</a:t>
                      </a:r>
                    </a:p>
                  </a:txBody>
                  <a:tcPr marL="82296" marR="82296" marT="22860" marB="22860" anchor="ctr">
                    <a:solidFill>
                      <a:srgbClr val="F1ECE2"/>
                    </a:solidFill>
                  </a:tcPr>
                </a:tc>
              </a:tr>
            </a:tbl>
          </a:graphicData>
        </a:graphic>
      </p:graphicFrame>
      <p:sp>
        <p:nvSpPr>
          <p:cNvPr id="12" name="Rounded Rectangle 11"/>
          <p:cNvSpPr/>
          <p:nvPr/>
        </p:nvSpPr>
        <p:spPr>
          <a:xfrm>
            <a:off x="5220716" y="2971800"/>
            <a:ext cx="3603244" cy="45720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950" b="1" i="0">
                <a:solidFill>
                  <a:srgbClr val="2B2622"/>
                </a:solidFill>
                <a:latin typeface="Calibri"/>
              </a:rPr>
              <a:t>inner lists of grid</a:t>
            </a:r>
          </a:p>
          <a:p>
            <a:pPr algn="ctr">
              <a:spcBef>
                <a:spcPts val="0"/>
              </a:spcBef>
              <a:spcAft>
                <a:spcPts val="0"/>
              </a:spcAft>
            </a:pPr>
            <a:r>
              <a:rPr sz="900" b="0" i="0">
                <a:solidFill>
                  <a:srgbClr val="2B2622"/>
                </a:solidFill>
                <a:latin typeface="Courier New"/>
              </a:rPr>
              <a:t>[[99, 2], [3, 4]]</a:t>
            </a:r>
          </a:p>
        </p:txBody>
      </p:sp>
      <p:sp>
        <p:nvSpPr>
          <p:cNvPr id="13" name="Rounded Rectangle 12"/>
          <p:cNvSpPr/>
          <p:nvPr/>
        </p:nvSpPr>
        <p:spPr>
          <a:xfrm>
            <a:off x="5220716" y="3794760"/>
            <a:ext cx="3603244" cy="45720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950" b="1" i="0">
                <a:solidFill>
                  <a:srgbClr val="2B2622"/>
                </a:solidFill>
                <a:latin typeface="Calibri"/>
              </a:rPr>
              <a:t>inner lists of deep</a:t>
            </a:r>
          </a:p>
          <a:p>
            <a:pPr algn="ctr">
              <a:spcBef>
                <a:spcPts val="0"/>
              </a:spcBef>
              <a:spcAft>
                <a:spcPts val="0"/>
              </a:spcAft>
            </a:pPr>
            <a:r>
              <a:rPr sz="900" b="0" i="0">
                <a:solidFill>
                  <a:srgbClr val="2B2622"/>
                </a:solidFill>
                <a:latin typeface="Courier New"/>
              </a:rPr>
              <a:t>[[1, 2], [3, 4]]</a:t>
            </a:r>
          </a:p>
        </p:txBody>
      </p:sp>
      <p:sp>
        <p:nvSpPr>
          <p:cNvPr id="14" name="Rounded Rectangle 13"/>
          <p:cNvSpPr/>
          <p:nvPr/>
        </p:nvSpPr>
        <p:spPr>
          <a:xfrm>
            <a:off x="4214876" y="2971800"/>
            <a:ext cx="777240" cy="25603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alibri"/>
              </a:rPr>
              <a:t>grid</a:t>
            </a:r>
          </a:p>
        </p:txBody>
      </p:sp>
      <p:sp>
        <p:nvSpPr>
          <p:cNvPr id="15" name="Rounded Rectangle 14"/>
          <p:cNvSpPr/>
          <p:nvPr/>
        </p:nvSpPr>
        <p:spPr>
          <a:xfrm>
            <a:off x="4214876" y="3310128"/>
            <a:ext cx="777240" cy="25603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alibri"/>
              </a:rPr>
              <a:t>shallow</a:t>
            </a:r>
          </a:p>
        </p:txBody>
      </p:sp>
      <p:sp>
        <p:nvSpPr>
          <p:cNvPr id="16" name="Rounded Rectangle 15"/>
          <p:cNvSpPr/>
          <p:nvPr/>
        </p:nvSpPr>
        <p:spPr>
          <a:xfrm>
            <a:off x="4214876" y="3886200"/>
            <a:ext cx="777240" cy="25603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alibri"/>
              </a:rPr>
              <a:t>deep</a:t>
            </a:r>
          </a:p>
        </p:txBody>
      </p:sp>
      <p:cxnSp>
        <p:nvCxnSpPr>
          <p:cNvPr id="17" name="Connector 16"/>
          <p:cNvCxnSpPr/>
          <p:nvPr/>
        </p:nvCxnSpPr>
        <p:spPr>
          <a:xfrm>
            <a:off x="4992116" y="3099816"/>
            <a:ext cx="228600" cy="54864"/>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992116" y="3291840"/>
            <a:ext cx="228600" cy="146304"/>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992116" y="4014216"/>
            <a:ext cx="22860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Nested lists need deepcopy to be truly separate</a:t>
            </a:r>
          </a:p>
        </p:txBody>
      </p:sp>
      <p:sp>
        <p:nvSpPr>
          <p:cNvPr id="21"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34 / 49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names and copies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References</a:t>
            </a:r>
          </a:p>
          <a:p>
            <a:pPr algn="l">
              <a:spcBef>
                <a:spcPts val="0"/>
              </a:spcBef>
              <a:spcAft>
                <a:spcPts val="200"/>
              </a:spcAft>
            </a:pPr>
            <a:r>
              <a:rPr sz="1200" b="0" i="0">
                <a:solidFill>
                  <a:srgbClr val="2B2622"/>
                </a:solidFill>
                <a:latin typeface="Calibri"/>
              </a:rPr>
              <a:t>A name tag stuck on a locker: the tag is not the locker, and two tags can be stuck on one locker.</a:t>
            </a:r>
          </a:p>
        </p:txBody>
      </p:sp>
      <p:sp>
        <p:nvSpPr>
          <p:cNvPr id="6" name="analogy"/>
          <p:cNvSpPr/>
          <p:nvPr/>
        </p:nvSpPr>
        <p:spPr>
          <a:xfrm>
            <a:off x="47091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Aliasing</a:t>
            </a:r>
          </a:p>
          <a:p>
            <a:pPr algn="l">
              <a:spcBef>
                <a:spcPts val="0"/>
              </a:spcBef>
              <a:spcAft>
                <a:spcPts val="200"/>
              </a:spcAft>
            </a:pPr>
            <a:r>
              <a:rPr sz="1200" b="0" i="0">
                <a:solidFill>
                  <a:srgbClr val="2B2622"/>
                </a:solidFill>
                <a:latin typeface="Calibri"/>
              </a:rPr>
              <a:t>Two house keys cut for one flat: using either key changes the same flat.</a:t>
            </a:r>
          </a:p>
        </p:txBody>
      </p:sp>
      <p:sp>
        <p:nvSpPr>
          <p:cNvPr id="7" name="analogy"/>
          <p:cNvSpPr/>
          <p:nvPr/>
        </p:nvSpPr>
        <p:spPr>
          <a:xfrm>
            <a:off x="3657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Shallow copy</a:t>
            </a:r>
          </a:p>
          <a:p>
            <a:pPr algn="l">
              <a:spcBef>
                <a:spcPts val="0"/>
              </a:spcBef>
              <a:spcAft>
                <a:spcPts val="200"/>
              </a:spcAft>
            </a:pPr>
            <a:r>
              <a:rPr sz="1200" b="0" i="0">
                <a:solidFill>
                  <a:srgbClr val="2B2622"/>
                </a:solidFill>
                <a:latin typeface="Calibri"/>
              </a:rPr>
              <a:t>Copying the index card of a folder: a new card, but every line still points to the original papers.</a:t>
            </a:r>
          </a:p>
        </p:txBody>
      </p:sp>
      <p:sp>
        <p:nvSpPr>
          <p:cNvPr id="8" name="analogy"/>
          <p:cNvSpPr/>
          <p:nvPr/>
        </p:nvSpPr>
        <p:spPr>
          <a:xfrm>
            <a:off x="47091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Deep copy</a:t>
            </a:r>
          </a:p>
          <a:p>
            <a:pPr algn="l">
              <a:spcBef>
                <a:spcPts val="0"/>
              </a:spcBef>
              <a:spcAft>
                <a:spcPts val="200"/>
              </a:spcAft>
            </a:pPr>
            <a:r>
              <a:rPr sz="1200" b="0" i="0">
                <a:solidFill>
                  <a:srgbClr val="2B2622"/>
                </a:solidFill>
                <a:latin typeface="Calibri"/>
              </a:rPr>
              <a:t>Photocopying the whole folder, every page included: nothing is shared, so scribbles never reach the original.</a:t>
            </a:r>
          </a:p>
        </p:txBody>
      </p:sp>
      <p:sp>
        <p:nvSpPr>
          <p:cNvPr id="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Tags, keys and photocopies</a:t>
            </a:r>
          </a:p>
        </p:txBody>
      </p:sp>
      <p:sp>
        <p:nvSpPr>
          <p:cNvPr id="1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35 / 49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411480"/>
            <a:ext cx="8229600" cy="640080"/>
          </a:xfrm>
        </p:spPr>
        <p:txBody>
          <a:bodyPr wrap="square" lIns="36576" tIns="18288" rIns="36576" bIns="18288" anchor="ctr">
            <a:noAutofit/>
          </a:bodyPr>
          <a:lstStyle/>
          <a:p>
            <a:pPr algn="l">
              <a:spcBef>
                <a:spcPts val="0"/>
              </a:spcBef>
              <a:spcAft>
                <a:spcPts val="0"/>
              </a:spcAft>
            </a:pPr>
            <a:r>
              <a:rPr sz="3000" b="1" i="0">
                <a:solidFill>
                  <a:srgbClr val="2B2622"/>
                </a:solidFill>
                <a:latin typeface="Cambria"/>
              </a:rPr>
              <a:t>Random choices and programs</a:t>
            </a:r>
          </a:p>
        </p:txBody>
      </p:sp>
      <p:sp>
        <p:nvSpPr>
          <p:cNvPr id="3" name="Rectangle 2"/>
          <p:cNvSpPr/>
          <p:nvPr/>
        </p:nvSpPr>
        <p:spPr>
          <a:xfrm>
            <a:off x="457200" y="0"/>
            <a:ext cx="8229600" cy="822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457200" y="1051560"/>
            <a:ext cx="8229600" cy="365760"/>
          </a:xfrm>
          <a:prstGeom prst="rect">
            <a:avLst/>
          </a:prstGeom>
          <a:noFill/>
        </p:spPr>
        <p:txBody>
          <a:bodyPr wrap="square" lIns="73152" tIns="36576" rIns="73152" bIns="36576" anchor="t">
            <a:noAutofit/>
          </a:bodyPr>
          <a:lstStyle/>
          <a:p>
            <a:pPr algn="l">
              <a:spcBef>
                <a:spcPts val="0"/>
              </a:spcBef>
              <a:spcAft>
                <a:spcPts val="0"/>
              </a:spcAft>
            </a:pPr>
            <a:r>
              <a:rPr sz="1500" b="0" i="1">
                <a:solidFill>
                  <a:srgbClr val="2F6D62"/>
                </a:solidFill>
                <a:latin typeface="Calibri"/>
              </a:rPr>
              <a:t>Chance and lists make games, screens and simulations.</a:t>
            </a:r>
          </a:p>
        </p:txBody>
      </p:sp>
      <p:sp>
        <p:nvSpPr>
          <p:cNvPr id="5" name="concept"/>
          <p:cNvSpPr/>
          <p:nvPr/>
        </p:nvSpPr>
        <p:spPr>
          <a:xfrm>
            <a:off x="457200" y="1691640"/>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random.choice</a:t>
            </a:r>
          </a:p>
        </p:txBody>
      </p:sp>
      <p:sp>
        <p:nvSpPr>
          <p:cNvPr id="6" name="meaning"/>
          <p:cNvSpPr txBox="1"/>
          <p:nvPr/>
        </p:nvSpPr>
        <p:spPr>
          <a:xfrm>
            <a:off x="2926080" y="1709928"/>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Pick one item at random.</a:t>
            </a:r>
          </a:p>
        </p:txBody>
      </p:sp>
      <p:sp>
        <p:nvSpPr>
          <p:cNvPr id="7" name="concept"/>
          <p:cNvSpPr/>
          <p:nvPr/>
        </p:nvSpPr>
        <p:spPr>
          <a:xfrm>
            <a:off x="457200" y="2404872"/>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random.shuffle</a:t>
            </a:r>
          </a:p>
        </p:txBody>
      </p:sp>
      <p:sp>
        <p:nvSpPr>
          <p:cNvPr id="8" name="meaning"/>
          <p:cNvSpPr txBox="1"/>
          <p:nvPr/>
        </p:nvSpPr>
        <p:spPr>
          <a:xfrm>
            <a:off x="2926080" y="2423160"/>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Put the items in a new random order.</a:t>
            </a:r>
          </a:p>
        </p:txBody>
      </p:sp>
      <p:sp>
        <p:nvSpPr>
          <p:cNvPr id="9" name="concept"/>
          <p:cNvSpPr/>
          <p:nvPr/>
        </p:nvSpPr>
        <p:spPr>
          <a:xfrm>
            <a:off x="457200" y="3118104"/>
            <a:ext cx="2331720" cy="457200"/>
          </a:xfrm>
          <a:prstGeom prst="roundRect">
            <a:avLst>
              <a:gd name="adj" fmla="val 5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73152" bIns="36576">
            <a:noAutofit/>
          </a:bodyPr>
          <a:lstStyle/>
          <a:p>
            <a:pPr algn="ctr">
              <a:spcBef>
                <a:spcPts val="0"/>
              </a:spcBef>
              <a:spcAft>
                <a:spcPts val="0"/>
              </a:spcAft>
            </a:pPr>
            <a:r>
              <a:rPr sz="1300" b="1" i="0">
                <a:solidFill>
                  <a:srgbClr val="FFFFFF"/>
                </a:solidFill>
                <a:latin typeface="Calibri"/>
              </a:rPr>
              <a:t>Short programs</a:t>
            </a:r>
          </a:p>
        </p:txBody>
      </p:sp>
      <p:sp>
        <p:nvSpPr>
          <p:cNvPr id="10" name="meaning"/>
          <p:cNvSpPr txBox="1"/>
          <p:nvPr/>
        </p:nvSpPr>
        <p:spPr>
          <a:xfrm>
            <a:off x="2926080" y="3136392"/>
            <a:ext cx="3108960" cy="457200"/>
          </a:xfrm>
          <a:prstGeom prst="rect">
            <a:avLst/>
          </a:prstGeom>
          <a:noFill/>
        </p:spPr>
        <p:txBody>
          <a:bodyPr wrap="square" lIns="73152" tIns="36576" rIns="73152" bIns="36576" anchor="ctr">
            <a:noAutofit/>
          </a:bodyPr>
          <a:lstStyle/>
          <a:p>
            <a:pPr algn="l">
              <a:spcBef>
                <a:spcPts val="0"/>
              </a:spcBef>
              <a:spcAft>
                <a:spcPts val="0"/>
              </a:spcAft>
            </a:pPr>
            <a:r>
              <a:rPr sz="1250" b="0" i="0">
                <a:solidFill>
                  <a:srgbClr val="2B2622"/>
                </a:solidFill>
                <a:latin typeface="Calibri"/>
              </a:rPr>
              <a:t>Eight ball, rain, comma code, coin flips.</a:t>
            </a:r>
          </a:p>
        </p:txBody>
      </p:sp>
      <p:pic>
        <p:nvPicPr>
          <p:cNvPr id="11" name="picture: Figure 6-5 - Sweigart, ATBS 3e, CC BY-NC-SA" descr="Textbook figure for the part: Random choices and programs"/>
          <p:cNvPicPr>
            <a:picLocks noChangeAspect="1"/>
          </p:cNvPicPr>
          <p:nvPr/>
        </p:nvPicPr>
        <p:blipFill>
          <a:blip r:embed="rId2"/>
          <a:stretch>
            <a:fillRect/>
          </a:stretch>
        </p:blipFill>
        <p:spPr>
          <a:xfrm>
            <a:off x="6172200" y="1828800"/>
            <a:ext cx="2651760" cy="1603256"/>
          </a:xfrm>
          <a:prstGeom prst="rect">
            <a:avLst/>
          </a:prstGeom>
        </p:spPr>
      </p:pic>
      <p:sp>
        <p:nvSpPr>
          <p:cNvPr id="12" name="credit"/>
          <p:cNvSpPr txBox="1"/>
          <p:nvPr/>
        </p:nvSpPr>
        <p:spPr>
          <a:xfrm>
            <a:off x="6172200" y="3477776"/>
            <a:ext cx="2651760" cy="365760"/>
          </a:xfrm>
          <a:prstGeom prst="rect">
            <a:avLst/>
          </a:prstGeom>
          <a:noFill/>
        </p:spPr>
        <p:txBody>
          <a:bodyPr wrap="square" lIns="73152" tIns="36576" rIns="73152" bIns="36576" anchor="t">
            <a:noAutofit/>
          </a:bodyPr>
          <a:lstStyle/>
          <a:p>
            <a:pPr algn="ctr">
              <a:spcBef>
                <a:spcPts val="0"/>
              </a:spcBef>
              <a:spcAft>
                <a:spcPts val="0"/>
              </a:spcAft>
            </a:pPr>
            <a:r>
              <a:rPr sz="900" b="0" i="1">
                <a:solidFill>
                  <a:srgbClr val="6E655C"/>
                </a:solidFill>
                <a:latin typeface="Calibri"/>
              </a:rPr>
              <a:t>Figure 6-5 - Sweigart, ATBS 3e, CC BY-NC-SA</a:t>
            </a:r>
          </a:p>
        </p:txBody>
      </p:sp>
      <p:sp>
        <p:nvSpPr>
          <p:cNvPr id="13"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36 / 49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Random selection: choice, shuffle, randint</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choice picks one item, shuffle reorders the list in place and returns None, randint picks a whole number.</a:t>
            </a:r>
          </a:p>
        </p:txBody>
      </p:sp>
      <p:sp>
        <p:nvSpPr>
          <p:cNvPr id="5" name="code"/>
          <p:cNvSpPr/>
          <p:nvPr/>
        </p:nvSpPr>
        <p:spPr>
          <a:xfrm>
            <a:off x="365760" y="960120"/>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9C0FF"/>
                </a:solidFill>
                <a:latin typeface="Courier New"/>
              </a:rPr>
              <a:t>5</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pets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'cat'</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'dog'</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'owl'</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'fox'</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choice</a:t>
            </a:r>
            <a:r>
              <a:rPr sz="1100" b="0" i="0">
                <a:solidFill>
                  <a:srgbClr val="E6EDF3"/>
                </a:solidFill>
                <a:latin typeface="Courier New"/>
              </a:rPr>
              <a:t>(</a:t>
            </a:r>
            <a:r>
              <a:rPr sz="1100" b="0" i="0">
                <a:solidFill>
                  <a:srgbClr val="E6EDF3"/>
                </a:solidFill>
                <a:latin typeface="Courier New"/>
              </a:rPr>
              <a:t>pets</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The fixed seed 5 makes the random numbers repeat. choice returns one item and leaves the list alone.</a:t>
            </a:r>
          </a:p>
        </p:txBody>
      </p:sp>
      <p:sp>
        <p:nvSpPr>
          <p:cNvPr id="8" name="code"/>
          <p:cNvSpPr/>
          <p:nvPr/>
        </p:nvSpPr>
        <p:spPr>
          <a:xfrm>
            <a:off x="365760" y="185013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shuffle</a:t>
            </a:r>
            <a:r>
              <a:rPr sz="1100" b="0" i="0">
                <a:solidFill>
                  <a:srgbClr val="E6EDF3"/>
                </a:solidFill>
                <a:latin typeface="Courier New"/>
              </a:rPr>
              <a:t>(</a:t>
            </a:r>
            <a:r>
              <a:rPr sz="1100" b="0" i="0">
                <a:solidFill>
                  <a:srgbClr val="E6EDF3"/>
                </a:solidFill>
                <a:latin typeface="Courier New"/>
              </a:rPr>
              <a:t>pets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pets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shuffle</a:t>
            </a:r>
            <a:r>
              <a:rPr sz="1100" b="0" i="0">
                <a:solidFill>
                  <a:srgbClr val="E6EDF3"/>
                </a:solidFill>
                <a:latin typeface="Courier New"/>
              </a:rPr>
              <a:t>(</a:t>
            </a:r>
            <a:r>
              <a:rPr sz="1100" b="0" i="0">
                <a:solidFill>
                  <a:srgbClr val="E6EDF3"/>
                </a:solidFill>
                <a:latin typeface="Courier New"/>
              </a:rPr>
              <a:t>pets</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randint</a:t>
            </a:r>
            <a:r>
              <a:rPr sz="1100" b="0" i="0">
                <a:solidFill>
                  <a:srgbClr val="E6EDF3"/>
                </a:solidFill>
                <a:latin typeface="Courier New"/>
              </a:rPr>
              <a:t>(</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6</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85013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5013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shuffle changes pets and returns None; randint(1, 6) behaves like one die.</a:t>
            </a:r>
          </a:p>
        </p:txBody>
      </p:sp>
      <p:graphicFrame>
        <p:nvGraphicFramePr>
          <p:cNvPr id="11" name="result table" descr="Result table: random.choice(pets) -&gt; owl; pets after shuffle -&gt; ['dog', 'cat', 'fox', 'owl']; print(random.shuffle(pets)) -&gt; None; random.randint(1, 6) -&gt; 2"/>
          <p:cNvGraphicFramePr>
            <a:graphicFrameLocks noGrp="1"/>
          </p:cNvGraphicFramePr>
          <p:nvPr/>
        </p:nvGraphicFramePr>
        <p:xfrm>
          <a:off x="365760" y="2776728"/>
          <a:ext cx="4250436" cy="1143000"/>
        </p:xfrm>
        <a:graphic>
          <a:graphicData uri="http://schemas.openxmlformats.org/drawingml/2006/table">
            <a:tbl>
              <a:tblPr firstRow="1">
                <a:tableStyleId>{5C22544A-7EE6-4342-B048-85BDC9FD1C3A}</a:tableStyleId>
              </a:tblPr>
              <a:tblGrid>
                <a:gridCol w="1915668"/>
                <a:gridCol w="23347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random.choice(pets)</a:t>
                      </a:r>
                    </a:p>
                  </a:txBody>
                  <a:tcPr marL="82296" marR="82296" marT="22860" marB="22860" anchor="ctr">
                    <a:solidFill>
                      <a:srgbClr val="FFFFFF"/>
                    </a:solidFill>
                  </a:tcPr>
                </a:tc>
                <a:tc>
                  <a:txBody>
                    <a:bodyPr wrap="none"/>
                    <a:lstStyle/>
                    <a:p>
                      <a:r>
                        <a:rPr sz="1000" b="0">
                          <a:solidFill>
                            <a:srgbClr val="2B2622"/>
                          </a:solidFill>
                          <a:latin typeface="Courier New"/>
                        </a:rPr>
                        <a:t>owl</a:t>
                      </a:r>
                    </a:p>
                  </a:txBody>
                  <a:tcPr marL="82296" marR="82296" marT="22860" marB="22860" anchor="ctr">
                    <a:solidFill>
                      <a:srgbClr val="FFFFFF"/>
                    </a:solidFill>
                  </a:tcPr>
                </a:tc>
              </a:tr>
              <a:tr h="228600">
                <a:tc>
                  <a:txBody>
                    <a:bodyPr wrap="none"/>
                    <a:lstStyle/>
                    <a:p>
                      <a:r>
                        <a:rPr sz="1000" b="0">
                          <a:solidFill>
                            <a:srgbClr val="2B2622"/>
                          </a:solidFill>
                          <a:latin typeface="Calibri"/>
                        </a:rPr>
                        <a:t>pets after shuffle</a:t>
                      </a:r>
                    </a:p>
                  </a:txBody>
                  <a:tcPr marL="82296" marR="82296" marT="22860" marB="22860" anchor="ctr">
                    <a:solidFill>
                      <a:srgbClr val="F1ECE2"/>
                    </a:solidFill>
                  </a:tcPr>
                </a:tc>
                <a:tc>
                  <a:txBody>
                    <a:bodyPr wrap="none"/>
                    <a:lstStyle/>
                    <a:p>
                      <a:r>
                        <a:rPr sz="1000" b="0">
                          <a:solidFill>
                            <a:srgbClr val="2B2622"/>
                          </a:solidFill>
                          <a:latin typeface="Courier New"/>
                        </a:rPr>
                        <a:t>['dog', 'cat', 'fox', 'owl']</a:t>
                      </a:r>
                    </a:p>
                  </a:txBody>
                  <a:tcPr marL="82296" marR="82296" marT="22860" marB="22860" anchor="ctr">
                    <a:solidFill>
                      <a:srgbClr val="F1ECE2"/>
                    </a:solidFill>
                  </a:tcPr>
                </a:tc>
              </a:tr>
              <a:tr h="228600">
                <a:tc>
                  <a:txBody>
                    <a:bodyPr wrap="none"/>
                    <a:lstStyle/>
                    <a:p>
                      <a:r>
                        <a:rPr sz="1000" b="0">
                          <a:solidFill>
                            <a:srgbClr val="2B2622"/>
                          </a:solidFill>
                          <a:latin typeface="Calibri"/>
                        </a:rPr>
                        <a:t>print(random.shuffle(pets))</a:t>
                      </a:r>
                    </a:p>
                  </a:txBody>
                  <a:tcPr marL="82296" marR="82296" marT="22860" marB="22860" anchor="ctr">
                    <a:solidFill>
                      <a:srgbClr val="FFFFFF"/>
                    </a:solidFill>
                  </a:tcPr>
                </a:tc>
                <a:tc>
                  <a:txBody>
                    <a:bodyPr wrap="none"/>
                    <a:lstStyle/>
                    <a:p>
                      <a:r>
                        <a:rPr sz="1000" b="0">
                          <a:solidFill>
                            <a:srgbClr val="2B2622"/>
                          </a:solidFill>
                          <a:latin typeface="Courier New"/>
                        </a:rPr>
                        <a:t>None</a:t>
                      </a:r>
                    </a:p>
                  </a:txBody>
                  <a:tcPr marL="82296" marR="82296" marT="22860" marB="22860" anchor="ctr">
                    <a:solidFill>
                      <a:srgbClr val="FFFFFF"/>
                    </a:solidFill>
                  </a:tcPr>
                </a:tc>
              </a:tr>
              <a:tr h="228600">
                <a:tc>
                  <a:txBody>
                    <a:bodyPr wrap="none"/>
                    <a:lstStyle/>
                    <a:p>
                      <a:r>
                        <a:rPr sz="1000" b="0">
                          <a:solidFill>
                            <a:srgbClr val="2B2622"/>
                          </a:solidFill>
                          <a:latin typeface="Calibri"/>
                        </a:rPr>
                        <a:t>random.randint(1, 6)</a:t>
                      </a:r>
                    </a:p>
                  </a:txBody>
                  <a:tcPr marL="82296" marR="82296" marT="22860" marB="22860" anchor="ctr">
                    <a:solidFill>
                      <a:srgbClr val="F1ECE2"/>
                    </a:solidFill>
                  </a:tcPr>
                </a:tc>
                <a:tc>
                  <a:txBody>
                    <a:bodyPr wrap="none"/>
                    <a:lstStyle/>
                    <a:p>
                      <a:r>
                        <a:rPr sz="1000" b="0">
                          <a:solidFill>
                            <a:srgbClr val="2B2622"/>
                          </a:solidFill>
                          <a:latin typeface="Courier New"/>
                        </a:rPr>
                        <a:t>2</a:t>
                      </a:r>
                    </a:p>
                  </a:txBody>
                  <a:tcPr marL="82296" marR="82296" marT="22860" marB="22860" anchor="ctr">
                    <a:solidFill>
                      <a:srgbClr val="F1ECE2"/>
                    </a:solidFill>
                  </a:tcPr>
                </a:tc>
              </a:tr>
            </a:tbl>
          </a:graphicData>
        </a:graphic>
      </p:graphicFrame>
      <p:sp>
        <p:nvSpPr>
          <p:cNvPr id="12" name="Rounded Rectangle 11"/>
          <p:cNvSpPr/>
          <p:nvPr/>
        </p:nvSpPr>
        <p:spPr>
          <a:xfrm>
            <a:off x="4799076" y="2849880"/>
            <a:ext cx="1691640" cy="384048"/>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900" b="1" i="0">
                <a:solidFill>
                  <a:srgbClr val="FFFFFF"/>
                </a:solidFill>
                <a:latin typeface="Courier New"/>
              </a:rPr>
              <a:t>random.choice(pets)</a:t>
            </a:r>
          </a:p>
        </p:txBody>
      </p:sp>
      <p:cxnSp>
        <p:nvCxnSpPr>
          <p:cNvPr id="13" name="Connector 12"/>
          <p:cNvCxnSpPr/>
          <p:nvPr/>
        </p:nvCxnSpPr>
        <p:spPr>
          <a:xfrm>
            <a:off x="6490716" y="3041904"/>
            <a:ext cx="22860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719316" y="2849880"/>
            <a:ext cx="2104643"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950" b="0" i="0">
                <a:solidFill>
                  <a:srgbClr val="2B2622"/>
                </a:solidFill>
                <a:latin typeface="Calibri"/>
              </a:rPr>
              <a:t>one item; the list is unchanged</a:t>
            </a:r>
          </a:p>
        </p:txBody>
      </p:sp>
      <p:sp>
        <p:nvSpPr>
          <p:cNvPr id="15" name="Rounded Rectangle 14"/>
          <p:cNvSpPr/>
          <p:nvPr/>
        </p:nvSpPr>
        <p:spPr>
          <a:xfrm>
            <a:off x="4799076" y="3489960"/>
            <a:ext cx="1691640" cy="384048"/>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900" b="1" i="0">
                <a:solidFill>
                  <a:srgbClr val="FFFFFF"/>
                </a:solidFill>
                <a:latin typeface="Courier New"/>
              </a:rPr>
              <a:t>random.shuffle(pets)</a:t>
            </a:r>
          </a:p>
        </p:txBody>
      </p:sp>
      <p:cxnSp>
        <p:nvCxnSpPr>
          <p:cNvPr id="16" name="Connector 15"/>
          <p:cNvCxnSpPr/>
          <p:nvPr/>
        </p:nvCxnSpPr>
        <p:spPr>
          <a:xfrm>
            <a:off x="6490716" y="3681983"/>
            <a:ext cx="22860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719316" y="3489960"/>
            <a:ext cx="2104643" cy="384048"/>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950" b="0" i="0">
                <a:solidFill>
                  <a:srgbClr val="2B2622"/>
                </a:solidFill>
                <a:latin typeface="Calibri"/>
              </a:rPr>
              <a:t>the same list, new order; returns None</a:t>
            </a:r>
          </a:p>
        </p:txBody>
      </p:sp>
      <p:sp>
        <p:nvSpPr>
          <p:cNvPr id="1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choice picks one; shuffle reorders the list itself</a:t>
            </a:r>
          </a:p>
        </p:txBody>
      </p:sp>
      <p:sp>
        <p:nvSpPr>
          <p:cNvPr id="1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37 / 49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A fair shuffle, from pencil to computer</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74320"/>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1938 on paper - 1964 as an algorithm</a:t>
            </a:r>
          </a:p>
        </p:txBody>
      </p:sp>
      <p:pic>
        <p:nvPicPr>
          <p:cNvPr id="5" name="picture: A fair shuffle, from pencil to computer" descr="Picture for the story: Ronald Fisher, 1952 - photo: Barry Eagel, CC BY-SA 4.0"/>
          <p:cNvPicPr>
            <a:picLocks noChangeAspect="1"/>
          </p:cNvPicPr>
          <p:nvPr/>
        </p:nvPicPr>
        <p:blipFill>
          <a:blip r:embed="rId2"/>
          <a:stretch>
            <a:fillRect/>
          </a:stretch>
        </p:blipFill>
        <p:spPr>
          <a:xfrm>
            <a:off x="365760" y="1024128"/>
            <a:ext cx="1993392" cy="2377440"/>
          </a:xfrm>
          <a:prstGeom prst="rect">
            <a:avLst/>
          </a:prstGeom>
        </p:spPr>
      </p:pic>
      <p:sp>
        <p:nvSpPr>
          <p:cNvPr id="6" name="credit"/>
          <p:cNvSpPr txBox="1"/>
          <p:nvPr/>
        </p:nvSpPr>
        <p:spPr>
          <a:xfrm>
            <a:off x="365760" y="3438144"/>
            <a:ext cx="1993392" cy="384048"/>
          </a:xfrm>
          <a:prstGeom prst="rect">
            <a:avLst/>
          </a:prstGeom>
          <a:noFill/>
        </p:spPr>
        <p:txBody>
          <a:bodyPr wrap="square" lIns="73152" tIns="36576" rIns="73152" bIns="36576" anchor="t">
            <a:noAutofit/>
          </a:bodyPr>
          <a:lstStyle/>
          <a:p>
            <a:pPr algn="l">
              <a:spcBef>
                <a:spcPts val="0"/>
              </a:spcBef>
              <a:spcAft>
                <a:spcPts val="0"/>
              </a:spcAft>
            </a:pPr>
            <a:r>
              <a:rPr sz="900" b="0" i="1">
                <a:solidFill>
                  <a:srgbClr val="6E655C"/>
                </a:solidFill>
                <a:latin typeface="Calibri"/>
              </a:rPr>
              <a:t>Ronald Fisher, 1952 - photo: Barry Eagel, CC BY-SA 4.0</a:t>
            </a:r>
          </a:p>
        </p:txBody>
      </p:sp>
      <p:sp>
        <p:nvSpPr>
          <p:cNvPr id="7" name="story who"/>
          <p:cNvSpPr/>
          <p:nvPr/>
        </p:nvSpPr>
        <p:spPr>
          <a:xfrm>
            <a:off x="2587752" y="1024128"/>
            <a:ext cx="3063240"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WHO  </a:t>
            </a:r>
            <a:r>
              <a:rPr sz="1050" b="0" i="0">
                <a:solidFill>
                  <a:srgbClr val="2B2622"/>
                </a:solidFill>
                <a:latin typeface="Calibri"/>
              </a:rPr>
              <a:t>Ronald Fisher and Frank Yates (1938); Richard Durstenfeld (1964); Donald Knuth, who popularised it.</a:t>
            </a:r>
          </a:p>
        </p:txBody>
      </p:sp>
      <p:sp>
        <p:nvSpPr>
          <p:cNvPr id="8" name="story what"/>
          <p:cNvSpPr/>
          <p:nvPr/>
        </p:nvSpPr>
        <p:spPr>
          <a:xfrm>
            <a:off x="5760720" y="1024128"/>
            <a:ext cx="3063240"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WHAT  </a:t>
            </a:r>
            <a:r>
              <a:rPr sz="1050" b="0" i="0">
                <a:solidFill>
                  <a:srgbClr val="2B2622"/>
                </a:solidFill>
                <a:latin typeface="Calibri"/>
              </a:rPr>
              <a:t>A way to put items in random order so that every order is equally likely.</a:t>
            </a:r>
          </a:p>
        </p:txBody>
      </p:sp>
      <p:sp>
        <p:nvSpPr>
          <p:cNvPr id="9" name="story when"/>
          <p:cNvSpPr/>
          <p:nvPr/>
        </p:nvSpPr>
        <p:spPr>
          <a:xfrm>
            <a:off x="2587752" y="1938528"/>
            <a:ext cx="3063240"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WHEN  </a:t>
            </a:r>
            <a:r>
              <a:rPr sz="1050" b="0" i="0">
                <a:solidFill>
                  <a:srgbClr val="2B2622"/>
                </a:solidFill>
                <a:latin typeface="Calibri"/>
              </a:rPr>
              <a:t>1938 as pencil and paper; 1964 as a computer algorithm.</a:t>
            </a:r>
          </a:p>
        </p:txBody>
      </p:sp>
      <p:sp>
        <p:nvSpPr>
          <p:cNvPr id="10" name="story where"/>
          <p:cNvSpPr/>
          <p:nvPr/>
        </p:nvSpPr>
        <p:spPr>
          <a:xfrm>
            <a:off x="5760720" y="1938528"/>
            <a:ext cx="3063240"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WHERE  </a:t>
            </a:r>
            <a:r>
              <a:rPr sz="1050" b="0" i="0">
                <a:solidFill>
                  <a:srgbClr val="2B2622"/>
                </a:solidFill>
                <a:latin typeface="Calibri"/>
              </a:rPr>
              <a:t>Statistical tables from Oliver and Boyd; Communications of the ACM, volume 7.</a:t>
            </a:r>
          </a:p>
        </p:txBody>
      </p:sp>
      <p:sp>
        <p:nvSpPr>
          <p:cNvPr id="11" name="story why"/>
          <p:cNvSpPr/>
          <p:nvPr/>
        </p:nvSpPr>
        <p:spPr>
          <a:xfrm>
            <a:off x="2587752" y="2852928"/>
            <a:ext cx="3063240"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WHY  </a:t>
            </a:r>
            <a:r>
              <a:rPr sz="1050" b="0" i="0">
                <a:solidFill>
                  <a:srgbClr val="2B2622"/>
                </a:solidFill>
                <a:latin typeface="Calibri"/>
              </a:rPr>
              <a:t>A biased shuffle favours some orders; statisticians and game makers need every order to have the same chance.</a:t>
            </a:r>
          </a:p>
        </p:txBody>
      </p:sp>
      <p:sp>
        <p:nvSpPr>
          <p:cNvPr id="12" name="story how"/>
          <p:cNvSpPr/>
          <p:nvPr/>
        </p:nvSpPr>
        <p:spPr>
          <a:xfrm>
            <a:off x="5760720" y="2852928"/>
            <a:ext cx="3063240"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HOW  </a:t>
            </a:r>
            <a:r>
              <a:rPr sz="1050" b="0" i="0">
                <a:solidFill>
                  <a:srgbClr val="2B2622"/>
                </a:solidFill>
                <a:latin typeface="Calibri"/>
              </a:rPr>
              <a:t>Walk the list from the end and swap each place with a random place at or before it. Python's random.shuffle does this.</a:t>
            </a:r>
          </a:p>
        </p:txBody>
      </p:sp>
      <p:sp>
        <p:nvSpPr>
          <p:cNvPr id="13" name="story read"/>
          <p:cNvSpPr/>
          <p:nvPr/>
        </p:nvSpPr>
        <p:spPr>
          <a:xfrm>
            <a:off x="365760" y="3931920"/>
            <a:ext cx="8458200" cy="457200"/>
          </a:xfrm>
          <a:prstGeom prst="roundRect">
            <a:avLst>
              <a:gd name="adj" fmla="val 20000"/>
            </a:avLst>
          </a:prstGeom>
          <a:solidFill>
            <a:srgbClr val="DCE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spcBef>
                <a:spcPts val="0"/>
              </a:spcBef>
              <a:spcAft>
                <a:spcPts val="0"/>
              </a:spcAft>
            </a:pPr>
            <a:r>
              <a:rPr sz="1100" b="1" i="0">
                <a:solidFill>
                  <a:srgbClr val="D97A14"/>
                </a:solidFill>
                <a:latin typeface="Calibri"/>
              </a:rPr>
              <a:t>READ  </a:t>
            </a:r>
            <a:r>
              <a:rPr sz="1150" b="0" i="0">
                <a:solidFill>
                  <a:srgbClr val="2B2622"/>
                </a:solidFill>
                <a:latin typeface="Calibri"/>
                <a:hlinkClick r:id="rId3"/>
              </a:rPr>
              <a:t>Fisher-Yates shuffle - Wikipedia</a:t>
            </a:r>
          </a:p>
        </p:txBody>
      </p:sp>
      <p:sp>
        <p:nvSpPr>
          <p:cNvPr id="14"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true story, with its picture and its source</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38 / 49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A fair shuffle, counted six thousand times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Deal three cards 6000 times and count the six possible orders: a fair shuffle gives about 1000 of each.</a:t>
            </a:r>
          </a:p>
        </p:txBody>
      </p:sp>
      <p:sp>
        <p:nvSpPr>
          <p:cNvPr id="5" name="code"/>
          <p:cNvSpPr/>
          <p:nvPr/>
        </p:nvSpPr>
        <p:spPr>
          <a:xfrm>
            <a:off x="365760" y="960120"/>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from</a:t>
            </a:r>
            <a:r>
              <a:rPr sz="1100" b="0" i="0">
                <a:solidFill>
                  <a:srgbClr val="E6EDF3"/>
                </a:solidFill>
                <a:latin typeface="Courier New"/>
              </a:rPr>
              <a:t> </a:t>
            </a:r>
            <a:r>
              <a:rPr sz="1100" b="0" i="0">
                <a:solidFill>
                  <a:srgbClr val="E6EDF3"/>
                </a:solidFill>
                <a:latin typeface="Courier New"/>
              </a:rPr>
              <a:t>collections</a:t>
            </a:r>
            <a:r>
              <a:rPr sz="1100" b="0" i="0">
                <a:solidFill>
                  <a:srgbClr val="E6EDF3"/>
                </a:solidFill>
                <a:latin typeface="Courier New"/>
              </a:rPr>
              <a: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Counter</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9C0FF"/>
                </a:solidFill>
                <a:latin typeface="Courier New"/>
              </a:rPr>
              <a:t>1938</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cards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list</a:t>
            </a:r>
            <a:r>
              <a:rPr sz="1100" b="0" i="0">
                <a:solidFill>
                  <a:srgbClr val="E6EDF3"/>
                </a:solidFill>
                <a:latin typeface="Courier New"/>
              </a:rPr>
              <a:t>(</a:t>
            </a:r>
            <a:r>
              <a:rPr sz="1100" b="0" i="0">
                <a:solidFill>
                  <a:srgbClr val="A5D6FF"/>
                </a:solidFill>
                <a:latin typeface="Courier New"/>
              </a:rPr>
              <a:t>'abc'</a:t>
            </a:r>
            <a:r>
              <a:rPr sz="1100" b="0" i="0">
                <a:solidFill>
                  <a:srgbClr val="E6EDF3"/>
                </a:solidFill>
                <a:latin typeface="Courier New"/>
              </a:rPr>
              <a:t>)</a:t>
            </a:r>
          </a:p>
        </p:txBody>
      </p:sp>
      <p:sp>
        <p:nvSpPr>
          <p:cNvPr id="6" name="Rectangle 5"/>
          <p:cNvSpPr/>
          <p:nvPr/>
        </p:nvSpPr>
        <p:spPr>
          <a:xfrm>
            <a:off x="5321808" y="960120"/>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Three cards, a fixed seed so the run repeats, and Counter to count how often each order turns up.</a:t>
            </a:r>
          </a:p>
        </p:txBody>
      </p:sp>
      <p:sp>
        <p:nvSpPr>
          <p:cNvPr id="8" name="code"/>
          <p:cNvSpPr/>
          <p:nvPr/>
        </p:nvSpPr>
        <p:spPr>
          <a:xfrm>
            <a:off x="365760" y="1850136"/>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def</a:t>
            </a:r>
            <a:r>
              <a:rPr sz="1100" b="0" i="0">
                <a:solidFill>
                  <a:srgbClr val="E6EDF3"/>
                </a:solidFill>
                <a:latin typeface="Courier New"/>
              </a:rPr>
              <a:t> </a:t>
            </a:r>
            <a:r>
              <a:rPr sz="1100" b="0" i="0">
                <a:solidFill>
                  <a:srgbClr val="E6EDF3"/>
                </a:solidFill>
                <a:latin typeface="Courier New"/>
              </a:rPr>
              <a:t>deal</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shuffle</a:t>
            </a:r>
            <a:r>
              <a:rPr sz="1100" b="0" i="0">
                <a:solidFill>
                  <a:srgbClr val="E6EDF3"/>
                </a:solidFill>
                <a:latin typeface="Courier New"/>
              </a:rPr>
              <a:t>(</a:t>
            </a:r>
            <a:r>
              <a:rPr sz="1100" b="0" i="0">
                <a:solidFill>
                  <a:srgbClr val="E6EDF3"/>
                </a:solidFill>
                <a:latin typeface="Courier New"/>
              </a:rPr>
              <a:t>cards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FF7B72"/>
                </a:solidFill>
                <a:latin typeface="Courier New"/>
              </a:rPr>
              <a:t>return</a:t>
            </a:r>
            <a:r>
              <a:rPr sz="1100" b="0" i="0">
                <a:solidFill>
                  <a:srgbClr val="E6EDF3"/>
                </a:solidFill>
                <a:latin typeface="Courier New"/>
              </a:rPr>
              <a:t> </a:t>
            </a:r>
            <a:r>
              <a:rPr sz="1100" b="0" i="0">
                <a:solidFill>
                  <a:srgbClr val="A5D6FF"/>
                </a:solidFill>
                <a:latin typeface="Courier New"/>
              </a:rPr>
              <a:t>''</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E6EDF3"/>
                </a:solidFill>
                <a:latin typeface="Courier New"/>
              </a:rPr>
              <a:t>cards</a:t>
            </a:r>
            <a:r>
              <a:rPr sz="1100" b="0" i="0">
                <a:solidFill>
                  <a:srgbClr val="E6EDF3"/>
                </a:solidFill>
                <a:latin typeface="Courier New"/>
              </a:rPr>
              <a:t>)</a:t>
            </a:r>
          </a:p>
        </p:txBody>
      </p:sp>
      <p:sp>
        <p:nvSpPr>
          <p:cNvPr id="9" name="Rectangle 8"/>
          <p:cNvSpPr/>
          <p:nvPr/>
        </p:nvSpPr>
        <p:spPr>
          <a:xfrm>
            <a:off x="5321808" y="1850136"/>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50136"/>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deal shuffles the three cards in place and returns them as one word, such as 'bca'.</a:t>
            </a:r>
          </a:p>
        </p:txBody>
      </p:sp>
      <p:sp>
        <p:nvSpPr>
          <p:cNvPr id="11" name="code"/>
          <p:cNvSpPr/>
          <p:nvPr/>
        </p:nvSpPr>
        <p:spPr>
          <a:xfrm>
            <a:off x="365760" y="2572512"/>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Counter</a:t>
            </a:r>
            <a:r>
              <a:rPr sz="1100" b="0" i="0">
                <a:solidFill>
                  <a:srgbClr val="E6EDF3"/>
                </a:solidFill>
                <a:latin typeface="Courier New"/>
              </a:rPr>
              <a:t>(</a:t>
            </a:r>
            <a:r>
              <a:rPr sz="1100" b="0" i="0">
                <a:solidFill>
                  <a:srgbClr val="E6EDF3"/>
                </a:solidFill>
                <a:latin typeface="Courier New"/>
              </a:rPr>
              <a:t>deal</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_</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6000</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orders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D2A8FF"/>
                </a:solidFill>
                <a:latin typeface="Courier New"/>
              </a:rPr>
              <a:t>sorted</a:t>
            </a:r>
            <a:r>
              <a:rPr sz="1100" b="0" i="0">
                <a:solidFill>
                  <a:srgbClr val="E6EDF3"/>
                </a:solidFill>
                <a:latin typeface="Courier New"/>
              </a:rPr>
              <a:t>(</a:t>
            </a:r>
            <a:r>
              <a:rPr sz="1100" b="0" i="0">
                <a:solidFill>
                  <a:srgbClr val="E6EDF3"/>
                </a:solidFill>
                <a:latin typeface="Courier New"/>
              </a:rPr>
              <a:t>c</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orders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k</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1000</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k</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orders</a:t>
            </a:r>
            <a:r>
              <a:rPr sz="1100" b="0" i="0">
                <a:solidFill>
                  <a:srgbClr val="E6EDF3"/>
                </a:solidFill>
                <a:latin typeface="Courier New"/>
              </a:rPr>
              <a:t>]</a:t>
            </a:r>
            <a:r>
              <a:rPr sz="1100" b="0" i="0">
                <a:solidFill>
                  <a:srgbClr val="E6EDF3"/>
                </a:solidFill>
                <a:latin typeface="Courier New"/>
              </a:rPr>
              <a:t>)</a:t>
            </a:r>
          </a:p>
        </p:txBody>
      </p:sp>
      <p:sp>
        <p:nvSpPr>
          <p:cNvPr id="12" name="Rectangle 11"/>
          <p:cNvSpPr/>
          <p:nvPr/>
        </p:nvSpPr>
        <p:spPr>
          <a:xfrm>
            <a:off x="5321808" y="2572512"/>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xplanation"/>
          <p:cNvSpPr txBox="1"/>
          <p:nvPr/>
        </p:nvSpPr>
        <p:spPr>
          <a:xfrm>
            <a:off x="5285232" y="2572512"/>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Deal 6000 times, list the six orders and print how far each count lies from 1000. The bars show those differences.</a:t>
            </a:r>
          </a:p>
        </p:txBody>
      </p:sp>
      <p:graphicFrame>
        <p:nvGraphicFramePr>
          <p:cNvPr id="14" name="result chart" descr="Chart: deals above or below 1000 - abc -29, acb -27, bac 9, bca 14, cab 45, cba -12"/>
          <p:cNvGraphicFramePr>
            <a:graphicFrameLocks noGrp="1"/>
          </p:cNvGraphicFramePr>
          <p:nvPr/>
        </p:nvGraphicFramePr>
        <p:xfrm>
          <a:off x="365760" y="3499104"/>
          <a:ext cx="8458200" cy="999743"/>
        </p:xfrm>
        <a:graphic>
          <a:graphicData uri="http://schemas.openxmlformats.org/drawingml/2006/chart">
            <c:chart xmlns:c="http://schemas.openxmlformats.org/drawingml/2006/chart" r:id="rId2"/>
          </a:graphicData>
        </a:graphic>
      </p:graphicFrame>
      <p:sp>
        <p:nvSpPr>
          <p:cNvPr id="15"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shuffle is fair when every order is equally likely</a:t>
            </a:r>
          </a:p>
        </p:txBody>
      </p:sp>
      <p:sp>
        <p:nvSpPr>
          <p:cNvPr id="16"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39 / 49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chance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Random selection</a:t>
            </a:r>
          </a:p>
          <a:p>
            <a:pPr algn="l">
              <a:spcBef>
                <a:spcPts val="0"/>
              </a:spcBef>
              <a:spcAft>
                <a:spcPts val="200"/>
              </a:spcAft>
            </a:pPr>
            <a:r>
              <a:rPr sz="1200" b="0" i="0">
                <a:solidFill>
                  <a:srgbClr val="2B2622"/>
                </a:solidFill>
                <a:latin typeface="Calibri"/>
              </a:rPr>
              <a:t>Drawing a name from a hat: every name has the same chance, and one draw says nothing about the next.</a:t>
            </a:r>
          </a:p>
        </p:txBody>
      </p:sp>
      <p:sp>
        <p:nvSpPr>
          <p:cNvPr id="6" name="analogy"/>
          <p:cNvSpPr/>
          <p:nvPr/>
        </p:nvSpPr>
        <p:spPr>
          <a:xfrm>
            <a:off x="365760" y="2212848"/>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random.choice</a:t>
            </a:r>
          </a:p>
          <a:p>
            <a:pPr algn="l">
              <a:spcBef>
                <a:spcPts val="0"/>
              </a:spcBef>
              <a:spcAft>
                <a:spcPts val="200"/>
              </a:spcAft>
            </a:pPr>
            <a:r>
              <a:rPr sz="1200" b="0" i="0">
                <a:solidFill>
                  <a:srgbClr val="2B2622"/>
                </a:solidFill>
                <a:latin typeface="Calibri"/>
              </a:rPr>
              <a:t>Putting a hand in the hat and pulling out one slip, which stays in the hat.</a:t>
            </a:r>
          </a:p>
        </p:txBody>
      </p:sp>
      <p:sp>
        <p:nvSpPr>
          <p:cNvPr id="7" name="analogy"/>
          <p:cNvSpPr/>
          <p:nvPr/>
        </p:nvSpPr>
        <p:spPr>
          <a:xfrm>
            <a:off x="365760" y="3236976"/>
            <a:ext cx="8458200" cy="91440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random.shuffle</a:t>
            </a:r>
          </a:p>
          <a:p>
            <a:pPr algn="l">
              <a:spcBef>
                <a:spcPts val="0"/>
              </a:spcBef>
              <a:spcAft>
                <a:spcPts val="200"/>
              </a:spcAft>
            </a:pPr>
            <a:r>
              <a:rPr sz="1200" b="0" i="0">
                <a:solidFill>
                  <a:srgbClr val="2B2622"/>
                </a:solidFill>
                <a:latin typeface="Calibri"/>
              </a:rPr>
              <a:t>Shuffling a deck of cards by hand: the same cards in a new order, and the deck itself is changed.</a:t>
            </a:r>
          </a:p>
        </p:txBody>
      </p:sp>
      <p:sp>
        <p:nvSpPr>
          <p:cNvPr id="8"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hat, a slip and a deck of cards</a:t>
            </a:r>
          </a:p>
        </p:txBody>
      </p:sp>
      <p:sp>
        <p:nvSpPr>
          <p:cNvPr id="9"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40 / 49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The green rain that was never a code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74320"/>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1999 film - 2017 interview</a:t>
            </a:r>
          </a:p>
        </p:txBody>
      </p:sp>
      <p:pic>
        <p:nvPicPr>
          <p:cNvPr id="5" name="picture: The green rain that was never a code" descr="Picture for the story: Figure 6-5 - Sweigart, ATBS 3e, CC BY-NC-SA"/>
          <p:cNvPicPr>
            <a:picLocks noChangeAspect="1"/>
          </p:cNvPicPr>
          <p:nvPr/>
        </p:nvPicPr>
        <p:blipFill>
          <a:blip r:embed="rId2"/>
          <a:stretch>
            <a:fillRect/>
          </a:stretch>
        </p:blipFill>
        <p:spPr>
          <a:xfrm>
            <a:off x="365760" y="1024128"/>
            <a:ext cx="2743200" cy="1658721"/>
          </a:xfrm>
          <a:prstGeom prst="rect">
            <a:avLst/>
          </a:prstGeom>
        </p:spPr>
      </p:pic>
      <p:sp>
        <p:nvSpPr>
          <p:cNvPr id="6" name="credit"/>
          <p:cNvSpPr txBox="1"/>
          <p:nvPr/>
        </p:nvSpPr>
        <p:spPr>
          <a:xfrm>
            <a:off x="365760" y="2719425"/>
            <a:ext cx="2743200" cy="384048"/>
          </a:xfrm>
          <a:prstGeom prst="rect">
            <a:avLst/>
          </a:prstGeom>
          <a:noFill/>
        </p:spPr>
        <p:txBody>
          <a:bodyPr wrap="square" lIns="73152" tIns="36576" rIns="73152" bIns="36576" anchor="t">
            <a:noAutofit/>
          </a:bodyPr>
          <a:lstStyle/>
          <a:p>
            <a:pPr algn="l">
              <a:spcBef>
                <a:spcPts val="0"/>
              </a:spcBef>
              <a:spcAft>
                <a:spcPts val="0"/>
              </a:spcAft>
            </a:pPr>
            <a:r>
              <a:rPr sz="900" b="0" i="1">
                <a:solidFill>
                  <a:srgbClr val="6E655C"/>
                </a:solidFill>
                <a:latin typeface="Calibri"/>
              </a:rPr>
              <a:t>Figure 6-5 - Sweigart, ATBS 3e, CC BY-NC-SA</a:t>
            </a:r>
          </a:p>
        </p:txBody>
      </p:sp>
      <p:sp>
        <p:nvSpPr>
          <p:cNvPr id="7" name="story who"/>
          <p:cNvSpPr/>
          <p:nvPr/>
        </p:nvSpPr>
        <p:spPr>
          <a:xfrm>
            <a:off x="3337560" y="1024128"/>
            <a:ext cx="268833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WHO  </a:t>
            </a:r>
            <a:r>
              <a:rPr sz="1050" b="0" i="0">
                <a:solidFill>
                  <a:srgbClr val="2B2622"/>
                </a:solidFill>
                <a:latin typeface="Calibri"/>
              </a:rPr>
              <a:t>Simon Whiteley, who designed the glyphs for the film The Matrix.</a:t>
            </a:r>
          </a:p>
        </p:txBody>
      </p:sp>
      <p:sp>
        <p:nvSpPr>
          <p:cNvPr id="8" name="story what"/>
          <p:cNvSpPr/>
          <p:nvPr/>
        </p:nvSpPr>
        <p:spPr>
          <a:xfrm>
            <a:off x="6135624" y="1024128"/>
            <a:ext cx="268833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WHAT  </a:t>
            </a:r>
            <a:r>
              <a:rPr sz="1050" b="0" i="0">
                <a:solidFill>
                  <a:srgbClr val="2B2622"/>
                </a:solidFill>
                <a:latin typeface="Calibri"/>
              </a:rPr>
              <a:t>The falling green characters: mirrored half-width Japanese kana, Latin letters and numerals.</a:t>
            </a:r>
          </a:p>
        </p:txBody>
      </p:sp>
      <p:sp>
        <p:nvSpPr>
          <p:cNvPr id="9" name="story when"/>
          <p:cNvSpPr/>
          <p:nvPr/>
        </p:nvSpPr>
        <p:spPr>
          <a:xfrm>
            <a:off x="3337560" y="1938528"/>
            <a:ext cx="268833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WHEN  </a:t>
            </a:r>
            <a:r>
              <a:rPr sz="1050" b="0" i="0">
                <a:solidFill>
                  <a:srgbClr val="2B2622"/>
                </a:solidFill>
                <a:latin typeface="Calibri"/>
              </a:rPr>
              <a:t>The film in 1999; his remark to CNET on 19 October 2017.</a:t>
            </a:r>
          </a:p>
        </p:txBody>
      </p:sp>
      <p:sp>
        <p:nvSpPr>
          <p:cNvPr id="10" name="story where"/>
          <p:cNvSpPr/>
          <p:nvPr/>
        </p:nvSpPr>
        <p:spPr>
          <a:xfrm>
            <a:off x="6135624" y="1938528"/>
            <a:ext cx="268833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WHERE  </a:t>
            </a:r>
            <a:r>
              <a:rPr sz="1050" b="0" i="0">
                <a:solidFill>
                  <a:srgbClr val="2B2622"/>
                </a:solidFill>
                <a:latin typeface="Calibri"/>
              </a:rPr>
              <a:t>In the film The Matrix; the chapter's screensaver runs in your own console window.</a:t>
            </a:r>
          </a:p>
        </p:txBody>
      </p:sp>
      <p:sp>
        <p:nvSpPr>
          <p:cNvPr id="11" name="story why"/>
          <p:cNvSpPr/>
          <p:nvPr/>
        </p:nvSpPr>
        <p:spPr>
          <a:xfrm>
            <a:off x="3337560" y="2852928"/>
            <a:ext cx="268833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WHY  </a:t>
            </a:r>
            <a:r>
              <a:rPr sz="1050" b="0" i="0">
                <a:solidFill>
                  <a:srgbClr val="2B2622"/>
                </a:solidFill>
                <a:latin typeface="Calibri"/>
              </a:rPr>
              <a:t>He joked the code was sushi recipes from his wife's cookbooks; others doubt it, so treat it as a tale.</a:t>
            </a:r>
          </a:p>
        </p:txBody>
      </p:sp>
      <p:sp>
        <p:nvSpPr>
          <p:cNvPr id="12" name="story how"/>
          <p:cNvSpPr/>
          <p:nvPr/>
        </p:nvSpPr>
        <p:spPr>
          <a:xfrm>
            <a:off x="6135624" y="2852928"/>
            <a:ext cx="2688336" cy="850392"/>
          </a:xfrm>
          <a:prstGeom prst="roundRect">
            <a:avLst>
              <a:gd name="adj" fmla="val 8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rIns="73152" bIns="36576">
            <a:noAutofit/>
          </a:bodyPr>
          <a:lstStyle/>
          <a:p>
            <a:pPr algn="l">
              <a:spcBef>
                <a:spcPts val="0"/>
              </a:spcBef>
              <a:spcAft>
                <a:spcPts val="0"/>
              </a:spcAft>
            </a:pPr>
            <a:r>
              <a:rPr sz="1100" b="1" i="0">
                <a:solidFill>
                  <a:srgbClr val="D97A14"/>
                </a:solidFill>
                <a:latin typeface="Calibri"/>
              </a:rPr>
              <a:t>HOW  </a:t>
            </a:r>
            <a:r>
              <a:rPr sz="1050" b="0" i="0">
                <a:solidFill>
                  <a:srgbClr val="2B2622"/>
                </a:solidFill>
                <a:latin typeface="Calibri"/>
              </a:rPr>
              <a:t>The chapter's program keeps 70 counters in a list, one per column: above zero prints a digit and counts down.</a:t>
            </a:r>
          </a:p>
        </p:txBody>
      </p:sp>
      <p:sp>
        <p:nvSpPr>
          <p:cNvPr id="13" name="story read"/>
          <p:cNvSpPr/>
          <p:nvPr/>
        </p:nvSpPr>
        <p:spPr>
          <a:xfrm>
            <a:off x="365760" y="3931920"/>
            <a:ext cx="8458200" cy="457200"/>
          </a:xfrm>
          <a:prstGeom prst="roundRect">
            <a:avLst>
              <a:gd name="adj" fmla="val 20000"/>
            </a:avLst>
          </a:prstGeom>
          <a:solidFill>
            <a:srgbClr val="DCE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spcBef>
                <a:spcPts val="0"/>
              </a:spcBef>
              <a:spcAft>
                <a:spcPts val="0"/>
              </a:spcAft>
            </a:pPr>
            <a:r>
              <a:rPr sz="1100" b="1" i="0">
                <a:solidFill>
                  <a:srgbClr val="D97A14"/>
                </a:solidFill>
                <a:latin typeface="Calibri"/>
              </a:rPr>
              <a:t>READ  </a:t>
            </a:r>
            <a:r>
              <a:rPr sz="1150" b="0" i="0">
                <a:solidFill>
                  <a:srgbClr val="2B2622"/>
                </a:solidFill>
                <a:latin typeface="Calibri"/>
                <a:hlinkClick r:id="rId3"/>
              </a:rPr>
              <a:t>Matrix digital rain - Wikipedia</a:t>
            </a:r>
          </a:p>
        </p:txBody>
      </p:sp>
      <p:sp>
        <p:nvSpPr>
          <p:cNvPr id="14"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true story, with its picture and its source</a:t>
            </a:r>
          </a:p>
        </p:txBody>
      </p:sp>
      <p:sp>
        <p:nvSpPr>
          <p:cNvPr id="1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41 / 49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A Short Program: The Matrix Screensaver</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One list of counters, one per column, drives the animation: above zero draws a digit and counts down.</a:t>
            </a:r>
          </a:p>
        </p:txBody>
      </p:sp>
      <p:sp>
        <p:nvSpPr>
          <p:cNvPr id="5" name="code"/>
          <p:cNvSpPr/>
          <p:nvPr/>
        </p:nvSpPr>
        <p:spPr>
          <a:xfrm>
            <a:off x="365760" y="960120"/>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9C0FF"/>
                </a:solidFill>
                <a:latin typeface="Courier New"/>
              </a:rPr>
              <a:t>7</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ctr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16</a:t>
            </a:r>
          </a:p>
        </p:txBody>
      </p:sp>
      <p:sp>
        <p:nvSpPr>
          <p:cNvPr id="6" name="Rectangle 5"/>
          <p:cNvSpPr/>
          <p:nvPr/>
        </p:nvSpPr>
        <p:spPr>
          <a:xfrm>
            <a:off x="5321808" y="960120"/>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ctr holds how many more digits each of the sixteen columns must still draw. All start at zero.</a:t>
            </a:r>
          </a:p>
        </p:txBody>
      </p:sp>
      <p:sp>
        <p:nvSpPr>
          <p:cNvPr id="8" name="code"/>
          <p:cNvSpPr/>
          <p:nvPr/>
        </p:nvSpPr>
        <p:spPr>
          <a:xfrm>
            <a:off x="365760" y="168249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5</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i</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16</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FF7B72"/>
                </a:solidFill>
                <a:latin typeface="Courier New"/>
              </a:rPr>
              <a:t>if</a:t>
            </a:r>
            <a:r>
              <a:rPr sz="1100" b="0" i="0">
                <a:solidFill>
                  <a:srgbClr val="E6EDF3"/>
                </a:solidFill>
                <a:latin typeface="Courier New"/>
              </a:rPr>
              <a:t> </a:t>
            </a:r>
            <a:r>
              <a:rPr sz="1100" b="0" i="0">
                <a:solidFill>
                  <a:srgbClr val="E6EDF3"/>
                </a:solidFill>
                <a:latin typeface="Courier New"/>
              </a:rPr>
              <a:t>ctr</a:t>
            </a:r>
            <a:r>
              <a:rPr sz="1100" b="0" i="0">
                <a:solidFill>
                  <a:srgbClr val="E6EDF3"/>
                </a:solidFill>
                <a:latin typeface="Courier New"/>
              </a:rPr>
              <a:t>[</a:t>
            </a:r>
            <a:r>
              <a:rPr sz="1100" b="0" i="0">
                <a:solidFill>
                  <a:srgbClr val="E6EDF3"/>
                </a:solidFill>
                <a:latin typeface="Courier New"/>
              </a:rPr>
              <a:t>i</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0</a:t>
            </a:r>
            <a:r>
              <a:rPr sz="1100" b="0" i="0">
                <a:solidFill>
                  <a:srgbClr val="E6EDF3"/>
                </a:solidFill>
                <a:latin typeface="Courier New"/>
              </a:rPr>
              <a:t> </a:t>
            </a:r>
            <a:r>
              <a:rPr sz="1100" b="0" i="0">
                <a:solidFill>
                  <a:srgbClr val="FF7B72"/>
                </a:solidFill>
                <a:latin typeface="Courier New"/>
              </a:rPr>
              <a:t>and</a:t>
            </a:r>
            <a:r>
              <a:rPr sz="1100" b="0" i="0">
                <a:solidFill>
                  <a:srgbClr val="E6EDF3"/>
                </a:solidFill>
                <a:latin typeface="Courier New"/>
              </a:rPr>
              <a: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&lt;</a:t>
            </a:r>
            <a:r>
              <a:rPr sz="1100" b="0" i="0">
                <a:solidFill>
                  <a:srgbClr val="E6EDF3"/>
                </a:solidFill>
                <a:latin typeface="Courier New"/>
              </a:rPr>
              <a:t> </a:t>
            </a:r>
            <a:r>
              <a:rPr sz="1100" b="0" i="0">
                <a:solidFill>
                  <a:srgbClr val="79C0FF"/>
                </a:solidFill>
                <a:latin typeface="Courier New"/>
              </a:rPr>
              <a:t>0.2</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ctr</a:t>
            </a:r>
            <a:r>
              <a:rPr sz="1100" b="0" i="0">
                <a:solidFill>
                  <a:srgbClr val="E6EDF3"/>
                </a:solidFill>
                <a:latin typeface="Courier New"/>
              </a:rPr>
              <a:t>[</a:t>
            </a:r>
            <a:r>
              <a:rPr sz="1100" b="0" i="0">
                <a:solidFill>
                  <a:srgbClr val="E6EDF3"/>
                </a:solidFill>
                <a:latin typeface="Courier New"/>
              </a:rPr>
              <a:t>i</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p>
        </p:txBody>
      </p:sp>
      <p:sp>
        <p:nvSpPr>
          <p:cNvPr id="9" name="Rectangle 8"/>
          <p:cNvSpPr/>
          <p:nvPr/>
        </p:nvSpPr>
        <p:spPr>
          <a:xfrm>
            <a:off x="5321808" y="168249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68249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column at zero may start a stream of three digits, with chance one in five. This runs for every column, row by row.</a:t>
            </a:r>
          </a:p>
        </p:txBody>
      </p:sp>
      <p:sp>
        <p:nvSpPr>
          <p:cNvPr id="11" name="code"/>
          <p:cNvSpPr/>
          <p:nvPr/>
        </p:nvSpPr>
        <p:spPr>
          <a:xfrm>
            <a:off x="365760" y="2572512"/>
            <a:ext cx="4937760" cy="64465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950" b="1" i="0">
                <a:solidFill>
                  <a:srgbClr val="7EE787"/>
                </a:solidFill>
                <a:latin typeface="Courier New"/>
              </a:rPr>
              <a:t>&gt;&gt;&gt; </a:t>
            </a:r>
            <a:r>
              <a:rPr sz="950" b="0" i="0">
                <a:solidFill>
                  <a:srgbClr val="E6EDF3"/>
                </a:solidFill>
                <a:latin typeface="Courier New"/>
              </a:rPr>
              <a:t>        </a:t>
            </a:r>
            <a:r>
              <a:rPr sz="950" b="0" i="0">
                <a:solidFill>
                  <a:srgbClr val="D2A8FF"/>
                </a:solidFill>
                <a:latin typeface="Courier New"/>
              </a:rPr>
              <a:t>print</a:t>
            </a:r>
            <a:r>
              <a:rPr sz="950" b="0" i="0">
                <a:solidFill>
                  <a:srgbClr val="E6EDF3"/>
                </a:solidFill>
                <a:latin typeface="Courier New"/>
              </a:rPr>
              <a:t>(</a:t>
            </a:r>
            <a:r>
              <a:rPr sz="950" b="0" i="0">
                <a:solidFill>
                  <a:srgbClr val="E6EDF3"/>
                </a:solidFill>
                <a:latin typeface="Courier New"/>
              </a:rPr>
              <a:t>random</a:t>
            </a:r>
            <a:r>
              <a:rPr sz="950" b="0" i="0">
                <a:solidFill>
                  <a:srgbClr val="E6EDF3"/>
                </a:solidFill>
                <a:latin typeface="Courier New"/>
              </a:rPr>
              <a:t>.</a:t>
            </a:r>
            <a:r>
              <a:rPr sz="950" b="0" i="0">
                <a:solidFill>
                  <a:srgbClr val="E6EDF3"/>
                </a:solidFill>
                <a:latin typeface="Courier New"/>
              </a:rPr>
              <a:t>choice</a:t>
            </a:r>
            <a:r>
              <a:rPr sz="950" b="0" i="0">
                <a:solidFill>
                  <a:srgbClr val="E6EDF3"/>
                </a:solidFill>
                <a:latin typeface="Courier New"/>
              </a:rPr>
              <a:t>(</a:t>
            </a:r>
            <a:r>
              <a:rPr sz="950" b="0" i="0">
                <a:solidFill>
                  <a:srgbClr val="A5D6FF"/>
                </a:solidFill>
                <a:latin typeface="Courier New"/>
              </a:rPr>
              <a:t>'01'</a:t>
            </a:r>
            <a:r>
              <a:rPr sz="950" b="0" i="0">
                <a:solidFill>
                  <a:srgbClr val="E6EDF3"/>
                </a:solidFill>
                <a:latin typeface="Courier New"/>
              </a:rPr>
              <a:t>)</a:t>
            </a:r>
            <a:r>
              <a:rPr sz="950" b="0" i="0">
                <a:solidFill>
                  <a:srgbClr val="E6EDF3"/>
                </a:solidFill>
                <a:latin typeface="Courier New"/>
              </a:rPr>
              <a:t> </a:t>
            </a:r>
            <a:r>
              <a:rPr sz="950" b="0" i="0">
                <a:solidFill>
                  <a:srgbClr val="FF7B72"/>
                </a:solidFill>
                <a:latin typeface="Courier New"/>
              </a:rPr>
              <a:t>if</a:t>
            </a:r>
            <a:r>
              <a:rPr sz="950" b="0" i="0">
                <a:solidFill>
                  <a:srgbClr val="E6EDF3"/>
                </a:solidFill>
                <a:latin typeface="Courier New"/>
              </a:rPr>
              <a:t> </a:t>
            </a:r>
            <a:r>
              <a:rPr sz="950" b="0" i="0">
                <a:solidFill>
                  <a:srgbClr val="E6EDF3"/>
                </a:solidFill>
                <a:latin typeface="Courier New"/>
              </a:rPr>
              <a:t>ctr</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 </a:t>
            </a:r>
            <a:r>
              <a:rPr sz="950" b="0" i="0">
                <a:solidFill>
                  <a:srgbClr val="FF7B72"/>
                </a:solidFill>
                <a:latin typeface="Courier New"/>
              </a:rPr>
              <a:t>else</a:t>
            </a:r>
            <a:r>
              <a:rPr sz="950" b="0" i="0">
                <a:solidFill>
                  <a:srgbClr val="E6EDF3"/>
                </a:solidFill>
                <a:latin typeface="Courier New"/>
              </a:rPr>
              <a:t> </a:t>
            </a:r>
            <a:r>
              <a:rPr sz="950" b="0" i="0">
                <a:solidFill>
                  <a:srgbClr val="A5D6FF"/>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end</a:t>
            </a:r>
            <a:r>
              <a:rPr sz="950" b="0" i="0">
                <a:solidFill>
                  <a:srgbClr val="E6EDF3"/>
                </a:solidFill>
                <a:latin typeface="Courier New"/>
              </a:rPr>
              <a:t>=</a:t>
            </a:r>
            <a:r>
              <a:rPr sz="950" b="0" i="0">
                <a:solidFill>
                  <a:srgbClr val="A5D6FF"/>
                </a:solidFill>
                <a:latin typeface="Courier New"/>
              </a:rPr>
              <a:t>''</a:t>
            </a:r>
            <a:r>
              <a:rPr sz="950" b="0" i="0">
                <a:solidFill>
                  <a:srgbClr val="E6EDF3"/>
                </a:solidFill>
                <a:latin typeface="Courier New"/>
              </a:rPr>
              <a:t>)</a:t>
            </a:r>
          </a:p>
          <a:p>
            <a:pPr algn="l">
              <a:spcBef>
                <a:spcPts val="0"/>
              </a:spcBef>
              <a:spcAft>
                <a:spcPts val="0"/>
              </a:spcAft>
            </a:pPr>
            <a:r>
              <a:rPr sz="950" b="1" i="0">
                <a:solidFill>
                  <a:srgbClr val="7EE787"/>
                </a:solidFill>
                <a:latin typeface="Courier New"/>
              </a:rPr>
              <a:t>&gt;&gt;&gt; </a:t>
            </a:r>
            <a:r>
              <a:rPr sz="950" b="0" i="0">
                <a:solidFill>
                  <a:srgbClr val="E6EDF3"/>
                </a:solidFill>
                <a:latin typeface="Courier New"/>
              </a:rPr>
              <a:t>        </a:t>
            </a:r>
            <a:r>
              <a:rPr sz="950" b="0" i="0">
                <a:solidFill>
                  <a:srgbClr val="E6EDF3"/>
                </a:solidFill>
                <a:latin typeface="Courier New"/>
              </a:rPr>
              <a:t>ctr</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D2A8FF"/>
                </a:solidFill>
                <a:latin typeface="Courier New"/>
              </a:rPr>
              <a:t>max</a:t>
            </a:r>
            <a:r>
              <a:rPr sz="950" b="0" i="0">
                <a:solidFill>
                  <a:srgbClr val="E6EDF3"/>
                </a:solidFill>
                <a:latin typeface="Courier New"/>
              </a:rPr>
              <a:t>(</a:t>
            </a:r>
            <a:r>
              <a:rPr sz="950" b="0" i="0">
                <a:solidFill>
                  <a:srgbClr val="79C0FF"/>
                </a:solidFill>
                <a:latin typeface="Courier New"/>
              </a:rPr>
              <a:t>0</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ctr</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a:t>
            </a:r>
            <a:r>
              <a:rPr sz="950" b="0" i="0">
                <a:solidFill>
                  <a:srgbClr val="E6EDF3"/>
                </a:solidFill>
                <a:latin typeface="Courier New"/>
              </a:rPr>
              <a:t>)</a:t>
            </a:r>
          </a:p>
          <a:p>
            <a:pPr algn="l">
              <a:spcBef>
                <a:spcPts val="0"/>
              </a:spcBef>
              <a:spcAft>
                <a:spcPts val="0"/>
              </a:spcAft>
            </a:pPr>
            <a:r>
              <a:rPr sz="950" b="1" i="0">
                <a:solidFill>
                  <a:srgbClr val="7EE787"/>
                </a:solidFill>
                <a:latin typeface="Courier New"/>
              </a:rPr>
              <a:t>&gt;&gt;&gt; </a:t>
            </a:r>
            <a:r>
              <a:rPr sz="950" b="0" i="0">
                <a:solidFill>
                  <a:srgbClr val="E6EDF3"/>
                </a:solidFill>
                <a:latin typeface="Courier New"/>
              </a:rPr>
              <a:t>    </a:t>
            </a:r>
            <a:r>
              <a:rPr sz="950" b="0" i="0">
                <a:solidFill>
                  <a:srgbClr val="D2A8FF"/>
                </a:solidFill>
                <a:latin typeface="Courier New"/>
              </a:rPr>
              <a:t>print</a:t>
            </a:r>
            <a:r>
              <a:rPr sz="950" b="0" i="0">
                <a:solidFill>
                  <a:srgbClr val="E6EDF3"/>
                </a:solidFill>
                <a:latin typeface="Courier New"/>
              </a:rPr>
              <a:t>(</a:t>
            </a:r>
            <a:r>
              <a:rPr sz="950" b="0" i="0">
                <a:solidFill>
                  <a:srgbClr val="E6EDF3"/>
                </a:solidFill>
                <a:latin typeface="Courier New"/>
              </a:rPr>
              <a:t>)</a:t>
            </a:r>
          </a:p>
        </p:txBody>
      </p:sp>
      <p:sp>
        <p:nvSpPr>
          <p:cNvPr id="12" name="Rectangle 11"/>
          <p:cNvSpPr/>
          <p:nvPr/>
        </p:nvSpPr>
        <p:spPr>
          <a:xfrm>
            <a:off x="5321808" y="2572512"/>
            <a:ext cx="45720" cy="64465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xplanation"/>
          <p:cNvSpPr txBox="1"/>
          <p:nvPr/>
        </p:nvSpPr>
        <p:spPr>
          <a:xfrm>
            <a:off x="5285232" y="2572512"/>
            <a:ext cx="3538728" cy="64465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A column with a counter above zero prints a random digit, otherwise a space; then its counter counts down by one.</a:t>
            </a:r>
          </a:p>
        </p:txBody>
      </p:sp>
      <p:graphicFrame>
        <p:nvGraphicFramePr>
          <p:cNvPr id="14" name="result table" descr="Result table: row 1 -&gt;  00 01   0   100; row 2 -&gt;  00 00   0   111; row 3 -&gt;  11 001  1  1010; row 4 -&gt;    1  1     01  ; row 5 -&gt;    11 0     101 "/>
          <p:cNvGraphicFramePr>
            <a:graphicFrameLocks noGrp="1"/>
          </p:cNvGraphicFramePr>
          <p:nvPr/>
        </p:nvGraphicFramePr>
        <p:xfrm>
          <a:off x="365760" y="3326892"/>
          <a:ext cx="1982851" cy="1171950"/>
        </p:xfrm>
        <a:graphic>
          <a:graphicData uri="http://schemas.openxmlformats.org/drawingml/2006/table">
            <a:tbl>
              <a:tblPr firstRow="1">
                <a:tableStyleId>{5C22544A-7EE6-4342-B048-85BDC9FD1C3A}</a:tableStyleId>
              </a:tblPr>
              <a:tblGrid>
                <a:gridCol w="623443"/>
                <a:gridCol w="1359408"/>
              </a:tblGrid>
              <a:tr h="195325">
                <a:tc>
                  <a:txBody>
                    <a:bodyPr wrap="none"/>
                    <a:lstStyle/>
                    <a:p>
                      <a:r>
                        <a:rPr sz="950" b="1">
                          <a:solidFill>
                            <a:srgbClr val="FFFFFF"/>
                          </a:solidFill>
                          <a:latin typeface="Calibri"/>
                        </a:rPr>
                        <a:t>printed</a:t>
                      </a:r>
                    </a:p>
                  </a:txBody>
                  <a:tcPr marL="82296" marR="82296" marT="22860" marB="22860" anchor="ctr">
                    <a:solidFill>
                      <a:srgbClr val="2F6D62"/>
                    </a:solidFill>
                  </a:tcPr>
                </a:tc>
                <a:tc>
                  <a:txBody>
                    <a:bodyPr wrap="none"/>
                    <a:lstStyle/>
                    <a:p>
                      <a:r>
                        <a:rPr sz="950" b="1">
                          <a:solidFill>
                            <a:srgbClr val="FFFFFF"/>
                          </a:solidFill>
                          <a:latin typeface="Calibri"/>
                        </a:rPr>
                        <a:t>result</a:t>
                      </a:r>
                    </a:p>
                  </a:txBody>
                  <a:tcPr marL="82296" marR="82296" marT="22860" marB="22860" anchor="ctr">
                    <a:solidFill>
                      <a:srgbClr val="2F6D62"/>
                    </a:solidFill>
                  </a:tcPr>
                </a:tc>
              </a:tr>
              <a:tr h="195325">
                <a:tc>
                  <a:txBody>
                    <a:bodyPr wrap="none"/>
                    <a:lstStyle/>
                    <a:p>
                      <a:r>
                        <a:rPr sz="950" b="0">
                          <a:solidFill>
                            <a:srgbClr val="2B2622"/>
                          </a:solidFill>
                          <a:latin typeface="Calibri"/>
                        </a:rPr>
                        <a:t>row 1</a:t>
                      </a:r>
                    </a:p>
                  </a:txBody>
                  <a:tcPr marL="82296" marR="82296" marT="22860" marB="22860" anchor="ctr">
                    <a:solidFill>
                      <a:srgbClr val="FFFFFF"/>
                    </a:solidFill>
                  </a:tcPr>
                </a:tc>
                <a:tc>
                  <a:txBody>
                    <a:bodyPr wrap="none"/>
                    <a:lstStyle/>
                    <a:p>
                      <a:r>
                        <a:rPr sz="950" b="0">
                          <a:solidFill>
                            <a:srgbClr val="2B2622"/>
                          </a:solidFill>
                          <a:latin typeface="Courier New"/>
                        </a:rPr>
                        <a:t> 00 01   0   100</a:t>
                      </a:r>
                    </a:p>
                  </a:txBody>
                  <a:tcPr marL="82296" marR="82296" marT="22860" marB="22860" anchor="ctr">
                    <a:solidFill>
                      <a:srgbClr val="FFFFFF"/>
                    </a:solidFill>
                  </a:tcPr>
                </a:tc>
              </a:tr>
              <a:tr h="195325">
                <a:tc>
                  <a:txBody>
                    <a:bodyPr wrap="none"/>
                    <a:lstStyle/>
                    <a:p>
                      <a:r>
                        <a:rPr sz="950" b="0">
                          <a:solidFill>
                            <a:srgbClr val="2B2622"/>
                          </a:solidFill>
                          <a:latin typeface="Calibri"/>
                        </a:rPr>
                        <a:t>row 2</a:t>
                      </a:r>
                    </a:p>
                  </a:txBody>
                  <a:tcPr marL="82296" marR="82296" marT="22860" marB="22860" anchor="ctr">
                    <a:solidFill>
                      <a:srgbClr val="F1ECE2"/>
                    </a:solidFill>
                  </a:tcPr>
                </a:tc>
                <a:tc>
                  <a:txBody>
                    <a:bodyPr wrap="none"/>
                    <a:lstStyle/>
                    <a:p>
                      <a:r>
                        <a:rPr sz="950" b="0">
                          <a:solidFill>
                            <a:srgbClr val="2B2622"/>
                          </a:solidFill>
                          <a:latin typeface="Courier New"/>
                        </a:rPr>
                        <a:t> 00 00   0   111</a:t>
                      </a:r>
                    </a:p>
                  </a:txBody>
                  <a:tcPr marL="82296" marR="82296" marT="22860" marB="22860" anchor="ctr">
                    <a:solidFill>
                      <a:srgbClr val="F1ECE2"/>
                    </a:solidFill>
                  </a:tcPr>
                </a:tc>
              </a:tr>
              <a:tr h="195325">
                <a:tc>
                  <a:txBody>
                    <a:bodyPr wrap="none"/>
                    <a:lstStyle/>
                    <a:p>
                      <a:r>
                        <a:rPr sz="950" b="0">
                          <a:solidFill>
                            <a:srgbClr val="2B2622"/>
                          </a:solidFill>
                          <a:latin typeface="Calibri"/>
                        </a:rPr>
                        <a:t>row 3</a:t>
                      </a:r>
                    </a:p>
                  </a:txBody>
                  <a:tcPr marL="82296" marR="82296" marT="22860" marB="22860" anchor="ctr">
                    <a:solidFill>
                      <a:srgbClr val="FFFFFF"/>
                    </a:solidFill>
                  </a:tcPr>
                </a:tc>
                <a:tc>
                  <a:txBody>
                    <a:bodyPr wrap="none"/>
                    <a:lstStyle/>
                    <a:p>
                      <a:r>
                        <a:rPr sz="950" b="0">
                          <a:solidFill>
                            <a:srgbClr val="2B2622"/>
                          </a:solidFill>
                          <a:latin typeface="Courier New"/>
                        </a:rPr>
                        <a:t> 11 001  1  1010</a:t>
                      </a:r>
                    </a:p>
                  </a:txBody>
                  <a:tcPr marL="82296" marR="82296" marT="22860" marB="22860" anchor="ctr">
                    <a:solidFill>
                      <a:srgbClr val="FFFFFF"/>
                    </a:solidFill>
                  </a:tcPr>
                </a:tc>
              </a:tr>
              <a:tr h="195325">
                <a:tc>
                  <a:txBody>
                    <a:bodyPr wrap="none"/>
                    <a:lstStyle/>
                    <a:p>
                      <a:r>
                        <a:rPr sz="950" b="0">
                          <a:solidFill>
                            <a:srgbClr val="2B2622"/>
                          </a:solidFill>
                          <a:latin typeface="Calibri"/>
                        </a:rPr>
                        <a:t>row 4</a:t>
                      </a:r>
                    </a:p>
                  </a:txBody>
                  <a:tcPr marL="82296" marR="82296" marT="22860" marB="22860" anchor="ctr">
                    <a:solidFill>
                      <a:srgbClr val="F1ECE2"/>
                    </a:solidFill>
                  </a:tcPr>
                </a:tc>
                <a:tc>
                  <a:txBody>
                    <a:bodyPr wrap="none"/>
                    <a:lstStyle/>
                    <a:p>
                      <a:r>
                        <a:rPr sz="950" b="0">
                          <a:solidFill>
                            <a:srgbClr val="2B2622"/>
                          </a:solidFill>
                          <a:latin typeface="Courier New"/>
                        </a:rPr>
                        <a:t>   1  1     01  </a:t>
                      </a:r>
                    </a:p>
                  </a:txBody>
                  <a:tcPr marL="82296" marR="82296" marT="22860" marB="22860" anchor="ctr">
                    <a:solidFill>
                      <a:srgbClr val="F1ECE2"/>
                    </a:solidFill>
                  </a:tcPr>
                </a:tc>
              </a:tr>
              <a:tr h="195325">
                <a:tc>
                  <a:txBody>
                    <a:bodyPr wrap="none"/>
                    <a:lstStyle/>
                    <a:p>
                      <a:r>
                        <a:rPr sz="950" b="0">
                          <a:solidFill>
                            <a:srgbClr val="2B2622"/>
                          </a:solidFill>
                          <a:latin typeface="Calibri"/>
                        </a:rPr>
                        <a:t>row 5</a:t>
                      </a:r>
                    </a:p>
                  </a:txBody>
                  <a:tcPr marL="82296" marR="82296" marT="22860" marB="22860" anchor="ctr">
                    <a:solidFill>
                      <a:srgbClr val="FFFFFF"/>
                    </a:solidFill>
                  </a:tcPr>
                </a:tc>
                <a:tc>
                  <a:txBody>
                    <a:bodyPr wrap="none"/>
                    <a:lstStyle/>
                    <a:p>
                      <a:r>
                        <a:rPr sz="950" b="0">
                          <a:solidFill>
                            <a:srgbClr val="2B2622"/>
                          </a:solidFill>
                          <a:latin typeface="Courier New"/>
                        </a:rPr>
                        <a:t>   11 0     101 </a:t>
                      </a:r>
                    </a:p>
                  </a:txBody>
                  <a:tcPr marL="82296" marR="82296" marT="22860" marB="22860" anchor="ctr">
                    <a:solidFill>
                      <a:srgbClr val="FFFFFF"/>
                    </a:solidFill>
                  </a:tcPr>
                </a:tc>
              </a:tr>
            </a:tbl>
          </a:graphicData>
        </a:graphic>
      </p:graphicFrame>
      <p:cxnSp>
        <p:nvCxnSpPr>
          <p:cNvPr id="15" name="Connector 14"/>
          <p:cNvCxnSpPr/>
          <p:nvPr/>
        </p:nvCxnSpPr>
        <p:spPr>
          <a:xfrm>
            <a:off x="5677725" y="3601212"/>
            <a:ext cx="0" cy="164592"/>
          </a:xfrm>
          <a:prstGeom prst="line">
            <a:avLst/>
          </a:prstGeom>
          <a:ln w="19050">
            <a:solidFill>
              <a:srgbClr val="6E655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80445" y="3326892"/>
            <a:ext cx="2194560" cy="27432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alibri"/>
              </a:rPr>
              <a:t>ctr after the last row</a:t>
            </a:r>
          </a:p>
        </p:txBody>
      </p:sp>
      <p:sp>
        <p:nvSpPr>
          <p:cNvPr id="17" name="Rounded Rectangle 16"/>
          <p:cNvSpPr/>
          <p:nvPr/>
        </p:nvSpPr>
        <p:spPr>
          <a:xfrm>
            <a:off x="2984817"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18" name="Rounded Rectangle 17"/>
          <p:cNvSpPr/>
          <p:nvPr/>
        </p:nvSpPr>
        <p:spPr>
          <a:xfrm>
            <a:off x="3323145"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19" name="Rounded Rectangle 18"/>
          <p:cNvSpPr/>
          <p:nvPr/>
        </p:nvSpPr>
        <p:spPr>
          <a:xfrm>
            <a:off x="3661473"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0" name="Rounded Rectangle 19"/>
          <p:cNvSpPr/>
          <p:nvPr/>
        </p:nvSpPr>
        <p:spPr>
          <a:xfrm>
            <a:off x="3999801" y="3784092"/>
            <a:ext cx="310896" cy="347472"/>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1</a:t>
            </a:r>
          </a:p>
        </p:txBody>
      </p:sp>
      <p:sp>
        <p:nvSpPr>
          <p:cNvPr id="21" name="Rounded Rectangle 20"/>
          <p:cNvSpPr/>
          <p:nvPr/>
        </p:nvSpPr>
        <p:spPr>
          <a:xfrm>
            <a:off x="4338129" y="3784092"/>
            <a:ext cx="310896" cy="347472"/>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2</a:t>
            </a:r>
          </a:p>
        </p:txBody>
      </p:sp>
      <p:sp>
        <p:nvSpPr>
          <p:cNvPr id="22" name="Rounded Rectangle 21"/>
          <p:cNvSpPr/>
          <p:nvPr/>
        </p:nvSpPr>
        <p:spPr>
          <a:xfrm>
            <a:off x="4676457"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3" name="Rounded Rectangle 22"/>
          <p:cNvSpPr/>
          <p:nvPr/>
        </p:nvSpPr>
        <p:spPr>
          <a:xfrm>
            <a:off x="5014785"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4" name="Rounded Rectangle 23"/>
          <p:cNvSpPr/>
          <p:nvPr/>
        </p:nvSpPr>
        <p:spPr>
          <a:xfrm>
            <a:off x="5353113"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5" name="Rounded Rectangle 24"/>
          <p:cNvSpPr/>
          <p:nvPr/>
        </p:nvSpPr>
        <p:spPr>
          <a:xfrm>
            <a:off x="5691441"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6" name="Rounded Rectangle 25"/>
          <p:cNvSpPr/>
          <p:nvPr/>
        </p:nvSpPr>
        <p:spPr>
          <a:xfrm>
            <a:off x="6029769"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7" name="Rounded Rectangle 26"/>
          <p:cNvSpPr/>
          <p:nvPr/>
        </p:nvSpPr>
        <p:spPr>
          <a:xfrm>
            <a:off x="6368097"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8" name="Rounded Rectangle 27"/>
          <p:cNvSpPr/>
          <p:nvPr/>
        </p:nvSpPr>
        <p:spPr>
          <a:xfrm>
            <a:off x="6706425"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29" name="Rounded Rectangle 28"/>
          <p:cNvSpPr/>
          <p:nvPr/>
        </p:nvSpPr>
        <p:spPr>
          <a:xfrm>
            <a:off x="7044753"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30" name="Rounded Rectangle 29"/>
          <p:cNvSpPr/>
          <p:nvPr/>
        </p:nvSpPr>
        <p:spPr>
          <a:xfrm>
            <a:off x="7383081" y="3784092"/>
            <a:ext cx="310896" cy="347472"/>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1</a:t>
            </a:r>
          </a:p>
        </p:txBody>
      </p:sp>
      <p:sp>
        <p:nvSpPr>
          <p:cNvPr id="31" name="Rounded Rectangle 30"/>
          <p:cNvSpPr/>
          <p:nvPr/>
        </p:nvSpPr>
        <p:spPr>
          <a:xfrm>
            <a:off x="7721409" y="3784092"/>
            <a:ext cx="310896" cy="347472"/>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1" i="0">
                <a:solidFill>
                  <a:srgbClr val="2B2622"/>
                </a:solidFill>
                <a:latin typeface="Calibri"/>
              </a:rPr>
              <a:t>2</a:t>
            </a:r>
          </a:p>
        </p:txBody>
      </p:sp>
      <p:sp>
        <p:nvSpPr>
          <p:cNvPr id="32" name="Rounded Rectangle 31"/>
          <p:cNvSpPr/>
          <p:nvPr/>
        </p:nvSpPr>
        <p:spPr>
          <a:xfrm>
            <a:off x="8059737" y="3784092"/>
            <a:ext cx="310896" cy="347472"/>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100" b="0" i="0">
                <a:solidFill>
                  <a:srgbClr val="2B2622"/>
                </a:solidFill>
                <a:latin typeface="Calibri"/>
              </a:rPr>
              <a:t>0</a:t>
            </a:r>
          </a:p>
        </p:txBody>
      </p:sp>
      <p:sp>
        <p:nvSpPr>
          <p:cNvPr id="33" name="diagram caption"/>
          <p:cNvSpPr txBox="1"/>
          <p:nvPr/>
        </p:nvSpPr>
        <p:spPr>
          <a:xfrm>
            <a:off x="2531491" y="4177284"/>
            <a:ext cx="6292469" cy="237744"/>
          </a:xfrm>
          <a:prstGeom prst="rect">
            <a:avLst/>
          </a:prstGeom>
          <a:noFill/>
        </p:spPr>
        <p:txBody>
          <a:bodyPr wrap="square" lIns="73152" tIns="36576" rIns="73152" bIns="36576" anchor="t">
            <a:noAutofit/>
          </a:bodyPr>
          <a:lstStyle/>
          <a:p>
            <a:pPr algn="ctr">
              <a:spcBef>
                <a:spcPts val="0"/>
              </a:spcBef>
              <a:spcAft>
                <a:spcPts val="0"/>
              </a:spcAft>
            </a:pPr>
            <a:r>
              <a:rPr sz="950" b="0" i="1">
                <a:solidFill>
                  <a:srgbClr val="6E655C"/>
                </a:solidFill>
                <a:latin typeface="Calibri"/>
              </a:rPr>
              <a:t>a counter above zero means a digit is falling there</a:t>
            </a:r>
          </a:p>
        </p:txBody>
      </p:sp>
      <p:sp>
        <p:nvSpPr>
          <p:cNvPr id="34"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list of counters can animate a screen</a:t>
            </a:r>
          </a:p>
        </p:txBody>
      </p:sp>
      <p:sp>
        <p:nvSpPr>
          <p:cNvPr id="35"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42 / 49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Practice Programs: Comma Code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Turn any list into text with commas and an 'and' before the last item, and handle short lists on the way.</a:t>
            </a:r>
          </a:p>
        </p:txBody>
      </p:sp>
      <p:sp>
        <p:nvSpPr>
          <p:cNvPr id="5" name="code"/>
          <p:cNvSpPr/>
          <p:nvPr/>
        </p:nvSpPr>
        <p:spPr>
          <a:xfrm>
            <a:off x="365760" y="960120"/>
            <a:ext cx="4937760" cy="78638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050" b="1" i="0">
                <a:solidFill>
                  <a:srgbClr val="7EE787"/>
                </a:solidFill>
                <a:latin typeface="Courier New"/>
              </a:rPr>
              <a:t>&gt;&gt;&gt; </a:t>
            </a:r>
            <a:r>
              <a:rPr sz="1050" b="0" i="0">
                <a:solidFill>
                  <a:srgbClr val="FF7B72"/>
                </a:solidFill>
                <a:latin typeface="Courier New"/>
              </a:rPr>
              <a:t>def</a:t>
            </a:r>
            <a:r>
              <a:rPr sz="1050" b="0" i="0">
                <a:solidFill>
                  <a:srgbClr val="E6EDF3"/>
                </a:solidFill>
                <a:latin typeface="Courier New"/>
              </a:rPr>
              <a:t> </a:t>
            </a:r>
            <a:r>
              <a:rPr sz="1050" b="0" i="0">
                <a:solidFill>
                  <a:srgbClr val="E6EDF3"/>
                </a:solidFill>
                <a:latin typeface="Courier New"/>
              </a:rPr>
              <a:t>list_to_text</a:t>
            </a:r>
            <a:r>
              <a:rPr sz="1050" b="0" i="0">
                <a:solidFill>
                  <a:srgbClr val="E6EDF3"/>
                </a:solidFill>
                <a:latin typeface="Courier New"/>
              </a:rPr>
              <a:t>(</a:t>
            </a:r>
            <a:r>
              <a:rPr sz="1050" b="0" i="0">
                <a:solidFill>
                  <a:srgbClr val="E6EDF3"/>
                </a:solidFill>
                <a:latin typeface="Courier New"/>
              </a:rPr>
              <a:t>items</a:t>
            </a:r>
            <a:r>
              <a:rPr sz="1050" b="0" i="0">
                <a:solidFill>
                  <a:srgbClr val="E6EDF3"/>
                </a:solidFill>
                <a:latin typeface="Courier New"/>
              </a:rPr>
              <a:t>)</a:t>
            </a:r>
            <a:r>
              <a:rPr sz="1050" b="0" i="0">
                <a:solidFill>
                  <a:srgbClr val="E6EDF3"/>
                </a:solidFill>
                <a:latin typeface="Courier New"/>
              </a:rPr>
              <a:t>:</a:t>
            </a:r>
          </a:p>
          <a:p>
            <a:pPr algn="l">
              <a:spcBef>
                <a:spcPts val="0"/>
              </a:spcBef>
              <a:spcAft>
                <a:spcPts val="0"/>
              </a:spcAft>
            </a:pPr>
            <a:r>
              <a:rPr sz="1050" b="1" i="0">
                <a:solidFill>
                  <a:srgbClr val="7EE787"/>
                </a:solidFill>
                <a:latin typeface="Courier New"/>
              </a:rPr>
              <a:t>&gt;&gt;&gt; </a:t>
            </a:r>
            <a:r>
              <a:rPr sz="1050" b="0" i="0">
                <a:solidFill>
                  <a:srgbClr val="E6EDF3"/>
                </a:solidFill>
                <a:latin typeface="Courier New"/>
              </a:rPr>
              <a:t>    </a:t>
            </a:r>
            <a:r>
              <a:rPr sz="1050" b="0" i="0">
                <a:solidFill>
                  <a:srgbClr val="FF7B72"/>
                </a:solidFill>
                <a:latin typeface="Courier New"/>
              </a:rPr>
              <a:t>if</a:t>
            </a:r>
            <a:r>
              <a:rPr sz="1050" b="0" i="0">
                <a:solidFill>
                  <a:srgbClr val="E6EDF3"/>
                </a:solidFill>
                <a:latin typeface="Courier New"/>
              </a:rPr>
              <a:t> </a:t>
            </a:r>
            <a:r>
              <a:rPr sz="1050" b="0" i="0">
                <a:solidFill>
                  <a:srgbClr val="D2A8FF"/>
                </a:solidFill>
                <a:latin typeface="Courier New"/>
              </a:rPr>
              <a:t>len</a:t>
            </a:r>
            <a:r>
              <a:rPr sz="1050" b="0" i="0">
                <a:solidFill>
                  <a:srgbClr val="E6EDF3"/>
                </a:solidFill>
                <a:latin typeface="Courier New"/>
              </a:rPr>
              <a:t>(</a:t>
            </a:r>
            <a:r>
              <a:rPr sz="1050" b="0" i="0">
                <a:solidFill>
                  <a:srgbClr val="E6EDF3"/>
                </a:solidFill>
                <a:latin typeface="Courier New"/>
              </a:rPr>
              <a:t>items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9C0FF"/>
                </a:solidFill>
                <a:latin typeface="Courier New"/>
              </a:rPr>
              <a:t>3</a:t>
            </a:r>
            <a:r>
              <a:rPr sz="1050" b="0" i="0">
                <a:solidFill>
                  <a:srgbClr val="E6EDF3"/>
                </a:solidFill>
                <a:latin typeface="Courier New"/>
              </a:rPr>
              <a:t>:</a:t>
            </a:r>
          </a:p>
          <a:p>
            <a:pPr algn="l">
              <a:spcBef>
                <a:spcPts val="0"/>
              </a:spcBef>
              <a:spcAft>
                <a:spcPts val="0"/>
              </a:spcAft>
            </a:pPr>
            <a:r>
              <a:rPr sz="1050" b="1" i="0">
                <a:solidFill>
                  <a:srgbClr val="7EE787"/>
                </a:solidFill>
                <a:latin typeface="Courier New"/>
              </a:rPr>
              <a:t>&gt;&gt;&gt; </a:t>
            </a:r>
            <a:r>
              <a:rPr sz="1050" b="0" i="0">
                <a:solidFill>
                  <a:srgbClr val="E6EDF3"/>
                </a:solidFill>
                <a:latin typeface="Courier New"/>
              </a:rPr>
              <a:t>        </a:t>
            </a:r>
            <a:r>
              <a:rPr sz="1050" b="0" i="0">
                <a:solidFill>
                  <a:srgbClr val="FF7B72"/>
                </a:solidFill>
                <a:latin typeface="Courier New"/>
              </a:rPr>
              <a:t>return</a:t>
            </a:r>
            <a:r>
              <a:rPr sz="1050" b="0" i="0">
                <a:solidFill>
                  <a:srgbClr val="E6EDF3"/>
                </a:solidFill>
                <a:latin typeface="Courier New"/>
              </a:rPr>
              <a:t> </a:t>
            </a:r>
            <a:r>
              <a:rPr sz="1050" b="0" i="0">
                <a:solidFill>
                  <a:srgbClr val="A5D6FF"/>
                </a:solidFill>
                <a:latin typeface="Courier New"/>
              </a:rPr>
              <a:t>' and '</a:t>
            </a:r>
            <a:r>
              <a:rPr sz="1050" b="0" i="0">
                <a:solidFill>
                  <a:srgbClr val="E6EDF3"/>
                </a:solidFill>
                <a:latin typeface="Courier New"/>
              </a:rPr>
              <a:t>.</a:t>
            </a:r>
            <a:r>
              <a:rPr sz="1050" b="0" i="0">
                <a:solidFill>
                  <a:srgbClr val="E6EDF3"/>
                </a:solidFill>
                <a:latin typeface="Courier New"/>
              </a:rPr>
              <a:t>join</a:t>
            </a:r>
            <a:r>
              <a:rPr sz="1050" b="0" i="0">
                <a:solidFill>
                  <a:srgbClr val="E6EDF3"/>
                </a:solidFill>
                <a:latin typeface="Courier New"/>
              </a:rPr>
              <a:t>(</a:t>
            </a:r>
            <a:r>
              <a:rPr sz="1050" b="0" i="0">
                <a:solidFill>
                  <a:srgbClr val="E6EDF3"/>
                </a:solidFill>
                <a:latin typeface="Courier New"/>
              </a:rPr>
              <a:t>items</a:t>
            </a:r>
            <a:r>
              <a:rPr sz="1050" b="0" i="0">
                <a:solidFill>
                  <a:srgbClr val="E6EDF3"/>
                </a:solidFill>
                <a:latin typeface="Courier New"/>
              </a:rPr>
              <a:t>)</a:t>
            </a:r>
          </a:p>
          <a:p>
            <a:pPr algn="l">
              <a:spcBef>
                <a:spcPts val="0"/>
              </a:spcBef>
              <a:spcAft>
                <a:spcPts val="0"/>
              </a:spcAft>
            </a:pPr>
            <a:r>
              <a:rPr sz="1050" b="1" i="0">
                <a:solidFill>
                  <a:srgbClr val="7EE787"/>
                </a:solidFill>
                <a:latin typeface="Courier New"/>
              </a:rPr>
              <a:t>&gt;&gt;&gt; </a:t>
            </a:r>
            <a:r>
              <a:rPr sz="1050" b="0" i="0">
                <a:solidFill>
                  <a:srgbClr val="E6EDF3"/>
                </a:solidFill>
                <a:latin typeface="Courier New"/>
              </a:rPr>
              <a:t>    </a:t>
            </a:r>
            <a:r>
              <a:rPr sz="1050" b="0" i="0">
                <a:solidFill>
                  <a:srgbClr val="FF7B72"/>
                </a:solidFill>
                <a:latin typeface="Courier New"/>
              </a:rPr>
              <a:t>return</a:t>
            </a:r>
            <a:r>
              <a:rPr sz="1050" b="0" i="0">
                <a:solidFill>
                  <a:srgbClr val="E6EDF3"/>
                </a:solidFill>
                <a:latin typeface="Courier New"/>
              </a:rPr>
              <a:t> </a:t>
            </a:r>
            <a:r>
              <a:rPr sz="1050" b="0" i="0">
                <a:solidFill>
                  <a:srgbClr val="A5D6FF"/>
                </a:solidFill>
                <a:latin typeface="Courier New"/>
              </a:rPr>
              <a:t>', '</a:t>
            </a:r>
            <a:r>
              <a:rPr sz="1050" b="0" i="0">
                <a:solidFill>
                  <a:srgbClr val="E6EDF3"/>
                </a:solidFill>
                <a:latin typeface="Courier New"/>
              </a:rPr>
              <a:t>.</a:t>
            </a:r>
            <a:r>
              <a:rPr sz="1050" b="0" i="0">
                <a:solidFill>
                  <a:srgbClr val="E6EDF3"/>
                </a:solidFill>
                <a:latin typeface="Courier New"/>
              </a:rPr>
              <a:t>join</a:t>
            </a:r>
            <a:r>
              <a:rPr sz="1050" b="0" i="0">
                <a:solidFill>
                  <a:srgbClr val="E6EDF3"/>
                </a:solidFill>
                <a:latin typeface="Courier New"/>
              </a:rPr>
              <a:t>(</a:t>
            </a:r>
            <a:r>
              <a:rPr sz="1050" b="0" i="0">
                <a:solidFill>
                  <a:srgbClr val="E6EDF3"/>
                </a:solidFill>
                <a:latin typeface="Courier New"/>
              </a:rPr>
              <a:t>items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1</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A5D6FF"/>
                </a:solidFill>
                <a:latin typeface="Courier New"/>
              </a:rPr>
              <a:t>', and '</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items</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1</a:t>
            </a:r>
            <a:r>
              <a:rPr sz="1050" b="0" i="0">
                <a:solidFill>
                  <a:srgbClr val="E6EDF3"/>
                </a:solidFill>
                <a:latin typeface="Courier New"/>
              </a:rPr>
              <a:t>]</a:t>
            </a:r>
          </a:p>
        </p:txBody>
      </p:sp>
      <p:sp>
        <p:nvSpPr>
          <p:cNvPr id="6" name="Rectangle 5"/>
          <p:cNvSpPr/>
          <p:nvPr/>
        </p:nvSpPr>
        <p:spPr>
          <a:xfrm>
            <a:off x="5321808" y="960120"/>
            <a:ext cx="45720" cy="78638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78638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Fewer than three items need no comma. Otherwise join all but the last with commas, then add 'and' and the last item.</a:t>
            </a:r>
          </a:p>
        </p:txBody>
      </p:sp>
      <p:sp>
        <p:nvSpPr>
          <p:cNvPr id="8" name="code"/>
          <p:cNvSpPr/>
          <p:nvPr/>
        </p:nvSpPr>
        <p:spPr>
          <a:xfrm>
            <a:off x="365760" y="1819656"/>
            <a:ext cx="4937760" cy="64922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tests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A5D6FF"/>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'b'</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'c'</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'x'</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A5D6FF"/>
                </a:solidFill>
                <a:latin typeface="Courier New"/>
              </a:rPr>
              <a:t>'z'</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t</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tests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D2A8FF"/>
                </a:solidFill>
                <a:latin typeface="Courier New"/>
              </a:rPr>
              <a:t>print</a:t>
            </a:r>
            <a:r>
              <a:rPr sz="1100" b="0" i="0">
                <a:solidFill>
                  <a:srgbClr val="E6EDF3"/>
                </a:solidFill>
                <a:latin typeface="Courier New"/>
              </a:rPr>
              <a:t>(</a:t>
            </a:r>
            <a:r>
              <a:rPr sz="1100" b="0" i="0">
                <a:solidFill>
                  <a:srgbClr val="D2A8FF"/>
                </a:solidFill>
                <a:latin typeface="Courier New"/>
              </a:rPr>
              <a:t>repr</a:t>
            </a:r>
            <a:r>
              <a:rPr sz="1100" b="0" i="0">
                <a:solidFill>
                  <a:srgbClr val="E6EDF3"/>
                </a:solidFill>
                <a:latin typeface="Courier New"/>
              </a:rPr>
              <a:t>(</a:t>
            </a:r>
            <a:r>
              <a:rPr sz="1100" b="0" i="0">
                <a:solidFill>
                  <a:srgbClr val="E6EDF3"/>
                </a:solidFill>
                <a:latin typeface="Courier New"/>
              </a:rPr>
              <a:t>list_to_text</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Rectangle 8"/>
          <p:cNvSpPr/>
          <p:nvPr/>
        </p:nvSpPr>
        <p:spPr>
          <a:xfrm>
            <a:off x="5321808" y="1819656"/>
            <a:ext cx="45720" cy="64922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19656"/>
            <a:ext cx="3538728" cy="64922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Four test lists: three items, two, one and none. repr shows the quotes so that the empty text is visible.</a:t>
            </a:r>
          </a:p>
        </p:txBody>
      </p:sp>
      <p:graphicFrame>
        <p:nvGraphicFramePr>
          <p:cNvPr id="11" name="result table" descr="Result table: three items -&gt; 'a, b, and c'; two items -&gt; 'x and y'; one item -&gt; 'z'; no items -&gt; ''"/>
          <p:cNvGraphicFramePr>
            <a:graphicFrameLocks noGrp="1"/>
          </p:cNvGraphicFramePr>
          <p:nvPr/>
        </p:nvGraphicFramePr>
        <p:xfrm>
          <a:off x="365760" y="2578608"/>
          <a:ext cx="2091436" cy="1143000"/>
        </p:xfrm>
        <a:graphic>
          <a:graphicData uri="http://schemas.openxmlformats.org/drawingml/2006/table">
            <a:tbl>
              <a:tblPr firstRow="1">
                <a:tableStyleId>{5C22544A-7EE6-4342-B048-85BDC9FD1C3A}</a:tableStyleId>
              </a:tblPr>
              <a:tblGrid>
                <a:gridCol w="899668"/>
                <a:gridCol w="1191768"/>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three items</a:t>
                      </a:r>
                    </a:p>
                  </a:txBody>
                  <a:tcPr marL="82296" marR="82296" marT="22860" marB="22860" anchor="ctr">
                    <a:solidFill>
                      <a:srgbClr val="FFFFFF"/>
                    </a:solidFill>
                  </a:tcPr>
                </a:tc>
                <a:tc>
                  <a:txBody>
                    <a:bodyPr wrap="none"/>
                    <a:lstStyle/>
                    <a:p>
                      <a:r>
                        <a:rPr sz="1000" b="0">
                          <a:solidFill>
                            <a:srgbClr val="2B2622"/>
                          </a:solidFill>
                          <a:latin typeface="Courier New"/>
                        </a:rPr>
                        <a:t>'a, b, and c'</a:t>
                      </a:r>
                    </a:p>
                  </a:txBody>
                  <a:tcPr marL="82296" marR="82296" marT="22860" marB="22860" anchor="ctr">
                    <a:solidFill>
                      <a:srgbClr val="FFFFFF"/>
                    </a:solidFill>
                  </a:tcPr>
                </a:tc>
              </a:tr>
              <a:tr h="228600">
                <a:tc>
                  <a:txBody>
                    <a:bodyPr wrap="none"/>
                    <a:lstStyle/>
                    <a:p>
                      <a:r>
                        <a:rPr sz="1000" b="0">
                          <a:solidFill>
                            <a:srgbClr val="2B2622"/>
                          </a:solidFill>
                          <a:latin typeface="Calibri"/>
                        </a:rPr>
                        <a:t>two items</a:t>
                      </a:r>
                    </a:p>
                  </a:txBody>
                  <a:tcPr marL="82296" marR="82296" marT="22860" marB="22860" anchor="ctr">
                    <a:solidFill>
                      <a:srgbClr val="F1ECE2"/>
                    </a:solidFill>
                  </a:tcPr>
                </a:tc>
                <a:tc>
                  <a:txBody>
                    <a:bodyPr wrap="none"/>
                    <a:lstStyle/>
                    <a:p>
                      <a:r>
                        <a:rPr sz="1000" b="0">
                          <a:solidFill>
                            <a:srgbClr val="2B2622"/>
                          </a:solidFill>
                          <a:latin typeface="Courier New"/>
                        </a:rPr>
                        <a:t>'x and y'</a:t>
                      </a:r>
                    </a:p>
                  </a:txBody>
                  <a:tcPr marL="82296" marR="82296" marT="22860" marB="22860" anchor="ctr">
                    <a:solidFill>
                      <a:srgbClr val="F1ECE2"/>
                    </a:solidFill>
                  </a:tcPr>
                </a:tc>
              </a:tr>
              <a:tr h="228600">
                <a:tc>
                  <a:txBody>
                    <a:bodyPr wrap="none"/>
                    <a:lstStyle/>
                    <a:p>
                      <a:r>
                        <a:rPr sz="1000" b="0">
                          <a:solidFill>
                            <a:srgbClr val="2B2622"/>
                          </a:solidFill>
                          <a:latin typeface="Calibri"/>
                        </a:rPr>
                        <a:t>one item</a:t>
                      </a:r>
                    </a:p>
                  </a:txBody>
                  <a:tcPr marL="82296" marR="82296" marT="22860" marB="22860" anchor="ctr">
                    <a:solidFill>
                      <a:srgbClr val="FFFFFF"/>
                    </a:solidFill>
                  </a:tcPr>
                </a:tc>
                <a:tc>
                  <a:txBody>
                    <a:bodyPr wrap="none"/>
                    <a:lstStyle/>
                    <a:p>
                      <a:r>
                        <a:rPr sz="1000" b="0">
                          <a:solidFill>
                            <a:srgbClr val="2B2622"/>
                          </a:solidFill>
                          <a:latin typeface="Courier New"/>
                        </a:rPr>
                        <a:t>'z'</a:t>
                      </a:r>
                    </a:p>
                  </a:txBody>
                  <a:tcPr marL="82296" marR="82296" marT="22860" marB="22860" anchor="ctr">
                    <a:solidFill>
                      <a:srgbClr val="FFFFFF"/>
                    </a:solidFill>
                  </a:tcPr>
                </a:tc>
              </a:tr>
              <a:tr h="228600">
                <a:tc>
                  <a:txBody>
                    <a:bodyPr wrap="none"/>
                    <a:lstStyle/>
                    <a:p>
                      <a:r>
                        <a:rPr sz="1000" b="0">
                          <a:solidFill>
                            <a:srgbClr val="2B2622"/>
                          </a:solidFill>
                          <a:latin typeface="Calibri"/>
                        </a:rPr>
                        <a:t>no items</a:t>
                      </a:r>
                    </a:p>
                  </a:txBody>
                  <a:tcPr marL="82296" marR="82296" marT="22860" marB="22860" anchor="ctr">
                    <a:solidFill>
                      <a:srgbClr val="F1ECE2"/>
                    </a:solidFill>
                  </a:tcPr>
                </a:tc>
                <a:tc>
                  <a:txBody>
                    <a:bodyPr wrap="none"/>
                    <a:lstStyle/>
                    <a:p>
                      <a:r>
                        <a:rPr sz="1000" b="0">
                          <a:solidFill>
                            <a:srgbClr val="2B2622"/>
                          </a:solidFill>
                          <a:latin typeface="Courier New"/>
                        </a:rPr>
                        <a:t>''</a:t>
                      </a:r>
                    </a:p>
                  </a:txBody>
                  <a:tcPr marL="82296" marR="82296" marT="22860" marB="22860" anchor="ctr">
                    <a:solidFill>
                      <a:srgbClr val="F1ECE2"/>
                    </a:solidFill>
                  </a:tcPr>
                </a:tc>
              </a:tr>
            </a:tbl>
          </a:graphicData>
        </a:graphic>
      </p:graphicFrame>
      <p:sp>
        <p:nvSpPr>
          <p:cNvPr id="12" name="Rounded Rectangle 11"/>
          <p:cNvSpPr/>
          <p:nvPr/>
        </p:nvSpPr>
        <p:spPr>
          <a:xfrm>
            <a:off x="4268978" y="2578608"/>
            <a:ext cx="1325880" cy="274320"/>
          </a:xfrm>
          <a:prstGeom prst="roundRect">
            <a:avLst>
              <a:gd name="adj" fmla="val 12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ourier New"/>
              </a:rPr>
              <a:t>items[:-1]</a:t>
            </a:r>
          </a:p>
        </p:txBody>
      </p:sp>
      <p:sp>
        <p:nvSpPr>
          <p:cNvPr id="13" name="Rounded Rectangle 12"/>
          <p:cNvSpPr/>
          <p:nvPr/>
        </p:nvSpPr>
        <p:spPr>
          <a:xfrm>
            <a:off x="5686298" y="2578608"/>
            <a:ext cx="960120" cy="27432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000" b="1" i="0">
                <a:solidFill>
                  <a:srgbClr val="FFFFFF"/>
                </a:solidFill>
                <a:latin typeface="Courier New"/>
              </a:rPr>
              <a:t>items[-1]</a:t>
            </a:r>
          </a:p>
        </p:txBody>
      </p:sp>
      <p:cxnSp>
        <p:nvCxnSpPr>
          <p:cNvPr id="14" name="Connector 13"/>
          <p:cNvCxnSpPr/>
          <p:nvPr/>
        </p:nvCxnSpPr>
        <p:spPr>
          <a:xfrm>
            <a:off x="4589018" y="2871216"/>
            <a:ext cx="0" cy="146304"/>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68978" y="3035808"/>
            <a:ext cx="640080"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1" i="0">
                <a:solidFill>
                  <a:srgbClr val="2B2622"/>
                </a:solidFill>
                <a:latin typeface="Calibri"/>
              </a:rPr>
              <a:t>a</a:t>
            </a:r>
          </a:p>
        </p:txBody>
      </p:sp>
      <p:cxnSp>
        <p:nvCxnSpPr>
          <p:cNvPr id="16" name="Connector 15"/>
          <p:cNvCxnSpPr/>
          <p:nvPr/>
        </p:nvCxnSpPr>
        <p:spPr>
          <a:xfrm>
            <a:off x="5274818" y="2871216"/>
            <a:ext cx="0" cy="146304"/>
          </a:xfrm>
          <a:prstGeom prst="line">
            <a:avLst/>
          </a:prstGeom>
          <a:ln w="19050">
            <a:solidFill>
              <a:srgbClr val="2F6D6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54778" y="3035808"/>
            <a:ext cx="640080" cy="365760"/>
          </a:xfrm>
          <a:prstGeom prst="roundRect">
            <a:avLst>
              <a:gd name="adj" fmla="val 12000"/>
            </a:avLst>
          </a:prstGeom>
          <a:solidFill>
            <a:srgbClr val="DCEBE6"/>
          </a:solidFill>
          <a:ln w="12700">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1" i="0">
                <a:solidFill>
                  <a:srgbClr val="2B2622"/>
                </a:solidFill>
                <a:latin typeface="Calibri"/>
              </a:rPr>
              <a:t>b</a:t>
            </a:r>
          </a:p>
        </p:txBody>
      </p:sp>
      <p:cxnSp>
        <p:nvCxnSpPr>
          <p:cNvPr id="18" name="Connector 17"/>
          <p:cNvCxnSpPr/>
          <p:nvPr/>
        </p:nvCxnSpPr>
        <p:spPr>
          <a:xfrm flipH="1">
            <a:off x="6143498" y="2871216"/>
            <a:ext cx="18288" cy="146304"/>
          </a:xfrm>
          <a:prstGeom prst="line">
            <a:avLst/>
          </a:prstGeom>
          <a:ln w="19050">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823458" y="3035808"/>
            <a:ext cx="640080" cy="36576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Bef>
                <a:spcPts val="0"/>
              </a:spcBef>
              <a:spcAft>
                <a:spcPts val="0"/>
              </a:spcAft>
            </a:pPr>
            <a:r>
              <a:rPr sz="1200" b="1" i="0">
                <a:solidFill>
                  <a:srgbClr val="2B2622"/>
                </a:solidFill>
                <a:latin typeface="Calibri"/>
              </a:rPr>
              <a:t>c</a:t>
            </a:r>
          </a:p>
        </p:txBody>
      </p:sp>
      <p:sp>
        <p:nvSpPr>
          <p:cNvPr id="20" name="diagram caption"/>
          <p:cNvSpPr txBox="1"/>
          <p:nvPr/>
        </p:nvSpPr>
        <p:spPr>
          <a:xfrm>
            <a:off x="2640076" y="3474720"/>
            <a:ext cx="6183884" cy="237744"/>
          </a:xfrm>
          <a:prstGeom prst="rect">
            <a:avLst/>
          </a:prstGeom>
          <a:noFill/>
        </p:spPr>
        <p:txBody>
          <a:bodyPr wrap="square" lIns="73152" tIns="36576" rIns="73152" bIns="36576" anchor="t">
            <a:noAutofit/>
          </a:bodyPr>
          <a:lstStyle/>
          <a:p>
            <a:pPr algn="ctr">
              <a:spcBef>
                <a:spcPts val="0"/>
              </a:spcBef>
              <a:spcAft>
                <a:spcPts val="0"/>
              </a:spcAft>
            </a:pPr>
            <a:r>
              <a:rPr sz="1000" b="0" i="1">
                <a:solidFill>
                  <a:srgbClr val="6E655C"/>
                </a:solidFill>
                <a:latin typeface="Calibri"/>
              </a:rPr>
              <a:t>result: 'a, b, and c'</a:t>
            </a:r>
          </a:p>
        </p:txBody>
      </p:sp>
      <p:sp>
        <p:nvSpPr>
          <p:cNvPr id="21"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Slices and join turn a list into a sentence</a:t>
            </a:r>
          </a:p>
        </p:txBody>
      </p:sp>
      <p:sp>
        <p:nvSpPr>
          <p:cNvPr id="22"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43 / 49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Practice Programs: Coin Flip Streaks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Flip a coin 100 times, look for six equal results in a row, and repeat to estimate how often that happens.</a:t>
            </a:r>
          </a:p>
        </p:txBody>
      </p:sp>
      <p:sp>
        <p:nvSpPr>
          <p:cNvPr id="5" name="code"/>
          <p:cNvSpPr/>
          <p:nvPr/>
        </p:nvSpPr>
        <p:spPr>
          <a:xfrm>
            <a:off x="365760" y="960120"/>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9C0FF"/>
                </a:solidFill>
                <a:latin typeface="Courier New"/>
              </a:rPr>
              <a:t>6</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streaks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0</a:t>
            </a:r>
          </a:p>
          <a:p>
            <a:pPr algn="l">
              <a:spcBef>
                <a:spcPts val="0"/>
              </a:spcBef>
              <a:spcAft>
                <a:spcPts val="0"/>
              </a:spcAft>
            </a:pPr>
            <a:r>
              <a:rPr sz="1100" b="1" i="0">
                <a:solidFill>
                  <a:srgbClr val="7EE787"/>
                </a:solidFill>
                <a:latin typeface="Courier New"/>
              </a:rPr>
              <a:t>&gt;&gt;&gt;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experiment</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10000</a:t>
            </a:r>
            <a:r>
              <a:rPr sz="1100" b="0" i="0">
                <a:solidFill>
                  <a:srgbClr val="E6EDF3"/>
                </a:solidFill>
                <a:latin typeface="Courier New"/>
              </a:rPr>
              <a:t>)</a:t>
            </a:r>
            <a:r>
              <a:rPr sz="1100" b="0" i="0">
                <a:solidFill>
                  <a:srgbClr val="E6EDF3"/>
                </a:solidFill>
                <a:latin typeface="Courier New"/>
              </a:rPr>
              <a:t>:</a:t>
            </a:r>
          </a:p>
        </p:txBody>
      </p:sp>
      <p:sp>
        <p:nvSpPr>
          <p:cNvPr id="6" name="Rectangle 5"/>
          <p:cNvSpPr/>
          <p:nvPr/>
        </p:nvSpPr>
        <p:spPr>
          <a:xfrm>
            <a:off x="5321808" y="960120"/>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anation"/>
          <p:cNvSpPr txBox="1"/>
          <p:nvPr/>
        </p:nvSpPr>
        <p:spPr>
          <a:xfrm>
            <a:off x="5285232" y="960120"/>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The experiment is repeated 10,000 times; streaks counts the experiments that contain a run of six.</a:t>
            </a:r>
          </a:p>
        </p:txBody>
      </p:sp>
      <p:sp>
        <p:nvSpPr>
          <p:cNvPr id="8" name="code"/>
          <p:cNvSpPr/>
          <p:nvPr/>
        </p:nvSpPr>
        <p:spPr>
          <a:xfrm>
            <a:off x="365760" y="1850136"/>
            <a:ext cx="4937760" cy="816864"/>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flips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choice</a:t>
            </a:r>
            <a:r>
              <a:rPr sz="1100" b="0" i="0">
                <a:solidFill>
                  <a:srgbClr val="E6EDF3"/>
                </a:solidFill>
                <a:latin typeface="Courier New"/>
              </a:rPr>
              <a:t>(</a:t>
            </a:r>
            <a:r>
              <a:rPr sz="1100" b="0" i="0">
                <a:solidFill>
                  <a:srgbClr val="A5D6FF"/>
                </a:solidFill>
                <a:latin typeface="Courier New"/>
              </a:rPr>
              <a:t>'HT'</a:t>
            </a:r>
            <a:r>
              <a:rPr sz="1100" b="0" i="0">
                <a:solidFill>
                  <a:srgbClr val="E6EDF3"/>
                </a:solidFill>
                <a:latin typeface="Courier New"/>
              </a:rPr>
              <a:t>)</a:t>
            </a:r>
            <a:r>
              <a:rPr sz="1100" b="0" i="0">
                <a:solidFill>
                  <a:srgbClr val="E6EDF3"/>
                </a:solidFill>
                <a:latin typeface="Courier New"/>
              </a:rPr>
              <a:t> </a:t>
            </a:r>
            <a:r>
              <a:rPr sz="1100" b="0" i="0">
                <a:solidFill>
                  <a:srgbClr val="FF7B72"/>
                </a:solidFill>
                <a:latin typeface="Courier New"/>
              </a:rPr>
              <a:t>for</a:t>
            </a:r>
            <a:r>
              <a:rPr sz="1100" b="0" i="0">
                <a:solidFill>
                  <a:srgbClr val="E6EDF3"/>
                </a:solidFill>
                <a:latin typeface="Courier New"/>
              </a:rPr>
              <a:t> </a:t>
            </a:r>
            <a:r>
              <a:rPr sz="1100" b="0" i="0">
                <a:solidFill>
                  <a:srgbClr val="E6EDF3"/>
                </a:solidFill>
                <a:latin typeface="Courier New"/>
              </a:rPr>
              <a:t>_</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D2A8FF"/>
                </a:solidFill>
                <a:latin typeface="Courier New"/>
              </a:rPr>
              <a:t>range</a:t>
            </a:r>
            <a:r>
              <a:rPr sz="1100" b="0" i="0">
                <a:solidFill>
                  <a:srgbClr val="E6EDF3"/>
                </a:solidFill>
                <a:latin typeface="Courier New"/>
              </a:rPr>
              <a:t>(</a:t>
            </a:r>
            <a:r>
              <a:rPr sz="1100" b="0" i="0">
                <a:solidFill>
                  <a:srgbClr val="79C0FF"/>
                </a:solidFill>
                <a:latin typeface="Courier New"/>
              </a:rPr>
              <a:t>100</a:t>
            </a:r>
            <a:r>
              <a:rPr sz="1100" b="0" i="0">
                <a:solidFill>
                  <a:srgbClr val="E6EDF3"/>
                </a:solidFill>
                <a:latin typeface="Courier New"/>
              </a:rPr>
              <a: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E6EDF3"/>
                </a:solidFill>
                <a:latin typeface="Courier New"/>
              </a:rPr>
              <a:t>flips</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FF7B72"/>
                </a:solidFill>
                <a:latin typeface="Courier New"/>
              </a:rPr>
              <a:t>if</a:t>
            </a:r>
            <a:r>
              <a:rPr sz="1100" b="0" i="0">
                <a:solidFill>
                  <a:srgbClr val="E6EDF3"/>
                </a:solidFill>
                <a:latin typeface="Courier New"/>
              </a:rPr>
              <a:t> </a:t>
            </a:r>
            <a:r>
              <a:rPr sz="1100" b="0" i="0">
                <a:solidFill>
                  <a:srgbClr val="A5D6FF"/>
                </a:solidFill>
                <a:latin typeface="Courier New"/>
              </a:rPr>
              <a:t>'HHHHHH'</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text</a:t>
            </a:r>
            <a:r>
              <a:rPr sz="1100" b="0" i="0">
                <a:solidFill>
                  <a:srgbClr val="E6EDF3"/>
                </a:solidFill>
                <a:latin typeface="Courier New"/>
              </a:rPr>
              <a:t> </a:t>
            </a:r>
            <a:r>
              <a:rPr sz="1100" b="0" i="0">
                <a:solidFill>
                  <a:srgbClr val="FF7B72"/>
                </a:solidFill>
                <a:latin typeface="Courier New"/>
              </a:rPr>
              <a:t>or</a:t>
            </a:r>
            <a:r>
              <a:rPr sz="1100" b="0" i="0">
                <a:solidFill>
                  <a:srgbClr val="E6EDF3"/>
                </a:solidFill>
                <a:latin typeface="Courier New"/>
              </a:rPr>
              <a:t> </a:t>
            </a:r>
            <a:r>
              <a:rPr sz="1100" b="0" i="0">
                <a:solidFill>
                  <a:srgbClr val="A5D6FF"/>
                </a:solidFill>
                <a:latin typeface="Courier New"/>
              </a:rPr>
              <a:t>'TTTTTT'</a:t>
            </a:r>
            <a:r>
              <a:rPr sz="1100" b="0" i="0">
                <a:solidFill>
                  <a:srgbClr val="E6EDF3"/>
                </a:solidFill>
                <a:latin typeface="Courier New"/>
              </a:rPr>
              <a:t> </a:t>
            </a:r>
            <a:r>
              <a:rPr sz="1100" b="0" i="0">
                <a:solidFill>
                  <a:srgbClr val="FF7B72"/>
                </a:solidFill>
                <a:latin typeface="Courier New"/>
              </a:rPr>
              <a:t>in</a:t>
            </a:r>
            <a:r>
              <a:rPr sz="1100" b="0" i="0">
                <a:solidFill>
                  <a:srgbClr val="E6EDF3"/>
                </a:solidFill>
                <a:latin typeface="Courier New"/>
              </a:rPr>
              <a:t> </a:t>
            </a:r>
            <a:r>
              <a:rPr sz="1100" b="0" i="0">
                <a:solidFill>
                  <a:srgbClr val="E6EDF3"/>
                </a:solidFill>
                <a:latin typeface="Courier New"/>
              </a:rPr>
              <a:t>text</a:t>
            </a:r>
            <a:r>
              <a:rPr sz="1100" b="0" i="0">
                <a:solidFill>
                  <a:srgbClr val="E6EDF3"/>
                </a:solidFill>
                <a:latin typeface="Courier New"/>
              </a:rPr>
              <a:t>:</a:t>
            </a:r>
          </a:p>
          <a:p>
            <a:pPr algn="l">
              <a:spcBef>
                <a:spcPts val="0"/>
              </a:spcBef>
              <a:spcAft>
                <a:spcPts val="0"/>
              </a:spcAft>
            </a:pPr>
            <a:r>
              <a:rPr sz="1100" b="1" i="0">
                <a:solidFill>
                  <a:srgbClr val="7EE787"/>
                </a:solidFill>
                <a:latin typeface="Courier New"/>
              </a:rPr>
              <a:t>&gt;&gt;&gt; </a:t>
            </a:r>
            <a:r>
              <a:rPr sz="1100" b="0" i="0">
                <a:solidFill>
                  <a:srgbClr val="E6EDF3"/>
                </a:solidFill>
                <a:latin typeface="Courier New"/>
              </a:rPr>
              <a:t>        </a:t>
            </a:r>
            <a:r>
              <a:rPr sz="1100" b="0" i="0">
                <a:solidFill>
                  <a:srgbClr val="E6EDF3"/>
                </a:solidFill>
                <a:latin typeface="Courier New"/>
              </a:rPr>
              <a:t>streaks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p>
        </p:txBody>
      </p:sp>
      <p:sp>
        <p:nvSpPr>
          <p:cNvPr id="9" name="Rectangle 8"/>
          <p:cNvSpPr/>
          <p:nvPr/>
        </p:nvSpPr>
        <p:spPr>
          <a:xfrm>
            <a:off x="5321808" y="1850136"/>
            <a:ext cx="45720" cy="816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285232" y="1850136"/>
            <a:ext cx="3538728" cy="816864"/>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One experiment is a list of 100 random choices. Joined into text, six equal letters in a row are easy to find.</a:t>
            </a:r>
          </a:p>
        </p:txBody>
      </p:sp>
      <p:sp>
        <p:nvSpPr>
          <p:cNvPr id="11" name="code"/>
          <p:cNvSpPr/>
          <p:nvPr/>
        </p:nvSpPr>
        <p:spPr>
          <a:xfrm>
            <a:off x="365760" y="2740152"/>
            <a:ext cx="4937760" cy="469392"/>
          </a:xfrm>
          <a:prstGeom prst="rect">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tIns="73152" rIns="73152" bIns="73152">
            <a:noAutofit/>
          </a:bodyPr>
          <a:lstStyle/>
          <a:p>
            <a:pPr algn="l">
              <a:spcBef>
                <a:spcPts val="0"/>
              </a:spcBef>
              <a:spcAft>
                <a:spcPts val="0"/>
              </a:spcAft>
            </a:pPr>
            <a:r>
              <a:rPr sz="1100" b="1" i="0">
                <a:solidFill>
                  <a:srgbClr val="7EE787"/>
                </a:solidFill>
                <a:latin typeface="Courier New"/>
              </a:rPr>
              <a:t>&gt;&gt;&gt; </a:t>
            </a:r>
            <a:r>
              <a:rPr sz="1100" b="0" i="0">
                <a:solidFill>
                  <a:srgbClr val="D2A8FF"/>
                </a:solidFill>
                <a:latin typeface="Courier New"/>
              </a:rPr>
              <a:t>print</a:t>
            </a:r>
            <a:r>
              <a:rPr sz="1100" b="0" i="0">
                <a:solidFill>
                  <a:srgbClr val="E6EDF3"/>
                </a:solidFill>
                <a:latin typeface="Courier New"/>
              </a:rPr>
              <a:t>(</a:t>
            </a:r>
            <a:r>
              <a:rPr sz="1100" b="0" i="0">
                <a:solidFill>
                  <a:srgbClr val="A5D6FF"/>
                </a:solidFill>
                <a:latin typeface="Courier New"/>
              </a:rPr>
              <a:t>'Streak of 6:'</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100</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streaks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10000</a:t>
            </a:r>
            <a:r>
              <a:rPr sz="1100" b="0" i="0">
                <a:solidFill>
                  <a:srgbClr val="E6EDF3"/>
                </a:solidFill>
                <a:latin typeface="Courier New"/>
              </a:rPr>
              <a:t>,</a:t>
            </a:r>
            <a:r>
              <a:rPr sz="1100" b="0" i="0">
                <a:solidFill>
                  <a:srgbClr val="E6EDF3"/>
                </a:solidFill>
                <a:latin typeface="Courier New"/>
              </a:rPr>
              <a:t> </a:t>
            </a:r>
            <a:r>
              <a:rPr sz="1100" b="0" i="0">
                <a:solidFill>
                  <a:srgbClr val="A5D6FF"/>
                </a:solidFill>
                <a:latin typeface="Courier New"/>
              </a:rPr>
              <a:t>'%'</a:t>
            </a:r>
            <a:r>
              <a:rPr sz="1100" b="0" i="0">
                <a:solidFill>
                  <a:srgbClr val="E6EDF3"/>
                </a:solidFill>
                <a:latin typeface="Courier New"/>
              </a:rPr>
              <a:t>)</a:t>
            </a:r>
          </a:p>
        </p:txBody>
      </p:sp>
      <p:sp>
        <p:nvSpPr>
          <p:cNvPr id="12" name="Rectangle 11"/>
          <p:cNvSpPr/>
          <p:nvPr/>
        </p:nvSpPr>
        <p:spPr>
          <a:xfrm>
            <a:off x="5321808" y="2740152"/>
            <a:ext cx="45720" cy="469392"/>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xplanation"/>
          <p:cNvSpPr txBox="1"/>
          <p:nvPr/>
        </p:nvSpPr>
        <p:spPr>
          <a:xfrm>
            <a:off x="5285232" y="2740152"/>
            <a:ext cx="3538728" cy="469392"/>
          </a:xfrm>
          <a:prstGeom prst="rect">
            <a:avLst/>
          </a:prstGeom>
          <a:noFill/>
        </p:spPr>
        <p:txBody>
          <a:bodyPr wrap="square" lIns="182880" tIns="36576" rIns="73152" bIns="36576" anchor="ctr">
            <a:noAutofit/>
          </a:bodyPr>
          <a:lstStyle/>
          <a:p>
            <a:pPr algn="l">
              <a:spcBef>
                <a:spcPts val="0"/>
              </a:spcBef>
              <a:spcAft>
                <a:spcPts val="0"/>
              </a:spcAft>
            </a:pPr>
            <a:r>
              <a:rPr sz="1150" b="0" i="0">
                <a:solidFill>
                  <a:srgbClr val="2B2622"/>
                </a:solidFill>
                <a:latin typeface="Calibri"/>
              </a:rPr>
              <a:t>The share of experiments with a streak. The chart splits the 10,000 experiments.</a:t>
            </a:r>
          </a:p>
        </p:txBody>
      </p:sp>
      <p:graphicFrame>
        <p:nvGraphicFramePr>
          <p:cNvPr id="14" name="result table" descr="Result table: the estimate -&gt; Streak of 6: 81.48 %"/>
          <p:cNvGraphicFramePr>
            <a:graphicFrameLocks noGrp="1"/>
          </p:cNvGraphicFramePr>
          <p:nvPr/>
        </p:nvGraphicFramePr>
        <p:xfrm>
          <a:off x="365760" y="3319272"/>
          <a:ext cx="2688335" cy="457200"/>
        </p:xfrm>
        <a:graphic>
          <a:graphicData uri="http://schemas.openxmlformats.org/drawingml/2006/table">
            <a:tbl>
              <a:tblPr firstRow="1">
                <a:tableStyleId>{5C22544A-7EE6-4342-B048-85BDC9FD1C3A}</a:tableStyleId>
              </a:tblPr>
              <a:tblGrid>
                <a:gridCol w="963168"/>
                <a:gridCol w="1725167"/>
              </a:tblGrid>
              <a:tr h="228600">
                <a:tc>
                  <a:txBody>
                    <a:bodyPr wrap="none"/>
                    <a:lstStyle/>
                    <a:p>
                      <a:r>
                        <a:rPr sz="1000" b="1">
                          <a:solidFill>
                            <a:srgbClr val="FFFFFF"/>
                          </a:solidFill>
                          <a:latin typeface="Calibri"/>
                        </a:rPr>
                        <a:t>printed</a:t>
                      </a:r>
                    </a:p>
                  </a:txBody>
                  <a:tcPr marL="82296" marR="82296" marT="22860" marB="22860" anchor="ctr">
                    <a:solidFill>
                      <a:srgbClr val="2F6D62"/>
                    </a:solidFill>
                  </a:tcPr>
                </a:tc>
                <a:tc>
                  <a:txBody>
                    <a:bodyPr wrap="none"/>
                    <a:lstStyle/>
                    <a:p>
                      <a:r>
                        <a:rPr sz="1000" b="1">
                          <a:solidFill>
                            <a:srgbClr val="FFFFFF"/>
                          </a:solidFill>
                          <a:latin typeface="Calibri"/>
                        </a:rPr>
                        <a:t>result</a:t>
                      </a:r>
                    </a:p>
                  </a:txBody>
                  <a:tcPr marL="82296" marR="82296" marT="22860" marB="22860" anchor="ctr">
                    <a:solidFill>
                      <a:srgbClr val="2F6D62"/>
                    </a:solidFill>
                  </a:tcPr>
                </a:tc>
              </a:tr>
              <a:tr h="228600">
                <a:tc>
                  <a:txBody>
                    <a:bodyPr wrap="none"/>
                    <a:lstStyle/>
                    <a:p>
                      <a:r>
                        <a:rPr sz="1000" b="0">
                          <a:solidFill>
                            <a:srgbClr val="2B2622"/>
                          </a:solidFill>
                          <a:latin typeface="Calibri"/>
                        </a:rPr>
                        <a:t>the estimate</a:t>
                      </a:r>
                    </a:p>
                  </a:txBody>
                  <a:tcPr marL="82296" marR="82296" marT="22860" marB="22860" anchor="ctr">
                    <a:solidFill>
                      <a:srgbClr val="FFFFFF"/>
                    </a:solidFill>
                  </a:tcPr>
                </a:tc>
                <a:tc>
                  <a:txBody>
                    <a:bodyPr wrap="none"/>
                    <a:lstStyle/>
                    <a:p>
                      <a:r>
                        <a:rPr sz="1000" b="0">
                          <a:solidFill>
                            <a:srgbClr val="2B2622"/>
                          </a:solidFill>
                          <a:latin typeface="Courier New"/>
                        </a:rPr>
                        <a:t>Streak of 6: 81.48 %</a:t>
                      </a:r>
                    </a:p>
                  </a:txBody>
                  <a:tcPr marL="82296" marR="82296" marT="22860" marB="22860" anchor="ctr">
                    <a:solidFill>
                      <a:srgbClr val="FFFFFF"/>
                    </a:solidFill>
                  </a:tcPr>
                </a:tc>
              </a:tr>
            </a:tbl>
          </a:graphicData>
        </a:graphic>
      </p:graphicFrame>
      <p:graphicFrame>
        <p:nvGraphicFramePr>
          <p:cNvPr id="15" name="result chart" descr="Chart: 10,000 experiments - with a streak of 6 8148, without 1852"/>
          <p:cNvGraphicFramePr>
            <a:graphicFrameLocks noGrp="1"/>
          </p:cNvGraphicFramePr>
          <p:nvPr/>
        </p:nvGraphicFramePr>
        <p:xfrm>
          <a:off x="3236976" y="3300984"/>
          <a:ext cx="5586984" cy="1179576"/>
        </p:xfrm>
        <a:graphic>
          <a:graphicData uri="http://schemas.openxmlformats.org/drawingml/2006/chart">
            <c:chart xmlns:c="http://schemas.openxmlformats.org/drawingml/2006/chart" r:id="rId2"/>
          </a:graphicData>
        </a:graphic>
      </p:graphicFrame>
      <p:sp>
        <p:nvSpPr>
          <p:cNvPr id="16"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list of random choices measures what intuition only guesses</a:t>
            </a:r>
          </a:p>
        </p:txBody>
      </p:sp>
      <p:sp>
        <p:nvSpPr>
          <p:cNvPr id="17"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44 / 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Everyday pictures: summary and practice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Each concept next to something from daily life; keep the picture, and the code will make sense.</a:t>
            </a:r>
          </a:p>
        </p:txBody>
      </p:sp>
      <p:sp>
        <p:nvSpPr>
          <p:cNvPr id="5" name="analogy"/>
          <p:cNvSpPr/>
          <p:nvPr/>
        </p:nvSpPr>
        <p:spPr>
          <a:xfrm>
            <a:off x="3657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Summary</a:t>
            </a:r>
          </a:p>
          <a:p>
            <a:pPr algn="l">
              <a:spcBef>
                <a:spcPts val="0"/>
              </a:spcBef>
              <a:spcAft>
                <a:spcPts val="200"/>
              </a:spcAft>
            </a:pPr>
            <a:r>
              <a:rPr sz="1200" b="0" i="0">
                <a:solidFill>
                  <a:srgbClr val="2B2622"/>
                </a:solidFill>
                <a:latin typeface="Calibri"/>
              </a:rPr>
              <a:t>The postcard from a trip: a few lines that bring back everything you saw.</a:t>
            </a:r>
          </a:p>
        </p:txBody>
      </p:sp>
      <p:sp>
        <p:nvSpPr>
          <p:cNvPr id="6" name="analogy"/>
          <p:cNvSpPr/>
          <p:nvPr/>
        </p:nvSpPr>
        <p:spPr>
          <a:xfrm>
            <a:off x="4709160" y="118872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Practice Questions</a:t>
            </a:r>
          </a:p>
          <a:p>
            <a:pPr algn="l">
              <a:spcBef>
                <a:spcPts val="0"/>
              </a:spcBef>
              <a:spcAft>
                <a:spcPts val="200"/>
              </a:spcAft>
            </a:pPr>
            <a:r>
              <a:rPr sz="1200" b="0" i="0">
                <a:solidFill>
                  <a:srgbClr val="2B2622"/>
                </a:solidFill>
                <a:latin typeface="Calibri"/>
              </a:rPr>
              <a:t>Scales on a piano: small drills that test one finger movement at a time.</a:t>
            </a:r>
          </a:p>
        </p:txBody>
      </p:sp>
      <p:sp>
        <p:nvSpPr>
          <p:cNvPr id="7" name="analogy"/>
          <p:cNvSpPr/>
          <p:nvPr/>
        </p:nvSpPr>
        <p:spPr>
          <a:xfrm>
            <a:off x="3657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Practice Programs</a:t>
            </a:r>
          </a:p>
          <a:p>
            <a:pPr algn="l">
              <a:spcBef>
                <a:spcPts val="0"/>
              </a:spcBef>
              <a:spcAft>
                <a:spcPts val="200"/>
              </a:spcAft>
            </a:pPr>
            <a:r>
              <a:rPr sz="1200" b="0" i="0">
                <a:solidFill>
                  <a:srgbClr val="2B2622"/>
                </a:solidFill>
                <a:latin typeface="Calibri"/>
              </a:rPr>
              <a:t>A first full piece after the scales: all your skills together make a real tune.</a:t>
            </a:r>
          </a:p>
        </p:txBody>
      </p:sp>
      <p:sp>
        <p:nvSpPr>
          <p:cNvPr id="8" name="analogy"/>
          <p:cNvSpPr/>
          <p:nvPr/>
        </p:nvSpPr>
        <p:spPr>
          <a:xfrm>
            <a:off x="4709160" y="2194560"/>
            <a:ext cx="41148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A Short Program: Magic 8 Ball with a List</a:t>
            </a:r>
          </a:p>
          <a:p>
            <a:pPr algn="l">
              <a:spcBef>
                <a:spcPts val="0"/>
              </a:spcBef>
              <a:spcAft>
                <a:spcPts val="200"/>
              </a:spcAft>
            </a:pPr>
            <a:r>
              <a:rPr sz="1200" b="0" i="0">
                <a:solidFill>
                  <a:srgbClr val="2B2622"/>
                </a:solidFill>
                <a:latin typeface="Calibri"/>
              </a:rPr>
              <a:t>A box of answer cards: a new answer is one more card, not a new machine.</a:t>
            </a:r>
          </a:p>
        </p:txBody>
      </p:sp>
      <p:sp>
        <p:nvSpPr>
          <p:cNvPr id="9" name="analogy"/>
          <p:cNvSpPr/>
          <p:nvPr/>
        </p:nvSpPr>
        <p:spPr>
          <a:xfrm>
            <a:off x="365760" y="3200400"/>
            <a:ext cx="8458200" cy="896112"/>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noAutofit/>
          </a:bodyPr>
          <a:lstStyle/>
          <a:p>
            <a:pPr algn="l">
              <a:spcBef>
                <a:spcPts val="0"/>
              </a:spcBef>
              <a:spcAft>
                <a:spcPts val="200"/>
              </a:spcAft>
            </a:pPr>
            <a:r>
              <a:rPr sz="1050" b="1" i="0">
                <a:solidFill>
                  <a:srgbClr val="D97A14"/>
                </a:solidFill>
                <a:latin typeface="Calibri"/>
              </a:rPr>
              <a:t>ANALOGY  </a:t>
            </a:r>
            <a:r>
              <a:rPr sz="1250" b="1" i="0">
                <a:solidFill>
                  <a:srgbClr val="2F6D62"/>
                </a:solidFill>
                <a:latin typeface="Calibri"/>
              </a:rPr>
              <a:t>A Short Program: The Matrix Screensaver</a:t>
            </a:r>
          </a:p>
          <a:p>
            <a:pPr algn="l">
              <a:spcBef>
                <a:spcPts val="0"/>
              </a:spcBef>
              <a:spcAft>
                <a:spcPts val="200"/>
              </a:spcAft>
            </a:pPr>
            <a:r>
              <a:rPr sz="1200" b="0" i="0">
                <a:solidFill>
                  <a:srgbClr val="2B2622"/>
                </a:solidFill>
                <a:latin typeface="Calibri"/>
              </a:rPr>
              <a:t>A row of rain gauges: each one counts down how much rain is left to fall in its column.</a:t>
            </a:r>
          </a:p>
        </p:txBody>
      </p:sp>
      <p:sp>
        <p:nvSpPr>
          <p:cNvPr id="10"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A postcard, scales and a tune</a:t>
            </a:r>
          </a:p>
        </p:txBody>
      </p:sp>
      <p:sp>
        <p:nvSpPr>
          <p:cNvPr id="11"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45 / 49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Summary: who changes, who copies, who shares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Ask of every operation: does it change the list, return a new list, or share one?</a:t>
            </a:r>
          </a:p>
        </p:txBody>
      </p:sp>
      <p:graphicFrame>
        <p:nvGraphicFramePr>
          <p:cNvPr id="5" name="result table" descr="Result table: append, insert, remove, pop, del -&gt; None (pop: the item); sort(), random.shuffle() -&gt; None; sorted(), a slice, + and * -&gt; A new list; eggs = spam -&gt; Nothing is copied; copy.copy(grid) -&gt; Inner lists shared; copy.deepcopy(grid) -&gt; Nothing shared"/>
          <p:cNvGraphicFramePr>
            <a:graphicFrameLocks noGrp="1"/>
          </p:cNvGraphicFramePr>
          <p:nvPr/>
        </p:nvGraphicFramePr>
        <p:xfrm>
          <a:off x="365760" y="1188720"/>
          <a:ext cx="8458198" cy="2633472"/>
        </p:xfrm>
        <a:graphic>
          <a:graphicData uri="http://schemas.openxmlformats.org/drawingml/2006/table">
            <a:tbl>
              <a:tblPr firstRow="1">
                <a:tableStyleId>{5C22544A-7EE6-4342-B048-85BDC9FD1C3A}</a:tableStyleId>
              </a:tblPr>
              <a:tblGrid>
                <a:gridCol w="3801188"/>
                <a:gridCol w="2560059"/>
                <a:gridCol w="2096951"/>
              </a:tblGrid>
              <a:tr h="329184">
                <a:tc>
                  <a:txBody>
                    <a:bodyPr wrap="none"/>
                    <a:lstStyle/>
                    <a:p>
                      <a:r>
                        <a:rPr sz="1200" b="1">
                          <a:solidFill>
                            <a:srgbClr val="FFFFFF"/>
                          </a:solidFill>
                          <a:latin typeface="Calibri"/>
                        </a:rPr>
                        <a:t>Operation</a:t>
                      </a:r>
                    </a:p>
                  </a:txBody>
                  <a:tcPr marL="82296" marR="82296" marT="22860" marB="22860" anchor="ctr">
                    <a:solidFill>
                      <a:srgbClr val="2F6D62"/>
                    </a:solidFill>
                  </a:tcPr>
                </a:tc>
                <a:tc>
                  <a:txBody>
                    <a:bodyPr wrap="none"/>
                    <a:lstStyle/>
                    <a:p>
                      <a:r>
                        <a:rPr sz="1200" b="1">
                          <a:solidFill>
                            <a:srgbClr val="FFFFFF"/>
                          </a:solidFill>
                          <a:latin typeface="Calibri"/>
                        </a:rPr>
                        <a:t>What happens to the list</a:t>
                      </a:r>
                    </a:p>
                  </a:txBody>
                  <a:tcPr marL="82296" marR="82296" marT="22860" marB="22860" anchor="ctr">
                    <a:solidFill>
                      <a:srgbClr val="2F6D62"/>
                    </a:solidFill>
                  </a:tcPr>
                </a:tc>
                <a:tc>
                  <a:txBody>
                    <a:bodyPr wrap="none"/>
                    <a:lstStyle/>
                    <a:p>
                      <a:r>
                        <a:rPr sz="1200" b="1">
                          <a:solidFill>
                            <a:srgbClr val="FFFFFF"/>
                          </a:solidFill>
                          <a:latin typeface="Calibri"/>
                        </a:rPr>
                        <a:t>What you get back</a:t>
                      </a:r>
                    </a:p>
                  </a:txBody>
                  <a:tcPr marL="82296" marR="82296" marT="22860" marB="22860" anchor="ctr">
                    <a:solidFill>
                      <a:srgbClr val="2F6D62"/>
                    </a:solidFill>
                  </a:tcPr>
                </a:tc>
              </a:tr>
              <a:tr h="329184">
                <a:tc>
                  <a:txBody>
                    <a:bodyPr wrap="none"/>
                    <a:lstStyle/>
                    <a:p>
                      <a:r>
                        <a:rPr sz="1200" b="0">
                          <a:solidFill>
                            <a:srgbClr val="2B2622"/>
                          </a:solidFill>
                          <a:latin typeface="Courier New"/>
                        </a:rPr>
                        <a:t>append, insert, remove, pop, del</a:t>
                      </a:r>
                    </a:p>
                  </a:txBody>
                  <a:tcPr marL="82296" marR="82296" marT="22860" marB="22860" anchor="ctr">
                    <a:solidFill>
                      <a:srgbClr val="FFFFFF"/>
                    </a:solidFill>
                  </a:tcPr>
                </a:tc>
                <a:tc>
                  <a:txBody>
                    <a:bodyPr wrap="none"/>
                    <a:lstStyle/>
                    <a:p>
                      <a:r>
                        <a:rPr sz="1200" b="0">
                          <a:solidFill>
                            <a:srgbClr val="2B2622"/>
                          </a:solidFill>
                          <a:latin typeface="Calibri"/>
                        </a:rPr>
                        <a:t>Changes the list in place</a:t>
                      </a:r>
                    </a:p>
                  </a:txBody>
                  <a:tcPr marL="82296" marR="82296" marT="22860" marB="22860" anchor="ctr">
                    <a:solidFill>
                      <a:srgbClr val="FFFFFF"/>
                    </a:solidFill>
                  </a:tcPr>
                </a:tc>
                <a:tc>
                  <a:txBody>
                    <a:bodyPr wrap="none"/>
                    <a:lstStyle/>
                    <a:p>
                      <a:r>
                        <a:rPr sz="1200" b="0">
                          <a:solidFill>
                            <a:srgbClr val="2B2622"/>
                          </a:solidFill>
                          <a:latin typeface="Calibri"/>
                        </a:rPr>
                        <a:t>None (pop: the item)</a:t>
                      </a:r>
                    </a:p>
                  </a:txBody>
                  <a:tcPr marL="82296" marR="82296" marT="22860" marB="22860" anchor="ctr">
                    <a:solidFill>
                      <a:srgbClr val="FFFFFF"/>
                    </a:solidFill>
                  </a:tcPr>
                </a:tc>
              </a:tr>
              <a:tr h="329184">
                <a:tc>
                  <a:txBody>
                    <a:bodyPr wrap="none"/>
                    <a:lstStyle/>
                    <a:p>
                      <a:r>
                        <a:rPr sz="1200" b="0">
                          <a:solidFill>
                            <a:srgbClr val="2B2622"/>
                          </a:solidFill>
                          <a:latin typeface="Courier New"/>
                        </a:rPr>
                        <a:t>sort(), random.shuffle()</a:t>
                      </a:r>
                    </a:p>
                  </a:txBody>
                  <a:tcPr marL="82296" marR="82296" marT="22860" marB="22860" anchor="ctr">
                    <a:solidFill>
                      <a:srgbClr val="F1ECE2"/>
                    </a:solidFill>
                  </a:tcPr>
                </a:tc>
                <a:tc>
                  <a:txBody>
                    <a:bodyPr wrap="none"/>
                    <a:lstStyle/>
                    <a:p>
                      <a:r>
                        <a:rPr sz="1200" b="0">
                          <a:solidFill>
                            <a:srgbClr val="2B2622"/>
                          </a:solidFill>
                          <a:latin typeface="Calibri"/>
                        </a:rPr>
                        <a:t>Changes the list in place</a:t>
                      </a:r>
                    </a:p>
                  </a:txBody>
                  <a:tcPr marL="82296" marR="82296" marT="22860" marB="22860" anchor="ctr">
                    <a:solidFill>
                      <a:srgbClr val="F1ECE2"/>
                    </a:solidFill>
                  </a:tcPr>
                </a:tc>
                <a:tc>
                  <a:txBody>
                    <a:bodyPr wrap="none"/>
                    <a:lstStyle/>
                    <a:p>
                      <a:r>
                        <a:rPr sz="1200" b="0">
                          <a:solidFill>
                            <a:srgbClr val="2B2622"/>
                          </a:solidFill>
                          <a:latin typeface="Calibri"/>
                        </a:rPr>
                        <a:t>None</a:t>
                      </a:r>
                    </a:p>
                  </a:txBody>
                  <a:tcPr marL="82296" marR="82296" marT="22860" marB="22860" anchor="ctr">
                    <a:solidFill>
                      <a:srgbClr val="F1ECE2"/>
                    </a:solidFill>
                  </a:tcPr>
                </a:tc>
              </a:tr>
              <a:tr h="329184">
                <a:tc>
                  <a:txBody>
                    <a:bodyPr wrap="none"/>
                    <a:lstStyle/>
                    <a:p>
                      <a:r>
                        <a:rPr sz="1200" b="0">
                          <a:solidFill>
                            <a:srgbClr val="2B2622"/>
                          </a:solidFill>
                          <a:latin typeface="Courier New"/>
                        </a:rPr>
                        <a:t>sorted(), a slice, + and *</a:t>
                      </a:r>
                    </a:p>
                  </a:txBody>
                  <a:tcPr marL="82296" marR="82296" marT="22860" marB="22860" anchor="ctr">
                    <a:solidFill>
                      <a:srgbClr val="FFFFFF"/>
                    </a:solidFill>
                  </a:tcPr>
                </a:tc>
                <a:tc>
                  <a:txBody>
                    <a:bodyPr wrap="none"/>
                    <a:lstStyle/>
                    <a:p>
                      <a:r>
                        <a:rPr sz="1200" b="0">
                          <a:solidFill>
                            <a:srgbClr val="2B2622"/>
                          </a:solidFill>
                          <a:latin typeface="Calibri"/>
                        </a:rPr>
                        <a:t>Leaves the list alone</a:t>
                      </a:r>
                    </a:p>
                  </a:txBody>
                  <a:tcPr marL="82296" marR="82296" marT="22860" marB="22860" anchor="ctr">
                    <a:solidFill>
                      <a:srgbClr val="FFFFFF"/>
                    </a:solidFill>
                  </a:tcPr>
                </a:tc>
                <a:tc>
                  <a:txBody>
                    <a:bodyPr wrap="none"/>
                    <a:lstStyle/>
                    <a:p>
                      <a:r>
                        <a:rPr sz="1200" b="0">
                          <a:solidFill>
                            <a:srgbClr val="2B2622"/>
                          </a:solidFill>
                          <a:latin typeface="Calibri"/>
                        </a:rPr>
                        <a:t>A new list</a:t>
                      </a:r>
                    </a:p>
                  </a:txBody>
                  <a:tcPr marL="82296" marR="82296" marT="22860" marB="22860" anchor="ctr">
                    <a:solidFill>
                      <a:srgbClr val="FFFFFF"/>
                    </a:solidFill>
                  </a:tcPr>
                </a:tc>
              </a:tr>
              <a:tr h="329184">
                <a:tc>
                  <a:txBody>
                    <a:bodyPr wrap="none"/>
                    <a:lstStyle/>
                    <a:p>
                      <a:r>
                        <a:rPr sz="1200" b="0">
                          <a:solidFill>
                            <a:srgbClr val="2B2622"/>
                          </a:solidFill>
                          <a:latin typeface="Courier New"/>
                        </a:rPr>
                        <a:t>eggs = spam</a:t>
                      </a:r>
                    </a:p>
                  </a:txBody>
                  <a:tcPr marL="82296" marR="82296" marT="22860" marB="22860" anchor="ctr">
                    <a:solidFill>
                      <a:srgbClr val="F1ECE2"/>
                    </a:solidFill>
                  </a:tcPr>
                </a:tc>
                <a:tc>
                  <a:txBody>
                    <a:bodyPr wrap="none"/>
                    <a:lstStyle/>
                    <a:p>
                      <a:r>
                        <a:rPr sz="1200" b="0">
                          <a:solidFill>
                            <a:srgbClr val="2B2622"/>
                          </a:solidFill>
                          <a:latin typeface="Calibri"/>
                        </a:rPr>
                        <a:t>Shares one list</a:t>
                      </a:r>
                    </a:p>
                  </a:txBody>
                  <a:tcPr marL="82296" marR="82296" marT="22860" marB="22860" anchor="ctr">
                    <a:solidFill>
                      <a:srgbClr val="F1ECE2"/>
                    </a:solidFill>
                  </a:tcPr>
                </a:tc>
                <a:tc>
                  <a:txBody>
                    <a:bodyPr wrap="none"/>
                    <a:lstStyle/>
                    <a:p>
                      <a:r>
                        <a:rPr sz="1200" b="0">
                          <a:solidFill>
                            <a:srgbClr val="2B2622"/>
                          </a:solidFill>
                          <a:latin typeface="Calibri"/>
                        </a:rPr>
                        <a:t>Nothing is copied</a:t>
                      </a:r>
                    </a:p>
                  </a:txBody>
                  <a:tcPr marL="82296" marR="82296" marT="22860" marB="22860" anchor="ctr">
                    <a:solidFill>
                      <a:srgbClr val="F1ECE2"/>
                    </a:solidFill>
                  </a:tcPr>
                </a:tc>
              </a:tr>
              <a:tr h="329184">
                <a:tc>
                  <a:txBody>
                    <a:bodyPr wrap="none"/>
                    <a:lstStyle/>
                    <a:p>
                      <a:r>
                        <a:rPr sz="1200" b="0">
                          <a:solidFill>
                            <a:srgbClr val="2B2622"/>
                          </a:solidFill>
                          <a:latin typeface="Courier New"/>
                        </a:rPr>
                        <a:t>copy.copy(grid)</a:t>
                      </a:r>
                    </a:p>
                  </a:txBody>
                  <a:tcPr marL="82296" marR="82296" marT="22860" marB="22860" anchor="ctr">
                    <a:solidFill>
                      <a:srgbClr val="FFFFFF"/>
                    </a:solidFill>
                  </a:tcPr>
                </a:tc>
                <a:tc>
                  <a:txBody>
                    <a:bodyPr wrap="none"/>
                    <a:lstStyle/>
                    <a:p>
                      <a:r>
                        <a:rPr sz="1200" b="0">
                          <a:solidFill>
                            <a:srgbClr val="2B2622"/>
                          </a:solidFill>
                          <a:latin typeface="Calibri"/>
                        </a:rPr>
                        <a:t>New outer list</a:t>
                      </a:r>
                    </a:p>
                  </a:txBody>
                  <a:tcPr marL="82296" marR="82296" marT="22860" marB="22860" anchor="ctr">
                    <a:solidFill>
                      <a:srgbClr val="FFFFFF"/>
                    </a:solidFill>
                  </a:tcPr>
                </a:tc>
                <a:tc>
                  <a:txBody>
                    <a:bodyPr wrap="none"/>
                    <a:lstStyle/>
                    <a:p>
                      <a:r>
                        <a:rPr sz="1200" b="0">
                          <a:solidFill>
                            <a:srgbClr val="2B2622"/>
                          </a:solidFill>
                          <a:latin typeface="Calibri"/>
                        </a:rPr>
                        <a:t>Inner lists shared</a:t>
                      </a:r>
                    </a:p>
                  </a:txBody>
                  <a:tcPr marL="82296" marR="82296" marT="22860" marB="22860" anchor="ctr">
                    <a:solidFill>
                      <a:srgbClr val="FFFFFF"/>
                    </a:solidFill>
                  </a:tcPr>
                </a:tc>
              </a:tr>
              <a:tr h="329184">
                <a:tc>
                  <a:txBody>
                    <a:bodyPr wrap="none"/>
                    <a:lstStyle/>
                    <a:p>
                      <a:r>
                        <a:rPr sz="1200" b="0">
                          <a:solidFill>
                            <a:srgbClr val="2B2622"/>
                          </a:solidFill>
                          <a:latin typeface="Courier New"/>
                        </a:rPr>
                        <a:t>copy.deepcopy(grid)</a:t>
                      </a:r>
                    </a:p>
                  </a:txBody>
                  <a:tcPr marL="82296" marR="82296" marT="22860" marB="22860" anchor="ctr">
                    <a:solidFill>
                      <a:srgbClr val="F1ECE2"/>
                    </a:solidFill>
                  </a:tcPr>
                </a:tc>
                <a:tc>
                  <a:txBody>
                    <a:bodyPr wrap="none"/>
                    <a:lstStyle/>
                    <a:p>
                      <a:r>
                        <a:rPr sz="1200" b="0">
                          <a:solidFill>
                            <a:srgbClr val="2B2622"/>
                          </a:solidFill>
                          <a:latin typeface="Calibri"/>
                        </a:rPr>
                        <a:t>Every level copied</a:t>
                      </a:r>
                    </a:p>
                  </a:txBody>
                  <a:tcPr marL="82296" marR="82296" marT="22860" marB="22860" anchor="ctr">
                    <a:solidFill>
                      <a:srgbClr val="F1ECE2"/>
                    </a:solidFill>
                  </a:tcPr>
                </a:tc>
                <a:tc>
                  <a:txBody>
                    <a:bodyPr wrap="none"/>
                    <a:lstStyle/>
                    <a:p>
                      <a:r>
                        <a:rPr sz="1200" b="0">
                          <a:solidFill>
                            <a:srgbClr val="2B2622"/>
                          </a:solidFill>
                          <a:latin typeface="Calibri"/>
                        </a:rPr>
                        <a:t>Nothing shared</a:t>
                      </a:r>
                    </a:p>
                  </a:txBody>
                  <a:tcPr marL="82296" marR="82296" marT="22860" marB="22860" anchor="ctr">
                    <a:solidFill>
                      <a:srgbClr val="F1ECE2"/>
                    </a:solidFill>
                  </a:tcPr>
                </a:tc>
              </a:tr>
              <a:tr h="329184">
                <a:tc>
                  <a:txBody>
                    <a:bodyPr wrap="none"/>
                    <a:lstStyle/>
                    <a:p>
                      <a:r>
                        <a:rPr sz="1200" b="0">
                          <a:solidFill>
                            <a:srgbClr val="2B2622"/>
                          </a:solidFill>
                          <a:latin typeface="Courier New"/>
                        </a:rPr>
                        <a:t>for x in items: items.remove(x)</a:t>
                      </a:r>
                    </a:p>
                  </a:txBody>
                  <a:tcPr marL="82296" marR="82296" marT="22860" marB="22860" anchor="ctr">
                    <a:solidFill>
                      <a:srgbClr val="FFFFFF"/>
                    </a:solidFill>
                  </a:tcPr>
                </a:tc>
                <a:tc>
                  <a:txBody>
                    <a:bodyPr wrap="none"/>
                    <a:lstStyle/>
                    <a:p>
                      <a:r>
                        <a:rPr sz="1200" b="0">
                          <a:solidFill>
                            <a:srgbClr val="2B2622"/>
                          </a:solidFill>
                          <a:latin typeface="Calibri"/>
                        </a:rPr>
                        <a:t>Skips items</a:t>
                      </a:r>
                    </a:p>
                  </a:txBody>
                  <a:tcPr marL="82296" marR="82296" marT="22860" marB="22860" anchor="ctr">
                    <a:solidFill>
                      <a:srgbClr val="FFFFFF"/>
                    </a:solidFill>
                  </a:tcPr>
                </a:tc>
                <a:tc>
                  <a:txBody>
                    <a:bodyPr wrap="none"/>
                    <a:lstStyle/>
                    <a:p>
                      <a:r>
                        <a:rPr sz="1200" b="0">
                          <a:solidFill>
                            <a:srgbClr val="2B2622"/>
                          </a:solidFill>
                          <a:latin typeface="Calibri"/>
                        </a:rPr>
                        <a:t>Build a new list</a:t>
                      </a:r>
                    </a:p>
                  </a:txBody>
                  <a:tcPr marL="82296" marR="82296" marT="22860" marB="22860" anchor="ctr">
                    <a:solidFill>
                      <a:srgbClr val="FFFFFF"/>
                    </a:solidFill>
                  </a:tcPr>
                </a:tc>
              </a:tr>
            </a:tbl>
          </a:graphicData>
        </a:graphic>
      </p:graphicFrame>
      <p:sp>
        <p:nvSpPr>
          <p:cNvPr id="6"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Changes, copies or shares: ask it of every operation</a:t>
            </a:r>
          </a:p>
        </p:txBody>
      </p:sp>
      <p:sp>
        <p:nvSpPr>
          <p:cNvPr id="7"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46 / 49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Practice Questions and Practice Programs</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Try them before the next class; the course page has a question bank and the runnable code.</a:t>
            </a:r>
          </a:p>
        </p:txBody>
      </p:sp>
      <p:sp>
        <p:nvSpPr>
          <p:cNvPr id="5" name="heading"/>
          <p:cNvSpPr txBox="1"/>
          <p:nvPr/>
        </p:nvSpPr>
        <p:spPr>
          <a:xfrm>
            <a:off x="365760" y="1143000"/>
            <a:ext cx="4114800" cy="274320"/>
          </a:xfrm>
          <a:prstGeom prst="rect">
            <a:avLst/>
          </a:prstGeom>
          <a:noFill/>
        </p:spPr>
        <p:txBody>
          <a:bodyPr wrap="square" lIns="73152" tIns="36576" rIns="73152" bIns="36576" anchor="t">
            <a:noAutofit/>
          </a:bodyPr>
          <a:lstStyle/>
          <a:p>
            <a:pPr algn="l">
              <a:spcBef>
                <a:spcPts val="0"/>
              </a:spcBef>
              <a:spcAft>
                <a:spcPts val="0"/>
              </a:spcAft>
            </a:pPr>
            <a:r>
              <a:rPr sz="1400" b="1" i="0">
                <a:solidFill>
                  <a:srgbClr val="2F6D62"/>
                </a:solidFill>
                <a:latin typeface="Cambria"/>
              </a:rPr>
              <a:t>Practice Questions</a:t>
            </a:r>
          </a:p>
        </p:txBody>
      </p:sp>
      <p:sp>
        <p:nvSpPr>
          <p:cNvPr id="6" name="Rounded Rectangle 5"/>
          <p:cNvSpPr/>
          <p:nvPr/>
        </p:nvSpPr>
        <p:spPr>
          <a:xfrm>
            <a:off x="365760" y="1463040"/>
            <a:ext cx="4114800" cy="86868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noAutofit/>
          </a:bodyPr>
          <a:lstStyle/>
          <a:p>
            <a:pPr algn="l">
              <a:spcBef>
                <a:spcPts val="0"/>
              </a:spcBef>
              <a:spcAft>
                <a:spcPts val="0"/>
              </a:spcAft>
            </a:pPr>
            <a:r>
              <a:rPr sz="1200" b="0" i="0">
                <a:solidFill>
                  <a:srgbClr val="2B2622"/>
                </a:solidFill>
                <a:latin typeface="Calibri"/>
              </a:rPr>
              <a:t>What do spam[-1] and spam[1:3] return for the list ['cat', 'bat', 'rat', 'elephant']?</a:t>
            </a:r>
          </a:p>
        </p:txBody>
      </p:sp>
      <p:sp>
        <p:nvSpPr>
          <p:cNvPr id="7" name="Rounded Rectangle 6"/>
          <p:cNvSpPr/>
          <p:nvPr/>
        </p:nvSpPr>
        <p:spPr>
          <a:xfrm>
            <a:off x="365760" y="2423160"/>
            <a:ext cx="4114800" cy="86868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noAutofit/>
          </a:bodyPr>
          <a:lstStyle/>
          <a:p>
            <a:pPr algn="l">
              <a:spcBef>
                <a:spcPts val="0"/>
              </a:spcBef>
              <a:spcAft>
                <a:spcPts val="0"/>
              </a:spcAft>
            </a:pPr>
            <a:r>
              <a:rPr sz="1200" b="0" i="0">
                <a:solidFill>
                  <a:srgbClr val="2B2622"/>
                </a:solidFill>
                <a:latin typeface="Calibri"/>
              </a:rPr>
              <a:t>Why does 'for x in items: items.remove(x)' leave two items behind in a list of four?</a:t>
            </a:r>
          </a:p>
        </p:txBody>
      </p:sp>
      <p:sp>
        <p:nvSpPr>
          <p:cNvPr id="8" name="Rounded Rectangle 7"/>
          <p:cNvSpPr/>
          <p:nvPr/>
        </p:nvSpPr>
        <p:spPr>
          <a:xfrm>
            <a:off x="365760" y="3383280"/>
            <a:ext cx="4114800" cy="86868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noAutofit/>
          </a:bodyPr>
          <a:lstStyle/>
          <a:p>
            <a:pPr algn="l">
              <a:spcBef>
                <a:spcPts val="0"/>
              </a:spcBef>
              <a:spcAft>
                <a:spcPts val="0"/>
              </a:spcAft>
            </a:pPr>
            <a:r>
              <a:rPr sz="1200" b="0" i="0">
                <a:solidFill>
                  <a:srgbClr val="2B2622"/>
                </a:solidFill>
                <a:latin typeface="Calibri"/>
              </a:rPr>
              <a:t>After eggs = spam and eggs[0] = 9, what does spam[0] hold, and why?</a:t>
            </a:r>
          </a:p>
        </p:txBody>
      </p:sp>
      <p:sp>
        <p:nvSpPr>
          <p:cNvPr id="9" name="heading"/>
          <p:cNvSpPr txBox="1"/>
          <p:nvPr/>
        </p:nvSpPr>
        <p:spPr>
          <a:xfrm>
            <a:off x="4709160" y="1143000"/>
            <a:ext cx="4114800" cy="274320"/>
          </a:xfrm>
          <a:prstGeom prst="rect">
            <a:avLst/>
          </a:prstGeom>
          <a:noFill/>
        </p:spPr>
        <p:txBody>
          <a:bodyPr wrap="square" lIns="73152" tIns="36576" rIns="73152" bIns="36576" anchor="t">
            <a:noAutofit/>
          </a:bodyPr>
          <a:lstStyle/>
          <a:p>
            <a:pPr algn="l">
              <a:spcBef>
                <a:spcPts val="0"/>
              </a:spcBef>
              <a:spcAft>
                <a:spcPts val="0"/>
              </a:spcAft>
            </a:pPr>
            <a:r>
              <a:rPr sz="1400" b="1" i="0">
                <a:solidFill>
                  <a:srgbClr val="2F6D62"/>
                </a:solidFill>
                <a:latin typeface="Cambria"/>
              </a:rPr>
              <a:t>Practice Programs</a:t>
            </a:r>
          </a:p>
        </p:txBody>
      </p:sp>
      <p:sp>
        <p:nvSpPr>
          <p:cNvPr id="10" name="Rounded Rectangle 9"/>
          <p:cNvSpPr/>
          <p:nvPr/>
        </p:nvSpPr>
        <p:spPr>
          <a:xfrm>
            <a:off x="4709160" y="1463040"/>
            <a:ext cx="4114800" cy="86868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noAutofit/>
          </a:bodyPr>
          <a:lstStyle/>
          <a:p>
            <a:pPr algn="l">
              <a:spcBef>
                <a:spcPts val="0"/>
              </a:spcBef>
              <a:spcAft>
                <a:spcPts val="0"/>
              </a:spcAft>
            </a:pPr>
            <a:r>
              <a:rPr sz="1200" b="0" i="0">
                <a:solidFill>
                  <a:srgbClr val="2B2622"/>
                </a:solidFill>
                <a:latin typeface="Calibri"/>
              </a:rPr>
              <a:t>Comma Code: write list_to_text(items) so that ['a', 'b', 'c'] becomes 'a, b, and c'.</a:t>
            </a:r>
          </a:p>
        </p:txBody>
      </p:sp>
      <p:sp>
        <p:nvSpPr>
          <p:cNvPr id="11" name="Rounded Rectangle 10"/>
          <p:cNvSpPr/>
          <p:nvPr/>
        </p:nvSpPr>
        <p:spPr>
          <a:xfrm>
            <a:off x="4709160" y="2423160"/>
            <a:ext cx="4114800" cy="868680"/>
          </a:xfrm>
          <a:prstGeom prst="roundRect">
            <a:avLst>
              <a:gd name="adj" fmla="val 12000"/>
            </a:avLst>
          </a:prstGeom>
          <a:solidFill>
            <a:srgbClr val="F8E3CC"/>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noAutofit/>
          </a:bodyPr>
          <a:lstStyle/>
          <a:p>
            <a:pPr algn="l">
              <a:spcBef>
                <a:spcPts val="0"/>
              </a:spcBef>
              <a:spcAft>
                <a:spcPts val="0"/>
              </a:spcAft>
            </a:pPr>
            <a:r>
              <a:rPr sz="1200" b="0" i="0">
                <a:solidFill>
                  <a:srgbClr val="2B2622"/>
                </a:solidFill>
                <a:latin typeface="Calibri"/>
              </a:rPr>
              <a:t>Coin Flip Streaks: estimate how often six equal flips in a row occur among 100 flips.</a:t>
            </a:r>
          </a:p>
        </p:txBody>
      </p:sp>
      <p:sp>
        <p:nvSpPr>
          <p:cNvPr id="12"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Check yourself: three questions and two programs</a:t>
            </a:r>
          </a:p>
        </p:txBody>
      </p:sp>
      <p:sp>
        <p:nvSpPr>
          <p:cNvPr id="13"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47 / 49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Resources: where to go from here</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Free to read and to watch; every link below is live.</a:t>
            </a:r>
          </a:p>
        </p:txBody>
      </p:sp>
      <p:sp>
        <p:nvSpPr>
          <p:cNvPr id="5" name="heading"/>
          <p:cNvSpPr txBox="1"/>
          <p:nvPr/>
        </p:nvSpPr>
        <p:spPr>
          <a:xfrm>
            <a:off x="365760" y="1097280"/>
            <a:ext cx="4114800" cy="256032"/>
          </a:xfrm>
          <a:prstGeom prst="rect">
            <a:avLst/>
          </a:prstGeom>
          <a:noFill/>
        </p:spPr>
        <p:txBody>
          <a:bodyPr wrap="square" lIns="36576" tIns="18288" rIns="36576" bIns="18288" anchor="t">
            <a:noAutofit/>
          </a:bodyPr>
          <a:lstStyle/>
          <a:p>
            <a:pPr algn="l">
              <a:spcBef>
                <a:spcPts val="0"/>
              </a:spcBef>
              <a:spcAft>
                <a:spcPts val="0"/>
              </a:spcAft>
            </a:pPr>
            <a:r>
              <a:rPr sz="1200" b="1" i="0">
                <a:solidFill>
                  <a:srgbClr val="D97A14"/>
                </a:solidFill>
                <a:latin typeface="Calibri"/>
              </a:rPr>
              <a:t>Read</a:t>
            </a:r>
          </a:p>
        </p:txBody>
      </p:sp>
      <p:sp>
        <p:nvSpPr>
          <p:cNvPr id="6" name="link"/>
          <p:cNvSpPr/>
          <p:nvPr/>
        </p:nvSpPr>
        <p:spPr>
          <a:xfrm>
            <a:off x="365760" y="1371600"/>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2"/>
              </a:rPr>
              <a:t>This chapter, free online (Sweigart)</a:t>
            </a:r>
          </a:p>
        </p:txBody>
      </p:sp>
      <p:sp>
        <p:nvSpPr>
          <p:cNvPr id="7" name="link"/>
          <p:cNvSpPr/>
          <p:nvPr/>
        </p:nvSpPr>
        <p:spPr>
          <a:xfrm>
            <a:off x="365760" y="1719072"/>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3"/>
              </a:rPr>
              <a:t>Python tutorial: data structures</a:t>
            </a:r>
          </a:p>
        </p:txBody>
      </p:sp>
      <p:sp>
        <p:nvSpPr>
          <p:cNvPr id="8" name="link"/>
          <p:cNvSpPr/>
          <p:nvPr/>
        </p:nvSpPr>
        <p:spPr>
          <a:xfrm>
            <a:off x="365760" y="2066543"/>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4"/>
              </a:rPr>
              <a:t>Sorting Techniques - the official HOWTO</a:t>
            </a:r>
          </a:p>
        </p:txBody>
      </p:sp>
      <p:sp>
        <p:nvSpPr>
          <p:cNvPr id="9" name="heading"/>
          <p:cNvSpPr txBox="1"/>
          <p:nvPr/>
        </p:nvSpPr>
        <p:spPr>
          <a:xfrm>
            <a:off x="4663440" y="1097280"/>
            <a:ext cx="4114800" cy="256032"/>
          </a:xfrm>
          <a:prstGeom prst="rect">
            <a:avLst/>
          </a:prstGeom>
          <a:noFill/>
        </p:spPr>
        <p:txBody>
          <a:bodyPr wrap="square" lIns="36576" tIns="18288" rIns="36576" bIns="18288" anchor="t">
            <a:noAutofit/>
          </a:bodyPr>
          <a:lstStyle/>
          <a:p>
            <a:pPr algn="l">
              <a:spcBef>
                <a:spcPts val="0"/>
              </a:spcBef>
              <a:spcAft>
                <a:spcPts val="0"/>
              </a:spcAft>
            </a:pPr>
            <a:r>
              <a:rPr sz="1200" b="1" i="0">
                <a:solidFill>
                  <a:srgbClr val="D97A14"/>
                </a:solidFill>
                <a:latin typeface="Calibri"/>
              </a:rPr>
              <a:t>Standards and documentation</a:t>
            </a:r>
          </a:p>
        </p:txBody>
      </p:sp>
      <p:sp>
        <p:nvSpPr>
          <p:cNvPr id="10" name="link"/>
          <p:cNvSpPr/>
          <p:nvPr/>
        </p:nvSpPr>
        <p:spPr>
          <a:xfrm>
            <a:off x="4663440" y="1371600"/>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5"/>
              </a:rPr>
              <a:t>copy - shallow and deep copy</a:t>
            </a:r>
          </a:p>
        </p:txBody>
      </p:sp>
      <p:sp>
        <p:nvSpPr>
          <p:cNvPr id="11" name="link"/>
          <p:cNvSpPr/>
          <p:nvPr/>
        </p:nvSpPr>
        <p:spPr>
          <a:xfrm>
            <a:off x="4663440" y="1719072"/>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6"/>
              </a:rPr>
              <a:t>PEP 3132 - extended iterable unpacking</a:t>
            </a:r>
          </a:p>
        </p:txBody>
      </p:sp>
      <p:sp>
        <p:nvSpPr>
          <p:cNvPr id="12" name="link"/>
          <p:cNvSpPr/>
          <p:nvPr/>
        </p:nvSpPr>
        <p:spPr>
          <a:xfrm>
            <a:off x="4663440" y="2066543"/>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7"/>
              </a:rPr>
              <a:t>random - pseudo-random numbers</a:t>
            </a:r>
          </a:p>
        </p:txBody>
      </p:sp>
      <p:sp>
        <p:nvSpPr>
          <p:cNvPr id="13" name="heading"/>
          <p:cNvSpPr txBox="1"/>
          <p:nvPr/>
        </p:nvSpPr>
        <p:spPr>
          <a:xfrm>
            <a:off x="365760" y="2487168"/>
            <a:ext cx="4114800" cy="256032"/>
          </a:xfrm>
          <a:prstGeom prst="rect">
            <a:avLst/>
          </a:prstGeom>
          <a:noFill/>
        </p:spPr>
        <p:txBody>
          <a:bodyPr wrap="square" lIns="36576" tIns="18288" rIns="36576" bIns="18288" anchor="t">
            <a:noAutofit/>
          </a:bodyPr>
          <a:lstStyle/>
          <a:p>
            <a:pPr algn="l">
              <a:spcBef>
                <a:spcPts val="0"/>
              </a:spcBef>
              <a:spcAft>
                <a:spcPts val="0"/>
              </a:spcAft>
            </a:pPr>
            <a:r>
              <a:rPr sz="1200" b="1" i="0">
                <a:solidFill>
                  <a:srgbClr val="D97A14"/>
                </a:solidFill>
                <a:latin typeface="Calibri"/>
              </a:rPr>
              <a:t>Watch and try</a:t>
            </a:r>
          </a:p>
        </p:txBody>
      </p:sp>
      <p:sp>
        <p:nvSpPr>
          <p:cNvPr id="14" name="link"/>
          <p:cNvSpPr/>
          <p:nvPr/>
        </p:nvSpPr>
        <p:spPr>
          <a:xfrm>
            <a:off x="365760" y="2761487"/>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8"/>
              </a:rPr>
              <a:t>Facts and myths about Python names</a:t>
            </a:r>
          </a:p>
        </p:txBody>
      </p:sp>
      <p:sp>
        <p:nvSpPr>
          <p:cNvPr id="15" name="link"/>
          <p:cNvSpPr/>
          <p:nvPr/>
        </p:nvSpPr>
        <p:spPr>
          <a:xfrm>
            <a:off x="365760" y="3108959"/>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9"/>
              </a:rPr>
              <a:t>Python Tutor - draw your lists and names</a:t>
            </a:r>
          </a:p>
        </p:txBody>
      </p:sp>
      <p:sp>
        <p:nvSpPr>
          <p:cNvPr id="16" name="heading"/>
          <p:cNvSpPr txBox="1"/>
          <p:nvPr/>
        </p:nvSpPr>
        <p:spPr>
          <a:xfrm>
            <a:off x="4663440" y="2487168"/>
            <a:ext cx="4114800" cy="256032"/>
          </a:xfrm>
          <a:prstGeom prst="rect">
            <a:avLst/>
          </a:prstGeom>
          <a:noFill/>
        </p:spPr>
        <p:txBody>
          <a:bodyPr wrap="square" lIns="36576" tIns="18288" rIns="36576" bIns="18288" anchor="t">
            <a:noAutofit/>
          </a:bodyPr>
          <a:lstStyle/>
          <a:p>
            <a:pPr algn="l">
              <a:spcBef>
                <a:spcPts val="0"/>
              </a:spcBef>
              <a:spcAft>
                <a:spcPts val="0"/>
              </a:spcAft>
            </a:pPr>
            <a:r>
              <a:rPr sz="1200" b="1" i="0">
                <a:solidFill>
                  <a:srgbClr val="D97A14"/>
                </a:solidFill>
                <a:latin typeface="Calibri"/>
              </a:rPr>
              <a:t>The stories</a:t>
            </a:r>
          </a:p>
        </p:txBody>
      </p:sp>
      <p:sp>
        <p:nvSpPr>
          <p:cNvPr id="17" name="link"/>
          <p:cNvSpPr/>
          <p:nvPr/>
        </p:nvSpPr>
        <p:spPr>
          <a:xfrm>
            <a:off x="4663440" y="2761487"/>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10"/>
              </a:rPr>
              <a:t>Dijkstra: why numbering starts at zero</a:t>
            </a:r>
          </a:p>
        </p:txBody>
      </p:sp>
      <p:sp>
        <p:nvSpPr>
          <p:cNvPr id="18" name="link"/>
          <p:cNvSpPr/>
          <p:nvPr/>
        </p:nvSpPr>
        <p:spPr>
          <a:xfrm>
            <a:off x="4663440" y="3108959"/>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11"/>
              </a:rPr>
              <a:t>The Fisher-Yates shuffle</a:t>
            </a:r>
          </a:p>
        </p:txBody>
      </p:sp>
      <p:sp>
        <p:nvSpPr>
          <p:cNvPr id="19" name="link"/>
          <p:cNvSpPr/>
          <p:nvPr/>
        </p:nvSpPr>
        <p:spPr>
          <a:xfrm>
            <a:off x="4663440" y="3456431"/>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12"/>
              </a:rPr>
              <a:t>Magic 8 Ball</a:t>
            </a:r>
          </a:p>
        </p:txBody>
      </p:sp>
      <p:sp>
        <p:nvSpPr>
          <p:cNvPr id="20" name="link"/>
          <p:cNvSpPr/>
          <p:nvPr/>
        </p:nvSpPr>
        <p:spPr>
          <a:xfrm>
            <a:off x="4663440" y="3803903"/>
            <a:ext cx="4114800" cy="310896"/>
          </a:xfrm>
          <a:prstGeom prst="roundRect">
            <a:avLst>
              <a:gd name="adj" fmla="val 20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73152" bIns="18288">
            <a:noAutofit/>
          </a:bodyPr>
          <a:lstStyle/>
          <a:p>
            <a:pPr algn="l">
              <a:spcBef>
                <a:spcPts val="0"/>
              </a:spcBef>
              <a:spcAft>
                <a:spcPts val="0"/>
              </a:spcAft>
            </a:pPr>
            <a:r>
              <a:rPr sz="1100" b="0" i="0">
                <a:solidFill>
                  <a:srgbClr val="2B2622"/>
                </a:solidFill>
                <a:latin typeface="Calibri"/>
                <a:hlinkClick r:id="rId13"/>
              </a:rPr>
              <a:t>Matrix digital rain</a:t>
            </a:r>
          </a:p>
        </p:txBody>
      </p:sp>
      <p:sp>
        <p:nvSpPr>
          <p:cNvPr id="21"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Draw your lists in Python Tutor and watch the names</a:t>
            </a:r>
          </a:p>
        </p:txBody>
      </p:sp>
      <p:sp>
        <p:nvSpPr>
          <p:cNvPr id="22"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48 / 49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960120" y="155448"/>
            <a:ext cx="7863840" cy="457200"/>
          </a:xfrm>
        </p:spPr>
        <p:txBody>
          <a:bodyPr wrap="square" lIns="36576" tIns="18288" rIns="36576" bIns="18288" anchor="ctr">
            <a:noAutofit/>
          </a:bodyPr>
          <a:lstStyle/>
          <a:p>
            <a:pPr algn="l">
              <a:spcBef>
                <a:spcPts val="0"/>
              </a:spcBef>
              <a:spcAft>
                <a:spcPts val="0"/>
              </a:spcAft>
            </a:pPr>
            <a:r>
              <a:rPr sz="2200" b="1" i="0">
                <a:solidFill>
                  <a:srgbClr val="2B2622"/>
                </a:solidFill>
                <a:latin typeface="Cambria"/>
              </a:rPr>
              <a:t>What you should now be able to say</a:t>
            </a:r>
          </a:p>
        </p:txBody>
      </p:sp>
      <p:sp>
        <p:nvSpPr>
          <p:cNvPr id="3" name="brand chip"/>
          <p:cNvSpPr/>
          <p:nvPr/>
        </p:nvSpPr>
        <p:spPr>
          <a:xfrm>
            <a:off x="365760" y="201168"/>
            <a:ext cx="530352" cy="347472"/>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8288" rIns="18288" bIns="18288">
            <a:noAutofit/>
          </a:bodyPr>
          <a:lstStyle/>
          <a:p>
            <a:pPr algn="ctr">
              <a:spcBef>
                <a:spcPts val="0"/>
              </a:spcBef>
              <a:spcAft>
                <a:spcPts val="0"/>
              </a:spcAft>
            </a:pPr>
            <a:r>
              <a:rPr sz="1300" b="1" i="0">
                <a:solidFill>
                  <a:srgbClr val="FFFFFF"/>
                </a:solidFill>
                <a:latin typeface="Courier New"/>
              </a:rPr>
              <a:t>&gt;&gt;&gt;</a:t>
            </a:r>
          </a:p>
        </p:txBody>
      </p:sp>
      <p:sp>
        <p:nvSpPr>
          <p:cNvPr id="4" name="lede"/>
          <p:cNvSpPr txBox="1"/>
          <p:nvPr/>
        </p:nvSpPr>
        <p:spPr>
          <a:xfrm>
            <a:off x="365760" y="621792"/>
            <a:ext cx="8458200" cy="292608"/>
          </a:xfrm>
          <a:prstGeom prst="rect">
            <a:avLst/>
          </a:prstGeom>
          <a:noFill/>
        </p:spPr>
        <p:txBody>
          <a:bodyPr wrap="square" lIns="73152" tIns="36576" rIns="73152" bIns="36576" anchor="t">
            <a:noAutofit/>
          </a:bodyPr>
          <a:lstStyle/>
          <a:p>
            <a:pPr algn="l">
              <a:spcBef>
                <a:spcPts val="0"/>
              </a:spcBef>
              <a:spcAft>
                <a:spcPts val="0"/>
              </a:spcAft>
            </a:pPr>
            <a:r>
              <a:rPr sz="1100" b="0" i="1">
                <a:solidFill>
                  <a:srgbClr val="2F6D62"/>
                </a:solidFill>
                <a:latin typeface="Calibri"/>
              </a:rPr>
              <a:t>Four claims, each one proven by code that ran on a slide of this deck.</a:t>
            </a:r>
          </a:p>
        </p:txBody>
      </p:sp>
      <p:sp>
        <p:nvSpPr>
          <p:cNvPr id="5" name="Rounded Rectangle 4"/>
          <p:cNvSpPr/>
          <p:nvPr/>
        </p:nvSpPr>
        <p:spPr>
          <a:xfrm>
            <a:off x="365760" y="1234440"/>
            <a:ext cx="8458200" cy="59436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noAutofit/>
          </a:bodyPr>
          <a:lstStyle/>
          <a:p>
            <a:pPr algn="l">
              <a:spcBef>
                <a:spcPts val="0"/>
              </a:spcBef>
              <a:spcAft>
                <a:spcPts val="0"/>
              </a:spcAft>
            </a:pPr>
            <a:r>
              <a:rPr sz="1600" b="1" i="0">
                <a:solidFill>
                  <a:srgbClr val="D97A14"/>
                </a:solidFill>
                <a:latin typeface="Calibri"/>
              </a:rPr>
              <a:t>1  </a:t>
            </a:r>
            <a:r>
              <a:rPr sz="1500" b="0" i="0">
                <a:solidFill>
                  <a:srgbClr val="2B2622"/>
                </a:solidFill>
                <a:latin typeface="Calibri"/>
              </a:rPr>
              <a:t>What a list holds, and how indexes and slices reach it.</a:t>
            </a:r>
          </a:p>
        </p:txBody>
      </p:sp>
      <p:sp>
        <p:nvSpPr>
          <p:cNvPr id="6" name="Rounded Rectangle 5"/>
          <p:cNvSpPr/>
          <p:nvPr/>
        </p:nvSpPr>
        <p:spPr>
          <a:xfrm>
            <a:off x="365760" y="1965960"/>
            <a:ext cx="8458200" cy="59436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noAutofit/>
          </a:bodyPr>
          <a:lstStyle/>
          <a:p>
            <a:pPr algn="l">
              <a:spcBef>
                <a:spcPts val="0"/>
              </a:spcBef>
              <a:spcAft>
                <a:spcPts val="0"/>
              </a:spcAft>
            </a:pPr>
            <a:r>
              <a:rPr sz="1600" b="1" i="0">
                <a:solidFill>
                  <a:srgbClr val="D97A14"/>
                </a:solidFill>
                <a:latin typeface="Calibri"/>
              </a:rPr>
              <a:t>2  </a:t>
            </a:r>
            <a:r>
              <a:rPr sz="1500" b="0" i="0">
                <a:solidFill>
                  <a:srgbClr val="2B2622"/>
                </a:solidFill>
                <a:latin typeface="Calibri"/>
              </a:rPr>
              <a:t>Which methods change a list in place and which return a new one.</a:t>
            </a:r>
          </a:p>
        </p:txBody>
      </p:sp>
      <p:sp>
        <p:nvSpPr>
          <p:cNvPr id="7" name="Rounded Rectangle 6"/>
          <p:cNvSpPr/>
          <p:nvPr/>
        </p:nvSpPr>
        <p:spPr>
          <a:xfrm>
            <a:off x="365760" y="2697480"/>
            <a:ext cx="8458200" cy="59436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noAutofit/>
          </a:bodyPr>
          <a:lstStyle/>
          <a:p>
            <a:pPr algn="l">
              <a:spcBef>
                <a:spcPts val="0"/>
              </a:spcBef>
              <a:spcAft>
                <a:spcPts val="0"/>
              </a:spcAft>
            </a:pPr>
            <a:r>
              <a:rPr sz="1600" b="1" i="0">
                <a:solidFill>
                  <a:srgbClr val="D97A14"/>
                </a:solidFill>
                <a:latin typeface="Calibri"/>
              </a:rPr>
              <a:t>3  </a:t>
            </a:r>
            <a:r>
              <a:rPr sz="1500" b="0" i="0">
                <a:solidFill>
                  <a:srgbClr val="2B2622"/>
                </a:solidFill>
                <a:latin typeface="Calibri"/>
              </a:rPr>
              <a:t>Why two names can reach one list, and when a program must copy.</a:t>
            </a:r>
          </a:p>
        </p:txBody>
      </p:sp>
      <p:sp>
        <p:nvSpPr>
          <p:cNvPr id="8" name="Rounded Rectangle 7"/>
          <p:cNvSpPr/>
          <p:nvPr/>
        </p:nvSpPr>
        <p:spPr>
          <a:xfrm>
            <a:off x="365760" y="3429000"/>
            <a:ext cx="8458200" cy="594360"/>
          </a:xfrm>
          <a:prstGeom prst="roundRect">
            <a:avLst>
              <a:gd name="adj" fmla="val 12000"/>
            </a:avLst>
          </a:prstGeom>
          <a:solidFill>
            <a:srgbClr val="FFFFFF"/>
          </a:solidFill>
          <a:ln w="12700">
            <a:solidFill>
              <a:srgbClr val="DCEB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noAutofit/>
          </a:bodyPr>
          <a:lstStyle/>
          <a:p>
            <a:pPr algn="l">
              <a:spcBef>
                <a:spcPts val="0"/>
              </a:spcBef>
              <a:spcAft>
                <a:spcPts val="0"/>
              </a:spcAft>
            </a:pPr>
            <a:r>
              <a:rPr sz="1600" b="1" i="0">
                <a:solidFill>
                  <a:srgbClr val="D97A14"/>
                </a:solidFill>
                <a:latin typeface="Calibri"/>
              </a:rPr>
              <a:t>4  </a:t>
            </a:r>
            <a:r>
              <a:rPr sz="1500" b="0" i="0">
                <a:solidFill>
                  <a:srgbClr val="2B2622"/>
                </a:solidFill>
                <a:latin typeface="Calibri"/>
              </a:rPr>
              <a:t>How a list drives an eight ball, a screensaver and a simulation.</a:t>
            </a:r>
          </a:p>
        </p:txBody>
      </p:sp>
      <p:sp>
        <p:nvSpPr>
          <p:cNvPr id="9" name="takeaway"/>
          <p:cNvSpPr/>
          <p:nvPr/>
        </p:nvSpPr>
        <p:spPr>
          <a:xfrm>
            <a:off x="365760" y="4572000"/>
            <a:ext cx="7406640" cy="29260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8288" bIns="18288">
            <a:noAutofit/>
          </a:bodyPr>
          <a:lstStyle/>
          <a:p>
            <a:pPr algn="l">
              <a:spcBef>
                <a:spcPts val="0"/>
              </a:spcBef>
              <a:spcAft>
                <a:spcPts val="0"/>
              </a:spcAft>
            </a:pPr>
            <a:r>
              <a:rPr sz="1200" b="1" i="0">
                <a:solidFill>
                  <a:srgbClr val="FFFFFF"/>
                </a:solidFill>
                <a:latin typeface="Calibri"/>
              </a:rPr>
              <a:t>Four claims; the code on the slides is the proof</a:t>
            </a:r>
          </a:p>
        </p:txBody>
      </p:sp>
      <p:sp>
        <p:nvSpPr>
          <p:cNvPr id="10" name="slide number"/>
          <p:cNvSpPr txBox="1"/>
          <p:nvPr/>
        </p:nvSpPr>
        <p:spPr>
          <a:xfrm>
            <a:off x="7909560" y="4828032"/>
            <a:ext cx="914400" cy="237744"/>
          </a:xfrm>
          <a:prstGeom prst="rect">
            <a:avLst/>
          </a:prstGeom>
          <a:noFill/>
        </p:spPr>
        <p:txBody>
          <a:bodyPr wrap="square" lIns="18288" tIns="18288" rIns="18288" bIns="18288" anchor="t">
            <a:noAutofit/>
          </a:bodyPr>
          <a:lstStyle/>
          <a:p>
            <a:pPr algn="r">
              <a:spcBef>
                <a:spcPts val="0"/>
              </a:spcBef>
              <a:spcAft>
                <a:spcPts val="0"/>
              </a:spcAft>
            </a:pPr>
            <a:r>
              <a:rPr sz="1000" b="0" i="0">
                <a:solidFill>
                  <a:srgbClr val="6E655C"/>
                </a:solidFill>
                <a:latin typeface="Calibri"/>
              </a:rPr>
              <a:t>49 / 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SEN0414 Advanced Programming, chapter 6, deck v3.0.0</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