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modification time, billions of seconds since 1970</c:v>
                </c:pt>
              </c:strCache>
            </c:strRef>
          </c:tx>
          <c:spPr>
            <a:solidFill>
              <a:srgbClr val="0E7C86"/>
            </a:solidFill>
          </c:spPr>
          <c:cat>
            <c:strRef>
              <c:f>Sheet1!$A$2:$A$4</c:f>
              <c:strCache>
                <c:ptCount val="3"/>
                <c:pt idx="0">
                  <c:v>a.txt (set)</c:v>
                </c:pt>
                <c:pt idx="1">
                  <c:v>c.txt (copy2)</c:v>
                </c:pt>
                <c:pt idx="2">
                  <c:v>d.txt (copy)</c:v>
                </c:pt>
              </c:strCache>
            </c:strRef>
          </c:cat>
          <c:val>
            <c:numRef>
              <c:f>Sheet1!$B$2:$B$4</c:f>
              <c:numCache>
                <c:formatCode>General</c:formatCode>
                <c:ptCount val="3"/>
                <c:pt idx="0">
                  <c:v>1.0</c:v>
                </c:pt>
                <c:pt idx="1">
                  <c:v>1.0</c:v>
                </c:pt>
                <c:pt idx="2">
                  <c:v>1.79</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things under spam</c:v>
                </c:pt>
              </c:strCache>
            </c:strRef>
          </c:tx>
          <c:spPr>
            <a:solidFill>
              <a:srgbClr val="0E7C86"/>
            </a:solidFill>
          </c:spPr>
          <c:cat>
            <c:strRef>
              <c:f>Sheet1!$A$2:$A$3</c:f>
              <c:strCache>
                <c:ptCount val="2"/>
                <c:pt idx="0">
                  <c:v>before</c:v>
                </c:pt>
                <c:pt idx="1">
                  <c:v>after</c:v>
                </c:pt>
              </c:strCache>
            </c:strRef>
          </c:cat>
          <c:val>
            <c:numRef>
              <c:f>Sheet1!$B$2:$B$3</c:f>
              <c:numCache>
                <c:formatCode>General</c:formatCode>
                <c:ptCount val="2"/>
                <c:pt idx="0">
                  <c:v>2</c:v>
                </c:pt>
                <c:pt idx="1">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bytes</c:v>
                </c:pt>
              </c:strCache>
            </c:strRef>
          </c:tx>
          <c:spPr>
            <a:solidFill>
              <a:srgbClr val="0E7C86"/>
            </a:solidFill>
          </c:spPr>
          <c:cat>
            <c:strRef>
              <c:f>Sheet1!$A$2:$A$3</c:f>
              <c:strCache>
                <c:ptCount val="2"/>
                <c:pt idx="0">
                  <c:v>spam/eggs</c:v>
                </c:pt>
                <c:pt idx="1">
                  <c:v>spam</c:v>
                </c:pt>
              </c:strCache>
            </c:strRef>
          </c:cat>
          <c:val>
            <c:numRef>
              <c:f>Sheet1!$B$2:$B$3</c:f>
              <c:numCache>
                <c:formatCode>General</c:formatCode>
                <c:ptCount val="2"/>
                <c:pt idx="0">
                  <c:v>200</c:v>
                </c:pt>
                <c:pt idx="1">
                  <c:v>300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b"/>
        <c:majorGridlines>
          <c:spPr>
            <a:ln>
              <a:solidFill>
                <a:srgbClr val="D9D2C3"/>
              </a:solidFill>
            </a:ln>
          </c:spPr>
        </c:majorGridlines>
        <c:title>
          <c:tx>
            <c:rich>
              <a:bodyPr/>
              <a:lstStyle/>
              <a:p>
                <a:r>
                  <a:rPr sz="900" b="0"/>
                  <a:t>bytes of files directly in the folder</a:t>
                </a:r>
              </a:p>
            </c:rich>
          </c:tx>
          <c:layout/>
          <c:overlay val="0"/>
        </c:title>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bytes</c:v>
                </c:pt>
              </c:strCache>
            </c:strRef>
          </c:tx>
          <c:spPr>
            <a:solidFill>
              <a:srgbClr val="0E7C86"/>
            </a:solidFill>
          </c:spPr>
          <c:cat>
            <c:strRef>
              <c:f>Sheet1!$A$2:$A$3</c:f>
              <c:strCache>
                <c:ptCount val="2"/>
                <c:pt idx="0">
                  <c:v>original</c:v>
                </c:pt>
                <c:pt idx="1">
                  <c:v>stored in the ZIP</c:v>
                </c:pt>
              </c:strCache>
            </c:strRef>
          </c:cat>
          <c:val>
            <c:numRef>
              <c:f>Sheet1!$B$2:$B$3</c:f>
              <c:numCache>
                <c:formatCode>General</c:formatCode>
                <c:ptCount val="2"/>
                <c:pt idx="0">
                  <c:v>50000</c:v>
                </c:pt>
                <c:pt idx="1">
                  <c:v>97</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title>
          <c:tx>
            <c:rich>
              <a:bodyPr/>
              <a:lstStyle/>
              <a:p>
                <a:r>
                  <a:rPr sz="900" b="0"/>
                  <a:t>bytes</a:t>
                </a:r>
              </a:p>
            </c:rich>
          </c:tx>
          <c:layout/>
          <c:overlay val="0"/>
        </c:title>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members</c:v>
                </c:pt>
              </c:strCache>
            </c:strRef>
          </c:tx>
          <c:spPr>
            <a:solidFill>
              <a:srgbClr val="0E7C86"/>
            </a:solidFill>
          </c:spPr>
          <c:cat>
            <c:strRef>
              <c:f>Sheet1!$A$2:$A$3</c:f>
              <c:strCache>
                <c:ptCount val="2"/>
                <c:pt idx="0">
                  <c:v>after w</c:v>
                </c:pt>
                <c:pt idx="1">
                  <c:v>after a</c:v>
                </c:pt>
              </c:strCache>
            </c:strRef>
          </c:cat>
          <c:val>
            <c:numRef>
              <c:f>Sheet1!$B$2:$B$3</c:f>
              <c:numCache>
                <c:formatCode>General</c:formatCode>
                <c:ptCount val="2"/>
                <c:pt idx="0">
                  <c:v>1</c:v>
                </c:pt>
                <c:pt idx="1">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files stored</c:v>
                </c:pt>
              </c:strCache>
            </c:strRef>
          </c:tx>
          <c:spPr>
            <a:solidFill>
              <a:srgbClr val="0E7C86"/>
            </a:solidFill>
          </c:spPr>
          <c:cat>
            <c:strRef>
              <c:f>Sheet1!$A$2:$A$3</c:f>
              <c:strCache>
                <c:ptCount val="2"/>
                <c:pt idx="0">
                  <c:v>spam_1.zip</c:v>
                </c:pt>
                <c:pt idx="1">
                  <c:v>spam_2.zip</c:v>
                </c:pt>
              </c:strCache>
            </c:strRef>
          </c:cat>
          <c:val>
            <c:numRef>
              <c:f>Sheet1!$B$2:$B$3</c:f>
              <c:numCache>
                <c:formatCode>General</c:formatCode>
                <c:ptCount val="2"/>
                <c:pt idx="0">
                  <c:v>2</c:v>
                </c:pt>
                <c:pt idx="1">
                  <c:v>2</c:v>
                </c:pt>
              </c:numCache>
            </c:numRef>
          </c:val>
        </c:ser>
        <c:dLbls>
          <c:numFmt formatCode="General" sourceLinked="0"/>
          <c:txPr>
            <a:bodyPr/>
            <a:lstStyle/>
            <a:p>
              <a:pPr>
                <a:defRPr sz="8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8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800"/>
            </a:pPr>
          </a:p>
        </c:txPr>
        <c:crossAx val="-2068027336"/>
        <c:crosses val="autoZero"/>
        <c:majorUnit val="1.0"/>
      </c:valAx>
    </c:plotArea>
    <c:dispBlanksAs val="gap"/>
  </c:chart>
  <c:txPr>
    <a:bodyPr/>
    <a:lstStyle/>
    <a:p>
      <a:pPr>
        <a:defRPr sz="8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files</c:v>
                </c:pt>
              </c:strCache>
            </c:strRef>
          </c:tx>
          <c:spPr>
            <a:solidFill>
              <a:srgbClr val="0E7C86"/>
            </a:solidFill>
          </c:spPr>
          <c:cat>
            <c:strRef>
              <c:f>Sheet1!$A$2:$A$4</c:f>
              <c:strCache>
                <c:ptCount val="3"/>
                <c:pt idx="0">
                  <c:v>PDFs in src</c:v>
                </c:pt>
                <c:pt idx="1">
                  <c:v>other in src</c:v>
                </c:pt>
                <c:pt idx="2">
                  <c:v>copied</c:v>
                </c:pt>
              </c:strCache>
            </c:strRef>
          </c:cat>
          <c:val>
            <c:numRef>
              <c:f>Sheet1!$B$2:$B$4</c:f>
              <c:numCache>
                <c:formatCode>General</c:formatCode>
                <c:ptCount val="3"/>
                <c:pt idx="0">
                  <c:v>3</c:v>
                </c:pt>
                <c:pt idx="1">
                  <c:v>1</c:v>
                </c:pt>
                <c:pt idx="2">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bytes</c:v>
                </c:pt>
              </c:strCache>
            </c:strRef>
          </c:tx>
          <c:spPr>
            <a:solidFill>
              <a:srgbClr val="0E7C86"/>
            </a:solidFill>
          </c:spPr>
          <c:cat>
            <c:strRef>
              <c:f>Sheet1!$A$2:$A$4</c:f>
              <c:strCache>
                <c:ptCount val="3"/>
                <c:pt idx="0">
                  <c:v>mid.bin</c:v>
                </c:pt>
                <c:pt idx="1">
                  <c:v>big.bin</c:v>
                </c:pt>
                <c:pt idx="2">
                  <c:v>sub/huge.bin</c:v>
                </c:pt>
              </c:strCache>
            </c:strRef>
          </c:cat>
          <c:val>
            <c:numRef>
              <c:f>Sheet1!$B$2:$B$4</c:f>
              <c:numCache>
                <c:formatCode>General</c:formatCode>
                <c:ptCount val="3"/>
                <c:pt idx="0">
                  <c:v>1200</c:v>
                </c:pt>
                <c:pt idx="1">
                  <c:v>3000</c:v>
                </c:pt>
                <c:pt idx="2">
                  <c:v>9000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in val="0.0"/>
        </c:scaling>
        <c:delete val="0"/>
        <c:axPos val="b"/>
        <c:majorGridlines>
          <c:spPr>
            <a:ln>
              <a:solidFill>
                <a:srgbClr val="D9D2C3"/>
              </a:solidFill>
            </a:ln>
          </c:spPr>
        </c:majorGridlines>
        <c:title>
          <c:tx>
            <c:rich>
              <a:bodyPr/>
              <a:lstStyle/>
              <a:p>
                <a:r>
                  <a:rPr sz="900" b="0"/>
                  <a:t>bytes (limit: more than 1000)</a:t>
                </a:r>
              </a:p>
            </c:rich>
          </c:tx>
          <c:layout/>
          <c:overlay val="0"/>
        </c:title>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Copy, move</c:v>
                </c:pt>
                <c:pt idx="1">
                  <c:v>Delete</c:v>
                </c:pt>
                <c:pt idx="2">
                  <c:v>Trees</c:v>
                </c:pt>
                <c:pt idx="3">
                  <c:v>ZIP</c:v>
                </c:pt>
                <c:pt idx="4">
                  <c:v>Programs</c:v>
                </c:pt>
              </c:strCache>
            </c:strRef>
          </c:cat>
          <c:val>
            <c:numRef>
              <c:f>Sheet1!$B$2:$B$6</c:f>
              <c:numCache>
                <c:formatCode>General</c:formatCode>
                <c:ptCount val="5"/>
                <c:pt idx="0">
                  <c:v>4</c:v>
                </c:pt>
                <c:pt idx="1">
                  <c:v>3</c:v>
                </c:pt>
                <c:pt idx="2">
                  <c:v>4</c:v>
                </c:pt>
                <c:pt idx="3">
                  <c:v>4</c:v>
                </c:pt>
                <c:pt idx="4">
                  <c:v>4</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moves from one file to whole folders: copy, move, delete, walk and archive. Every code slide shows the code, a plain explanation, and what the run printed as a table, chart or drawing. The same examples run on the chapter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copying and moving, safe deletion, folder trees, ZIP archives, and programs.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Which operations change the disk for good, and how can a program show what it will do first? And how do we visit every file of a tree, and pack it into one archive?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Copy keeps the original, move does not. Copytree takes a whole folder. Watch what each function returns.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 is a photocopier, move is carrying the original. Copytree copies a whole binder. Ask which function returns the new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 keeps the original. A folder as target keeps the name; a file name as target renames the copy. The return value is the new path.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Copytree needs a target that does not exist. A second call is refused. Dirs exist ok merges into the existing folder.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Copy2 keeps the modification time, plain copy does not. We fix the time first so the run is repeatable.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relocates and renames in one call. Moving onto an existing file silently overwrites it. The source is gone afterwards.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Deleting cannot be undone. Learn the permanent functions, then the habit of printing before deleting.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Unlink is a shredder, send2trash is the basket beside it. A dry run reads the list aloud before shredding.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Unlink deletes one file for good, rmdir only an empty folder. There is no recycle bin. The first error is caught and explained.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Rmtree removes a whole tree at once. Use ignore errors when a missing folder is fine. Predict the three items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first, delete later. A typo in the pattern shows up as the wrong list, while nothing is lost. Comment the delete line back in only when the list is right.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Send2trash is a third-party module, not in the standard library, so it is not run on the page. It moves to the recycle bin instead of deleting for good.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Susan Kare drew the trash can in 1983. The send2trash module moves a file to that bin. Ask: which of this chapter's functions can still be undone, and which cannot?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List one folder, then walk a whole tree. The walk gives three things at every step. We also build folders.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caretaker walks every floor. The walk gives each room, its inner rooms and its files. Mkdir builds a new room.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Listdir gives names, iterdir gives Path objects, glob stays in one folder, rglob goes into all subfolders. Sorting makes the order repeatable.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step of os.walk gives the folder, its subfolders and its files. Sorting the subfolder list fixes the order. Bottom-up ends with the start folder.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tree and add the file sizes per folder. The bar chart shows bytes per folder. Ask which folder is larger.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Mkdir makes one folder and needs the parent. Parents true builds the chain. Exist ok true accepts an existing folder.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Daley and Neumann described a tree of folders in 1965. Unix kept it, and os.walk still visits it folder by folder. Ask students to draw the tree of their own laptop.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A ZIP file packs many files into one. Write it, read it, extract from it, and use the one-call helpers.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ZIP is a vacuum-packed suitcase. ZipFile opens it, extract unpacks one item or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w starts a new archive. Deflate with level nine compresses repeated text very well. Compare the two bars.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a adds to an archive, mode x refuses to overwrite one. Writestr stores text without a file on disk.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Extractall unpacks everything and rebuilds subfolders. Extract unpacks one member into a folder it creates.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archive packs a folder in one call, unpack archive reverses it. The names inside keep the folder name.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 Katz and Gary Conway released the ZIP format into the public domain on 14 February 1989. That openness is why zipfile can read archives from any tool. Ask students why a free format helps a programmer.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Gailly and Adler released zlib 0.9 on 1 May 1995. Python's zipfile uses it for the deflate method. Ask students what would break if compression were owned by one company.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Four programs that use everything so far. Predict the output, then run each on the page.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programs are driving lessons on an empty car park. Each one combines walking, copying and patterns.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five. Find the first free number, walk the folder, write every file. Run it twice to get spam one and spam two.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a tree and copy only the PDFs. Lower makes the test ignore capitals. The source keeps all four files.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everything and keep files above a size limit. The chart shows the sizes in bytes, biggest first.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Swap month and day in file names with a pattern and shutil move. Files without a date stay as they are.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Path walk since 3.12, onexc in rmtree since 3.12, Path copy and move since 3.14. Run what the book printed, then check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shows how many examples belong to each part.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documentation.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hyperlink" Target="https://www.smithsonianmag.com/innovation/how-susan-kare-designed-user-friendly-icons-for-first-macintosh-180973286/"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hyperlink" Target="https://multicians.org/history.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chart" Target="../charts/char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jpg"/><Relationship Id="rId4" Type="http://schemas.openxmlformats.org/officeDocument/2006/relationships/hyperlink" Target="https://en.wikipedia.org/wiki/ZIP_(file_forma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jpg"/><Relationship Id="rId4" Type="http://schemas.openxmlformats.org/officeDocument/2006/relationships/hyperlink" Target="https://en.wikipedia.org/wiki/Zli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chart" Target="../charts/char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chart" Target="../charts/char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chart" Target="../charts/char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https://automatetheboringstuff.com/3e/chapter11.html" TargetMode="External"/><Relationship Id="rId4" Type="http://schemas.openxmlformats.org/officeDocument/2006/relationships/hyperlink" Target="https://docs.python.org/3/library/shutil.html" TargetMode="External"/><Relationship Id="rId5" Type="http://schemas.openxmlformats.org/officeDocument/2006/relationships/hyperlink" Target="https://docs.python.org/3/library/os.html#os.walk" TargetMode="External"/><Relationship Id="rId6" Type="http://schemas.openxmlformats.org/officeDocument/2006/relationships/hyperlink" Target="https://docs.python.org/3/library/zipfile.html" TargetMode="External"/><Relationship Id="rId7" Type="http://schemas.openxmlformats.org/officeDocument/2006/relationships/hyperlink" Target="https://docs.python.org/3/library/pathlib.html" TargetMode="External"/><Relationship Id="rId8" Type="http://schemas.openxmlformats.org/officeDocument/2006/relationships/hyperlink" Target="https://docs.python.org/3/whatsnew/3.14.html" TargetMode="External"/><Relationship Id="rId9" Type="http://schemas.openxmlformats.org/officeDocument/2006/relationships/hyperlink" Target="https://docs.python.org/3/whatsnew/3.12.html" TargetMode="External"/><Relationship Id="rId10" Type="http://schemas.openxmlformats.org/officeDocument/2006/relationships/hyperlink" Target="https://pypi.org/project/Send2Trash/" TargetMode="External"/><Relationship Id="rId11" Type="http://schemas.openxmlformats.org/officeDocument/2006/relationships/hyperlink" Target="https://pkware.cachefly.net/webdocs/casestudies/APPNOTE.TXT" TargetMode="External"/><Relationship Id="rId12" Type="http://schemas.openxmlformats.org/officeDocument/2006/relationships/hyperlink" Target="https://www.zlib.net/" TargetMode="External"/><Relationship Id="rId13" Type="http://schemas.openxmlformats.org/officeDocument/2006/relationships/hyperlink" Target="https://en.wikipedia.org/wiki/ZIP_(file_format)" TargetMode="External"/><Relationship Id="rId14" Type="http://schemas.openxmlformats.org/officeDocument/2006/relationships/hyperlink" Target="https://multicians.org/history.html" TargetMode="External"/><Relationship Id="rId15" Type="http://schemas.openxmlformats.org/officeDocument/2006/relationships/hyperlink" Target="https://www.smithsonianmag.com/innovation/how-susan-kare-designed-user-friendly-icons-for-first-macintosh-180973286/" TargetMode="External"/><Relationship Id="rId16" Type="http://schemas.openxmlformats.org/officeDocument/2006/relationships/hyperlink" Target="https://www.youtube.com/watch?v=z0gguhEmWi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Organizing Files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11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19</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4</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25</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50" b="1" i="0">
                          <a:solidFill>
                            <a:srgbClr val="1F2933"/>
                          </a:solidFill>
                          <a:latin typeface="Calibri"/>
                        </a:rPr>
                        <a:t>Copying and moving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4 - 9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copy, copytree, copy2, 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Deleting, and staying safe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10 - 16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unlink, rmdir, rmtree, a dry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Folders and trees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17 - 23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listdir, glob, walk, folder sizes, mkdir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ZIP archives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24 - 31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write, append, extract, make_archive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50" b="1" i="0">
                          <a:solidFill>
                            <a:srgbClr val="1F2933"/>
                          </a:solidFill>
                          <a:latin typeface="Calibri"/>
                        </a:rPr>
                        <a:t>Programs that organize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32 - 37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50" b="0" i="0">
                          <a:solidFill>
                            <a:srgbClr val="1F2933"/>
                          </a:solidFill>
                          <a:latin typeface="Calibri"/>
                        </a:rPr>
                        <a:t>backup, selective copy, big files, date renaming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5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38 - 41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5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19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operations change the disk for good, and how can a program show what it will do first?</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12 and 14: unlink and rmtree, then the dry run.</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How does a program visit every file of a folder tree and pack the result into one archive?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slides 20 and 34: os.walk, then the backup project.</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Know what a call destroys before you run it.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Copying and moving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The shutil module relocates files and whole folders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shutil.copy</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Copies one file; the original stays where it is.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shutil.copytree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Copies a folder with everything inside it.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shutil.move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Relocates or renames; it can overwrite a file.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Time stamp</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copy2 also keeps the modification time of the file.</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copying and moving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shutil.copy: one file to a folder or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shutil.copytree: a folder with everyth...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copy and copy2: what happens to the 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shutil.move: move, rename, overwrite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copying and moving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copy is a photocopy; a move is carrying the original to another desk.</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The shutil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removals firm: it carries, copies and packs whole files and folders for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Copying and moving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Photocopying a page, or lifting the page and putting it in another tray.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shutil.copy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photocopier: the original stays, and you choose the name of the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shutil.copytree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Photocopying a whole ring binder, every divider and page inside.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shutil.move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Moving a page to another tray; if the new tray holds the same page, it is replaced.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shutil.copy: one file to a folder or a new name</a:t>
            </a:r>
          </a:p>
        </p:txBody>
      </p:sp>
      <p:sp>
        <p:nvSpPr>
          <p:cNvPr id="4" name="code"/>
          <p:cNvSpPr/>
          <p:nvPr/>
        </p:nvSpPr>
        <p:spPr>
          <a:xfrm>
            <a:off x="365760" y="822960"/>
            <a:ext cx="3944111" cy="98018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C9A0FF"/>
                </a:solidFill>
                <a:latin typeface="Courier New"/>
              </a:rPr>
              <a:t>from</a:t>
            </a:r>
            <a:r>
              <a:rPr sz="1100" b="0" i="0">
                <a:solidFill>
                  <a:srgbClr val="E6EDF3"/>
                </a:solidFill>
                <a:latin typeface="Courier New"/>
              </a:rPr>
              <a:t> </a:t>
            </a:r>
            <a:r>
              <a:rPr sz="1100" b="0" i="0">
                <a:solidFill>
                  <a:srgbClr val="E6EDF3"/>
                </a:solidFill>
                <a:latin typeface="Courier New"/>
              </a:rPr>
              <a:t>pathlib</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Path</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'a.txt'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write_text</a:t>
            </a:r>
            <a:r>
              <a:rPr sz="1100" b="0" i="0">
                <a:solidFill>
                  <a:srgbClr val="E6EDF3"/>
                </a:solidFill>
                <a:latin typeface="Courier New"/>
              </a:rPr>
              <a:t>(</a:t>
            </a:r>
            <a:r>
              <a:rPr sz="1100" b="0" i="0">
                <a:solidFill>
                  <a:srgbClr val="9BE3A8"/>
                </a:solidFill>
                <a:latin typeface="Courier New"/>
              </a:rPr>
              <a:t>'Hello'</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'box'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mkdir</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4291584" y="822960"/>
            <a:ext cx="4486656" cy="980186"/>
          </a:xfrm>
          <a:prstGeom prst="rect">
            <a:avLst/>
          </a:prstGeom>
          <a:noFill/>
        </p:spPr>
        <p:txBody>
          <a:bodyPr wrap="square" lIns="128016" rIns="128016" tIns="18288" bIns="18288" anchor="ctr">
            <a:spAutoFit/>
          </a:bodyPr>
          <a:lstStyle/>
          <a:p>
            <a:r>
              <a:rPr sz="1200" b="0" i="0">
                <a:solidFill>
                  <a:srgbClr val="1F2933"/>
                </a:solidFill>
                <a:latin typeface="Calibri"/>
              </a:rPr>
              <a:t>A new temporary folder keeps your real files safe. Then one small file and one empty folder to work with.</a:t>
            </a:r>
          </a:p>
        </p:txBody>
      </p:sp>
      <p:sp>
        <p:nvSpPr>
          <p:cNvPr id="6" name="code"/>
          <p:cNvSpPr/>
          <p:nvPr/>
        </p:nvSpPr>
        <p:spPr>
          <a:xfrm>
            <a:off x="365760" y="1848866"/>
            <a:ext cx="3944111" cy="63931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copy</a:t>
            </a:r>
            <a:r>
              <a:rPr sz="1100" b="0" i="0">
                <a:solidFill>
                  <a:srgbClr val="E6EDF3"/>
                </a:solidFill>
                <a:latin typeface="Courier New"/>
              </a:rPr>
              <a:t>(</a:t>
            </a:r>
            <a:r>
              <a:rPr sz="1100" b="0" i="0">
                <a:solidFill>
                  <a:srgbClr val="9BE3A8"/>
                </a:solidFill>
                <a:latin typeface="Courier New"/>
              </a:rPr>
              <a:t>'a.txt'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'box'</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copy</a:t>
            </a:r>
            <a:r>
              <a:rPr sz="1100" b="0" i="0">
                <a:solidFill>
                  <a:srgbClr val="E6EDF3"/>
                </a:solidFill>
                <a:latin typeface="Courier New"/>
              </a:rPr>
              <a:t>(</a:t>
            </a:r>
            <a:r>
              <a:rPr sz="1100" b="0" i="0">
                <a:solidFill>
                  <a:srgbClr val="9BE3A8"/>
                </a:solidFill>
                <a:latin typeface="Courier New"/>
              </a:rPr>
              <a:t>'a.txt'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'box/b.txt'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listdir</a:t>
            </a:r>
            <a:r>
              <a:rPr sz="1100" b="0" i="0">
                <a:solidFill>
                  <a:srgbClr val="E6EDF3"/>
                </a:solidFill>
                <a:latin typeface="Courier New"/>
              </a:rPr>
              <a:t>(</a:t>
            </a:r>
            <a:r>
              <a:rPr sz="1100" b="0" i="0">
                <a:solidFill>
                  <a:srgbClr val="9BE3A8"/>
                </a:solidFill>
                <a:latin typeface="Courier New"/>
              </a:rPr>
              <a:t>'box'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4291584" y="1848866"/>
            <a:ext cx="4486656" cy="639318"/>
          </a:xfrm>
          <a:prstGeom prst="rect">
            <a:avLst/>
          </a:prstGeom>
          <a:noFill/>
        </p:spPr>
        <p:txBody>
          <a:bodyPr wrap="square" lIns="128016" rIns="128016" tIns="18288" bIns="18288" anchor="ctr">
            <a:spAutoFit/>
          </a:bodyPr>
          <a:lstStyle/>
          <a:p>
            <a:r>
              <a:rPr sz="1200" b="0" i="0">
                <a:solidFill>
                  <a:srgbClr val="1F2933"/>
                </a:solidFill>
                <a:latin typeface="Calibri"/>
              </a:rPr>
              <a:t>A folder as target keeps the name; a file name as target renames the copy. copy returns the new path.</a:t>
            </a:r>
          </a:p>
        </p:txBody>
      </p:sp>
      <p:sp>
        <p:nvSpPr>
          <p:cNvPr id="8" name="result label"/>
          <p:cNvSpPr txBox="1"/>
          <p:nvPr/>
        </p:nvSpPr>
        <p:spPr>
          <a:xfrm>
            <a:off x="365760" y="252476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64840"/>
            <a:ext cx="100584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a.txt</a:t>
            </a:r>
          </a:p>
        </p:txBody>
      </p:sp>
      <p:sp>
        <p:nvSpPr>
          <p:cNvPr id="10" name="Rounded Rectangle 9"/>
          <p:cNvSpPr/>
          <p:nvPr/>
        </p:nvSpPr>
        <p:spPr>
          <a:xfrm>
            <a:off x="2286000" y="2780792"/>
            <a:ext cx="155448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box/a.txt</a:t>
            </a:r>
          </a:p>
        </p:txBody>
      </p:sp>
      <p:sp>
        <p:nvSpPr>
          <p:cNvPr id="11" name="Rounded Rectangle 10"/>
          <p:cNvSpPr/>
          <p:nvPr/>
        </p:nvSpPr>
        <p:spPr>
          <a:xfrm>
            <a:off x="2286000" y="3558032"/>
            <a:ext cx="155448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box/b.txt</a:t>
            </a:r>
          </a:p>
        </p:txBody>
      </p:sp>
      <p:cxnSp>
        <p:nvCxnSpPr>
          <p:cNvPr id="12" name="arrow"/>
          <p:cNvCxnSpPr/>
          <p:nvPr/>
        </p:nvCxnSpPr>
        <p:spPr>
          <a:xfrm flipV="1">
            <a:off x="1371600" y="2927096"/>
            <a:ext cx="914400" cy="329184"/>
          </a:xfrm>
          <a:prstGeom prst="line">
            <a:avLst/>
          </a:prstGeom>
          <a:ln w="1778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a:off x="1371600" y="3393440"/>
            <a:ext cx="914400" cy="310896"/>
          </a:xfrm>
          <a:prstGeom prst="line">
            <a:avLst/>
          </a:prstGeom>
          <a:ln w="1778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4" name="table"/>
          <p:cNvGraphicFramePr>
            <a:graphicFrameLocks noGrp="1"/>
          </p:cNvGraphicFramePr>
          <p:nvPr/>
        </p:nvGraphicFramePr>
        <p:xfrm>
          <a:off x="4206240" y="2780792"/>
          <a:ext cx="4571999" cy="822960"/>
        </p:xfrm>
        <a:graphic>
          <a:graphicData uri="http://schemas.openxmlformats.org/drawingml/2006/table">
            <a:tbl>
              <a:tblPr firstRow="0" bandRow="0"/>
              <a:tblGrid>
                <a:gridCol w="1987826"/>
                <a:gridCol w="1192695"/>
                <a:gridCol w="1391478"/>
              </a:tblGrid>
              <a:tr h="274320">
                <a:tc>
                  <a:txBody>
                    <a:bodyPr wrap="square"/>
                    <a:lstStyle/>
                    <a:p>
                      <a:r>
                        <a:rPr sz="1000" b="1" i="0">
                          <a:solidFill>
                            <a:srgbClr val="FFFFFF"/>
                          </a:solidFill>
                          <a:latin typeface="Calibri"/>
                        </a:rPr>
                        <a:t>Target you gave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Name of the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a folder: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box/a.txt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a file name: 'box/b.txt'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box/b.txt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5" name="Rounded Rectangle 14"/>
          <p:cNvSpPr/>
          <p:nvPr/>
        </p:nvSpPr>
        <p:spPr>
          <a:xfrm>
            <a:off x="4206240" y="3695192"/>
            <a:ext cx="4571999"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the folder box now holds ['a.txt', 'b.txt']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copy keeps the original and returns the new path.</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shutil.copytree: a folder with everything in it</a:t>
            </a:r>
          </a:p>
        </p:txBody>
      </p:sp>
      <p:sp>
        <p:nvSpPr>
          <p:cNvPr id="4" name="code"/>
          <p:cNvSpPr/>
          <p:nvPr/>
        </p:nvSpPr>
        <p:spPr>
          <a:xfrm>
            <a:off x="365760" y="822960"/>
            <a:ext cx="5056631" cy="94145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os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shutil</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tempfile</a:t>
            </a:r>
          </a:p>
          <a:p>
            <a:pPr algn="l"/>
            <a:r>
              <a:rPr sz="1050" b="0" i="0">
                <a:solidFill>
                  <a:srgbClr val="8FA3B8"/>
                </a:solidFill>
                <a:latin typeface="Courier New"/>
              </a:rPr>
              <a:t>&gt;&gt;&gt; </a:t>
            </a:r>
            <a:r>
              <a:rPr sz="1050" b="0" i="0">
                <a:solidFill>
                  <a:srgbClr val="C9A0FF"/>
                </a:solidFill>
                <a:latin typeface="Courier New"/>
              </a:rPr>
              <a:t>from</a:t>
            </a:r>
            <a:r>
              <a:rPr sz="1050" b="0" i="0">
                <a:solidFill>
                  <a:srgbClr val="E6EDF3"/>
                </a:solidFill>
                <a:latin typeface="Courier New"/>
              </a:rPr>
              <a:t> </a:t>
            </a:r>
            <a:r>
              <a:rPr sz="1050" b="0" i="0">
                <a:solidFill>
                  <a:srgbClr val="E6EDF3"/>
                </a:solidFill>
                <a:latin typeface="Courier New"/>
              </a:rPr>
              <a:t>pathlib</a:t>
            </a:r>
            <a:r>
              <a:rPr sz="1050" b="0" i="0">
                <a:solidFill>
                  <a:srgbClr val="E6EDF3"/>
                </a:solidFill>
                <a:latin typeface="Courier New"/>
              </a:rPr>
              <a: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Path</a:t>
            </a:r>
          </a:p>
          <a:p>
            <a:pPr algn="l"/>
            <a:r>
              <a:rPr sz="1050" b="0" i="0">
                <a:solidFill>
                  <a:srgbClr val="8FA3B8"/>
                </a:solidFill>
                <a:latin typeface="Courier New"/>
              </a:rPr>
              <a:t>&gt;&gt;&gt; </a:t>
            </a:r>
            <a:r>
              <a:rPr sz="1050" b="0" i="0">
                <a:solidFill>
                  <a:srgbClr val="E6EDF3"/>
                </a:solidFill>
                <a:latin typeface="Courier New"/>
              </a:rPr>
              <a:t>os</a:t>
            </a:r>
            <a:r>
              <a:rPr sz="1050" b="0" i="0">
                <a:solidFill>
                  <a:srgbClr val="E6EDF3"/>
                </a:solidFill>
                <a:latin typeface="Courier New"/>
              </a:rPr>
              <a:t>.</a:t>
            </a:r>
            <a:r>
              <a:rPr sz="1050" b="0" i="0">
                <a:solidFill>
                  <a:srgbClr val="E6EDF3"/>
                </a:solidFill>
                <a:latin typeface="Courier New"/>
              </a:rPr>
              <a:t>chdir</a:t>
            </a:r>
            <a:r>
              <a:rPr sz="1050" b="0" i="0">
                <a:solidFill>
                  <a:srgbClr val="E6EDF3"/>
                </a:solidFill>
                <a:latin typeface="Courier New"/>
              </a:rPr>
              <a:t>(</a:t>
            </a:r>
            <a:r>
              <a:rPr sz="1050" b="0" i="0">
                <a:solidFill>
                  <a:srgbClr val="E6EDF3"/>
                </a:solidFill>
                <a:latin typeface="Courier New"/>
              </a:rPr>
              <a:t>tempfile</a:t>
            </a:r>
            <a:r>
              <a:rPr sz="1050" b="0" i="0">
                <a:solidFill>
                  <a:srgbClr val="E6EDF3"/>
                </a:solidFill>
                <a:latin typeface="Courier New"/>
              </a:rPr>
              <a:t>.</a:t>
            </a:r>
            <a:r>
              <a:rPr sz="1050" b="0" i="0">
                <a:solidFill>
                  <a:srgbClr val="E6EDF3"/>
                </a:solidFill>
                <a:latin typeface="Courier New"/>
              </a:rPr>
              <a:t>mkdtemp</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Path</a:t>
            </a:r>
            <a:r>
              <a:rPr sz="1050" b="0" i="0">
                <a:solidFill>
                  <a:srgbClr val="E6EDF3"/>
                </a:solidFill>
                <a:latin typeface="Courier New"/>
              </a:rPr>
              <a:t>(</a:t>
            </a:r>
            <a:r>
              <a:rPr sz="1050" b="0" i="0">
                <a:solidFill>
                  <a:srgbClr val="9BE3A8"/>
                </a:solidFill>
                <a:latin typeface="Courier New"/>
              </a:rPr>
              <a:t>'box/inner'</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mkdir</a:t>
            </a:r>
            <a:r>
              <a:rPr sz="1050" b="0" i="0">
                <a:solidFill>
                  <a:srgbClr val="E6EDF3"/>
                </a:solidFill>
                <a:latin typeface="Courier New"/>
              </a:rPr>
              <a:t>(</a:t>
            </a:r>
            <a:r>
              <a:rPr sz="1050" b="0" i="0">
                <a:solidFill>
                  <a:srgbClr val="E6EDF3"/>
                </a:solidFill>
                <a:latin typeface="Courier New"/>
              </a:rPr>
              <a:t>parents</a:t>
            </a:r>
            <a:r>
              <a:rPr sz="1050" b="0" i="0">
                <a:solidFill>
                  <a:srgbClr val="E6EDF3"/>
                </a:solidFill>
                <a:latin typeface="Courier New"/>
              </a:rPr>
              <a:t>=</a:t>
            </a:r>
            <a:r>
              <a:rPr sz="1050" b="0" i="0">
                <a:solidFill>
                  <a:srgbClr val="E6EDF3"/>
                </a:solidFill>
                <a:latin typeface="Courier New"/>
              </a:rPr>
              <a:t>True</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Path</a:t>
            </a:r>
            <a:r>
              <a:rPr sz="1050" b="0" i="0">
                <a:solidFill>
                  <a:srgbClr val="E6EDF3"/>
                </a:solidFill>
                <a:latin typeface="Courier New"/>
              </a:rPr>
              <a:t>(</a:t>
            </a:r>
            <a:r>
              <a:rPr sz="1050" b="0" i="0">
                <a:solidFill>
                  <a:srgbClr val="9BE3A8"/>
                </a:solidFill>
                <a:latin typeface="Courier New"/>
              </a:rPr>
              <a:t>'box/y.txt'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write_text</a:t>
            </a:r>
            <a:r>
              <a:rPr sz="1050" b="0" i="0">
                <a:solidFill>
                  <a:srgbClr val="E6EDF3"/>
                </a:solidFill>
                <a:latin typeface="Courier New"/>
              </a:rPr>
              <a:t>(</a:t>
            </a:r>
            <a:r>
              <a:rPr sz="1050" b="0" i="0">
                <a:solidFill>
                  <a:srgbClr val="9BE3A8"/>
                </a:solidFill>
                <a:latin typeface="Courier New"/>
              </a:rPr>
              <a:t>'y'</a:t>
            </a:r>
            <a:r>
              <a:rPr sz="1050" b="0" i="0">
                <a:solidFill>
                  <a:srgbClr val="E6EDF3"/>
                </a:solidFill>
                <a:latin typeface="Courier New"/>
              </a:rPr>
              <a:t>)</a:t>
            </a:r>
          </a:p>
        </p:txBody>
      </p:sp>
      <p:sp>
        <p:nvSpPr>
          <p:cNvPr id="5" name="explanation"/>
          <p:cNvSpPr txBox="1"/>
          <p:nvPr/>
        </p:nvSpPr>
        <p:spPr>
          <a:xfrm>
            <a:off x="5404104" y="822960"/>
            <a:ext cx="3374136" cy="941451"/>
          </a:xfrm>
          <a:prstGeom prst="rect">
            <a:avLst/>
          </a:prstGeom>
          <a:noFill/>
        </p:spPr>
        <p:txBody>
          <a:bodyPr wrap="square" lIns="128016" rIns="128016" tIns="18288" bIns="18288" anchor="ctr">
            <a:spAutoFit/>
          </a:bodyPr>
          <a:lstStyle/>
          <a:p>
            <a:r>
              <a:rPr sz="1100" b="0" i="0">
                <a:solidFill>
                  <a:srgbClr val="1F2933"/>
                </a:solidFill>
                <a:latin typeface="Calibri"/>
              </a:rPr>
              <a:t>A new temporary folder keeps your real files safe. The folder box holds a subfolder and a file.</a:t>
            </a:r>
          </a:p>
        </p:txBody>
      </p:sp>
      <p:sp>
        <p:nvSpPr>
          <p:cNvPr id="6" name="code"/>
          <p:cNvSpPr/>
          <p:nvPr/>
        </p:nvSpPr>
        <p:spPr>
          <a:xfrm>
            <a:off x="365760" y="1810131"/>
            <a:ext cx="5056631" cy="110413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shutil</a:t>
            </a:r>
            <a:r>
              <a:rPr sz="1050" b="0" i="0">
                <a:solidFill>
                  <a:srgbClr val="E6EDF3"/>
                </a:solidFill>
                <a:latin typeface="Courier New"/>
              </a:rPr>
              <a:t>.</a:t>
            </a:r>
            <a:r>
              <a:rPr sz="1050" b="0" i="0">
                <a:solidFill>
                  <a:srgbClr val="E6EDF3"/>
                </a:solidFill>
                <a:latin typeface="Courier New"/>
              </a:rPr>
              <a:t>copytree</a:t>
            </a:r>
            <a:r>
              <a:rPr sz="1050" b="0" i="0">
                <a:solidFill>
                  <a:srgbClr val="E6EDF3"/>
                </a:solidFill>
                <a:latin typeface="Courier New"/>
              </a:rPr>
              <a:t>(</a:t>
            </a:r>
            <a:r>
              <a:rPr sz="1050" b="0" i="0">
                <a:solidFill>
                  <a:srgbClr val="9BE3A8"/>
                </a:solidFill>
                <a:latin typeface="Courier New"/>
              </a:rPr>
              <a:t>'box'</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'bak'</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try</a:t>
            </a:r>
            <a:r>
              <a:rPr sz="1050" b="0" i="0">
                <a:solidFill>
                  <a:srgbClr val="E6EDF3"/>
                </a:solidFill>
                <a:latin typeface="Courier New"/>
              </a:rPr>
              <a:t>:</a:t>
            </a:r>
          </a:p>
          <a:p>
            <a:pPr algn="l"/>
            <a:r>
              <a:rPr sz="1050" b="0" i="0">
                <a:solidFill>
                  <a:srgbClr val="8FA3B8"/>
                </a:solidFill>
                <a:latin typeface="Courier New"/>
              </a:rPr>
              <a:t>... </a:t>
            </a:r>
            <a:r>
              <a:rPr sz="1050" b="0" i="0">
                <a:solidFill>
                  <a:srgbClr val="E6EDF3"/>
                </a:solidFill>
                <a:latin typeface="Courier New"/>
              </a:rPr>
              <a:t>    </a:t>
            </a:r>
            <a:r>
              <a:rPr sz="1050" b="0" i="0">
                <a:solidFill>
                  <a:srgbClr val="E6EDF3"/>
                </a:solidFill>
                <a:latin typeface="Courier New"/>
              </a:rPr>
              <a:t>shutil</a:t>
            </a:r>
            <a:r>
              <a:rPr sz="1050" b="0" i="0">
                <a:solidFill>
                  <a:srgbClr val="E6EDF3"/>
                </a:solidFill>
                <a:latin typeface="Courier New"/>
              </a:rPr>
              <a:t>.</a:t>
            </a:r>
            <a:r>
              <a:rPr sz="1050" b="0" i="0">
                <a:solidFill>
                  <a:srgbClr val="E6EDF3"/>
                </a:solidFill>
                <a:latin typeface="Courier New"/>
              </a:rPr>
              <a:t>copytree</a:t>
            </a:r>
            <a:r>
              <a:rPr sz="1050" b="0" i="0">
                <a:solidFill>
                  <a:srgbClr val="E6EDF3"/>
                </a:solidFill>
                <a:latin typeface="Courier New"/>
              </a:rPr>
              <a:t>(</a:t>
            </a:r>
            <a:r>
              <a:rPr sz="1050" b="0" i="0">
                <a:solidFill>
                  <a:srgbClr val="9BE3A8"/>
                </a:solidFill>
                <a:latin typeface="Courier New"/>
              </a:rPr>
              <a:t>'box'</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'bak'</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except</a:t>
            </a:r>
            <a:r>
              <a:rPr sz="1050" b="0" i="0">
                <a:solidFill>
                  <a:srgbClr val="E6EDF3"/>
                </a:solidFill>
                <a:latin typeface="Courier New"/>
              </a:rPr>
              <a:t> </a:t>
            </a:r>
            <a:r>
              <a:rPr sz="1050" b="0" i="0">
                <a:solidFill>
                  <a:srgbClr val="E6EDF3"/>
                </a:solidFill>
                <a:latin typeface="Courier New"/>
              </a:rPr>
              <a:t>FileExistsError</a:t>
            </a:r>
            <a:r>
              <a:rPr sz="1050" b="0" i="0">
                <a:solidFill>
                  <a:srgbClr val="E6EDF3"/>
                </a:solidFill>
                <a:latin typeface="Courier New"/>
              </a:rPr>
              <a:t>:</a:t>
            </a:r>
          </a:p>
          <a:p>
            <a:pPr algn="l"/>
            <a:r>
              <a:rPr sz="1050" b="0" i="0">
                <a:solidFill>
                  <a:srgbClr val="8FA3B8"/>
                </a:solidFill>
                <a:latin typeface="Courier New"/>
              </a:rPr>
              <a: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'second copy refused: the folder exists'</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shutil</a:t>
            </a:r>
            <a:r>
              <a:rPr sz="1050" b="0" i="0">
                <a:solidFill>
                  <a:srgbClr val="E6EDF3"/>
                </a:solidFill>
                <a:latin typeface="Courier New"/>
              </a:rPr>
              <a:t>.</a:t>
            </a:r>
            <a:r>
              <a:rPr sz="1050" b="0" i="0">
                <a:solidFill>
                  <a:srgbClr val="E6EDF3"/>
                </a:solidFill>
                <a:latin typeface="Courier New"/>
              </a:rPr>
              <a:t>copytree</a:t>
            </a:r>
            <a:r>
              <a:rPr sz="1050" b="0" i="0">
                <a:solidFill>
                  <a:srgbClr val="E6EDF3"/>
                </a:solidFill>
                <a:latin typeface="Courier New"/>
              </a:rPr>
              <a:t>(</a:t>
            </a:r>
            <a:r>
              <a:rPr sz="1050" b="0" i="0">
                <a:solidFill>
                  <a:srgbClr val="9BE3A8"/>
                </a:solidFill>
                <a:latin typeface="Courier New"/>
              </a:rPr>
              <a:t>'box'</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'bak'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dirs_exist_ok</a:t>
            </a:r>
            <a:r>
              <a:rPr sz="1050" b="0" i="0">
                <a:solidFill>
                  <a:srgbClr val="E6EDF3"/>
                </a:solidFill>
                <a:latin typeface="Courier New"/>
              </a:rPr>
              <a:t>=</a:t>
            </a:r>
            <a:r>
              <a:rPr sz="1050" b="0" i="0">
                <a:solidFill>
                  <a:srgbClr val="E6EDF3"/>
                </a:solidFill>
                <a:latin typeface="Courier New"/>
              </a:rPr>
              <a:t>True</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5404104" y="1810131"/>
            <a:ext cx="3374136" cy="1104138"/>
          </a:xfrm>
          <a:prstGeom prst="rect">
            <a:avLst/>
          </a:prstGeom>
          <a:noFill/>
        </p:spPr>
        <p:txBody>
          <a:bodyPr wrap="square" lIns="128016" rIns="128016" tIns="18288" bIns="18288" anchor="ctr">
            <a:spAutoFit/>
          </a:bodyPr>
          <a:lstStyle/>
          <a:p>
            <a:r>
              <a:rPr sz="1100" b="0" i="0">
                <a:solidFill>
                  <a:srgbClr val="1F2933"/>
                </a:solidFill>
                <a:latin typeface="Calibri"/>
              </a:rPr>
              <a:t>copytree copies the whole tree to a new name. A second copy is refused; dirs_exist_ok=True merges into the existing folder.</a:t>
            </a:r>
          </a:p>
        </p:txBody>
      </p:sp>
      <p:sp>
        <p:nvSpPr>
          <p:cNvPr id="8" name="result label"/>
          <p:cNvSpPr txBox="1"/>
          <p:nvPr/>
        </p:nvSpPr>
        <p:spPr>
          <a:xfrm>
            <a:off x="365760" y="295084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206877"/>
            <a:ext cx="68580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box</a:t>
            </a:r>
          </a:p>
        </p:txBody>
      </p:sp>
      <p:sp>
        <p:nvSpPr>
          <p:cNvPr id="10" name="Rounded Rectangle 9"/>
          <p:cNvSpPr/>
          <p:nvPr/>
        </p:nvSpPr>
        <p:spPr>
          <a:xfrm>
            <a:off x="1371600" y="3206877"/>
            <a:ext cx="68580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inner</a:t>
            </a:r>
          </a:p>
        </p:txBody>
      </p:sp>
      <p:sp>
        <p:nvSpPr>
          <p:cNvPr id="11" name="Rounded Rectangle 10"/>
          <p:cNvSpPr/>
          <p:nvPr/>
        </p:nvSpPr>
        <p:spPr>
          <a:xfrm>
            <a:off x="1371600" y="3590924"/>
            <a:ext cx="68580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y.txt</a:t>
            </a:r>
          </a:p>
        </p:txBody>
      </p:sp>
      <p:cxnSp>
        <p:nvCxnSpPr>
          <p:cNvPr id="12" name="arrow"/>
          <p:cNvCxnSpPr/>
          <p:nvPr/>
        </p:nvCxnSpPr>
        <p:spPr>
          <a:xfrm>
            <a:off x="1051560" y="3344036"/>
            <a:ext cx="32004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a:off x="1051560" y="3344036"/>
            <a:ext cx="320040" cy="384049"/>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arrow"/>
          <p:cNvCxnSpPr/>
          <p:nvPr/>
        </p:nvCxnSpPr>
        <p:spPr>
          <a:xfrm>
            <a:off x="2148840" y="3481196"/>
            <a:ext cx="457200" cy="0"/>
          </a:xfrm>
          <a:prstGeom prst="line">
            <a:avLst/>
          </a:prstGeom>
          <a:ln w="2286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651760" y="3206877"/>
            <a:ext cx="68580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bak</a:t>
            </a:r>
          </a:p>
        </p:txBody>
      </p:sp>
      <p:sp>
        <p:nvSpPr>
          <p:cNvPr id="16" name="Rounded Rectangle 15"/>
          <p:cNvSpPr/>
          <p:nvPr/>
        </p:nvSpPr>
        <p:spPr>
          <a:xfrm>
            <a:off x="3657600" y="3206877"/>
            <a:ext cx="68580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inner </a:t>
            </a:r>
          </a:p>
        </p:txBody>
      </p:sp>
      <p:sp>
        <p:nvSpPr>
          <p:cNvPr id="17" name="Rounded Rectangle 16"/>
          <p:cNvSpPr/>
          <p:nvPr/>
        </p:nvSpPr>
        <p:spPr>
          <a:xfrm>
            <a:off x="3657600" y="3590924"/>
            <a:ext cx="68580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y.txt </a:t>
            </a:r>
          </a:p>
        </p:txBody>
      </p:sp>
      <p:cxnSp>
        <p:nvCxnSpPr>
          <p:cNvPr id="18" name="arrow"/>
          <p:cNvCxnSpPr/>
          <p:nvPr/>
        </p:nvCxnSpPr>
        <p:spPr>
          <a:xfrm>
            <a:off x="3337560" y="3344036"/>
            <a:ext cx="32004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arrow"/>
          <p:cNvCxnSpPr/>
          <p:nvPr/>
        </p:nvCxnSpPr>
        <p:spPr>
          <a:xfrm>
            <a:off x="3337560" y="3344036"/>
            <a:ext cx="320040" cy="384049"/>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5760" y="4075557"/>
            <a:ext cx="402336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entries in box: 2, in bak: 2, equal: True</a:t>
            </a:r>
          </a:p>
        </p:txBody>
      </p:sp>
      <p:graphicFrame>
        <p:nvGraphicFramePr>
          <p:cNvPr id="21" name="table"/>
          <p:cNvGraphicFramePr>
            <a:graphicFrameLocks noGrp="1"/>
          </p:cNvGraphicFramePr>
          <p:nvPr/>
        </p:nvGraphicFramePr>
        <p:xfrm>
          <a:off x="4663440" y="3206877"/>
          <a:ext cx="4114798" cy="1097280"/>
        </p:xfrm>
        <a:graphic>
          <a:graphicData uri="http://schemas.openxmlformats.org/drawingml/2006/table">
            <a:tbl>
              <a:tblPr firstRow="0" bandRow="0"/>
              <a:tblGrid>
                <a:gridCol w="2571749"/>
                <a:gridCol w="1543049"/>
              </a:tblGrid>
              <a:tr h="274320">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copytree('box', 'bak')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bak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the same call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with dirs_exist_ok=True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bak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copytree needs a new name, or dirs_exist_ok=True.</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copy and copy2: what happens to the time stamp</a:t>
            </a:r>
          </a:p>
        </p:txBody>
      </p:sp>
      <p:sp>
        <p:nvSpPr>
          <p:cNvPr id="4" name="code"/>
          <p:cNvSpPr/>
          <p:nvPr/>
        </p:nvSpPr>
        <p:spPr>
          <a:xfrm>
            <a:off x="365760" y="822960"/>
            <a:ext cx="5209032" cy="105765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C9A0FF"/>
                </a:solidFill>
                <a:latin typeface="Courier New"/>
              </a:rPr>
              <a:t>from</a:t>
            </a:r>
            <a:r>
              <a:rPr sz="1000" b="0" i="0">
                <a:solidFill>
                  <a:srgbClr val="E6EDF3"/>
                </a:solidFill>
                <a:latin typeface="Courier New"/>
              </a:rPr>
              <a:t> </a:t>
            </a:r>
            <a:r>
              <a:rPr sz="1000" b="0" i="0">
                <a:solidFill>
                  <a:srgbClr val="E6EDF3"/>
                </a:solidFill>
                <a:latin typeface="Courier New"/>
              </a:rPr>
              <a:t>pathlib</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Path</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'Hello'</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'box'</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mkdir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utime</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1000000000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1000000000</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556504" y="822960"/>
            <a:ext cx="3221735" cy="1057656"/>
          </a:xfrm>
          <a:prstGeom prst="rect">
            <a:avLst/>
          </a:prstGeom>
          <a:noFill/>
        </p:spPr>
        <p:txBody>
          <a:bodyPr wrap="square" lIns="128016" rIns="128016" tIns="18288" bIns="18288" anchor="ctr">
            <a:spAutoFit/>
          </a:bodyPr>
          <a:lstStyle/>
          <a:p>
            <a:r>
              <a:rPr sz="1100" b="0" i="0">
                <a:solidFill>
                  <a:srgbClr val="1F2933"/>
                </a:solidFill>
                <a:latin typeface="Calibri"/>
              </a:rPr>
              <a:t>A new temporary folder keeps your real files safe. os.utime sets the file's times to a fixed moment in 2001, so the run is repeatable.</a:t>
            </a:r>
          </a:p>
        </p:txBody>
      </p:sp>
      <p:sp>
        <p:nvSpPr>
          <p:cNvPr id="6" name="code"/>
          <p:cNvSpPr/>
          <p:nvPr/>
        </p:nvSpPr>
        <p:spPr>
          <a:xfrm>
            <a:off x="365760" y="1926336"/>
            <a:ext cx="5209032" cy="9027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copy2</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'box/c.txt'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copy</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'box/d.txt'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int</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stat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st_mtime</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'copy2 keeps the time:'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t>
            </a:r>
            <a:r>
              <a:rPr sz="1000" b="0" i="0">
                <a:solidFill>
                  <a:srgbClr val="E6EDF3"/>
                </a:solidFill>
                <a:latin typeface="Courier New"/>
              </a:rPr>
              <a:t>(</a:t>
            </a:r>
            <a:r>
              <a:rPr sz="1000" b="0" i="0">
                <a:solidFill>
                  <a:srgbClr val="9BE3A8"/>
                </a:solidFill>
                <a:latin typeface="Courier New"/>
              </a:rPr>
              <a:t>'box/c.txt'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'copy gives a new time:'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t>
            </a:r>
            <a:r>
              <a:rPr sz="1000" b="0" i="0">
                <a:solidFill>
                  <a:srgbClr val="E6EDF3"/>
                </a:solidFill>
                <a:latin typeface="Courier New"/>
              </a:rPr>
              <a:t>(</a:t>
            </a:r>
            <a:r>
              <a:rPr sz="1000" b="0" i="0">
                <a:solidFill>
                  <a:srgbClr val="9BE3A8"/>
                </a:solidFill>
                <a:latin typeface="Courier New"/>
              </a:rPr>
              <a:t>'box/d.txt'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556504" y="1926336"/>
            <a:ext cx="3221735" cy="902715"/>
          </a:xfrm>
          <a:prstGeom prst="rect">
            <a:avLst/>
          </a:prstGeom>
          <a:noFill/>
        </p:spPr>
        <p:txBody>
          <a:bodyPr wrap="square" lIns="128016" rIns="128016" tIns="18288" bIns="18288" anchor="ctr">
            <a:spAutoFit/>
          </a:bodyPr>
          <a:lstStyle/>
          <a:p>
            <a:r>
              <a:rPr sz="1100" b="0" i="0">
                <a:solidFill>
                  <a:srgbClr val="1F2933"/>
                </a:solidFill>
                <a:latin typeface="Calibri"/>
              </a:rPr>
              <a:t>copy2 also copies the modification time. Plain copy stamps the copy with the moment of copying.</a:t>
            </a:r>
          </a:p>
        </p:txBody>
      </p:sp>
      <p:sp>
        <p:nvSpPr>
          <p:cNvPr id="8" name="result label"/>
          <p:cNvSpPr txBox="1"/>
          <p:nvPr/>
        </p:nvSpPr>
        <p:spPr>
          <a:xfrm>
            <a:off x="365760" y="286562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121660"/>
          <a:ext cx="4206240" cy="1560068"/>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824374" y="3167379"/>
          <a:ext cx="3953864" cy="1097280"/>
        </p:xfrm>
        <a:graphic>
          <a:graphicData uri="http://schemas.openxmlformats.org/drawingml/2006/table">
            <a:tbl>
              <a:tblPr firstRow="0" bandRow="0"/>
              <a:tblGrid>
                <a:gridCol w="966500"/>
                <a:gridCol w="1669409"/>
                <a:gridCol w="1317955"/>
              </a:tblGrid>
              <a:tr h="274320">
                <a:tc>
                  <a:txBody>
                    <a:bodyPr wrap="square"/>
                    <a:lstStyle/>
                    <a:p>
                      <a:r>
                        <a:rPr sz="1000" b="1" i="0">
                          <a:solidFill>
                            <a:srgbClr val="FFFFFF"/>
                          </a:solidFill>
                          <a:latin typeface="Calibri"/>
                        </a:rPr>
                        <a:t>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Time stamp (seconds)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Same as 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1000000000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c.txt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1000000000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d.txt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1792924302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TextBox 10"/>
          <p:cNvSpPr txBox="1"/>
          <p:nvPr/>
        </p:nvSpPr>
        <p:spPr>
          <a:xfrm>
            <a:off x="4824374" y="4310380"/>
            <a:ext cx="3953865" cy="237744"/>
          </a:xfrm>
          <a:prstGeom prst="rect">
            <a:avLst/>
          </a:prstGeom>
          <a:noFill/>
        </p:spPr>
        <p:txBody>
          <a:bodyPr wrap="square" lIns="45720" rIns="45720" tIns="27432" bIns="27432" anchor="t">
            <a:spAutoFit/>
          </a:bodyPr>
          <a:lstStyle/>
          <a:p>
            <a:r>
              <a:rPr sz="900" b="0" i="1">
                <a:solidFill>
                  <a:srgbClr val="5B6773"/>
                </a:solidFill>
                <a:latin typeface="Calibri"/>
              </a:rPr>
              <a:t>chart: billions of seconds since 1970</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copy2 keeps the time stamp; copy does not.</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shutil.move: move, rename, overwrite</a:t>
            </a:r>
          </a:p>
        </p:txBody>
      </p:sp>
      <p:sp>
        <p:nvSpPr>
          <p:cNvPr id="4" name="code"/>
          <p:cNvSpPr/>
          <p:nvPr/>
        </p:nvSpPr>
        <p:spPr>
          <a:xfrm>
            <a:off x="365760" y="822960"/>
            <a:ext cx="5125212" cy="82524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shutil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p>
          <a:p>
            <a:pPr algn="l"/>
            <a:r>
              <a:rPr sz="900" b="0" i="0">
                <a:solidFill>
                  <a:srgbClr val="8FA3B8"/>
                </a:solidFill>
                <a:latin typeface="Courier New"/>
              </a:rPr>
              <a:t>&gt;&gt;&gt; </a:t>
            </a:r>
            <a:r>
              <a:rPr sz="900" b="0" i="0">
                <a:solidFill>
                  <a:srgbClr val="C9A0FF"/>
                </a:solidFill>
                <a:latin typeface="Courier New"/>
              </a:rPr>
              <a:t>from</a:t>
            </a:r>
            <a:r>
              <a:rPr sz="900" b="0" i="0">
                <a:solidFill>
                  <a:srgbClr val="E6EDF3"/>
                </a:solidFill>
                <a:latin typeface="Courier New"/>
              </a:rPr>
              <a:t> </a:t>
            </a:r>
            <a:r>
              <a:rPr sz="900" b="0" i="0">
                <a:solidFill>
                  <a:srgbClr val="E6EDF3"/>
                </a:solidFill>
                <a:latin typeface="Courier New"/>
              </a:rPr>
              <a:t>pathlib</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Path</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mkdir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mkdir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'spam/file1.txt'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write_text</a:t>
            </a:r>
            <a:r>
              <a:rPr sz="900" b="0" i="0">
                <a:solidFill>
                  <a:srgbClr val="E6EDF3"/>
                </a:solidFill>
                <a:latin typeface="Courier New"/>
              </a:rPr>
              <a:t>(</a:t>
            </a:r>
            <a:r>
              <a:rPr sz="900" b="0" i="0">
                <a:solidFill>
                  <a:srgbClr val="9BE3A8"/>
                </a:solidFill>
                <a:latin typeface="Courier New"/>
              </a:rPr>
              <a:t>'Hello'</a:t>
            </a:r>
            <a:r>
              <a:rPr sz="900" b="0" i="0">
                <a:solidFill>
                  <a:srgbClr val="E6EDF3"/>
                </a:solidFill>
                <a:latin typeface="Courier New"/>
              </a:rPr>
              <a:t>)</a:t>
            </a:r>
          </a:p>
        </p:txBody>
      </p:sp>
      <p:sp>
        <p:nvSpPr>
          <p:cNvPr id="5" name="explanation"/>
          <p:cNvSpPr txBox="1"/>
          <p:nvPr/>
        </p:nvSpPr>
        <p:spPr>
          <a:xfrm>
            <a:off x="5472684" y="822960"/>
            <a:ext cx="3305555" cy="825246"/>
          </a:xfrm>
          <a:prstGeom prst="rect">
            <a:avLst/>
          </a:prstGeom>
          <a:noFill/>
        </p:spPr>
        <p:txBody>
          <a:bodyPr wrap="square" lIns="128016" rIns="128016" tIns="18288" bIns="18288" anchor="ctr">
            <a:spAutoFit/>
          </a:bodyPr>
          <a:lstStyle/>
          <a:p>
            <a:r>
              <a:rPr sz="1050" b="0" i="0">
                <a:solidFill>
                  <a:srgbClr val="1F2933"/>
                </a:solidFill>
                <a:latin typeface="Calibri"/>
              </a:rPr>
              <a:t>A new temporary folder keeps your real files safe. Two folders and one file in the first.</a:t>
            </a:r>
          </a:p>
        </p:txBody>
      </p:sp>
      <p:sp>
        <p:nvSpPr>
          <p:cNvPr id="6" name="code"/>
          <p:cNvSpPr/>
          <p:nvPr/>
        </p:nvSpPr>
        <p:spPr>
          <a:xfrm>
            <a:off x="365760" y="1693926"/>
            <a:ext cx="5125212" cy="40690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shutil</a:t>
            </a:r>
            <a:r>
              <a:rPr sz="900" b="0" i="0">
                <a:solidFill>
                  <a:srgbClr val="E6EDF3"/>
                </a:solidFill>
                <a:latin typeface="Courier New"/>
              </a:rPr>
              <a:t>.</a:t>
            </a:r>
            <a:r>
              <a:rPr sz="900" b="0" i="0">
                <a:solidFill>
                  <a:srgbClr val="E6EDF3"/>
                </a:solidFill>
                <a:latin typeface="Courier New"/>
              </a:rPr>
              <a:t>move</a:t>
            </a:r>
            <a:r>
              <a:rPr sz="900" b="0" i="0">
                <a:solidFill>
                  <a:srgbClr val="E6EDF3"/>
                </a:solidFill>
                <a:latin typeface="Courier New"/>
              </a:rPr>
              <a:t>(</a:t>
            </a:r>
            <a:r>
              <a:rPr sz="900" b="0" i="0">
                <a:solidFill>
                  <a:srgbClr val="9BE3A8"/>
                </a:solidFill>
                <a:latin typeface="Courier New"/>
              </a:rPr>
              <a:t>'spam/file1.txt'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'spam2'</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shutil</a:t>
            </a:r>
            <a:r>
              <a:rPr sz="900" b="0" i="0">
                <a:solidFill>
                  <a:srgbClr val="E6EDF3"/>
                </a:solidFill>
                <a:latin typeface="Courier New"/>
              </a:rPr>
              <a:t>.</a:t>
            </a:r>
            <a:r>
              <a:rPr sz="900" b="0" i="0">
                <a:solidFill>
                  <a:srgbClr val="E6EDF3"/>
                </a:solidFill>
                <a:latin typeface="Courier New"/>
              </a:rPr>
              <a:t>move</a:t>
            </a:r>
            <a:r>
              <a:rPr sz="900" b="0" i="0">
                <a:solidFill>
                  <a:srgbClr val="E6EDF3"/>
                </a:solidFill>
                <a:latin typeface="Courier New"/>
              </a:rPr>
              <a:t>(</a:t>
            </a:r>
            <a:r>
              <a:rPr sz="900" b="0" i="0">
                <a:solidFill>
                  <a:srgbClr val="9BE3A8"/>
                </a:solidFill>
                <a:latin typeface="Courier New"/>
              </a:rPr>
              <a:t>'spam2/file1.txt'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'spam/new_name.txt'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472684" y="1693926"/>
            <a:ext cx="3305555" cy="406908"/>
          </a:xfrm>
          <a:prstGeom prst="rect">
            <a:avLst/>
          </a:prstGeom>
          <a:noFill/>
        </p:spPr>
        <p:txBody>
          <a:bodyPr wrap="square" lIns="128016" rIns="128016" tIns="18288" bIns="18288" anchor="ctr">
            <a:spAutoFit/>
          </a:bodyPr>
          <a:lstStyle/>
          <a:p>
            <a:r>
              <a:rPr sz="1050" b="0" i="0">
                <a:solidFill>
                  <a:srgbClr val="1F2933"/>
                </a:solidFill>
                <a:latin typeface="Calibri"/>
              </a:rPr>
              <a:t>A folder as target moves the file into it. A new file name moves and renames in one step.</a:t>
            </a:r>
          </a:p>
        </p:txBody>
      </p:sp>
      <p:sp>
        <p:nvSpPr>
          <p:cNvPr id="8" name="code"/>
          <p:cNvSpPr/>
          <p:nvPr/>
        </p:nvSpPr>
        <p:spPr>
          <a:xfrm>
            <a:off x="365760" y="2146554"/>
            <a:ext cx="5125212" cy="68580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'spam2/f.txt'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write_text</a:t>
            </a:r>
            <a:r>
              <a:rPr sz="900" b="0" i="0">
                <a:solidFill>
                  <a:srgbClr val="E6EDF3"/>
                </a:solidFill>
                <a:latin typeface="Courier New"/>
              </a:rPr>
              <a:t>(</a:t>
            </a:r>
            <a:r>
              <a:rPr sz="900" b="0" i="0">
                <a:solidFill>
                  <a:srgbClr val="9BE3A8"/>
                </a:solidFill>
                <a:latin typeface="Courier New"/>
              </a:rPr>
              <a:t>'old'</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'spam/f.txt'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write_text</a:t>
            </a:r>
            <a:r>
              <a:rPr sz="900" b="0" i="0">
                <a:solidFill>
                  <a:srgbClr val="E6EDF3"/>
                </a:solidFill>
                <a:latin typeface="Courier New"/>
              </a:rPr>
              <a:t>(</a:t>
            </a:r>
            <a:r>
              <a:rPr sz="900" b="0" i="0">
                <a:solidFill>
                  <a:srgbClr val="9BE3A8"/>
                </a:solidFill>
                <a:latin typeface="Courier New"/>
              </a:rPr>
              <a:t>'new'</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shutil</a:t>
            </a:r>
            <a:r>
              <a:rPr sz="900" b="0" i="0">
                <a:solidFill>
                  <a:srgbClr val="E6EDF3"/>
                </a:solidFill>
                <a:latin typeface="Courier New"/>
              </a:rPr>
              <a:t>.</a:t>
            </a:r>
            <a:r>
              <a:rPr sz="900" b="0" i="0">
                <a:solidFill>
                  <a:srgbClr val="E6EDF3"/>
                </a:solidFill>
                <a:latin typeface="Courier New"/>
              </a:rPr>
              <a:t>move</a:t>
            </a:r>
            <a:r>
              <a:rPr sz="900" b="0" i="0">
                <a:solidFill>
                  <a:srgbClr val="E6EDF3"/>
                </a:solidFill>
                <a:latin typeface="Courier New"/>
              </a:rPr>
              <a:t>(</a:t>
            </a:r>
            <a:r>
              <a:rPr sz="900" b="0" i="0">
                <a:solidFill>
                  <a:srgbClr val="9BE3A8"/>
                </a:solidFill>
                <a:latin typeface="Courier New"/>
              </a:rPr>
              <a:t>'spam/f.txt'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'spam2/f.txt'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'spam2/f.txt'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read_text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'spam/f.txt'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exists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472684" y="2146554"/>
            <a:ext cx="3305555" cy="685800"/>
          </a:xfrm>
          <a:prstGeom prst="rect">
            <a:avLst/>
          </a:prstGeom>
          <a:noFill/>
        </p:spPr>
        <p:txBody>
          <a:bodyPr wrap="square" lIns="128016" rIns="128016" tIns="18288" bIns="18288" anchor="ctr">
            <a:spAutoFit/>
          </a:bodyPr>
          <a:lstStyle/>
          <a:p>
            <a:r>
              <a:rPr sz="1050" b="0" i="0">
                <a:solidFill>
                  <a:srgbClr val="1F2933"/>
                </a:solidFill>
                <a:latin typeface="Calibri"/>
              </a:rPr>
              <a:t>Moving onto an existing file name silently overwrites it. The source is gone afterwards.</a:t>
            </a:r>
          </a:p>
        </p:txBody>
      </p:sp>
      <p:sp>
        <p:nvSpPr>
          <p:cNvPr id="10" name="result label"/>
          <p:cNvSpPr txBox="1"/>
          <p:nvPr/>
        </p:nvSpPr>
        <p:spPr>
          <a:xfrm>
            <a:off x="365760" y="286893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124962"/>
            <a:ext cx="155448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spam/file1.txt</a:t>
            </a:r>
          </a:p>
        </p:txBody>
      </p:sp>
      <p:cxnSp>
        <p:nvCxnSpPr>
          <p:cNvPr id="12" name="arrow"/>
          <p:cNvCxnSpPr/>
          <p:nvPr/>
        </p:nvCxnSpPr>
        <p:spPr>
          <a:xfrm>
            <a:off x="1920240" y="3262122"/>
            <a:ext cx="457200"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77440" y="3124962"/>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spam2/file1.txt</a:t>
            </a:r>
          </a:p>
        </p:txBody>
      </p:sp>
      <p:sp>
        <p:nvSpPr>
          <p:cNvPr id="14" name="Rounded Rectangle 13"/>
          <p:cNvSpPr/>
          <p:nvPr/>
        </p:nvSpPr>
        <p:spPr>
          <a:xfrm>
            <a:off x="365760" y="3627882"/>
            <a:ext cx="155448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spam2/file1.txt</a:t>
            </a:r>
          </a:p>
        </p:txBody>
      </p:sp>
      <p:cxnSp>
        <p:nvCxnSpPr>
          <p:cNvPr id="15" name="arrow"/>
          <p:cNvCxnSpPr/>
          <p:nvPr/>
        </p:nvCxnSpPr>
        <p:spPr>
          <a:xfrm>
            <a:off x="1920240" y="3765042"/>
            <a:ext cx="457200" cy="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377440" y="3627882"/>
            <a:ext cx="155448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spam/new_name.txt</a:t>
            </a:r>
          </a:p>
        </p:txBody>
      </p:sp>
      <p:sp>
        <p:nvSpPr>
          <p:cNvPr id="17" name="TextBox 16"/>
          <p:cNvSpPr txBox="1"/>
          <p:nvPr/>
        </p:nvSpPr>
        <p:spPr>
          <a:xfrm>
            <a:off x="365760" y="3929634"/>
            <a:ext cx="3657600" cy="237744"/>
          </a:xfrm>
          <a:prstGeom prst="rect">
            <a:avLst/>
          </a:prstGeom>
          <a:noFill/>
        </p:spPr>
        <p:txBody>
          <a:bodyPr wrap="square" lIns="45720" rIns="45720" tIns="27432" bIns="27432" anchor="t">
            <a:spAutoFit/>
          </a:bodyPr>
          <a:lstStyle/>
          <a:p>
            <a:r>
              <a:rPr sz="900" b="0" i="1">
                <a:solidFill>
                  <a:srgbClr val="5B6773"/>
                </a:solidFill>
                <a:latin typeface="Calibri"/>
              </a:rPr>
              <a:t>into a folder; then moved and renamed in one step</a:t>
            </a:r>
          </a:p>
        </p:txBody>
      </p:sp>
      <p:graphicFrame>
        <p:nvGraphicFramePr>
          <p:cNvPr id="18" name="table"/>
          <p:cNvGraphicFramePr>
            <a:graphicFrameLocks noGrp="1"/>
          </p:cNvGraphicFramePr>
          <p:nvPr/>
        </p:nvGraphicFramePr>
        <p:xfrm>
          <a:off x="4389120" y="3124962"/>
          <a:ext cx="4389119" cy="822960"/>
        </p:xfrm>
        <a:graphic>
          <a:graphicData uri="http://schemas.openxmlformats.org/drawingml/2006/table">
            <a:tbl>
              <a:tblPr firstRow="0" bandRow="0"/>
              <a:tblGrid>
                <a:gridCol w="2992581"/>
                <a:gridCol w="1396538"/>
              </a:tblGrid>
              <a:tr h="274320">
                <a:tc>
                  <a:txBody>
                    <a:bodyPr wrap="square"/>
                    <a:lstStyle/>
                    <a:p>
                      <a:r>
                        <a:rPr sz="1000" b="1" i="0">
                          <a:solidFill>
                            <a:srgbClr val="FFFFFF"/>
                          </a:solidFill>
                          <a:latin typeface="Calibri"/>
                        </a:rPr>
                        <a:t>Move onto an existing file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spam2/f.txt now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new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spam/f.txt still exists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9" name="TextBox 18"/>
          <p:cNvSpPr txBox="1"/>
          <p:nvPr/>
        </p:nvSpPr>
        <p:spPr>
          <a:xfrm>
            <a:off x="4389120" y="3993642"/>
            <a:ext cx="4389119" cy="237744"/>
          </a:xfrm>
          <a:prstGeom prst="rect">
            <a:avLst/>
          </a:prstGeom>
          <a:noFill/>
        </p:spPr>
        <p:txBody>
          <a:bodyPr wrap="square" lIns="45720" rIns="45720" tIns="27432" bIns="27432" anchor="t">
            <a:spAutoFit/>
          </a:bodyPr>
          <a:lstStyle/>
          <a:p>
            <a:r>
              <a:rPr sz="900" b="0" i="1">
                <a:solidFill>
                  <a:srgbClr val="5B6773"/>
                </a:solidFill>
                <a:latin typeface="Calibri"/>
              </a:rPr>
              <a:t>the old text was replaced; the source is gone</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move relocates and renames; it can overwrite.</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Deleting, and staying safe</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Permanent deletion has no undo, so print before you delete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unlink</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Deletes one file for good, with no recycle bin.</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rmtree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Removes a whole folder tree in one call.</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Dry run</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Print what would go before anything is deleted.</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send2trash</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third-party module that uses the recycle bin.</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deleting safely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os.unlink and os.rmdir: one file, one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shutil.rmtree: a folder and everything...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Safe deletion: print first, delete later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send2trash: the recycle bin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recycle bin is a 1983 drawing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deleting safely</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Permanent deletion is a paper shredder; the recycle bin is the waste-paper basket beside it.</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Safe deletion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Reading the shredding list aloud before anything goes into the machine.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unlink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shredder: the page is gone, and nobody can fetch it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send2trash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waste-paper basket: the page can still be pulled out until the bin is emptied.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rmtree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Demolishing a whole room with everything in it, not just emptying one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Dry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dress rehearsal: the actors say their lines, and nothing on stage is damaged.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os.unlink and os.rmdir: one file, one empty folder</a:t>
            </a:r>
          </a:p>
        </p:txBody>
      </p:sp>
      <p:sp>
        <p:nvSpPr>
          <p:cNvPr id="4" name="code"/>
          <p:cNvSpPr/>
          <p:nvPr/>
        </p:nvSpPr>
        <p:spPr>
          <a:xfrm>
            <a:off x="365760" y="822960"/>
            <a:ext cx="4599431" cy="105765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C9A0FF"/>
                </a:solidFill>
                <a:latin typeface="Courier New"/>
              </a:rPr>
              <a:t>from</a:t>
            </a:r>
            <a:r>
              <a:rPr sz="1000" b="0" i="0">
                <a:solidFill>
                  <a:srgbClr val="E6EDF3"/>
                </a:solidFill>
                <a:latin typeface="Courier New"/>
              </a:rPr>
              <a:t> </a:t>
            </a:r>
            <a:r>
              <a:rPr sz="1000" b="0" i="0">
                <a:solidFill>
                  <a:srgbClr val="E6EDF3"/>
                </a:solidFill>
                <a:latin typeface="Courier New"/>
              </a:rPr>
              <a:t>pathlib</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Path</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unlink</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'a.txt exists:'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'a.txt'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exists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4946904" y="822960"/>
            <a:ext cx="3831335" cy="1057656"/>
          </a:xfrm>
          <a:prstGeom prst="rect">
            <a:avLst/>
          </a:prstGeom>
          <a:noFill/>
        </p:spPr>
        <p:txBody>
          <a:bodyPr wrap="square" lIns="128016" rIns="128016" tIns="18288" bIns="18288" anchor="ctr">
            <a:spAutoFit/>
          </a:bodyPr>
          <a:lstStyle/>
          <a:p>
            <a:r>
              <a:rPr sz="1100" b="0" i="0">
                <a:solidFill>
                  <a:srgbClr val="1F2933"/>
                </a:solidFill>
                <a:latin typeface="Calibri"/>
              </a:rPr>
              <a:t>A new temporary folder keeps your real files safe. os.unlink deletes one file for good. There is no undo and no recycle bin.</a:t>
            </a:r>
          </a:p>
        </p:txBody>
      </p:sp>
      <p:sp>
        <p:nvSpPr>
          <p:cNvPr id="6" name="code"/>
          <p:cNvSpPr/>
          <p:nvPr/>
        </p:nvSpPr>
        <p:spPr>
          <a:xfrm>
            <a:off x="365760" y="1926336"/>
            <a:ext cx="4599431" cy="12125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mkdir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'd/f.txt'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try</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rmdir</a:t>
            </a:r>
            <a:r>
              <a:rPr sz="1000" b="0" i="0">
                <a:solidFill>
                  <a:srgbClr val="E6EDF3"/>
                </a:solidFill>
                <a:latin typeface="Courier New"/>
              </a:rPr>
              <a:t>(</a:t>
            </a:r>
            <a:r>
              <a:rPr sz="1000" b="0" i="0">
                <a:solidFill>
                  <a:srgbClr val="9BE3A8"/>
                </a:solidFill>
                <a:latin typeface="Courier New"/>
              </a:rPr>
              <a:t>'d'</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except</a:t>
            </a:r>
            <a:r>
              <a:rPr sz="1000" b="0" i="0">
                <a:solidFill>
                  <a:srgbClr val="E6EDF3"/>
                </a:solidFill>
                <a:latin typeface="Courier New"/>
              </a:rPr>
              <a:t> </a:t>
            </a:r>
            <a:r>
              <a:rPr sz="1000" b="0" i="0">
                <a:solidFill>
                  <a:srgbClr val="E6EDF3"/>
                </a:solidFill>
                <a:latin typeface="Courier New"/>
              </a:rPr>
              <a:t>OSError</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'rmdir refused: the folder d is not empty'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unlink</a:t>
            </a:r>
            <a:r>
              <a:rPr sz="1000" b="0" i="0">
                <a:solidFill>
                  <a:srgbClr val="E6EDF3"/>
                </a:solidFill>
                <a:latin typeface="Courier New"/>
              </a:rPr>
              <a:t>(</a:t>
            </a:r>
            <a:r>
              <a:rPr sz="1000" b="0" i="0">
                <a:solidFill>
                  <a:srgbClr val="9BE3A8"/>
                </a:solidFill>
                <a:latin typeface="Courier New"/>
              </a:rPr>
              <a:t>'d/f.txt'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rmdir</a:t>
            </a:r>
            <a:r>
              <a:rPr sz="1000" b="0" i="0">
                <a:solidFill>
                  <a:srgbClr val="E6EDF3"/>
                </a:solidFill>
                <a:latin typeface="Courier New"/>
              </a:rPr>
              <a:t>(</a:t>
            </a:r>
            <a:r>
              <a:rPr sz="1000" b="0" i="0">
                <a:solidFill>
                  <a:srgbClr val="9BE3A8"/>
                </a:solidFill>
                <a:latin typeface="Courier New"/>
              </a:rPr>
              <a:t>'d'</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'd exists:'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exists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4946904" y="1926336"/>
            <a:ext cx="3831335" cy="1212596"/>
          </a:xfrm>
          <a:prstGeom prst="rect">
            <a:avLst/>
          </a:prstGeom>
          <a:noFill/>
        </p:spPr>
        <p:txBody>
          <a:bodyPr wrap="square" lIns="128016" rIns="128016" tIns="18288" bIns="18288" anchor="ctr">
            <a:spAutoFit/>
          </a:bodyPr>
          <a:lstStyle/>
          <a:p>
            <a:r>
              <a:rPr sz="1100" b="0" i="0">
                <a:solidFill>
                  <a:srgbClr val="1F2933"/>
                </a:solidFill>
                <a:latin typeface="Calibri"/>
              </a:rPr>
              <a:t>os.rmdir deletes only an empty folder. Empty it first, then remove it.</a:t>
            </a:r>
          </a:p>
        </p:txBody>
      </p:sp>
      <p:sp>
        <p:nvSpPr>
          <p:cNvPr id="8" name="result label"/>
          <p:cNvSpPr txBox="1"/>
          <p:nvPr/>
        </p:nvSpPr>
        <p:spPr>
          <a:xfrm>
            <a:off x="365760" y="317550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31539"/>
          <a:ext cx="5486400" cy="1097280"/>
        </p:xfrm>
        <a:graphic>
          <a:graphicData uri="http://schemas.openxmlformats.org/drawingml/2006/table">
            <a:tbl>
              <a:tblPr firstRow="0" bandRow="0"/>
              <a:tblGrid>
                <a:gridCol w="2103120"/>
                <a:gridCol w="3383280"/>
              </a:tblGrid>
              <a:tr h="274320">
                <a:tc>
                  <a:txBody>
                    <a:bodyPr wrap="square"/>
                    <a:lstStyle/>
                    <a:p>
                      <a:r>
                        <a:rPr sz="1000" b="1" i="0">
                          <a:solidFill>
                            <a:srgbClr val="FFFFFF"/>
                          </a:solidFill>
                          <a:latin typeface="Calibri"/>
                        </a:rPr>
                        <a:t>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the run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unlink 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a.txt exists: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rmdir on a full 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rmdir refused: the folder d is not 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alibri"/>
                        </a:rPr>
                        <a:t>unlink the file, then rmdir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d exists: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6126480" y="3477259"/>
            <a:ext cx="77724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a.txt</a:t>
            </a:r>
          </a:p>
        </p:txBody>
      </p:sp>
      <p:cxnSp>
        <p:nvCxnSpPr>
          <p:cNvPr id="11" name="arrow"/>
          <p:cNvCxnSpPr/>
          <p:nvPr/>
        </p:nvCxnSpPr>
        <p:spPr>
          <a:xfrm>
            <a:off x="6903720" y="3614419"/>
            <a:ext cx="274320" cy="0"/>
          </a:xfrm>
          <a:prstGeom prst="line">
            <a:avLst/>
          </a:prstGeom>
          <a:ln w="2286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178040" y="3477259"/>
            <a:ext cx="82296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gone</a:t>
            </a:r>
          </a:p>
        </p:txBody>
      </p:sp>
      <p:sp>
        <p:nvSpPr>
          <p:cNvPr id="13" name="TextBox 12"/>
          <p:cNvSpPr txBox="1"/>
          <p:nvPr/>
        </p:nvSpPr>
        <p:spPr>
          <a:xfrm>
            <a:off x="6126480" y="3843019"/>
            <a:ext cx="2743200" cy="457200"/>
          </a:xfrm>
          <a:prstGeom prst="rect">
            <a:avLst/>
          </a:prstGeom>
          <a:noFill/>
        </p:spPr>
        <p:txBody>
          <a:bodyPr wrap="square" lIns="45720" rIns="45720" tIns="27432" bIns="27432" anchor="t">
            <a:spAutoFit/>
          </a:bodyPr>
          <a:lstStyle/>
          <a:p>
            <a:r>
              <a:rPr sz="1050" b="0" i="1">
                <a:solidFill>
                  <a:srgbClr val="B83A1B"/>
                </a:solidFill>
                <a:latin typeface="Calibri"/>
              </a:rPr>
              <a:t>no recycle bin: os.unlink cannot be undone</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unlink and rmdir cannot be undone.</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shutil.rmtree: a folder and everything inside</a:t>
            </a:r>
          </a:p>
        </p:txBody>
      </p:sp>
      <p:sp>
        <p:nvSpPr>
          <p:cNvPr id="4" name="code"/>
          <p:cNvSpPr/>
          <p:nvPr/>
        </p:nvSpPr>
        <p:spPr>
          <a:xfrm>
            <a:off x="365760" y="822960"/>
            <a:ext cx="5117591" cy="11506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C9A0FF"/>
                </a:solidFill>
                <a:latin typeface="Courier New"/>
              </a:rPr>
              <a:t>from</a:t>
            </a:r>
            <a:r>
              <a:rPr sz="1100" b="0" i="0">
                <a:solidFill>
                  <a:srgbClr val="E6EDF3"/>
                </a:solidFill>
                <a:latin typeface="Courier New"/>
              </a:rPr>
              <a:t> </a:t>
            </a:r>
            <a:r>
              <a:rPr sz="1100" b="0" i="0">
                <a:solidFill>
                  <a:srgbClr val="E6EDF3"/>
                </a:solidFill>
                <a:latin typeface="Courier New"/>
              </a:rPr>
              <a:t>pathlib</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Path</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'spam/eggs'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mkdir</a:t>
            </a:r>
            <a:r>
              <a:rPr sz="1100" b="0" i="0">
                <a:solidFill>
                  <a:srgbClr val="E6EDF3"/>
                </a:solidFill>
                <a:latin typeface="Courier New"/>
              </a:rPr>
              <a:t>(</a:t>
            </a:r>
            <a:r>
              <a:rPr sz="1100" b="0" i="0">
                <a:solidFill>
                  <a:srgbClr val="E6EDF3"/>
                </a:solidFill>
                <a:latin typeface="Courier New"/>
              </a:rPr>
              <a:t>parents</a:t>
            </a:r>
            <a:r>
              <a:rPr sz="1100" b="0" i="0">
                <a:solidFill>
                  <a:srgbClr val="E6EDF3"/>
                </a:solidFill>
                <a:latin typeface="Courier New"/>
              </a:rPr>
              <a:t>=</a:t>
            </a:r>
            <a:r>
              <a:rPr sz="1100" b="0" i="0">
                <a:solidFill>
                  <a:srgbClr val="E6EDF3"/>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'spam/eggs/f.txt'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write_text</a:t>
            </a:r>
            <a:r>
              <a:rPr sz="1100" b="0" i="0">
                <a:solidFill>
                  <a:srgbClr val="E6EDF3"/>
                </a:solidFill>
                <a:latin typeface="Courier New"/>
              </a:rPr>
              <a:t>(</a:t>
            </a:r>
            <a:r>
              <a:rPr sz="1100" b="0" i="0">
                <a:solidFill>
                  <a:srgbClr val="9BE3A8"/>
                </a:solidFill>
                <a:latin typeface="Courier New"/>
              </a:rPr>
              <a:t>'x'</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str</a:t>
            </a:r>
            <a:r>
              <a:rPr sz="1100" b="0" i="0">
                <a:solidFill>
                  <a:srgbClr val="E6EDF3"/>
                </a:solidFill>
                <a:latin typeface="Courier New"/>
              </a:rPr>
              <a:t>(</a:t>
            </a:r>
            <a:r>
              <a:rPr sz="1100" b="0" i="0">
                <a:solidFill>
                  <a:srgbClr val="E6EDF3"/>
                </a:solidFill>
                <a:latin typeface="Courier New"/>
              </a:rPr>
              <a:t>p</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p</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rglob</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465064" y="822960"/>
            <a:ext cx="3313176" cy="1150620"/>
          </a:xfrm>
          <a:prstGeom prst="rect">
            <a:avLst/>
          </a:prstGeom>
          <a:noFill/>
        </p:spPr>
        <p:txBody>
          <a:bodyPr wrap="square" lIns="128016" rIns="128016" tIns="18288" bIns="18288" anchor="ctr">
            <a:spAutoFit/>
          </a:bodyPr>
          <a:lstStyle/>
          <a:p>
            <a:r>
              <a:rPr sz="1200" b="0" i="0">
                <a:solidFill>
                  <a:srgbClr val="1F2933"/>
                </a:solidFill>
                <a:latin typeface="Calibri"/>
              </a:rPr>
              <a:t>A new temporary folder keeps your real files safe. A folder with one subfolder and one file: two things that will disappear with it.</a:t>
            </a:r>
          </a:p>
        </p:txBody>
      </p:sp>
      <p:sp>
        <p:nvSpPr>
          <p:cNvPr id="6" name="code"/>
          <p:cNvSpPr/>
          <p:nvPr/>
        </p:nvSpPr>
        <p:spPr>
          <a:xfrm>
            <a:off x="365760" y="2019300"/>
            <a:ext cx="5117591" cy="8097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rmtree</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'spam exists:'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exists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rmtree</a:t>
            </a:r>
            <a:r>
              <a:rPr sz="1100" b="0" i="0">
                <a:solidFill>
                  <a:srgbClr val="E6EDF3"/>
                </a:solidFill>
                <a:latin typeface="Courier New"/>
              </a:rPr>
              <a:t>(</a:t>
            </a:r>
            <a:r>
              <a:rPr sz="1100" b="0" i="0">
                <a:solidFill>
                  <a:srgbClr val="9BE3A8"/>
                </a:solidFill>
                <a:latin typeface="Courier New"/>
              </a:rPr>
              <a:t>'spam'</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ignore_errors</a:t>
            </a:r>
            <a:r>
              <a:rPr sz="1100" b="0" i="0">
                <a:solidFill>
                  <a:srgbClr val="E6EDF3"/>
                </a:solidFill>
                <a:latin typeface="Courier New"/>
              </a:rPr>
              <a:t>=</a:t>
            </a:r>
            <a:r>
              <a:rPr sz="1100" b="0" i="0">
                <a:solidFill>
                  <a:srgbClr val="E6EDF3"/>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 missing folder is ignored'</a:t>
            </a:r>
            <a:r>
              <a:rPr sz="1100" b="0" i="0">
                <a:solidFill>
                  <a:srgbClr val="E6EDF3"/>
                </a:solidFill>
                <a:latin typeface="Courier New"/>
              </a:rPr>
              <a:t>)</a:t>
            </a:r>
          </a:p>
        </p:txBody>
      </p:sp>
      <p:sp>
        <p:nvSpPr>
          <p:cNvPr id="7" name="explanation"/>
          <p:cNvSpPr txBox="1"/>
          <p:nvPr/>
        </p:nvSpPr>
        <p:spPr>
          <a:xfrm>
            <a:off x="5465064" y="2019300"/>
            <a:ext cx="3313176" cy="809752"/>
          </a:xfrm>
          <a:prstGeom prst="rect">
            <a:avLst/>
          </a:prstGeom>
          <a:noFill/>
        </p:spPr>
        <p:txBody>
          <a:bodyPr wrap="square" lIns="128016" rIns="128016" tIns="18288" bIns="18288" anchor="ctr">
            <a:spAutoFit/>
          </a:bodyPr>
          <a:lstStyle/>
          <a:p>
            <a:r>
              <a:rPr sz="1200" b="0" i="0">
                <a:solidFill>
                  <a:srgbClr val="1F2933"/>
                </a:solidFill>
                <a:latin typeface="Calibri"/>
              </a:rPr>
              <a:t>rmtree removes the whole tree at once. ignore_errors=True stays quiet when there is nothing to remove.</a:t>
            </a:r>
          </a:p>
        </p:txBody>
      </p:sp>
      <p:sp>
        <p:nvSpPr>
          <p:cNvPr id="8" name="result label"/>
          <p:cNvSpPr txBox="1"/>
          <p:nvPr/>
        </p:nvSpPr>
        <p:spPr>
          <a:xfrm>
            <a:off x="365760" y="286562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21660"/>
            <a:ext cx="123444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spam</a:t>
            </a:r>
          </a:p>
        </p:txBody>
      </p:sp>
      <p:sp>
        <p:nvSpPr>
          <p:cNvPr id="10" name="Rounded Rectangle 9"/>
          <p:cNvSpPr/>
          <p:nvPr/>
        </p:nvSpPr>
        <p:spPr>
          <a:xfrm>
            <a:off x="1920240" y="3121660"/>
            <a:ext cx="123444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spam/eggs</a:t>
            </a:r>
          </a:p>
        </p:txBody>
      </p:sp>
      <p:sp>
        <p:nvSpPr>
          <p:cNvPr id="11" name="Rounded Rectangle 10"/>
          <p:cNvSpPr/>
          <p:nvPr/>
        </p:nvSpPr>
        <p:spPr>
          <a:xfrm>
            <a:off x="3474720" y="3121660"/>
            <a:ext cx="123444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spam/eggs/f.txt</a:t>
            </a:r>
          </a:p>
        </p:txBody>
      </p:sp>
      <p:cxnSp>
        <p:nvCxnSpPr>
          <p:cNvPr id="12" name="arrow"/>
          <p:cNvCxnSpPr/>
          <p:nvPr/>
        </p:nvCxnSpPr>
        <p:spPr>
          <a:xfrm>
            <a:off x="1600200" y="3258820"/>
            <a:ext cx="32004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a:off x="3154680" y="3258820"/>
            <a:ext cx="32004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arrow"/>
          <p:cNvCxnSpPr/>
          <p:nvPr/>
        </p:nvCxnSpPr>
        <p:spPr>
          <a:xfrm>
            <a:off x="960120" y="3432555"/>
            <a:ext cx="0" cy="256033"/>
          </a:xfrm>
          <a:prstGeom prst="line">
            <a:avLst/>
          </a:prstGeom>
          <a:ln w="2286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5760" y="3716020"/>
            <a:ext cx="1234440" cy="27432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rmtree('spam')</a:t>
            </a:r>
          </a:p>
        </p:txBody>
      </p:sp>
      <p:sp>
        <p:nvSpPr>
          <p:cNvPr id="16" name="Rounded Rectangle 15"/>
          <p:cNvSpPr/>
          <p:nvPr/>
        </p:nvSpPr>
        <p:spPr>
          <a:xfrm>
            <a:off x="1920240" y="3716020"/>
            <a:ext cx="274320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spam exists: False</a:t>
            </a:r>
          </a:p>
        </p:txBody>
      </p:sp>
      <p:sp>
        <p:nvSpPr>
          <p:cNvPr id="17" name="TextBox 16"/>
          <p:cNvSpPr txBox="1"/>
          <p:nvPr/>
        </p:nvSpPr>
        <p:spPr>
          <a:xfrm>
            <a:off x="365760" y="4036060"/>
            <a:ext cx="4754880" cy="237744"/>
          </a:xfrm>
          <a:prstGeom prst="rect">
            <a:avLst/>
          </a:prstGeom>
          <a:noFill/>
        </p:spPr>
        <p:txBody>
          <a:bodyPr wrap="square" lIns="45720" rIns="45720" tIns="27432" bIns="27432" anchor="t">
            <a:spAutoFit/>
          </a:bodyPr>
          <a:lstStyle/>
          <a:p>
            <a:r>
              <a:rPr sz="1000" b="0" i="1">
                <a:solidFill>
                  <a:srgbClr val="5B6773"/>
                </a:solidFill>
                <a:latin typeface="Calibri"/>
              </a:rPr>
              <a:t>ignore_errors=True: a missing folder is ignored</a:t>
            </a:r>
          </a:p>
        </p:txBody>
      </p:sp>
      <p:graphicFrame>
        <p:nvGraphicFramePr>
          <p:cNvPr id="18" name="chart"/>
          <p:cNvGraphicFramePr>
            <a:graphicFrameLocks noGrp="1"/>
          </p:cNvGraphicFramePr>
          <p:nvPr/>
        </p:nvGraphicFramePr>
        <p:xfrm>
          <a:off x="5486400" y="3121660"/>
          <a:ext cx="3291839" cy="1560068"/>
        </p:xfrm>
        <a:graphic>
          <a:graphicData uri="http://schemas.openxmlformats.org/drawingml/2006/chart">
            <c:chart xmlns:c="http://schemas.openxmlformats.org/drawingml/2006/chart" r:id="rId3"/>
          </a:graphicData>
        </a:graphic>
      </p:graphicFrame>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rmtree removes the whole tree at once.</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Safe deletion: print first, delete later</a:t>
            </a:r>
          </a:p>
        </p:txBody>
      </p:sp>
      <p:sp>
        <p:nvSpPr>
          <p:cNvPr id="4" name="code"/>
          <p:cNvSpPr/>
          <p:nvPr/>
        </p:nvSpPr>
        <p:spPr>
          <a:xfrm>
            <a:off x="365760" y="822960"/>
            <a:ext cx="5201411" cy="98018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C9A0FF"/>
                </a:solidFill>
                <a:latin typeface="Courier New"/>
              </a:rPr>
              <a:t>from</a:t>
            </a:r>
            <a:r>
              <a:rPr sz="1100" b="0" i="0">
                <a:solidFill>
                  <a:srgbClr val="E6EDF3"/>
                </a:solidFill>
                <a:latin typeface="Courier New"/>
              </a:rPr>
              <a:t> </a:t>
            </a:r>
            <a:r>
              <a:rPr sz="1100" b="0" i="0">
                <a:solidFill>
                  <a:srgbClr val="E6EDF3"/>
                </a:solidFill>
                <a:latin typeface="Courier New"/>
              </a:rPr>
              <a:t>pathlib</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Path</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'a.txt'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'b.txt'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'c.rxt'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write_text</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p>
        </p:txBody>
      </p:sp>
      <p:sp>
        <p:nvSpPr>
          <p:cNvPr id="5" name="explanation"/>
          <p:cNvSpPr txBox="1"/>
          <p:nvPr/>
        </p:nvSpPr>
        <p:spPr>
          <a:xfrm>
            <a:off x="5548884" y="822960"/>
            <a:ext cx="3229356" cy="980186"/>
          </a:xfrm>
          <a:prstGeom prst="rect">
            <a:avLst/>
          </a:prstGeom>
          <a:noFill/>
        </p:spPr>
        <p:txBody>
          <a:bodyPr wrap="square" lIns="128016" rIns="128016" tIns="18288" bIns="18288" anchor="ctr">
            <a:spAutoFit/>
          </a:bodyPr>
          <a:lstStyle/>
          <a:p>
            <a:r>
              <a:rPr sz="1200" b="0" i="0">
                <a:solidFill>
                  <a:srgbClr val="1F2933"/>
                </a:solidFill>
                <a:latin typeface="Calibri"/>
              </a:rPr>
              <a:t>A new temporary folder keeps your real files safe. Three small files; one has a strange extension.</a:t>
            </a:r>
          </a:p>
        </p:txBody>
      </p:sp>
      <p:sp>
        <p:nvSpPr>
          <p:cNvPr id="6" name="code"/>
          <p:cNvSpPr/>
          <p:nvPr/>
        </p:nvSpPr>
        <p:spPr>
          <a:xfrm>
            <a:off x="365760" y="1848866"/>
            <a:ext cx="5201411" cy="6446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names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p</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p</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glob</a:t>
            </a:r>
            <a:r>
              <a:rPr sz="1100" b="0" i="0">
                <a:solidFill>
                  <a:srgbClr val="E6EDF3"/>
                </a:solidFill>
                <a:latin typeface="Courier New"/>
              </a:rPr>
              <a:t>(</a:t>
            </a:r>
            <a:r>
              <a:rPr sz="1100" b="0" i="0">
                <a:solidFill>
                  <a:srgbClr val="9BE3A8"/>
                </a:solidFill>
                <a:latin typeface="Courier New"/>
              </a:rPr>
              <a:t>'*.rxt'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'typo *.rxt would delete:'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a:t>
            </a:r>
          </a:p>
        </p:txBody>
      </p:sp>
      <p:sp>
        <p:nvSpPr>
          <p:cNvPr id="7" name="explanation"/>
          <p:cNvSpPr txBox="1"/>
          <p:nvPr/>
        </p:nvSpPr>
        <p:spPr>
          <a:xfrm>
            <a:off x="5548884" y="1848866"/>
            <a:ext cx="3229356" cy="644652"/>
          </a:xfrm>
          <a:prstGeom prst="rect">
            <a:avLst/>
          </a:prstGeom>
          <a:noFill/>
        </p:spPr>
        <p:txBody>
          <a:bodyPr wrap="square" lIns="128016" rIns="128016" tIns="18288" bIns="18288" anchor="ctr">
            <a:spAutoFit/>
          </a:bodyPr>
          <a:lstStyle/>
          <a:p>
            <a:r>
              <a:rPr sz="1200" b="0" i="0">
                <a:solidFill>
                  <a:srgbClr val="1F2933"/>
                </a:solidFill>
                <a:latin typeface="Calibri"/>
              </a:rPr>
              <a:t>A typo in the pattern matches the wrong file. Printing first shows the mistake while nothing is lost.</a:t>
            </a:r>
          </a:p>
        </p:txBody>
      </p:sp>
      <p:sp>
        <p:nvSpPr>
          <p:cNvPr id="8" name="code"/>
          <p:cNvSpPr/>
          <p:nvPr/>
        </p:nvSpPr>
        <p:spPr>
          <a:xfrm>
            <a:off x="365760" y="2539238"/>
            <a:ext cx="5201411" cy="6446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p</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glob</a:t>
            </a:r>
            <a:r>
              <a:rPr sz="1100" b="0" i="0">
                <a:solidFill>
                  <a:srgbClr val="E6EDF3"/>
                </a:solidFill>
                <a:latin typeface="Courier New"/>
              </a:rPr>
              <a:t>(</a:t>
            </a:r>
            <a:r>
              <a:rPr sz="1100" b="0" i="0">
                <a:solidFill>
                  <a:srgbClr val="9BE3A8"/>
                </a:solidFill>
                <a:latin typeface="Courier New"/>
              </a:rPr>
              <a:t>'*.txt'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'would delete'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a:t>
            </a:r>
            <a:r>
              <a:rPr sz="1100" b="0" i="0">
                <a:solidFill>
                  <a:srgbClr val="E6EDF3"/>
                </a:solidFill>
                <a:latin typeface="Courier New"/>
              </a:rPr>
              <a:t>)</a:t>
            </a:r>
            <a:r>
              <a:rPr sz="1100" b="0" i="0">
                <a:solidFill>
                  <a:srgbClr val="E6EDF3"/>
                </a:solidFill>
                <a:latin typeface="Courier New"/>
              </a:rPr>
              <a:t>   </a:t>
            </a:r>
            <a:r>
              <a:rPr sz="1100" b="0" i="0">
                <a:solidFill>
                  <a:srgbClr val="8FA3B8"/>
                </a:solidFill>
                <a:latin typeface="Courier New"/>
              </a:rPr>
              <a:t># os.unlink(p)</a:t>
            </a:r>
          </a:p>
        </p:txBody>
      </p:sp>
      <p:sp>
        <p:nvSpPr>
          <p:cNvPr id="9" name="explanation"/>
          <p:cNvSpPr txBox="1"/>
          <p:nvPr/>
        </p:nvSpPr>
        <p:spPr>
          <a:xfrm>
            <a:off x="5548884" y="2539238"/>
            <a:ext cx="3229356" cy="644652"/>
          </a:xfrm>
          <a:prstGeom prst="rect">
            <a:avLst/>
          </a:prstGeom>
          <a:noFill/>
        </p:spPr>
        <p:txBody>
          <a:bodyPr wrap="square" lIns="128016" rIns="128016" tIns="18288" bIns="18288" anchor="ctr">
            <a:spAutoFit/>
          </a:bodyPr>
          <a:lstStyle/>
          <a:p>
            <a:r>
              <a:rPr sz="1200" b="0" i="0">
                <a:solidFill>
                  <a:srgbClr val="1F2933"/>
                </a:solidFill>
                <a:latin typeface="Calibri"/>
              </a:rPr>
              <a:t>Run it with the delete line commented out. Only when the printed list is right, remove the comment mark.</a:t>
            </a:r>
          </a:p>
        </p:txBody>
      </p:sp>
      <p:sp>
        <p:nvSpPr>
          <p:cNvPr id="10" name="result label"/>
          <p:cNvSpPr txBox="1"/>
          <p:nvPr/>
        </p:nvSpPr>
        <p:spPr>
          <a:xfrm>
            <a:off x="365760" y="322046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76498"/>
          <a:ext cx="5215737" cy="822960"/>
        </p:xfrm>
        <a:graphic>
          <a:graphicData uri="http://schemas.openxmlformats.org/drawingml/2006/table">
            <a:tbl>
              <a:tblPr firstRow="0" bandRow="0"/>
              <a:tblGrid>
                <a:gridCol w="1079118"/>
                <a:gridCol w="2158236"/>
                <a:gridCol w="1978383"/>
              </a:tblGrid>
              <a:tr h="274320">
                <a:tc>
                  <a:txBody>
                    <a:bodyPr wrap="square"/>
                    <a:lstStyle/>
                    <a:p>
                      <a:r>
                        <a:rPr sz="1000" b="1" i="0">
                          <a:solidFill>
                            <a:srgbClr val="FFFFFF"/>
                          </a:solidFill>
                          <a:latin typeface="Calibri"/>
                        </a:rPr>
                        <a:t>Pattern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Files it matches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Verdict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*.rxt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['c.rxt']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B83A1B"/>
                          </a:solidFill>
                          <a:latin typeface="Calibri"/>
                        </a:rPr>
                        <a:t>typo: the wrong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['a.txt', 'b.txt']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alibri"/>
                        </a:rPr>
                        <a:t>the right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002121" y="3522218"/>
            <a:ext cx="86868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a.txt</a:t>
            </a:r>
          </a:p>
        </p:txBody>
      </p:sp>
      <p:sp>
        <p:nvSpPr>
          <p:cNvPr id="13" name="Rounded Rectangle 12"/>
          <p:cNvSpPr/>
          <p:nvPr/>
        </p:nvSpPr>
        <p:spPr>
          <a:xfrm>
            <a:off x="6916521" y="3522218"/>
            <a:ext cx="86868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b.txt</a:t>
            </a:r>
          </a:p>
        </p:txBody>
      </p:sp>
      <p:sp>
        <p:nvSpPr>
          <p:cNvPr id="14" name="Rounded Rectangle 13"/>
          <p:cNvSpPr/>
          <p:nvPr/>
        </p:nvSpPr>
        <p:spPr>
          <a:xfrm>
            <a:off x="7830921" y="3522218"/>
            <a:ext cx="86868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c.rxt</a:t>
            </a:r>
          </a:p>
        </p:txBody>
      </p:sp>
      <p:sp>
        <p:nvSpPr>
          <p:cNvPr id="15" name="TextBox 14"/>
          <p:cNvSpPr txBox="1"/>
          <p:nvPr/>
        </p:nvSpPr>
        <p:spPr>
          <a:xfrm>
            <a:off x="6002121" y="3860546"/>
            <a:ext cx="2743200" cy="457200"/>
          </a:xfrm>
          <a:prstGeom prst="rect">
            <a:avLst/>
          </a:prstGeom>
          <a:noFill/>
        </p:spPr>
        <p:txBody>
          <a:bodyPr wrap="square" lIns="45720" rIns="45720" tIns="27432" bIns="27432" anchor="t">
            <a:spAutoFit/>
          </a:bodyPr>
          <a:lstStyle/>
          <a:p>
            <a:r>
              <a:rPr sz="950" b="0" i="1">
                <a:solidFill>
                  <a:srgbClr val="5B6773"/>
                </a:solidFill>
                <a:latin typeface="Calibri"/>
              </a:rPr>
              <a:t>green: printed as 'would delete'
grey: stays untouched</a:t>
            </a:r>
          </a:p>
        </p:txBody>
      </p:sp>
      <p:sp>
        <p:nvSpPr>
          <p:cNvPr id="16" name="Rounded Rectangle 15"/>
          <p:cNvSpPr/>
          <p:nvPr/>
        </p:nvSpPr>
        <p:spPr>
          <a:xfrm>
            <a:off x="365760" y="4372610"/>
            <a:ext cx="5215737"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printed: would delete a.txt; would delete b.txt</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Print the list first; delete only when it is right.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send2trash: the recycle bin</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A third-party helper; not in the standard library and not run on the chapter page</a:t>
            </a:r>
          </a:p>
        </p:txBody>
      </p:sp>
      <p:sp>
        <p:nvSpPr>
          <p:cNvPr id="5" name="card"/>
          <p:cNvSpPr/>
          <p:nvPr/>
        </p:nvSpPr>
        <p:spPr>
          <a:xfrm>
            <a:off x="365760" y="100584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101498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send2trash is the waste-paper basket: the page can still be pulled out until someone empties the bin.</a:t>
            </a:r>
          </a:p>
        </p:txBody>
      </p:sp>
      <p:graphicFrame>
        <p:nvGraphicFramePr>
          <p:cNvPr id="7" name="table"/>
          <p:cNvGraphicFramePr>
            <a:graphicFrameLocks noGrp="1"/>
          </p:cNvGraphicFramePr>
          <p:nvPr/>
        </p:nvGraphicFramePr>
        <p:xfrm>
          <a:off x="457200" y="1645920"/>
          <a:ext cx="8229600" cy="2286000"/>
        </p:xfrm>
        <a:graphic>
          <a:graphicData uri="http://schemas.openxmlformats.org/drawingml/2006/table">
            <a:tbl>
              <a:tblPr firstRow="0" bandRow="0"/>
              <a:tblGrid>
                <a:gridCol w="2377440"/>
                <a:gridCol w="2468880"/>
                <a:gridCol w="3383280"/>
              </a:tblGrid>
              <a:tr h="457200">
                <a:tc>
                  <a:txBody>
                    <a:bodyPr wrap="square"/>
                    <a:lstStyle/>
                    <a:p>
                      <a:r>
                        <a:rPr sz="13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os.unlink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send2trash.send2trash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Where the file goes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nowhere, it is gone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recycle bin of the system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Can you get it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B83A1B"/>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2F855A"/>
                          </a:solidFill>
                          <a:latin typeface="Calibri"/>
                        </a:rPr>
                        <a:t>yes, until the bin is emptied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Where does it come from?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standard library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pip install send2trash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Run on the chapter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no, it needs an installed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When in doubt, send to the bin instead of deleting.</a:t>
            </a:r>
          </a:p>
        </p:txBody>
      </p:sp>
      <p:sp>
        <p:nvSpPr>
          <p:cNvPr id="1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recycle bin is a 1983 drawing</a:t>
            </a:r>
          </a:p>
        </p:txBody>
      </p:sp>
      <p:pic>
        <p:nvPicPr>
          <p:cNvPr id="4" name="photo kare" descr="Susan Kare in a 1984 television demonstration of the Macintosh"/>
          <p:cNvPicPr>
            <a:picLocks noChangeAspect="1"/>
          </p:cNvPicPr>
          <p:nvPr/>
        </p:nvPicPr>
        <p:blipFill>
          <a:blip r:embed="rId3"/>
          <a:stretch>
            <a:fillRect/>
          </a:stretch>
        </p:blipFill>
        <p:spPr>
          <a:xfrm>
            <a:off x="365760" y="1325524"/>
            <a:ext cx="2651760" cy="2012391"/>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Susan Kare in a 1984 television demonstration of the Macintosh. Video frame, CC BY 3.0,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Susan Kare, a graphic designer hired by Apple, working with software architect Andy Hertzfeld.</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She drew the trash can icon, one of the small pictures of the first Macintosh.</a:t>
            </a:r>
          </a:p>
        </p:txBody>
      </p:sp>
      <p:sp>
        <p:nvSpPr>
          <p:cNvPr id="10" name="card"/>
          <p:cNvSpPr/>
          <p:nvPr/>
        </p:nvSpPr>
        <p:spPr>
          <a:xfrm>
            <a:off x="3200400" y="20848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1983; the Macintosh shipped in 1984.</a:t>
            </a:r>
          </a:p>
        </p:txBody>
      </p:sp>
      <p:sp>
        <p:nvSpPr>
          <p:cNvPr id="12" name="card"/>
          <p:cNvSpPr/>
          <p:nvPr/>
        </p:nvSpPr>
        <p:spPr>
          <a:xfrm>
            <a:off x="3200400" y="255117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Apple Computer, in California.</a:t>
            </a:r>
          </a:p>
        </p:txBody>
      </p:sp>
      <p:sp>
        <p:nvSpPr>
          <p:cNvPr id="14" name="card"/>
          <p:cNvSpPr/>
          <p:nvPr/>
        </p:nvSpPr>
        <p:spPr>
          <a:xfrm>
            <a:off x="3200400" y="301752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1752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Pictures made commands friendly for people who had never used a computer.</a:t>
            </a:r>
          </a:p>
        </p:txBody>
      </p:sp>
      <p:sp>
        <p:nvSpPr>
          <p:cNvPr id="16" name="card"/>
          <p:cNvSpPr/>
          <p:nvPr/>
        </p:nvSpPr>
        <p:spPr>
          <a:xfrm>
            <a:off x="3200400" y="3639311"/>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39311"/>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send2trash moves a file into that same bin instead of deleting it, so the move can still be undone.</a:t>
            </a:r>
          </a:p>
        </p:txBody>
      </p:sp>
      <p:sp>
        <p:nvSpPr>
          <p:cNvPr id="18" name="read"/>
          <p:cNvSpPr txBox="1"/>
          <p:nvPr/>
        </p:nvSpPr>
        <p:spPr>
          <a:xfrm>
            <a:off x="3200400" y="4279391"/>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Susan Kare's icons, Smithsonian Magazine</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Folders and trees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List one folder, then walk a whole tree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listdir and glob</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Names of one folder, filtered by a pattern.</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walk</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Gives folder, subfolders and files at every step.</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Folder sizes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Add up bytes per folder while walking.</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mkdir</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Builds a folder, or a whole chain of folders.</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folder trees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Listing one folder: listdir, iterdir,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os.walk: the folder, its subfolders,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Counting bytes per folder while walking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Path.mkdir: making folders, also in a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folder tree is a 1965 Multi...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folder trees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folder tree is a building: floors hold rooms, and rooms hold cupboards.</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Walking a Directory 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caretaker's round through every floor of the building.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Walking a folder 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each door, looking in each cupboard, then going one level down.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walk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caretaker's checklist: for each room, its inner rooms and its cupboards' contents.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mkdir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Building a new empty room; parents=True builds the corridor leading to it as well.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listdir and glob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Reading the names on one floor's door plates, or only the plates that match a pattern.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Listing one folder: listdir, iterdir, glob</a:t>
            </a:r>
          </a:p>
        </p:txBody>
      </p:sp>
      <p:sp>
        <p:nvSpPr>
          <p:cNvPr id="4" name="code"/>
          <p:cNvSpPr/>
          <p:nvPr/>
        </p:nvSpPr>
        <p:spPr>
          <a:xfrm>
            <a:off x="365760" y="822960"/>
            <a:ext cx="4980431" cy="12125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C9A0FF"/>
                </a:solidFill>
                <a:latin typeface="Courier New"/>
              </a:rPr>
              <a:t>from</a:t>
            </a:r>
            <a:r>
              <a:rPr sz="1000" b="0" i="0">
                <a:solidFill>
                  <a:srgbClr val="E6EDF3"/>
                </a:solidFill>
                <a:latin typeface="Courier New"/>
              </a:rPr>
              <a:t> </a:t>
            </a:r>
            <a:r>
              <a:rPr sz="1000" b="0" i="0">
                <a:solidFill>
                  <a:srgbClr val="E6EDF3"/>
                </a:solidFill>
                <a:latin typeface="Courier New"/>
              </a:rPr>
              <a:t>pathlib</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Path</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'spam/eggs'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mkdir</a:t>
            </a:r>
            <a:r>
              <a:rPr sz="1000" b="0" i="0">
                <a:solidFill>
                  <a:srgbClr val="E6EDF3"/>
                </a:solidFill>
                <a:latin typeface="Courier New"/>
              </a:rPr>
              <a:t>(</a:t>
            </a:r>
            <a:r>
              <a:rPr sz="1000" b="0" i="0">
                <a:solidFill>
                  <a:srgbClr val="E6EDF3"/>
                </a:solidFill>
                <a:latin typeface="Courier New"/>
              </a:rPr>
              <a:t>parents</a:t>
            </a:r>
            <a:r>
              <a:rPr sz="1000" b="0" i="0">
                <a:solidFill>
                  <a:srgbClr val="E6EDF3"/>
                </a:solidFill>
                <a:latin typeface="Courier New"/>
              </a:rPr>
              <a:t>=</a:t>
            </a:r>
            <a:r>
              <a:rPr sz="1000" b="0" i="0">
                <a:solidFill>
                  <a:srgbClr val="E6EDF3"/>
                </a:solidFill>
                <a:latin typeface="Courier New"/>
              </a:rPr>
              <a:t>True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'spam/b.pdf'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'spam/file1.txt'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'spam/eggs/f2.txt'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p>
        </p:txBody>
      </p:sp>
      <p:sp>
        <p:nvSpPr>
          <p:cNvPr id="5" name="explanation"/>
          <p:cNvSpPr txBox="1"/>
          <p:nvPr/>
        </p:nvSpPr>
        <p:spPr>
          <a:xfrm>
            <a:off x="5327904" y="822960"/>
            <a:ext cx="3450336" cy="1212596"/>
          </a:xfrm>
          <a:prstGeom prst="rect">
            <a:avLst/>
          </a:prstGeom>
          <a:noFill/>
        </p:spPr>
        <p:txBody>
          <a:bodyPr wrap="square" lIns="128016" rIns="128016" tIns="18288" bIns="18288" anchor="ctr">
            <a:spAutoFit/>
          </a:bodyPr>
          <a:lstStyle/>
          <a:p>
            <a:r>
              <a:rPr sz="1100" b="0" i="0">
                <a:solidFill>
                  <a:srgbClr val="1F2933"/>
                </a:solidFill>
                <a:latin typeface="Calibri"/>
              </a:rPr>
              <a:t>A new temporary folder keeps your real files safe. spam holds a folder, a PDF and a text file; the folder holds one more text file.</a:t>
            </a:r>
          </a:p>
        </p:txBody>
      </p:sp>
      <p:sp>
        <p:nvSpPr>
          <p:cNvPr id="6" name="code"/>
          <p:cNvSpPr/>
          <p:nvPr/>
        </p:nvSpPr>
        <p:spPr>
          <a:xfrm>
            <a:off x="365760" y="2081276"/>
            <a:ext cx="4980431" cy="9027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sorted</a:t>
            </a:r>
            <a:r>
              <a:rPr sz="1000" b="0" i="0">
                <a:solidFill>
                  <a:srgbClr val="E6EDF3"/>
                </a:solidFill>
                <a:latin typeface="Courier New"/>
              </a:rPr>
              <a:t>(</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listdir</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sorted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is_dir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iterdir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sorted</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glob</a:t>
            </a:r>
            <a:r>
              <a:rPr sz="1000" b="0" i="0">
                <a:solidFill>
                  <a:srgbClr val="E6EDF3"/>
                </a:solidFill>
                <a:latin typeface="Courier New"/>
              </a:rPr>
              <a:t>(</a:t>
            </a:r>
            <a:r>
              <a:rPr sz="1000" b="0" i="0">
                <a:solidFill>
                  <a:srgbClr val="9BE3A8"/>
                </a:solidFill>
                <a:latin typeface="Courier New"/>
              </a:rPr>
              <a:t>'*.txt'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sorted</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rglob</a:t>
            </a:r>
            <a:r>
              <a:rPr sz="1000" b="0" i="0">
                <a:solidFill>
                  <a:srgbClr val="E6EDF3"/>
                </a:solidFill>
                <a:latin typeface="Courier New"/>
              </a:rPr>
              <a:t>(</a:t>
            </a:r>
            <a:r>
              <a:rPr sz="1000" b="0" i="0">
                <a:solidFill>
                  <a:srgbClr val="9BE3A8"/>
                </a:solidFill>
                <a:latin typeface="Courier New"/>
              </a:rPr>
              <a:t>'*.txt'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327904" y="2081276"/>
            <a:ext cx="3450336" cy="902715"/>
          </a:xfrm>
          <a:prstGeom prst="rect">
            <a:avLst/>
          </a:prstGeom>
          <a:noFill/>
        </p:spPr>
        <p:txBody>
          <a:bodyPr wrap="square" lIns="128016" rIns="128016" tIns="18288" bIns="18288" anchor="ctr">
            <a:spAutoFit/>
          </a:bodyPr>
          <a:lstStyle/>
          <a:p>
            <a:r>
              <a:rPr sz="1100" b="0" i="0">
                <a:solidFill>
                  <a:srgbClr val="1F2933"/>
                </a:solidFill>
                <a:latin typeface="Calibri"/>
              </a:rPr>
              <a:t>listdir gives names; iterdir gives Path objects that know if they are folders. glob stays in one folder; rglob goes down into all subfolders.</a:t>
            </a:r>
          </a:p>
        </p:txBody>
      </p:sp>
      <p:sp>
        <p:nvSpPr>
          <p:cNvPr id="8" name="result label"/>
          <p:cNvSpPr txBox="1"/>
          <p:nvPr/>
        </p:nvSpPr>
        <p:spPr>
          <a:xfrm>
            <a:off x="365760" y="302056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76599"/>
          <a:ext cx="5383986" cy="1234440"/>
        </p:xfrm>
        <a:graphic>
          <a:graphicData uri="http://schemas.openxmlformats.org/drawingml/2006/table">
            <a:tbl>
              <a:tblPr firstRow="0" bandRow="0"/>
              <a:tblGrid>
                <a:gridCol w="2018995"/>
                <a:gridCol w="3364991"/>
              </a:tblGrid>
              <a:tr h="246888">
                <a:tc>
                  <a:txBody>
                    <a:bodyPr wrap="square"/>
                    <a:lstStyle/>
                    <a:p>
                      <a:r>
                        <a:rPr sz="9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What it returns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00" b="0" i="0">
                          <a:solidFill>
                            <a:srgbClr val="1F2933"/>
                          </a:solidFill>
                          <a:latin typeface="Courier New"/>
                        </a:rPr>
                        <a:t>os.listdir('spam')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['b.pdf', 'eggs', 'file1.txt']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00" b="0" i="0">
                          <a:solidFill>
                            <a:srgbClr val="1F2933"/>
                          </a:solidFill>
                          <a:latin typeface="Courier New"/>
                        </a:rPr>
                        <a:t>Path('spam').iterdir()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[('b.pdf', False), ('eggs', True), ('file1.txt',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900" b="0" i="0">
                          <a:solidFill>
                            <a:srgbClr val="1F2933"/>
                          </a:solidFill>
                          <a:latin typeface="Courier New"/>
                        </a:rPr>
                        <a:t>glob('*.txt')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['file1.txt']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00" b="0" i="0">
                          <a:solidFill>
                            <a:srgbClr val="1F2933"/>
                          </a:solidFill>
                          <a:latin typeface="Courier New"/>
                        </a:rPr>
                        <a:t>rglob('*.txt')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['f2.txt', 'file1.txt']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6002121" y="3276599"/>
            <a:ext cx="731520" cy="23774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spam</a:t>
            </a:r>
          </a:p>
        </p:txBody>
      </p:sp>
      <p:sp>
        <p:nvSpPr>
          <p:cNvPr id="11" name="Rounded Rectangle 10"/>
          <p:cNvSpPr/>
          <p:nvPr/>
        </p:nvSpPr>
        <p:spPr>
          <a:xfrm>
            <a:off x="6916521" y="3276599"/>
            <a:ext cx="731520" cy="23774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eggs</a:t>
            </a:r>
          </a:p>
        </p:txBody>
      </p:sp>
      <p:sp>
        <p:nvSpPr>
          <p:cNvPr id="12" name="Rounded Rectangle 11"/>
          <p:cNvSpPr/>
          <p:nvPr/>
        </p:nvSpPr>
        <p:spPr>
          <a:xfrm>
            <a:off x="7830921" y="3276599"/>
            <a:ext cx="731520" cy="23774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f2.txt</a:t>
            </a:r>
          </a:p>
        </p:txBody>
      </p:sp>
      <p:sp>
        <p:nvSpPr>
          <p:cNvPr id="13" name="Rounded Rectangle 12"/>
          <p:cNvSpPr/>
          <p:nvPr/>
        </p:nvSpPr>
        <p:spPr>
          <a:xfrm>
            <a:off x="6916521" y="3624071"/>
            <a:ext cx="731520" cy="23774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file1.txt</a:t>
            </a:r>
          </a:p>
        </p:txBody>
      </p:sp>
      <p:sp>
        <p:nvSpPr>
          <p:cNvPr id="14" name="Rounded Rectangle 13"/>
          <p:cNvSpPr/>
          <p:nvPr/>
        </p:nvSpPr>
        <p:spPr>
          <a:xfrm>
            <a:off x="6916521" y="3971543"/>
            <a:ext cx="731520" cy="23774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b.pdf</a:t>
            </a:r>
          </a:p>
        </p:txBody>
      </p:sp>
      <p:cxnSp>
        <p:nvCxnSpPr>
          <p:cNvPr id="15" name="arrow"/>
          <p:cNvCxnSpPr/>
          <p:nvPr/>
        </p:nvCxnSpPr>
        <p:spPr>
          <a:xfrm>
            <a:off x="6733641" y="3395471"/>
            <a:ext cx="18288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p:cNvCxnSpPr/>
          <p:nvPr/>
        </p:nvCxnSpPr>
        <p:spPr>
          <a:xfrm>
            <a:off x="7648041" y="3395471"/>
            <a:ext cx="18288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arrow"/>
          <p:cNvCxnSpPr/>
          <p:nvPr/>
        </p:nvCxnSpPr>
        <p:spPr>
          <a:xfrm>
            <a:off x="6733641" y="3395471"/>
            <a:ext cx="182880" cy="347472"/>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arrow"/>
          <p:cNvCxnSpPr/>
          <p:nvPr/>
        </p:nvCxnSpPr>
        <p:spPr>
          <a:xfrm>
            <a:off x="6733641" y="3395471"/>
            <a:ext cx="182880" cy="694944"/>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listdir for names, glob for patterns, rglob for the whole tree.</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os.walk: the folder, its subfolders, its files</a:t>
            </a:r>
          </a:p>
        </p:txBody>
      </p:sp>
      <p:sp>
        <p:nvSpPr>
          <p:cNvPr id="4" name="code"/>
          <p:cNvSpPr/>
          <p:nvPr/>
        </p:nvSpPr>
        <p:spPr>
          <a:xfrm>
            <a:off x="365760" y="822960"/>
            <a:ext cx="4961382" cy="115836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shutil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tempfile</a:t>
            </a:r>
          </a:p>
          <a:p>
            <a:pPr algn="l"/>
            <a:r>
              <a:rPr sz="950" b="0" i="0">
                <a:solidFill>
                  <a:srgbClr val="8FA3B8"/>
                </a:solidFill>
                <a:latin typeface="Courier New"/>
              </a:rPr>
              <a:t>&gt;&gt;&gt; </a:t>
            </a:r>
            <a:r>
              <a:rPr sz="950" b="0" i="0">
                <a:solidFill>
                  <a:srgbClr val="C9A0FF"/>
                </a:solidFill>
                <a:latin typeface="Courier New"/>
              </a:rPr>
              <a:t>from</a:t>
            </a:r>
            <a:r>
              <a:rPr sz="950" b="0" i="0">
                <a:solidFill>
                  <a:srgbClr val="E6EDF3"/>
                </a:solidFill>
                <a:latin typeface="Courier New"/>
              </a:rPr>
              <a:t> </a:t>
            </a:r>
            <a:r>
              <a:rPr sz="950" b="0" i="0">
                <a:solidFill>
                  <a:srgbClr val="E6EDF3"/>
                </a:solidFill>
                <a:latin typeface="Courier New"/>
              </a:rPr>
              <a:t>pathlib</a:t>
            </a:r>
            <a:r>
              <a:rPr sz="950" b="0" i="0">
                <a:solidFill>
                  <a:srgbClr val="E6EDF3"/>
                </a:solidFill>
                <a:latin typeface="Courier New"/>
              </a:rPr>
              <a: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Path</a:t>
            </a:r>
          </a:p>
          <a:p>
            <a:pPr algn="l"/>
            <a:r>
              <a:rPr sz="950" b="0" i="0">
                <a:solidFill>
                  <a:srgbClr val="8FA3B8"/>
                </a:solidFill>
                <a:latin typeface="Courier New"/>
              </a:rPr>
              <a:t>&gt;&gt;&gt;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chdir</a:t>
            </a:r>
            <a:r>
              <a:rPr sz="950" b="0" i="0">
                <a:solidFill>
                  <a:srgbClr val="E6EDF3"/>
                </a:solidFill>
                <a:latin typeface="Courier New"/>
              </a:rPr>
              <a:t>(</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mkdtemp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'spam/eggs/bacon'</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mkdir</a:t>
            </a:r>
            <a:r>
              <a:rPr sz="950" b="0" i="0">
                <a:solidFill>
                  <a:srgbClr val="E6EDF3"/>
                </a:solidFill>
                <a:latin typeface="Courier New"/>
              </a:rPr>
              <a:t>(</a:t>
            </a:r>
            <a:r>
              <a:rPr sz="950" b="0" i="0">
                <a:solidFill>
                  <a:srgbClr val="E6EDF3"/>
                </a:solidFill>
                <a:latin typeface="Courier New"/>
              </a:rPr>
              <a:t>parents</a:t>
            </a:r>
            <a:r>
              <a:rPr sz="950" b="0" i="0">
                <a:solidFill>
                  <a:srgbClr val="E6EDF3"/>
                </a:solidFill>
                <a:latin typeface="Courier New"/>
              </a:rPr>
              <a:t>=</a:t>
            </a:r>
            <a:r>
              <a:rPr sz="950" b="0" i="0">
                <a:solidFill>
                  <a:srgbClr val="E6EDF3"/>
                </a:solidFill>
                <a:latin typeface="Courier New"/>
              </a:rPr>
              <a:t>True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'spam/eggs2'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mkdir</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'spam/file1.txt'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write_text</a:t>
            </a:r>
            <a:r>
              <a:rPr sz="950" b="0" i="0">
                <a:solidFill>
                  <a:srgbClr val="E6EDF3"/>
                </a:solidFill>
                <a:latin typeface="Courier New"/>
              </a:rPr>
              <a:t>(</a:t>
            </a:r>
            <a:r>
              <a:rPr sz="950" b="0" i="0">
                <a:solidFill>
                  <a:srgbClr val="9BE3A8"/>
                </a:solidFill>
                <a:latin typeface="Courier New"/>
              </a:rPr>
              <a:t>'x'</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'spam/eggs/file2.txt'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write_text</a:t>
            </a:r>
            <a:r>
              <a:rPr sz="950" b="0" i="0">
                <a:solidFill>
                  <a:srgbClr val="E6EDF3"/>
                </a:solidFill>
                <a:latin typeface="Courier New"/>
              </a:rPr>
              <a:t>(</a:t>
            </a:r>
            <a:r>
              <a:rPr sz="950" b="0" i="0">
                <a:solidFill>
                  <a:srgbClr val="9BE3A8"/>
                </a:solidFill>
                <a:latin typeface="Courier New"/>
              </a:rPr>
              <a:t>'x'</a:t>
            </a:r>
            <a:r>
              <a:rPr sz="950" b="0" i="0">
                <a:solidFill>
                  <a:srgbClr val="E6EDF3"/>
                </a:solidFill>
                <a:latin typeface="Courier New"/>
              </a:rPr>
              <a:t>)</a:t>
            </a:r>
          </a:p>
        </p:txBody>
      </p:sp>
      <p:sp>
        <p:nvSpPr>
          <p:cNvPr id="5" name="explanation"/>
          <p:cNvSpPr txBox="1"/>
          <p:nvPr/>
        </p:nvSpPr>
        <p:spPr>
          <a:xfrm>
            <a:off x="5308854" y="822960"/>
            <a:ext cx="3469385" cy="1158367"/>
          </a:xfrm>
          <a:prstGeom prst="rect">
            <a:avLst/>
          </a:prstGeom>
          <a:noFill/>
        </p:spPr>
        <p:txBody>
          <a:bodyPr wrap="square" lIns="128016" rIns="128016" tIns="18288" bIns="18288" anchor="ctr">
            <a:spAutoFit/>
          </a:bodyPr>
          <a:lstStyle/>
          <a:p>
            <a:r>
              <a:rPr sz="1050" b="0" i="0">
                <a:solidFill>
                  <a:srgbClr val="1F2933"/>
                </a:solidFill>
                <a:latin typeface="Calibri"/>
              </a:rPr>
              <a:t>A new temporary folder keeps your real files safe. Four folders and two files. The walk starts at spam.</a:t>
            </a:r>
          </a:p>
        </p:txBody>
      </p:sp>
      <p:sp>
        <p:nvSpPr>
          <p:cNvPr id="6" name="code"/>
          <p:cNvSpPr/>
          <p:nvPr/>
        </p:nvSpPr>
        <p:spPr>
          <a:xfrm>
            <a:off x="365760" y="2027047"/>
            <a:ext cx="4961382" cy="5732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folder</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subs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files</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walk</a:t>
            </a:r>
            <a:r>
              <a:rPr sz="950" b="0" i="0">
                <a:solidFill>
                  <a:srgbClr val="E6EDF3"/>
                </a:solidFill>
                <a:latin typeface="Courier New"/>
              </a:rPr>
              <a:t>(</a:t>
            </a:r>
            <a:r>
              <a:rPr sz="950" b="0" i="0">
                <a:solidFill>
                  <a:srgbClr val="9BE3A8"/>
                </a:solidFill>
                <a:latin typeface="Courier New"/>
              </a:rPr>
              <a:t>'spam'</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 </a:t>
            </a:r>
            <a:r>
              <a:rPr sz="950" b="0" i="0">
                <a:solidFill>
                  <a:srgbClr val="E6EDF3"/>
                </a:solidFill>
                <a:latin typeface="Courier New"/>
              </a:rPr>
              <a:t>    </a:t>
            </a:r>
            <a:r>
              <a:rPr sz="950" b="0" i="0">
                <a:solidFill>
                  <a:srgbClr val="E6EDF3"/>
                </a:solidFill>
                <a:latin typeface="Courier New"/>
              </a:rPr>
              <a:t>subs</a:t>
            </a:r>
            <a:r>
              <a:rPr sz="950" b="0" i="0">
                <a:solidFill>
                  <a:srgbClr val="E6EDF3"/>
                </a:solidFill>
                <a:latin typeface="Courier New"/>
              </a:rPr>
              <a:t>.</a:t>
            </a:r>
            <a:r>
              <a:rPr sz="950" b="0" i="0">
                <a:solidFill>
                  <a:srgbClr val="E6EDF3"/>
                </a:solidFill>
                <a:latin typeface="Courier New"/>
              </a:rPr>
              <a:t>sort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folder</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subs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sorted</a:t>
            </a:r>
            <a:r>
              <a:rPr sz="950" b="0" i="0">
                <a:solidFill>
                  <a:srgbClr val="E6EDF3"/>
                </a:solidFill>
                <a:latin typeface="Courier New"/>
              </a:rPr>
              <a:t>(</a:t>
            </a:r>
            <a:r>
              <a:rPr sz="950" b="0" i="0">
                <a:solidFill>
                  <a:srgbClr val="E6EDF3"/>
                </a:solidFill>
                <a:latin typeface="Courier New"/>
              </a:rPr>
              <a:t>files</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308854" y="2027047"/>
            <a:ext cx="3469385" cy="573214"/>
          </a:xfrm>
          <a:prstGeom prst="rect">
            <a:avLst/>
          </a:prstGeom>
          <a:noFill/>
        </p:spPr>
        <p:txBody>
          <a:bodyPr wrap="square" lIns="128016" rIns="128016" tIns="18288" bIns="18288" anchor="ctr">
            <a:spAutoFit/>
          </a:bodyPr>
          <a:lstStyle/>
          <a:p>
            <a:r>
              <a:rPr sz="1050" b="0" i="0">
                <a:solidFill>
                  <a:srgbClr val="1F2933"/>
                </a:solidFill>
                <a:latin typeface="Calibri"/>
              </a:rPr>
              <a:t>Each step gives the folder, its subfolders and its files. Sorting subs fixes the order of the visit.</a:t>
            </a:r>
          </a:p>
        </p:txBody>
      </p:sp>
      <p:sp>
        <p:nvSpPr>
          <p:cNvPr id="8" name="code"/>
          <p:cNvSpPr/>
          <p:nvPr/>
        </p:nvSpPr>
        <p:spPr>
          <a:xfrm>
            <a:off x="365760" y="2645981"/>
            <a:ext cx="4961382" cy="42240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last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f</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f</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fl</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walk</a:t>
            </a:r>
            <a:r>
              <a:rPr sz="950" b="0" i="0">
                <a:solidFill>
                  <a:srgbClr val="E6EDF3"/>
                </a:solidFill>
                <a:latin typeface="Courier New"/>
              </a:rPr>
              <a:t>(</a:t>
            </a:r>
            <a:r>
              <a:rPr sz="950" b="0" i="0">
                <a:solidFill>
                  <a:srgbClr val="9BE3A8"/>
                </a:solidFill>
                <a:latin typeface="Courier New"/>
              </a:rPr>
              <a:t>'spam'</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topdown</a:t>
            </a:r>
            <a:r>
              <a:rPr sz="950" b="0" i="0">
                <a:solidFill>
                  <a:srgbClr val="E6EDF3"/>
                </a:solidFill>
                <a:latin typeface="Courier New"/>
              </a:rPr>
              <a:t>=</a:t>
            </a:r>
            <a:r>
              <a:rPr sz="950" b="0" i="0">
                <a:solidFill>
                  <a:srgbClr val="E6EDF3"/>
                </a:solidFill>
                <a:latin typeface="Courier New"/>
              </a:rPr>
              <a:t>False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'bottom-up ends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last</a:t>
            </a:r>
            <a:r>
              <a:rPr sz="950" b="0" i="0">
                <a:solidFill>
                  <a:srgbClr val="E6EDF3"/>
                </a:solidFill>
                <a:latin typeface="Courier New"/>
              </a:rPr>
              <a:t>)</a:t>
            </a:r>
          </a:p>
        </p:txBody>
      </p:sp>
      <p:sp>
        <p:nvSpPr>
          <p:cNvPr id="9" name="explanation"/>
          <p:cNvSpPr txBox="1"/>
          <p:nvPr/>
        </p:nvSpPr>
        <p:spPr>
          <a:xfrm>
            <a:off x="5308854" y="2645981"/>
            <a:ext cx="3469385" cy="422402"/>
          </a:xfrm>
          <a:prstGeom prst="rect">
            <a:avLst/>
          </a:prstGeom>
          <a:noFill/>
        </p:spPr>
        <p:txBody>
          <a:bodyPr wrap="square" lIns="128016" rIns="128016" tIns="18288" bIns="18288" anchor="ctr">
            <a:spAutoFit/>
          </a:bodyPr>
          <a:lstStyle/>
          <a:p>
            <a:r>
              <a:rPr sz="1050" b="0" i="0">
                <a:solidFill>
                  <a:srgbClr val="1F2933"/>
                </a:solidFill>
                <a:latin typeface="Calibri"/>
              </a:rPr>
              <a:t>With topdown=False the subfolders come first and the start folder comes last.</a:t>
            </a:r>
          </a:p>
        </p:txBody>
      </p:sp>
      <p:sp>
        <p:nvSpPr>
          <p:cNvPr id="10" name="result label"/>
          <p:cNvSpPr txBox="1"/>
          <p:nvPr/>
        </p:nvSpPr>
        <p:spPr>
          <a:xfrm>
            <a:off x="365760" y="310495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60991"/>
          <a:ext cx="5888734" cy="1234440"/>
        </p:xfrm>
        <a:graphic>
          <a:graphicData uri="http://schemas.openxmlformats.org/drawingml/2006/table">
            <a:tbl>
              <a:tblPr firstRow="0" bandRow="0"/>
              <a:tblGrid>
                <a:gridCol w="499045"/>
                <a:gridCol w="1896372"/>
                <a:gridCol w="1896372"/>
                <a:gridCol w="1596945"/>
              </a:tblGrid>
              <a:tr h="246888">
                <a:tc>
                  <a:txBody>
                    <a:bodyPr wrap="square"/>
                    <a:lstStyle/>
                    <a:p>
                      <a:pPr algn="ctr"/>
                      <a:r>
                        <a:rPr sz="900" b="1" i="0">
                          <a:solidFill>
                            <a:srgbClr val="FFFFFF"/>
                          </a:solidFill>
                          <a:latin typeface="Calibri"/>
                        </a:rPr>
                        <a:t>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Subfolders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pPr algn="ctr"/>
                      <a:r>
                        <a:rPr sz="9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['eggs', 'eggs2']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['file1.txt']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pPr algn="ctr"/>
                      <a:r>
                        <a:rPr sz="9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spam/eggs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['bacon']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['file2.txt']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pPr algn="ctr"/>
                      <a:r>
                        <a:rPr sz="9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spam/eggs/bacon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pPr algn="ctr"/>
                      <a:r>
                        <a:rPr sz="9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spam/eggs2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590995" y="3360991"/>
            <a:ext cx="640080" cy="21945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spam</a:t>
            </a:r>
          </a:p>
        </p:txBody>
      </p:sp>
      <p:sp>
        <p:nvSpPr>
          <p:cNvPr id="13" name="Rounded Rectangle 12"/>
          <p:cNvSpPr/>
          <p:nvPr/>
        </p:nvSpPr>
        <p:spPr>
          <a:xfrm>
            <a:off x="7551115" y="3360991"/>
            <a:ext cx="640080" cy="21945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eggs</a:t>
            </a:r>
          </a:p>
        </p:txBody>
      </p:sp>
      <p:sp>
        <p:nvSpPr>
          <p:cNvPr id="14" name="Rounded Rectangle 13"/>
          <p:cNvSpPr/>
          <p:nvPr/>
        </p:nvSpPr>
        <p:spPr>
          <a:xfrm>
            <a:off x="7551115" y="3690175"/>
            <a:ext cx="640080" cy="21945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bacon</a:t>
            </a:r>
          </a:p>
        </p:txBody>
      </p:sp>
      <p:sp>
        <p:nvSpPr>
          <p:cNvPr id="15" name="Rounded Rectangle 14"/>
          <p:cNvSpPr/>
          <p:nvPr/>
        </p:nvSpPr>
        <p:spPr>
          <a:xfrm>
            <a:off x="7551115" y="4019359"/>
            <a:ext cx="640080" cy="21945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eggs2</a:t>
            </a:r>
          </a:p>
        </p:txBody>
      </p:sp>
      <p:cxnSp>
        <p:nvCxnSpPr>
          <p:cNvPr id="16" name="arrow"/>
          <p:cNvCxnSpPr/>
          <p:nvPr/>
        </p:nvCxnSpPr>
        <p:spPr>
          <a:xfrm>
            <a:off x="7231075" y="3470719"/>
            <a:ext cx="32004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arrow"/>
          <p:cNvCxnSpPr/>
          <p:nvPr/>
        </p:nvCxnSpPr>
        <p:spPr>
          <a:xfrm flipH="1">
            <a:off x="7551115" y="3470719"/>
            <a:ext cx="640080" cy="329184"/>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arrow"/>
          <p:cNvCxnSpPr/>
          <p:nvPr/>
        </p:nvCxnSpPr>
        <p:spPr>
          <a:xfrm>
            <a:off x="7231075" y="3470719"/>
            <a:ext cx="320040" cy="658368"/>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90995" y="4321111"/>
            <a:ext cx="2187244" cy="457200"/>
          </a:xfrm>
          <a:prstGeom prst="rect">
            <a:avLst/>
          </a:prstGeom>
          <a:noFill/>
        </p:spPr>
        <p:txBody>
          <a:bodyPr wrap="square" lIns="45720" rIns="45720" tIns="27432" bIns="27432" anchor="t">
            <a:spAutoFit/>
          </a:bodyPr>
          <a:lstStyle/>
          <a:p>
            <a:r>
              <a:rPr sz="950" b="0" i="1">
                <a:solidFill>
                  <a:srgbClr val="5B6773"/>
                </a:solidFill>
                <a:latin typeface="Calibri"/>
              </a:rPr>
              <a:t>bottom-up ends at: spam</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os.walk gives folder, subfolders and files at every step.</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Counting bytes per folder while walking</a:t>
            </a:r>
          </a:p>
        </p:txBody>
      </p:sp>
      <p:sp>
        <p:nvSpPr>
          <p:cNvPr id="4" name="code"/>
          <p:cNvSpPr/>
          <p:nvPr/>
        </p:nvSpPr>
        <p:spPr>
          <a:xfrm>
            <a:off x="365760" y="822960"/>
            <a:ext cx="4828031" cy="12125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C9A0FF"/>
                </a:solidFill>
                <a:latin typeface="Courier New"/>
              </a:rPr>
              <a:t>from</a:t>
            </a:r>
            <a:r>
              <a:rPr sz="1000" b="0" i="0">
                <a:solidFill>
                  <a:srgbClr val="E6EDF3"/>
                </a:solidFill>
                <a:latin typeface="Courier New"/>
              </a:rPr>
              <a:t> </a:t>
            </a:r>
            <a:r>
              <a:rPr sz="1000" b="0" i="0">
                <a:solidFill>
                  <a:srgbClr val="E6EDF3"/>
                </a:solidFill>
                <a:latin typeface="Courier New"/>
              </a:rPr>
              <a:t>pathlib</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Path</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'spam/eggs'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mkdir</a:t>
            </a:r>
            <a:r>
              <a:rPr sz="1000" b="0" i="0">
                <a:solidFill>
                  <a:srgbClr val="E6EDF3"/>
                </a:solidFill>
                <a:latin typeface="Courier New"/>
              </a:rPr>
              <a:t>(</a:t>
            </a:r>
            <a:r>
              <a:rPr sz="1000" b="0" i="0">
                <a:solidFill>
                  <a:srgbClr val="E6EDF3"/>
                </a:solidFill>
                <a:latin typeface="Courier New"/>
              </a:rPr>
              <a:t>parents</a:t>
            </a:r>
            <a:r>
              <a:rPr sz="1000" b="0" i="0">
                <a:solidFill>
                  <a:srgbClr val="E6EDF3"/>
                </a:solidFill>
                <a:latin typeface="Courier New"/>
              </a:rPr>
              <a:t>=</a:t>
            </a:r>
            <a:r>
              <a:rPr sz="1000" b="0" i="0">
                <a:solidFill>
                  <a:srgbClr val="E6EDF3"/>
                </a:solidFill>
                <a:latin typeface="Courier New"/>
              </a:rPr>
              <a:t>True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'spam/a.txt'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300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'spam/eggs/b.txt'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120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'spam/eggs/c.txt'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80</a:t>
            </a:r>
            <a:r>
              <a:rPr sz="1000" b="0" i="0">
                <a:solidFill>
                  <a:srgbClr val="E6EDF3"/>
                </a:solidFill>
                <a:latin typeface="Courier New"/>
              </a:rPr>
              <a:t>)</a:t>
            </a:r>
          </a:p>
        </p:txBody>
      </p:sp>
      <p:sp>
        <p:nvSpPr>
          <p:cNvPr id="5" name="explanation"/>
          <p:cNvSpPr txBox="1"/>
          <p:nvPr/>
        </p:nvSpPr>
        <p:spPr>
          <a:xfrm>
            <a:off x="5175504" y="822960"/>
            <a:ext cx="3602736" cy="1212596"/>
          </a:xfrm>
          <a:prstGeom prst="rect">
            <a:avLst/>
          </a:prstGeom>
          <a:noFill/>
        </p:spPr>
        <p:txBody>
          <a:bodyPr wrap="square" lIns="128016" rIns="128016" tIns="18288" bIns="18288" anchor="ctr">
            <a:spAutoFit/>
          </a:bodyPr>
          <a:lstStyle/>
          <a:p>
            <a:r>
              <a:rPr sz="1100" b="0" i="0">
                <a:solidFill>
                  <a:srgbClr val="1F2933"/>
                </a:solidFill>
                <a:latin typeface="Calibri"/>
              </a:rPr>
              <a:t>A new temporary folder keeps your real files safe. Three files of 300, 120 and 80 bytes in two folders.</a:t>
            </a:r>
          </a:p>
        </p:txBody>
      </p:sp>
      <p:sp>
        <p:nvSpPr>
          <p:cNvPr id="6" name="code"/>
          <p:cNvSpPr/>
          <p:nvPr/>
        </p:nvSpPr>
        <p:spPr>
          <a:xfrm>
            <a:off x="365760" y="2081276"/>
            <a:ext cx="4828031" cy="105765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sizes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subs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files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walk</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E6EDF3"/>
                </a:solidFill>
                <a:latin typeface="Courier New"/>
              </a:rPr>
              <a:t>sizes</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sum</a:t>
            </a:r>
            <a:r>
              <a:rPr sz="1000" b="0" i="0">
                <a:solidFill>
                  <a:srgbClr val="E6EDF3"/>
                </a:solidFill>
                <a:latin typeface="Courier New"/>
              </a:rPr>
              <a:t>(</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getsize</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files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dict</a:t>
            </a:r>
            <a:r>
              <a:rPr sz="1000" b="0" i="0">
                <a:solidFill>
                  <a:srgbClr val="E6EDF3"/>
                </a:solidFill>
                <a:latin typeface="Courier New"/>
              </a:rPr>
              <a:t>(</a:t>
            </a:r>
            <a:r>
              <a:rPr sz="1000" b="0" i="0">
                <a:solidFill>
                  <a:srgbClr val="E6EDF3"/>
                </a:solidFill>
                <a:latin typeface="Courier New"/>
              </a:rPr>
              <a:t>sorted</a:t>
            </a:r>
            <a:r>
              <a:rPr sz="1000" b="0" i="0">
                <a:solidFill>
                  <a:srgbClr val="E6EDF3"/>
                </a:solidFill>
                <a:latin typeface="Courier New"/>
              </a:rPr>
              <a:t>(</a:t>
            </a:r>
            <a:r>
              <a:rPr sz="1000" b="0" i="0">
                <a:solidFill>
                  <a:srgbClr val="E6EDF3"/>
                </a:solidFill>
                <a:latin typeface="Courier New"/>
              </a:rPr>
              <a:t>sizes</a:t>
            </a:r>
            <a:r>
              <a:rPr sz="1000" b="0" i="0">
                <a:solidFill>
                  <a:srgbClr val="E6EDF3"/>
                </a:solidFill>
                <a:latin typeface="Courier New"/>
              </a:rPr>
              <a:t>.</a:t>
            </a:r>
            <a:r>
              <a:rPr sz="1000" b="0" i="0">
                <a:solidFill>
                  <a:srgbClr val="E6EDF3"/>
                </a:solidFill>
                <a:latin typeface="Courier New"/>
              </a:rPr>
              <a:t>items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'total:'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sum</a:t>
            </a:r>
            <a:r>
              <a:rPr sz="1000" b="0" i="0">
                <a:solidFill>
                  <a:srgbClr val="E6EDF3"/>
                </a:solidFill>
                <a:latin typeface="Courier New"/>
              </a:rPr>
              <a:t>(</a:t>
            </a:r>
            <a:r>
              <a:rPr sz="1000" b="0" i="0">
                <a:solidFill>
                  <a:srgbClr val="E6EDF3"/>
                </a:solidFill>
                <a:latin typeface="Courier New"/>
              </a:rPr>
              <a:t>sizes</a:t>
            </a:r>
            <a:r>
              <a:rPr sz="1000" b="0" i="0">
                <a:solidFill>
                  <a:srgbClr val="E6EDF3"/>
                </a:solidFill>
                <a:latin typeface="Courier New"/>
              </a:rPr>
              <a:t>.</a:t>
            </a:r>
            <a:r>
              <a:rPr sz="1000" b="0" i="0">
                <a:solidFill>
                  <a:srgbClr val="E6EDF3"/>
                </a:solidFill>
                <a:latin typeface="Courier New"/>
              </a:rPr>
              <a:t>values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175504" y="2081276"/>
            <a:ext cx="3602736" cy="1057656"/>
          </a:xfrm>
          <a:prstGeom prst="rect">
            <a:avLst/>
          </a:prstGeom>
          <a:noFill/>
        </p:spPr>
        <p:txBody>
          <a:bodyPr wrap="square" lIns="128016" rIns="128016" tIns="18288" bIns="18288" anchor="ctr">
            <a:spAutoFit/>
          </a:bodyPr>
          <a:lstStyle/>
          <a:p>
            <a:r>
              <a:rPr sz="1100" b="0" i="0">
                <a:solidFill>
                  <a:srgbClr val="1F2933"/>
                </a:solidFill>
                <a:latin typeface="Calibri"/>
              </a:rPr>
              <a:t>For every folder the walk hands over, add up the sizes of its files. The dictionary maps each folder to its bytes.</a:t>
            </a:r>
          </a:p>
        </p:txBody>
      </p:sp>
      <p:sp>
        <p:nvSpPr>
          <p:cNvPr id="8" name="result label"/>
          <p:cNvSpPr txBox="1"/>
          <p:nvPr/>
        </p:nvSpPr>
        <p:spPr>
          <a:xfrm>
            <a:off x="365760" y="317550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431539"/>
          <a:ext cx="4206240" cy="1250187"/>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824374" y="3477259"/>
          <a:ext cx="3953863" cy="1097280"/>
        </p:xfrm>
        <a:graphic>
          <a:graphicData uri="http://schemas.openxmlformats.org/drawingml/2006/table">
            <a:tbl>
              <a:tblPr firstRow="0" bandRow="0"/>
              <a:tblGrid>
                <a:gridCol w="1253664"/>
                <a:gridCol w="1928714"/>
                <a:gridCol w="771485"/>
              </a:tblGrid>
              <a:tr h="274320">
                <a:tc>
                  <a:txBody>
                    <a:bodyPr wrap="square"/>
                    <a:lstStyle/>
                    <a:p>
                      <a:r>
                        <a:rPr sz="950" b="1" i="0">
                          <a:solidFill>
                            <a:srgbClr val="FFFFFF"/>
                          </a:solidFill>
                          <a:latin typeface="Calibri"/>
                        </a:rPr>
                        <a:t>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Files in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r"/>
                      <a:r>
                        <a:rPr sz="950" b="1" i="0">
                          <a:solidFill>
                            <a:srgbClr val="FFFFFF"/>
                          </a:solidFill>
                          <a:latin typeface="Calibri"/>
                        </a:rPr>
                        <a:t>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950" b="0" i="0">
                          <a:solidFill>
                            <a:srgbClr val="1F2933"/>
                          </a:solidFill>
                          <a:latin typeface="Courier New"/>
                        </a:rPr>
                        <a:t>300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spam/eggs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['b.txt', 'c.txt']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950" b="0" i="0">
                          <a:solidFill>
                            <a:srgbClr val="1F2933"/>
                          </a:solidFill>
                          <a:latin typeface="Courier New"/>
                        </a:rPr>
                        <a:t>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950" b="0" i="0">
                          <a:solidFill>
                            <a:srgbClr val="1F2933"/>
                          </a:solidFill>
                          <a:latin typeface="Courier New"/>
                        </a:rPr>
                        <a:t>500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walk can add up bytes per folder.</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Path.mkdir: making folders, also in a chain</a:t>
            </a:r>
          </a:p>
        </p:txBody>
      </p:sp>
      <p:sp>
        <p:nvSpPr>
          <p:cNvPr id="4" name="code"/>
          <p:cNvSpPr/>
          <p:nvPr/>
        </p:nvSpPr>
        <p:spPr>
          <a:xfrm>
            <a:off x="365760" y="822960"/>
            <a:ext cx="4866132" cy="132105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C9A0FF"/>
                </a:solidFill>
                <a:latin typeface="Courier New"/>
              </a:rPr>
              <a:t>from</a:t>
            </a:r>
            <a:r>
              <a:rPr sz="1100" b="0" i="0">
                <a:solidFill>
                  <a:srgbClr val="E6EDF3"/>
                </a:solidFill>
                <a:latin typeface="Courier New"/>
              </a:rPr>
              <a:t> </a:t>
            </a:r>
            <a:r>
              <a:rPr sz="1100" b="0" i="0">
                <a:solidFill>
                  <a:srgbClr val="E6EDF3"/>
                </a:solidFill>
                <a:latin typeface="Courier New"/>
              </a:rPr>
              <a:t>pathlib</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Path</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'x/y'</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mkdir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FileNotFoundError</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'refused: the parent x is missing'</a:t>
            </a:r>
            <a:r>
              <a:rPr sz="1100" b="0" i="0">
                <a:solidFill>
                  <a:srgbClr val="E6EDF3"/>
                </a:solidFill>
                <a:latin typeface="Courier New"/>
              </a:rPr>
              <a:t>)</a:t>
            </a:r>
          </a:p>
        </p:txBody>
      </p:sp>
      <p:sp>
        <p:nvSpPr>
          <p:cNvPr id="5" name="explanation"/>
          <p:cNvSpPr txBox="1"/>
          <p:nvPr/>
        </p:nvSpPr>
        <p:spPr>
          <a:xfrm>
            <a:off x="5213604" y="822960"/>
            <a:ext cx="3564635" cy="1321053"/>
          </a:xfrm>
          <a:prstGeom prst="rect">
            <a:avLst/>
          </a:prstGeom>
          <a:noFill/>
        </p:spPr>
        <p:txBody>
          <a:bodyPr wrap="square" lIns="128016" rIns="128016" tIns="18288" bIns="18288" anchor="ctr">
            <a:spAutoFit/>
          </a:bodyPr>
          <a:lstStyle/>
          <a:p>
            <a:r>
              <a:rPr sz="1200" b="0" i="0">
                <a:solidFill>
                  <a:srgbClr val="1F2933"/>
                </a:solidFill>
                <a:latin typeface="Calibri"/>
              </a:rPr>
              <a:t>A new temporary folder keeps your real files safe. mkdir makes one folder. It refuses when the folder above it does not exist yet.</a:t>
            </a:r>
          </a:p>
        </p:txBody>
      </p:sp>
      <p:sp>
        <p:nvSpPr>
          <p:cNvPr id="6" name="code"/>
          <p:cNvSpPr/>
          <p:nvPr/>
        </p:nvSpPr>
        <p:spPr>
          <a:xfrm>
            <a:off x="365760" y="2189734"/>
            <a:ext cx="4866132" cy="6446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'x/y'</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mkdir</a:t>
            </a:r>
            <a:r>
              <a:rPr sz="1100" b="0" i="0">
                <a:solidFill>
                  <a:srgbClr val="E6EDF3"/>
                </a:solidFill>
                <a:latin typeface="Courier New"/>
              </a:rPr>
              <a:t>(</a:t>
            </a:r>
            <a:r>
              <a:rPr sz="1100" b="0" i="0">
                <a:solidFill>
                  <a:srgbClr val="E6EDF3"/>
                </a:solidFill>
                <a:latin typeface="Courier New"/>
              </a:rPr>
              <a:t>parents</a:t>
            </a:r>
            <a:r>
              <a:rPr sz="1100" b="0" i="0">
                <a:solidFill>
                  <a:srgbClr val="E6EDF3"/>
                </a:solidFill>
                <a:latin typeface="Courier New"/>
              </a:rPr>
              <a:t>=</a:t>
            </a:r>
            <a:r>
              <a:rPr sz="1100" b="0" i="0">
                <a:solidFill>
                  <a:srgbClr val="E6EDF3"/>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'x/y'</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mkdir</a:t>
            </a:r>
            <a:r>
              <a:rPr sz="1100" b="0" i="0">
                <a:solidFill>
                  <a:srgbClr val="E6EDF3"/>
                </a:solidFill>
                <a:latin typeface="Courier New"/>
              </a:rPr>
              <a:t>(</a:t>
            </a:r>
            <a:r>
              <a:rPr sz="1100" b="0" i="0">
                <a:solidFill>
                  <a:srgbClr val="E6EDF3"/>
                </a:solidFill>
                <a:latin typeface="Courier New"/>
              </a:rPr>
              <a:t>parents</a:t>
            </a:r>
            <a:r>
              <a:rPr sz="1100" b="0" i="0">
                <a:solidFill>
                  <a:srgbClr val="E6EDF3"/>
                </a:solidFill>
                <a:latin typeface="Courier New"/>
              </a:rPr>
              <a:t>=</a:t>
            </a:r>
            <a:r>
              <a:rPr sz="1100" b="0" i="0">
                <a:solidFill>
                  <a:srgbClr val="E6EDF3"/>
                </a:solidFill>
                <a:latin typeface="Courier New"/>
              </a:rPr>
              <a:t>True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exist_ok</a:t>
            </a:r>
            <a:r>
              <a:rPr sz="1100" b="0" i="0">
                <a:solidFill>
                  <a:srgbClr val="E6EDF3"/>
                </a:solidFill>
                <a:latin typeface="Courier New"/>
              </a:rPr>
              <a:t>=</a:t>
            </a:r>
            <a:r>
              <a:rPr sz="1100" b="0" i="0">
                <a:solidFill>
                  <a:srgbClr val="E6EDF3"/>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str</a:t>
            </a:r>
            <a:r>
              <a:rPr sz="1100" b="0" i="0">
                <a:solidFill>
                  <a:srgbClr val="E6EDF3"/>
                </a:solidFill>
                <a:latin typeface="Courier New"/>
              </a:rPr>
              <a:t>(</a:t>
            </a:r>
            <a:r>
              <a:rPr sz="1100" b="0" i="0">
                <a:solidFill>
                  <a:srgbClr val="E6EDF3"/>
                </a:solidFill>
                <a:latin typeface="Courier New"/>
              </a:rPr>
              <a:t>p</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p</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9BE3A8"/>
                </a:solidFill>
                <a:latin typeface="Courier New"/>
              </a:rPr>
              <a:t>'x'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rglob</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213604" y="2189734"/>
            <a:ext cx="3564635" cy="644652"/>
          </a:xfrm>
          <a:prstGeom prst="rect">
            <a:avLst/>
          </a:prstGeom>
          <a:noFill/>
        </p:spPr>
        <p:txBody>
          <a:bodyPr wrap="square" lIns="128016" rIns="128016" tIns="18288" bIns="18288" anchor="ctr">
            <a:spAutoFit/>
          </a:bodyPr>
          <a:lstStyle/>
          <a:p>
            <a:r>
              <a:rPr sz="1200" b="0" i="0">
                <a:solidFill>
                  <a:srgbClr val="1F2933"/>
                </a:solidFill>
                <a:latin typeface="Calibri"/>
              </a:rPr>
              <a:t>parents=True builds the whole chain. exist_ok=True accepts a folder that is already there.</a:t>
            </a:r>
          </a:p>
        </p:txBody>
      </p:sp>
      <p:sp>
        <p:nvSpPr>
          <p:cNvPr id="8" name="result label"/>
          <p:cNvSpPr txBox="1"/>
          <p:nvPr/>
        </p:nvSpPr>
        <p:spPr>
          <a:xfrm>
            <a:off x="365760" y="287096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26994"/>
            <a:ext cx="219456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Path('x/y').mkdir()</a:t>
            </a:r>
          </a:p>
        </p:txBody>
      </p:sp>
      <p:cxnSp>
        <p:nvCxnSpPr>
          <p:cNvPr id="10" name="arrow"/>
          <p:cNvCxnSpPr/>
          <p:nvPr/>
        </p:nvCxnSpPr>
        <p:spPr>
          <a:xfrm>
            <a:off x="2560320" y="3264154"/>
            <a:ext cx="548640" cy="0"/>
          </a:xfrm>
          <a:prstGeom prst="line">
            <a:avLst/>
          </a:prstGeom>
          <a:ln w="1778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108960" y="3126994"/>
            <a:ext cx="3108960" cy="27432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refused: the parent x is missing</a:t>
            </a:r>
          </a:p>
        </p:txBody>
      </p:sp>
      <p:sp>
        <p:nvSpPr>
          <p:cNvPr id="12" name="Rounded Rectangle 11"/>
          <p:cNvSpPr/>
          <p:nvPr/>
        </p:nvSpPr>
        <p:spPr>
          <a:xfrm>
            <a:off x="365760" y="3538474"/>
            <a:ext cx="219456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mkdir(parents=True)</a:t>
            </a:r>
          </a:p>
        </p:txBody>
      </p:sp>
      <p:cxnSp>
        <p:nvCxnSpPr>
          <p:cNvPr id="13" name="arrow"/>
          <p:cNvCxnSpPr/>
          <p:nvPr/>
        </p:nvCxnSpPr>
        <p:spPr>
          <a:xfrm>
            <a:off x="2560320" y="3675633"/>
            <a:ext cx="548640" cy="0"/>
          </a:xfrm>
          <a:prstGeom prst="line">
            <a:avLst/>
          </a:prstGeom>
          <a:ln w="1778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08960" y="3538474"/>
            <a:ext cx="82296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x</a:t>
            </a:r>
          </a:p>
        </p:txBody>
      </p:sp>
      <p:sp>
        <p:nvSpPr>
          <p:cNvPr id="15" name="Rounded Rectangle 14"/>
          <p:cNvSpPr/>
          <p:nvPr/>
        </p:nvSpPr>
        <p:spPr>
          <a:xfrm>
            <a:off x="4251960" y="3538474"/>
            <a:ext cx="822960"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y</a:t>
            </a:r>
          </a:p>
        </p:txBody>
      </p:sp>
      <p:cxnSp>
        <p:nvCxnSpPr>
          <p:cNvPr id="16" name="arrow"/>
          <p:cNvCxnSpPr/>
          <p:nvPr/>
        </p:nvCxnSpPr>
        <p:spPr>
          <a:xfrm>
            <a:off x="3931920" y="3675634"/>
            <a:ext cx="32004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5760" y="3949954"/>
            <a:ext cx="585216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the tree below x now: ['x/y']</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parents=True builds the chain; exist_ok=True accepts it.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folder tree is a 1965 Multics design</a:t>
            </a:r>
          </a:p>
        </p:txBody>
      </p:sp>
      <p:pic>
        <p:nvPicPr>
          <p:cNvPr id="4" name="photo multics" descr="Portrait of Peter G. Neumann"/>
          <p:cNvPicPr>
            <a:picLocks noChangeAspect="1"/>
          </p:cNvPicPr>
          <p:nvPr/>
        </p:nvPicPr>
        <p:blipFill>
          <a:blip r:embed="rId3"/>
          <a:stretch>
            <a:fillRect/>
          </a:stretch>
        </p:blipFill>
        <p:spPr>
          <a:xfrm>
            <a:off x="365760" y="1337310"/>
            <a:ext cx="2651760" cy="1988819"/>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Peter G. Neumann. Photo: Joe Hall, CC BY 2.0,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R. C. Daley of MIT's Project MAC and Peter G. Neumann of Bell Labs.</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Their paper 'A General Purpose File System for Secondary Storage' laid out folders holding folders holding files.</a:t>
            </a:r>
          </a:p>
        </p:txBody>
      </p:sp>
      <p:sp>
        <p:nvSpPr>
          <p:cNvPr id="10" name="card"/>
          <p:cNvSpPr/>
          <p:nvPr/>
        </p:nvSpPr>
        <p:spPr>
          <a:xfrm>
            <a:off x="3200400" y="20848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1965, at the Fall Joint Computer Conference.</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Multics, the shared system of MIT, Bell Labs and General Electric.</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Many users had to share one disk and manage their own parts of it.</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Unix kept the same tree, and os.walk descends it folder by folder today.</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Multics history, multicians.org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ZIP archives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Many files in one parcel, and back again</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ZipFile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Opens an archive to write, add or read.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Compression</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ZIP_DEFLATED shrinks repeated text a great deal.</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extract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Unpacks one member or all of them.</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make_archive</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Packs a whole folder in a single call.</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ZIP archives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zipfile.ZipFile: write a file into an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ZIP modes: read, append, exclusive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extractall and extract: unpacking an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shutil.make_archive and unpack_archive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ZIP format was given away 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the engine under ZIP_DEFLATED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ZIP archives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ZIP file is a vacuum-packed suitcase: many things, one small parcel, and they come out again.</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Compressing Files with the zipfile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Vacuum-packing clothes: the same clothes, a much smaller bag.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Archives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single suitcase for a whole wardrobe.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zipfile.ZipFile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suitcase itself: open it to pack, to add one more item or to look inside.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extract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Taking one shirt out, or emptying the whole case onto the bed.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zipfile.ZipFile: write a file into an archive</a:t>
            </a:r>
          </a:p>
        </p:txBody>
      </p:sp>
      <p:sp>
        <p:nvSpPr>
          <p:cNvPr id="4" name="code"/>
          <p:cNvSpPr/>
          <p:nvPr/>
        </p:nvSpPr>
        <p:spPr>
          <a:xfrm>
            <a:off x="365760" y="822960"/>
            <a:ext cx="5132832" cy="105765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zipfile</a:t>
            </a:r>
          </a:p>
          <a:p>
            <a:pPr algn="l"/>
            <a:r>
              <a:rPr sz="1000" b="0" i="0">
                <a:solidFill>
                  <a:srgbClr val="8FA3B8"/>
                </a:solidFill>
                <a:latin typeface="Courier New"/>
              </a:rPr>
              <a:t>&gt;&gt;&gt; </a:t>
            </a:r>
            <a:r>
              <a:rPr sz="1000" b="0" i="0">
                <a:solidFill>
                  <a:srgbClr val="C9A0FF"/>
                </a:solidFill>
                <a:latin typeface="Courier New"/>
              </a:rPr>
              <a:t>from</a:t>
            </a:r>
            <a:r>
              <a:rPr sz="1000" b="0" i="0">
                <a:solidFill>
                  <a:srgbClr val="E6EDF3"/>
                </a:solidFill>
                <a:latin typeface="Courier New"/>
              </a:rPr>
              <a:t> </a:t>
            </a:r>
            <a:r>
              <a:rPr sz="1000" b="0" i="0">
                <a:solidFill>
                  <a:srgbClr val="E6EDF3"/>
                </a:solidFill>
                <a:latin typeface="Courier New"/>
              </a:rPr>
              <a:t>pathlib</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Path</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a:t>
            </a:r>
            <a:r>
              <a:rPr sz="1000" b="0" i="0">
                <a:solidFill>
                  <a:srgbClr val="9BE3A8"/>
                </a:solidFill>
                <a:latin typeface="Courier New"/>
              </a:rPr>
              <a:t>'file1.txt'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9BE3A8"/>
                </a:solidFill>
                <a:latin typeface="Courier New"/>
              </a:rPr>
              <a:t>'Hello'</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10000</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with</a:t>
            </a:r>
            <a:r>
              <a:rPr sz="1000" b="0" i="0">
                <a:solidFill>
                  <a:srgbClr val="E6EDF3"/>
                </a:solidFill>
                <a:latin typeface="Courier New"/>
              </a:rPr>
              <a:t> </a:t>
            </a:r>
            <a:r>
              <a:rPr sz="1000" b="0" i="0">
                <a:solidFill>
                  <a:srgbClr val="E6EDF3"/>
                </a:solidFill>
                <a:latin typeface="Courier New"/>
              </a:rPr>
              <a:t>zipfile</a:t>
            </a:r>
            <a:r>
              <a:rPr sz="1000" b="0" i="0">
                <a:solidFill>
                  <a:srgbClr val="E6EDF3"/>
                </a:solidFill>
                <a:latin typeface="Courier New"/>
              </a:rPr>
              <a:t>.</a:t>
            </a:r>
            <a:r>
              <a:rPr sz="1000" b="0" i="0">
                <a:solidFill>
                  <a:srgbClr val="E6EDF3"/>
                </a:solidFill>
                <a:latin typeface="Courier New"/>
              </a:rPr>
              <a:t>ZipFile</a:t>
            </a:r>
            <a:r>
              <a:rPr sz="1000" b="0" i="0">
                <a:solidFill>
                  <a:srgbClr val="E6EDF3"/>
                </a:solidFill>
                <a:latin typeface="Courier New"/>
              </a:rPr>
              <a:t>(</a:t>
            </a:r>
            <a:r>
              <a:rPr sz="1000" b="0" i="0">
                <a:solidFill>
                  <a:srgbClr val="9BE3A8"/>
                </a:solidFill>
                <a:latin typeface="Courier New"/>
              </a:rPr>
              <a:t>'example.zip'</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as</a:t>
            </a:r>
            <a:r>
              <a:rPr sz="1000" b="0" i="0">
                <a:solidFill>
                  <a:srgbClr val="E6EDF3"/>
                </a:solidFill>
                <a:latin typeface="Courier New"/>
              </a:rPr>
              <a:t> </a:t>
            </a:r>
            <a:r>
              <a:rPr sz="1000" b="0" i="0">
                <a:solidFill>
                  <a:srgbClr val="E6EDF3"/>
                </a:solidFill>
                <a:latin typeface="Courier New"/>
              </a:rPr>
              <a:t>z</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E6EDF3"/>
                </a:solidFill>
                <a:latin typeface="Courier New"/>
              </a:rPr>
              <a:t>z</a:t>
            </a:r>
            <a:r>
              <a:rPr sz="1000" b="0" i="0">
                <a:solidFill>
                  <a:srgbClr val="E6EDF3"/>
                </a:solidFill>
                <a:latin typeface="Courier New"/>
              </a:rPr>
              <a:t>.</a:t>
            </a:r>
            <a:r>
              <a:rPr sz="1000" b="0" i="0">
                <a:solidFill>
                  <a:srgbClr val="E6EDF3"/>
                </a:solidFill>
                <a:latin typeface="Courier New"/>
              </a:rPr>
              <a:t>write</a:t>
            </a:r>
            <a:r>
              <a:rPr sz="1000" b="0" i="0">
                <a:solidFill>
                  <a:srgbClr val="E6EDF3"/>
                </a:solidFill>
                <a:latin typeface="Courier New"/>
              </a:rPr>
              <a:t>(</a:t>
            </a:r>
            <a:r>
              <a:rPr sz="1000" b="0" i="0">
                <a:solidFill>
                  <a:srgbClr val="9BE3A8"/>
                </a:solidFill>
                <a:latin typeface="Courier New"/>
              </a:rPr>
              <a:t>'file1.txt'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compress_type</a:t>
            </a:r>
            <a:r>
              <a:rPr sz="1000" b="0" i="0">
                <a:solidFill>
                  <a:srgbClr val="E6EDF3"/>
                </a:solidFill>
                <a:latin typeface="Courier New"/>
              </a:rPr>
              <a:t>=</a:t>
            </a:r>
            <a:r>
              <a:rPr sz="1000" b="0" i="0">
                <a:solidFill>
                  <a:srgbClr val="E6EDF3"/>
                </a:solidFill>
                <a:latin typeface="Courier New"/>
              </a:rPr>
              <a:t>zipfile</a:t>
            </a:r>
            <a:r>
              <a:rPr sz="1000" b="0" i="0">
                <a:solidFill>
                  <a:srgbClr val="E6EDF3"/>
                </a:solidFill>
                <a:latin typeface="Courier New"/>
              </a:rPr>
              <a:t>.</a:t>
            </a:r>
            <a:r>
              <a:rPr sz="1000" b="0" i="0">
                <a:solidFill>
                  <a:srgbClr val="E6EDF3"/>
                </a:solidFill>
                <a:latin typeface="Courier New"/>
              </a:rPr>
              <a:t>ZIP_DEFLATED</a:t>
            </a:r>
            <a:r>
              <a:rPr sz="1000" b="0" i="0">
                <a:solidFill>
                  <a:srgbClr val="E6EDF3"/>
                </a:solidFill>
                <a:latin typeface="Courier New"/>
              </a:rPr>
              <a:t>)</a:t>
            </a:r>
          </a:p>
        </p:txBody>
      </p:sp>
      <p:sp>
        <p:nvSpPr>
          <p:cNvPr id="5" name="explanation"/>
          <p:cNvSpPr txBox="1"/>
          <p:nvPr/>
        </p:nvSpPr>
        <p:spPr>
          <a:xfrm>
            <a:off x="5480304" y="822960"/>
            <a:ext cx="3297935" cy="1057656"/>
          </a:xfrm>
          <a:prstGeom prst="rect">
            <a:avLst/>
          </a:prstGeom>
          <a:noFill/>
        </p:spPr>
        <p:txBody>
          <a:bodyPr wrap="square" lIns="128016" rIns="128016" tIns="18288" bIns="18288" anchor="ctr">
            <a:spAutoFit/>
          </a:bodyPr>
          <a:lstStyle/>
          <a:p>
            <a:r>
              <a:rPr sz="1100" b="0" i="0">
                <a:solidFill>
                  <a:srgbClr val="1F2933"/>
                </a:solidFill>
                <a:latin typeface="Calibri"/>
              </a:rPr>
              <a:t>A new temporary folder keeps your real files safe. Mode 'w' starts a new archive. write adds a file; ZIP_DEFLATED is the compression that really shrinks it.</a:t>
            </a:r>
          </a:p>
        </p:txBody>
      </p:sp>
      <p:sp>
        <p:nvSpPr>
          <p:cNvPr id="6" name="code"/>
          <p:cNvSpPr/>
          <p:nvPr/>
        </p:nvSpPr>
        <p:spPr>
          <a:xfrm>
            <a:off x="365760" y="1926336"/>
            <a:ext cx="5132832" cy="9027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with</a:t>
            </a:r>
            <a:r>
              <a:rPr sz="1000" b="0" i="0">
                <a:solidFill>
                  <a:srgbClr val="E6EDF3"/>
                </a:solidFill>
                <a:latin typeface="Courier New"/>
              </a:rPr>
              <a:t> </a:t>
            </a:r>
            <a:r>
              <a:rPr sz="1000" b="0" i="0">
                <a:solidFill>
                  <a:srgbClr val="E6EDF3"/>
                </a:solidFill>
                <a:latin typeface="Courier New"/>
              </a:rPr>
              <a:t>zipfile</a:t>
            </a:r>
            <a:r>
              <a:rPr sz="1000" b="0" i="0">
                <a:solidFill>
                  <a:srgbClr val="E6EDF3"/>
                </a:solidFill>
                <a:latin typeface="Courier New"/>
              </a:rPr>
              <a:t>.</a:t>
            </a:r>
            <a:r>
              <a:rPr sz="1000" b="0" i="0">
                <a:solidFill>
                  <a:srgbClr val="E6EDF3"/>
                </a:solidFill>
                <a:latin typeface="Courier New"/>
              </a:rPr>
              <a:t>ZipFile</a:t>
            </a:r>
            <a:r>
              <a:rPr sz="1000" b="0" i="0">
                <a:solidFill>
                  <a:srgbClr val="E6EDF3"/>
                </a:solidFill>
                <a:latin typeface="Courier New"/>
              </a:rPr>
              <a:t>(</a:t>
            </a:r>
            <a:r>
              <a:rPr sz="1000" b="0" i="0">
                <a:solidFill>
                  <a:srgbClr val="9BE3A8"/>
                </a:solidFill>
                <a:latin typeface="Courier New"/>
              </a:rPr>
              <a:t>'example.zip'</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as</a:t>
            </a:r>
            <a:r>
              <a:rPr sz="1000" b="0" i="0">
                <a:solidFill>
                  <a:srgbClr val="E6EDF3"/>
                </a:solidFill>
                <a:latin typeface="Courier New"/>
              </a:rPr>
              <a:t> </a:t>
            </a:r>
            <a:r>
              <a:rPr sz="1000" b="0" i="0">
                <a:solidFill>
                  <a:srgbClr val="E6EDF3"/>
                </a:solidFill>
                <a:latin typeface="Courier New"/>
              </a:rPr>
              <a:t>z</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E6EDF3"/>
                </a:solidFill>
                <a:latin typeface="Courier New"/>
              </a:rPr>
              <a:t>info</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z</a:t>
            </a:r>
            <a:r>
              <a:rPr sz="1000" b="0" i="0">
                <a:solidFill>
                  <a:srgbClr val="E6EDF3"/>
                </a:solidFill>
                <a:latin typeface="Courier New"/>
              </a:rPr>
              <a:t>.</a:t>
            </a:r>
            <a:r>
              <a:rPr sz="1000" b="0" i="0">
                <a:solidFill>
                  <a:srgbClr val="E6EDF3"/>
                </a:solidFill>
                <a:latin typeface="Courier New"/>
              </a:rPr>
              <a:t>getinfo</a:t>
            </a:r>
            <a:r>
              <a:rPr sz="1000" b="0" i="0">
                <a:solidFill>
                  <a:srgbClr val="E6EDF3"/>
                </a:solidFill>
                <a:latin typeface="Courier New"/>
              </a:rPr>
              <a:t>(</a:t>
            </a:r>
            <a:r>
              <a:rPr sz="1000" b="0" i="0">
                <a:solidFill>
                  <a:srgbClr val="9BE3A8"/>
                </a:solidFill>
                <a:latin typeface="Courier New"/>
              </a:rPr>
              <a:t>'file1.txt'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info</a:t>
            </a:r>
            <a:r>
              <a:rPr sz="1000" b="0" i="0">
                <a:solidFill>
                  <a:srgbClr val="E6EDF3"/>
                </a:solidFill>
                <a:latin typeface="Courier New"/>
              </a:rPr>
              <a:t>.</a:t>
            </a:r>
            <a:r>
              <a:rPr sz="1000" b="0" i="0">
                <a:solidFill>
                  <a:srgbClr val="E6EDF3"/>
                </a:solidFill>
                <a:latin typeface="Courier New"/>
              </a:rPr>
              <a:t>filename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info</a:t>
            </a:r>
            <a:r>
              <a:rPr sz="1000" b="0" i="0">
                <a:solidFill>
                  <a:srgbClr val="E6EDF3"/>
                </a:solidFill>
                <a:latin typeface="Courier New"/>
              </a:rPr>
              <a:t>.</a:t>
            </a:r>
            <a:r>
              <a:rPr sz="1000" b="0" i="0">
                <a:solidFill>
                  <a:srgbClr val="E6EDF3"/>
                </a:solidFill>
                <a:latin typeface="Courier New"/>
              </a:rPr>
              <a:t>file_size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small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info</a:t>
            </a:r>
            <a:r>
              <a:rPr sz="1000" b="0" i="0">
                <a:solidFill>
                  <a:srgbClr val="E6EDF3"/>
                </a:solidFill>
                <a:latin typeface="Courier New"/>
              </a:rPr>
              <a:t>.</a:t>
            </a:r>
            <a:r>
              <a:rPr sz="1000" b="0" i="0">
                <a:solidFill>
                  <a:srgbClr val="E6EDF3"/>
                </a:solidFill>
                <a:latin typeface="Courier New"/>
              </a:rPr>
              <a:t>compress_size</a:t>
            </a:r>
            <a:r>
              <a:rPr sz="1000" b="0" i="0">
                <a:solidFill>
                  <a:srgbClr val="E6EDF3"/>
                </a:solidFill>
                <a:latin typeface="Courier New"/>
              </a:rPr>
              <a:t> </a:t>
            </a:r>
            <a:r>
              <a:rPr sz="1000" b="0" i="0">
                <a:solidFill>
                  <a:srgbClr val="E6EDF3"/>
                </a:solidFill>
                <a:latin typeface="Courier New"/>
              </a:rPr>
              <a:t>&lt;</a:t>
            </a:r>
            <a:r>
              <a:rPr sz="1000" b="0" i="0">
                <a:solidFill>
                  <a:srgbClr val="E6EDF3"/>
                </a:solidFill>
                <a:latin typeface="Courier New"/>
              </a:rPr>
              <a:t> </a:t>
            </a:r>
            <a:r>
              <a:rPr sz="1000" b="0" i="0">
                <a:solidFill>
                  <a:srgbClr val="E6EDF3"/>
                </a:solidFill>
                <a:latin typeface="Courier New"/>
              </a:rPr>
              <a:t>info</a:t>
            </a:r>
            <a:r>
              <a:rPr sz="1000" b="0" i="0">
                <a:solidFill>
                  <a:srgbClr val="E6EDF3"/>
                </a:solidFill>
                <a:latin typeface="Courier New"/>
              </a:rPr>
              <a:t>.</a:t>
            </a:r>
            <a:r>
              <a:rPr sz="1000" b="0" i="0">
                <a:solidFill>
                  <a:srgbClr val="E6EDF3"/>
                </a:solidFill>
                <a:latin typeface="Courier New"/>
              </a:rPr>
              <a:t>file_size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100</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'squeezed to under 1 percent:'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small</a:t>
            </a:r>
            <a:r>
              <a:rPr sz="1000" b="0" i="0">
                <a:solidFill>
                  <a:srgbClr val="E6EDF3"/>
                </a:solidFill>
                <a:latin typeface="Courier New"/>
              </a:rPr>
              <a:t>)</a:t>
            </a:r>
          </a:p>
        </p:txBody>
      </p:sp>
      <p:sp>
        <p:nvSpPr>
          <p:cNvPr id="7" name="explanation"/>
          <p:cNvSpPr txBox="1"/>
          <p:nvPr/>
        </p:nvSpPr>
        <p:spPr>
          <a:xfrm>
            <a:off x="5480304" y="1926336"/>
            <a:ext cx="3297935" cy="902715"/>
          </a:xfrm>
          <a:prstGeom prst="rect">
            <a:avLst/>
          </a:prstGeom>
          <a:noFill/>
        </p:spPr>
        <p:txBody>
          <a:bodyPr wrap="square" lIns="128016" rIns="128016" tIns="18288" bIns="18288" anchor="ctr">
            <a:spAutoFit/>
          </a:bodyPr>
          <a:lstStyle/>
          <a:p>
            <a:r>
              <a:rPr sz="1100" b="0" i="0">
                <a:solidFill>
                  <a:srgbClr val="1F2933"/>
                </a:solidFill>
                <a:latin typeface="Calibri"/>
              </a:rPr>
              <a:t>getinfo reports the original size and the stored size. Repeated text compresses very well.</a:t>
            </a:r>
          </a:p>
        </p:txBody>
      </p:sp>
      <p:sp>
        <p:nvSpPr>
          <p:cNvPr id="8" name="result label"/>
          <p:cNvSpPr txBox="1"/>
          <p:nvPr/>
        </p:nvSpPr>
        <p:spPr>
          <a:xfrm>
            <a:off x="365760" y="286562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121660"/>
          <a:ext cx="3785615" cy="1560068"/>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487875" y="3139948"/>
          <a:ext cx="4290364" cy="1234440"/>
        </p:xfrm>
        <a:graphic>
          <a:graphicData uri="http://schemas.openxmlformats.org/drawingml/2006/table">
            <a:tbl>
              <a:tblPr firstRow="0" bandRow="0"/>
              <a:tblGrid>
                <a:gridCol w="2451637"/>
                <a:gridCol w="1838727"/>
              </a:tblGrid>
              <a:tr h="246888">
                <a:tc>
                  <a:txBody>
                    <a:bodyPr wrap="square"/>
                    <a:lstStyle/>
                    <a:p>
                      <a:r>
                        <a:rPr sz="9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From getinfo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50" b="0" i="0">
                          <a:solidFill>
                            <a:srgbClr val="1F2933"/>
                          </a:solidFill>
                          <a:latin typeface="Courier New"/>
                        </a:rPr>
                        <a:t>info.filename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file1.txt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info.file_size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50000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950" b="0" i="0">
                          <a:solidFill>
                            <a:srgbClr val="1F2933"/>
                          </a:solidFill>
                          <a:latin typeface="Courier New"/>
                        </a:rPr>
                        <a:t>info.compress_size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97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compress_size / file_size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0.002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ZIP_DEFLATED really shrinks repeated text.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ZIP modes: read, append, exclusive</a:t>
            </a:r>
          </a:p>
        </p:txBody>
      </p:sp>
      <p:sp>
        <p:nvSpPr>
          <p:cNvPr id="4" name="code"/>
          <p:cNvSpPr/>
          <p:nvPr/>
        </p:nvSpPr>
        <p:spPr>
          <a:xfrm>
            <a:off x="365760" y="822960"/>
            <a:ext cx="3479291" cy="9646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shutil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zipfile</a:t>
            </a:r>
          </a:p>
          <a:p>
            <a:pPr algn="l"/>
            <a:r>
              <a:rPr sz="900" b="0" i="0">
                <a:solidFill>
                  <a:srgbClr val="8FA3B8"/>
                </a:solidFill>
                <a:latin typeface="Courier New"/>
              </a:rPr>
              <a:t>&gt;&gt;&gt; </a:t>
            </a:r>
            <a:r>
              <a:rPr sz="900" b="0" i="0">
                <a:solidFill>
                  <a:srgbClr val="C9A0FF"/>
                </a:solidFill>
                <a:latin typeface="Courier New"/>
              </a:rPr>
              <a:t>from</a:t>
            </a:r>
            <a:r>
              <a:rPr sz="900" b="0" i="0">
                <a:solidFill>
                  <a:srgbClr val="E6EDF3"/>
                </a:solidFill>
                <a:latin typeface="Courier New"/>
              </a:rPr>
              <a:t> </a:t>
            </a:r>
            <a:r>
              <a:rPr sz="900" b="0" i="0">
                <a:solidFill>
                  <a:srgbClr val="E6EDF3"/>
                </a:solidFill>
                <a:latin typeface="Courier New"/>
              </a:rPr>
              <a:t>pathlib</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Path</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'a.txt'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write_text</a:t>
            </a:r>
            <a:r>
              <a:rPr sz="900" b="0" i="0">
                <a:solidFill>
                  <a:srgbClr val="E6EDF3"/>
                </a:solidFill>
                <a:latin typeface="Courier New"/>
              </a:rPr>
              <a:t>(</a:t>
            </a:r>
            <a:r>
              <a:rPr sz="900" b="0" i="0">
                <a:solidFill>
                  <a:srgbClr val="9BE3A8"/>
                </a:solidFill>
                <a:latin typeface="Courier New"/>
              </a:rPr>
              <a:t>'A'</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with</a:t>
            </a:r>
            <a:r>
              <a:rPr sz="900" b="0" i="0">
                <a:solidFill>
                  <a:srgbClr val="E6EDF3"/>
                </a:solidFill>
                <a:latin typeface="Courier New"/>
              </a:rPr>
              <a:t> </a:t>
            </a:r>
            <a:r>
              <a:rPr sz="900" b="0" i="0">
                <a:solidFill>
                  <a:srgbClr val="E6EDF3"/>
                </a:solidFill>
                <a:latin typeface="Courier New"/>
              </a:rPr>
              <a:t>zipfile</a:t>
            </a:r>
            <a:r>
              <a:rPr sz="900" b="0" i="0">
                <a:solidFill>
                  <a:srgbClr val="E6EDF3"/>
                </a:solidFill>
                <a:latin typeface="Courier New"/>
              </a:rPr>
              <a:t>.</a:t>
            </a:r>
            <a:r>
              <a:rPr sz="900" b="0" i="0">
                <a:solidFill>
                  <a:srgbClr val="E6EDF3"/>
                </a:solidFill>
                <a:latin typeface="Courier New"/>
              </a:rPr>
              <a:t>ZipFile</a:t>
            </a:r>
            <a:r>
              <a:rPr sz="900" b="0" i="0">
                <a:solidFill>
                  <a:srgbClr val="E6EDF3"/>
                </a:solidFill>
                <a:latin typeface="Courier New"/>
              </a:rPr>
              <a:t>(</a:t>
            </a:r>
            <a:r>
              <a:rPr sz="900" b="0" i="0">
                <a:solidFill>
                  <a:srgbClr val="9BE3A8"/>
                </a:solidFill>
                <a:latin typeface="Courier New"/>
              </a:rPr>
              <a:t>'x.zip'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'w'</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as</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9BE3A8"/>
                </a:solidFill>
                <a:latin typeface="Courier New"/>
              </a:rPr>
              <a:t>'a.txt'</a:t>
            </a:r>
            <a:r>
              <a:rPr sz="900" b="0" i="0">
                <a:solidFill>
                  <a:srgbClr val="E6EDF3"/>
                </a:solidFill>
                <a:latin typeface="Courier New"/>
              </a:rPr>
              <a:t>)</a:t>
            </a:r>
          </a:p>
        </p:txBody>
      </p:sp>
      <p:sp>
        <p:nvSpPr>
          <p:cNvPr id="5" name="explanation"/>
          <p:cNvSpPr txBox="1"/>
          <p:nvPr/>
        </p:nvSpPr>
        <p:spPr>
          <a:xfrm>
            <a:off x="3826764" y="822960"/>
            <a:ext cx="4951475" cy="964692"/>
          </a:xfrm>
          <a:prstGeom prst="rect">
            <a:avLst/>
          </a:prstGeom>
          <a:noFill/>
        </p:spPr>
        <p:txBody>
          <a:bodyPr wrap="square" lIns="128016" rIns="128016" tIns="18288" bIns="18288" anchor="ctr">
            <a:spAutoFit/>
          </a:bodyPr>
          <a:lstStyle/>
          <a:p>
            <a:r>
              <a:rPr sz="1050" b="0" i="0">
                <a:solidFill>
                  <a:srgbClr val="1F2933"/>
                </a:solidFill>
                <a:latin typeface="Calibri"/>
              </a:rPr>
              <a:t>A new temporary folder keeps your real files safe. Mode 'w' starts the archive x.zip with one member.</a:t>
            </a:r>
          </a:p>
        </p:txBody>
      </p:sp>
      <p:sp>
        <p:nvSpPr>
          <p:cNvPr id="6" name="code"/>
          <p:cNvSpPr/>
          <p:nvPr/>
        </p:nvSpPr>
        <p:spPr>
          <a:xfrm>
            <a:off x="365760" y="1833372"/>
            <a:ext cx="3479291" cy="40690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with</a:t>
            </a:r>
            <a:r>
              <a:rPr sz="900" b="0" i="0">
                <a:solidFill>
                  <a:srgbClr val="E6EDF3"/>
                </a:solidFill>
                <a:latin typeface="Courier New"/>
              </a:rPr>
              <a:t> </a:t>
            </a:r>
            <a:r>
              <a:rPr sz="900" b="0" i="0">
                <a:solidFill>
                  <a:srgbClr val="E6EDF3"/>
                </a:solidFill>
                <a:latin typeface="Courier New"/>
              </a:rPr>
              <a:t>zipfile</a:t>
            </a:r>
            <a:r>
              <a:rPr sz="900" b="0" i="0">
                <a:solidFill>
                  <a:srgbClr val="E6EDF3"/>
                </a:solidFill>
                <a:latin typeface="Courier New"/>
              </a:rPr>
              <a:t>.</a:t>
            </a:r>
            <a:r>
              <a:rPr sz="900" b="0" i="0">
                <a:solidFill>
                  <a:srgbClr val="E6EDF3"/>
                </a:solidFill>
                <a:latin typeface="Courier New"/>
              </a:rPr>
              <a:t>ZipFile</a:t>
            </a:r>
            <a:r>
              <a:rPr sz="900" b="0" i="0">
                <a:solidFill>
                  <a:srgbClr val="E6EDF3"/>
                </a:solidFill>
                <a:latin typeface="Courier New"/>
              </a:rPr>
              <a:t>(</a:t>
            </a:r>
            <a:r>
              <a:rPr sz="900" b="0" i="0">
                <a:solidFill>
                  <a:srgbClr val="9BE3A8"/>
                </a:solidFill>
                <a:latin typeface="Courier New"/>
              </a:rPr>
              <a:t>'x.zip'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as</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r>
              <a:rPr sz="900" b="0" i="0">
                <a:solidFill>
                  <a:srgbClr val="E6EDF3"/>
                </a:solidFill>
                <a:latin typeface="Courier New"/>
              </a:rPr>
              <a:t>writestr</a:t>
            </a:r>
            <a:r>
              <a:rPr sz="900" b="0" i="0">
                <a:solidFill>
                  <a:srgbClr val="E6EDF3"/>
                </a:solidFill>
                <a:latin typeface="Courier New"/>
              </a:rPr>
              <a:t>(</a:t>
            </a:r>
            <a:r>
              <a:rPr sz="900" b="0" i="0">
                <a:solidFill>
                  <a:srgbClr val="9BE3A8"/>
                </a:solidFill>
                <a:latin typeface="Courier New"/>
              </a:rPr>
              <a:t>'two.txt'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a:t>
            </a:r>
            <a:r>
              <a:rPr sz="900" b="0" i="0">
                <a:solidFill>
                  <a:srgbClr val="E6EDF3"/>
                </a:solidFill>
                <a:latin typeface="Courier New"/>
              </a:rPr>
              <a:t>)</a:t>
            </a:r>
          </a:p>
        </p:txBody>
      </p:sp>
      <p:sp>
        <p:nvSpPr>
          <p:cNvPr id="7" name="explanation"/>
          <p:cNvSpPr txBox="1"/>
          <p:nvPr/>
        </p:nvSpPr>
        <p:spPr>
          <a:xfrm>
            <a:off x="3826764" y="1833372"/>
            <a:ext cx="4951475" cy="406908"/>
          </a:xfrm>
          <a:prstGeom prst="rect">
            <a:avLst/>
          </a:prstGeom>
          <a:noFill/>
        </p:spPr>
        <p:txBody>
          <a:bodyPr wrap="square" lIns="128016" rIns="128016" tIns="18288" bIns="18288" anchor="ctr">
            <a:spAutoFit/>
          </a:bodyPr>
          <a:lstStyle/>
          <a:p>
            <a:r>
              <a:rPr sz="1050" b="0" i="0">
                <a:solidFill>
                  <a:srgbClr val="1F2933"/>
                </a:solidFill>
                <a:latin typeface="Calibri"/>
              </a:rPr>
              <a:t>Mode 'a' adds to an archive that exists. writestr stores text without a file on disk.</a:t>
            </a:r>
          </a:p>
        </p:txBody>
      </p:sp>
      <p:sp>
        <p:nvSpPr>
          <p:cNvPr id="8" name="code"/>
          <p:cNvSpPr/>
          <p:nvPr/>
        </p:nvSpPr>
        <p:spPr>
          <a:xfrm>
            <a:off x="365760" y="2286000"/>
            <a:ext cx="3479291" cy="9646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with</a:t>
            </a:r>
            <a:r>
              <a:rPr sz="900" b="0" i="0">
                <a:solidFill>
                  <a:srgbClr val="E6EDF3"/>
                </a:solidFill>
                <a:latin typeface="Courier New"/>
              </a:rPr>
              <a:t> </a:t>
            </a:r>
            <a:r>
              <a:rPr sz="900" b="0" i="0">
                <a:solidFill>
                  <a:srgbClr val="E6EDF3"/>
                </a:solidFill>
                <a:latin typeface="Courier New"/>
              </a:rPr>
              <a:t>zipfile</a:t>
            </a:r>
            <a:r>
              <a:rPr sz="900" b="0" i="0">
                <a:solidFill>
                  <a:srgbClr val="E6EDF3"/>
                </a:solidFill>
                <a:latin typeface="Courier New"/>
              </a:rPr>
              <a:t>.</a:t>
            </a:r>
            <a:r>
              <a:rPr sz="900" b="0" i="0">
                <a:solidFill>
                  <a:srgbClr val="E6EDF3"/>
                </a:solidFill>
                <a:latin typeface="Courier New"/>
              </a:rPr>
              <a:t>ZipFile</a:t>
            </a:r>
            <a:r>
              <a:rPr sz="900" b="0" i="0">
                <a:solidFill>
                  <a:srgbClr val="E6EDF3"/>
                </a:solidFill>
                <a:latin typeface="Courier New"/>
              </a:rPr>
              <a:t>(</a:t>
            </a:r>
            <a:r>
              <a:rPr sz="900" b="0" i="0">
                <a:solidFill>
                  <a:srgbClr val="9BE3A8"/>
                </a:solidFill>
                <a:latin typeface="Courier New"/>
              </a:rPr>
              <a:t>'x.zip'</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as</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sorted</a:t>
            </a:r>
            <a:r>
              <a:rPr sz="900" b="0" i="0">
                <a:solidFill>
                  <a:srgbClr val="E6EDF3"/>
                </a:solidFill>
                <a:latin typeface="Courier New"/>
              </a:rPr>
              <a:t>(</a:t>
            </a:r>
            <a:r>
              <a:rPr sz="900" b="0" i="0">
                <a:solidFill>
                  <a:srgbClr val="E6EDF3"/>
                </a:solidFill>
                <a:latin typeface="Courier New"/>
              </a:rPr>
              <a:t>z</a:t>
            </a:r>
            <a:r>
              <a:rPr sz="900" b="0" i="0">
                <a:solidFill>
                  <a:srgbClr val="E6EDF3"/>
                </a:solidFill>
                <a:latin typeface="Courier New"/>
              </a:rPr>
              <a:t>.</a:t>
            </a:r>
            <a:r>
              <a:rPr sz="900" b="0" i="0">
                <a:solidFill>
                  <a:srgbClr val="E6EDF3"/>
                </a:solidFill>
                <a:latin typeface="Courier New"/>
              </a:rPr>
              <a:t>namelist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try</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E6EDF3"/>
                </a:solidFill>
                <a:latin typeface="Courier New"/>
              </a:rPr>
              <a:t>zipfile</a:t>
            </a:r>
            <a:r>
              <a:rPr sz="900" b="0" i="0">
                <a:solidFill>
                  <a:srgbClr val="E6EDF3"/>
                </a:solidFill>
                <a:latin typeface="Courier New"/>
              </a:rPr>
              <a:t>.</a:t>
            </a:r>
            <a:r>
              <a:rPr sz="900" b="0" i="0">
                <a:solidFill>
                  <a:srgbClr val="E6EDF3"/>
                </a:solidFill>
                <a:latin typeface="Courier New"/>
              </a:rPr>
              <a:t>ZipFile</a:t>
            </a:r>
            <a:r>
              <a:rPr sz="900" b="0" i="0">
                <a:solidFill>
                  <a:srgbClr val="E6EDF3"/>
                </a:solidFill>
                <a:latin typeface="Courier New"/>
              </a:rPr>
              <a:t>(</a:t>
            </a:r>
            <a:r>
              <a:rPr sz="900" b="0" i="0">
                <a:solidFill>
                  <a:srgbClr val="9BE3A8"/>
                </a:solidFill>
                <a:latin typeface="Courier New"/>
              </a:rPr>
              <a:t>'x.zip'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'x'</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except</a:t>
            </a:r>
            <a:r>
              <a:rPr sz="900" b="0" i="0">
                <a:solidFill>
                  <a:srgbClr val="E6EDF3"/>
                </a:solidFill>
                <a:latin typeface="Courier New"/>
              </a:rPr>
              <a:t> </a:t>
            </a:r>
            <a:r>
              <a:rPr sz="900" b="0" i="0">
                <a:solidFill>
                  <a:srgbClr val="E6EDF3"/>
                </a:solidFill>
                <a:latin typeface="Courier New"/>
              </a:rPr>
              <a:t>FileExistsError</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"mode 'x' refused: x.zip exists"</a:t>
            </a:r>
            <a:r>
              <a:rPr sz="900" b="0" i="0">
                <a:solidFill>
                  <a:srgbClr val="E6EDF3"/>
                </a:solidFill>
                <a:latin typeface="Courier New"/>
              </a:rPr>
              <a:t>)</a:t>
            </a:r>
          </a:p>
        </p:txBody>
      </p:sp>
      <p:sp>
        <p:nvSpPr>
          <p:cNvPr id="9" name="explanation"/>
          <p:cNvSpPr txBox="1"/>
          <p:nvPr/>
        </p:nvSpPr>
        <p:spPr>
          <a:xfrm>
            <a:off x="3826764" y="2286000"/>
            <a:ext cx="4951475" cy="964692"/>
          </a:xfrm>
          <a:prstGeom prst="rect">
            <a:avLst/>
          </a:prstGeom>
          <a:noFill/>
        </p:spPr>
        <p:txBody>
          <a:bodyPr wrap="square" lIns="128016" rIns="128016" tIns="18288" bIns="18288" anchor="ctr">
            <a:spAutoFit/>
          </a:bodyPr>
          <a:lstStyle/>
          <a:p>
            <a:r>
              <a:rPr sz="1050" b="0" i="0">
                <a:solidFill>
                  <a:srgbClr val="1F2933"/>
                </a:solidFill>
                <a:latin typeface="Calibri"/>
              </a:rPr>
              <a:t>namelist lists the members. Mode 'x' creates a new archive only; it refuses to overwrite one.</a:t>
            </a:r>
          </a:p>
        </p:txBody>
      </p:sp>
      <p:sp>
        <p:nvSpPr>
          <p:cNvPr id="10" name="result label"/>
          <p:cNvSpPr txBox="1"/>
          <p:nvPr/>
        </p:nvSpPr>
        <p:spPr>
          <a:xfrm>
            <a:off x="365760" y="328726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543300"/>
          <a:ext cx="6056984" cy="1143000"/>
        </p:xfrm>
        <a:graphic>
          <a:graphicData uri="http://schemas.openxmlformats.org/drawingml/2006/table">
            <a:tbl>
              <a:tblPr firstRow="0" bandRow="0"/>
              <a:tblGrid>
                <a:gridCol w="1038340"/>
                <a:gridCol w="1990152"/>
                <a:gridCol w="3028492"/>
              </a:tblGrid>
              <a:tr h="228600">
                <a:tc>
                  <a:txBody>
                    <a:bodyPr wrap="square"/>
                    <a:lstStyle/>
                    <a:p>
                      <a:r>
                        <a:rPr sz="900" b="1" i="0">
                          <a:solidFill>
                            <a:srgbClr val="FFFFFF"/>
                          </a:solidFill>
                          <a:latin typeface="Calibri"/>
                        </a:rPr>
                        <a:t>Mode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What it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Seen in the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900" b="0" i="0">
                          <a:solidFill>
                            <a:srgbClr val="1F2933"/>
                          </a:solidFill>
                          <a:latin typeface="Courier New"/>
                        </a:rPr>
                        <a:t>'w'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start a new archive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a.txt 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9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add to an existing archive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namelist: ['a.txt', 'two.txt']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900" b="0" i="0">
                          <a:solidFill>
                            <a:srgbClr val="1F2933"/>
                          </a:solidFill>
                          <a:latin typeface="Courier New"/>
                        </a:rPr>
                        <a:t>'r'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read an archive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namelist, getinfo, extract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90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create, never overwrite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B83A1B"/>
                          </a:solidFill>
                          <a:latin typeface="Calibri"/>
                        </a:rPr>
                        <a:t>refused: x.zip exists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6759244" y="3543300"/>
          <a:ext cx="2018995" cy="1138427"/>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 starts, a adds, x refuses to overwrite.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extractall and extract: unpacking an archive</a:t>
            </a:r>
          </a:p>
        </p:txBody>
      </p:sp>
      <p:sp>
        <p:nvSpPr>
          <p:cNvPr id="4" name="code"/>
          <p:cNvSpPr/>
          <p:nvPr/>
        </p:nvSpPr>
        <p:spPr>
          <a:xfrm>
            <a:off x="365760" y="822960"/>
            <a:ext cx="4816601" cy="110413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os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shutil</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tempfile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zipfile</a:t>
            </a:r>
          </a:p>
          <a:p>
            <a:pPr algn="l"/>
            <a:r>
              <a:rPr sz="1050" b="0" i="0">
                <a:solidFill>
                  <a:srgbClr val="8FA3B8"/>
                </a:solidFill>
                <a:latin typeface="Courier New"/>
              </a:rPr>
              <a:t>&gt;&gt;&gt; </a:t>
            </a:r>
            <a:r>
              <a:rPr sz="1050" b="0" i="0">
                <a:solidFill>
                  <a:srgbClr val="C9A0FF"/>
                </a:solidFill>
                <a:latin typeface="Courier New"/>
              </a:rPr>
              <a:t>from</a:t>
            </a:r>
            <a:r>
              <a:rPr sz="1050" b="0" i="0">
                <a:solidFill>
                  <a:srgbClr val="E6EDF3"/>
                </a:solidFill>
                <a:latin typeface="Courier New"/>
              </a:rPr>
              <a:t> </a:t>
            </a:r>
            <a:r>
              <a:rPr sz="1050" b="0" i="0">
                <a:solidFill>
                  <a:srgbClr val="E6EDF3"/>
                </a:solidFill>
                <a:latin typeface="Courier New"/>
              </a:rPr>
              <a:t>pathlib</a:t>
            </a:r>
            <a:r>
              <a:rPr sz="1050" b="0" i="0">
                <a:solidFill>
                  <a:srgbClr val="E6EDF3"/>
                </a:solidFill>
                <a:latin typeface="Courier New"/>
              </a:rPr>
              <a: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Path</a:t>
            </a:r>
          </a:p>
          <a:p>
            <a:pPr algn="l"/>
            <a:r>
              <a:rPr sz="1050" b="0" i="0">
                <a:solidFill>
                  <a:srgbClr val="8FA3B8"/>
                </a:solidFill>
                <a:latin typeface="Courier New"/>
              </a:rPr>
              <a:t>&gt;&gt;&gt; </a:t>
            </a:r>
            <a:r>
              <a:rPr sz="1050" b="0" i="0">
                <a:solidFill>
                  <a:srgbClr val="E6EDF3"/>
                </a:solidFill>
                <a:latin typeface="Courier New"/>
              </a:rPr>
              <a:t>os</a:t>
            </a:r>
            <a:r>
              <a:rPr sz="1050" b="0" i="0">
                <a:solidFill>
                  <a:srgbClr val="E6EDF3"/>
                </a:solidFill>
                <a:latin typeface="Courier New"/>
              </a:rPr>
              <a:t>.</a:t>
            </a:r>
            <a:r>
              <a:rPr sz="1050" b="0" i="0">
                <a:solidFill>
                  <a:srgbClr val="E6EDF3"/>
                </a:solidFill>
                <a:latin typeface="Courier New"/>
              </a:rPr>
              <a:t>chdir</a:t>
            </a:r>
            <a:r>
              <a:rPr sz="1050" b="0" i="0">
                <a:solidFill>
                  <a:srgbClr val="E6EDF3"/>
                </a:solidFill>
                <a:latin typeface="Courier New"/>
              </a:rPr>
              <a:t>(</a:t>
            </a:r>
            <a:r>
              <a:rPr sz="1050" b="0" i="0">
                <a:solidFill>
                  <a:srgbClr val="E6EDF3"/>
                </a:solidFill>
                <a:latin typeface="Courier New"/>
              </a:rPr>
              <a:t>tempfile</a:t>
            </a:r>
            <a:r>
              <a:rPr sz="1050" b="0" i="0">
                <a:solidFill>
                  <a:srgbClr val="E6EDF3"/>
                </a:solidFill>
                <a:latin typeface="Courier New"/>
              </a:rPr>
              <a:t>.</a:t>
            </a:r>
            <a:r>
              <a:rPr sz="1050" b="0" i="0">
                <a:solidFill>
                  <a:srgbClr val="E6EDF3"/>
                </a:solidFill>
                <a:latin typeface="Courier New"/>
              </a:rPr>
              <a:t>mkdtemp</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with</a:t>
            </a:r>
            <a:r>
              <a:rPr sz="1050" b="0" i="0">
                <a:solidFill>
                  <a:srgbClr val="E6EDF3"/>
                </a:solidFill>
                <a:latin typeface="Courier New"/>
              </a:rPr>
              <a:t> </a:t>
            </a:r>
            <a:r>
              <a:rPr sz="1050" b="0" i="0">
                <a:solidFill>
                  <a:srgbClr val="E6EDF3"/>
                </a:solidFill>
                <a:latin typeface="Courier New"/>
              </a:rPr>
              <a:t>zipfile</a:t>
            </a:r>
            <a:r>
              <a:rPr sz="1050" b="0" i="0">
                <a:solidFill>
                  <a:srgbClr val="E6EDF3"/>
                </a:solidFill>
                <a:latin typeface="Courier New"/>
              </a:rPr>
              <a:t>.</a:t>
            </a:r>
            <a:r>
              <a:rPr sz="1050" b="0" i="0">
                <a:solidFill>
                  <a:srgbClr val="E6EDF3"/>
                </a:solidFill>
                <a:latin typeface="Courier New"/>
              </a:rPr>
              <a:t>ZipFile</a:t>
            </a:r>
            <a:r>
              <a:rPr sz="1050" b="0" i="0">
                <a:solidFill>
                  <a:srgbClr val="E6EDF3"/>
                </a:solidFill>
                <a:latin typeface="Courier New"/>
              </a:rPr>
              <a:t>(</a:t>
            </a:r>
            <a:r>
              <a:rPr sz="1050" b="0" i="0">
                <a:solidFill>
                  <a:srgbClr val="9BE3A8"/>
                </a:solidFill>
                <a:latin typeface="Courier New"/>
              </a:rPr>
              <a:t>'z.zip'</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'w'</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as</a:t>
            </a:r>
            <a:r>
              <a:rPr sz="1050" b="0" i="0">
                <a:solidFill>
                  <a:srgbClr val="E6EDF3"/>
                </a:solidFill>
                <a:latin typeface="Courier New"/>
              </a:rPr>
              <a:t> </a:t>
            </a:r>
            <a:r>
              <a:rPr sz="1050" b="0" i="0">
                <a:solidFill>
                  <a:srgbClr val="E6EDF3"/>
                </a:solidFill>
                <a:latin typeface="Courier New"/>
              </a:rPr>
              <a:t>z</a:t>
            </a:r>
            <a:r>
              <a:rPr sz="1050" b="0" i="0">
                <a:solidFill>
                  <a:srgbClr val="E6EDF3"/>
                </a:solidFill>
                <a:latin typeface="Courier New"/>
              </a:rPr>
              <a:t>:</a:t>
            </a:r>
          </a:p>
          <a:p>
            <a:pPr algn="l"/>
            <a:r>
              <a:rPr sz="1050" b="0" i="0">
                <a:solidFill>
                  <a:srgbClr val="8FA3B8"/>
                </a:solidFill>
                <a:latin typeface="Courier New"/>
              </a:rPr>
              <a:t>... </a:t>
            </a:r>
            <a:r>
              <a:rPr sz="1050" b="0" i="0">
                <a:solidFill>
                  <a:srgbClr val="E6EDF3"/>
                </a:solidFill>
                <a:latin typeface="Courier New"/>
              </a:rPr>
              <a:t>    </a:t>
            </a:r>
            <a:r>
              <a:rPr sz="1050" b="0" i="0">
                <a:solidFill>
                  <a:srgbClr val="E6EDF3"/>
                </a:solidFill>
                <a:latin typeface="Courier New"/>
              </a:rPr>
              <a:t>z</a:t>
            </a:r>
            <a:r>
              <a:rPr sz="1050" b="0" i="0">
                <a:solidFill>
                  <a:srgbClr val="E6EDF3"/>
                </a:solidFill>
                <a:latin typeface="Courier New"/>
              </a:rPr>
              <a:t>.</a:t>
            </a:r>
            <a:r>
              <a:rPr sz="1050" b="0" i="0">
                <a:solidFill>
                  <a:srgbClr val="E6EDF3"/>
                </a:solidFill>
                <a:latin typeface="Courier New"/>
              </a:rPr>
              <a:t>writestr</a:t>
            </a:r>
            <a:r>
              <a:rPr sz="1050" b="0" i="0">
                <a:solidFill>
                  <a:srgbClr val="E6EDF3"/>
                </a:solidFill>
                <a:latin typeface="Courier New"/>
              </a:rPr>
              <a:t>(</a:t>
            </a:r>
            <a:r>
              <a:rPr sz="1050" b="0" i="0">
                <a:solidFill>
                  <a:srgbClr val="9BE3A8"/>
                </a:solidFill>
                <a:latin typeface="Courier New"/>
              </a:rPr>
              <a:t>'a.txt'</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a:t>
            </a:r>
            <a:r>
              <a:rPr sz="1050" b="0" i="0">
                <a:solidFill>
                  <a:srgbClr val="E6EDF3"/>
                </a:solidFill>
                <a:latin typeface="Courier New"/>
              </a:rPr>
              <a:t>)</a:t>
            </a:r>
          </a:p>
          <a:p>
            <a:pPr algn="l"/>
            <a:r>
              <a:rPr sz="1050" b="0" i="0">
                <a:solidFill>
                  <a:srgbClr val="8FA3B8"/>
                </a:solidFill>
                <a:latin typeface="Courier New"/>
              </a:rPr>
              <a:t>... </a:t>
            </a:r>
            <a:r>
              <a:rPr sz="1050" b="0" i="0">
                <a:solidFill>
                  <a:srgbClr val="E6EDF3"/>
                </a:solidFill>
                <a:latin typeface="Courier New"/>
              </a:rPr>
              <a:t>    </a:t>
            </a:r>
            <a:r>
              <a:rPr sz="1050" b="0" i="0">
                <a:solidFill>
                  <a:srgbClr val="E6EDF3"/>
                </a:solidFill>
                <a:latin typeface="Courier New"/>
              </a:rPr>
              <a:t>z</a:t>
            </a:r>
            <a:r>
              <a:rPr sz="1050" b="0" i="0">
                <a:solidFill>
                  <a:srgbClr val="E6EDF3"/>
                </a:solidFill>
                <a:latin typeface="Courier New"/>
              </a:rPr>
              <a:t>.</a:t>
            </a:r>
            <a:r>
              <a:rPr sz="1050" b="0" i="0">
                <a:solidFill>
                  <a:srgbClr val="E6EDF3"/>
                </a:solidFill>
                <a:latin typeface="Courier New"/>
              </a:rPr>
              <a:t>writestr</a:t>
            </a:r>
            <a:r>
              <a:rPr sz="1050" b="0" i="0">
                <a:solidFill>
                  <a:srgbClr val="E6EDF3"/>
                </a:solidFill>
                <a:latin typeface="Courier New"/>
              </a:rPr>
              <a:t>(</a:t>
            </a:r>
            <a:r>
              <a:rPr sz="1050" b="0" i="0">
                <a:solidFill>
                  <a:srgbClr val="9BE3A8"/>
                </a:solidFill>
                <a:latin typeface="Courier New"/>
              </a:rPr>
              <a:t>'sub/b.txt'</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a:t>
            </a:r>
            <a:r>
              <a:rPr sz="1050" b="0" i="0">
                <a:solidFill>
                  <a:srgbClr val="E6EDF3"/>
                </a:solidFill>
                <a:latin typeface="Courier New"/>
              </a:rPr>
              <a:t>)</a:t>
            </a:r>
          </a:p>
        </p:txBody>
      </p:sp>
      <p:sp>
        <p:nvSpPr>
          <p:cNvPr id="5" name="explanation"/>
          <p:cNvSpPr txBox="1"/>
          <p:nvPr/>
        </p:nvSpPr>
        <p:spPr>
          <a:xfrm>
            <a:off x="5164074" y="822960"/>
            <a:ext cx="3614166" cy="1104138"/>
          </a:xfrm>
          <a:prstGeom prst="rect">
            <a:avLst/>
          </a:prstGeom>
          <a:noFill/>
        </p:spPr>
        <p:txBody>
          <a:bodyPr wrap="square" lIns="128016" rIns="128016" tIns="18288" bIns="18288" anchor="ctr">
            <a:spAutoFit/>
          </a:bodyPr>
          <a:lstStyle/>
          <a:p>
            <a:r>
              <a:rPr sz="1100" b="0" i="0">
                <a:solidFill>
                  <a:srgbClr val="1F2933"/>
                </a:solidFill>
                <a:latin typeface="Calibri"/>
              </a:rPr>
              <a:t>A new temporary folder keeps your real files safe. An archive with two members, one of them inside a subfolder.</a:t>
            </a:r>
          </a:p>
        </p:txBody>
      </p:sp>
      <p:sp>
        <p:nvSpPr>
          <p:cNvPr id="6" name="code"/>
          <p:cNvSpPr/>
          <p:nvPr/>
        </p:nvSpPr>
        <p:spPr>
          <a:xfrm>
            <a:off x="365760" y="1972818"/>
            <a:ext cx="4816601" cy="61607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with</a:t>
            </a:r>
            <a:r>
              <a:rPr sz="1050" b="0" i="0">
                <a:solidFill>
                  <a:srgbClr val="E6EDF3"/>
                </a:solidFill>
                <a:latin typeface="Courier New"/>
              </a:rPr>
              <a:t> </a:t>
            </a:r>
            <a:r>
              <a:rPr sz="1050" b="0" i="0">
                <a:solidFill>
                  <a:srgbClr val="E6EDF3"/>
                </a:solidFill>
                <a:latin typeface="Courier New"/>
              </a:rPr>
              <a:t>zipfile</a:t>
            </a:r>
            <a:r>
              <a:rPr sz="1050" b="0" i="0">
                <a:solidFill>
                  <a:srgbClr val="E6EDF3"/>
                </a:solidFill>
                <a:latin typeface="Courier New"/>
              </a:rPr>
              <a:t>.</a:t>
            </a:r>
            <a:r>
              <a:rPr sz="1050" b="0" i="0">
                <a:solidFill>
                  <a:srgbClr val="E6EDF3"/>
                </a:solidFill>
                <a:latin typeface="Courier New"/>
              </a:rPr>
              <a:t>ZipFile</a:t>
            </a:r>
            <a:r>
              <a:rPr sz="1050" b="0" i="0">
                <a:solidFill>
                  <a:srgbClr val="E6EDF3"/>
                </a:solidFill>
                <a:latin typeface="Courier New"/>
              </a:rPr>
              <a:t>(</a:t>
            </a:r>
            <a:r>
              <a:rPr sz="1050" b="0" i="0">
                <a:solidFill>
                  <a:srgbClr val="9BE3A8"/>
                </a:solidFill>
                <a:latin typeface="Courier New"/>
              </a:rPr>
              <a:t>'z.zip'</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as</a:t>
            </a:r>
            <a:r>
              <a:rPr sz="1050" b="0" i="0">
                <a:solidFill>
                  <a:srgbClr val="E6EDF3"/>
                </a:solidFill>
                <a:latin typeface="Courier New"/>
              </a:rPr>
              <a:t> </a:t>
            </a:r>
            <a:r>
              <a:rPr sz="1050" b="0" i="0">
                <a:solidFill>
                  <a:srgbClr val="E6EDF3"/>
                </a:solidFill>
                <a:latin typeface="Courier New"/>
              </a:rPr>
              <a:t>z</a:t>
            </a:r>
            <a:r>
              <a:rPr sz="1050" b="0" i="0">
                <a:solidFill>
                  <a:srgbClr val="E6EDF3"/>
                </a:solidFill>
                <a:latin typeface="Courier New"/>
              </a:rPr>
              <a:t>:</a:t>
            </a:r>
          </a:p>
          <a:p>
            <a:pPr algn="l"/>
            <a:r>
              <a:rPr sz="1050" b="0" i="0">
                <a:solidFill>
                  <a:srgbClr val="8FA3B8"/>
                </a:solidFill>
                <a:latin typeface="Courier New"/>
              </a:rPr>
              <a:t>... </a:t>
            </a:r>
            <a:r>
              <a:rPr sz="1050" b="0" i="0">
                <a:solidFill>
                  <a:srgbClr val="E6EDF3"/>
                </a:solidFill>
                <a:latin typeface="Courier New"/>
              </a:rPr>
              <a:t>    </a:t>
            </a:r>
            <a:r>
              <a:rPr sz="1050" b="0" i="0">
                <a:solidFill>
                  <a:srgbClr val="E6EDF3"/>
                </a:solidFill>
                <a:latin typeface="Courier New"/>
              </a:rPr>
              <a:t>z</a:t>
            </a:r>
            <a:r>
              <a:rPr sz="1050" b="0" i="0">
                <a:solidFill>
                  <a:srgbClr val="E6EDF3"/>
                </a:solidFill>
                <a:latin typeface="Courier New"/>
              </a:rPr>
              <a:t>.</a:t>
            </a:r>
            <a:r>
              <a:rPr sz="1050" b="0" i="0">
                <a:solidFill>
                  <a:srgbClr val="E6EDF3"/>
                </a:solidFill>
                <a:latin typeface="Courier New"/>
              </a:rPr>
              <a:t>extractall</a:t>
            </a:r>
            <a:r>
              <a:rPr sz="1050" b="0" i="0">
                <a:solidFill>
                  <a:srgbClr val="E6EDF3"/>
                </a:solidFill>
                <a:latin typeface="Courier New"/>
              </a:rPr>
              <a:t>(</a:t>
            </a:r>
            <a:r>
              <a:rPr sz="1050" b="0" i="0">
                <a:solidFill>
                  <a:srgbClr val="9BE3A8"/>
                </a:solidFill>
                <a:latin typeface="Courier New"/>
              </a:rPr>
              <a:t>'out'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sorted</a:t>
            </a:r>
            <a:r>
              <a:rPr sz="1050" b="0" i="0">
                <a:solidFill>
                  <a:srgbClr val="E6EDF3"/>
                </a:solidFill>
                <a:latin typeface="Courier New"/>
              </a:rPr>
              <a:t>(</a:t>
            </a:r>
            <a:r>
              <a:rPr sz="1050" b="0" i="0">
                <a:solidFill>
                  <a:srgbClr val="E6EDF3"/>
                </a:solidFill>
                <a:latin typeface="Courier New"/>
              </a:rPr>
              <a:t>str</a:t>
            </a:r>
            <a:r>
              <a:rPr sz="1050" b="0" i="0">
                <a:solidFill>
                  <a:srgbClr val="E6EDF3"/>
                </a:solidFill>
                <a:latin typeface="Courier New"/>
              </a:rPr>
              <a:t>(</a:t>
            </a:r>
            <a:r>
              <a:rPr sz="1050" b="0" i="0">
                <a:solidFill>
                  <a:srgbClr val="E6EDF3"/>
                </a:solidFill>
                <a:latin typeface="Courier New"/>
              </a:rPr>
              <a:t>p</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p</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Path</a:t>
            </a:r>
            <a:r>
              <a:rPr sz="1050" b="0" i="0">
                <a:solidFill>
                  <a:srgbClr val="E6EDF3"/>
                </a:solidFill>
                <a:latin typeface="Courier New"/>
              </a:rPr>
              <a:t>(</a:t>
            </a:r>
            <a:r>
              <a:rPr sz="1050" b="0" i="0">
                <a:solidFill>
                  <a:srgbClr val="9BE3A8"/>
                </a:solidFill>
                <a:latin typeface="Courier New"/>
              </a:rPr>
              <a:t>'out'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rglob</a:t>
            </a:r>
            <a:r>
              <a:rPr sz="1050" b="0" i="0">
                <a:solidFill>
                  <a:srgbClr val="E6EDF3"/>
                </a:solidFill>
                <a:latin typeface="Courier New"/>
              </a:rPr>
              <a:t>(</a:t>
            </a:r>
            <a:r>
              <a:rPr sz="1050" b="0" i="0">
                <a:solidFill>
                  <a:srgbClr val="9BE3A8"/>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5164074" y="1972818"/>
            <a:ext cx="3614166" cy="616077"/>
          </a:xfrm>
          <a:prstGeom prst="rect">
            <a:avLst/>
          </a:prstGeom>
          <a:noFill/>
        </p:spPr>
        <p:txBody>
          <a:bodyPr wrap="square" lIns="128016" rIns="128016" tIns="18288" bIns="18288" anchor="ctr">
            <a:spAutoFit/>
          </a:bodyPr>
          <a:lstStyle/>
          <a:p>
            <a:r>
              <a:rPr sz="1100" b="0" i="0">
                <a:solidFill>
                  <a:srgbClr val="1F2933"/>
                </a:solidFill>
                <a:latin typeface="Calibri"/>
              </a:rPr>
              <a:t>extractall unpacks every member into a folder and rebuilds the subfolders of the archive.</a:t>
            </a:r>
          </a:p>
        </p:txBody>
      </p:sp>
      <p:sp>
        <p:nvSpPr>
          <p:cNvPr id="8" name="code"/>
          <p:cNvSpPr/>
          <p:nvPr/>
        </p:nvSpPr>
        <p:spPr>
          <a:xfrm>
            <a:off x="365760" y="2634615"/>
            <a:ext cx="4816601" cy="59702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with</a:t>
            </a:r>
            <a:r>
              <a:rPr sz="1050" b="0" i="0">
                <a:solidFill>
                  <a:srgbClr val="E6EDF3"/>
                </a:solidFill>
                <a:latin typeface="Courier New"/>
              </a:rPr>
              <a:t> </a:t>
            </a:r>
            <a:r>
              <a:rPr sz="1050" b="0" i="0">
                <a:solidFill>
                  <a:srgbClr val="E6EDF3"/>
                </a:solidFill>
                <a:latin typeface="Courier New"/>
              </a:rPr>
              <a:t>zipfile</a:t>
            </a:r>
            <a:r>
              <a:rPr sz="1050" b="0" i="0">
                <a:solidFill>
                  <a:srgbClr val="E6EDF3"/>
                </a:solidFill>
                <a:latin typeface="Courier New"/>
              </a:rPr>
              <a:t>.</a:t>
            </a:r>
            <a:r>
              <a:rPr sz="1050" b="0" i="0">
                <a:solidFill>
                  <a:srgbClr val="E6EDF3"/>
                </a:solidFill>
                <a:latin typeface="Courier New"/>
              </a:rPr>
              <a:t>ZipFile</a:t>
            </a:r>
            <a:r>
              <a:rPr sz="1050" b="0" i="0">
                <a:solidFill>
                  <a:srgbClr val="E6EDF3"/>
                </a:solidFill>
                <a:latin typeface="Courier New"/>
              </a:rPr>
              <a:t>(</a:t>
            </a:r>
            <a:r>
              <a:rPr sz="1050" b="0" i="0">
                <a:solidFill>
                  <a:srgbClr val="9BE3A8"/>
                </a:solidFill>
                <a:latin typeface="Courier New"/>
              </a:rPr>
              <a:t>'z.zip'</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as</a:t>
            </a:r>
            <a:r>
              <a:rPr sz="1050" b="0" i="0">
                <a:solidFill>
                  <a:srgbClr val="E6EDF3"/>
                </a:solidFill>
                <a:latin typeface="Courier New"/>
              </a:rPr>
              <a:t> </a:t>
            </a:r>
            <a:r>
              <a:rPr sz="1050" b="0" i="0">
                <a:solidFill>
                  <a:srgbClr val="E6EDF3"/>
                </a:solidFill>
                <a:latin typeface="Courier New"/>
              </a:rPr>
              <a:t>z</a:t>
            </a:r>
            <a:r>
              <a:rPr sz="1050" b="0" i="0">
                <a:solidFill>
                  <a:srgbClr val="E6EDF3"/>
                </a:solidFill>
                <a:latin typeface="Courier New"/>
              </a:rPr>
              <a:t>:</a:t>
            </a:r>
          </a:p>
          <a:p>
            <a:pPr algn="l"/>
            <a:r>
              <a:rPr sz="1050" b="0" i="0">
                <a:solidFill>
                  <a:srgbClr val="8FA3B8"/>
                </a:solidFill>
                <a:latin typeface="Courier New"/>
              </a:rPr>
              <a: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z</a:t>
            </a:r>
            <a:r>
              <a:rPr sz="1050" b="0" i="0">
                <a:solidFill>
                  <a:srgbClr val="E6EDF3"/>
                </a:solidFill>
                <a:latin typeface="Courier New"/>
              </a:rPr>
              <a:t>.</a:t>
            </a:r>
            <a:r>
              <a:rPr sz="1050" b="0" i="0">
                <a:solidFill>
                  <a:srgbClr val="E6EDF3"/>
                </a:solidFill>
                <a:latin typeface="Courier New"/>
              </a:rPr>
              <a:t>extract</a:t>
            </a:r>
            <a:r>
              <a:rPr sz="1050" b="0" i="0">
                <a:solidFill>
                  <a:srgbClr val="E6EDF3"/>
                </a:solidFill>
                <a:latin typeface="Courier New"/>
              </a:rPr>
              <a:t>(</a:t>
            </a:r>
            <a:r>
              <a:rPr sz="1050" b="0" i="0">
                <a:solidFill>
                  <a:srgbClr val="9BE3A8"/>
                </a:solidFill>
                <a:latin typeface="Courier New"/>
              </a:rPr>
              <a:t>'a.txt'</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'new/folder'</a:t>
            </a:r>
            <a:r>
              <a:rPr sz="1050" b="0" i="0">
                <a:solidFill>
                  <a:srgbClr val="E6EDF3"/>
                </a:solidFill>
                <a:latin typeface="Courier New"/>
              </a:rPr>
              <a:t>)</a:t>
            </a:r>
            <a:r>
              <a:rPr sz="1050" b="0" i="0">
                <a:solidFill>
                  <a:srgbClr val="E6EDF3"/>
                </a:solidFill>
                <a:latin typeface="Courier New"/>
              </a:rPr>
              <a:t>)</a:t>
            </a:r>
          </a:p>
        </p:txBody>
      </p:sp>
      <p:sp>
        <p:nvSpPr>
          <p:cNvPr id="9" name="explanation"/>
          <p:cNvSpPr txBox="1"/>
          <p:nvPr/>
        </p:nvSpPr>
        <p:spPr>
          <a:xfrm>
            <a:off x="5164074" y="2634615"/>
            <a:ext cx="3614166" cy="597026"/>
          </a:xfrm>
          <a:prstGeom prst="rect">
            <a:avLst/>
          </a:prstGeom>
          <a:noFill/>
        </p:spPr>
        <p:txBody>
          <a:bodyPr wrap="square" lIns="128016" rIns="128016" tIns="18288" bIns="18288" anchor="ctr">
            <a:spAutoFit/>
          </a:bodyPr>
          <a:lstStyle/>
          <a:p>
            <a:r>
              <a:rPr sz="1100" b="0" i="0">
                <a:solidFill>
                  <a:srgbClr val="1F2933"/>
                </a:solidFill>
                <a:latin typeface="Calibri"/>
              </a:rPr>
              <a:t>extract unpacks one member. The target folder is created when it is missing, and the new path is returned.</a:t>
            </a:r>
          </a:p>
        </p:txBody>
      </p:sp>
      <p:sp>
        <p:nvSpPr>
          <p:cNvPr id="10" name="result label"/>
          <p:cNvSpPr txBox="1"/>
          <p:nvPr/>
        </p:nvSpPr>
        <p:spPr>
          <a:xfrm>
            <a:off x="365760" y="326821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24250"/>
            <a:ext cx="914400" cy="25603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z.zip</a:t>
            </a:r>
          </a:p>
        </p:txBody>
      </p:sp>
      <p:sp>
        <p:nvSpPr>
          <p:cNvPr id="12" name="Rounded Rectangle 11"/>
          <p:cNvSpPr/>
          <p:nvPr/>
        </p:nvSpPr>
        <p:spPr>
          <a:xfrm>
            <a:off x="1600200" y="3524250"/>
            <a:ext cx="914400"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a.txt</a:t>
            </a:r>
          </a:p>
        </p:txBody>
      </p:sp>
      <p:sp>
        <p:nvSpPr>
          <p:cNvPr id="13" name="Rounded Rectangle 12"/>
          <p:cNvSpPr/>
          <p:nvPr/>
        </p:nvSpPr>
        <p:spPr>
          <a:xfrm>
            <a:off x="1600200" y="3890010"/>
            <a:ext cx="914400"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sub/b.txt</a:t>
            </a:r>
          </a:p>
        </p:txBody>
      </p:sp>
      <p:cxnSp>
        <p:nvCxnSpPr>
          <p:cNvPr id="14" name="arrow"/>
          <p:cNvCxnSpPr/>
          <p:nvPr/>
        </p:nvCxnSpPr>
        <p:spPr>
          <a:xfrm>
            <a:off x="1280160" y="3652266"/>
            <a:ext cx="320040"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arrow"/>
          <p:cNvCxnSpPr/>
          <p:nvPr/>
        </p:nvCxnSpPr>
        <p:spPr>
          <a:xfrm>
            <a:off x="1280160" y="3652266"/>
            <a:ext cx="320040" cy="36576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5760" y="4392930"/>
            <a:ext cx="3840480" cy="256032"/>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extract() gave new/folder/a.txt</a:t>
            </a:r>
          </a:p>
        </p:txBody>
      </p:sp>
      <p:graphicFrame>
        <p:nvGraphicFramePr>
          <p:cNvPr id="17" name="table"/>
          <p:cNvGraphicFramePr>
            <a:graphicFrameLocks noGrp="1"/>
          </p:cNvGraphicFramePr>
          <p:nvPr/>
        </p:nvGraphicFramePr>
        <p:xfrm>
          <a:off x="4572000" y="3524250"/>
          <a:ext cx="4206239" cy="1097280"/>
        </p:xfrm>
        <a:graphic>
          <a:graphicData uri="http://schemas.openxmlformats.org/drawingml/2006/table">
            <a:tbl>
              <a:tblPr firstRow="0" bandRow="0"/>
              <a:tblGrid>
                <a:gridCol w="3059083"/>
                <a:gridCol w="1147156"/>
              </a:tblGrid>
              <a:tr h="274320">
                <a:tc>
                  <a:txBody>
                    <a:bodyPr wrap="square"/>
                    <a:lstStyle/>
                    <a:p>
                      <a:r>
                        <a:rPr sz="1000" b="1" i="0">
                          <a:solidFill>
                            <a:srgbClr val="FFFFFF"/>
                          </a:solidFill>
                          <a:latin typeface="Calibri"/>
                        </a:rPr>
                        <a:t>extractall('out') made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out/a.txt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out/sub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out/sub/b.txt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extractall unpacks all; extract takes one.</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shutil.make_archive and unpack_archive</a:t>
            </a:r>
          </a:p>
        </p:txBody>
      </p:sp>
      <p:sp>
        <p:nvSpPr>
          <p:cNvPr id="4" name="code"/>
          <p:cNvSpPr/>
          <p:nvPr/>
        </p:nvSpPr>
        <p:spPr>
          <a:xfrm>
            <a:off x="365760" y="822960"/>
            <a:ext cx="4454651" cy="10111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shutil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zipfile</a:t>
            </a:r>
          </a:p>
          <a:p>
            <a:pPr algn="l"/>
            <a:r>
              <a:rPr sz="950" b="0" i="0">
                <a:solidFill>
                  <a:srgbClr val="8FA3B8"/>
                </a:solidFill>
                <a:latin typeface="Courier New"/>
              </a:rPr>
              <a:t>&gt;&gt;&gt; </a:t>
            </a:r>
            <a:r>
              <a:rPr sz="950" b="0" i="0">
                <a:solidFill>
                  <a:srgbClr val="C9A0FF"/>
                </a:solidFill>
                <a:latin typeface="Courier New"/>
              </a:rPr>
              <a:t>from</a:t>
            </a:r>
            <a:r>
              <a:rPr sz="950" b="0" i="0">
                <a:solidFill>
                  <a:srgbClr val="E6EDF3"/>
                </a:solidFill>
                <a:latin typeface="Courier New"/>
              </a:rPr>
              <a:t> </a:t>
            </a:r>
            <a:r>
              <a:rPr sz="950" b="0" i="0">
                <a:solidFill>
                  <a:srgbClr val="E6EDF3"/>
                </a:solidFill>
                <a:latin typeface="Courier New"/>
              </a:rPr>
              <a:t>pathlib</a:t>
            </a:r>
            <a:r>
              <a:rPr sz="950" b="0" i="0">
                <a:solidFill>
                  <a:srgbClr val="E6EDF3"/>
                </a:solidFill>
                <a:latin typeface="Courier New"/>
              </a:rPr>
              <a: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Path</a:t>
            </a:r>
          </a:p>
          <a:p>
            <a:pPr algn="l"/>
            <a:r>
              <a:rPr sz="950" b="0" i="0">
                <a:solidFill>
                  <a:srgbClr val="8FA3B8"/>
                </a:solidFill>
                <a:latin typeface="Courier New"/>
              </a:rPr>
              <a:t>&gt;&gt;&gt;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chdir</a:t>
            </a:r>
            <a:r>
              <a:rPr sz="950" b="0" i="0">
                <a:solidFill>
                  <a:srgbClr val="E6EDF3"/>
                </a:solidFill>
                <a:latin typeface="Courier New"/>
              </a:rPr>
              <a:t>(</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mkdtemp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'spam/sub'</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mkdir</a:t>
            </a:r>
            <a:r>
              <a:rPr sz="950" b="0" i="0">
                <a:solidFill>
                  <a:srgbClr val="E6EDF3"/>
                </a:solidFill>
                <a:latin typeface="Courier New"/>
              </a:rPr>
              <a:t>(</a:t>
            </a:r>
            <a:r>
              <a:rPr sz="950" b="0" i="0">
                <a:solidFill>
                  <a:srgbClr val="E6EDF3"/>
                </a:solidFill>
                <a:latin typeface="Courier New"/>
              </a:rPr>
              <a:t>parents</a:t>
            </a:r>
            <a:r>
              <a:rPr sz="950" b="0" i="0">
                <a:solidFill>
                  <a:srgbClr val="E6EDF3"/>
                </a:solidFill>
                <a:latin typeface="Courier New"/>
              </a:rPr>
              <a:t>=</a:t>
            </a:r>
            <a:r>
              <a:rPr sz="950" b="0" i="0">
                <a:solidFill>
                  <a:srgbClr val="E6EDF3"/>
                </a:solidFill>
                <a:latin typeface="Courier New"/>
              </a:rPr>
              <a:t>True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'spam/a.txt'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write_text</a:t>
            </a:r>
            <a:r>
              <a:rPr sz="950" b="0" i="0">
                <a:solidFill>
                  <a:srgbClr val="E6EDF3"/>
                </a:solidFill>
                <a:latin typeface="Courier New"/>
              </a:rPr>
              <a:t>(</a:t>
            </a:r>
            <a:r>
              <a:rPr sz="950" b="0" i="0">
                <a:solidFill>
                  <a:srgbClr val="9BE3A8"/>
                </a:solidFill>
                <a:latin typeface="Courier New"/>
              </a:rPr>
              <a:t>'x'</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'spam/sub/b.txt'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write_text</a:t>
            </a:r>
            <a:r>
              <a:rPr sz="950" b="0" i="0">
                <a:solidFill>
                  <a:srgbClr val="E6EDF3"/>
                </a:solidFill>
                <a:latin typeface="Courier New"/>
              </a:rPr>
              <a:t>(</a:t>
            </a:r>
            <a:r>
              <a:rPr sz="950" b="0" i="0">
                <a:solidFill>
                  <a:srgbClr val="9BE3A8"/>
                </a:solidFill>
                <a:latin typeface="Courier New"/>
              </a:rPr>
              <a:t>'y'</a:t>
            </a:r>
            <a:r>
              <a:rPr sz="950" b="0" i="0">
                <a:solidFill>
                  <a:srgbClr val="E6EDF3"/>
                </a:solidFill>
                <a:latin typeface="Courier New"/>
              </a:rPr>
              <a:t>)</a:t>
            </a:r>
          </a:p>
        </p:txBody>
      </p:sp>
      <p:sp>
        <p:nvSpPr>
          <p:cNvPr id="5" name="explanation"/>
          <p:cNvSpPr txBox="1"/>
          <p:nvPr/>
        </p:nvSpPr>
        <p:spPr>
          <a:xfrm>
            <a:off x="4802124" y="822960"/>
            <a:ext cx="3976115" cy="1011174"/>
          </a:xfrm>
          <a:prstGeom prst="rect">
            <a:avLst/>
          </a:prstGeom>
          <a:noFill/>
        </p:spPr>
        <p:txBody>
          <a:bodyPr wrap="square" lIns="128016" rIns="128016" tIns="18288" bIns="18288" anchor="ctr">
            <a:spAutoFit/>
          </a:bodyPr>
          <a:lstStyle/>
          <a:p>
            <a:r>
              <a:rPr sz="1050" b="0" i="0">
                <a:solidFill>
                  <a:srgbClr val="1F2933"/>
                </a:solidFill>
                <a:latin typeface="Calibri"/>
              </a:rPr>
              <a:t>A new temporary folder keeps your real files safe. A small tree to pack.</a:t>
            </a:r>
          </a:p>
        </p:txBody>
      </p:sp>
      <p:sp>
        <p:nvSpPr>
          <p:cNvPr id="6" name="code"/>
          <p:cNvSpPr/>
          <p:nvPr/>
        </p:nvSpPr>
        <p:spPr>
          <a:xfrm>
            <a:off x="365760" y="1879854"/>
            <a:ext cx="4454651" cy="71678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name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shutil</a:t>
            </a:r>
            <a:r>
              <a:rPr sz="950" b="0" i="0">
                <a:solidFill>
                  <a:srgbClr val="E6EDF3"/>
                </a:solidFill>
                <a:latin typeface="Courier New"/>
              </a:rPr>
              <a:t>.</a:t>
            </a:r>
            <a:r>
              <a:rPr sz="950" b="0" i="0">
                <a:solidFill>
                  <a:srgbClr val="E6EDF3"/>
                </a:solidFill>
                <a:latin typeface="Courier New"/>
              </a:rPr>
              <a:t>make_archive</a:t>
            </a:r>
            <a:r>
              <a:rPr sz="950" b="0" i="0">
                <a:solidFill>
                  <a:srgbClr val="E6EDF3"/>
                </a:solidFill>
                <a:latin typeface="Courier New"/>
              </a:rPr>
              <a:t>(</a:t>
            </a:r>
            <a:r>
              <a:rPr sz="950" b="0" i="0">
                <a:solidFill>
                  <a:srgbClr val="9BE3A8"/>
                </a:solidFill>
                <a:latin typeface="Courier New"/>
              </a:rPr>
              <a:t>'snap'</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'zip'</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'spam'</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r>
              <a:rPr sz="950" b="0" i="0">
                <a:solidFill>
                  <a:srgbClr val="E6EDF3"/>
                </a:solidFill>
                <a:latin typeface="Courier New"/>
              </a:rPr>
              <a:t>name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name</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with</a:t>
            </a:r>
            <a:r>
              <a:rPr sz="950" b="0" i="0">
                <a:solidFill>
                  <a:srgbClr val="E6EDF3"/>
                </a:solidFill>
                <a:latin typeface="Courier New"/>
              </a:rPr>
              <a:t> </a:t>
            </a:r>
            <a:r>
              <a:rPr sz="950" b="0" i="0">
                <a:solidFill>
                  <a:srgbClr val="E6EDF3"/>
                </a:solidFill>
                <a:latin typeface="Courier New"/>
              </a:rPr>
              <a:t>zipfile</a:t>
            </a:r>
            <a:r>
              <a:rPr sz="950" b="0" i="0">
                <a:solidFill>
                  <a:srgbClr val="E6EDF3"/>
                </a:solidFill>
                <a:latin typeface="Courier New"/>
              </a:rPr>
              <a:t>.</a:t>
            </a:r>
            <a:r>
              <a:rPr sz="950" b="0" i="0">
                <a:solidFill>
                  <a:srgbClr val="E6EDF3"/>
                </a:solidFill>
                <a:latin typeface="Courier New"/>
              </a:rPr>
              <a:t>ZipFile</a:t>
            </a:r>
            <a:r>
              <a:rPr sz="950" b="0" i="0">
                <a:solidFill>
                  <a:srgbClr val="E6EDF3"/>
                </a:solidFill>
                <a:latin typeface="Courier New"/>
              </a:rPr>
              <a:t>(</a:t>
            </a:r>
            <a:r>
              <a:rPr sz="950" b="0" i="0">
                <a:solidFill>
                  <a:srgbClr val="E6EDF3"/>
                </a:solidFill>
                <a:latin typeface="Courier New"/>
              </a:rPr>
              <a:t>name</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as</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p>
          <a:p>
            <a:pPr algn="l"/>
            <a:r>
              <a:rPr sz="950" b="0" i="0">
                <a:solidFill>
                  <a:srgbClr val="8FA3B8"/>
                </a:solidFill>
                <a:latin typeface="Courier New"/>
              </a:rPr>
              <a: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sorted</a:t>
            </a:r>
            <a:r>
              <a:rPr sz="950" b="0" i="0">
                <a:solidFill>
                  <a:srgbClr val="E6EDF3"/>
                </a:solidFill>
                <a:latin typeface="Courier New"/>
              </a:rPr>
              <a:t>(</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namelist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4802124" y="1879854"/>
            <a:ext cx="3976115" cy="716788"/>
          </a:xfrm>
          <a:prstGeom prst="rect">
            <a:avLst/>
          </a:prstGeom>
          <a:noFill/>
        </p:spPr>
        <p:txBody>
          <a:bodyPr wrap="square" lIns="128016" rIns="128016" tIns="18288" bIns="18288" anchor="ctr">
            <a:spAutoFit/>
          </a:bodyPr>
          <a:lstStyle/>
          <a:p>
            <a:r>
              <a:rPr sz="1050" b="0" i="0">
                <a:solidFill>
                  <a:srgbClr val="1F2933"/>
                </a:solidFill>
                <a:latin typeface="Calibri"/>
              </a:rPr>
              <a:t>make_archive packs a whole folder into one ZIP in a single call. The names inside keep the folder name.</a:t>
            </a:r>
          </a:p>
        </p:txBody>
      </p:sp>
      <p:sp>
        <p:nvSpPr>
          <p:cNvPr id="8" name="code"/>
          <p:cNvSpPr/>
          <p:nvPr/>
        </p:nvSpPr>
        <p:spPr>
          <a:xfrm>
            <a:off x="365760" y="2642362"/>
            <a:ext cx="4454651" cy="42240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shutil</a:t>
            </a:r>
            <a:r>
              <a:rPr sz="950" b="0" i="0">
                <a:solidFill>
                  <a:srgbClr val="E6EDF3"/>
                </a:solidFill>
                <a:latin typeface="Courier New"/>
              </a:rPr>
              <a:t>.</a:t>
            </a:r>
            <a:r>
              <a:rPr sz="950" b="0" i="0">
                <a:solidFill>
                  <a:srgbClr val="E6EDF3"/>
                </a:solidFill>
                <a:latin typeface="Courier New"/>
              </a:rPr>
              <a:t>unpack_archive</a:t>
            </a:r>
            <a:r>
              <a:rPr sz="950" b="0" i="0">
                <a:solidFill>
                  <a:srgbClr val="E6EDF3"/>
                </a:solidFill>
                <a:latin typeface="Courier New"/>
              </a:rPr>
              <a:t>(</a:t>
            </a:r>
            <a:r>
              <a:rPr sz="950" b="0" i="0">
                <a:solidFill>
                  <a:srgbClr val="E6EDF3"/>
                </a:solidFill>
                <a:latin typeface="Courier New"/>
              </a:rPr>
              <a:t>name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'un'</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sorted</a:t>
            </a:r>
            <a:r>
              <a:rPr sz="950" b="0" i="0">
                <a:solidFill>
                  <a:srgbClr val="E6EDF3"/>
                </a:solidFill>
                <a:latin typeface="Courier New"/>
              </a:rPr>
              <a:t>(</a:t>
            </a:r>
            <a:r>
              <a:rPr sz="950" b="0" i="0">
                <a:solidFill>
                  <a:srgbClr val="E6EDF3"/>
                </a:solidFill>
                <a:latin typeface="Courier New"/>
              </a:rPr>
              <a:t>str</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Path</a:t>
            </a:r>
            <a:r>
              <a:rPr sz="950" b="0" i="0">
                <a:solidFill>
                  <a:srgbClr val="E6EDF3"/>
                </a:solidFill>
                <a:latin typeface="Courier New"/>
              </a:rPr>
              <a:t>(</a:t>
            </a:r>
            <a:r>
              <a:rPr sz="950" b="0" i="0">
                <a:solidFill>
                  <a:srgbClr val="9BE3A8"/>
                </a:solidFill>
                <a:latin typeface="Courier New"/>
              </a:rPr>
              <a:t>'un'</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rglob</a:t>
            </a:r>
            <a:r>
              <a:rPr sz="950" b="0" i="0">
                <a:solidFill>
                  <a:srgbClr val="E6EDF3"/>
                </a:solidFill>
                <a:latin typeface="Courier New"/>
              </a:rPr>
              <a:t>(</a:t>
            </a:r>
            <a:r>
              <a:rPr sz="950" b="0" i="0">
                <a:solidFill>
                  <a:srgbClr val="9BE3A8"/>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4802124" y="2642362"/>
            <a:ext cx="3976115" cy="422402"/>
          </a:xfrm>
          <a:prstGeom prst="rect">
            <a:avLst/>
          </a:prstGeom>
          <a:noFill/>
        </p:spPr>
        <p:txBody>
          <a:bodyPr wrap="square" lIns="128016" rIns="128016" tIns="18288" bIns="18288" anchor="ctr">
            <a:spAutoFit/>
          </a:bodyPr>
          <a:lstStyle/>
          <a:p>
            <a:r>
              <a:rPr sz="1050" b="0" i="0">
                <a:solidFill>
                  <a:srgbClr val="1F2933"/>
                </a:solidFill>
                <a:latin typeface="Calibri"/>
              </a:rPr>
              <a:t>unpack_archive is the one-call way back: it guesses the format from the file name.</a:t>
            </a:r>
          </a:p>
        </p:txBody>
      </p:sp>
      <p:sp>
        <p:nvSpPr>
          <p:cNvPr id="10" name="result label"/>
          <p:cNvSpPr txBox="1"/>
          <p:nvPr/>
        </p:nvSpPr>
        <p:spPr>
          <a:xfrm>
            <a:off x="365760" y="310134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57372"/>
          <a:ext cx="5486400" cy="1234440"/>
        </p:xfrm>
        <a:graphic>
          <a:graphicData uri="http://schemas.openxmlformats.org/drawingml/2006/table">
            <a:tbl>
              <a:tblPr firstRow="0" bandRow="0"/>
              <a:tblGrid>
                <a:gridCol w="2377440"/>
                <a:gridCol w="3108960"/>
              </a:tblGrid>
              <a:tr h="246888">
                <a:tc>
                  <a:txBody>
                    <a:bodyPr wrap="square"/>
                    <a:lstStyle/>
                    <a:p>
                      <a:r>
                        <a:rPr sz="950" b="1" i="0">
                          <a:solidFill>
                            <a:srgbClr val="FFFFFF"/>
                          </a:solidFill>
                          <a:latin typeface="Calibri"/>
                        </a:rPr>
                        <a:t>Inside the 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After unpack_archive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50" b="0" i="0">
                          <a:solidFill>
                            <a:srgbClr val="1F2933"/>
                          </a:solidFill>
                          <a:latin typeface="Courier New"/>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un/spam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spam/a.txt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un/spam/a.txt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950" b="0" i="0">
                          <a:solidFill>
                            <a:srgbClr val="1F2933"/>
                          </a:solidFill>
                          <a:latin typeface="Courier New"/>
                        </a:rPr>
                        <a:t>spam/sub/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un/spam/sub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spam/sub/b.txt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un/spam/sub/b.txt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126480" y="3357372"/>
            <a:ext cx="100584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a:t>
            </a:r>
          </a:p>
        </p:txBody>
      </p:sp>
      <p:cxnSp>
        <p:nvCxnSpPr>
          <p:cNvPr id="13" name="arrow"/>
          <p:cNvCxnSpPr/>
          <p:nvPr/>
        </p:nvCxnSpPr>
        <p:spPr>
          <a:xfrm>
            <a:off x="6629400" y="3631692"/>
            <a:ext cx="0" cy="182880"/>
          </a:xfrm>
          <a:prstGeom prst="line">
            <a:avLst/>
          </a:prstGeom>
          <a:ln w="2032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26480" y="3814572"/>
            <a:ext cx="100584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snap.zip</a:t>
            </a:r>
          </a:p>
        </p:txBody>
      </p:sp>
      <p:cxnSp>
        <p:nvCxnSpPr>
          <p:cNvPr id="15" name="arrow"/>
          <p:cNvCxnSpPr/>
          <p:nvPr/>
        </p:nvCxnSpPr>
        <p:spPr>
          <a:xfrm>
            <a:off x="6629400" y="4088892"/>
            <a:ext cx="0" cy="182880"/>
          </a:xfrm>
          <a:prstGeom prst="line">
            <a:avLst/>
          </a:prstGeom>
          <a:ln w="2032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26480" y="4271772"/>
            <a:ext cx="100584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un/</a:t>
            </a:r>
          </a:p>
        </p:txBody>
      </p:sp>
      <p:sp>
        <p:nvSpPr>
          <p:cNvPr id="17" name="TextBox 16"/>
          <p:cNvSpPr txBox="1"/>
          <p:nvPr/>
        </p:nvSpPr>
        <p:spPr>
          <a:xfrm>
            <a:off x="7223760" y="3448812"/>
            <a:ext cx="1554480" cy="411480"/>
          </a:xfrm>
          <a:prstGeom prst="rect">
            <a:avLst/>
          </a:prstGeom>
          <a:noFill/>
        </p:spPr>
        <p:txBody>
          <a:bodyPr wrap="square" lIns="45720" rIns="45720" tIns="27432" bIns="27432" anchor="t">
            <a:spAutoFit/>
          </a:bodyPr>
          <a:lstStyle/>
          <a:p>
            <a:r>
              <a:rPr sz="950" b="0" i="1">
                <a:solidFill>
                  <a:srgbClr val="5B6773"/>
                </a:solidFill>
                <a:latin typeface="Calibri"/>
              </a:rPr>
              <a:t>make_archive packs</a:t>
            </a:r>
          </a:p>
        </p:txBody>
      </p:sp>
      <p:sp>
        <p:nvSpPr>
          <p:cNvPr id="18" name="TextBox 17"/>
          <p:cNvSpPr txBox="1"/>
          <p:nvPr/>
        </p:nvSpPr>
        <p:spPr>
          <a:xfrm>
            <a:off x="7223760" y="4134612"/>
            <a:ext cx="1554480" cy="411480"/>
          </a:xfrm>
          <a:prstGeom prst="rect">
            <a:avLst/>
          </a:prstGeom>
          <a:noFill/>
        </p:spPr>
        <p:txBody>
          <a:bodyPr wrap="square" lIns="45720" rIns="45720" tIns="27432" bIns="27432" anchor="t">
            <a:spAutoFit/>
          </a:bodyPr>
          <a:lstStyle/>
          <a:p>
            <a:r>
              <a:rPr sz="950" b="0" i="1">
                <a:solidFill>
                  <a:srgbClr val="5B6773"/>
                </a:solidFill>
                <a:latin typeface="Calibri"/>
              </a:rPr>
              <a:t>unpack_archive unpacks</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make_archive and unpack_archive: one call each way.</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the ZIP format was given away on 14 February 1989</a:t>
            </a:r>
          </a:p>
        </p:txBody>
      </p:sp>
      <p:pic>
        <p:nvPicPr>
          <p:cNvPr id="4" name="photo katz" descr="Picture of a PKZIP floppy disk"/>
          <p:cNvPicPr>
            <a:picLocks noChangeAspect="1"/>
          </p:cNvPicPr>
          <p:nvPr/>
        </p:nvPicPr>
        <p:blipFill>
          <a:blip r:embed="rId3"/>
          <a:stretch>
            <a:fillRect/>
          </a:stretch>
        </p:blipFill>
        <p:spPr>
          <a:xfrm>
            <a:off x="365760" y="1005840"/>
            <a:ext cx="2651760" cy="265176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PKZIP floppy disk, 1989-94 edition. Photo: Blake Patterson, CC BY 2.0,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Phil Katz, programmer at PKWARE, with Gary Conway of Infinity Design Concepts.</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They placed the .ZIP file format in the public domain, free for any program to read or write.</a:t>
            </a:r>
          </a:p>
        </p:txBody>
      </p:sp>
      <p:sp>
        <p:nvSpPr>
          <p:cNvPr id="10" name="card"/>
          <p:cNvSpPr/>
          <p:nvPr/>
        </p:nvSpPr>
        <p:spPr>
          <a:xfrm>
            <a:off x="3200400" y="20848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14 February 1989, in a joint press release.</a:t>
            </a:r>
          </a:p>
        </p:txBody>
      </p:sp>
      <p:sp>
        <p:nvSpPr>
          <p:cNvPr id="12" name="card"/>
          <p:cNvSpPr/>
          <p:nvPr/>
        </p:nvSpPr>
        <p:spPr>
          <a:xfrm>
            <a:off x="3200400" y="255117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PKWARE in Glendale, Wisconsin.</a:t>
            </a:r>
          </a:p>
        </p:txBody>
      </p:sp>
      <p:sp>
        <p:nvSpPr>
          <p:cNvPr id="14" name="card"/>
          <p:cNvSpPr/>
          <p:nvPr/>
        </p:nvSpPr>
        <p:spPr>
          <a:xfrm>
            <a:off x="3200400" y="301752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1752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Katz had been sued over PKARC, his ARC-compatible archiver, so he and Conway designed a new, open format.</a:t>
            </a:r>
          </a:p>
        </p:txBody>
      </p:sp>
      <p:sp>
        <p:nvSpPr>
          <p:cNvPr id="16" name="card"/>
          <p:cNvSpPr/>
          <p:nvPr/>
        </p:nvSpPr>
        <p:spPr>
          <a:xfrm>
            <a:off x="3200400" y="3639311"/>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39311"/>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Every zipfile.ZipFile call of this chapter reads and writes that same public-domain structure.</a:t>
            </a:r>
          </a:p>
        </p:txBody>
      </p:sp>
      <p:sp>
        <p:nvSpPr>
          <p:cNvPr id="18" name="read"/>
          <p:cNvSpPr txBox="1"/>
          <p:nvPr/>
        </p:nvSpPr>
        <p:spPr>
          <a:xfrm>
            <a:off x="3200400" y="4279391"/>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ZIP (file format),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the engine under ZIP_DEFLATED shipped on 1 May 1995</a:t>
            </a:r>
          </a:p>
        </p:txBody>
      </p:sp>
      <p:pic>
        <p:nvPicPr>
          <p:cNvPr id="4" name="photo zlib" descr="Portrait of Mark Adler"/>
          <p:cNvPicPr>
            <a:picLocks noChangeAspect="1"/>
          </p:cNvPicPr>
          <p:nvPr/>
        </p:nvPicPr>
        <p:blipFill>
          <a:blip r:embed="rId3"/>
          <a:stretch>
            <a:fillRect/>
          </a:stretch>
        </p:blipFill>
        <p:spPr>
          <a:xfrm>
            <a:off x="594908" y="868680"/>
            <a:ext cx="2193463" cy="2926080"/>
          </a:xfrm>
          <a:prstGeom prst="rect">
            <a:avLst/>
          </a:prstGeom>
        </p:spPr>
      </p:pic>
      <p:sp>
        <p:nvSpPr>
          <p:cNvPr id="5" name="credit"/>
          <p:cNvSpPr txBox="1"/>
          <p:nvPr/>
        </p:nvSpPr>
        <p:spPr>
          <a:xfrm>
            <a:off x="365760" y="3840480"/>
            <a:ext cx="2651760" cy="731520"/>
          </a:xfrm>
          <a:prstGeom prst="rect">
            <a:avLst/>
          </a:prstGeom>
          <a:noFill/>
        </p:spPr>
        <p:txBody>
          <a:bodyPr wrap="square" lIns="45720" rIns="45720" tIns="27432" bIns="27432" anchor="t">
            <a:spAutoFit/>
          </a:bodyPr>
          <a:lstStyle/>
          <a:p>
            <a:r>
              <a:rPr sz="900" b="0" i="0">
                <a:solidFill>
                  <a:srgbClr val="5B6773"/>
                </a:solidFill>
                <a:latin typeface="Calibri"/>
              </a:rPr>
              <a:t>Mark Adler. Photo: NASA, public domain, Wikimedia Commons.</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Jean-loup Gailly, who wrote the compression half, and Mark Adler, who wrote the decompression half.</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zlib 0.9, a free library for the DEFLATE method, free to embed in any program.</a:t>
            </a:r>
          </a:p>
        </p:txBody>
      </p:sp>
      <p:sp>
        <p:nvSpPr>
          <p:cNvPr id="10" name="card"/>
          <p:cNvSpPr/>
          <p:nvPr/>
        </p:nvSpPr>
        <p:spPr>
          <a:xfrm>
            <a:off x="3200400" y="20848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1 May 1995.</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Written over the internet; first built for the libpng image library.</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Programs needed compression that no company owned and no patent blocked.</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zipfile hands the bytes to zlib whenever a write asks for compress_type=zipfile.ZIP_DEFLATED.</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Zlib,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Programs that organize files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Four programs that use everything so far</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backupToZip</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Backs a folder up into a numbered ZIP.</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Selective copy</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Copies only the files of one extension.</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Big files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Finds the files above a size limit.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Date renaming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Swaps day and month inside file names.</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programs that organ...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5: back a folder up into a 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copy every PDF of a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Practice program: find the big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American dates to Eu...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programs that organize files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practice program is a driving lesson on an empty car park: the real skill, no real risk.</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743200"/>
                <a:gridCol w="566928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Driving lessons on an empty car park: every move is real, no damage is possible.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backupToZip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nightly photocopy of the whole filing cabinet, numbered so no old copy is lost.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Selective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librarian who copies only the blue-covered books from every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Date renaming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Relabelling every folder when the office switches from the American to the European calendar.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5: back a folder up into a numbered ZIP</a:t>
            </a:r>
          </a:p>
        </p:txBody>
      </p:sp>
      <p:sp>
        <p:nvSpPr>
          <p:cNvPr id="4" name="code"/>
          <p:cNvSpPr/>
          <p:nvPr/>
        </p:nvSpPr>
        <p:spPr>
          <a:xfrm>
            <a:off x="365760" y="822960"/>
            <a:ext cx="5257800" cy="9646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zipfile</a:t>
            </a:r>
          </a:p>
          <a:p>
            <a:pPr algn="l"/>
            <a:r>
              <a:rPr sz="900" b="0" i="0">
                <a:solidFill>
                  <a:srgbClr val="8FA3B8"/>
                </a:solidFill>
                <a:latin typeface="Courier New"/>
              </a:rPr>
              <a:t>&gt;&gt;&gt; </a:t>
            </a:r>
            <a:r>
              <a:rPr sz="900" b="0" i="0">
                <a:solidFill>
                  <a:srgbClr val="C9A0FF"/>
                </a:solidFill>
                <a:latin typeface="Courier New"/>
              </a:rPr>
              <a:t>from</a:t>
            </a:r>
            <a:r>
              <a:rPr sz="900" b="0" i="0">
                <a:solidFill>
                  <a:srgbClr val="E6EDF3"/>
                </a:solidFill>
                <a:latin typeface="Courier New"/>
              </a:rPr>
              <a:t> </a:t>
            </a:r>
            <a:r>
              <a:rPr sz="900" b="0" i="0">
                <a:solidFill>
                  <a:srgbClr val="E6EDF3"/>
                </a:solidFill>
                <a:latin typeface="Courier New"/>
              </a:rPr>
              <a:t>pathlib</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Path</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backup_to_zip</a:t>
            </a:r>
            <a:r>
              <a:rPr sz="900" b="0" i="0">
                <a:solidFill>
                  <a:srgbClr val="E6EDF3"/>
                </a:solidFill>
                <a:latin typeface="Courier New"/>
              </a:rPr>
              <a:t>(</a:t>
            </a:r>
            <a:r>
              <a:rPr sz="900" b="0" i="0">
                <a:solidFill>
                  <a:srgbClr val="E6EDF3"/>
                </a:solidFill>
                <a:latin typeface="Courier New"/>
              </a:rPr>
              <a:t>folder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while</a:t>
            </a:r>
            <a:r>
              <a:rPr sz="900" b="0" i="0">
                <a:solidFill>
                  <a:srgbClr val="E6EDF3"/>
                </a:solidFill>
                <a:latin typeface="Courier New"/>
              </a:rPr>
              <a: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f'{folder}_{n}.zip'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exists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p>
        </p:txBody>
      </p:sp>
      <p:sp>
        <p:nvSpPr>
          <p:cNvPr id="5" name="explanation"/>
          <p:cNvSpPr txBox="1"/>
          <p:nvPr/>
        </p:nvSpPr>
        <p:spPr>
          <a:xfrm>
            <a:off x="365760" y="1796796"/>
            <a:ext cx="5257800" cy="239839"/>
          </a:xfrm>
          <a:prstGeom prst="rect">
            <a:avLst/>
          </a:prstGeom>
          <a:noFill/>
        </p:spPr>
        <p:txBody>
          <a:bodyPr wrap="square" lIns="109728" rIns="109728" tIns="18288" bIns="18288" anchor="ctr">
            <a:spAutoFit/>
          </a:bodyPr>
          <a:lstStyle/>
          <a:p>
            <a:r>
              <a:rPr sz="1050" b="0" i="0">
                <a:solidFill>
                  <a:srgbClr val="1F2933"/>
                </a:solidFill>
                <a:latin typeface="Calibri"/>
              </a:rPr>
              <a:t>A new temporary folder; the function finds the first unused number.</a:t>
            </a:r>
          </a:p>
        </p:txBody>
      </p:sp>
      <p:sp>
        <p:nvSpPr>
          <p:cNvPr id="6" name="code"/>
          <p:cNvSpPr/>
          <p:nvPr/>
        </p:nvSpPr>
        <p:spPr>
          <a:xfrm>
            <a:off x="365760" y="2073211"/>
            <a:ext cx="5257800" cy="82524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8FA3B8"/>
                </a:solidFill>
                <a:latin typeface="Courier New"/>
              </a:rPr>
              <a:t># continued</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with</a:t>
            </a:r>
            <a:r>
              <a:rPr sz="900" b="0" i="0">
                <a:solidFill>
                  <a:srgbClr val="E6EDF3"/>
                </a:solidFill>
                <a:latin typeface="Courier New"/>
              </a:rPr>
              <a:t> </a:t>
            </a:r>
            <a:r>
              <a:rPr sz="900" b="0" i="0">
                <a:solidFill>
                  <a:srgbClr val="E6EDF3"/>
                </a:solidFill>
                <a:latin typeface="Courier New"/>
              </a:rPr>
              <a:t>zipfile</a:t>
            </a:r>
            <a:r>
              <a:rPr sz="900" b="0" i="0">
                <a:solidFill>
                  <a:srgbClr val="E6EDF3"/>
                </a:solidFill>
                <a:latin typeface="Courier New"/>
              </a:rPr>
              <a:t>.</a:t>
            </a:r>
            <a:r>
              <a:rPr sz="900" b="0" i="0">
                <a:solidFill>
                  <a:srgbClr val="E6EDF3"/>
                </a:solidFill>
                <a:latin typeface="Courier New"/>
              </a:rPr>
              <a:t>ZipFile</a:t>
            </a:r>
            <a:r>
              <a:rPr sz="900" b="0" i="0">
                <a:solidFill>
                  <a:srgbClr val="E6EDF3"/>
                </a:solidFill>
                <a:latin typeface="Courier New"/>
              </a:rPr>
              <a:t>(</a:t>
            </a:r>
            <a:r>
              <a:rPr sz="900" b="0" i="0">
                <a:solidFill>
                  <a:srgbClr val="9BE3A8"/>
                </a:solidFill>
                <a:latin typeface="Courier New"/>
              </a:rPr>
              <a:t>f'{folder}_{n}.zip'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'w'</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as</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root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subs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files</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walk</a:t>
            </a:r>
            <a:r>
              <a:rPr sz="900" b="0" i="0">
                <a:solidFill>
                  <a:srgbClr val="E6EDF3"/>
                </a:solidFill>
                <a:latin typeface="Courier New"/>
              </a:rPr>
              <a:t>(</a:t>
            </a:r>
            <a:r>
              <a:rPr sz="900" b="0" i="0">
                <a:solidFill>
                  <a:srgbClr val="E6EDF3"/>
                </a:solidFill>
                <a:latin typeface="Courier New"/>
              </a:rPr>
              <a:t>folder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f</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files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root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9BE3A8"/>
                </a:solidFill>
                <a:latin typeface="Courier New"/>
              </a:rPr>
              <a:t>f'{folder}_{n}.zip'</a:t>
            </a:r>
          </a:p>
        </p:txBody>
      </p:sp>
      <p:sp>
        <p:nvSpPr>
          <p:cNvPr id="7" name="explanation"/>
          <p:cNvSpPr txBox="1"/>
          <p:nvPr/>
        </p:nvSpPr>
        <p:spPr>
          <a:xfrm>
            <a:off x="365760" y="2907601"/>
            <a:ext cx="5257800" cy="406527"/>
          </a:xfrm>
          <a:prstGeom prst="rect">
            <a:avLst/>
          </a:prstGeom>
          <a:noFill/>
        </p:spPr>
        <p:txBody>
          <a:bodyPr wrap="square" lIns="109728" rIns="109728" tIns="18288" bIns="18288" anchor="ctr">
            <a:spAutoFit/>
          </a:bodyPr>
          <a:lstStyle/>
          <a:p>
            <a:r>
              <a:rPr sz="1050" b="0" i="0">
                <a:solidFill>
                  <a:srgbClr val="1F2933"/>
                </a:solidFill>
                <a:latin typeface="Calibri"/>
              </a:rPr>
              <a:t>Walk the folder and write every file into the new ZIP, then return its name.</a:t>
            </a:r>
          </a:p>
        </p:txBody>
      </p:sp>
      <p:sp>
        <p:nvSpPr>
          <p:cNvPr id="8" name="code"/>
          <p:cNvSpPr/>
          <p:nvPr/>
        </p:nvSpPr>
        <p:spPr>
          <a:xfrm>
            <a:off x="365760" y="3350704"/>
            <a:ext cx="5257800" cy="9646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'spam/eggs'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mkdir</a:t>
            </a:r>
            <a:r>
              <a:rPr sz="900" b="0" i="0">
                <a:solidFill>
                  <a:srgbClr val="E6EDF3"/>
                </a:solidFill>
                <a:latin typeface="Courier New"/>
              </a:rPr>
              <a:t>(</a:t>
            </a:r>
            <a:r>
              <a:rPr sz="900" b="0" i="0">
                <a:solidFill>
                  <a:srgbClr val="E6EDF3"/>
                </a:solidFill>
                <a:latin typeface="Courier New"/>
              </a:rPr>
              <a:t>parents</a:t>
            </a:r>
            <a:r>
              <a:rPr sz="900" b="0" i="0">
                <a:solidFill>
                  <a:srgbClr val="E6EDF3"/>
                </a:solidFill>
                <a:latin typeface="Courier New"/>
              </a:rPr>
              <a:t>=</a:t>
            </a:r>
            <a:r>
              <a:rPr sz="900" b="0" i="0">
                <a:solidFill>
                  <a:srgbClr val="E6EDF3"/>
                </a:solidFill>
                <a:latin typeface="Courier New"/>
              </a:rPr>
              <a:t>True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'spam/file1.txt'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write_text</a:t>
            </a:r>
            <a:r>
              <a:rPr sz="900" b="0" i="0">
                <a:solidFill>
                  <a:srgbClr val="E6EDF3"/>
                </a:solidFill>
                <a:latin typeface="Courier New"/>
              </a:rPr>
              <a:t>(</a:t>
            </a:r>
            <a:r>
              <a:rPr sz="900" b="0" i="0">
                <a:solidFill>
                  <a:srgbClr val="9BE3A8"/>
                </a:solidFill>
                <a:latin typeface="Courier New"/>
              </a:rPr>
              <a:t>'Hello'</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'spam/eggs/file2.txt'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write_text</a:t>
            </a:r>
            <a:r>
              <a:rPr sz="900" b="0" i="0">
                <a:solidFill>
                  <a:srgbClr val="E6EDF3"/>
                </a:solidFill>
                <a:latin typeface="Courier New"/>
              </a:rPr>
              <a:t>(</a:t>
            </a:r>
            <a:r>
              <a:rPr sz="900" b="0" i="0">
                <a:solidFill>
                  <a:srgbClr val="9BE3A8"/>
                </a:solidFill>
                <a:latin typeface="Courier New"/>
              </a:rPr>
              <a:t>'Hi'</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backup_to_zip</a:t>
            </a:r>
            <a:r>
              <a:rPr sz="900" b="0" i="0">
                <a:solidFill>
                  <a:srgbClr val="E6EDF3"/>
                </a:solidFill>
                <a:latin typeface="Courier New"/>
              </a:rPr>
              <a:t>(</a:t>
            </a:r>
            <a:r>
              <a:rPr sz="900" b="0" i="0">
                <a:solidFill>
                  <a:srgbClr val="9BE3A8"/>
                </a:solidFill>
                <a:latin typeface="Courier New"/>
              </a:rPr>
              <a:t>'spam'</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backup_to_zip</a:t>
            </a:r>
            <a:r>
              <a:rPr sz="900" b="0" i="0">
                <a:solidFill>
                  <a:srgbClr val="E6EDF3"/>
                </a:solidFill>
                <a:latin typeface="Courier New"/>
              </a:rPr>
              <a:t>(</a:t>
            </a:r>
            <a:r>
              <a:rPr sz="900" b="0" i="0">
                <a:solidFill>
                  <a:srgbClr val="9BE3A8"/>
                </a:solidFill>
                <a:latin typeface="Courier New"/>
              </a:rPr>
              <a:t>'spam'</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with</a:t>
            </a:r>
            <a:r>
              <a:rPr sz="900" b="0" i="0">
                <a:solidFill>
                  <a:srgbClr val="E6EDF3"/>
                </a:solidFill>
                <a:latin typeface="Courier New"/>
              </a:rPr>
              <a:t> </a:t>
            </a:r>
            <a:r>
              <a:rPr sz="900" b="0" i="0">
                <a:solidFill>
                  <a:srgbClr val="E6EDF3"/>
                </a:solidFill>
                <a:latin typeface="Courier New"/>
              </a:rPr>
              <a:t>zipfile</a:t>
            </a:r>
            <a:r>
              <a:rPr sz="900" b="0" i="0">
                <a:solidFill>
                  <a:srgbClr val="E6EDF3"/>
                </a:solidFill>
                <a:latin typeface="Courier New"/>
              </a:rPr>
              <a:t>.</a:t>
            </a:r>
            <a:r>
              <a:rPr sz="900" b="0" i="0">
                <a:solidFill>
                  <a:srgbClr val="E6EDF3"/>
                </a:solidFill>
                <a:latin typeface="Courier New"/>
              </a:rPr>
              <a:t>ZipFile</a:t>
            </a:r>
            <a:r>
              <a:rPr sz="900" b="0" i="0">
                <a:solidFill>
                  <a:srgbClr val="E6EDF3"/>
                </a:solidFill>
                <a:latin typeface="Courier New"/>
              </a:rPr>
              <a:t>(</a:t>
            </a:r>
            <a:r>
              <a:rPr sz="900" b="0" i="0">
                <a:solidFill>
                  <a:srgbClr val="9BE3A8"/>
                </a:solidFill>
                <a:latin typeface="Courier New"/>
              </a:rPr>
              <a:t>'spam_1.zip'</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as</a:t>
            </a:r>
            <a:r>
              <a:rPr sz="900" b="0" i="0">
                <a:solidFill>
                  <a:srgbClr val="E6EDF3"/>
                </a:solidFill>
                <a:latin typeface="Courier New"/>
              </a:rPr>
              <a:t> </a:t>
            </a:r>
            <a:r>
              <a:rPr sz="900" b="0" i="0">
                <a:solidFill>
                  <a:srgbClr val="E6EDF3"/>
                </a:solidFill>
                <a:latin typeface="Courier New"/>
              </a:rPr>
              <a:t>z</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sorted</a:t>
            </a:r>
            <a:r>
              <a:rPr sz="900" b="0" i="0">
                <a:solidFill>
                  <a:srgbClr val="E6EDF3"/>
                </a:solidFill>
                <a:latin typeface="Courier New"/>
              </a:rPr>
              <a:t>(</a:t>
            </a:r>
            <a:r>
              <a:rPr sz="900" b="0" i="0">
                <a:solidFill>
                  <a:srgbClr val="E6EDF3"/>
                </a:solidFill>
                <a:latin typeface="Courier New"/>
              </a:rPr>
              <a:t>z</a:t>
            </a:r>
            <a:r>
              <a:rPr sz="900" b="0" i="0">
                <a:solidFill>
                  <a:srgbClr val="E6EDF3"/>
                </a:solidFill>
                <a:latin typeface="Courier New"/>
              </a:rPr>
              <a:t>.</a:t>
            </a:r>
            <a:r>
              <a:rPr sz="900" b="0" i="0">
                <a:solidFill>
                  <a:srgbClr val="E6EDF3"/>
                </a:solidFill>
                <a:latin typeface="Courier New"/>
              </a:rPr>
              <a:t>namelist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365760" y="4324540"/>
            <a:ext cx="5257800" cy="239839"/>
          </a:xfrm>
          <a:prstGeom prst="rect">
            <a:avLst/>
          </a:prstGeom>
          <a:noFill/>
        </p:spPr>
        <p:txBody>
          <a:bodyPr wrap="square" lIns="109728" rIns="109728" tIns="18288" bIns="18288" anchor="ctr">
            <a:spAutoFit/>
          </a:bodyPr>
          <a:lstStyle/>
          <a:p>
            <a:r>
              <a:rPr sz="1050" b="0" i="0">
                <a:solidFill>
                  <a:srgbClr val="1F2933"/>
                </a:solidFill>
                <a:latin typeface="Calibri"/>
              </a:rPr>
              <a:t>Two runs make spam_1.zip and spam_2.zip, each with both files.</a:t>
            </a:r>
          </a:p>
        </p:txBody>
      </p:sp>
      <p:sp>
        <p:nvSpPr>
          <p:cNvPr id="10" name="result label"/>
          <p:cNvSpPr txBox="1"/>
          <p:nvPr/>
        </p:nvSpPr>
        <p:spPr>
          <a:xfrm>
            <a:off x="5806440" y="822960"/>
            <a:ext cx="2971800" cy="237744"/>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11" name="Rounded Rectangle 10"/>
          <p:cNvSpPr/>
          <p:nvPr/>
        </p:nvSpPr>
        <p:spPr>
          <a:xfrm>
            <a:off x="5806440" y="1097280"/>
            <a:ext cx="731520" cy="25603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spam</a:t>
            </a:r>
          </a:p>
        </p:txBody>
      </p:sp>
      <p:sp>
        <p:nvSpPr>
          <p:cNvPr id="12" name="Rounded Rectangle 11"/>
          <p:cNvSpPr/>
          <p:nvPr/>
        </p:nvSpPr>
        <p:spPr>
          <a:xfrm>
            <a:off x="6858000" y="1097280"/>
            <a:ext cx="731520"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eggs</a:t>
            </a:r>
          </a:p>
        </p:txBody>
      </p:sp>
      <p:sp>
        <p:nvSpPr>
          <p:cNvPr id="13" name="Rounded Rectangle 12"/>
          <p:cNvSpPr/>
          <p:nvPr/>
        </p:nvSpPr>
        <p:spPr>
          <a:xfrm>
            <a:off x="7909559" y="1097280"/>
            <a:ext cx="731520"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file2.txt</a:t>
            </a:r>
          </a:p>
        </p:txBody>
      </p:sp>
      <p:sp>
        <p:nvSpPr>
          <p:cNvPr id="14" name="Rounded Rectangle 13"/>
          <p:cNvSpPr/>
          <p:nvPr/>
        </p:nvSpPr>
        <p:spPr>
          <a:xfrm>
            <a:off x="6858000" y="1463040"/>
            <a:ext cx="731520"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file1.txt</a:t>
            </a:r>
          </a:p>
        </p:txBody>
      </p:sp>
      <p:cxnSp>
        <p:nvCxnSpPr>
          <p:cNvPr id="15" name="arrow"/>
          <p:cNvCxnSpPr/>
          <p:nvPr/>
        </p:nvCxnSpPr>
        <p:spPr>
          <a:xfrm>
            <a:off x="6537959" y="1225295"/>
            <a:ext cx="320041"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p:cNvCxnSpPr/>
          <p:nvPr/>
        </p:nvCxnSpPr>
        <p:spPr>
          <a:xfrm>
            <a:off x="7589520" y="1225295"/>
            <a:ext cx="320039" cy="0"/>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arrow"/>
          <p:cNvCxnSpPr/>
          <p:nvPr/>
        </p:nvCxnSpPr>
        <p:spPr>
          <a:xfrm>
            <a:off x="6537959" y="1225295"/>
            <a:ext cx="320041" cy="365761"/>
          </a:xfrm>
          <a:prstGeom prst="line">
            <a:avLst/>
          </a:prstGeom>
          <a:ln w="1397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06440" y="1874519"/>
            <a:ext cx="2971800" cy="237744"/>
          </a:xfrm>
          <a:prstGeom prst="rect">
            <a:avLst/>
          </a:prstGeom>
          <a:noFill/>
        </p:spPr>
        <p:txBody>
          <a:bodyPr wrap="square" lIns="45720" rIns="45720" tIns="27432" bIns="27432" anchor="t">
            <a:spAutoFit/>
          </a:bodyPr>
          <a:lstStyle/>
          <a:p>
            <a:r>
              <a:rPr sz="900" b="0" i="1">
                <a:solidFill>
                  <a:srgbClr val="5B6773"/>
                </a:solidFill>
                <a:latin typeface="Calibri"/>
              </a:rPr>
              <a:t>the folder to back up</a:t>
            </a:r>
          </a:p>
        </p:txBody>
      </p:sp>
      <p:sp>
        <p:nvSpPr>
          <p:cNvPr id="19" name="Rounded Rectangle 18"/>
          <p:cNvSpPr/>
          <p:nvPr/>
        </p:nvSpPr>
        <p:spPr>
          <a:xfrm>
            <a:off x="5806440" y="2240280"/>
            <a:ext cx="128016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spam_1.zip</a:t>
            </a:r>
          </a:p>
        </p:txBody>
      </p:sp>
      <p:sp>
        <p:nvSpPr>
          <p:cNvPr id="20" name="Rounded Rectangle 19"/>
          <p:cNvSpPr/>
          <p:nvPr/>
        </p:nvSpPr>
        <p:spPr>
          <a:xfrm>
            <a:off x="7360919" y="2240280"/>
            <a:ext cx="128016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spam_2.zip</a:t>
            </a:r>
          </a:p>
        </p:txBody>
      </p:sp>
      <p:cxnSp>
        <p:nvCxnSpPr>
          <p:cNvPr id="21" name="arrow"/>
          <p:cNvCxnSpPr/>
          <p:nvPr/>
        </p:nvCxnSpPr>
        <p:spPr>
          <a:xfrm>
            <a:off x="7086600" y="2377439"/>
            <a:ext cx="274319" cy="0"/>
          </a:xfrm>
          <a:prstGeom prst="line">
            <a:avLst/>
          </a:prstGeom>
          <a:ln w="1778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06440" y="2560320"/>
            <a:ext cx="2971800" cy="237744"/>
          </a:xfrm>
          <a:prstGeom prst="rect">
            <a:avLst/>
          </a:prstGeom>
          <a:noFill/>
        </p:spPr>
        <p:txBody>
          <a:bodyPr wrap="square" lIns="45720" rIns="45720" tIns="27432" bIns="27432" anchor="t">
            <a:spAutoFit/>
          </a:bodyPr>
          <a:lstStyle/>
          <a:p>
            <a:r>
              <a:rPr sz="900" b="0" i="1">
                <a:solidFill>
                  <a:srgbClr val="5B6773"/>
                </a:solidFill>
                <a:latin typeface="Calibri"/>
              </a:rPr>
              <a:t>first run, then second run</a:t>
            </a:r>
          </a:p>
        </p:txBody>
      </p:sp>
      <p:graphicFrame>
        <p:nvGraphicFramePr>
          <p:cNvPr id="23" name="table"/>
          <p:cNvGraphicFramePr>
            <a:graphicFrameLocks noGrp="1"/>
          </p:cNvGraphicFramePr>
          <p:nvPr/>
        </p:nvGraphicFramePr>
        <p:xfrm>
          <a:off x="5806440" y="2971800"/>
          <a:ext cx="2971800" cy="822960"/>
        </p:xfrm>
        <a:graphic>
          <a:graphicData uri="http://schemas.openxmlformats.org/drawingml/2006/table">
            <a:tbl>
              <a:tblPr firstRow="0" bandRow="0"/>
              <a:tblGrid>
                <a:gridCol w="2971800"/>
              </a:tblGrid>
              <a:tr h="274320">
                <a:tc>
                  <a:txBody>
                    <a:bodyPr wrap="square"/>
                    <a:lstStyle/>
                    <a:p>
                      <a:r>
                        <a:rPr sz="1000" b="1" i="0">
                          <a:solidFill>
                            <a:srgbClr val="FFFFFF"/>
                          </a:solidFill>
                          <a:latin typeface="Calibri"/>
                        </a:rPr>
                        <a:t>Members of spam_1.zip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spam/eggs/file2.txt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spam/file1.txt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24" name="chart"/>
          <p:cNvGraphicFramePr>
            <a:graphicFrameLocks noGrp="1"/>
          </p:cNvGraphicFramePr>
          <p:nvPr/>
        </p:nvGraphicFramePr>
        <p:xfrm>
          <a:off x="5806440" y="3886200"/>
          <a:ext cx="2971800" cy="731520"/>
        </p:xfrm>
        <a:graphic>
          <a:graphicData uri="http://schemas.openxmlformats.org/drawingml/2006/chart">
            <c:chart xmlns:c="http://schemas.openxmlformats.org/drawingml/2006/chart" r:id="rId3"/>
          </a:graphicData>
        </a:graphic>
      </p:graphicFrame>
      <p:sp>
        <p:nvSpPr>
          <p:cNvPr id="2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Walk, write, count: a numbered backup.</a:t>
            </a:r>
          </a:p>
        </p:txBody>
      </p:sp>
      <p:sp>
        <p:nvSpPr>
          <p:cNvPr id="2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copy every PDF of a tree</a:t>
            </a:r>
          </a:p>
        </p:txBody>
      </p:sp>
      <p:sp>
        <p:nvSpPr>
          <p:cNvPr id="4" name="code"/>
          <p:cNvSpPr/>
          <p:nvPr/>
        </p:nvSpPr>
        <p:spPr>
          <a:xfrm>
            <a:off x="365760" y="822960"/>
            <a:ext cx="5257800" cy="9027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C9A0FF"/>
                </a:solidFill>
                <a:latin typeface="Courier New"/>
              </a:rPr>
              <a:t>from</a:t>
            </a:r>
            <a:r>
              <a:rPr sz="1000" b="0" i="0">
                <a:solidFill>
                  <a:srgbClr val="E6EDF3"/>
                </a:solidFill>
                <a:latin typeface="Courier New"/>
              </a:rPr>
              <a:t> </a:t>
            </a:r>
            <a:r>
              <a:rPr sz="1000" b="0" i="0">
                <a:solidFill>
                  <a:srgbClr val="E6EDF3"/>
                </a:solidFill>
                <a:latin typeface="Courier New"/>
              </a:rPr>
              <a:t>pathlib</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Path</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d</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'src/a'</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'src/b'</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'dest'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mkdir</a:t>
            </a:r>
            <a:r>
              <a:rPr sz="1000" b="0" i="0">
                <a:solidFill>
                  <a:srgbClr val="E6EDF3"/>
                </a:solidFill>
                <a:latin typeface="Courier New"/>
              </a:rPr>
              <a:t>(</a:t>
            </a:r>
            <a:r>
              <a:rPr sz="1000" b="0" i="0">
                <a:solidFill>
                  <a:srgbClr val="E6EDF3"/>
                </a:solidFill>
                <a:latin typeface="Courier New"/>
              </a:rPr>
              <a:t>parents</a:t>
            </a:r>
            <a:r>
              <a:rPr sz="1000" b="0" i="0">
                <a:solidFill>
                  <a:srgbClr val="E6EDF3"/>
                </a:solidFill>
                <a:latin typeface="Courier New"/>
              </a:rPr>
              <a:t>=</a:t>
            </a:r>
            <a:r>
              <a:rPr sz="1000" b="0" i="0">
                <a:solidFill>
                  <a:srgbClr val="E6EDF3"/>
                </a:solidFill>
                <a:latin typeface="Courier New"/>
              </a:rPr>
              <a:t>True</a:t>
            </a:r>
            <a:r>
              <a:rPr sz="1000" b="0" i="0">
                <a:solidFill>
                  <a:srgbClr val="E6EDF3"/>
                </a:solidFill>
                <a:latin typeface="Courier New"/>
              </a:rPr>
              <a:t>)</a:t>
            </a:r>
          </a:p>
        </p:txBody>
      </p:sp>
      <p:sp>
        <p:nvSpPr>
          <p:cNvPr id="5" name="explanation"/>
          <p:cNvSpPr txBox="1"/>
          <p:nvPr/>
        </p:nvSpPr>
        <p:spPr>
          <a:xfrm>
            <a:off x="365760" y="1734820"/>
            <a:ext cx="5257800" cy="247777"/>
          </a:xfrm>
          <a:prstGeom prst="rect">
            <a:avLst/>
          </a:prstGeom>
          <a:noFill/>
        </p:spPr>
        <p:txBody>
          <a:bodyPr wrap="square" lIns="109728" rIns="109728" tIns="18288" bIns="18288" anchor="ctr">
            <a:spAutoFit/>
          </a:bodyPr>
          <a:lstStyle/>
          <a:p>
            <a:r>
              <a:rPr sz="1100" b="0" i="0">
                <a:solidFill>
                  <a:srgbClr val="1F2933"/>
                </a:solidFill>
                <a:latin typeface="Calibri"/>
              </a:rPr>
              <a:t>A new temporary folder, with a source tree and an empty dest folder.</a:t>
            </a:r>
          </a:p>
        </p:txBody>
      </p:sp>
      <p:sp>
        <p:nvSpPr>
          <p:cNvPr id="6" name="code"/>
          <p:cNvSpPr/>
          <p:nvPr/>
        </p:nvSpPr>
        <p:spPr>
          <a:xfrm>
            <a:off x="365760" y="2019173"/>
            <a:ext cx="5257800" cy="592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files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'src/one.pdf'</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'src/a/two.PDF'</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9BE3A8"/>
                </a:solidFill>
                <a:latin typeface="Courier New"/>
              </a:rPr>
              <a:t>'src/b/three.txt'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'src/b/four.pdf'</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files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write_text</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a:t>
            </a:r>
          </a:p>
        </p:txBody>
      </p:sp>
      <p:sp>
        <p:nvSpPr>
          <p:cNvPr id="7" name="explanation"/>
          <p:cNvSpPr txBox="1"/>
          <p:nvPr/>
        </p:nvSpPr>
        <p:spPr>
          <a:xfrm>
            <a:off x="365760" y="2621153"/>
            <a:ext cx="5257800" cy="247777"/>
          </a:xfrm>
          <a:prstGeom prst="rect">
            <a:avLst/>
          </a:prstGeom>
          <a:noFill/>
        </p:spPr>
        <p:txBody>
          <a:bodyPr wrap="square" lIns="109728" rIns="109728" tIns="18288" bIns="18288" anchor="ctr">
            <a:spAutoFit/>
          </a:bodyPr>
          <a:lstStyle/>
          <a:p>
            <a:r>
              <a:rPr sz="1100" b="0" i="0">
                <a:solidFill>
                  <a:srgbClr val="1F2933"/>
                </a:solidFill>
                <a:latin typeface="Calibri"/>
              </a:rPr>
              <a:t>Four files: three PDFs, one with capital letters, and one text file.</a:t>
            </a:r>
          </a:p>
        </p:txBody>
      </p:sp>
      <p:sp>
        <p:nvSpPr>
          <p:cNvPr id="8" name="code"/>
          <p:cNvSpPr/>
          <p:nvPr/>
        </p:nvSpPr>
        <p:spPr>
          <a:xfrm>
            <a:off x="365760" y="2905506"/>
            <a:ext cx="5257800" cy="74777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subs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files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walk</a:t>
            </a:r>
            <a:r>
              <a:rPr sz="1000" b="0" i="0">
                <a:solidFill>
                  <a:srgbClr val="E6EDF3"/>
                </a:solidFill>
                <a:latin typeface="Courier New"/>
              </a:rPr>
              <a:t>(</a:t>
            </a:r>
            <a:r>
              <a:rPr sz="1000" b="0" i="0">
                <a:solidFill>
                  <a:srgbClr val="9BE3A8"/>
                </a:solidFill>
                <a:latin typeface="Courier New"/>
              </a:rPr>
              <a:t>'src'</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files</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lower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endswith</a:t>
            </a:r>
            <a:r>
              <a:rPr sz="1000" b="0" i="0">
                <a:solidFill>
                  <a:srgbClr val="E6EDF3"/>
                </a:solidFill>
                <a:latin typeface="Courier New"/>
              </a:rPr>
              <a:t>(</a:t>
            </a:r>
            <a:r>
              <a:rPr sz="1000" b="0" i="0">
                <a:solidFill>
                  <a:srgbClr val="9BE3A8"/>
                </a:solidFill>
                <a:latin typeface="Courier New"/>
              </a:rPr>
              <a:t>'.pdf'</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 </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copy</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'dest'</a:t>
            </a:r>
            <a:r>
              <a:rPr sz="1000" b="0" i="0">
                <a:solidFill>
                  <a:srgbClr val="E6EDF3"/>
                </a:solidFill>
                <a:latin typeface="Courier New"/>
              </a:rPr>
              <a:t>)</a:t>
            </a:r>
          </a:p>
        </p:txBody>
      </p:sp>
      <p:sp>
        <p:nvSpPr>
          <p:cNvPr id="9" name="explanation"/>
          <p:cNvSpPr txBox="1"/>
          <p:nvPr/>
        </p:nvSpPr>
        <p:spPr>
          <a:xfrm>
            <a:off x="365760" y="3662426"/>
            <a:ext cx="5257800" cy="247777"/>
          </a:xfrm>
          <a:prstGeom prst="rect">
            <a:avLst/>
          </a:prstGeom>
          <a:noFill/>
        </p:spPr>
        <p:txBody>
          <a:bodyPr wrap="square" lIns="109728" rIns="109728" tIns="18288" bIns="18288" anchor="ctr">
            <a:spAutoFit/>
          </a:bodyPr>
          <a:lstStyle/>
          <a:p>
            <a:r>
              <a:rPr sz="1100" b="0" i="0">
                <a:solidFill>
                  <a:srgbClr val="1F2933"/>
                </a:solidFill>
                <a:latin typeface="Calibri"/>
              </a:rPr>
              <a:t>Walk the tree and copy each PDF; lower() ignores capitals.</a:t>
            </a:r>
          </a:p>
        </p:txBody>
      </p:sp>
      <p:sp>
        <p:nvSpPr>
          <p:cNvPr id="10" name="code"/>
          <p:cNvSpPr/>
          <p:nvPr/>
        </p:nvSpPr>
        <p:spPr>
          <a:xfrm>
            <a:off x="365760" y="3946779"/>
            <a:ext cx="5257800" cy="437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sorted</a:t>
            </a:r>
            <a:r>
              <a:rPr sz="1000" b="0" i="0">
                <a:solidFill>
                  <a:srgbClr val="E6EDF3"/>
                </a:solidFill>
                <a:latin typeface="Courier New"/>
              </a:rPr>
              <a:t>(</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listdir</a:t>
            </a:r>
            <a:r>
              <a:rPr sz="1000" b="0" i="0">
                <a:solidFill>
                  <a:srgbClr val="E6EDF3"/>
                </a:solidFill>
                <a:latin typeface="Courier New"/>
              </a:rPr>
              <a:t>(</a:t>
            </a:r>
            <a:r>
              <a:rPr sz="1000" b="0" i="0">
                <a:solidFill>
                  <a:srgbClr val="9BE3A8"/>
                </a:solidFill>
                <a:latin typeface="Courier New"/>
              </a:rPr>
              <a:t>'dest'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sorted</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_</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_</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walk</a:t>
            </a:r>
            <a:r>
              <a:rPr sz="1000" b="0" i="0">
                <a:solidFill>
                  <a:srgbClr val="E6EDF3"/>
                </a:solidFill>
                <a:latin typeface="Courier New"/>
              </a:rPr>
              <a:t>(</a:t>
            </a:r>
            <a:r>
              <a:rPr sz="1000" b="0" i="0">
                <a:solidFill>
                  <a:srgbClr val="9BE3A8"/>
                </a:solidFill>
                <a:latin typeface="Courier New"/>
              </a:rPr>
              <a:t>'src'</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fs</a:t>
            </a:r>
            <a:r>
              <a:rPr sz="1000" b="0" i="0">
                <a:solidFill>
                  <a:srgbClr val="E6EDF3"/>
                </a:solidFill>
                <a:latin typeface="Courier New"/>
              </a:rPr>
              <a:t>)</a:t>
            </a:r>
            <a:r>
              <a:rPr sz="1000" b="0" i="0">
                <a:solidFill>
                  <a:srgbClr val="E6EDF3"/>
                </a:solidFill>
                <a:latin typeface="Courier New"/>
              </a:rPr>
              <a:t>)</a:t>
            </a:r>
          </a:p>
        </p:txBody>
      </p:sp>
      <p:sp>
        <p:nvSpPr>
          <p:cNvPr id="11" name="explanation"/>
          <p:cNvSpPr txBox="1"/>
          <p:nvPr/>
        </p:nvSpPr>
        <p:spPr>
          <a:xfrm>
            <a:off x="365760" y="4393819"/>
            <a:ext cx="5257800" cy="247777"/>
          </a:xfrm>
          <a:prstGeom prst="rect">
            <a:avLst/>
          </a:prstGeom>
          <a:noFill/>
        </p:spPr>
        <p:txBody>
          <a:bodyPr wrap="square" lIns="109728" rIns="109728" tIns="18288" bIns="18288" anchor="ctr">
            <a:spAutoFit/>
          </a:bodyPr>
          <a:lstStyle/>
          <a:p>
            <a:r>
              <a:rPr sz="1100" b="0" i="0">
                <a:solidFill>
                  <a:srgbClr val="1F2933"/>
                </a:solidFill>
                <a:latin typeface="Calibri"/>
              </a:rPr>
              <a:t>The copies are in dest, and the source keeps all four files.</a:t>
            </a:r>
          </a:p>
        </p:txBody>
      </p:sp>
      <p:sp>
        <p:nvSpPr>
          <p:cNvPr id="12" name="result label"/>
          <p:cNvSpPr txBox="1"/>
          <p:nvPr/>
        </p:nvSpPr>
        <p:spPr>
          <a:xfrm>
            <a:off x="5806440" y="822960"/>
            <a:ext cx="2971800" cy="237744"/>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13" name="chart"/>
          <p:cNvGraphicFramePr>
            <a:graphicFrameLocks noGrp="1"/>
          </p:cNvGraphicFramePr>
          <p:nvPr/>
        </p:nvGraphicFramePr>
        <p:xfrm>
          <a:off x="5806440" y="1097280"/>
          <a:ext cx="2971800" cy="1645920"/>
        </p:xfrm>
        <a:graphic>
          <a:graphicData uri="http://schemas.openxmlformats.org/drawingml/2006/chart">
            <c:chart xmlns:c="http://schemas.openxmlformats.org/drawingml/2006/chart" r:id="rId3"/>
          </a:graphicData>
        </a:graphic>
      </p:graphicFrame>
      <p:graphicFrame>
        <p:nvGraphicFramePr>
          <p:cNvPr id="14" name="table"/>
          <p:cNvGraphicFramePr>
            <a:graphicFrameLocks noGrp="1"/>
          </p:cNvGraphicFramePr>
          <p:nvPr/>
        </p:nvGraphicFramePr>
        <p:xfrm>
          <a:off x="5806440" y="2880360"/>
          <a:ext cx="2971799" cy="1371600"/>
        </p:xfrm>
        <a:graphic>
          <a:graphicData uri="http://schemas.openxmlformats.org/drawingml/2006/table">
            <a:tbl>
              <a:tblPr firstRow="0" bandRow="0"/>
              <a:tblGrid>
                <a:gridCol w="1578768"/>
                <a:gridCol w="650081"/>
                <a:gridCol w="742950"/>
              </a:tblGrid>
              <a:tr h="274320">
                <a:tc>
                  <a:txBody>
                    <a:bodyPr wrap="square"/>
                    <a:lstStyle/>
                    <a:p>
                      <a:r>
                        <a:rPr sz="1000" b="1" i="0">
                          <a:solidFill>
                            <a:srgbClr val="FFFFFF"/>
                          </a:solidFill>
                          <a:latin typeface="Calibri"/>
                        </a:rPr>
                        <a:t>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src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Copied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four.pdf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one.pdf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three.txt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8A8F98"/>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two.PDF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Walk, test the extension, copy.</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find the big files</a:t>
            </a:r>
          </a:p>
        </p:txBody>
      </p:sp>
      <p:sp>
        <p:nvSpPr>
          <p:cNvPr id="4" name="code"/>
          <p:cNvSpPr/>
          <p:nvPr/>
        </p:nvSpPr>
        <p:spPr>
          <a:xfrm>
            <a:off x="365760" y="822960"/>
            <a:ext cx="5257800" cy="9646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shutil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p>
          <a:p>
            <a:pPr algn="l"/>
            <a:r>
              <a:rPr sz="900" b="0" i="0">
                <a:solidFill>
                  <a:srgbClr val="8FA3B8"/>
                </a:solidFill>
                <a:latin typeface="Courier New"/>
              </a:rPr>
              <a:t>&gt;&gt;&gt; </a:t>
            </a:r>
            <a:r>
              <a:rPr sz="900" b="0" i="0">
                <a:solidFill>
                  <a:srgbClr val="C9A0FF"/>
                </a:solidFill>
                <a:latin typeface="Courier New"/>
              </a:rPr>
              <a:t>from</a:t>
            </a:r>
            <a:r>
              <a:rPr sz="900" b="0" i="0">
                <a:solidFill>
                  <a:srgbClr val="E6EDF3"/>
                </a:solidFill>
                <a:latin typeface="Courier New"/>
              </a:rPr>
              <a:t> </a:t>
            </a:r>
            <a:r>
              <a:rPr sz="900" b="0" i="0">
                <a:solidFill>
                  <a:srgbClr val="E6EDF3"/>
                </a:solidFill>
                <a:latin typeface="Courier New"/>
              </a:rPr>
              <a:t>pathlib</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Path</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a:t>
            </a:r>
            <a:r>
              <a:rPr sz="900" b="0" i="0">
                <a:solidFill>
                  <a:srgbClr val="9BE3A8"/>
                </a:solidFill>
                <a:latin typeface="Courier New"/>
              </a:rPr>
              <a:t>'sub'</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mkdir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sizes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'big.bin'</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3000</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'mid.bin'</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1200</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9BE3A8"/>
                </a:solidFill>
                <a:latin typeface="Courier New"/>
              </a:rPr>
              <a:t>'tiny.txt'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40</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'sub/huge.bin'</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9000</a:t>
            </a:r>
            <a:r>
              <a:rPr sz="900" b="0" i="0">
                <a:solidFill>
                  <a:srgbClr val="E6EDF3"/>
                </a:solidFill>
                <a:latin typeface="Courier New"/>
              </a:rPr>
              <a:t>}</a:t>
            </a:r>
          </a:p>
        </p:txBody>
      </p:sp>
      <p:sp>
        <p:nvSpPr>
          <p:cNvPr id="5" name="explanation"/>
          <p:cNvSpPr txBox="1"/>
          <p:nvPr/>
        </p:nvSpPr>
        <p:spPr>
          <a:xfrm>
            <a:off x="365760" y="1796796"/>
            <a:ext cx="5257800" cy="239839"/>
          </a:xfrm>
          <a:prstGeom prst="rect">
            <a:avLst/>
          </a:prstGeom>
          <a:noFill/>
        </p:spPr>
        <p:txBody>
          <a:bodyPr wrap="square" lIns="109728" rIns="109728" tIns="18288" bIns="18288" anchor="ctr">
            <a:spAutoFit/>
          </a:bodyPr>
          <a:lstStyle/>
          <a:p>
            <a:r>
              <a:rPr sz="1050" b="0" i="0">
                <a:solidFill>
                  <a:srgbClr val="1F2933"/>
                </a:solidFill>
                <a:latin typeface="Calibri"/>
              </a:rPr>
              <a:t>A new temporary folder, and four sizes in bytes; one file sits in sub.</a:t>
            </a:r>
          </a:p>
        </p:txBody>
      </p:sp>
      <p:sp>
        <p:nvSpPr>
          <p:cNvPr id="6" name="code"/>
          <p:cNvSpPr/>
          <p:nvPr/>
        </p:nvSpPr>
        <p:spPr>
          <a:xfrm>
            <a:off x="365760" y="2073211"/>
            <a:ext cx="5257800" cy="40690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name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size</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sizes</a:t>
            </a:r>
            <a:r>
              <a:rPr sz="900" b="0" i="0">
                <a:solidFill>
                  <a:srgbClr val="E6EDF3"/>
                </a:solidFill>
                <a:latin typeface="Courier New"/>
              </a:rPr>
              <a:t>.</a:t>
            </a:r>
            <a:r>
              <a:rPr sz="900" b="0" i="0">
                <a:solidFill>
                  <a:srgbClr val="E6EDF3"/>
                </a:solidFill>
                <a:latin typeface="Courier New"/>
              </a:rPr>
              <a:t>items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write_bytes</a:t>
            </a:r>
            <a:r>
              <a:rPr sz="900" b="0" i="0">
                <a:solidFill>
                  <a:srgbClr val="E6EDF3"/>
                </a:solidFill>
                <a:latin typeface="Courier New"/>
              </a:rPr>
              <a:t>(</a:t>
            </a:r>
            <a:r>
              <a:rPr sz="900" b="0" i="0">
                <a:solidFill>
                  <a:srgbClr val="E6EDF3"/>
                </a:solidFill>
                <a:latin typeface="Courier New"/>
              </a:rPr>
              <a:t>b</a:t>
            </a:r>
            <a:r>
              <a:rPr sz="900" b="0" i="0">
                <a:solidFill>
                  <a:srgbClr val="9BE3A8"/>
                </a:solidFill>
                <a:latin typeface="Courier New"/>
              </a:rPr>
              <a:t>'x'</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size</a:t>
            </a:r>
            <a:r>
              <a:rPr sz="900" b="0" i="0">
                <a:solidFill>
                  <a:srgbClr val="E6EDF3"/>
                </a:solidFill>
                <a:latin typeface="Courier New"/>
              </a:rPr>
              <a:t>)</a:t>
            </a:r>
          </a:p>
        </p:txBody>
      </p:sp>
      <p:sp>
        <p:nvSpPr>
          <p:cNvPr id="7" name="explanation"/>
          <p:cNvSpPr txBox="1"/>
          <p:nvPr/>
        </p:nvSpPr>
        <p:spPr>
          <a:xfrm>
            <a:off x="365760" y="2489263"/>
            <a:ext cx="5257800" cy="239839"/>
          </a:xfrm>
          <a:prstGeom prst="rect">
            <a:avLst/>
          </a:prstGeom>
          <a:noFill/>
        </p:spPr>
        <p:txBody>
          <a:bodyPr wrap="square" lIns="109728" rIns="109728" tIns="18288" bIns="18288" anchor="ctr">
            <a:spAutoFit/>
          </a:bodyPr>
          <a:lstStyle/>
          <a:p>
            <a:r>
              <a:rPr sz="1050" b="0" i="0">
                <a:solidFill>
                  <a:srgbClr val="1F2933"/>
                </a:solidFill>
                <a:latin typeface="Calibri"/>
              </a:rPr>
              <a:t>Write each of the four files with that many bytes.</a:t>
            </a:r>
          </a:p>
        </p:txBody>
      </p:sp>
      <p:sp>
        <p:nvSpPr>
          <p:cNvPr id="8" name="code"/>
          <p:cNvSpPr/>
          <p:nvPr/>
        </p:nvSpPr>
        <p:spPr>
          <a:xfrm>
            <a:off x="365760" y="2765679"/>
            <a:ext cx="5257800" cy="68580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found</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folder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subs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files</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walk</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f</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files</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E6EDF3"/>
                </a:solidFill>
                <a:latin typeface="Courier New"/>
              </a:rPr>
              <a:t>path</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folder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a:t>
            </a:r>
            <a:r>
              <a:rPr sz="900" b="0" i="0">
                <a:solidFill>
                  <a:srgbClr val="E6EDF3"/>
                </a:solidFill>
                <a:latin typeface="Courier New"/>
              </a:rPr>
              <a:t>)</a:t>
            </a:r>
          </a:p>
        </p:txBody>
      </p:sp>
      <p:sp>
        <p:nvSpPr>
          <p:cNvPr id="9" name="explanation"/>
          <p:cNvSpPr txBox="1"/>
          <p:nvPr/>
        </p:nvSpPr>
        <p:spPr>
          <a:xfrm>
            <a:off x="365760" y="3460623"/>
            <a:ext cx="5257800" cy="239839"/>
          </a:xfrm>
          <a:prstGeom prst="rect">
            <a:avLst/>
          </a:prstGeom>
          <a:noFill/>
        </p:spPr>
        <p:txBody>
          <a:bodyPr wrap="square" lIns="109728" rIns="109728" tIns="18288" bIns="18288" anchor="ctr">
            <a:spAutoFit/>
          </a:bodyPr>
          <a:lstStyle/>
          <a:p>
            <a:r>
              <a:rPr sz="1050" b="0" i="0">
                <a:solidFill>
                  <a:srgbClr val="1F2933"/>
                </a:solidFill>
                <a:latin typeface="Calibri"/>
              </a:rPr>
              <a:t>Walk every folder of the tree, including the subfolder sub.</a:t>
            </a:r>
          </a:p>
        </p:txBody>
      </p:sp>
      <p:sp>
        <p:nvSpPr>
          <p:cNvPr id="10" name="code"/>
          <p:cNvSpPr/>
          <p:nvPr/>
        </p:nvSpPr>
        <p:spPr>
          <a:xfrm>
            <a:off x="365760" y="3737038"/>
            <a:ext cx="5257800" cy="68580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8FA3B8"/>
                </a:solidFill>
                <a:latin typeface="Courier New"/>
              </a:rPr>
              <a:t># continued</a:t>
            </a:r>
          </a:p>
          <a:p>
            <a:pPr algn="l"/>
            <a:r>
              <a:rPr sz="900" b="0" i="0">
                <a:solidFill>
                  <a:srgbClr val="8FA3B8"/>
                </a:solidFill>
                <a:latin typeface="Courier New"/>
              </a:rPr>
              <a:t>... </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&gt;</a:t>
            </a:r>
            <a:r>
              <a:rPr sz="900" b="0" i="0">
                <a:solidFill>
                  <a:srgbClr val="E6EDF3"/>
                </a:solidFill>
                <a:latin typeface="Courier New"/>
              </a:rPr>
              <a:t> </a:t>
            </a:r>
            <a:r>
              <a:rPr sz="900" b="0" i="0">
                <a:solidFill>
                  <a:srgbClr val="7CC4FF"/>
                </a:solidFill>
                <a:latin typeface="Courier New"/>
              </a:rPr>
              <a:t>1000</a:t>
            </a:r>
            <a:r>
              <a:rPr sz="900" b="0" i="0">
                <a:solidFill>
                  <a:srgbClr val="E6EDF3"/>
                </a:solidFill>
                <a:latin typeface="Courier New"/>
              </a:rPr>
              <a:t>:</a:t>
            </a:r>
          </a:p>
          <a:p>
            <a:pPr algn="l"/>
            <a:r>
              <a:rPr sz="900" b="0" i="0">
                <a:solidFill>
                  <a:srgbClr val="8FA3B8"/>
                </a:solidFill>
                <a:latin typeface="Courier New"/>
              </a:rPr>
              <a:t>... </a:t>
            </a:r>
            <a:r>
              <a:rPr sz="900" b="0" i="0">
                <a:solidFill>
                  <a:srgbClr val="E6EDF3"/>
                </a:solidFill>
                <a:latin typeface="Courier New"/>
              </a:rPr>
              <a:t>            </a:t>
            </a:r>
            <a:r>
              <a:rPr sz="900" b="0" i="0">
                <a:solidFill>
                  <a:srgbClr val="E6EDF3"/>
                </a:solidFill>
                <a:latin typeface="Courier New"/>
              </a:rPr>
              <a:t>found</a:t>
            </a:r>
            <a:r>
              <a:rPr sz="900" b="0" i="0">
                <a:solidFill>
                  <a:srgbClr val="E6EDF3"/>
                </a:solidFill>
                <a:latin typeface="Courier New"/>
              </a:rPr>
              <a:t>[</a:t>
            </a:r>
            <a:r>
              <a:rPr sz="900" b="0" i="0">
                <a:solidFill>
                  <a:srgbClr val="E6EDF3"/>
                </a:solidFill>
                <a:latin typeface="Courier New"/>
              </a:rPr>
              <a:t>str</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dict</a:t>
            </a:r>
            <a:r>
              <a:rPr sz="900" b="0" i="0">
                <a:solidFill>
                  <a:srgbClr val="E6EDF3"/>
                </a:solidFill>
                <a:latin typeface="Courier New"/>
              </a:rPr>
              <a:t>(</a:t>
            </a:r>
            <a:r>
              <a:rPr sz="900" b="0" i="0">
                <a:solidFill>
                  <a:srgbClr val="E6EDF3"/>
                </a:solidFill>
                <a:latin typeface="Courier New"/>
              </a:rPr>
              <a:t>sorted</a:t>
            </a:r>
            <a:r>
              <a:rPr sz="900" b="0" i="0">
                <a:solidFill>
                  <a:srgbClr val="E6EDF3"/>
                </a:solidFill>
                <a:latin typeface="Courier New"/>
              </a:rPr>
              <a:t>(</a:t>
            </a:r>
            <a:r>
              <a:rPr sz="900" b="0" i="0">
                <a:solidFill>
                  <a:srgbClr val="E6EDF3"/>
                </a:solidFill>
                <a:latin typeface="Courier New"/>
              </a:rPr>
              <a:t>found</a:t>
            </a:r>
            <a:r>
              <a:rPr sz="900" b="0" i="0">
                <a:solidFill>
                  <a:srgbClr val="E6EDF3"/>
                </a:solidFill>
                <a:latin typeface="Courier New"/>
              </a:rPr>
              <a:t>.</a:t>
            </a:r>
            <a:r>
              <a:rPr sz="900" b="0" i="0">
                <a:solidFill>
                  <a:srgbClr val="E6EDF3"/>
                </a:solidFill>
                <a:latin typeface="Courier New"/>
              </a:rPr>
              <a:t>items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key</a:t>
            </a:r>
            <a:r>
              <a:rPr sz="900" b="0" i="0">
                <a:solidFill>
                  <a:srgbClr val="E6EDF3"/>
                </a:solidFill>
                <a:latin typeface="Courier New"/>
              </a:rPr>
              <a:t>=</a:t>
            </a:r>
            <a:r>
              <a:rPr sz="900" b="0" i="0">
                <a:solidFill>
                  <a:srgbClr val="C9A0FF"/>
                </a:solidFill>
                <a:latin typeface="Courier New"/>
              </a:rPr>
              <a:t>lambda</a:t>
            </a:r>
            <a:r>
              <a:rPr sz="900" b="0" i="0">
                <a:solidFill>
                  <a:srgbClr val="E6EDF3"/>
                </a:solidFill>
                <a:latin typeface="Courier New"/>
              </a:rPr>
              <a:t> </a:t>
            </a:r>
            <a:r>
              <a:rPr sz="900" b="0" i="0">
                <a:solidFill>
                  <a:srgbClr val="E6EDF3"/>
                </a:solidFill>
                <a:latin typeface="Courier New"/>
              </a:rPr>
              <a:t>kv</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kv</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11" name="explanation"/>
          <p:cNvSpPr txBox="1"/>
          <p:nvPr/>
        </p:nvSpPr>
        <p:spPr>
          <a:xfrm>
            <a:off x="365760" y="4431982"/>
            <a:ext cx="5257800" cy="239839"/>
          </a:xfrm>
          <a:prstGeom prst="rect">
            <a:avLst/>
          </a:prstGeom>
          <a:noFill/>
        </p:spPr>
        <p:txBody>
          <a:bodyPr wrap="square" lIns="109728" rIns="109728" tIns="18288" bIns="18288" anchor="ctr">
            <a:spAutoFit/>
          </a:bodyPr>
          <a:lstStyle/>
          <a:p>
            <a:r>
              <a:rPr sz="1050" b="0" i="0">
                <a:solidFill>
                  <a:srgbClr val="1F2933"/>
                </a:solidFill>
                <a:latin typeface="Calibri"/>
              </a:rPr>
              <a:t>Keep the files above 1000 bytes, the biggest first.</a:t>
            </a:r>
          </a:p>
        </p:txBody>
      </p:sp>
      <p:sp>
        <p:nvSpPr>
          <p:cNvPr id="12" name="result label"/>
          <p:cNvSpPr txBox="1"/>
          <p:nvPr/>
        </p:nvSpPr>
        <p:spPr>
          <a:xfrm>
            <a:off x="5806440" y="822960"/>
            <a:ext cx="2971800" cy="237744"/>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13" name="chart"/>
          <p:cNvGraphicFramePr>
            <a:graphicFrameLocks noGrp="1"/>
          </p:cNvGraphicFramePr>
          <p:nvPr/>
        </p:nvGraphicFramePr>
        <p:xfrm>
          <a:off x="5806440" y="1097280"/>
          <a:ext cx="2971800" cy="1645920"/>
        </p:xfrm>
        <a:graphic>
          <a:graphicData uri="http://schemas.openxmlformats.org/drawingml/2006/chart">
            <c:chart xmlns:c="http://schemas.openxmlformats.org/drawingml/2006/chart" r:id="rId3"/>
          </a:graphicData>
        </a:graphic>
      </p:graphicFrame>
      <p:graphicFrame>
        <p:nvGraphicFramePr>
          <p:cNvPr id="14" name="table"/>
          <p:cNvGraphicFramePr>
            <a:graphicFrameLocks noGrp="1"/>
          </p:cNvGraphicFramePr>
          <p:nvPr/>
        </p:nvGraphicFramePr>
        <p:xfrm>
          <a:off x="5806440" y="2880360"/>
          <a:ext cx="2971799" cy="1371600"/>
        </p:xfrm>
        <a:graphic>
          <a:graphicData uri="http://schemas.openxmlformats.org/drawingml/2006/table">
            <a:tbl>
              <a:tblPr firstRow="0" bandRow="0"/>
              <a:tblGrid>
                <a:gridCol w="1300162"/>
                <a:gridCol w="650081"/>
                <a:gridCol w="1021556"/>
              </a:tblGrid>
              <a:tr h="274320">
                <a:tc>
                  <a:txBody>
                    <a:bodyPr wrap="square"/>
                    <a:lstStyle/>
                    <a:p>
                      <a:r>
                        <a:rPr sz="950" b="1" i="0">
                          <a:solidFill>
                            <a:srgbClr val="FFFFFF"/>
                          </a:solidFill>
                          <a:latin typeface="Calibri"/>
                        </a:rPr>
                        <a:t>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r"/>
                      <a:r>
                        <a:rPr sz="950" b="1" i="0">
                          <a:solidFill>
                            <a:srgbClr val="FFFFFF"/>
                          </a:solidFill>
                          <a:latin typeface="Calibri"/>
                        </a:rPr>
                        <a:t>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Above 1000?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big.bin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950" b="0" i="0">
                          <a:solidFill>
                            <a:srgbClr val="1F2933"/>
                          </a:solidFill>
                          <a:latin typeface="Courier New"/>
                        </a:rPr>
                        <a:t>3000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mid.bin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950" b="0" i="0">
                          <a:solidFill>
                            <a:srgbClr val="1F2933"/>
                          </a:solidFill>
                          <a:latin typeface="Courier New"/>
                        </a:rPr>
                        <a:t>1200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sub/huge.bin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r"/>
                      <a:r>
                        <a:rPr sz="950" b="0" i="0">
                          <a:solidFill>
                            <a:srgbClr val="1F2933"/>
                          </a:solidFill>
                          <a:latin typeface="Courier New"/>
                        </a:rPr>
                        <a:t>9000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tiny.txt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r"/>
                      <a:r>
                        <a:rPr sz="95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8A8F98"/>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Walk, measure, keep what is above the limit.</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American dates to European dates</a:t>
            </a:r>
          </a:p>
        </p:txBody>
      </p:sp>
      <p:sp>
        <p:nvSpPr>
          <p:cNvPr id="4" name="code"/>
          <p:cNvSpPr/>
          <p:nvPr/>
        </p:nvSpPr>
        <p:spPr>
          <a:xfrm>
            <a:off x="365760" y="822960"/>
            <a:ext cx="5257800" cy="98018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C9A0FF"/>
                </a:solidFill>
                <a:latin typeface="Courier New"/>
              </a:rPr>
              <a:t>from</a:t>
            </a:r>
            <a:r>
              <a:rPr sz="1100" b="0" i="0">
                <a:solidFill>
                  <a:srgbClr val="E6EDF3"/>
                </a:solidFill>
                <a:latin typeface="Courier New"/>
              </a:rPr>
              <a:t> </a:t>
            </a:r>
            <a:r>
              <a:rPr sz="1100" b="0" i="0">
                <a:solidFill>
                  <a:srgbClr val="E6EDF3"/>
                </a:solidFill>
                <a:latin typeface="Courier New"/>
              </a:rPr>
              <a:t>pathlib</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Path</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names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'spam12-31-1900.txt'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'report01-02-2020.txt'</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9BE3A8"/>
                </a:solidFill>
                <a:latin typeface="Courier New"/>
              </a:rPr>
              <a:t>'notes.txt'</a:t>
            </a:r>
            <a:r>
              <a:rPr sz="1100" b="0" i="0">
                <a:solidFill>
                  <a:srgbClr val="E6EDF3"/>
                </a:solidFill>
                <a:latin typeface="Courier New"/>
              </a:rPr>
              <a:t>)</a:t>
            </a:r>
          </a:p>
        </p:txBody>
      </p:sp>
      <p:sp>
        <p:nvSpPr>
          <p:cNvPr id="5" name="explanation"/>
          <p:cNvSpPr txBox="1"/>
          <p:nvPr/>
        </p:nvSpPr>
        <p:spPr>
          <a:xfrm>
            <a:off x="365760" y="1812290"/>
            <a:ext cx="5257800" cy="454152"/>
          </a:xfrm>
          <a:prstGeom prst="rect">
            <a:avLst/>
          </a:prstGeom>
          <a:noFill/>
        </p:spPr>
        <p:txBody>
          <a:bodyPr wrap="square" lIns="109728" rIns="109728" tIns="18288" bIns="18288" anchor="ctr">
            <a:spAutoFit/>
          </a:bodyPr>
          <a:lstStyle/>
          <a:p>
            <a:r>
              <a:rPr sz="1200" b="0" i="0">
                <a:solidFill>
                  <a:srgbClr val="1F2933"/>
                </a:solidFill>
                <a:latin typeface="Calibri"/>
              </a:rPr>
              <a:t>A new temporary folder, and three names; two carry a month-day-year date.</a:t>
            </a:r>
          </a:p>
        </p:txBody>
      </p:sp>
      <p:sp>
        <p:nvSpPr>
          <p:cNvPr id="6" name="code"/>
          <p:cNvSpPr/>
          <p:nvPr/>
        </p:nvSpPr>
        <p:spPr>
          <a:xfrm>
            <a:off x="365760" y="2303018"/>
            <a:ext cx="5257800" cy="63931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write_text</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pattern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a:t>
            </a:r>
            <a:r>
              <a:rPr sz="1100" b="0" i="0">
                <a:solidFill>
                  <a:srgbClr val="E6EDF3"/>
                </a:solidFill>
                <a:latin typeface="Courier New"/>
              </a:rPr>
              <a:t>.</a:t>
            </a:r>
            <a:r>
              <a:rPr sz="1100" b="0" i="0">
                <a:solidFill>
                  <a:srgbClr val="E6EDF3"/>
                </a:solidFill>
                <a:latin typeface="Courier New"/>
              </a:rPr>
              <a:t>compile</a:t>
            </a:r>
            <a:r>
              <a:rPr sz="1100" b="0" i="0">
                <a:solidFill>
                  <a:srgbClr val="E6EDF3"/>
                </a:solidFill>
                <a:latin typeface="Courier New"/>
              </a:rPr>
              <a:t>(</a:t>
            </a:r>
            <a:r>
              <a:rPr sz="1100" b="0" i="0">
                <a:solidFill>
                  <a:srgbClr val="E6EDF3"/>
                </a:solidFill>
                <a:latin typeface="Courier New"/>
              </a:rPr>
              <a:t>r</a:t>
            </a:r>
            <a:r>
              <a:rPr sz="1100" b="0" i="0">
                <a:solidFill>
                  <a:srgbClr val="9BE3A8"/>
                </a:solidFill>
                <a:latin typeface="Courier New"/>
              </a:rPr>
              <a:t>'(\d\d)-(\d\d)-(\d\d\d\d)'</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before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listdir</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951480"/>
            <a:ext cx="5257800" cy="263652"/>
          </a:xfrm>
          <a:prstGeom prst="rect">
            <a:avLst/>
          </a:prstGeom>
          <a:noFill/>
        </p:spPr>
        <p:txBody>
          <a:bodyPr wrap="square" lIns="109728" rIns="109728" tIns="18288" bIns="18288" anchor="ctr">
            <a:spAutoFit/>
          </a:bodyPr>
          <a:lstStyle/>
          <a:p>
            <a:r>
              <a:rPr sz="1200" b="0" i="0">
                <a:solidFill>
                  <a:srgbClr val="1F2933"/>
                </a:solidFill>
                <a:latin typeface="Calibri"/>
              </a:rPr>
              <a:t>The pattern keeps month, day and year as three groups.</a:t>
            </a:r>
          </a:p>
        </p:txBody>
      </p:sp>
      <p:sp>
        <p:nvSpPr>
          <p:cNvPr id="8" name="code"/>
          <p:cNvSpPr/>
          <p:nvPr/>
        </p:nvSpPr>
        <p:spPr>
          <a:xfrm>
            <a:off x="365760" y="3251708"/>
            <a:ext cx="5257800" cy="98018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old</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before</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pattern</a:t>
            </a:r>
            <a:r>
              <a:rPr sz="1100" b="0" i="0">
                <a:solidFill>
                  <a:srgbClr val="E6EDF3"/>
                </a:solidFill>
                <a:latin typeface="Courier New"/>
              </a:rPr>
              <a:t>.</a:t>
            </a:r>
            <a:r>
              <a:rPr sz="1100" b="0" i="0">
                <a:solidFill>
                  <a:srgbClr val="E6EDF3"/>
                </a:solidFill>
                <a:latin typeface="Courier New"/>
              </a:rPr>
              <a:t>search</a:t>
            </a:r>
            <a:r>
              <a:rPr sz="1100" b="0" i="0">
                <a:solidFill>
                  <a:srgbClr val="E6EDF3"/>
                </a:solidFill>
                <a:latin typeface="Courier New"/>
              </a:rPr>
              <a:t>(</a:t>
            </a:r>
            <a:r>
              <a:rPr sz="1100" b="0" i="0">
                <a:solidFill>
                  <a:srgbClr val="E6EDF3"/>
                </a:solidFill>
                <a:latin typeface="Courier New"/>
              </a:rPr>
              <a:t>old</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E6EDF3"/>
                </a:solidFill>
                <a:latin typeface="Courier New"/>
              </a:rPr>
              <a:t>new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pattern</a:t>
            </a:r>
            <a:r>
              <a:rPr sz="1100" b="0" i="0">
                <a:solidFill>
                  <a:srgbClr val="E6EDF3"/>
                </a:solidFill>
                <a:latin typeface="Courier New"/>
              </a:rPr>
              <a:t>.</a:t>
            </a:r>
            <a:r>
              <a:rPr sz="1100" b="0" i="0">
                <a:solidFill>
                  <a:srgbClr val="E6EDF3"/>
                </a:solidFill>
                <a:latin typeface="Courier New"/>
              </a:rPr>
              <a:t>sub</a:t>
            </a:r>
            <a:r>
              <a:rPr sz="1100" b="0" i="0">
                <a:solidFill>
                  <a:srgbClr val="E6EDF3"/>
                </a:solidFill>
                <a:latin typeface="Courier New"/>
              </a:rPr>
              <a:t>(</a:t>
            </a:r>
            <a:r>
              <a:rPr sz="1100" b="0" i="0">
                <a:solidFill>
                  <a:srgbClr val="E6EDF3"/>
                </a:solidFill>
                <a:latin typeface="Courier New"/>
              </a:rPr>
              <a:t>r</a:t>
            </a:r>
            <a:r>
              <a:rPr sz="1100" b="0" i="0">
                <a:solidFill>
                  <a:srgbClr val="9BE3A8"/>
                </a:solidFill>
                <a:latin typeface="Courier New"/>
              </a:rPr>
              <a:t>'\2-\1-\3'</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old</a:t>
            </a:r>
            <a:r>
              <a:rPr sz="1100" b="0" i="0">
                <a:solidFill>
                  <a:srgbClr val="E6EDF3"/>
                </a:solidFill>
                <a:latin typeface="Courier New"/>
              </a:rPr>
              <a:t>)</a:t>
            </a:r>
          </a:p>
          <a:p>
            <a:pPr algn="l"/>
            <a:r>
              <a:rPr sz="1100" b="0" i="0">
                <a:solidFill>
                  <a:srgbClr val="8FA3B8"/>
                </a:solidFill>
                <a:latin typeface="Courier New"/>
              </a:rPr>
              <a:t>... </a:t>
            </a:r>
            <a:r>
              <a:rPr sz="1100" b="0" i="0">
                <a:solidFill>
                  <a:srgbClr val="E6EDF3"/>
                </a:solidFill>
                <a:latin typeface="Courier New"/>
              </a:rPr>
              <a:t>        </a:t>
            </a:r>
            <a:r>
              <a:rPr sz="1100" b="0" i="0">
                <a:solidFill>
                  <a:srgbClr val="E6EDF3"/>
                </a:solidFill>
                <a:latin typeface="Courier New"/>
              </a:rPr>
              <a:t>shutil</a:t>
            </a:r>
            <a:r>
              <a:rPr sz="1100" b="0" i="0">
                <a:solidFill>
                  <a:srgbClr val="E6EDF3"/>
                </a:solidFill>
                <a:latin typeface="Courier New"/>
              </a:rPr>
              <a:t>.</a:t>
            </a:r>
            <a:r>
              <a:rPr sz="1100" b="0" i="0">
                <a:solidFill>
                  <a:srgbClr val="E6EDF3"/>
                </a:solidFill>
                <a:latin typeface="Courier New"/>
              </a:rPr>
              <a:t>move</a:t>
            </a:r>
            <a:r>
              <a:rPr sz="1100" b="0" i="0">
                <a:solidFill>
                  <a:srgbClr val="E6EDF3"/>
                </a:solidFill>
                <a:latin typeface="Courier New"/>
              </a:rPr>
              <a:t>(</a:t>
            </a:r>
            <a:r>
              <a:rPr sz="1100" b="0" i="0">
                <a:solidFill>
                  <a:srgbClr val="E6EDF3"/>
                </a:solidFill>
                <a:latin typeface="Courier New"/>
              </a:rPr>
              <a:t>old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listdir</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365760" y="4241037"/>
            <a:ext cx="5257800" cy="263652"/>
          </a:xfrm>
          <a:prstGeom prst="rect">
            <a:avLst/>
          </a:prstGeom>
          <a:noFill/>
        </p:spPr>
        <p:txBody>
          <a:bodyPr wrap="square" lIns="109728" rIns="109728" tIns="18288" bIns="18288" anchor="ctr">
            <a:spAutoFit/>
          </a:bodyPr>
          <a:lstStyle/>
          <a:p>
            <a:r>
              <a:rPr sz="1200" b="0" i="0">
                <a:solidFill>
                  <a:srgbClr val="1F2933"/>
                </a:solidFill>
                <a:latin typeface="Calibri"/>
              </a:rPr>
              <a:t>sub swaps groups 1 and 2, shutil.move renames; notes.txt stays.</a:t>
            </a:r>
          </a:p>
        </p:txBody>
      </p:sp>
      <p:sp>
        <p:nvSpPr>
          <p:cNvPr id="10" name="result label"/>
          <p:cNvSpPr txBox="1"/>
          <p:nvPr/>
        </p:nvSpPr>
        <p:spPr>
          <a:xfrm>
            <a:off x="5806440" y="822960"/>
            <a:ext cx="2971800" cy="237744"/>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5806440" y="1097280"/>
          <a:ext cx="2971800" cy="1645920"/>
        </p:xfrm>
        <a:graphic>
          <a:graphicData uri="http://schemas.openxmlformats.org/drawingml/2006/table">
            <a:tbl>
              <a:tblPr firstRow="0" bandRow="0"/>
              <a:tblGrid>
                <a:gridCol w="1485900"/>
                <a:gridCol w="1485900"/>
              </a:tblGrid>
              <a:tr h="411480">
                <a:tc>
                  <a:txBody>
                    <a:bodyPr wrap="square"/>
                    <a:lstStyle/>
                    <a:p>
                      <a:r>
                        <a:rPr sz="900" b="1" i="0">
                          <a:solidFill>
                            <a:srgbClr val="FFFFFF"/>
                          </a:solidFill>
                          <a:latin typeface="Calibri"/>
                        </a:rPr>
                        <a:t>Before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After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11480">
                <a:tc>
                  <a:txBody>
                    <a:bodyPr wrap="square"/>
                    <a:lstStyle/>
                    <a:p>
                      <a:r>
                        <a:rPr sz="900" b="0" i="0">
                          <a:solidFill>
                            <a:srgbClr val="1F2933"/>
                          </a:solidFill>
                          <a:latin typeface="Courier New"/>
                        </a:rPr>
                        <a:t>notes.txt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8A8F98"/>
                          </a:solidFill>
                          <a:latin typeface="Courier New"/>
                        </a:rPr>
                        <a:t>notes.txt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11480">
                <a:tc>
                  <a:txBody>
                    <a:bodyPr wrap="square"/>
                    <a:lstStyle/>
                    <a:p>
                      <a:r>
                        <a:rPr sz="900" b="0" i="0">
                          <a:solidFill>
                            <a:srgbClr val="1F2933"/>
                          </a:solidFill>
                          <a:latin typeface="Courier New"/>
                        </a:rPr>
                        <a:t>report01-02-2020.txt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2F855A"/>
                          </a:solidFill>
                          <a:latin typeface="Courier New"/>
                        </a:rPr>
                        <a:t>report02-01-2020.txt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11480">
                <a:tc>
                  <a:txBody>
                    <a:bodyPr wrap="square"/>
                    <a:lstStyle/>
                    <a:p>
                      <a:r>
                        <a:rPr sz="900" b="0" i="0">
                          <a:solidFill>
                            <a:srgbClr val="1F2933"/>
                          </a:solidFill>
                          <a:latin typeface="Courier New"/>
                        </a:rPr>
                        <a:t>spam12-31-1900.txt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2F855A"/>
                          </a:solidFill>
                          <a:latin typeface="Courier New"/>
                        </a:rPr>
                        <a:t>spam31-12-1900.txt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5806440" y="3108960"/>
            <a:ext cx="297180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01-02-2020 : month 01, day 02</a:t>
            </a:r>
          </a:p>
        </p:txBody>
      </p:sp>
      <p:cxnSp>
        <p:nvCxnSpPr>
          <p:cNvPr id="13" name="arrow"/>
          <p:cNvCxnSpPr/>
          <p:nvPr/>
        </p:nvCxnSpPr>
        <p:spPr>
          <a:xfrm>
            <a:off x="7292340" y="3383280"/>
            <a:ext cx="0" cy="274320"/>
          </a:xfrm>
          <a:prstGeom prst="line">
            <a:avLst/>
          </a:prstGeom>
          <a:ln w="2032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06440" y="3657600"/>
            <a:ext cx="297180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02-01-2020 : day 02, month 01</a:t>
            </a:r>
          </a:p>
        </p:txBody>
      </p:sp>
      <p:sp>
        <p:nvSpPr>
          <p:cNvPr id="15" name="TextBox 14"/>
          <p:cNvSpPr txBox="1"/>
          <p:nvPr/>
        </p:nvSpPr>
        <p:spPr>
          <a:xfrm>
            <a:off x="5806440" y="4023360"/>
            <a:ext cx="2971800" cy="274320"/>
          </a:xfrm>
          <a:prstGeom prst="rect">
            <a:avLst/>
          </a:prstGeom>
          <a:noFill/>
        </p:spPr>
        <p:txBody>
          <a:bodyPr wrap="square" lIns="45720" rIns="45720" tIns="27432" bIns="27432" anchor="t">
            <a:spAutoFit/>
          </a:bodyPr>
          <a:lstStyle/>
          <a:p>
            <a:r>
              <a:rPr sz="950" b="0" i="1">
                <a:solidFill>
                  <a:srgbClr val="5B6773"/>
                </a:solidFill>
                <a:latin typeface="Calibri"/>
              </a:rPr>
              <a:t>2 of 3 files renamed</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pattern plus move renames many files at once.</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Python documentation</a:t>
            </a:r>
          </a:p>
        </p:txBody>
      </p:sp>
      <p:graphicFrame>
        <p:nvGraphicFramePr>
          <p:cNvPr id="5" name="table"/>
          <p:cNvGraphicFramePr>
            <a:graphicFrameLocks noGrp="1"/>
          </p:cNvGraphicFramePr>
          <p:nvPr/>
        </p:nvGraphicFramePr>
        <p:xfrm>
          <a:off x="457200" y="1143000"/>
          <a:ext cx="8229599" cy="3017520"/>
        </p:xfrm>
        <a:graphic>
          <a:graphicData uri="http://schemas.openxmlformats.org/drawingml/2006/table">
            <a:tbl>
              <a:tblPr firstRow="0" bandRow="0"/>
              <a:tblGrid>
                <a:gridCol w="3291839"/>
                <a:gridCol w="731520"/>
                <a:gridCol w="4206240"/>
              </a:tblGrid>
              <a:tr h="502920">
                <a:tc>
                  <a:txBody>
                    <a:bodyPr wrap="square"/>
                    <a:lstStyle/>
                    <a:p>
                      <a:r>
                        <a:rPr sz="130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00" b="1" i="0">
                          <a:solidFill>
                            <a:srgbClr val="1F2933"/>
                          </a:solidFill>
                          <a:latin typeface="Calibri"/>
                        </a:rPr>
                        <a:t>Path.walk() on a Path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same three values as os.walk, from a Path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onexc in shutil.rmtree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Replaces onerror, which is deprecated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ZipFile.mkdir()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Adds an empty folder entry to an archive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Path.copy() and Path.move()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Copy and move without importing shutil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recurse_symlinks in glob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Choose whether glob follows symbolic links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copy keeps the original; move relocates and can overwrite.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unlink, rmdir and rmtree cannot be undone; print first.</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os.walk gives folder, subfolders and files at every step.</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ZipFile writes, appends and reads archives; extract unpacks them.</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short program can back up, copy by type or rename in bulk.</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Know what a call destroys before you run it.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is the difference between shutil.copy and shutil.move for the original file?</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print the file names with a dry run before os.unlink is allowed to run?</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Which three values does every step of os.walk give you?</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Which ZipFile mode adds a file to an archive, and which refuses to overwrite one?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one line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11</a:t>
            </a:r>
          </a:p>
          <a:p>
            <a:r>
              <a:rPr sz="900" b="0" i="0">
                <a:solidFill>
                  <a:srgbClr val="0E7C86"/>
                </a:solidFill>
                <a:latin typeface="Calibri"/>
                <a:hlinkClick r:id="rId3"/>
              </a:rPr>
              <a:t>https://automatetheboringstuff.com/3e/chapter11.html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shutil, high-level file operations</a:t>
            </a:r>
          </a:p>
          <a:p>
            <a:r>
              <a:rPr sz="900" b="0" i="0">
                <a:solidFill>
                  <a:srgbClr val="0E7C86"/>
                </a:solidFill>
                <a:latin typeface="Calibri"/>
                <a:hlinkClick r:id="rId4"/>
              </a:rPr>
              <a:t>https://docs.python.org/3/library/shutil.html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os.walk</a:t>
            </a:r>
          </a:p>
          <a:p>
            <a:r>
              <a:rPr sz="900" b="0" i="0">
                <a:solidFill>
                  <a:srgbClr val="0E7C86"/>
                </a:solidFill>
                <a:latin typeface="Calibri"/>
                <a:hlinkClick r:id="rId5"/>
              </a:rPr>
              <a:t>https://docs.python.org/3/library/os.html#os.walk</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zipfile</a:t>
            </a:r>
          </a:p>
          <a:p>
            <a:r>
              <a:rPr sz="900" b="0" i="0">
                <a:solidFill>
                  <a:srgbClr val="0E7C86"/>
                </a:solidFill>
                <a:latin typeface="Calibri"/>
                <a:hlinkClick r:id="rId6"/>
              </a:rPr>
              <a:t>https://docs.python.org/3/library/zipfile.html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pathlib</a:t>
            </a:r>
          </a:p>
          <a:p>
            <a:r>
              <a:rPr sz="900" b="0" i="0">
                <a:solidFill>
                  <a:srgbClr val="0E7C86"/>
                </a:solidFill>
                <a:latin typeface="Calibri"/>
                <a:hlinkClick r:id="rId7"/>
              </a:rPr>
              <a:t>https://docs.python.org/3/library/pathlib.html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3.14</a:t>
            </a:r>
          </a:p>
          <a:p>
            <a:r>
              <a:rPr sz="900" b="0" i="0">
                <a:solidFill>
                  <a:srgbClr val="0E7C86"/>
                </a:solidFill>
                <a:latin typeface="Calibri"/>
                <a:hlinkClick r:id="rId8"/>
              </a:rPr>
              <a:t>https://docs.python.org/3/whatsnew/3.14.html</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3.12</a:t>
            </a:r>
          </a:p>
          <a:p>
            <a:r>
              <a:rPr sz="900" b="0" i="0">
                <a:solidFill>
                  <a:srgbClr val="0E7C86"/>
                </a:solidFill>
                <a:latin typeface="Calibri"/>
                <a:hlinkClick r:id="rId9"/>
              </a:rPr>
              <a:t>https://docs.python.org/3/whatsnew/3.12.html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send2trash on the Python Package Index</a:t>
            </a:r>
          </a:p>
          <a:p>
            <a:r>
              <a:rPr sz="900" b="0" i="0">
                <a:solidFill>
                  <a:srgbClr val="0E7C86"/>
                </a:solidFill>
                <a:latin typeface="Calibri"/>
                <a:hlinkClick r:id="rId10"/>
              </a:rPr>
              <a:t>https://pypi.org/project/Send2Trash/</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ZIP file format specification (APPNOTE.TXT)</a:t>
            </a:r>
          </a:p>
          <a:p>
            <a:r>
              <a:rPr sz="900" b="0" i="0">
                <a:solidFill>
                  <a:srgbClr val="0E7C86"/>
                </a:solidFill>
                <a:latin typeface="Calibri"/>
                <a:hlinkClick r:id="rId11"/>
              </a:rPr>
              <a:t>pkware.cachefly.net</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zlib home page</a:t>
            </a:r>
          </a:p>
          <a:p>
            <a:r>
              <a:rPr sz="900" b="0" i="0">
                <a:solidFill>
                  <a:srgbClr val="0E7C86"/>
                </a:solidFill>
                <a:latin typeface="Calibri"/>
                <a:hlinkClick r:id="rId12"/>
              </a:rPr>
              <a:t>https://www.zlib.net/</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ZIP (file format) on Wikipedia</a:t>
            </a:r>
          </a:p>
          <a:p>
            <a:r>
              <a:rPr sz="900" b="0" i="0">
                <a:solidFill>
                  <a:srgbClr val="0E7C86"/>
                </a:solidFill>
                <a:latin typeface="Calibri"/>
                <a:hlinkClick r:id="rId13"/>
              </a:rPr>
              <a:t>https://en.wikipedia.org/wiki/ZIP_(file_format)</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Multics history</a:t>
            </a:r>
          </a:p>
          <a:p>
            <a:r>
              <a:rPr sz="900" b="0" i="0">
                <a:solidFill>
                  <a:srgbClr val="0E7C86"/>
                </a:solidFill>
                <a:latin typeface="Calibri"/>
                <a:hlinkClick r:id="rId14"/>
              </a:rPr>
              <a:t>https://multicians.org/history.html</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Susan Kare's Macintosh icons (Smithsonian)</a:t>
            </a:r>
          </a:p>
          <a:p>
            <a:r>
              <a:rPr sz="900" b="0" i="0">
                <a:solidFill>
                  <a:srgbClr val="0E7C86"/>
                </a:solidFill>
                <a:latin typeface="Calibri"/>
                <a:hlinkClick r:id="rId15"/>
              </a:rPr>
              <a:t>smithsonianmag.com</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working with ZIP files in Python (Corey Schafer)</a:t>
            </a:r>
          </a:p>
          <a:p>
            <a:r>
              <a:rPr sz="900" b="0" i="0">
                <a:solidFill>
                  <a:srgbClr val="0E7C86"/>
                </a:solidFill>
                <a:latin typeface="Calibri"/>
                <a:hlinkClick r:id="rId16"/>
              </a:rPr>
              <a:t>https://www.youtube.com/watch?v=z0gguhEmWiY</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11: Organizing Files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