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rows before</c:v>
                </c:pt>
              </c:strCache>
            </c:strRef>
          </c:tx>
          <c:spPr>
            <a:solidFill>
              <a:srgbClr val="0E7C86"/>
            </a:solidFill>
          </c:spPr>
          <c:cat>
            <c:strRef>
              <c:f>Sheet1!$A$2:$A$3</c:f>
              <c:strCache>
                <c:ptCount val="2"/>
                <c:pt idx="0">
                  <c:v>f1.csv</c:v>
                </c:pt>
                <c:pt idx="1">
                  <c:v>f2.csv</c:v>
                </c:pt>
              </c:strCache>
            </c:strRef>
          </c:cat>
          <c:val>
            <c:numRef>
              <c:f>Sheet1!$B$2:$B$3</c:f>
              <c:numCache>
                <c:formatCode>General</c:formatCode>
                <c:ptCount val="2"/>
                <c:pt idx="0">
                  <c:v>3</c:v>
                </c:pt>
                <c:pt idx="1">
                  <c:v>2</c:v>
                </c:pt>
              </c:numCache>
            </c:numRef>
          </c:val>
        </c:ser>
        <c:ser>
          <c:idx val="1"/>
          <c:order val="1"/>
          <c:tx>
            <c:strRef>
              <c:f>Sheet1!$C$1</c:f>
              <c:strCache>
                <c:ptCount val="1"/>
                <c:pt idx="0">
                  <c:v>rows after</c:v>
                </c:pt>
              </c:strCache>
            </c:strRef>
          </c:tx>
          <c:spPr>
            <a:solidFill>
              <a:srgbClr val="B7791F"/>
            </a:solidFill>
          </c:spPr>
          <c:cat>
            <c:strRef>
              <c:f>Sheet1!$A$2:$A$3</c:f>
              <c:strCache>
                <c:ptCount val="2"/>
                <c:pt idx="0">
                  <c:v>f1.csv</c:v>
                </c:pt>
                <c:pt idx="1">
                  <c:v>f2.csv</c:v>
                </c:pt>
              </c:strCache>
            </c:strRef>
          </c:cat>
          <c:val>
            <c:numRef>
              <c:f>Sheet1!$C$2:$C$3</c:f>
              <c:numCache>
                <c:formatCode>General</c:formatCode>
                <c:ptCount val="2"/>
                <c:pt idx="0">
                  <c:v>2</c:v>
                </c:pt>
                <c:pt idx="1">
                  <c:v>1</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4.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
      </c:valAx>
    </c:plotArea>
    <c:legend>
      <c:legendPos val="t"/>
      <c:overlay val="0"/>
      <c:txPr>
        <a:bodyPr/>
        <a:lstStyle/>
        <a:p>
          <a:pPr>
            <a:defRPr sz="900"/>
          </a:pPr>
        </a:p>
      </c:txPr>
    </c:legend>
    <c:dispBlanksAs val="gap"/>
  </c:chart>
  <c:txPr>
    <a:bodyPr/>
    <a:lstStyle/>
    <a:p>
      <a:pPr>
        <a:defRPr sz="900">
          <a:solidFill>
            <a:srgbClr val="1F2933"/>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total sales</c:v>
                </c:pt>
              </c:strCache>
            </c:strRef>
          </c:tx>
          <c:spPr>
            <a:solidFill>
              <a:srgbClr val="0E7C86"/>
            </a:solidFill>
          </c:spPr>
          <c:cat>
            <c:strRef>
              <c:f>Sheet1!$A$2:$A$4</c:f>
              <c:strCache>
                <c:ptCount val="3"/>
                <c:pt idx="0">
                  <c:v>North</c:v>
                </c:pt>
                <c:pt idx="1">
                  <c:v>South</c:v>
                </c:pt>
                <c:pt idx="2">
                  <c:v>East</c:v>
                </c:pt>
              </c:strCache>
            </c:strRef>
          </c:cat>
          <c:val>
            <c:numRef>
              <c:f>Sheet1!$B$2:$B$4</c:f>
              <c:numCache>
                <c:formatCode>General</c:formatCode>
                <c:ptCount val="3"/>
                <c:pt idx="0">
                  <c:v>180</c:v>
                </c:pt>
                <c:pt idx="1">
                  <c:v>80</c:v>
                </c:pt>
                <c:pt idx="2">
                  <c:v>40</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ax val="200.0"/>
          <c:min val="0.0"/>
        </c:scaling>
        <c:delete val="0"/>
        <c:axPos val="b"/>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majorUnit val="50.0"/>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characters</c:v>
                </c:pt>
              </c:strCache>
            </c:strRef>
          </c:tx>
          <c:spPr>
            <a:solidFill>
              <a:srgbClr val="0E7C86"/>
            </a:solidFill>
          </c:spPr>
          <c:cat>
            <c:strRef>
              <c:f>Sheet1!$A$2:$A$4</c:f>
              <c:strCache>
                <c:ptCount val="3"/>
                <c:pt idx="0">
                  <c:v>CSV</c:v>
                </c:pt>
                <c:pt idx="1">
                  <c:v>JSON</c:v>
                </c:pt>
                <c:pt idx="2">
                  <c:v>XML</c:v>
                </c:pt>
              </c:strCache>
            </c:strRef>
          </c:cat>
          <c:val>
            <c:numRef>
              <c:f>Sheet1!$B$2:$B$4</c:f>
              <c:numCache>
                <c:formatCode>General</c:formatCode>
                <c:ptCount val="3"/>
                <c:pt idx="0">
                  <c:v>28</c:v>
                </c:pt>
                <c:pt idx="1">
                  <c:v>58</c:v>
                </c:pt>
                <c:pt idx="2">
                  <c:v>111</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ax val="140.0"/>
          <c:min val="0.0"/>
        </c:scaling>
        <c:delete val="0"/>
        <c:axPos val="l"/>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majorUnit val="40.0"/>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examples</c:v>
                </c:pt>
              </c:strCache>
            </c:strRef>
          </c:tx>
          <c:spPr>
            <a:solidFill>
              <a:srgbClr val="0E7C86"/>
            </a:solidFill>
          </c:spPr>
          <c:cat>
            <c:strRef>
              <c:f>Sheet1!$A$2:$A$7</c:f>
              <c:strCache>
                <c:ptCount val="6"/>
                <c:pt idx="0">
                  <c:v>Part 1</c:v>
                </c:pt>
                <c:pt idx="1">
                  <c:v>Part 2</c:v>
                </c:pt>
                <c:pt idx="2">
                  <c:v>Part 3</c:v>
                </c:pt>
                <c:pt idx="3">
                  <c:v>Part 4</c:v>
                </c:pt>
                <c:pt idx="4">
                  <c:v>Part 5</c:v>
                </c:pt>
                <c:pt idx="5">
                  <c:v>Part 6</c:v>
                </c:pt>
              </c:strCache>
            </c:strRef>
          </c:cat>
          <c:val>
            <c:numRef>
              <c:f>Sheet1!$B$2:$B$7</c:f>
              <c:numCache>
                <c:formatCode>General</c:formatCode>
                <c:ptCount val="6"/>
                <c:pt idx="0">
                  <c:v>4</c:v>
                </c:pt>
                <c:pt idx="1">
                  <c:v>6</c:v>
                </c:pt>
                <c:pt idx="2">
                  <c:v>4</c:v>
                </c:pt>
                <c:pt idx="3">
                  <c:v>5</c:v>
                </c:pt>
                <c:pt idx="4">
                  <c:v>6</c:v>
                </c:pt>
                <c:pt idx="5">
                  <c:v>2</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ax val="8.0"/>
          <c:min val="0.0"/>
        </c:scaling>
        <c:delete val="0"/>
        <c:axPos val="l"/>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majorUnit val="2.0"/>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Chapter 18 reads and writes CSV, JSON and XML files. Every example builds its own data in memory or in a temporary folder, and the same examples stand in the chapter-code tab of the page, in this order.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parts. Reading CSV files, writing CSV files, Project 13, then JSON, XML, and the practice program that turns Excel sheets into CSV files. The table gives the slides of each part.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questions to carry through. How do you read and write a table, a record and a tree with the standard library, and what does each format lose? And which statements of the book differ today? The last slides answer both.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A CSV file is records on lines, each a list of fields. csv.reader splits the fields, a for loop reads one row at a time, line_num counts lines, and next() skips a header row.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CSV file is a register: a line for each entry, commas between columns. The csv module is the clerk who knows the rules. Reading cuts lines into columns; writing copies entries into a new register.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CSV is older than the personal computer: IBM's Fortran compiler read comma-separated values in 1972. The photograph shows an IBM System/360 console and tape drives in a museum, the machine family of OS/360, not the compiler itself.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CSV line is not simply split on commas: a quoted field may hold one. csv.reader respects the quotes. A file is a list of records, and a record is a list of fields.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reader reads a file and list() keeps its rows. data[row][column] picks a value, and every value is a string. A temporary file stands in for the book's example file.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for loop reads one row at a time. line_num counts lines of the file, so a record with a line break in it makes the numbers jump. A reader can be used once.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takes the header off the reader. The line_num test of the book fails when the header has a line break inside quotes, because its record ends on line two.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csv.writer writes lists, DictWriter writes dictionaries. Tabs are a delimiter. newline empty stops Windows doubling line ends, and Excel's UTF-8 files start with a byte order mark.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Tabs instead of commas change only the separator. A header row names the columns and is not data. Without newline empty, Windows presses return twice: a blank line after each entry.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RFC 4180 is dated October 2005 and is informational. The photograph shows an IETF meeting room, the body behind the RFC series; it does not show the author. Python's csv module follows these habits.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writer wraps a file; writerow returns the characters written and quotes a field that holds a comma. Numbers and None become text. Every record ends with CRLF.</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delimiter sets the character between fields and lineterminator what ends a record. writerows writes many rows. Read with the same delimiter and the rows come back as they were.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Windows turns every line feed into CRLF. The writer already ends records with CRLF, so the file gets CR CR LF and a reader sees empty records. A TextIOWrapper stands in for Windows here.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quoting constants, one row. The default, QUOTE_MINIMAL, quotes only the field with the comma. QUOTE_NONE needs an escape character. QUOTE_STRINGS and QUOTE_NOTNULL are newer.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Excel's CSV UTF-8 starts with three bytes, a byte order mark. Decoded as plain utf-8 the mark sticks to the first key. Use utf-8-sig, and always pass an encoding to open().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DictReader takes the keys from the first row; a short row gets None. DictWriter writes the header and fills a missing key with an empty field.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Project 13 removes the header row of every CSV file in a folder: loop, read, write. The same plan fits other small programs.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13 in three steps. Loop through the files of a folder, read each and skip its header, write the rest to a new file. Similar programs follow the same plan.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one of Project 13: loop over the sorted file names and skip what does not end in .csv. The test is case-sensitive, so C.CSV is skipped.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two: read each file and skip the first row. next(reader, None) does not fail on an empty file. A file with only a header gives an empty list.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three: write the remaining rows to a file of the same name in a new folder. Count the lines before and after: each file is one line shorter.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similar program: add up a column per group. The values are strings, so int() converts them. The dictionary keeps a total for each region.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four. JSON has six kinds of value. loads reads text into Python values, dumps writes them out, and a round trip changes tuples into lists. The syntax is strict.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address, three formats: a register line, a labelled form, a tree of tags. JSON is the labelled form. loads reads a form, dumps fills one in, and the json module refuses badly written forms.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Crockford and Morningstar sent the first JSON message in April 2001. The photograph is a portrait of Douglas Crockford. JSON is tiny and strict: a trailing comma is an error.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two people in CSV, JSON and XML. CSV is smallest because it names the columns once. JSON and XML repeat names in every record but keep the structure.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loads reads JSON text and gives a dictionary. null is None, true is True, numbers keep their kind. Every value of the dictionary has one of the six types.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dumps writes Python values as JSON. A tuple becomes a list and a number key becomes text, so the round trip does not return the original. indent makes the text readable.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json.loads is strict: a trailing comma, single quotes, None and an empty text are refused, each with a message and a column. NaN is accepted although JSON has none.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dump and load use a file. ensure_ascii False keeps letters as they are. Bytes with a byte order mark load; a string that starts with the mark is refused.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five. ElementTree reads and writes XML trees; text is always a string or None. xmltodict turns XML into a dictionary. XML from someone else needs defusedxml.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XML is boxes inside boxes with matching labels. ElementTree opens and packs them. xmltodict lays the boxes out as one notebook page of names and values.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XML 1.0 became a W3C Recommendation on 10 February 1998. The photograph is a portrait of Jon Bosak, who started the work in mid-1996. The strict rules are why ElementTree raises ParseError.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fromstring gives the root element. Looping over an element gives its children. find and findall look up children, get reads an attribute, and text is always a string or None.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ElementTree keeps whitespace between tags as text and tail. Broken XML raises ParseError: closing tags must match, there is one root, and capitals count.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Element makes a root, SubElement adds children, tostring writes text. A less-than sign is escaped as lt. indent adds line breaks. write saves a file; xml_declaration adds the first line.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xsi:nil is an attribute in a namespace. ElementTree shows it under its full name in braces and does not interpret it. A namespaced element is written with the address in braces.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xmltodict turns XML into a dictionary of strings. An attribute gets an @, the text of an element with attributes sits under #text. One child is a dict, two are a list.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ElementTree came with Python 2.5 in 2006 and json with Python 2.6 in 2008. The photograph shows Guido van Rossum, the creator of Python, at OSCON 2006. It does not show Lundh or Ippolito.</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Entities can multiply. The standard parser expands them; defusedxml refuses them. Never parse XML from someone else without checking the parser. The billion laughs story is the big cousin.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tiny XML file can ask for a billion copies of lol. The photograph shows server racks in a data centre, the kind of machine such a file can exhaust. It does not show an attack. Use defusedxml for untrusted XML.</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six. The practice program: open a workbook with openpyxl and write one CSV file for each sheet. The book's skeleton is a to-do list; the examples finish it.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converter copies each sheet of a ledger onto its own register. openpyxl opens the workbook without Excel. shelve is a sealed shelf of Python objects, not a text format.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openpyxl builds a workbook without Excel. append adds a row, create_sheet adds a sheet. Save into memory, load it again, and the numbers are still numbers.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converter loops over the sheets and writes one CSV file for each. iter_rows with values_only gives plain values. List the files and read them back to check.</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calls of the chapter in one table, each with its code slide. Reads change nothing; writes make new text or files.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differs from the book today, from the chapter research. Run the book's lines first, then compare with these rows. Each row names the slide that shows it.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sentences. CSV is lines of fields. JSON has six value types and a strict syntax. XML is a tree and all its text is strings. Untrusted XML needs defusedxml. One CSV file per sheet.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Predict first, then run what you can on the chapter page. Each question points to a slide.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Links to read and watch next: the chapter, the documentation of the three modules, the RFC and the pages behind the stories.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hyperlink" Target="https://en.wikipedia.org/wiki/Comma-separated_value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hyperlink" Target="https://www.rfc-editor.org/rfc/rfc4180"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chart" Target="../charts/char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chart" Target="../charts/char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png"/><Relationship Id="rId4" Type="http://schemas.openxmlformats.org/officeDocument/2006/relationships/hyperlink" Target="https://en.wikipedia.org/wiki/JSON"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chart" Target="../charts/char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4.png"/><Relationship Id="rId4" Type="http://schemas.openxmlformats.org/officeDocument/2006/relationships/hyperlink" Target="https://en.wikipedia.org/wiki/X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5.png"/><Relationship Id="rId4" Type="http://schemas.openxmlformats.org/officeDocument/2006/relationships/hyperlink" Target="https://docs.python.org/3/whatsnew/2.5.htm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6.png"/><Relationship Id="rId4" Type="http://schemas.openxmlformats.org/officeDocument/2006/relationships/hyperlink" Target="https://en.wikipedia.org/wiki/Billion_laughs_attack"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chart" Target="../charts/char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hyperlink" Target="https://automatetheboringstuff.com/3e/chapter18.html" TargetMode="External"/><Relationship Id="rId4" Type="http://schemas.openxmlformats.org/officeDocument/2006/relationships/hyperlink" Target="https://docs.python.org/3/library/csv.html" TargetMode="External"/><Relationship Id="rId5" Type="http://schemas.openxmlformats.org/officeDocument/2006/relationships/hyperlink" Target="https://docs.python.org/3/library/json.html" TargetMode="External"/><Relationship Id="rId6" Type="http://schemas.openxmlformats.org/officeDocument/2006/relationships/hyperlink" Target="https://docs.python.org/3/library/xml.etree.elementtree.html" TargetMode="External"/><Relationship Id="rId7" Type="http://schemas.openxmlformats.org/officeDocument/2006/relationships/hyperlink" Target="https://docs.python.org/3/library/xml.html" TargetMode="External"/><Relationship Id="rId8" Type="http://schemas.openxmlformats.org/officeDocument/2006/relationships/hyperlink" Target="https://pypi.org/project/xmltodict/" TargetMode="External"/><Relationship Id="rId9" Type="http://schemas.openxmlformats.org/officeDocument/2006/relationships/hyperlink" Target="https://pypi.org/project/defusedxml/" TargetMode="External"/><Relationship Id="rId10" Type="http://schemas.openxmlformats.org/officeDocument/2006/relationships/hyperlink" Target="https://openpyxl.readthedocs.io/en/stable/" TargetMode="External"/><Relationship Id="rId11" Type="http://schemas.openxmlformats.org/officeDocument/2006/relationships/hyperlink" Target="https://www.rfc-editor.org/rfc/rfc4180" TargetMode="External"/><Relationship Id="rId12" Type="http://schemas.openxmlformats.org/officeDocument/2006/relationships/hyperlink" Target="https://www.json.org/" TargetMode="External"/><Relationship Id="rId13" Type="http://schemas.openxmlformats.org/officeDocument/2006/relationships/hyperlink" Target="https://www.w3.org/TR/xml/" TargetMode="External"/><Relationship Id="rId14" Type="http://schemas.openxmlformats.org/officeDocument/2006/relationships/hyperlink" Target="https://en.wikipedia.org/wiki/Comma-separated_values" TargetMode="External"/><Relationship Id="rId15" Type="http://schemas.openxmlformats.org/officeDocument/2006/relationships/hyperlink" Target="https://en.wikipedia.org/wiki/Billion_laughs_attack" TargetMode="External"/><Relationship Id="rId16" Type="http://schemas.openxmlformats.org/officeDocument/2006/relationships/hyperlink" Target="https://docs.python.org/3/whatsnew/2.6.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548640" y="1554480"/>
            <a:ext cx="8046720" cy="822960"/>
          </a:xfrm>
          <a:prstGeom prst="rect">
            <a:avLst/>
          </a:prstGeom>
          <a:noFill/>
        </p:spPr>
        <p:txBody>
          <a:bodyPr wrap="square" lIns="45720" rIns="45720" tIns="27432" bIns="27432" anchor="ctr">
            <a:spAutoFit/>
          </a:bodyPr>
          <a:lstStyle/>
          <a:p>
            <a:r>
              <a:rPr sz="3800" b="1" i="0">
                <a:solidFill>
                  <a:srgbClr val="1F2933"/>
                </a:solidFill>
                <a:latin typeface="Calibri"/>
              </a:rPr>
              <a:t>CSV, JSON and XML Files</a:t>
            </a:r>
          </a:p>
        </p:txBody>
      </p:sp>
      <p:sp>
        <p:nvSpPr>
          <p:cNvPr id="4" name="subtitle"/>
          <p:cNvSpPr txBox="1"/>
          <p:nvPr/>
        </p:nvSpPr>
        <p:spPr>
          <a:xfrm>
            <a:off x="548640" y="2423160"/>
            <a:ext cx="8046720" cy="640080"/>
          </a:xfrm>
          <a:prstGeom prst="rect">
            <a:avLst/>
          </a:prstGeom>
          <a:noFill/>
        </p:spPr>
        <p:txBody>
          <a:bodyPr wrap="square" lIns="45720" rIns="45720" tIns="27432" bIns="27432" anchor="t">
            <a:spAutoFit/>
          </a:bodyPr>
          <a:lstStyle/>
          <a:p>
            <a:r>
              <a:rPr sz="1600" b="0" i="0">
                <a:solidFill>
                  <a:srgbClr val="5B6773"/>
                </a:solidFill>
                <a:latin typeface="Calibri"/>
              </a:rPr>
              <a:t>Chapter 18 of Automate the Boring Stuff with Python, 3rd edition, for an advanced course</a:t>
            </a:r>
          </a:p>
        </p:txBody>
      </p:sp>
      <p:sp>
        <p:nvSpPr>
          <p:cNvPr id="5" name="card"/>
          <p:cNvSpPr/>
          <p:nvPr/>
        </p:nvSpPr>
        <p:spPr>
          <a:xfrm>
            <a:off x="5486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tat"/>
          <p:cNvSpPr txBox="1"/>
          <p:nvPr/>
        </p:nvSpPr>
        <p:spPr>
          <a:xfrm>
            <a:off x="6400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27</a:t>
            </a:r>
          </a:p>
        </p:txBody>
      </p:sp>
      <p:sp>
        <p:nvSpPr>
          <p:cNvPr id="7" name="stat label"/>
          <p:cNvSpPr txBox="1"/>
          <p:nvPr/>
        </p:nvSpPr>
        <p:spPr>
          <a:xfrm>
            <a:off x="6400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code examples that run on the chapter page</a:t>
            </a:r>
          </a:p>
        </p:txBody>
      </p:sp>
      <p:sp>
        <p:nvSpPr>
          <p:cNvPr id="8" name="card"/>
          <p:cNvSpPr/>
          <p:nvPr/>
        </p:nvSpPr>
        <p:spPr>
          <a:xfrm>
            <a:off x="32918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at"/>
          <p:cNvSpPr txBox="1"/>
          <p:nvPr/>
        </p:nvSpPr>
        <p:spPr>
          <a:xfrm>
            <a:off x="33832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6</a:t>
            </a:r>
          </a:p>
        </p:txBody>
      </p:sp>
      <p:sp>
        <p:nvSpPr>
          <p:cNvPr id="10" name="stat label"/>
          <p:cNvSpPr txBox="1"/>
          <p:nvPr/>
        </p:nvSpPr>
        <p:spPr>
          <a:xfrm>
            <a:off x="33832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true stories with who, what, when, where, why and how</a:t>
            </a:r>
          </a:p>
        </p:txBody>
      </p:sp>
      <p:sp>
        <p:nvSpPr>
          <p:cNvPr id="11" name="card"/>
          <p:cNvSpPr/>
          <p:nvPr/>
        </p:nvSpPr>
        <p:spPr>
          <a:xfrm>
            <a:off x="60350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t"/>
          <p:cNvSpPr txBox="1"/>
          <p:nvPr/>
        </p:nvSpPr>
        <p:spPr>
          <a:xfrm>
            <a:off x="6126479"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32</a:t>
            </a:r>
          </a:p>
        </p:txBody>
      </p:sp>
      <p:sp>
        <p:nvSpPr>
          <p:cNvPr id="13" name="stat label"/>
          <p:cNvSpPr txBox="1"/>
          <p:nvPr/>
        </p:nvSpPr>
        <p:spPr>
          <a:xfrm>
            <a:off x="6126479"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distinct chapter concepts, each with an everyday picture</a:t>
            </a:r>
          </a:p>
        </p:txBody>
      </p:sp>
      <p:sp>
        <p:nvSpPr>
          <p:cNvPr id="14" name="author"/>
          <p:cNvSpPr txBox="1"/>
          <p:nvPr/>
        </p:nvSpPr>
        <p:spPr>
          <a:xfrm>
            <a:off x="548640" y="4434840"/>
            <a:ext cx="7315200" cy="274320"/>
          </a:xfrm>
          <a:prstGeom prst="rect">
            <a:avLst/>
          </a:prstGeom>
          <a:noFill/>
        </p:spPr>
        <p:txBody>
          <a:bodyPr wrap="square" lIns="45720" rIns="45720" tIns="27432" bIns="27432" anchor="t">
            <a:spAutoFit/>
          </a:bodyPr>
          <a:lstStyle/>
          <a:p>
            <a:r>
              <a:rPr sz="1100" b="0" i="0">
                <a:solidFill>
                  <a:srgbClr val="5B6773"/>
                </a:solidFill>
                <a:latin typeface="Calibri"/>
              </a:rPr>
              <a:t>SEN0414 Advanced Programming, Fall 2026. Yusuf Altunel, İstanbul Kültür Üniversitesi</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 / 53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Today's route</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Six parts; every range is a run of slides you can jump to</a:t>
            </a:r>
          </a:p>
        </p:txBody>
      </p:sp>
      <p:graphicFrame>
        <p:nvGraphicFramePr>
          <p:cNvPr id="5" name="table"/>
          <p:cNvGraphicFramePr>
            <a:graphicFrameLocks noGrp="1"/>
          </p:cNvGraphicFramePr>
          <p:nvPr/>
        </p:nvGraphicFramePr>
        <p:xfrm>
          <a:off x="457200" y="1097280"/>
          <a:ext cx="8229598" cy="3657600"/>
        </p:xfrm>
        <a:graphic>
          <a:graphicData uri="http://schemas.openxmlformats.org/drawingml/2006/table">
            <a:tbl>
              <a:tblPr firstRow="0" bandRow="0"/>
              <a:tblGrid>
                <a:gridCol w="2862469"/>
                <a:gridCol w="894521"/>
                <a:gridCol w="1073426"/>
                <a:gridCol w="3399182"/>
              </a:tblGrid>
              <a:tr h="457200">
                <a:tc>
                  <a:txBody>
                    <a:bodyPr wrap="square"/>
                    <a:lstStyle/>
                    <a:p>
                      <a:r>
                        <a:rPr sz="1250" b="1" i="0">
                          <a:solidFill>
                            <a:srgbClr val="FFFFFF"/>
                          </a:solidFill>
                          <a:latin typeface="Calibri"/>
                        </a:rPr>
                        <a:t>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50" b="1" i="0">
                          <a:solidFill>
                            <a:srgbClr val="FFFFFF"/>
                          </a:solidFill>
                          <a:latin typeface="Calibri"/>
                        </a:rPr>
                        <a:t>Slides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50" b="1" i="0">
                          <a:solidFill>
                            <a:srgbClr val="FFFFFF"/>
                          </a:solidFill>
                          <a:latin typeface="Calibri"/>
                        </a:rPr>
                        <a:t>Code examples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50" b="1" i="0">
                          <a:solidFill>
                            <a:srgbClr val="FFFFFF"/>
                          </a:solidFill>
                          <a:latin typeface="Calibri"/>
                        </a:rPr>
                        <a:t>You will run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250" b="1" i="0">
                          <a:solidFill>
                            <a:srgbClr val="1F2933"/>
                          </a:solidFill>
                          <a:latin typeface="Calibri"/>
                        </a:rPr>
                        <a:t>Reading CSV files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4 - 10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a small CSV file: reader, loop, header row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250" b="1" i="0">
                          <a:solidFill>
                            <a:srgbClr val="1F2933"/>
                          </a:solidFill>
                          <a:latin typeface="Calibri"/>
                        </a:rPr>
                        <a:t>Writing CSV files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11 - 19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writer, tabs, newline, quoting, encoding, dictionaries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250" b="1" i="0">
                          <a:solidFill>
                            <a:srgbClr val="1F2933"/>
                          </a:solidFill>
                          <a:latin typeface="Calibri"/>
                        </a:rPr>
                        <a:t>Project 13, remove the header row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20 - 25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Project 13 in three steps, and a column total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250" b="1" i="0">
                          <a:solidFill>
                            <a:srgbClr val="1F2933"/>
                          </a:solidFill>
                          <a:latin typeface="Calibri"/>
                        </a:rPr>
                        <a:t>JSON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26 - 33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loads, dumps, strict syntax, files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250" b="1" i="0">
                          <a:solidFill>
                            <a:srgbClr val="1F2933"/>
                          </a:solidFill>
                          <a:latin typeface="Calibri"/>
                        </a:rPr>
                        <a:t>XML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34 - 44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ElementTree, namespaces, xmltodict, defusedxml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250" b="1" i="0">
                          <a:solidFill>
                            <a:srgbClr val="1F2933"/>
                          </a:solidFill>
                          <a:latin typeface="Calibri"/>
                        </a:rPr>
                        <a:t>Practice program, Excel to CSV</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45 - 48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a workbook, and one CSV file for each sheet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250" b="1" i="0">
                          <a:solidFill>
                            <a:srgbClr val="1F2933"/>
                          </a:solidFill>
                          <a:latin typeface="Calibri"/>
                        </a:rPr>
                        <a:t>Tools, summary, practice, links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49 - 53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which call does what, what changed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Open the chapter-code tab of the page: the same 27 examples, in this order.</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 / 53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Two questions this chapter answers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Carry them through every part; the answers come back at the end</a:t>
            </a:r>
          </a:p>
        </p:txBody>
      </p:sp>
      <p:sp>
        <p:nvSpPr>
          <p:cNvPr id="5" name="card"/>
          <p:cNvSpPr/>
          <p:nvPr/>
        </p:nvSpPr>
        <p:spPr>
          <a:xfrm>
            <a:off x="457200" y="1188720"/>
            <a:ext cx="8229600" cy="141732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371600"/>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1</a:t>
            </a:r>
          </a:p>
        </p:txBody>
      </p:sp>
      <p:sp>
        <p:nvSpPr>
          <p:cNvPr id="7" name="question"/>
          <p:cNvSpPr txBox="1"/>
          <p:nvPr/>
        </p:nvSpPr>
        <p:spPr>
          <a:xfrm>
            <a:off x="1280160" y="1298448"/>
            <a:ext cx="7223760" cy="685800"/>
          </a:xfrm>
          <a:prstGeom prst="rect">
            <a:avLst/>
          </a:prstGeom>
          <a:noFill/>
        </p:spPr>
        <p:txBody>
          <a:bodyPr wrap="square" lIns="45720" rIns="45720" tIns="27432" bIns="27432" anchor="ctr">
            <a:spAutoFit/>
          </a:bodyPr>
          <a:lstStyle/>
          <a:p>
            <a:r>
              <a:rPr sz="1600" b="1" i="0">
                <a:solidFill>
                  <a:srgbClr val="1F2933"/>
                </a:solidFill>
                <a:latin typeface="Calibri"/>
              </a:rPr>
              <a:t>How do you read and write a table, a record and a tree with the standard library, and what does each format lose?</a:t>
            </a:r>
          </a:p>
        </p:txBody>
      </p:sp>
      <p:sp>
        <p:nvSpPr>
          <p:cNvPr id="8" name="answer"/>
          <p:cNvSpPr txBox="1"/>
          <p:nvPr/>
        </p:nvSpPr>
        <p:spPr>
          <a:xfrm>
            <a:off x="1280160" y="2057400"/>
            <a:ext cx="7223760" cy="411480"/>
          </a:xfrm>
          <a:prstGeom prst="rect">
            <a:avLst/>
          </a:prstGeom>
          <a:noFill/>
        </p:spPr>
        <p:txBody>
          <a:bodyPr wrap="square" lIns="45720" rIns="45720" tIns="27432" bIns="27432" anchor="ctr">
            <a:spAutoFit/>
          </a:bodyPr>
          <a:lstStyle/>
          <a:p>
            <a:r>
              <a:rPr sz="1250" b="0" i="0">
                <a:solidFill>
                  <a:srgbClr val="0E7C86"/>
                </a:solidFill>
                <a:latin typeface="Calibri"/>
              </a:rPr>
              <a:t>Answer on slide 49: the calls, and what each one needs.</a:t>
            </a:r>
          </a:p>
        </p:txBody>
      </p:sp>
      <p:sp>
        <p:nvSpPr>
          <p:cNvPr id="9" name="card"/>
          <p:cNvSpPr/>
          <p:nvPr/>
        </p:nvSpPr>
        <p:spPr>
          <a:xfrm>
            <a:off x="457200" y="2788920"/>
            <a:ext cx="8229600" cy="141732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2971800"/>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2</a:t>
            </a:r>
          </a:p>
        </p:txBody>
      </p:sp>
      <p:sp>
        <p:nvSpPr>
          <p:cNvPr id="11" name="question"/>
          <p:cNvSpPr txBox="1"/>
          <p:nvPr/>
        </p:nvSpPr>
        <p:spPr>
          <a:xfrm>
            <a:off x="1280160" y="2898648"/>
            <a:ext cx="7223760" cy="685800"/>
          </a:xfrm>
          <a:prstGeom prst="rect">
            <a:avLst/>
          </a:prstGeom>
          <a:noFill/>
        </p:spPr>
        <p:txBody>
          <a:bodyPr wrap="square" lIns="45720" rIns="45720" tIns="27432" bIns="27432" anchor="ctr">
            <a:spAutoFit/>
          </a:bodyPr>
          <a:lstStyle/>
          <a:p>
            <a:r>
              <a:rPr sz="1600" b="1" i="0">
                <a:solidFill>
                  <a:srgbClr val="1F2933"/>
                </a:solidFill>
                <a:latin typeface="Calibri"/>
              </a:rPr>
              <a:t>Which printed outputs, programs and statements of the book differ in Python today?</a:t>
            </a:r>
          </a:p>
        </p:txBody>
      </p:sp>
      <p:sp>
        <p:nvSpPr>
          <p:cNvPr id="12" name="answer"/>
          <p:cNvSpPr txBox="1"/>
          <p:nvPr/>
        </p:nvSpPr>
        <p:spPr>
          <a:xfrm>
            <a:off x="1280160" y="3657600"/>
            <a:ext cx="7223760" cy="411480"/>
          </a:xfrm>
          <a:prstGeom prst="rect">
            <a:avLst/>
          </a:prstGeom>
          <a:noFill/>
        </p:spPr>
        <p:txBody>
          <a:bodyPr wrap="square" lIns="45720" rIns="45720" tIns="27432" bIns="27432" anchor="ctr">
            <a:spAutoFit/>
          </a:bodyPr>
          <a:lstStyle/>
          <a:p>
            <a:r>
              <a:rPr sz="1250" b="0" i="0">
                <a:solidFill>
                  <a:srgbClr val="0E7C86"/>
                </a:solidFill>
                <a:latin typeface="Calibri"/>
              </a:rPr>
              <a:t>Answer on slide 50: the changes, from the chapter research.</a:t>
            </a:r>
          </a:p>
        </p:txBody>
      </p:sp>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table, a record and a tree are three shapes of one idea: data kept as text.</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 / 53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2800" b="1" i="0">
                <a:solidFill>
                  <a:srgbClr val="1F2933"/>
                </a:solidFill>
                <a:latin typeface="Calibri"/>
              </a:rPr>
              <a:t>Part 1: Reading CSV files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Records on lines, fields in records: a reader, a for loop, the header row</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reader()</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Turns file lines into lists of fields.</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list()</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Keeps every row; a reader runs only once.</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line_num</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Counts lines read, not records.</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next()</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Takes one row off the reader.</a:t>
            </a:r>
          </a:p>
        </p:txBody>
      </p:sp>
      <p:graphicFrame>
        <p:nvGraphicFramePr>
          <p:cNvPr id="13" name="table"/>
          <p:cNvGraphicFramePr>
            <a:graphicFrameLocks noGrp="1"/>
          </p:cNvGraphicFramePr>
          <p:nvPr/>
        </p:nvGraphicFramePr>
        <p:xfrm>
          <a:off x="5303520" y="1417320"/>
          <a:ext cx="3474719" cy="256032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the CSV format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Story: Commas between values on IBM mainf...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The CSV format: why split(',') is not eno...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Reading CSV files: reader(), list() and 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Accessing data in a for loop: one row at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Handling header rows: next() and line_num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 / 53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the CSV format</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CSV file is like a paper register: one line for each entry, and commas as the column lines.</a:t>
            </a:r>
          </a:p>
        </p:txBody>
      </p:sp>
      <p:graphicFrame>
        <p:nvGraphicFramePr>
          <p:cNvPr id="6" name="table"/>
          <p:cNvGraphicFramePr>
            <a:graphicFrameLocks noGrp="1"/>
          </p:cNvGraphicFramePr>
          <p:nvPr/>
        </p:nvGraphicFramePr>
        <p:xfrm>
          <a:off x="365760" y="1417320"/>
          <a:ext cx="8412480" cy="2743200"/>
        </p:xfrm>
        <a:graphic>
          <a:graphicData uri="http://schemas.openxmlformats.org/drawingml/2006/table">
            <a:tbl>
              <a:tblPr firstRow="0" bandRow="0"/>
              <a:tblGrid>
                <a:gridCol w="3108960"/>
                <a:gridCol w="530352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The CSV Format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paper register: every line is one entry, and commas mark where one column ends.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csv</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The clerk who knows the register's rules, such as quoted names with commas inside them.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Reading CSV Files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Reading the register line by line and cutting each line into its columns.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Accessing Data in a for Loop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Turning the pages one at a time instead of photocopying the whole book.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Writing CSV Files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Copying entries into a new register, one line for each entry.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 / 53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Story: Commas between values on IBM mainframes, 1972</a:t>
            </a:r>
          </a:p>
        </p:txBody>
      </p:sp>
      <p:pic>
        <p:nvPicPr>
          <p:cNvPr id="4" name="photo ibm" descr="Picture for the story: Commas between values on IBM mainframes, 1972"/>
          <p:cNvPicPr>
            <a:picLocks noChangeAspect="1"/>
          </p:cNvPicPr>
          <p:nvPr/>
        </p:nvPicPr>
        <p:blipFill>
          <a:blip r:embed="rId3"/>
          <a:stretch>
            <a:fillRect/>
          </a:stretch>
        </p:blipFill>
        <p:spPr>
          <a:xfrm>
            <a:off x="365840" y="868680"/>
            <a:ext cx="2651598"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An IBM System/360 console and tape drives: the machine family, not the compiler. Photo: Erik Pitti, CC BY 2.0, Flickr.</a:t>
            </a:r>
          </a:p>
        </p:txBody>
      </p:sp>
      <p:sp>
        <p:nvSpPr>
          <p:cNvPr id="6" name="card"/>
          <p:cNvSpPr/>
          <p:nvPr/>
        </p:nvSpPr>
        <p:spPr>
          <a:xfrm>
            <a:off x="3200400" y="8412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IBM, whose Fortran (level H extended) compiler read values separated by commas.</a:t>
            </a:r>
          </a:p>
        </p:txBody>
      </p:sp>
      <p:sp>
        <p:nvSpPr>
          <p:cNvPr id="8" name="card"/>
          <p:cNvSpPr/>
          <p:nvPr/>
        </p:nvSpPr>
        <p:spPr>
          <a:xfrm>
            <a:off x="3200400" y="14081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081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List-directed input and output with commas between the values: the root of today's CSV files.</a:t>
            </a:r>
          </a:p>
        </p:txBody>
      </p:sp>
      <p:sp>
        <p:nvSpPr>
          <p:cNvPr id="10" name="card"/>
          <p:cNvSpPr/>
          <p:nvPr/>
        </p:nvSpPr>
        <p:spPr>
          <a:xfrm>
            <a:off x="3200400" y="1975104"/>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75104"/>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In 1972; the name CSV was in use by 1983.</a:t>
            </a:r>
          </a:p>
        </p:txBody>
      </p:sp>
      <p:sp>
        <p:nvSpPr>
          <p:cNvPr id="12" name="card"/>
          <p:cNvSpPr/>
          <p:nvPr/>
        </p:nvSpPr>
        <p:spPr>
          <a:xfrm>
            <a:off x="3200400" y="24414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4414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On IBM OS/360 mainframes; by 1983 the Osborne Executive's SuperCalc manual documented CSV quoting.</a:t>
            </a:r>
          </a:p>
        </p:txBody>
      </p:sp>
      <p:sp>
        <p:nvSpPr>
          <p:cNvPr id="14" name="card"/>
          <p:cNvSpPr/>
          <p:nvPr/>
        </p:nvSpPr>
        <p:spPr>
          <a:xfrm>
            <a:off x="3200400" y="30083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0083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Free-form input saved counting columns, but an unquoted string could hold no comma and no space.</a:t>
            </a:r>
          </a:p>
        </p:txBody>
      </p:sp>
      <p:sp>
        <p:nvSpPr>
          <p:cNvPr id="16" name="card"/>
          <p:cNvSpPr/>
          <p:nvPr/>
        </p:nvSpPr>
        <p:spPr>
          <a:xfrm>
            <a:off x="3200400" y="3575304"/>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575304"/>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Quotes are the later answer: csv.reader keeps a comma inside quotes in one field, as the first example showed.</a:t>
            </a:r>
          </a:p>
        </p:txBody>
      </p:sp>
      <p:sp>
        <p:nvSpPr>
          <p:cNvPr id="18" name="read"/>
          <p:cNvSpPr txBox="1"/>
          <p:nvPr/>
        </p:nvSpPr>
        <p:spPr>
          <a:xfrm>
            <a:off x="3200400" y="4160520"/>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Comma-separated values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6 / 53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The CSV format: why split(',') is not enough</a:t>
            </a:r>
          </a:p>
        </p:txBody>
      </p:sp>
      <p:sp>
        <p:nvSpPr>
          <p:cNvPr id="4" name="code"/>
          <p:cNvSpPr/>
          <p:nvPr/>
        </p:nvSpPr>
        <p:spPr>
          <a:xfrm>
            <a:off x="365760" y="786384"/>
            <a:ext cx="5117591"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csv</a:t>
            </a:r>
          </a:p>
          <a:p>
            <a:pPr algn="l"/>
            <a:r>
              <a:rPr sz="1100" b="0" i="0">
                <a:solidFill>
                  <a:srgbClr val="8FA3B8"/>
                </a:solidFill>
                <a:latin typeface="Courier New"/>
              </a:rPr>
              <a:t>&gt;&gt;&gt; </a:t>
            </a:r>
            <a:r>
              <a:rPr sz="1100" b="0" i="0">
                <a:solidFill>
                  <a:srgbClr val="E6EDF3"/>
                </a:solidFill>
                <a:latin typeface="Courier New"/>
              </a:rPr>
              <a:t>line</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'Alice,30,"San Francisco, CA"'</a:t>
            </a:r>
          </a:p>
        </p:txBody>
      </p:sp>
      <p:sp>
        <p:nvSpPr>
          <p:cNvPr id="5" name="explanation"/>
          <p:cNvSpPr txBox="1"/>
          <p:nvPr/>
        </p:nvSpPr>
        <p:spPr>
          <a:xfrm>
            <a:off x="5465064" y="786384"/>
            <a:ext cx="3313176" cy="699516"/>
          </a:xfrm>
          <a:prstGeom prst="rect">
            <a:avLst/>
          </a:prstGeom>
          <a:noFill/>
        </p:spPr>
        <p:txBody>
          <a:bodyPr wrap="square" lIns="128016" rIns="128016" tIns="18288" bIns="18288" anchor="ctr">
            <a:spAutoFit/>
          </a:bodyPr>
          <a:lstStyle/>
          <a:p>
            <a:r>
              <a:rPr sz="1200" b="0" i="0">
                <a:solidFill>
                  <a:srgbClr val="1F2933"/>
                </a:solidFill>
                <a:latin typeface="Calibri"/>
              </a:rPr>
              <a:t>One CSV line with three fields. The third field holds a comma, so it is wrapped in double quotes.</a:t>
            </a:r>
          </a:p>
        </p:txBody>
      </p:sp>
      <p:sp>
        <p:nvSpPr>
          <p:cNvPr id="6" name="code"/>
          <p:cNvSpPr/>
          <p:nvPr/>
        </p:nvSpPr>
        <p:spPr>
          <a:xfrm>
            <a:off x="365760" y="1531620"/>
            <a:ext cx="5117591"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'split:'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line</a:t>
            </a:r>
            <a:r>
              <a:rPr sz="1100" b="0" i="0">
                <a:solidFill>
                  <a:srgbClr val="E6EDF3"/>
                </a:solidFill>
                <a:latin typeface="Courier New"/>
              </a:rPr>
              <a:t>.</a:t>
            </a:r>
            <a:r>
              <a:rPr sz="1100" b="0" i="0">
                <a:solidFill>
                  <a:srgbClr val="E6EDF3"/>
                </a:solidFill>
                <a:latin typeface="Courier New"/>
              </a:rPr>
              <a:t>split</a:t>
            </a:r>
            <a:r>
              <a:rPr sz="1100" b="0" i="0">
                <a:solidFill>
                  <a:srgbClr val="E6EDF3"/>
                </a:solidFill>
                <a:latin typeface="Courier New"/>
              </a:rPr>
              <a:t>(</a:t>
            </a:r>
            <a:r>
              <a:rPr sz="1100" b="0" i="0">
                <a:solidFill>
                  <a:srgbClr val="9BE3A8"/>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'reader:'</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next</a:t>
            </a:r>
            <a:r>
              <a:rPr sz="1100" b="0" i="0">
                <a:solidFill>
                  <a:srgbClr val="E6EDF3"/>
                </a:solidFill>
                <a:latin typeface="Courier New"/>
              </a:rPr>
              <a:t>(</a:t>
            </a:r>
            <a:r>
              <a:rPr sz="1100" b="0" i="0">
                <a:solidFill>
                  <a:srgbClr val="E6EDF3"/>
                </a:solidFill>
                <a:latin typeface="Courier New"/>
              </a:rPr>
              <a:t>csv</a:t>
            </a:r>
            <a:r>
              <a:rPr sz="1100" b="0" i="0">
                <a:solidFill>
                  <a:srgbClr val="E6EDF3"/>
                </a:solidFill>
                <a:latin typeface="Courier New"/>
              </a:rPr>
              <a:t>.</a:t>
            </a:r>
            <a:r>
              <a:rPr sz="1100" b="0" i="0">
                <a:solidFill>
                  <a:srgbClr val="E6EDF3"/>
                </a:solidFill>
                <a:latin typeface="Courier New"/>
              </a:rPr>
              <a:t>reader</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line</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5465064" y="1531620"/>
            <a:ext cx="3313176" cy="699516"/>
          </a:xfrm>
          <a:prstGeom prst="rect">
            <a:avLst/>
          </a:prstGeom>
          <a:noFill/>
        </p:spPr>
        <p:txBody>
          <a:bodyPr wrap="square" lIns="128016" rIns="128016" tIns="18288" bIns="18288" anchor="ctr">
            <a:spAutoFit/>
          </a:bodyPr>
          <a:lstStyle/>
          <a:p>
            <a:r>
              <a:rPr sz="1200" b="0" i="0">
                <a:solidFill>
                  <a:srgbClr val="1F2933"/>
                </a:solidFill>
                <a:latin typeface="Calibri"/>
              </a:rPr>
              <a:t>split() cuts at every comma and gives four pieces. csv.reader honours the quotes and gives the three fields.</a:t>
            </a:r>
          </a:p>
        </p:txBody>
      </p:sp>
      <p:sp>
        <p:nvSpPr>
          <p:cNvPr id="8" name="code"/>
          <p:cNvSpPr/>
          <p:nvPr/>
        </p:nvSpPr>
        <p:spPr>
          <a:xfrm>
            <a:off x="365760" y="2276856"/>
            <a:ext cx="5117591"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text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'spam,eggs\r\nbacon,ham\r\n'</a:t>
            </a:r>
          </a:p>
          <a:p>
            <a:pPr algn="l"/>
            <a:r>
              <a:rPr sz="1100" b="0" i="0">
                <a:solidFill>
                  <a:srgbClr val="8FA3B8"/>
                </a:solidFill>
                <a:latin typeface="Courier New"/>
              </a:rPr>
              <a:t>&gt;&gt;&gt; </a:t>
            </a:r>
            <a:r>
              <a:rPr sz="1100" b="0" i="0">
                <a:solidFill>
                  <a:srgbClr val="E6EDF3"/>
                </a:solidFill>
                <a:latin typeface="Courier New"/>
              </a:rPr>
              <a:t>rows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list</a:t>
            </a:r>
            <a:r>
              <a:rPr sz="1100" b="0" i="0">
                <a:solidFill>
                  <a:srgbClr val="E6EDF3"/>
                </a:solidFill>
                <a:latin typeface="Courier New"/>
              </a:rPr>
              <a:t>(</a:t>
            </a:r>
            <a:r>
              <a:rPr sz="1100" b="0" i="0">
                <a:solidFill>
                  <a:srgbClr val="E6EDF3"/>
                </a:solidFill>
                <a:latin typeface="Courier New"/>
              </a:rPr>
              <a:t>csv</a:t>
            </a:r>
            <a:r>
              <a:rPr sz="1100" b="0" i="0">
                <a:solidFill>
                  <a:srgbClr val="E6EDF3"/>
                </a:solidFill>
                <a:latin typeface="Courier New"/>
              </a:rPr>
              <a:t>.</a:t>
            </a:r>
            <a:r>
              <a:rPr sz="1100" b="0" i="0">
                <a:solidFill>
                  <a:srgbClr val="E6EDF3"/>
                </a:solidFill>
                <a:latin typeface="Courier New"/>
              </a:rPr>
              <a:t>reader</a:t>
            </a:r>
            <a:r>
              <a:rPr sz="1100" b="0" i="0">
                <a:solidFill>
                  <a:srgbClr val="E6EDF3"/>
                </a:solidFill>
                <a:latin typeface="Courier New"/>
              </a:rPr>
              <a:t>(</a:t>
            </a:r>
            <a:r>
              <a:rPr sz="1100" b="0" i="0">
                <a:solidFill>
                  <a:srgbClr val="E6EDF3"/>
                </a:solidFill>
                <a:latin typeface="Courier New"/>
              </a:rPr>
              <a:t>text</a:t>
            </a:r>
            <a:r>
              <a:rPr sz="1100" b="0" i="0">
                <a:solidFill>
                  <a:srgbClr val="E6EDF3"/>
                </a:solidFill>
                <a:latin typeface="Courier New"/>
              </a:rPr>
              <a:t>.</a:t>
            </a:r>
            <a:r>
              <a:rPr sz="1100" b="0" i="0">
                <a:solidFill>
                  <a:srgbClr val="E6EDF3"/>
                </a:solidFill>
                <a:latin typeface="Courier New"/>
              </a:rPr>
              <a:t>splitlines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len</a:t>
            </a:r>
            <a:r>
              <a:rPr sz="1100" b="0" i="0">
                <a:solidFill>
                  <a:srgbClr val="E6EDF3"/>
                </a:solidFill>
                <a:latin typeface="Courier New"/>
              </a:rPr>
              <a:t>(</a:t>
            </a:r>
            <a:r>
              <a:rPr sz="1100" b="0" i="0">
                <a:solidFill>
                  <a:srgbClr val="E6EDF3"/>
                </a:solidFill>
                <a:latin typeface="Courier New"/>
              </a:rPr>
              <a:t>rows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'records of'</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len</a:t>
            </a:r>
            <a:r>
              <a:rPr sz="1100" b="0" i="0">
                <a:solidFill>
                  <a:srgbClr val="E6EDF3"/>
                </a:solidFill>
                <a:latin typeface="Courier New"/>
              </a:rPr>
              <a:t>(</a:t>
            </a:r>
            <a:r>
              <a:rPr sz="1100" b="0" i="0">
                <a:solidFill>
                  <a:srgbClr val="E6EDF3"/>
                </a:solidFill>
                <a:latin typeface="Courier New"/>
              </a:rPr>
              <a:t>rows</a:t>
            </a:r>
            <a:r>
              <a:rPr sz="1100" b="0" i="0">
                <a:solidFill>
                  <a:srgbClr val="E6EDF3"/>
                </a:solidFill>
                <a:latin typeface="Courier New"/>
              </a:rPr>
              <a:t>[</a:t>
            </a:r>
            <a:r>
              <a:rPr sz="1100" b="0" i="0">
                <a:solidFill>
                  <a:srgbClr val="7CC4FF"/>
                </a:solidFill>
                <a:latin typeface="Courier New"/>
              </a:rPr>
              <a:t>0</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'fields'</a:t>
            </a:r>
            <a:r>
              <a:rPr sz="1100" b="0" i="0">
                <a:solidFill>
                  <a:srgbClr val="E6EDF3"/>
                </a:solidFill>
                <a:latin typeface="Courier New"/>
              </a:rPr>
              <a:t>)</a:t>
            </a:r>
          </a:p>
        </p:txBody>
      </p:sp>
      <p:sp>
        <p:nvSpPr>
          <p:cNvPr id="9" name="explanation"/>
          <p:cNvSpPr txBox="1"/>
          <p:nvPr/>
        </p:nvSpPr>
        <p:spPr>
          <a:xfrm>
            <a:off x="5465064" y="2276856"/>
            <a:ext cx="3313176" cy="699516"/>
          </a:xfrm>
          <a:prstGeom prst="rect">
            <a:avLst/>
          </a:prstGeom>
          <a:noFill/>
        </p:spPr>
        <p:txBody>
          <a:bodyPr wrap="square" lIns="128016" rIns="128016" tIns="18288" bIns="18288" anchor="ctr">
            <a:spAutoFit/>
          </a:bodyPr>
          <a:lstStyle/>
          <a:p>
            <a:r>
              <a:rPr sz="1200" b="0" i="0">
                <a:solidFill>
                  <a:srgbClr val="1F2933"/>
                </a:solidFill>
                <a:latin typeface="Calibri"/>
              </a:rPr>
              <a:t>A CSV file is a list of records, one per line; a record is a list of fields.</a:t>
            </a:r>
          </a:p>
        </p:txBody>
      </p:sp>
      <p:sp>
        <p:nvSpPr>
          <p:cNvPr id="10" name="result label"/>
          <p:cNvSpPr txBox="1"/>
          <p:nvPr/>
        </p:nvSpPr>
        <p:spPr>
          <a:xfrm>
            <a:off x="365760" y="3031236"/>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w label"/>
          <p:cNvSpPr txBox="1"/>
          <p:nvPr/>
        </p:nvSpPr>
        <p:spPr>
          <a:xfrm>
            <a:off x="365760" y="3314700"/>
            <a:ext cx="1325880" cy="365760"/>
          </a:xfrm>
          <a:prstGeom prst="rect">
            <a:avLst/>
          </a:prstGeom>
          <a:noFill/>
        </p:spPr>
        <p:txBody>
          <a:bodyPr wrap="square" lIns="45720" rIns="45720" tIns="27432" bIns="27432" anchor="ctr">
            <a:spAutoFit/>
          </a:bodyPr>
          <a:lstStyle/>
          <a:p>
            <a:r>
              <a:rPr sz="1100" b="1" i="0">
                <a:solidFill>
                  <a:srgbClr val="1F2933"/>
                </a:solidFill>
                <a:latin typeface="Courier New"/>
              </a:rPr>
              <a:t>split(',')</a:t>
            </a:r>
          </a:p>
        </p:txBody>
      </p:sp>
      <p:sp>
        <p:nvSpPr>
          <p:cNvPr id="12" name="Rounded Rectangle 11"/>
          <p:cNvSpPr/>
          <p:nvPr/>
        </p:nvSpPr>
        <p:spPr>
          <a:xfrm>
            <a:off x="1737360" y="3323844"/>
            <a:ext cx="1371600" cy="36576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'Alice'</a:t>
            </a:r>
          </a:p>
        </p:txBody>
      </p:sp>
      <p:sp>
        <p:nvSpPr>
          <p:cNvPr id="13" name="Rounded Rectangle 12"/>
          <p:cNvSpPr/>
          <p:nvPr/>
        </p:nvSpPr>
        <p:spPr>
          <a:xfrm>
            <a:off x="3218688" y="3323844"/>
            <a:ext cx="1371600" cy="36576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'30'</a:t>
            </a:r>
          </a:p>
        </p:txBody>
      </p:sp>
      <p:sp>
        <p:nvSpPr>
          <p:cNvPr id="14" name="Rounded Rectangle 13"/>
          <p:cNvSpPr/>
          <p:nvPr/>
        </p:nvSpPr>
        <p:spPr>
          <a:xfrm>
            <a:off x="4700016" y="3323844"/>
            <a:ext cx="1371600" cy="36576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'"San Francisco'</a:t>
            </a:r>
          </a:p>
        </p:txBody>
      </p:sp>
      <p:sp>
        <p:nvSpPr>
          <p:cNvPr id="15" name="Rounded Rectangle 14"/>
          <p:cNvSpPr/>
          <p:nvPr/>
        </p:nvSpPr>
        <p:spPr>
          <a:xfrm>
            <a:off x="6181344" y="3323844"/>
            <a:ext cx="1371600" cy="36576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 CA"'</a:t>
            </a:r>
          </a:p>
        </p:txBody>
      </p:sp>
      <p:sp>
        <p:nvSpPr>
          <p:cNvPr id="16" name="count"/>
          <p:cNvSpPr txBox="1"/>
          <p:nvPr/>
        </p:nvSpPr>
        <p:spPr>
          <a:xfrm>
            <a:off x="7662672" y="3323844"/>
            <a:ext cx="1188720" cy="365760"/>
          </a:xfrm>
          <a:prstGeom prst="rect">
            <a:avLst/>
          </a:prstGeom>
          <a:noFill/>
        </p:spPr>
        <p:txBody>
          <a:bodyPr wrap="square" lIns="45720" rIns="45720" tIns="27432" bIns="27432" anchor="ctr">
            <a:spAutoFit/>
          </a:bodyPr>
          <a:lstStyle/>
          <a:p>
            <a:r>
              <a:rPr sz="1100" b="1" i="0">
                <a:solidFill>
                  <a:srgbClr val="B83A1B"/>
                </a:solidFill>
                <a:latin typeface="Calibri"/>
              </a:rPr>
              <a:t>4 pieces</a:t>
            </a:r>
          </a:p>
        </p:txBody>
      </p:sp>
      <p:cxnSp>
        <p:nvCxnSpPr>
          <p:cNvPr id="17" name="arrow"/>
          <p:cNvCxnSpPr/>
          <p:nvPr/>
        </p:nvCxnSpPr>
        <p:spPr>
          <a:xfrm>
            <a:off x="1005840" y="3698748"/>
            <a:ext cx="0" cy="109728"/>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w label"/>
          <p:cNvSpPr txBox="1"/>
          <p:nvPr/>
        </p:nvSpPr>
        <p:spPr>
          <a:xfrm>
            <a:off x="365760" y="3826763"/>
            <a:ext cx="1325880" cy="365760"/>
          </a:xfrm>
          <a:prstGeom prst="rect">
            <a:avLst/>
          </a:prstGeom>
          <a:noFill/>
        </p:spPr>
        <p:txBody>
          <a:bodyPr wrap="square" lIns="45720" rIns="45720" tIns="27432" bIns="27432" anchor="ctr">
            <a:spAutoFit/>
          </a:bodyPr>
          <a:lstStyle/>
          <a:p>
            <a:r>
              <a:rPr sz="1100" b="1" i="0">
                <a:solidFill>
                  <a:srgbClr val="1F2933"/>
                </a:solidFill>
                <a:latin typeface="Courier New"/>
              </a:rPr>
              <a:t>csv.reader</a:t>
            </a:r>
          </a:p>
        </p:txBody>
      </p:sp>
      <p:sp>
        <p:nvSpPr>
          <p:cNvPr id="19" name="Rounded Rectangle 18"/>
          <p:cNvSpPr/>
          <p:nvPr/>
        </p:nvSpPr>
        <p:spPr>
          <a:xfrm>
            <a:off x="1737360" y="3826763"/>
            <a:ext cx="1828800" cy="36576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'Alice'</a:t>
            </a:r>
          </a:p>
        </p:txBody>
      </p:sp>
      <p:sp>
        <p:nvSpPr>
          <p:cNvPr id="20" name="Rounded Rectangle 19"/>
          <p:cNvSpPr/>
          <p:nvPr/>
        </p:nvSpPr>
        <p:spPr>
          <a:xfrm>
            <a:off x="3657600" y="3826763"/>
            <a:ext cx="1828800" cy="36576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'30'</a:t>
            </a:r>
          </a:p>
        </p:txBody>
      </p:sp>
      <p:sp>
        <p:nvSpPr>
          <p:cNvPr id="21" name="Rounded Rectangle 20"/>
          <p:cNvSpPr/>
          <p:nvPr/>
        </p:nvSpPr>
        <p:spPr>
          <a:xfrm>
            <a:off x="5577840" y="3826763"/>
            <a:ext cx="1828800" cy="36576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'San Francisco, CA'</a:t>
            </a:r>
          </a:p>
        </p:txBody>
      </p:sp>
      <p:sp>
        <p:nvSpPr>
          <p:cNvPr id="22" name="count"/>
          <p:cNvSpPr txBox="1"/>
          <p:nvPr/>
        </p:nvSpPr>
        <p:spPr>
          <a:xfrm>
            <a:off x="7498080" y="3826763"/>
            <a:ext cx="1280160" cy="365760"/>
          </a:xfrm>
          <a:prstGeom prst="rect">
            <a:avLst/>
          </a:prstGeom>
          <a:noFill/>
        </p:spPr>
        <p:txBody>
          <a:bodyPr wrap="square" lIns="45720" rIns="45720" tIns="27432" bIns="27432" anchor="ctr">
            <a:spAutoFit/>
          </a:bodyPr>
          <a:lstStyle/>
          <a:p>
            <a:r>
              <a:rPr sz="1100" b="1" i="0">
                <a:solidFill>
                  <a:srgbClr val="2F855A"/>
                </a:solidFill>
                <a:latin typeface="Calibri"/>
              </a:rPr>
              <a:t>3 fields</a:t>
            </a:r>
          </a:p>
        </p:txBody>
      </p:sp>
      <p:sp>
        <p:nvSpPr>
          <p:cNvPr id="23" name="visual note"/>
          <p:cNvSpPr txBox="1"/>
          <p:nvPr/>
        </p:nvSpPr>
        <p:spPr>
          <a:xfrm>
            <a:off x="365760" y="4238244"/>
            <a:ext cx="8412480" cy="201168"/>
          </a:xfrm>
          <a:prstGeom prst="rect">
            <a:avLst/>
          </a:prstGeom>
          <a:noFill/>
        </p:spPr>
        <p:txBody>
          <a:bodyPr wrap="square" lIns="45720" rIns="45720" tIns="27432" bIns="27432" anchor="t">
            <a:spAutoFit/>
          </a:bodyPr>
          <a:lstStyle/>
          <a:p>
            <a:r>
              <a:rPr sz="950" b="0" i="1">
                <a:solidFill>
                  <a:srgbClr val="5B6773"/>
                </a:solidFill>
                <a:latin typeface="Calibri"/>
              </a:rPr>
              <a:t>red: the field with the comma was cut in two; green: the fields as the file means them. Then: 2 records of 2 fields</a:t>
            </a:r>
          </a:p>
        </p:txBody>
      </p:sp>
      <p:sp>
        <p:nvSpPr>
          <p:cNvPr id="2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Never split a CSV line on commas yourself.</a:t>
            </a:r>
          </a:p>
        </p:txBody>
      </p:sp>
      <p:sp>
        <p:nvSpPr>
          <p:cNvPr id="2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7 / 53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Reading CSV files: reader(), list() and one value</a:t>
            </a:r>
          </a:p>
        </p:txBody>
      </p:sp>
      <p:sp>
        <p:nvSpPr>
          <p:cNvPr id="4" name="code"/>
          <p:cNvSpPr/>
          <p:nvPr/>
        </p:nvSpPr>
        <p:spPr>
          <a:xfrm>
            <a:off x="365760" y="786384"/>
            <a:ext cx="5620512" cy="81889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csv</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tempfile</a:t>
            </a:r>
          </a:p>
          <a:p>
            <a:pPr algn="l"/>
            <a:r>
              <a:rPr sz="1100" b="0" i="0">
                <a:solidFill>
                  <a:srgbClr val="8FA3B8"/>
                </a:solidFill>
                <a:latin typeface="Courier New"/>
              </a:rPr>
              <a:t>&gt;&gt;&gt;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chdir</a:t>
            </a:r>
            <a:r>
              <a:rPr sz="1100" b="0" i="0">
                <a:solidFill>
                  <a:srgbClr val="E6EDF3"/>
                </a:solidFill>
                <a:latin typeface="Courier New"/>
              </a:rPr>
              <a:t>(</a:t>
            </a:r>
            <a:r>
              <a:rPr sz="1100" b="0" i="0">
                <a:solidFill>
                  <a:srgbClr val="E6EDF3"/>
                </a:solidFill>
                <a:latin typeface="Courier New"/>
              </a:rPr>
              <a:t>tempfile</a:t>
            </a:r>
            <a:r>
              <a:rPr sz="1100" b="0" i="0">
                <a:solidFill>
                  <a:srgbClr val="E6EDF3"/>
                </a:solidFill>
                <a:latin typeface="Courier New"/>
              </a:rPr>
              <a:t>.</a:t>
            </a:r>
            <a:r>
              <a:rPr sz="1100" b="0" i="0">
                <a:solidFill>
                  <a:srgbClr val="E6EDF3"/>
                </a:solidFill>
                <a:latin typeface="Courier New"/>
              </a:rPr>
              <a:t>mkdtemp</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with</a:t>
            </a:r>
            <a:r>
              <a:rPr sz="1100" b="0" i="0">
                <a:solidFill>
                  <a:srgbClr val="E6EDF3"/>
                </a:solidFill>
                <a:latin typeface="Courier New"/>
              </a:rPr>
              <a:t> </a:t>
            </a:r>
            <a:r>
              <a:rPr sz="1100" b="0" i="0">
                <a:solidFill>
                  <a:srgbClr val="E6EDF3"/>
                </a:solidFill>
                <a:latin typeface="Courier New"/>
              </a:rPr>
              <a:t>open</a:t>
            </a:r>
            <a:r>
              <a:rPr sz="1100" b="0" i="0">
                <a:solidFill>
                  <a:srgbClr val="E6EDF3"/>
                </a:solidFill>
                <a:latin typeface="Courier New"/>
              </a:rPr>
              <a:t>(</a:t>
            </a:r>
            <a:r>
              <a:rPr sz="1100" b="0" i="0">
                <a:solidFill>
                  <a:srgbClr val="9BE3A8"/>
                </a:solidFill>
                <a:latin typeface="Courier New"/>
              </a:rPr>
              <a:t>'example.csv'</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'w'</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newline</a:t>
            </a:r>
            <a:r>
              <a:rPr sz="1100" b="0" i="0">
                <a:solidFill>
                  <a:srgbClr val="E6EDF3"/>
                </a:solidFill>
                <a:latin typeface="Courier New"/>
              </a:rPr>
              <a:t>=</a:t>
            </a:r>
            <a:r>
              <a:rPr sz="1100" b="0" i="0">
                <a:solidFill>
                  <a:srgbClr val="9BE3A8"/>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as</a:t>
            </a:r>
            <a:r>
              <a:rPr sz="1100" b="0" i="0">
                <a:solidFill>
                  <a:srgbClr val="E6EDF3"/>
                </a:solidFill>
                <a:latin typeface="Courier New"/>
              </a:rPr>
              <a:t> </a:t>
            </a:r>
            <a:r>
              <a:rPr sz="1100" b="0" i="0">
                <a:solidFill>
                  <a:srgbClr val="E6EDF3"/>
                </a:solidFill>
                <a:latin typeface="Courier New"/>
              </a:rPr>
              <a:t>f</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f</a:t>
            </a:r>
            <a:r>
              <a:rPr sz="1100" b="0" i="0">
                <a:solidFill>
                  <a:srgbClr val="E6EDF3"/>
                </a:solidFill>
                <a:latin typeface="Courier New"/>
              </a:rPr>
              <a:t>.</a:t>
            </a:r>
            <a:r>
              <a:rPr sz="1100" b="0" i="0">
                <a:solidFill>
                  <a:srgbClr val="E6EDF3"/>
                </a:solidFill>
                <a:latin typeface="Courier New"/>
              </a:rPr>
              <a:t>write</a:t>
            </a:r>
            <a:r>
              <a:rPr sz="1100" b="0" i="0">
                <a:solidFill>
                  <a:srgbClr val="E6EDF3"/>
                </a:solidFill>
                <a:latin typeface="Courier New"/>
              </a:rPr>
              <a:t>(</a:t>
            </a:r>
            <a:r>
              <a:rPr sz="1100" b="0" i="0">
                <a:solidFill>
                  <a:srgbClr val="9BE3A8"/>
                </a:solidFill>
                <a:latin typeface="Courier New"/>
              </a:rPr>
              <a:t>'Name,Age\r\nAlice,30\r\nBob,25\r\n'</a:t>
            </a:r>
            <a:r>
              <a:rPr sz="1100" b="0" i="0">
                <a:solidFill>
                  <a:srgbClr val="E6EDF3"/>
                </a:solidFill>
                <a:latin typeface="Courier New"/>
              </a:rPr>
              <a:t>)</a:t>
            </a:r>
          </a:p>
        </p:txBody>
      </p:sp>
      <p:sp>
        <p:nvSpPr>
          <p:cNvPr id="5" name="explanation"/>
          <p:cNvSpPr txBox="1"/>
          <p:nvPr/>
        </p:nvSpPr>
        <p:spPr>
          <a:xfrm>
            <a:off x="5967984" y="786384"/>
            <a:ext cx="2810255" cy="818896"/>
          </a:xfrm>
          <a:prstGeom prst="rect">
            <a:avLst/>
          </a:prstGeom>
          <a:noFill/>
        </p:spPr>
        <p:txBody>
          <a:bodyPr wrap="square" lIns="128016" rIns="128016" tIns="18288" bIns="18288" anchor="ctr">
            <a:spAutoFit/>
          </a:bodyPr>
          <a:lstStyle/>
          <a:p>
            <a:r>
              <a:rPr sz="1200" b="0" i="0">
                <a:solidFill>
                  <a:srgbClr val="1F2933"/>
                </a:solidFill>
                <a:latin typeface="Calibri"/>
              </a:rPr>
              <a:t>A small stand-in for the book's example file, written in a fresh temporary folder.</a:t>
            </a:r>
          </a:p>
        </p:txBody>
      </p:sp>
      <p:sp>
        <p:nvSpPr>
          <p:cNvPr id="6" name="code"/>
          <p:cNvSpPr/>
          <p:nvPr/>
        </p:nvSpPr>
        <p:spPr>
          <a:xfrm>
            <a:off x="365760" y="1651000"/>
            <a:ext cx="5620512"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with</a:t>
            </a:r>
            <a:r>
              <a:rPr sz="1100" b="0" i="0">
                <a:solidFill>
                  <a:srgbClr val="E6EDF3"/>
                </a:solidFill>
                <a:latin typeface="Courier New"/>
              </a:rPr>
              <a:t> </a:t>
            </a:r>
            <a:r>
              <a:rPr sz="1100" b="0" i="0">
                <a:solidFill>
                  <a:srgbClr val="E6EDF3"/>
                </a:solidFill>
                <a:latin typeface="Courier New"/>
              </a:rPr>
              <a:t>open</a:t>
            </a:r>
            <a:r>
              <a:rPr sz="1100" b="0" i="0">
                <a:solidFill>
                  <a:srgbClr val="E6EDF3"/>
                </a:solidFill>
                <a:latin typeface="Courier New"/>
              </a:rPr>
              <a:t>(</a:t>
            </a:r>
            <a:r>
              <a:rPr sz="1100" b="0" i="0">
                <a:solidFill>
                  <a:srgbClr val="9BE3A8"/>
                </a:solidFill>
                <a:latin typeface="Courier New"/>
              </a:rPr>
              <a:t>'example.csv'</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encoding</a:t>
            </a:r>
            <a:r>
              <a:rPr sz="1100" b="0" i="0">
                <a:solidFill>
                  <a:srgbClr val="E6EDF3"/>
                </a:solidFill>
                <a:latin typeface="Courier New"/>
              </a:rPr>
              <a:t>=</a:t>
            </a:r>
            <a:r>
              <a:rPr sz="1100" b="0" i="0">
                <a:solidFill>
                  <a:srgbClr val="9BE3A8"/>
                </a:solidFill>
                <a:latin typeface="Courier New"/>
              </a:rPr>
              <a:t>'utf-8'</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newline</a:t>
            </a:r>
            <a:r>
              <a:rPr sz="1100" b="0" i="0">
                <a:solidFill>
                  <a:srgbClr val="E6EDF3"/>
                </a:solidFill>
                <a:latin typeface="Courier New"/>
              </a:rPr>
              <a:t>=</a:t>
            </a:r>
            <a:r>
              <a:rPr sz="1100" b="0" i="0">
                <a:solidFill>
                  <a:srgbClr val="9BE3A8"/>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as</a:t>
            </a:r>
            <a:r>
              <a:rPr sz="1100" b="0" i="0">
                <a:solidFill>
                  <a:srgbClr val="E6EDF3"/>
                </a:solidFill>
                <a:latin typeface="Courier New"/>
              </a:rPr>
              <a:t> </a:t>
            </a:r>
            <a:r>
              <a:rPr sz="1100" b="0" i="0">
                <a:solidFill>
                  <a:srgbClr val="E6EDF3"/>
                </a:solidFill>
                <a:latin typeface="Courier New"/>
              </a:rPr>
              <a:t>f</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data</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list</a:t>
            </a:r>
            <a:r>
              <a:rPr sz="1100" b="0" i="0">
                <a:solidFill>
                  <a:srgbClr val="E6EDF3"/>
                </a:solidFill>
                <a:latin typeface="Courier New"/>
              </a:rPr>
              <a:t>(</a:t>
            </a:r>
            <a:r>
              <a:rPr sz="1100" b="0" i="0">
                <a:solidFill>
                  <a:srgbClr val="E6EDF3"/>
                </a:solidFill>
                <a:latin typeface="Courier New"/>
              </a:rPr>
              <a:t>csv</a:t>
            </a:r>
            <a:r>
              <a:rPr sz="1100" b="0" i="0">
                <a:solidFill>
                  <a:srgbClr val="E6EDF3"/>
                </a:solidFill>
                <a:latin typeface="Courier New"/>
              </a:rPr>
              <a:t>.</a:t>
            </a:r>
            <a:r>
              <a:rPr sz="1100" b="0" i="0">
                <a:solidFill>
                  <a:srgbClr val="E6EDF3"/>
                </a:solidFill>
                <a:latin typeface="Courier New"/>
              </a:rPr>
              <a:t>reader</a:t>
            </a:r>
            <a:r>
              <a:rPr sz="1100" b="0" i="0">
                <a:solidFill>
                  <a:srgbClr val="E6EDF3"/>
                </a:solidFill>
                <a:latin typeface="Courier New"/>
              </a:rPr>
              <a:t>(</a:t>
            </a:r>
            <a:r>
              <a:rPr sz="1100" b="0" i="0">
                <a:solidFill>
                  <a:srgbClr val="E6EDF3"/>
                </a:solidFill>
                <a:latin typeface="Courier New"/>
              </a:rPr>
              <a:t>f</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data</a:t>
            </a:r>
            <a:r>
              <a:rPr sz="1100" b="0" i="0">
                <a:solidFill>
                  <a:srgbClr val="E6EDF3"/>
                </a:solidFill>
                <a:latin typeface="Courier New"/>
              </a:rPr>
              <a:t>)</a:t>
            </a:r>
          </a:p>
        </p:txBody>
      </p:sp>
      <p:sp>
        <p:nvSpPr>
          <p:cNvPr id="7" name="explanation"/>
          <p:cNvSpPr txBox="1"/>
          <p:nvPr/>
        </p:nvSpPr>
        <p:spPr>
          <a:xfrm>
            <a:off x="5967984" y="1651000"/>
            <a:ext cx="2810255" cy="699516"/>
          </a:xfrm>
          <a:prstGeom prst="rect">
            <a:avLst/>
          </a:prstGeom>
          <a:noFill/>
        </p:spPr>
        <p:txBody>
          <a:bodyPr wrap="square" lIns="128016" rIns="128016" tIns="18288" bIns="18288" anchor="ctr">
            <a:spAutoFit/>
          </a:bodyPr>
          <a:lstStyle/>
          <a:p>
            <a:r>
              <a:rPr sz="1200" b="0" i="0">
                <a:solidFill>
                  <a:srgbClr val="1F2933"/>
                </a:solidFill>
                <a:latin typeface="Calibri"/>
              </a:rPr>
              <a:t>Open the file, pass it to csv.reader(), and turn the reader into a list of rows.</a:t>
            </a:r>
          </a:p>
        </p:txBody>
      </p:sp>
      <p:sp>
        <p:nvSpPr>
          <p:cNvPr id="8" name="code"/>
          <p:cNvSpPr/>
          <p:nvPr/>
        </p:nvSpPr>
        <p:spPr>
          <a:xfrm>
            <a:off x="365760" y="2396236"/>
            <a:ext cx="5620512"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data</a:t>
            </a:r>
            <a:r>
              <a:rPr sz="1100" b="0" i="0">
                <a:solidFill>
                  <a:srgbClr val="E6EDF3"/>
                </a:solidFill>
                <a:latin typeface="Courier New"/>
              </a:rPr>
              <a:t>[</a:t>
            </a:r>
            <a:r>
              <a:rPr sz="1100" b="0" i="0">
                <a:solidFill>
                  <a:srgbClr val="7CC4FF"/>
                </a:solidFill>
                <a:latin typeface="Courier New"/>
              </a:rPr>
              <a:t>1</a:t>
            </a:r>
            <a:r>
              <a:rPr sz="1100" b="0" i="0">
                <a:solidFill>
                  <a:srgbClr val="E6EDF3"/>
                </a:solidFill>
                <a:latin typeface="Courier New"/>
              </a:rPr>
              <a:t>]</a:t>
            </a:r>
            <a:r>
              <a:rPr sz="1100" b="0" i="0">
                <a:solidFill>
                  <a:srgbClr val="E6EDF3"/>
                </a:solidFill>
                <a:latin typeface="Courier New"/>
              </a:rPr>
              <a:t>[</a:t>
            </a:r>
            <a:r>
              <a:rPr sz="1100" b="0" i="0">
                <a:solidFill>
                  <a:srgbClr val="7CC4FF"/>
                </a:solidFill>
                <a:latin typeface="Courier New"/>
              </a:rPr>
              <a:t>0</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data</a:t>
            </a:r>
            <a:r>
              <a:rPr sz="1100" b="0" i="0">
                <a:solidFill>
                  <a:srgbClr val="E6EDF3"/>
                </a:solidFill>
                <a:latin typeface="Courier New"/>
              </a:rPr>
              <a:t>[</a:t>
            </a:r>
            <a:r>
              <a:rPr sz="1100" b="0" i="0">
                <a:solidFill>
                  <a:srgbClr val="7CC4FF"/>
                </a:solidFill>
                <a:latin typeface="Courier New"/>
              </a:rPr>
              <a:t>2</a:t>
            </a:r>
            <a:r>
              <a:rPr sz="1100" b="0" i="0">
                <a:solidFill>
                  <a:srgbClr val="E6EDF3"/>
                </a:solidFill>
                <a:latin typeface="Courier New"/>
              </a:rPr>
              <a:t>]</a:t>
            </a:r>
            <a:r>
              <a:rPr sz="1100" b="0" i="0">
                <a:solidFill>
                  <a:srgbClr val="E6EDF3"/>
                </a:solidFill>
                <a:latin typeface="Courier New"/>
              </a:rPr>
              <a:t>[</a:t>
            </a:r>
            <a:r>
              <a:rPr sz="1100" b="0" i="0">
                <a:solidFill>
                  <a:srgbClr val="7CC4FF"/>
                </a:solidFill>
                <a:latin typeface="Courier New"/>
              </a:rPr>
              <a:t>1</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type</a:t>
            </a:r>
            <a:r>
              <a:rPr sz="1100" b="0" i="0">
                <a:solidFill>
                  <a:srgbClr val="E6EDF3"/>
                </a:solidFill>
                <a:latin typeface="Courier New"/>
              </a:rPr>
              <a:t>(</a:t>
            </a:r>
            <a:r>
              <a:rPr sz="1100" b="0" i="0">
                <a:solidFill>
                  <a:srgbClr val="E6EDF3"/>
                </a:solidFill>
                <a:latin typeface="Courier New"/>
              </a:rPr>
              <a:t>data</a:t>
            </a:r>
            <a:r>
              <a:rPr sz="1100" b="0" i="0">
                <a:solidFill>
                  <a:srgbClr val="E6EDF3"/>
                </a:solidFill>
                <a:latin typeface="Courier New"/>
              </a:rPr>
              <a:t>[</a:t>
            </a:r>
            <a:r>
              <a:rPr sz="1100" b="0" i="0">
                <a:solidFill>
                  <a:srgbClr val="7CC4FF"/>
                </a:solidFill>
                <a:latin typeface="Courier New"/>
              </a:rPr>
              <a:t>1</a:t>
            </a:r>
            <a:r>
              <a:rPr sz="1100" b="0" i="0">
                <a:solidFill>
                  <a:srgbClr val="E6EDF3"/>
                </a:solidFill>
                <a:latin typeface="Courier New"/>
              </a:rPr>
              <a:t>]</a:t>
            </a:r>
            <a:r>
              <a:rPr sz="1100" b="0" i="0">
                <a:solidFill>
                  <a:srgbClr val="E6EDF3"/>
                </a:solidFill>
                <a:latin typeface="Courier New"/>
              </a:rPr>
              <a:t>[</a:t>
            </a:r>
            <a:r>
              <a:rPr sz="1100" b="0" i="0">
                <a:solidFill>
                  <a:srgbClr val="7CC4FF"/>
                </a:solidFill>
                <a:latin typeface="Courier New"/>
              </a:rPr>
              <a:t>1</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__name__</a:t>
            </a:r>
            <a:r>
              <a:rPr sz="1100" b="0" i="0">
                <a:solidFill>
                  <a:srgbClr val="E6EDF3"/>
                </a:solidFill>
                <a:latin typeface="Courier New"/>
              </a:rPr>
              <a:t>)</a:t>
            </a:r>
          </a:p>
        </p:txBody>
      </p:sp>
      <p:sp>
        <p:nvSpPr>
          <p:cNvPr id="9" name="explanation"/>
          <p:cNvSpPr txBox="1"/>
          <p:nvPr/>
        </p:nvSpPr>
        <p:spPr>
          <a:xfrm>
            <a:off x="5967984" y="2396236"/>
            <a:ext cx="2810255" cy="699516"/>
          </a:xfrm>
          <a:prstGeom prst="rect">
            <a:avLst/>
          </a:prstGeom>
          <a:noFill/>
        </p:spPr>
        <p:txBody>
          <a:bodyPr wrap="square" lIns="128016" rIns="128016" tIns="18288" bIns="18288" anchor="ctr">
            <a:spAutoFit/>
          </a:bodyPr>
          <a:lstStyle/>
          <a:p>
            <a:r>
              <a:rPr sz="1200" b="0" i="0">
                <a:solidFill>
                  <a:srgbClr val="1F2933"/>
                </a:solidFill>
                <a:latin typeface="Calibri"/>
              </a:rPr>
              <a:t>data[row][column] picks one value. Every value is a string, even the 30.</a:t>
            </a:r>
          </a:p>
        </p:txBody>
      </p:sp>
      <p:sp>
        <p:nvSpPr>
          <p:cNvPr id="10" name="result label"/>
          <p:cNvSpPr txBox="1"/>
          <p:nvPr/>
        </p:nvSpPr>
        <p:spPr>
          <a:xfrm>
            <a:off x="365760" y="3150616"/>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397504"/>
          <a:ext cx="4206239" cy="1097280"/>
        </p:xfrm>
        <a:graphic>
          <a:graphicData uri="http://schemas.openxmlformats.org/drawingml/2006/table">
            <a:tbl>
              <a:tblPr firstRow="0" bandRow="0"/>
              <a:tblGrid>
                <a:gridCol w="1402080"/>
                <a:gridCol w="1529541"/>
                <a:gridCol w="1274618"/>
              </a:tblGrid>
              <a:tr h="274320">
                <a:tc>
                  <a:txBody>
                    <a:bodyPr wrap="square"/>
                    <a:lstStyle/>
                    <a:p>
                      <a:r>
                        <a:rPr sz="1000" b="1" i="0">
                          <a:solidFill>
                            <a:srgbClr val="FFFFFF"/>
                          </a:solidFill>
                          <a:latin typeface="Calibri"/>
                        </a:rPr>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ourier New"/>
                        </a:rPr>
                        <a:t>data[0]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data[1]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Alice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r>
                        <a:rPr sz="1000" b="0" i="0">
                          <a:solidFill>
                            <a:srgbClr val="1F2933"/>
                          </a:solidFill>
                          <a:latin typeface="Courier New"/>
                        </a:rPr>
                        <a:t>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00" b="0" i="0">
                          <a:solidFill>
                            <a:srgbClr val="1F2933"/>
                          </a:solidFill>
                          <a:latin typeface="Courier New"/>
                        </a:rPr>
                        <a:t>data[2]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Bob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25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bl>
          </a:graphicData>
        </a:graphic>
      </p:graphicFrame>
      <p:sp>
        <p:nvSpPr>
          <p:cNvPr id="12" name="Rounded Rectangle 11"/>
          <p:cNvSpPr/>
          <p:nvPr/>
        </p:nvSpPr>
        <p:spPr>
          <a:xfrm>
            <a:off x="4992624" y="3443224"/>
            <a:ext cx="3785615" cy="36576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data[1][0] -&gt; Alice</a:t>
            </a:r>
          </a:p>
        </p:txBody>
      </p:sp>
      <p:sp>
        <p:nvSpPr>
          <p:cNvPr id="13" name="Rounded Rectangle 12"/>
          <p:cNvSpPr/>
          <p:nvPr/>
        </p:nvSpPr>
        <p:spPr>
          <a:xfrm>
            <a:off x="4992624" y="3854704"/>
            <a:ext cx="3785615" cy="36576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data[2][1] -&gt; '25'</a:t>
            </a:r>
          </a:p>
        </p:txBody>
      </p:sp>
      <p:sp>
        <p:nvSpPr>
          <p:cNvPr id="14" name="Rounded Rectangle 13"/>
          <p:cNvSpPr/>
          <p:nvPr/>
        </p:nvSpPr>
        <p:spPr>
          <a:xfrm>
            <a:off x="4992624" y="4266184"/>
            <a:ext cx="3785615" cy="27432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type of the 30: str, not int</a:t>
            </a:r>
          </a:p>
        </p:txBody>
      </p:sp>
      <p:sp>
        <p:nvSpPr>
          <p:cNvPr id="1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list(reader) keeps the rows; every value is a string.</a:t>
            </a:r>
          </a:p>
        </p:txBody>
      </p:sp>
      <p:sp>
        <p:nvSpPr>
          <p:cNvPr id="1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8 / 53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Accessing data in a for loop: one row at a time</a:t>
            </a:r>
          </a:p>
        </p:txBody>
      </p:sp>
      <p:sp>
        <p:nvSpPr>
          <p:cNvPr id="4" name="code"/>
          <p:cNvSpPr/>
          <p:nvPr/>
        </p:nvSpPr>
        <p:spPr>
          <a:xfrm>
            <a:off x="365760" y="786384"/>
            <a:ext cx="5285231"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csv</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io</a:t>
            </a:r>
          </a:p>
          <a:p>
            <a:pPr algn="l"/>
            <a:r>
              <a:rPr sz="1100" b="0" i="0">
                <a:solidFill>
                  <a:srgbClr val="8FA3B8"/>
                </a:solidFill>
                <a:latin typeface="Courier New"/>
              </a:rPr>
              <a:t>&gt;&gt;&gt; </a:t>
            </a:r>
            <a:r>
              <a:rPr sz="1100" b="0" i="0">
                <a:solidFill>
                  <a:srgbClr val="E6EDF3"/>
                </a:solidFill>
                <a:latin typeface="Courier New"/>
              </a:rPr>
              <a:t>text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'Name,Note\r\nAlice,"two\r\nlines"\r\nBob,ok\r\n'</a:t>
            </a:r>
          </a:p>
          <a:p>
            <a:pPr algn="l"/>
            <a:r>
              <a:rPr sz="1100" b="0" i="0">
                <a:solidFill>
                  <a:srgbClr val="8FA3B8"/>
                </a:solidFill>
                <a:latin typeface="Courier New"/>
              </a:rPr>
              <a:t>&gt;&gt;&gt; </a:t>
            </a:r>
            <a:r>
              <a:rPr sz="1100" b="0" i="0">
                <a:solidFill>
                  <a:srgbClr val="E6EDF3"/>
                </a:solidFill>
                <a:latin typeface="Courier New"/>
              </a:rPr>
              <a:t>f</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io</a:t>
            </a:r>
            <a:r>
              <a:rPr sz="1100" b="0" i="0">
                <a:solidFill>
                  <a:srgbClr val="E6EDF3"/>
                </a:solidFill>
                <a:latin typeface="Courier New"/>
              </a:rPr>
              <a:t>.</a:t>
            </a:r>
            <a:r>
              <a:rPr sz="1100" b="0" i="0">
                <a:solidFill>
                  <a:srgbClr val="E6EDF3"/>
                </a:solidFill>
                <a:latin typeface="Courier New"/>
              </a:rPr>
              <a:t>StringIO</a:t>
            </a:r>
            <a:r>
              <a:rPr sz="1100" b="0" i="0">
                <a:solidFill>
                  <a:srgbClr val="E6EDF3"/>
                </a:solidFill>
                <a:latin typeface="Courier New"/>
              </a:rPr>
              <a:t>(</a:t>
            </a:r>
            <a:r>
              <a:rPr sz="1100" b="0" i="0">
                <a:solidFill>
                  <a:srgbClr val="E6EDF3"/>
                </a:solidFill>
                <a:latin typeface="Courier New"/>
              </a:rPr>
              <a:t>text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newline</a:t>
            </a:r>
            <a:r>
              <a:rPr sz="1100" b="0" i="0">
                <a:solidFill>
                  <a:srgbClr val="E6EDF3"/>
                </a:solidFill>
                <a:latin typeface="Courier New"/>
              </a:rPr>
              <a:t>=</a:t>
            </a:r>
            <a:r>
              <a:rPr sz="1100" b="0" i="0">
                <a:solidFill>
                  <a:srgbClr val="9BE3A8"/>
                </a:solidFill>
                <a:latin typeface="Courier New"/>
              </a:rPr>
              <a:t>''</a:t>
            </a:r>
            <a:r>
              <a:rPr sz="1100" b="0" i="0">
                <a:solidFill>
                  <a:srgbClr val="E6EDF3"/>
                </a:solidFill>
                <a:latin typeface="Courier New"/>
              </a:rPr>
              <a:t>)</a:t>
            </a:r>
          </a:p>
        </p:txBody>
      </p:sp>
      <p:sp>
        <p:nvSpPr>
          <p:cNvPr id="5" name="explanation"/>
          <p:cNvSpPr txBox="1"/>
          <p:nvPr/>
        </p:nvSpPr>
        <p:spPr>
          <a:xfrm>
            <a:off x="5632704" y="786384"/>
            <a:ext cx="3145536" cy="890016"/>
          </a:xfrm>
          <a:prstGeom prst="rect">
            <a:avLst/>
          </a:prstGeom>
          <a:noFill/>
        </p:spPr>
        <p:txBody>
          <a:bodyPr wrap="square" lIns="128016" rIns="128016" tIns="18288" bIns="18288" anchor="ctr">
            <a:spAutoFit/>
          </a:bodyPr>
          <a:lstStyle/>
          <a:p>
            <a:r>
              <a:rPr sz="1200" b="0" i="0">
                <a:solidFill>
                  <a:srgbClr val="1F2933"/>
                </a:solidFill>
                <a:latin typeface="Calibri"/>
              </a:rPr>
              <a:t>A StringIO stands in for the open file. Alice's note has a line break inside quotes: two lines, one record.</a:t>
            </a:r>
          </a:p>
        </p:txBody>
      </p:sp>
      <p:sp>
        <p:nvSpPr>
          <p:cNvPr id="6" name="code"/>
          <p:cNvSpPr/>
          <p:nvPr/>
        </p:nvSpPr>
        <p:spPr>
          <a:xfrm>
            <a:off x="365760" y="1722120"/>
            <a:ext cx="5285231"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reader</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csv</a:t>
            </a:r>
            <a:r>
              <a:rPr sz="1100" b="0" i="0">
                <a:solidFill>
                  <a:srgbClr val="E6EDF3"/>
                </a:solidFill>
                <a:latin typeface="Courier New"/>
              </a:rPr>
              <a:t>.</a:t>
            </a:r>
            <a:r>
              <a:rPr sz="1100" b="0" i="0">
                <a:solidFill>
                  <a:srgbClr val="E6EDF3"/>
                </a:solidFill>
                <a:latin typeface="Courier New"/>
              </a:rPr>
              <a:t>reader</a:t>
            </a:r>
            <a:r>
              <a:rPr sz="1100" b="0" i="0">
                <a:solidFill>
                  <a:srgbClr val="E6EDF3"/>
                </a:solidFill>
                <a:latin typeface="Courier New"/>
              </a:rPr>
              <a:t>(</a:t>
            </a:r>
            <a:r>
              <a:rPr sz="1100" b="0" i="0">
                <a:solidFill>
                  <a:srgbClr val="E6EDF3"/>
                </a:solidFill>
                <a:latin typeface="Courier New"/>
              </a:rPr>
              <a:t>f</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row</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reader</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'Row #'</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str</a:t>
            </a:r>
            <a:r>
              <a:rPr sz="1100" b="0" i="0">
                <a:solidFill>
                  <a:srgbClr val="E6EDF3"/>
                </a:solidFill>
                <a:latin typeface="Courier New"/>
              </a:rPr>
              <a:t>(</a:t>
            </a:r>
            <a:r>
              <a:rPr sz="1100" b="0" i="0">
                <a:solidFill>
                  <a:srgbClr val="E6EDF3"/>
                </a:solidFill>
                <a:latin typeface="Courier New"/>
              </a:rPr>
              <a:t>reader</a:t>
            </a:r>
            <a:r>
              <a:rPr sz="1100" b="0" i="0">
                <a:solidFill>
                  <a:srgbClr val="E6EDF3"/>
                </a:solidFill>
                <a:latin typeface="Courier New"/>
              </a:rPr>
              <a:t>.</a:t>
            </a:r>
            <a:r>
              <a:rPr sz="1100" b="0" i="0">
                <a:solidFill>
                  <a:srgbClr val="E6EDF3"/>
                </a:solidFill>
                <a:latin typeface="Courier New"/>
              </a:rPr>
              <a:t>line_num</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row</a:t>
            </a:r>
            <a:r>
              <a:rPr sz="1100" b="0" i="0">
                <a:solidFill>
                  <a:srgbClr val="E6EDF3"/>
                </a:solidFill>
                <a:latin typeface="Courier New"/>
              </a:rPr>
              <a:t>)</a:t>
            </a:r>
          </a:p>
        </p:txBody>
      </p:sp>
      <p:sp>
        <p:nvSpPr>
          <p:cNvPr id="7" name="explanation"/>
          <p:cNvSpPr txBox="1"/>
          <p:nvPr/>
        </p:nvSpPr>
        <p:spPr>
          <a:xfrm>
            <a:off x="5632704" y="1722120"/>
            <a:ext cx="3145536" cy="699516"/>
          </a:xfrm>
          <a:prstGeom prst="rect">
            <a:avLst/>
          </a:prstGeom>
          <a:noFill/>
        </p:spPr>
        <p:txBody>
          <a:bodyPr wrap="square" lIns="128016" rIns="128016" tIns="18288" bIns="18288" anchor="ctr">
            <a:spAutoFit/>
          </a:bodyPr>
          <a:lstStyle/>
          <a:p>
            <a:r>
              <a:rPr sz="1200" b="0" i="0">
                <a:solidFill>
                  <a:srgbClr val="1F2933"/>
                </a:solidFill>
                <a:latin typeface="Calibri"/>
              </a:rPr>
              <a:t>A for loop holds one row in memory. reader.line_num counts lines of the file, not records.</a:t>
            </a:r>
          </a:p>
        </p:txBody>
      </p:sp>
      <p:sp>
        <p:nvSpPr>
          <p:cNvPr id="8" name="code"/>
          <p:cNvSpPr/>
          <p:nvPr/>
        </p:nvSpPr>
        <p:spPr>
          <a:xfrm>
            <a:off x="365760" y="2467356"/>
            <a:ext cx="5285231"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'second pass:'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list</a:t>
            </a:r>
            <a:r>
              <a:rPr sz="1100" b="0" i="0">
                <a:solidFill>
                  <a:srgbClr val="E6EDF3"/>
                </a:solidFill>
                <a:latin typeface="Courier New"/>
              </a:rPr>
              <a:t>(</a:t>
            </a:r>
            <a:r>
              <a:rPr sz="1100" b="0" i="0">
                <a:solidFill>
                  <a:srgbClr val="E6EDF3"/>
                </a:solidFill>
                <a:latin typeface="Courier New"/>
              </a:rPr>
              <a:t>reader</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'has len:'</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hasattr</a:t>
            </a:r>
            <a:r>
              <a:rPr sz="1100" b="0" i="0">
                <a:solidFill>
                  <a:srgbClr val="E6EDF3"/>
                </a:solidFill>
                <a:latin typeface="Courier New"/>
              </a:rPr>
              <a:t>(</a:t>
            </a:r>
            <a:r>
              <a:rPr sz="1100" b="0" i="0">
                <a:solidFill>
                  <a:srgbClr val="E6EDF3"/>
                </a:solidFill>
                <a:latin typeface="Courier New"/>
              </a:rPr>
              <a:t>reader</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'__len__'</a:t>
            </a:r>
            <a:r>
              <a:rPr sz="1100" b="0" i="0">
                <a:solidFill>
                  <a:srgbClr val="E6EDF3"/>
                </a:solidFill>
                <a:latin typeface="Courier New"/>
              </a:rPr>
              <a:t>)</a:t>
            </a:r>
            <a:r>
              <a:rPr sz="1100" b="0" i="0">
                <a:solidFill>
                  <a:srgbClr val="E6EDF3"/>
                </a:solidFill>
                <a:latin typeface="Courier New"/>
              </a:rPr>
              <a:t>)</a:t>
            </a:r>
          </a:p>
        </p:txBody>
      </p:sp>
      <p:sp>
        <p:nvSpPr>
          <p:cNvPr id="9" name="explanation"/>
          <p:cNvSpPr txBox="1"/>
          <p:nvPr/>
        </p:nvSpPr>
        <p:spPr>
          <a:xfrm>
            <a:off x="5632704" y="2467356"/>
            <a:ext cx="3145536" cy="699516"/>
          </a:xfrm>
          <a:prstGeom prst="rect">
            <a:avLst/>
          </a:prstGeom>
          <a:noFill/>
        </p:spPr>
        <p:txBody>
          <a:bodyPr wrap="square" lIns="128016" rIns="128016" tIns="18288" bIns="18288" anchor="ctr">
            <a:spAutoFit/>
          </a:bodyPr>
          <a:lstStyle/>
          <a:p>
            <a:r>
              <a:rPr sz="1200" b="0" i="0">
                <a:solidFill>
                  <a:srgbClr val="1F2933"/>
                </a:solidFill>
                <a:latin typeface="Calibri"/>
              </a:rPr>
              <a:t>A reader can be used once, and it has no length. Call list() to keep the rows.</a:t>
            </a:r>
          </a:p>
        </p:txBody>
      </p:sp>
      <p:sp>
        <p:nvSpPr>
          <p:cNvPr id="10" name="result label"/>
          <p:cNvSpPr txBox="1"/>
          <p:nvPr/>
        </p:nvSpPr>
        <p:spPr>
          <a:xfrm>
            <a:off x="365760" y="3221736"/>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468624"/>
          <a:ext cx="5215736" cy="1097280"/>
        </p:xfrm>
        <a:graphic>
          <a:graphicData uri="http://schemas.openxmlformats.org/drawingml/2006/table">
            <a:tbl>
              <a:tblPr firstRow="0" bandRow="0"/>
              <a:tblGrid>
                <a:gridCol w="853484"/>
                <a:gridCol w="948315"/>
                <a:gridCol w="3413937"/>
              </a:tblGrid>
              <a:tr h="274320">
                <a:tc>
                  <a:txBody>
                    <a:bodyPr wrap="square"/>
                    <a:lstStyle/>
                    <a:p>
                      <a:r>
                        <a:rPr sz="1000" b="1" i="0">
                          <a:solidFill>
                            <a:srgbClr val="FFFFFF"/>
                          </a:solidFill>
                          <a:latin typeface="Calibri"/>
                        </a:rPr>
                        <a:t>record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line_num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row read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ourier New"/>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['Name', 'Note']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00" b="0" i="0">
                          <a:solidFill>
                            <a:srgbClr val="1F2933"/>
                          </a:solidFill>
                          <a:latin typeface="Courier New"/>
                        </a:rPr>
                        <a:t>['Alice', 'two\r\nlines']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0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00" b="0" i="0">
                          <a:solidFill>
                            <a:srgbClr val="1F2933"/>
                          </a:solidFill>
                          <a:latin typeface="Courier New"/>
                        </a:rPr>
                        <a:t>['Bob', 'ok']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2" name="Rounded Rectangle 11"/>
          <p:cNvSpPr/>
          <p:nvPr/>
        </p:nvSpPr>
        <p:spPr>
          <a:xfrm>
            <a:off x="5917996" y="3514344"/>
            <a:ext cx="2860243" cy="50292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amber: the line number is ahead of the record number</a:t>
            </a:r>
          </a:p>
        </p:txBody>
      </p:sp>
      <p:sp>
        <p:nvSpPr>
          <p:cNvPr id="13" name="Rounded Rectangle 12"/>
          <p:cNvSpPr/>
          <p:nvPr/>
        </p:nvSpPr>
        <p:spPr>
          <a:xfrm>
            <a:off x="5917996" y="4090416"/>
            <a:ext cx="2860243" cy="45720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second pass: []  |  has len: False</a:t>
            </a:r>
          </a:p>
        </p:txBody>
      </p:sp>
      <p:sp>
        <p:nvSpPr>
          <p:cNvPr id="1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loop holds one row; line_num counts lines, not records.</a:t>
            </a:r>
          </a:p>
        </p:txBody>
      </p:sp>
      <p:sp>
        <p:nvSpPr>
          <p:cNvPr id="1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9 / 53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Handling header rows: next() and line_num</a:t>
            </a:r>
          </a:p>
        </p:txBody>
      </p:sp>
      <p:sp>
        <p:nvSpPr>
          <p:cNvPr id="4" name="code"/>
          <p:cNvSpPr/>
          <p:nvPr/>
        </p:nvSpPr>
        <p:spPr>
          <a:xfrm>
            <a:off x="365760" y="786384"/>
            <a:ext cx="4949952" cy="64846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csv</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io</a:t>
            </a:r>
          </a:p>
          <a:p>
            <a:pPr algn="l"/>
            <a:r>
              <a:rPr sz="1100" b="0" i="0">
                <a:solidFill>
                  <a:srgbClr val="8FA3B8"/>
                </a:solidFill>
                <a:latin typeface="Courier New"/>
              </a:rPr>
              <a:t>&gt;&gt;&gt; </a:t>
            </a:r>
            <a:r>
              <a:rPr sz="1100" b="0" i="0">
                <a:solidFill>
                  <a:srgbClr val="E6EDF3"/>
                </a:solidFill>
                <a:latin typeface="Courier New"/>
              </a:rPr>
              <a:t>text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'Name,Age\r\nAlice,30\r\nBob,25\r\n'</a:t>
            </a:r>
          </a:p>
          <a:p>
            <a:pPr algn="l"/>
            <a:r>
              <a:rPr sz="1100" b="0" i="0">
                <a:solidFill>
                  <a:srgbClr val="8FA3B8"/>
                </a:solidFill>
                <a:latin typeface="Courier New"/>
              </a:rPr>
              <a:t>&gt;&gt;&gt; </a:t>
            </a:r>
            <a:r>
              <a:rPr sz="1100" b="0" i="0">
                <a:solidFill>
                  <a:srgbClr val="E6EDF3"/>
                </a:solidFill>
                <a:latin typeface="Courier New"/>
              </a:rPr>
              <a:t>reader</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csv</a:t>
            </a:r>
            <a:r>
              <a:rPr sz="1100" b="0" i="0">
                <a:solidFill>
                  <a:srgbClr val="E6EDF3"/>
                </a:solidFill>
                <a:latin typeface="Courier New"/>
              </a:rPr>
              <a:t>.</a:t>
            </a:r>
            <a:r>
              <a:rPr sz="1100" b="0" i="0">
                <a:solidFill>
                  <a:srgbClr val="E6EDF3"/>
                </a:solidFill>
                <a:latin typeface="Courier New"/>
              </a:rPr>
              <a:t>reader</a:t>
            </a:r>
            <a:r>
              <a:rPr sz="1100" b="0" i="0">
                <a:solidFill>
                  <a:srgbClr val="E6EDF3"/>
                </a:solidFill>
                <a:latin typeface="Courier New"/>
              </a:rPr>
              <a:t>(</a:t>
            </a:r>
            <a:r>
              <a:rPr sz="1100" b="0" i="0">
                <a:solidFill>
                  <a:srgbClr val="E6EDF3"/>
                </a:solidFill>
                <a:latin typeface="Courier New"/>
              </a:rPr>
              <a:t>io</a:t>
            </a:r>
            <a:r>
              <a:rPr sz="1100" b="0" i="0">
                <a:solidFill>
                  <a:srgbClr val="E6EDF3"/>
                </a:solidFill>
                <a:latin typeface="Courier New"/>
              </a:rPr>
              <a:t>.</a:t>
            </a:r>
            <a:r>
              <a:rPr sz="1100" b="0" i="0">
                <a:solidFill>
                  <a:srgbClr val="E6EDF3"/>
                </a:solidFill>
                <a:latin typeface="Courier New"/>
              </a:rPr>
              <a:t>StringIO</a:t>
            </a:r>
            <a:r>
              <a:rPr sz="1100" b="0" i="0">
                <a:solidFill>
                  <a:srgbClr val="E6EDF3"/>
                </a:solidFill>
                <a:latin typeface="Courier New"/>
              </a:rPr>
              <a:t>(</a:t>
            </a:r>
            <a:r>
              <a:rPr sz="1100" b="0" i="0">
                <a:solidFill>
                  <a:srgbClr val="E6EDF3"/>
                </a:solidFill>
                <a:latin typeface="Courier New"/>
              </a:rPr>
              <a:t>text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newline</a:t>
            </a:r>
            <a:r>
              <a:rPr sz="1100" b="0" i="0">
                <a:solidFill>
                  <a:srgbClr val="E6EDF3"/>
                </a:solidFill>
                <a:latin typeface="Courier New"/>
              </a:rPr>
              <a:t>=</a:t>
            </a:r>
            <a:r>
              <a:rPr sz="1100" b="0" i="0">
                <a:solidFill>
                  <a:srgbClr val="9BE3A8"/>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5" name="explanation"/>
          <p:cNvSpPr txBox="1"/>
          <p:nvPr/>
        </p:nvSpPr>
        <p:spPr>
          <a:xfrm>
            <a:off x="5297424" y="786384"/>
            <a:ext cx="3480815" cy="648462"/>
          </a:xfrm>
          <a:prstGeom prst="rect">
            <a:avLst/>
          </a:prstGeom>
          <a:noFill/>
        </p:spPr>
        <p:txBody>
          <a:bodyPr wrap="square" lIns="128016" rIns="128016" tIns="18288" bIns="18288" anchor="ctr">
            <a:spAutoFit/>
          </a:bodyPr>
          <a:lstStyle/>
          <a:p>
            <a:r>
              <a:rPr sz="1200" b="0" i="0">
                <a:solidFill>
                  <a:srgbClr val="1F2933"/>
                </a:solidFill>
                <a:latin typeface="Calibri"/>
              </a:rPr>
              <a:t>A CSV text with a header row, read through a reader.</a:t>
            </a:r>
          </a:p>
        </p:txBody>
      </p:sp>
      <p:sp>
        <p:nvSpPr>
          <p:cNvPr id="6" name="code"/>
          <p:cNvSpPr/>
          <p:nvPr/>
        </p:nvSpPr>
        <p:spPr>
          <a:xfrm>
            <a:off x="365760" y="1480566"/>
            <a:ext cx="4949952"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header</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next</a:t>
            </a:r>
            <a:r>
              <a:rPr sz="1100" b="0" i="0">
                <a:solidFill>
                  <a:srgbClr val="E6EDF3"/>
                </a:solidFill>
                <a:latin typeface="Courier New"/>
              </a:rPr>
              <a:t>(</a:t>
            </a:r>
            <a:r>
              <a:rPr sz="1100" b="0" i="0">
                <a:solidFill>
                  <a:srgbClr val="E6EDF3"/>
                </a:solidFill>
                <a:latin typeface="Courier New"/>
              </a:rPr>
              <a:t>reader</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'header:'</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header</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'rest:'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list</a:t>
            </a:r>
            <a:r>
              <a:rPr sz="1100" b="0" i="0">
                <a:solidFill>
                  <a:srgbClr val="E6EDF3"/>
                </a:solidFill>
                <a:latin typeface="Courier New"/>
              </a:rPr>
              <a:t>(</a:t>
            </a:r>
            <a:r>
              <a:rPr sz="1100" b="0" i="0">
                <a:solidFill>
                  <a:srgbClr val="E6EDF3"/>
                </a:solidFill>
                <a:latin typeface="Courier New"/>
              </a:rPr>
              <a:t>reader</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5297424" y="1480566"/>
            <a:ext cx="3480815" cy="699516"/>
          </a:xfrm>
          <a:prstGeom prst="rect">
            <a:avLst/>
          </a:prstGeom>
          <a:noFill/>
        </p:spPr>
        <p:txBody>
          <a:bodyPr wrap="square" lIns="128016" rIns="128016" tIns="18288" bIns="18288" anchor="ctr">
            <a:spAutoFit/>
          </a:bodyPr>
          <a:lstStyle/>
          <a:p>
            <a:r>
              <a:rPr sz="1200" b="0" i="0">
                <a:solidFill>
                  <a:srgbClr val="1F2933"/>
                </a:solidFill>
                <a:latin typeface="Calibri"/>
              </a:rPr>
              <a:t>next() takes one row off the reader. What is left is the data without the header.</a:t>
            </a:r>
          </a:p>
        </p:txBody>
      </p:sp>
      <p:sp>
        <p:nvSpPr>
          <p:cNvPr id="8" name="code"/>
          <p:cNvSpPr/>
          <p:nvPr/>
        </p:nvSpPr>
        <p:spPr>
          <a:xfrm>
            <a:off x="365760" y="2225802"/>
            <a:ext cx="4949952"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tricky</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'"Name\r\n(first)",Age\r\nAlice,30\r\n'</a:t>
            </a:r>
          </a:p>
          <a:p>
            <a:pPr algn="l"/>
            <a:r>
              <a:rPr sz="1100" b="0" i="0">
                <a:solidFill>
                  <a:srgbClr val="8FA3B8"/>
                </a:solidFill>
                <a:latin typeface="Courier New"/>
              </a:rPr>
              <a:t>&gt;&gt;&gt; </a:t>
            </a:r>
            <a:r>
              <a:rPr sz="1100" b="0" i="0">
                <a:solidFill>
                  <a:srgbClr val="E6EDF3"/>
                </a:solidFill>
                <a:latin typeface="Courier New"/>
              </a:rPr>
              <a:t>reader</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csv</a:t>
            </a:r>
            <a:r>
              <a:rPr sz="1100" b="0" i="0">
                <a:solidFill>
                  <a:srgbClr val="E6EDF3"/>
                </a:solidFill>
                <a:latin typeface="Courier New"/>
              </a:rPr>
              <a:t>.</a:t>
            </a:r>
            <a:r>
              <a:rPr sz="1100" b="0" i="0">
                <a:solidFill>
                  <a:srgbClr val="E6EDF3"/>
                </a:solidFill>
                <a:latin typeface="Courier New"/>
              </a:rPr>
              <a:t>reader</a:t>
            </a:r>
            <a:r>
              <a:rPr sz="1100" b="0" i="0">
                <a:solidFill>
                  <a:srgbClr val="E6EDF3"/>
                </a:solidFill>
                <a:latin typeface="Courier New"/>
              </a:rPr>
              <a:t>(</a:t>
            </a:r>
            <a:r>
              <a:rPr sz="1100" b="0" i="0">
                <a:solidFill>
                  <a:srgbClr val="E6EDF3"/>
                </a:solidFill>
                <a:latin typeface="Courier New"/>
              </a:rPr>
              <a:t>io</a:t>
            </a:r>
            <a:r>
              <a:rPr sz="1100" b="0" i="0">
                <a:solidFill>
                  <a:srgbClr val="E6EDF3"/>
                </a:solidFill>
                <a:latin typeface="Courier New"/>
              </a:rPr>
              <a:t>.</a:t>
            </a:r>
            <a:r>
              <a:rPr sz="1100" b="0" i="0">
                <a:solidFill>
                  <a:srgbClr val="E6EDF3"/>
                </a:solidFill>
                <a:latin typeface="Courier New"/>
              </a:rPr>
              <a:t>StringIO</a:t>
            </a:r>
            <a:r>
              <a:rPr sz="1100" b="0" i="0">
                <a:solidFill>
                  <a:srgbClr val="E6EDF3"/>
                </a:solidFill>
                <a:latin typeface="Courier New"/>
              </a:rPr>
              <a:t>(</a:t>
            </a:r>
            <a:r>
              <a:rPr sz="1100" b="0" i="0">
                <a:solidFill>
                  <a:srgbClr val="E6EDF3"/>
                </a:solidFill>
                <a:latin typeface="Courier New"/>
              </a:rPr>
              <a:t>tricky</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newline</a:t>
            </a:r>
            <a:r>
              <a:rPr sz="1100" b="0" i="0">
                <a:solidFill>
                  <a:srgbClr val="E6EDF3"/>
                </a:solidFill>
                <a:latin typeface="Courier New"/>
              </a:rPr>
              <a:t>=</a:t>
            </a:r>
            <a:r>
              <a:rPr sz="1100" b="0" i="0">
                <a:solidFill>
                  <a:srgbClr val="9BE3A8"/>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r</a:t>
            </a:r>
            <a:r>
              <a:rPr sz="1100" b="0" i="0">
                <a:solidFill>
                  <a:srgbClr val="E6EDF3"/>
                </a:solidFill>
                <a:latin typeface="Courier New"/>
              </a:rPr>
              <a: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r</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reader</a:t>
            </a:r>
            <a:r>
              <a:rPr sz="1100" b="0" i="0">
                <a:solidFill>
                  <a:srgbClr val="E6EDF3"/>
                </a:solidFill>
                <a:latin typeface="Courier New"/>
              </a:rPr>
              <a:t> </a:t>
            </a:r>
            <a:r>
              <a:rPr sz="1100" b="0" i="0">
                <a:solidFill>
                  <a:srgbClr val="C9A0FF"/>
                </a:solidFill>
                <a:latin typeface="Courier New"/>
              </a:rPr>
              <a:t>if</a:t>
            </a:r>
            <a:r>
              <a:rPr sz="1100" b="0" i="0">
                <a:solidFill>
                  <a:srgbClr val="E6EDF3"/>
                </a:solidFill>
                <a:latin typeface="Courier New"/>
              </a:rPr>
              <a:t> </a:t>
            </a:r>
            <a:r>
              <a:rPr sz="1100" b="0" i="0">
                <a:solidFill>
                  <a:srgbClr val="E6EDF3"/>
                </a:solidFill>
                <a:latin typeface="Courier New"/>
              </a:rPr>
              <a:t>reader</a:t>
            </a:r>
            <a:r>
              <a:rPr sz="1100" b="0" i="0">
                <a:solidFill>
                  <a:srgbClr val="E6EDF3"/>
                </a:solidFill>
                <a:latin typeface="Courier New"/>
              </a:rPr>
              <a:t>.</a:t>
            </a:r>
            <a:r>
              <a:rPr sz="1100" b="0" i="0">
                <a:solidFill>
                  <a:srgbClr val="E6EDF3"/>
                </a:solidFill>
                <a:latin typeface="Courier New"/>
              </a:rPr>
              <a:t>line_num</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1</a:t>
            </a:r>
            <a:r>
              <a:rPr sz="1100" b="0" i="0">
                <a:solidFill>
                  <a:srgbClr val="E6EDF3"/>
                </a:solidFill>
                <a:latin typeface="Courier New"/>
              </a:rPr>
              <a:t>]</a:t>
            </a:r>
            <a:r>
              <a:rPr sz="1100" b="0" i="0">
                <a:solidFill>
                  <a:srgbClr val="E6EDF3"/>
                </a:solidFill>
                <a:latin typeface="Courier New"/>
              </a:rPr>
              <a:t>)</a:t>
            </a:r>
          </a:p>
        </p:txBody>
      </p:sp>
      <p:sp>
        <p:nvSpPr>
          <p:cNvPr id="9" name="explanation"/>
          <p:cNvSpPr txBox="1"/>
          <p:nvPr/>
        </p:nvSpPr>
        <p:spPr>
          <a:xfrm>
            <a:off x="5297424" y="2225802"/>
            <a:ext cx="3480815" cy="699516"/>
          </a:xfrm>
          <a:prstGeom prst="rect">
            <a:avLst/>
          </a:prstGeom>
          <a:noFill/>
        </p:spPr>
        <p:txBody>
          <a:bodyPr wrap="square" lIns="128016" rIns="128016" tIns="18288" bIns="18288" anchor="ctr">
            <a:spAutoFit/>
          </a:bodyPr>
          <a:lstStyle/>
          <a:p>
            <a:r>
              <a:rPr sz="1200" b="0" i="0">
                <a:solidFill>
                  <a:srgbClr val="1F2933"/>
                </a:solidFill>
                <a:latin typeface="Calibri"/>
              </a:rPr>
              <a:t>The line_num test fails when the header itself spans two lines: its record ends on line 2 and is kept.</a:t>
            </a:r>
          </a:p>
        </p:txBody>
      </p:sp>
      <p:sp>
        <p:nvSpPr>
          <p:cNvPr id="10" name="result label"/>
          <p:cNvSpPr txBox="1"/>
          <p:nvPr/>
        </p:nvSpPr>
        <p:spPr>
          <a:xfrm>
            <a:off x="365760" y="2980182"/>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245358"/>
            <a:ext cx="2011680" cy="384048"/>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next(reader) took</a:t>
            </a:r>
          </a:p>
          <a:p>
            <a:pPr algn="ctr"/>
            <a:r>
              <a:rPr sz="950" b="0" i="0">
                <a:solidFill>
                  <a:srgbClr val="1F2933"/>
                </a:solidFill>
                <a:latin typeface="Courier New"/>
              </a:rPr>
              <a:t>['Name', 'Age']</a:t>
            </a:r>
          </a:p>
        </p:txBody>
      </p:sp>
      <p:cxnSp>
        <p:nvCxnSpPr>
          <p:cNvPr id="12" name="arrow"/>
          <p:cNvCxnSpPr/>
          <p:nvPr/>
        </p:nvCxnSpPr>
        <p:spPr>
          <a:xfrm>
            <a:off x="2423160" y="3437382"/>
            <a:ext cx="36576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834640" y="3245358"/>
            <a:ext cx="3657600" cy="384048"/>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list(reader) left</a:t>
            </a:r>
          </a:p>
          <a:p>
            <a:pPr algn="ctr"/>
            <a:r>
              <a:rPr sz="950" b="0" i="0">
                <a:solidFill>
                  <a:srgbClr val="1F2933"/>
                </a:solidFill>
                <a:latin typeface="Courier New"/>
              </a:rPr>
              <a:t>[['Alice', '30'], ['Bob', '25']]</a:t>
            </a:r>
          </a:p>
        </p:txBody>
      </p:sp>
      <p:sp>
        <p:nvSpPr>
          <p:cNvPr id="14" name="Rounded Rectangle 13"/>
          <p:cNvSpPr/>
          <p:nvPr/>
        </p:nvSpPr>
        <p:spPr>
          <a:xfrm>
            <a:off x="365760" y="3793998"/>
            <a:ext cx="2011680" cy="45720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a header of two lines:</a:t>
            </a:r>
          </a:p>
          <a:p>
            <a:pPr algn="ctr"/>
            <a:r>
              <a:rPr sz="950" b="0" i="0">
                <a:solidFill>
                  <a:srgbClr val="1F2933"/>
                </a:solidFill>
                <a:latin typeface="Calibri"/>
              </a:rPr>
              <a:t>one record, line_num 2</a:t>
            </a:r>
          </a:p>
        </p:txBody>
      </p:sp>
      <p:cxnSp>
        <p:nvCxnSpPr>
          <p:cNvPr id="15" name="arrow"/>
          <p:cNvCxnSpPr/>
          <p:nvPr/>
        </p:nvCxnSpPr>
        <p:spPr>
          <a:xfrm>
            <a:off x="2423160" y="4022598"/>
            <a:ext cx="36576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834640" y="3793998"/>
            <a:ext cx="3657600" cy="45720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the line_num test keeps 2 records:</a:t>
            </a:r>
          </a:p>
          <a:p>
            <a:pPr algn="ctr"/>
            <a:r>
              <a:rPr sz="950" b="0" i="0">
                <a:solidFill>
                  <a:srgbClr val="1F2933"/>
                </a:solidFill>
                <a:latin typeface="Courier New"/>
              </a:rPr>
              <a:t>the header is still there</a:t>
            </a:r>
          </a:p>
        </p:txBody>
      </p:sp>
      <p:sp>
        <p:nvSpPr>
          <p:cNvPr id="17" name="visual note"/>
          <p:cNvSpPr txBox="1"/>
          <p:nvPr/>
        </p:nvSpPr>
        <p:spPr>
          <a:xfrm>
            <a:off x="6629400" y="3793998"/>
            <a:ext cx="2148840" cy="457200"/>
          </a:xfrm>
          <a:prstGeom prst="rect">
            <a:avLst/>
          </a:prstGeom>
          <a:noFill/>
        </p:spPr>
        <p:txBody>
          <a:bodyPr wrap="square" lIns="45720" rIns="45720" tIns="27432" bIns="27432" anchor="t">
            <a:spAutoFit/>
          </a:bodyPr>
          <a:lstStyle/>
          <a:p>
            <a:r>
              <a:rPr sz="950" b="0" i="1">
                <a:solidFill>
                  <a:srgbClr val="5B6773"/>
                </a:solidFill>
                <a:latin typeface="Calibri"/>
              </a:rPr>
              <a:t>next() skips the header, whatever its length</a:t>
            </a:r>
          </a:p>
        </p:txBody>
      </p:sp>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next(reader) skips the header whatever its length.</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10 / 53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2800" b="1" i="0">
                <a:solidFill>
                  <a:srgbClr val="1F2933"/>
                </a:solidFill>
                <a:latin typeface="Calibri"/>
              </a:rPr>
              <a:t>Part 2: Writing CSV files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Writers, tabs, quoting, line ends and the encoding</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writer()</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Writes lists as CSV lines, quoting when needed.</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delimiter</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The character between fields: comma or tab.</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newline=''</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Stops Windows from doubling the line ends.</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encoding</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Excel's UTF-8 files start with a mark.</a:t>
            </a:r>
          </a:p>
        </p:txBody>
      </p:sp>
      <p:graphicFrame>
        <p:nvGraphicFramePr>
          <p:cNvPr id="13" name="table"/>
          <p:cNvGraphicFramePr>
            <a:graphicFrameLocks noGrp="1"/>
          </p:cNvGraphicFramePr>
          <p:nvPr/>
        </p:nvGraphicFramePr>
        <p:xfrm>
          <a:off x="5303520" y="1417320"/>
          <a:ext cx="3474719" cy="3200400"/>
        </p:xfrm>
        <a:graphic>
          <a:graphicData uri="http://schemas.openxmlformats.org/drawingml/2006/table">
            <a:tbl>
              <a:tblPr firstRow="0" bandRow="0"/>
              <a:tblGrid>
                <a:gridCol w="507543"/>
                <a:gridCol w="2967176"/>
              </a:tblGrid>
              <a:tr h="35560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55600">
                <a:tc>
                  <a:txBody>
                    <a:bodyPr wrap="square"/>
                    <a:lstStyle/>
                    <a:p>
                      <a:r>
                        <a:rPr sz="1050" b="0" i="0">
                          <a:solidFill>
                            <a:srgbClr val="1F2933"/>
                          </a:solidFill>
                          <a:latin typeface="Calibri"/>
                        </a:rPr>
                        <a:t>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tabs, headers and line...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50" b="0" i="0">
                          <a:solidFill>
                            <a:srgbClr val="1F2933"/>
                          </a:solidFill>
                          <a:latin typeface="Calibri"/>
                        </a:rPr>
                        <a:t>13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Story: RFC 4180 wrote CSV down in October...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55600">
                <a:tc>
                  <a:txBody>
                    <a:bodyPr wrap="square"/>
                    <a:lstStyle/>
                    <a:p>
                      <a:r>
                        <a:rPr sz="1050" b="0" i="0">
                          <a:solidFill>
                            <a:srgbClr val="1F2933"/>
                          </a:solidFill>
                          <a:latin typeface="Calibri"/>
                        </a:rPr>
                        <a:t>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Writing CSV files: writer() and writerow()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50" b="0" i="0">
                          <a:solidFill>
                            <a:srgbClr val="1F2933"/>
                          </a:solidFill>
                          <a:latin typeface="Calibri"/>
                        </a:rPr>
                        <a:t>15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Using tabs instead of commas: delimiter 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55600">
                <a:tc>
                  <a:txBody>
                    <a:bodyPr wrap="square"/>
                    <a:lstStyle/>
                    <a:p>
                      <a:r>
                        <a:rPr sz="1050" b="0" i="0">
                          <a:solidFill>
                            <a:srgbClr val="1F2933"/>
                          </a:solidFill>
                          <a:latin typeface="Calibri"/>
                        </a:rPr>
                        <a:t>16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newline='' and the double-spaced file (Fi...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50" b="0" i="0">
                          <a:solidFill>
                            <a:srgbClr val="1F2933"/>
                          </a:solidFill>
                          <a:latin typeface="Calibri"/>
                        </a:rPr>
                        <a:t>17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Quoting: six constants, one row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55600">
                <a:tc>
                  <a:txBody>
                    <a:bodyPr wrap="square"/>
                    <a:lstStyle/>
                    <a:p>
                      <a:r>
                        <a:rPr sz="1050" b="0" i="0">
                          <a:solidFill>
                            <a:srgbClr val="1F2933"/>
                          </a:solidFill>
                          <a:latin typeface="Calibri"/>
                        </a:rPr>
                        <a:t>18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The encoding the chapter never names: utf...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50" b="0" i="0">
                          <a:solidFill>
                            <a:srgbClr val="1F2933"/>
                          </a:solidFill>
                          <a:latin typeface="Calibri"/>
                        </a:rPr>
                        <a:t>19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DictReader and DictWriter: rows as dictio...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11 / 53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tabs, headers and line ends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header row is like the heading strip of a register: it names the columns and holds no entry.</a:t>
            </a:r>
          </a:p>
        </p:txBody>
      </p:sp>
      <p:graphicFrame>
        <p:nvGraphicFramePr>
          <p:cNvPr id="6" name="table"/>
          <p:cNvGraphicFramePr>
            <a:graphicFrameLocks noGrp="1"/>
          </p:cNvGraphicFramePr>
          <p:nvPr/>
        </p:nvGraphicFramePr>
        <p:xfrm>
          <a:off x="365760" y="1417320"/>
          <a:ext cx="8412480" cy="2286000"/>
        </p:xfrm>
        <a:graphic>
          <a:graphicData uri="http://schemas.openxmlformats.org/drawingml/2006/table">
            <a:tbl>
              <a:tblPr firstRow="0" bandRow="0"/>
              <a:tblGrid>
                <a:gridCol w="3108960"/>
                <a:gridCol w="530352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Using Tabs Instead of Commas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Ruling the register with tab stops instead of commas; the entries stay the same.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Handling Header Rows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Tearing the heading strip off before you count the entries.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exampleWithHeader3.csv</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sample register that comes with a heading strip, for practice.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Figure 18-1: a CSV file written without newline='' opened in a spreadsheet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typist who presses the return key twice at the end of each line: a blank line after every entry.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12 / 53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RFC 4180 wrote CSV down in October 2005</a:t>
            </a:r>
          </a:p>
        </p:txBody>
      </p:sp>
      <p:pic>
        <p:nvPicPr>
          <p:cNvPr id="4" name="photo rfc" descr="Picture for the story: RFC 4180 wrote CSV down in October 2005"/>
          <p:cNvPicPr>
            <a:picLocks noChangeAspect="1"/>
          </p:cNvPicPr>
          <p:nvPr/>
        </p:nvPicPr>
        <p:blipFill>
          <a:blip r:embed="rId3"/>
          <a:stretch>
            <a:fillRect/>
          </a:stretch>
        </p:blipFill>
        <p:spPr>
          <a:xfrm>
            <a:off x="365840" y="868680"/>
            <a:ext cx="2651598"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A meeting hall titled 'IETF Meeting' by its photographer: not the author of the RFC. Photo: Christopher Blizzard, CC BY-SA 2.0, Flickr.</a:t>
            </a:r>
          </a:p>
        </p:txBody>
      </p:sp>
      <p:sp>
        <p:nvSpPr>
          <p:cNvPr id="6" name="card"/>
          <p:cNvSpPr/>
          <p:nvPr/>
        </p:nvSpPr>
        <p:spPr>
          <a:xfrm>
            <a:off x="3200400" y="8412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Yakov Shafranovich of SolidMatrix Technologies, in the series of RFC memos.</a:t>
            </a:r>
          </a:p>
        </p:txBody>
      </p:sp>
      <p:sp>
        <p:nvSpPr>
          <p:cNvPr id="8" name="card"/>
          <p:cNvSpPr/>
          <p:nvPr/>
        </p:nvSpPr>
        <p:spPr>
          <a:xfrm>
            <a:off x="3200400" y="14081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081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RFC 4180 documents the common CSV format and registers the media type text/csv.</a:t>
            </a:r>
          </a:p>
        </p:txBody>
      </p:sp>
      <p:sp>
        <p:nvSpPr>
          <p:cNvPr id="10" name="card"/>
          <p:cNvSpPr/>
          <p:nvPr/>
        </p:nvSpPr>
        <p:spPr>
          <a:xfrm>
            <a:off x="3200400" y="1975104"/>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75104"/>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October 2005, after more than thirty years of CSV files.</a:t>
            </a:r>
          </a:p>
        </p:txBody>
      </p:sp>
      <p:sp>
        <p:nvSpPr>
          <p:cNvPr id="12" name="card"/>
          <p:cNvSpPr/>
          <p:nvPr/>
        </p:nvSpPr>
        <p:spPr>
          <a:xfrm>
            <a:off x="3200400" y="24414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4414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In the RFC series for the Internet community; the type is registered with IANA.</a:t>
            </a:r>
          </a:p>
        </p:txBody>
      </p:sp>
      <p:sp>
        <p:nvSpPr>
          <p:cNvPr id="14" name="card"/>
          <p:cNvSpPr/>
          <p:nvPr/>
        </p:nvSpPr>
        <p:spPr>
          <a:xfrm>
            <a:off x="3200400" y="30083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0083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No formal specification existed, so programs read CSV in many ways; the memo is Informational, not a standard.</a:t>
            </a:r>
          </a:p>
        </p:txBody>
      </p:sp>
      <p:sp>
        <p:nvSpPr>
          <p:cNvPr id="16" name="card"/>
          <p:cNvSpPr/>
          <p:nvPr/>
        </p:nvSpPr>
        <p:spPr>
          <a:xfrm>
            <a:off x="3200400" y="3575304"/>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575304"/>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Records end in CRLF, a header is optional, and fields with commas, quotes or line breaks sit in double quotes.</a:t>
            </a:r>
          </a:p>
        </p:txBody>
      </p:sp>
      <p:sp>
        <p:nvSpPr>
          <p:cNvPr id="18" name="read"/>
          <p:cNvSpPr txBox="1"/>
          <p:nvPr/>
        </p:nvSpPr>
        <p:spPr>
          <a:xfrm>
            <a:off x="3200400" y="4160520"/>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RFC 4180 (RFC Editor)</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13 / 53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Writing CSV files: writer() and writerow()</a:t>
            </a:r>
          </a:p>
        </p:txBody>
      </p:sp>
      <p:sp>
        <p:nvSpPr>
          <p:cNvPr id="4" name="code"/>
          <p:cNvSpPr/>
          <p:nvPr/>
        </p:nvSpPr>
        <p:spPr>
          <a:xfrm>
            <a:off x="365760" y="786384"/>
            <a:ext cx="55138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csv</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io</a:t>
            </a:r>
          </a:p>
          <a:p>
            <a:pPr algn="l"/>
            <a:r>
              <a:rPr sz="1000" b="0" i="0">
                <a:solidFill>
                  <a:srgbClr val="8FA3B8"/>
                </a:solidFill>
                <a:latin typeface="Courier New"/>
              </a:rPr>
              <a:t>&gt;&gt;&gt; </a:t>
            </a:r>
            <a:r>
              <a:rPr sz="1000" b="0" i="0">
                <a:solidFill>
                  <a:srgbClr val="E6EDF3"/>
                </a:solidFill>
                <a:latin typeface="Courier New"/>
              </a:rPr>
              <a:t>out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io</a:t>
            </a:r>
            <a:r>
              <a:rPr sz="1000" b="0" i="0">
                <a:solidFill>
                  <a:srgbClr val="E6EDF3"/>
                </a:solidFill>
                <a:latin typeface="Courier New"/>
              </a:rPr>
              <a:t>.</a:t>
            </a:r>
            <a:r>
              <a:rPr sz="1000" b="0" i="0">
                <a:solidFill>
                  <a:srgbClr val="E6EDF3"/>
                </a:solidFill>
                <a:latin typeface="Courier New"/>
              </a:rPr>
              <a:t>StringIO</a:t>
            </a:r>
            <a:r>
              <a:rPr sz="1000" b="0" i="0">
                <a:solidFill>
                  <a:srgbClr val="E6EDF3"/>
                </a:solidFill>
                <a:latin typeface="Courier New"/>
              </a:rPr>
              <a:t>(</a:t>
            </a:r>
            <a:r>
              <a:rPr sz="1000" b="0" i="0">
                <a:solidFill>
                  <a:srgbClr val="E6EDF3"/>
                </a:solidFill>
                <a:latin typeface="Courier New"/>
              </a:rPr>
              <a:t>newline</a:t>
            </a:r>
            <a:r>
              <a:rPr sz="1000" b="0" i="0">
                <a:solidFill>
                  <a:srgbClr val="E6EDF3"/>
                </a:solidFill>
                <a:latin typeface="Courier New"/>
              </a:rPr>
              <a:t>=</a:t>
            </a:r>
            <a:r>
              <a:rPr sz="1000" b="0" i="0">
                <a:solidFill>
                  <a:srgbClr val="9BE3A8"/>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writer</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csv</a:t>
            </a:r>
            <a:r>
              <a:rPr sz="1000" b="0" i="0">
                <a:solidFill>
                  <a:srgbClr val="E6EDF3"/>
                </a:solidFill>
                <a:latin typeface="Courier New"/>
              </a:rPr>
              <a:t>.</a:t>
            </a:r>
            <a:r>
              <a:rPr sz="1000" b="0" i="0">
                <a:solidFill>
                  <a:srgbClr val="E6EDF3"/>
                </a:solidFill>
                <a:latin typeface="Courier New"/>
              </a:rPr>
              <a:t>writer</a:t>
            </a:r>
            <a:r>
              <a:rPr sz="1000" b="0" i="0">
                <a:solidFill>
                  <a:srgbClr val="E6EDF3"/>
                </a:solidFill>
                <a:latin typeface="Courier New"/>
              </a:rPr>
              <a:t>(</a:t>
            </a:r>
            <a:r>
              <a:rPr sz="1000" b="0" i="0">
                <a:solidFill>
                  <a:srgbClr val="E6EDF3"/>
                </a:solidFill>
                <a:latin typeface="Courier New"/>
              </a:rPr>
              <a:t>out</a:t>
            </a:r>
            <a:r>
              <a:rPr sz="1000" b="0" i="0">
                <a:solidFill>
                  <a:srgbClr val="E6EDF3"/>
                </a:solidFill>
                <a:latin typeface="Courier New"/>
              </a:rPr>
              <a:t>)</a:t>
            </a:r>
          </a:p>
        </p:txBody>
      </p:sp>
      <p:sp>
        <p:nvSpPr>
          <p:cNvPr id="5" name="explanation"/>
          <p:cNvSpPr txBox="1"/>
          <p:nvPr/>
        </p:nvSpPr>
        <p:spPr>
          <a:xfrm>
            <a:off x="5861304" y="786384"/>
            <a:ext cx="2916936" cy="651891"/>
          </a:xfrm>
          <a:prstGeom prst="rect">
            <a:avLst/>
          </a:prstGeom>
          <a:noFill/>
        </p:spPr>
        <p:txBody>
          <a:bodyPr wrap="square" lIns="128016" rIns="128016" tIns="18288" bIns="18288" anchor="ctr">
            <a:spAutoFit/>
          </a:bodyPr>
          <a:lstStyle/>
          <a:p>
            <a:r>
              <a:rPr sz="1100" b="0" i="0">
                <a:solidFill>
                  <a:srgbClr val="1F2933"/>
                </a:solidFill>
                <a:latin typeface="Calibri"/>
              </a:rPr>
              <a:t>A StringIO stands in for open('output.csv', 'w', newline=''). The writer wraps it.</a:t>
            </a:r>
          </a:p>
        </p:txBody>
      </p:sp>
      <p:sp>
        <p:nvSpPr>
          <p:cNvPr id="6" name="code"/>
          <p:cNvSpPr/>
          <p:nvPr/>
        </p:nvSpPr>
        <p:spPr>
          <a:xfrm>
            <a:off x="365760" y="1483995"/>
            <a:ext cx="5513831"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writer</a:t>
            </a:r>
            <a:r>
              <a:rPr sz="1000" b="0" i="0">
                <a:solidFill>
                  <a:srgbClr val="E6EDF3"/>
                </a:solidFill>
                <a:latin typeface="Courier New"/>
              </a:rPr>
              <a:t>.</a:t>
            </a:r>
            <a:r>
              <a:rPr sz="1000" b="0" i="0">
                <a:solidFill>
                  <a:srgbClr val="E6EDF3"/>
                </a:solidFill>
                <a:latin typeface="Courier New"/>
              </a:rPr>
              <a:t>writerow</a:t>
            </a:r>
            <a:r>
              <a:rPr sz="1000" b="0" i="0">
                <a:solidFill>
                  <a:srgbClr val="E6EDF3"/>
                </a:solidFill>
                <a:latin typeface="Courier New"/>
              </a:rPr>
              <a:t>(</a:t>
            </a:r>
            <a:r>
              <a:rPr sz="1000" b="0" i="0">
                <a:solidFill>
                  <a:srgbClr val="E6EDF3"/>
                </a:solidFill>
                <a:latin typeface="Courier New"/>
              </a:rPr>
              <a:t>[</a:t>
            </a:r>
            <a:r>
              <a:rPr sz="1000" b="0" i="0">
                <a:solidFill>
                  <a:srgbClr val="9BE3A8"/>
                </a:solidFill>
                <a:latin typeface="Courier New"/>
              </a:rPr>
              <a:t>'spam'</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'eggs'</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'bacon'</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'ham'</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writer</a:t>
            </a:r>
            <a:r>
              <a:rPr sz="1000" b="0" i="0">
                <a:solidFill>
                  <a:srgbClr val="E6EDF3"/>
                </a:solidFill>
                <a:latin typeface="Courier New"/>
              </a:rPr>
              <a:t>.</a:t>
            </a:r>
            <a:r>
              <a:rPr sz="1000" b="0" i="0">
                <a:solidFill>
                  <a:srgbClr val="E6EDF3"/>
                </a:solidFill>
                <a:latin typeface="Courier New"/>
              </a:rPr>
              <a:t>writerow</a:t>
            </a:r>
            <a:r>
              <a:rPr sz="1000" b="0" i="0">
                <a:solidFill>
                  <a:srgbClr val="E6EDF3"/>
                </a:solidFill>
                <a:latin typeface="Courier New"/>
              </a:rPr>
              <a:t>(</a:t>
            </a:r>
            <a:r>
              <a:rPr sz="1000" b="0" i="0">
                <a:solidFill>
                  <a:srgbClr val="E6EDF3"/>
                </a:solidFill>
                <a:latin typeface="Courier New"/>
              </a:rPr>
              <a:t>[</a:t>
            </a:r>
            <a:r>
              <a:rPr sz="1000" b="0" i="0">
                <a:solidFill>
                  <a:srgbClr val="9BE3A8"/>
                </a:solidFill>
                <a:latin typeface="Courier New"/>
              </a:rPr>
              <a:t>'Hello, world!'</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'eggs'</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'bacon'</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'ham'</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writer</a:t>
            </a:r>
            <a:r>
              <a:rPr sz="1000" b="0" i="0">
                <a:solidFill>
                  <a:srgbClr val="E6EDF3"/>
                </a:solidFill>
                <a:latin typeface="Courier New"/>
              </a:rPr>
              <a:t>.</a:t>
            </a:r>
            <a:r>
              <a:rPr sz="1000" b="0" i="0">
                <a:solidFill>
                  <a:srgbClr val="E6EDF3"/>
                </a:solidFill>
                <a:latin typeface="Courier New"/>
              </a:rPr>
              <a:t>writerow</a:t>
            </a:r>
            <a:r>
              <a:rPr sz="1000" b="0" i="0">
                <a:solidFill>
                  <a:srgbClr val="E6EDF3"/>
                </a:solidFill>
                <a:latin typeface="Courier New"/>
              </a:rPr>
              <a:t>(</a:t>
            </a:r>
            <a:r>
              <a:rPr sz="1000" b="0" i="0">
                <a:solidFill>
                  <a:srgbClr val="E6EDF3"/>
                </a:solidFill>
                <a:latin typeface="Courier New"/>
              </a:rPr>
              <a:t>[</a:t>
            </a:r>
            <a:r>
              <a:rPr sz="1000" b="0" i="0">
                <a:solidFill>
                  <a:srgbClr val="7CC4FF"/>
                </a:solidFill>
                <a:latin typeface="Courier New"/>
              </a:rPr>
              <a:t>1</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3.141592</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None</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True</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7" name="explanation"/>
          <p:cNvSpPr txBox="1"/>
          <p:nvPr/>
        </p:nvSpPr>
        <p:spPr>
          <a:xfrm>
            <a:off x="5861304" y="1483995"/>
            <a:ext cx="2916936" cy="826516"/>
          </a:xfrm>
          <a:prstGeom prst="rect">
            <a:avLst/>
          </a:prstGeom>
          <a:noFill/>
        </p:spPr>
        <p:txBody>
          <a:bodyPr wrap="square" lIns="128016" rIns="128016" tIns="18288" bIns="18288" anchor="ctr">
            <a:spAutoFit/>
          </a:bodyPr>
          <a:lstStyle/>
          <a:p>
            <a:r>
              <a:rPr sz="1100" b="0" i="0">
                <a:solidFill>
                  <a:srgbClr val="1F2933"/>
                </a:solidFill>
                <a:latin typeface="Calibri"/>
              </a:rPr>
              <a:t>writerow() returns how many characters it wrote. It quotes a field that holds a comma and turns numbers and None into text.</a:t>
            </a:r>
          </a:p>
        </p:txBody>
      </p:sp>
      <p:sp>
        <p:nvSpPr>
          <p:cNvPr id="8" name="code"/>
          <p:cNvSpPr/>
          <p:nvPr/>
        </p:nvSpPr>
        <p:spPr>
          <a:xfrm>
            <a:off x="365760" y="2356231"/>
            <a:ext cx="5513831" cy="47726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out</a:t>
            </a:r>
            <a:r>
              <a:rPr sz="1000" b="0" i="0">
                <a:solidFill>
                  <a:srgbClr val="E6EDF3"/>
                </a:solidFill>
                <a:latin typeface="Courier New"/>
              </a:rPr>
              <a:t>.</a:t>
            </a:r>
            <a:r>
              <a:rPr sz="1000" b="0" i="0">
                <a:solidFill>
                  <a:srgbClr val="E6EDF3"/>
                </a:solidFill>
                <a:latin typeface="Courier New"/>
              </a:rPr>
              <a:t>getvalue</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encode</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9" name="explanation"/>
          <p:cNvSpPr txBox="1"/>
          <p:nvPr/>
        </p:nvSpPr>
        <p:spPr>
          <a:xfrm>
            <a:off x="5861304" y="2356231"/>
            <a:ext cx="2916936" cy="477266"/>
          </a:xfrm>
          <a:prstGeom prst="rect">
            <a:avLst/>
          </a:prstGeom>
          <a:noFill/>
        </p:spPr>
        <p:txBody>
          <a:bodyPr wrap="square" lIns="128016" rIns="128016" tIns="18288" bIns="18288" anchor="ctr">
            <a:spAutoFit/>
          </a:bodyPr>
          <a:lstStyle/>
          <a:p>
            <a:r>
              <a:rPr sz="1100" b="0" i="0">
                <a:solidFill>
                  <a:srgbClr val="1F2933"/>
                </a:solidFill>
                <a:latin typeface="Calibri"/>
              </a:rPr>
              <a:t>The bytes show the CRLF that ends every record.</a:t>
            </a:r>
          </a:p>
        </p:txBody>
      </p:sp>
      <p:sp>
        <p:nvSpPr>
          <p:cNvPr id="10" name="result label"/>
          <p:cNvSpPr txBox="1"/>
          <p:nvPr/>
        </p:nvSpPr>
        <p:spPr>
          <a:xfrm>
            <a:off x="365760" y="2888361"/>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135249"/>
          <a:ext cx="8412478" cy="1097280"/>
        </p:xfrm>
        <a:graphic>
          <a:graphicData uri="http://schemas.openxmlformats.org/drawingml/2006/table">
            <a:tbl>
              <a:tblPr firstRow="0" bandRow="0"/>
              <a:tblGrid>
                <a:gridCol w="2606683"/>
                <a:gridCol w="1066370"/>
                <a:gridCol w="4739425"/>
              </a:tblGrid>
              <a:tr h="274320">
                <a:tc>
                  <a:txBody>
                    <a:bodyPr wrap="square"/>
                    <a:lstStyle/>
                    <a:p>
                      <a:r>
                        <a:rPr sz="1000" b="1" i="0">
                          <a:solidFill>
                            <a:srgbClr val="FFFFFF"/>
                          </a:solidFill>
                          <a:latin typeface="Calibri"/>
                        </a:rPr>
                        <a:t>row given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returned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line in the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alibri"/>
                        </a:rPr>
                        <a:t>4 words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21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spam,eggs,bacon,ham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alibri"/>
                        </a:rPr>
                        <a:t>a field with a comma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32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"Hello, world!",eggs,bacon,ham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274320">
                <a:tc>
                  <a:txBody>
                    <a:bodyPr wrap="square"/>
                    <a:lstStyle/>
                    <a:p>
                      <a:r>
                        <a:rPr sz="1000" b="0" i="0">
                          <a:solidFill>
                            <a:srgbClr val="1F2933"/>
                          </a:solidFill>
                          <a:latin typeface="Calibri"/>
                        </a:rPr>
                        <a:t>number, None, empty, 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19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1,3.141592,,,True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bl>
          </a:graphicData>
        </a:graphic>
      </p:graphicFrame>
      <p:sp>
        <p:nvSpPr>
          <p:cNvPr id="12" name="visual note"/>
          <p:cNvSpPr txBox="1"/>
          <p:nvPr/>
        </p:nvSpPr>
        <p:spPr>
          <a:xfrm>
            <a:off x="365760" y="4278249"/>
            <a:ext cx="8412480" cy="329184"/>
          </a:xfrm>
          <a:prstGeom prst="rect">
            <a:avLst/>
          </a:prstGeom>
          <a:noFill/>
        </p:spPr>
        <p:txBody>
          <a:bodyPr wrap="square" lIns="45720" rIns="45720" tIns="27432" bIns="27432" anchor="t">
            <a:spAutoFit/>
          </a:bodyPr>
          <a:lstStyle/>
          <a:p>
            <a:r>
              <a:rPr sz="950" b="0" i="1">
                <a:solidFill>
                  <a:srgbClr val="5B6773"/>
                </a:solidFill>
                <a:latin typeface="Calibri"/>
              </a:rPr>
              <a:t>returned = characters written, the 2 of CRLF included; amber: a comma made quotes; green: None and '' became empty fields</a:t>
            </a:r>
          </a:p>
        </p:txBody>
      </p:sp>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writerow() quotes what needs it and returns the length.</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14 / 53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600" b="1" i="0">
                <a:solidFill>
                  <a:srgbClr val="1F2933"/>
                </a:solidFill>
                <a:latin typeface="Calibri"/>
              </a:rPr>
              <a:t>Using tabs instead of commas: delimiter and lineterminator</a:t>
            </a:r>
          </a:p>
        </p:txBody>
      </p:sp>
      <p:sp>
        <p:nvSpPr>
          <p:cNvPr id="4" name="code"/>
          <p:cNvSpPr/>
          <p:nvPr/>
        </p:nvSpPr>
        <p:spPr>
          <a:xfrm>
            <a:off x="365760" y="786384"/>
            <a:ext cx="546811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import</a:t>
            </a:r>
            <a:r>
              <a:rPr sz="950" b="0" i="0">
                <a:solidFill>
                  <a:srgbClr val="E6EDF3"/>
                </a:solidFill>
                <a:latin typeface="Courier New"/>
              </a:rPr>
              <a:t> </a:t>
            </a:r>
            <a:r>
              <a:rPr sz="950" b="0" i="0">
                <a:solidFill>
                  <a:srgbClr val="E6EDF3"/>
                </a:solidFill>
                <a:latin typeface="Courier New"/>
              </a:rPr>
              <a:t>csv</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io</a:t>
            </a:r>
          </a:p>
          <a:p>
            <a:pPr algn="l"/>
            <a:r>
              <a:rPr sz="950" b="0" i="0">
                <a:solidFill>
                  <a:srgbClr val="8FA3B8"/>
                </a:solidFill>
                <a:latin typeface="Courier New"/>
              </a:rPr>
              <a:t>&gt;&gt;&gt; </a:t>
            </a:r>
            <a:r>
              <a:rPr sz="950" b="0" i="0">
                <a:solidFill>
                  <a:srgbClr val="E6EDF3"/>
                </a:solidFill>
                <a:latin typeface="Courier New"/>
              </a:rPr>
              <a:t>out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io</a:t>
            </a:r>
            <a:r>
              <a:rPr sz="950" b="0" i="0">
                <a:solidFill>
                  <a:srgbClr val="E6EDF3"/>
                </a:solidFill>
                <a:latin typeface="Courier New"/>
              </a:rPr>
              <a:t>.</a:t>
            </a:r>
            <a:r>
              <a:rPr sz="950" b="0" i="0">
                <a:solidFill>
                  <a:srgbClr val="E6EDF3"/>
                </a:solidFill>
                <a:latin typeface="Courier New"/>
              </a:rPr>
              <a:t>StringIO</a:t>
            </a:r>
            <a:r>
              <a:rPr sz="950" b="0" i="0">
                <a:solidFill>
                  <a:srgbClr val="E6EDF3"/>
                </a:solidFill>
                <a:latin typeface="Courier New"/>
              </a:rPr>
              <a:t>(</a:t>
            </a:r>
            <a:r>
              <a:rPr sz="950" b="0" i="0">
                <a:solidFill>
                  <a:srgbClr val="E6EDF3"/>
                </a:solidFill>
                <a:latin typeface="Courier New"/>
              </a:rPr>
              <a:t>newline</a:t>
            </a:r>
            <a:r>
              <a:rPr sz="950" b="0" i="0">
                <a:solidFill>
                  <a:srgbClr val="E6EDF3"/>
                </a:solidFill>
                <a:latin typeface="Courier New"/>
              </a:rPr>
              <a:t>=</a:t>
            </a:r>
            <a:r>
              <a:rPr sz="950" b="0" i="0">
                <a:solidFill>
                  <a:srgbClr val="9BE3A8"/>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w</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csv</a:t>
            </a:r>
            <a:r>
              <a:rPr sz="950" b="0" i="0">
                <a:solidFill>
                  <a:srgbClr val="E6EDF3"/>
                </a:solidFill>
                <a:latin typeface="Courier New"/>
              </a:rPr>
              <a:t>.</a:t>
            </a:r>
            <a:r>
              <a:rPr sz="950" b="0" i="0">
                <a:solidFill>
                  <a:srgbClr val="E6EDF3"/>
                </a:solidFill>
                <a:latin typeface="Courier New"/>
              </a:rPr>
              <a:t>writer</a:t>
            </a:r>
            <a:r>
              <a:rPr sz="950" b="0" i="0">
                <a:solidFill>
                  <a:srgbClr val="E6EDF3"/>
                </a:solidFill>
                <a:latin typeface="Courier New"/>
              </a:rPr>
              <a:t>(</a:t>
            </a:r>
            <a:r>
              <a:rPr sz="950" b="0" i="0">
                <a:solidFill>
                  <a:srgbClr val="E6EDF3"/>
                </a:solidFill>
                <a:latin typeface="Courier New"/>
              </a:rPr>
              <a:t>out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delimiter</a:t>
            </a:r>
            <a:r>
              <a:rPr sz="950" b="0" i="0">
                <a:solidFill>
                  <a:srgbClr val="E6EDF3"/>
                </a:solidFill>
                <a:latin typeface="Courier New"/>
              </a:rPr>
              <a:t>=</a:t>
            </a:r>
            <a:r>
              <a:rPr sz="950" b="0" i="0">
                <a:solidFill>
                  <a:srgbClr val="9BE3A8"/>
                </a:solidFill>
                <a:latin typeface="Courier New"/>
              </a:rPr>
              <a:t>'\t'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lineterminator</a:t>
            </a:r>
            <a:r>
              <a:rPr sz="950" b="0" i="0">
                <a:solidFill>
                  <a:srgbClr val="E6EDF3"/>
                </a:solidFill>
                <a:latin typeface="Courier New"/>
              </a:rPr>
              <a:t>=</a:t>
            </a:r>
            <a:r>
              <a:rPr sz="950" b="0" i="0">
                <a:solidFill>
                  <a:srgbClr val="9BE3A8"/>
                </a:solidFill>
                <a:latin typeface="Courier New"/>
              </a:rPr>
              <a:t>'\n'</a:t>
            </a:r>
            <a:r>
              <a:rPr sz="950" b="0" i="0">
                <a:solidFill>
                  <a:srgbClr val="E6EDF3"/>
                </a:solidFill>
                <a:latin typeface="Courier New"/>
              </a:rPr>
              <a:t>)</a:t>
            </a:r>
          </a:p>
        </p:txBody>
      </p:sp>
      <p:sp>
        <p:nvSpPr>
          <p:cNvPr id="5" name="explanation"/>
          <p:cNvSpPr txBox="1"/>
          <p:nvPr/>
        </p:nvSpPr>
        <p:spPr>
          <a:xfrm>
            <a:off x="5815584" y="786384"/>
            <a:ext cx="2962656" cy="651891"/>
          </a:xfrm>
          <a:prstGeom prst="rect">
            <a:avLst/>
          </a:prstGeom>
          <a:noFill/>
        </p:spPr>
        <p:txBody>
          <a:bodyPr wrap="square" lIns="128016" rIns="128016" tIns="18288" bIns="18288" anchor="ctr">
            <a:spAutoFit/>
          </a:bodyPr>
          <a:lstStyle/>
          <a:p>
            <a:r>
              <a:rPr sz="1100" b="0" i="0">
                <a:solidFill>
                  <a:srgbClr val="1F2933"/>
                </a:solidFill>
                <a:latin typeface="Calibri"/>
              </a:rPr>
              <a:t>delimiter changes the character between fields. lineterminator changes what ends a record.</a:t>
            </a:r>
          </a:p>
        </p:txBody>
      </p:sp>
      <p:sp>
        <p:nvSpPr>
          <p:cNvPr id="6" name="code"/>
          <p:cNvSpPr/>
          <p:nvPr/>
        </p:nvSpPr>
        <p:spPr>
          <a:xfrm>
            <a:off x="365760" y="1483995"/>
            <a:ext cx="546811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w</a:t>
            </a:r>
            <a:r>
              <a:rPr sz="950" b="0" i="0">
                <a:solidFill>
                  <a:srgbClr val="E6EDF3"/>
                </a:solidFill>
                <a:latin typeface="Courier New"/>
              </a:rPr>
              <a:t>.</a:t>
            </a:r>
            <a:r>
              <a:rPr sz="950" b="0" i="0">
                <a:solidFill>
                  <a:srgbClr val="E6EDF3"/>
                </a:solidFill>
                <a:latin typeface="Courier New"/>
              </a:rPr>
              <a:t>writerow</a:t>
            </a:r>
            <a:r>
              <a:rPr sz="950" b="0" i="0">
                <a:solidFill>
                  <a:srgbClr val="E6EDF3"/>
                </a:solidFill>
                <a:latin typeface="Courier New"/>
              </a:rPr>
              <a:t>(</a:t>
            </a:r>
            <a:r>
              <a:rPr sz="950" b="0" i="0">
                <a:solidFill>
                  <a:srgbClr val="E6EDF3"/>
                </a:solidFill>
                <a:latin typeface="Courier New"/>
              </a:rPr>
              <a:t>[</a:t>
            </a:r>
            <a:r>
              <a:rPr sz="950" b="0" i="0">
                <a:solidFill>
                  <a:srgbClr val="9BE3A8"/>
                </a:solidFill>
                <a:latin typeface="Courier New"/>
              </a:rPr>
              <a:t>'apples'</a:t>
            </a:r>
            <a:r>
              <a:rPr sz="950" b="0" i="0">
                <a:solidFill>
                  <a:srgbClr val="E6EDF3"/>
                </a:solidFill>
                <a:latin typeface="Courier New"/>
              </a:rPr>
              <a:t>,</a:t>
            </a:r>
            <a:r>
              <a:rPr sz="950" b="0" i="0">
                <a:solidFill>
                  <a:srgbClr val="E6EDF3"/>
                </a:solidFill>
                <a:latin typeface="Courier New"/>
              </a:rPr>
              <a:t> </a:t>
            </a:r>
            <a:r>
              <a:rPr sz="950" b="0" i="0">
                <a:solidFill>
                  <a:srgbClr val="7CC4FF"/>
                </a:solidFill>
                <a:latin typeface="Courier New"/>
              </a:rPr>
              <a:t>8</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'two words'</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w</a:t>
            </a:r>
            <a:r>
              <a:rPr sz="950" b="0" i="0">
                <a:solidFill>
                  <a:srgbClr val="E6EDF3"/>
                </a:solidFill>
                <a:latin typeface="Courier New"/>
              </a:rPr>
              <a:t>.</a:t>
            </a:r>
            <a:r>
              <a:rPr sz="950" b="0" i="0">
                <a:solidFill>
                  <a:srgbClr val="E6EDF3"/>
                </a:solidFill>
                <a:latin typeface="Courier New"/>
              </a:rPr>
              <a:t>writerows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9BE3A8"/>
                </a:solidFill>
                <a:latin typeface="Courier New"/>
              </a:rPr>
              <a:t>'cats'</a:t>
            </a:r>
            <a:r>
              <a:rPr sz="950" b="0" i="0">
                <a:solidFill>
                  <a:srgbClr val="E6EDF3"/>
                </a:solidFill>
                <a:latin typeface="Courier New"/>
              </a:rPr>
              <a:t>,</a:t>
            </a:r>
            <a:r>
              <a:rPr sz="950" b="0" i="0">
                <a:solidFill>
                  <a:srgbClr val="E6EDF3"/>
                </a:solidFill>
                <a:latin typeface="Courier New"/>
              </a:rPr>
              <a:t> </a:t>
            </a:r>
            <a:r>
              <a:rPr sz="950" b="0" i="0">
                <a:solidFill>
                  <a:srgbClr val="7CC4FF"/>
                </a:solidFill>
                <a:latin typeface="Courier New"/>
              </a:rPr>
              <a:t>3</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'x'</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'dogs'</a:t>
            </a:r>
            <a:r>
              <a:rPr sz="950" b="0" i="0">
                <a:solidFill>
                  <a:srgbClr val="E6EDF3"/>
                </a:solidFill>
                <a:latin typeface="Courier New"/>
              </a:rPr>
              <a:t>,</a:t>
            </a:r>
            <a:r>
              <a:rPr sz="950" b="0" i="0">
                <a:solidFill>
                  <a:srgbClr val="E6EDF3"/>
                </a:solidFill>
                <a:latin typeface="Courier New"/>
              </a:rPr>
              <a:t> </a:t>
            </a:r>
            <a:r>
              <a:rPr sz="950" b="0" i="0">
                <a:solidFill>
                  <a:srgbClr val="7CC4FF"/>
                </a:solidFill>
                <a:latin typeface="Courier New"/>
              </a:rPr>
              <a:t>5</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'y'</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out</a:t>
            </a:r>
            <a:r>
              <a:rPr sz="950" b="0" i="0">
                <a:solidFill>
                  <a:srgbClr val="E6EDF3"/>
                </a:solidFill>
                <a:latin typeface="Courier New"/>
              </a:rPr>
              <a:t>.</a:t>
            </a:r>
            <a:r>
              <a:rPr sz="950" b="0" i="0">
                <a:solidFill>
                  <a:srgbClr val="E6EDF3"/>
                </a:solidFill>
                <a:latin typeface="Courier New"/>
              </a:rPr>
              <a:t>getvalue</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encode</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p:txBody>
      </p:sp>
      <p:sp>
        <p:nvSpPr>
          <p:cNvPr id="7" name="explanation"/>
          <p:cNvSpPr txBox="1"/>
          <p:nvPr/>
        </p:nvSpPr>
        <p:spPr>
          <a:xfrm>
            <a:off x="5815584" y="1483995"/>
            <a:ext cx="2962656" cy="651891"/>
          </a:xfrm>
          <a:prstGeom prst="rect">
            <a:avLst/>
          </a:prstGeom>
          <a:noFill/>
        </p:spPr>
        <p:txBody>
          <a:bodyPr wrap="square" lIns="128016" rIns="128016" tIns="18288" bIns="18288" anchor="ctr">
            <a:spAutoFit/>
          </a:bodyPr>
          <a:lstStyle/>
          <a:p>
            <a:r>
              <a:rPr sz="1100" b="0" i="0">
                <a:solidFill>
                  <a:srgbClr val="1F2933"/>
                </a:solidFill>
                <a:latin typeface="Calibri"/>
              </a:rPr>
              <a:t>writerows() writes a list of rows at once. Words with spaces need no quotes when the delimiter is a tab.</a:t>
            </a:r>
          </a:p>
        </p:txBody>
      </p:sp>
      <p:sp>
        <p:nvSpPr>
          <p:cNvPr id="8" name="code"/>
          <p:cNvSpPr/>
          <p:nvPr/>
        </p:nvSpPr>
        <p:spPr>
          <a:xfrm>
            <a:off x="365760" y="2181606"/>
            <a:ext cx="546811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back</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list</a:t>
            </a:r>
            <a:r>
              <a:rPr sz="950" b="0" i="0">
                <a:solidFill>
                  <a:srgbClr val="E6EDF3"/>
                </a:solidFill>
                <a:latin typeface="Courier New"/>
              </a:rPr>
              <a:t>(</a:t>
            </a:r>
            <a:r>
              <a:rPr sz="950" b="0" i="0">
                <a:solidFill>
                  <a:srgbClr val="E6EDF3"/>
                </a:solidFill>
                <a:latin typeface="Courier New"/>
              </a:rPr>
              <a:t>csv</a:t>
            </a:r>
            <a:r>
              <a:rPr sz="950" b="0" i="0">
                <a:solidFill>
                  <a:srgbClr val="E6EDF3"/>
                </a:solidFill>
                <a:latin typeface="Courier New"/>
              </a:rPr>
              <a:t>.</a:t>
            </a:r>
            <a:r>
              <a:rPr sz="950" b="0" i="0">
                <a:solidFill>
                  <a:srgbClr val="E6EDF3"/>
                </a:solidFill>
                <a:latin typeface="Courier New"/>
              </a:rPr>
              <a:t>reader</a:t>
            </a:r>
            <a:r>
              <a:rPr sz="950" b="0" i="0">
                <a:solidFill>
                  <a:srgbClr val="E6EDF3"/>
                </a:solidFill>
                <a:latin typeface="Courier New"/>
              </a:rPr>
              <a:t>(</a:t>
            </a:r>
            <a:r>
              <a:rPr sz="950" b="0" i="0">
                <a:solidFill>
                  <a:srgbClr val="E6EDF3"/>
                </a:solidFill>
                <a:latin typeface="Courier New"/>
              </a:rPr>
              <a:t>io</a:t>
            </a:r>
            <a:r>
              <a:rPr sz="950" b="0" i="0">
                <a:solidFill>
                  <a:srgbClr val="E6EDF3"/>
                </a:solidFill>
                <a:latin typeface="Courier New"/>
              </a:rPr>
              <a:t>.</a:t>
            </a:r>
            <a:r>
              <a:rPr sz="950" b="0" i="0">
                <a:solidFill>
                  <a:srgbClr val="E6EDF3"/>
                </a:solidFill>
                <a:latin typeface="Courier New"/>
              </a:rPr>
              <a:t>StringIO</a:t>
            </a:r>
            <a:r>
              <a:rPr sz="950" b="0" i="0">
                <a:solidFill>
                  <a:srgbClr val="E6EDF3"/>
                </a:solidFill>
                <a:latin typeface="Courier New"/>
              </a:rPr>
              <a:t>(</a:t>
            </a:r>
            <a:r>
              <a:rPr sz="950" b="0" i="0">
                <a:solidFill>
                  <a:srgbClr val="E6EDF3"/>
                </a:solidFill>
                <a:latin typeface="Courier New"/>
              </a:rPr>
              <a:t>out</a:t>
            </a:r>
            <a:r>
              <a:rPr sz="950" b="0" i="0">
                <a:solidFill>
                  <a:srgbClr val="E6EDF3"/>
                </a:solidFill>
                <a:latin typeface="Courier New"/>
              </a:rPr>
              <a:t>.</a:t>
            </a:r>
            <a:r>
              <a:rPr sz="950" b="0" i="0">
                <a:solidFill>
                  <a:srgbClr val="E6EDF3"/>
                </a:solidFill>
                <a:latin typeface="Courier New"/>
              </a:rPr>
              <a:t>getvalue</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delimiter</a:t>
            </a:r>
            <a:r>
              <a:rPr sz="950" b="0" i="0">
                <a:solidFill>
                  <a:srgbClr val="E6EDF3"/>
                </a:solidFill>
                <a:latin typeface="Courier New"/>
              </a:rPr>
              <a:t>=</a:t>
            </a:r>
            <a:r>
              <a:rPr sz="950" b="0" i="0">
                <a:solidFill>
                  <a:srgbClr val="9BE3A8"/>
                </a:solidFill>
                <a:latin typeface="Courier New"/>
              </a:rPr>
              <a:t>'\t'</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back</a:t>
            </a:r>
            <a:r>
              <a:rPr sz="950" b="0" i="0">
                <a:solidFill>
                  <a:srgbClr val="E6EDF3"/>
                </a:solidFill>
                <a:latin typeface="Courier New"/>
              </a:rPr>
              <a:t>)</a:t>
            </a:r>
          </a:p>
        </p:txBody>
      </p:sp>
      <p:sp>
        <p:nvSpPr>
          <p:cNvPr id="9" name="explanation"/>
          <p:cNvSpPr txBox="1"/>
          <p:nvPr/>
        </p:nvSpPr>
        <p:spPr>
          <a:xfrm>
            <a:off x="5815584" y="2181606"/>
            <a:ext cx="2962656" cy="651891"/>
          </a:xfrm>
          <a:prstGeom prst="rect">
            <a:avLst/>
          </a:prstGeom>
          <a:noFill/>
        </p:spPr>
        <p:txBody>
          <a:bodyPr wrap="square" lIns="128016" rIns="128016" tIns="18288" bIns="18288" anchor="ctr">
            <a:spAutoFit/>
          </a:bodyPr>
          <a:lstStyle/>
          <a:p>
            <a:r>
              <a:rPr sz="1100" b="0" i="0">
                <a:solidFill>
                  <a:srgbClr val="1F2933"/>
                </a:solidFill>
                <a:latin typeface="Calibri"/>
              </a:rPr>
              <a:t>Read it back with the same delimiter. The rows are the ones that were written.</a:t>
            </a:r>
          </a:p>
        </p:txBody>
      </p:sp>
      <p:sp>
        <p:nvSpPr>
          <p:cNvPr id="10" name="result label"/>
          <p:cNvSpPr txBox="1"/>
          <p:nvPr/>
        </p:nvSpPr>
        <p:spPr>
          <a:xfrm>
            <a:off x="365760" y="2888361"/>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135249"/>
          <a:ext cx="4626862" cy="987552"/>
        </p:xfrm>
        <a:graphic>
          <a:graphicData uri="http://schemas.openxmlformats.org/drawingml/2006/table">
            <a:tbl>
              <a:tblPr firstRow="0" bandRow="0"/>
              <a:tblGrid>
                <a:gridCol w="1445894"/>
                <a:gridCol w="1156716"/>
                <a:gridCol w="2024252"/>
              </a:tblGrid>
              <a:tr h="246888">
                <a:tc>
                  <a:txBody>
                    <a:bodyPr wrap="square"/>
                    <a:lstStyle/>
                    <a:p>
                      <a:r>
                        <a:rPr sz="1000" b="1" i="0">
                          <a:solidFill>
                            <a:srgbClr val="FFFFFF"/>
                          </a:solidFill>
                          <a:latin typeface="Calibri"/>
                        </a:rPr>
                        <a:t>field 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field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field 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46888">
                <a:tc>
                  <a:txBody>
                    <a:bodyPr wrap="square"/>
                    <a:lstStyle/>
                    <a:p>
                      <a:r>
                        <a:rPr sz="1000" b="0" i="0">
                          <a:solidFill>
                            <a:srgbClr val="1F2933"/>
                          </a:solidFill>
                          <a:latin typeface="Courier New"/>
                        </a:rPr>
                        <a:t>apples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two words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1000" b="0" i="0">
                          <a:solidFill>
                            <a:srgbClr val="1F2933"/>
                          </a:solidFill>
                          <a:latin typeface="Courier New"/>
                        </a:rPr>
                        <a:t>cats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46888">
                <a:tc>
                  <a:txBody>
                    <a:bodyPr wrap="square"/>
                    <a:lstStyle/>
                    <a:p>
                      <a:r>
                        <a:rPr sz="1000" b="0" i="0">
                          <a:solidFill>
                            <a:srgbClr val="1F2933"/>
                          </a:solidFill>
                          <a:latin typeface="Courier New"/>
                        </a:rPr>
                        <a:t>dogs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2" name="Rounded Rectangle 11"/>
          <p:cNvSpPr/>
          <p:nvPr/>
        </p:nvSpPr>
        <p:spPr>
          <a:xfrm>
            <a:off x="5413248" y="3180969"/>
            <a:ext cx="3364991" cy="45720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fields are told apart by a tab; a record ends with a line feed</a:t>
            </a:r>
          </a:p>
        </p:txBody>
      </p:sp>
      <p:sp>
        <p:nvSpPr>
          <p:cNvPr id="13" name="Rounded Rectangle 12"/>
          <p:cNvSpPr/>
          <p:nvPr/>
        </p:nvSpPr>
        <p:spPr>
          <a:xfrm>
            <a:off x="5413248" y="3702177"/>
            <a:ext cx="3364991" cy="45720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read back with delimiter='\t': 3 rows of 3 fields</a:t>
            </a:r>
          </a:p>
        </p:txBody>
      </p:sp>
      <p:sp>
        <p:nvSpPr>
          <p:cNvPr id="1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delimiter and lineterminator change the layout, not the data.</a:t>
            </a:r>
          </a:p>
        </p:txBody>
      </p:sp>
      <p:sp>
        <p:nvSpPr>
          <p:cNvPr id="1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15 / 53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newline='' and the double-spaced file (Figure 18-1)</a:t>
            </a:r>
          </a:p>
        </p:txBody>
      </p:sp>
      <p:sp>
        <p:nvSpPr>
          <p:cNvPr id="4" name="code"/>
          <p:cNvSpPr/>
          <p:nvPr/>
        </p:nvSpPr>
        <p:spPr>
          <a:xfrm>
            <a:off x="365760" y="786384"/>
            <a:ext cx="467563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csv</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io</a:t>
            </a:r>
          </a:p>
          <a:p>
            <a:pPr algn="l"/>
            <a:r>
              <a:rPr sz="1000" b="0" i="0">
                <a:solidFill>
                  <a:srgbClr val="8FA3B8"/>
                </a:solidFill>
                <a:latin typeface="Courier New"/>
              </a:rPr>
              <a:t>&gt;&gt;&gt; </a:t>
            </a:r>
            <a:r>
              <a:rPr sz="1000" b="0" i="0">
                <a:solidFill>
                  <a:srgbClr val="E6EDF3"/>
                </a:solidFill>
                <a:latin typeface="Courier New"/>
              </a:rPr>
              <a:t>rows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9BE3A8"/>
                </a:solidFill>
                <a:latin typeface="Courier New"/>
              </a:rPr>
              <a:t>'a'</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'b'</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'c'</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'd'</a:t>
            </a:r>
            <a:r>
              <a:rPr sz="1000" b="0" i="0">
                <a:solidFill>
                  <a:srgbClr val="E6EDF3"/>
                </a:solidFill>
                <a:latin typeface="Courier New"/>
              </a:rPr>
              <a:t>]</a:t>
            </a:r>
            <a:r>
              <a:rPr sz="1000" b="0" i="0">
                <a:solidFill>
                  <a:srgbClr val="E6EDF3"/>
                </a:solidFill>
                <a:latin typeface="Courier New"/>
              </a:rPr>
              <a:t>]</a:t>
            </a:r>
          </a:p>
        </p:txBody>
      </p:sp>
      <p:sp>
        <p:nvSpPr>
          <p:cNvPr id="5" name="explanation"/>
          <p:cNvSpPr txBox="1"/>
          <p:nvPr/>
        </p:nvSpPr>
        <p:spPr>
          <a:xfrm>
            <a:off x="5023104" y="786384"/>
            <a:ext cx="3755135" cy="651891"/>
          </a:xfrm>
          <a:prstGeom prst="rect">
            <a:avLst/>
          </a:prstGeom>
          <a:noFill/>
        </p:spPr>
        <p:txBody>
          <a:bodyPr wrap="square" lIns="128016" rIns="128016" tIns="18288" bIns="18288" anchor="ctr">
            <a:spAutoFit/>
          </a:bodyPr>
          <a:lstStyle/>
          <a:p>
            <a:r>
              <a:rPr sz="1100" b="0" i="0">
                <a:solidFill>
                  <a:srgbClr val="1F2933"/>
                </a:solidFill>
                <a:latin typeface="Calibri"/>
              </a:rPr>
              <a:t>Two rows to write twice: once as the book advises, once as Windows would do without newline=''.</a:t>
            </a:r>
          </a:p>
        </p:txBody>
      </p:sp>
      <p:sp>
        <p:nvSpPr>
          <p:cNvPr id="6" name="code"/>
          <p:cNvSpPr/>
          <p:nvPr/>
        </p:nvSpPr>
        <p:spPr>
          <a:xfrm>
            <a:off x="365760" y="1483995"/>
            <a:ext cx="4675632" cy="91185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def</a:t>
            </a:r>
            <a:r>
              <a:rPr sz="1000" b="0" i="0">
                <a:solidFill>
                  <a:srgbClr val="E6EDF3"/>
                </a:solidFill>
                <a:latin typeface="Courier New"/>
              </a:rPr>
              <a:t> </a:t>
            </a:r>
            <a:r>
              <a:rPr sz="1000" b="0" i="0">
                <a:solidFill>
                  <a:srgbClr val="E6EDF3"/>
                </a:solidFill>
                <a:latin typeface="Courier New"/>
              </a:rPr>
              <a:t>write</a:t>
            </a:r>
            <a:r>
              <a:rPr sz="1000" b="0" i="0">
                <a:solidFill>
                  <a:srgbClr val="E6EDF3"/>
                </a:solidFill>
                <a:latin typeface="Courier New"/>
              </a:rPr>
              <a:t>(</a:t>
            </a:r>
            <a:r>
              <a:rPr sz="1000" b="0" i="0">
                <a:solidFill>
                  <a:srgbClr val="E6EDF3"/>
                </a:solidFill>
                <a:latin typeface="Courier New"/>
              </a:rPr>
              <a:t>nl</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buf</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io</a:t>
            </a:r>
            <a:r>
              <a:rPr sz="1000" b="0" i="0">
                <a:solidFill>
                  <a:srgbClr val="E6EDF3"/>
                </a:solidFill>
                <a:latin typeface="Courier New"/>
              </a:rPr>
              <a:t>.</a:t>
            </a:r>
            <a:r>
              <a:rPr sz="1000" b="0" i="0">
                <a:solidFill>
                  <a:srgbClr val="E6EDF3"/>
                </a:solidFill>
                <a:latin typeface="Courier New"/>
              </a:rPr>
              <a:t>BytesIO</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io</a:t>
            </a:r>
            <a:r>
              <a:rPr sz="1000" b="0" i="0">
                <a:solidFill>
                  <a:srgbClr val="E6EDF3"/>
                </a:solidFill>
                <a:latin typeface="Courier New"/>
              </a:rPr>
              <a:t>.</a:t>
            </a:r>
            <a:r>
              <a:rPr sz="1000" b="0" i="0">
                <a:solidFill>
                  <a:srgbClr val="E6EDF3"/>
                </a:solidFill>
                <a:latin typeface="Courier New"/>
              </a:rPr>
              <a:t>TextIOWrapper</a:t>
            </a:r>
            <a:r>
              <a:rPr sz="1000" b="0" i="0">
                <a:solidFill>
                  <a:srgbClr val="E6EDF3"/>
                </a:solidFill>
                <a:latin typeface="Courier New"/>
              </a:rPr>
              <a:t>(</a:t>
            </a:r>
            <a:r>
              <a:rPr sz="1000" b="0" i="0">
                <a:solidFill>
                  <a:srgbClr val="E6EDF3"/>
                </a:solidFill>
                <a:latin typeface="Courier New"/>
              </a:rPr>
              <a:t>buf</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newline</a:t>
            </a:r>
            <a:r>
              <a:rPr sz="1000" b="0" i="0">
                <a:solidFill>
                  <a:srgbClr val="E6EDF3"/>
                </a:solidFill>
                <a:latin typeface="Courier New"/>
              </a:rPr>
              <a:t>=</a:t>
            </a:r>
            <a:r>
              <a:rPr sz="1000" b="0" i="0">
                <a:solidFill>
                  <a:srgbClr val="E6EDF3"/>
                </a:solidFill>
                <a:latin typeface="Courier New"/>
              </a:rPr>
              <a:t>nl</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csv</a:t>
            </a:r>
            <a:r>
              <a:rPr sz="1000" b="0" i="0">
                <a:solidFill>
                  <a:srgbClr val="E6EDF3"/>
                </a:solidFill>
                <a:latin typeface="Courier New"/>
              </a:rPr>
              <a:t>.</a:t>
            </a:r>
            <a:r>
              <a:rPr sz="1000" b="0" i="0">
                <a:solidFill>
                  <a:srgbClr val="E6EDF3"/>
                </a:solidFill>
                <a:latin typeface="Courier New"/>
              </a:rPr>
              <a:t>writer</a:t>
            </a:r>
            <a:r>
              <a:rPr sz="1000" b="0" i="0">
                <a:solidFill>
                  <a:srgbClr val="E6EDF3"/>
                </a:solidFill>
                <a:latin typeface="Courier New"/>
              </a:rPr>
              <a:t>(</a:t>
            </a:r>
            <a:r>
              <a:rPr sz="1000" b="0" i="0">
                <a:solidFill>
                  <a:srgbClr val="E6EDF3"/>
                </a:solidFill>
                <a:latin typeface="Courier New"/>
              </a:rPr>
              <a:t>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writerows</a:t>
            </a:r>
            <a:r>
              <a:rPr sz="1000" b="0" i="0">
                <a:solidFill>
                  <a:srgbClr val="E6EDF3"/>
                </a:solidFill>
                <a:latin typeface="Courier New"/>
              </a:rPr>
              <a:t>(</a:t>
            </a:r>
            <a:r>
              <a:rPr sz="1000" b="0" i="0">
                <a:solidFill>
                  <a:srgbClr val="E6EDF3"/>
                </a:solidFill>
                <a:latin typeface="Courier New"/>
              </a:rPr>
              <a:t>rows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a:t>
            </a:r>
            <a:r>
              <a:rPr sz="1000" b="0" i="0">
                <a:solidFill>
                  <a:srgbClr val="E6EDF3"/>
                </a:solidFill>
                <a:latin typeface="Courier New"/>
              </a:rPr>
              <a:t>.</a:t>
            </a:r>
            <a:r>
              <a:rPr sz="1000" b="0" i="0">
                <a:solidFill>
                  <a:srgbClr val="E6EDF3"/>
                </a:solidFill>
                <a:latin typeface="Courier New"/>
              </a:rPr>
              <a:t>flush</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return</a:t>
            </a:r>
            <a:r>
              <a:rPr sz="1000" b="0" i="0">
                <a:solidFill>
                  <a:srgbClr val="E6EDF3"/>
                </a:solidFill>
                <a:latin typeface="Courier New"/>
              </a:rPr>
              <a:t> </a:t>
            </a:r>
            <a:r>
              <a:rPr sz="1000" b="0" i="0">
                <a:solidFill>
                  <a:srgbClr val="E6EDF3"/>
                </a:solidFill>
                <a:latin typeface="Courier New"/>
              </a:rPr>
              <a:t>buf</a:t>
            </a:r>
            <a:r>
              <a:rPr sz="1000" b="0" i="0">
                <a:solidFill>
                  <a:srgbClr val="E6EDF3"/>
                </a:solidFill>
                <a:latin typeface="Courier New"/>
              </a:rPr>
              <a:t>.</a:t>
            </a:r>
            <a:r>
              <a:rPr sz="1000" b="0" i="0">
                <a:solidFill>
                  <a:srgbClr val="E6EDF3"/>
                </a:solidFill>
                <a:latin typeface="Courier New"/>
              </a:rPr>
              <a:t>getvalue</a:t>
            </a:r>
            <a:r>
              <a:rPr sz="1000" b="0" i="0">
                <a:solidFill>
                  <a:srgbClr val="E6EDF3"/>
                </a:solidFill>
                <a:latin typeface="Courier New"/>
              </a:rPr>
              <a:t>(</a:t>
            </a:r>
            <a:r>
              <a:rPr sz="1000" b="0" i="0">
                <a:solidFill>
                  <a:srgbClr val="E6EDF3"/>
                </a:solidFill>
                <a:latin typeface="Courier New"/>
              </a:rPr>
              <a:t>)</a:t>
            </a:r>
          </a:p>
        </p:txBody>
      </p:sp>
      <p:sp>
        <p:nvSpPr>
          <p:cNvPr id="7" name="explanation"/>
          <p:cNvSpPr txBox="1"/>
          <p:nvPr/>
        </p:nvSpPr>
        <p:spPr>
          <a:xfrm>
            <a:off x="5023104" y="1483995"/>
            <a:ext cx="3755135" cy="911859"/>
          </a:xfrm>
          <a:prstGeom prst="rect">
            <a:avLst/>
          </a:prstGeom>
          <a:noFill/>
        </p:spPr>
        <p:txBody>
          <a:bodyPr wrap="square" lIns="128016" rIns="128016" tIns="18288" bIns="18288" anchor="ctr">
            <a:spAutoFit/>
          </a:bodyPr>
          <a:lstStyle/>
          <a:p>
            <a:r>
              <a:rPr sz="1100" b="0" i="0">
                <a:solidFill>
                  <a:srgbClr val="1F2933"/>
                </a:solidFill>
                <a:latin typeface="Calibri"/>
              </a:rPr>
              <a:t>A TextIOWrapper asked for CRLF stands in for Windows, which turns every line feed into CRLF. It is a stand-in, not a Windows run.</a:t>
            </a:r>
          </a:p>
        </p:txBody>
      </p:sp>
      <p:sp>
        <p:nvSpPr>
          <p:cNvPr id="8" name="code"/>
          <p:cNvSpPr/>
          <p:nvPr/>
        </p:nvSpPr>
        <p:spPr>
          <a:xfrm>
            <a:off x="365760" y="2441575"/>
            <a:ext cx="4675632" cy="7569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nl</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'\r\n'</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data</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write</a:t>
            </a:r>
            <a:r>
              <a:rPr sz="1000" b="0" i="0">
                <a:solidFill>
                  <a:srgbClr val="E6EDF3"/>
                </a:solidFill>
                <a:latin typeface="Courier New"/>
              </a:rPr>
              <a:t>(</a:t>
            </a:r>
            <a:r>
              <a:rPr sz="1000" b="0" i="0">
                <a:solidFill>
                  <a:srgbClr val="E6EDF3"/>
                </a:solidFill>
                <a:latin typeface="Courier New"/>
              </a:rPr>
              <a:t>nl</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text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io</a:t>
            </a:r>
            <a:r>
              <a:rPr sz="1000" b="0" i="0">
                <a:solidFill>
                  <a:srgbClr val="E6EDF3"/>
                </a:solidFill>
                <a:latin typeface="Courier New"/>
              </a:rPr>
              <a:t>.</a:t>
            </a:r>
            <a:r>
              <a:rPr sz="1000" b="0" i="0">
                <a:solidFill>
                  <a:srgbClr val="E6EDF3"/>
                </a:solidFill>
                <a:latin typeface="Courier New"/>
              </a:rPr>
              <a:t>StringIO</a:t>
            </a:r>
            <a:r>
              <a:rPr sz="1000" b="0" i="0">
                <a:solidFill>
                  <a:srgbClr val="E6EDF3"/>
                </a:solidFill>
                <a:latin typeface="Courier New"/>
              </a:rPr>
              <a:t>(</a:t>
            </a:r>
            <a:r>
              <a:rPr sz="1000" b="0" i="0">
                <a:solidFill>
                  <a:srgbClr val="E6EDF3"/>
                </a:solidFill>
                <a:latin typeface="Courier New"/>
              </a:rPr>
              <a:t>data</a:t>
            </a:r>
            <a:r>
              <a:rPr sz="1000" b="0" i="0">
                <a:solidFill>
                  <a:srgbClr val="E6EDF3"/>
                </a:solidFill>
                <a:latin typeface="Courier New"/>
              </a:rPr>
              <a:t>.</a:t>
            </a:r>
            <a:r>
              <a:rPr sz="1000" b="0" i="0">
                <a:solidFill>
                  <a:srgbClr val="E6EDF3"/>
                </a:solidFill>
                <a:latin typeface="Courier New"/>
              </a:rPr>
              <a:t>decode</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newline</a:t>
            </a:r>
            <a:r>
              <a:rPr sz="1000" b="0" i="0">
                <a:solidFill>
                  <a:srgbClr val="E6EDF3"/>
                </a:solidFill>
                <a:latin typeface="Courier New"/>
              </a:rPr>
              <a:t>=</a:t>
            </a:r>
            <a:r>
              <a:rPr sz="1000" b="0" i="0">
                <a:solidFill>
                  <a:srgbClr val="9BE3A8"/>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repr</a:t>
            </a:r>
            <a:r>
              <a:rPr sz="1000" b="0" i="0">
                <a:solidFill>
                  <a:srgbClr val="E6EDF3"/>
                </a:solidFill>
                <a:latin typeface="Courier New"/>
              </a:rPr>
              <a:t>(</a:t>
            </a:r>
            <a:r>
              <a:rPr sz="1000" b="0" i="0">
                <a:solidFill>
                  <a:srgbClr val="E6EDF3"/>
                </a:solidFill>
                <a:latin typeface="Courier New"/>
              </a:rPr>
              <a:t>nl</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data</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len</a:t>
            </a:r>
            <a:r>
              <a:rPr sz="1000" b="0" i="0">
                <a:solidFill>
                  <a:srgbClr val="E6EDF3"/>
                </a:solidFill>
                <a:latin typeface="Courier New"/>
              </a:rPr>
              <a:t>(</a:t>
            </a:r>
            <a:r>
              <a:rPr sz="1000" b="0" i="0">
                <a:solidFill>
                  <a:srgbClr val="E6EDF3"/>
                </a:solidFill>
                <a:latin typeface="Courier New"/>
              </a:rPr>
              <a:t>list</a:t>
            </a:r>
            <a:r>
              <a:rPr sz="1000" b="0" i="0">
                <a:solidFill>
                  <a:srgbClr val="E6EDF3"/>
                </a:solidFill>
                <a:latin typeface="Courier New"/>
              </a:rPr>
              <a:t>(</a:t>
            </a:r>
            <a:r>
              <a:rPr sz="1000" b="0" i="0">
                <a:solidFill>
                  <a:srgbClr val="E6EDF3"/>
                </a:solidFill>
                <a:latin typeface="Courier New"/>
              </a:rPr>
              <a:t>csv</a:t>
            </a:r>
            <a:r>
              <a:rPr sz="1000" b="0" i="0">
                <a:solidFill>
                  <a:srgbClr val="E6EDF3"/>
                </a:solidFill>
                <a:latin typeface="Courier New"/>
              </a:rPr>
              <a:t>.</a:t>
            </a:r>
            <a:r>
              <a:rPr sz="1000" b="0" i="0">
                <a:solidFill>
                  <a:srgbClr val="E6EDF3"/>
                </a:solidFill>
                <a:latin typeface="Courier New"/>
              </a:rPr>
              <a:t>reader</a:t>
            </a:r>
            <a:r>
              <a:rPr sz="1000" b="0" i="0">
                <a:solidFill>
                  <a:srgbClr val="E6EDF3"/>
                </a:solidFill>
                <a:latin typeface="Courier New"/>
              </a:rPr>
              <a:t>(</a:t>
            </a:r>
            <a:r>
              <a:rPr sz="1000" b="0" i="0">
                <a:solidFill>
                  <a:srgbClr val="E6EDF3"/>
                </a:solidFill>
                <a:latin typeface="Courier New"/>
              </a:rPr>
              <a:t>text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9" name="explanation"/>
          <p:cNvSpPr txBox="1"/>
          <p:nvPr/>
        </p:nvSpPr>
        <p:spPr>
          <a:xfrm>
            <a:off x="5023104" y="2441575"/>
            <a:ext cx="3755135" cy="756920"/>
          </a:xfrm>
          <a:prstGeom prst="rect">
            <a:avLst/>
          </a:prstGeom>
          <a:noFill/>
        </p:spPr>
        <p:txBody>
          <a:bodyPr wrap="square" lIns="128016" rIns="128016" tIns="18288" bIns="18288" anchor="ctr">
            <a:spAutoFit/>
          </a:bodyPr>
          <a:lstStyle/>
          <a:p>
            <a:r>
              <a:rPr sz="1100" b="0" i="0">
                <a:solidFill>
                  <a:srgbClr val="1F2933"/>
                </a:solidFill>
                <a:latin typeface="Calibri"/>
              </a:rPr>
              <a:t>Windows writes CR CR LF, and a reader then finds an empty record after every row: the double spacing.</a:t>
            </a:r>
          </a:p>
        </p:txBody>
      </p:sp>
      <p:sp>
        <p:nvSpPr>
          <p:cNvPr id="10" name="result label"/>
          <p:cNvSpPr txBox="1"/>
          <p:nvPr/>
        </p:nvSpPr>
        <p:spPr>
          <a:xfrm>
            <a:off x="365760" y="3253358"/>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518535"/>
            <a:ext cx="3291840" cy="310896"/>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newline='': a , b  CR LF  -&gt; 2 records</a:t>
            </a:r>
          </a:p>
        </p:txBody>
      </p:sp>
      <p:sp>
        <p:nvSpPr>
          <p:cNvPr id="12" name="Rounded Rectangle 11"/>
          <p:cNvSpPr/>
          <p:nvPr/>
        </p:nvSpPr>
        <p:spPr>
          <a:xfrm>
            <a:off x="365760" y="3884295"/>
            <a:ext cx="3291840" cy="310896"/>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Windows: a , b  CR CR LF  -&gt; 4 records</a:t>
            </a:r>
          </a:p>
        </p:txBody>
      </p:sp>
      <p:sp>
        <p:nvSpPr>
          <p:cNvPr id="13" name="visual note"/>
          <p:cNvSpPr txBox="1"/>
          <p:nvPr/>
        </p:nvSpPr>
        <p:spPr>
          <a:xfrm>
            <a:off x="365760" y="4250055"/>
            <a:ext cx="3291840" cy="365760"/>
          </a:xfrm>
          <a:prstGeom prst="rect">
            <a:avLst/>
          </a:prstGeom>
          <a:noFill/>
        </p:spPr>
        <p:txBody>
          <a:bodyPr wrap="square" lIns="45720" rIns="45720" tIns="27432" bIns="27432" anchor="t">
            <a:spAutoFit/>
          </a:bodyPr>
          <a:lstStyle/>
          <a:p>
            <a:r>
              <a:rPr sz="950" b="0" i="1">
                <a:solidFill>
                  <a:srgbClr val="5B6773"/>
                </a:solidFill>
                <a:latin typeface="Calibri"/>
              </a:rPr>
              <a:t>the extra CR makes the reader see an empty record after every row</a:t>
            </a:r>
          </a:p>
        </p:txBody>
      </p:sp>
      <p:cxnSp>
        <p:nvCxnSpPr>
          <p:cNvPr id="14" name="arrow"/>
          <p:cNvCxnSpPr/>
          <p:nvPr/>
        </p:nvCxnSpPr>
        <p:spPr>
          <a:xfrm>
            <a:off x="3749040" y="4003167"/>
            <a:ext cx="36576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15" name="table"/>
          <p:cNvGraphicFramePr>
            <a:graphicFrameLocks noGrp="1"/>
          </p:cNvGraphicFramePr>
          <p:nvPr/>
        </p:nvGraphicFramePr>
        <p:xfrm>
          <a:off x="4206240" y="3500247"/>
          <a:ext cx="2468879" cy="914400"/>
        </p:xfrm>
        <a:graphic>
          <a:graphicData uri="http://schemas.openxmlformats.org/drawingml/2006/table">
            <a:tbl>
              <a:tblPr firstRow="0" bandRow="0"/>
              <a:tblGrid>
                <a:gridCol w="536713"/>
                <a:gridCol w="966083"/>
                <a:gridCol w="966083"/>
              </a:tblGrid>
              <a:tr h="182880">
                <a:tc>
                  <a:txBody>
                    <a:bodyPr wrap="square"/>
                    <a:lstStyle/>
                    <a:p>
                      <a:r>
                        <a:rPr sz="900" b="1" i="0">
                          <a:solidFill>
                            <a:srgbClr val="FFFFFF"/>
                          </a:solidFill>
                          <a:latin typeface="Calibri"/>
                        </a:rPr>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182880">
                <a:tc>
                  <a:txBody>
                    <a:bodyPr wrap="square"/>
                    <a:lstStyle/>
                    <a:p>
                      <a:r>
                        <a:rPr sz="900" b="0" i="0">
                          <a:solidFill>
                            <a:srgbClr val="1F2933"/>
                          </a:solidFill>
                          <a:latin typeface="Courier New"/>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182880">
                <a:tc>
                  <a:txBody>
                    <a:bodyPr wrap="square"/>
                    <a:lstStyle/>
                    <a:p>
                      <a:r>
                        <a:rPr sz="900" b="0" i="0">
                          <a:solidFill>
                            <a:srgbClr val="1F2933"/>
                          </a:solidFill>
                          <a:latin typeface="Courier New"/>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ECE6D8"/>
                    </a:solidFill>
                  </a:tcPr>
                </a:tc>
                <a:tc>
                  <a:txBody>
                    <a:bodyPr wrap="square"/>
                    <a:lstStyle/>
                    <a:p>
                      <a:r>
                        <a:rPr sz="900" b="0" i="0">
                          <a:solidFill>
                            <a:srgbClr val="1F2933"/>
                          </a:solidFill>
                          <a:latin typeface="Courier New"/>
                        </a:rPr>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ECE6D8"/>
                    </a:solidFill>
                  </a:tcPr>
                </a:tc>
                <a:tc>
                  <a:txBody>
                    <a:bodyPr wrap="square"/>
                    <a:lstStyle/>
                    <a:p>
                      <a:r>
                        <a:rPr sz="900" b="0" i="0">
                          <a:solidFill>
                            <a:srgbClr val="1F2933"/>
                          </a:solidFill>
                          <a:latin typeface="Courier New"/>
                        </a:rPr>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ECE6D8"/>
                    </a:solidFill>
                  </a:tcPr>
                </a:tc>
              </a:tr>
              <a:tr h="182880">
                <a:tc>
                  <a:txBody>
                    <a:bodyPr wrap="square"/>
                    <a:lstStyle/>
                    <a:p>
                      <a:r>
                        <a:rPr sz="90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c</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182880">
                <a:tc>
                  <a:txBody>
                    <a:bodyPr wrap="square"/>
                    <a:lstStyle/>
                    <a:p>
                      <a:r>
                        <a:rPr sz="900" b="0" i="0">
                          <a:solidFill>
                            <a:srgbClr val="1F2933"/>
                          </a:solidFill>
                          <a:latin typeface="Courier New"/>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ECE6D8"/>
                    </a:solidFill>
                  </a:tcPr>
                </a:tc>
                <a:tc>
                  <a:txBody>
                    <a:bodyPr wrap="square"/>
                    <a:lstStyle/>
                    <a:p>
                      <a:r>
                        <a:rPr sz="900" b="0" i="0">
                          <a:solidFill>
                            <a:srgbClr val="1F2933"/>
                          </a:solidFill>
                          <a:latin typeface="Courier New"/>
                        </a:rPr>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ECE6D8"/>
                    </a:solidFill>
                  </a:tcPr>
                </a:tc>
                <a:tc>
                  <a:txBody>
                    <a:bodyPr wrap="square"/>
                    <a:lstStyle/>
                    <a:p>
                      <a:r>
                        <a:rPr sz="900" b="0" i="0">
                          <a:solidFill>
                            <a:srgbClr val="1F2933"/>
                          </a:solidFill>
                          <a:latin typeface="Courier New"/>
                        </a:rPr>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ECE6D8"/>
                    </a:solidFill>
                  </a:tcPr>
                </a:tc>
              </a:tr>
            </a:tbl>
          </a:graphicData>
        </a:graphic>
      </p:graphicFrame>
      <p:sp>
        <p:nvSpPr>
          <p:cNvPr id="16" name="Rounded Rectangle 15"/>
          <p:cNvSpPr/>
          <p:nvPr/>
        </p:nvSpPr>
        <p:spPr>
          <a:xfrm>
            <a:off x="6858000" y="3591687"/>
            <a:ext cx="1920240" cy="82296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the spreadsheet of Figure 18-1: every second row is empty</a:t>
            </a:r>
          </a:p>
        </p:txBody>
      </p:sp>
      <p:sp>
        <p:nvSpPr>
          <p:cNvPr id="1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Open CSV files with newline='' and Windows cannot double the line ends.</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16 / 53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Quoting: six constants, one row</a:t>
            </a:r>
          </a:p>
        </p:txBody>
      </p:sp>
      <p:sp>
        <p:nvSpPr>
          <p:cNvPr id="4" name="code"/>
          <p:cNvSpPr/>
          <p:nvPr/>
        </p:nvSpPr>
        <p:spPr>
          <a:xfrm>
            <a:off x="365760" y="786384"/>
            <a:ext cx="5536691"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csv</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io</a:t>
            </a:r>
          </a:p>
          <a:p>
            <a:pPr algn="l"/>
            <a:r>
              <a:rPr sz="1100" b="0" i="0">
                <a:solidFill>
                  <a:srgbClr val="8FA3B8"/>
                </a:solidFill>
                <a:latin typeface="Courier New"/>
              </a:rPr>
              <a:t>&gt;&gt;&gt; </a:t>
            </a:r>
            <a:r>
              <a:rPr sz="1100" b="0" i="0">
                <a:solidFill>
                  <a:srgbClr val="E6EDF3"/>
                </a:solidFill>
                <a:latin typeface="Courier New"/>
              </a:rPr>
              <a:t>row</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'a b'</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'c,d'</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7</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None</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a:t>
            </a:r>
            <a:r>
              <a:rPr sz="1100" b="0" i="0">
                <a:solidFill>
                  <a:srgbClr val="E6EDF3"/>
                </a:solidFill>
                <a:latin typeface="Courier New"/>
              </a:rPr>
              <a:t>]</a:t>
            </a:r>
          </a:p>
        </p:txBody>
      </p:sp>
      <p:sp>
        <p:nvSpPr>
          <p:cNvPr id="5" name="explanation"/>
          <p:cNvSpPr txBox="1"/>
          <p:nvPr/>
        </p:nvSpPr>
        <p:spPr>
          <a:xfrm>
            <a:off x="5884164" y="786384"/>
            <a:ext cx="2894076" cy="699516"/>
          </a:xfrm>
          <a:prstGeom prst="rect">
            <a:avLst/>
          </a:prstGeom>
          <a:noFill/>
        </p:spPr>
        <p:txBody>
          <a:bodyPr wrap="square" lIns="128016" rIns="128016" tIns="18288" bIns="18288" anchor="ctr">
            <a:spAutoFit/>
          </a:bodyPr>
          <a:lstStyle/>
          <a:p>
            <a:r>
              <a:rPr sz="1200" b="0" i="0">
                <a:solidFill>
                  <a:srgbClr val="1F2933"/>
                </a:solidFill>
                <a:latin typeface="Calibri"/>
              </a:rPr>
              <a:t>One row to write six times: it has a space, a comma, a number, None and an empty string.</a:t>
            </a:r>
          </a:p>
        </p:txBody>
      </p:sp>
      <p:sp>
        <p:nvSpPr>
          <p:cNvPr id="6" name="code"/>
          <p:cNvSpPr/>
          <p:nvPr/>
        </p:nvSpPr>
        <p:spPr>
          <a:xfrm>
            <a:off x="365760" y="1531620"/>
            <a:ext cx="5536691"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def</a:t>
            </a:r>
            <a:r>
              <a:rPr sz="1100" b="0" i="0">
                <a:solidFill>
                  <a:srgbClr val="E6EDF3"/>
                </a:solidFill>
                <a:latin typeface="Courier New"/>
              </a:rPr>
              <a:t> </a:t>
            </a:r>
            <a:r>
              <a:rPr sz="1100" b="0" i="0">
                <a:solidFill>
                  <a:srgbClr val="E6EDF3"/>
                </a:solidFill>
                <a:latin typeface="Courier New"/>
              </a:rPr>
              <a:t>line</a:t>
            </a:r>
            <a:r>
              <a:rPr sz="1100" b="0" i="0">
                <a:solidFill>
                  <a:srgbClr val="E6EDF3"/>
                </a:solidFill>
                <a:latin typeface="Courier New"/>
              </a:rPr>
              <a:t>(</a:t>
            </a:r>
            <a:r>
              <a:rPr sz="1100" b="0" i="0">
                <a:solidFill>
                  <a:srgbClr val="E6EDF3"/>
                </a:solidFill>
                <a:latin typeface="Courier New"/>
              </a:rPr>
              <a:t>q</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io</a:t>
            </a:r>
            <a:r>
              <a:rPr sz="1100" b="0" i="0">
                <a:solidFill>
                  <a:srgbClr val="E6EDF3"/>
                </a:solidFill>
                <a:latin typeface="Courier New"/>
              </a:rPr>
              <a:t>.</a:t>
            </a:r>
            <a:r>
              <a:rPr sz="1100" b="0" i="0">
                <a:solidFill>
                  <a:srgbClr val="E6EDF3"/>
                </a:solidFill>
                <a:latin typeface="Courier New"/>
              </a:rPr>
              <a:t>StringIO</a:t>
            </a:r>
            <a:r>
              <a:rPr sz="1100" b="0" i="0">
                <a:solidFill>
                  <a:srgbClr val="E6EDF3"/>
                </a:solidFill>
                <a:latin typeface="Courier New"/>
              </a:rPr>
              <a:t>(</a:t>
            </a:r>
            <a:r>
              <a:rPr sz="1100" b="0" i="0">
                <a:solidFill>
                  <a:srgbClr val="E6EDF3"/>
                </a:solidFill>
                <a:latin typeface="Courier New"/>
              </a:rPr>
              <a:t>newline</a:t>
            </a:r>
            <a:r>
              <a:rPr sz="1100" b="0" i="0">
                <a:solidFill>
                  <a:srgbClr val="E6EDF3"/>
                </a:solidFill>
                <a:latin typeface="Courier New"/>
              </a:rPr>
              <a:t>=</a:t>
            </a:r>
            <a:r>
              <a:rPr sz="1100" b="0" i="0">
                <a:solidFill>
                  <a:srgbClr val="9BE3A8"/>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csv</a:t>
            </a:r>
            <a:r>
              <a:rPr sz="1100" b="0" i="0">
                <a:solidFill>
                  <a:srgbClr val="E6EDF3"/>
                </a:solidFill>
                <a:latin typeface="Courier New"/>
              </a:rPr>
              <a:t>.</a:t>
            </a:r>
            <a:r>
              <a:rPr sz="1100" b="0" i="0">
                <a:solidFill>
                  <a:srgbClr val="E6EDF3"/>
                </a:solidFill>
                <a:latin typeface="Courier New"/>
              </a:rPr>
              <a:t>writer</a:t>
            </a:r>
            <a:r>
              <a:rPr sz="1100" b="0" i="0">
                <a:solidFill>
                  <a:srgbClr val="E6EDF3"/>
                </a:solidFill>
                <a:latin typeface="Courier New"/>
              </a:rPr>
              <a:t>(</a:t>
            </a:r>
            <a:r>
              <a:rPr sz="1100" b="0" i="0">
                <a:solidFill>
                  <a:srgbClr val="E6EDF3"/>
                </a:solidFill>
                <a:latin typeface="Courier New"/>
              </a:rPr>
              <a:t>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quoting</a:t>
            </a:r>
            <a:r>
              <a:rPr sz="1100" b="0" i="0">
                <a:solidFill>
                  <a:srgbClr val="E6EDF3"/>
                </a:solidFill>
                <a:latin typeface="Courier New"/>
              </a:rPr>
              <a:t>=</a:t>
            </a:r>
            <a:r>
              <a:rPr sz="1100" b="0" i="0">
                <a:solidFill>
                  <a:srgbClr val="E6EDF3"/>
                </a:solidFill>
                <a:latin typeface="Courier New"/>
              </a:rPr>
              <a:t>q</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escapechar</a:t>
            </a:r>
            <a:r>
              <a:rPr sz="1100" b="0" i="0">
                <a:solidFill>
                  <a:srgbClr val="E6EDF3"/>
                </a:solidFill>
                <a:latin typeface="Courier New"/>
              </a:rPr>
              <a:t>=</a:t>
            </a:r>
            <a:r>
              <a:rPr sz="1100" b="0" i="0">
                <a:solidFill>
                  <a:srgbClr val="9BE3A8"/>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writerow</a:t>
            </a:r>
            <a:r>
              <a:rPr sz="1100" b="0" i="0">
                <a:solidFill>
                  <a:srgbClr val="E6EDF3"/>
                </a:solidFill>
                <a:latin typeface="Courier New"/>
              </a:rPr>
              <a:t>(</a:t>
            </a:r>
            <a:r>
              <a:rPr sz="1100" b="0" i="0">
                <a:solidFill>
                  <a:srgbClr val="E6EDF3"/>
                </a:solidFill>
                <a:latin typeface="Courier New"/>
              </a:rPr>
              <a:t>row</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return</a:t>
            </a:r>
            <a:r>
              <a:rPr sz="1100" b="0" i="0">
                <a:solidFill>
                  <a:srgbClr val="E6EDF3"/>
                </a:solidFill>
                <a:latin typeface="Courier New"/>
              </a:rPr>
              <a:t> </a:t>
            </a:r>
            <a:r>
              <a:rPr sz="1100" b="0" i="0">
                <a:solidFill>
                  <a:srgbClr val="E6EDF3"/>
                </a:solidFill>
                <a:latin typeface="Courier New"/>
              </a:rPr>
              <a:t>s</a:t>
            </a:r>
            <a:r>
              <a:rPr sz="1100" b="0" i="0">
                <a:solidFill>
                  <a:srgbClr val="E6EDF3"/>
                </a:solidFill>
                <a:latin typeface="Courier New"/>
              </a:rPr>
              <a:t>.</a:t>
            </a:r>
            <a:r>
              <a:rPr sz="1100" b="0" i="0">
                <a:solidFill>
                  <a:srgbClr val="E6EDF3"/>
                </a:solidFill>
                <a:latin typeface="Courier New"/>
              </a:rPr>
              <a:t>getvalue</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5884164" y="1531620"/>
            <a:ext cx="2894076" cy="890016"/>
          </a:xfrm>
          <a:prstGeom prst="rect">
            <a:avLst/>
          </a:prstGeom>
          <a:noFill/>
        </p:spPr>
        <p:txBody>
          <a:bodyPr wrap="square" lIns="128016" rIns="128016" tIns="18288" bIns="18288" anchor="ctr">
            <a:spAutoFit/>
          </a:bodyPr>
          <a:lstStyle/>
          <a:p>
            <a:r>
              <a:rPr sz="1200" b="0" i="0">
                <a:solidFill>
                  <a:srgbClr val="1F2933"/>
                </a:solidFill>
                <a:latin typeface="Calibri"/>
              </a:rPr>
              <a:t>line() writes the row with one quoting constant and returns the text. The escape character matters only for QUOTE_NONE.</a:t>
            </a:r>
          </a:p>
        </p:txBody>
      </p:sp>
      <p:sp>
        <p:nvSpPr>
          <p:cNvPr id="8" name="code"/>
          <p:cNvSpPr/>
          <p:nvPr/>
        </p:nvSpPr>
        <p:spPr>
          <a:xfrm>
            <a:off x="365760" y="2467356"/>
            <a:ext cx="5536691"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names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'QUOTE_MINIMAL'</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'QUOTE_ALL'</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'QUOTE_NONNUMERIC'</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9BE3A8"/>
                </a:solidFill>
                <a:latin typeface="Courier New"/>
              </a:rPr>
              <a:t>'QUOTE_NONE'</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'QUOTE_STRINGS'</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'QUOTE_NOTNULL'</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q</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names</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q</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repr</a:t>
            </a:r>
            <a:r>
              <a:rPr sz="1100" b="0" i="0">
                <a:solidFill>
                  <a:srgbClr val="E6EDF3"/>
                </a:solidFill>
                <a:latin typeface="Courier New"/>
              </a:rPr>
              <a:t>(</a:t>
            </a:r>
            <a:r>
              <a:rPr sz="1100" b="0" i="0">
                <a:solidFill>
                  <a:srgbClr val="E6EDF3"/>
                </a:solidFill>
                <a:latin typeface="Courier New"/>
              </a:rPr>
              <a:t>line</a:t>
            </a:r>
            <a:r>
              <a:rPr sz="1100" b="0" i="0">
                <a:solidFill>
                  <a:srgbClr val="E6EDF3"/>
                </a:solidFill>
                <a:latin typeface="Courier New"/>
              </a:rPr>
              <a:t>(</a:t>
            </a:r>
            <a:r>
              <a:rPr sz="1100" b="0" i="0">
                <a:solidFill>
                  <a:srgbClr val="E6EDF3"/>
                </a:solidFill>
                <a:latin typeface="Courier New"/>
              </a:rPr>
              <a:t>getattr</a:t>
            </a:r>
            <a:r>
              <a:rPr sz="1100" b="0" i="0">
                <a:solidFill>
                  <a:srgbClr val="E6EDF3"/>
                </a:solidFill>
                <a:latin typeface="Courier New"/>
              </a:rPr>
              <a:t>(</a:t>
            </a:r>
            <a:r>
              <a:rPr sz="1100" b="0" i="0">
                <a:solidFill>
                  <a:srgbClr val="E6EDF3"/>
                </a:solidFill>
                <a:latin typeface="Courier New"/>
              </a:rPr>
              <a:t>csv</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q</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9" name="explanation"/>
          <p:cNvSpPr txBox="1"/>
          <p:nvPr/>
        </p:nvSpPr>
        <p:spPr>
          <a:xfrm>
            <a:off x="5884164" y="2467356"/>
            <a:ext cx="2894076" cy="890016"/>
          </a:xfrm>
          <a:prstGeom prst="rect">
            <a:avLst/>
          </a:prstGeom>
          <a:noFill/>
        </p:spPr>
        <p:txBody>
          <a:bodyPr wrap="square" lIns="128016" rIns="128016" tIns="18288" bIns="18288" anchor="ctr">
            <a:spAutoFit/>
          </a:bodyPr>
          <a:lstStyle/>
          <a:p>
            <a:r>
              <a:rPr sz="1200" b="0" i="0">
                <a:solidFill>
                  <a:srgbClr val="1F2933"/>
                </a:solidFill>
                <a:latin typeface="Calibri"/>
              </a:rPr>
              <a:t>The default, QUOTE_MINIMAL, quotes only what must be quoted. QUOTE_NONE escapes the comma instead of quoting it.</a:t>
            </a:r>
          </a:p>
        </p:txBody>
      </p:sp>
      <p:sp>
        <p:nvSpPr>
          <p:cNvPr id="10" name="result label"/>
          <p:cNvSpPr txBox="1"/>
          <p:nvPr/>
        </p:nvSpPr>
        <p:spPr>
          <a:xfrm>
            <a:off x="365760" y="3412236"/>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659124"/>
          <a:ext cx="4160519" cy="1097280"/>
        </p:xfrm>
        <a:graphic>
          <a:graphicData uri="http://schemas.openxmlformats.org/drawingml/2006/table">
            <a:tbl>
              <a:tblPr firstRow="0" bandRow="0"/>
              <a:tblGrid>
                <a:gridCol w="1423335"/>
                <a:gridCol w="2737184"/>
              </a:tblGrid>
              <a:tr h="274320">
                <a:tc>
                  <a:txBody>
                    <a:bodyPr wrap="square"/>
                    <a:lstStyle/>
                    <a:p>
                      <a:r>
                        <a:rPr sz="900" b="1" i="0">
                          <a:solidFill>
                            <a:srgbClr val="FFFFFF"/>
                          </a:solidFill>
                          <a:latin typeface="Calibri"/>
                        </a:rPr>
                        <a:t>QUOTE_</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line written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900" b="0" i="0">
                          <a:solidFill>
                            <a:srgbClr val="1F2933"/>
                          </a:solidFill>
                          <a:latin typeface="Courier New"/>
                        </a:rPr>
                        <a:t>MINIMAL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'a b,"c,d",7,,\r\n'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74320">
                <a:tc>
                  <a:txBody>
                    <a:bodyPr wrap="square"/>
                    <a:lstStyle/>
                    <a:p>
                      <a:r>
                        <a:rPr sz="900" b="0" i="0">
                          <a:solidFill>
                            <a:srgbClr val="1F2933"/>
                          </a:solidFill>
                          <a:latin typeface="Courier New"/>
                        </a:rPr>
                        <a:t>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'"a b","c,d","7","",""\r\n'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900" b="0" i="0">
                          <a:solidFill>
                            <a:srgbClr val="1F2933"/>
                          </a:solidFill>
                          <a:latin typeface="Courier New"/>
                        </a:rPr>
                        <a:t>NONNUMERIC</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'"a b","c,d",7,"",""\r\n'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graphicFrame>
        <p:nvGraphicFramePr>
          <p:cNvPr id="12" name="table"/>
          <p:cNvGraphicFramePr>
            <a:graphicFrameLocks noGrp="1"/>
          </p:cNvGraphicFramePr>
          <p:nvPr/>
        </p:nvGraphicFramePr>
        <p:xfrm>
          <a:off x="4617720" y="3659124"/>
          <a:ext cx="4160519" cy="1097280"/>
        </p:xfrm>
        <a:graphic>
          <a:graphicData uri="http://schemas.openxmlformats.org/drawingml/2006/table">
            <a:tbl>
              <a:tblPr firstRow="0" bandRow="0"/>
              <a:tblGrid>
                <a:gridCol w="1423335"/>
                <a:gridCol w="2737184"/>
              </a:tblGrid>
              <a:tr h="274320">
                <a:tc>
                  <a:txBody>
                    <a:bodyPr wrap="square"/>
                    <a:lstStyle/>
                    <a:p>
                      <a:r>
                        <a:rPr sz="900" b="1" i="0">
                          <a:solidFill>
                            <a:srgbClr val="FFFFFF"/>
                          </a:solidFill>
                          <a:latin typeface="Calibri"/>
                        </a:rPr>
                        <a:t>QUOTE_</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line written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900" b="0" i="0">
                          <a:solidFill>
                            <a:srgbClr val="1F2933"/>
                          </a:solidFill>
                          <a:latin typeface="Courier New"/>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'a b,c\\,d,7,,\r\n'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900" b="0" i="0">
                          <a:solidFill>
                            <a:srgbClr val="1F2933"/>
                          </a:solidFill>
                          <a:latin typeface="Courier New"/>
                        </a:rPr>
                        <a:t>STRINGS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'"a b","c,d",7,,""\r\n'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900" b="0" i="0">
                          <a:solidFill>
                            <a:srgbClr val="1F2933"/>
                          </a:solidFill>
                          <a:latin typeface="Courier New"/>
                        </a:rPr>
                        <a:t>NOTNULL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'"a b","c,d","7",,""\r\n'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QUOTE_MINIMAL quotes only what must be quoted.</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17 / 53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The encoding the chapter never names: utf-8 and the BOM</a:t>
            </a:r>
          </a:p>
        </p:txBody>
      </p:sp>
      <p:sp>
        <p:nvSpPr>
          <p:cNvPr id="4" name="code"/>
          <p:cNvSpPr/>
          <p:nvPr/>
        </p:nvSpPr>
        <p:spPr>
          <a:xfrm>
            <a:off x="365760" y="786384"/>
            <a:ext cx="5605272"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csv</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io</a:t>
            </a:r>
          </a:p>
          <a:p>
            <a:pPr algn="l"/>
            <a:r>
              <a:rPr sz="900" b="0" i="0">
                <a:solidFill>
                  <a:srgbClr val="8FA3B8"/>
                </a:solidFill>
                <a:latin typeface="Courier New"/>
              </a:rPr>
              <a:t>&gt;&gt;&gt; </a:t>
            </a:r>
            <a:r>
              <a:rPr sz="900" b="0" i="0">
                <a:solidFill>
                  <a:srgbClr val="E6EDF3"/>
                </a:solidFill>
                <a:latin typeface="Courier New"/>
              </a:rPr>
              <a:t>data</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'Name,City\r\nZoe,İstanbul\r\n'</a:t>
            </a:r>
            <a:r>
              <a:rPr sz="900" b="0" i="0">
                <a:solidFill>
                  <a:srgbClr val="E6EDF3"/>
                </a:solidFill>
                <a:latin typeface="Courier New"/>
              </a:rPr>
              <a:t>.</a:t>
            </a:r>
            <a:r>
              <a:rPr sz="900" b="0" i="0">
                <a:solidFill>
                  <a:srgbClr val="E6EDF3"/>
                </a:solidFill>
                <a:latin typeface="Courier New"/>
              </a:rPr>
              <a:t>encode</a:t>
            </a:r>
            <a:r>
              <a:rPr sz="900" b="0" i="0">
                <a:solidFill>
                  <a:srgbClr val="E6EDF3"/>
                </a:solidFill>
                <a:latin typeface="Courier New"/>
              </a:rPr>
              <a:t>(</a:t>
            </a:r>
            <a:r>
              <a:rPr sz="900" b="0" i="0">
                <a:solidFill>
                  <a:srgbClr val="9BE3A8"/>
                </a:solidFill>
                <a:latin typeface="Courier New"/>
              </a:rPr>
              <a:t>'utf-8-sig'</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data</a:t>
            </a:r>
            <a:r>
              <a:rPr sz="900" b="0" i="0">
                <a:solidFill>
                  <a:srgbClr val="E6EDF3"/>
                </a:solidFill>
                <a:latin typeface="Courier New"/>
              </a:rPr>
              <a:t>[</a:t>
            </a:r>
            <a:r>
              <a:rPr sz="900" b="0" i="0">
                <a:solidFill>
                  <a:srgbClr val="E6EDF3"/>
                </a:solidFill>
                <a:latin typeface="Courier New"/>
              </a:rPr>
              <a:t>:</a:t>
            </a:r>
            <a:r>
              <a:rPr sz="900" b="0" i="0">
                <a:solidFill>
                  <a:srgbClr val="7CC4FF"/>
                </a:solidFill>
                <a:latin typeface="Courier New"/>
              </a:rPr>
              <a:t>3</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data</a:t>
            </a:r>
            <a:r>
              <a:rPr sz="900" b="0" i="0">
                <a:solidFill>
                  <a:srgbClr val="E6EDF3"/>
                </a:solidFill>
                <a:latin typeface="Courier New"/>
              </a:rPr>
              <a:t>[</a:t>
            </a:r>
            <a:r>
              <a:rPr sz="900" b="0" i="0">
                <a:solidFill>
                  <a:srgbClr val="7CC4FF"/>
                </a:solidFill>
                <a:latin typeface="Courier New"/>
              </a:rPr>
              <a:t>3</a:t>
            </a:r>
            <a:r>
              <a:rPr sz="900" b="0" i="0">
                <a:solidFill>
                  <a:srgbClr val="E6EDF3"/>
                </a:solidFill>
                <a:latin typeface="Courier New"/>
              </a:rPr>
              <a:t>:</a:t>
            </a:r>
            <a:r>
              <a:rPr sz="900" b="0" i="0">
                <a:solidFill>
                  <a:srgbClr val="7CC4FF"/>
                </a:solidFill>
                <a:latin typeface="Courier New"/>
              </a:rPr>
              <a:t>12</a:t>
            </a:r>
            <a:r>
              <a:rPr sz="900" b="0" i="0">
                <a:solidFill>
                  <a:srgbClr val="E6EDF3"/>
                </a:solidFill>
                <a:latin typeface="Courier New"/>
              </a:rPr>
              <a:t>]</a:t>
            </a:r>
            <a:r>
              <a:rPr sz="900" b="0" i="0">
                <a:solidFill>
                  <a:srgbClr val="E6EDF3"/>
                </a:solidFill>
                <a:latin typeface="Courier New"/>
              </a:rPr>
              <a:t>)</a:t>
            </a:r>
          </a:p>
        </p:txBody>
      </p:sp>
      <p:sp>
        <p:nvSpPr>
          <p:cNvPr id="5" name="explanation"/>
          <p:cNvSpPr txBox="1"/>
          <p:nvPr/>
        </p:nvSpPr>
        <p:spPr>
          <a:xfrm>
            <a:off x="5952744" y="786384"/>
            <a:ext cx="2825495" cy="826516"/>
          </a:xfrm>
          <a:prstGeom prst="rect">
            <a:avLst/>
          </a:prstGeom>
          <a:noFill/>
        </p:spPr>
        <p:txBody>
          <a:bodyPr wrap="square" lIns="128016" rIns="128016" tIns="18288" bIns="18288" anchor="ctr">
            <a:spAutoFit/>
          </a:bodyPr>
          <a:lstStyle/>
          <a:p>
            <a:r>
              <a:rPr sz="1100" b="0" i="0">
                <a:solidFill>
                  <a:srgbClr val="1F2933"/>
                </a:solidFill>
                <a:latin typeface="Calibri"/>
              </a:rPr>
              <a:t>Excel's CSV UTF-8 option starts the file with three bytes, a byte order mark, before the first letter.</a:t>
            </a:r>
          </a:p>
        </p:txBody>
      </p:sp>
      <p:sp>
        <p:nvSpPr>
          <p:cNvPr id="6" name="code"/>
          <p:cNvSpPr/>
          <p:nvPr/>
        </p:nvSpPr>
        <p:spPr>
          <a:xfrm>
            <a:off x="365760" y="1658620"/>
            <a:ext cx="560527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repr</a:t>
            </a:r>
            <a:r>
              <a:rPr sz="900" b="0" i="0">
                <a:solidFill>
                  <a:srgbClr val="E6EDF3"/>
                </a:solidFill>
                <a:latin typeface="Courier New"/>
              </a:rPr>
              <a:t>(</a:t>
            </a:r>
            <a:r>
              <a:rPr sz="900" b="0" i="0">
                <a:solidFill>
                  <a:srgbClr val="E6EDF3"/>
                </a:solidFill>
                <a:latin typeface="Courier New"/>
              </a:rPr>
              <a:t>data</a:t>
            </a:r>
            <a:r>
              <a:rPr sz="900" b="0" i="0">
                <a:solidFill>
                  <a:srgbClr val="E6EDF3"/>
                </a:solidFill>
                <a:latin typeface="Courier New"/>
              </a:rPr>
              <a:t>.</a:t>
            </a:r>
            <a:r>
              <a:rPr sz="900" b="0" i="0">
                <a:solidFill>
                  <a:srgbClr val="E6EDF3"/>
                </a:solidFill>
                <a:latin typeface="Courier New"/>
              </a:rPr>
              <a:t>decode</a:t>
            </a:r>
            <a:r>
              <a:rPr sz="900" b="0" i="0">
                <a:solidFill>
                  <a:srgbClr val="E6EDF3"/>
                </a:solidFill>
                <a:latin typeface="Courier New"/>
              </a:rPr>
              <a:t>(</a:t>
            </a:r>
            <a:r>
              <a:rPr sz="900" b="0" i="0">
                <a:solidFill>
                  <a:srgbClr val="9BE3A8"/>
                </a:solidFill>
                <a:latin typeface="Courier New"/>
              </a:rPr>
              <a:t>'utf-8'</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split</a:t>
            </a:r>
            <a:r>
              <a:rPr sz="900" b="0" i="0">
                <a:solidFill>
                  <a:srgbClr val="E6EDF3"/>
                </a:solidFill>
                <a:latin typeface="Courier New"/>
              </a:rPr>
              <a:t>(</a:t>
            </a:r>
            <a:r>
              <a:rPr sz="900" b="0" i="0">
                <a:solidFill>
                  <a:srgbClr val="9BE3A8"/>
                </a:solidFill>
                <a:latin typeface="Courier New"/>
              </a:rPr>
              <a:t>'\r\n'</a:t>
            </a:r>
            <a:r>
              <a:rPr sz="900" b="0" i="0">
                <a:solidFill>
                  <a:srgbClr val="E6EDF3"/>
                </a:solidFill>
                <a:latin typeface="Courier New"/>
              </a:rPr>
              <a:t>)</a:t>
            </a:r>
            <a:r>
              <a:rPr sz="900" b="0" i="0">
                <a:solidFill>
                  <a:srgbClr val="E6EDF3"/>
                </a:solidFill>
                <a:latin typeface="Courier New"/>
              </a:rPr>
              <a:t>[</a:t>
            </a:r>
            <a:r>
              <a:rPr sz="900" b="0" i="0">
                <a:solidFill>
                  <a:srgbClr val="7CC4FF"/>
                </a:solidFill>
                <a:latin typeface="Courier New"/>
              </a:rPr>
              <a:t>0</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repr</a:t>
            </a:r>
            <a:r>
              <a:rPr sz="900" b="0" i="0">
                <a:solidFill>
                  <a:srgbClr val="E6EDF3"/>
                </a:solidFill>
                <a:latin typeface="Courier New"/>
              </a:rPr>
              <a:t>(</a:t>
            </a:r>
            <a:r>
              <a:rPr sz="900" b="0" i="0">
                <a:solidFill>
                  <a:srgbClr val="E6EDF3"/>
                </a:solidFill>
                <a:latin typeface="Courier New"/>
              </a:rPr>
              <a:t>data</a:t>
            </a:r>
            <a:r>
              <a:rPr sz="900" b="0" i="0">
                <a:solidFill>
                  <a:srgbClr val="E6EDF3"/>
                </a:solidFill>
                <a:latin typeface="Courier New"/>
              </a:rPr>
              <a:t>.</a:t>
            </a:r>
            <a:r>
              <a:rPr sz="900" b="0" i="0">
                <a:solidFill>
                  <a:srgbClr val="E6EDF3"/>
                </a:solidFill>
                <a:latin typeface="Courier New"/>
              </a:rPr>
              <a:t>decode</a:t>
            </a:r>
            <a:r>
              <a:rPr sz="900" b="0" i="0">
                <a:solidFill>
                  <a:srgbClr val="E6EDF3"/>
                </a:solidFill>
                <a:latin typeface="Courier New"/>
              </a:rPr>
              <a:t>(</a:t>
            </a:r>
            <a:r>
              <a:rPr sz="900" b="0" i="0">
                <a:solidFill>
                  <a:srgbClr val="9BE3A8"/>
                </a:solidFill>
                <a:latin typeface="Courier New"/>
              </a:rPr>
              <a:t>'utf-8-sig'</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split</a:t>
            </a:r>
            <a:r>
              <a:rPr sz="900" b="0" i="0">
                <a:solidFill>
                  <a:srgbClr val="E6EDF3"/>
                </a:solidFill>
                <a:latin typeface="Courier New"/>
              </a:rPr>
              <a:t>(</a:t>
            </a:r>
            <a:r>
              <a:rPr sz="900" b="0" i="0">
                <a:solidFill>
                  <a:srgbClr val="9BE3A8"/>
                </a:solidFill>
                <a:latin typeface="Courier New"/>
              </a:rPr>
              <a:t>'\r\n'</a:t>
            </a:r>
            <a:r>
              <a:rPr sz="900" b="0" i="0">
                <a:solidFill>
                  <a:srgbClr val="E6EDF3"/>
                </a:solidFill>
                <a:latin typeface="Courier New"/>
              </a:rPr>
              <a:t>)</a:t>
            </a:r>
            <a:r>
              <a:rPr sz="900" b="0" i="0">
                <a:solidFill>
                  <a:srgbClr val="E6EDF3"/>
                </a:solidFill>
                <a:latin typeface="Courier New"/>
              </a:rPr>
              <a:t>[</a:t>
            </a:r>
            <a:r>
              <a:rPr sz="900" b="0" i="0">
                <a:solidFill>
                  <a:srgbClr val="7CC4FF"/>
                </a:solidFill>
                <a:latin typeface="Courier New"/>
              </a:rPr>
              <a:t>0</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p:txBody>
      </p:sp>
      <p:sp>
        <p:nvSpPr>
          <p:cNvPr id="7" name="explanation"/>
          <p:cNvSpPr txBox="1"/>
          <p:nvPr/>
        </p:nvSpPr>
        <p:spPr>
          <a:xfrm>
            <a:off x="5952744" y="1658620"/>
            <a:ext cx="2825495" cy="651891"/>
          </a:xfrm>
          <a:prstGeom prst="rect">
            <a:avLst/>
          </a:prstGeom>
          <a:noFill/>
        </p:spPr>
        <p:txBody>
          <a:bodyPr wrap="square" lIns="128016" rIns="128016" tIns="18288" bIns="18288" anchor="ctr">
            <a:spAutoFit/>
          </a:bodyPr>
          <a:lstStyle/>
          <a:p>
            <a:r>
              <a:rPr sz="1100" b="0" i="0">
                <a:solidFill>
                  <a:srgbClr val="1F2933"/>
                </a:solidFill>
                <a:latin typeface="Calibri"/>
              </a:rPr>
              <a:t>Decoded as utf-8 the mark stays as an invisible first character. utf-8-sig removes it.</a:t>
            </a:r>
          </a:p>
        </p:txBody>
      </p:sp>
      <p:sp>
        <p:nvSpPr>
          <p:cNvPr id="8" name="code"/>
          <p:cNvSpPr/>
          <p:nvPr/>
        </p:nvSpPr>
        <p:spPr>
          <a:xfrm>
            <a:off x="365760" y="2356231"/>
            <a:ext cx="5605272"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rows</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list</a:t>
            </a:r>
            <a:r>
              <a:rPr sz="900" b="0" i="0">
                <a:solidFill>
                  <a:srgbClr val="E6EDF3"/>
                </a:solidFill>
                <a:latin typeface="Courier New"/>
              </a:rPr>
              <a:t>(</a:t>
            </a:r>
            <a:r>
              <a:rPr sz="900" b="0" i="0">
                <a:solidFill>
                  <a:srgbClr val="E6EDF3"/>
                </a:solidFill>
                <a:latin typeface="Courier New"/>
              </a:rPr>
              <a:t>csv</a:t>
            </a:r>
            <a:r>
              <a:rPr sz="900" b="0" i="0">
                <a:solidFill>
                  <a:srgbClr val="E6EDF3"/>
                </a:solidFill>
                <a:latin typeface="Courier New"/>
              </a:rPr>
              <a:t>.</a:t>
            </a:r>
            <a:r>
              <a:rPr sz="900" b="0" i="0">
                <a:solidFill>
                  <a:srgbClr val="E6EDF3"/>
                </a:solidFill>
                <a:latin typeface="Courier New"/>
              </a:rPr>
              <a:t>DictReader</a:t>
            </a:r>
            <a:r>
              <a:rPr sz="900" b="0" i="0">
                <a:solidFill>
                  <a:srgbClr val="E6EDF3"/>
                </a:solidFill>
                <a:latin typeface="Courier New"/>
              </a:rPr>
              <a:t>(</a:t>
            </a:r>
            <a:r>
              <a:rPr sz="900" b="0" i="0">
                <a:solidFill>
                  <a:srgbClr val="E6EDF3"/>
                </a:solidFill>
                <a:latin typeface="Courier New"/>
              </a:rPr>
              <a:t>io</a:t>
            </a:r>
            <a:r>
              <a:rPr sz="900" b="0" i="0">
                <a:solidFill>
                  <a:srgbClr val="E6EDF3"/>
                </a:solidFill>
                <a:latin typeface="Courier New"/>
              </a:rPr>
              <a:t>.</a:t>
            </a:r>
            <a:r>
              <a:rPr sz="900" b="0" i="0">
                <a:solidFill>
                  <a:srgbClr val="E6EDF3"/>
                </a:solidFill>
                <a:latin typeface="Courier New"/>
              </a:rPr>
              <a:t>StringIO</a:t>
            </a:r>
            <a:r>
              <a:rPr sz="900" b="0" i="0">
                <a:solidFill>
                  <a:srgbClr val="E6EDF3"/>
                </a:solidFill>
                <a:latin typeface="Courier New"/>
              </a:rPr>
              <a:t>(</a:t>
            </a:r>
            <a:r>
              <a:rPr sz="900" b="0" i="0">
                <a:solidFill>
                  <a:srgbClr val="E6EDF3"/>
                </a:solidFill>
                <a:latin typeface="Courier New"/>
              </a:rPr>
              <a:t>data</a:t>
            </a:r>
            <a:r>
              <a:rPr sz="900" b="0" i="0">
                <a:solidFill>
                  <a:srgbClr val="E6EDF3"/>
                </a:solidFill>
                <a:latin typeface="Courier New"/>
              </a:rPr>
              <a:t>.</a:t>
            </a:r>
            <a:r>
              <a:rPr sz="900" b="0" i="0">
                <a:solidFill>
                  <a:srgbClr val="E6EDF3"/>
                </a:solidFill>
                <a:latin typeface="Courier New"/>
              </a:rPr>
              <a:t>decode</a:t>
            </a:r>
            <a:r>
              <a:rPr sz="900" b="0" i="0">
                <a:solidFill>
                  <a:srgbClr val="E6EDF3"/>
                </a:solidFill>
                <a:latin typeface="Courier New"/>
              </a:rPr>
              <a:t>(</a:t>
            </a:r>
            <a:r>
              <a:rPr sz="900" b="0" i="0">
                <a:solidFill>
                  <a:srgbClr val="9BE3A8"/>
                </a:solidFill>
                <a:latin typeface="Courier New"/>
              </a:rPr>
              <a:t>'utf-8'</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newline</a:t>
            </a:r>
            <a:r>
              <a:rPr sz="900" b="0" i="0">
                <a:solidFill>
                  <a:srgbClr val="E6EDF3"/>
                </a:solidFill>
                <a:latin typeface="Courier New"/>
              </a:rPr>
              <a:t>=</a:t>
            </a:r>
            <a:r>
              <a:rPr sz="900" b="0" i="0">
                <a:solidFill>
                  <a:srgbClr val="9BE3A8"/>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list</a:t>
            </a:r>
            <a:r>
              <a:rPr sz="900" b="0" i="0">
                <a:solidFill>
                  <a:srgbClr val="E6EDF3"/>
                </a:solidFill>
                <a:latin typeface="Courier New"/>
              </a:rPr>
              <a:t>(</a:t>
            </a:r>
            <a:r>
              <a:rPr sz="900" b="0" i="0">
                <a:solidFill>
                  <a:srgbClr val="E6EDF3"/>
                </a:solidFill>
                <a:latin typeface="Courier New"/>
              </a:rPr>
              <a:t>rows</a:t>
            </a:r>
            <a:r>
              <a:rPr sz="900" b="0" i="0">
                <a:solidFill>
                  <a:srgbClr val="E6EDF3"/>
                </a:solidFill>
                <a:latin typeface="Courier New"/>
              </a:rPr>
              <a:t>[</a:t>
            </a:r>
            <a:r>
              <a:rPr sz="900" b="0" i="0">
                <a:solidFill>
                  <a:srgbClr val="7CC4FF"/>
                </a:solidFill>
                <a:latin typeface="Courier New"/>
              </a:rPr>
              <a:t>0</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p:txBody>
      </p:sp>
      <p:sp>
        <p:nvSpPr>
          <p:cNvPr id="9" name="explanation"/>
          <p:cNvSpPr txBox="1"/>
          <p:nvPr/>
        </p:nvSpPr>
        <p:spPr>
          <a:xfrm>
            <a:off x="5952744" y="2356231"/>
            <a:ext cx="2825495" cy="826516"/>
          </a:xfrm>
          <a:prstGeom prst="rect">
            <a:avLst/>
          </a:prstGeom>
          <a:noFill/>
        </p:spPr>
        <p:txBody>
          <a:bodyPr wrap="square" lIns="128016" rIns="128016" tIns="18288" bIns="18288" anchor="ctr">
            <a:spAutoFit/>
          </a:bodyPr>
          <a:lstStyle/>
          <a:p>
            <a:r>
              <a:rPr sz="1100" b="0" i="0">
                <a:solidFill>
                  <a:srgbClr val="1F2933"/>
                </a:solidFill>
                <a:latin typeface="Calibri"/>
              </a:rPr>
              <a:t>The mark ends up inside the first key, so row['Name'] would raise a KeyError. Pass encoding to open().</a:t>
            </a:r>
          </a:p>
        </p:txBody>
      </p:sp>
      <p:sp>
        <p:nvSpPr>
          <p:cNvPr id="10" name="result label"/>
          <p:cNvSpPr txBox="1"/>
          <p:nvPr/>
        </p:nvSpPr>
        <p:spPr>
          <a:xfrm>
            <a:off x="365760" y="3237611"/>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502787"/>
            <a:ext cx="1371600" cy="36576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EF BB BF</a:t>
            </a:r>
          </a:p>
          <a:p>
            <a:pPr algn="ctr"/>
            <a:r>
              <a:rPr sz="950" b="0" i="0">
                <a:solidFill>
                  <a:srgbClr val="1F2933"/>
                </a:solidFill>
                <a:latin typeface="Courier New"/>
              </a:rPr>
              <a:t>the mark</a:t>
            </a:r>
          </a:p>
        </p:txBody>
      </p:sp>
      <p:cxnSp>
        <p:nvCxnSpPr>
          <p:cNvPr id="12" name="arrow"/>
          <p:cNvCxnSpPr/>
          <p:nvPr/>
        </p:nvCxnSpPr>
        <p:spPr>
          <a:xfrm>
            <a:off x="1755648" y="3685667"/>
            <a:ext cx="5486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828800" y="3502787"/>
            <a:ext cx="2103120" cy="36576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N a m e , C i t y ...</a:t>
            </a:r>
          </a:p>
          <a:p>
            <a:pPr algn="ctr"/>
            <a:r>
              <a:rPr sz="950" b="0" i="0">
                <a:solidFill>
                  <a:srgbClr val="1F2933"/>
                </a:solidFill>
                <a:latin typeface="Courier New"/>
              </a:rPr>
              <a:t>the text</a:t>
            </a:r>
          </a:p>
        </p:txBody>
      </p:sp>
      <p:sp>
        <p:nvSpPr>
          <p:cNvPr id="14" name="meaning"/>
          <p:cNvSpPr txBox="1"/>
          <p:nvPr/>
        </p:nvSpPr>
        <p:spPr>
          <a:xfrm>
            <a:off x="4114800" y="3502787"/>
            <a:ext cx="4663440" cy="365760"/>
          </a:xfrm>
          <a:prstGeom prst="rect">
            <a:avLst/>
          </a:prstGeom>
          <a:noFill/>
        </p:spPr>
        <p:txBody>
          <a:bodyPr wrap="square" lIns="45720" rIns="45720" tIns="27432" bIns="27432" anchor="ctr">
            <a:spAutoFit/>
          </a:bodyPr>
          <a:lstStyle/>
          <a:p>
            <a:r>
              <a:rPr sz="1000" b="0" i="1">
                <a:solidFill>
                  <a:srgbClr val="5B6773"/>
                </a:solidFill>
                <a:latin typeface="Calibri"/>
              </a:rPr>
              <a:t>the file's first three bytes are not a letter; Excel adds them</a:t>
            </a:r>
          </a:p>
        </p:txBody>
      </p:sp>
      <p:sp>
        <p:nvSpPr>
          <p:cNvPr id="15" name="Rounded Rectangle 14"/>
          <p:cNvSpPr/>
          <p:nvPr/>
        </p:nvSpPr>
        <p:spPr>
          <a:xfrm>
            <a:off x="365760" y="3987419"/>
            <a:ext cx="2743200" cy="384048"/>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decoded as utf-8:</a:t>
            </a:r>
          </a:p>
          <a:p>
            <a:pPr algn="ctr"/>
            <a:r>
              <a:rPr sz="950" b="0" i="0">
                <a:solidFill>
                  <a:srgbClr val="1F2933"/>
                </a:solidFill>
                <a:latin typeface="Courier New"/>
              </a:rPr>
              <a:t>'\ufeffName,City'</a:t>
            </a:r>
          </a:p>
        </p:txBody>
      </p:sp>
      <p:sp>
        <p:nvSpPr>
          <p:cNvPr id="16" name="Rounded Rectangle 15"/>
          <p:cNvSpPr/>
          <p:nvPr/>
        </p:nvSpPr>
        <p:spPr>
          <a:xfrm>
            <a:off x="3246120" y="3987419"/>
            <a:ext cx="2743200" cy="384048"/>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decoded as utf-8-sig:</a:t>
            </a:r>
          </a:p>
          <a:p>
            <a:pPr algn="ctr"/>
            <a:r>
              <a:rPr sz="950" b="0" i="0">
                <a:solidFill>
                  <a:srgbClr val="1F2933"/>
                </a:solidFill>
                <a:latin typeface="Courier New"/>
              </a:rPr>
              <a:t>'Name,City'</a:t>
            </a:r>
          </a:p>
        </p:txBody>
      </p:sp>
      <p:sp>
        <p:nvSpPr>
          <p:cNvPr id="17" name="Rounded Rectangle 16"/>
          <p:cNvSpPr/>
          <p:nvPr/>
        </p:nvSpPr>
        <p:spPr>
          <a:xfrm>
            <a:off x="6126480" y="3987419"/>
            <a:ext cx="2651760" cy="384048"/>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DictReader keys:</a:t>
            </a:r>
          </a:p>
          <a:p>
            <a:pPr algn="ctr"/>
            <a:r>
              <a:rPr sz="950" b="0" i="0">
                <a:solidFill>
                  <a:srgbClr val="1F2933"/>
                </a:solidFill>
                <a:latin typeface="Courier New"/>
              </a:rPr>
              <a:t>['\ufeffName', 'City']</a:t>
            </a:r>
          </a:p>
        </p:txBody>
      </p:sp>
      <p:sp>
        <p:nvSpPr>
          <p:cNvPr id="18" name="visual note"/>
          <p:cNvSpPr txBox="1"/>
          <p:nvPr/>
        </p:nvSpPr>
        <p:spPr>
          <a:xfrm>
            <a:off x="365760" y="4417187"/>
            <a:ext cx="8412480" cy="201168"/>
          </a:xfrm>
          <a:prstGeom prst="rect">
            <a:avLst/>
          </a:prstGeom>
          <a:noFill/>
        </p:spPr>
        <p:txBody>
          <a:bodyPr wrap="square" lIns="45720" rIns="45720" tIns="27432" bIns="27432" anchor="t">
            <a:spAutoFit/>
          </a:bodyPr>
          <a:lstStyle/>
          <a:p>
            <a:r>
              <a:rPr sz="950" b="0" i="1">
                <a:solidFill>
                  <a:srgbClr val="5B6773"/>
                </a:solidFill>
                <a:latin typeface="Calibri"/>
              </a:rPr>
              <a:t>red: the invisible first character sits in the first key</a:t>
            </a:r>
          </a:p>
        </p:txBody>
      </p:sp>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Name the encoding; utf-8-sig removes Excel's mark.</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18 / 53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DictReader and DictWriter: rows as dictionaries</a:t>
            </a:r>
          </a:p>
        </p:txBody>
      </p:sp>
      <p:sp>
        <p:nvSpPr>
          <p:cNvPr id="4" name="code"/>
          <p:cNvSpPr/>
          <p:nvPr/>
        </p:nvSpPr>
        <p:spPr>
          <a:xfrm>
            <a:off x="365760" y="786384"/>
            <a:ext cx="5369052" cy="81889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csv</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io</a:t>
            </a:r>
          </a:p>
          <a:p>
            <a:pPr algn="l"/>
            <a:r>
              <a:rPr sz="1100" b="0" i="0">
                <a:solidFill>
                  <a:srgbClr val="8FA3B8"/>
                </a:solidFill>
                <a:latin typeface="Courier New"/>
              </a:rPr>
              <a:t>&gt;&gt;&gt; </a:t>
            </a:r>
            <a:r>
              <a:rPr sz="1100" b="0" i="0">
                <a:solidFill>
                  <a:srgbClr val="E6EDF3"/>
                </a:solidFill>
                <a:latin typeface="Courier New"/>
              </a:rPr>
              <a:t>text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'Name,Age\r\nAlice,30\r\nBob\r\n'</a:t>
            </a:r>
          </a:p>
          <a:p>
            <a:pPr algn="l"/>
            <a:r>
              <a:rPr sz="1100" b="0" i="0">
                <a:solidFill>
                  <a:srgbClr val="8FA3B8"/>
                </a:solidFill>
                <a:latin typeface="Courier New"/>
              </a:rPr>
              <a:t>&gt;&gt;&gt;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row</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csv</a:t>
            </a:r>
            <a:r>
              <a:rPr sz="1100" b="0" i="0">
                <a:solidFill>
                  <a:srgbClr val="E6EDF3"/>
                </a:solidFill>
                <a:latin typeface="Courier New"/>
              </a:rPr>
              <a:t>.</a:t>
            </a:r>
            <a:r>
              <a:rPr sz="1100" b="0" i="0">
                <a:solidFill>
                  <a:srgbClr val="E6EDF3"/>
                </a:solidFill>
                <a:latin typeface="Courier New"/>
              </a:rPr>
              <a:t>DictReader</a:t>
            </a:r>
            <a:r>
              <a:rPr sz="1100" b="0" i="0">
                <a:solidFill>
                  <a:srgbClr val="E6EDF3"/>
                </a:solidFill>
                <a:latin typeface="Courier New"/>
              </a:rPr>
              <a:t>(</a:t>
            </a:r>
            <a:r>
              <a:rPr sz="1100" b="0" i="0">
                <a:solidFill>
                  <a:srgbClr val="E6EDF3"/>
                </a:solidFill>
                <a:latin typeface="Courier New"/>
              </a:rPr>
              <a:t>io</a:t>
            </a:r>
            <a:r>
              <a:rPr sz="1100" b="0" i="0">
                <a:solidFill>
                  <a:srgbClr val="E6EDF3"/>
                </a:solidFill>
                <a:latin typeface="Courier New"/>
              </a:rPr>
              <a:t>.</a:t>
            </a:r>
            <a:r>
              <a:rPr sz="1100" b="0" i="0">
                <a:solidFill>
                  <a:srgbClr val="E6EDF3"/>
                </a:solidFill>
                <a:latin typeface="Courier New"/>
              </a:rPr>
              <a:t>StringIO</a:t>
            </a:r>
            <a:r>
              <a:rPr sz="1100" b="0" i="0">
                <a:solidFill>
                  <a:srgbClr val="E6EDF3"/>
                </a:solidFill>
                <a:latin typeface="Courier New"/>
              </a:rPr>
              <a:t>(</a:t>
            </a:r>
            <a:r>
              <a:rPr sz="1100" b="0" i="0">
                <a:solidFill>
                  <a:srgbClr val="E6EDF3"/>
                </a:solidFill>
                <a:latin typeface="Courier New"/>
              </a:rPr>
              <a:t>text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newline</a:t>
            </a:r>
            <a:r>
              <a:rPr sz="1100" b="0" i="0">
                <a:solidFill>
                  <a:srgbClr val="E6EDF3"/>
                </a:solidFill>
                <a:latin typeface="Courier New"/>
              </a:rPr>
              <a:t>=</a:t>
            </a:r>
            <a:r>
              <a:rPr sz="1100" b="0" i="0">
                <a:solidFill>
                  <a:srgbClr val="9BE3A8"/>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dict</a:t>
            </a:r>
            <a:r>
              <a:rPr sz="1100" b="0" i="0">
                <a:solidFill>
                  <a:srgbClr val="E6EDF3"/>
                </a:solidFill>
                <a:latin typeface="Courier New"/>
              </a:rPr>
              <a:t>(</a:t>
            </a:r>
            <a:r>
              <a:rPr sz="1100" b="0" i="0">
                <a:solidFill>
                  <a:srgbClr val="E6EDF3"/>
                </a:solidFill>
                <a:latin typeface="Courier New"/>
              </a:rPr>
              <a:t>row</a:t>
            </a:r>
            <a:r>
              <a:rPr sz="1100" b="0" i="0">
                <a:solidFill>
                  <a:srgbClr val="E6EDF3"/>
                </a:solidFill>
                <a:latin typeface="Courier New"/>
              </a:rPr>
              <a:t>)</a:t>
            </a:r>
            <a:r>
              <a:rPr sz="1100" b="0" i="0">
                <a:solidFill>
                  <a:srgbClr val="E6EDF3"/>
                </a:solidFill>
                <a:latin typeface="Courier New"/>
              </a:rPr>
              <a:t>)</a:t>
            </a:r>
          </a:p>
        </p:txBody>
      </p:sp>
      <p:sp>
        <p:nvSpPr>
          <p:cNvPr id="5" name="explanation"/>
          <p:cNvSpPr txBox="1"/>
          <p:nvPr/>
        </p:nvSpPr>
        <p:spPr>
          <a:xfrm>
            <a:off x="5716524" y="786384"/>
            <a:ext cx="3061715" cy="818896"/>
          </a:xfrm>
          <a:prstGeom prst="rect">
            <a:avLst/>
          </a:prstGeom>
          <a:noFill/>
        </p:spPr>
        <p:txBody>
          <a:bodyPr wrap="square" lIns="128016" rIns="128016" tIns="18288" bIns="18288" anchor="ctr">
            <a:spAutoFit/>
          </a:bodyPr>
          <a:lstStyle/>
          <a:p>
            <a:r>
              <a:rPr sz="1200" b="0" i="0">
                <a:solidFill>
                  <a:srgbClr val="1F2933"/>
                </a:solidFill>
                <a:latin typeface="Calibri"/>
              </a:rPr>
              <a:t>DictReader uses the first row as keys. A short row gets None for the missing value.</a:t>
            </a:r>
          </a:p>
        </p:txBody>
      </p:sp>
      <p:sp>
        <p:nvSpPr>
          <p:cNvPr id="6" name="code"/>
          <p:cNvSpPr/>
          <p:nvPr/>
        </p:nvSpPr>
        <p:spPr>
          <a:xfrm>
            <a:off x="365760" y="1651000"/>
            <a:ext cx="5369052" cy="1159763"/>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out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io</a:t>
            </a:r>
            <a:r>
              <a:rPr sz="1100" b="0" i="0">
                <a:solidFill>
                  <a:srgbClr val="E6EDF3"/>
                </a:solidFill>
                <a:latin typeface="Courier New"/>
              </a:rPr>
              <a:t>.</a:t>
            </a:r>
            <a:r>
              <a:rPr sz="1100" b="0" i="0">
                <a:solidFill>
                  <a:srgbClr val="E6EDF3"/>
                </a:solidFill>
                <a:latin typeface="Courier New"/>
              </a:rPr>
              <a:t>StringIO</a:t>
            </a:r>
            <a:r>
              <a:rPr sz="1100" b="0" i="0">
                <a:solidFill>
                  <a:srgbClr val="E6EDF3"/>
                </a:solidFill>
                <a:latin typeface="Courier New"/>
              </a:rPr>
              <a:t>(</a:t>
            </a:r>
            <a:r>
              <a:rPr sz="1100" b="0" i="0">
                <a:solidFill>
                  <a:srgbClr val="E6EDF3"/>
                </a:solidFill>
                <a:latin typeface="Courier New"/>
              </a:rPr>
              <a:t>newline</a:t>
            </a:r>
            <a:r>
              <a:rPr sz="1100" b="0" i="0">
                <a:solidFill>
                  <a:srgbClr val="E6EDF3"/>
                </a:solidFill>
                <a:latin typeface="Courier New"/>
              </a:rPr>
              <a:t>=</a:t>
            </a:r>
            <a:r>
              <a:rPr sz="1100" b="0" i="0">
                <a:solidFill>
                  <a:srgbClr val="9BE3A8"/>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w</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csv</a:t>
            </a:r>
            <a:r>
              <a:rPr sz="1100" b="0" i="0">
                <a:solidFill>
                  <a:srgbClr val="E6EDF3"/>
                </a:solidFill>
                <a:latin typeface="Courier New"/>
              </a:rPr>
              <a:t>.</a:t>
            </a:r>
            <a:r>
              <a:rPr sz="1100" b="0" i="0">
                <a:solidFill>
                  <a:srgbClr val="E6EDF3"/>
                </a:solidFill>
                <a:latin typeface="Courier New"/>
              </a:rPr>
              <a:t>DictWriter</a:t>
            </a:r>
            <a:r>
              <a:rPr sz="1100" b="0" i="0">
                <a:solidFill>
                  <a:srgbClr val="E6EDF3"/>
                </a:solidFill>
                <a:latin typeface="Courier New"/>
              </a:rPr>
              <a:t>(</a:t>
            </a:r>
            <a:r>
              <a:rPr sz="1100" b="0" i="0">
                <a:solidFill>
                  <a:srgbClr val="E6EDF3"/>
                </a:solidFill>
                <a:latin typeface="Courier New"/>
              </a:rPr>
              <a:t>out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'Name'</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'Age'</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w</a:t>
            </a:r>
            <a:r>
              <a:rPr sz="1100" b="0" i="0">
                <a:solidFill>
                  <a:srgbClr val="E6EDF3"/>
                </a:solidFill>
                <a:latin typeface="Courier New"/>
              </a:rPr>
              <a:t>.</a:t>
            </a:r>
            <a:r>
              <a:rPr sz="1100" b="0" i="0">
                <a:solidFill>
                  <a:srgbClr val="E6EDF3"/>
                </a:solidFill>
                <a:latin typeface="Courier New"/>
              </a:rPr>
              <a:t>writeheader</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w</a:t>
            </a:r>
            <a:r>
              <a:rPr sz="1100" b="0" i="0">
                <a:solidFill>
                  <a:srgbClr val="E6EDF3"/>
                </a:solidFill>
                <a:latin typeface="Courier New"/>
              </a:rPr>
              <a:t>.</a:t>
            </a:r>
            <a:r>
              <a:rPr sz="1100" b="0" i="0">
                <a:solidFill>
                  <a:srgbClr val="E6EDF3"/>
                </a:solidFill>
                <a:latin typeface="Courier New"/>
              </a:rPr>
              <a:t>writerow</a:t>
            </a:r>
            <a:r>
              <a:rPr sz="1100" b="0" i="0">
                <a:solidFill>
                  <a:srgbClr val="E6EDF3"/>
                </a:solidFill>
                <a:latin typeface="Courier New"/>
              </a:rPr>
              <a:t>(</a:t>
            </a:r>
            <a:r>
              <a:rPr sz="1100" b="0" i="0">
                <a:solidFill>
                  <a:srgbClr val="E6EDF3"/>
                </a:solidFill>
                <a:latin typeface="Courier New"/>
              </a:rPr>
              <a:t>{</a:t>
            </a:r>
            <a:r>
              <a:rPr sz="1100" b="0" i="0">
                <a:solidFill>
                  <a:srgbClr val="9BE3A8"/>
                </a:solidFill>
                <a:latin typeface="Courier New"/>
              </a:rPr>
              <a:t>'Name'</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'Dave'</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'Age'</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5</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w</a:t>
            </a:r>
            <a:r>
              <a:rPr sz="1100" b="0" i="0">
                <a:solidFill>
                  <a:srgbClr val="E6EDF3"/>
                </a:solidFill>
                <a:latin typeface="Courier New"/>
              </a:rPr>
              <a:t>.</a:t>
            </a:r>
            <a:r>
              <a:rPr sz="1100" b="0" i="0">
                <a:solidFill>
                  <a:srgbClr val="E6EDF3"/>
                </a:solidFill>
                <a:latin typeface="Courier New"/>
              </a:rPr>
              <a:t>writerow</a:t>
            </a:r>
            <a:r>
              <a:rPr sz="1100" b="0" i="0">
                <a:solidFill>
                  <a:srgbClr val="E6EDF3"/>
                </a:solidFill>
                <a:latin typeface="Courier New"/>
              </a:rPr>
              <a:t>(</a:t>
            </a:r>
            <a:r>
              <a:rPr sz="1100" b="0" i="0">
                <a:solidFill>
                  <a:srgbClr val="E6EDF3"/>
                </a:solidFill>
                <a:latin typeface="Courier New"/>
              </a:rPr>
              <a:t>{</a:t>
            </a:r>
            <a:r>
              <a:rPr sz="1100" b="0" i="0">
                <a:solidFill>
                  <a:srgbClr val="9BE3A8"/>
                </a:solidFill>
                <a:latin typeface="Courier New"/>
              </a:rPr>
              <a:t>'Name'</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'Eve'</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out</a:t>
            </a:r>
            <a:r>
              <a:rPr sz="1100" b="0" i="0">
                <a:solidFill>
                  <a:srgbClr val="E6EDF3"/>
                </a:solidFill>
                <a:latin typeface="Courier New"/>
              </a:rPr>
              <a:t>.</a:t>
            </a:r>
            <a:r>
              <a:rPr sz="1100" b="0" i="0">
                <a:solidFill>
                  <a:srgbClr val="E6EDF3"/>
                </a:solidFill>
                <a:latin typeface="Courier New"/>
              </a:rPr>
              <a:t>getvalue</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splitlines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5716524" y="1651000"/>
            <a:ext cx="3061715" cy="1159763"/>
          </a:xfrm>
          <a:prstGeom prst="rect">
            <a:avLst/>
          </a:prstGeom>
          <a:noFill/>
        </p:spPr>
        <p:txBody>
          <a:bodyPr wrap="square" lIns="128016" rIns="128016" tIns="18288" bIns="18288" anchor="ctr">
            <a:spAutoFit/>
          </a:bodyPr>
          <a:lstStyle/>
          <a:p>
            <a:r>
              <a:rPr sz="1200" b="0" i="0">
                <a:solidFill>
                  <a:srgbClr val="1F2933"/>
                </a:solidFill>
                <a:latin typeface="Calibri"/>
              </a:rPr>
              <a:t>DictWriter writes the header from its field names. A missing key becomes an empty field.</a:t>
            </a:r>
          </a:p>
        </p:txBody>
      </p:sp>
      <p:sp>
        <p:nvSpPr>
          <p:cNvPr id="8" name="result label"/>
          <p:cNvSpPr txBox="1"/>
          <p:nvPr/>
        </p:nvSpPr>
        <p:spPr>
          <a:xfrm>
            <a:off x="365760" y="2865627"/>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112515"/>
          <a:ext cx="3196741" cy="822960"/>
        </p:xfrm>
        <a:graphic>
          <a:graphicData uri="http://schemas.openxmlformats.org/drawingml/2006/table">
            <a:tbl>
              <a:tblPr firstRow="0" bandRow="0"/>
              <a:tblGrid>
                <a:gridCol w="1743677"/>
                <a:gridCol w="1453064"/>
              </a:tblGrid>
              <a:tr h="274320">
                <a:tc>
                  <a:txBody>
                    <a:bodyPr wrap="square"/>
                    <a:lstStyle/>
                    <a:p>
                      <a:r>
                        <a:rPr sz="1000" b="1" i="0">
                          <a:solidFill>
                            <a:srgbClr val="FFFFFF"/>
                          </a:solidFill>
                          <a:latin typeface="Calibri"/>
                        </a:rPr>
                        <a:t>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ourier New"/>
                        </a:rPr>
                        <a:t>Alice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Bob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bl>
          </a:graphicData>
        </a:graphic>
      </p:graphicFrame>
      <p:sp>
        <p:nvSpPr>
          <p:cNvPr id="10" name="visual note"/>
          <p:cNvSpPr txBox="1"/>
          <p:nvPr/>
        </p:nvSpPr>
        <p:spPr>
          <a:xfrm>
            <a:off x="365760" y="3981195"/>
            <a:ext cx="3196742" cy="219456"/>
          </a:xfrm>
          <a:prstGeom prst="rect">
            <a:avLst/>
          </a:prstGeom>
          <a:noFill/>
        </p:spPr>
        <p:txBody>
          <a:bodyPr wrap="square" lIns="45720" rIns="45720" tIns="27432" bIns="27432" anchor="t">
            <a:spAutoFit/>
          </a:bodyPr>
          <a:lstStyle/>
          <a:p>
            <a:r>
              <a:rPr sz="950" b="0" i="1">
                <a:solidFill>
                  <a:srgbClr val="5B6773"/>
                </a:solidFill>
                <a:latin typeface="Calibri"/>
              </a:rPr>
              <a:t>DictReader: a short row gives None</a:t>
            </a:r>
          </a:p>
        </p:txBody>
      </p:sp>
      <p:cxnSp>
        <p:nvCxnSpPr>
          <p:cNvPr id="11" name="arrow"/>
          <p:cNvCxnSpPr/>
          <p:nvPr/>
        </p:nvCxnSpPr>
        <p:spPr>
          <a:xfrm>
            <a:off x="3730752" y="3523996"/>
            <a:ext cx="504748"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12" name="table"/>
          <p:cNvGraphicFramePr>
            <a:graphicFrameLocks noGrp="1"/>
          </p:cNvGraphicFramePr>
          <p:nvPr/>
        </p:nvGraphicFramePr>
        <p:xfrm>
          <a:off x="4403750" y="3112515"/>
          <a:ext cx="2860243" cy="1097280"/>
        </p:xfrm>
        <a:graphic>
          <a:graphicData uri="http://schemas.openxmlformats.org/drawingml/2006/table">
            <a:tbl>
              <a:tblPr firstRow="0" bandRow="0"/>
              <a:tblGrid>
                <a:gridCol w="2860243"/>
              </a:tblGrid>
              <a:tr h="274320">
                <a:tc>
                  <a:txBody>
                    <a:bodyPr wrap="square"/>
                    <a:lstStyle/>
                    <a:p>
                      <a:r>
                        <a:rPr sz="1000" b="1" i="0">
                          <a:solidFill>
                            <a:srgbClr val="FFFFFF"/>
                          </a:solidFill>
                          <a:latin typeface="Calibri"/>
                        </a:rPr>
                        <a:t>file written by DictWriter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ourier New"/>
                        </a:rPr>
                        <a:t>Name,Age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Dave,5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00" b="0" i="0">
                          <a:solidFill>
                            <a:srgbClr val="1F2933"/>
                          </a:solidFill>
                          <a:latin typeface="Courier New"/>
                        </a:rPr>
                        <a:t>Eve,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bl>
          </a:graphicData>
        </a:graphic>
      </p:graphicFrame>
      <p:sp>
        <p:nvSpPr>
          <p:cNvPr id="13" name="visual note"/>
          <p:cNvSpPr txBox="1"/>
          <p:nvPr/>
        </p:nvSpPr>
        <p:spPr>
          <a:xfrm>
            <a:off x="4403750" y="4255515"/>
            <a:ext cx="4206240" cy="219456"/>
          </a:xfrm>
          <a:prstGeom prst="rect">
            <a:avLst/>
          </a:prstGeom>
          <a:noFill/>
        </p:spPr>
        <p:txBody>
          <a:bodyPr wrap="square" lIns="45720" rIns="45720" tIns="27432" bIns="27432" anchor="t">
            <a:spAutoFit/>
          </a:bodyPr>
          <a:lstStyle/>
          <a:p>
            <a:r>
              <a:rPr sz="950" b="0" i="1">
                <a:solidFill>
                  <a:srgbClr val="5B6773"/>
                </a:solidFill>
                <a:latin typeface="Calibri"/>
              </a:rPr>
              <a:t>DictWriter: a missing key gives an empty field</a:t>
            </a:r>
          </a:p>
        </p:txBody>
      </p:sp>
      <p:sp>
        <p:nvSpPr>
          <p:cNvPr id="1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header row becomes the keys.</a:t>
            </a:r>
          </a:p>
        </p:txBody>
      </p:sp>
      <p:sp>
        <p:nvSpPr>
          <p:cNvPr id="1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19 / 53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2400" b="1" i="0">
                <a:solidFill>
                  <a:srgbClr val="1F2933"/>
                </a:solidFill>
                <a:latin typeface="Calibri"/>
              </a:rPr>
              <a:t>Part 3: Project 13, remove the header row</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Loop through the files, read each one, write the new one</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Step 1</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Loop through every file of a folder.</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Step 2</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Read a file and skip its header row.</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Step 3</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Write the other rows to a new file.</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Similar programs</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Totals, merges and filters use the same plan.</a:t>
            </a:r>
          </a:p>
        </p:txBody>
      </p:sp>
      <p:graphicFrame>
        <p:nvGraphicFramePr>
          <p:cNvPr id="13" name="table"/>
          <p:cNvGraphicFramePr>
            <a:graphicFrameLocks noGrp="1"/>
          </p:cNvGraphicFramePr>
          <p:nvPr/>
        </p:nvGraphicFramePr>
        <p:xfrm>
          <a:off x="5303520" y="1417320"/>
          <a:ext cx="3474719" cy="219456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21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Project 13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22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Project 13, step 1: loop through each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23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Project 13, step 2: read the file, skip 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24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Project 13, step 3: write the new CSV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25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Ideas for similar programs: total a column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20 / 53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Project 13</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Project 13 is like a clerk who tears the heading strip off every register in a drawer.</a:t>
            </a:r>
          </a:p>
        </p:txBody>
      </p:sp>
      <p:graphicFrame>
        <p:nvGraphicFramePr>
          <p:cNvPr id="6" name="table"/>
          <p:cNvGraphicFramePr>
            <a:graphicFrameLocks noGrp="1"/>
          </p:cNvGraphicFramePr>
          <p:nvPr/>
        </p:nvGraphicFramePr>
        <p:xfrm>
          <a:off x="365760" y="1417320"/>
          <a:ext cx="8412480" cy="3108959"/>
        </p:xfrm>
        <a:graphic>
          <a:graphicData uri="http://schemas.openxmlformats.org/drawingml/2006/table">
            <a:tbl>
              <a:tblPr firstRow="0" bandRow="0"/>
              <a:tblGrid>
                <a:gridCol w="3108960"/>
                <a:gridCol w="5303520"/>
              </a:tblGrid>
              <a:tr h="444137">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44137">
                <a:tc>
                  <a:txBody>
                    <a:bodyPr wrap="square"/>
                    <a:lstStyle/>
                    <a:p>
                      <a:r>
                        <a:rPr sz="1100" b="1" i="0">
                          <a:solidFill>
                            <a:srgbClr val="1F2933"/>
                          </a:solidFill>
                          <a:latin typeface="Calibri"/>
                        </a:rPr>
                        <a:t>removeCsvHeader.py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clerk's routine: open each register, skip the strip, copy the rest.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Step 1: Loop Through Each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Going through the drawer and taking out only the registers.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44137">
                <a:tc>
                  <a:txBody>
                    <a:bodyPr wrap="square"/>
                    <a:lstStyle/>
                    <a:p>
                      <a:r>
                        <a:rPr sz="1100" b="1" i="0">
                          <a:solidFill>
                            <a:srgbClr val="1F2933"/>
                          </a:solidFill>
                          <a:latin typeface="Calibri"/>
                        </a:rPr>
                        <a:t>Step 2: Read the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Opening one register and passing over its heading strip.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Step 3: Write the New CSV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Copying the remaining lines into a clean register in another drawer.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44137">
                <a:tc>
                  <a:txBody>
                    <a:bodyPr wrap="square"/>
                    <a:lstStyle/>
                    <a:p>
                      <a:r>
                        <a:rPr sz="1100" b="1" i="0">
                          <a:solidFill>
                            <a:srgbClr val="1F2933"/>
                          </a:solidFill>
                          <a:latin typeface="Calibri"/>
                        </a:rPr>
                        <a:t>removeCsvHeader.zip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parcel with a hundred practice registers.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Ideas for Similar Programs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same clerk on other jobs: add up a column, merge registers, pick out some lines.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21 / 53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Project 13, step 1: loop through each file</a:t>
            </a:r>
          </a:p>
        </p:txBody>
      </p:sp>
      <p:sp>
        <p:nvSpPr>
          <p:cNvPr id="4" name="code"/>
          <p:cNvSpPr/>
          <p:nvPr/>
        </p:nvSpPr>
        <p:spPr>
          <a:xfrm>
            <a:off x="365760" y="786384"/>
            <a:ext cx="5369052"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tempfile</a:t>
            </a:r>
          </a:p>
          <a:p>
            <a:pPr algn="l"/>
            <a:r>
              <a:rPr sz="1100" b="0" i="0">
                <a:solidFill>
                  <a:srgbClr val="8FA3B8"/>
                </a:solidFill>
                <a:latin typeface="Courier New"/>
              </a:rPr>
              <a:t>&gt;&gt;&gt;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chdir</a:t>
            </a:r>
            <a:r>
              <a:rPr sz="1100" b="0" i="0">
                <a:solidFill>
                  <a:srgbClr val="E6EDF3"/>
                </a:solidFill>
                <a:latin typeface="Courier New"/>
              </a:rPr>
              <a:t>(</a:t>
            </a:r>
            <a:r>
              <a:rPr sz="1100" b="0" i="0">
                <a:solidFill>
                  <a:srgbClr val="E6EDF3"/>
                </a:solidFill>
                <a:latin typeface="Courier New"/>
              </a:rPr>
              <a:t>tempfile</a:t>
            </a:r>
            <a:r>
              <a:rPr sz="1100" b="0" i="0">
                <a:solidFill>
                  <a:srgbClr val="E6EDF3"/>
                </a:solidFill>
                <a:latin typeface="Courier New"/>
              </a:rPr>
              <a:t>.</a:t>
            </a:r>
            <a:r>
              <a:rPr sz="1100" b="0" i="0">
                <a:solidFill>
                  <a:srgbClr val="E6EDF3"/>
                </a:solidFill>
                <a:latin typeface="Courier New"/>
              </a:rPr>
              <a:t>mkdtemp</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names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'b.csv'</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'a.csv'</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'notes.txt'</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'C.CSV'</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name</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names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open</a:t>
            </a:r>
            <a:r>
              <a:rPr sz="1100" b="0" i="0">
                <a:solidFill>
                  <a:srgbClr val="E6EDF3"/>
                </a:solidFill>
                <a:latin typeface="Courier New"/>
              </a:rPr>
              <a:t>(</a:t>
            </a:r>
            <a:r>
              <a:rPr sz="1100" b="0" i="0">
                <a:solidFill>
                  <a:srgbClr val="E6EDF3"/>
                </a:solidFill>
                <a:latin typeface="Courier New"/>
              </a:rPr>
              <a:t>name</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'w'</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close</a:t>
            </a:r>
            <a:r>
              <a:rPr sz="1100" b="0" i="0">
                <a:solidFill>
                  <a:srgbClr val="E6EDF3"/>
                </a:solidFill>
                <a:latin typeface="Courier New"/>
              </a:rPr>
              <a:t>(</a:t>
            </a:r>
            <a:r>
              <a:rPr sz="1100" b="0" i="0">
                <a:solidFill>
                  <a:srgbClr val="E6EDF3"/>
                </a:solidFill>
                <a:latin typeface="Courier New"/>
              </a:rPr>
              <a:t>)</a:t>
            </a:r>
          </a:p>
        </p:txBody>
      </p:sp>
      <p:sp>
        <p:nvSpPr>
          <p:cNvPr id="5" name="explanation"/>
          <p:cNvSpPr txBox="1"/>
          <p:nvPr/>
        </p:nvSpPr>
        <p:spPr>
          <a:xfrm>
            <a:off x="5716524" y="786384"/>
            <a:ext cx="3061715" cy="890016"/>
          </a:xfrm>
          <a:prstGeom prst="rect">
            <a:avLst/>
          </a:prstGeom>
          <a:noFill/>
        </p:spPr>
        <p:txBody>
          <a:bodyPr wrap="square" lIns="128016" rIns="128016" tIns="18288" bIns="18288" anchor="ctr">
            <a:spAutoFit/>
          </a:bodyPr>
          <a:lstStyle/>
          <a:p>
            <a:r>
              <a:rPr sz="1200" b="0" i="0">
                <a:solidFill>
                  <a:srgbClr val="1F2933"/>
                </a:solidFill>
                <a:latin typeface="Calibri"/>
              </a:rPr>
              <a:t>Four empty files stand in for the removeCsvHeader folder. One is a text file; one has a capital extension.</a:t>
            </a:r>
          </a:p>
        </p:txBody>
      </p:sp>
      <p:sp>
        <p:nvSpPr>
          <p:cNvPr id="6" name="code"/>
          <p:cNvSpPr/>
          <p:nvPr/>
        </p:nvSpPr>
        <p:spPr>
          <a:xfrm>
            <a:off x="365760" y="1722120"/>
            <a:ext cx="5369052"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csv_filename</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sorted</a:t>
            </a:r>
            <a:r>
              <a:rPr sz="1100" b="0" i="0">
                <a:solidFill>
                  <a:srgbClr val="E6EDF3"/>
                </a:solidFill>
                <a:latin typeface="Courier New"/>
              </a:rPr>
              <a:t>(</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listdir</a:t>
            </a:r>
            <a:r>
              <a:rPr sz="1100" b="0" i="0">
                <a:solidFill>
                  <a:srgbClr val="E6EDF3"/>
                </a:solidFill>
                <a:latin typeface="Courier New"/>
              </a:rPr>
              <a:t>(</a:t>
            </a:r>
            <a:r>
              <a:rPr sz="1100" b="0" i="0">
                <a:solidFill>
                  <a:srgbClr val="9BE3A8"/>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if</a:t>
            </a:r>
            <a:r>
              <a:rPr sz="1100" b="0" i="0">
                <a:solidFill>
                  <a:srgbClr val="E6EDF3"/>
                </a:solidFill>
                <a:latin typeface="Courier New"/>
              </a:rPr>
              <a:t> </a:t>
            </a:r>
            <a:r>
              <a:rPr sz="1100" b="0" i="0">
                <a:solidFill>
                  <a:srgbClr val="C9A0FF"/>
                </a:solidFill>
                <a:latin typeface="Courier New"/>
              </a:rPr>
              <a:t>not</a:t>
            </a:r>
            <a:r>
              <a:rPr sz="1100" b="0" i="0">
                <a:solidFill>
                  <a:srgbClr val="E6EDF3"/>
                </a:solidFill>
                <a:latin typeface="Courier New"/>
              </a:rPr>
              <a:t> </a:t>
            </a:r>
            <a:r>
              <a:rPr sz="1100" b="0" i="0">
                <a:solidFill>
                  <a:srgbClr val="E6EDF3"/>
                </a:solidFill>
                <a:latin typeface="Courier New"/>
              </a:rPr>
              <a:t>csv_filename</a:t>
            </a:r>
            <a:r>
              <a:rPr sz="1100" b="0" i="0">
                <a:solidFill>
                  <a:srgbClr val="E6EDF3"/>
                </a:solidFill>
                <a:latin typeface="Courier New"/>
              </a:rPr>
              <a:t>.</a:t>
            </a:r>
            <a:r>
              <a:rPr sz="1100" b="0" i="0">
                <a:solidFill>
                  <a:srgbClr val="E6EDF3"/>
                </a:solidFill>
                <a:latin typeface="Courier New"/>
              </a:rPr>
              <a:t>endswith</a:t>
            </a:r>
            <a:r>
              <a:rPr sz="1100" b="0" i="0">
                <a:solidFill>
                  <a:srgbClr val="E6EDF3"/>
                </a:solidFill>
                <a:latin typeface="Courier New"/>
              </a:rPr>
              <a:t>(</a:t>
            </a:r>
            <a:r>
              <a:rPr sz="1100" b="0" i="0">
                <a:solidFill>
                  <a:srgbClr val="9BE3A8"/>
                </a:solidFill>
                <a:latin typeface="Courier New"/>
              </a:rPr>
              <a:t>'.csv'</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continue</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'Removing header from '</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csv_filename</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a:t>
            </a:r>
            <a:r>
              <a:rPr sz="1100" b="0" i="0">
                <a:solidFill>
                  <a:srgbClr val="E6EDF3"/>
                </a:solidFill>
                <a:latin typeface="Courier New"/>
              </a:rPr>
              <a:t>)</a:t>
            </a:r>
          </a:p>
        </p:txBody>
      </p:sp>
      <p:sp>
        <p:nvSpPr>
          <p:cNvPr id="7" name="explanation"/>
          <p:cNvSpPr txBox="1"/>
          <p:nvPr/>
        </p:nvSpPr>
        <p:spPr>
          <a:xfrm>
            <a:off x="5716524" y="1722120"/>
            <a:ext cx="3061715" cy="890016"/>
          </a:xfrm>
          <a:prstGeom prst="rect">
            <a:avLst/>
          </a:prstGeom>
          <a:noFill/>
        </p:spPr>
        <p:txBody>
          <a:bodyPr wrap="square" lIns="128016" rIns="128016" tIns="18288" bIns="18288" anchor="ctr">
            <a:spAutoFit/>
          </a:bodyPr>
          <a:lstStyle/>
          <a:p>
            <a:r>
              <a:rPr sz="1200" b="0" i="0">
                <a:solidFill>
                  <a:srgbClr val="1F2933"/>
                </a:solidFill>
                <a:latin typeface="Calibri"/>
              </a:rPr>
              <a:t>Loop over the sorted names and skip what does not end in .csv. The test is case-sensitive: C.CSV is skipped.</a:t>
            </a:r>
          </a:p>
        </p:txBody>
      </p:sp>
      <p:sp>
        <p:nvSpPr>
          <p:cNvPr id="8" name="result label"/>
          <p:cNvSpPr txBox="1"/>
          <p:nvPr/>
        </p:nvSpPr>
        <p:spPr>
          <a:xfrm>
            <a:off x="365760" y="2667000"/>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2913888"/>
            <a:ext cx="1371600" cy="237744"/>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b.csv</a:t>
            </a:r>
          </a:p>
        </p:txBody>
      </p:sp>
      <p:sp>
        <p:nvSpPr>
          <p:cNvPr id="10" name="Rounded Rectangle 9"/>
          <p:cNvSpPr/>
          <p:nvPr/>
        </p:nvSpPr>
        <p:spPr>
          <a:xfrm>
            <a:off x="365760" y="3188208"/>
            <a:ext cx="1371600" cy="237744"/>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a.csv</a:t>
            </a:r>
          </a:p>
        </p:txBody>
      </p:sp>
      <p:sp>
        <p:nvSpPr>
          <p:cNvPr id="11" name="Rounded Rectangle 10"/>
          <p:cNvSpPr/>
          <p:nvPr/>
        </p:nvSpPr>
        <p:spPr>
          <a:xfrm>
            <a:off x="365760" y="3462528"/>
            <a:ext cx="1371600" cy="237744"/>
          </a:xfrm>
          <a:prstGeom prst="roundRect">
            <a:avLst>
              <a:gd name="adj" fmla="val 12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notes.txt</a:t>
            </a:r>
          </a:p>
        </p:txBody>
      </p:sp>
      <p:sp>
        <p:nvSpPr>
          <p:cNvPr id="12" name="Rounded Rectangle 11"/>
          <p:cNvSpPr/>
          <p:nvPr/>
        </p:nvSpPr>
        <p:spPr>
          <a:xfrm>
            <a:off x="365760" y="3736848"/>
            <a:ext cx="1371600" cy="237744"/>
          </a:xfrm>
          <a:prstGeom prst="roundRect">
            <a:avLst>
              <a:gd name="adj" fmla="val 12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C.CSV</a:t>
            </a:r>
          </a:p>
        </p:txBody>
      </p:sp>
      <p:cxnSp>
        <p:nvCxnSpPr>
          <p:cNvPr id="13" name="arrow"/>
          <p:cNvCxnSpPr/>
          <p:nvPr/>
        </p:nvCxnSpPr>
        <p:spPr>
          <a:xfrm>
            <a:off x="1828800" y="3462528"/>
            <a:ext cx="54864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468879" y="3188208"/>
            <a:ext cx="2651760" cy="54864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sorted(os.listdir('.')) and</a:t>
            </a:r>
          </a:p>
          <a:p>
            <a:pPr algn="ctr"/>
            <a:r>
              <a:rPr sz="950" b="0" i="0">
                <a:solidFill>
                  <a:srgbClr val="1F2933"/>
                </a:solidFill>
                <a:latin typeface="Calibri"/>
              </a:rPr>
              <a:t>endswith('.csv') keep 2 of 4 names</a:t>
            </a:r>
          </a:p>
        </p:txBody>
      </p:sp>
      <p:cxnSp>
        <p:nvCxnSpPr>
          <p:cNvPr id="15" name="arrow"/>
          <p:cNvCxnSpPr/>
          <p:nvPr/>
        </p:nvCxnSpPr>
        <p:spPr>
          <a:xfrm>
            <a:off x="5212080" y="3462528"/>
            <a:ext cx="45720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760720" y="3188208"/>
            <a:ext cx="3017520" cy="54864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printed, in order:</a:t>
            </a:r>
          </a:p>
          <a:p>
            <a:pPr algn="ctr"/>
            <a:r>
              <a:rPr sz="950" b="0" i="0">
                <a:solidFill>
                  <a:srgbClr val="1F2933"/>
                </a:solidFill>
                <a:latin typeface="Courier New"/>
              </a:rPr>
              <a:t>a.csv, b.csv</a:t>
            </a:r>
          </a:p>
        </p:txBody>
      </p:sp>
      <p:sp>
        <p:nvSpPr>
          <p:cNvPr id="17" name="visual note"/>
          <p:cNvSpPr txBox="1"/>
          <p:nvPr/>
        </p:nvSpPr>
        <p:spPr>
          <a:xfrm>
            <a:off x="2468879" y="3800856"/>
            <a:ext cx="6309360" cy="329184"/>
          </a:xfrm>
          <a:prstGeom prst="rect">
            <a:avLst/>
          </a:prstGeom>
          <a:noFill/>
        </p:spPr>
        <p:txBody>
          <a:bodyPr wrap="square" lIns="45720" rIns="45720" tIns="27432" bIns="27432" anchor="t">
            <a:spAutoFit/>
          </a:bodyPr>
          <a:lstStyle/>
          <a:p>
            <a:r>
              <a:rPr sz="950" b="0" i="1">
                <a:solidFill>
                  <a:srgbClr val="5B6773"/>
                </a:solidFill>
                <a:latin typeface="Calibri"/>
              </a:rPr>
              <a:t>green: the program works on it; grey: skipped (a text file, and C.CSV: the test is case-sensitive)</a:t>
            </a:r>
          </a:p>
        </p:txBody>
      </p:sp>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Sort the names and test the extension.</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22 / 53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Project 13, step 2: read the file, skip the first row</a:t>
            </a:r>
          </a:p>
        </p:txBody>
      </p:sp>
      <p:sp>
        <p:nvSpPr>
          <p:cNvPr id="4" name="code"/>
          <p:cNvSpPr/>
          <p:nvPr/>
        </p:nvSpPr>
        <p:spPr>
          <a:xfrm>
            <a:off x="365760" y="786384"/>
            <a:ext cx="555955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import</a:t>
            </a:r>
            <a:r>
              <a:rPr sz="1200" b="0" i="0">
                <a:solidFill>
                  <a:srgbClr val="E6EDF3"/>
                </a:solidFill>
                <a:latin typeface="Courier New"/>
              </a:rPr>
              <a:t> </a:t>
            </a:r>
            <a:r>
              <a:rPr sz="1200" b="0" i="0">
                <a:solidFill>
                  <a:srgbClr val="E6EDF3"/>
                </a:solidFill>
                <a:latin typeface="Courier New"/>
              </a:rPr>
              <a:t>csv</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io</a:t>
            </a:r>
          </a:p>
          <a:p>
            <a:pPr algn="l"/>
            <a:r>
              <a:rPr sz="1200" b="0" i="0">
                <a:solidFill>
                  <a:srgbClr val="8FA3B8"/>
                </a:solidFill>
                <a:latin typeface="Courier New"/>
              </a:rPr>
              <a:t>&gt;&gt;&gt; </a:t>
            </a:r>
            <a:r>
              <a:rPr sz="1200" b="0" i="0">
                <a:solidFill>
                  <a:srgbClr val="C9A0FF"/>
                </a:solidFill>
                <a:latin typeface="Courier New"/>
              </a:rPr>
              <a:t>for</a:t>
            </a:r>
            <a:r>
              <a:rPr sz="1200" b="0" i="0">
                <a:solidFill>
                  <a:srgbClr val="E6EDF3"/>
                </a:solidFill>
                <a:latin typeface="Courier New"/>
              </a:rPr>
              <a:t> </a:t>
            </a:r>
            <a:r>
              <a:rPr sz="1200" b="0" i="0">
                <a:solidFill>
                  <a:srgbClr val="E6EDF3"/>
                </a:solidFill>
                <a:latin typeface="Courier New"/>
              </a:rPr>
              <a:t>text</a:t>
            </a:r>
            <a:r>
              <a:rPr sz="1200" b="0" i="0">
                <a:solidFill>
                  <a:srgbClr val="E6EDF3"/>
                </a:solidFill>
                <a:latin typeface="Courier New"/>
              </a:rPr>
              <a:t> </a:t>
            </a:r>
            <a:r>
              <a:rPr sz="1200" b="0" i="0">
                <a:solidFill>
                  <a:srgbClr val="C9A0FF"/>
                </a:solidFill>
                <a:latin typeface="Courier New"/>
              </a:rPr>
              <a:t>in</a:t>
            </a:r>
            <a:r>
              <a:rPr sz="1200" b="0" i="0">
                <a:solidFill>
                  <a:srgbClr val="E6EDF3"/>
                </a:solidFill>
                <a:latin typeface="Courier New"/>
              </a:rPr>
              <a:t> </a:t>
            </a:r>
            <a:r>
              <a:rPr sz="1200" b="0" i="0">
                <a:solidFill>
                  <a:srgbClr val="E6EDF3"/>
                </a:solidFill>
                <a:latin typeface="Courier New"/>
              </a:rPr>
              <a:t>(</a:t>
            </a:r>
            <a:r>
              <a:rPr sz="1200" b="0" i="0">
                <a:solidFill>
                  <a:srgbClr val="9BE3A8"/>
                </a:solidFill>
                <a:latin typeface="Courier New"/>
              </a:rPr>
              <a:t>'Name,Age\r\nAlice,30\r\n'</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E6EDF3"/>
                </a:solidFill>
                <a:latin typeface="Courier New"/>
              </a:rPr>
              <a:t>reader</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csv</a:t>
            </a:r>
            <a:r>
              <a:rPr sz="1200" b="0" i="0">
                <a:solidFill>
                  <a:srgbClr val="E6EDF3"/>
                </a:solidFill>
                <a:latin typeface="Courier New"/>
              </a:rPr>
              <a:t>.</a:t>
            </a:r>
            <a:r>
              <a:rPr sz="1200" b="0" i="0">
                <a:solidFill>
                  <a:srgbClr val="E6EDF3"/>
                </a:solidFill>
                <a:latin typeface="Courier New"/>
              </a:rPr>
              <a:t>reader</a:t>
            </a:r>
            <a:r>
              <a:rPr sz="1200" b="0" i="0">
                <a:solidFill>
                  <a:srgbClr val="E6EDF3"/>
                </a:solidFill>
                <a:latin typeface="Courier New"/>
              </a:rPr>
              <a:t>(</a:t>
            </a:r>
            <a:r>
              <a:rPr sz="1200" b="0" i="0">
                <a:solidFill>
                  <a:srgbClr val="E6EDF3"/>
                </a:solidFill>
                <a:latin typeface="Courier New"/>
              </a:rPr>
              <a:t>io</a:t>
            </a:r>
            <a:r>
              <a:rPr sz="1200" b="0" i="0">
                <a:solidFill>
                  <a:srgbClr val="E6EDF3"/>
                </a:solidFill>
                <a:latin typeface="Courier New"/>
              </a:rPr>
              <a:t>.</a:t>
            </a:r>
            <a:r>
              <a:rPr sz="1200" b="0" i="0">
                <a:solidFill>
                  <a:srgbClr val="E6EDF3"/>
                </a:solidFill>
                <a:latin typeface="Courier New"/>
              </a:rPr>
              <a:t>StringIO</a:t>
            </a:r>
            <a:r>
              <a:rPr sz="1200" b="0" i="0">
                <a:solidFill>
                  <a:srgbClr val="E6EDF3"/>
                </a:solidFill>
                <a:latin typeface="Courier New"/>
              </a:rPr>
              <a:t>(</a:t>
            </a:r>
            <a:r>
              <a:rPr sz="1200" b="0" i="0">
                <a:solidFill>
                  <a:srgbClr val="E6EDF3"/>
                </a:solidFill>
                <a:latin typeface="Courier New"/>
              </a:rPr>
              <a:t>text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newline</a:t>
            </a:r>
            <a:r>
              <a:rPr sz="1200" b="0" i="0">
                <a:solidFill>
                  <a:srgbClr val="E6EDF3"/>
                </a:solidFill>
                <a:latin typeface="Courier New"/>
              </a:rPr>
              <a:t>=</a:t>
            </a:r>
            <a:r>
              <a:rPr sz="1200" b="0" i="0">
                <a:solidFill>
                  <a:srgbClr val="9BE3A8"/>
                </a:solidFill>
                <a:latin typeface="Courier New"/>
              </a:rPr>
              <a:t>''</a:t>
            </a:r>
            <a:r>
              <a:rPr sz="1200" b="0" i="0">
                <a:solidFill>
                  <a:srgbClr val="E6EDF3"/>
                </a:solidFill>
                <a:latin typeface="Courier New"/>
              </a:rPr>
              <a:t>)</a:t>
            </a:r>
            <a:r>
              <a:rPr sz="1200" b="0" i="0">
                <a:solidFill>
                  <a:srgbClr val="E6EDF3"/>
                </a:solidFill>
                <a:latin typeface="Courier New"/>
              </a:rPr>
              <a:t>)</a:t>
            </a:r>
          </a:p>
        </p:txBody>
      </p:sp>
      <p:sp>
        <p:nvSpPr>
          <p:cNvPr id="5" name="explanation"/>
          <p:cNvSpPr txBox="1"/>
          <p:nvPr/>
        </p:nvSpPr>
        <p:spPr>
          <a:xfrm>
            <a:off x="5907024" y="786384"/>
            <a:ext cx="2871216" cy="723328"/>
          </a:xfrm>
          <a:prstGeom prst="rect">
            <a:avLst/>
          </a:prstGeom>
          <a:noFill/>
        </p:spPr>
        <p:txBody>
          <a:bodyPr wrap="square" lIns="128016" rIns="128016" tIns="18288" bIns="18288" anchor="ctr">
            <a:spAutoFit/>
          </a:bodyPr>
          <a:lstStyle/>
          <a:p>
            <a:r>
              <a:rPr sz="1250" b="0" i="0">
                <a:solidFill>
                  <a:srgbClr val="1F2933"/>
                </a:solidFill>
                <a:latin typeface="Calibri"/>
              </a:rPr>
              <a:t>Two texts: a file with a header and a row, and an empty file.</a:t>
            </a:r>
          </a:p>
        </p:txBody>
      </p:sp>
      <p:sp>
        <p:nvSpPr>
          <p:cNvPr id="6" name="code"/>
          <p:cNvSpPr/>
          <p:nvPr/>
        </p:nvSpPr>
        <p:spPr>
          <a:xfrm>
            <a:off x="365760" y="1555432"/>
            <a:ext cx="5559551" cy="92176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print</a:t>
            </a:r>
            <a:r>
              <a:rPr sz="1200" b="0" i="0">
                <a:solidFill>
                  <a:srgbClr val="E6EDF3"/>
                </a:solidFill>
                <a:latin typeface="Courier New"/>
              </a:rPr>
              <a:t>(</a:t>
            </a:r>
            <a:r>
              <a:rPr sz="1200" b="0" i="0">
                <a:solidFill>
                  <a:srgbClr val="C9A0FF"/>
                </a:solidFill>
                <a:latin typeface="Courier New"/>
              </a:rPr>
              <a:t>next</a:t>
            </a:r>
            <a:r>
              <a:rPr sz="1200" b="0" i="0">
                <a:solidFill>
                  <a:srgbClr val="E6EDF3"/>
                </a:solidFill>
                <a:latin typeface="Courier New"/>
              </a:rPr>
              <a:t>(</a:t>
            </a:r>
            <a:r>
              <a:rPr sz="1200" b="0" i="0">
                <a:solidFill>
                  <a:srgbClr val="E6EDF3"/>
                </a:solidFill>
                <a:latin typeface="Courier New"/>
              </a:rPr>
              <a:t>reader</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None</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'-&gt;'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list</a:t>
            </a:r>
            <a:r>
              <a:rPr sz="1200" b="0" i="0">
                <a:solidFill>
                  <a:srgbClr val="E6EDF3"/>
                </a:solidFill>
                <a:latin typeface="Courier New"/>
              </a:rPr>
              <a:t>(</a:t>
            </a:r>
            <a:r>
              <a:rPr sz="1200" b="0" i="0">
                <a:solidFill>
                  <a:srgbClr val="E6EDF3"/>
                </a:solidFill>
                <a:latin typeface="Courier New"/>
              </a:rPr>
              <a:t>reader</a:t>
            </a:r>
            <a:r>
              <a:rPr sz="1200" b="0" i="0">
                <a:solidFill>
                  <a:srgbClr val="E6EDF3"/>
                </a:solidFill>
                <a:latin typeface="Courier New"/>
              </a:rPr>
              <a:t>)</a:t>
            </a:r>
            <a:r>
              <a:rPr sz="1200" b="0" i="0">
                <a:solidFill>
                  <a:srgbClr val="E6EDF3"/>
                </a:solidFill>
                <a:latin typeface="Courier New"/>
              </a:rPr>
              <a:t>)</a:t>
            </a:r>
          </a:p>
        </p:txBody>
      </p:sp>
      <p:sp>
        <p:nvSpPr>
          <p:cNvPr id="7" name="explanation"/>
          <p:cNvSpPr txBox="1"/>
          <p:nvPr/>
        </p:nvSpPr>
        <p:spPr>
          <a:xfrm>
            <a:off x="5907024" y="1555432"/>
            <a:ext cx="2871216" cy="921765"/>
          </a:xfrm>
          <a:prstGeom prst="rect">
            <a:avLst/>
          </a:prstGeom>
          <a:noFill/>
        </p:spPr>
        <p:txBody>
          <a:bodyPr wrap="square" lIns="128016" rIns="128016" tIns="18288" bIns="18288" anchor="ctr">
            <a:spAutoFit/>
          </a:bodyPr>
          <a:lstStyle/>
          <a:p>
            <a:r>
              <a:rPr sz="1250" b="0" i="0">
                <a:solidFill>
                  <a:srgbClr val="1F2933"/>
                </a:solidFill>
                <a:latin typeface="Calibri"/>
              </a:rPr>
              <a:t>next(reader, None) skips the header, and on an empty file it returns None instead of raising StopIteration.</a:t>
            </a:r>
          </a:p>
        </p:txBody>
      </p:sp>
      <p:sp>
        <p:nvSpPr>
          <p:cNvPr id="8" name="result label"/>
          <p:cNvSpPr txBox="1"/>
          <p:nvPr/>
        </p:nvSpPr>
        <p:spPr>
          <a:xfrm>
            <a:off x="365760" y="2532062"/>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2778950"/>
            <a:ext cx="2011680" cy="45720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a file: a header and</a:t>
            </a:r>
          </a:p>
          <a:p>
            <a:pPr algn="ctr"/>
            <a:r>
              <a:rPr sz="950" b="0" i="0">
                <a:solidFill>
                  <a:srgbClr val="1F2933"/>
                </a:solidFill>
                <a:latin typeface="Calibri"/>
              </a:rPr>
              <a:t>one row</a:t>
            </a:r>
          </a:p>
        </p:txBody>
      </p:sp>
      <p:cxnSp>
        <p:nvCxnSpPr>
          <p:cNvPr id="10" name="arrow"/>
          <p:cNvCxnSpPr/>
          <p:nvPr/>
        </p:nvCxnSpPr>
        <p:spPr>
          <a:xfrm>
            <a:off x="2423160" y="3007550"/>
            <a:ext cx="36576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834640" y="2778950"/>
            <a:ext cx="2194560" cy="45720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next(reader, None)</a:t>
            </a:r>
          </a:p>
          <a:p>
            <a:pPr algn="ctr"/>
            <a:r>
              <a:rPr sz="950" b="0" i="0">
                <a:solidFill>
                  <a:srgbClr val="1F2933"/>
                </a:solidFill>
                <a:latin typeface="Courier New"/>
              </a:rPr>
              <a:t>-&gt; ['Name', 'Age']</a:t>
            </a:r>
          </a:p>
        </p:txBody>
      </p:sp>
      <p:cxnSp>
        <p:nvCxnSpPr>
          <p:cNvPr id="12" name="arrow"/>
          <p:cNvCxnSpPr/>
          <p:nvPr/>
        </p:nvCxnSpPr>
        <p:spPr>
          <a:xfrm>
            <a:off x="5074920" y="3007550"/>
            <a:ext cx="36576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486400" y="2778950"/>
            <a:ext cx="3291840" cy="45720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list(reader)</a:t>
            </a:r>
          </a:p>
          <a:p>
            <a:pPr algn="ctr"/>
            <a:r>
              <a:rPr sz="950" b="0" i="0">
                <a:solidFill>
                  <a:srgbClr val="1F2933"/>
                </a:solidFill>
                <a:latin typeface="Courier New"/>
              </a:rPr>
              <a:t>-&gt; [['Alice', '30']]</a:t>
            </a:r>
          </a:p>
        </p:txBody>
      </p:sp>
      <p:sp>
        <p:nvSpPr>
          <p:cNvPr id="14" name="Rounded Rectangle 13"/>
          <p:cNvSpPr/>
          <p:nvPr/>
        </p:nvSpPr>
        <p:spPr>
          <a:xfrm>
            <a:off x="365760" y="3345878"/>
            <a:ext cx="2011680" cy="45720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an empty file</a:t>
            </a:r>
          </a:p>
        </p:txBody>
      </p:sp>
      <p:cxnSp>
        <p:nvCxnSpPr>
          <p:cNvPr id="15" name="arrow"/>
          <p:cNvCxnSpPr/>
          <p:nvPr/>
        </p:nvCxnSpPr>
        <p:spPr>
          <a:xfrm>
            <a:off x="2423160" y="3574478"/>
            <a:ext cx="36576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834640" y="3345878"/>
            <a:ext cx="2194560" cy="45720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next(reader, None)</a:t>
            </a:r>
          </a:p>
          <a:p>
            <a:pPr algn="ctr"/>
            <a:r>
              <a:rPr sz="950" b="0" i="0">
                <a:solidFill>
                  <a:srgbClr val="1F2933"/>
                </a:solidFill>
                <a:latin typeface="Courier New"/>
              </a:rPr>
              <a:t>-&gt; None</a:t>
            </a:r>
          </a:p>
        </p:txBody>
      </p:sp>
      <p:cxnSp>
        <p:nvCxnSpPr>
          <p:cNvPr id="17" name="arrow"/>
          <p:cNvCxnSpPr/>
          <p:nvPr/>
        </p:nvCxnSpPr>
        <p:spPr>
          <a:xfrm>
            <a:off x="5074920" y="3574478"/>
            <a:ext cx="36576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486400" y="3345878"/>
            <a:ext cx="3291840" cy="45720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list(reader)</a:t>
            </a:r>
          </a:p>
          <a:p>
            <a:pPr algn="ctr"/>
            <a:r>
              <a:rPr sz="950" b="0" i="0">
                <a:solidFill>
                  <a:srgbClr val="1F2933"/>
                </a:solidFill>
                <a:latin typeface="Courier New"/>
              </a:rPr>
              <a:t>-&gt; []</a:t>
            </a:r>
          </a:p>
        </p:txBody>
      </p:sp>
      <p:sp>
        <p:nvSpPr>
          <p:cNvPr id="19" name="visual note"/>
          <p:cNvSpPr txBox="1"/>
          <p:nvPr/>
        </p:nvSpPr>
        <p:spPr>
          <a:xfrm>
            <a:off x="365760" y="3940238"/>
            <a:ext cx="8412480" cy="201168"/>
          </a:xfrm>
          <a:prstGeom prst="rect">
            <a:avLst/>
          </a:prstGeom>
          <a:noFill/>
        </p:spPr>
        <p:txBody>
          <a:bodyPr wrap="square" lIns="45720" rIns="45720" tIns="27432" bIns="27432" anchor="t">
            <a:spAutoFit/>
          </a:bodyPr>
          <a:lstStyle/>
          <a:p>
            <a:r>
              <a:rPr sz="950" b="0" i="1">
                <a:solidFill>
                  <a:srgbClr val="5B6773"/>
                </a:solidFill>
                <a:latin typeface="Calibri"/>
              </a:rPr>
              <a:t>None instead of an error on the empty file: the loop simply has nothing to do</a:t>
            </a:r>
          </a:p>
        </p:txBody>
      </p:sp>
      <p:sp>
        <p:nvSpPr>
          <p:cNvPr id="2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next(reader, None) is safe on an empty file.</a:t>
            </a:r>
          </a:p>
        </p:txBody>
      </p:sp>
      <p:sp>
        <p:nvSpPr>
          <p:cNvPr id="2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23 / 53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Project 13, step 3: write the new CSV file</a:t>
            </a:r>
          </a:p>
        </p:txBody>
      </p:sp>
      <p:sp>
        <p:nvSpPr>
          <p:cNvPr id="4" name="code"/>
          <p:cNvSpPr/>
          <p:nvPr/>
        </p:nvSpPr>
        <p:spPr>
          <a:xfrm>
            <a:off x="365760" y="786384"/>
            <a:ext cx="4751832" cy="7569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csv</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tempfile</a:t>
            </a:r>
          </a:p>
          <a:p>
            <a:pPr algn="l"/>
            <a:r>
              <a:rPr sz="1000" b="0" i="0">
                <a:solidFill>
                  <a:srgbClr val="8FA3B8"/>
                </a:solidFill>
                <a:latin typeface="Courier New"/>
              </a:rPr>
              <a:t>&gt;&gt;&gt;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chdir</a:t>
            </a:r>
            <a:r>
              <a:rPr sz="1000" b="0" i="0">
                <a:solidFill>
                  <a:srgbClr val="E6EDF3"/>
                </a:solidFill>
                <a:latin typeface="Courier New"/>
              </a:rPr>
              <a:t>(</a:t>
            </a:r>
            <a:r>
              <a:rPr sz="1000" b="0" i="0">
                <a:solidFill>
                  <a:srgbClr val="E6EDF3"/>
                </a:solidFill>
                <a:latin typeface="Courier New"/>
              </a:rPr>
              <a:t>tempfile</a:t>
            </a:r>
            <a:r>
              <a:rPr sz="1000" b="0" i="0">
                <a:solidFill>
                  <a:srgbClr val="E6EDF3"/>
                </a:solidFill>
                <a:latin typeface="Courier New"/>
              </a:rPr>
              <a:t>.</a:t>
            </a:r>
            <a:r>
              <a:rPr sz="1000" b="0" i="0">
                <a:solidFill>
                  <a:srgbClr val="E6EDF3"/>
                </a:solidFill>
                <a:latin typeface="Courier New"/>
              </a:rPr>
              <a:t>mkdtemp</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src</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'f1.csv'</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'h1,h2\r\n1,a\r\n2,b\r\n'</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9BE3A8"/>
                </a:solidFill>
                <a:latin typeface="Courier New"/>
              </a:rPr>
              <a:t>'f2.csv'</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'h1,h2\r\n3,c\r\n'</a:t>
            </a:r>
            <a:r>
              <a:rPr sz="1000" b="0" i="0">
                <a:solidFill>
                  <a:srgbClr val="E6EDF3"/>
                </a:solidFill>
                <a:latin typeface="Courier New"/>
              </a:rPr>
              <a:t>}</a:t>
            </a:r>
          </a:p>
        </p:txBody>
      </p:sp>
      <p:sp>
        <p:nvSpPr>
          <p:cNvPr id="5" name="explanation"/>
          <p:cNvSpPr txBox="1"/>
          <p:nvPr/>
        </p:nvSpPr>
        <p:spPr>
          <a:xfrm>
            <a:off x="5099304" y="786384"/>
            <a:ext cx="3678935" cy="756920"/>
          </a:xfrm>
          <a:prstGeom prst="rect">
            <a:avLst/>
          </a:prstGeom>
          <a:noFill/>
        </p:spPr>
        <p:txBody>
          <a:bodyPr wrap="square" lIns="128016" rIns="128016" tIns="18288" bIns="18288" anchor="ctr">
            <a:spAutoFit/>
          </a:bodyPr>
          <a:lstStyle/>
          <a:p>
            <a:r>
              <a:rPr sz="1100" b="0" i="0">
                <a:solidFill>
                  <a:srgbClr val="1F2933"/>
                </a:solidFill>
                <a:latin typeface="Calibri"/>
              </a:rPr>
              <a:t>Two small files stand in for the folder of the project: each has a header row and some data rows.</a:t>
            </a:r>
          </a:p>
        </p:txBody>
      </p:sp>
      <p:sp>
        <p:nvSpPr>
          <p:cNvPr id="6" name="code"/>
          <p:cNvSpPr/>
          <p:nvPr/>
        </p:nvSpPr>
        <p:spPr>
          <a:xfrm>
            <a:off x="365760" y="1589023"/>
            <a:ext cx="4751832" cy="7569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name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text</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src</a:t>
            </a:r>
            <a:r>
              <a:rPr sz="1000" b="0" i="0">
                <a:solidFill>
                  <a:srgbClr val="E6EDF3"/>
                </a:solidFill>
                <a:latin typeface="Courier New"/>
              </a:rPr>
              <a:t>.</a:t>
            </a:r>
            <a:r>
              <a:rPr sz="1000" b="0" i="0">
                <a:solidFill>
                  <a:srgbClr val="E6EDF3"/>
                </a:solidFill>
                <a:latin typeface="Courier New"/>
              </a:rPr>
              <a:t>items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reader</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csv</a:t>
            </a:r>
            <a:r>
              <a:rPr sz="1000" b="0" i="0">
                <a:solidFill>
                  <a:srgbClr val="E6EDF3"/>
                </a:solidFill>
                <a:latin typeface="Courier New"/>
              </a:rPr>
              <a:t>.</a:t>
            </a:r>
            <a:r>
              <a:rPr sz="1000" b="0" i="0">
                <a:solidFill>
                  <a:srgbClr val="E6EDF3"/>
                </a:solidFill>
                <a:latin typeface="Courier New"/>
              </a:rPr>
              <a:t>reader</a:t>
            </a:r>
            <a:r>
              <a:rPr sz="1000" b="0" i="0">
                <a:solidFill>
                  <a:srgbClr val="E6EDF3"/>
                </a:solidFill>
                <a:latin typeface="Courier New"/>
              </a:rPr>
              <a:t>(</a:t>
            </a:r>
            <a:r>
              <a:rPr sz="1000" b="0" i="0">
                <a:solidFill>
                  <a:srgbClr val="E6EDF3"/>
                </a:solidFill>
                <a:latin typeface="Courier New"/>
              </a:rPr>
              <a:t>text</a:t>
            </a:r>
            <a:r>
              <a:rPr sz="1000" b="0" i="0">
                <a:solidFill>
                  <a:srgbClr val="E6EDF3"/>
                </a:solidFill>
                <a:latin typeface="Courier New"/>
              </a:rPr>
              <a:t>.</a:t>
            </a:r>
            <a:r>
              <a:rPr sz="1000" b="0" i="0">
                <a:solidFill>
                  <a:srgbClr val="E6EDF3"/>
                </a:solidFill>
                <a:latin typeface="Courier New"/>
              </a:rPr>
              <a:t>splitlines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next</a:t>
            </a:r>
            <a:r>
              <a:rPr sz="1000" b="0" i="0">
                <a:solidFill>
                  <a:srgbClr val="E6EDF3"/>
                </a:solidFill>
                <a:latin typeface="Courier New"/>
              </a:rPr>
              <a:t>(</a:t>
            </a:r>
            <a:r>
              <a:rPr sz="1000" b="0" i="0">
                <a:solidFill>
                  <a:srgbClr val="E6EDF3"/>
                </a:solidFill>
                <a:latin typeface="Courier New"/>
              </a:rPr>
              <a:t>reader</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None</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rows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list</a:t>
            </a:r>
            <a:r>
              <a:rPr sz="1000" b="0" i="0">
                <a:solidFill>
                  <a:srgbClr val="E6EDF3"/>
                </a:solidFill>
                <a:latin typeface="Courier New"/>
              </a:rPr>
              <a:t>(</a:t>
            </a:r>
            <a:r>
              <a:rPr sz="1000" b="0" i="0">
                <a:solidFill>
                  <a:srgbClr val="E6EDF3"/>
                </a:solidFill>
                <a:latin typeface="Courier New"/>
              </a:rPr>
              <a:t>reader</a:t>
            </a:r>
            <a:r>
              <a:rPr sz="1000" b="0" i="0">
                <a:solidFill>
                  <a:srgbClr val="E6EDF3"/>
                </a:solidFill>
                <a:latin typeface="Courier New"/>
              </a:rPr>
              <a:t>)</a:t>
            </a:r>
          </a:p>
        </p:txBody>
      </p:sp>
      <p:sp>
        <p:nvSpPr>
          <p:cNvPr id="7" name="explanation"/>
          <p:cNvSpPr txBox="1"/>
          <p:nvPr/>
        </p:nvSpPr>
        <p:spPr>
          <a:xfrm>
            <a:off x="5099304" y="1589023"/>
            <a:ext cx="3678935" cy="756920"/>
          </a:xfrm>
          <a:prstGeom prst="rect">
            <a:avLst/>
          </a:prstGeom>
          <a:noFill/>
        </p:spPr>
        <p:txBody>
          <a:bodyPr wrap="square" lIns="128016" rIns="128016" tIns="18288" bIns="18288" anchor="ctr">
            <a:spAutoFit/>
          </a:bodyPr>
          <a:lstStyle/>
          <a:p>
            <a:r>
              <a:rPr sz="1100" b="0" i="0">
                <a:solidFill>
                  <a:srgbClr val="1F2933"/>
                </a:solidFill>
                <a:latin typeface="Calibri"/>
              </a:rPr>
              <a:t>Skip the header with next(), then keep the remaining rows in a list.</a:t>
            </a:r>
          </a:p>
        </p:txBody>
      </p:sp>
      <p:sp>
        <p:nvSpPr>
          <p:cNvPr id="8" name="code"/>
          <p:cNvSpPr/>
          <p:nvPr/>
        </p:nvSpPr>
        <p:spPr>
          <a:xfrm>
            <a:off x="365760" y="2391664"/>
            <a:ext cx="475183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with</a:t>
            </a:r>
            <a:r>
              <a:rPr sz="1000" b="0" i="0">
                <a:solidFill>
                  <a:srgbClr val="E6EDF3"/>
                </a:solidFill>
                <a:latin typeface="Courier New"/>
              </a:rPr>
              <a:t> </a:t>
            </a:r>
            <a:r>
              <a:rPr sz="1000" b="0" i="0">
                <a:solidFill>
                  <a:srgbClr val="E6EDF3"/>
                </a:solidFill>
                <a:latin typeface="Courier New"/>
              </a:rPr>
              <a:t>open</a:t>
            </a:r>
            <a:r>
              <a:rPr sz="1000" b="0" i="0">
                <a:solidFill>
                  <a:srgbClr val="E6EDF3"/>
                </a:solidFill>
                <a:latin typeface="Courier New"/>
              </a:rPr>
              <a:t>(</a:t>
            </a:r>
            <a:r>
              <a:rPr sz="1000" b="0" i="0">
                <a:solidFill>
                  <a:srgbClr val="9BE3A8"/>
                </a:solidFill>
                <a:latin typeface="Courier New"/>
              </a:rPr>
              <a:t>'new_'</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name</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'w'</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newline</a:t>
            </a:r>
            <a:r>
              <a:rPr sz="1000" b="0" i="0">
                <a:solidFill>
                  <a:srgbClr val="E6EDF3"/>
                </a:solidFill>
                <a:latin typeface="Courier New"/>
              </a:rPr>
              <a:t>=</a:t>
            </a:r>
            <a:r>
              <a:rPr sz="1000" b="0" i="0">
                <a:solidFill>
                  <a:srgbClr val="9BE3A8"/>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as</a:t>
            </a:r>
            <a:r>
              <a:rPr sz="1000" b="0" i="0">
                <a:solidFill>
                  <a:srgbClr val="E6EDF3"/>
                </a:solidFill>
                <a:latin typeface="Courier New"/>
              </a:rPr>
              <a:t> </a:t>
            </a:r>
            <a:r>
              <a:rPr sz="1000" b="0" i="0">
                <a:solidFill>
                  <a:srgbClr val="E6EDF3"/>
                </a:solidFill>
                <a:latin typeface="Courier New"/>
              </a:rPr>
              <a:t>f_out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csv</a:t>
            </a:r>
            <a:r>
              <a:rPr sz="1000" b="0" i="0">
                <a:solidFill>
                  <a:srgbClr val="E6EDF3"/>
                </a:solidFill>
                <a:latin typeface="Courier New"/>
              </a:rPr>
              <a:t>.</a:t>
            </a:r>
            <a:r>
              <a:rPr sz="1000" b="0" i="0">
                <a:solidFill>
                  <a:srgbClr val="E6EDF3"/>
                </a:solidFill>
                <a:latin typeface="Courier New"/>
              </a:rPr>
              <a:t>writer</a:t>
            </a:r>
            <a:r>
              <a:rPr sz="1000" b="0" i="0">
                <a:solidFill>
                  <a:srgbClr val="E6EDF3"/>
                </a:solidFill>
                <a:latin typeface="Courier New"/>
              </a:rPr>
              <a:t>(</a:t>
            </a:r>
            <a:r>
              <a:rPr sz="1000" b="0" i="0">
                <a:solidFill>
                  <a:srgbClr val="E6EDF3"/>
                </a:solidFill>
                <a:latin typeface="Courier New"/>
              </a:rPr>
              <a:t>f_out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writerows</a:t>
            </a:r>
            <a:r>
              <a:rPr sz="1000" b="0" i="0">
                <a:solidFill>
                  <a:srgbClr val="E6EDF3"/>
                </a:solidFill>
                <a:latin typeface="Courier New"/>
              </a:rPr>
              <a:t>(</a:t>
            </a:r>
            <a:r>
              <a:rPr sz="1000" b="0" i="0">
                <a:solidFill>
                  <a:srgbClr val="E6EDF3"/>
                </a:solidFill>
                <a:latin typeface="Courier New"/>
              </a:rPr>
              <a:t>rows</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name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len</a:t>
            </a:r>
            <a:r>
              <a:rPr sz="1000" b="0" i="0">
                <a:solidFill>
                  <a:srgbClr val="E6EDF3"/>
                </a:solidFill>
                <a:latin typeface="Courier New"/>
              </a:rPr>
              <a:t>(</a:t>
            </a:r>
            <a:r>
              <a:rPr sz="1000" b="0" i="0">
                <a:solidFill>
                  <a:srgbClr val="E6EDF3"/>
                </a:solidFill>
                <a:latin typeface="Courier New"/>
              </a:rPr>
              <a:t>rows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1</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'-&gt;'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len</a:t>
            </a:r>
            <a:r>
              <a:rPr sz="1000" b="0" i="0">
                <a:solidFill>
                  <a:srgbClr val="E6EDF3"/>
                </a:solidFill>
                <a:latin typeface="Courier New"/>
              </a:rPr>
              <a:t>(</a:t>
            </a:r>
            <a:r>
              <a:rPr sz="1000" b="0" i="0">
                <a:solidFill>
                  <a:srgbClr val="E6EDF3"/>
                </a:solidFill>
                <a:latin typeface="Courier New"/>
              </a:rPr>
              <a:t>rows</a:t>
            </a:r>
            <a:r>
              <a:rPr sz="1000" b="0" i="0">
                <a:solidFill>
                  <a:srgbClr val="E6EDF3"/>
                </a:solidFill>
                <a:latin typeface="Courier New"/>
              </a:rPr>
              <a:t>)</a:t>
            </a:r>
            <a:r>
              <a:rPr sz="1000" b="0" i="0">
                <a:solidFill>
                  <a:srgbClr val="E6EDF3"/>
                </a:solidFill>
                <a:latin typeface="Courier New"/>
              </a:rPr>
              <a:t>)</a:t>
            </a:r>
          </a:p>
        </p:txBody>
      </p:sp>
      <p:sp>
        <p:nvSpPr>
          <p:cNvPr id="9" name="explanation"/>
          <p:cNvSpPr txBox="1"/>
          <p:nvPr/>
        </p:nvSpPr>
        <p:spPr>
          <a:xfrm>
            <a:off x="5099304" y="2391664"/>
            <a:ext cx="3678935" cy="651891"/>
          </a:xfrm>
          <a:prstGeom prst="rect">
            <a:avLst/>
          </a:prstGeom>
          <a:noFill/>
        </p:spPr>
        <p:txBody>
          <a:bodyPr wrap="square" lIns="128016" rIns="128016" tIns="18288" bIns="18288" anchor="ctr">
            <a:spAutoFit/>
          </a:bodyPr>
          <a:lstStyle/>
          <a:p>
            <a:r>
              <a:rPr sz="1100" b="0" i="0">
                <a:solidFill>
                  <a:srgbClr val="1F2933"/>
                </a:solidFill>
                <a:latin typeface="Calibri"/>
              </a:rPr>
              <a:t>writerows() writes every remaining row to the new file. The print shows each file's rows before and after: one row less.</a:t>
            </a:r>
          </a:p>
        </p:txBody>
      </p:sp>
      <p:sp>
        <p:nvSpPr>
          <p:cNvPr id="10" name="result label"/>
          <p:cNvSpPr txBox="1"/>
          <p:nvPr/>
        </p:nvSpPr>
        <p:spPr>
          <a:xfrm>
            <a:off x="365760" y="3098419"/>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chart"/>
          <p:cNvGraphicFramePr>
            <a:graphicFrameLocks noGrp="1"/>
          </p:cNvGraphicFramePr>
          <p:nvPr/>
        </p:nvGraphicFramePr>
        <p:xfrm>
          <a:off x="365760" y="3345307"/>
          <a:ext cx="4206240" cy="1290701"/>
        </p:xfrm>
        <a:graphic>
          <a:graphicData uri="http://schemas.openxmlformats.org/drawingml/2006/chart">
            <c:chart xmlns:c="http://schemas.openxmlformats.org/drawingml/2006/chart" r:id="rId3"/>
          </a:graphicData>
        </a:graphic>
      </p:graphicFrame>
      <p:sp>
        <p:nvSpPr>
          <p:cNvPr id="12" name="Rounded Rectangle 11"/>
          <p:cNvSpPr/>
          <p:nvPr/>
        </p:nvSpPr>
        <p:spPr>
          <a:xfrm>
            <a:off x="4992624" y="3391026"/>
            <a:ext cx="3785615" cy="50292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the folder: f1.csv, f2.csv and headerRemoved</a:t>
            </a:r>
          </a:p>
        </p:txBody>
      </p:sp>
      <p:sp>
        <p:nvSpPr>
          <p:cNvPr id="13" name="Rounded Rectangle 12"/>
          <p:cNvSpPr/>
          <p:nvPr/>
        </p:nvSpPr>
        <p:spPr>
          <a:xfrm>
            <a:off x="4992624" y="3967099"/>
            <a:ext cx="3785615" cy="50292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headerRemoved holds the same names, each with one row less</a:t>
            </a:r>
          </a:p>
        </p:txBody>
      </p:sp>
      <p:sp>
        <p:nvSpPr>
          <p:cNvPr id="1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Copy the rest of each file into the new folder.</a:t>
            </a:r>
          </a:p>
        </p:txBody>
      </p:sp>
      <p:sp>
        <p:nvSpPr>
          <p:cNvPr id="1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24 / 53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Ideas for similar programs: total a column</a:t>
            </a:r>
          </a:p>
        </p:txBody>
      </p:sp>
      <p:sp>
        <p:nvSpPr>
          <p:cNvPr id="4" name="code"/>
          <p:cNvSpPr/>
          <p:nvPr/>
        </p:nvSpPr>
        <p:spPr>
          <a:xfrm>
            <a:off x="365760" y="786384"/>
            <a:ext cx="8412480" cy="74142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import</a:t>
            </a:r>
            <a:r>
              <a:rPr sz="1300" b="0" i="0">
                <a:solidFill>
                  <a:srgbClr val="E6EDF3"/>
                </a:solidFill>
                <a:latin typeface="Courier New"/>
              </a:rPr>
              <a:t> </a:t>
            </a:r>
            <a:r>
              <a:rPr sz="1300" b="0" i="0">
                <a:solidFill>
                  <a:srgbClr val="E6EDF3"/>
                </a:solidFill>
                <a:latin typeface="Courier New"/>
              </a:rPr>
              <a:t>csv</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io</a:t>
            </a:r>
          </a:p>
          <a:p>
            <a:pPr algn="l"/>
            <a:r>
              <a:rPr sz="1300" b="0" i="0">
                <a:solidFill>
                  <a:srgbClr val="8FA3B8"/>
                </a:solidFill>
                <a:latin typeface="Courier New"/>
              </a:rPr>
              <a:t>&gt;&gt;&gt; </a:t>
            </a:r>
            <a:r>
              <a:rPr sz="1300" b="0" i="0">
                <a:solidFill>
                  <a:srgbClr val="E6EDF3"/>
                </a:solidFill>
                <a:latin typeface="Courier New"/>
              </a:rPr>
              <a:t>text</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'Region,Sales\r\nNorth,120\r\nSouth,80\r\nNorth,60\r\nEast,40\r\n'</a:t>
            </a:r>
          </a:p>
          <a:p>
            <a:pPr algn="l"/>
            <a:r>
              <a:rPr sz="1300" b="0" i="0">
                <a:solidFill>
                  <a:srgbClr val="8FA3B8"/>
                </a:solidFill>
                <a:latin typeface="Courier New"/>
              </a:rPr>
              <a:t>&gt;&gt;&gt; </a:t>
            </a:r>
            <a:r>
              <a:rPr sz="1300" b="0" i="0">
                <a:solidFill>
                  <a:srgbClr val="E6EDF3"/>
                </a:solidFill>
                <a:latin typeface="Courier New"/>
              </a:rPr>
              <a:t>totals</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a:t>
            </a:r>
          </a:p>
        </p:txBody>
      </p:sp>
      <p:sp>
        <p:nvSpPr>
          <p:cNvPr id="5" name="explanation"/>
          <p:cNvSpPr txBox="1"/>
          <p:nvPr/>
        </p:nvSpPr>
        <p:spPr>
          <a:xfrm>
            <a:off x="365760" y="1536954"/>
            <a:ext cx="8412480" cy="326453"/>
          </a:xfrm>
          <a:prstGeom prst="rect">
            <a:avLst/>
          </a:prstGeom>
          <a:noFill/>
        </p:spPr>
        <p:txBody>
          <a:bodyPr wrap="square" lIns="109728" rIns="109728" tIns="18288" bIns="18288" anchor="ctr">
            <a:spAutoFit/>
          </a:bodyPr>
          <a:lstStyle/>
          <a:p>
            <a:r>
              <a:rPr sz="1250" b="0" i="0">
                <a:solidFill>
                  <a:srgbClr val="1F2933"/>
                </a:solidFill>
                <a:latin typeface="Calibri"/>
              </a:rPr>
              <a:t>Sales rows with a region name each. The program will add up the sales of each region.</a:t>
            </a:r>
          </a:p>
        </p:txBody>
      </p:sp>
      <p:sp>
        <p:nvSpPr>
          <p:cNvPr id="6" name="code"/>
          <p:cNvSpPr/>
          <p:nvPr/>
        </p:nvSpPr>
        <p:spPr>
          <a:xfrm>
            <a:off x="365760" y="1899983"/>
            <a:ext cx="8412480" cy="74142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for</a:t>
            </a:r>
            <a:r>
              <a:rPr sz="1300" b="0" i="0">
                <a:solidFill>
                  <a:srgbClr val="E6EDF3"/>
                </a:solidFill>
                <a:latin typeface="Courier New"/>
              </a:rPr>
              <a:t> </a:t>
            </a:r>
            <a:r>
              <a:rPr sz="1300" b="0" i="0">
                <a:solidFill>
                  <a:srgbClr val="E6EDF3"/>
                </a:solidFill>
                <a:latin typeface="Courier New"/>
              </a:rPr>
              <a:t>row</a:t>
            </a:r>
            <a:r>
              <a:rPr sz="1300" b="0" i="0">
                <a:solidFill>
                  <a:srgbClr val="E6EDF3"/>
                </a:solidFill>
                <a:latin typeface="Courier New"/>
              </a:rPr>
              <a:t> </a:t>
            </a:r>
            <a:r>
              <a:rPr sz="1300" b="0" i="0">
                <a:solidFill>
                  <a:srgbClr val="C9A0FF"/>
                </a:solidFill>
                <a:latin typeface="Courier New"/>
              </a:rPr>
              <a:t>in</a:t>
            </a:r>
            <a:r>
              <a:rPr sz="1300" b="0" i="0">
                <a:solidFill>
                  <a:srgbClr val="E6EDF3"/>
                </a:solidFill>
                <a:latin typeface="Courier New"/>
              </a:rPr>
              <a:t> </a:t>
            </a:r>
            <a:r>
              <a:rPr sz="1300" b="0" i="0">
                <a:solidFill>
                  <a:srgbClr val="E6EDF3"/>
                </a:solidFill>
                <a:latin typeface="Courier New"/>
              </a:rPr>
              <a:t>csv</a:t>
            </a:r>
            <a:r>
              <a:rPr sz="1300" b="0" i="0">
                <a:solidFill>
                  <a:srgbClr val="E6EDF3"/>
                </a:solidFill>
                <a:latin typeface="Courier New"/>
              </a:rPr>
              <a:t>.</a:t>
            </a:r>
            <a:r>
              <a:rPr sz="1300" b="0" i="0">
                <a:solidFill>
                  <a:srgbClr val="E6EDF3"/>
                </a:solidFill>
                <a:latin typeface="Courier New"/>
              </a:rPr>
              <a:t>DictReader</a:t>
            </a:r>
            <a:r>
              <a:rPr sz="1300" b="0" i="0">
                <a:solidFill>
                  <a:srgbClr val="E6EDF3"/>
                </a:solidFill>
                <a:latin typeface="Courier New"/>
              </a:rPr>
              <a:t>(</a:t>
            </a:r>
            <a:r>
              <a:rPr sz="1300" b="0" i="0">
                <a:solidFill>
                  <a:srgbClr val="E6EDF3"/>
                </a:solidFill>
                <a:latin typeface="Courier New"/>
              </a:rPr>
              <a:t>io</a:t>
            </a:r>
            <a:r>
              <a:rPr sz="1300" b="0" i="0">
                <a:solidFill>
                  <a:srgbClr val="E6EDF3"/>
                </a:solidFill>
                <a:latin typeface="Courier New"/>
              </a:rPr>
              <a:t>.</a:t>
            </a:r>
            <a:r>
              <a:rPr sz="1300" b="0" i="0">
                <a:solidFill>
                  <a:srgbClr val="E6EDF3"/>
                </a:solidFill>
                <a:latin typeface="Courier New"/>
              </a:rPr>
              <a:t>StringIO</a:t>
            </a:r>
            <a:r>
              <a:rPr sz="1300" b="0" i="0">
                <a:solidFill>
                  <a:srgbClr val="E6EDF3"/>
                </a:solidFill>
                <a:latin typeface="Courier New"/>
              </a:rPr>
              <a:t>(</a:t>
            </a:r>
            <a:r>
              <a:rPr sz="1300" b="0" i="0">
                <a:solidFill>
                  <a:srgbClr val="E6EDF3"/>
                </a:solidFill>
                <a:latin typeface="Courier New"/>
              </a:rPr>
              <a:t>text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newline</a:t>
            </a:r>
            <a:r>
              <a:rPr sz="1300" b="0" i="0">
                <a:solidFill>
                  <a:srgbClr val="E6EDF3"/>
                </a:solidFill>
                <a:latin typeface="Courier New"/>
              </a:rPr>
              <a:t>=</a:t>
            </a:r>
            <a:r>
              <a:rPr sz="1300" b="0" i="0">
                <a:solidFill>
                  <a:srgbClr val="9BE3A8"/>
                </a:solidFill>
                <a:latin typeface="Courier New"/>
              </a:rPr>
              <a:t>''</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E6EDF3"/>
                </a:solidFill>
                <a:latin typeface="Courier New"/>
              </a:rPr>
              <a:t>totals</a:t>
            </a:r>
            <a:r>
              <a:rPr sz="1300" b="0" i="0">
                <a:solidFill>
                  <a:srgbClr val="E6EDF3"/>
                </a:solidFill>
                <a:latin typeface="Courier New"/>
              </a:rPr>
              <a:t>[</a:t>
            </a:r>
            <a:r>
              <a:rPr sz="1300" b="0" i="0">
                <a:solidFill>
                  <a:srgbClr val="E6EDF3"/>
                </a:solidFill>
                <a:latin typeface="Courier New"/>
              </a:rPr>
              <a:t>row</a:t>
            </a:r>
            <a:r>
              <a:rPr sz="1300" b="0" i="0">
                <a:solidFill>
                  <a:srgbClr val="E6EDF3"/>
                </a:solidFill>
                <a:latin typeface="Courier New"/>
              </a:rPr>
              <a:t>[</a:t>
            </a:r>
            <a:r>
              <a:rPr sz="1300" b="0" i="0">
                <a:solidFill>
                  <a:srgbClr val="9BE3A8"/>
                </a:solidFill>
                <a:latin typeface="Courier New"/>
              </a:rPr>
              <a:t>'Region'</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totals</a:t>
            </a:r>
            <a:r>
              <a:rPr sz="1300" b="0" i="0">
                <a:solidFill>
                  <a:srgbClr val="E6EDF3"/>
                </a:solidFill>
                <a:latin typeface="Courier New"/>
              </a:rPr>
              <a:t>.</a:t>
            </a:r>
            <a:r>
              <a:rPr sz="1300" b="0" i="0">
                <a:solidFill>
                  <a:srgbClr val="E6EDF3"/>
                </a:solidFill>
                <a:latin typeface="Courier New"/>
              </a:rPr>
              <a:t>get</a:t>
            </a:r>
            <a:r>
              <a:rPr sz="1300" b="0" i="0">
                <a:solidFill>
                  <a:srgbClr val="E6EDF3"/>
                </a:solidFill>
                <a:latin typeface="Courier New"/>
              </a:rPr>
              <a:t>(</a:t>
            </a:r>
            <a:r>
              <a:rPr sz="1300" b="0" i="0">
                <a:solidFill>
                  <a:srgbClr val="E6EDF3"/>
                </a:solidFill>
                <a:latin typeface="Courier New"/>
              </a:rPr>
              <a:t>row</a:t>
            </a:r>
            <a:r>
              <a:rPr sz="1300" b="0" i="0">
                <a:solidFill>
                  <a:srgbClr val="E6EDF3"/>
                </a:solidFill>
                <a:latin typeface="Courier New"/>
              </a:rPr>
              <a:t>[</a:t>
            </a:r>
            <a:r>
              <a:rPr sz="1300" b="0" i="0">
                <a:solidFill>
                  <a:srgbClr val="9BE3A8"/>
                </a:solidFill>
                <a:latin typeface="Courier New"/>
              </a:rPr>
              <a:t>'Region'</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0</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int</a:t>
            </a:r>
            <a:r>
              <a:rPr sz="1300" b="0" i="0">
                <a:solidFill>
                  <a:srgbClr val="E6EDF3"/>
                </a:solidFill>
                <a:latin typeface="Courier New"/>
              </a:rPr>
              <a:t>(</a:t>
            </a:r>
            <a:r>
              <a:rPr sz="1300" b="0" i="0">
                <a:solidFill>
                  <a:srgbClr val="E6EDF3"/>
                </a:solidFill>
                <a:latin typeface="Courier New"/>
              </a:rPr>
              <a:t>row</a:t>
            </a:r>
            <a:r>
              <a:rPr sz="1300" b="0" i="0">
                <a:solidFill>
                  <a:srgbClr val="E6EDF3"/>
                </a:solidFill>
                <a:latin typeface="Courier New"/>
              </a:rPr>
              <a:t>[</a:t>
            </a:r>
            <a:r>
              <a:rPr sz="1300" b="0" i="0">
                <a:solidFill>
                  <a:srgbClr val="9BE3A8"/>
                </a:solidFill>
                <a:latin typeface="Courier New"/>
              </a:rPr>
              <a:t>'Sales'</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totals</a:t>
            </a:r>
            <a:r>
              <a:rPr sz="1300" b="0" i="0">
                <a:solidFill>
                  <a:srgbClr val="E6EDF3"/>
                </a:solidFill>
                <a:latin typeface="Courier New"/>
              </a:rPr>
              <a:t>)</a:t>
            </a:r>
          </a:p>
        </p:txBody>
      </p:sp>
      <p:sp>
        <p:nvSpPr>
          <p:cNvPr id="7" name="explanation"/>
          <p:cNvSpPr txBox="1"/>
          <p:nvPr/>
        </p:nvSpPr>
        <p:spPr>
          <a:xfrm>
            <a:off x="365760" y="2650553"/>
            <a:ext cx="8412480" cy="524891"/>
          </a:xfrm>
          <a:prstGeom prst="rect">
            <a:avLst/>
          </a:prstGeom>
          <a:noFill/>
        </p:spPr>
        <p:txBody>
          <a:bodyPr wrap="square" lIns="109728" rIns="109728" tIns="18288" bIns="18288" anchor="ctr">
            <a:spAutoFit/>
          </a:bodyPr>
          <a:lstStyle/>
          <a:p>
            <a:r>
              <a:rPr sz="1250" b="0" i="0">
                <a:solidFill>
                  <a:srgbClr val="1F2933"/>
                </a:solidFill>
                <a:latin typeface="Calibri"/>
              </a:rPr>
              <a:t>The values are text, so int() converts them before adding. The dictionary keeps one running total per region.</a:t>
            </a:r>
          </a:p>
        </p:txBody>
      </p:sp>
      <p:sp>
        <p:nvSpPr>
          <p:cNvPr id="8" name="result label"/>
          <p:cNvSpPr txBox="1"/>
          <p:nvPr/>
        </p:nvSpPr>
        <p:spPr>
          <a:xfrm>
            <a:off x="365760" y="3221164"/>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chart"/>
          <p:cNvGraphicFramePr>
            <a:graphicFrameLocks noGrp="1"/>
          </p:cNvGraphicFramePr>
          <p:nvPr/>
        </p:nvGraphicFramePr>
        <p:xfrm>
          <a:off x="365760" y="3468052"/>
          <a:ext cx="3785615" cy="1167955"/>
        </p:xfrm>
        <a:graphic>
          <a:graphicData uri="http://schemas.openxmlformats.org/drawingml/2006/chart">
            <c:chart xmlns:c="http://schemas.openxmlformats.org/drawingml/2006/chart" r:id="rId3"/>
          </a:graphicData>
        </a:graphic>
      </p:graphicFrame>
      <p:graphicFrame>
        <p:nvGraphicFramePr>
          <p:cNvPr id="10" name="table"/>
          <p:cNvGraphicFramePr>
            <a:graphicFrameLocks noGrp="1"/>
          </p:cNvGraphicFramePr>
          <p:nvPr/>
        </p:nvGraphicFramePr>
        <p:xfrm>
          <a:off x="4572000" y="3513772"/>
          <a:ext cx="4206238" cy="1097280"/>
        </p:xfrm>
        <a:graphic>
          <a:graphicData uri="http://schemas.openxmlformats.org/drawingml/2006/table">
            <a:tbl>
              <a:tblPr firstRow="0" bandRow="0"/>
              <a:tblGrid>
                <a:gridCol w="1314449"/>
                <a:gridCol w="1840229"/>
                <a:gridCol w="1051560"/>
              </a:tblGrid>
              <a:tr h="274320">
                <a:tc>
                  <a:txBody>
                    <a:bodyPr wrap="square"/>
                    <a:lstStyle/>
                    <a:p>
                      <a:r>
                        <a:rPr sz="1000" b="1" i="0">
                          <a:solidFill>
                            <a:srgbClr val="FFFFFF"/>
                          </a:solidFill>
                          <a:latin typeface="Calibri"/>
                        </a:rPr>
                        <a:t>region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rows added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total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ourier New"/>
                        </a:rPr>
                        <a:t>North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120 + 60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180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74320">
                <a:tc>
                  <a:txBody>
                    <a:bodyPr wrap="square"/>
                    <a:lstStyle/>
                    <a:p>
                      <a:r>
                        <a:rPr sz="1000" b="0" i="0">
                          <a:solidFill>
                            <a:srgbClr val="1F2933"/>
                          </a:solidFill>
                          <a:latin typeface="Courier New"/>
                        </a:rPr>
                        <a:t>South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80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80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00" b="0" i="0">
                          <a:solidFill>
                            <a:srgbClr val="1F2933"/>
                          </a:solidFill>
                          <a:latin typeface="Courier New"/>
                        </a:rPr>
                        <a:t>East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40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40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int() before adding: CSV values are text.</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25 / 53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2800" b="1" i="0">
                <a:solidFill>
                  <a:srgbClr val="1F2933"/>
                </a:solidFill>
                <a:latin typeface="Calibri"/>
              </a:rPr>
              <a:t>Part 4: JSON</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Six kinds of value, a strict syntax, text in and text out</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loads()</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Reads JSON text into Python values.</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dumps()</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Writes Python values as JSON text.</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Value types</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Strings, numbers, booleans, null, lists, dictionaries.</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Strict syntax</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trailing comma is an error.</a:t>
            </a:r>
          </a:p>
        </p:txBody>
      </p:sp>
      <p:graphicFrame>
        <p:nvGraphicFramePr>
          <p:cNvPr id="13" name="table"/>
          <p:cNvGraphicFramePr>
            <a:graphicFrameLocks noGrp="1"/>
          </p:cNvGraphicFramePr>
          <p:nvPr/>
        </p:nvGraphicFramePr>
        <p:xfrm>
          <a:off x="5303520" y="1417320"/>
          <a:ext cx="3474719" cy="292608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27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JSON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28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Story: The first JSON message was sent 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29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Versatile plaintext formats: one record 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Reading JSON data: loads() and the six va...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31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Writing JSON data: dumps(), keys and a ro...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32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JSON is strict: what json.loads() refuses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33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JSON and files: dump(), load() and the by...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26 / 53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JSON</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JSON is like a labelled form: every blank has a name, and the value is written next to it.</a:t>
            </a:r>
          </a:p>
        </p:txBody>
      </p:sp>
      <p:graphicFrame>
        <p:nvGraphicFramePr>
          <p:cNvPr id="6" name="table"/>
          <p:cNvGraphicFramePr>
            <a:graphicFrameLocks noGrp="1"/>
          </p:cNvGraphicFramePr>
          <p:nvPr/>
        </p:nvGraphicFramePr>
        <p:xfrm>
          <a:off x="365760" y="1417320"/>
          <a:ext cx="8412480" cy="2743200"/>
        </p:xfrm>
        <a:graphic>
          <a:graphicData uri="http://schemas.openxmlformats.org/drawingml/2006/table">
            <a:tbl>
              <a:tblPr firstRow="0" bandRow="0"/>
              <a:tblGrid>
                <a:gridCol w="3108960"/>
                <a:gridCol w="530352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Versatile Plaintext Formats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Three ways to write one address: a register line, a labelled form, a tree of tags.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JSON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labelled form: name, age, phones, with lists for the blanks that repeat.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Reading JSON Data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Reading a filled-in form and copying its values into your own notebook.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Writing JSON Data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Filling in a form from your notebook.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json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The form-office clerk who reads and fills in forms for you, and refuses a badly written 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27 / 53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Story: The first JSON message was sent in April 2001</a:t>
            </a:r>
          </a:p>
        </p:txBody>
      </p:sp>
      <p:pic>
        <p:nvPicPr>
          <p:cNvPr id="4" name="photo json" descr="Picture for the story: The first JSON message was sent in April 2001"/>
          <p:cNvPicPr>
            <a:picLocks noChangeAspect="1"/>
          </p:cNvPicPr>
          <p:nvPr/>
        </p:nvPicPr>
        <p:blipFill>
          <a:blip r:embed="rId3"/>
          <a:stretch>
            <a:fillRect/>
          </a:stretch>
        </p:blipFill>
        <p:spPr>
          <a:xfrm>
            <a:off x="365760" y="868680"/>
            <a:ext cx="2651760"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Douglas Crockford, as titled on Wikimedia Commons. Photo: Franco Folini, CC BY-SA 2.0.</a:t>
            </a:r>
          </a:p>
        </p:txBody>
      </p:sp>
      <p:sp>
        <p:nvSpPr>
          <p:cNvPr id="6" name="card"/>
          <p:cNvSpPr/>
          <p:nvPr/>
        </p:nvSpPr>
        <p:spPr>
          <a:xfrm>
            <a:off x="3200400" y="841248"/>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Douglas Crockford and Chip Morningstar.</a:t>
            </a:r>
          </a:p>
        </p:txBody>
      </p:sp>
      <p:sp>
        <p:nvSpPr>
          <p:cNvPr id="8" name="card"/>
          <p:cNvSpPr/>
          <p:nvPr/>
        </p:nvSpPr>
        <p:spPr>
          <a:xfrm>
            <a:off x="3200400" y="1307592"/>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307592"/>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They sent the first JSON message; Crockford specified and popularized the format.</a:t>
            </a:r>
          </a:p>
        </p:txBody>
      </p:sp>
      <p:sp>
        <p:nvSpPr>
          <p:cNvPr id="10" name="card"/>
          <p:cNvSpPr/>
          <p:nvPr/>
        </p:nvSpPr>
        <p:spPr>
          <a:xfrm>
            <a:off x="3200400" y="1874520"/>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874520"/>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In April 2001; RFC 8259 (2017) is the current Internet standard.</a:t>
            </a:r>
          </a:p>
        </p:txBody>
      </p:sp>
      <p:sp>
        <p:nvSpPr>
          <p:cNvPr id="12" name="card"/>
          <p:cNvSpPr/>
          <p:nvPr/>
        </p:nvSpPr>
        <p:spPr>
          <a:xfrm>
            <a:off x="3200400" y="24414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4414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At State Software, a company cofounded by Crockford and others in March 2001.</a:t>
            </a:r>
          </a:p>
        </p:txBody>
      </p:sp>
      <p:sp>
        <p:nvSpPr>
          <p:cNvPr id="14" name="card"/>
          <p:cNvSpPr/>
          <p:nvPr/>
        </p:nvSpPr>
        <p:spPr>
          <a:xfrm>
            <a:off x="3200400" y="30083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0083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The cofounders wanted a system that used standard browser capabilities for stateful web applications.</a:t>
            </a:r>
          </a:p>
        </p:txBody>
      </p:sp>
      <p:sp>
        <p:nvSpPr>
          <p:cNvPr id="16" name="card"/>
          <p:cNvSpPr/>
          <p:nvPr/>
        </p:nvSpPr>
        <p:spPr>
          <a:xfrm>
            <a:off x="3200400" y="3575304"/>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575304"/>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JSON borrows a small part of JavaScript's notation, and json.loads() refuses even a comma before a closing bracket.</a:t>
            </a:r>
          </a:p>
        </p:txBody>
      </p:sp>
      <p:sp>
        <p:nvSpPr>
          <p:cNvPr id="18" name="read"/>
          <p:cNvSpPr txBox="1"/>
          <p:nvPr/>
        </p:nvSpPr>
        <p:spPr>
          <a:xfrm>
            <a:off x="3200400" y="4160520"/>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JSON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28 / 53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600" b="1" i="0">
                <a:solidFill>
                  <a:srgbClr val="1F2933"/>
                </a:solidFill>
                <a:latin typeface="Calibri"/>
              </a:rPr>
              <a:t>Versatile plaintext formats: one record in CSV, JSON and XML</a:t>
            </a:r>
          </a:p>
        </p:txBody>
      </p:sp>
      <p:sp>
        <p:nvSpPr>
          <p:cNvPr id="4" name="code"/>
          <p:cNvSpPr/>
          <p:nvPr/>
        </p:nvSpPr>
        <p:spPr>
          <a:xfrm>
            <a:off x="365760" y="786384"/>
            <a:ext cx="559003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json</a:t>
            </a:r>
          </a:p>
          <a:p>
            <a:pPr algn="l"/>
            <a:r>
              <a:rPr sz="1000" b="0" i="0">
                <a:solidFill>
                  <a:srgbClr val="8FA3B8"/>
                </a:solidFill>
                <a:latin typeface="Courier New"/>
              </a:rPr>
              <a:t>&gt;&gt;&gt; </a:t>
            </a:r>
            <a:r>
              <a:rPr sz="1000" b="0" i="0">
                <a:solidFill>
                  <a:srgbClr val="E6EDF3"/>
                </a:solidFill>
                <a:latin typeface="Courier New"/>
              </a:rPr>
              <a:t>rows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9BE3A8"/>
                </a:solidFill>
                <a:latin typeface="Courier New"/>
              </a:rPr>
              <a:t>'Alice'</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30</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'Bob'</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25</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as_csv</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'Name,Age\r\n'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a:t>
            </a:r>
            <a:r>
              <a:rPr sz="1000" b="0" i="0">
                <a:solidFill>
                  <a:srgbClr val="E6EDF3"/>
                </a:solidFill>
                <a:latin typeface="Courier New"/>
              </a:rPr>
              <a:t>.</a:t>
            </a:r>
            <a:r>
              <a:rPr sz="1000" b="0" i="0">
                <a:solidFill>
                  <a:srgbClr val="E6EDF3"/>
                </a:solidFill>
                <a:latin typeface="Courier New"/>
              </a:rPr>
              <a:t>join</a:t>
            </a:r>
            <a:r>
              <a:rPr sz="1000" b="0" i="0">
                <a:solidFill>
                  <a:srgbClr val="E6EDF3"/>
                </a:solidFill>
                <a:latin typeface="Courier New"/>
              </a:rPr>
              <a:t>(</a:t>
            </a:r>
            <a:r>
              <a:rPr sz="1000" b="0" i="0">
                <a:solidFill>
                  <a:srgbClr val="9BE3A8"/>
                </a:solidFill>
                <a:latin typeface="Courier New"/>
              </a:rPr>
              <a:t>'%s,%d\r\n'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r</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r</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rows</a:t>
            </a:r>
            <a:r>
              <a:rPr sz="1000" b="0" i="0">
                <a:solidFill>
                  <a:srgbClr val="E6EDF3"/>
                </a:solidFill>
                <a:latin typeface="Courier New"/>
              </a:rPr>
              <a:t>)</a:t>
            </a:r>
          </a:p>
        </p:txBody>
      </p:sp>
      <p:sp>
        <p:nvSpPr>
          <p:cNvPr id="5" name="explanation"/>
          <p:cNvSpPr txBox="1"/>
          <p:nvPr/>
        </p:nvSpPr>
        <p:spPr>
          <a:xfrm>
            <a:off x="5937504" y="786384"/>
            <a:ext cx="2840735" cy="651891"/>
          </a:xfrm>
          <a:prstGeom prst="rect">
            <a:avLst/>
          </a:prstGeom>
          <a:noFill/>
        </p:spPr>
        <p:txBody>
          <a:bodyPr wrap="square" lIns="128016" rIns="128016" tIns="18288" bIns="18288" anchor="ctr">
            <a:spAutoFit/>
          </a:bodyPr>
          <a:lstStyle/>
          <a:p>
            <a:r>
              <a:rPr sz="1100" b="0" i="0">
                <a:solidFill>
                  <a:srgbClr val="1F2933"/>
                </a:solidFill>
                <a:latin typeface="Calibri"/>
              </a:rPr>
              <a:t>The same two people, written three ways. First CSV: a header and one line per person.</a:t>
            </a:r>
          </a:p>
        </p:txBody>
      </p:sp>
      <p:sp>
        <p:nvSpPr>
          <p:cNvPr id="6" name="code"/>
          <p:cNvSpPr/>
          <p:nvPr/>
        </p:nvSpPr>
        <p:spPr>
          <a:xfrm>
            <a:off x="365760" y="1483995"/>
            <a:ext cx="559003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as_json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json</a:t>
            </a:r>
            <a:r>
              <a:rPr sz="1000" b="0" i="0">
                <a:solidFill>
                  <a:srgbClr val="E6EDF3"/>
                </a:solidFill>
                <a:latin typeface="Courier New"/>
              </a:rPr>
              <a:t>.</a:t>
            </a:r>
            <a:r>
              <a:rPr sz="1000" b="0" i="0">
                <a:solidFill>
                  <a:srgbClr val="E6EDF3"/>
                </a:solidFill>
                <a:latin typeface="Courier New"/>
              </a:rPr>
              <a:t>dumps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9BE3A8"/>
                </a:solidFill>
                <a:latin typeface="Courier New"/>
              </a:rPr>
              <a:t>'Name'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'Age'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n</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rows</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fmt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'&lt;person&gt;&lt;Name&gt;%s&lt;/Name&gt;&lt;Age&gt;%d&lt;/Age&gt;&lt;/person&gt;'</a:t>
            </a:r>
          </a:p>
          <a:p>
            <a:pPr algn="l"/>
            <a:r>
              <a:rPr sz="1000" b="0" i="0">
                <a:solidFill>
                  <a:srgbClr val="8FA3B8"/>
                </a:solidFill>
                <a:latin typeface="Courier New"/>
              </a:rPr>
              <a:t>&gt;&gt;&gt; </a:t>
            </a:r>
            <a:r>
              <a:rPr sz="1000" b="0" i="0">
                <a:solidFill>
                  <a:srgbClr val="E6EDF3"/>
                </a:solidFill>
                <a:latin typeface="Courier New"/>
              </a:rPr>
              <a:t>as_xml</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'&lt;people&gt;'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a:t>
            </a:r>
            <a:r>
              <a:rPr sz="1000" b="0" i="0">
                <a:solidFill>
                  <a:srgbClr val="E6EDF3"/>
                </a:solidFill>
                <a:latin typeface="Courier New"/>
              </a:rPr>
              <a:t>.</a:t>
            </a:r>
            <a:r>
              <a:rPr sz="1000" b="0" i="0">
                <a:solidFill>
                  <a:srgbClr val="E6EDF3"/>
                </a:solidFill>
                <a:latin typeface="Courier New"/>
              </a:rPr>
              <a:t>join</a:t>
            </a:r>
            <a:r>
              <a:rPr sz="1000" b="0" i="0">
                <a:solidFill>
                  <a:srgbClr val="E6EDF3"/>
                </a:solidFill>
                <a:latin typeface="Courier New"/>
              </a:rPr>
              <a:t>(</a:t>
            </a:r>
            <a:r>
              <a:rPr sz="1000" b="0" i="0">
                <a:solidFill>
                  <a:srgbClr val="E6EDF3"/>
                </a:solidFill>
                <a:latin typeface="Courier New"/>
              </a:rPr>
              <a:t>fmt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r</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r</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rows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'&lt;/people&gt;'</a:t>
            </a:r>
          </a:p>
        </p:txBody>
      </p:sp>
      <p:sp>
        <p:nvSpPr>
          <p:cNvPr id="7" name="explanation"/>
          <p:cNvSpPr txBox="1"/>
          <p:nvPr/>
        </p:nvSpPr>
        <p:spPr>
          <a:xfrm>
            <a:off x="5937504" y="1483995"/>
            <a:ext cx="2840735" cy="651891"/>
          </a:xfrm>
          <a:prstGeom prst="rect">
            <a:avLst/>
          </a:prstGeom>
          <a:noFill/>
        </p:spPr>
        <p:txBody>
          <a:bodyPr wrap="square" lIns="128016" rIns="128016" tIns="18288" bIns="18288" anchor="ctr">
            <a:spAutoFit/>
          </a:bodyPr>
          <a:lstStyle/>
          <a:p>
            <a:r>
              <a:rPr sz="1100" b="0" i="0">
                <a:solidFill>
                  <a:srgbClr val="1F2933"/>
                </a:solidFill>
                <a:latin typeface="Calibri"/>
              </a:rPr>
              <a:t>JSON repeats the keys for every person. XML repeats opening and closing tags.</a:t>
            </a:r>
          </a:p>
        </p:txBody>
      </p:sp>
      <p:sp>
        <p:nvSpPr>
          <p:cNvPr id="8" name="code"/>
          <p:cNvSpPr/>
          <p:nvPr/>
        </p:nvSpPr>
        <p:spPr>
          <a:xfrm>
            <a:off x="365760" y="2181606"/>
            <a:ext cx="5590032"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as_json</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'characters:'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len</a:t>
            </a:r>
            <a:r>
              <a:rPr sz="1000" b="0" i="0">
                <a:solidFill>
                  <a:srgbClr val="E6EDF3"/>
                </a:solidFill>
                <a:latin typeface="Courier New"/>
              </a:rPr>
              <a:t>(</a:t>
            </a:r>
            <a:r>
              <a:rPr sz="1000" b="0" i="0">
                <a:solidFill>
                  <a:srgbClr val="E6EDF3"/>
                </a:solidFill>
                <a:latin typeface="Courier New"/>
              </a:rPr>
              <a:t>as_csv</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len</a:t>
            </a:r>
            <a:r>
              <a:rPr sz="1000" b="0" i="0">
                <a:solidFill>
                  <a:srgbClr val="E6EDF3"/>
                </a:solidFill>
                <a:latin typeface="Courier New"/>
              </a:rPr>
              <a:t>(</a:t>
            </a:r>
            <a:r>
              <a:rPr sz="1000" b="0" i="0">
                <a:solidFill>
                  <a:srgbClr val="E6EDF3"/>
                </a:solidFill>
                <a:latin typeface="Courier New"/>
              </a:rPr>
              <a:t>as_json</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len</a:t>
            </a:r>
            <a:r>
              <a:rPr sz="1000" b="0" i="0">
                <a:solidFill>
                  <a:srgbClr val="E6EDF3"/>
                </a:solidFill>
                <a:latin typeface="Courier New"/>
              </a:rPr>
              <a:t>(</a:t>
            </a:r>
            <a:r>
              <a:rPr sz="1000" b="0" i="0">
                <a:solidFill>
                  <a:srgbClr val="E6EDF3"/>
                </a:solidFill>
                <a:latin typeface="Courier New"/>
              </a:rPr>
              <a:t>as_xml</a:t>
            </a:r>
            <a:r>
              <a:rPr sz="1000" b="0" i="0">
                <a:solidFill>
                  <a:srgbClr val="E6EDF3"/>
                </a:solidFill>
                <a:latin typeface="Courier New"/>
              </a:rPr>
              <a:t>)</a:t>
            </a:r>
            <a:r>
              <a:rPr sz="1000" b="0" i="0">
                <a:solidFill>
                  <a:srgbClr val="E6EDF3"/>
                </a:solidFill>
                <a:latin typeface="Courier New"/>
              </a:rPr>
              <a:t>)</a:t>
            </a:r>
          </a:p>
        </p:txBody>
      </p:sp>
      <p:sp>
        <p:nvSpPr>
          <p:cNvPr id="9" name="explanation"/>
          <p:cNvSpPr txBox="1"/>
          <p:nvPr/>
        </p:nvSpPr>
        <p:spPr>
          <a:xfrm>
            <a:off x="5937504" y="2181606"/>
            <a:ext cx="2840735" cy="826516"/>
          </a:xfrm>
          <a:prstGeom prst="rect">
            <a:avLst/>
          </a:prstGeom>
          <a:noFill/>
        </p:spPr>
        <p:txBody>
          <a:bodyPr wrap="square" lIns="128016" rIns="128016" tIns="18288" bIns="18288" anchor="ctr">
            <a:spAutoFit/>
          </a:bodyPr>
          <a:lstStyle/>
          <a:p>
            <a:r>
              <a:rPr sz="1100" b="0" i="0">
                <a:solidFill>
                  <a:srgbClr val="1F2933"/>
                </a:solidFill>
                <a:latin typeface="Calibri"/>
              </a:rPr>
              <a:t>CSV is the smallest because it names the columns once. JSON and XML carry their structure in every record.</a:t>
            </a:r>
          </a:p>
        </p:txBody>
      </p:sp>
      <p:sp>
        <p:nvSpPr>
          <p:cNvPr id="10" name="result label"/>
          <p:cNvSpPr txBox="1"/>
          <p:nvPr/>
        </p:nvSpPr>
        <p:spPr>
          <a:xfrm>
            <a:off x="365760" y="3062986"/>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chart"/>
          <p:cNvGraphicFramePr>
            <a:graphicFrameLocks noGrp="1"/>
          </p:cNvGraphicFramePr>
          <p:nvPr/>
        </p:nvGraphicFramePr>
        <p:xfrm>
          <a:off x="365760" y="3309874"/>
          <a:ext cx="3533241" cy="1326134"/>
        </p:xfrm>
        <a:graphic>
          <a:graphicData uri="http://schemas.openxmlformats.org/drawingml/2006/chart">
            <c:chart xmlns:c="http://schemas.openxmlformats.org/drawingml/2006/chart" r:id="rId3"/>
          </a:graphicData>
        </a:graphic>
      </p:graphicFrame>
      <p:sp>
        <p:nvSpPr>
          <p:cNvPr id="12" name="Rounded Rectangle 11"/>
          <p:cNvSpPr/>
          <p:nvPr/>
        </p:nvSpPr>
        <p:spPr>
          <a:xfrm>
            <a:off x="4235500" y="3328162"/>
            <a:ext cx="4542739" cy="329184"/>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CSV: 'Name,Age\r\nAlice,30\r\nBob,25\r\n'</a:t>
            </a:r>
          </a:p>
        </p:txBody>
      </p:sp>
      <p:sp>
        <p:nvSpPr>
          <p:cNvPr id="13" name="Rounded Rectangle 12"/>
          <p:cNvSpPr/>
          <p:nvPr/>
        </p:nvSpPr>
        <p:spPr>
          <a:xfrm>
            <a:off x="4235500" y="3712210"/>
            <a:ext cx="4542739" cy="329184"/>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JSON: '[{"Name": "Alice", "Age": 30}, {"Name": "Bob", "...</a:t>
            </a:r>
          </a:p>
        </p:txBody>
      </p:sp>
      <p:sp>
        <p:nvSpPr>
          <p:cNvPr id="14" name="Rounded Rectangle 13"/>
          <p:cNvSpPr/>
          <p:nvPr/>
        </p:nvSpPr>
        <p:spPr>
          <a:xfrm>
            <a:off x="4235500" y="4096258"/>
            <a:ext cx="4542739" cy="329184"/>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XML: '&lt;people&gt;&lt;person&gt;&lt;Name&gt;Alice&lt;/Name&gt;&lt;Age&gt;30&lt;/Age&gt;&lt;...</a:t>
            </a:r>
          </a:p>
        </p:txBody>
      </p:sp>
      <p:sp>
        <p:nvSpPr>
          <p:cNvPr id="1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CSV names columns once; JSON and XML name every value.</a:t>
            </a:r>
          </a:p>
        </p:txBody>
      </p:sp>
      <p:sp>
        <p:nvSpPr>
          <p:cNvPr id="1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29 / 53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Reading JSON data: loads() and the six value types</a:t>
            </a:r>
          </a:p>
        </p:txBody>
      </p:sp>
      <p:sp>
        <p:nvSpPr>
          <p:cNvPr id="4" name="code"/>
          <p:cNvSpPr/>
          <p:nvPr/>
        </p:nvSpPr>
        <p:spPr>
          <a:xfrm>
            <a:off x="365760" y="786384"/>
            <a:ext cx="8412480" cy="81889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json</a:t>
            </a:r>
          </a:p>
          <a:p>
            <a:pPr algn="l"/>
            <a:r>
              <a:rPr sz="1100" b="0" i="0">
                <a:solidFill>
                  <a:srgbClr val="8FA3B8"/>
                </a:solidFill>
                <a:latin typeface="Courier New"/>
              </a:rPr>
              <a:t>&gt;&gt;&gt; </a:t>
            </a:r>
            <a:r>
              <a:rPr sz="1100" b="0" i="0">
                <a:solidFill>
                  <a:srgbClr val="E6EDF3"/>
                </a:solidFill>
                <a:latin typeface="Courier New"/>
              </a:rPr>
              <a:t>text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'{"name": "Alice", "age": 30, "car": null, "ok": true, "tags": ["a", "b"]}'</a:t>
            </a:r>
          </a:p>
          <a:p>
            <a:pPr algn="l"/>
            <a:r>
              <a:rPr sz="1100" b="0" i="0">
                <a:solidFill>
                  <a:srgbClr val="8FA3B8"/>
                </a:solidFill>
                <a:latin typeface="Courier New"/>
              </a:rPr>
              <a:t>&gt;&gt;&gt; </a:t>
            </a:r>
            <a:r>
              <a:rPr sz="1100" b="0" i="0">
                <a:solidFill>
                  <a:srgbClr val="E6EDF3"/>
                </a:solidFill>
                <a:latin typeface="Courier New"/>
              </a:rPr>
              <a:t>data</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json</a:t>
            </a:r>
            <a:r>
              <a:rPr sz="1100" b="0" i="0">
                <a:solidFill>
                  <a:srgbClr val="E6EDF3"/>
                </a:solidFill>
                <a:latin typeface="Courier New"/>
              </a:rPr>
              <a:t>.</a:t>
            </a:r>
            <a:r>
              <a:rPr sz="1100" b="0" i="0">
                <a:solidFill>
                  <a:srgbClr val="E6EDF3"/>
                </a:solidFill>
                <a:latin typeface="Courier New"/>
              </a:rPr>
              <a:t>loads</a:t>
            </a:r>
            <a:r>
              <a:rPr sz="1100" b="0" i="0">
                <a:solidFill>
                  <a:srgbClr val="E6EDF3"/>
                </a:solidFill>
                <a:latin typeface="Courier New"/>
              </a:rPr>
              <a:t>(</a:t>
            </a:r>
            <a:r>
              <a:rPr sz="1100" b="0" i="0">
                <a:solidFill>
                  <a:srgbClr val="E6EDF3"/>
                </a:solidFill>
                <a:latin typeface="Courier New"/>
              </a:rPr>
              <a:t>text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data</a:t>
            </a:r>
            <a:r>
              <a:rPr sz="1100" b="0" i="0">
                <a:solidFill>
                  <a:srgbClr val="E6EDF3"/>
                </a:solidFill>
                <a:latin typeface="Courier New"/>
              </a:rPr>
              <a:t>)</a:t>
            </a:r>
          </a:p>
        </p:txBody>
      </p:sp>
      <p:sp>
        <p:nvSpPr>
          <p:cNvPr id="5" name="explanation"/>
          <p:cNvSpPr txBox="1"/>
          <p:nvPr/>
        </p:nvSpPr>
        <p:spPr>
          <a:xfrm>
            <a:off x="365760" y="1614424"/>
            <a:ext cx="8412480" cy="318516"/>
          </a:xfrm>
          <a:prstGeom prst="rect">
            <a:avLst/>
          </a:prstGeom>
          <a:noFill/>
        </p:spPr>
        <p:txBody>
          <a:bodyPr wrap="square" lIns="109728" rIns="109728" tIns="18288" bIns="18288" anchor="ctr">
            <a:spAutoFit/>
          </a:bodyPr>
          <a:lstStyle/>
          <a:p>
            <a:r>
              <a:rPr sz="1200" b="0" i="0">
                <a:solidFill>
                  <a:srgbClr val="1F2933"/>
                </a:solidFill>
                <a:latin typeface="Calibri"/>
              </a:rPr>
              <a:t>loads() reads JSON text and returns Python values: a dictionary here, with a list inside.</a:t>
            </a:r>
          </a:p>
        </p:txBody>
      </p:sp>
      <p:sp>
        <p:nvSpPr>
          <p:cNvPr id="6" name="code"/>
          <p:cNvSpPr/>
          <p:nvPr/>
        </p:nvSpPr>
        <p:spPr>
          <a:xfrm>
            <a:off x="365760" y="1969516"/>
            <a:ext cx="8412480" cy="4780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type</a:t>
            </a:r>
            <a:r>
              <a:rPr sz="1100" b="0" i="0">
                <a:solidFill>
                  <a:srgbClr val="E6EDF3"/>
                </a:solidFill>
                <a:latin typeface="Courier New"/>
              </a:rPr>
              <a:t>(</a:t>
            </a:r>
            <a:r>
              <a:rPr sz="1100" b="0" i="0">
                <a:solidFill>
                  <a:srgbClr val="E6EDF3"/>
                </a:solidFill>
                <a:latin typeface="Courier New"/>
              </a:rPr>
              <a:t>data</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__name__</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data</a:t>
            </a:r>
            <a:r>
              <a:rPr sz="1100" b="0" i="0">
                <a:solidFill>
                  <a:srgbClr val="E6EDF3"/>
                </a:solidFill>
                <a:latin typeface="Courier New"/>
              </a:rPr>
              <a:t>[</a:t>
            </a:r>
            <a:r>
              <a:rPr sz="1100" b="0" i="0">
                <a:solidFill>
                  <a:srgbClr val="9BE3A8"/>
                </a:solidFill>
                <a:latin typeface="Courier New"/>
              </a:rPr>
              <a:t>'car'</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is</a:t>
            </a:r>
            <a:r>
              <a:rPr sz="1100" b="0" i="0">
                <a:solidFill>
                  <a:srgbClr val="E6EDF3"/>
                </a:solidFill>
                <a:latin typeface="Courier New"/>
              </a:rPr>
              <a:t> </a:t>
            </a:r>
            <a:r>
              <a:rPr sz="1100" b="0" i="0">
                <a:solidFill>
                  <a:srgbClr val="E6EDF3"/>
                </a:solidFill>
                <a:latin typeface="Courier New"/>
              </a:rPr>
              <a:t>None</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data</a:t>
            </a:r>
            <a:r>
              <a:rPr sz="1100" b="0" i="0">
                <a:solidFill>
                  <a:srgbClr val="E6EDF3"/>
                </a:solidFill>
                <a:latin typeface="Courier New"/>
              </a:rPr>
              <a:t>[</a:t>
            </a:r>
            <a:r>
              <a:rPr sz="1100" b="0" i="0">
                <a:solidFill>
                  <a:srgbClr val="9BE3A8"/>
                </a:solidFill>
                <a:latin typeface="Courier New"/>
              </a:rPr>
              <a:t>'ok'</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is</a:t>
            </a:r>
            <a:r>
              <a:rPr sz="1100" b="0" i="0">
                <a:solidFill>
                  <a:srgbClr val="E6EDF3"/>
                </a:solidFill>
                <a:latin typeface="Courier New"/>
              </a:rPr>
              <a:t> </a:t>
            </a:r>
            <a:r>
              <a:rPr sz="1100" b="0" i="0">
                <a:solidFill>
                  <a:srgbClr val="E6EDF3"/>
                </a:solidFill>
                <a:latin typeface="Courier New"/>
              </a:rPr>
              <a:t>True</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type</a:t>
            </a:r>
            <a:r>
              <a:rPr sz="1100" b="0" i="0">
                <a:solidFill>
                  <a:srgbClr val="E6EDF3"/>
                </a:solidFill>
                <a:latin typeface="Courier New"/>
              </a:rPr>
              <a:t>(</a:t>
            </a:r>
            <a:r>
              <a:rPr sz="1100" b="0" i="0">
                <a:solidFill>
                  <a:srgbClr val="E6EDF3"/>
                </a:solidFill>
                <a:latin typeface="Courier New"/>
              </a:rPr>
              <a:t>v</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__name__</a:t>
            </a:r>
            <a:r>
              <a:rPr sz="1100" b="0" i="0">
                <a:solidFill>
                  <a:srgbClr val="E6EDF3"/>
                </a:solidFill>
                <a:latin typeface="Courier New"/>
              </a:rPr>
              <a: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v</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data</a:t>
            </a:r>
            <a:r>
              <a:rPr sz="1100" b="0" i="0">
                <a:solidFill>
                  <a:srgbClr val="E6EDF3"/>
                </a:solidFill>
                <a:latin typeface="Courier New"/>
              </a:rPr>
              <a:t>.</a:t>
            </a:r>
            <a:r>
              <a:rPr sz="1100" b="0" i="0">
                <a:solidFill>
                  <a:srgbClr val="E6EDF3"/>
                </a:solidFill>
                <a:latin typeface="Courier New"/>
              </a:rPr>
              <a:t>values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365760" y="2456688"/>
            <a:ext cx="8412480" cy="509016"/>
          </a:xfrm>
          <a:prstGeom prst="rect">
            <a:avLst/>
          </a:prstGeom>
          <a:noFill/>
        </p:spPr>
        <p:txBody>
          <a:bodyPr wrap="square" lIns="109728" rIns="109728" tIns="18288" bIns="18288" anchor="ctr">
            <a:spAutoFit/>
          </a:bodyPr>
          <a:lstStyle/>
          <a:p>
            <a:r>
              <a:rPr sz="1200" b="0" i="0">
                <a:solidFill>
                  <a:srgbClr val="1F2933"/>
                </a:solidFill>
                <a:latin typeface="Calibri"/>
              </a:rPr>
              <a:t>null became None, true became True, and the numbers kept their kind. The list of types shows each value.</a:t>
            </a:r>
          </a:p>
        </p:txBody>
      </p:sp>
      <p:sp>
        <p:nvSpPr>
          <p:cNvPr id="8" name="result label"/>
          <p:cNvSpPr txBox="1"/>
          <p:nvPr/>
        </p:nvSpPr>
        <p:spPr>
          <a:xfrm>
            <a:off x="365760" y="3011423"/>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258311"/>
          <a:ext cx="8412479" cy="1316736"/>
        </p:xfrm>
        <a:graphic>
          <a:graphicData uri="http://schemas.openxmlformats.org/drawingml/2006/table">
            <a:tbl>
              <a:tblPr firstRow="0" bandRow="0"/>
              <a:tblGrid>
                <a:gridCol w="1237129"/>
                <a:gridCol w="3216536"/>
                <a:gridCol w="1979407"/>
                <a:gridCol w="1979407"/>
              </a:tblGrid>
              <a:tr h="219456">
                <a:tc>
                  <a:txBody>
                    <a:bodyPr wrap="square"/>
                    <a:lstStyle/>
                    <a:p>
                      <a:r>
                        <a:rPr sz="950" b="1" i="0">
                          <a:solidFill>
                            <a:srgbClr val="FFFFFF"/>
                          </a:solidFill>
                          <a:latin typeface="Calibri"/>
                        </a:rPr>
                        <a:t>key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Python 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Python 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JSON kind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19456">
                <a:tc>
                  <a:txBody>
                    <a:bodyPr wrap="square"/>
                    <a:lstStyle/>
                    <a:p>
                      <a:r>
                        <a:rPr sz="950" b="0" i="0">
                          <a:solidFill>
                            <a:srgbClr val="1F2933"/>
                          </a:solidFill>
                          <a:latin typeface="Courier New"/>
                        </a:rPr>
                        <a:t>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'Alice'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str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alibri"/>
                        </a:rPr>
                        <a:t>string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19456">
                <a:tc>
                  <a:txBody>
                    <a:bodyPr wrap="square"/>
                    <a:lstStyle/>
                    <a:p>
                      <a:r>
                        <a:rPr sz="950" b="0" i="0">
                          <a:solidFill>
                            <a:srgbClr val="1F2933"/>
                          </a:solidFill>
                          <a:latin typeface="Courier New"/>
                        </a:rPr>
                        <a:t>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alibri"/>
                        </a:rPr>
                        <a:t>number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19456">
                <a:tc>
                  <a:txBody>
                    <a:bodyPr wrap="square"/>
                    <a:lstStyle/>
                    <a:p>
                      <a:r>
                        <a:rPr sz="950" b="0" i="0">
                          <a:solidFill>
                            <a:srgbClr val="1F2933"/>
                          </a:solidFill>
                          <a:latin typeface="Courier New"/>
                        </a:rPr>
                        <a:t>car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950" b="0" i="0">
                          <a:solidFill>
                            <a:srgbClr val="1F2933"/>
                          </a:solidFill>
                          <a:latin typeface="Courier New"/>
                        </a:rPr>
                        <a:t>NoneType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alibri"/>
                        </a:rPr>
                        <a:t>null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19456">
                <a:tc>
                  <a:txBody>
                    <a:bodyPr wrap="square"/>
                    <a:lstStyle/>
                    <a:p>
                      <a:r>
                        <a:rPr sz="950" b="0" i="0">
                          <a:solidFill>
                            <a:srgbClr val="1F2933"/>
                          </a:solidFill>
                          <a:latin typeface="Courier New"/>
                        </a:rPr>
                        <a:t>ok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950" b="0" i="0">
                          <a:solidFill>
                            <a:srgbClr val="1F2933"/>
                          </a:solidFill>
                          <a:latin typeface="Courier New"/>
                        </a:rPr>
                        <a:t>bool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alibri"/>
                        </a:rPr>
                        <a:t>true / 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19456">
                <a:tc>
                  <a:txBody>
                    <a:bodyPr wrap="square"/>
                    <a:lstStyle/>
                    <a:p>
                      <a:r>
                        <a:rPr sz="950" b="0" i="0">
                          <a:solidFill>
                            <a:srgbClr val="1F2933"/>
                          </a:solidFill>
                          <a:latin typeface="Courier New"/>
                        </a:rPr>
                        <a:t>tags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['a', 'b']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list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alibri"/>
                        </a:rPr>
                        <a:t>array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null is None, true is True; the numbers keep their kind.</a:t>
            </a:r>
          </a:p>
        </p:txBody>
      </p:sp>
      <p:sp>
        <p:nvSpPr>
          <p:cNvPr id="1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30 / 53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Writing JSON data: dumps(), keys and a round trip</a:t>
            </a:r>
          </a:p>
        </p:txBody>
      </p:sp>
      <p:sp>
        <p:nvSpPr>
          <p:cNvPr id="4" name="code"/>
          <p:cNvSpPr/>
          <p:nvPr/>
        </p:nvSpPr>
        <p:spPr>
          <a:xfrm>
            <a:off x="365760" y="786384"/>
            <a:ext cx="5468112"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import</a:t>
            </a:r>
            <a:r>
              <a:rPr sz="950" b="0" i="0">
                <a:solidFill>
                  <a:srgbClr val="E6EDF3"/>
                </a:solidFill>
                <a:latin typeface="Courier New"/>
              </a:rPr>
              <a:t> </a:t>
            </a:r>
            <a:r>
              <a:rPr sz="950" b="0" i="0">
                <a:solidFill>
                  <a:srgbClr val="E6EDF3"/>
                </a:solidFill>
                <a:latin typeface="Courier New"/>
              </a:rPr>
              <a:t>json</a:t>
            </a:r>
          </a:p>
          <a:p>
            <a:pPr algn="l"/>
            <a:r>
              <a:rPr sz="950" b="0" i="0">
                <a:solidFill>
                  <a:srgbClr val="8FA3B8"/>
                </a:solidFill>
                <a:latin typeface="Courier New"/>
              </a:rPr>
              <a:t>&gt;&gt;&gt; </a:t>
            </a:r>
            <a:r>
              <a:rPr sz="950" b="0" i="0">
                <a:solidFill>
                  <a:srgbClr val="E6EDF3"/>
                </a:solidFill>
                <a:latin typeface="Courier New"/>
              </a:rPr>
              <a:t>d</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7CC4FF"/>
                </a:solidFill>
                <a:latin typeface="Courier New"/>
              </a:rPr>
              <a:t>1</a:t>
            </a:r>
            <a:r>
              <a:rPr sz="950" b="0" i="0">
                <a:solidFill>
                  <a:srgbClr val="E6EDF3"/>
                </a:solidFill>
                <a:latin typeface="Courier New"/>
              </a:rPr>
              <a:t>,</a:t>
            </a:r>
            <a:r>
              <a:rPr sz="950" b="0" i="0">
                <a:solidFill>
                  <a:srgbClr val="E6EDF3"/>
                </a:solidFill>
                <a:latin typeface="Courier New"/>
              </a:rPr>
              <a:t> </a:t>
            </a:r>
            <a:r>
              <a:rPr sz="950" b="0" i="0">
                <a:solidFill>
                  <a:srgbClr val="7CC4FF"/>
                </a:solidFill>
                <a:latin typeface="Courier New"/>
              </a:rPr>
              <a:t>2</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7CC4FF"/>
                </a:solidFill>
                <a:latin typeface="Courier New"/>
              </a:rPr>
              <a:t>1</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'a'</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'city'</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'İstanbul'</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'ok'</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True</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'n'</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None</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s</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json</a:t>
            </a:r>
            <a:r>
              <a:rPr sz="950" b="0" i="0">
                <a:solidFill>
                  <a:srgbClr val="E6EDF3"/>
                </a:solidFill>
                <a:latin typeface="Courier New"/>
              </a:rPr>
              <a:t>.</a:t>
            </a:r>
            <a:r>
              <a:rPr sz="950" b="0" i="0">
                <a:solidFill>
                  <a:srgbClr val="E6EDF3"/>
                </a:solidFill>
                <a:latin typeface="Courier New"/>
              </a:rPr>
              <a:t>dumps</a:t>
            </a:r>
            <a:r>
              <a:rPr sz="950" b="0" i="0">
                <a:solidFill>
                  <a:srgbClr val="E6EDF3"/>
                </a:solidFill>
                <a:latin typeface="Courier New"/>
              </a:rPr>
              <a:t>(</a:t>
            </a:r>
            <a:r>
              <a:rPr sz="950" b="0" i="0">
                <a:solidFill>
                  <a:srgbClr val="E6EDF3"/>
                </a:solidFill>
                <a:latin typeface="Courier New"/>
              </a:rPr>
              <a:t>d</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s</a:t>
            </a:r>
            <a:r>
              <a:rPr sz="950" b="0" i="0">
                <a:solidFill>
                  <a:srgbClr val="E6EDF3"/>
                </a:solidFill>
                <a:latin typeface="Courier New"/>
              </a:rPr>
              <a:t>)</a:t>
            </a:r>
          </a:p>
        </p:txBody>
      </p:sp>
      <p:sp>
        <p:nvSpPr>
          <p:cNvPr id="5" name="explanation"/>
          <p:cNvSpPr txBox="1"/>
          <p:nvPr/>
        </p:nvSpPr>
        <p:spPr>
          <a:xfrm>
            <a:off x="5815584" y="786384"/>
            <a:ext cx="2962656" cy="826516"/>
          </a:xfrm>
          <a:prstGeom prst="rect">
            <a:avLst/>
          </a:prstGeom>
          <a:noFill/>
        </p:spPr>
        <p:txBody>
          <a:bodyPr wrap="square" lIns="128016" rIns="128016" tIns="18288" bIns="18288" anchor="ctr">
            <a:spAutoFit/>
          </a:bodyPr>
          <a:lstStyle/>
          <a:p>
            <a:r>
              <a:rPr sz="1100" b="0" i="0">
                <a:solidFill>
                  <a:srgbClr val="1F2933"/>
                </a:solidFill>
                <a:latin typeface="Calibri"/>
              </a:rPr>
              <a:t>dumps() turns a Python value into JSON text. A tuple becomes a list; a number key becomes a string; non-ASCII letters are escaped.</a:t>
            </a:r>
          </a:p>
        </p:txBody>
      </p:sp>
      <p:sp>
        <p:nvSpPr>
          <p:cNvPr id="6" name="code"/>
          <p:cNvSpPr/>
          <p:nvPr/>
        </p:nvSpPr>
        <p:spPr>
          <a:xfrm>
            <a:off x="365760" y="1658620"/>
            <a:ext cx="546811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back</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json</a:t>
            </a:r>
            <a:r>
              <a:rPr sz="950" b="0" i="0">
                <a:solidFill>
                  <a:srgbClr val="E6EDF3"/>
                </a:solidFill>
                <a:latin typeface="Courier New"/>
              </a:rPr>
              <a:t>.</a:t>
            </a:r>
            <a:r>
              <a:rPr sz="950" b="0" i="0">
                <a:solidFill>
                  <a:srgbClr val="E6EDF3"/>
                </a:solidFill>
                <a:latin typeface="Courier New"/>
              </a:rPr>
              <a:t>loads</a:t>
            </a:r>
            <a:r>
              <a:rPr sz="950" b="0" i="0">
                <a:solidFill>
                  <a:srgbClr val="E6EDF3"/>
                </a:solidFill>
                <a:latin typeface="Courier New"/>
              </a:rPr>
              <a:t>(</a:t>
            </a:r>
            <a:r>
              <a:rPr sz="950" b="0" i="0">
                <a:solidFill>
                  <a:srgbClr val="E6EDF3"/>
                </a:solidFill>
                <a:latin typeface="Courier New"/>
              </a:rPr>
              <a:t>s</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back</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back</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d</a:t>
            </a:r>
            <a:r>
              <a:rPr sz="950" b="0" i="0">
                <a:solidFill>
                  <a:srgbClr val="E6EDF3"/>
                </a:solidFill>
                <a:latin typeface="Courier New"/>
              </a:rPr>
              <a:t>)</a:t>
            </a:r>
          </a:p>
        </p:txBody>
      </p:sp>
      <p:sp>
        <p:nvSpPr>
          <p:cNvPr id="7" name="explanation"/>
          <p:cNvSpPr txBox="1"/>
          <p:nvPr/>
        </p:nvSpPr>
        <p:spPr>
          <a:xfrm>
            <a:off x="5815584" y="1658620"/>
            <a:ext cx="2962656" cy="651891"/>
          </a:xfrm>
          <a:prstGeom prst="rect">
            <a:avLst/>
          </a:prstGeom>
          <a:noFill/>
        </p:spPr>
        <p:txBody>
          <a:bodyPr wrap="square" lIns="128016" rIns="128016" tIns="18288" bIns="18288" anchor="ctr">
            <a:spAutoFit/>
          </a:bodyPr>
          <a:lstStyle/>
          <a:p>
            <a:r>
              <a:rPr sz="1100" b="0" i="0">
                <a:solidFill>
                  <a:srgbClr val="1F2933"/>
                </a:solidFill>
                <a:latin typeface="Calibri"/>
              </a:rPr>
              <a:t>Reading it back does not give the original: the tuple is a list and the key 1 is the text '1'.</a:t>
            </a:r>
          </a:p>
        </p:txBody>
      </p:sp>
      <p:sp>
        <p:nvSpPr>
          <p:cNvPr id="8" name="code"/>
          <p:cNvSpPr/>
          <p:nvPr/>
        </p:nvSpPr>
        <p:spPr>
          <a:xfrm>
            <a:off x="365760" y="2356231"/>
            <a:ext cx="5468112" cy="47726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json</a:t>
            </a:r>
            <a:r>
              <a:rPr sz="950" b="0" i="0">
                <a:solidFill>
                  <a:srgbClr val="E6EDF3"/>
                </a:solidFill>
                <a:latin typeface="Courier New"/>
              </a:rPr>
              <a:t>.</a:t>
            </a:r>
            <a:r>
              <a:rPr sz="950" b="0" i="0">
                <a:solidFill>
                  <a:srgbClr val="E6EDF3"/>
                </a:solidFill>
                <a:latin typeface="Courier New"/>
              </a:rPr>
              <a:t>dumps</a:t>
            </a:r>
            <a:r>
              <a:rPr sz="950" b="0" i="0">
                <a:solidFill>
                  <a:srgbClr val="E6EDF3"/>
                </a:solidFill>
                <a:latin typeface="Courier New"/>
              </a:rPr>
              <a:t>(</a:t>
            </a:r>
            <a:r>
              <a:rPr sz="950" b="0" i="0">
                <a:solidFill>
                  <a:srgbClr val="E6EDF3"/>
                </a:solidFill>
                <a:latin typeface="Courier New"/>
              </a:rPr>
              <a:t>{</a:t>
            </a:r>
            <a:r>
              <a:rPr sz="950" b="0" i="0">
                <a:solidFill>
                  <a:srgbClr val="9BE3A8"/>
                </a:solidFill>
                <a:latin typeface="Courier New"/>
              </a:rPr>
              <a:t>'a'</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7CC4FF"/>
                </a:solidFill>
                <a:latin typeface="Courier New"/>
              </a:rPr>
              <a:t>1</a:t>
            </a:r>
            <a:r>
              <a:rPr sz="950" b="0" i="0">
                <a:solidFill>
                  <a:srgbClr val="E6EDF3"/>
                </a:solidFill>
                <a:latin typeface="Courier New"/>
              </a:rPr>
              <a:t>,</a:t>
            </a:r>
            <a:r>
              <a:rPr sz="950" b="0" i="0">
                <a:solidFill>
                  <a:srgbClr val="E6EDF3"/>
                </a:solidFill>
                <a:latin typeface="Courier New"/>
              </a:rPr>
              <a:t> </a:t>
            </a:r>
            <a:r>
              <a:rPr sz="950" b="0" i="0">
                <a:solidFill>
                  <a:srgbClr val="7CC4FF"/>
                </a:solidFill>
                <a:latin typeface="Courier New"/>
              </a:rPr>
              <a:t>2</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indent</a:t>
            </a:r>
            <a:r>
              <a:rPr sz="950" b="0" i="0">
                <a:solidFill>
                  <a:srgbClr val="E6EDF3"/>
                </a:solidFill>
                <a:latin typeface="Courier New"/>
              </a:rPr>
              <a:t>=</a:t>
            </a:r>
            <a:r>
              <a:rPr sz="950" b="0" i="0">
                <a:solidFill>
                  <a:srgbClr val="7CC4FF"/>
                </a:solidFill>
                <a:latin typeface="Courier New"/>
              </a:rPr>
              <a:t>2</a:t>
            </a:r>
            <a:r>
              <a:rPr sz="950" b="0" i="0">
                <a:solidFill>
                  <a:srgbClr val="E6EDF3"/>
                </a:solidFill>
                <a:latin typeface="Courier New"/>
              </a:rPr>
              <a:t>)</a:t>
            </a:r>
            <a:r>
              <a:rPr sz="950" b="0" i="0">
                <a:solidFill>
                  <a:srgbClr val="E6EDF3"/>
                </a:solidFill>
                <a:latin typeface="Courier New"/>
              </a:rPr>
              <a:t>)</a:t>
            </a:r>
          </a:p>
        </p:txBody>
      </p:sp>
      <p:sp>
        <p:nvSpPr>
          <p:cNvPr id="9" name="explanation"/>
          <p:cNvSpPr txBox="1"/>
          <p:nvPr/>
        </p:nvSpPr>
        <p:spPr>
          <a:xfrm>
            <a:off x="5815584" y="2356231"/>
            <a:ext cx="2962656" cy="477266"/>
          </a:xfrm>
          <a:prstGeom prst="rect">
            <a:avLst/>
          </a:prstGeom>
          <a:noFill/>
        </p:spPr>
        <p:txBody>
          <a:bodyPr wrap="square" lIns="128016" rIns="128016" tIns="18288" bIns="18288" anchor="ctr">
            <a:spAutoFit/>
          </a:bodyPr>
          <a:lstStyle/>
          <a:p>
            <a:r>
              <a:rPr sz="1100" b="0" i="0">
                <a:solidFill>
                  <a:srgbClr val="1F2933"/>
                </a:solidFill>
                <a:latin typeface="Calibri"/>
              </a:rPr>
              <a:t>indent=2 spreads the text over several lines for people to read.</a:t>
            </a:r>
          </a:p>
        </p:txBody>
      </p:sp>
      <p:sp>
        <p:nvSpPr>
          <p:cNvPr id="10" name="result label"/>
          <p:cNvSpPr txBox="1"/>
          <p:nvPr/>
        </p:nvSpPr>
        <p:spPr>
          <a:xfrm>
            <a:off x="365760" y="2888361"/>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135249"/>
          <a:ext cx="8412479" cy="1316736"/>
        </p:xfrm>
        <a:graphic>
          <a:graphicData uri="http://schemas.openxmlformats.org/drawingml/2006/table">
            <a:tbl>
              <a:tblPr firstRow="0" bandRow="0"/>
              <a:tblGrid>
                <a:gridCol w="2555690"/>
                <a:gridCol w="2555690"/>
                <a:gridCol w="2555690"/>
                <a:gridCol w="745409"/>
              </a:tblGrid>
              <a:tr h="219456">
                <a:tc>
                  <a:txBody>
                    <a:bodyPr wrap="square"/>
                    <a:lstStyle/>
                    <a:p>
                      <a:r>
                        <a:rPr sz="900" b="1" i="0">
                          <a:solidFill>
                            <a:srgbClr val="FFFFFF"/>
                          </a:solidFill>
                          <a:latin typeface="Calibri"/>
                        </a:rPr>
                        <a:t>Python key: 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JSON piece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read back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900" b="1" i="0">
                          <a:solidFill>
                            <a:srgbClr val="FFFFFF"/>
                          </a:solidFill>
                          <a:latin typeface="Calibri"/>
                        </a:rPr>
                        <a:t>same?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19456">
                <a:tc>
                  <a:txBody>
                    <a:bodyPr wrap="square"/>
                    <a:lstStyle/>
                    <a:p>
                      <a:r>
                        <a:rPr sz="900" b="0" i="0">
                          <a:solidFill>
                            <a:srgbClr val="1F2933"/>
                          </a:solidFill>
                          <a:latin typeface="Courier New"/>
                        </a:rPr>
                        <a:t>'t': (1,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"t": [1,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't': [1,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900" b="0" i="0">
                          <a:solidFill>
                            <a:srgbClr val="1F2933"/>
                          </a:solidFill>
                          <a:latin typeface="Calibri"/>
                        </a:rPr>
                        <a:t>no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219456">
                <a:tc>
                  <a:txBody>
                    <a:bodyPr wrap="square"/>
                    <a:lstStyle/>
                    <a:p>
                      <a:r>
                        <a:rPr sz="900" b="0" i="0">
                          <a:solidFill>
                            <a:srgbClr val="1F2933"/>
                          </a:solidFill>
                          <a:latin typeface="Courier New"/>
                        </a:rPr>
                        <a:t>1: 'a'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"1": "a"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'1': 'a'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900" b="0" i="0">
                          <a:solidFill>
                            <a:srgbClr val="1F2933"/>
                          </a:solidFill>
                          <a:latin typeface="Calibri"/>
                        </a:rPr>
                        <a:t>no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219456">
                <a:tc>
                  <a:txBody>
                    <a:bodyPr wrap="square"/>
                    <a:lstStyle/>
                    <a:p>
                      <a:r>
                        <a:rPr sz="900" b="0" i="0">
                          <a:solidFill>
                            <a:srgbClr val="1F2933"/>
                          </a:solidFill>
                          <a:latin typeface="Courier New"/>
                        </a:rPr>
                        <a:t>'city': 'İstanbul'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"city": "\u0130stanbul"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'city': 'İstanbul'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900" b="0" i="0">
                          <a:solidFill>
                            <a:srgbClr val="1F2933"/>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19456">
                <a:tc>
                  <a:txBody>
                    <a:bodyPr wrap="square"/>
                    <a:lstStyle/>
                    <a:p>
                      <a:r>
                        <a:rPr sz="900" b="0" i="0">
                          <a:solidFill>
                            <a:srgbClr val="1F2933"/>
                          </a:solidFill>
                          <a:latin typeface="Courier New"/>
                        </a:rPr>
                        <a:t>'ok': 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"ok": 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'ok': 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900" b="0" i="0">
                          <a:solidFill>
                            <a:srgbClr val="1F2933"/>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19456">
                <a:tc>
                  <a:txBody>
                    <a:bodyPr wrap="square"/>
                    <a:lstStyle/>
                    <a:p>
                      <a:r>
                        <a:rPr sz="900" b="0" i="0">
                          <a:solidFill>
                            <a:srgbClr val="1F2933"/>
                          </a:solidFill>
                          <a:latin typeface="Courier New"/>
                        </a:rPr>
                        <a:t>'n': 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"n": null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'n': 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900" b="0" i="0">
                          <a:solidFill>
                            <a:srgbClr val="1F2933"/>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bl>
          </a:graphicData>
        </a:graphic>
      </p:graphicFrame>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round trip turns tuples into lists and number keys into text.</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31 / 53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JSON is strict: what json.loads() refuses</a:t>
            </a:r>
          </a:p>
        </p:txBody>
      </p:sp>
      <p:sp>
        <p:nvSpPr>
          <p:cNvPr id="4" name="code"/>
          <p:cNvSpPr/>
          <p:nvPr/>
        </p:nvSpPr>
        <p:spPr>
          <a:xfrm>
            <a:off x="365760" y="786384"/>
            <a:ext cx="8412480" cy="81889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json</a:t>
            </a:r>
          </a:p>
          <a:p>
            <a:pPr algn="l"/>
            <a:r>
              <a:rPr sz="1100" b="0" i="0">
                <a:solidFill>
                  <a:srgbClr val="8FA3B8"/>
                </a:solidFill>
                <a:latin typeface="Courier New"/>
              </a:rPr>
              <a:t>&gt;&gt;&gt; </a:t>
            </a:r>
            <a:r>
              <a:rPr sz="1100" b="0" i="0">
                <a:solidFill>
                  <a:srgbClr val="C9A0FF"/>
                </a:solidFill>
                <a:latin typeface="Courier New"/>
              </a:rPr>
              <a:t>def</a:t>
            </a:r>
            <a:r>
              <a:rPr sz="1100" b="0" i="0">
                <a:solidFill>
                  <a:srgbClr val="E6EDF3"/>
                </a:solidFill>
                <a:latin typeface="Courier New"/>
              </a:rPr>
              <a:t> </a:t>
            </a:r>
            <a:r>
              <a:rPr sz="1100" b="0" i="0">
                <a:solidFill>
                  <a:srgbClr val="E6EDF3"/>
                </a:solidFill>
                <a:latin typeface="Courier New"/>
              </a:rPr>
              <a:t>msg</a:t>
            </a:r>
            <a:r>
              <a:rPr sz="1100" b="0" i="0">
                <a:solidFill>
                  <a:srgbClr val="E6EDF3"/>
                </a:solidFill>
                <a:latin typeface="Courier New"/>
              </a:rPr>
              <a:t>(</a:t>
            </a:r>
            <a:r>
              <a:rPr sz="1100" b="0" i="0">
                <a:solidFill>
                  <a:srgbClr val="E6EDF3"/>
                </a:solidFill>
                <a:latin typeface="Courier New"/>
              </a:rPr>
              <a:t>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try</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json</a:t>
            </a:r>
            <a:r>
              <a:rPr sz="1100" b="0" i="0">
                <a:solidFill>
                  <a:srgbClr val="E6EDF3"/>
                </a:solidFill>
                <a:latin typeface="Courier New"/>
              </a:rPr>
              <a:t>.</a:t>
            </a:r>
            <a:r>
              <a:rPr sz="1100" b="0" i="0">
                <a:solidFill>
                  <a:srgbClr val="E6EDF3"/>
                </a:solidFill>
                <a:latin typeface="Courier New"/>
              </a:rPr>
              <a:t>loads</a:t>
            </a:r>
            <a:r>
              <a:rPr sz="1100" b="0" i="0">
                <a:solidFill>
                  <a:srgbClr val="E6EDF3"/>
                </a:solidFill>
                <a:latin typeface="Courier New"/>
              </a:rPr>
              <a:t>(</a:t>
            </a:r>
            <a:r>
              <a:rPr sz="1100" b="0" i="0">
                <a:solidFill>
                  <a:srgbClr val="E6EDF3"/>
                </a:solidFill>
                <a:latin typeface="Courier New"/>
              </a:rPr>
              <a:t>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return</a:t>
            </a:r>
            <a:r>
              <a:rPr sz="1100" b="0" i="0">
                <a:solidFill>
                  <a:srgbClr val="E6EDF3"/>
                </a:solidFill>
                <a:latin typeface="Courier New"/>
              </a:rPr>
              <a:t> </a:t>
            </a:r>
            <a:r>
              <a:rPr sz="1100" b="0" i="0">
                <a:solidFill>
                  <a:srgbClr val="9BE3A8"/>
                </a:solidFill>
                <a:latin typeface="Courier New"/>
              </a:rPr>
              <a:t>'accepted'</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except</a:t>
            </a:r>
            <a:r>
              <a:rPr sz="1100" b="0" i="0">
                <a:solidFill>
                  <a:srgbClr val="E6EDF3"/>
                </a:solidFill>
                <a:latin typeface="Courier New"/>
              </a:rPr>
              <a:t> </a:t>
            </a:r>
            <a:r>
              <a:rPr sz="1100" b="0" i="0">
                <a:solidFill>
                  <a:srgbClr val="E6EDF3"/>
                </a:solidFill>
                <a:latin typeface="Courier New"/>
              </a:rPr>
              <a:t>json</a:t>
            </a:r>
            <a:r>
              <a:rPr sz="1100" b="0" i="0">
                <a:solidFill>
                  <a:srgbClr val="E6EDF3"/>
                </a:solidFill>
                <a:latin typeface="Courier New"/>
              </a:rPr>
              <a:t>.</a:t>
            </a:r>
            <a:r>
              <a:rPr sz="1100" b="0" i="0">
                <a:solidFill>
                  <a:srgbClr val="E6EDF3"/>
                </a:solidFill>
                <a:latin typeface="Courier New"/>
              </a:rPr>
              <a:t>JSONDecodeError</a:t>
            </a:r>
            <a:r>
              <a:rPr sz="1100" b="0" i="0">
                <a:solidFill>
                  <a:srgbClr val="E6EDF3"/>
                </a:solidFill>
                <a:latin typeface="Courier New"/>
              </a:rPr>
              <a:t> </a:t>
            </a:r>
            <a:r>
              <a:rPr sz="1100" b="0" i="0">
                <a:solidFill>
                  <a:srgbClr val="E6EDF3"/>
                </a:solidFill>
                <a:latin typeface="Courier New"/>
              </a:rPr>
              <a:t>as</a:t>
            </a:r>
            <a:r>
              <a:rPr sz="1100" b="0" i="0">
                <a:solidFill>
                  <a:srgbClr val="E6EDF3"/>
                </a:solidFill>
                <a:latin typeface="Courier New"/>
              </a:rPr>
              <a:t> </a:t>
            </a:r>
            <a:r>
              <a:rPr sz="1100" b="0" i="0">
                <a:solidFill>
                  <a:srgbClr val="E6EDF3"/>
                </a:solidFill>
                <a:latin typeface="Courier New"/>
              </a:rPr>
              <a:t>e</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return</a:t>
            </a:r>
            <a:r>
              <a:rPr sz="1100" b="0" i="0">
                <a:solidFill>
                  <a:srgbClr val="E6EDF3"/>
                </a:solidFill>
                <a:latin typeface="Courier New"/>
              </a:rPr>
              <a:t> </a:t>
            </a:r>
            <a:r>
              <a:rPr sz="1100" b="0" i="0">
                <a:solidFill>
                  <a:srgbClr val="9BE3A8"/>
                </a:solidFill>
                <a:latin typeface="Courier New"/>
              </a:rPr>
              <a:t>'%s (column %d)'</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e</a:t>
            </a:r>
            <a:r>
              <a:rPr sz="1100" b="0" i="0">
                <a:solidFill>
                  <a:srgbClr val="E6EDF3"/>
                </a:solidFill>
                <a:latin typeface="Courier New"/>
              </a:rPr>
              <a:t>.</a:t>
            </a:r>
            <a:r>
              <a:rPr sz="1100" b="0" i="0">
                <a:solidFill>
                  <a:srgbClr val="E6EDF3"/>
                </a:solidFill>
                <a:latin typeface="Courier New"/>
              </a:rPr>
              <a:t>msg</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e</a:t>
            </a:r>
            <a:r>
              <a:rPr sz="1100" b="0" i="0">
                <a:solidFill>
                  <a:srgbClr val="E6EDF3"/>
                </a:solidFill>
                <a:latin typeface="Courier New"/>
              </a:rPr>
              <a:t>.</a:t>
            </a:r>
            <a:r>
              <a:rPr sz="1100" b="0" i="0">
                <a:solidFill>
                  <a:srgbClr val="E6EDF3"/>
                </a:solidFill>
                <a:latin typeface="Courier New"/>
              </a:rPr>
              <a:t>colno</a:t>
            </a:r>
            <a:r>
              <a:rPr sz="1100" b="0" i="0">
                <a:solidFill>
                  <a:srgbClr val="E6EDF3"/>
                </a:solidFill>
                <a:latin typeface="Courier New"/>
              </a:rPr>
              <a:t>)</a:t>
            </a:r>
          </a:p>
        </p:txBody>
      </p:sp>
      <p:sp>
        <p:nvSpPr>
          <p:cNvPr id="5" name="explanation"/>
          <p:cNvSpPr txBox="1"/>
          <p:nvPr/>
        </p:nvSpPr>
        <p:spPr>
          <a:xfrm>
            <a:off x="365760" y="1614424"/>
            <a:ext cx="8412480" cy="318516"/>
          </a:xfrm>
          <a:prstGeom prst="rect">
            <a:avLst/>
          </a:prstGeom>
          <a:noFill/>
        </p:spPr>
        <p:txBody>
          <a:bodyPr wrap="square" lIns="109728" rIns="109728" tIns="18288" bIns="18288" anchor="ctr">
            <a:spAutoFit/>
          </a:bodyPr>
          <a:lstStyle/>
          <a:p>
            <a:r>
              <a:rPr sz="1200" b="0" i="0">
                <a:solidFill>
                  <a:srgbClr val="1F2933"/>
                </a:solidFill>
                <a:latin typeface="Calibri"/>
              </a:rPr>
              <a:t>msg() reports what json.loads() says about a text: accepted, or the error and the column.</a:t>
            </a:r>
          </a:p>
        </p:txBody>
      </p:sp>
      <p:sp>
        <p:nvSpPr>
          <p:cNvPr id="6" name="code"/>
          <p:cNvSpPr/>
          <p:nvPr/>
        </p:nvSpPr>
        <p:spPr>
          <a:xfrm>
            <a:off x="365760" y="1969516"/>
            <a:ext cx="8412480" cy="64846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texts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'["spam", "eggs",]'</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"{'a': 1}"</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'[None]'</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'[NaN]'</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t</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texts</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repr</a:t>
            </a:r>
            <a:r>
              <a:rPr sz="1100" b="0" i="0">
                <a:solidFill>
                  <a:srgbClr val="E6EDF3"/>
                </a:solidFill>
                <a:latin typeface="Courier New"/>
              </a:rPr>
              <a:t>(</a:t>
            </a:r>
            <a:r>
              <a:rPr sz="1100" b="0" i="0">
                <a:solidFill>
                  <a:srgbClr val="E6EDF3"/>
                </a:solidFill>
                <a:latin typeface="Courier New"/>
              </a:rPr>
              <a:t>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'-&gt;'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msg</a:t>
            </a:r>
            <a:r>
              <a:rPr sz="1100" b="0" i="0">
                <a:solidFill>
                  <a:srgbClr val="E6EDF3"/>
                </a:solidFill>
                <a:latin typeface="Courier New"/>
              </a:rPr>
              <a:t>(</a:t>
            </a:r>
            <a:r>
              <a:rPr sz="1100" b="0" i="0">
                <a:solidFill>
                  <a:srgbClr val="E6EDF3"/>
                </a:solidFill>
                <a:latin typeface="Courier New"/>
              </a:rPr>
              <a:t>t</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365760" y="2627121"/>
            <a:ext cx="8412480" cy="509016"/>
          </a:xfrm>
          <a:prstGeom prst="rect">
            <a:avLst/>
          </a:prstGeom>
          <a:noFill/>
        </p:spPr>
        <p:txBody>
          <a:bodyPr wrap="square" lIns="109728" rIns="109728" tIns="18288" bIns="18288" anchor="ctr">
            <a:spAutoFit/>
          </a:bodyPr>
          <a:lstStyle/>
          <a:p>
            <a:r>
              <a:rPr sz="1200" b="0" i="0">
                <a:solidFill>
                  <a:srgbClr val="1F2933"/>
                </a:solidFill>
                <a:latin typeface="Calibri"/>
              </a:rPr>
              <a:t>A trailing comma, single quotes, Python's None and an empty text are all refused. NaN is accepted, though JSON has no NaN.</a:t>
            </a:r>
          </a:p>
        </p:txBody>
      </p:sp>
      <p:sp>
        <p:nvSpPr>
          <p:cNvPr id="8" name="result label"/>
          <p:cNvSpPr txBox="1"/>
          <p:nvPr/>
        </p:nvSpPr>
        <p:spPr>
          <a:xfrm>
            <a:off x="365760" y="3181857"/>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428745"/>
          <a:ext cx="8412480" cy="1207008"/>
        </p:xfrm>
        <a:graphic>
          <a:graphicData uri="http://schemas.openxmlformats.org/drawingml/2006/table">
            <a:tbl>
              <a:tblPr firstRow="0" bandRow="0"/>
              <a:tblGrid>
                <a:gridCol w="2804160"/>
                <a:gridCol w="5608320"/>
              </a:tblGrid>
              <a:tr h="201168">
                <a:tc>
                  <a:txBody>
                    <a:bodyPr wrap="square"/>
                    <a:lstStyle/>
                    <a:p>
                      <a:r>
                        <a:rPr sz="900" b="1" i="0">
                          <a:solidFill>
                            <a:srgbClr val="FFFFFF"/>
                          </a:solidFill>
                          <a:latin typeface="Calibri"/>
                        </a:rPr>
                        <a:t>text given to json.loads()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what it says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01168">
                <a:tc>
                  <a:txBody>
                    <a:bodyPr wrap="square"/>
                    <a:lstStyle/>
                    <a:p>
                      <a:r>
                        <a:rPr sz="900" b="0" i="0">
                          <a:solidFill>
                            <a:srgbClr val="1F2933"/>
                          </a:solidFill>
                          <a:latin typeface="Courier New"/>
                        </a:rPr>
                        <a:t>'["spam", "eggs",]'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Illegal trailing comma before end of array (column 16)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r h="201168">
                <a:tc>
                  <a:txBody>
                    <a:bodyPr wrap="square"/>
                    <a:lstStyle/>
                    <a:p>
                      <a:r>
                        <a:rPr sz="900" b="0" i="0">
                          <a:solidFill>
                            <a:srgbClr val="1F2933"/>
                          </a:solidFill>
                          <a:latin typeface="Courier New"/>
                        </a:rPr>
                        <a:t>"{'a': 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Expecting property name enclosed in double quotes (column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r h="201168">
                <a:tc>
                  <a:txBody>
                    <a:bodyPr wrap="square"/>
                    <a:lstStyle/>
                    <a:p>
                      <a:r>
                        <a:rPr sz="900" b="0" i="0">
                          <a:solidFill>
                            <a:srgbClr val="1F2933"/>
                          </a:solidFill>
                          <a:latin typeface="Courier New"/>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Expecting value (column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r h="201168">
                <a:tc>
                  <a:txBody>
                    <a:bodyPr wrap="square"/>
                    <a:lstStyle/>
                    <a:p>
                      <a:r>
                        <a:rPr sz="900" b="0" i="0">
                          <a:solidFill>
                            <a:srgbClr val="1F2933"/>
                          </a:solidFill>
                          <a:latin typeface="Courier New"/>
                        </a:rPr>
                        <a:t>'[NaN]'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accepted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01168">
                <a:tc>
                  <a:txBody>
                    <a:bodyPr wrap="square"/>
                    <a:lstStyle/>
                    <a:p>
                      <a:r>
                        <a:rPr sz="90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Expecting value (column 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bl>
          </a:graphicData>
        </a:graphic>
      </p:graphicFrame>
      <p:sp>
        <p:nvSpPr>
          <p:cNvPr id="1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One extra comma is an error.</a:t>
            </a:r>
          </a:p>
        </p:txBody>
      </p:sp>
      <p:sp>
        <p:nvSpPr>
          <p:cNvPr id="1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32 / 53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JSON and files: dump(), load() and the byte order mark</a:t>
            </a:r>
          </a:p>
        </p:txBody>
      </p:sp>
      <p:sp>
        <p:nvSpPr>
          <p:cNvPr id="4" name="code"/>
          <p:cNvSpPr/>
          <p:nvPr/>
        </p:nvSpPr>
        <p:spPr>
          <a:xfrm>
            <a:off x="365760" y="786384"/>
            <a:ext cx="5513831" cy="91185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json</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tempfile</a:t>
            </a:r>
          </a:p>
          <a:p>
            <a:pPr algn="l"/>
            <a:r>
              <a:rPr sz="1000" b="0" i="0">
                <a:solidFill>
                  <a:srgbClr val="8FA3B8"/>
                </a:solidFill>
                <a:latin typeface="Courier New"/>
              </a:rPr>
              <a:t>&gt;&gt;&gt;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chdir</a:t>
            </a:r>
            <a:r>
              <a:rPr sz="1000" b="0" i="0">
                <a:solidFill>
                  <a:srgbClr val="E6EDF3"/>
                </a:solidFill>
                <a:latin typeface="Courier New"/>
              </a:rPr>
              <a:t>(</a:t>
            </a:r>
            <a:r>
              <a:rPr sz="1000" b="0" i="0">
                <a:solidFill>
                  <a:srgbClr val="E6EDF3"/>
                </a:solidFill>
                <a:latin typeface="Courier New"/>
              </a:rPr>
              <a:t>tempfile</a:t>
            </a:r>
            <a:r>
              <a:rPr sz="1000" b="0" i="0">
                <a:solidFill>
                  <a:srgbClr val="E6EDF3"/>
                </a:solidFill>
                <a:latin typeface="Courier New"/>
              </a:rPr>
              <a:t>.</a:t>
            </a:r>
            <a:r>
              <a:rPr sz="1000" b="0" i="0">
                <a:solidFill>
                  <a:srgbClr val="E6EDF3"/>
                </a:solidFill>
                <a:latin typeface="Courier New"/>
              </a:rPr>
              <a:t>mkdtemp</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data</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'city'</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'İstanbul'</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'n'</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7CC4FF"/>
                </a:solidFill>
                <a:latin typeface="Courier New"/>
              </a:rPr>
              <a:t>1</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None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True</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with</a:t>
            </a:r>
            <a:r>
              <a:rPr sz="1000" b="0" i="0">
                <a:solidFill>
                  <a:srgbClr val="E6EDF3"/>
                </a:solidFill>
                <a:latin typeface="Courier New"/>
              </a:rPr>
              <a:t> </a:t>
            </a:r>
            <a:r>
              <a:rPr sz="1000" b="0" i="0">
                <a:solidFill>
                  <a:srgbClr val="E6EDF3"/>
                </a:solidFill>
                <a:latin typeface="Courier New"/>
              </a:rPr>
              <a:t>open</a:t>
            </a:r>
            <a:r>
              <a:rPr sz="1000" b="0" i="0">
                <a:solidFill>
                  <a:srgbClr val="E6EDF3"/>
                </a:solidFill>
                <a:latin typeface="Courier New"/>
              </a:rPr>
              <a:t>(</a:t>
            </a:r>
            <a:r>
              <a:rPr sz="1000" b="0" i="0">
                <a:solidFill>
                  <a:srgbClr val="9BE3A8"/>
                </a:solidFill>
                <a:latin typeface="Courier New"/>
              </a:rPr>
              <a:t>'p.json'</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'w'</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encoding</a:t>
            </a:r>
            <a:r>
              <a:rPr sz="1000" b="0" i="0">
                <a:solidFill>
                  <a:srgbClr val="E6EDF3"/>
                </a:solidFill>
                <a:latin typeface="Courier New"/>
              </a:rPr>
              <a:t>=</a:t>
            </a:r>
            <a:r>
              <a:rPr sz="1000" b="0" i="0">
                <a:solidFill>
                  <a:srgbClr val="9BE3A8"/>
                </a:solidFill>
                <a:latin typeface="Courier New"/>
              </a:rPr>
              <a:t>'utf-8'</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as</a:t>
            </a:r>
            <a:r>
              <a:rPr sz="1000" b="0" i="0">
                <a:solidFill>
                  <a:srgbClr val="E6EDF3"/>
                </a:solidFill>
                <a:latin typeface="Courier New"/>
              </a:rPr>
              <a:t> </a:t>
            </a:r>
            <a:r>
              <a:rPr sz="1000" b="0" i="0">
                <a:solidFill>
                  <a:srgbClr val="E6EDF3"/>
                </a:solidFill>
                <a:latin typeface="Courier New"/>
              </a:rPr>
              <a:t>f</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json</a:t>
            </a:r>
            <a:r>
              <a:rPr sz="1000" b="0" i="0">
                <a:solidFill>
                  <a:srgbClr val="E6EDF3"/>
                </a:solidFill>
                <a:latin typeface="Courier New"/>
              </a:rPr>
              <a:t>.</a:t>
            </a:r>
            <a:r>
              <a:rPr sz="1000" b="0" i="0">
                <a:solidFill>
                  <a:srgbClr val="E6EDF3"/>
                </a:solidFill>
                <a:latin typeface="Courier New"/>
              </a:rPr>
              <a:t>dump</a:t>
            </a:r>
            <a:r>
              <a:rPr sz="1000" b="0" i="0">
                <a:solidFill>
                  <a:srgbClr val="E6EDF3"/>
                </a:solidFill>
                <a:latin typeface="Courier New"/>
              </a:rPr>
              <a:t>(</a:t>
            </a:r>
            <a:r>
              <a:rPr sz="1000" b="0" i="0">
                <a:solidFill>
                  <a:srgbClr val="E6EDF3"/>
                </a:solidFill>
                <a:latin typeface="Courier New"/>
              </a:rPr>
              <a:t>data</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f</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ensure_ascii</a:t>
            </a:r>
            <a:r>
              <a:rPr sz="1000" b="0" i="0">
                <a:solidFill>
                  <a:srgbClr val="E6EDF3"/>
                </a:solidFill>
                <a:latin typeface="Courier New"/>
              </a:rPr>
              <a:t>=</a:t>
            </a:r>
            <a:r>
              <a:rPr sz="1000" b="0" i="0">
                <a:solidFill>
                  <a:srgbClr val="E6EDF3"/>
                </a:solidFill>
                <a:latin typeface="Courier New"/>
              </a:rPr>
              <a:t>False</a:t>
            </a:r>
            <a:r>
              <a:rPr sz="1000" b="0" i="0">
                <a:solidFill>
                  <a:srgbClr val="E6EDF3"/>
                </a:solidFill>
                <a:latin typeface="Courier New"/>
              </a:rPr>
              <a:t>)</a:t>
            </a:r>
          </a:p>
        </p:txBody>
      </p:sp>
      <p:sp>
        <p:nvSpPr>
          <p:cNvPr id="5" name="explanation"/>
          <p:cNvSpPr txBox="1"/>
          <p:nvPr/>
        </p:nvSpPr>
        <p:spPr>
          <a:xfrm>
            <a:off x="5861304" y="786384"/>
            <a:ext cx="2916936" cy="911859"/>
          </a:xfrm>
          <a:prstGeom prst="rect">
            <a:avLst/>
          </a:prstGeom>
          <a:noFill/>
        </p:spPr>
        <p:txBody>
          <a:bodyPr wrap="square" lIns="128016" rIns="128016" tIns="18288" bIns="18288" anchor="ctr">
            <a:spAutoFit/>
          </a:bodyPr>
          <a:lstStyle/>
          <a:p>
            <a:r>
              <a:rPr sz="1100" b="0" i="0">
                <a:solidFill>
                  <a:srgbClr val="1F2933"/>
                </a:solidFill>
                <a:latin typeface="Calibri"/>
              </a:rPr>
              <a:t>dump() writes JSON to a file. ensure_ascii=False keeps the letter as it is instead of a \u escape.</a:t>
            </a:r>
          </a:p>
        </p:txBody>
      </p:sp>
      <p:sp>
        <p:nvSpPr>
          <p:cNvPr id="6" name="code"/>
          <p:cNvSpPr/>
          <p:nvPr/>
        </p:nvSpPr>
        <p:spPr>
          <a:xfrm>
            <a:off x="365760" y="1743963"/>
            <a:ext cx="55138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open</a:t>
            </a:r>
            <a:r>
              <a:rPr sz="1000" b="0" i="0">
                <a:solidFill>
                  <a:srgbClr val="E6EDF3"/>
                </a:solidFill>
                <a:latin typeface="Courier New"/>
              </a:rPr>
              <a:t>(</a:t>
            </a:r>
            <a:r>
              <a:rPr sz="1000" b="0" i="0">
                <a:solidFill>
                  <a:srgbClr val="9BE3A8"/>
                </a:solidFill>
                <a:latin typeface="Courier New"/>
              </a:rPr>
              <a:t>'p.json'</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'rb'</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read</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with</a:t>
            </a:r>
            <a:r>
              <a:rPr sz="1000" b="0" i="0">
                <a:solidFill>
                  <a:srgbClr val="E6EDF3"/>
                </a:solidFill>
                <a:latin typeface="Courier New"/>
              </a:rPr>
              <a:t> </a:t>
            </a:r>
            <a:r>
              <a:rPr sz="1000" b="0" i="0">
                <a:solidFill>
                  <a:srgbClr val="E6EDF3"/>
                </a:solidFill>
                <a:latin typeface="Courier New"/>
              </a:rPr>
              <a:t>open</a:t>
            </a:r>
            <a:r>
              <a:rPr sz="1000" b="0" i="0">
                <a:solidFill>
                  <a:srgbClr val="E6EDF3"/>
                </a:solidFill>
                <a:latin typeface="Courier New"/>
              </a:rPr>
              <a:t>(</a:t>
            </a:r>
            <a:r>
              <a:rPr sz="1000" b="0" i="0">
                <a:solidFill>
                  <a:srgbClr val="9BE3A8"/>
                </a:solidFill>
                <a:latin typeface="Courier New"/>
              </a:rPr>
              <a:t>'p.json'</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encoding</a:t>
            </a:r>
            <a:r>
              <a:rPr sz="1000" b="0" i="0">
                <a:solidFill>
                  <a:srgbClr val="E6EDF3"/>
                </a:solidFill>
                <a:latin typeface="Courier New"/>
              </a:rPr>
              <a:t>=</a:t>
            </a:r>
            <a:r>
              <a:rPr sz="1000" b="0" i="0">
                <a:solidFill>
                  <a:srgbClr val="9BE3A8"/>
                </a:solidFill>
                <a:latin typeface="Courier New"/>
              </a:rPr>
              <a:t>'utf-8'</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as</a:t>
            </a:r>
            <a:r>
              <a:rPr sz="1000" b="0" i="0">
                <a:solidFill>
                  <a:srgbClr val="E6EDF3"/>
                </a:solidFill>
                <a:latin typeface="Courier New"/>
              </a:rPr>
              <a:t> </a:t>
            </a:r>
            <a:r>
              <a:rPr sz="1000" b="0" i="0">
                <a:solidFill>
                  <a:srgbClr val="E6EDF3"/>
                </a:solidFill>
                <a:latin typeface="Courier New"/>
              </a:rPr>
              <a:t>f</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json</a:t>
            </a:r>
            <a:r>
              <a:rPr sz="1000" b="0" i="0">
                <a:solidFill>
                  <a:srgbClr val="E6EDF3"/>
                </a:solidFill>
                <a:latin typeface="Courier New"/>
              </a:rPr>
              <a:t>.</a:t>
            </a:r>
            <a:r>
              <a:rPr sz="1000" b="0" i="0">
                <a:solidFill>
                  <a:srgbClr val="E6EDF3"/>
                </a:solidFill>
                <a:latin typeface="Courier New"/>
              </a:rPr>
              <a:t>load</a:t>
            </a:r>
            <a:r>
              <a:rPr sz="1000" b="0" i="0">
                <a:solidFill>
                  <a:srgbClr val="E6EDF3"/>
                </a:solidFill>
                <a:latin typeface="Courier New"/>
              </a:rPr>
              <a:t>(</a:t>
            </a:r>
            <a:r>
              <a:rPr sz="1000" b="0" i="0">
                <a:solidFill>
                  <a:srgbClr val="E6EDF3"/>
                </a:solidFill>
                <a:latin typeface="Courier New"/>
              </a:rPr>
              <a:t>f</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data</a:t>
            </a:r>
            <a:r>
              <a:rPr sz="1000" b="0" i="0">
                <a:solidFill>
                  <a:srgbClr val="E6EDF3"/>
                </a:solidFill>
                <a:latin typeface="Courier New"/>
              </a:rPr>
              <a:t>)</a:t>
            </a:r>
          </a:p>
        </p:txBody>
      </p:sp>
      <p:sp>
        <p:nvSpPr>
          <p:cNvPr id="7" name="explanation"/>
          <p:cNvSpPr txBox="1"/>
          <p:nvPr/>
        </p:nvSpPr>
        <p:spPr>
          <a:xfrm>
            <a:off x="5861304" y="1743963"/>
            <a:ext cx="2916936" cy="651891"/>
          </a:xfrm>
          <a:prstGeom prst="rect">
            <a:avLst/>
          </a:prstGeom>
          <a:noFill/>
        </p:spPr>
        <p:txBody>
          <a:bodyPr wrap="square" lIns="128016" rIns="128016" tIns="18288" bIns="18288" anchor="ctr">
            <a:spAutoFit/>
          </a:bodyPr>
          <a:lstStyle/>
          <a:p>
            <a:r>
              <a:rPr sz="1100" b="0" i="0">
                <a:solidFill>
                  <a:srgbClr val="1F2933"/>
                </a:solidFill>
                <a:latin typeface="Calibri"/>
              </a:rPr>
              <a:t>The bytes show the file as stored. load() reads it back, and this time the value equals the original.</a:t>
            </a:r>
          </a:p>
        </p:txBody>
      </p:sp>
      <p:sp>
        <p:nvSpPr>
          <p:cNvPr id="8" name="code"/>
          <p:cNvSpPr/>
          <p:nvPr/>
        </p:nvSpPr>
        <p:spPr>
          <a:xfrm>
            <a:off x="365760" y="2441574"/>
            <a:ext cx="55138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json</a:t>
            </a:r>
            <a:r>
              <a:rPr sz="1000" b="0" i="0">
                <a:solidFill>
                  <a:srgbClr val="E6EDF3"/>
                </a:solidFill>
                <a:latin typeface="Courier New"/>
              </a:rPr>
              <a:t>.</a:t>
            </a:r>
            <a:r>
              <a:rPr sz="1000" b="0" i="0">
                <a:solidFill>
                  <a:srgbClr val="E6EDF3"/>
                </a:solidFill>
                <a:latin typeface="Courier New"/>
              </a:rPr>
              <a:t>loads</a:t>
            </a:r>
            <a:r>
              <a:rPr sz="1000" b="0" i="0">
                <a:solidFill>
                  <a:srgbClr val="E6EDF3"/>
                </a:solidFill>
                <a:latin typeface="Courier New"/>
              </a:rPr>
              <a:t>(</a:t>
            </a:r>
            <a:r>
              <a:rPr sz="1000" b="0" i="0">
                <a:solidFill>
                  <a:srgbClr val="E6EDF3"/>
                </a:solidFill>
                <a:latin typeface="Courier New"/>
              </a:rPr>
              <a:t>b</a:t>
            </a:r>
            <a:r>
              <a:rPr sz="1000" b="0" i="0">
                <a:solidFill>
                  <a:srgbClr val="9BE3A8"/>
                </a:solidFill>
                <a:latin typeface="Courier New"/>
              </a:rPr>
              <a:t>'\xef\xbb\xbf[1]'</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try</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json</a:t>
            </a:r>
            <a:r>
              <a:rPr sz="1000" b="0" i="0">
                <a:solidFill>
                  <a:srgbClr val="E6EDF3"/>
                </a:solidFill>
                <a:latin typeface="Courier New"/>
              </a:rPr>
              <a:t>.</a:t>
            </a:r>
            <a:r>
              <a:rPr sz="1000" b="0" i="0">
                <a:solidFill>
                  <a:srgbClr val="E6EDF3"/>
                </a:solidFill>
                <a:latin typeface="Courier New"/>
              </a:rPr>
              <a:t>loads</a:t>
            </a:r>
            <a:r>
              <a:rPr sz="1000" b="0" i="0">
                <a:solidFill>
                  <a:srgbClr val="E6EDF3"/>
                </a:solidFill>
                <a:latin typeface="Courier New"/>
              </a:rPr>
              <a:t>(</a:t>
            </a:r>
            <a:r>
              <a:rPr sz="1000" b="0" i="0">
                <a:solidFill>
                  <a:srgbClr val="9BE3A8"/>
                </a:solidFill>
                <a:latin typeface="Courier New"/>
              </a:rPr>
              <a:t>'\ufeff[1]'</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except</a:t>
            </a:r>
            <a:r>
              <a:rPr sz="1000" b="0" i="0">
                <a:solidFill>
                  <a:srgbClr val="E6EDF3"/>
                </a:solidFill>
                <a:latin typeface="Courier New"/>
              </a:rPr>
              <a:t> </a:t>
            </a:r>
            <a:r>
              <a:rPr sz="1000" b="0" i="0">
                <a:solidFill>
                  <a:srgbClr val="E6EDF3"/>
                </a:solidFill>
                <a:latin typeface="Courier New"/>
              </a:rPr>
              <a:t>json</a:t>
            </a:r>
            <a:r>
              <a:rPr sz="1000" b="0" i="0">
                <a:solidFill>
                  <a:srgbClr val="E6EDF3"/>
                </a:solidFill>
                <a:latin typeface="Courier New"/>
              </a:rPr>
              <a:t>.</a:t>
            </a:r>
            <a:r>
              <a:rPr sz="1000" b="0" i="0">
                <a:solidFill>
                  <a:srgbClr val="E6EDF3"/>
                </a:solidFill>
                <a:latin typeface="Courier New"/>
              </a:rPr>
              <a:t>JSONDecodeError</a:t>
            </a:r>
            <a:r>
              <a:rPr sz="1000" b="0" i="0">
                <a:solidFill>
                  <a:srgbClr val="E6EDF3"/>
                </a:solidFill>
                <a:latin typeface="Courier New"/>
              </a:rPr>
              <a:t> </a:t>
            </a:r>
            <a:r>
              <a:rPr sz="1000" b="0" i="0">
                <a:solidFill>
                  <a:srgbClr val="E6EDF3"/>
                </a:solidFill>
                <a:latin typeface="Courier New"/>
              </a:rPr>
              <a:t>as</a:t>
            </a:r>
            <a:r>
              <a:rPr sz="1000" b="0" i="0">
                <a:solidFill>
                  <a:srgbClr val="E6EDF3"/>
                </a:solidFill>
                <a:latin typeface="Courier New"/>
              </a:rPr>
              <a:t> </a:t>
            </a:r>
            <a:r>
              <a:rPr sz="1000" b="0" i="0">
                <a:solidFill>
                  <a:srgbClr val="E6EDF3"/>
                </a:solidFill>
                <a:latin typeface="Courier New"/>
              </a:rPr>
              <a:t>e</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'str with a BOM:'</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e</a:t>
            </a:r>
            <a:r>
              <a:rPr sz="1000" b="0" i="0">
                <a:solidFill>
                  <a:srgbClr val="E6EDF3"/>
                </a:solidFill>
                <a:latin typeface="Courier New"/>
              </a:rPr>
              <a:t>.</a:t>
            </a:r>
            <a:r>
              <a:rPr sz="1000" b="0" i="0">
                <a:solidFill>
                  <a:srgbClr val="E6EDF3"/>
                </a:solidFill>
                <a:latin typeface="Courier New"/>
              </a:rPr>
              <a:t>msg</a:t>
            </a:r>
            <a:r>
              <a:rPr sz="1000" b="0" i="0">
                <a:solidFill>
                  <a:srgbClr val="E6EDF3"/>
                </a:solidFill>
                <a:latin typeface="Courier New"/>
              </a:rPr>
              <a:t>)</a:t>
            </a:r>
          </a:p>
        </p:txBody>
      </p:sp>
      <p:sp>
        <p:nvSpPr>
          <p:cNvPr id="9" name="explanation"/>
          <p:cNvSpPr txBox="1"/>
          <p:nvPr/>
        </p:nvSpPr>
        <p:spPr>
          <a:xfrm>
            <a:off x="5861304" y="2441574"/>
            <a:ext cx="2916936" cy="651891"/>
          </a:xfrm>
          <a:prstGeom prst="rect">
            <a:avLst/>
          </a:prstGeom>
          <a:noFill/>
        </p:spPr>
        <p:txBody>
          <a:bodyPr wrap="square" lIns="128016" rIns="128016" tIns="18288" bIns="18288" anchor="ctr">
            <a:spAutoFit/>
          </a:bodyPr>
          <a:lstStyle/>
          <a:p>
            <a:r>
              <a:rPr sz="1100" b="0" i="0">
                <a:solidFill>
                  <a:srgbClr val="1F2933"/>
                </a:solidFill>
                <a:latin typeface="Calibri"/>
              </a:rPr>
              <a:t>Bytes with a byte order mark are accepted. A string that starts with the mark is refused.</a:t>
            </a:r>
          </a:p>
        </p:txBody>
      </p:sp>
      <p:sp>
        <p:nvSpPr>
          <p:cNvPr id="10" name="result label"/>
          <p:cNvSpPr txBox="1"/>
          <p:nvPr/>
        </p:nvSpPr>
        <p:spPr>
          <a:xfrm>
            <a:off x="365760" y="3148330"/>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413506"/>
            <a:ext cx="1477670" cy="566928"/>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dict with</a:t>
            </a:r>
          </a:p>
          <a:p>
            <a:pPr algn="ctr"/>
            <a:r>
              <a:rPr sz="900" b="0" i="0">
                <a:solidFill>
                  <a:srgbClr val="1F2933"/>
                </a:solidFill>
                <a:latin typeface="Calibri"/>
              </a:rPr>
              <a:t>İstanbul</a:t>
            </a:r>
          </a:p>
        </p:txBody>
      </p:sp>
      <p:cxnSp>
        <p:nvCxnSpPr>
          <p:cNvPr id="12" name="arrow"/>
          <p:cNvCxnSpPr/>
          <p:nvPr/>
        </p:nvCxnSpPr>
        <p:spPr>
          <a:xfrm>
            <a:off x="1861718" y="3696969"/>
            <a:ext cx="219456"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099462" y="3413506"/>
            <a:ext cx="1477670" cy="566928"/>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json.dump(...,</a:t>
            </a:r>
          </a:p>
          <a:p>
            <a:pPr algn="ctr"/>
            <a:r>
              <a:rPr sz="900" b="0" i="0">
                <a:solidFill>
                  <a:srgbClr val="1F2933"/>
                </a:solidFill>
                <a:latin typeface="Calibri"/>
              </a:rPr>
              <a:t>ensure_ascii=False)</a:t>
            </a:r>
          </a:p>
        </p:txBody>
      </p:sp>
      <p:cxnSp>
        <p:nvCxnSpPr>
          <p:cNvPr id="14" name="arrow"/>
          <p:cNvCxnSpPr/>
          <p:nvPr/>
        </p:nvCxnSpPr>
        <p:spPr>
          <a:xfrm>
            <a:off x="3595420" y="3696969"/>
            <a:ext cx="219456"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833164" y="3413506"/>
            <a:ext cx="1477670" cy="566928"/>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file bytes</a:t>
            </a:r>
          </a:p>
          <a:p>
            <a:pPr algn="ctr"/>
            <a:r>
              <a:rPr sz="900" b="0" i="0">
                <a:solidFill>
                  <a:srgbClr val="1F2933"/>
                </a:solidFill>
                <a:latin typeface="Calibri"/>
              </a:rPr>
              <a:t>b'{"city": "\xc4\xb0s...</a:t>
            </a:r>
          </a:p>
        </p:txBody>
      </p:sp>
      <p:cxnSp>
        <p:nvCxnSpPr>
          <p:cNvPr id="16" name="arrow"/>
          <p:cNvCxnSpPr/>
          <p:nvPr/>
        </p:nvCxnSpPr>
        <p:spPr>
          <a:xfrm>
            <a:off x="5329123" y="3696969"/>
            <a:ext cx="219456"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566867" y="3413506"/>
            <a:ext cx="1477670" cy="566928"/>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json.load(f)</a:t>
            </a:r>
          </a:p>
        </p:txBody>
      </p:sp>
      <p:cxnSp>
        <p:nvCxnSpPr>
          <p:cNvPr id="18" name="arrow"/>
          <p:cNvCxnSpPr/>
          <p:nvPr/>
        </p:nvCxnSpPr>
        <p:spPr>
          <a:xfrm>
            <a:off x="7062825" y="3696969"/>
            <a:ext cx="219456"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300569" y="3413506"/>
            <a:ext cx="1477670" cy="566928"/>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equals the</a:t>
            </a:r>
          </a:p>
          <a:p>
            <a:pPr algn="ctr"/>
            <a:r>
              <a:rPr sz="900" b="0" i="0">
                <a:solidFill>
                  <a:srgbClr val="1F2933"/>
                </a:solidFill>
                <a:latin typeface="Calibri"/>
              </a:rPr>
              <a:t>original: True</a:t>
            </a:r>
          </a:p>
        </p:txBody>
      </p:sp>
      <p:sp>
        <p:nvSpPr>
          <p:cNvPr id="20" name="Rounded Rectangle 19"/>
          <p:cNvSpPr/>
          <p:nvPr/>
        </p:nvSpPr>
        <p:spPr>
          <a:xfrm>
            <a:off x="365760" y="4145026"/>
            <a:ext cx="3931920" cy="310896"/>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bytes with a BOM: [1]</a:t>
            </a:r>
          </a:p>
        </p:txBody>
      </p:sp>
      <p:sp>
        <p:nvSpPr>
          <p:cNvPr id="21" name="Rounded Rectangle 20"/>
          <p:cNvSpPr/>
          <p:nvPr/>
        </p:nvSpPr>
        <p:spPr>
          <a:xfrm>
            <a:off x="4480560" y="4145026"/>
            <a:ext cx="4297680" cy="310896"/>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str with a BOM: Unexpected UTF-8 BOM (decode using utf-8-sig)</a:t>
            </a:r>
          </a:p>
        </p:txBody>
      </p:sp>
      <p:sp>
        <p:nvSpPr>
          <p:cNvPr id="2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dump and load use a file; the encoding is yours to name.</a:t>
            </a:r>
          </a:p>
        </p:txBody>
      </p:sp>
      <p:sp>
        <p:nvSpPr>
          <p:cNvPr id="2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33 / 53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2800" b="1" i="0">
                <a:solidFill>
                  <a:srgbClr val="1F2933"/>
                </a:solidFill>
                <a:latin typeface="Calibri"/>
              </a:rPr>
              <a:t>Part 5: XML</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A tree of elements: ElementTree, xmltodict and safety</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ElementTree</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The standard library's tree of XML elements.</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find()</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Looks up a child by its tag or path.</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xmltodict</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Turns XML into a dictionary of strings.</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defusedxml</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Refuses entities that can explode.</a:t>
            </a:r>
          </a:p>
        </p:txBody>
      </p:sp>
      <p:graphicFrame>
        <p:nvGraphicFramePr>
          <p:cNvPr id="13" name="table"/>
          <p:cNvGraphicFramePr>
            <a:graphicFrameLocks noGrp="1"/>
          </p:cNvGraphicFramePr>
          <p:nvPr/>
        </p:nvGraphicFramePr>
        <p:xfrm>
          <a:off x="5303520" y="1417320"/>
          <a:ext cx="3474719" cy="3200395"/>
        </p:xfrm>
        <a:graphic>
          <a:graphicData uri="http://schemas.openxmlformats.org/drawingml/2006/table">
            <a:tbl>
              <a:tblPr firstRow="0" bandRow="0"/>
              <a:tblGrid>
                <a:gridCol w="507543"/>
                <a:gridCol w="2967176"/>
              </a:tblGrid>
              <a:tr h="290945">
                <a:tc>
                  <a:txBody>
                    <a:bodyPr wrap="square"/>
                    <a:lstStyle/>
                    <a:p>
                      <a:r>
                        <a:rPr sz="100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90945">
                <a:tc>
                  <a:txBody>
                    <a:bodyPr wrap="square"/>
                    <a:lstStyle/>
                    <a:p>
                      <a:r>
                        <a:rPr sz="1000" b="0" i="0">
                          <a:solidFill>
                            <a:srgbClr val="1F2933"/>
                          </a:solidFill>
                          <a:latin typeface="Calibri"/>
                        </a:rPr>
                        <a:t>35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XML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0945">
                <a:tc>
                  <a:txBody>
                    <a:bodyPr wrap="square"/>
                    <a:lstStyle/>
                    <a:p>
                      <a:r>
                        <a:rPr sz="1000" b="0" i="0">
                          <a:solidFill>
                            <a:srgbClr val="1F2933"/>
                          </a:solidFill>
                          <a:latin typeface="Calibri"/>
                        </a:rPr>
                        <a:t>36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Story: XML 1.0 became a W3C Recommendatio...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0945">
                <a:tc>
                  <a:txBody>
                    <a:bodyPr wrap="square"/>
                    <a:lstStyle/>
                    <a:p>
                      <a:r>
                        <a:rPr sz="1000" b="0" i="0">
                          <a:solidFill>
                            <a:srgbClr val="1F2933"/>
                          </a:solidFill>
                          <a:latin typeface="Calibri"/>
                        </a:rPr>
                        <a:t>37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Reading XML files: root, children, text 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0945">
                <a:tc>
                  <a:txBody>
                    <a:bodyPr wrap="square"/>
                    <a:lstStyle/>
                    <a:p>
                      <a:r>
                        <a:rPr sz="1000" b="0" i="0">
                          <a:solidFill>
                            <a:srgbClr val="1F2933"/>
                          </a:solidFill>
                          <a:latin typeface="Calibri"/>
                        </a:rPr>
                        <a:t>38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ElementTree: whitespace stays, and broken...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0945">
                <a:tc>
                  <a:txBody>
                    <a:bodyPr wrap="square"/>
                    <a:lstStyle/>
                    <a:p>
                      <a:r>
                        <a:rPr sz="1000" b="0" i="0">
                          <a:solidFill>
                            <a:srgbClr val="1F2933"/>
                          </a:solidFill>
                          <a:latin typeface="Calibri"/>
                        </a:rPr>
                        <a:t>39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Writing XML files: Element, SubElement, 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0945">
                <a:tc>
                  <a:txBody>
                    <a:bodyPr wrap="square"/>
                    <a:lstStyle/>
                    <a:p>
                      <a:r>
                        <a:rPr sz="1000" b="0" i="0">
                          <a:solidFill>
                            <a:srgbClr val="1F2933"/>
                          </a:solidFill>
                          <a:latin typeface="Calibri"/>
                        </a:rPr>
                        <a:t>40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Namespaces and xsi:nil: names are not wha...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0945">
                <a:tc>
                  <a:txBody>
                    <a:bodyPr wrap="square"/>
                    <a:lstStyle/>
                    <a:p>
                      <a:r>
                        <a:rPr sz="1000" b="0" i="0">
                          <a:solidFill>
                            <a:srgbClr val="1F2933"/>
                          </a:solidFill>
                          <a:latin typeface="Calibri"/>
                        </a:rPr>
                        <a:t>41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xmltodict: XML as a dictionary of strings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0945">
                <a:tc>
                  <a:txBody>
                    <a:bodyPr wrap="square"/>
                    <a:lstStyle/>
                    <a:p>
                      <a:r>
                        <a:rPr sz="1000" b="0" i="0">
                          <a:solidFill>
                            <a:srgbClr val="1F2933"/>
                          </a:solidFill>
                          <a:latin typeface="Calibri"/>
                        </a:rPr>
                        <a:t>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Story: ElementTree joined Python in 2006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0945">
                <a:tc>
                  <a:txBody>
                    <a:bodyPr wrap="square"/>
                    <a:lstStyle/>
                    <a:p>
                      <a:r>
                        <a:rPr sz="1000" b="0" i="0">
                          <a:solidFill>
                            <a:srgbClr val="1F2933"/>
                          </a:solidFill>
                          <a:latin typeface="Calibri"/>
                        </a:rPr>
                        <a:t>43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XML from someone else: entities and defus...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0945">
                <a:tc>
                  <a:txBody>
                    <a:bodyPr wrap="square"/>
                    <a:lstStyle/>
                    <a:p>
                      <a:r>
                        <a:rPr sz="1000" b="0" i="0">
                          <a:solidFill>
                            <a:srgbClr val="1F2933"/>
                          </a:solidFill>
                          <a:latin typeface="Calibri"/>
                        </a:rPr>
                        <a:t>44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Story: A small XML file that asks for a 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34 / 53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XML</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XML is like a family tree written in labelled boxes: every box has a name and may hold smaller boxes.</a:t>
            </a:r>
          </a:p>
        </p:txBody>
      </p:sp>
      <p:graphicFrame>
        <p:nvGraphicFramePr>
          <p:cNvPr id="6" name="table"/>
          <p:cNvGraphicFramePr>
            <a:graphicFrameLocks noGrp="1"/>
          </p:cNvGraphicFramePr>
          <p:nvPr/>
        </p:nvGraphicFramePr>
        <p:xfrm>
          <a:off x="365760" y="1417320"/>
          <a:ext cx="8412480" cy="2743200"/>
        </p:xfrm>
        <a:graphic>
          <a:graphicData uri="http://schemas.openxmlformats.org/drawingml/2006/table">
            <a:tbl>
              <a:tblPr firstRow="0" bandRow="0"/>
              <a:tblGrid>
                <a:gridCol w="3108960"/>
                <a:gridCol w="530352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XML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Labelled boxes inside boxes, each opened and closed by the same 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Reading XML Files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Opening the outer box and looking inside, box by box.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Writing XML Files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Packing boxes into boxes and writing a label on each lid.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xml.etree.ElementTree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The standard toolkit for opening and packing the boxes.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xmltodict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An unpacking trick: lay the boxes out as a notebook page of names and values.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35 / 53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XML 1.0 became a W3C Recommendation in 1998</a:t>
            </a:r>
          </a:p>
        </p:txBody>
      </p:sp>
      <p:pic>
        <p:nvPicPr>
          <p:cNvPr id="4" name="photo xml" descr="Picture for the story: XML 1.0 became a W3C Recommendation in 1998"/>
          <p:cNvPicPr>
            <a:picLocks noChangeAspect="1"/>
          </p:cNvPicPr>
          <p:nvPr/>
        </p:nvPicPr>
        <p:blipFill>
          <a:blip r:embed="rId3"/>
          <a:stretch>
            <a:fillRect/>
          </a:stretch>
        </p:blipFill>
        <p:spPr>
          <a:xfrm>
            <a:off x="365760" y="869052"/>
            <a:ext cx="2651760" cy="2925335"/>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Jon Bosak, as titled on Wikimedia Commons. Photo: Tim Bray, CC BY-SA 3.0.</a:t>
            </a:r>
          </a:p>
        </p:txBody>
      </p:sp>
      <p:sp>
        <p:nvSpPr>
          <p:cNvPr id="6" name="card"/>
          <p:cNvSpPr/>
          <p:nvPr/>
        </p:nvSpPr>
        <p:spPr>
          <a:xfrm>
            <a:off x="3200400" y="8412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Jon Bosak of Sun Microsystems, with the W3C working group that wrote XML.</a:t>
            </a:r>
          </a:p>
        </p:txBody>
      </p:sp>
      <p:sp>
        <p:nvSpPr>
          <p:cNvPr id="8" name="card"/>
          <p:cNvSpPr/>
          <p:nvPr/>
        </p:nvSpPr>
        <p:spPr>
          <a:xfrm>
            <a:off x="3200400" y="14081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081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XML 1.0, a simplified descendant of SGML for the web, became a W3C Recommendation.</a:t>
            </a:r>
          </a:p>
        </p:txBody>
      </p:sp>
      <p:sp>
        <p:nvSpPr>
          <p:cNvPr id="10" name="card"/>
          <p:cNvSpPr/>
          <p:nvPr/>
        </p:nvSpPr>
        <p:spPr>
          <a:xfrm>
            <a:off x="3200400" y="1975104"/>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75104"/>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On 10 February 1998, after work that began in mid-1996.</a:t>
            </a:r>
          </a:p>
        </p:txBody>
      </p:sp>
      <p:sp>
        <p:nvSpPr>
          <p:cNvPr id="12" name="card"/>
          <p:cNvSpPr/>
          <p:nvPr/>
        </p:nvSpPr>
        <p:spPr>
          <a:xfrm>
            <a:off x="3200400" y="2441448"/>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441448"/>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At the World Wide Web Consortium, W3C.</a:t>
            </a:r>
          </a:p>
        </p:txBody>
      </p:sp>
      <p:sp>
        <p:nvSpPr>
          <p:cNvPr id="14" name="card"/>
          <p:cNvSpPr/>
          <p:nvPr/>
        </p:nvSpPr>
        <p:spPr>
          <a:xfrm>
            <a:off x="3200400" y="2907791"/>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2907791"/>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Bosak recruited collaborators who knew both SGML and the web, to make a strict and simple markup language.</a:t>
            </a:r>
          </a:p>
        </p:txBody>
      </p:sp>
      <p:sp>
        <p:nvSpPr>
          <p:cNvPr id="16" name="card"/>
          <p:cNvSpPr/>
          <p:nvPr/>
        </p:nvSpPr>
        <p:spPr>
          <a:xfrm>
            <a:off x="3200400" y="3474720"/>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474720"/>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The rules are strict on purpose: one root, matching tags and case. ElementTree raises ParseError when they break.</a:t>
            </a:r>
          </a:p>
        </p:txBody>
      </p:sp>
      <p:sp>
        <p:nvSpPr>
          <p:cNvPr id="18" name="read"/>
          <p:cNvSpPr txBox="1"/>
          <p:nvPr/>
        </p:nvSpPr>
        <p:spPr>
          <a:xfrm>
            <a:off x="3200400" y="4059935"/>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XML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36 / 53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Reading XML files: root, children, text and attributes</a:t>
            </a:r>
          </a:p>
        </p:txBody>
      </p:sp>
      <p:sp>
        <p:nvSpPr>
          <p:cNvPr id="4" name="code"/>
          <p:cNvSpPr/>
          <p:nvPr/>
        </p:nvSpPr>
        <p:spPr>
          <a:xfrm>
            <a:off x="365760" y="786384"/>
            <a:ext cx="4980431" cy="7569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xml</a:t>
            </a:r>
            <a:r>
              <a:rPr sz="1000" b="0" i="0">
                <a:solidFill>
                  <a:srgbClr val="E6EDF3"/>
                </a:solidFill>
                <a:latin typeface="Courier New"/>
              </a:rPr>
              <a:t>.</a:t>
            </a:r>
            <a:r>
              <a:rPr sz="1000" b="0" i="0">
                <a:solidFill>
                  <a:srgbClr val="E6EDF3"/>
                </a:solidFill>
                <a:latin typeface="Courier New"/>
              </a:rPr>
              <a:t>etree</a:t>
            </a:r>
            <a:r>
              <a:rPr sz="1000" b="0" i="0">
                <a:solidFill>
                  <a:srgbClr val="E6EDF3"/>
                </a:solidFill>
                <a:latin typeface="Courier New"/>
              </a:rPr>
              <a:t>.</a:t>
            </a:r>
            <a:r>
              <a:rPr sz="1000" b="0" i="0">
                <a:solidFill>
                  <a:srgbClr val="E6EDF3"/>
                </a:solidFill>
                <a:latin typeface="Courier New"/>
              </a:rPr>
              <a:t>ElementTree</a:t>
            </a:r>
            <a:r>
              <a:rPr sz="1000" b="0" i="0">
                <a:solidFill>
                  <a:srgbClr val="E6EDF3"/>
                </a:solidFill>
                <a:latin typeface="Courier New"/>
              </a:rPr>
              <a:t> </a:t>
            </a:r>
            <a:r>
              <a:rPr sz="1000" b="0" i="0">
                <a:solidFill>
                  <a:srgbClr val="E6EDF3"/>
                </a:solidFill>
                <a:latin typeface="Courier New"/>
              </a:rPr>
              <a:t>as</a:t>
            </a:r>
            <a:r>
              <a:rPr sz="1000" b="0" i="0">
                <a:solidFill>
                  <a:srgbClr val="E6EDF3"/>
                </a:solidFill>
                <a:latin typeface="Courier New"/>
              </a:rPr>
              <a:t> </a:t>
            </a:r>
            <a:r>
              <a:rPr sz="1000" b="0" i="0">
                <a:solidFill>
                  <a:srgbClr val="E6EDF3"/>
                </a:solidFill>
                <a:latin typeface="Courier New"/>
              </a:rPr>
              <a:t>ET</a:t>
            </a:r>
          </a:p>
          <a:p>
            <a:pPr algn="l"/>
            <a:r>
              <a:rPr sz="1000" b="0" i="0">
                <a:solidFill>
                  <a:srgbClr val="8FA3B8"/>
                </a:solidFill>
                <a:latin typeface="Courier New"/>
              </a:rPr>
              <a:t>&gt;&gt;&gt; </a:t>
            </a:r>
            <a:r>
              <a:rPr sz="1000" b="0" i="0">
                <a:solidFill>
                  <a:srgbClr val="E6EDF3"/>
                </a:solidFill>
                <a:latin typeface="Courier New"/>
              </a:rPr>
              <a:t>doc</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'&lt;person&gt;&lt;name&gt;Alice Doe&lt;/name&gt;&lt;age&gt;30&lt;/age&gt;&lt;car/&gt;'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9BE3A8"/>
                </a:solidFill>
                <a:latin typeface="Courier New"/>
              </a:rPr>
              <a:t>'&lt;phone type="mobile"&gt;415&lt;/phone&gt;'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9BE3A8"/>
                </a:solidFill>
                <a:latin typeface="Courier New"/>
              </a:rPr>
              <a:t>'&lt;phone type="work"&gt;123&lt;/phone&gt;&lt;/person&gt;'</a:t>
            </a:r>
            <a:r>
              <a:rPr sz="1000" b="0" i="0">
                <a:solidFill>
                  <a:srgbClr val="E6EDF3"/>
                </a:solidFill>
                <a:latin typeface="Courier New"/>
              </a:rPr>
              <a:t>)</a:t>
            </a:r>
          </a:p>
        </p:txBody>
      </p:sp>
      <p:sp>
        <p:nvSpPr>
          <p:cNvPr id="5" name="explanation"/>
          <p:cNvSpPr txBox="1"/>
          <p:nvPr/>
        </p:nvSpPr>
        <p:spPr>
          <a:xfrm>
            <a:off x="5327904" y="786384"/>
            <a:ext cx="3450336" cy="756920"/>
          </a:xfrm>
          <a:prstGeom prst="rect">
            <a:avLst/>
          </a:prstGeom>
          <a:noFill/>
        </p:spPr>
        <p:txBody>
          <a:bodyPr wrap="square" lIns="128016" rIns="128016" tIns="18288" bIns="18288" anchor="ctr">
            <a:spAutoFit/>
          </a:bodyPr>
          <a:lstStyle/>
          <a:p>
            <a:r>
              <a:rPr sz="1100" b="0" i="0">
                <a:solidFill>
                  <a:srgbClr val="1F2933"/>
                </a:solidFill>
                <a:latin typeface="Calibri"/>
              </a:rPr>
              <a:t>A small XML document. The car element is empty; the two phone elements carry an attribute.</a:t>
            </a:r>
          </a:p>
        </p:txBody>
      </p:sp>
      <p:sp>
        <p:nvSpPr>
          <p:cNvPr id="6" name="code"/>
          <p:cNvSpPr/>
          <p:nvPr/>
        </p:nvSpPr>
        <p:spPr>
          <a:xfrm>
            <a:off x="365760" y="1589023"/>
            <a:ext cx="49804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root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ET</a:t>
            </a:r>
            <a:r>
              <a:rPr sz="1000" b="0" i="0">
                <a:solidFill>
                  <a:srgbClr val="E6EDF3"/>
                </a:solidFill>
                <a:latin typeface="Courier New"/>
              </a:rPr>
              <a:t>.</a:t>
            </a:r>
            <a:r>
              <a:rPr sz="1000" b="0" i="0">
                <a:solidFill>
                  <a:srgbClr val="E6EDF3"/>
                </a:solidFill>
                <a:latin typeface="Courier New"/>
              </a:rPr>
              <a:t>fromstring</a:t>
            </a:r>
            <a:r>
              <a:rPr sz="1000" b="0" i="0">
                <a:solidFill>
                  <a:srgbClr val="E6EDF3"/>
                </a:solidFill>
                <a:latin typeface="Courier New"/>
              </a:rPr>
              <a:t>(</a:t>
            </a:r>
            <a:r>
              <a:rPr sz="1000" b="0" i="0">
                <a:solidFill>
                  <a:srgbClr val="E6EDF3"/>
                </a:solidFill>
                <a:latin typeface="Courier New"/>
              </a:rPr>
              <a:t>doc</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root</a:t>
            </a:r>
            <a:r>
              <a:rPr sz="1000" b="0" i="0">
                <a:solidFill>
                  <a:srgbClr val="E6EDF3"/>
                </a:solidFill>
                <a:latin typeface="Courier New"/>
              </a:rPr>
              <a:t>.</a:t>
            </a:r>
            <a:r>
              <a:rPr sz="1000" b="0" i="0">
                <a:solidFill>
                  <a:srgbClr val="E6EDF3"/>
                </a:solidFill>
                <a:latin typeface="Courier New"/>
              </a:rPr>
              <a:t>tag</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c</a:t>
            </a:r>
            <a:r>
              <a:rPr sz="1000" b="0" i="0">
                <a:solidFill>
                  <a:srgbClr val="E6EDF3"/>
                </a:solidFill>
                <a:latin typeface="Courier New"/>
              </a:rPr>
              <a:t>.</a:t>
            </a:r>
            <a:r>
              <a:rPr sz="1000" b="0" i="0">
                <a:solidFill>
                  <a:srgbClr val="E6EDF3"/>
                </a:solidFill>
                <a:latin typeface="Courier New"/>
              </a:rPr>
              <a:t>tag</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c</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root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root</a:t>
            </a:r>
            <a:r>
              <a:rPr sz="1000" b="0" i="0">
                <a:solidFill>
                  <a:srgbClr val="E6EDF3"/>
                </a:solidFill>
                <a:latin typeface="Courier New"/>
              </a:rPr>
              <a:t>.</a:t>
            </a:r>
            <a:r>
              <a:rPr sz="1000" b="0" i="0">
                <a:solidFill>
                  <a:srgbClr val="E6EDF3"/>
                </a:solidFill>
                <a:latin typeface="Courier New"/>
              </a:rPr>
              <a:t>find</a:t>
            </a:r>
            <a:r>
              <a:rPr sz="1000" b="0" i="0">
                <a:solidFill>
                  <a:srgbClr val="E6EDF3"/>
                </a:solidFill>
                <a:latin typeface="Courier New"/>
              </a:rPr>
              <a:t>(</a:t>
            </a:r>
            <a:r>
              <a:rPr sz="1000" b="0" i="0">
                <a:solidFill>
                  <a:srgbClr val="9BE3A8"/>
                </a:solidFill>
                <a:latin typeface="Courier New"/>
              </a:rPr>
              <a:t>'name'</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text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repr</a:t>
            </a:r>
            <a:r>
              <a:rPr sz="1000" b="0" i="0">
                <a:solidFill>
                  <a:srgbClr val="E6EDF3"/>
                </a:solidFill>
                <a:latin typeface="Courier New"/>
              </a:rPr>
              <a:t>(</a:t>
            </a:r>
            <a:r>
              <a:rPr sz="1000" b="0" i="0">
                <a:solidFill>
                  <a:srgbClr val="E6EDF3"/>
                </a:solidFill>
                <a:latin typeface="Courier New"/>
              </a:rPr>
              <a:t>root</a:t>
            </a:r>
            <a:r>
              <a:rPr sz="1000" b="0" i="0">
                <a:solidFill>
                  <a:srgbClr val="E6EDF3"/>
                </a:solidFill>
                <a:latin typeface="Courier New"/>
              </a:rPr>
              <a:t>.</a:t>
            </a:r>
            <a:r>
              <a:rPr sz="1000" b="0" i="0">
                <a:solidFill>
                  <a:srgbClr val="E6EDF3"/>
                </a:solidFill>
                <a:latin typeface="Courier New"/>
              </a:rPr>
              <a:t>find</a:t>
            </a:r>
            <a:r>
              <a:rPr sz="1000" b="0" i="0">
                <a:solidFill>
                  <a:srgbClr val="E6EDF3"/>
                </a:solidFill>
                <a:latin typeface="Courier New"/>
              </a:rPr>
              <a:t>(</a:t>
            </a:r>
            <a:r>
              <a:rPr sz="1000" b="0" i="0">
                <a:solidFill>
                  <a:srgbClr val="9BE3A8"/>
                </a:solidFill>
                <a:latin typeface="Courier New"/>
              </a:rPr>
              <a:t>'car'</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text</a:t>
            </a:r>
            <a:r>
              <a:rPr sz="1000" b="0" i="0">
                <a:solidFill>
                  <a:srgbClr val="E6EDF3"/>
                </a:solidFill>
                <a:latin typeface="Courier New"/>
              </a:rPr>
              <a:t>)</a:t>
            </a:r>
            <a:r>
              <a:rPr sz="1000" b="0" i="0">
                <a:solidFill>
                  <a:srgbClr val="E6EDF3"/>
                </a:solidFill>
                <a:latin typeface="Courier New"/>
              </a:rPr>
              <a:t>)</a:t>
            </a:r>
          </a:p>
        </p:txBody>
      </p:sp>
      <p:sp>
        <p:nvSpPr>
          <p:cNvPr id="7" name="explanation"/>
          <p:cNvSpPr txBox="1"/>
          <p:nvPr/>
        </p:nvSpPr>
        <p:spPr>
          <a:xfrm>
            <a:off x="5327904" y="1589023"/>
            <a:ext cx="3450336" cy="651891"/>
          </a:xfrm>
          <a:prstGeom prst="rect">
            <a:avLst/>
          </a:prstGeom>
          <a:noFill/>
        </p:spPr>
        <p:txBody>
          <a:bodyPr wrap="square" lIns="128016" rIns="128016" tIns="18288" bIns="18288" anchor="ctr">
            <a:spAutoFit/>
          </a:bodyPr>
          <a:lstStyle/>
          <a:p>
            <a:r>
              <a:rPr sz="1100" b="0" i="0">
                <a:solidFill>
                  <a:srgbClr val="1F2933"/>
                </a:solidFill>
                <a:latin typeface="Calibri"/>
              </a:rPr>
              <a:t>fromstring() returns the root element. Looping over it gives its children. An empty element has the text None.</a:t>
            </a:r>
          </a:p>
        </p:txBody>
      </p:sp>
      <p:sp>
        <p:nvSpPr>
          <p:cNvPr id="8" name="code"/>
          <p:cNvSpPr/>
          <p:nvPr/>
        </p:nvSpPr>
        <p:spPr>
          <a:xfrm>
            <a:off x="365760" y="2286634"/>
            <a:ext cx="49804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p</a:t>
            </a:r>
            <a:r>
              <a:rPr sz="1000" b="0" i="0">
                <a:solidFill>
                  <a:srgbClr val="E6EDF3"/>
                </a:solidFill>
                <a:latin typeface="Courier New"/>
              </a:rPr>
              <a:t>.</a:t>
            </a:r>
            <a:r>
              <a:rPr sz="1000" b="0" i="0">
                <a:solidFill>
                  <a:srgbClr val="E6EDF3"/>
                </a:solidFill>
                <a:latin typeface="Courier New"/>
              </a:rPr>
              <a:t>get</a:t>
            </a:r>
            <a:r>
              <a:rPr sz="1000" b="0" i="0">
                <a:solidFill>
                  <a:srgbClr val="E6EDF3"/>
                </a:solidFill>
                <a:latin typeface="Courier New"/>
              </a:rPr>
              <a:t>(</a:t>
            </a:r>
            <a:r>
              <a:rPr sz="1000" b="0" i="0">
                <a:solidFill>
                  <a:srgbClr val="9BE3A8"/>
                </a:solidFill>
                <a:latin typeface="Courier New"/>
              </a:rPr>
              <a:t>'type'</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p</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root</a:t>
            </a:r>
            <a:r>
              <a:rPr sz="1000" b="0" i="0">
                <a:solidFill>
                  <a:srgbClr val="E6EDF3"/>
                </a:solidFill>
                <a:latin typeface="Courier New"/>
              </a:rPr>
              <a:t>.</a:t>
            </a:r>
            <a:r>
              <a:rPr sz="1000" b="0" i="0">
                <a:solidFill>
                  <a:srgbClr val="E6EDF3"/>
                </a:solidFill>
                <a:latin typeface="Courier New"/>
              </a:rPr>
              <a:t>findall</a:t>
            </a:r>
            <a:r>
              <a:rPr sz="1000" b="0" i="0">
                <a:solidFill>
                  <a:srgbClr val="E6EDF3"/>
                </a:solidFill>
                <a:latin typeface="Courier New"/>
              </a:rPr>
              <a:t>(</a:t>
            </a:r>
            <a:r>
              <a:rPr sz="1000" b="0" i="0">
                <a:solidFill>
                  <a:srgbClr val="9BE3A8"/>
                </a:solidFill>
                <a:latin typeface="Courier New"/>
              </a:rPr>
              <a:t>'phone'</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age</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root</a:t>
            </a:r>
            <a:r>
              <a:rPr sz="1000" b="0" i="0">
                <a:solidFill>
                  <a:srgbClr val="E6EDF3"/>
                </a:solidFill>
                <a:latin typeface="Courier New"/>
              </a:rPr>
              <a:t>.</a:t>
            </a:r>
            <a:r>
              <a:rPr sz="1000" b="0" i="0">
                <a:solidFill>
                  <a:srgbClr val="E6EDF3"/>
                </a:solidFill>
                <a:latin typeface="Courier New"/>
              </a:rPr>
              <a:t>find</a:t>
            </a:r>
            <a:r>
              <a:rPr sz="1000" b="0" i="0">
                <a:solidFill>
                  <a:srgbClr val="E6EDF3"/>
                </a:solidFill>
                <a:latin typeface="Courier New"/>
              </a:rPr>
              <a:t>(</a:t>
            </a:r>
            <a:r>
              <a:rPr sz="1000" b="0" i="0">
                <a:solidFill>
                  <a:srgbClr val="9BE3A8"/>
                </a:solidFill>
                <a:latin typeface="Courier New"/>
              </a:rPr>
              <a:t>'age'</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text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type</a:t>
            </a:r>
            <a:r>
              <a:rPr sz="1000" b="0" i="0">
                <a:solidFill>
                  <a:srgbClr val="E6EDF3"/>
                </a:solidFill>
                <a:latin typeface="Courier New"/>
              </a:rPr>
              <a:t>(</a:t>
            </a:r>
            <a:r>
              <a:rPr sz="1000" b="0" i="0">
                <a:solidFill>
                  <a:srgbClr val="E6EDF3"/>
                </a:solidFill>
                <a:latin typeface="Courier New"/>
              </a:rPr>
              <a:t>age</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__name__</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int</a:t>
            </a:r>
            <a:r>
              <a:rPr sz="1000" b="0" i="0">
                <a:solidFill>
                  <a:srgbClr val="E6EDF3"/>
                </a:solidFill>
                <a:latin typeface="Courier New"/>
              </a:rPr>
              <a:t>(</a:t>
            </a:r>
            <a:r>
              <a:rPr sz="1000" b="0" i="0">
                <a:solidFill>
                  <a:srgbClr val="E6EDF3"/>
                </a:solidFill>
                <a:latin typeface="Courier New"/>
              </a:rPr>
              <a:t>age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1</a:t>
            </a:r>
            <a:r>
              <a:rPr sz="1000" b="0" i="0">
                <a:solidFill>
                  <a:srgbClr val="E6EDF3"/>
                </a:solidFill>
                <a:latin typeface="Courier New"/>
              </a:rPr>
              <a:t>)</a:t>
            </a:r>
          </a:p>
        </p:txBody>
      </p:sp>
      <p:sp>
        <p:nvSpPr>
          <p:cNvPr id="9" name="explanation"/>
          <p:cNvSpPr txBox="1"/>
          <p:nvPr/>
        </p:nvSpPr>
        <p:spPr>
          <a:xfrm>
            <a:off x="5327904" y="2286634"/>
            <a:ext cx="3450336" cy="651891"/>
          </a:xfrm>
          <a:prstGeom prst="rect">
            <a:avLst/>
          </a:prstGeom>
          <a:noFill/>
        </p:spPr>
        <p:txBody>
          <a:bodyPr wrap="square" lIns="128016" rIns="128016" tIns="18288" bIns="18288" anchor="ctr">
            <a:spAutoFit/>
          </a:bodyPr>
          <a:lstStyle/>
          <a:p>
            <a:r>
              <a:rPr sz="1100" b="0" i="0">
                <a:solidFill>
                  <a:srgbClr val="1F2933"/>
                </a:solidFill>
                <a:latin typeface="Calibri"/>
              </a:rPr>
              <a:t>get() reads an attribute and findall() collects every match. Text is always a string: convert numbers yourself.</a:t>
            </a:r>
          </a:p>
        </p:txBody>
      </p:sp>
      <p:sp>
        <p:nvSpPr>
          <p:cNvPr id="10" name="result label"/>
          <p:cNvSpPr txBox="1"/>
          <p:nvPr/>
        </p:nvSpPr>
        <p:spPr>
          <a:xfrm>
            <a:off x="365760" y="2993389"/>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749039" y="3240277"/>
            <a:ext cx="1645920" cy="27432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&lt;person&gt;  root</a:t>
            </a:r>
          </a:p>
        </p:txBody>
      </p:sp>
      <p:cxnSp>
        <p:nvCxnSpPr>
          <p:cNvPr id="12" name="arrow"/>
          <p:cNvCxnSpPr/>
          <p:nvPr/>
        </p:nvCxnSpPr>
        <p:spPr>
          <a:xfrm flipH="1">
            <a:off x="1143000" y="3514597"/>
            <a:ext cx="3429000" cy="256033"/>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65760" y="3788917"/>
            <a:ext cx="1554480" cy="566928"/>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&lt;name&gt;</a:t>
            </a:r>
          </a:p>
          <a:p>
            <a:pPr algn="ctr"/>
            <a:r>
              <a:rPr sz="900" b="0" i="0">
                <a:solidFill>
                  <a:srgbClr val="1F2933"/>
                </a:solidFill>
                <a:latin typeface="Courier New"/>
              </a:rPr>
              <a:t>text: 'Alice Doe'</a:t>
            </a:r>
          </a:p>
        </p:txBody>
      </p:sp>
      <p:cxnSp>
        <p:nvCxnSpPr>
          <p:cNvPr id="14" name="arrow"/>
          <p:cNvCxnSpPr/>
          <p:nvPr/>
        </p:nvCxnSpPr>
        <p:spPr>
          <a:xfrm flipH="1">
            <a:off x="2857500" y="3514597"/>
            <a:ext cx="1714500" cy="256033"/>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080260" y="3788917"/>
            <a:ext cx="1554480" cy="566928"/>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&lt;age&gt;</a:t>
            </a:r>
          </a:p>
          <a:p>
            <a:pPr algn="ctr"/>
            <a:r>
              <a:rPr sz="900" b="0" i="0">
                <a:solidFill>
                  <a:srgbClr val="1F2933"/>
                </a:solidFill>
                <a:latin typeface="Courier New"/>
              </a:rPr>
              <a:t>text: '30'</a:t>
            </a:r>
          </a:p>
        </p:txBody>
      </p:sp>
      <p:cxnSp>
        <p:nvCxnSpPr>
          <p:cNvPr id="16" name="arrow"/>
          <p:cNvCxnSpPr/>
          <p:nvPr/>
        </p:nvCxnSpPr>
        <p:spPr>
          <a:xfrm flipH="1">
            <a:off x="4571999" y="3514597"/>
            <a:ext cx="1" cy="256033"/>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794759" y="3788917"/>
            <a:ext cx="1554480" cy="566928"/>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&lt;car&gt;</a:t>
            </a:r>
          </a:p>
          <a:p>
            <a:pPr algn="ctr"/>
            <a:r>
              <a:rPr sz="900" b="0" i="0">
                <a:solidFill>
                  <a:srgbClr val="1F2933"/>
                </a:solidFill>
                <a:latin typeface="Courier New"/>
              </a:rPr>
              <a:t>text: None</a:t>
            </a:r>
          </a:p>
        </p:txBody>
      </p:sp>
      <p:cxnSp>
        <p:nvCxnSpPr>
          <p:cNvPr id="18" name="arrow"/>
          <p:cNvCxnSpPr/>
          <p:nvPr/>
        </p:nvCxnSpPr>
        <p:spPr>
          <a:xfrm>
            <a:off x="4572000" y="3514597"/>
            <a:ext cx="1714499" cy="256033"/>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509259" y="3788917"/>
            <a:ext cx="1554480" cy="566928"/>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&lt;phone&gt; type=mobile</a:t>
            </a:r>
          </a:p>
          <a:p>
            <a:pPr algn="ctr"/>
            <a:r>
              <a:rPr sz="900" b="0" i="0">
                <a:solidFill>
                  <a:srgbClr val="1F2933"/>
                </a:solidFill>
                <a:latin typeface="Courier New"/>
              </a:rPr>
              <a:t>text: '415'</a:t>
            </a:r>
          </a:p>
        </p:txBody>
      </p:sp>
      <p:cxnSp>
        <p:nvCxnSpPr>
          <p:cNvPr id="20" name="arrow"/>
          <p:cNvCxnSpPr/>
          <p:nvPr/>
        </p:nvCxnSpPr>
        <p:spPr>
          <a:xfrm>
            <a:off x="4572000" y="3514597"/>
            <a:ext cx="3429000" cy="256033"/>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223759" y="3788917"/>
            <a:ext cx="1554480" cy="566928"/>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&lt;phone&gt; type=work</a:t>
            </a:r>
          </a:p>
          <a:p>
            <a:pPr algn="ctr"/>
            <a:r>
              <a:rPr sz="900" b="0" i="0">
                <a:solidFill>
                  <a:srgbClr val="1F2933"/>
                </a:solidFill>
                <a:latin typeface="Courier New"/>
              </a:rPr>
              <a:t>text: '123'</a:t>
            </a:r>
          </a:p>
        </p:txBody>
      </p:sp>
      <p:sp>
        <p:nvSpPr>
          <p:cNvPr id="22" name="visual note"/>
          <p:cNvSpPr txBox="1"/>
          <p:nvPr/>
        </p:nvSpPr>
        <p:spPr>
          <a:xfrm>
            <a:off x="365760" y="4383278"/>
            <a:ext cx="8412480" cy="201168"/>
          </a:xfrm>
          <a:prstGeom prst="rect">
            <a:avLst/>
          </a:prstGeom>
          <a:noFill/>
        </p:spPr>
        <p:txBody>
          <a:bodyPr wrap="square" lIns="45720" rIns="45720" tIns="27432" bIns="27432" anchor="t">
            <a:spAutoFit/>
          </a:bodyPr>
          <a:lstStyle/>
          <a:p>
            <a:r>
              <a:rPr sz="950" b="0" i="1">
                <a:solidFill>
                  <a:srgbClr val="5B6773"/>
                </a:solidFill>
                <a:latin typeface="Calibri"/>
              </a:rPr>
              <a:t>amber: the empty element car has the text None, not an empty string</a:t>
            </a:r>
          </a:p>
        </p:txBody>
      </p:sp>
      <p:sp>
        <p:nvSpPr>
          <p:cNvPr id="2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Text is always a string or None; convert numbers yourself.</a:t>
            </a:r>
          </a:p>
        </p:txBody>
      </p:sp>
      <p:sp>
        <p:nvSpPr>
          <p:cNvPr id="2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37 / 53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400" b="1" i="0">
                <a:solidFill>
                  <a:srgbClr val="1F2933"/>
                </a:solidFill>
                <a:latin typeface="Calibri"/>
              </a:rPr>
              <a:t>ElementTree: whitespace stays, and broken XML raises ParseError</a:t>
            </a:r>
          </a:p>
        </p:txBody>
      </p:sp>
      <p:sp>
        <p:nvSpPr>
          <p:cNvPr id="4" name="code"/>
          <p:cNvSpPr/>
          <p:nvPr/>
        </p:nvSpPr>
        <p:spPr>
          <a:xfrm>
            <a:off x="365760" y="786384"/>
            <a:ext cx="5468112"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import</a:t>
            </a:r>
            <a:r>
              <a:rPr sz="1200" b="0" i="0">
                <a:solidFill>
                  <a:srgbClr val="E6EDF3"/>
                </a:solidFill>
                <a:latin typeface="Courier New"/>
              </a:rPr>
              <a:t> </a:t>
            </a:r>
            <a:r>
              <a:rPr sz="1200" b="0" i="0">
                <a:solidFill>
                  <a:srgbClr val="E6EDF3"/>
                </a:solidFill>
                <a:latin typeface="Courier New"/>
              </a:rPr>
              <a:t>xml</a:t>
            </a:r>
            <a:r>
              <a:rPr sz="1200" b="0" i="0">
                <a:solidFill>
                  <a:srgbClr val="E6EDF3"/>
                </a:solidFill>
                <a:latin typeface="Courier New"/>
              </a:rPr>
              <a:t>.</a:t>
            </a:r>
            <a:r>
              <a:rPr sz="1200" b="0" i="0">
                <a:solidFill>
                  <a:srgbClr val="E6EDF3"/>
                </a:solidFill>
                <a:latin typeface="Courier New"/>
              </a:rPr>
              <a:t>etree</a:t>
            </a:r>
            <a:r>
              <a:rPr sz="1200" b="0" i="0">
                <a:solidFill>
                  <a:srgbClr val="E6EDF3"/>
                </a:solidFill>
                <a:latin typeface="Courier New"/>
              </a:rPr>
              <a:t>.</a:t>
            </a:r>
            <a:r>
              <a:rPr sz="1200" b="0" i="0">
                <a:solidFill>
                  <a:srgbClr val="E6EDF3"/>
                </a:solidFill>
                <a:latin typeface="Courier New"/>
              </a:rPr>
              <a:t>ElementTree</a:t>
            </a:r>
            <a:r>
              <a:rPr sz="1200" b="0" i="0">
                <a:solidFill>
                  <a:srgbClr val="E6EDF3"/>
                </a:solidFill>
                <a:latin typeface="Courier New"/>
              </a:rPr>
              <a:t> </a:t>
            </a:r>
            <a:r>
              <a:rPr sz="1200" b="0" i="0">
                <a:solidFill>
                  <a:srgbClr val="E6EDF3"/>
                </a:solidFill>
                <a:latin typeface="Courier New"/>
              </a:rPr>
              <a:t>as</a:t>
            </a:r>
            <a:r>
              <a:rPr sz="1200" b="0" i="0">
                <a:solidFill>
                  <a:srgbClr val="E6EDF3"/>
                </a:solidFill>
                <a:latin typeface="Courier New"/>
              </a:rPr>
              <a:t> </a:t>
            </a:r>
            <a:r>
              <a:rPr sz="1200" b="0" i="0">
                <a:solidFill>
                  <a:srgbClr val="E6EDF3"/>
                </a:solidFill>
                <a:latin typeface="Courier New"/>
              </a:rPr>
              <a:t>ET</a:t>
            </a:r>
          </a:p>
          <a:p>
            <a:pPr algn="l"/>
            <a:r>
              <a:rPr sz="1200" b="0" i="0">
                <a:solidFill>
                  <a:srgbClr val="8FA3B8"/>
                </a:solidFill>
                <a:latin typeface="Courier New"/>
              </a:rPr>
              <a:t>&gt;&gt;&gt; </a:t>
            </a:r>
            <a:r>
              <a:rPr sz="1200" b="0" i="0">
                <a:solidFill>
                  <a:srgbClr val="E6EDF3"/>
                </a:solidFill>
                <a:latin typeface="Courier New"/>
              </a:rPr>
              <a:t>a</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ET</a:t>
            </a:r>
            <a:r>
              <a:rPr sz="1200" b="0" i="0">
                <a:solidFill>
                  <a:srgbClr val="E6EDF3"/>
                </a:solidFill>
                <a:latin typeface="Courier New"/>
              </a:rPr>
              <a:t>.</a:t>
            </a:r>
            <a:r>
              <a:rPr sz="1200" b="0" i="0">
                <a:solidFill>
                  <a:srgbClr val="E6EDF3"/>
                </a:solidFill>
                <a:latin typeface="Courier New"/>
              </a:rPr>
              <a:t>fromstring</a:t>
            </a:r>
            <a:r>
              <a:rPr sz="1200" b="0" i="0">
                <a:solidFill>
                  <a:srgbClr val="E6EDF3"/>
                </a:solidFill>
                <a:latin typeface="Courier New"/>
              </a:rPr>
              <a:t>(</a:t>
            </a:r>
            <a:r>
              <a:rPr sz="1200" b="0" i="0">
                <a:solidFill>
                  <a:srgbClr val="9BE3A8"/>
                </a:solidFill>
                <a:latin typeface="Courier New"/>
              </a:rPr>
              <a:t>'&lt;a&gt;\n  &lt;b&gt;x&lt;/b&gt;\n&lt;/a&gt;'</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repr</a:t>
            </a:r>
            <a:r>
              <a:rPr sz="1200" b="0" i="0">
                <a:solidFill>
                  <a:srgbClr val="E6EDF3"/>
                </a:solidFill>
                <a:latin typeface="Courier New"/>
              </a:rPr>
              <a:t>(</a:t>
            </a:r>
            <a:r>
              <a:rPr sz="1200" b="0" i="0">
                <a:solidFill>
                  <a:srgbClr val="E6EDF3"/>
                </a:solidFill>
                <a:latin typeface="Courier New"/>
              </a:rPr>
              <a:t>a</a:t>
            </a:r>
            <a:r>
              <a:rPr sz="1200" b="0" i="0">
                <a:solidFill>
                  <a:srgbClr val="E6EDF3"/>
                </a:solidFill>
                <a:latin typeface="Courier New"/>
              </a:rPr>
              <a:t>.</a:t>
            </a:r>
            <a:r>
              <a:rPr sz="1200" b="0" i="0">
                <a:solidFill>
                  <a:srgbClr val="E6EDF3"/>
                </a:solidFill>
                <a:latin typeface="Courier New"/>
              </a:rPr>
              <a:t>text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repr</a:t>
            </a:r>
            <a:r>
              <a:rPr sz="1200" b="0" i="0">
                <a:solidFill>
                  <a:srgbClr val="E6EDF3"/>
                </a:solidFill>
                <a:latin typeface="Courier New"/>
              </a:rPr>
              <a:t>(</a:t>
            </a:r>
            <a:r>
              <a:rPr sz="1200" b="0" i="0">
                <a:solidFill>
                  <a:srgbClr val="E6EDF3"/>
                </a:solidFill>
                <a:latin typeface="Courier New"/>
              </a:rPr>
              <a:t>a</a:t>
            </a:r>
            <a:r>
              <a:rPr sz="1200" b="0" i="0">
                <a:solidFill>
                  <a:srgbClr val="E6EDF3"/>
                </a:solidFill>
                <a:latin typeface="Courier New"/>
              </a:rPr>
              <a:t>[</a:t>
            </a:r>
            <a:r>
              <a:rPr sz="1200" b="0" i="0">
                <a:solidFill>
                  <a:srgbClr val="7CC4FF"/>
                </a:solidFill>
                <a:latin typeface="Courier New"/>
              </a:rPr>
              <a:t>0</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tail</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repr</a:t>
            </a:r>
            <a:r>
              <a:rPr sz="1200" b="0" i="0">
                <a:solidFill>
                  <a:srgbClr val="E6EDF3"/>
                </a:solidFill>
                <a:latin typeface="Courier New"/>
              </a:rPr>
              <a:t>(</a:t>
            </a:r>
            <a:r>
              <a:rPr sz="1200" b="0" i="0">
                <a:solidFill>
                  <a:srgbClr val="E6EDF3"/>
                </a:solidFill>
                <a:latin typeface="Courier New"/>
              </a:rPr>
              <a:t>a</a:t>
            </a:r>
            <a:r>
              <a:rPr sz="1200" b="0" i="0">
                <a:solidFill>
                  <a:srgbClr val="E6EDF3"/>
                </a:solidFill>
                <a:latin typeface="Courier New"/>
              </a:rPr>
              <a:t>[</a:t>
            </a:r>
            <a:r>
              <a:rPr sz="1200" b="0" i="0">
                <a:solidFill>
                  <a:srgbClr val="7CC4FF"/>
                </a:solidFill>
                <a:latin typeface="Courier New"/>
              </a:rPr>
              <a:t>0</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text</a:t>
            </a:r>
            <a:r>
              <a:rPr sz="1200" b="0" i="0">
                <a:solidFill>
                  <a:srgbClr val="E6EDF3"/>
                </a:solidFill>
                <a:latin typeface="Courier New"/>
              </a:rPr>
              <a:t>)</a:t>
            </a:r>
            <a:r>
              <a:rPr sz="1200" b="0" i="0">
                <a:solidFill>
                  <a:srgbClr val="E6EDF3"/>
                </a:solidFill>
                <a:latin typeface="Courier New"/>
              </a:rPr>
              <a:t>)</a:t>
            </a:r>
          </a:p>
        </p:txBody>
      </p:sp>
      <p:sp>
        <p:nvSpPr>
          <p:cNvPr id="5" name="explanation"/>
          <p:cNvSpPr txBox="1"/>
          <p:nvPr/>
        </p:nvSpPr>
        <p:spPr>
          <a:xfrm>
            <a:off x="5815584" y="786384"/>
            <a:ext cx="2962656" cy="723328"/>
          </a:xfrm>
          <a:prstGeom prst="rect">
            <a:avLst/>
          </a:prstGeom>
          <a:noFill/>
        </p:spPr>
        <p:txBody>
          <a:bodyPr wrap="square" lIns="128016" rIns="128016" tIns="18288" bIns="18288" anchor="ctr">
            <a:spAutoFit/>
          </a:bodyPr>
          <a:lstStyle/>
          <a:p>
            <a:r>
              <a:rPr sz="1250" b="0" i="0">
                <a:solidFill>
                  <a:srgbClr val="1F2933"/>
                </a:solidFill>
                <a:latin typeface="Calibri"/>
              </a:rPr>
              <a:t>The spaces and line breaks between tags are kept as text of the parent and tail of the child.</a:t>
            </a:r>
          </a:p>
        </p:txBody>
      </p:sp>
      <p:sp>
        <p:nvSpPr>
          <p:cNvPr id="6" name="code"/>
          <p:cNvSpPr/>
          <p:nvPr/>
        </p:nvSpPr>
        <p:spPr>
          <a:xfrm>
            <a:off x="365760" y="1555432"/>
            <a:ext cx="5468112"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for</a:t>
            </a:r>
            <a:r>
              <a:rPr sz="1200" b="0" i="0">
                <a:solidFill>
                  <a:srgbClr val="E6EDF3"/>
                </a:solidFill>
                <a:latin typeface="Courier New"/>
              </a:rPr>
              <a:t> </a:t>
            </a:r>
            <a:r>
              <a:rPr sz="1200" b="0" i="0">
                <a:solidFill>
                  <a:srgbClr val="E6EDF3"/>
                </a:solidFill>
                <a:latin typeface="Courier New"/>
              </a:rPr>
              <a:t>bad</a:t>
            </a:r>
            <a:r>
              <a:rPr sz="1200" b="0" i="0">
                <a:solidFill>
                  <a:srgbClr val="E6EDF3"/>
                </a:solidFill>
                <a:latin typeface="Courier New"/>
              </a:rPr>
              <a:t> </a:t>
            </a:r>
            <a:r>
              <a:rPr sz="1200" b="0" i="0">
                <a:solidFill>
                  <a:srgbClr val="C9A0FF"/>
                </a:solidFill>
                <a:latin typeface="Courier New"/>
              </a:rPr>
              <a:t>in</a:t>
            </a:r>
            <a:r>
              <a:rPr sz="1200" b="0" i="0">
                <a:solidFill>
                  <a:srgbClr val="E6EDF3"/>
                </a:solidFill>
                <a:latin typeface="Courier New"/>
              </a:rPr>
              <a:t> </a:t>
            </a:r>
            <a:r>
              <a:rPr sz="1200" b="0" i="0">
                <a:solidFill>
                  <a:srgbClr val="E6EDF3"/>
                </a:solidFill>
                <a:latin typeface="Courier New"/>
              </a:rPr>
              <a:t>(</a:t>
            </a:r>
            <a:r>
              <a:rPr sz="1200" b="0" i="0">
                <a:solidFill>
                  <a:srgbClr val="9BE3A8"/>
                </a:solidFill>
                <a:latin typeface="Courier New"/>
              </a:rPr>
              <a:t>'&lt;a&gt;&lt;b&gt;&lt;/a&gt;'</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'&lt;a/&gt;&lt;b/&gt;'</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'&lt;A&gt;&lt;/a&gt;'</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E6EDF3"/>
                </a:solidFill>
                <a:latin typeface="Courier New"/>
              </a:rPr>
              <a:t>try</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ET</a:t>
            </a:r>
            <a:r>
              <a:rPr sz="1200" b="0" i="0">
                <a:solidFill>
                  <a:srgbClr val="E6EDF3"/>
                </a:solidFill>
                <a:latin typeface="Courier New"/>
              </a:rPr>
              <a:t>.</a:t>
            </a:r>
            <a:r>
              <a:rPr sz="1200" b="0" i="0">
                <a:solidFill>
                  <a:srgbClr val="E6EDF3"/>
                </a:solidFill>
                <a:latin typeface="Courier New"/>
              </a:rPr>
              <a:t>fromstring</a:t>
            </a:r>
            <a:r>
              <a:rPr sz="1200" b="0" i="0">
                <a:solidFill>
                  <a:srgbClr val="E6EDF3"/>
                </a:solidFill>
                <a:latin typeface="Courier New"/>
              </a:rPr>
              <a:t>(</a:t>
            </a:r>
            <a:r>
              <a:rPr sz="1200" b="0" i="0">
                <a:solidFill>
                  <a:srgbClr val="E6EDF3"/>
                </a:solidFill>
                <a:latin typeface="Courier New"/>
              </a:rPr>
              <a:t>bad</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E6EDF3"/>
                </a:solidFill>
                <a:latin typeface="Courier New"/>
              </a:rPr>
              <a:t>except</a:t>
            </a:r>
            <a:r>
              <a:rPr sz="1200" b="0" i="0">
                <a:solidFill>
                  <a:srgbClr val="E6EDF3"/>
                </a:solidFill>
                <a:latin typeface="Courier New"/>
              </a:rPr>
              <a:t> </a:t>
            </a:r>
            <a:r>
              <a:rPr sz="1200" b="0" i="0">
                <a:solidFill>
                  <a:srgbClr val="E6EDF3"/>
                </a:solidFill>
                <a:latin typeface="Courier New"/>
              </a:rPr>
              <a:t>ET</a:t>
            </a:r>
            <a:r>
              <a:rPr sz="1200" b="0" i="0">
                <a:solidFill>
                  <a:srgbClr val="E6EDF3"/>
                </a:solidFill>
                <a:latin typeface="Courier New"/>
              </a:rPr>
              <a:t>.</a:t>
            </a:r>
            <a:r>
              <a:rPr sz="1200" b="0" i="0">
                <a:solidFill>
                  <a:srgbClr val="E6EDF3"/>
                </a:solidFill>
                <a:latin typeface="Courier New"/>
              </a:rPr>
              <a:t>ParseError</a:t>
            </a:r>
            <a:r>
              <a:rPr sz="1200" b="0" i="0">
                <a:solidFill>
                  <a:srgbClr val="E6EDF3"/>
                </a:solidFill>
                <a:latin typeface="Courier New"/>
              </a:rPr>
              <a:t> </a:t>
            </a:r>
            <a:r>
              <a:rPr sz="1200" b="0" i="0">
                <a:solidFill>
                  <a:srgbClr val="E6EDF3"/>
                </a:solidFill>
                <a:latin typeface="Courier New"/>
              </a:rPr>
              <a:t>as</a:t>
            </a:r>
            <a:r>
              <a:rPr sz="1200" b="0" i="0">
                <a:solidFill>
                  <a:srgbClr val="E6EDF3"/>
                </a:solidFill>
                <a:latin typeface="Courier New"/>
              </a:rPr>
              <a:t> </a:t>
            </a:r>
            <a:r>
              <a:rPr sz="1200" b="0" i="0">
                <a:solidFill>
                  <a:srgbClr val="E6EDF3"/>
                </a:solidFill>
                <a:latin typeface="Courier New"/>
              </a:rPr>
              <a:t>e</a:t>
            </a:r>
            <a:r>
              <a:rPr sz="1200" b="0" i="0">
                <a:solidFill>
                  <a:srgbClr val="E6EDF3"/>
                </a:solidFill>
                <a:latin typeface="Courier New"/>
              </a:rPr>
              <a:t>:</a:t>
            </a:r>
            <a:r>
              <a:rPr sz="1200" b="0" i="0">
                <a:solidFill>
                  <a:srgbClr val="E6EDF3"/>
                </a:solidFill>
                <a:latin typeface="Courier New"/>
              </a:rPr>
              <a: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bad</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'-&gt;'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e</a:t>
            </a:r>
            <a:r>
              <a:rPr sz="1200" b="0" i="0">
                <a:solidFill>
                  <a:srgbClr val="E6EDF3"/>
                </a:solidFill>
                <a:latin typeface="Courier New"/>
              </a:rPr>
              <a:t>)</a:t>
            </a:r>
          </a:p>
        </p:txBody>
      </p:sp>
      <p:sp>
        <p:nvSpPr>
          <p:cNvPr id="7" name="explanation"/>
          <p:cNvSpPr txBox="1"/>
          <p:nvPr/>
        </p:nvSpPr>
        <p:spPr>
          <a:xfrm>
            <a:off x="5815584" y="1555432"/>
            <a:ext cx="2962656" cy="723328"/>
          </a:xfrm>
          <a:prstGeom prst="rect">
            <a:avLst/>
          </a:prstGeom>
          <a:noFill/>
        </p:spPr>
        <p:txBody>
          <a:bodyPr wrap="square" lIns="128016" rIns="128016" tIns="18288" bIns="18288" anchor="ctr">
            <a:spAutoFit/>
          </a:bodyPr>
          <a:lstStyle/>
          <a:p>
            <a:r>
              <a:rPr sz="1250" b="0" i="0">
                <a:solidFill>
                  <a:srgbClr val="1F2933"/>
                </a:solidFill>
                <a:latin typeface="Calibri"/>
              </a:rPr>
              <a:t>XML is strict: closing tags must match, there is one root, and capital letters count.</a:t>
            </a:r>
          </a:p>
        </p:txBody>
      </p:sp>
      <p:sp>
        <p:nvSpPr>
          <p:cNvPr id="8" name="result label"/>
          <p:cNvSpPr txBox="1"/>
          <p:nvPr/>
        </p:nvSpPr>
        <p:spPr>
          <a:xfrm>
            <a:off x="365760" y="2333625"/>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580513"/>
          <a:ext cx="8412480" cy="1188720"/>
        </p:xfrm>
        <a:graphic>
          <a:graphicData uri="http://schemas.openxmlformats.org/drawingml/2006/table">
            <a:tbl>
              <a:tblPr firstRow="0" bandRow="0"/>
              <a:tblGrid>
                <a:gridCol w="2430272"/>
                <a:gridCol w="5982208"/>
              </a:tblGrid>
              <a:tr h="237744">
                <a:tc>
                  <a:txBody>
                    <a:bodyPr wrap="square"/>
                    <a:lstStyle/>
                    <a:p>
                      <a:r>
                        <a:rPr sz="950" b="1" i="0">
                          <a:solidFill>
                            <a:srgbClr val="FFFFFF"/>
                          </a:solidFill>
                          <a:latin typeface="Calibri"/>
                        </a:rPr>
                        <a:t>XML given to ElementTree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what ElementTree says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37744">
                <a:tc>
                  <a:txBody>
                    <a:bodyPr wrap="square"/>
                    <a:lstStyle/>
                    <a:p>
                      <a:r>
                        <a:rPr sz="950" b="0" i="0">
                          <a:solidFill>
                            <a:srgbClr val="1F2933"/>
                          </a:solidFill>
                          <a:latin typeface="Courier New"/>
                        </a:rPr>
                        <a:t>'&lt;a&gt;\n  &lt;b&gt;x&lt;/b&gt;\n&lt;/a&gt;'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a.text='\n  ', b.tail='\n', b.text='x'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237744">
                <a:tc>
                  <a:txBody>
                    <a:bodyPr wrap="square"/>
                    <a:lstStyle/>
                    <a:p>
                      <a:r>
                        <a:rPr sz="950" b="0" i="0">
                          <a:solidFill>
                            <a:srgbClr val="1F2933"/>
                          </a:solidFill>
                          <a:latin typeface="Courier New"/>
                        </a:rPr>
                        <a:t>'&lt;a&gt;&lt;b&gt;&lt;/a&gt;'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ParseError: mismatched tag: line 1, column 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r h="237744">
                <a:tc>
                  <a:txBody>
                    <a:bodyPr wrap="square"/>
                    <a:lstStyle/>
                    <a:p>
                      <a:r>
                        <a:rPr sz="950" b="0" i="0">
                          <a:solidFill>
                            <a:srgbClr val="1F2933"/>
                          </a:solidFill>
                          <a:latin typeface="Courier New"/>
                        </a:rPr>
                        <a:t>'&lt;a/&gt;&lt;b/&gt;'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ParseError: junk after document element: line 1, column 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r h="237744">
                <a:tc>
                  <a:txBody>
                    <a:bodyPr wrap="square"/>
                    <a:lstStyle/>
                    <a:p>
                      <a:r>
                        <a:rPr sz="950" b="0" i="0">
                          <a:solidFill>
                            <a:srgbClr val="1F2933"/>
                          </a:solidFill>
                          <a:latin typeface="Courier New"/>
                        </a:rPr>
                        <a:t>'&lt;A&gt;&lt;/a&gt;'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ParseError: mismatched tag: line 1, column 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bl>
          </a:graphicData>
        </a:graphic>
      </p:graphicFrame>
      <p:sp>
        <p:nvSpPr>
          <p:cNvPr id="1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Whitespace is kept; broken XML raises ParseError.</a:t>
            </a:r>
          </a:p>
        </p:txBody>
      </p:sp>
      <p:sp>
        <p:nvSpPr>
          <p:cNvPr id="1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38 / 53</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600" b="1" i="0">
                <a:solidFill>
                  <a:srgbClr val="1F2933"/>
                </a:solidFill>
                <a:latin typeface="Calibri"/>
              </a:rPr>
              <a:t>Writing XML files: Element, SubElement, tostring and indent</a:t>
            </a:r>
          </a:p>
        </p:txBody>
      </p:sp>
      <p:sp>
        <p:nvSpPr>
          <p:cNvPr id="4" name="code"/>
          <p:cNvSpPr/>
          <p:nvPr/>
        </p:nvSpPr>
        <p:spPr>
          <a:xfrm>
            <a:off x="365760" y="786384"/>
            <a:ext cx="5193791" cy="83439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io</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xml</a:t>
            </a:r>
            <a:r>
              <a:rPr sz="900" b="0" i="0">
                <a:solidFill>
                  <a:srgbClr val="E6EDF3"/>
                </a:solidFill>
                <a:latin typeface="Courier New"/>
              </a:rPr>
              <a:t>.</a:t>
            </a:r>
            <a:r>
              <a:rPr sz="900" b="0" i="0">
                <a:solidFill>
                  <a:srgbClr val="E6EDF3"/>
                </a:solidFill>
                <a:latin typeface="Courier New"/>
              </a:rPr>
              <a:t>etree</a:t>
            </a:r>
            <a:r>
              <a:rPr sz="900" b="0" i="0">
                <a:solidFill>
                  <a:srgbClr val="E6EDF3"/>
                </a:solidFill>
                <a:latin typeface="Courier New"/>
              </a:rPr>
              <a:t>.</a:t>
            </a:r>
            <a:r>
              <a:rPr sz="900" b="0" i="0">
                <a:solidFill>
                  <a:srgbClr val="E6EDF3"/>
                </a:solidFill>
                <a:latin typeface="Courier New"/>
              </a:rPr>
              <a:t>ElementTree</a:t>
            </a:r>
            <a:r>
              <a:rPr sz="900" b="0" i="0">
                <a:solidFill>
                  <a:srgbClr val="E6EDF3"/>
                </a:solidFill>
                <a:latin typeface="Courier New"/>
              </a:rPr>
              <a:t> </a:t>
            </a:r>
            <a:r>
              <a:rPr sz="900" b="0" i="0">
                <a:solidFill>
                  <a:srgbClr val="E6EDF3"/>
                </a:solidFill>
                <a:latin typeface="Courier New"/>
              </a:rPr>
              <a:t>as</a:t>
            </a:r>
            <a:r>
              <a:rPr sz="900" b="0" i="0">
                <a:solidFill>
                  <a:srgbClr val="E6EDF3"/>
                </a:solidFill>
                <a:latin typeface="Courier New"/>
              </a:rPr>
              <a:t> </a:t>
            </a:r>
            <a:r>
              <a:rPr sz="900" b="0" i="0">
                <a:solidFill>
                  <a:srgbClr val="E6EDF3"/>
                </a:solidFill>
                <a:latin typeface="Courier New"/>
              </a:rPr>
              <a:t>ET</a:t>
            </a:r>
          </a:p>
          <a:p>
            <a:pPr algn="l"/>
            <a:r>
              <a:rPr sz="900" b="0" i="0">
                <a:solidFill>
                  <a:srgbClr val="8FA3B8"/>
                </a:solidFill>
                <a:latin typeface="Courier New"/>
              </a:rPr>
              <a:t>&gt;&gt;&gt; </a:t>
            </a:r>
            <a:r>
              <a:rPr sz="900" b="0" i="0">
                <a:solidFill>
                  <a:srgbClr val="E6EDF3"/>
                </a:solidFill>
                <a:latin typeface="Courier New"/>
              </a:rPr>
              <a:t>p</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ET</a:t>
            </a:r>
            <a:r>
              <a:rPr sz="900" b="0" i="0">
                <a:solidFill>
                  <a:srgbClr val="E6EDF3"/>
                </a:solidFill>
                <a:latin typeface="Courier New"/>
              </a:rPr>
              <a:t>.</a:t>
            </a:r>
            <a:r>
              <a:rPr sz="900" b="0" i="0">
                <a:solidFill>
                  <a:srgbClr val="E6EDF3"/>
                </a:solidFill>
                <a:latin typeface="Courier New"/>
              </a:rPr>
              <a:t>Element</a:t>
            </a:r>
            <a:r>
              <a:rPr sz="900" b="0" i="0">
                <a:solidFill>
                  <a:srgbClr val="E6EDF3"/>
                </a:solidFill>
                <a:latin typeface="Courier New"/>
              </a:rPr>
              <a:t>(</a:t>
            </a:r>
            <a:r>
              <a:rPr sz="900" b="0" i="0">
                <a:solidFill>
                  <a:srgbClr val="9BE3A8"/>
                </a:solidFill>
                <a:latin typeface="Courier New"/>
              </a:rPr>
              <a:t>'person'</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ET</a:t>
            </a:r>
            <a:r>
              <a:rPr sz="900" b="0" i="0">
                <a:solidFill>
                  <a:srgbClr val="E6EDF3"/>
                </a:solidFill>
                <a:latin typeface="Courier New"/>
              </a:rPr>
              <a:t>.</a:t>
            </a:r>
            <a:r>
              <a:rPr sz="900" b="0" i="0">
                <a:solidFill>
                  <a:srgbClr val="E6EDF3"/>
                </a:solidFill>
                <a:latin typeface="Courier New"/>
              </a:rPr>
              <a:t>SubElement</a:t>
            </a:r>
            <a:r>
              <a:rPr sz="900" b="0" i="0">
                <a:solidFill>
                  <a:srgbClr val="E6EDF3"/>
                </a:solidFill>
                <a:latin typeface="Courier New"/>
              </a:rPr>
              <a:t>(</a:t>
            </a:r>
            <a:r>
              <a:rPr sz="900" b="0" i="0">
                <a:solidFill>
                  <a:srgbClr val="E6EDF3"/>
                </a:solidFill>
                <a:latin typeface="Courier New"/>
              </a:rPr>
              <a:t>p</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'name'</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text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'Alice Doe'</a:t>
            </a:r>
          </a:p>
          <a:p>
            <a:pPr algn="l"/>
            <a:r>
              <a:rPr sz="900" b="0" i="0">
                <a:solidFill>
                  <a:srgbClr val="8FA3B8"/>
                </a:solidFill>
                <a:latin typeface="Courier New"/>
              </a:rPr>
              <a:t>&gt;&gt;&gt; </a:t>
            </a:r>
            <a:r>
              <a:rPr sz="900" b="0" i="0">
                <a:solidFill>
                  <a:srgbClr val="E6EDF3"/>
                </a:solidFill>
                <a:latin typeface="Courier New"/>
              </a:rPr>
              <a:t>ET</a:t>
            </a:r>
            <a:r>
              <a:rPr sz="900" b="0" i="0">
                <a:solidFill>
                  <a:srgbClr val="E6EDF3"/>
                </a:solidFill>
                <a:latin typeface="Courier New"/>
              </a:rPr>
              <a:t>.</a:t>
            </a:r>
            <a:r>
              <a:rPr sz="900" b="0" i="0">
                <a:solidFill>
                  <a:srgbClr val="E6EDF3"/>
                </a:solidFill>
                <a:latin typeface="Courier New"/>
              </a:rPr>
              <a:t>SubElement</a:t>
            </a:r>
            <a:r>
              <a:rPr sz="900" b="0" i="0">
                <a:solidFill>
                  <a:srgbClr val="E6EDF3"/>
                </a:solidFill>
                <a:latin typeface="Courier New"/>
              </a:rPr>
              <a:t>(</a:t>
            </a:r>
            <a:r>
              <a:rPr sz="900" b="0" i="0">
                <a:solidFill>
                  <a:srgbClr val="E6EDF3"/>
                </a:solidFill>
                <a:latin typeface="Courier New"/>
              </a:rPr>
              <a:t>p</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'note'</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text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'a &lt; b &amp; "c"'</a:t>
            </a:r>
          </a:p>
          <a:p>
            <a:pPr algn="l"/>
            <a:r>
              <a:rPr sz="900" b="0" i="0">
                <a:solidFill>
                  <a:srgbClr val="8FA3B8"/>
                </a:solidFill>
                <a:latin typeface="Courier New"/>
              </a:rPr>
              <a:t>&gt;&gt;&gt; </a:t>
            </a:r>
            <a:r>
              <a:rPr sz="900" b="0" i="0">
                <a:solidFill>
                  <a:srgbClr val="E6EDF3"/>
                </a:solidFill>
                <a:latin typeface="Courier New"/>
              </a:rPr>
              <a:t>ET</a:t>
            </a:r>
            <a:r>
              <a:rPr sz="900" b="0" i="0">
                <a:solidFill>
                  <a:srgbClr val="E6EDF3"/>
                </a:solidFill>
                <a:latin typeface="Courier New"/>
              </a:rPr>
              <a:t>.</a:t>
            </a:r>
            <a:r>
              <a:rPr sz="900" b="0" i="0">
                <a:solidFill>
                  <a:srgbClr val="E6EDF3"/>
                </a:solidFill>
                <a:latin typeface="Courier New"/>
              </a:rPr>
              <a:t>SubElement</a:t>
            </a:r>
            <a:r>
              <a:rPr sz="900" b="0" i="0">
                <a:solidFill>
                  <a:srgbClr val="E6EDF3"/>
                </a:solidFill>
                <a:latin typeface="Courier New"/>
              </a:rPr>
              <a:t>(</a:t>
            </a:r>
            <a:r>
              <a:rPr sz="900" b="0" i="0">
                <a:solidFill>
                  <a:srgbClr val="E6EDF3"/>
                </a:solidFill>
                <a:latin typeface="Courier New"/>
              </a:rPr>
              <a:t>p</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'car'</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set</a:t>
            </a:r>
            <a:r>
              <a:rPr sz="900" b="0" i="0">
                <a:solidFill>
                  <a:srgbClr val="E6EDF3"/>
                </a:solidFill>
                <a:latin typeface="Courier New"/>
              </a:rPr>
              <a:t>(</a:t>
            </a:r>
            <a:r>
              <a:rPr sz="900" b="0" i="0">
                <a:solidFill>
                  <a:srgbClr val="9BE3A8"/>
                </a:solidFill>
                <a:latin typeface="Courier New"/>
              </a:rPr>
              <a:t>'type'</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'electric'</a:t>
            </a:r>
            <a:r>
              <a:rPr sz="900" b="0" i="0">
                <a:solidFill>
                  <a:srgbClr val="E6EDF3"/>
                </a:solidFill>
                <a:latin typeface="Courier New"/>
              </a:rPr>
              <a:t>)</a:t>
            </a:r>
          </a:p>
        </p:txBody>
      </p:sp>
      <p:sp>
        <p:nvSpPr>
          <p:cNvPr id="5" name="explanation"/>
          <p:cNvSpPr txBox="1"/>
          <p:nvPr/>
        </p:nvSpPr>
        <p:spPr>
          <a:xfrm>
            <a:off x="5541264" y="786384"/>
            <a:ext cx="3236976" cy="834390"/>
          </a:xfrm>
          <a:prstGeom prst="rect">
            <a:avLst/>
          </a:prstGeom>
          <a:noFill/>
        </p:spPr>
        <p:txBody>
          <a:bodyPr wrap="square" lIns="128016" rIns="128016" tIns="18288" bIns="18288" anchor="ctr">
            <a:spAutoFit/>
          </a:bodyPr>
          <a:lstStyle/>
          <a:p>
            <a:r>
              <a:rPr sz="1100" b="0" i="0">
                <a:solidFill>
                  <a:srgbClr val="1F2933"/>
                </a:solidFill>
                <a:latin typeface="Calibri"/>
              </a:rPr>
              <a:t>Element makes the root; SubElement adds a child. The text with &lt; and &amp; will be escaped when written.</a:t>
            </a:r>
          </a:p>
        </p:txBody>
      </p:sp>
      <p:sp>
        <p:nvSpPr>
          <p:cNvPr id="6" name="code"/>
          <p:cNvSpPr/>
          <p:nvPr/>
        </p:nvSpPr>
        <p:spPr>
          <a:xfrm>
            <a:off x="365760" y="1666494"/>
            <a:ext cx="519379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ET</a:t>
            </a:r>
            <a:r>
              <a:rPr sz="900" b="0" i="0">
                <a:solidFill>
                  <a:srgbClr val="E6EDF3"/>
                </a:solidFill>
                <a:latin typeface="Courier New"/>
              </a:rPr>
              <a:t>.</a:t>
            </a:r>
            <a:r>
              <a:rPr sz="900" b="0" i="0">
                <a:solidFill>
                  <a:srgbClr val="E6EDF3"/>
                </a:solidFill>
                <a:latin typeface="Courier New"/>
              </a:rPr>
              <a:t>tostring</a:t>
            </a:r>
            <a:r>
              <a:rPr sz="900" b="0" i="0">
                <a:solidFill>
                  <a:srgbClr val="E6EDF3"/>
                </a:solidFill>
                <a:latin typeface="Courier New"/>
              </a:rPr>
              <a:t>(</a:t>
            </a:r>
            <a:r>
              <a:rPr sz="900" b="0" i="0">
                <a:solidFill>
                  <a:srgbClr val="E6EDF3"/>
                </a:solidFill>
                <a:latin typeface="Courier New"/>
              </a:rPr>
              <a:t>p</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encoding</a:t>
            </a:r>
            <a:r>
              <a:rPr sz="900" b="0" i="0">
                <a:solidFill>
                  <a:srgbClr val="E6EDF3"/>
                </a:solidFill>
                <a:latin typeface="Courier New"/>
              </a:rPr>
              <a:t>=</a:t>
            </a:r>
            <a:r>
              <a:rPr sz="900" b="0" i="0">
                <a:solidFill>
                  <a:srgbClr val="9BE3A8"/>
                </a:solidFill>
                <a:latin typeface="Courier New"/>
              </a:rPr>
              <a:t>'unicode'</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ET</a:t>
            </a:r>
            <a:r>
              <a:rPr sz="900" b="0" i="0">
                <a:solidFill>
                  <a:srgbClr val="E6EDF3"/>
                </a:solidFill>
                <a:latin typeface="Courier New"/>
              </a:rPr>
              <a:t>.</a:t>
            </a:r>
            <a:r>
              <a:rPr sz="900" b="0" i="0">
                <a:solidFill>
                  <a:srgbClr val="E6EDF3"/>
                </a:solidFill>
                <a:latin typeface="Courier New"/>
              </a:rPr>
              <a:t>indent</a:t>
            </a:r>
            <a:r>
              <a:rPr sz="900" b="0" i="0">
                <a:solidFill>
                  <a:srgbClr val="E6EDF3"/>
                </a:solidFill>
                <a:latin typeface="Courier New"/>
              </a:rPr>
              <a:t>(</a:t>
            </a:r>
            <a:r>
              <a:rPr sz="900" b="0" i="0">
                <a:solidFill>
                  <a:srgbClr val="E6EDF3"/>
                </a:solidFill>
                <a:latin typeface="Courier New"/>
              </a:rPr>
              <a:t>p</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ET</a:t>
            </a:r>
            <a:r>
              <a:rPr sz="900" b="0" i="0">
                <a:solidFill>
                  <a:srgbClr val="E6EDF3"/>
                </a:solidFill>
                <a:latin typeface="Courier New"/>
              </a:rPr>
              <a:t>.</a:t>
            </a:r>
            <a:r>
              <a:rPr sz="900" b="0" i="0">
                <a:solidFill>
                  <a:srgbClr val="E6EDF3"/>
                </a:solidFill>
                <a:latin typeface="Courier New"/>
              </a:rPr>
              <a:t>tostring</a:t>
            </a:r>
            <a:r>
              <a:rPr sz="900" b="0" i="0">
                <a:solidFill>
                  <a:srgbClr val="E6EDF3"/>
                </a:solidFill>
                <a:latin typeface="Courier New"/>
              </a:rPr>
              <a:t>(</a:t>
            </a:r>
            <a:r>
              <a:rPr sz="900" b="0" i="0">
                <a:solidFill>
                  <a:srgbClr val="E6EDF3"/>
                </a:solidFill>
                <a:latin typeface="Courier New"/>
              </a:rPr>
              <a:t>p</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encoding</a:t>
            </a:r>
            <a:r>
              <a:rPr sz="900" b="0" i="0">
                <a:solidFill>
                  <a:srgbClr val="E6EDF3"/>
                </a:solidFill>
                <a:latin typeface="Courier New"/>
              </a:rPr>
              <a:t>=</a:t>
            </a:r>
            <a:r>
              <a:rPr sz="900" b="0" i="0">
                <a:solidFill>
                  <a:srgbClr val="9BE3A8"/>
                </a:solidFill>
                <a:latin typeface="Courier New"/>
              </a:rPr>
              <a:t>'unicode'</a:t>
            </a:r>
            <a:r>
              <a:rPr sz="900" b="0" i="0">
                <a:solidFill>
                  <a:srgbClr val="E6EDF3"/>
                </a:solidFill>
                <a:latin typeface="Courier New"/>
              </a:rPr>
              <a:t>)</a:t>
            </a:r>
            <a:r>
              <a:rPr sz="900" b="0" i="0">
                <a:solidFill>
                  <a:srgbClr val="E6EDF3"/>
                </a:solidFill>
                <a:latin typeface="Courier New"/>
              </a:rPr>
              <a:t>)</a:t>
            </a:r>
          </a:p>
        </p:txBody>
      </p:sp>
      <p:sp>
        <p:nvSpPr>
          <p:cNvPr id="7" name="explanation"/>
          <p:cNvSpPr txBox="1"/>
          <p:nvPr/>
        </p:nvSpPr>
        <p:spPr>
          <a:xfrm>
            <a:off x="5541264" y="1666494"/>
            <a:ext cx="3236976" cy="651891"/>
          </a:xfrm>
          <a:prstGeom prst="rect">
            <a:avLst/>
          </a:prstGeom>
          <a:noFill/>
        </p:spPr>
        <p:txBody>
          <a:bodyPr wrap="square" lIns="128016" rIns="128016" tIns="18288" bIns="18288" anchor="ctr">
            <a:spAutoFit/>
          </a:bodyPr>
          <a:lstStyle/>
          <a:p>
            <a:r>
              <a:rPr sz="1100" b="0" i="0">
                <a:solidFill>
                  <a:srgbClr val="1F2933"/>
                </a:solidFill>
                <a:latin typeface="Calibri"/>
              </a:rPr>
              <a:t>tostring() gives one long line. indent() adds line breaks and spaces for people to read.</a:t>
            </a:r>
          </a:p>
        </p:txBody>
      </p:sp>
      <p:sp>
        <p:nvSpPr>
          <p:cNvPr id="8" name="code"/>
          <p:cNvSpPr/>
          <p:nvPr/>
        </p:nvSpPr>
        <p:spPr>
          <a:xfrm>
            <a:off x="365760" y="2364105"/>
            <a:ext cx="519379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buf</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io</a:t>
            </a:r>
            <a:r>
              <a:rPr sz="900" b="0" i="0">
                <a:solidFill>
                  <a:srgbClr val="E6EDF3"/>
                </a:solidFill>
                <a:latin typeface="Courier New"/>
              </a:rPr>
              <a:t>.</a:t>
            </a:r>
            <a:r>
              <a:rPr sz="900" b="0" i="0">
                <a:solidFill>
                  <a:srgbClr val="E6EDF3"/>
                </a:solidFill>
                <a:latin typeface="Courier New"/>
              </a:rPr>
              <a:t>BytesIO</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ET</a:t>
            </a:r>
            <a:r>
              <a:rPr sz="900" b="0" i="0">
                <a:solidFill>
                  <a:srgbClr val="E6EDF3"/>
                </a:solidFill>
                <a:latin typeface="Courier New"/>
              </a:rPr>
              <a:t>.</a:t>
            </a:r>
            <a:r>
              <a:rPr sz="900" b="0" i="0">
                <a:solidFill>
                  <a:srgbClr val="E6EDF3"/>
                </a:solidFill>
                <a:latin typeface="Courier New"/>
              </a:rPr>
              <a:t>ElementTree</a:t>
            </a:r>
            <a:r>
              <a:rPr sz="900" b="0" i="0">
                <a:solidFill>
                  <a:srgbClr val="E6EDF3"/>
                </a:solidFill>
                <a:latin typeface="Courier New"/>
              </a:rPr>
              <a:t>(</a:t>
            </a:r>
            <a:r>
              <a:rPr sz="900" b="0" i="0">
                <a:solidFill>
                  <a:srgbClr val="E6EDF3"/>
                </a:solidFill>
                <a:latin typeface="Courier New"/>
              </a:rPr>
              <a:t>p</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write</a:t>
            </a:r>
            <a:r>
              <a:rPr sz="900" b="0" i="0">
                <a:solidFill>
                  <a:srgbClr val="E6EDF3"/>
                </a:solidFill>
                <a:latin typeface="Courier New"/>
              </a:rPr>
              <a:t>(</a:t>
            </a:r>
            <a:r>
              <a:rPr sz="900" b="0" i="0">
                <a:solidFill>
                  <a:srgbClr val="E6EDF3"/>
                </a:solidFill>
                <a:latin typeface="Courier New"/>
              </a:rPr>
              <a:t>buf</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encoding</a:t>
            </a:r>
            <a:r>
              <a:rPr sz="900" b="0" i="0">
                <a:solidFill>
                  <a:srgbClr val="E6EDF3"/>
                </a:solidFill>
                <a:latin typeface="Courier New"/>
              </a:rPr>
              <a:t>=</a:t>
            </a:r>
            <a:r>
              <a:rPr sz="900" b="0" i="0">
                <a:solidFill>
                  <a:srgbClr val="9BE3A8"/>
                </a:solidFill>
                <a:latin typeface="Courier New"/>
              </a:rPr>
              <a:t>'utf-8'</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xml_declaration</a:t>
            </a:r>
            <a:r>
              <a:rPr sz="900" b="0" i="0">
                <a:solidFill>
                  <a:srgbClr val="E6EDF3"/>
                </a:solidFill>
                <a:latin typeface="Courier New"/>
              </a:rPr>
              <a:t>=</a:t>
            </a:r>
            <a:r>
              <a:rPr sz="900" b="0" i="0">
                <a:solidFill>
                  <a:srgbClr val="E6EDF3"/>
                </a:solidFill>
                <a:latin typeface="Courier New"/>
              </a:rPr>
              <a:t>True</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buf</a:t>
            </a:r>
            <a:r>
              <a:rPr sz="900" b="0" i="0">
                <a:solidFill>
                  <a:srgbClr val="E6EDF3"/>
                </a:solidFill>
                <a:latin typeface="Courier New"/>
              </a:rPr>
              <a:t>.</a:t>
            </a:r>
            <a:r>
              <a:rPr sz="900" b="0" i="0">
                <a:solidFill>
                  <a:srgbClr val="E6EDF3"/>
                </a:solidFill>
                <a:latin typeface="Courier New"/>
              </a:rPr>
              <a:t>getvalue</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7CC4FF"/>
                </a:solidFill>
                <a:latin typeface="Courier New"/>
              </a:rPr>
              <a:t>38</a:t>
            </a:r>
            <a:r>
              <a:rPr sz="900" b="0" i="0">
                <a:solidFill>
                  <a:srgbClr val="E6EDF3"/>
                </a:solidFill>
                <a:latin typeface="Courier New"/>
              </a:rPr>
              <a:t>]</a:t>
            </a:r>
            <a:r>
              <a:rPr sz="900" b="0" i="0">
                <a:solidFill>
                  <a:srgbClr val="E6EDF3"/>
                </a:solidFill>
                <a:latin typeface="Courier New"/>
              </a:rPr>
              <a:t>)</a:t>
            </a:r>
          </a:p>
        </p:txBody>
      </p:sp>
      <p:sp>
        <p:nvSpPr>
          <p:cNvPr id="9" name="explanation"/>
          <p:cNvSpPr txBox="1"/>
          <p:nvPr/>
        </p:nvSpPr>
        <p:spPr>
          <a:xfrm>
            <a:off x="5541264" y="2364105"/>
            <a:ext cx="3236976" cy="651891"/>
          </a:xfrm>
          <a:prstGeom prst="rect">
            <a:avLst/>
          </a:prstGeom>
          <a:noFill/>
        </p:spPr>
        <p:txBody>
          <a:bodyPr wrap="square" lIns="128016" rIns="128016" tIns="18288" bIns="18288" anchor="ctr">
            <a:spAutoFit/>
          </a:bodyPr>
          <a:lstStyle/>
          <a:p>
            <a:r>
              <a:rPr sz="1100" b="0" i="0">
                <a:solidFill>
                  <a:srgbClr val="1F2933"/>
                </a:solidFill>
                <a:latin typeface="Calibri"/>
              </a:rPr>
              <a:t>ElementTree.write() saves to a file or stream; xml_declaration=True adds the line that starts an XML file.</a:t>
            </a:r>
          </a:p>
        </p:txBody>
      </p:sp>
      <p:sp>
        <p:nvSpPr>
          <p:cNvPr id="10" name="result label"/>
          <p:cNvSpPr txBox="1"/>
          <p:nvPr/>
        </p:nvSpPr>
        <p:spPr>
          <a:xfrm>
            <a:off x="365760" y="3070860"/>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336036"/>
            <a:ext cx="3657600" cy="64008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ourier New"/>
              </a:rPr>
              <a:t>tostring: one line of 93 characters</a:t>
            </a:r>
          </a:p>
          <a:p>
            <a:pPr algn="ctr"/>
            <a:r>
              <a:rPr sz="850" b="0" i="0">
                <a:solidFill>
                  <a:srgbClr val="1F2933"/>
                </a:solidFill>
                <a:latin typeface="Courier New"/>
              </a:rPr>
              <a:t>&lt;person&gt;&lt;name&gt;Alice Doe&lt;/name&gt;&lt;note&gt;a &amp;lt; b &amp;amp; "c"&lt;/note&gt;&lt;car t...</a:t>
            </a:r>
          </a:p>
        </p:txBody>
      </p:sp>
      <p:cxnSp>
        <p:nvCxnSpPr>
          <p:cNvPr id="12" name="arrow"/>
          <p:cNvCxnSpPr/>
          <p:nvPr/>
        </p:nvCxnSpPr>
        <p:spPr>
          <a:xfrm>
            <a:off x="4069080" y="3656076"/>
            <a:ext cx="36576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480560" y="3336036"/>
            <a:ext cx="4297680" cy="91440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ourier New"/>
              </a:rPr>
              <a:t>ET.indent(p), then tostring:</a:t>
            </a:r>
          </a:p>
          <a:p>
            <a:pPr algn="ctr"/>
            <a:r>
              <a:rPr sz="850" b="0" i="0">
                <a:solidFill>
                  <a:srgbClr val="1F2933"/>
                </a:solidFill>
                <a:latin typeface="Courier New"/>
              </a:rPr>
              <a:t>&lt;person&gt;</a:t>
            </a:r>
          </a:p>
          <a:p>
            <a:pPr algn="ctr"/>
            <a:r>
              <a:rPr sz="850" b="0" i="0">
                <a:solidFill>
                  <a:srgbClr val="1F2933"/>
                </a:solidFill>
                <a:latin typeface="Courier New"/>
              </a:rPr>
              <a:t>  &lt;name&gt;Alice Doe&lt;/name&gt;</a:t>
            </a:r>
          </a:p>
          <a:p>
            <a:pPr algn="ctr"/>
            <a:r>
              <a:rPr sz="850" b="0" i="0">
                <a:solidFill>
                  <a:srgbClr val="1F2933"/>
                </a:solidFill>
                <a:latin typeface="Courier New"/>
              </a:rPr>
              <a:t>  &lt;note&gt;a &amp;lt; b &amp;amp; "c"&lt;/note&gt;</a:t>
            </a:r>
          </a:p>
          <a:p>
            <a:pPr algn="ctr"/>
            <a:r>
              <a:rPr sz="850" b="0" i="0">
                <a:solidFill>
                  <a:srgbClr val="1F2933"/>
                </a:solidFill>
                <a:latin typeface="Courier New"/>
              </a:rPr>
              <a:t>  &lt;car type="electric" /&gt;</a:t>
            </a:r>
          </a:p>
          <a:p>
            <a:pPr algn="ctr"/>
            <a:r>
              <a:rPr sz="850" b="0" i="0">
                <a:solidFill>
                  <a:srgbClr val="1F2933"/>
                </a:solidFill>
                <a:latin typeface="Courier New"/>
              </a:rPr>
              <a:t>&lt;/person&gt;</a:t>
            </a:r>
          </a:p>
        </p:txBody>
      </p:sp>
      <p:sp>
        <p:nvSpPr>
          <p:cNvPr id="14" name="Rounded Rectangle 13"/>
          <p:cNvSpPr/>
          <p:nvPr/>
        </p:nvSpPr>
        <p:spPr>
          <a:xfrm>
            <a:off x="365760" y="4049268"/>
            <a:ext cx="3657600" cy="27432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&lt; became &amp;lt;, &amp; became &amp;amp;</a:t>
            </a:r>
          </a:p>
        </p:txBody>
      </p:sp>
      <p:sp>
        <p:nvSpPr>
          <p:cNvPr id="15" name="visual note"/>
          <p:cNvSpPr txBox="1"/>
          <p:nvPr/>
        </p:nvSpPr>
        <p:spPr>
          <a:xfrm>
            <a:off x="365760" y="4369308"/>
            <a:ext cx="8412480" cy="201168"/>
          </a:xfrm>
          <a:prstGeom prst="rect">
            <a:avLst/>
          </a:prstGeom>
          <a:noFill/>
        </p:spPr>
        <p:txBody>
          <a:bodyPr wrap="square" lIns="45720" rIns="45720" tIns="27432" bIns="27432" anchor="t">
            <a:spAutoFit/>
          </a:bodyPr>
          <a:lstStyle/>
          <a:p>
            <a:r>
              <a:rPr sz="900" b="0" i="1">
                <a:solidFill>
                  <a:srgbClr val="5B6773"/>
                </a:solidFill>
                <a:latin typeface="Calibri"/>
              </a:rPr>
              <a:t>write(..., xml_declaration=True) starts the file with: b"&lt;?xml version='1.0' encoding='utf-8'?&gt;"</a:t>
            </a:r>
          </a:p>
        </p:txBody>
      </p:sp>
      <p:sp>
        <p:nvSpPr>
          <p:cNvPr id="1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Escape and indent are done for you; the declaration is a choice.</a:t>
            </a:r>
          </a:p>
        </p:txBody>
      </p:sp>
      <p:sp>
        <p:nvSpPr>
          <p:cNvPr id="1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39 / 53</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Namespaces and xsi:nil: names are not what they seem</a:t>
            </a:r>
          </a:p>
        </p:txBody>
      </p:sp>
      <p:sp>
        <p:nvSpPr>
          <p:cNvPr id="4" name="code"/>
          <p:cNvSpPr/>
          <p:nvPr/>
        </p:nvSpPr>
        <p:spPr>
          <a:xfrm>
            <a:off x="365760" y="786384"/>
            <a:ext cx="5612892"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import</a:t>
            </a:r>
            <a:r>
              <a:rPr sz="950" b="0" i="0">
                <a:solidFill>
                  <a:srgbClr val="E6EDF3"/>
                </a:solidFill>
                <a:latin typeface="Courier New"/>
              </a:rPr>
              <a:t> </a:t>
            </a:r>
            <a:r>
              <a:rPr sz="950" b="0" i="0">
                <a:solidFill>
                  <a:srgbClr val="E6EDF3"/>
                </a:solidFill>
                <a:latin typeface="Courier New"/>
              </a:rPr>
              <a:t>xml</a:t>
            </a:r>
            <a:r>
              <a:rPr sz="950" b="0" i="0">
                <a:solidFill>
                  <a:srgbClr val="E6EDF3"/>
                </a:solidFill>
                <a:latin typeface="Courier New"/>
              </a:rPr>
              <a:t>.</a:t>
            </a:r>
            <a:r>
              <a:rPr sz="950" b="0" i="0">
                <a:solidFill>
                  <a:srgbClr val="E6EDF3"/>
                </a:solidFill>
                <a:latin typeface="Courier New"/>
              </a:rPr>
              <a:t>etree</a:t>
            </a:r>
            <a:r>
              <a:rPr sz="950" b="0" i="0">
                <a:solidFill>
                  <a:srgbClr val="E6EDF3"/>
                </a:solidFill>
                <a:latin typeface="Courier New"/>
              </a:rPr>
              <a:t>.</a:t>
            </a:r>
            <a:r>
              <a:rPr sz="950" b="0" i="0">
                <a:solidFill>
                  <a:srgbClr val="E6EDF3"/>
                </a:solidFill>
                <a:latin typeface="Courier New"/>
              </a:rPr>
              <a:t>ElementTree</a:t>
            </a:r>
            <a:r>
              <a:rPr sz="950" b="0" i="0">
                <a:solidFill>
                  <a:srgbClr val="E6EDF3"/>
                </a:solidFill>
                <a:latin typeface="Courier New"/>
              </a:rPr>
              <a:t> </a:t>
            </a:r>
            <a:r>
              <a:rPr sz="950" b="0" i="0">
                <a:solidFill>
                  <a:srgbClr val="E6EDF3"/>
                </a:solidFill>
                <a:latin typeface="Courier New"/>
              </a:rPr>
              <a:t>as</a:t>
            </a:r>
            <a:r>
              <a:rPr sz="950" b="0" i="0">
                <a:solidFill>
                  <a:srgbClr val="E6EDF3"/>
                </a:solidFill>
                <a:latin typeface="Courier New"/>
              </a:rPr>
              <a:t> </a:t>
            </a:r>
            <a:r>
              <a:rPr sz="950" b="0" i="0">
                <a:solidFill>
                  <a:srgbClr val="E6EDF3"/>
                </a:solidFill>
                <a:latin typeface="Courier New"/>
              </a:rPr>
              <a:t>ET</a:t>
            </a:r>
          </a:p>
          <a:p>
            <a:pPr algn="l"/>
            <a:r>
              <a:rPr sz="950" b="0" i="0">
                <a:solidFill>
                  <a:srgbClr val="8FA3B8"/>
                </a:solidFill>
                <a:latin typeface="Courier New"/>
              </a:rPr>
              <a:t>&gt;&gt;&gt; </a:t>
            </a:r>
            <a:r>
              <a:rPr sz="950" b="0" i="0">
                <a:solidFill>
                  <a:srgbClr val="E6EDF3"/>
                </a:solidFill>
                <a:latin typeface="Courier New"/>
              </a:rPr>
              <a:t>XSI</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'http://www.w3.org/2001/XMLSchema-instance'</a:t>
            </a:r>
          </a:p>
          <a:p>
            <a:pPr algn="l"/>
            <a:r>
              <a:rPr sz="950" b="0" i="0">
                <a:solidFill>
                  <a:srgbClr val="8FA3B8"/>
                </a:solidFill>
                <a:latin typeface="Courier New"/>
              </a:rPr>
              <a:t>&gt;&gt;&gt; </a:t>
            </a:r>
            <a:r>
              <a:rPr sz="950" b="0" i="0">
                <a:solidFill>
                  <a:srgbClr val="E6EDF3"/>
                </a:solidFill>
                <a:latin typeface="Courier New"/>
              </a:rPr>
              <a:t>r</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ET</a:t>
            </a:r>
            <a:r>
              <a:rPr sz="950" b="0" i="0">
                <a:solidFill>
                  <a:srgbClr val="E6EDF3"/>
                </a:solidFill>
                <a:latin typeface="Courier New"/>
              </a:rPr>
              <a:t>.</a:t>
            </a:r>
            <a:r>
              <a:rPr sz="950" b="0" i="0">
                <a:solidFill>
                  <a:srgbClr val="E6EDF3"/>
                </a:solidFill>
                <a:latin typeface="Courier New"/>
              </a:rPr>
              <a:t>fromstring</a:t>
            </a:r>
            <a:r>
              <a:rPr sz="950" b="0" i="0">
                <a:solidFill>
                  <a:srgbClr val="E6EDF3"/>
                </a:solidFill>
                <a:latin typeface="Courier New"/>
              </a:rPr>
              <a:t>(</a:t>
            </a:r>
            <a:r>
              <a:rPr sz="950" b="0" i="0">
                <a:solidFill>
                  <a:srgbClr val="9BE3A8"/>
                </a:solidFill>
                <a:latin typeface="Courier New"/>
              </a:rPr>
              <a:t>'&lt;p xmlns:xsi="%s"&gt;&lt;car xsi:nil="true"/&gt;&lt;/p&gt;'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XSI</a:t>
            </a:r>
            <a:r>
              <a:rPr sz="950" b="0" i="0">
                <a:solidFill>
                  <a:srgbClr val="E6EDF3"/>
                </a:solidFill>
                <a:latin typeface="Courier New"/>
              </a:rPr>
              <a:t>)</a:t>
            </a:r>
          </a:p>
        </p:txBody>
      </p:sp>
      <p:sp>
        <p:nvSpPr>
          <p:cNvPr id="5" name="explanation"/>
          <p:cNvSpPr txBox="1"/>
          <p:nvPr/>
        </p:nvSpPr>
        <p:spPr>
          <a:xfrm>
            <a:off x="5960364" y="786384"/>
            <a:ext cx="2817875" cy="826516"/>
          </a:xfrm>
          <a:prstGeom prst="rect">
            <a:avLst/>
          </a:prstGeom>
          <a:noFill/>
        </p:spPr>
        <p:txBody>
          <a:bodyPr wrap="square" lIns="128016" rIns="128016" tIns="18288" bIns="18288" anchor="ctr">
            <a:spAutoFit/>
          </a:bodyPr>
          <a:lstStyle/>
          <a:p>
            <a:r>
              <a:rPr sz="1100" b="0" i="0">
                <a:solidFill>
                  <a:srgbClr val="1F2933"/>
                </a:solidFill>
                <a:latin typeface="Calibri"/>
              </a:rPr>
              <a:t>The book writes a missing value as xsi:nil. The prefix xsi stands for a web address declared in the document.</a:t>
            </a:r>
          </a:p>
        </p:txBody>
      </p:sp>
      <p:sp>
        <p:nvSpPr>
          <p:cNvPr id="6" name="code"/>
          <p:cNvSpPr/>
          <p:nvPr/>
        </p:nvSpPr>
        <p:spPr>
          <a:xfrm>
            <a:off x="365760" y="1658620"/>
            <a:ext cx="5612892"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r</a:t>
            </a:r>
            <a:r>
              <a:rPr sz="950" b="0" i="0">
                <a:solidFill>
                  <a:srgbClr val="E6EDF3"/>
                </a:solidFill>
                <a:latin typeface="Courier New"/>
              </a:rPr>
              <a:t>[</a:t>
            </a:r>
            <a:r>
              <a:rPr sz="950" b="0" i="0">
                <a:solidFill>
                  <a:srgbClr val="7CC4FF"/>
                </a:solidFill>
                <a:latin typeface="Courier New"/>
              </a:rPr>
              <a:t>0</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attrib</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repr</a:t>
            </a:r>
            <a:r>
              <a:rPr sz="950" b="0" i="0">
                <a:solidFill>
                  <a:srgbClr val="E6EDF3"/>
                </a:solidFill>
                <a:latin typeface="Courier New"/>
              </a:rPr>
              <a:t>(</a:t>
            </a:r>
            <a:r>
              <a:rPr sz="950" b="0" i="0">
                <a:solidFill>
                  <a:srgbClr val="E6EDF3"/>
                </a:solidFill>
                <a:latin typeface="Courier New"/>
              </a:rPr>
              <a:t>r</a:t>
            </a:r>
            <a:r>
              <a:rPr sz="950" b="0" i="0">
                <a:solidFill>
                  <a:srgbClr val="E6EDF3"/>
                </a:solidFill>
                <a:latin typeface="Courier New"/>
              </a:rPr>
              <a:t>[</a:t>
            </a:r>
            <a:r>
              <a:rPr sz="950" b="0" i="0">
                <a:solidFill>
                  <a:srgbClr val="7CC4FF"/>
                </a:solidFill>
                <a:latin typeface="Courier New"/>
              </a:rPr>
              <a:t>0</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text</a:t>
            </a:r>
            <a:r>
              <a:rPr sz="950" b="0" i="0">
                <a:solidFill>
                  <a:srgbClr val="E6EDF3"/>
                </a:solidFill>
                <a:latin typeface="Courier New"/>
              </a:rPr>
              <a:t>)</a:t>
            </a:r>
            <a:r>
              <a:rPr sz="950" b="0" i="0">
                <a:solidFill>
                  <a:srgbClr val="E6EDF3"/>
                </a:solidFill>
                <a:latin typeface="Courier New"/>
              </a:rPr>
              <a:t>)</a:t>
            </a:r>
          </a:p>
        </p:txBody>
      </p:sp>
      <p:sp>
        <p:nvSpPr>
          <p:cNvPr id="7" name="explanation"/>
          <p:cNvSpPr txBox="1"/>
          <p:nvPr/>
        </p:nvSpPr>
        <p:spPr>
          <a:xfrm>
            <a:off x="5960364" y="1658620"/>
            <a:ext cx="2817875" cy="826516"/>
          </a:xfrm>
          <a:prstGeom prst="rect">
            <a:avLst/>
          </a:prstGeom>
          <a:noFill/>
        </p:spPr>
        <p:txBody>
          <a:bodyPr wrap="square" lIns="128016" rIns="128016" tIns="18288" bIns="18288" anchor="ctr">
            <a:spAutoFit/>
          </a:bodyPr>
          <a:lstStyle/>
          <a:p>
            <a:r>
              <a:rPr sz="1100" b="0" i="0">
                <a:solidFill>
                  <a:srgbClr val="1F2933"/>
                </a:solidFill>
                <a:latin typeface="Calibri"/>
              </a:rPr>
              <a:t>ElementTree shows the attribute under its full name, in braces. It does not interpret nil: the text is simply None.</a:t>
            </a:r>
          </a:p>
        </p:txBody>
      </p:sp>
      <p:sp>
        <p:nvSpPr>
          <p:cNvPr id="8" name="code"/>
          <p:cNvSpPr/>
          <p:nvPr/>
        </p:nvSpPr>
        <p:spPr>
          <a:xfrm>
            <a:off x="365760" y="2530856"/>
            <a:ext cx="561289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A</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'http://example.org/a'</a:t>
            </a:r>
          </a:p>
          <a:p>
            <a:pPr algn="l"/>
            <a:r>
              <a:rPr sz="950" b="0" i="0">
                <a:solidFill>
                  <a:srgbClr val="8FA3B8"/>
                </a:solidFill>
                <a:latin typeface="Courier New"/>
              </a:rPr>
              <a:t>&gt;&gt;&gt; </a:t>
            </a:r>
            <a:r>
              <a:rPr sz="950" b="0" i="0">
                <a:solidFill>
                  <a:srgbClr val="E6EDF3"/>
                </a:solidFill>
                <a:latin typeface="Courier New"/>
              </a:rPr>
              <a:t>n</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ET</a:t>
            </a:r>
            <a:r>
              <a:rPr sz="950" b="0" i="0">
                <a:solidFill>
                  <a:srgbClr val="E6EDF3"/>
                </a:solidFill>
                <a:latin typeface="Courier New"/>
              </a:rPr>
              <a:t>.</a:t>
            </a:r>
            <a:r>
              <a:rPr sz="950" b="0" i="0">
                <a:solidFill>
                  <a:srgbClr val="E6EDF3"/>
                </a:solidFill>
                <a:latin typeface="Courier New"/>
              </a:rPr>
              <a:t>fromstring</a:t>
            </a:r>
            <a:r>
              <a:rPr sz="950" b="0" i="0">
                <a:solidFill>
                  <a:srgbClr val="E6EDF3"/>
                </a:solidFill>
                <a:latin typeface="Courier New"/>
              </a:rPr>
              <a:t>(</a:t>
            </a:r>
            <a:r>
              <a:rPr sz="950" b="0" i="0">
                <a:solidFill>
                  <a:srgbClr val="9BE3A8"/>
                </a:solidFill>
                <a:latin typeface="Courier New"/>
              </a:rPr>
              <a:t>'&lt;a:r xmlns:a="%s"&gt;&lt;a:i&gt;1&lt;/a:i&gt;&lt;i&gt;2&lt;/i&gt;&lt;/a:r&gt;'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n</a:t>
            </a:r>
            <a:r>
              <a:rPr sz="950" b="0" i="0">
                <a:solidFill>
                  <a:srgbClr val="E6EDF3"/>
                </a:solidFill>
                <a:latin typeface="Courier New"/>
              </a:rPr>
              <a:t>.</a:t>
            </a:r>
            <a:r>
              <a:rPr sz="950" b="0" i="0">
                <a:solidFill>
                  <a:srgbClr val="E6EDF3"/>
                </a:solidFill>
                <a:latin typeface="Courier New"/>
              </a:rPr>
              <a:t>tag</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n</a:t>
            </a:r>
            <a:r>
              <a:rPr sz="950" b="0" i="0">
                <a:solidFill>
                  <a:srgbClr val="E6EDF3"/>
                </a:solidFill>
                <a:latin typeface="Courier New"/>
              </a:rPr>
              <a:t>.</a:t>
            </a:r>
            <a:r>
              <a:rPr sz="950" b="0" i="0">
                <a:solidFill>
                  <a:srgbClr val="E6EDF3"/>
                </a:solidFill>
                <a:latin typeface="Courier New"/>
              </a:rPr>
              <a:t>find</a:t>
            </a:r>
            <a:r>
              <a:rPr sz="950" b="0" i="0">
                <a:solidFill>
                  <a:srgbClr val="E6EDF3"/>
                </a:solidFill>
                <a:latin typeface="Courier New"/>
              </a:rPr>
              <a:t>(</a:t>
            </a:r>
            <a:r>
              <a:rPr sz="950" b="0" i="0">
                <a:solidFill>
                  <a:srgbClr val="9BE3A8"/>
                </a:solidFill>
                <a:latin typeface="Courier New"/>
              </a:rPr>
              <a:t>'{%s}i'</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text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n</a:t>
            </a:r>
            <a:r>
              <a:rPr sz="950" b="0" i="0">
                <a:solidFill>
                  <a:srgbClr val="E6EDF3"/>
                </a:solidFill>
                <a:latin typeface="Courier New"/>
              </a:rPr>
              <a:t>.</a:t>
            </a:r>
            <a:r>
              <a:rPr sz="950" b="0" i="0">
                <a:solidFill>
                  <a:srgbClr val="E6EDF3"/>
                </a:solidFill>
                <a:latin typeface="Courier New"/>
              </a:rPr>
              <a:t>find</a:t>
            </a:r>
            <a:r>
              <a:rPr sz="950" b="0" i="0">
                <a:solidFill>
                  <a:srgbClr val="E6EDF3"/>
                </a:solidFill>
                <a:latin typeface="Courier New"/>
              </a:rPr>
              <a:t>(</a:t>
            </a:r>
            <a:r>
              <a:rPr sz="950" b="0" i="0">
                <a:solidFill>
                  <a:srgbClr val="9BE3A8"/>
                </a:solidFill>
                <a:latin typeface="Courier New"/>
              </a:rPr>
              <a:t>'i'</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text</a:t>
            </a:r>
            <a:r>
              <a:rPr sz="950" b="0" i="0">
                <a:solidFill>
                  <a:srgbClr val="E6EDF3"/>
                </a:solidFill>
                <a:latin typeface="Courier New"/>
              </a:rPr>
              <a:t>)</a:t>
            </a:r>
          </a:p>
        </p:txBody>
      </p:sp>
      <p:sp>
        <p:nvSpPr>
          <p:cNvPr id="9" name="explanation"/>
          <p:cNvSpPr txBox="1"/>
          <p:nvPr/>
        </p:nvSpPr>
        <p:spPr>
          <a:xfrm>
            <a:off x="5960364" y="2530856"/>
            <a:ext cx="2817875" cy="651891"/>
          </a:xfrm>
          <a:prstGeom prst="rect">
            <a:avLst/>
          </a:prstGeom>
          <a:noFill/>
        </p:spPr>
        <p:txBody>
          <a:bodyPr wrap="square" lIns="128016" rIns="128016" tIns="18288" bIns="18288" anchor="ctr">
            <a:spAutoFit/>
          </a:bodyPr>
          <a:lstStyle/>
          <a:p>
            <a:r>
              <a:rPr sz="1100" b="0" i="0">
                <a:solidFill>
                  <a:srgbClr val="1F2933"/>
                </a:solidFill>
                <a:latin typeface="Calibri"/>
              </a:rPr>
              <a:t>A name in a namespace is written {address}name. i and a:i are different elements.</a:t>
            </a:r>
          </a:p>
        </p:txBody>
      </p:sp>
      <p:sp>
        <p:nvSpPr>
          <p:cNvPr id="10" name="result label"/>
          <p:cNvSpPr txBox="1"/>
          <p:nvPr/>
        </p:nvSpPr>
        <p:spPr>
          <a:xfrm>
            <a:off x="365760" y="3237611"/>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484499"/>
          <a:ext cx="8412480" cy="1234440"/>
        </p:xfrm>
        <a:graphic>
          <a:graphicData uri="http://schemas.openxmlformats.org/drawingml/2006/table">
            <a:tbl>
              <a:tblPr firstRow="0" bandRow="0"/>
              <a:tblGrid>
                <a:gridCol w="2743200"/>
                <a:gridCol w="5669280"/>
              </a:tblGrid>
              <a:tr h="246888">
                <a:tc>
                  <a:txBody>
                    <a:bodyPr wrap="square"/>
                    <a:lstStyle/>
                    <a:p>
                      <a:r>
                        <a:rPr sz="900" b="1" i="0">
                          <a:solidFill>
                            <a:srgbClr val="FFFFFF"/>
                          </a:solidFill>
                          <a:latin typeface="Calibri"/>
                        </a:rPr>
                        <a:t>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46888">
                <a:tc>
                  <a:txBody>
                    <a:bodyPr wrap="square"/>
                    <a:lstStyle/>
                    <a:p>
                      <a:r>
                        <a:rPr sz="900" b="0" i="0">
                          <a:solidFill>
                            <a:srgbClr val="1F2933"/>
                          </a:solidFill>
                          <a:latin typeface="Courier New"/>
                        </a:rPr>
                        <a:t>r[0].attrib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{'{http://www.w3.org/2001/XMLSchema-instance}nil': 'true'}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246888">
                <a:tc>
                  <a:txBody>
                    <a:bodyPr wrap="square"/>
                    <a:lstStyle/>
                    <a:p>
                      <a:r>
                        <a:rPr sz="900" b="0" i="0">
                          <a:solidFill>
                            <a:srgbClr val="1F2933"/>
                          </a:solidFill>
                          <a:latin typeface="Courier New"/>
                        </a:rPr>
                        <a:t>r[0].text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246888">
                <a:tc>
                  <a:txBody>
                    <a:bodyPr wrap="square"/>
                    <a:lstStyle/>
                    <a:p>
                      <a:r>
                        <a:rPr sz="900" b="0" i="0">
                          <a:solidFill>
                            <a:srgbClr val="1F2933"/>
                          </a:solidFill>
                          <a:latin typeface="Courier New"/>
                        </a:rPr>
                        <a:t>n.tag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{http://example.org/a}r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900" b="0" i="0">
                          <a:solidFill>
                            <a:srgbClr val="1F2933"/>
                          </a:solidFill>
                          <a:latin typeface="Courier New"/>
                        </a:rPr>
                        <a:t>n.find('{...}i').text, n.find('i').text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1 and 2  (different elements)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ElementTree does not interpret xsi:nil.</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40 / 53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xmltodict: XML as a dictionary of strings</a:t>
            </a:r>
          </a:p>
        </p:txBody>
      </p:sp>
      <p:sp>
        <p:nvSpPr>
          <p:cNvPr id="4" name="code"/>
          <p:cNvSpPr/>
          <p:nvPr/>
        </p:nvSpPr>
        <p:spPr>
          <a:xfrm>
            <a:off x="365760" y="786384"/>
            <a:ext cx="4698491" cy="98932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xmltodict</a:t>
            </a:r>
          </a:p>
          <a:p>
            <a:pPr algn="l"/>
            <a:r>
              <a:rPr sz="1100" b="0" i="0">
                <a:solidFill>
                  <a:srgbClr val="8FA3B8"/>
                </a:solidFill>
                <a:latin typeface="Courier New"/>
              </a:rPr>
              <a:t>&gt;&gt;&gt; </a:t>
            </a:r>
            <a:r>
              <a:rPr sz="1100" b="0" i="0">
                <a:solidFill>
                  <a:srgbClr val="E6EDF3"/>
                </a:solidFill>
                <a:latin typeface="Courier New"/>
              </a:rPr>
              <a:t>x</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'&lt;person&gt;&lt;name&gt;Alice&lt;/name&gt;&lt;age&gt;30&lt;/age&gt;'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9BE3A8"/>
                </a:solidFill>
                <a:latin typeface="Courier New"/>
              </a:rPr>
              <a:t>'&lt;phone type="mobile"&gt;415&lt;/phone&gt;&lt;/person&gt;'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d</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xmltodict</a:t>
            </a:r>
            <a:r>
              <a:rPr sz="1100" b="0" i="0">
                <a:solidFill>
                  <a:srgbClr val="E6EDF3"/>
                </a:solidFill>
                <a:latin typeface="Courier New"/>
              </a:rPr>
              <a:t>.</a:t>
            </a:r>
            <a:r>
              <a:rPr sz="1100" b="0" i="0">
                <a:solidFill>
                  <a:srgbClr val="E6EDF3"/>
                </a:solidFill>
                <a:latin typeface="Courier New"/>
              </a:rPr>
              <a:t>parse</a:t>
            </a:r>
            <a:r>
              <a:rPr sz="1100" b="0" i="0">
                <a:solidFill>
                  <a:srgbClr val="E6EDF3"/>
                </a:solidFill>
                <a:latin typeface="Courier New"/>
              </a:rPr>
              <a:t>(</a:t>
            </a:r>
            <a:r>
              <a:rPr sz="1100" b="0" i="0">
                <a:solidFill>
                  <a:srgbClr val="E6EDF3"/>
                </a:solidFill>
                <a:latin typeface="Courier New"/>
              </a:rPr>
              <a:t>x</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d</a:t>
            </a:r>
            <a:r>
              <a:rPr sz="1100" b="0" i="0">
                <a:solidFill>
                  <a:srgbClr val="E6EDF3"/>
                </a:solidFill>
                <a:latin typeface="Courier New"/>
              </a:rPr>
              <a:t>)</a:t>
            </a:r>
          </a:p>
        </p:txBody>
      </p:sp>
      <p:sp>
        <p:nvSpPr>
          <p:cNvPr id="5" name="explanation"/>
          <p:cNvSpPr txBox="1"/>
          <p:nvPr/>
        </p:nvSpPr>
        <p:spPr>
          <a:xfrm>
            <a:off x="5045964" y="786384"/>
            <a:ext cx="3732275" cy="989329"/>
          </a:xfrm>
          <a:prstGeom prst="rect">
            <a:avLst/>
          </a:prstGeom>
          <a:noFill/>
        </p:spPr>
        <p:txBody>
          <a:bodyPr wrap="square" lIns="128016" rIns="128016" tIns="18288" bIns="18288" anchor="ctr">
            <a:spAutoFit/>
          </a:bodyPr>
          <a:lstStyle/>
          <a:p>
            <a:r>
              <a:rPr sz="1200" b="0" i="0">
                <a:solidFill>
                  <a:srgbClr val="1F2933"/>
                </a:solidFill>
                <a:latin typeface="Calibri"/>
              </a:rPr>
              <a:t>parse() returns a dictionary. The attribute of phone has an @ in front of its key, and its text is under #text.</a:t>
            </a:r>
          </a:p>
        </p:txBody>
      </p:sp>
      <p:sp>
        <p:nvSpPr>
          <p:cNvPr id="6" name="code"/>
          <p:cNvSpPr/>
          <p:nvPr/>
        </p:nvSpPr>
        <p:spPr>
          <a:xfrm>
            <a:off x="365760" y="1821434"/>
            <a:ext cx="4698491" cy="509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xmltodict</a:t>
            </a:r>
            <a:r>
              <a:rPr sz="1100" b="0" i="0">
                <a:solidFill>
                  <a:srgbClr val="E6EDF3"/>
                </a:solidFill>
                <a:latin typeface="Courier New"/>
              </a:rPr>
              <a:t>.</a:t>
            </a:r>
            <a:r>
              <a:rPr sz="1100" b="0" i="0">
                <a:solidFill>
                  <a:srgbClr val="E6EDF3"/>
                </a:solidFill>
                <a:latin typeface="Courier New"/>
              </a:rPr>
              <a:t>parse</a:t>
            </a:r>
            <a:r>
              <a:rPr sz="1100" b="0" i="0">
                <a:solidFill>
                  <a:srgbClr val="E6EDF3"/>
                </a:solidFill>
                <a:latin typeface="Courier New"/>
              </a:rPr>
              <a:t>(</a:t>
            </a:r>
            <a:r>
              <a:rPr sz="1100" b="0" i="0">
                <a:solidFill>
                  <a:srgbClr val="9BE3A8"/>
                </a:solidFill>
                <a:latin typeface="Courier New"/>
              </a:rPr>
              <a:t>'&lt;a&gt;&lt;b&gt;1&lt;/b&gt;&lt;/a&gt;'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xmltodict</a:t>
            </a:r>
            <a:r>
              <a:rPr sz="1100" b="0" i="0">
                <a:solidFill>
                  <a:srgbClr val="E6EDF3"/>
                </a:solidFill>
                <a:latin typeface="Courier New"/>
              </a:rPr>
              <a:t>.</a:t>
            </a:r>
            <a:r>
              <a:rPr sz="1100" b="0" i="0">
                <a:solidFill>
                  <a:srgbClr val="E6EDF3"/>
                </a:solidFill>
                <a:latin typeface="Courier New"/>
              </a:rPr>
              <a:t>parse</a:t>
            </a:r>
            <a:r>
              <a:rPr sz="1100" b="0" i="0">
                <a:solidFill>
                  <a:srgbClr val="E6EDF3"/>
                </a:solidFill>
                <a:latin typeface="Courier New"/>
              </a:rPr>
              <a:t>(</a:t>
            </a:r>
            <a:r>
              <a:rPr sz="1100" b="0" i="0">
                <a:solidFill>
                  <a:srgbClr val="9BE3A8"/>
                </a:solidFill>
                <a:latin typeface="Courier New"/>
              </a:rPr>
              <a:t>'&lt;a&gt;&lt;b&gt;1&lt;/b&gt;&lt;b&gt;2&lt;/b&gt;&lt;/a&gt;'</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5045964" y="1821434"/>
            <a:ext cx="3732275" cy="509016"/>
          </a:xfrm>
          <a:prstGeom prst="rect">
            <a:avLst/>
          </a:prstGeom>
          <a:noFill/>
        </p:spPr>
        <p:txBody>
          <a:bodyPr wrap="square" lIns="128016" rIns="128016" tIns="18288" bIns="18288" anchor="ctr">
            <a:spAutoFit/>
          </a:bodyPr>
          <a:lstStyle/>
          <a:p>
            <a:r>
              <a:rPr sz="1200" b="0" i="0">
                <a:solidFill>
                  <a:srgbClr val="1F2933"/>
                </a:solidFill>
                <a:latin typeface="Calibri"/>
              </a:rPr>
              <a:t>One b gives a string; two b elements give a list. A program must expect both.</a:t>
            </a:r>
          </a:p>
        </p:txBody>
      </p:sp>
      <p:sp>
        <p:nvSpPr>
          <p:cNvPr id="8" name="code"/>
          <p:cNvSpPr/>
          <p:nvPr/>
        </p:nvSpPr>
        <p:spPr>
          <a:xfrm>
            <a:off x="365760" y="2376170"/>
            <a:ext cx="4698491"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xmltodict</a:t>
            </a:r>
            <a:r>
              <a:rPr sz="1100" b="0" i="0">
                <a:solidFill>
                  <a:srgbClr val="E6EDF3"/>
                </a:solidFill>
                <a:latin typeface="Courier New"/>
              </a:rPr>
              <a:t>.</a:t>
            </a:r>
            <a:r>
              <a:rPr sz="1100" b="0" i="0">
                <a:solidFill>
                  <a:srgbClr val="E6EDF3"/>
                </a:solidFill>
                <a:latin typeface="Courier New"/>
              </a:rPr>
              <a:t>unparse</a:t>
            </a:r>
            <a:r>
              <a:rPr sz="1100" b="0" i="0">
                <a:solidFill>
                  <a:srgbClr val="E6EDF3"/>
                </a:solidFill>
                <a:latin typeface="Courier New"/>
              </a:rPr>
              <a:t>(</a:t>
            </a:r>
            <a:r>
              <a:rPr sz="1100" b="0" i="0">
                <a:solidFill>
                  <a:srgbClr val="E6EDF3"/>
                </a:solidFill>
                <a:latin typeface="Courier New"/>
              </a:rPr>
              <a:t>d</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pretty</a:t>
            </a:r>
            <a:r>
              <a:rPr sz="1100" b="0" i="0">
                <a:solidFill>
                  <a:srgbClr val="E6EDF3"/>
                </a:solidFill>
                <a:latin typeface="Courier New"/>
              </a:rPr>
              <a:t>=</a:t>
            </a:r>
            <a:r>
              <a:rPr sz="1100" b="0" i="0">
                <a:solidFill>
                  <a:srgbClr val="E6EDF3"/>
                </a:solidFill>
                <a:latin typeface="Courier New"/>
              </a:rPr>
              <a:t>True</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xmltodict</a:t>
            </a:r>
            <a:r>
              <a:rPr sz="1100" b="0" i="0">
                <a:solidFill>
                  <a:srgbClr val="E6EDF3"/>
                </a:solidFill>
                <a:latin typeface="Courier New"/>
              </a:rPr>
              <a:t>.</a:t>
            </a:r>
            <a:r>
              <a:rPr sz="1100" b="0" i="0">
                <a:solidFill>
                  <a:srgbClr val="E6EDF3"/>
                </a:solidFill>
                <a:latin typeface="Courier New"/>
              </a:rPr>
              <a:t>parse</a:t>
            </a:r>
            <a:r>
              <a:rPr sz="1100" b="0" i="0">
                <a:solidFill>
                  <a:srgbClr val="E6EDF3"/>
                </a:solidFill>
                <a:latin typeface="Courier New"/>
              </a:rPr>
              <a:t>(</a:t>
            </a:r>
            <a:r>
              <a:rPr sz="1100" b="0" i="0">
                <a:solidFill>
                  <a:srgbClr val="E6EDF3"/>
                </a:solidFill>
                <a:latin typeface="Courier New"/>
              </a:rPr>
              <a:t>xmltodict</a:t>
            </a:r>
            <a:r>
              <a:rPr sz="1100" b="0" i="0">
                <a:solidFill>
                  <a:srgbClr val="E6EDF3"/>
                </a:solidFill>
                <a:latin typeface="Courier New"/>
              </a:rPr>
              <a:t>.</a:t>
            </a:r>
            <a:r>
              <a:rPr sz="1100" b="0" i="0">
                <a:solidFill>
                  <a:srgbClr val="E6EDF3"/>
                </a:solidFill>
                <a:latin typeface="Courier New"/>
              </a:rPr>
              <a:t>unparse</a:t>
            </a:r>
            <a:r>
              <a:rPr sz="1100" b="0" i="0">
                <a:solidFill>
                  <a:srgbClr val="E6EDF3"/>
                </a:solidFill>
                <a:latin typeface="Courier New"/>
              </a:rPr>
              <a:t>(</a:t>
            </a:r>
            <a:r>
              <a:rPr sz="1100" b="0" i="0">
                <a:solidFill>
                  <a:srgbClr val="E6EDF3"/>
                </a:solidFill>
                <a:latin typeface="Courier New"/>
              </a:rPr>
              <a:t>d</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d</a:t>
            </a:r>
            <a:r>
              <a:rPr sz="1100" b="0" i="0">
                <a:solidFill>
                  <a:srgbClr val="E6EDF3"/>
                </a:solidFill>
                <a:latin typeface="Courier New"/>
              </a:rPr>
              <a:t>)</a:t>
            </a:r>
          </a:p>
        </p:txBody>
      </p:sp>
      <p:sp>
        <p:nvSpPr>
          <p:cNvPr id="9" name="explanation"/>
          <p:cNvSpPr txBox="1"/>
          <p:nvPr/>
        </p:nvSpPr>
        <p:spPr>
          <a:xfrm>
            <a:off x="5045964" y="2376170"/>
            <a:ext cx="3732275" cy="699516"/>
          </a:xfrm>
          <a:prstGeom prst="rect">
            <a:avLst/>
          </a:prstGeom>
          <a:noFill/>
        </p:spPr>
        <p:txBody>
          <a:bodyPr wrap="square" lIns="128016" rIns="128016" tIns="18288" bIns="18288" anchor="ctr">
            <a:spAutoFit/>
          </a:bodyPr>
          <a:lstStyle/>
          <a:p>
            <a:r>
              <a:rPr sz="1200" b="0" i="0">
                <a:solidFill>
                  <a:srgbClr val="1F2933"/>
                </a:solidFill>
                <a:latin typeface="Calibri"/>
              </a:rPr>
              <a:t>unparse() writes the dictionary back as XML, and the round trip returns the same dictionary.</a:t>
            </a:r>
          </a:p>
        </p:txBody>
      </p:sp>
      <p:sp>
        <p:nvSpPr>
          <p:cNvPr id="10" name="result label"/>
          <p:cNvSpPr txBox="1"/>
          <p:nvPr/>
        </p:nvSpPr>
        <p:spPr>
          <a:xfrm>
            <a:off x="365760" y="3130550"/>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377438"/>
          <a:ext cx="8412480" cy="1234440"/>
        </p:xfrm>
        <a:graphic>
          <a:graphicData uri="http://schemas.openxmlformats.org/drawingml/2006/table">
            <a:tbl>
              <a:tblPr firstRow="0" bandRow="0"/>
              <a:tblGrid>
                <a:gridCol w="2194560"/>
                <a:gridCol w="6217920"/>
              </a:tblGrid>
              <a:tr h="246888">
                <a:tc>
                  <a:txBody>
                    <a:bodyPr wrap="square"/>
                    <a:lstStyle/>
                    <a:p>
                      <a:r>
                        <a:rPr sz="900" b="1" i="0">
                          <a:solidFill>
                            <a:srgbClr val="FFFFFF"/>
                          </a:solidFill>
                          <a:latin typeface="Calibri"/>
                        </a:rPr>
                        <a:t>XML given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dict returned by xmltodict.parse()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46888">
                <a:tc>
                  <a:txBody>
                    <a:bodyPr wrap="square"/>
                    <a:lstStyle/>
                    <a:p>
                      <a:r>
                        <a:rPr sz="900" b="0" i="0">
                          <a:solidFill>
                            <a:srgbClr val="1F2933"/>
                          </a:solidFill>
                          <a:latin typeface="Calibri"/>
                        </a:rPr>
                        <a:t>person: name, age, phone with 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{'person': {'name': 'Alice', 'age': '30', 'phone': {'@type': 'mobile', '#text': '415'}}}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900" b="0" i="0">
                          <a:solidFill>
                            <a:srgbClr val="1F2933"/>
                          </a:solidFill>
                          <a:latin typeface="Calibri"/>
                        </a:rPr>
                        <a:t>one &lt;b&gt;1&lt;/b&gt; inside &lt;a&gt;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{'a': {'b': '1'}}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7EEF0"/>
                    </a:solidFill>
                  </a:tcPr>
                </a:tc>
              </a:tr>
              <a:tr h="246888">
                <a:tc>
                  <a:txBody>
                    <a:bodyPr wrap="square"/>
                    <a:lstStyle/>
                    <a:p>
                      <a:r>
                        <a:rPr sz="900" b="0" i="0">
                          <a:solidFill>
                            <a:srgbClr val="1F2933"/>
                          </a:solidFill>
                          <a:latin typeface="Calibri"/>
                        </a:rPr>
                        <a:t>two &lt;b&gt; elements inside &lt;a&gt;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{'a': {'b': ['1',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246888">
                <a:tc>
                  <a:txBody>
                    <a:bodyPr wrap="square"/>
                    <a:lstStyle/>
                    <a:p>
                      <a:r>
                        <a:rPr sz="900" b="0" i="0">
                          <a:solidFill>
                            <a:srgbClr val="1F2933"/>
                          </a:solidFill>
                          <a:latin typeface="Calibri"/>
                        </a:rPr>
                        <a:t>parse(unparse(d)) == 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bl>
          </a:graphicData>
        </a:graphic>
      </p:graphicFrame>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One child is a dict, two are a list: expect both.</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41 / 53</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Story: ElementTree joined Python in 2006 and json in 2008</a:t>
            </a:r>
          </a:p>
        </p:txBody>
      </p:sp>
      <p:pic>
        <p:nvPicPr>
          <p:cNvPr id="4" name="photo pylib" descr="Picture for the story: ElementTree joined Python in 2006 and json in 2008"/>
          <p:cNvPicPr>
            <a:picLocks noChangeAspect="1"/>
          </p:cNvPicPr>
          <p:nvPr/>
        </p:nvPicPr>
        <p:blipFill>
          <a:blip r:embed="rId3"/>
          <a:stretch>
            <a:fillRect/>
          </a:stretch>
        </p:blipFill>
        <p:spPr>
          <a:xfrm>
            <a:off x="365760" y="868680"/>
            <a:ext cx="2651760"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Guido van Rossum, Python's creator, at OSCON 2006: not Lundh or Ippolito. Photo: Doc Searls, CC BY-SA 2.0.</a:t>
            </a:r>
          </a:p>
        </p:txBody>
      </p:sp>
      <p:sp>
        <p:nvSpPr>
          <p:cNvPr id="6" name="card"/>
          <p:cNvSpPr/>
          <p:nvPr/>
        </p:nvSpPr>
        <p:spPr>
          <a:xfrm>
            <a:off x="3200400" y="8412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Fredrik Lundh, who wrote ElementTree, and Bob Ippolito, who wrote simplejson, which became json.</a:t>
            </a:r>
          </a:p>
        </p:txBody>
      </p:sp>
      <p:sp>
        <p:nvSpPr>
          <p:cNvPr id="8" name="card"/>
          <p:cNvSpPr/>
          <p:nvPr/>
        </p:nvSpPr>
        <p:spPr>
          <a:xfrm>
            <a:off x="3200400" y="14081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081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Their libraries entered Python's standard library as xml.etree and json.</a:t>
            </a:r>
          </a:p>
        </p:txBody>
      </p:sp>
      <p:sp>
        <p:nvSpPr>
          <p:cNvPr id="10" name="card"/>
          <p:cNvSpPr/>
          <p:nvPr/>
        </p:nvSpPr>
        <p:spPr>
          <a:xfrm>
            <a:off x="3200400" y="1975104"/>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75104"/>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ElementTree with Python 2.5 on 19 September 2006; json with Python 2.6 on 1 October 2008.</a:t>
            </a:r>
          </a:p>
        </p:txBody>
      </p:sp>
      <p:sp>
        <p:nvSpPr>
          <p:cNvPr id="12" name="card"/>
          <p:cNvSpPr/>
          <p:nvPr/>
        </p:nvSpPr>
        <p:spPr>
          <a:xfrm>
            <a:off x="3200400" y="2542032"/>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542032"/>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In the standard library of Python; the What's New pages of the Python documentation say so.</a:t>
            </a:r>
          </a:p>
        </p:txBody>
      </p:sp>
      <p:sp>
        <p:nvSpPr>
          <p:cNvPr id="14" name="card"/>
          <p:cNvSpPr/>
          <p:nvPr/>
        </p:nvSpPr>
        <p:spPr>
          <a:xfrm>
            <a:off x="3200400" y="3108960"/>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108960"/>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Modules of the standard library need no installation, so any Python can read JSON and XML.</a:t>
            </a:r>
          </a:p>
        </p:txBody>
      </p:sp>
      <p:sp>
        <p:nvSpPr>
          <p:cNvPr id="16" name="card"/>
          <p:cNvSpPr/>
          <p:nvPr/>
        </p:nvSpPr>
        <p:spPr>
          <a:xfrm>
            <a:off x="3200400" y="367588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67588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Write import json or import xml.etree.ElementTree as ET. The getchildren() of old tutorials is gone today.</a:t>
            </a:r>
          </a:p>
        </p:txBody>
      </p:sp>
      <p:sp>
        <p:nvSpPr>
          <p:cNvPr id="18" name="read"/>
          <p:cNvSpPr txBox="1"/>
          <p:nvPr/>
        </p:nvSpPr>
        <p:spPr>
          <a:xfrm>
            <a:off x="3200400" y="4261104"/>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What's New in Python 2.5 (docs.python.org)</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42 / 53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XML from someone else: entities and defusedxml</a:t>
            </a:r>
          </a:p>
        </p:txBody>
      </p:sp>
      <p:sp>
        <p:nvSpPr>
          <p:cNvPr id="4" name="code"/>
          <p:cNvSpPr/>
          <p:nvPr/>
        </p:nvSpPr>
        <p:spPr>
          <a:xfrm>
            <a:off x="365760" y="786384"/>
            <a:ext cx="4698491" cy="81889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xml</a:t>
            </a:r>
            <a:r>
              <a:rPr sz="1100" b="0" i="0">
                <a:solidFill>
                  <a:srgbClr val="E6EDF3"/>
                </a:solidFill>
                <a:latin typeface="Courier New"/>
              </a:rPr>
              <a:t>.</a:t>
            </a:r>
            <a:r>
              <a:rPr sz="1100" b="0" i="0">
                <a:solidFill>
                  <a:srgbClr val="E6EDF3"/>
                </a:solidFill>
                <a:latin typeface="Courier New"/>
              </a:rPr>
              <a:t>etree</a:t>
            </a:r>
            <a:r>
              <a:rPr sz="1100" b="0" i="0">
                <a:solidFill>
                  <a:srgbClr val="E6EDF3"/>
                </a:solidFill>
                <a:latin typeface="Courier New"/>
              </a:rPr>
              <a:t>.</a:t>
            </a:r>
            <a:r>
              <a:rPr sz="1100" b="0" i="0">
                <a:solidFill>
                  <a:srgbClr val="E6EDF3"/>
                </a:solidFill>
                <a:latin typeface="Courier New"/>
              </a:rPr>
              <a:t>ElementTree</a:t>
            </a:r>
            <a:r>
              <a:rPr sz="1100" b="0" i="0">
                <a:solidFill>
                  <a:srgbClr val="E6EDF3"/>
                </a:solidFill>
                <a:latin typeface="Courier New"/>
              </a:rPr>
              <a:t> </a:t>
            </a:r>
            <a:r>
              <a:rPr sz="1100" b="0" i="0">
                <a:solidFill>
                  <a:srgbClr val="E6EDF3"/>
                </a:solidFill>
                <a:latin typeface="Courier New"/>
              </a:rPr>
              <a:t>as</a:t>
            </a:r>
            <a:r>
              <a:rPr sz="1100" b="0" i="0">
                <a:solidFill>
                  <a:srgbClr val="E6EDF3"/>
                </a:solidFill>
                <a:latin typeface="Courier New"/>
              </a:rPr>
              <a:t> </a:t>
            </a:r>
            <a:r>
              <a:rPr sz="1100" b="0" i="0">
                <a:solidFill>
                  <a:srgbClr val="E6EDF3"/>
                </a:solidFill>
                <a:latin typeface="Courier New"/>
              </a:rPr>
              <a:t>ET</a:t>
            </a:r>
          </a:p>
          <a:p>
            <a:pPr algn="l"/>
            <a:r>
              <a:rPr sz="1100" b="0" i="0">
                <a:solidFill>
                  <a:srgbClr val="8FA3B8"/>
                </a:solidFill>
                <a:latin typeface="Courier New"/>
              </a:rPr>
              <a:t>&gt;&gt;&gt; </a:t>
            </a:r>
            <a:r>
              <a:rPr sz="1100" b="0" i="0">
                <a:solidFill>
                  <a:srgbClr val="E6EDF3"/>
                </a:solidFill>
                <a:latin typeface="Courier New"/>
              </a:rPr>
              <a:t>ten</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'&amp;a;'</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10</a:t>
            </a:r>
          </a:p>
          <a:p>
            <a:pPr algn="l"/>
            <a:r>
              <a:rPr sz="1100" b="0" i="0">
                <a:solidFill>
                  <a:srgbClr val="8FA3B8"/>
                </a:solidFill>
                <a:latin typeface="Courier New"/>
              </a:rPr>
              <a:t>&gt;&gt;&gt; </a:t>
            </a:r>
            <a:r>
              <a:rPr sz="1100" b="0" i="0">
                <a:solidFill>
                  <a:srgbClr val="E6EDF3"/>
                </a:solidFill>
                <a:latin typeface="Courier New"/>
              </a:rPr>
              <a:t>doc</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'&lt;!DOCTYPE d [&lt;!ENTITY a "lol"&gt;'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9BE3A8"/>
                </a:solidFill>
                <a:latin typeface="Courier New"/>
              </a:rPr>
              <a:t>'&lt;!ENTITY b "%s"&gt;]&gt;&lt;d&gt;&amp;b;&lt;/d&gt;'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ten</a:t>
            </a:r>
            <a:r>
              <a:rPr sz="1100" b="0" i="0">
                <a:solidFill>
                  <a:srgbClr val="E6EDF3"/>
                </a:solidFill>
                <a:latin typeface="Courier New"/>
              </a:rPr>
              <a:t>)</a:t>
            </a:r>
          </a:p>
        </p:txBody>
      </p:sp>
      <p:sp>
        <p:nvSpPr>
          <p:cNvPr id="5" name="explanation"/>
          <p:cNvSpPr txBox="1"/>
          <p:nvPr/>
        </p:nvSpPr>
        <p:spPr>
          <a:xfrm>
            <a:off x="5045964" y="786384"/>
            <a:ext cx="3732275" cy="818896"/>
          </a:xfrm>
          <a:prstGeom prst="rect">
            <a:avLst/>
          </a:prstGeom>
          <a:noFill/>
        </p:spPr>
        <p:txBody>
          <a:bodyPr wrap="square" lIns="128016" rIns="128016" tIns="18288" bIns="18288" anchor="ctr">
            <a:spAutoFit/>
          </a:bodyPr>
          <a:lstStyle/>
          <a:p>
            <a:r>
              <a:rPr sz="1200" b="0" i="0">
                <a:solidFill>
                  <a:srgbClr val="1F2933"/>
                </a:solidFill>
                <a:latin typeface="Calibri"/>
              </a:rPr>
              <a:t>A tiny cousin of the billion laughs attack: entity b stands for ten copies of entity a, and a stands for lol.</a:t>
            </a:r>
          </a:p>
        </p:txBody>
      </p:sp>
      <p:sp>
        <p:nvSpPr>
          <p:cNvPr id="6" name="code"/>
          <p:cNvSpPr/>
          <p:nvPr/>
        </p:nvSpPr>
        <p:spPr>
          <a:xfrm>
            <a:off x="365760" y="1651000"/>
            <a:ext cx="4698491"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n</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len</a:t>
            </a:r>
            <a:r>
              <a:rPr sz="1100" b="0" i="0">
                <a:solidFill>
                  <a:srgbClr val="E6EDF3"/>
                </a:solidFill>
                <a:latin typeface="Courier New"/>
              </a:rPr>
              <a:t>(</a:t>
            </a:r>
            <a:r>
              <a:rPr sz="1100" b="0" i="0">
                <a:solidFill>
                  <a:srgbClr val="E6EDF3"/>
                </a:solidFill>
                <a:latin typeface="Courier New"/>
              </a:rPr>
              <a:t>ET</a:t>
            </a:r>
            <a:r>
              <a:rPr sz="1100" b="0" i="0">
                <a:solidFill>
                  <a:srgbClr val="E6EDF3"/>
                </a:solidFill>
                <a:latin typeface="Courier New"/>
              </a:rPr>
              <a:t>.</a:t>
            </a:r>
            <a:r>
              <a:rPr sz="1100" b="0" i="0">
                <a:solidFill>
                  <a:srgbClr val="E6EDF3"/>
                </a:solidFill>
                <a:latin typeface="Courier New"/>
              </a:rPr>
              <a:t>fromstring</a:t>
            </a:r>
            <a:r>
              <a:rPr sz="1100" b="0" i="0">
                <a:solidFill>
                  <a:srgbClr val="E6EDF3"/>
                </a:solidFill>
                <a:latin typeface="Courier New"/>
              </a:rPr>
              <a:t>(</a:t>
            </a:r>
            <a:r>
              <a:rPr sz="1100" b="0" i="0">
                <a:solidFill>
                  <a:srgbClr val="E6EDF3"/>
                </a:solidFill>
                <a:latin typeface="Courier New"/>
              </a:rPr>
              <a:t>doc</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text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'ElementTree expands it:'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n</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'characters'</a:t>
            </a:r>
            <a:r>
              <a:rPr sz="1100" b="0" i="0">
                <a:solidFill>
                  <a:srgbClr val="E6EDF3"/>
                </a:solidFill>
                <a:latin typeface="Courier New"/>
              </a:rPr>
              <a:t>)</a:t>
            </a:r>
          </a:p>
        </p:txBody>
      </p:sp>
      <p:sp>
        <p:nvSpPr>
          <p:cNvPr id="7" name="explanation"/>
          <p:cNvSpPr txBox="1"/>
          <p:nvPr/>
        </p:nvSpPr>
        <p:spPr>
          <a:xfrm>
            <a:off x="5045964" y="1651000"/>
            <a:ext cx="3732275" cy="699516"/>
          </a:xfrm>
          <a:prstGeom prst="rect">
            <a:avLst/>
          </a:prstGeom>
          <a:noFill/>
        </p:spPr>
        <p:txBody>
          <a:bodyPr wrap="square" lIns="128016" rIns="128016" tIns="18288" bIns="18288" anchor="ctr">
            <a:spAutoFit/>
          </a:bodyPr>
          <a:lstStyle/>
          <a:p>
            <a:r>
              <a:rPr sz="1200" b="0" i="0">
                <a:solidFill>
                  <a:srgbClr val="1F2933"/>
                </a:solidFill>
                <a:latin typeface="Calibri"/>
              </a:rPr>
              <a:t>The standard parser expands the entities inside the document. Each further level multiplies the size by ten.</a:t>
            </a:r>
          </a:p>
        </p:txBody>
      </p:sp>
      <p:sp>
        <p:nvSpPr>
          <p:cNvPr id="8" name="code"/>
          <p:cNvSpPr/>
          <p:nvPr/>
        </p:nvSpPr>
        <p:spPr>
          <a:xfrm>
            <a:off x="365760" y="2396236"/>
            <a:ext cx="4698491" cy="81889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defusedxml</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defusedxml</a:t>
            </a:r>
            <a:r>
              <a:rPr sz="1100" b="0" i="0">
                <a:solidFill>
                  <a:srgbClr val="E6EDF3"/>
                </a:solidFill>
                <a:latin typeface="Courier New"/>
              </a:rPr>
              <a:t>.</a:t>
            </a:r>
            <a:r>
              <a:rPr sz="1100" b="0" i="0">
                <a:solidFill>
                  <a:srgbClr val="E6EDF3"/>
                </a:solidFill>
                <a:latin typeface="Courier New"/>
              </a:rPr>
              <a:t>ElementTree</a:t>
            </a:r>
            <a:r>
              <a:rPr sz="1100" b="0" i="0">
                <a:solidFill>
                  <a:srgbClr val="E6EDF3"/>
                </a:solidFill>
                <a:latin typeface="Courier New"/>
              </a:rPr>
              <a:t> </a:t>
            </a:r>
            <a:r>
              <a:rPr sz="1100" b="0" i="0">
                <a:solidFill>
                  <a:srgbClr val="E6EDF3"/>
                </a:solidFill>
                <a:latin typeface="Courier New"/>
              </a:rPr>
              <a:t>as</a:t>
            </a:r>
            <a:r>
              <a:rPr sz="1100" b="0" i="0">
                <a:solidFill>
                  <a:srgbClr val="E6EDF3"/>
                </a:solidFill>
                <a:latin typeface="Courier New"/>
              </a:rPr>
              <a:t> </a:t>
            </a:r>
            <a:r>
              <a:rPr sz="1100" b="0" i="0">
                <a:solidFill>
                  <a:srgbClr val="E6EDF3"/>
                </a:solidFill>
                <a:latin typeface="Courier New"/>
              </a:rPr>
              <a:t>DET</a:t>
            </a:r>
          </a:p>
          <a:p>
            <a:pPr algn="l"/>
            <a:r>
              <a:rPr sz="1100" b="0" i="0">
                <a:solidFill>
                  <a:srgbClr val="8FA3B8"/>
                </a:solidFill>
                <a:latin typeface="Courier New"/>
              </a:rPr>
              <a:t>&gt;&gt;&gt; </a:t>
            </a:r>
            <a:r>
              <a:rPr sz="1100" b="0" i="0">
                <a:solidFill>
                  <a:srgbClr val="E6EDF3"/>
                </a:solidFill>
                <a:latin typeface="Courier New"/>
              </a:rPr>
              <a:t>try</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DET</a:t>
            </a:r>
            <a:r>
              <a:rPr sz="1100" b="0" i="0">
                <a:solidFill>
                  <a:srgbClr val="E6EDF3"/>
                </a:solidFill>
                <a:latin typeface="Courier New"/>
              </a:rPr>
              <a:t>.</a:t>
            </a:r>
            <a:r>
              <a:rPr sz="1100" b="0" i="0">
                <a:solidFill>
                  <a:srgbClr val="E6EDF3"/>
                </a:solidFill>
                <a:latin typeface="Courier New"/>
              </a:rPr>
              <a:t>fromstring</a:t>
            </a:r>
            <a:r>
              <a:rPr sz="1100" b="0" i="0">
                <a:solidFill>
                  <a:srgbClr val="E6EDF3"/>
                </a:solidFill>
                <a:latin typeface="Courier New"/>
              </a:rPr>
              <a:t>(</a:t>
            </a:r>
            <a:r>
              <a:rPr sz="1100" b="0" i="0">
                <a:solidFill>
                  <a:srgbClr val="E6EDF3"/>
                </a:solidFill>
                <a:latin typeface="Courier New"/>
              </a:rPr>
              <a:t>doc</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except</a:t>
            </a:r>
            <a:r>
              <a:rPr sz="1100" b="0" i="0">
                <a:solidFill>
                  <a:srgbClr val="E6EDF3"/>
                </a:solidFill>
                <a:latin typeface="Courier New"/>
              </a:rPr>
              <a:t> </a:t>
            </a:r>
            <a:r>
              <a:rPr sz="1100" b="0" i="0">
                <a:solidFill>
                  <a:srgbClr val="E6EDF3"/>
                </a:solidFill>
                <a:latin typeface="Courier New"/>
              </a:rPr>
              <a:t>defusedxml</a:t>
            </a:r>
            <a:r>
              <a:rPr sz="1100" b="0" i="0">
                <a:solidFill>
                  <a:srgbClr val="E6EDF3"/>
                </a:solidFill>
                <a:latin typeface="Courier New"/>
              </a:rPr>
              <a:t>.</a:t>
            </a:r>
            <a:r>
              <a:rPr sz="1100" b="0" i="0">
                <a:solidFill>
                  <a:srgbClr val="E6EDF3"/>
                </a:solidFill>
                <a:latin typeface="Courier New"/>
              </a:rPr>
              <a:t>EntitiesForbidden</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'defusedxml refuses the entities'</a:t>
            </a:r>
            <a:r>
              <a:rPr sz="1100" b="0" i="0">
                <a:solidFill>
                  <a:srgbClr val="E6EDF3"/>
                </a:solidFill>
                <a:latin typeface="Courier New"/>
              </a:rPr>
              <a:t>)</a:t>
            </a:r>
          </a:p>
        </p:txBody>
      </p:sp>
      <p:sp>
        <p:nvSpPr>
          <p:cNvPr id="9" name="explanation"/>
          <p:cNvSpPr txBox="1"/>
          <p:nvPr/>
        </p:nvSpPr>
        <p:spPr>
          <a:xfrm>
            <a:off x="5045964" y="2396236"/>
            <a:ext cx="3732275" cy="818896"/>
          </a:xfrm>
          <a:prstGeom prst="rect">
            <a:avLst/>
          </a:prstGeom>
          <a:noFill/>
        </p:spPr>
        <p:txBody>
          <a:bodyPr wrap="square" lIns="128016" rIns="128016" tIns="18288" bIns="18288" anchor="ctr">
            <a:spAutoFit/>
          </a:bodyPr>
          <a:lstStyle/>
          <a:p>
            <a:r>
              <a:rPr sz="1200" b="0" i="0">
                <a:solidFill>
                  <a:srgbClr val="1F2933"/>
                </a:solidFill>
                <a:latin typeface="Calibri"/>
              </a:rPr>
              <a:t>defusedxml raises an error at once for entities, so the document is never expanded.</a:t>
            </a:r>
          </a:p>
        </p:txBody>
      </p:sp>
      <p:sp>
        <p:nvSpPr>
          <p:cNvPr id="10" name="result label"/>
          <p:cNvSpPr txBox="1"/>
          <p:nvPr/>
        </p:nvSpPr>
        <p:spPr>
          <a:xfrm>
            <a:off x="365760" y="3269996"/>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699764"/>
            <a:ext cx="2286000" cy="68580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document: entity a = lol,</a:t>
            </a:r>
          </a:p>
          <a:p>
            <a:pPr algn="ctr"/>
            <a:r>
              <a:rPr sz="950" b="0" i="0">
                <a:solidFill>
                  <a:srgbClr val="1F2933"/>
                </a:solidFill>
                <a:latin typeface="Courier New"/>
              </a:rPr>
              <a:t>entity b = ten a's</a:t>
            </a:r>
          </a:p>
        </p:txBody>
      </p:sp>
      <p:cxnSp>
        <p:nvCxnSpPr>
          <p:cNvPr id="12" name="arrow"/>
          <p:cNvCxnSpPr/>
          <p:nvPr/>
        </p:nvCxnSpPr>
        <p:spPr>
          <a:xfrm flipV="1">
            <a:off x="2697479" y="3699764"/>
            <a:ext cx="411481" cy="22860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arrow"/>
          <p:cNvCxnSpPr/>
          <p:nvPr/>
        </p:nvCxnSpPr>
        <p:spPr>
          <a:xfrm>
            <a:off x="2697479" y="4156964"/>
            <a:ext cx="411481" cy="22860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154679" y="3516884"/>
            <a:ext cx="2834640" cy="36576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ElementTree: 30 characters</a:t>
            </a:r>
          </a:p>
        </p:txBody>
      </p:sp>
      <p:sp>
        <p:nvSpPr>
          <p:cNvPr id="15" name="Rounded Rectangle 14"/>
          <p:cNvSpPr/>
          <p:nvPr/>
        </p:nvSpPr>
        <p:spPr>
          <a:xfrm>
            <a:off x="3154679" y="4202684"/>
            <a:ext cx="2834640" cy="36576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defusedxml: refuses the entities</a:t>
            </a:r>
          </a:p>
        </p:txBody>
      </p:sp>
      <p:sp>
        <p:nvSpPr>
          <p:cNvPr id="16" name="Rounded Rectangle 15"/>
          <p:cNvSpPr/>
          <p:nvPr/>
        </p:nvSpPr>
        <p:spPr>
          <a:xfrm>
            <a:off x="6217920" y="3608324"/>
            <a:ext cx="2560320" cy="86868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9 levels of ten: 3,000,000,000 characters, almost 3 GB</a:t>
            </a:r>
          </a:p>
        </p:txBody>
      </p:sp>
      <p:sp>
        <p:nvSpPr>
          <p:cNvPr id="17" name="visual note"/>
          <p:cNvSpPr txBox="1"/>
          <p:nvPr/>
        </p:nvSpPr>
        <p:spPr>
          <a:xfrm>
            <a:off x="365760" y="4614164"/>
            <a:ext cx="8412480" cy="201168"/>
          </a:xfrm>
          <a:prstGeom prst="rect">
            <a:avLst/>
          </a:prstGeom>
          <a:noFill/>
        </p:spPr>
        <p:txBody>
          <a:bodyPr wrap="square" lIns="45720" rIns="45720" tIns="27432" bIns="27432" anchor="t">
            <a:spAutoFit/>
          </a:bodyPr>
          <a:lstStyle/>
          <a:p>
            <a:r>
              <a:rPr sz="950" b="0" i="1">
                <a:solidFill>
                  <a:srgbClr val="5B6773"/>
                </a:solidFill>
                <a:latin typeface="Calibri"/>
              </a:rPr>
              <a:t>the document is under 1 KB in the large case; each level multiplies the text by ten</a:t>
            </a:r>
          </a:p>
        </p:txBody>
      </p:sp>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Never parse untrusted XML with a parser you have not checked.</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43 / 53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Story: A small XML file that asks for a billion laughs</a:t>
            </a:r>
          </a:p>
        </p:txBody>
      </p:sp>
      <p:pic>
        <p:nvPicPr>
          <p:cNvPr id="4" name="photo laughs" descr="Picture for the story: A small XML file that asks for a billion laughs"/>
          <p:cNvPicPr>
            <a:picLocks noChangeAspect="1"/>
          </p:cNvPicPr>
          <p:nvPr/>
        </p:nvPicPr>
        <p:blipFill>
          <a:blip r:embed="rId3"/>
          <a:stretch>
            <a:fillRect/>
          </a:stretch>
        </p:blipFill>
        <p:spPr>
          <a:xfrm>
            <a:off x="365840" y="868680"/>
            <a:ext cx="2651598"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Server racks in a data centre: not an attack. Photo: cbowns, CC BY-SA 2.0, Flickr.</a:t>
            </a:r>
          </a:p>
        </p:txBody>
      </p:sp>
      <p:sp>
        <p:nvSpPr>
          <p:cNvPr id="6" name="card"/>
          <p:cNvSpPr/>
          <p:nvPr/>
        </p:nvSpPr>
        <p:spPr>
          <a:xfrm>
            <a:off x="3200400" y="8412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Parser authors and security reporters, who named it the billion laughs attack or XML bomb.</a:t>
            </a:r>
          </a:p>
        </p:txBody>
      </p:sp>
      <p:sp>
        <p:nvSpPr>
          <p:cNvPr id="8" name="card"/>
          <p:cNvSpPr/>
          <p:nvPr/>
        </p:nvSpPr>
        <p:spPr>
          <a:xfrm>
            <a:off x="3200400" y="14081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081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A document under 1 KB whose entities expand to a billion copies of lol, almost 3 gigabytes.</a:t>
            </a:r>
          </a:p>
        </p:txBody>
      </p:sp>
      <p:sp>
        <p:nvSpPr>
          <p:cNvPr id="10" name="card"/>
          <p:cNvSpPr/>
          <p:nvPr/>
        </p:nvSpPr>
        <p:spPr>
          <a:xfrm>
            <a:off x="3200400" y="1975104"/>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75104"/>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First reported as early as 2002; widely addressed from 2008.</a:t>
            </a:r>
          </a:p>
        </p:txBody>
      </p:sp>
      <p:sp>
        <p:nvSpPr>
          <p:cNvPr id="12" name="card"/>
          <p:cNvSpPr/>
          <p:nvPr/>
        </p:nvSpPr>
        <p:spPr>
          <a:xfrm>
            <a:off x="3200400" y="24414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4414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In any XML parser that expands the entities declared in the document's own DTD.</a:t>
            </a:r>
          </a:p>
        </p:txBody>
      </p:sp>
      <p:sp>
        <p:nvSpPr>
          <p:cNvPr id="14" name="card"/>
          <p:cNvSpPr/>
          <p:nvPr/>
        </p:nvSpPr>
        <p:spPr>
          <a:xfrm>
            <a:off x="3200400" y="30083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0083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A parser that expands entities faithfully can be asked for far more memory than the file is big.</a:t>
            </a:r>
          </a:p>
        </p:txBody>
      </p:sp>
      <p:sp>
        <p:nvSpPr>
          <p:cNvPr id="16" name="card"/>
          <p:cNvSpPr/>
          <p:nvPr/>
        </p:nvSpPr>
        <p:spPr>
          <a:xfrm>
            <a:off x="3200400" y="3575304"/>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575304"/>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Ten entities, each made of ten of the one before. defusedxml refuses entities, as the last XML example showed.</a:t>
            </a:r>
          </a:p>
        </p:txBody>
      </p:sp>
      <p:sp>
        <p:nvSpPr>
          <p:cNvPr id="18" name="read"/>
          <p:cNvSpPr txBox="1"/>
          <p:nvPr/>
        </p:nvSpPr>
        <p:spPr>
          <a:xfrm>
            <a:off x="3200400" y="4160520"/>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Billion laughs attack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44 / 53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2400" b="1" i="0">
                <a:solidFill>
                  <a:srgbClr val="1F2933"/>
                </a:solidFill>
                <a:latin typeface="Calibri"/>
              </a:rPr>
              <a:t>Part 6: Practice program, Excel to CSV</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Open a workbook, write one CSV file for each sheet</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openpyxl</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Reads and writes Excel workbooks without Excel.</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Sheets</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workbook holds sheets; a sheet holds rows.</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iter_rows()</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Gives the cell values row by row.</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Check it</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List the files and read them back.</a:t>
            </a:r>
          </a:p>
        </p:txBody>
      </p:sp>
      <p:graphicFrame>
        <p:nvGraphicFramePr>
          <p:cNvPr id="13" name="table"/>
          <p:cNvGraphicFramePr>
            <a:graphicFrameLocks noGrp="1"/>
          </p:cNvGraphicFramePr>
          <p:nvPr/>
        </p:nvGraphicFramePr>
        <p:xfrm>
          <a:off x="5303520" y="1417320"/>
          <a:ext cx="3474719" cy="146304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46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the practice program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47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Practice program: a workbook to convert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48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Practice program: write one CSV file for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45 / 53</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the practice program</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converter is like a copy clerk who writes each sheet of a ledger on a card of its own.</a:t>
            </a:r>
          </a:p>
        </p:txBody>
      </p:sp>
      <p:graphicFrame>
        <p:nvGraphicFramePr>
          <p:cNvPr id="6" name="table"/>
          <p:cNvGraphicFramePr>
            <a:graphicFrameLocks noGrp="1"/>
          </p:cNvGraphicFramePr>
          <p:nvPr/>
        </p:nvGraphicFramePr>
        <p:xfrm>
          <a:off x="365760" y="1417320"/>
          <a:ext cx="8412480" cy="3108959"/>
        </p:xfrm>
        <a:graphic>
          <a:graphicData uri="http://schemas.openxmlformats.org/drawingml/2006/table">
            <a:tbl>
              <a:tblPr firstRow="0" bandRow="0"/>
              <a:tblGrid>
                <a:gridCol w="3108960"/>
                <a:gridCol w="5303520"/>
              </a:tblGrid>
              <a:tr h="444137">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44137">
                <a:tc>
                  <a:txBody>
                    <a:bodyPr wrap="square"/>
                    <a:lstStyle/>
                    <a:p>
                      <a:r>
                        <a:rPr sz="1100" b="1" i="0">
                          <a:solidFill>
                            <a:srgbClr val="1F2933"/>
                          </a:solidFill>
                          <a:latin typeface="Calibri"/>
                        </a:rPr>
                        <a:t>Practice Program: Excel-to-CSV Converter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Copying each sheet of a ledger onto its own register.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excel-to-CSV converter skeleton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to-do list for the copy clerk: the steps are named, the work is not done.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44137">
                <a:tc>
                  <a:txBody>
                    <a:bodyPr wrap="square"/>
                    <a:lstStyle/>
                    <a:p>
                      <a:r>
                        <a:rPr sz="1100" b="1" i="0">
                          <a:solidFill>
                            <a:srgbClr val="1F2933"/>
                          </a:solidFill>
                          <a:latin typeface="Calibri"/>
                        </a:rPr>
                        <a:t>openpyxl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key to the ledger cabinet: it opens workbooks without Excel.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example3.xlsx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sample ledger with three sheets, two of them empty.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44137">
                <a:tc>
                  <a:txBody>
                    <a:bodyPr wrap="square"/>
                    <a:lstStyle/>
                    <a:p>
                      <a:r>
                        <a:rPr sz="1100" b="1" i="0">
                          <a:solidFill>
                            <a:srgbClr val="1F2933"/>
                          </a:solidFill>
                          <a:latin typeface="Calibri"/>
                        </a:rPr>
                        <a:t>excelSpreadsheets.zip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parcel of practice sheets, already copied as registers.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shelve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sealed shelf of whole Python objects: only Python can read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46 / 53</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program: a workbook to convert</a:t>
            </a:r>
          </a:p>
        </p:txBody>
      </p:sp>
      <p:sp>
        <p:nvSpPr>
          <p:cNvPr id="4" name="code"/>
          <p:cNvSpPr/>
          <p:nvPr/>
        </p:nvSpPr>
        <p:spPr>
          <a:xfrm>
            <a:off x="365760" y="786384"/>
            <a:ext cx="5536691" cy="81889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io</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openpyxl</a:t>
            </a:r>
          </a:p>
          <a:p>
            <a:pPr algn="l"/>
            <a:r>
              <a:rPr sz="1100" b="0" i="0">
                <a:solidFill>
                  <a:srgbClr val="8FA3B8"/>
                </a:solidFill>
                <a:latin typeface="Courier New"/>
              </a:rPr>
              <a:t>&gt;&gt;&gt; </a:t>
            </a:r>
            <a:r>
              <a:rPr sz="1100" b="0" i="0">
                <a:solidFill>
                  <a:srgbClr val="E6EDF3"/>
                </a:solidFill>
                <a:latin typeface="Courier New"/>
              </a:rPr>
              <a:t>wb</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openpyxl</a:t>
            </a:r>
            <a:r>
              <a:rPr sz="1100" b="0" i="0">
                <a:solidFill>
                  <a:srgbClr val="E6EDF3"/>
                </a:solidFill>
                <a:latin typeface="Courier New"/>
              </a:rPr>
              <a:t>.</a:t>
            </a:r>
            <a:r>
              <a:rPr sz="1100" b="0" i="0">
                <a:solidFill>
                  <a:srgbClr val="E6EDF3"/>
                </a:solidFill>
                <a:latin typeface="Courier New"/>
              </a:rPr>
              <a:t>Workbook</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ws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wb</a:t>
            </a:r>
            <a:r>
              <a:rPr sz="1100" b="0" i="0">
                <a:solidFill>
                  <a:srgbClr val="E6EDF3"/>
                </a:solidFill>
                <a:latin typeface="Courier New"/>
              </a:rPr>
              <a:t>.</a:t>
            </a:r>
            <a:r>
              <a:rPr sz="1100" b="0" i="0">
                <a:solidFill>
                  <a:srgbClr val="E6EDF3"/>
                </a:solidFill>
                <a:latin typeface="Courier New"/>
              </a:rPr>
              <a:t>active</a:t>
            </a:r>
          </a:p>
          <a:p>
            <a:pPr algn="l"/>
            <a:r>
              <a:rPr sz="1100" b="0" i="0">
                <a:solidFill>
                  <a:srgbClr val="8FA3B8"/>
                </a:solidFill>
                <a:latin typeface="Courier New"/>
              </a:rPr>
              <a:t>&gt;&gt;&gt; </a:t>
            </a:r>
            <a:r>
              <a:rPr sz="1100" b="0" i="0">
                <a:solidFill>
                  <a:srgbClr val="E6EDF3"/>
                </a:solidFill>
                <a:latin typeface="Courier New"/>
              </a:rPr>
              <a:t>ws</a:t>
            </a:r>
            <a:r>
              <a:rPr sz="1100" b="0" i="0">
                <a:solidFill>
                  <a:srgbClr val="E6EDF3"/>
                </a:solidFill>
                <a:latin typeface="Courier New"/>
              </a:rPr>
              <a:t>.</a:t>
            </a:r>
            <a:r>
              <a:rPr sz="1100" b="0" i="0">
                <a:solidFill>
                  <a:srgbClr val="E6EDF3"/>
                </a:solidFill>
                <a:latin typeface="Courier New"/>
              </a:rPr>
              <a:t>title</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'Sales'</a:t>
            </a:r>
          </a:p>
        </p:txBody>
      </p:sp>
      <p:sp>
        <p:nvSpPr>
          <p:cNvPr id="5" name="explanation"/>
          <p:cNvSpPr txBox="1"/>
          <p:nvPr/>
        </p:nvSpPr>
        <p:spPr>
          <a:xfrm>
            <a:off x="5884164" y="786384"/>
            <a:ext cx="2894076" cy="818896"/>
          </a:xfrm>
          <a:prstGeom prst="rect">
            <a:avLst/>
          </a:prstGeom>
          <a:noFill/>
        </p:spPr>
        <p:txBody>
          <a:bodyPr wrap="square" lIns="128016" rIns="128016" tIns="18288" bIns="18288" anchor="ctr">
            <a:spAutoFit/>
          </a:bodyPr>
          <a:lstStyle/>
          <a:p>
            <a:r>
              <a:rPr sz="1200" b="0" i="0">
                <a:solidFill>
                  <a:srgbClr val="1F2933"/>
                </a:solidFill>
                <a:latin typeface="Calibri"/>
              </a:rPr>
              <a:t>A new workbook with one sheet called Sales. It stands in for the book's spreadsheet files.</a:t>
            </a:r>
          </a:p>
        </p:txBody>
      </p:sp>
      <p:sp>
        <p:nvSpPr>
          <p:cNvPr id="6" name="code"/>
          <p:cNvSpPr/>
          <p:nvPr/>
        </p:nvSpPr>
        <p:spPr>
          <a:xfrm>
            <a:off x="365760" y="1651000"/>
            <a:ext cx="5536691"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rows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9BE3A8"/>
                </a:solidFill>
                <a:latin typeface="Courier New"/>
              </a:rPr>
              <a:t>'Region'</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'Units'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'North'</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120</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'South'</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80</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row</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rows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ws</a:t>
            </a:r>
            <a:r>
              <a:rPr sz="1100" b="0" i="0">
                <a:solidFill>
                  <a:srgbClr val="E6EDF3"/>
                </a:solidFill>
                <a:latin typeface="Courier New"/>
              </a:rPr>
              <a:t>.</a:t>
            </a:r>
            <a:r>
              <a:rPr sz="1100" b="0" i="0">
                <a:solidFill>
                  <a:srgbClr val="E6EDF3"/>
                </a:solidFill>
                <a:latin typeface="Courier New"/>
              </a:rPr>
              <a:t>append</a:t>
            </a:r>
            <a:r>
              <a:rPr sz="1100" b="0" i="0">
                <a:solidFill>
                  <a:srgbClr val="E6EDF3"/>
                </a:solidFill>
                <a:latin typeface="Courier New"/>
              </a:rPr>
              <a:t>(</a:t>
            </a:r>
            <a:r>
              <a:rPr sz="1100" b="0" i="0">
                <a:solidFill>
                  <a:srgbClr val="E6EDF3"/>
                </a:solidFill>
                <a:latin typeface="Courier New"/>
              </a:rPr>
              <a:t>row</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wb</a:t>
            </a:r>
            <a:r>
              <a:rPr sz="1100" b="0" i="0">
                <a:solidFill>
                  <a:srgbClr val="E6EDF3"/>
                </a:solidFill>
                <a:latin typeface="Courier New"/>
              </a:rPr>
              <a:t>.</a:t>
            </a:r>
            <a:r>
              <a:rPr sz="1100" b="0" i="0">
                <a:solidFill>
                  <a:srgbClr val="E6EDF3"/>
                </a:solidFill>
                <a:latin typeface="Courier New"/>
              </a:rPr>
              <a:t>create_sheet</a:t>
            </a:r>
            <a:r>
              <a:rPr sz="1100" b="0" i="0">
                <a:solidFill>
                  <a:srgbClr val="E6EDF3"/>
                </a:solidFill>
                <a:latin typeface="Courier New"/>
              </a:rPr>
              <a:t>(</a:t>
            </a:r>
            <a:r>
              <a:rPr sz="1100" b="0" i="0">
                <a:solidFill>
                  <a:srgbClr val="9BE3A8"/>
                </a:solidFill>
                <a:latin typeface="Courier New"/>
              </a:rPr>
              <a:t>'Costs'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append</a:t>
            </a:r>
            <a:r>
              <a:rPr sz="1100" b="0" i="0">
                <a:solidFill>
                  <a:srgbClr val="E6EDF3"/>
                </a:solidFill>
                <a:latin typeface="Courier New"/>
              </a:rPr>
              <a:t>(</a:t>
            </a:r>
            <a:r>
              <a:rPr sz="1100" b="0" i="0">
                <a:solidFill>
                  <a:srgbClr val="E6EDF3"/>
                </a:solidFill>
                <a:latin typeface="Courier New"/>
              </a:rPr>
              <a:t>[</a:t>
            </a:r>
            <a:r>
              <a:rPr sz="1100" b="0" i="0">
                <a:solidFill>
                  <a:srgbClr val="9BE3A8"/>
                </a:solidFill>
                <a:latin typeface="Courier New"/>
              </a:rPr>
              <a:t>'Item'</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'Cost'</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5884164" y="1651000"/>
            <a:ext cx="2894076" cy="699516"/>
          </a:xfrm>
          <a:prstGeom prst="rect">
            <a:avLst/>
          </a:prstGeom>
          <a:noFill/>
        </p:spPr>
        <p:txBody>
          <a:bodyPr wrap="square" lIns="128016" rIns="128016" tIns="18288" bIns="18288" anchor="ctr">
            <a:spAutoFit/>
          </a:bodyPr>
          <a:lstStyle/>
          <a:p>
            <a:r>
              <a:rPr sz="1200" b="0" i="0">
                <a:solidFill>
                  <a:srgbClr val="1F2933"/>
                </a:solidFill>
                <a:latin typeface="Calibri"/>
              </a:rPr>
              <a:t>append() adds a row after the last one. create_sheet() adds a second sheet.</a:t>
            </a:r>
          </a:p>
        </p:txBody>
      </p:sp>
      <p:sp>
        <p:nvSpPr>
          <p:cNvPr id="8" name="code"/>
          <p:cNvSpPr/>
          <p:nvPr/>
        </p:nvSpPr>
        <p:spPr>
          <a:xfrm>
            <a:off x="365760" y="2396236"/>
            <a:ext cx="5536691"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buf</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io</a:t>
            </a:r>
            <a:r>
              <a:rPr sz="1100" b="0" i="0">
                <a:solidFill>
                  <a:srgbClr val="E6EDF3"/>
                </a:solidFill>
                <a:latin typeface="Courier New"/>
              </a:rPr>
              <a:t>.</a:t>
            </a:r>
            <a:r>
              <a:rPr sz="1100" b="0" i="0">
                <a:solidFill>
                  <a:srgbClr val="E6EDF3"/>
                </a:solidFill>
                <a:latin typeface="Courier New"/>
              </a:rPr>
              <a:t>BytesIO</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wb</a:t>
            </a:r>
            <a:r>
              <a:rPr sz="1100" b="0" i="0">
                <a:solidFill>
                  <a:srgbClr val="E6EDF3"/>
                </a:solidFill>
                <a:latin typeface="Courier New"/>
              </a:rPr>
              <a:t>.</a:t>
            </a:r>
            <a:r>
              <a:rPr sz="1100" b="0" i="0">
                <a:solidFill>
                  <a:srgbClr val="E6EDF3"/>
                </a:solidFill>
                <a:latin typeface="Courier New"/>
              </a:rPr>
              <a:t>save</a:t>
            </a:r>
            <a:r>
              <a:rPr sz="1100" b="0" i="0">
                <a:solidFill>
                  <a:srgbClr val="E6EDF3"/>
                </a:solidFill>
                <a:latin typeface="Courier New"/>
              </a:rPr>
              <a:t>(</a:t>
            </a:r>
            <a:r>
              <a:rPr sz="1100" b="0" i="0">
                <a:solidFill>
                  <a:srgbClr val="E6EDF3"/>
                </a:solidFill>
                <a:latin typeface="Courier New"/>
              </a:rPr>
              <a:t>buf</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again</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openpyxl</a:t>
            </a:r>
            <a:r>
              <a:rPr sz="1100" b="0" i="0">
                <a:solidFill>
                  <a:srgbClr val="E6EDF3"/>
                </a:solidFill>
                <a:latin typeface="Courier New"/>
              </a:rPr>
              <a:t>.</a:t>
            </a:r>
            <a:r>
              <a:rPr sz="1100" b="0" i="0">
                <a:solidFill>
                  <a:srgbClr val="E6EDF3"/>
                </a:solidFill>
                <a:latin typeface="Courier New"/>
              </a:rPr>
              <a:t>load_workbook</a:t>
            </a:r>
            <a:r>
              <a:rPr sz="1100" b="0" i="0">
                <a:solidFill>
                  <a:srgbClr val="E6EDF3"/>
                </a:solidFill>
                <a:latin typeface="Courier New"/>
              </a:rPr>
              <a:t>(</a:t>
            </a:r>
            <a:r>
              <a:rPr sz="1100" b="0" i="0">
                <a:solidFill>
                  <a:srgbClr val="E6EDF3"/>
                </a:solidFill>
                <a:latin typeface="Courier New"/>
              </a:rPr>
              <a:t>buf</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again</a:t>
            </a:r>
            <a:r>
              <a:rPr sz="1100" b="0" i="0">
                <a:solidFill>
                  <a:srgbClr val="E6EDF3"/>
                </a:solidFill>
                <a:latin typeface="Courier New"/>
              </a:rPr>
              <a:t>.</a:t>
            </a:r>
            <a:r>
              <a:rPr sz="1100" b="0" i="0">
                <a:solidFill>
                  <a:srgbClr val="E6EDF3"/>
                </a:solidFill>
                <a:latin typeface="Courier New"/>
              </a:rPr>
              <a:t>sheetnames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again</a:t>
            </a:r>
            <a:r>
              <a:rPr sz="1100" b="0" i="0">
                <a:solidFill>
                  <a:srgbClr val="E6EDF3"/>
                </a:solidFill>
                <a:latin typeface="Courier New"/>
              </a:rPr>
              <a:t>[</a:t>
            </a:r>
            <a:r>
              <a:rPr sz="1100" b="0" i="0">
                <a:solidFill>
                  <a:srgbClr val="9BE3A8"/>
                </a:solidFill>
                <a:latin typeface="Courier New"/>
              </a:rPr>
              <a:t>'Sales'</a:t>
            </a:r>
            <a:r>
              <a:rPr sz="1100" b="0" i="0">
                <a:solidFill>
                  <a:srgbClr val="E6EDF3"/>
                </a:solidFill>
                <a:latin typeface="Courier New"/>
              </a:rPr>
              <a:t>]</a:t>
            </a:r>
            <a:r>
              <a:rPr sz="1100" b="0" i="0">
                <a:solidFill>
                  <a:srgbClr val="E6EDF3"/>
                </a:solidFill>
                <a:latin typeface="Courier New"/>
              </a:rPr>
              <a:t>[</a:t>
            </a:r>
            <a:r>
              <a:rPr sz="1100" b="0" i="0">
                <a:solidFill>
                  <a:srgbClr val="9BE3A8"/>
                </a:solidFill>
                <a:latin typeface="Courier New"/>
              </a:rPr>
              <a:t>'B2'</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value</a:t>
            </a:r>
            <a:r>
              <a:rPr sz="1100" b="0" i="0">
                <a:solidFill>
                  <a:srgbClr val="E6EDF3"/>
                </a:solidFill>
                <a:latin typeface="Courier New"/>
              </a:rPr>
              <a:t>)</a:t>
            </a:r>
          </a:p>
        </p:txBody>
      </p:sp>
      <p:sp>
        <p:nvSpPr>
          <p:cNvPr id="9" name="explanation"/>
          <p:cNvSpPr txBox="1"/>
          <p:nvPr/>
        </p:nvSpPr>
        <p:spPr>
          <a:xfrm>
            <a:off x="5884164" y="2396236"/>
            <a:ext cx="2894076" cy="699516"/>
          </a:xfrm>
          <a:prstGeom prst="rect">
            <a:avLst/>
          </a:prstGeom>
          <a:noFill/>
        </p:spPr>
        <p:txBody>
          <a:bodyPr wrap="square" lIns="128016" rIns="128016" tIns="18288" bIns="18288" anchor="ctr">
            <a:spAutoFit/>
          </a:bodyPr>
          <a:lstStyle/>
          <a:p>
            <a:r>
              <a:rPr sz="1200" b="0" i="0">
                <a:solidFill>
                  <a:srgbClr val="1F2933"/>
                </a:solidFill>
                <a:latin typeface="Calibri"/>
              </a:rPr>
              <a:t>Save into memory, load it again, and read a cell: the numbers stay numbers.</a:t>
            </a:r>
          </a:p>
        </p:txBody>
      </p:sp>
      <p:sp>
        <p:nvSpPr>
          <p:cNvPr id="10" name="result label"/>
          <p:cNvSpPr txBox="1"/>
          <p:nvPr/>
        </p:nvSpPr>
        <p:spPr>
          <a:xfrm>
            <a:off x="365760" y="3150616"/>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sheet label"/>
          <p:cNvSpPr txBox="1"/>
          <p:nvPr/>
        </p:nvSpPr>
        <p:spPr>
          <a:xfrm>
            <a:off x="365760" y="3397504"/>
            <a:ext cx="1828800" cy="219456"/>
          </a:xfrm>
          <a:prstGeom prst="rect">
            <a:avLst/>
          </a:prstGeom>
          <a:noFill/>
        </p:spPr>
        <p:txBody>
          <a:bodyPr wrap="square" lIns="45720" rIns="45720" tIns="27432" bIns="27432" anchor="t">
            <a:spAutoFit/>
          </a:bodyPr>
          <a:lstStyle/>
          <a:p>
            <a:r>
              <a:rPr sz="1000" b="1" i="0">
                <a:solidFill>
                  <a:srgbClr val="0E7C86"/>
                </a:solidFill>
                <a:latin typeface="Calibri"/>
              </a:rPr>
              <a:t>sheet Sales</a:t>
            </a:r>
          </a:p>
        </p:txBody>
      </p:sp>
      <p:graphicFrame>
        <p:nvGraphicFramePr>
          <p:cNvPr id="12" name="table"/>
          <p:cNvGraphicFramePr>
            <a:graphicFrameLocks noGrp="1"/>
          </p:cNvGraphicFramePr>
          <p:nvPr/>
        </p:nvGraphicFramePr>
        <p:xfrm>
          <a:off x="365760" y="3635247"/>
          <a:ext cx="2560319" cy="877824"/>
        </p:xfrm>
        <a:graphic>
          <a:graphicData uri="http://schemas.openxmlformats.org/drawingml/2006/table">
            <a:tbl>
              <a:tblPr firstRow="0" bandRow="0"/>
              <a:tblGrid>
                <a:gridCol w="1493519"/>
                <a:gridCol w="1066800"/>
              </a:tblGrid>
              <a:tr h="219456">
                <a:tc>
                  <a:txBody>
                    <a:bodyPr wrap="square"/>
                    <a:lstStyle/>
                    <a:p>
                      <a:r>
                        <a:rPr sz="950" b="1" i="0">
                          <a:solidFill>
                            <a:srgbClr val="FFFFFF"/>
                          </a:solidFill>
                          <a:latin typeface="Calibri"/>
                        </a:rPr>
                        <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19456">
                <a:tc>
                  <a:txBody>
                    <a:bodyPr wrap="square"/>
                    <a:lstStyle/>
                    <a:p>
                      <a:r>
                        <a:rPr sz="950" b="0" i="0">
                          <a:solidFill>
                            <a:srgbClr val="1F2933"/>
                          </a:solidFill>
                          <a:latin typeface="Courier New"/>
                        </a:rPr>
                        <a:t>Region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Units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19456">
                <a:tc>
                  <a:txBody>
                    <a:bodyPr wrap="square"/>
                    <a:lstStyle/>
                    <a:p>
                      <a:r>
                        <a:rPr sz="950" b="0" i="0">
                          <a:solidFill>
                            <a:srgbClr val="1F2933"/>
                          </a:solidFill>
                          <a:latin typeface="Courier New"/>
                        </a:rPr>
                        <a:t>North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120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19456">
                <a:tc>
                  <a:txBody>
                    <a:bodyPr wrap="square"/>
                    <a:lstStyle/>
                    <a:p>
                      <a:r>
                        <a:rPr sz="950" b="0" i="0">
                          <a:solidFill>
                            <a:srgbClr val="1F2933"/>
                          </a:solidFill>
                          <a:latin typeface="Courier New"/>
                        </a:rPr>
                        <a:t>South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80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3" name="sheet label"/>
          <p:cNvSpPr txBox="1"/>
          <p:nvPr/>
        </p:nvSpPr>
        <p:spPr>
          <a:xfrm>
            <a:off x="3200400" y="3397504"/>
            <a:ext cx="1828800" cy="219456"/>
          </a:xfrm>
          <a:prstGeom prst="rect">
            <a:avLst/>
          </a:prstGeom>
          <a:noFill/>
        </p:spPr>
        <p:txBody>
          <a:bodyPr wrap="square" lIns="45720" rIns="45720" tIns="27432" bIns="27432" anchor="t">
            <a:spAutoFit/>
          </a:bodyPr>
          <a:lstStyle/>
          <a:p>
            <a:r>
              <a:rPr sz="1000" b="1" i="0">
                <a:solidFill>
                  <a:srgbClr val="0E7C86"/>
                </a:solidFill>
                <a:latin typeface="Calibri"/>
              </a:rPr>
              <a:t>sheet Costs</a:t>
            </a:r>
          </a:p>
        </p:txBody>
      </p:sp>
      <p:graphicFrame>
        <p:nvGraphicFramePr>
          <p:cNvPr id="14" name="table"/>
          <p:cNvGraphicFramePr>
            <a:graphicFrameLocks noGrp="1"/>
          </p:cNvGraphicFramePr>
          <p:nvPr/>
        </p:nvGraphicFramePr>
        <p:xfrm>
          <a:off x="3200400" y="3635247"/>
          <a:ext cx="2194559" cy="438912"/>
        </p:xfrm>
        <a:graphic>
          <a:graphicData uri="http://schemas.openxmlformats.org/drawingml/2006/table">
            <a:tbl>
              <a:tblPr firstRow="0" bandRow="0"/>
              <a:tblGrid>
                <a:gridCol w="1197032"/>
                <a:gridCol w="997527"/>
              </a:tblGrid>
              <a:tr h="219456">
                <a:tc>
                  <a:txBody>
                    <a:bodyPr wrap="square"/>
                    <a:lstStyle/>
                    <a:p>
                      <a:r>
                        <a:rPr sz="950" b="1" i="0">
                          <a:solidFill>
                            <a:srgbClr val="FFFFFF"/>
                          </a:solidFill>
                          <a:latin typeface="Calibri"/>
                        </a:rPr>
                        <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19456">
                <a:tc>
                  <a:txBody>
                    <a:bodyPr wrap="square"/>
                    <a:lstStyle/>
                    <a:p>
                      <a:r>
                        <a:rPr sz="950" b="0" i="0">
                          <a:solidFill>
                            <a:srgbClr val="1F2933"/>
                          </a:solidFill>
                          <a:latin typeface="Courier New"/>
                        </a:rPr>
                        <a:t>Item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Cost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5" name="Rounded Rectangle 14"/>
          <p:cNvSpPr/>
          <p:nvPr/>
        </p:nvSpPr>
        <p:spPr>
          <a:xfrm>
            <a:off x="5669280" y="3635247"/>
            <a:ext cx="3108960" cy="45720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saved into memory, loaded again:</a:t>
            </a:r>
          </a:p>
          <a:p>
            <a:pPr algn="ctr"/>
            <a:r>
              <a:rPr sz="950" b="0" i="0">
                <a:solidFill>
                  <a:srgbClr val="1F2933"/>
                </a:solidFill>
                <a:latin typeface="Courier New"/>
              </a:rPr>
              <a:t>['Sales', 'Costs'] 120</a:t>
            </a:r>
          </a:p>
        </p:txBody>
      </p:sp>
      <p:sp>
        <p:nvSpPr>
          <p:cNvPr id="16" name="visual note"/>
          <p:cNvSpPr txBox="1"/>
          <p:nvPr/>
        </p:nvSpPr>
        <p:spPr>
          <a:xfrm>
            <a:off x="5669280" y="4147312"/>
            <a:ext cx="3108960" cy="365760"/>
          </a:xfrm>
          <a:prstGeom prst="rect">
            <a:avLst/>
          </a:prstGeom>
          <a:noFill/>
        </p:spPr>
        <p:txBody>
          <a:bodyPr wrap="square" lIns="45720" rIns="45720" tIns="27432" bIns="27432" anchor="t">
            <a:spAutoFit/>
          </a:bodyPr>
          <a:lstStyle/>
          <a:p>
            <a:r>
              <a:rPr sz="950" b="0" i="1">
                <a:solidFill>
                  <a:srgbClr val="5B6773"/>
                </a:solidFill>
                <a:latin typeface="Calibri"/>
              </a:rPr>
              <a:t>green: ['Sales']['B2'] holds 120, a number, not text</a:t>
            </a:r>
          </a:p>
        </p:txBody>
      </p:sp>
      <p:sp>
        <p:nvSpPr>
          <p:cNvPr id="1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workbook holds sheets; a sheet holds rows.</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47 / 53</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program: write one CSV file for each sheet</a:t>
            </a:r>
          </a:p>
        </p:txBody>
      </p:sp>
      <p:sp>
        <p:nvSpPr>
          <p:cNvPr id="4" name="code"/>
          <p:cNvSpPr/>
          <p:nvPr/>
        </p:nvSpPr>
        <p:spPr>
          <a:xfrm>
            <a:off x="365760" y="786384"/>
            <a:ext cx="5399531" cy="83439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csv</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os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tempfile</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openpyxl</a:t>
            </a:r>
          </a:p>
          <a:p>
            <a:pPr algn="l"/>
            <a:r>
              <a:rPr sz="900" b="0" i="0">
                <a:solidFill>
                  <a:srgbClr val="8FA3B8"/>
                </a:solidFill>
                <a:latin typeface="Courier New"/>
              </a:rPr>
              <a:t>&gt;&gt;&gt; </a:t>
            </a:r>
            <a:r>
              <a:rPr sz="900" b="0" i="0">
                <a:solidFill>
                  <a:srgbClr val="E6EDF3"/>
                </a:solidFill>
                <a:latin typeface="Courier New"/>
              </a:rPr>
              <a:t>os</a:t>
            </a:r>
            <a:r>
              <a:rPr sz="900" b="0" i="0">
                <a:solidFill>
                  <a:srgbClr val="E6EDF3"/>
                </a:solidFill>
                <a:latin typeface="Courier New"/>
              </a:rPr>
              <a:t>.</a:t>
            </a:r>
            <a:r>
              <a:rPr sz="900" b="0" i="0">
                <a:solidFill>
                  <a:srgbClr val="E6EDF3"/>
                </a:solidFill>
                <a:latin typeface="Courier New"/>
              </a:rPr>
              <a:t>chdir</a:t>
            </a:r>
            <a:r>
              <a:rPr sz="900" b="0" i="0">
                <a:solidFill>
                  <a:srgbClr val="E6EDF3"/>
                </a:solidFill>
                <a:latin typeface="Courier New"/>
              </a:rPr>
              <a:t>(</a:t>
            </a:r>
            <a:r>
              <a:rPr sz="900" b="0" i="0">
                <a:solidFill>
                  <a:srgbClr val="E6EDF3"/>
                </a:solidFill>
                <a:latin typeface="Courier New"/>
              </a:rPr>
              <a:t>tempfile</a:t>
            </a:r>
            <a:r>
              <a:rPr sz="900" b="0" i="0">
                <a:solidFill>
                  <a:srgbClr val="E6EDF3"/>
                </a:solidFill>
                <a:latin typeface="Courier New"/>
              </a:rPr>
              <a:t>.</a:t>
            </a:r>
            <a:r>
              <a:rPr sz="900" b="0" i="0">
                <a:solidFill>
                  <a:srgbClr val="E6EDF3"/>
                </a:solidFill>
                <a:latin typeface="Courier New"/>
              </a:rPr>
              <a:t>mkdtemp</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wb</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openpyxl</a:t>
            </a:r>
            <a:r>
              <a:rPr sz="900" b="0" i="0">
                <a:solidFill>
                  <a:srgbClr val="E6EDF3"/>
                </a:solidFill>
                <a:latin typeface="Courier New"/>
              </a:rPr>
              <a:t>.</a:t>
            </a:r>
            <a:r>
              <a:rPr sz="900" b="0" i="0">
                <a:solidFill>
                  <a:srgbClr val="E6EDF3"/>
                </a:solidFill>
                <a:latin typeface="Courier New"/>
              </a:rPr>
              <a:t>Workbook</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wb</a:t>
            </a:r>
            <a:r>
              <a:rPr sz="900" b="0" i="0">
                <a:solidFill>
                  <a:srgbClr val="E6EDF3"/>
                </a:solidFill>
                <a:latin typeface="Courier New"/>
              </a:rPr>
              <a:t>.</a:t>
            </a:r>
            <a:r>
              <a:rPr sz="900" b="0" i="0">
                <a:solidFill>
                  <a:srgbClr val="E6EDF3"/>
                </a:solidFill>
                <a:latin typeface="Courier New"/>
              </a:rPr>
              <a:t>active</a:t>
            </a:r>
            <a:r>
              <a:rPr sz="900" b="0" i="0">
                <a:solidFill>
                  <a:srgbClr val="E6EDF3"/>
                </a:solidFill>
                <a:latin typeface="Courier New"/>
              </a:rPr>
              <a:t>.</a:t>
            </a:r>
            <a:r>
              <a:rPr sz="900" b="0" i="0">
                <a:solidFill>
                  <a:srgbClr val="E6EDF3"/>
                </a:solidFill>
                <a:latin typeface="Courier New"/>
              </a:rPr>
              <a:t>title</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'Sales'</a:t>
            </a:r>
          </a:p>
          <a:p>
            <a:pPr algn="l"/>
            <a:r>
              <a:rPr sz="900" b="0" i="0">
                <a:solidFill>
                  <a:srgbClr val="8FA3B8"/>
                </a:solidFill>
                <a:latin typeface="Courier New"/>
              </a:rPr>
              <a:t>&gt;&gt;&gt; </a:t>
            </a:r>
            <a:r>
              <a:rPr sz="900" b="0" i="0">
                <a:solidFill>
                  <a:srgbClr val="C9A0FF"/>
                </a:solidFill>
                <a:latin typeface="Courier New"/>
              </a:rPr>
              <a:t>for</a:t>
            </a:r>
            <a:r>
              <a:rPr sz="900" b="0" i="0">
                <a:solidFill>
                  <a:srgbClr val="E6EDF3"/>
                </a:solidFill>
                <a:latin typeface="Courier New"/>
              </a:rPr>
              <a:t> </a:t>
            </a:r>
            <a:r>
              <a:rPr sz="900" b="0" i="0">
                <a:solidFill>
                  <a:srgbClr val="E6EDF3"/>
                </a:solidFill>
                <a:latin typeface="Courier New"/>
              </a:rPr>
              <a:t>row</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9BE3A8"/>
                </a:solidFill>
                <a:latin typeface="Courier New"/>
              </a:rPr>
              <a:t>'Region'</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'Units'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'North'</a:t>
            </a:r>
            <a:r>
              <a:rPr sz="900" b="0" i="0">
                <a:solidFill>
                  <a:srgbClr val="E6EDF3"/>
                </a:solidFill>
                <a:latin typeface="Courier New"/>
              </a:rPr>
              <a:t>,</a:t>
            </a:r>
            <a:r>
              <a:rPr sz="900" b="0" i="0">
                <a:solidFill>
                  <a:srgbClr val="E6EDF3"/>
                </a:solidFill>
                <a:latin typeface="Courier New"/>
              </a:rPr>
              <a:t> </a:t>
            </a:r>
            <a:r>
              <a:rPr sz="900" b="0" i="0">
                <a:solidFill>
                  <a:srgbClr val="7CC4FF"/>
                </a:solidFill>
                <a:latin typeface="Courier New"/>
              </a:rPr>
              <a:t>120</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wb</a:t>
            </a:r>
            <a:r>
              <a:rPr sz="900" b="0" i="0">
                <a:solidFill>
                  <a:srgbClr val="E6EDF3"/>
                </a:solidFill>
                <a:latin typeface="Courier New"/>
              </a:rPr>
              <a:t>.</a:t>
            </a:r>
            <a:r>
              <a:rPr sz="900" b="0" i="0">
                <a:solidFill>
                  <a:srgbClr val="E6EDF3"/>
                </a:solidFill>
                <a:latin typeface="Courier New"/>
              </a:rPr>
              <a:t>active</a:t>
            </a:r>
            <a:r>
              <a:rPr sz="900" b="0" i="0">
                <a:solidFill>
                  <a:srgbClr val="E6EDF3"/>
                </a:solidFill>
                <a:latin typeface="Courier New"/>
              </a:rPr>
              <a:t>.</a:t>
            </a:r>
            <a:r>
              <a:rPr sz="900" b="0" i="0">
                <a:solidFill>
                  <a:srgbClr val="E6EDF3"/>
                </a:solidFill>
                <a:latin typeface="Courier New"/>
              </a:rPr>
              <a:t>append</a:t>
            </a:r>
            <a:r>
              <a:rPr sz="900" b="0" i="0">
                <a:solidFill>
                  <a:srgbClr val="E6EDF3"/>
                </a:solidFill>
                <a:latin typeface="Courier New"/>
              </a:rPr>
              <a:t>(</a:t>
            </a:r>
            <a:r>
              <a:rPr sz="900" b="0" i="0">
                <a:solidFill>
                  <a:srgbClr val="E6EDF3"/>
                </a:solidFill>
                <a:latin typeface="Courier New"/>
              </a:rPr>
              <a:t>row</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wb</a:t>
            </a:r>
            <a:r>
              <a:rPr sz="900" b="0" i="0">
                <a:solidFill>
                  <a:srgbClr val="E6EDF3"/>
                </a:solidFill>
                <a:latin typeface="Courier New"/>
              </a:rPr>
              <a:t>.</a:t>
            </a:r>
            <a:r>
              <a:rPr sz="900" b="0" i="0">
                <a:solidFill>
                  <a:srgbClr val="E6EDF3"/>
                </a:solidFill>
                <a:latin typeface="Courier New"/>
              </a:rPr>
              <a:t>create_sheet</a:t>
            </a:r>
            <a:r>
              <a:rPr sz="900" b="0" i="0">
                <a:solidFill>
                  <a:srgbClr val="E6EDF3"/>
                </a:solidFill>
                <a:latin typeface="Courier New"/>
              </a:rPr>
              <a:t>(</a:t>
            </a:r>
            <a:r>
              <a:rPr sz="900" b="0" i="0">
                <a:solidFill>
                  <a:srgbClr val="9BE3A8"/>
                </a:solidFill>
                <a:latin typeface="Courier New"/>
              </a:rPr>
              <a:t>'Costs'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append</a:t>
            </a:r>
            <a:r>
              <a:rPr sz="900" b="0" i="0">
                <a:solidFill>
                  <a:srgbClr val="E6EDF3"/>
                </a:solidFill>
                <a:latin typeface="Courier New"/>
              </a:rPr>
              <a:t>(</a:t>
            </a:r>
            <a:r>
              <a:rPr sz="900" b="0" i="0">
                <a:solidFill>
                  <a:srgbClr val="E6EDF3"/>
                </a:solidFill>
                <a:latin typeface="Courier New"/>
              </a:rPr>
              <a:t>[</a:t>
            </a:r>
            <a:r>
              <a:rPr sz="900" b="0" i="0">
                <a:solidFill>
                  <a:srgbClr val="9BE3A8"/>
                </a:solidFill>
                <a:latin typeface="Courier New"/>
              </a:rPr>
              <a:t>'Item'</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'Cost'</a:t>
            </a:r>
            <a:r>
              <a:rPr sz="900" b="0" i="0">
                <a:solidFill>
                  <a:srgbClr val="E6EDF3"/>
                </a:solidFill>
                <a:latin typeface="Courier New"/>
              </a:rPr>
              <a:t>]</a:t>
            </a:r>
            <a:r>
              <a:rPr sz="900" b="0" i="0">
                <a:solidFill>
                  <a:srgbClr val="E6EDF3"/>
                </a:solidFill>
                <a:latin typeface="Courier New"/>
              </a:rPr>
              <a:t>)</a:t>
            </a:r>
          </a:p>
        </p:txBody>
      </p:sp>
      <p:sp>
        <p:nvSpPr>
          <p:cNvPr id="5" name="explanation"/>
          <p:cNvSpPr txBox="1"/>
          <p:nvPr/>
        </p:nvSpPr>
        <p:spPr>
          <a:xfrm>
            <a:off x="5747004" y="786384"/>
            <a:ext cx="3031236" cy="834390"/>
          </a:xfrm>
          <a:prstGeom prst="rect">
            <a:avLst/>
          </a:prstGeom>
          <a:noFill/>
        </p:spPr>
        <p:txBody>
          <a:bodyPr wrap="square" lIns="128016" rIns="128016" tIns="18288" bIns="18288" anchor="ctr">
            <a:spAutoFit/>
          </a:bodyPr>
          <a:lstStyle/>
          <a:p>
            <a:r>
              <a:rPr sz="1100" b="0" i="0">
                <a:solidFill>
                  <a:srgbClr val="1F2933"/>
                </a:solidFill>
                <a:latin typeface="Calibri"/>
              </a:rPr>
              <a:t>The same kind of workbook, built in memory: a Sales sheet with two rows and a Costs sheet with one.</a:t>
            </a:r>
          </a:p>
        </p:txBody>
      </p:sp>
      <p:sp>
        <p:nvSpPr>
          <p:cNvPr id="6" name="code"/>
          <p:cNvSpPr/>
          <p:nvPr/>
        </p:nvSpPr>
        <p:spPr>
          <a:xfrm>
            <a:off x="365760" y="1666494"/>
            <a:ext cx="5399531" cy="83439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for</a:t>
            </a:r>
            <a:r>
              <a:rPr sz="900" b="0" i="0">
                <a:solidFill>
                  <a:srgbClr val="E6EDF3"/>
                </a:solidFill>
                <a:latin typeface="Courier New"/>
              </a:rPr>
              <a:t> </a:t>
            </a:r>
            <a:r>
              <a:rPr sz="900" b="0" i="0">
                <a:solidFill>
                  <a:srgbClr val="E6EDF3"/>
                </a:solidFill>
                <a:latin typeface="Courier New"/>
              </a:rPr>
              <a:t>ws</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E6EDF3"/>
                </a:solidFill>
                <a:latin typeface="Courier New"/>
              </a:rPr>
              <a:t>wb</a:t>
            </a:r>
            <a:r>
              <a:rPr sz="900" b="0" i="0">
                <a:solidFill>
                  <a:srgbClr val="E6EDF3"/>
                </a:solidFill>
                <a:latin typeface="Courier New"/>
              </a:rPr>
              <a:t>.</a:t>
            </a:r>
            <a:r>
              <a:rPr sz="900" b="0" i="0">
                <a:solidFill>
                  <a:srgbClr val="E6EDF3"/>
                </a:solidFill>
                <a:latin typeface="Courier New"/>
              </a:rPr>
              <a:t>worksheets</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E6EDF3"/>
                </a:solidFill>
                <a:latin typeface="Courier New"/>
              </a:rPr>
              <a:t>with</a:t>
            </a:r>
            <a:r>
              <a:rPr sz="900" b="0" i="0">
                <a:solidFill>
                  <a:srgbClr val="E6EDF3"/>
                </a:solidFill>
                <a:latin typeface="Courier New"/>
              </a:rPr>
              <a:t> </a:t>
            </a:r>
            <a:r>
              <a:rPr sz="900" b="0" i="0">
                <a:solidFill>
                  <a:srgbClr val="E6EDF3"/>
                </a:solidFill>
                <a:latin typeface="Courier New"/>
              </a:rPr>
              <a:t>open</a:t>
            </a:r>
            <a:r>
              <a:rPr sz="900" b="0" i="0">
                <a:solidFill>
                  <a:srgbClr val="E6EDF3"/>
                </a:solidFill>
                <a:latin typeface="Courier New"/>
              </a:rPr>
              <a:t>(</a:t>
            </a:r>
            <a:r>
              <a:rPr sz="900" b="0" i="0">
                <a:solidFill>
                  <a:srgbClr val="9BE3A8"/>
                </a:solidFill>
                <a:latin typeface="Courier New"/>
              </a:rPr>
              <a:t>'book-%s.csv'</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ws</a:t>
            </a:r>
            <a:r>
              <a:rPr sz="900" b="0" i="0">
                <a:solidFill>
                  <a:srgbClr val="E6EDF3"/>
                </a:solidFill>
                <a:latin typeface="Courier New"/>
              </a:rPr>
              <a:t>.</a:t>
            </a:r>
            <a:r>
              <a:rPr sz="900" b="0" i="0">
                <a:solidFill>
                  <a:srgbClr val="E6EDF3"/>
                </a:solidFill>
                <a:latin typeface="Courier New"/>
              </a:rPr>
              <a:t>title</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'w'</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newline</a:t>
            </a:r>
            <a:r>
              <a:rPr sz="900" b="0" i="0">
                <a:solidFill>
                  <a:srgbClr val="E6EDF3"/>
                </a:solidFill>
                <a:latin typeface="Courier New"/>
              </a:rPr>
              <a:t>=</a:t>
            </a:r>
            <a:r>
              <a:rPr sz="900" b="0" i="0">
                <a:solidFill>
                  <a:srgbClr val="9BE3A8"/>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as</a:t>
            </a:r>
            <a:r>
              <a:rPr sz="900" b="0" i="0">
                <a:solidFill>
                  <a:srgbClr val="E6EDF3"/>
                </a:solidFill>
                <a:latin typeface="Courier New"/>
              </a:rPr>
              <a:t> </a:t>
            </a:r>
            <a:r>
              <a:rPr sz="900" b="0" i="0">
                <a:solidFill>
                  <a:srgbClr val="E6EDF3"/>
                </a:solidFill>
                <a:latin typeface="Courier New"/>
              </a:rPr>
              <a:t>f</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E6EDF3"/>
                </a:solidFill>
                <a:latin typeface="Courier New"/>
              </a:rPr>
              <a:t>rows</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list</a:t>
            </a:r>
            <a:r>
              <a:rPr sz="900" b="0" i="0">
                <a:solidFill>
                  <a:srgbClr val="E6EDF3"/>
                </a:solidFill>
                <a:latin typeface="Courier New"/>
              </a:rPr>
              <a:t>(</a:t>
            </a:r>
            <a:r>
              <a:rPr sz="900" b="0" i="0">
                <a:solidFill>
                  <a:srgbClr val="E6EDF3"/>
                </a:solidFill>
                <a:latin typeface="Courier New"/>
              </a:rPr>
              <a:t>ws</a:t>
            </a:r>
            <a:r>
              <a:rPr sz="900" b="0" i="0">
                <a:solidFill>
                  <a:srgbClr val="E6EDF3"/>
                </a:solidFill>
                <a:latin typeface="Courier New"/>
              </a:rPr>
              <a:t>.</a:t>
            </a:r>
            <a:r>
              <a:rPr sz="900" b="0" i="0">
                <a:solidFill>
                  <a:srgbClr val="E6EDF3"/>
                </a:solidFill>
                <a:latin typeface="Courier New"/>
              </a:rPr>
              <a:t>iter_rows</a:t>
            </a:r>
            <a:r>
              <a:rPr sz="900" b="0" i="0">
                <a:solidFill>
                  <a:srgbClr val="E6EDF3"/>
                </a:solidFill>
                <a:latin typeface="Courier New"/>
              </a:rPr>
              <a:t>(</a:t>
            </a:r>
            <a:r>
              <a:rPr sz="900" b="0" i="0">
                <a:solidFill>
                  <a:srgbClr val="E6EDF3"/>
                </a:solidFill>
                <a:latin typeface="Courier New"/>
              </a:rPr>
              <a:t>values_only</a:t>
            </a:r>
            <a:r>
              <a:rPr sz="900" b="0" i="0">
                <a:solidFill>
                  <a:srgbClr val="E6EDF3"/>
                </a:solidFill>
                <a:latin typeface="Courier New"/>
              </a:rPr>
              <a:t>=</a:t>
            </a:r>
            <a:r>
              <a:rPr sz="900" b="0" i="0">
                <a:solidFill>
                  <a:srgbClr val="E6EDF3"/>
                </a:solidFill>
                <a:latin typeface="Courier New"/>
              </a:rPr>
              <a:t>True</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E6EDF3"/>
                </a:solidFill>
                <a:latin typeface="Courier New"/>
              </a:rPr>
              <a:t>csv</a:t>
            </a:r>
            <a:r>
              <a:rPr sz="900" b="0" i="0">
                <a:solidFill>
                  <a:srgbClr val="E6EDF3"/>
                </a:solidFill>
                <a:latin typeface="Courier New"/>
              </a:rPr>
              <a:t>.</a:t>
            </a:r>
            <a:r>
              <a:rPr sz="900" b="0" i="0">
                <a:solidFill>
                  <a:srgbClr val="E6EDF3"/>
                </a:solidFill>
                <a:latin typeface="Courier New"/>
              </a:rPr>
              <a:t>writer</a:t>
            </a:r>
            <a:r>
              <a:rPr sz="900" b="0" i="0">
                <a:solidFill>
                  <a:srgbClr val="E6EDF3"/>
                </a:solidFill>
                <a:latin typeface="Courier New"/>
              </a:rPr>
              <a:t>(</a:t>
            </a:r>
            <a:r>
              <a:rPr sz="900" b="0" i="0">
                <a:solidFill>
                  <a:srgbClr val="E6EDF3"/>
                </a:solidFill>
                <a:latin typeface="Courier New"/>
              </a:rPr>
              <a:t>f</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writerows</a:t>
            </a:r>
            <a:r>
              <a:rPr sz="900" b="0" i="0">
                <a:solidFill>
                  <a:srgbClr val="E6EDF3"/>
                </a:solidFill>
                <a:latin typeface="Courier New"/>
              </a:rPr>
              <a:t>(</a:t>
            </a:r>
            <a:r>
              <a:rPr sz="900" b="0" i="0">
                <a:solidFill>
                  <a:srgbClr val="E6EDF3"/>
                </a:solidFill>
                <a:latin typeface="Courier New"/>
              </a:rPr>
              <a:t>rows</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f</a:t>
            </a:r>
            <a:r>
              <a:rPr sz="900" b="0" i="0">
                <a:solidFill>
                  <a:srgbClr val="E6EDF3"/>
                </a:solidFill>
                <a:latin typeface="Courier New"/>
              </a:rPr>
              <a:t>.</a:t>
            </a:r>
            <a:r>
              <a:rPr sz="900" b="0" i="0">
                <a:solidFill>
                  <a:srgbClr val="E6EDF3"/>
                </a:solidFill>
                <a:latin typeface="Courier New"/>
              </a:rPr>
              <a:t>name</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len</a:t>
            </a:r>
            <a:r>
              <a:rPr sz="900" b="0" i="0">
                <a:solidFill>
                  <a:srgbClr val="E6EDF3"/>
                </a:solidFill>
                <a:latin typeface="Courier New"/>
              </a:rPr>
              <a:t>(</a:t>
            </a:r>
            <a:r>
              <a:rPr sz="900" b="0" i="0">
                <a:solidFill>
                  <a:srgbClr val="E6EDF3"/>
                </a:solidFill>
                <a:latin typeface="Courier New"/>
              </a:rPr>
              <a:t>rows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'rows'</a:t>
            </a:r>
            <a:r>
              <a:rPr sz="900" b="0" i="0">
                <a:solidFill>
                  <a:srgbClr val="E6EDF3"/>
                </a:solidFill>
                <a:latin typeface="Courier New"/>
              </a:rPr>
              <a:t>)</a:t>
            </a:r>
          </a:p>
        </p:txBody>
      </p:sp>
      <p:sp>
        <p:nvSpPr>
          <p:cNvPr id="7" name="explanation"/>
          <p:cNvSpPr txBox="1"/>
          <p:nvPr/>
        </p:nvSpPr>
        <p:spPr>
          <a:xfrm>
            <a:off x="5747004" y="1666494"/>
            <a:ext cx="3031236" cy="834390"/>
          </a:xfrm>
          <a:prstGeom prst="rect">
            <a:avLst/>
          </a:prstGeom>
          <a:noFill/>
        </p:spPr>
        <p:txBody>
          <a:bodyPr wrap="square" lIns="128016" rIns="128016" tIns="18288" bIns="18288" anchor="ctr">
            <a:spAutoFit/>
          </a:bodyPr>
          <a:lstStyle/>
          <a:p>
            <a:r>
              <a:rPr sz="1100" b="0" i="0">
                <a:solidFill>
                  <a:srgbClr val="1F2933"/>
                </a:solidFill>
                <a:latin typeface="Calibri"/>
              </a:rPr>
              <a:t>Loop over the sheets. Write a file for each, named after the workbook and the sheet, with one CSV row for each row.</a:t>
            </a:r>
          </a:p>
        </p:txBody>
      </p:sp>
      <p:sp>
        <p:nvSpPr>
          <p:cNvPr id="8" name="result label"/>
          <p:cNvSpPr txBox="1"/>
          <p:nvPr/>
        </p:nvSpPr>
        <p:spPr>
          <a:xfrm>
            <a:off x="365760" y="2555748"/>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2939796"/>
            <a:ext cx="1737360" cy="64008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workbook</a:t>
            </a:r>
          </a:p>
          <a:p>
            <a:pPr algn="ctr"/>
            <a:r>
              <a:rPr sz="950" b="0" i="0">
                <a:solidFill>
                  <a:srgbClr val="1F2933"/>
                </a:solidFill>
                <a:latin typeface="Courier New"/>
              </a:rPr>
              <a:t>sheets: Sales, Costs</a:t>
            </a:r>
          </a:p>
        </p:txBody>
      </p:sp>
      <p:cxnSp>
        <p:nvCxnSpPr>
          <p:cNvPr id="10" name="arrow"/>
          <p:cNvCxnSpPr/>
          <p:nvPr/>
        </p:nvCxnSpPr>
        <p:spPr>
          <a:xfrm flipV="1">
            <a:off x="2148840" y="3031236"/>
            <a:ext cx="411480" cy="22860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606040" y="2802636"/>
            <a:ext cx="2194560" cy="420624"/>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book-Sales.csv  (2 rows)</a:t>
            </a:r>
          </a:p>
        </p:txBody>
      </p:sp>
      <p:sp>
        <p:nvSpPr>
          <p:cNvPr id="12" name="Rounded Rectangle 11"/>
          <p:cNvSpPr/>
          <p:nvPr/>
        </p:nvSpPr>
        <p:spPr>
          <a:xfrm>
            <a:off x="4937760" y="2802636"/>
            <a:ext cx="3840480" cy="420624"/>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lines: ['Region,Units', 'North,120']</a:t>
            </a:r>
          </a:p>
        </p:txBody>
      </p:sp>
      <p:cxnSp>
        <p:nvCxnSpPr>
          <p:cNvPr id="13" name="arrow"/>
          <p:cNvCxnSpPr/>
          <p:nvPr/>
        </p:nvCxnSpPr>
        <p:spPr>
          <a:xfrm>
            <a:off x="2148840" y="3259836"/>
            <a:ext cx="411480" cy="27432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06040" y="3305556"/>
            <a:ext cx="2194560" cy="420624"/>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book-Costs.csv  (1 rows)</a:t>
            </a:r>
          </a:p>
        </p:txBody>
      </p:sp>
      <p:sp>
        <p:nvSpPr>
          <p:cNvPr id="15" name="Rounded Rectangle 14"/>
          <p:cNvSpPr/>
          <p:nvPr/>
        </p:nvSpPr>
        <p:spPr>
          <a:xfrm>
            <a:off x="4937760" y="3305556"/>
            <a:ext cx="3840480" cy="420624"/>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lines: ['Item,Cost']</a:t>
            </a:r>
          </a:p>
        </p:txBody>
      </p:sp>
      <p:sp>
        <p:nvSpPr>
          <p:cNvPr id="1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One CSV file for each sheet.</a:t>
            </a:r>
          </a:p>
        </p:txBody>
      </p:sp>
      <p:sp>
        <p:nvSpPr>
          <p:cNvPr id="1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48 / 53</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Which call does what, and what it needs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From the chapter research; each call has its code slide</a:t>
            </a:r>
          </a:p>
        </p:txBody>
      </p:sp>
      <p:graphicFrame>
        <p:nvGraphicFramePr>
          <p:cNvPr id="5" name="table"/>
          <p:cNvGraphicFramePr>
            <a:graphicFrameLocks noGrp="1"/>
          </p:cNvGraphicFramePr>
          <p:nvPr/>
        </p:nvGraphicFramePr>
        <p:xfrm>
          <a:off x="457200" y="1051560"/>
          <a:ext cx="8229599" cy="3291840"/>
        </p:xfrm>
        <a:graphic>
          <a:graphicData uri="http://schemas.openxmlformats.org/drawingml/2006/table">
            <a:tbl>
              <a:tblPr firstRow="0" bandRow="0"/>
              <a:tblGrid>
                <a:gridCol w="2834640"/>
                <a:gridCol w="1920240"/>
                <a:gridCol w="2651760"/>
                <a:gridCol w="822959"/>
              </a:tblGrid>
              <a:tr h="329184">
                <a:tc>
                  <a:txBody>
                    <a:bodyPr wrap="square"/>
                    <a:lstStyle/>
                    <a:p>
                      <a:r>
                        <a:rPr sz="110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What it does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What to know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100" b="1" i="0">
                          <a:solidFill>
                            <a:srgbClr val="FFFFFF"/>
                          </a:solidFill>
                          <a:latin typeface="Calibri"/>
                        </a:rPr>
                        <a:t>See 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29184">
                <a:tc>
                  <a:txBody>
                    <a:bodyPr wrap="square"/>
                    <a:lstStyle/>
                    <a:p>
                      <a:r>
                        <a:rPr sz="1100" b="1" i="0">
                          <a:solidFill>
                            <a:srgbClr val="1F2933"/>
                          </a:solidFill>
                          <a:latin typeface="Courier New"/>
                        </a:rPr>
                        <a:t>csv.reader(f)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reads rows as lists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open with newline=''; every value is a str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100" b="0" i="0">
                          <a:solidFill>
                            <a:srgbClr val="1F2933"/>
                          </a:solidFill>
                          <a:latin typeface="Calibri"/>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9184">
                <a:tc>
                  <a:txBody>
                    <a:bodyPr wrap="square"/>
                    <a:lstStyle/>
                    <a:p>
                      <a:r>
                        <a:rPr sz="1100" b="1" i="0">
                          <a:solidFill>
                            <a:srgbClr val="1F2933"/>
                          </a:solidFill>
                          <a:latin typeface="Courier New"/>
                        </a:rPr>
                        <a:t>next(reader, 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skips the header row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safe on an empty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100" b="0" i="0">
                          <a:solidFill>
                            <a:srgbClr val="1F2933"/>
                          </a:solidFill>
                          <a:latin typeface="Calibri"/>
                        </a:rPr>
                        <a:t>23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9184">
                <a:tc>
                  <a:txBody>
                    <a:bodyPr wrap="square"/>
                    <a:lstStyle/>
                    <a:p>
                      <a:r>
                        <a:rPr sz="1100" b="1" i="0">
                          <a:solidFill>
                            <a:srgbClr val="1F2933"/>
                          </a:solidFill>
                          <a:latin typeface="Courier New"/>
                        </a:rPr>
                        <a:t>csv.writer(f).writerow(row)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writes one record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returns the length; CRLF ends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100" b="0" i="0">
                          <a:solidFill>
                            <a:srgbClr val="1F2933"/>
                          </a:solidFill>
                          <a:latin typeface="Calibri"/>
                        </a:rPr>
                        <a:t>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9184">
                <a:tc>
                  <a:txBody>
                    <a:bodyPr wrap="square"/>
                    <a:lstStyle/>
                    <a:p>
                      <a:r>
                        <a:rPr sz="1100" b="1" i="0">
                          <a:solidFill>
                            <a:srgbClr val="1F2933"/>
                          </a:solidFill>
                          <a:latin typeface="Courier New"/>
                        </a:rPr>
                        <a:t>csv.DictReader, DictWriter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rows as dictionaries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first row gives the keys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100" b="0" i="0">
                          <a:solidFill>
                            <a:srgbClr val="1F2933"/>
                          </a:solidFill>
                          <a:latin typeface="Calibri"/>
                        </a:rPr>
                        <a:t>19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9184">
                <a:tc>
                  <a:txBody>
                    <a:bodyPr wrap="square"/>
                    <a:lstStyle/>
                    <a:p>
                      <a:r>
                        <a:rPr sz="1100" b="1" i="0">
                          <a:solidFill>
                            <a:srgbClr val="1F2933"/>
                          </a:solidFill>
                          <a:latin typeface="Courier New"/>
                        </a:rPr>
                        <a:t>json.loads, json.dumps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text to value and back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tuples become lists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100" b="0" i="0">
                          <a:solidFill>
                            <a:srgbClr val="1F2933"/>
                          </a:solidFill>
                          <a:latin typeface="Calibri"/>
                        </a:rPr>
                        <a:t>31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9184">
                <a:tc>
                  <a:txBody>
                    <a:bodyPr wrap="square"/>
                    <a:lstStyle/>
                    <a:p>
                      <a:r>
                        <a:rPr sz="1100" b="1" i="0">
                          <a:solidFill>
                            <a:srgbClr val="1F2933"/>
                          </a:solidFill>
                          <a:latin typeface="Courier New"/>
                        </a:rPr>
                        <a:t>ET.fromstring(text)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XML text to a tree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text is str or None; ParseError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100" b="0" i="0">
                          <a:solidFill>
                            <a:srgbClr val="1F2933"/>
                          </a:solidFill>
                          <a:latin typeface="Calibri"/>
                        </a:rPr>
                        <a:t>37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9184">
                <a:tc>
                  <a:txBody>
                    <a:bodyPr wrap="square"/>
                    <a:lstStyle/>
                    <a:p>
                      <a:r>
                        <a:rPr sz="1100" b="1" i="0">
                          <a:solidFill>
                            <a:srgbClr val="1F2933"/>
                          </a:solidFill>
                          <a:latin typeface="Courier New"/>
                        </a:rPr>
                        <a:t>ET.tostring, ET.indent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tree to XML 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escapes &lt; and &amp;; space before /&gt;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100" b="0" i="0">
                          <a:solidFill>
                            <a:srgbClr val="1F2933"/>
                          </a:solidFill>
                          <a:latin typeface="Calibri"/>
                        </a:rPr>
                        <a:t>39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9184">
                <a:tc>
                  <a:txBody>
                    <a:bodyPr wrap="square"/>
                    <a:lstStyle/>
                    <a:p>
                      <a:r>
                        <a:rPr sz="1100" b="1" i="0">
                          <a:solidFill>
                            <a:srgbClr val="1F2933"/>
                          </a:solidFill>
                          <a:latin typeface="Courier New"/>
                        </a:rPr>
                        <a:t>xmltodict.parse, unparse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XML to a dictionary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one child a dict, two a list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100" b="0" i="0">
                          <a:solidFill>
                            <a:srgbClr val="1F2933"/>
                          </a:solidFill>
                          <a:latin typeface="Calibri"/>
                        </a:rPr>
                        <a:t>41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9184">
                <a:tc>
                  <a:txBody>
                    <a:bodyPr wrap="square"/>
                    <a:lstStyle/>
                    <a:p>
                      <a:r>
                        <a:rPr sz="1100" b="1" i="0">
                          <a:solidFill>
                            <a:srgbClr val="1F2933"/>
                          </a:solidFill>
                          <a:latin typeface="Courier New"/>
                        </a:rPr>
                        <a:t>defusedxml.ElementTree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safe XML parser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refuses entities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100" b="0" i="0">
                          <a:solidFill>
                            <a:srgbClr val="1F2933"/>
                          </a:solidFill>
                          <a:latin typeface="Calibri"/>
                        </a:rPr>
                        <a:t>43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read changes nothing; a write makes new text or a new file.</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49 / 53</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What differs from the book today</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Research of 12 October 2026: Python 3.14.6, xmltodict 1.0.4, openpyxl 3.1.5, defusedxml 0.7.1</a:t>
            </a:r>
          </a:p>
        </p:txBody>
      </p:sp>
      <p:graphicFrame>
        <p:nvGraphicFramePr>
          <p:cNvPr id="5" name="table"/>
          <p:cNvGraphicFramePr>
            <a:graphicFrameLocks noGrp="1"/>
          </p:cNvGraphicFramePr>
          <p:nvPr/>
        </p:nvGraphicFramePr>
        <p:xfrm>
          <a:off x="457200" y="960120"/>
          <a:ext cx="8229600" cy="3474720"/>
        </p:xfrm>
        <a:graphic>
          <a:graphicData uri="http://schemas.openxmlformats.org/drawingml/2006/table">
            <a:tbl>
              <a:tblPr firstRow="0" bandRow="0"/>
              <a:tblGrid>
                <a:gridCol w="3108960"/>
                <a:gridCol w="4389120"/>
                <a:gridCol w="731520"/>
              </a:tblGrid>
              <a:tr h="347472">
                <a:tc>
                  <a:txBody>
                    <a:bodyPr wrap="square"/>
                    <a:lstStyle/>
                    <a:p>
                      <a:r>
                        <a:rPr sz="1000" b="1" i="0">
                          <a:solidFill>
                            <a:srgbClr val="FFFFFF"/>
                          </a:solidFill>
                          <a:latin typeface="Calibri"/>
                        </a:rPr>
                        <a:t>What the book says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Today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See 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47472">
                <a:tc>
                  <a:txBody>
                    <a:bodyPr wrap="square"/>
                    <a:lstStyle/>
                    <a:p>
                      <a:r>
                        <a:rPr sz="1000" b="1" i="0">
                          <a:solidFill>
                            <a:srgbClr val="1F2933"/>
                          </a:solidFill>
                          <a:latin typeface="Calibri"/>
                        </a:rPr>
                        <a:t>Appendix B: open reader files in rb and writer files in wb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Text mode with newline=''; rb raises an Error and wb a TypeError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7472">
                <a:tc>
                  <a:txBody>
                    <a:bodyPr wrap="square"/>
                    <a:lstStyle/>
                    <a:p>
                      <a:r>
                        <a:rPr sz="1000" b="1" i="0">
                          <a:solidFill>
                            <a:srgbClr val="1F2933"/>
                          </a:solidFill>
                          <a:latin typeface="Calibri"/>
                        </a:rPr>
                        <a:t>Project 13 skips the header with a line_num test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A header with a line break stays; next(reader, None) always works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7472">
                <a:tc>
                  <a:txBody>
                    <a:bodyPr wrap="square"/>
                    <a:lstStyle/>
                    <a:p>
                      <a:r>
                        <a:rPr sz="1000" b="1" i="0">
                          <a:solidFill>
                            <a:srgbClr val="1F2933"/>
                          </a:solidFill>
                          <a:latin typeface="Calibri"/>
                        </a:rPr>
                        <a:t>Without newline='' the rows are double-spaced; the reason is beyond the book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The writer's CRLF becomes CR CR LF; a reader finds empty records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16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7472">
                <a:tc>
                  <a:txBody>
                    <a:bodyPr wrap="square"/>
                    <a:lstStyle/>
                    <a:p>
                      <a:r>
                        <a:rPr sz="1000" b="1" i="0">
                          <a:solidFill>
                            <a:srgbClr val="1F2933"/>
                          </a:solidFill>
                          <a:latin typeface="Calibri"/>
                        </a:rPr>
                        <a:t>The encoding of a CSV file is never named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Excel's CSV UTF-8 starts with a byte order mark; use utf-8-sig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18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7472">
                <a:tc>
                  <a:txBody>
                    <a:bodyPr wrap="square"/>
                    <a:lstStyle/>
                    <a:p>
                      <a:r>
                        <a:rPr sz="1000" b="1" i="0">
                          <a:solidFill>
                            <a:srgbClr val="1F2933"/>
                          </a:solidFill>
                          <a:latin typeface="Calibri"/>
                        </a:rPr>
                        <a:t>JSON: loads() and dumps() give back what you put 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Tuples become lists and number keys become 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31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7472">
                <a:tc>
                  <a:txBody>
                    <a:bodyPr wrap="square"/>
                    <a:lstStyle/>
                    <a:p>
                      <a:r>
                        <a:rPr sz="1000" b="1" i="0">
                          <a:solidFill>
                            <a:srgbClr val="1F2933"/>
                          </a:solidFill>
                          <a:latin typeface="Calibri"/>
                        </a:rPr>
                        <a:t>XML whitespace between tags is insignificant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ElementTree keeps it as text and tail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38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7472">
                <a:tc>
                  <a:txBody>
                    <a:bodyPr wrap="square"/>
                    <a:lstStyle/>
                    <a:p>
                      <a:r>
                        <a:rPr sz="1000" b="1" i="0">
                          <a:solidFill>
                            <a:srgbClr val="1F2933"/>
                          </a:solidFill>
                          <a:latin typeface="Calibri"/>
                        </a:rPr>
                        <a:t>xsi:nil marks a missing 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ElementTree keeps it as an attribute; the text stays 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40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7472">
                <a:tc>
                  <a:txBody>
                    <a:bodyPr wrap="square"/>
                    <a:lstStyle/>
                    <a:p>
                      <a:r>
                        <a:rPr sz="1000" b="1" i="0">
                          <a:solidFill>
                            <a:srgbClr val="1F2933"/>
                          </a:solidFill>
                          <a:latin typeface="Calibri"/>
                        </a:rPr>
                        <a:t>XML parsing needs no warning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Entities can explode: defusedxml refuses them, xmltodict 1.0.4 too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43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7472">
                <a:tc>
                  <a:txBody>
                    <a:bodyPr wrap="square"/>
                    <a:lstStyle/>
                    <a:p>
                      <a:r>
                        <a:rPr sz="1000" b="1" i="0">
                          <a:solidFill>
                            <a:srgbClr val="1F2933"/>
                          </a:solidFill>
                          <a:latin typeface="Calibri"/>
                        </a:rPr>
                        <a:t>The Excel-to-CSV skeleton is a program to complete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Its loop has no body; dates print as 2035-04-05 13:34:02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48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Run what the book printed; then check what changed.</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50 / 53</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Summary</a:t>
            </a:r>
          </a:p>
        </p:txBody>
      </p:sp>
      <p:sp>
        <p:nvSpPr>
          <p:cNvPr id="4" name="card"/>
          <p:cNvSpPr/>
          <p:nvPr/>
        </p:nvSpPr>
        <p:spPr>
          <a:xfrm>
            <a:off x="365760" y="749808"/>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A summary is a packing list: only what you really need goes into the bag.</a:t>
            </a:r>
          </a:p>
        </p:txBody>
      </p:sp>
      <p:sp>
        <p:nvSpPr>
          <p:cNvPr id="6" name="Rounded Rectangle 5"/>
          <p:cNvSpPr/>
          <p:nvPr/>
        </p:nvSpPr>
        <p:spPr>
          <a:xfrm>
            <a:off x="365760" y="14081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7" name="point"/>
          <p:cNvSpPr txBox="1"/>
          <p:nvPr/>
        </p:nvSpPr>
        <p:spPr>
          <a:xfrm>
            <a:off x="822960" y="1371600"/>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 CSV file is lines of fields; let csv.reader split them, and open with newline=''.</a:t>
            </a:r>
          </a:p>
        </p:txBody>
      </p:sp>
      <p:sp>
        <p:nvSpPr>
          <p:cNvPr id="8" name="Rounded Rectangle 7"/>
          <p:cNvSpPr/>
          <p:nvPr/>
        </p:nvSpPr>
        <p:spPr>
          <a:xfrm>
            <a:off x="365760" y="1975104"/>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9" name="point"/>
          <p:cNvSpPr txBox="1"/>
          <p:nvPr/>
        </p:nvSpPr>
        <p:spPr>
          <a:xfrm>
            <a:off x="822960" y="1938528"/>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JSON has six kinds of value and a strict syntax; a round trip changes tuples.</a:t>
            </a:r>
          </a:p>
        </p:txBody>
      </p:sp>
      <p:sp>
        <p:nvSpPr>
          <p:cNvPr id="10" name="Rounded Rectangle 9"/>
          <p:cNvSpPr/>
          <p:nvPr/>
        </p:nvSpPr>
        <p:spPr>
          <a:xfrm>
            <a:off x="365760" y="254203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1" name="point"/>
          <p:cNvSpPr txBox="1"/>
          <p:nvPr/>
        </p:nvSpPr>
        <p:spPr>
          <a:xfrm>
            <a:off x="822960" y="2505456"/>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XML is a tree; ElementTree gives strings and None, and keeps whitespace.</a:t>
            </a:r>
          </a:p>
        </p:txBody>
      </p:sp>
      <p:sp>
        <p:nvSpPr>
          <p:cNvPr id="12" name="Rounded Rectangle 11"/>
          <p:cNvSpPr/>
          <p:nvPr/>
        </p:nvSpPr>
        <p:spPr>
          <a:xfrm>
            <a:off x="365760" y="3108960"/>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3" name="point"/>
          <p:cNvSpPr txBox="1"/>
          <p:nvPr/>
        </p:nvSpPr>
        <p:spPr>
          <a:xfrm>
            <a:off x="822960" y="3072384"/>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Untrusted XML needs a safe parser such as defusedxml.</a:t>
            </a:r>
          </a:p>
        </p:txBody>
      </p:sp>
      <p:sp>
        <p:nvSpPr>
          <p:cNvPr id="14" name="Rounded Rectangle 13"/>
          <p:cNvSpPr/>
          <p:nvPr/>
        </p:nvSpPr>
        <p:spPr>
          <a:xfrm>
            <a:off x="365760" y="3675887"/>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5</a:t>
            </a:r>
          </a:p>
        </p:txBody>
      </p:sp>
      <p:sp>
        <p:nvSpPr>
          <p:cNvPr id="15" name="point"/>
          <p:cNvSpPr txBox="1"/>
          <p:nvPr/>
        </p:nvSpPr>
        <p:spPr>
          <a:xfrm>
            <a:off x="822960" y="3639312"/>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 converter writes one CSV file for each sheet of a workbook.</a:t>
            </a:r>
          </a:p>
        </p:txBody>
      </p:sp>
      <p:sp>
        <p:nvSpPr>
          <p:cNvPr id="16" name="chart label"/>
          <p:cNvSpPr txBox="1"/>
          <p:nvPr/>
        </p:nvSpPr>
        <p:spPr>
          <a:xfrm>
            <a:off x="5212080" y="1280160"/>
            <a:ext cx="3566160" cy="457200"/>
          </a:xfrm>
          <a:prstGeom prst="rect">
            <a:avLst/>
          </a:prstGeom>
          <a:noFill/>
        </p:spPr>
        <p:txBody>
          <a:bodyPr wrap="square" lIns="45720" rIns="45720" tIns="27432" bIns="27432" anchor="t">
            <a:spAutoFit/>
          </a:bodyPr>
          <a:lstStyle/>
          <a:p>
            <a:r>
              <a:rPr sz="1050" b="1" i="0">
                <a:solidFill>
                  <a:srgbClr val="0E7C86"/>
                </a:solidFill>
                <a:latin typeface="Calibri"/>
              </a:rPr>
              <a:t>code examples in each part of this deck</a:t>
            </a:r>
          </a:p>
        </p:txBody>
      </p:sp>
      <p:graphicFrame>
        <p:nvGraphicFramePr>
          <p:cNvPr id="17" name="chart"/>
          <p:cNvGraphicFramePr>
            <a:graphicFrameLocks noGrp="1"/>
          </p:cNvGraphicFramePr>
          <p:nvPr/>
        </p:nvGraphicFramePr>
        <p:xfrm>
          <a:off x="5120640" y="1783080"/>
          <a:ext cx="3657600" cy="2743200"/>
        </p:xfrm>
        <a:graphic>
          <a:graphicData uri="http://schemas.openxmlformats.org/drawingml/2006/chart">
            <c:chart xmlns:c="http://schemas.openxmlformats.org/drawingml/2006/chart" r:id="rId3"/>
          </a:graphicData>
        </a:graphic>
      </p:graphicFrame>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Know what each format keeps and what it loses.</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51 / 53</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Questions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Predict first, then run what you can on the chapter page</a:t>
            </a:r>
          </a:p>
        </p:txBody>
      </p:sp>
      <p:sp>
        <p:nvSpPr>
          <p:cNvPr id="5" name="card"/>
          <p:cNvSpPr/>
          <p:nvPr/>
        </p:nvSpPr>
        <p:spPr>
          <a:xfrm>
            <a:off x="365760" y="960120"/>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nalogy"/>
          <p:cNvSpPr txBox="1"/>
          <p:nvPr/>
        </p:nvSpPr>
        <p:spPr>
          <a:xfrm>
            <a:off x="502920" y="969264"/>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Practice questions are finger scales for a pianist; the practice programs are the small recital pieces.</a:t>
            </a:r>
          </a:p>
        </p:txBody>
      </p:sp>
      <p:sp>
        <p:nvSpPr>
          <p:cNvPr id="7" name="card"/>
          <p:cNvSpPr/>
          <p:nvPr/>
        </p:nvSpPr>
        <p:spPr>
          <a:xfrm>
            <a:off x="365760" y="1481328"/>
            <a:ext cx="8412480" cy="54864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572768"/>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9" name="question"/>
          <p:cNvSpPr txBox="1"/>
          <p:nvPr/>
        </p:nvSpPr>
        <p:spPr>
          <a:xfrm>
            <a:off x="1005840" y="1499616"/>
            <a:ext cx="7680960" cy="512064"/>
          </a:xfrm>
          <a:prstGeom prst="rect">
            <a:avLst/>
          </a:prstGeom>
          <a:noFill/>
        </p:spPr>
        <p:txBody>
          <a:bodyPr wrap="square" lIns="45720" rIns="45720" tIns="27432" bIns="27432" anchor="ctr">
            <a:spAutoFit/>
          </a:bodyPr>
          <a:lstStyle/>
          <a:p>
            <a:r>
              <a:rPr sz="1250" b="0" i="0">
                <a:solidFill>
                  <a:srgbClr val="1F2933"/>
                </a:solidFill>
                <a:latin typeface="Calibri"/>
              </a:rPr>
              <a:t>A line holds a name, an age and a city with a comma inside quotes. What do split(',') and csv.reader() return? Use the first slide.</a:t>
            </a:r>
          </a:p>
        </p:txBody>
      </p:sp>
      <p:sp>
        <p:nvSpPr>
          <p:cNvPr id="10" name="card"/>
          <p:cNvSpPr/>
          <p:nvPr/>
        </p:nvSpPr>
        <p:spPr>
          <a:xfrm>
            <a:off x="365760" y="2112264"/>
            <a:ext cx="8412480" cy="54864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2203704"/>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12" name="question"/>
          <p:cNvSpPr txBox="1"/>
          <p:nvPr/>
        </p:nvSpPr>
        <p:spPr>
          <a:xfrm>
            <a:off x="1005840" y="2130552"/>
            <a:ext cx="7680960" cy="512064"/>
          </a:xfrm>
          <a:prstGeom prst="rect">
            <a:avLst/>
          </a:prstGeom>
          <a:noFill/>
        </p:spPr>
        <p:txBody>
          <a:bodyPr wrap="square" lIns="45720" rIns="45720" tIns="27432" bIns="27432" anchor="ctr">
            <a:spAutoFit/>
          </a:bodyPr>
          <a:lstStyle/>
          <a:p>
            <a:r>
              <a:rPr sz="1250" b="0" i="0">
                <a:solidFill>
                  <a:srgbClr val="1F2933"/>
                </a:solidFill>
                <a:latin typeface="Calibri"/>
              </a:rPr>
              <a:t>Why does the line_num test fail for a header whose first cell holds a line break? Use the header slide.</a:t>
            </a:r>
          </a:p>
        </p:txBody>
      </p:sp>
      <p:sp>
        <p:nvSpPr>
          <p:cNvPr id="13" name="card"/>
          <p:cNvSpPr/>
          <p:nvPr/>
        </p:nvSpPr>
        <p:spPr>
          <a:xfrm>
            <a:off x="365760" y="2743200"/>
            <a:ext cx="8412480" cy="54864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2920" y="2834640"/>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5" name="question"/>
          <p:cNvSpPr txBox="1"/>
          <p:nvPr/>
        </p:nvSpPr>
        <p:spPr>
          <a:xfrm>
            <a:off x="1005840" y="2761488"/>
            <a:ext cx="7680960" cy="512064"/>
          </a:xfrm>
          <a:prstGeom prst="rect">
            <a:avLst/>
          </a:prstGeom>
          <a:noFill/>
        </p:spPr>
        <p:txBody>
          <a:bodyPr wrap="square" lIns="45720" rIns="45720" tIns="27432" bIns="27432" anchor="ctr">
            <a:spAutoFit/>
          </a:bodyPr>
          <a:lstStyle/>
          <a:p>
            <a:r>
              <a:rPr sz="1250" b="0" i="0">
                <a:solidFill>
                  <a:srgbClr val="1F2933"/>
                </a:solidFill>
                <a:latin typeface="Calibri"/>
              </a:rPr>
              <a:t>What does json.loads() give for null, true and a list? What does json.dumps() do to a tuple?</a:t>
            </a:r>
          </a:p>
        </p:txBody>
      </p:sp>
      <p:sp>
        <p:nvSpPr>
          <p:cNvPr id="16" name="card"/>
          <p:cNvSpPr/>
          <p:nvPr/>
        </p:nvSpPr>
        <p:spPr>
          <a:xfrm>
            <a:off x="365760" y="3374136"/>
            <a:ext cx="8412480" cy="54864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34655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8" name="question"/>
          <p:cNvSpPr txBox="1"/>
          <p:nvPr/>
        </p:nvSpPr>
        <p:spPr>
          <a:xfrm>
            <a:off x="1005840" y="3392424"/>
            <a:ext cx="7680960" cy="512064"/>
          </a:xfrm>
          <a:prstGeom prst="rect">
            <a:avLst/>
          </a:prstGeom>
          <a:noFill/>
        </p:spPr>
        <p:txBody>
          <a:bodyPr wrap="square" lIns="45720" rIns="45720" tIns="27432" bIns="27432" anchor="ctr">
            <a:spAutoFit/>
          </a:bodyPr>
          <a:lstStyle/>
          <a:p>
            <a:r>
              <a:rPr sz="1250" b="0" i="0">
                <a:solidFill>
                  <a:srgbClr val="1F2933"/>
                </a:solidFill>
                <a:latin typeface="Calibri"/>
              </a:rPr>
              <a:t>What are the text and the tail of an element, and why is the text of an empty element None?</a:t>
            </a:r>
          </a:p>
        </p:txBody>
      </p:sp>
      <p:sp>
        <p:nvSpPr>
          <p:cNvPr id="19" name="card"/>
          <p:cNvSpPr/>
          <p:nvPr/>
        </p:nvSpPr>
        <p:spPr>
          <a:xfrm>
            <a:off x="365760" y="4005072"/>
            <a:ext cx="8412480" cy="54864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2920" y="4096511"/>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5</a:t>
            </a:r>
          </a:p>
        </p:txBody>
      </p:sp>
      <p:sp>
        <p:nvSpPr>
          <p:cNvPr id="21" name="question"/>
          <p:cNvSpPr txBox="1"/>
          <p:nvPr/>
        </p:nvSpPr>
        <p:spPr>
          <a:xfrm>
            <a:off x="1005840" y="4023359"/>
            <a:ext cx="7680960" cy="512064"/>
          </a:xfrm>
          <a:prstGeom prst="rect">
            <a:avLst/>
          </a:prstGeom>
          <a:noFill/>
        </p:spPr>
        <p:txBody>
          <a:bodyPr wrap="square" lIns="45720" rIns="45720" tIns="27432" bIns="27432" anchor="ctr">
            <a:spAutoFit/>
          </a:bodyPr>
          <a:lstStyle/>
          <a:p>
            <a:r>
              <a:rPr sz="1250" b="0" i="0">
                <a:solidFill>
                  <a:srgbClr val="1F2933"/>
                </a:solidFill>
                <a:latin typeface="Calibri"/>
              </a:rPr>
              <a:t>Write the steps of a converter that saves each sheet of a workbook as its own CSV file.</a:t>
            </a:r>
          </a:p>
        </p:txBody>
      </p:sp>
      <p:sp>
        <p:nvSpPr>
          <p:cNvPr id="2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Each answer fits in a few lines you can run.</a:t>
            </a:r>
          </a:p>
        </p:txBody>
      </p:sp>
      <p:sp>
        <p:nvSpPr>
          <p:cNvPr id="2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52 / 53</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Resources: where to go next</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Reading and watching, chosen for this chapter; every link is live</a:t>
            </a:r>
          </a:p>
        </p:txBody>
      </p:sp>
      <p:sp>
        <p:nvSpPr>
          <p:cNvPr id="5" name="card"/>
          <p:cNvSpPr/>
          <p:nvPr/>
        </p:nvSpPr>
        <p:spPr>
          <a:xfrm>
            <a:off x="365760" y="1005840"/>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source"/>
          <p:cNvSpPr txBox="1"/>
          <p:nvPr/>
        </p:nvSpPr>
        <p:spPr>
          <a:xfrm>
            <a:off x="438912" y="1014984"/>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Book: Automate the Boring Stuff, 3rd edition, chapter 18</a:t>
            </a:r>
          </a:p>
          <a:p>
            <a:r>
              <a:rPr sz="900" b="0" i="0">
                <a:solidFill>
                  <a:srgbClr val="0E7C86"/>
                </a:solidFill>
                <a:latin typeface="Calibri"/>
                <a:hlinkClick r:id="rId3"/>
              </a:rPr>
              <a:t>https://automatetheboringstuff.com/3e/chapter18.html</a:t>
            </a:r>
          </a:p>
        </p:txBody>
      </p:sp>
      <p:sp>
        <p:nvSpPr>
          <p:cNvPr id="7" name="card"/>
          <p:cNvSpPr/>
          <p:nvPr/>
        </p:nvSpPr>
        <p:spPr>
          <a:xfrm>
            <a:off x="365760" y="1527048"/>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source"/>
          <p:cNvSpPr txBox="1"/>
          <p:nvPr/>
        </p:nvSpPr>
        <p:spPr>
          <a:xfrm>
            <a:off x="438912" y="1536192"/>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 documentation: csv</a:t>
            </a:r>
          </a:p>
          <a:p>
            <a:r>
              <a:rPr sz="900" b="0" i="0">
                <a:solidFill>
                  <a:srgbClr val="0E7C86"/>
                </a:solidFill>
                <a:latin typeface="Calibri"/>
                <a:hlinkClick r:id="rId4"/>
              </a:rPr>
              <a:t>https://docs.python.org/3/library/csv.html</a:t>
            </a:r>
          </a:p>
        </p:txBody>
      </p:sp>
      <p:sp>
        <p:nvSpPr>
          <p:cNvPr id="9" name="card"/>
          <p:cNvSpPr/>
          <p:nvPr/>
        </p:nvSpPr>
        <p:spPr>
          <a:xfrm>
            <a:off x="365760" y="2048256"/>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source"/>
          <p:cNvSpPr txBox="1"/>
          <p:nvPr/>
        </p:nvSpPr>
        <p:spPr>
          <a:xfrm>
            <a:off x="438912" y="2057400"/>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 documentation: json</a:t>
            </a:r>
          </a:p>
          <a:p>
            <a:r>
              <a:rPr sz="900" b="0" i="0">
                <a:solidFill>
                  <a:srgbClr val="0E7C86"/>
                </a:solidFill>
                <a:latin typeface="Calibri"/>
                <a:hlinkClick r:id="rId5"/>
              </a:rPr>
              <a:t>https://docs.python.org/3/library/json.html</a:t>
            </a:r>
          </a:p>
        </p:txBody>
      </p:sp>
      <p:sp>
        <p:nvSpPr>
          <p:cNvPr id="11" name="card"/>
          <p:cNvSpPr/>
          <p:nvPr/>
        </p:nvSpPr>
        <p:spPr>
          <a:xfrm>
            <a:off x="365760" y="2569464"/>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ource"/>
          <p:cNvSpPr txBox="1"/>
          <p:nvPr/>
        </p:nvSpPr>
        <p:spPr>
          <a:xfrm>
            <a:off x="438912" y="2578608"/>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 documentation: xml.etree.ElementTree</a:t>
            </a:r>
          </a:p>
          <a:p>
            <a:r>
              <a:rPr sz="900" b="0" i="0">
                <a:solidFill>
                  <a:srgbClr val="0E7C86"/>
                </a:solidFill>
                <a:latin typeface="Calibri"/>
                <a:hlinkClick r:id="rId6"/>
              </a:rPr>
              <a:t>docs.python.org</a:t>
            </a:r>
          </a:p>
        </p:txBody>
      </p:sp>
      <p:sp>
        <p:nvSpPr>
          <p:cNvPr id="13" name="card"/>
          <p:cNvSpPr/>
          <p:nvPr/>
        </p:nvSpPr>
        <p:spPr>
          <a:xfrm>
            <a:off x="365760" y="3090672"/>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source"/>
          <p:cNvSpPr txBox="1"/>
          <p:nvPr/>
        </p:nvSpPr>
        <p:spPr>
          <a:xfrm>
            <a:off x="438912" y="3099815"/>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 documentation: XML security</a:t>
            </a:r>
          </a:p>
          <a:p>
            <a:r>
              <a:rPr sz="900" b="0" i="0">
                <a:solidFill>
                  <a:srgbClr val="0E7C86"/>
                </a:solidFill>
                <a:latin typeface="Calibri"/>
                <a:hlinkClick r:id="rId7"/>
              </a:rPr>
              <a:t>https://docs.python.org/3/library/xml.html</a:t>
            </a:r>
          </a:p>
        </p:txBody>
      </p:sp>
      <p:sp>
        <p:nvSpPr>
          <p:cNvPr id="15" name="card"/>
          <p:cNvSpPr/>
          <p:nvPr/>
        </p:nvSpPr>
        <p:spPr>
          <a:xfrm>
            <a:off x="365760" y="3611879"/>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source"/>
          <p:cNvSpPr txBox="1"/>
          <p:nvPr/>
        </p:nvSpPr>
        <p:spPr>
          <a:xfrm>
            <a:off x="438912" y="3621023"/>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xmltodict on PyPI</a:t>
            </a:r>
          </a:p>
          <a:p>
            <a:r>
              <a:rPr sz="900" b="0" i="0">
                <a:solidFill>
                  <a:srgbClr val="0E7C86"/>
                </a:solidFill>
                <a:latin typeface="Calibri"/>
                <a:hlinkClick r:id="rId8"/>
              </a:rPr>
              <a:t>https://pypi.org/project/xmltodict/</a:t>
            </a:r>
          </a:p>
        </p:txBody>
      </p:sp>
      <p:sp>
        <p:nvSpPr>
          <p:cNvPr id="17" name="card"/>
          <p:cNvSpPr/>
          <p:nvPr/>
        </p:nvSpPr>
        <p:spPr>
          <a:xfrm>
            <a:off x="365760" y="4133087"/>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source"/>
          <p:cNvSpPr txBox="1"/>
          <p:nvPr/>
        </p:nvSpPr>
        <p:spPr>
          <a:xfrm>
            <a:off x="438912" y="4142231"/>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defusedxml on PyPI</a:t>
            </a:r>
          </a:p>
          <a:p>
            <a:r>
              <a:rPr sz="900" b="0" i="0">
                <a:solidFill>
                  <a:srgbClr val="0E7C86"/>
                </a:solidFill>
                <a:latin typeface="Calibri"/>
                <a:hlinkClick r:id="rId9"/>
              </a:rPr>
              <a:t>https://pypi.org/project/defusedxml/</a:t>
            </a:r>
          </a:p>
        </p:txBody>
      </p:sp>
      <p:sp>
        <p:nvSpPr>
          <p:cNvPr id="19" name="card"/>
          <p:cNvSpPr/>
          <p:nvPr/>
        </p:nvSpPr>
        <p:spPr>
          <a:xfrm>
            <a:off x="4663440" y="1005840"/>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source"/>
          <p:cNvSpPr txBox="1"/>
          <p:nvPr/>
        </p:nvSpPr>
        <p:spPr>
          <a:xfrm>
            <a:off x="4736592" y="1014984"/>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openpyxl documentation</a:t>
            </a:r>
          </a:p>
          <a:p>
            <a:r>
              <a:rPr sz="900" b="0" i="0">
                <a:solidFill>
                  <a:srgbClr val="0E7C86"/>
                </a:solidFill>
                <a:latin typeface="Calibri"/>
                <a:hlinkClick r:id="rId10"/>
              </a:rPr>
              <a:t>https://openpyxl.readthedocs.io/en/stable/</a:t>
            </a:r>
          </a:p>
        </p:txBody>
      </p:sp>
      <p:sp>
        <p:nvSpPr>
          <p:cNvPr id="21" name="card"/>
          <p:cNvSpPr/>
          <p:nvPr/>
        </p:nvSpPr>
        <p:spPr>
          <a:xfrm>
            <a:off x="4663440" y="1527048"/>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source"/>
          <p:cNvSpPr txBox="1"/>
          <p:nvPr/>
        </p:nvSpPr>
        <p:spPr>
          <a:xfrm>
            <a:off x="4736592" y="1536192"/>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RFC 4180: the CSV format</a:t>
            </a:r>
          </a:p>
          <a:p>
            <a:r>
              <a:rPr sz="900" b="0" i="0">
                <a:solidFill>
                  <a:srgbClr val="0E7C86"/>
                </a:solidFill>
                <a:latin typeface="Calibri"/>
                <a:hlinkClick r:id="rId11"/>
              </a:rPr>
              <a:t>https://www.rfc-editor.org/rfc/rfc4180</a:t>
            </a:r>
          </a:p>
        </p:txBody>
      </p:sp>
      <p:sp>
        <p:nvSpPr>
          <p:cNvPr id="23" name="card"/>
          <p:cNvSpPr/>
          <p:nvPr/>
        </p:nvSpPr>
        <p:spPr>
          <a:xfrm>
            <a:off x="4663440" y="2048256"/>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source"/>
          <p:cNvSpPr txBox="1"/>
          <p:nvPr/>
        </p:nvSpPr>
        <p:spPr>
          <a:xfrm>
            <a:off x="4736592" y="2057400"/>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JSON: the official site</a:t>
            </a:r>
          </a:p>
          <a:p>
            <a:r>
              <a:rPr sz="900" b="0" i="0">
                <a:solidFill>
                  <a:srgbClr val="0E7C86"/>
                </a:solidFill>
                <a:latin typeface="Calibri"/>
                <a:hlinkClick r:id="rId12"/>
              </a:rPr>
              <a:t>https://www.json.org/</a:t>
            </a:r>
          </a:p>
        </p:txBody>
      </p:sp>
      <p:sp>
        <p:nvSpPr>
          <p:cNvPr id="25" name="card"/>
          <p:cNvSpPr/>
          <p:nvPr/>
        </p:nvSpPr>
        <p:spPr>
          <a:xfrm>
            <a:off x="4663440" y="2569464"/>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source"/>
          <p:cNvSpPr txBox="1"/>
          <p:nvPr/>
        </p:nvSpPr>
        <p:spPr>
          <a:xfrm>
            <a:off x="4736592" y="2578608"/>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Extensible Markup Language (XML) 1.0, fifth edition</a:t>
            </a:r>
          </a:p>
          <a:p>
            <a:r>
              <a:rPr sz="900" b="0" i="0">
                <a:solidFill>
                  <a:srgbClr val="0E7C86"/>
                </a:solidFill>
                <a:latin typeface="Calibri"/>
                <a:hlinkClick r:id="rId13"/>
              </a:rPr>
              <a:t>https://www.w3.org/TR/xml/</a:t>
            </a:r>
          </a:p>
        </p:txBody>
      </p:sp>
      <p:sp>
        <p:nvSpPr>
          <p:cNvPr id="27" name="card"/>
          <p:cNvSpPr/>
          <p:nvPr/>
        </p:nvSpPr>
        <p:spPr>
          <a:xfrm>
            <a:off x="4663440" y="3090672"/>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source"/>
          <p:cNvSpPr txBox="1"/>
          <p:nvPr/>
        </p:nvSpPr>
        <p:spPr>
          <a:xfrm>
            <a:off x="4736592" y="3099815"/>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Wikipedia: Comma-separated values</a:t>
            </a:r>
          </a:p>
          <a:p>
            <a:r>
              <a:rPr sz="900" b="0" i="0">
                <a:solidFill>
                  <a:srgbClr val="0E7C86"/>
                </a:solidFill>
                <a:latin typeface="Calibri"/>
                <a:hlinkClick r:id="rId14"/>
              </a:rPr>
              <a:t>https://en.wikipedia.org/wiki/Comma-separated_values</a:t>
            </a:r>
          </a:p>
        </p:txBody>
      </p:sp>
      <p:sp>
        <p:nvSpPr>
          <p:cNvPr id="29" name="card"/>
          <p:cNvSpPr/>
          <p:nvPr/>
        </p:nvSpPr>
        <p:spPr>
          <a:xfrm>
            <a:off x="4663440" y="3611879"/>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source"/>
          <p:cNvSpPr txBox="1"/>
          <p:nvPr/>
        </p:nvSpPr>
        <p:spPr>
          <a:xfrm>
            <a:off x="4736592" y="3621023"/>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Wikipedia: Billion laughs attack</a:t>
            </a:r>
          </a:p>
          <a:p>
            <a:r>
              <a:rPr sz="900" b="0" i="0">
                <a:solidFill>
                  <a:srgbClr val="0E7C86"/>
                </a:solidFill>
                <a:latin typeface="Calibri"/>
                <a:hlinkClick r:id="rId15"/>
              </a:rPr>
              <a:t>https://en.wikipedia.org/wiki/Billion_laughs_attack</a:t>
            </a:r>
          </a:p>
        </p:txBody>
      </p:sp>
      <p:sp>
        <p:nvSpPr>
          <p:cNvPr id="31" name="card"/>
          <p:cNvSpPr/>
          <p:nvPr/>
        </p:nvSpPr>
        <p:spPr>
          <a:xfrm>
            <a:off x="4663440" y="4133087"/>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source"/>
          <p:cNvSpPr txBox="1"/>
          <p:nvPr/>
        </p:nvSpPr>
        <p:spPr>
          <a:xfrm>
            <a:off x="4736592" y="4142231"/>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What's New in Python 2.6: the json module</a:t>
            </a:r>
          </a:p>
          <a:p>
            <a:r>
              <a:rPr sz="900" b="0" i="0">
                <a:solidFill>
                  <a:srgbClr val="0E7C86"/>
                </a:solidFill>
                <a:latin typeface="Calibri"/>
                <a:hlinkClick r:id="rId16"/>
              </a:rPr>
              <a:t>https://docs.python.org/3/whatsnew/2.6.html</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Pick one link and read it before the next class.</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53 / 53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18: CSV, JSON and XML Files (lecture deck 2.0.1)</dc:title>
  <dc:subject/>
  <dc:creator>Yusuf Altunel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