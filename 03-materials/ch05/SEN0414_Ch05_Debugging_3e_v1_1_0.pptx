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Lst>
  <p:notesMasterIdLst>
    <p:notesMasterId r:id="rId1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notesMaster" Target="notesMasters/notesMaster1.xml"/><Relationship Id="rId121" Type="http://schemas.openxmlformats.org/officeDocument/2006/relationships/presProps" Target="presProps.xml"/><Relationship Id="rId122" Type="http://schemas.openxmlformats.org/officeDocument/2006/relationships/viewProps" Target="viewProps.xml"/><Relationship Id="rId123" Type="http://schemas.openxmlformats.org/officeDocument/2006/relationships/theme" Target="theme/theme1.xml"/><Relationship Id="rId1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chapter 5 of Automate the Boring Stuff with Python, 3rd edition (Sweigart, 2025), rebuilt for an advanced course from the chapter corpus: 82 concepts, each explained in its own paragraphs, with every printed result on these slides produced by running the code under Python 3.14.4 rather than copied from the book. This document renews chapter 5 of the 3rd edition for an advanced course (Sweigart, 2025), explaining every term the chapter uses. Say at the start that the interactive page for this chapter carries the same taxonomy, the same examples and a question bank, so nothing shown here is unavailable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before any code. The left column is what the chapter is about and where its content comes from; the right column is the book's own table of contents for chapter 5, taken from the textbook ontology, so students can line the lecture up against their reading. Concepts are corpus-derived from the 3rd edition's chapter 5 through the Stage 1 research artefact; the modern-practice branch and the concepts added in 1.1.0 for terms the chapter uses without explaining (bug, exception class, standard error stream, logger, handler, process, random integer and others) come from that artefact's secondary sources, not from the book. Emphasise that where this lecture goes beyond the book it says so on the slide and names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out: they are what the week is marked against, and the exam questions for this chapter are written to them. Say where these come from. The five chapter objectives are the chapter page's own, and they are what this week is marked against. Behind them stands course outcome LO-6, diagnose and harden programs with logging, tracebacks and deliberately raised exceptions, whose own record in the approved outcomes names chapter 5 of the 3rd edition as its source - so this is the one early chapter that serves an approved outcome directly rather than only preparing for one. Click them in one at a time so the room has a moment on each, and tell students the chapter page lists the same objectives beside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three hours, and it is the chapter's own taxonomy, not a summary written for the slides: the interactive page draws the same tree. Each column is a branch, each box under it a sub-branch, and the number is how many concepts sit inside it. Tell students that every box becomes a slide, that the order on this map is the order of the lecture, and that when they lose the thread they should ask which box we are in. Click the branches in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bug is a place where a program does something other than what its author meant it to do, and debugging is the work of finding and removing such places. Chapter 5 opens with the observation that once a learner can write basic programs, the bugs become less simple, and it offers tools and techniques for finding the root cause of a bug quickly and with little effort (Sweigart, 2025). This branch collects the ideas that sit underneath those tools: what a bug is, how bugs differ from one another, what debugging asks of the programmer, and how to choose the right tool for a given question. Every programmer writes bugs, however experienced. The chapter quotes the old joke that writing code accounts for 90 percent of programming while debugging accounts for the other 90 percent, and it reminds the reader that a computer does only what it is told and will not read the programmer's mind (Sweigart, 2025). A learner who treats debugging as an ordinary, learnable activity, and not as a sign of failure, finds bugs faster and loses less confidence while doing so. The ideas of this branch apply to every program in the course, from a ten-line exercise to the capstone project. They are placed first in the chapter's concept tree because the four groups that follow, raising exceptions, assertions, logging and the debugger, are four answers to one question: how can the programmer find out what the program is really doing, as opposed to what its source code appears to say? The branch has three parts. The first describes the nature of a bug, with the bug itself, the logic error that produces a wrong answer without any complaint from Python, and the process of debugging. The second explains how to choose among the four instruments by the question that is being asked. The third, the working vocabulary, explains objects, the command line and files, which the tools take for granted. The chapter gives the guiding rule in its introduction: in general, the earlier a bug is caught, the easier it is to fix (Sweigart, 2025).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of a bug concerns what kind of thing a bug is and how it shows itself. Python distinguishes errors that stop a program before it starts, errors that stop it while it runs, and mistakes that do not stop it at all. The first two are reported by the interpreter, and the third is noticed only by a person who sees that the result is wrong. Knowing which of the three kinds one is facing decides what to do next. A message from Python names a line to look at, whereas a silently wrong answer gives no line at all, and the programmer must observe the program's behaviour to find the cause. The chapter's two practice programs, a factorial that returns 0 and an adding program that prints 5342, are both of the silent kind (Sweigart, 2025). The next three concepts take the three kinds in turn: the bug as a gap between intention and behaviour, the logic error that hides behind a program that runs normally, and debugging as the method by which the gap is located and closed.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matters because it moves the blame to where the repair can happen. A programmer who believes that the computer is wrong looks in the wrong place, whereas a programmer who accepts that the instructions were not the intended ones starts reading them critically. The chapter adds that even professional programmers create bugs all the time, so a learner should not be discouraged by them (Sweigart, 2025). Bugs are met in every program a learner writes. The chapter's first example is a function that computes the factorial of 5, the product 1 x 2 x 3 x 4 x 5, which should be 120. Its loop starts at 0 instead of 1, so the first multiplication multiplies by zero and every later step keeps the total at zero, and the function returns 0 (Sweigart, 2025). The effect can be reproduced by hand. The expression 1 * 0 * 1 * 2 * 3 * 4 * 5, which is the sequence of multiplications that the faulty loop performs, evaluates to 0, because any number multiplied by zero is zero. Nothing in the program is syntactically wrong and no rule of the language is broken, so Python has no reason to complain; the defect exists only relative to what the author wanted. Not every surprising result is a bug in the program: sometimes the author's expectation is wrong. Before changing code, state precisely what the correct result should be and why. Equally, a program that produces the expected output for one input may still contain a bug that shows itself on another, so a bug is confirmed or ruled out by testing more than one case.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errors are the hardest bugs to find because nothing points at them. The chapter's adding program shows this clearly: the author remarks that the program has not crashed, but the sum is obviously wrong (Sweigart, 2025). The program's output looks plausible to the interpreter and implausible only to a person who knows what the answer should be. The chapter contains two logic errors. The factorial function returns 0 because its loop begins at the wrong number, and the adding program prints The sum is 5342 for the inputs 5, 3 and 42, because input returns strings and the plus sign joins strings instead of adding numbers (Sweigart, 2025). The coin toss practice program at the end of the chapter contains further ones. Finding a logic error is a matter of making the program show its inner state. The three tools that follow in the chapter do this in different ways: log messages print values as the program runs, assertions check beliefs about values, and the debugger lets the programmer stop the program and read the values. In the adding program, converting each answer with int changes the output from The sum is 5342 to The sum is 50. A passing run is not proof of correctness. A logic error can hide for as long as the test inputs happen not to touch it, so the cheapest defence is to test with inputs whose answers are known in advance and to compare them with what the program prints.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a logic error is a matter of making the program show its inner state. The three tools that follow in the chapter do this in different ways: log messages print values as the program runs, assertions check beliefs about values, and the debugger lets the programmer stop the program and read the values. In the adding program, converting each answer with int changes the output from The sum is 5342 to The sum is 50. A passing run is not proof of correctness. A logic error can hide for as long as the test inputs happen not to touch it, so the cheapest defence is to test with inputs whose answers are known in advance and to compare them with what the program prints.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systematic method saves time compared with changing code at random. The chapter notes that the debugger runs a program much more slowly than normal, but lets the programmer see the actual values in a program while it runs, instead of deducing them from the source code (Sweigart, 2025). Seeing replaces guessing, and that is the central idea of debugging. Debugging is done at every stage of development: while writing a function and testing it on one input, after a bug report from a user, and while reading someone else's code. The four instruments of the chapter correspond to four moments of this work: a function can refuse bad input with a raised exception, a program can state its beliefs with assertions, a program can leave a record with log messages, and the programmer can stop it with a debugger. A debugging session follows a loop: reproduce the wrong behaviour, look at the program's state at a suitable point, guess the cause, change one thing and run again. The cheapest way to look at the state is a print of the loop's variables. A loop that multiplies a total by i over range(5 + 1) prints 0 0, 1 0, 2 0, 3 0, 4 0 and 5 0 for i and total, and the first line already reveals that i starts at zero. Change one thing at a time, and run the program again after each change; two simultaneous changes make it impossible to tell which one mattered. Remove the temporary prints when the bug is found, or use logging, which the chapter recommends for the reason that its messages can be switched off in one place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Instrument selection is the choice of which of the chapter's four tools suits a given question. The chapter closes its summary by listing them together: assertions, exceptions, logging and the debugger are all valuable tools to find and prevent bugs (Sweigart, 2025). They overlap but they are not interchangeable, because each answers a different question about a program. A learner who knows only one tool will use it for everything, filling a program with print calls or stepping through a thousand iterations by hand. Matching the tool to the question saves effort and avoids the characteristic misuse of each, such as an assertion that checks what a user types. The next concept states the rule of choice in a sentence for each tool. The branches that follow in the concept tree then explain each tool in turn, beginning with the raise statement.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matters because each tool has a cost and a purpose. An exception is part of the program's normal behaviour and the user can meet it. An assertion is a check for the programmer, and the chapter says a user should never see an assertion error in a finished program. A log message costs a call but can be switched off with one line, and the debugger costs time at every step. In practice the four tools appear in the same program. A function validates its arguments and raises an exception when the caller made a mistake. An assertion checks an internal result such as a sorted list. Log messages describe the path a long run takes, and the debugger is brought in for the one place where the values still puzzle the programmer. The rule of thumb, which this course states in four sentences, is as follows. Raise an exception when the caller can do something about the error. Assert a condition that must be true if the program is correct. Log when a run must leave a record that can be read after it ends. Step through with the debugger when the question is about the state at one particular line. Each sentence has a concept of its own later in this chapter. The sentences describe tendencies and not laws. A logged message about a user error is often worth keeping next to the exception that reports it, and a debugger session often ends with a new assertion added to keep the bug from returning. Do not use an assertion for a user error, because assertions can be removed from a running program, which a later concept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matters because each tool has a cost and a purpose. An exception is part of the program's normal behaviour and the user can meet it. An assertion is a check for the programmer, and the chapter says a user should never see an assertion error in a finished program. A log message costs a call but can be switched off with one line, and the debugger costs time at every step. In practice the four tools appear in the same program. A function validates its arguments and raises an exception when the caller made a mistake. An assertion checks an internal result such as a sorted list. Log messages describe the path a long run takes, and the debugger is brought in for the one place where the values still puzzle the programmer. The rule of thumb, which this course states in four sentences, is as follows. Raise an exception when the caller can do something about the error. Assert a condition that must be true if the program is correct. Log when a run must leave a record that can be read after it ends. Step through with the debugger when the question is about the state at one particular line. Each sentence has a concept of its own later in this chapter. The sentences describe tendencies and not laws. A logged message about a user error is often worth keeping next to the exception that reports it, and a debugger session often ends with a new assertion added to keep the bug from returning. Do not use an assertion for a user error, because assertions can be removed from a running program, which a later concept explains.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vocabulary gathers three everyday ideas that the chapter's tools take for granted: objects with their attributes and methods, the command line, and files with the directories that hold them. None of them is a tool for finding bugs. Each is needed to read the sentences in which the tools are described, such as the exception stores its arguments in an attribute, run the program with python -m pdb, or the log messages are written to a file. A reader who does not know these words meets them everywhere in the rest of the chapter and in the Python documentation, which uses them without comment. The glossary of the documentation defines them in a line or two, and the course builds on those definitions. Knowing them also removes a source of confusion in debugging itself: a program started from a button of an editor and the same program started from the command line can differ in options and in environment, and a log file that was written in one directory is not found in another. The three concepts take the ideas in turn. The first explains objects, classes, attributes and methods, the vocabulary of every exception, logger and record. The second explains the command line, with its options and arguments, which controls how Python and its debugger are started. The third explains files, their modes, and directories, which the logging branch relies on when it writes a log file. Each has a short executed example.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of this chapter are made of objects. An exception is an object that is created by calling a class, and it carries its message in an attribute. A logger, a handler and a log record are objects too, and the list method sort() that the chapter calls on its list of ages is a method of a list object (Sweigart, 2025). Sentences such as the exception stores its arguments in the attribute args, or call the logger's setLevel method, can be read only by a reader who knows what an attribute and a method are. The executed checks show the vocabulary at work. The expression Exception('m') creates an instance, type(Exception('m')).__name__ is 'Exception', and isinstance(Exception('m'), Exception) is True. The attribute args of Exception('custom message') is the tuple ('custom message',). The string 'abc' is an object whose method upper, called as 'abc'.upper(), returns 'ABC', and hasattr(Exception('m'), 'add_note') is True, which says that an exception object has a method with that name. The dotted name reaches into the object. After the dot comes either an attribute, which is a value, or a method, which is called by adding parentheses and arguments. The glossary's statement about the first argument can be checked: 'abc'.upper() and str.upper('abc') both return 'ABC', the second call passing the instance explicitly where the first passes it by the dot. A module is reached in the same way, which is why random.randint and logging.debug are written with a dot. The parentheses decide what the expression means. args is a value, so Exception('m').args() raises a TypeError with the message 'tuple' object is not callable. And 'abc'.upper without parentheses is not an error, but it is not the result either: it is the method itself, whose text starts with &lt;built-in method upper of str object. A call that appears to do nothing is often a method written without its parentheses.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tools of this chapter are controlled from the command line. The option -O switches assertions off, python -m pdb main.py runs a program under the debugger, python -m pdb -p followed by a process identifier attaches to a running program, and the setting PYTHONBREAKPOINT=0 is placed in the environment of the command. An editor's Run and Debug buttons hide the command line, but the choices it expresses are still there, and a student who knows them can reproduce a run exactly. The command line is met whenever a program is started outside an editor. In the executed check, the command python -c followed by import sys; print(sys.argv) and the two arguments a and b prints ['-c', 'a', 'b'], and a script saved as main.py and started with the same two arguments prints ['main.py', 'a', 'b']. The first item is the name that stands for the program, and the rest are the arguments, in the order typed. The position of a word decides who reads it. Words before the script name or the -c command are options for Python itself. Words after them are arguments for the program, which reads them in sys.argv. Executed check: a script that prints sys.flags.optimize and sys.argv and is started as python main.py -O prints 0 and ['main.py', '-O'], so the -O reached the program and did not switch optimisation on. A misplaced option is silently taken as an argument. python main.py -O does not run the program with assertions off, and in the executed check python -m pdb main.py -O hands -O to the program being debugged, which prints 0 ['main.py', '-O'], and not to Python. The documentation's own description of the interpreter's options is the place to check where an option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logging branch writes to files, and several settings of the debugger and of the editors keep their data in files as well. A student has to know where a file is written and what writing it does to an older file with the same name. The tutorial states that mode 'w' erases an existing file with the same name, whereas 'a' adds to the end of it (Python Software Foundation, 2026). A log that is written with 'w' every time keeps only the last run, and a log written with 'a' keeps every run. In the chapter the file is the log file: logging.basicConfig(filename='myProgramLog.txt', ...) saves the log messages to that file instead of showing them on the screen (Sweigart, 2025). In the executed check a file is written with the mode 'w' twice, with the texts one and two, and then reads back as two only; after a write in mode 'a' of three, the file holds the two words two and three. The type of the open file is TextIOWrapper, the class of a text file object. A file is used in three steps: open, read or write, close. The tutorial says that in text mode strings are read and written, encoded in a specific encoding, and recommends encoding='utf-8' unless a different one is needed (Python Software Foundation, 2026). The glossary explains that to store a string it has to be serialized as a sequence of bytes, and the text encoding is the rule for that. A name without a directory, such as 'workfile', is looked for in the current working directory, which the executed check confirms by finding os.getcwd() to be a directory. The filename alone does not say where a file is. The same name in another directory is another file, so a program that is started from a different directory writes its log somewhere else. Opening an existing file for writing destroys its contents, as the mode 'w' does, and there is no undo. And a file that was not closed may not have its last data written; closing it, as the tutorial's examples do, makes sure that it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signalling is the way a program says that something has gone wrong. In Python the saying is done with exceptions: an exception is an object that carries a description of the problem and travels up through the running code until something handles it. Python raises exceptions by itself whenever it tries to execute invalid code, and the programmer can raise them deliberately with the raise statement (Sweigart, 2025). A program that cannot say what went wrong cannot be repaired, either by its author or by its user. Signalling also separates two jobs that belong in different places: the code that notices a problem and the code that decides what to do about it. The chapter states the point plainly: it is often the code that calls a function, and not the function itself, that knows how to handle an exception (Sweigart, 2025). Every Python program meets error signalling, usually first as a traceback printed on the screen after a crash. The chapter extends the earlier treatment of try and except, which handled exceptions that Python raised, with the other half of the story: raising exceptions on purpose and reading what an unhandled one prints (Sweigart, 2025). This branch has two parts. The first, raising, shows how a function refuses a call it cannot serve, which class of exception to choose, how the message travels with the exception and what happens if nobody handles it. The second, tracebacks, explains the record that an exception leaves as it passes through the call stack, and how to read it, including the finer marks and the notes that recent versions of Python add.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is the act of signalling an exception on purpose. The chapter's section Raising Exceptions explains that raising an exception is a way of saying: stop running this code, and move the program execution to the except statement (Sweigart, 2025). The code that raises does not know who will handle the problem, only that it cannot continue. Raising turns a silent wrong answer into a loud, early failure. A function that is given an argument it cannot work with has only two honest choices, to return something misleading or to refuse, and raising is the refusal. The caller, which knows the larger context, can then recover, ask the user again or stop. The concepts that follow describe the statement itself, the exception classes from which a raiser chooses, the message that is passed along, the use of raising to validate the arguments of a function, and the outcome when no handler exists.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statement lets a function enforce its own requirements. The chapter's function box_print draws a box from a character, a width and a height, and it raises an exception when the symbol is not one character long or when the width or the height is not greater than 2. Without those checks the function would draw a meaningless shape or fail later in a way that is harder to trace (Sweigart, 2025). A raise statement is typically written inside a function, and the try and except statements that handle the exception are written in the code that calls the function. When the chapter's program calls box_print('x', 1, 3) inside a try block, the exception raised for the width is caught by the except clause and the program prints An exception happened: Width must be greater than 2. A second call with the two-character symbol ZZ prints An exception happened: Symbol must be a single character string. (Sweigart, 2025). When Python executes raise, it stops the current function at that line and starts looking for an except clause that matches the exception, first in the function itself and then in each caller above it. A bare raise with no expression inside an except clause re-raises the exception that is being handled, so a handler can look at an error and then let it continue (Python Software Foundation, 2026). The statement raise ValueError is shorthand for raise ValueError(), which creates the exception without a message. A raise statement outside any try block does not give an error of its own; it ends the program with a traceback. And a raise inside a function does not return a value to the caller: the code after it in the same function never runs. Write the message so that someone who has not seen the code can act on it; Width must be greater than 2. says what was wrong and what is needed.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Python executes raise, it stops the current function at that line and starts looking for an except clause that matches the exception, first in the function itself and then in each caller above it. A bare raise with no expression inside an except clause re-raises the exception that is being handled, so a handler can look at an error and then let it continue (Python Software Foundation, 2026). The statement raise ValueError is shorthand for raise ValueError(), which creates the exception without a message. A raise statement outside any try block does not give an error of its own; it ends the program with a traceback. And a raise inside a function does not return a value to the caller: the code after it in the same function never runs. Write the message so that someone who has not seen the code can act on it; Width must be greater than 2. says what was wrong and what is needed.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tells a handler what happened without parsing the message. ValueError is documented as raised when an operation or function receives an argument that has the right type but an inappropriate value; TypeError, NameError and ZeroDivisionError each name a different situation (Python Software Foundation, 2026). A function that raises the most specific class lets its callers write except clauses that react to one problem and leave the others alone. The class name is the first word on the last line of every traceback, for example ValueError: invalid literal for int() with base 10: 'abc'. The chapter raises plain Exception objects with a message, which is the simplest form; the tutorial advises that programs that define their own exceptions derive them from the Exception class and give them names that end in Error (Python Software Foundation, 2026). An except clause names a class and catches every exception that is an instance of that class or of a subclass. The expression issubclass(ValueError, Exception) is True, so except Exception catches a ValueError, whereas except TypeError does not: a program that raises ValueError('bad value') inside a try block with only an except TypeError clause is not stopped there, and the exception is caught by an outer except ValueError clause that prints outer caught bad value. Catching Exception is the broadest ordinary choice and hides the difference between a mistake by the user and a mistake by the programmer, so prefer the narrowest class that fits. The most extreme classes, such as KeyboardInterrupt, are not subclasses of Exception: issubclass(KeyboardInterrupt, Exception) is False, so an except Exception clause does not catch a user's Control-C.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is the part of an error that a person reads. A program that prints a clear message when something goes wrong helps the user to correct the input, whereas a traceback shows only the programmer where the code was. The chapter uses the except Exception as err form for exactly this purpose: it stores the exception object in a variable named err and converts it to a string with str to produce a user-friendly error message (Sweigart, 2025). The form appears in the chapter's boxPrint.py: the except clause prints the text An exception happened: followed by str(err). The same form is the standard way to show or log an error without letting the program crash, and the message is the line that follows the class name in a traceback (Sweigart, 2025). Writing as err after the class in the except clause binds the exception that was caught to the name err for the length of the clause. The expression Exception('custom message').args evaluates to ('custom message',), a tuple with one item, and str(Exception('custom message')) evaluates to 'custom message'. An exception with two arguments is shown as a tuple, str(Exception('a', 'b')) being "('a', 'b')", and an exception created without arguments has an empty message. The message is for people and not for code. A handler that decides what to do by comparing the text of the message breaks as soon as the wording changes, so decide by the exception class and keep the message for display. Printing the exception object directly, print(err), shows the same text as print(str(err)), because print converts its arguments to strings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cannot trust its callers, and a user who typed something into a program is the least trustworthy caller of all. Validating at the start of the function keeps a bad value from travelling deeper into the program, where it would cause a failure far from its source. The chapter says that for errors a program can meet as a normal part of its operation, such as a file not being found or invalid data entered by the user, an exception should be raised and not detected with an assert statement (Sweigart, 2025). Validation is found at the top of almost every function that receives data from outside: a user, a file or another program. The Python glossary names two coding styles around this idea. Look before you leap tests the preconditions with if statements before acting; easier to ask for forgiveness than permission assumes that things are valid and catches the exception if not (Python Software Foundation, 2026). Validation with raise is the first style, and the try and except around a call is the second. A small function shows the pattern. After def area(width), the lines if width &lt;= 0 and raise ValueError('width must be positive, got ' + str(width)) refuse the bad value before the function computes width * 2. A loop that calls area(3) and area(0) inside try prints 6 for the first call and refused: width must be positive, got 0 for the second. Do the validation before any effect of the function has happened, such as printing or changing data, so that a refused call leaves nothing half done. Put in the message the value that was received and the value that was expected. And do not validate with assert: an assert statement can be removed from a running program, and a check that must always happen belongs in an if with a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Letting an exception go unhandled is often the right design. A programming error that the program cannot repair is better reported at once, with the traceback that shows its origin, than hidden. The Python tutorial observes that most exceptions are not handled by programs and result in error messages (Python Software Foundation, 2026). The situation is met whenever a program fails with a traceback in the terminal, and it is the usual fate of an AssertionError, which the chapter says should not be caught. The interpreter's hook for it is sys.excepthook: when an exception other than SystemExit is raised and uncaught, the interpreter calls this function with the exception class, the exception instance and the traceback, and it prints them to sys.stderr (Python Software Foundation, 2026). A program that prints before, raises Exception('boom') and then has a print of after shows exactly the behaviour. Only before reaches the screen, the traceback ends with the line Exception: boom, and the process finishes with the exit status 1. The statement after the raise never runs. Shells and other programs treat a nonzero exit status as abnormal termination (Python Software Foundation, 2026). A crash can leave work unfinished, such as a half-written result, so a program that must clean up needs a finally clause or a handler near the top. In the other direction, do not wrap the whole program in except Exception only to hide tracebacks: the traceback is the most useful clue that the program has.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traceback is the report that Python prints when an exception is not handled. It lists the chain of function calls that led to the line where the exception was raised, ending with the class and the message of the exception. The Python tutorial calls the preceding part of the error message the context in which the exception occurred, in the form of a stack traceback (Python Software Foundation, 2026). The traceback answers the question where the program was when it failed, and it answers it without running anything again. Reading it well is the most economical debugging skill: a learner who can read a traceback knows which file, which line and which call to look at first. The concepts that follow explain how an exception travels up the call stack, how the lines of a traceback are read, how Python 3.11 and later point at the failing part of a line, how notes add context while an exception is re-raised, and why the report appears on the error stream.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Unwinding is what makes it possible to raise an exception in a deep helper function and handle it at the one place that knows what to do. The traceback is a record of the same journey, so understanding the unwinding is what makes a traceback readable: its lines are the functions that the exception left. A program with three small functions shows it. In it process calls load, load calls read_age, and read_age calls int on its text. Given the text 'abc', int raises a ValueError in read_age, no function on the way handles it, and it is caught by an except ValueError clause around the call to process in the main program, which prints caught: invalid literal for int() with base 10: 'abc'. The journey can be inspected, because the exception object keeps its traceback. Listing the function names of the traceback gives ['&lt;module&gt;', 'process', 'load', 'read_age'], from the outermost call to the one that raised. Without the handler, the same journey ends at the top of the program: Python prints the traceback, with these four entries, and the program ends with an exit status of 1. The handler can be anywhere along the way, and the nearer it is to the raise the less of the program is skipped. A handler placed too low may swallow an error that a caller wanted to see, while one placed too high may skip work that could have been done. Decide where the program can do something useful about the error, and handle it there.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Unwinding is what makes it possible to raise an exception in a deep helper function and handle it at the one place that knows what to do. The traceback is a record of the same journey, so understanding the unwinding is what makes a traceback readable: its lines are the functions that the exception left. A program with three small functions shows it. In it process calls load, load calls read_age, and read_age calls int on its text. Given the text 'abc', int raises a ValueError in read_age, no function on the way handles it, and it is caught by an except ValueError clause around the call to process in the main program, which prints caught: invalid literal for int() with base 10: 'abc'. The journey can be inspected, because the exception object keeps its traceback. Listing the function names of the traceback gives ['&lt;module&gt;', 'process', 'load', 'read_age'], from the outermost call to the one that raised. Without the handler, the same journey ends at the top of the program: Python prints the traceback, with these four entries, and the program ends with an exit status of 1. The handler can be anywhere along the way, and the nearer it is to the raise the less of the program is skipped. A handler placed too low may swallow an error that a caller wanted to see, while one placed too high may skip work that could have been done. Decide where the program can do something useful about the error, and handle it there.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says how the entries are arranged: the most recent call is last. The outermost call, usually the module itself, comes first, and the call that raised the exception comes last, just above the message. Because the cause of the exception is in the last entry and the reason it was reached is in the earlier ones, the reader usually starts at the bottom and works upwards. In the three-function program of the previous concept, a traceback of the unhandled error begins with the header, continues with the entry File "main.py", line 7, in &lt;module&gt;, and ends with ValueError: invalid literal for int() with base 10: 'abc'. The names of the entries are &lt;module&gt;, process, load and read_age, with the line numbers 7, 6, 4 and 2, and the source line of the last entry is return int(text). The line number is where execution was inside that function when it called the next one, so each entry except the last points at a call. The last entry points at the line that raised. The header and the last line are the same in every recent version of Python, but the lines between them are refined from release to release, for example by the finer marks that the next concept describes. Reading from the top and stopping at the first entry is a common mistake. That entry is usually the main program calling something, and it is the last entry that shows where the problem happened. Note too that code typed directly into the interpreter or given with python -c has no file to read from, so such entries have no source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says how the entries are arranged: the most recent call is last. The outermost call, usually the module itself, comes first, and the call that raised the exception comes last, just above the message. Because the cause of the exception is in the last entry and the reason it was reached is in the earlier ones, the reader usually starts at the bottom and works upwards. In the three-function program of the previous concept, a traceback of the unhandled error begins with the header, continues with the entry File "main.py", line 7, in &lt;module&gt;, and ends with ValueError: invalid literal for int() with base 10: 'abc'. The names of the entries are &lt;module&gt;, process, load and read_age, with the line numbers 7, 6, 4 and 2, and the source line of the last entry is return int(text). The line number is where execution was inside that function when it called the next one, so each entry except the last points at a call. The last entry points at the line that raised. The header and the last line are the same in every recent version of Python, but the lines between them are refined from release to release, for example by the finer marks that the next concept describes. Reading from the top and stopping at the first entry is a common mistake. That entry is usually the main program calling something, and it is the last entry that shows where the problem happened. Note too that code typed directly into the interpreter or given with python -c has no file to read from, so such entries have no source line.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line can contain many operations. The PEP gives the case of x['a']['b']['c']['d'] = 1, where a TypeError that says 'NoneType' object is not subscriptable cannot tell which of the dictionaries was None, so users often had to attach a debugger or split up the expression (Galindo Salgado et al., 2021). The marks answer the question directly. The marks appear in any traceback printed by the standard interpreter. A dictionary maps keys to values, and a subscript is the square-bracket lookup of a key. For data = {'a': {'b': None}}, the line print(data['a']['b']['c']) fails with TypeError: 'NoneType' object is not subscriptable, and the carets lie under the last subscript, ['c'], while tildes run under data['a']['b'], the value that was None. Python records, for each bytecode instruction, the start and end columns of the source it came from, and the traceback machinery uses these ranges to draw the marks (Galindo Salgado et al., 2021). The marks depend on the interpreter: for the call line process('abc') of the previous concept, Python 3.14 draws tildes and carets and Python 3.12 does not, so the exact picture varies between versions even when the first and last lines are the same. The marks can be switched off. The PEP provides the environment variable PYTHONNODEBUGRANGES and the option -X no_debug_ranges for those who want smaller files or a traceback in the old form (Galindo Salgado et al., 2021). A program that parses traceback text should therefore not rely on the marks being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line can contain many operations. The PEP gives the case of x['a']['b']['c']['d'] = 1, where a TypeError that says 'NoneType' object is not subscriptable cannot tell which of the dictionaries was None, so users often had to attach a debugger or split up the expression (Galindo Salgado et al., 2021). The marks answer the question directly. The marks appear in any traceback printed by the standard interpreter. A dictionary maps keys to values, and a subscript is the square-bracket lookup of a key. For data = {'a': {'b': None}}, the line print(data['a']['b']['c']) fails with TypeError: 'NoneType' object is not subscriptable, and the carets lie under the last subscript, ['c'], while tildes run under data['a']['b'], the value that was None. Python records, for each bytecode instruction, the start and end columns of the source it came from, and the traceback machinery uses these ranges to draw the marks (Galindo Salgado et al., 2021). The marks depend on the interpreter: for the call line process('abc') of the previous concept, Python 3.14 draws tildes and carets and Python 3.12 does not, so the exact picture varies between versions even when the first and last lines are the same. The marks can be switched off. The PEP provides the environment variable PYTHONNODEBUGRANGES and the option -X no_debug_ranges for those who want smaller files or a traceback in the old form (Galindo Salgado et al., 2021). A program that parses traceback text should therefore not rely on the marks being present.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message is written where the exception is raised, but the useful context is often known only further up, for example which record or which field was being processed. Notes allow the code that catches the exception to add this information and re-raise the same exception, without hiding the original class or traceback behind a new exception. The pattern is used when a handler cannot repair a problem but knows more than the raiser. The Python tutorial shows a handler that adds a note and then uses a bare raise, so the traceback ends with the exception and its notes in the order they were added (Python Software Foundation, 2026). In a program that tries int('abc'), catches the ValueError, calls add_note('while reading the age field') and then raises again, the last two lines of the traceback are ValueError: invalid literal for int() with base 10: 'abc' and while reading the age field. The attribute __notes__ is created when add_note is first called, and the example panel of this page uses a one-line unnamed function, called a lambda, only to fit the call and the reading of __notes__ into one expression. The argument must be a string; passing anything else raises TypeError (Python Software Foundation, 2026). Notes are not part of the message, so str(err) does not contain them, and code that logs only str(err) loses them. Notes do not exist in versions before 3.11, so a program that must run on an older interpreter cannot call add_note.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program that tries int('abc'), catches the ValueError, calls add_note('while reading the age field') and then raises again, the last two lines of the traceback are ValueError: invalid literal for int() with base 10: 'abc' and while reading the age field. The attribute __notes__ is created when add_note is first called, and the example panel of this page uses a one-line unnamed function, called a lambda, only to fit the call and the reading of __notes__ into one expression. The argument must be a string; passing anything else raises TypeError (Python Software Foundation, 2026). Notes are not part of the message, so str(err) does not contain them, and code that logs only str(err) loses them. Notes do not exist in versions before 3.11, so a program that must run on an older interpreter cannot call add_note.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channels let a program separate its results from its complaints. The results can be saved or passed on to another program while the error messages remain visible to the person at the terminal. A traceback is therefore never mixed into the normal output. In a terminal both streams are shown on the same screen, so the difference is easy to miss, but a program that captures the output of another sees it. In a test where a program prints one line normally and one line with print(..., file=sys.stderr), the standard output holds only to stdout and the standard error holds only to stderr. The standard logging handler also writes to sys.stderr when no other stream is given (Python Software Foundation, 2026). The function print writes to sys.stdout unless the keyword argument file is given, and an uncaught exception is reported by sys.excepthook, which prints the traceback to sys.stderr (Python Software Foundation, 2026). Writing to the error stream on purpose therefore needs only print(..., file=sys.stderr), where sys is the module that holds the streams. Do not print the information that other programs must read to the error stream, and do not print error messages to the standard output of a program whose output is processed further. Remember, too, that a log message sent to the screen goes by default to the error stream, not to the standard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assertion is a statement that a certain condition must be true at a certain point of a program, together with a check that stops the program at once if it is not. The chapter calls an assertion a sanity check, a test that makes sure the code is not doing something obviously wrong, and it performs such checks with the assert statement, which raises an AssertionError exception when the check fails (Sweigart, 2025). Assertions catch bugs close to their cause. The chapter recommends failing fast: a program that stops the moment a necessary condition is violated shortens the time between the original cause of the bug and the moment the programmer first notices it, and so reduces the amount of code to check (Sweigart, 2025). A wrong value that is allowed to travel through the program causes a failure far from its source. Assertions are written by the programmer, for the programmer. They appear at the boundaries inside a program: after a computation whose result has a known property, before using a value that earlier code was supposed to prepare, and at the end of a function whose contract can be stated in a line. The chapter limits them to programmer errors and keeps user errors for exceptions (Sweigart, 2025). This branch explains the assert statement with its form, its optional message and its failure, then the check that the chapter uses as its example, the difference between assertions and raised exceptions, and finally the optimised mode in which Python removes assertions altogether, which is the chapter's rule restated as a fact about the interpreter.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assert group covers the mechanics and the discipline of assertions. The mechanics are the statement, the check it performs, the error it raises and the message it can carry. The discipline is the knowledge of what an assertion may check and what it must not. Assertions are easy to write and easy to misuse. The same statement that gives an early warning during development can become a security or correctness hole if it stands in for a check that must always run, because Python can be told to leave assertions out. The concepts of this group therefore pair every mechanism with the limit that goes with it. The concepts begin with the idea of the sanity check and the statement that implements it, then the list example from the chapter, the failure, the message, the rule of fail fast, the choice between assertion and exception, the option that removes assertions, and the command-line options in general.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a sanity check lies in its cost and its timing. It costs one line and little running time, and it runs at the very point where the assumption is made, so a violation is reported there and not three functions later. The chapter's own example checks that after a list has been sorted its first item is not larger than its last (Sweigart, 2025). Typical sanity checks compare a computed total with the sum of its parts, check that a result has the expected length, check that a number lies within its allowed range, or check that a collection that should be sorted is in order. They are placed directly after the code whose result they test. The check is a condition, an expression whose value is True or False, and the assert statement stops the program when it is false. For example, sorted([3, 1, 2]) == [1, 2, 3] evaluates to True, so the check passes in silence, whereas sorted([3, 1, 2]) == [3, 2, 1] evaluates to False and an assertion built from it would fail. A sanity check should be independent of the code it checks. If it recomputes the result with the same faulty logic, it will agree with the bug. And a check that is wrong itself, for example a comparison with the wrong operator, produces false alarms that teach the programmer to ignore assertions.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statement turns a belief into a check. A programmer who writes assert ages[0] &lt;= ages[-1] records a belief about the list, and the interpreter verifies it every time the line runs. If the belief becomes false, because of a later change or an input that was not foreseen, the statement reports it at once. The statement is used in programs, in functions, and in the interactive shell, as the chapter does when it enters assert ages[0] &lt;= ages[-1] after sorting a list (Sweigart, 2025). The Python language reference introduces assert statements as a convenient way to insert debugging assertions into a program (Python Software Foundation, 2026). The language reference defines the simple form, assert expression, as equivalent to if __debug__: followed by if not expression: raise AssertionError, and the form with a message as the same with raise AssertionError(expression2) (Python Software Foundation, 2026). The special name __debug__ is normally True, so the check runs. When the condition is true the statement does nothing at all, and the program continues with the next line. Do not put the condition and the message in parentheses together. The statement assert (False, 'msg') tests a tuple with two items, and a tuple that is not empty counts as true, so the check can never fail; Python warns about it with a SyntaxWarning that says assertion is always true, perhaps remove parentheses? (Python Software Foundation, 2026). Also avoid conditions that change something, because under optimisation the condition is not evaluated at all.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shows how a single assert guards a whole step of work. If the list has really been sorted from smallest to largest, then the first item cannot be larger than the last. If the check fails, something other than sorting has happened to the list, which is the kind of bug that would otherwise show up much later as a strange result. In the chapter the list is ages = [26, 57, 92, 54, 22, 15, 17, 80, 47, 73]. The method sort() puts the items in ascending order in place, giving [15, 17, 22, 26, 47, 54, 57, 73, 80, 92], and the assertion passes. The method reverse() reverses the list in place, giving [73, 47, 80, 17, 15, 22, 54, 92, 57, 26], and the same assertion raises an AssertionError (Sweigart, 2025). Both sort() and reverse() change the list in place, which is why the chapter calls them in separate statements and then looks at the list (Python Software Foundation, 2026); when they are run they give back None, so a line such as ages = ages.sort() would destroy the list. The comparison ages[0] &lt;= ages[-1] is True for the sorted list, because 15 &lt;= 92, and False for the reversed one, because 73 &lt;= 26 is false. The example panel of this page uses a one-line unnamed function, a lambda, only to sort a list and compare in one expression. The check is deliberately weak. A list in which the first item happens to be smaller than the last passes the assertion even though the list is not sorted, as [1, 3, 2] does. A stronger check compares every neighbouring pair, or compares the list with sorted(list). Choose a check strong enough for the risk, and remember that it protects only against the mistake it names.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distinguishes it is how the chapter wants it treated. Unlike other exceptions, assert statements should not be handled with try and except; if an assert fails, the program should crash (Sweigart, 2025). The failure means that the programmer's model of the program is wrong, and a handler that continues with a wrong model only postpones the damage. A failure shows up as a traceback whose last line is AssertionError, followed by the message if the assert had one. In the chapter's example the line assert ages[0] &lt;= ages[-1] fails on the reversed list, and the traceback ends with AssertionError and nothing after it, because no message was given (Sweigart, 2025). In current Python the traceback also marks the whole condition under the failing line. Because no message was given, the exception's text is empty: str(AssertionError()) is the empty string. Because the class derives from Exception, issubclass(AssertionError, Exception) evaluates to True, so an except Exception clause would catch it, and that is exactly what the advice warns against. An unhandled failure ends the program with exit status 1, like any other unhandled exception. Never catch AssertionError to keep a program going. If a check is needed for input that comes from outside the program, the right tool is an if statement that raises a more specific exception such as ValueError, which a caller can reasonably handle.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message tells the reader what the failed condition meant in the vocabulary of the program. The language reference remarks that it is unnecessary to include the source code of the failed expression in the message, since it is displayed as part of the stack trace, so the message is best used for the values that the source cannot show (Python Software Foundation, 2026). A message is useful when the same assertion could fail for several reasons or when the values matter. A common form builds the message with an f-string, for example assert x &gt; 0, f'x must be positive, got {x}', which for x equal to -1 gives the message x must be positive, got -1. The second expression is evaluated only when the condition is false (Python Software Foundation, 2026). A function that prints msg evaluated before returning the text bad and is used as the message does not run when the condition is true, and the program continues; when the condition is false it runs once and the error text is bad. This is why a message can safely contain a call that would be wasteful to execute on every pass. Keep the message free of side effects, since it runs only on failure and would make the failing run behave differently from a passing one. And keep it short and factual: the text goes to the programmer, not to the user, and a user should never see it.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distance between cause and symptom is what makes bugs expensive. A negative value that enters a calculation may produce a wrong total that is printed pages later. If the program had stopped at the negative value, the cause would have been on the line in the traceback. The principle is applied wherever a check can be placed cheaply near the assumption: at the start of a function, after an input has been converted, and after a step whose result is known to have a property. The chapter summarises that assertions are only for errors the program should not try to recover from, and that they should fail fast; otherwise an exception should be raised (Sweigart, 2025). A program that does not fail fast continues to run with bad data, and the damage grows with every step. A program that does fail fast raises the exception at once, Python prints a traceback that names the file and line of the check, and the search for the cause starts there. The assert statement is the simplest implementation of the idea, and the raise statement is the more general one. Failing fast belongs in development and in code where an error is a bug. For a service that must keep running or a program with a user at the keyboard, the same moment of detection should lead to a handled exception or a clear message, and not to a crash that destroys the user's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matters because the two have different audiences and different guarantees. An exception is part of the program's behaviour and the user may see its message. An assertion should fail only while the program is under development, and a user should never see an assertion error in a finished program (Sweigart, 2025). The language reference adds a technical difference: assert is equivalent to raising AssertionError only when __debug__ is true, so an assertion may not run at all (Python Software Foundation, 2026). A function that sets an age shows the choice. If the age comes from a form that a person filled in, a negative value is a user error, and the function checks it with if age &lt; 0 and raises ValueError. If the age was computed by earlier code that is supposed to return only non-negative values, a negative age means that the program itself is wrong, and an assert age &gt;= 0 expresses that belief. A practical test is to ask who could cause the condition to be false. If a user, a file, a network or another program could, then the check must always run and must lead to a recoverable error, so it is an if with a raise. If only a mistake in the program itself could, then it is an assertion. Because assertions can be removed by an option of the interpreter, only the second kind may rely on them. The boundary moves. A function that is called only from the program's own code may use an assertion for its argument, and the same function offered to other programmers as a library must validate its arguments with exceptions, because strangers do not follow the program's own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 explains the chapter's rule that assertions are for programmer errors. A program that depends on an assertion for correct behaviour would behave differently when run with -O, so assertions must never carry a check that the program needs for its own safety, such as validation of what a user typed. The mode is met when a program is run with optimisation in real use, when the environment variable PYTHONOPTIMIZE is set, and when code is compiled by hand. The function compile takes an optimize level in which 0 means no optimisation and __debug__ is true, 1 means that asserts are removed and __debug__ is false, and 2 removes docstrings too, that is the string literals that appear as the first expression of a function, class or module (Python Software Foundation, 2026). The statement assert False normally raises AssertionError. A program that runs assert False and then prints reached prints nothing on the screen but a traceback in a normal run, and prints reached when it is started with python -O. In the same way __debug__ is True in a normal run and False under -O, and compiling a source string with optimize=1 and executing it reaches the line after the assert. The compiler, the part of Python that turns source code into bytecode, emits no code for an assert statement when optimisation is requested, so even a condition with a side effect is not evaluated (Python Software Foundation, 2026). Test a program that is meant to run with -O under that option as well. Assignments to __debug__ are illegal, so a program cannot switch its assertions on or off by itself.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statement assert False normally raises AssertionError. A program that runs assert False and then prints reached prints nothing on the screen but a traceback in a normal run, and prints reached when it is started with python -O. In the same way __debug__ is True in a normal run and False under -O, and compiling a source string with optimize=1 and executing it reaches the line after the assert. The compiler, the part of Python that turns source code into bytecode, emits no code for an assert statement when optimisation is requested, so even a condition with a side effect is not evaluated (Python Software Foundation, 2026). Test a program that is meant to run with -O under that option as well. Assignments to __debug__ are illegal, so a program cannot switch its assertions on or off by itself.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 let one installation of Python behave in several ways without changing any program. This chapter uses three of them: -O, which removes assertions, -c, which runs the statements given on the command line, and -m, which runs a module as a script, as in python -m pdb. A learner who knows the options can read the documentation of the interpreter and of the tools that go with it. Options are typed in a terminal after the name of the interpreter. A running program can find out which of them are in force: the value sys.flags reports them, and its optimize field stands for -O or -OO, so it is 0 in a normal run and 1 under -O (Python Software Foundation, 2026). The interpreter reads the options first and then the program. An interface option such as -c or -m ends the list of options that the interpreter itself consumes, and the arguments after it end up in sys.argv, where the program or the module run with -m reads them (Python Software Foundation, 2026). That is why, in python -m pdb -p, the -p belongs to the debugger and not to the interpreter. For example, python -O -c "print(__debug__)" prints False, and python -c "print(__debug__)" prints True. Options and environment variables overlap: the documentation notes that it is customary for command-line switches to override environment variables where there is a conflict (Python Software Foundation, 2026). Because several versions of Python may be installed side by side, check which interpreter and which options a script is actually run with when its behaviour surprises you.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is the practice of making a program write down what it does while it runs. The Python logging HOWTO defines it as a means of tracking events that happen when some software runs: the developer adds logging calls to the code to indicate that certain events have occurred, and each event is described by a message and has an importance, which is called its level or severity (Python Software Foundation, 2026). The chapter introduces the logging module as a way to create a record of custom messages that describes when execution reached a call and which values the variables held (Sweigart, 2025). Logging gives the programmer a trail of breadcrumbs that can help to work out when things started to go wrong, and a missing message tells equally clearly that a part of the code was skipped (Sweigart, 2025). Unlike a bare print call, a log message has a level, a time and a destination, and all of them can be changed without editing the lines that produce the messages. That makes it possible to leave the calls in a finished program and still silence them. Logging is met in the chapter's factorial program, in the terminal output of nearly every large Python tool and in the log files of servers. The logging module is part of the standard library, so a program needs only to import it. The same module serves a three-line script and a large application, by the same four ideas: a logger that receives the calls, a handler that decides where a message goes, a level that decides which messages count, and a format that decides how a message looks. This branch has four parts. Setup explains the call that configures the system, the format, the destination and the rule by which a second configuration is ignored. Loggers and handlers explains the objects behind the simple calls. Levels explains the five levels, the threshold, the default and the way of switching everything off. Practice explains why logging is better than print and how to write the calls well.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up logging means telling the module three things: which messages count, how a message should look and where it should go. The chapter does all three with one call placed at the top of the program, logging.basicConfig, with the arguments level, format and, optionally, filename (Sweigart, 2025). Without a setup a program prints only warnings and worse, in a fixed shape, to the error stream. The setup is what turns logging into a debugging tool for the programmer: lowering the threshold to DEBUG shows everything, and a format with a time shows the order and the pace of events. The concepts of this group follow the order of the arguments. basicConfig itself comes first, then the format string and the percent placeholders it is written with, then the log file, and then the rule that makes a second call of basicConfig do nothing unless it is forced.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is the shortest path from no logging to useful logging. It makes the standard messages visible and gives them a layout, and the programmer does not have to learn about loggers and handlers first. The HOWTO says that for simple usage a format with the level name, the message and perhaps the time of the event is all that is needed (Python Software Foundation, 2026). The call is placed once, near the top of the main program, before any message is logged. The HOWTO states that the call should come before any calls to a logger's methods such as debug() and info(), otherwise that logging event may not be handled in the desired manner (Python Software Foundation, 2026). In the chapter it stands under the import of the logging module in factorialLog.py. A program that calls logging.basicConfig(level=logging.DEBUG, format='%(levelname)s - %(message)s') and then logs a debug message and an info message prints DEBUG - Start of program and INFO - going on, on the error stream. The functions debug, info, warning, error and critical call basicConfig automatically if no handlers are defined for the root logger (Python Software Foundation, 2026), which is why the chapter's description of debug() as calling basicConfig is true only when the program has not configured logging itself. The call can be silently ignored. It does nothing if the root logger already has handlers, which includes the case where an earlier logging call has configured the system implicitly, and a later concept shows the effect. Also, basicConfig must be called from the main thread before other threads are started (Python Software Foundation, 2026). Keep it at the very top of the program.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that calls logging.basicConfig(level=logging.DEBUG, format='%(levelname)s - %(message)s') and then logs a debug message and an info message prints DEBUG - Start of program and INFO - going on, on the error stream. The functions debug, info, warning, error and critical call basicConfig automatically if no handlers are defined for the root logger (Python Software Foundation, 2026), which is why the chapter's description of debug() as calling basicConfig is true only when the program has not configured logging itself. The call can be silently ignored. It does nothing if the root logger already has handlers, which includes the case where an earlier logging call has configured the system implicitly, and a later concept shows the effect. Also, basicConfig must be called from the main thread before other threads are started (Python Software Foundation, 2026). Keep it at the very top of the program.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format decides how useful a log is when read later. The time shows how long a step took, the level shows how serious the line is, and the message says what happened. A format that adds the function name or the line number lets the reader find the call that produced a line. The format string is passed to basicConfig as the format argument. The library reference lists the fields of a log record that can be used: asctime is the human-readable time at which the record was created, of the form 2003-07-08 16:49:45,896 where the digits after the comma are milliseconds; levelname is the text of the level; message is the logged message; and others such as funcName and lineno name the place of the call (Python Software Foundation, 2026). When no format is given, basicConfig uses the default, which has the attributes levelname, name and message separated by colons (Python Software Foundation, 2026), so logging.warning('Watch out!') prints WARNING:root:Watch out!. With the format '%(levelname)s - %(message)s' the same record is shown as WARNING - Watch out!. The chapter's printed times, such as 2035-05-23 16:20:12,664, are illustrations; a real run prints the clock time of the machine, in the same shape. A field name that is not an attribute of the record does not stop the program. The logging package is designed to swallow exceptions that occur while logging, so for the format '%(nofield)s' the first message produces a --- Logging error --- report with a traceback on the error stream, ending in ValueError: Formatting field not found in record: 'nofield', and the program carries on (Python Software Foundation, 2026). Write the field list carefully, with the letter s that follows each closing parenthesis. The style argument of basicConfig lets a format use braces or dollar signs instead of percent signs, but the percent style is the default and the one the chapter uses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logging module is older than formatted string literals, and the logging HOWTO explains that merging variable data into a message uses this old, percent style for backwards compatibility (Python Software Foundation, 2026). A learner who meets logging.debug('i is %s, total is %s', i, total) in real code needs to read the markers, and the log format string of basicConfig is written in the same notation. The markers appear in two places in logging: in the message of a log call, where each marker is filled from the arguments that follow the message, and in the format string, where a marker with a name in parentheses, such as %(levelname)s, is filled from the attributes of the log record. The second form is the one that takes its values from a dictionary, which maps names to values; the reference shows '%(language)s has %(number)03d quote types.' filled with a dictionary, giving 'Python has 002 quote types.' (Python Software Foundation, 2026). Python scans the string for markers and fills them in order from a tuple, or by name from a dictionary. The count must fit: '%s %s' % ('a',) raises a TypeError with the message not enough arguments for format string, and '%s' % (1, 2) raises one with not all arguments converted during string formatting. The logging module avoids both at the call: it merges the message and the arguments only when a record is emitted, and a message given no arguments is not formatted at all (Python Software Foundation, 2026). A literal percent sign in a message that has arguments must be written as %%, because a lone one starts a conversion. The reference itself notes that the operations have quirks that lead to common errors, and recommends formatted string literals, str.format() or string.Template as alternatives for ordinary text (Python Software Foundation, 2026). In ordinary code use an f-string; in the arguments of a log call use the markers.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on the screen clutter the output of the program and disappear when the window is closed. Written to a file, they keep the screen clear and can be read after the program has run, as the chapter points out (Sweigart, 2025). A file is also the only practical place for the log of a program that runs without anyone watching it. The option is used when a program runs unattended or writes more messages than anyone would read on a screen, and the file is read afterwards with an editor or a program. The library reference explains the mechanism: specifying filename makes basicConfig create a FileHandler with that name, rather than a StreamHandler (Python Software Foundation, 2026). The file is opened in the mode given by filemode, which defaults to 'a' (Python Software Foundation, 2026), and the HOWTO explains the result: if the script is run several times, the messages of successive runs are appended to the file, and a filemode of 'w' makes every run start afresh (Python Software Foundation, 2026). In a test in which a short program is run twice with the same file name, the file holds two lines DEBUG - run; run twice again with filemode='w', it holds one. By default the file grows indefinitely, as the FileHandler documentation warns (Python Software Foundation, 2026), so a long-lived program needs a plan for old logs. The HOWTO's file example also passes encoding='utf-8', so that text such as Malmö is written correctly; the glossary explains that a string has to be serialized as a sequence of bytes to be stored, and the text encoding is the rule for that (Python Software Foundation, 2026). And an argument conflict is an error: the library reference says that stream is incompatible with filename, and that giving both raises a ValueError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is opened in the mode given by filemode, which defaults to 'a' (Python Software Foundation, 2026), and the HOWTO explains the result: if the script is run several times, the messages of successive runs are appended to the file, and a filemode of 'w' makes every run start afresh (Python Software Foundation, 2026). In a test in which a short program is run twice with the same file name, the file holds two lines DEBUG - run; run twice again with filemode='w', it holds one. By default the file grows indefinitely, as the FileHandler documentation warns (Python Software Foundation, 2026), so a long-lived program needs a plan for old logs. The HOWTO's file example also passes encoding='utf-8', so that text such as Malmö is written correctly; the glossary explains that a string has to be serialized as a sequence of bytes to be stored, and the text encoding is the rule for that (Python Software Foundation, 2026). And an argument conflict is an error: the library reference says that stream is incompatible with filename, and that giving both raises a ValueError (Python Software Foundation, 2026).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is a frequent source of confusion, because the second call fails silently. A learner who changes the level in a program, or experiments in an interactive session, sees no effect and no error. Knowing the rule, and the one-word remedy, saves a lot of puzzling. It is met in the interactive shell, where earlier lines have already configured logging, in test suites, and in programs in which a library configures logging before the main program does. The chapter does not mention the rule. A program that calls basicConfig with level WARNING and the format 'first %(message)s', then again with level DEBUG and the format 'second %(message)s', and then logs a debug and a warning message prints only first w, because the second call is ignored. After a third call with force=True and the format 'third %(message)s', a debug message prints third d2. An implicit configuration counts too. The call logging.warning('first') configures the root logger by itself, because it has no handlers, and a later basicConfig(level=logging.DEBUG) is then ignored: a following logging.debug call prints nothing and the level of the root logger is still 30. Place basicConfig before any other logging call, or use force=True when the order cannot be controlled.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that calls basicConfig with level WARNING and the format 'first %(message)s', then again with level DEBUG and the format 'second %(message)s', and then logs a debug and a warning message prints only first w, because the second call is ignored. After a third call with force=True and the format 'third %(message)s', a debug message prints third d2. An implicit configuration counts too. The call logging.warning('first') configures the root logger by itself, because it has no handlers, and a later basicConfig(level=logging.DEBUG) is then ignored: a following logging.debug call prints nothing and the level of the root logger is still 30. Place basicConfig before any other logging call, or use force=True when the order cannot be controlled.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simple module-level functions of logging stands a small system of objects. The Python documentation says that the library takes a modular approach and offers several categories of components: loggers expose the interface that application code uses, handlers send the log records to the right destination, filters decide finer which records to output, and formatters specify the layout of the final output (Python Software Foundation, 2026). The system explains behaviour that the one-line setup hides: why a message from one part of a program can be shown while another is not, why a message can appear twice, and why basicConfig can be ignored. A learner who knows the logger, the handler and the record can read the documentation of logging and the logs of larger programs. The concepts of this group are the logger, which receives the calls and chooses by level, the handler, which delivers the record to a destination, and the log record, the object that carries the details of one event from the first to the second. Log information is passed between loggers, handlers, filters and formatters in a LogRecord instance (Python Software Foundation, 2026).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Loggers let the parts of a large program log separately. A name such as the one a module has, which the documentation recommends for the purpose, tells the reader where a message came from, and the threshold of one logger can be changed without touching the others. A library written by someone else can log through its own logger and leave the choices to the application (Python Software Foundation, 2026). In the chapter a logger is present but not named: the functions logging.debug, logging.info, logging.warning, logging.error and logging.critical just call the same-named method of the root logger, whose name is printed as root in the output (Python Software Foundation, 2026). Larger programs write logger = logging.getLogger(__name__) at the top of each module, where __name__ is the module's name. In a check, the call logging.getLogger() returns an object of the class RootLogger whose name is 'root', logging.getLogger('app') is logging.getLogger('app') is True, and once the logger 'app' exists the parent of logging.getLogger('app.db') is the logger named 'app'. A new logger has no level of its own, so its effective level is that of its nearest ancestor with one; for 'app.db' that is the root's level, 30, unless something sets another (Python Software Foundation, 2026). The documentation says that loggers should never be created directly but always through the function getLogger (Python Software Foundation, 2026). A message from a named logger is also handled differently when nothing is configured: it is printed as the bare message by the handler of last resort, instead of in the root format. Do not log to the root logger in a library, so that the application can configure it as it likes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Handlers separate what is logged from where it goes. The same record can be sent to the screen and to a file, each with its own format and threshold, without changing the line that logs it. This separation is what makes it possible to change the destination of a whole program by changing its setup only. In the chapter handlers are created for the reader by basicConfig. Without a filename it makes a StreamHandler, and with filename it makes a FileHandler (Python Software Foundation, 2026). The list of the handlers of the root logger is available as logging.getLogger().handlers: it is the empty list in a program that has not logged anything, and after logging.basicConfig() it holds one handler of the class StreamHandler. When a logger accepts a call, it creates a record and offers it to its handlers, and then, if its propagate attribute is true, to the handlers of its parent loggers. If no handler is found in the whole chain, the handler of last resort is used, a StreamHandler writing to sys.stderr with the level WARNING (Python Software Foundation, 2026). That explains why a warning from an unconfigured named logger still appears on the screen while its info messages do not. Do not attach the same handler to a logger and to its ancestors: the documentation warns that a record may then be emitted several times (Python Software Foundation, 2026). The reason why basicConfig does nothing on a second call is that it checks whether the root logger already has handlers.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is the common currency of the logging system. Loggers, handlers, filters and formatters all work on records, and the fields of the record are the names that a format string can use. Knowing what a record holds shows what a log line can contain. A record is never seen in the simple use of the chapter, but its attributes are what the format string selects: asctime, levelname and message are all attributes of the record (Python Software Foundation, 2026). The attribute levelname is the text of the level, 'INFO' for 20, and levelno is the number. The message of a record is computed as msg % args when it is needed. With msg equal to 'hello %s' and args equal to ('world',), the call getMessage() returns 'hello world', and the record created for a level of 20 has the levelname 'INFO'. If a message is given without arguments, no percent formatting is done, so the message '100%' is returned as it is (Python Software Foundation, 2026). The record is created only if the logger is enabled for the level of the call, so a call below the threshold is cheap: in a test that counts how many records are created, a debug call to a logger whose threshold is WARNING creates none and a warning call creates one. The formatted message and the time are computed later, when the record is handled. Arbitrary objects can also be used as the message, in which case str is called on them to produce the text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Levels are the importance ranks that log messages carry. There are five of them, from the least to the most important, and each has a name, a number and a function of the same name. The chapter describes them in Table 5-1 and explains that logging levels provide a way to categorise log messages by importance, so that less important messages can be filtered out while testing (Sweigart, 2025). The levels allow one program to produce a lot of output while it is being developed and little when it is finished, without changing any logging call. The programmer decides the level of each message once, and the setup decides which levels are shown. This turns logging into a dial that can be turned from detailed to silent. The group has four concepts: the five levels and their numbers, the threshold that selects among them, the default threshold that applies when nothing has been configured, and logging.disable, which silences levels from outside the program's own setup.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level states how much attention a message deserves. The chapter explains them in its Table 5-1: DEBUG is the lowest level, used for small details that matter only when diagnosing problems; INFO records general events or confirms that the program works; WARNING indicates a potential problem that does not yet stop the program; ERROR records an error that made the program fail to do something; and CRITICAL is the highest level, for a fatal error that has caused, or is about to cause, the program to stop (Sweigart, 2025). Each level is used by calling the function with the same name as the level in lower case. A program that sets the level to DEBUG with format '%(levelname)s - %(message)s' and logs one message at each level prints DEBUG - d, INFO - i, WARNING - w, ERROR - e and CRITICAL - c, in the order of the calls. The numbers make the comparison of importance possible: a message is accepted if its number is not lower than the threshold. The module defines the five names as constants, so logging.DEBUG is the number 10 and logging.CRITICAL is 50. Levels of one's own can be defined with logging.addLevelName, but all levels used must be registered with it, and the documentation calls a custom level higher than CRITICAL not recommended (Python Software Foundation, 2026). The level of a message is the programmer's judgment, not a property that Python can check: as the chapter says, it is up to you to decide which category your log message falls into (Sweigart, 2025). Do not use CRITICAL for routine trouble, since a level that is used for everything no longer separates anything.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level states how much attention a message deserves. The chapter explains them in its Table 5-1: DEBUG is the lowest level, used for small details that matter only when diagnosing problems; INFO records general events or confirms that the program works; WARNING indicates a potential problem that does not yet stop the program; ERROR records an error that made the program fail to do something; and CRITICAL is the highest level, for a fatal error that has caused, or is about to cause, the program to stop (Sweigart, 2025). Each level is used by calling the function with the same name as the level in lower case. A program that sets the level to DEBUG with format '%(levelname)s - %(message)s' and logs one message at each level prints DEBUG - d, INFO - i, WARNING - w, ERROR - e and CRITICAL - c, in the order of the calls. The numbers make the comparison of importance possible: a message is accepted if its number is not lower than the threshold. The module defines the five names as constants, so logging.DEBUG is the number 10 and logging.CRITICAL is 50. Levels of one's own can be defined with logging.addLevelName, but all levels used must be registered with it, and the documentation calls a custom level higher than CRITICAL not recommended (Python Software Foundation, 2026). The level of a message is the programmer's judgment, not a property that Python can check: as the chapter says, it is up to you to decide which category your log message falls into (Sweigart, 2025). Do not use CRITICAL for routine trouble, since a level that is used for everything no longer separates anything.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is the dial of the chapter's logging system. During development it is DEBUG, which the chapter says shows messages from all the logging levels. Later, when the programmer is interested only in errors, level=logging.ERROR shows only ERROR and CRITICAL messages and skips the DEBUG, INFO and WARNING messages (Sweigart, 2025). It is set once, in the setup of the program, and often read from a setting so that a user can ask for more detail without editing the program. The HOWTO shows how to turn a command-line option such as --log=INFO into the number to pass as level, with getattr(logging, loglevel.upper()) (Python Software Foundation, 2026). In a program that sets level=logging.ERROR and logs one message at each level, only ERROR - e and CRITICAL - c appear. The comparison uses the numbers: 40 and 50 are not lower than the threshold 40, whereas 10, 20 and 30 are. Nothing is deleted or changed in the logging calls; changing the one word in the setup brings the other messages back. There are two thresholds, one in the logger and one in each handler, and a message must pass both. The logger's level is checked first; a handler with a higher level of its own will drop the record afterwards. If a message does not appear although the logger's level is low enough, look at the level of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is the dial of the chapter's logging system. During development it is DEBUG, which the chapter says shows messages from all the logging levels. Later, when the programmer is interested only in errors, level=logging.ERROR shows only ERROR and CRITICAL messages and skips the DEBUG, INFO and WARNING messages (Sweigart, 2025). It is set once, in the setup of the program, and often read from a setting so that a user can ask for more detail without editing the program. The HOWTO shows how to turn a command-line option such as --log=INFO into the number to pass as level, with getattr(logging, loglevel.upper()) (Python Software Foundation, 2026). In a program that sets level=logging.ERROR and logs one message at each level, only ERROR - e and CRITICAL - c appear. The comparison uses the numbers: 40 and 50 are not lower than the threshold 40, whereas 10, 20 and 30 are. Nothing is deleted or changed in the logging calls; changing the one word in the setup brings the other messages back. There are two thresholds, one in the logger and one in each handler, and a message must pass both. The logger's level is checked first; a handler with a higher level of its own will drop the record afterwards. If a message does not appear although the logger's level is low enough, look at the level of the handler.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explains a very common surprise. A learner writes logging.debug('value is 3') and sees nothing, because debug messages are below the default threshold. The chapter avoids the surprise by always calling basicConfig with level=logging.DEBUG first (Sweigart, 2025). The default is met in any program that imports logging and logs without a setup, in the interactive shell, and in code that libraries run. In such a program logging.warning('Watch out!') prints WARNING:root:Watch out!, and logging.info('I told you so') prints nothing, as the HOWTO shows (Python Software Foundation, 2026). The expression logging.getLogger().getEffectiveLevel() evaluates to 30 in a fresh program, the number of WARNING. The functions logging.warning and logging.error find no handler on the root logger, and so they call basicConfig themselves, with the default format, to the error stream; a program that calls logging.warning('w') and logging.error('e') prints WARNING:root:w and ERROR:root:e. A named logger that has no configuration at all is served by the handler of last resort, which prints the bare message, such as bare, for WARNING and above (Python Software Foundation, 2026). The side effect on the root logger is the trap: after the first implicit call the root logger has a handler, so a later basicConfig is ignored. Debug messages that are missing from the output are therefore explained by the default threshold or by an earlier implicit configuration, and the fix is level=logging.DEBUG in a first call of basicConfig or force=True.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finished program should not fill the screen with debugging messages, and deleting the calls would make the next debugging session start from nothing. A single line that can be commented out or in turns all the messages on and off. The chapter advises putting it near the import logging line so that it is easy to find (Sweigart, 2025). It is used at the end of development, in tests that should run quietly, and in a program that wants a global quiet switch. Called with no argument, it uses the level CRITICAL, which is the default since Python 3.7 (Python Software Foundation, 2026). In a program that sets level=logging.INFO, logs a critical message, calls logging.disable(logging.CRITICAL) and logs again, the first message appears as CRITICAL - before and the later critical and error messages are silent. Calling logging.disable(logging.NOTSET) removes the override, so a following error message appears as ERROR - after. A call with logging.INFO discards INFO and DEBUG events only, so a later warning still prints. The disable level applies to all loggers in the process, including those of libraries, and it overrides their own settings, so a program that disables logging for a test must undo it. The setting is a number: logging.disable(logging.NOTSET) is the way back, not logging.enable, which does not exist.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program that sets level=logging.INFO, logs a critical message, calls logging.disable(logging.CRITICAL) and logs again, the first message appears as CRITICAL - before and the later critical and error messages are silent. Calling logging.disable(logging.NOTSET) removes the override, so a following error message appears as ERROR - after. A call with logging.INFO discards INFO and DEBUG events only, so a later warning still prints. The disable level applies to all loggers in the process, including those of libraries, and it overrides their own settings, so a program that disables logging for a test must undo it. The setting is a number: logging.disable(logging.NOTSET) is the way back, not logging.enable, which does not exist.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in logging is the set of habits that decide whether log messages help or hinder. The first habit is to choose logging and not print for the diagnostic output of a program, and the second is to write the log calls so that they cost little when the messages are not wanted. A log that is easy to switch off, and cheap when off, is a log the programmer will leave in the program. A log full of expensive string building is one that has to be removed before the program is released, which brings back the problem that logging was meant to solve. The two concepts are the comparison of logging with print, which the chapter makes in its section A Poor Practice and in its practice questions, and the lazy formatting of messages, which the logging documentation explains.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calls debugging with print a poor practice. When the debugging is done, the programmer has to remove each print call, and may accidentally remove calls that were used for non-log messages. With logging, a program may be filled with as many messages as the programmer likes and all of them can be disabled later with one logging.disable(logging.CRITICAL) call (Sweigart, 2025). The Python logging HOWTO sets the same division in a table: to display console output for the ordinary usage of a command line script or program, use print; to report events that occur during normal operation, such as for status monitoring or fault investigation, use a logger's info or debug method (Python Software Foundation, 2026). Each log call also adds a level and, if the format asks for it, a time, and it goes by default to the error stream, whereas print goes to the standard output. A program that prints one line with print and logs one line with logging.warning shows both until logging.disable(logging.CRITICAL) is called; after it only the print line remains. The distinction is easy to blur in small scripts: a message the user needs, such as the result of the calculation, must be printed, and must not depend on the logging setup, or it would vanish when logging is disabled. The chapter's factorial program makes the point: print(factorial(5)) is part of the original program, so the code displays the result even if logging messages are disabled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message can be costly, for example when an object has a long text form, and a program that logs inside a loop may build thousands of messages that no one will read. With deferred formatting a disabled debug call costs little more than the call itself, which makes it affordable to leave such calls in a finished program. The form is common in the code of libraries and of larger applications, which pass the values after the message as in log.debug('i is %s, total is %s', i, total). The percent markers are the ones explained under percent placeholders. A small experiment shows the difference. A class is a recipe for objects, and the method __str__ is what Python calls to turn an object into text; here it counts its calls. With the level at INFO, log.debug('value is %s', obj) leaves the count at 0, log.debug(f'value is {obj}') raises it to 1 although nothing is printed, and log.info('value is %s', obj) raises it to 2 and prints INFO:demo:value is noisy. Lazy formatting defers only the formatting. The arguments themselves are evaluated before the call, so an expensive function call among them still runs. The HOWTO's advice is to guard such a call with if logger.isEnabledFor(logging.DEBUG), so that the expensive functions are never called when the logger's threshold is above DEBUG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debugger is a tool that runs a program one instruction at a time and lets the programmer look at the program between the steps. The chapter defines it as a feature of the Mu editor that executes a program one instruction at a time, giving a chance to inspect the values in variables while the code runs and to track how the values change over the course of the program (Sweigart, 2025). A program started this way is said to run under the debugger. The same idea is offered by IDLE, by other editor software, and by the module pdb, the Python debugger, which ships with Python (Python Software Foundation, 2026). The debugger shows what a program actually does instead of what its author thinks it does. The chapter admits that the process is much slower than running the program at full speed, but it lets the programmer see the actual values in a program while it runs, rather than deduce what the values might be from the source code (Sweigart, 2025). Exceptions, assertions and logging must be written into the program before it runs, and a question that the programmer did not think of in advance cannot be answered by them. The debugger can be started without changing the program, and then any variable can be read at any point. The chapter teaches the debugger inside the Mu editor, with buttons and a pane at the side of the window. The same tool is found in IDLE, whose documentation lists a debugger with persistent breakpoints and stepping among its features, and in the module pdb, which is part of the standard library and is controlled by typing short commands at a prompt (Python Software Foundation, 2026). The built-in function breakpoint() lets a program start the debugger by itself at a chosen line, and since Python 3.14 pdb can also attach to a program that is already running. The branch has three groups. The first, the debugger interface, describes what the person sees: the editor, the act of running under the debugger, the pane that lists the variables, and the button that stops the session. The second, the controls, describes how the person moves through the program: breakpoints, Continue, Step In, Step Over and Step Out. The third, the Python debugger, shows the same controls as commands of pdb and explains breakpoint(), the environment variable that configures it, and attaching to a running process. The debugger shows only the values that the program has at the moment it is paused. It does not remember how the values got there, so a bug whose cause lies far back in the run can still require several sessions or a log. The chapter also reminds the reader that a program that waits for typed input still waits under the debugger (Sweigart, 2025). Finally, the debugger is a convenience of the editor or of pdb and not a feature of the language, so the buttons and wording of one tool do not carry over unchanged to another.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debugger interface is everything the person at the keyboard sees and touches while a program runs under the debugger. The chapter describes it for the Mu editor: the editor window in which the debugger is started, the Debug button that starts it, the Debug Inspector pane that lists the values of the variables, and the Stop button that ends the session (Sweigart, 2025). These four parts are the subject of the concepts in this group. The same four parts exist in every debugger, even though their look differs. IDLE starts its debugger from a toggle in a menu and marks breakpoints through a context menu (Python Software Foundation, 2026), and pdb replaces buttons and panes with commands typed at a prompt and answers printed as text. A student who knows what each part is for can therefore use whichever tool is at hand, and can read a transcript of a debugging session without having the window in front of them. The concepts follow the order of a debugging session: the editor in which it takes place, running a program under the debugger so that it pauses before its first line, reading the program state in the inspector pane, and stopping the program. The controls that move the program forward, namely breakpoints, Continue and the three kinds of step, belong to the next group. Because the windows of Mu cannot be reproduced in text, the transcripts quoted in this group were produced by running pdb on the same kind of program.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named editor gives the instructions of the chapter something to refer to. The chapter's instructions say to click a button or to click a line number, and they are only understandable if the reader knows which window and which button are meant. The editor is also where the program's text, its output and its debugger meet: the program is edited in the file editor, a running program writes into the output pane, and, as the chapter notes, a program that calls input() waits for the answer to be typed into that output pane (Sweigart, 2025). The window of Mu appears in the figures of the chapter. Figure 5-1 shows the program paused before its first line, with that line highlighted in the file editor, and Figure 5-3 shows the pane at the right with the variables of the adding program (Sweigart, 2025). Other editors offer the same facilities under other names. The IDLE page of the Python documentation, for example, describes a Debugger entry that makes code entered in the Shell or run from an Editor run under the debugger, and IDLE is described in the glossary as an editor and interpreter environment that ships with the standard distribution of Python (Python Software Foundation, 2026). Starting the debugger in Mu is a matter of clicking Debug instead of Run. The Debug Inspector pane then opens at the right side of the window, and Debugging mode adds the buttons Continue, Step Over, Step In and Step Out to the top of the editor, next to the usual Stop button (Sweigart, 2025). Everything else, editing the text and saving the file, works as before. The same program can therefore be run in the two ways one after the other, which is how the chapter proceeds with its adding program. Mu is one editor among many, and its buttons and menus are not part of Python. The chapter itself remarks that Mu should prevent the debugger from entering Python's built-in functions (Sweigart, 2025), a convenience that a command-line debugger does not necessarily share. The IDLE documentation warns that its debugger is still incomplete and somewhat experimental (Python Software Foundation, 2026). When a button named in the chapter is not found in another editor, the underlying idea, pause, look, step, continue, is what to search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run gives no chance to look inside: the program starts, prints its output and ends, and the programmer sees only the result. Under the debugger the programmer gets control before the first line and after every step, which is the only way to watch a variable change from line to line. The price, in the chapter's words, is speed: the process is much slower than running the program at full speed (Sweigart, 2025). The mode is therefore used on a program that is already known to misbehave, such as the adding program that prints 5342. The command-line debugger is started with the command python -m pdb followed by the name of the file. The documentation says that, as with a script, the debugger pauses execution just before the first line of a module started this way (Python Software Foundation, 2026). In the executed transcript the program starts with a line def double(x): and the first thing the debugger prints is &gt; main.py(1)&lt;module&gt;() followed by -&gt; def double(x):. The first line names the file and the line number in parentheses, with &lt;module&gt; standing for the top level of the file, outside any function, and the second line shows the instruction that is about to run. The debugger then prints its prompt, (Pdb), and waits for a command. After the command n, which executes the current line and pauses at the next one in the same function, the next stop is on line 4, val = 3, because lines 2 and 3 belong to the function that line 1 only defines; after another n the stop is on line 5, result = double(val). Lines 2 and 3 run only when the function is called. This shows that the debugger moves through the lines in the order in which they execute, not the order in which they are written. Running under the debugger changes nothing about what the program does, only when it does it, so effects such as printing, asking for input, or writing a file all still happen. If the program ends, pdb reports that the program finished and will be restarted and stops again before the first line, as the executed run of the coin program shows (Python Software Foundation, 2026). And ending the session with the quit command aborts the program being executed, so lines after the stopping point never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bug is a state that is not the one the programmer expected, and a wrong state always comes from some line. The chapter contrasts seeing the actual values in a program while it runs with having to deduce what the values might be from the source code (Sweigart, 2025). Deduction can be wrong in exactly the places where the bug hides, whereas the state seen in the debugger is the real one. The skill of debugging is largely the skill of comparing the state that is shown with the state that was expected. The chapter's coin program is a good example of state. After 500 of the 1,000 flips, the variable i holds 500 and the variable heads holds the number of heads so far, which the programmer wanted to read at the halfway point (Sweigart, 2025). In the executed transcript, a breakpoint on the line print('Halfway done!') followed by the command c stops there, and p i prints 500. The state also includes which line comes next, which pdb shows with an arrow after each stop. The state changes with every step. In the executed transcript of a two-line program that assigns x = 1 and then prints x, the command p x on line 1 prints *** NameError: name 'x' is not defined, because the line that creates x has not run yet; after the command n, p x prints 1. In a loop the state changes on every pass: with a breakpoint on the if line of the coin program, the first c stops with i equal to 1 and the second with i equal to 2. The state is only what is true now. A pause shows the value that a variable has at that moment and not the values it had before, so a wrong value found at a pause may have been created many steps earlier. The programmer then has to run again with an earlier breakpoint, or step through the earlier lines while watching the value. A state that looks right also proves little, since the bug may show itself only with other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 is where the debugger answers the question that logging and assertions can only answer in advance: what is in the variables now. In the chapter's adding program, the pane shows that the variables first, second and third hold the string values '5', '3' and '42' instead of the integer values 5, 3 and 42, and that is the whole bug (Sweigart, 2025). The quote marks around the values are the evidence. Without them the pane would show 5, 3 and 42 and the problem would stay hidden. In Mu the pane is shown beside the file editor throughout a debugging session, as in Figure 5-3 of the chapter. In pdb the same information is requested on demand with the command p followed by an expression, which prints the value of the expression in the current context (Python Software Foundation, 2026). In the executed transcript of a program that assigns first = '5', second = '3' and third = '42', the command p first prints '5' with its quote marks, and p first + second + third prints '5342'. The pane lets the programmer test a theory before changing anything. In the adding program the theory is that adding the three variables joins their text, and the evidence is the quote marks. The cure follows from it: int() turns each string into a number, and in the executed transcript p int(first) + int(second) + int(third) prints 50. In pdb the command p can take any expression, so the same session can answer many questions about the state of the program without editing the file. The pane shows values, but a value alone can mislead. The text '5' and the number 5 look alike unless the display shows the quote marks,. Also, the pane shows the program as it is when paused and says nothing about how it got there, so the programmer should step through the preceding lines while watching the value change. In pdb, asking for a variable that has not been assigned yet prints an error line that says the name is not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debugging session can end before the program does, at the moment the answer is found. A student who has seen in the pane that a variable holds a string has no need to run the remaining lines, and may not want them to run at all if they would write a file or wait for further input. Stop is the control that says the session is over and the program should not go on, whereas Continue says the program should go on without the debugger's pauses. In Mu the button is on the top row of the editor. In pdb the command is q or quit, and an end-of-file on the input has the same effect (Python Software Foundation, 2026). In the executed transcript of a program that prints a line called end after its last statement, giving the command q at the first stop prints nothing of the program at all, because it never reached the print, and the output ends with the (Pdb) prompt. In 3.14 the documentation adds that a confirmation prompt is shown if the debugger was invoked in inline mode, which is the mode that breakpoint() uses (Python Software Foundation, 2026). The two ways of leaving a session differ in what happens to the rest of the program. Continue runs the rest of the program at full speed, stopping only at breakpoints (Sweigart, 2025). Stop terminates it. With pdb there is a third case, in which the program reaches its end by itself: pdb then reports that the program finished and will be restarted and returns to the first line, ready for another run (Python Software Foundation, 2026). Stopping is not the same as finishing. A program stopped in the middle may have printed only part of its output, written only part of a file, or changed things that the rest of the program would have changed back. And stopping the debugger does not remove the bug: the programmer still has to edit the program and run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controls are the means by which the programmer moves a paused program forward, or tells it where to pause. The chapter lists the buttons that Debugging mode adds to the editor: Continue, Step Over, Step In and Step Out (Sweigart, 2025). The fifth control is the breakpoint, a mark on a line that makes the program pause whenever it gets there. Every control answers the question of how far the program should run before it stops again. A debugger is only as useful as the control the programmer has over it. Stepping through a long program one line at a time takes too long, and running it at full speed lets the interesting moment go by. The chapter shows how the controls divide the work: breakpoints and Continue skip the part of the program that is not of interest, and the steps examine the part that is. The chapter notes, for instance, that stepping through the 1,000 flips of its coin program would take thousands of clicks (Sweigart, 2025). The controls are the buttons at the top of the Mu window, the entries of IDLE's debugger window, and the commands of pdb. The documentation of pdb names them step, next, return, continue and break, each also available in the short form s, n, r, c and b (Python Software Foundation, 2026). The chapter's questions at the end ask for exactly these differences between the three step buttons and for the moment at which Continue stops. The concepts come in this order: the breakpoint, which places a pause in the program, Continue, which runs to the next pause, and the three steps, which move by a line, over a call, or out of a function. For each control the text gives the button of Mu, the command of pdb, and an executed transcript on a small program in which a function named double is defined on line 1 and called on line 5.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Breakpoints solve the problem of speed. Stepping through the program with the debugger is helpful but can also be slow (Sweigart, 2025), and often the interesting moment is far from the start. The chapter's coin program flips a coin 1,000 times, and the question of interest is the value of heads at the halfway point, when 500 flips are done. With a breakpoint the program runs at full speed to that moment and stops there, where the clicking of Step Over thousands of times would otherwise be needed. In the chapter the breakpoint is placed on the line print('Halfway done!'), inside the if statement that checks whether i is 500. In the executed transcript of that program, the pdb command b 7 sets a breakpoint on line 7 and prints Breakpoint 1 at main.py:7; the command c then runs the loop and stops at line 7, and the command p i prints 500 (Python Software Foundation, 2026). The documentation describes break as setting a break at a given line number in the current file. IDLE has the same facility through a context menu and, as its documentation says, saves the breakpoints of a file in the user's .idlerc directory (Python Software Foundation, 2026). The line matters. The chapter points out that a breakpoint on the if statement itself would stop at every pass through the loop, because that line runs on every iteration, whereas a breakpoint on the line inside the if stops only when the execution enters the if clause (Sweigart, 2025). In the executed transcript a breakpoint on line 4, the if line, followed by two c commands, stops with i equal to 2, so each pass stopped once. After a stop the programmer can use Continue, Step Over, Step In or Step Out as normal (Sweigart, 2025). A breakpoint on a line that never runs never stops the program, and a breakpoint on a line that runs very often stops very often. In IDLE, the documentation says that breakpoints only have an effect when running under the debugger (Python Software Foundation, 2026), so a program started with the plain Run command ignores them. In IDLE the breakpoints of a file are kept in the .idlerc directory and not in the program file, so the saved program is unchanged. A line that holds no instruction cannot carry a breakpoint: in the executed transcript, b 5 on a blank line prints *** Blank or comment and sets nothing, while b 4 on the line before it prints Breakpoint 1 at main.py:4.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Breakpoints solve the problem of speed. Stepping through the program with the debugger is helpful but can also be slow (Sweigart, 2025), and often the interesting moment is far from the start. The chapter's coin program flips a coin 1,000 times, and the question of interest is the value of heads at the halfway point, when 500 flips are done. With a breakpoint the program runs at full speed to that moment and stops there, where the clicking of Step Over thousands of times would otherwise be needed. In the chapter the breakpoint is placed on the line print('Halfway done!'), inside the if statement that checks whether i is 500. In the executed transcript of that program, the pdb command b 7 sets a breakpoint on line 7 and prints Breakpoint 1 at main.py:7; the command c then runs the loop and stops at line 7, and the command p i prints 500 (Python Software Foundation, 2026). The documentation describes break as setting a break at a given line number in the current file. IDLE has the same facility through a context menu and, as its documentation says, saves the breakpoints of a file in the user's .idlerc directory (Python Software Foundation, 2026). The line matters. The chapter points out that a breakpoint on the if statement itself would stop at every pass through the loop, because that line runs on every iteration, whereas a breakpoint on the line inside the if stops only when the execution enters the if clause (Sweigart, 2025). In the executed transcript a breakpoint on line 4, the if line, followed by two c commands, stops with i equal to 2, so each pass stopped once. After a stop the programmer can use Continue, Step Over, Step In or Step Out as normal (Sweigart, 2025). A breakpoint on a line that never runs never stops the program, and a breakpoint on a line that runs very often stops very often. In IDLE, the documentation says that breakpoints only have an effect when running under the debugger (Python Software Foundation, 2026), so a program started with the plain Run command ignores them. In IDLE the breakpoints of a file are kept in the .idlerc directory and not in the program file, so the saved program is unchanged. A line that holds no instruction cannot carry a breakpoint: in the executed transcript, b 5 on a blank line prints *** Blank or comment and sets nothing, while b 4 on the line before it prints Breakpoint 1 at main.py:4.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is the control that joins the two modes of work. Between breakpoints the programmer wants the program at full speed, and at a breakpoint the programmer wants it slowly. Without Continue, a debugging session would have to choose one or the other. With it, a session reads like a story: the program starts paused, Continue runs it up to the breakpoint, the programmer looks and steps, and Continue runs it up to the next one. In the chapter's coin program the program starts in a paused state at the first line, as usual, and clicking Continue makes it run at full speed until it reaches the line with the breakpoint (Sweigart, 2025). The executed transcript shows the same: after b 7 the command c ends with the stop at line 7, with the 500 flips behind it. If a second c is given, there is no further breakpoint, so the program runs on, prints its last lines, and pdb reports that the program finished and will be restarted. Continue stops for one of two reasons only: a breakpoint or the end of the program. If the same breakpoint is inside a loop, Continue stops again on every pass, and in the executed transcript of the breakpoint on the if line, the first c stopped at the first pass and the second c at the second. The chapter's last review question asks when the debugger stops after Continue, and the answer is just these two cases (Sweigart, 2025). Continue is not Stop. It leaves the debugger attached, and a breakpoint that is later reached pauses the program again, while Stop ends the session. And Continue offers no protection against a program that never ends: a loop that never finishes runs forever under Continue if no breakpoint is hit. In that case the programmer must interrupt the program or use the Stop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is the control that joins the two modes of work. Between breakpoints the programmer wants the program at full speed, and at a breakpoint the programmer wants it slowly. Without Continue, a debugging session would have to choose one or the other. With it, a session reads like a story: the program starts paused, Continue runs it up to the breakpoint, the programmer looks and steps, and Continue runs it up to the next one. In the chapter's coin program the program starts in a paused state at the first line, as usual, and clicking Continue makes it run at full speed until it reaches the line with the breakpoint (Sweigart, 2025). The executed transcript shows the same: after b 7 the command c ends with the stop at line 7, with the 500 flips behind it. If a second c is given, there is no further breakpoint, so the program runs on, prints its last lines, and pdb reports that the program finished and will be restarted. Continue stops for one of two reasons only: a breakpoint or the end of the program. If the same breakpoint is inside a loop, Continue stops again on every pass, and in the executed transcript of the breakpoint on the if line, the first c stopped at the first pass and the second c at the second. The chapter's last review question asks when the debugger stops after Continue, and the answer is just these two cases (Sweigart, 2025). Continue is not Stop. It leaves the debugger attached, and a breakpoint that is later reached pauses the program again, while Stop ends the session. And Continue offers no protection against a program that never ends: a loop that never finishes runs forever under Continue if no breakpoint is hit. In that case the programmer must interrupt the program or use the Stop button.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is for looking inside. When the value that arrives from a function call is wrong, the cause is either the arguments or the function, and Step In is how the programmer enters the function to find out which. It gives the finest view of a program, one line at a time through every call. The finest view is also the slowest, and the chapter therefore says that Step Over is more common than Step In (Sweigart, 2025). In the executed transcript of the program that defines double on line 1 and calls it on line 5, the stops are line 1, line 4 and line 5. At line 5 the command s prints --Call-- and then &gt; main.py(1)double() with -&gt; def double(x):, so the debugger has entered the function and shows the name of the function in the place where &lt;module&gt; stood before. The word Call is how pdb marks a stop caused by entering a function. Step In behaves differently depending on the line. On a line that is not a call, it does the same as Step Over: it executes the line and pauses at the next. On a line that calls a function written in the program, it enters. The chapter notes that Mu should prevent the debugger from entering Python's built-in functions (Sweigart, 2025). In the executed transcript of pdb on a program whose lines 1 and 2 call print(), the command s on line 1 prints a and stops on line 2, so it did not enter print(). Step In on the wrong line leads into code that does not matter. The chapter warns about this with its adding program: the reader should use Step Over instead of Step In on the line that calls print(), because there is no interest in the code of print() (Sweigart, 2025). And once inside a function, the programmer must remember to get out again, with Step Out, or continue stepping through the lines of the function until it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is for looking inside. When the value that arrives from a function call is wrong, the cause is either the arguments or the function, and Step In is how the programmer enters the function to find out which. It gives the finest view of a program, one line at a time through every call. The finest view is also the slowest, and the chapter therefore says that Step Over is more common than Step In (Sweigart, 2025). In the executed transcript of the program that defines double on line 1 and calls it on line 5, the stops are line 1, line 4 and line 5. At line 5 the command s prints --Call-- and then &gt; main.py(1)double() with -&gt; def double(x):, so the debugger has entered the function and shows the name of the function in the place where &lt;module&gt; stood before. The word Call is how pdb marks a stop caused by entering a function. Step In behaves differently depending on the line. On a line that is not a call, it does the same as Step Over: it executes the line and pauses at the next. On a line that calls a function written in the program, it enters. The chapter notes that Mu should prevent the debugger from entering Python's built-in functions (Sweigart, 2025). In the executed transcript of pdb on a program whose lines 1 and 2 call print(), the command s on line 1 prints a and stops on line 2, so it did not enter print(). Step In on the wrong line leads into code that does not matter. The chapter warns about this with its adding program: the reader should use Step Over instead of Step In on the line that calls print(), because there is no interest in the code of print() (Sweigart, 2025). And once inside a function, the programmer must remember to get out again, with Step Out, or continue stepping through the lines of the function until it returns.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time the programmer knows which functions work and wants to follow the main line of the program. The chapter's example is a call of a function named spam() whose inside does not matter: Step Over runs it and pauses when it returns, and the chapter concludes that for this reason Step Over is more common than Step In (Sweigart, 2025). The control keeps the session short and the attention on the code under suspicion. In the adding program, the chapter uses Step Over for each of the print() and input() calls, from line 1 to the final print() on line 7, since stepping into the built-in functions would be pointless (Sweigart, 2025). In the executed transcript of the program with the function double, three n commands go from line 1 to line 4, to line 5 and to line 6, and after that the command p result prints 6. The call on line 5 ran completely in the third step, and the debugger never showed a stop inside the function. The control is a decision about detail. By choosing Step Over on a line, the programmer says that the result of the line matters but how it was computed does not. If the result later turns out to be wrong, the programmer can start again, or use the breakpoint, and choose Step In on that line. The stops of the debugger stay in the same function, the one that is being examined, and each stop is the next line of that function. Step Over hides what happens inside the call, including a bug. A function that has a mistake can return a wrong value, and Step Over will report only that the line finished. If an exception is raised inside the call, it is still raised: in the executed transcript, the command n on a line that calls a function whose body divides by zero prints ZeroDivisionError: division by zero and stays on the calling line. And when a line waits for typed input, the chapter notes that the highlighting goes away while Mu waits for the text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time the programmer knows which functions work and wants to follow the main line of the program. The chapter's example is a call of a function named spam() whose inside does not matter: Step Over runs it and pauses when it returns, and the chapter concludes that for this reason Step Over is more common than Step In (Sweigart, 2025). The control keeps the session short and the attention on the code under suspicion. In the adding program, the chapter uses Step Over for each of the print() and input() calls, from line 1 to the final print() on line 7, since stepping into the built-in functions would be pointless (Sweigart, 2025). In the executed transcript of the program with the function double, three n commands go from line 1 to line 4, to line 5 and to line 6, and after that the command p result prints 6. The call on line 5 ran completely in the third step, and the debugger never showed a stop inside the function. The control is a decision about detail. By choosing Step Over on a line, the programmer says that the result of the line matters but how it was computed does not. If the result later turns out to be wrong, the programmer can start again, or use the breakpoint, and choose Step In on that line. The stops of the debugger stay in the same function, the one that is being examined, and each stop is the next line of that function. Step Over hides what happens inside the call, including a bug. A function that has a mistake can return a wrong value, and Step Over will report only that the line finished. If an exception is raised inside the call, it is still raised: in the executed transcript, the command n on a line that calls a function whose body divides by zero prints ZeroDivisionError: division by zero and stays on the calling line. And when a line waits for typed input, the chapter notes that the highlighting goes away while Mu waits for the text (Sweigart, 2025).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repairs a step that went too deep. After Step In the programmer is on the first line of a function. If it turns out that the function is not under suspicion, walking through every one of its lines is a waste, and Step Out spends them at full speed. It is the counterpart of Step In in the way that going back is the counterpart of going forward, and it is used less than Step Over because a careful programmer steps in only where it is wanted. In the executed transcript, the command s at line 5 enters the function double and stops on its first line, and the command r then prints --Return-- followed by &gt; main.py(3)double()-&gt;6 and -&gt; return y. The arrow and the number after it show that the function is about to return the value 6. The debugger has stopped on the return line, one step before control passes back to the caller, and one more step with n would continue in the calling code. Step Out is therefore a way of saying finish this function. It does not skip the lines that follow in the caller. A breakpoint on a line of the function that has not yet run still stops the program first: in the executed transcript a breakpoint is set on line 2 of double after stepping into it, and the command r then stops on line 2 and not at the return. After the stop at the return, pdb shows the value that the function returns after the arrow, so the programmer can see the result before it is used. Step Out from the top level, outside any function, has no function to leave. In the executed transcript the command r on line 1 of the program runs everything, so 6 and end are printed, and the stop is on the last line, where pdb prints --Return-- with -&gt;None. The tools also differ in where they pause: the chapter speaks of executing at full speed until the function is left, and pdb pauses on the return line itself. The reader who needs the stop to be in the caller should take one more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repairs a step that went too deep. After Step In the programmer is on the first line of a function. If it turns out that the function is not under suspicion, walking through every one of its lines is a waste, and Step Out spends them at full speed. It is the counterpart of Step In in the way that going back is the counterpart of going forward, and it is used less than Step Over because a careful programmer steps in only where it is wanted. In the executed transcript, the command s at line 5 enters the function double and stops on its first line, and the command r then prints --Return-- followed by &gt; main.py(3)double()-&gt;6 and -&gt; return y. The arrow and the number after it show that the function is about to return the value 6. The debugger has stopped on the return line, one step before control passes back to the caller, and one more step with n would continue in the calling code. Step Out is therefore a way of saying finish this function. It does not skip the lines that follow in the caller. A breakpoint on a line of the function that has not yet run still stops the program first: in the executed transcript a breakpoint is set on line 2 of double after stepping into it, and the command r then stops on line 2 and not at the return. After the stop at the return, pdb shows the value that the function returns after the arrow, so the programmer can see the result before it is used. Step Out from the top level, outside any function, has no function to leave. In the executed transcript the command r on line 1 of the program runs everything, so 6 and end are printed, and the stop is on the last line, where pdb prints --Return-- with -&gt;None. The tools also differ in where they pause: the chapter speaks of executing at full speed until the function is left, and pdb pauses on the return line itself. The reader who needs the stop to be in the caller should take one more step.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debugger is the debugger that comes with Python itself, the module pdb. The documentation says that pdb defines an interactive source code debugger for Python programs, with breakpoints, single stepping at the level of source lines, source code listing, and evaluation of Python code in the context of the paused program; it also supports post-mortem debugging, which means examining a program after it has crashed, and can be called under program control (Python Software Foundation, 2026). The chapter's controls all exist in it as commands. Unlike the buttons of an editor, pdb belongs to the standard library, so it comes with Python. It needs no window: the executed transcripts of this chapter were produced by starting it as a separate program and typing its commands as lines of input. It can be started in three ways: from the command line with python -m pdb followed by the file name, from inside the program by the function breakpoint(), and, since Python 3.14, by attaching to a process that is already running. The concepts below take the ways in turn. The module is met whenever a Python program is run with python -m pdb, and whenever breakpoint() is reached. Its prompt is (Pdb). The documentation also shows the case of a program that has crashed: pdb.pm() can be called afterwards to enter the debugger at the place where the exception occurred and to print the value of a variable there (Python Software Foundation, 2026). Started as a module, pdb enters this post-mortem mode automatically if the program exits abnormally; in the executed transcript of a program that divides by zero on its second line, pdb prints Uncaught exception. Entering post mortem debugging and stops on that line. The concepts of this group begin with the two ideas that the later ones depend on: the process, which is a running program, and the environment variable, a named setting handed to a program when it starts. They continue with the function breakpoint() and the hook that it calls, with the commands of pdb that correspond to the buttons of the chapter, and with attaching to a running process, which is new in Python 3.14.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matters for debugging because running programs can be pointed at by number. A debugger that is started together with a program controls that one program. A debugger that attaches to a program that is already running needs to know which one, and the process identifier is the answer. The process identifier is met in the command python -m pdb -p 1234 and in the call sys.remote_exec(1234, script) of Python 3.14 (Python Software Foundation, 2026). The executed expression isinstance(os.getpid(), int) evaluates to True, and os.getpid() &gt; 0 does too. Two runs of Python are two processes even if they run the same file. The documentation of the subprocess module says that it allows a program to spawn new processes (Python Software Foundation, 2026), and a process spawned in this way has an identifier of its own: in the executed check, the number printed by the child differs from the number of the parent. A process also has an environment, which is the subject of the next concept. The identifier belongs to one run only, since two runs are two processes. A tool that is pointed at a wrong number would examine another program, so the number should be read from the program itself, for example by printing os.getpid(), at the time it is needed.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variables let a user change how a program behaves without editing it. For debugging this is valuable: the same program file can be run with its breakpoints active on one day and switched off on the next, and the file does not change. Python's own settings use the same means. The variable PYTHONBREAKPOINT, which is the subject of the following concepts, decides what the function breakpoint() does. In os.environ, the executed expression type(os.environ).__name__ evaluates to '_Environ', the class that holds the environment. A program reads a variable with os.environ.get('NAME'), which gives None when the variable is not set; the executed check prints None for a name that is not set. The documentation also says that the mapping may be used to modify the environment, and the executed check shows that a variable assigned in os.environ is visible to a child process that is started afterwards (Python Software Foundation, 2026). The documentation says that the mapping is captured the first time the os module is imported, typically during Python startup, and that changes made to the environment after this time are not reflected in os.environ, except for changes made by modifying os.environ directly (Python Software Foundation, 2026). A program that changes os.environ changes the environment that it passes on: in the executed check the parent sets GREETING to hi and the child that is started next prints hi, while 'GREETING' in os.environ is True in the parent. Values are text. The documentation says that keys and values are strings, so a setting such as 0 is the string '0', not the number zero (Python Software Foundation, 2026). It adds that on Windows the keys are converted to upper case, so a name written in lower case is stored in upper case there (Python Software Foundation, 2026). And a program that wants a value must handle its absence: os.environ.get('NAME') returns None when the variable is not set, but os.environ['NAME'] has no such default.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553 lists the disadvantages of the older idiom: it is a lot to type (27 characters), it is easy to mistype, and it ties debugging directly to the choice of pdb (Warsaw, 2017). The new function is short, and because it does not name pdb, the debugger that it starts can be chosen without changing the program. The PEP adds that even where an editor has a user interface for setting breakpoints, it may still be more convenient to just edit the code (Warsaw, 2017). The function is used in scripts, and the pdb page of the documentation shows an example in which breakpoint() is the first line of a function double, followed by a session in which p x prints 3 and continue lets the program finish (Python Software Foundation, 2026). In the executed run of a small program that prints before, calls breakpoint() and then prints after, the output contains before, then a (Pdb) prompt, and, after the command c, the word after. The function does little itself. It calls sys.breakpointhook(), passing on whatever arguments it received, and returns what the hook returns (Python Software Foundation, 2026). The default hook starts pdb at the line after the call. The function therefore behaves as the hook decides, which the next concept explains. The executed expression sys.breakpointhook.__name__ evaluates to 'breakpointhook', the default hook that breakpoint() calls. A breakpoint() that is left in the program will stop it for whoever runs it, including users who have no one to type commands. It should be removed before the program is shared, or switched off with the environment variable PYTHONBREAKPOINT set to 0, for which the executed run prints before and then the program went on without any pause. The documentation also says that if sys.breakpointhook cannot be reached, breakpoint() raises RuntimeError (Python Software Foundation, 2026). And since the default hook starts pdb.set_trace(), which expects no arguments, calling breakpoint(1) raises a TypeError, as the executed check shows.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hook lets one line of code, breakpoint(), serve many debuggers. A programmer who prefers another debugger can set the hook once, and the programs need not change. The environment variable also lets the person who runs the program turn the call off. The default hook consults PYTHONBREAKPOINT: if it is set to 0, the hook returns at once and does nothing; if it is not set or is empty, pdb.set_trace() is called; otherwise the variable names a function to call, in the dotted form package.module.function (Python Software Foundation, 2026). The executed runs show each case. With PYTHONBREAKPOINT set to 0, a program that prints before, calls breakpoint() and prints the program went on shows no pause. With PYTHONBREAKPOINT set to builtins.print, breakpoint('hello', 'hook') prints hello hook, because the named function receives the arguments that were passed. And a program that assigns its own function to sys.breakpointhook has that function called, with its arguments, and breakpoint() returns what the function returns. The environment variable is read each time the default hook is called. If it names something that cannot be imported, the documentation says a RuntimeWarning is reported and the breakpoint is ignored (Python Software Foundation, 2026). In the executed run, with PYTHONBREAKPOINT set to no.such.module.func, the error output ends with RuntimeWarning: Ignoring unimportable $PYTHONBREAKPOINT: "no.such.module.func", and the program carries on, printing went on. A program that replaces sys.breakpointhook by its own function no longer consults PYTHONBREAKPOINT, as the documentation says; in the executed run the replaced hook still ran with the variable set to 0 (Python Software Foundation, 2026). And the setting 0 silences only breakpoint(): in the executed transcript, with PYTHONBREAKPOINT set to 0, the command b 2 inside pdb still stops the program on line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commands make the controls of the chapter available in a terminal and in scripts, and they add to them. The command p expression evaluates an expression in the current context and prints its value, so it does the work of the Debug Inspector pane. The command where prints a stack trace with the most recent frame at the bottom and an arrow marking the current frame, which is the call stack of Chapter 4 viewed from the debugger (Python Software Foundation, 2026). The command list shows 11 lines of source code around the current line, with -&gt; marking the current line (Python Software Foundation, 2026). In the executed transcripts every control of the chapter appears as a command: n and s give the stops on lines 4 and 5 and then --Call-- at the start of double; r gives --Return-- and the value 6; b 6 prints Breakpoint 1 at main.py:6, and c stops there, where p result prints 6. The check on the class Pdb confirms that the six methods do_step, do_next, do_return, do_continue, do_break and do_where exist, which is the evaluated io example of this concept. The commands steer the paused program, and a statement written after an exclamation point is executed in its context; the point can be omitted unless the first word of the statement resembles a debugger command (Python Software Foundation, 2026). The documentation says that print() can also be used, but it is not a debugger command and executes the Python print() function (Python Software Foundation, 2026). The command-line form python -m pdb [-c command] file starts the program paused at the first line, and -c runs commands as if they were in a .pdbrc file (Python Software Foundation, 2026). A name that matches a command is read as the command: the documentation says the exclamation point can be omitted only unless the first word resembles a debugger command (Python Software Foundation, 2026). In the executed transcript a variable called c holds 5, and p c prints 5, whereas typing c alone is the command continue and the program ran on to its end. Before a variable has been assigned, p prints an error line: p x on line 1 of a program that assigns x on that line prints *** NameError: name 'x' is not defined.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768 states the need: developers often need to analyze application behavior without stopping or restarting services, which is especially crucial for high-availability systems, and very few Python tools could attach to running processes (Galindo Salgado, Wozniski and Stojanovic, 2024). The What's New page for 3.14 calls the new interface a crucial capability for high-availability systems and production environments, since tools can inspect and interact with Python applications in real time (Python Software Foundation, 2026). The interface is used by debuggers and other tools, and the documented command is python -m pdb -p followed by the number of the process. The function sys.remote_exec is available on Unix and Windows (Python Software Foundation, 2026). The executed demonstration starts a child program that prints ready and then sleeps; the parent calls sys.remote_exec on its identifier with a script that prints injected, and the child's output then contains injected. On a Python older than 3.14 the function does not exist, so there is nothing to call. The function returns at once, and the code is run by the main thread of the target process at the next available opportunity; there is no interface to learn when it ran, and the caller must keep the file in place until it has (Python Software Foundation, 2026). The target must run the same major and minor version of CPython as the caller (Python Software Foundation, 2026). The documentation of pdb adds that a process blocked in a system call or waiting for I/O attaches only once the next bytecode instruction is executed, and the glossary defines bytecode as the internal representation of a Python program in the CPython interpreter (Python Software Foundation, 2026). The same power is a risk, since a tool that can run code in another process could be misused, so the feature can be disabled: with the environment variable PYTHON_DISABLE_REMOTE_DEBUG, with the option -X disable-remote-debug, or at build time with --without-remote-debug (Python Software Foundation, 2026). It also needs the same version on both sides. The runnable example of this concept is deliberately small: it checks only that sys.breakpointhook is callable, because attaching needs a second running process of the same version and cannot be shown in one expression.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practice is the part of the chapter in which the four instruments, exceptions, assertions, logging and the debugger, are used together on programs that contain real mistakes. The chapter does this three times. It repairs a factorial function with the help of log messages, it finds why an adding program prints a wrong sum with the help of the debugger, and it ends with a practice program, a coin toss guessing game that the author says has multiple bugs in it, to be found by running the program a few times (Sweigart, 2025). The word modern points to the tools of current Python, which the other branches describe one by one. Knowing what an instrument does is not yet knowing when to use it. A learner who has read about the debugger still has to decide, faced with a program that prints the wrong number, whether to print values, to add a check or to step through the lines. The practice cases give that decision a concrete setting. The chapter's own advice is that, in general, the earlier you catch bugs, the easier they will be to fix (Sweigart, 2025), and a worked case shows what catching a bug early looks like in a real program. The cases are met in the chapter's three programs and in the programs a learner writes afterwards. A loop that starts at the wrong number, a running total that begins with the wrong value, input that arrives as text instead of numbers, a random number that is compared with a word, and a test of membership applied to the wrong kind of value all appear in programs of a few lines. Each of these has a name in this branch and a short executed example. The branch has one group, the worked cases. Each case names a kind of mistake, shows the symptom that it produces, shows the evidence that exposes it and states the repair. The first two cases, the off-by-one range and the starting value of an accumulator, belong to the factorial. The third, string concatenation, belongs to the adding program. The last three, the random integer, the membership test and the type mismatch comparison, belong to the coin toss game. The cases are exercises in reading evidence, and the evidence is always a value that is not the one expected. A case is a pattern and not a recipe. The same symptom can have several causes: a total of zero can come from a loop that starts at zero, but also from a running total that was started at zero when a product was meant. The repair that fits one program may be wrong for the next one. The cases also do not replace testing; they train the eye for the evidence, and the evidence has to be produced by running the program.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cases are six small mistakes, each taken from one of the programs of the chapter. A case consists of the faulty line, the symptom that the program shows, the instrument that exposes the cause, and the repair. Most of the cases produce no error message at all, which makes them logic errors; two of them, the ordering comparison and the membership test on a string, show an error message when the same mistake is pushed a little further. The cases are useful in three ways. They show how each instrument is used on a real program and not on an artificial one. They give the learner a stock of patterns to recognise, which shortens the search the next time. And they fix the vocabulary: to say that a bug is an off-by-one in a range, or a type mismatch in a comparison, is to say where to look. In the chapter the logging output pointed at the range, and the debugger pane at the strings. The cases follow the order of the chapter's programs. The off-by-one range and the accumulator starting value explain the factorial that returns 0. String concatenation explains the adding program, whose pane shows '5', '3' and '42' as strings. The random integer, the membership test and the type mismatch comparison explain the lines of the coin toss game that decide whether the player's guess is accepted and whether it matches. For each case the executed examples show the value that exposes the mistake.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is easy to make because the counting rules of ranges are not the counting rules of everyday speech. People count from 1 and include the last number, and range counts from 0 by default and leaves the last number out. A programmer who writes range(n + 1) has remembered that the last number is left out and added 1 to make up for it, but forgot that the first number is 0. The mistake produces no error message: the program runs and prints 0, which the chapter calls a result that isn't right (Sweigart, 2025). The log in the chapter shows the evidence. The debug messages say i is 0, total is 0 on the first pass, and then total stays 0 on every pass because zero times anything is zero (Sweigart, 2025). In the executed program, factorial(5) with range(n + 1) prints 0, and with range(1, n + 1) it prints 120. The two ranges are visible directly: list(range(5 + 1)) is [0, 1, 2, 3, 4, 5], list(range(1, 5 + 1)) is [1, 2, 3, 4, 5], and range(0) is empty. The repair changes the first number of the range. With range(1, n + 1) the loop variable i takes the values 1 to n, and the log of the chapter then shows i and total as 1 and 1, 2 and 2, 3 and 6, 4 and 24, and 5 and 120 (Sweigart, 2025). The number of passes matters as much as their values: len(range(5 + 1)) is 6, one more than the 5 that len(range(1, 5 + 1)) gives, and the first pass was the harmful one. In the executed check factorial(0) and factorial(1) both give 1 after the repair, as the mathematical definition requires. Counting errors hide in the edges. An off-by-one error can show itself only for the first or the last item, so tests should use the smallest case, the case with one item, and the case with none. A repair that adds or subtracts 1 until the output looks right is dangerous; the right question is which numbers the loop should visit, and the answer should be written down before the range. Watching the first and last pass in a log or in the debugger is the quickest check.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repair changes the first number of the range. With range(1, n + 1) the loop variable i takes the values 1 to n, and the log of the chapter then shows i and total as 1 and 1, 2 and 2, 3 and 6, 4 and 24, and 5 and 120 (Sweigart, 2025). The number of passes matters as much as their values: len(range(5 + 1)) is 6, one more than the 5 that len(range(1, 5 + 1)) gives, and the first pass was the harmful one. In the executed check factorial(0) and factorial(1) both give 1 after the repair, as the mathematical definition requires. Counting errors hide in the edges. An off-by-one error can show itself only for the first or the last item, so tests should use the smallest case, the case with one item, and the case with none. A repair that adds or subtracts 1 until the output looks right is dangerous; the right question is which numbers the loop should visit, and the answer should be written down before the range. Watching the first and last pass in a log or in the debugger is the quickest check.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is easy to make because the counting rules of ranges are not the counting rules of everyday speech. People count from 1 and include the last number, and range counts from 0 by default and leaves the last number out. A programmer who writes range(n + 1) has remembered that the last number is left out and added 1 to make up for it, but forgot that the first number is 0. The mistake produces no error message: the program runs and prints 0, which the chapter calls a result that isn't right (Sweigart, 2025). The log in the chapter shows the evidence. The debug messages say i is 0, total is 0 on the first pass, and then total stays 0 on every pass because zero times anything is zero (Sweigart, 2025). In the executed program, factorial(5) with range(n + 1) prints 0, and with range(1, n + 1) it prints 120. The two ranges are visible directly: list(range(5 + 1)) is [0, 1, 2, 3, 4, 5], list(range(1, 5 + 1)) is [1, 2, 3, 4, 5], and range(0) is empty. The repair changes the first number of the range. With range(1, n + 1) the loop variable i takes the values 1 to n, and the log of the chapter then shows i and total as 1 and 1, 2 and 2, 3 and 6, 4 and 24, and 5 and 120 (Sweigart, 2025). The number of passes matters as much as their values: len(range(5 + 1)) is 6, one more than the 5 that len(range(1, 5 + 1)) gives, and the first pass was the harmful one. In the executed check factorial(0) and factorial(1) both give 1 after the repair, as the mathematical definition requires. Counting errors hide in the edges. An off-by-one error can show itself only for the first or the last item, so tests should use the smallest case, the case with one item, and the case with none. A repair that adds or subtracts 1 until the output looks right is dangerous; the right question is which numbers the loop should visit, and the answer should be written down before the range. Watching the first and last pass in a log or in the debugger is the quickest check.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value is part of the logic of the program, and a wrong one gives a wrong answer without any error. A product must start with 1, because multiplying by 1 changes nothing, and a sum must start with 0, because adding 0 changes nothing. A product that starts with 0 stays 0, and a sum that starts with 1 comes out one too large. The starting value is a place where a logic error can live, since the loop looks right and only the line before it is wrong. Accumulators appear in nearly every program that totals, counts or builds a result. In the executed examples, a loop that adds the numbers 1 to 5 to a total that starts at 0 gives 15; the same loop with the total starting at 1 gives 16; and a loop that multiplies the numbers 1 to 5 into a total that starts at 0 gives 0, the same wrong answer as the chapter's factorial, though here the cause is the starting value and not the range. The built-in sum(range(1, 5 + 1)) evaluates to 15 and checks the first result. The update line works in the same way on every pass: it takes the current value, combines it with the item, and stores the result back. The statement x += 1 can be rewritten as x = x + 1 to achieve a similar, but not exactly equal, effect, because the augmented form evaluates x only once (Python Software Foundation, 2026). After the loop the accumulator holds the result. To check one, the programmer can print it inside the loop, as the chapter does with its log messages, or can set a breakpoint on the update line and read the value on each pass. When a total comes out wrong, there are two suspects, the loop and the starting value, and both must be checked before anything is changed. Another trap is to initialise the accumulator inside the loop, which resets it on every pass and leaves only the last item. And the type of the accumulator matters: the same update written with + on strings joins text, as in the next case, instead of adding numbers.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update line works in the same way on every pass: it takes the current value, combines it with the item, and stores the result back. The statement x += 1 can be rewritten as x = x + 1 to achieve a similar, but not exactly equal, effect, because the augmented form evaluates x only once (Python Software Foundation, 2026). After the loop the accumulator holds the result. To check one, the programmer can print it inside the loop, as the chapter does with its log messages, or can set a breakpoint on the update line and read the value on each pass. When a total comes out wrong, there are two suspects, the loop and the starting value, and both must be checked before anything is changed. Another trap is to initialise the accumulator inside the loop, which resets it on every pass and leaves only the last item. And the type of the accumulator matters: the same update written with + on strings joins text, as in the next case, instead of adding numbers.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matters because the data that input() returns is always text. The documentation of input() says that the function reads a line from input, converts it to a string, and returns that (Python Software Foundation, 2026). A program that asks a person for numbers therefore holds strings, and the programmer sees the digits and takes them for numbers. The chapter's Debug Inspector pane makes the difference visible: the variables first, second and third are set to '5', '3' and '42' instead of 5, 3 and 42, and when the last line is executed Python concatenates the strings instead of adding the numbers (Sweigart, 2025). In the executed program the three answers are read with input(), and print('The sum is ' + first + second + third) prints The sum is 5342, while converting each answer with int() gives 50. The types can be read directly: type(input()).__name__ is 'str' even when the line typed was 7. The multiplication sign shows the same difference, since '5' * 3 is '555' and 5 * 3 is 15. And mixing the two kinds fails: adding a string and a number raises a TypeError, whose message for 'The sum is ' + 5 is can only concatenate str (not "int") to str. The cure is to convert before computing. The function int() turns a string of digits into an integer, so int(first) + int(second) + int(third) is the sum that was meant. The debugger shows the cure at work: in the pdb transcript of the adding program, p first + second + third prints '5342' and p int(first) + int(second) + int(third) prints 50. A conversion done right after the input call keeps the rest of the program working with numbers. Conversion has its own failure: int() applied to a string that is not made of digits raises a ValueError, so a check on the input belongs near the input call. The quote marks in the display of a value are the most reliable sign that it is a string, and the debugger shows them where print() does not: print(first) shows 5, and the pane shows '5'.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cure is to convert before computing. The function int() turns a string of digits into an integer, so int(first) + int(second) + int(third) is the sum that was meant. The debugger shows the cure at work: in the pdb transcript of the adding program, p first + second + third prints '5342' and p int(first) + int(second) + int(third) prints 50. A conversion done right after the input call keeps the rest of the program working with numbers. Conversion has its own failure: int() applied to a string that is not made of digits raises a ValueError, so a check on the input belongs near the input call. The quote marks in the display of a value are the most reliable sign that it is a string, and the debugger shows them where print() does not: print(first) shows 5, and the pane shows '5'.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Chance is useful in programs that simulate, shuffle or play games, and it makes debugging harder, because a bug may show itself on one run and not on the next. The chapter's coin program therefore prints a different count each time: the book shows 490 heads in one run (Sweigart, 2025). A programmer who wants a repeatable run can call random.seed, which the documentation describes as initialising the random number generator (Python Software Foundation, 2026); in the executed check, two runs seeded with 1 give the same five numbers. The coin flip in the chapter calls random.randint(0, 1) a thousand times and counts the ones as heads. The practice program calls it once, in toss = random.randint(0, 1), with the comment that 0 is tails and 1 is heads (Sweigart, 2025). In the executed checks, randint(5, 5) always returns 5, because the two ends are the same; randint(1, 3) over 500 calls produced exactly the numbers 1, 2 and 3; and the values are integers, so isinstance(random.randint(1, 6), int) is True and the type is int, not str. The function needs the first number not to be larger than the second. In the executed check, random.randint(2, 1) raises a ValueError whose message begins empty range in. Under Python 3.14 the message ends with randint(2, 1), and under Python 3.12 it ends with randrange(2, 2), which shows the documented alias at work: randint(a, b) is randrange(a, b + 1) (Python Software Foundation, 2026). A coin flip is a choice between two numbers, and the program must decide what each number means: here 0 stands for tails and 1 for heads, and nothing in the number itself says so. The result is a number and not a word. A program that compares it with a string, as the practice program does, will never find them equal, which is the last of the worked cases. The random values are also not guaranteed to balance: the book's own run printed 490 heads in 1,000 flips, not 500 (Sweigart, 2025). And a breakpoint at the halfway point of such a program shows a different value of the counter on every run.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replaces a chain of comparisons with one readable condition. Without it the loop would have to say guess != 'heads' and guess != 'tails', and a third answer would lengthen the line. For strings the operator means something else: the language reference says that for the string types x in y is True if and only if x is a substring of y (Python Software Foundation, 2026). Both meanings are useful, and mixing them up is the source of a typical mistake. In the practice program the test works as intended. In the executed run with the inputs maybe, tails and tails, the question Guess the coin toss! Enter heads or tails: is printed twice, once for maybe, which is not a member of the tuple, and once for tails, which is. The difference between the two meanings is visible in the checks: 'ab' in 'abc' is True because it is a substring, 'head' in 'heads' is True, but 'head' in ('heads', 'tails') is False because 'head' is not a member of the tuple. The two sides of the operator must fit. A string on the right accepts only strings on the left, and the check 1 in 'abc' raises a TypeError with the message 'in &lt;string&gt;' requires string as left operand, not int. A tuple on the right accepts any value, and the test uses equality, so 0 in (0, 1) is True and '0' in (0, 1) is False. A single value in parentheses is not a tuple: the check type(('heads')).__name__ gives 'str', and type(('heads',)).__name__ gives 'tuple', because the comma makes the tuple (Python Software Foundation, 2026). One error to watch for is forgetting the comma. With guess in ('heads') the test asks whether guess is a substring of the word heads, so the answer 'he' is accepted. A second trap is to write the test as guess == 'heads' or 'tails', which is true for every guess, because a string that is not empty counts as true when it is used as a condition (Python Software Foundation, 2026); in the executed check the expression 'x' == 'heads' or 'tails' evaluates to 'tails', which is true. The membership operator avoids both.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mistake is silent and total. The program runs, asks its questions, and answers Nope! to every guess, the correct one too. Nothing is raised and nothing is logged. The only evidence is the behaviour: the executed run with the inputs heads and heads prints Nope! Guess again! and then Nope. You are really bad at this game., and a player who guesses for ever is never right. The case shows why the chapter calls the program one with multiple bugs in it, to be found by running it a few times (Sweigart, 2025). The comparison appears wherever data arrives in one form and is tested in another, as the number from randint and the word typed by the player do. The ordering operators are stricter than equality: the language reference says a default order comparison is not provided and an attempt raises TypeError (Python Software Foundation, 2026), and in the executed check 0 &lt; 'heads' raises a TypeError with the message '&lt;' not supported between instances of 'int' and 'str'. Equality asks only whether the values are the same and answers no, while ordering asks which is larger and cannot answer. The repair is to compare like with like. Either the number is turned into the word, as in ['tails', 'heads'][toss], which gives 'heads' for 1 and 'tails' for 0, or the word is turned into the number. The program's own comment says that 0 is tails and 1 is heads, and the comment states exactly the mapping that the code has to carry out. The check can be made with p toss == guess in the debugger or with a temporary print of both values and their types. A correct-looking condition is not evidence. A program that prints Nope for every input should lead the programmer to print the two operands and their types, not to read the condition again. The mismatch can also stand in a place where the comparison is spread over lines or functions, so that the two values never appear together. Also remember that numbers of different types do compare, since a comparison between numbers of different types behaves as though the exact values were compared (Python Software Foundation, 2026): 1 == 1.0 is True, so the rule concerns kinds that are unrelated, such as number and string.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repair is to compare like with like. Either the number is turned into the word, as in ['tails', 'heads'][toss], which gives 'heads' for 1 and 'tails' for 0, or the word is turned into the number. The program's own comment says that 0 is tails and 1 is heads, and the comment states exactly the mapping that the code has to carry out. The check can be made with p toss == guess in the debugger or with a temporary print of both values and their types. A correct-looking condition is not evidence. A program that prints Nope for every input should lead the programmer to print the two operands and their types, not to read the condition again. The mismatch can also stand in a place where the comparison is spread over lines or functions, so that the two values never appear together. Also remember that numbers of different types do compare, since a comparison between numbers of different types behaves as though the exact values were compared (Python Software Foundation, 2026): 1 == 1.0 is True, so the rule concerns kinds that are unrelated, such as number and string.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read each objective again and ask the room, for each one, which slide answered it. Say where these come from. The five chapter objectives are the chapter page's own, and they are what this week is marked against. Behind them stands course outcome LO-6, diagnose and harden programs with logging, tracebacks and deliberately raised exceptions, whose own record in the approved outcomes names chapter 5 of the 3rd edition as its source - so this is the one early chapter that serves an approved outcome directly rather than only preparing for one. Anything the room cannot answer is what to send them back to the chapter page for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question do raising exceptions, assertions, logging and the debugger all answer in different ways? The answer is: How can the programmer find out what the program is really doing? The branch presents the four instruments as four answers to one question: what the program is really doing, as opposed to what its source appears to say. 2. A program runs to its end, prints a plausible result, and the result is wrong. What kind of bug is it? The answer is: A logic error, which Python does not report A logic error lets the program run without any exception, so only a person who knows the right answer notices it. 3. What is a bug, in the sense of the chapter? The answer is: A place where the program does something other than its author intended A bug is the gap between the intention of the programmer and the behaviour of the running program; the computer carries out the instructions exactly as written. 4. What does the traceback of an unhandled exception tell the person who runs the program? The answer is: That something went wrong, and the calls the exception passed through Raising an exception and the traceback it prints are how a program says that something went wrong, and the traceback records where the exception passed. 5. A function cannot serve a call it was given. What does raising an exception let the function do? The answer is: Refuse the call and let the caller decide how to recover Raising shows how a function refuses a call it cannot serve and how the caller then recovers. Let the room answer before each click. The full bank of 128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What does a raise statement do to the running code? The answer is: It stops the code and passes an exception to the nearest matching except clause A raise statement stops the running code and hands the exception to the nearest matching except clause, which is how a function tells its caller that a call was invalid. 7. Whose errors are assertions meant to catch? The answer is: The programmer's errors, meaning bugs in the code Assertions are sanity checks meant for errors of the programmer and not of the user. 8. What does an assertion state? The answer is: What must be true at that point if the program is correct An assertion states what must be true at a point in a program. 9. What does a sanity check test? The answer is: A property that must hold if the code before it is correct A sanity check is a cheap test of a result that must hold if the preceding code did its job, written to catch an obvious mistake early. 10. What is logging for? The answer is: Leaving a record of what a program did without stopping it Logging leaves a record of what a program did, without stopping it. Let the room answer before each click. The full bank of 128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Which three things does setting up logging choose? The answer is: A threshold, a format and a destination Setting up logging means choosing a threshold, a format and a destination. 12. What does basicConfig set, and how does the chapter use it? The answer is: The threshold, format and destination of the root logger, called once at the top basicConfig sets the threshold, the format and the destination of the root logger, and the chapter calls it once at the top of a program. 13. For which kind of question is the debugger the right instrument? The answer is: What the variables hold at one particular line The debugger is the instrument for a question about the state at one line. 14. Which part of the Mu window lists the current values of the program's variables? The answer is: The Debug Inspector pane The Debug Inspector pane opens at the right side of the window and lists the current value of the variables of the program. 15. Which button of the Mu editor starts a program under the debugger? The answer is: Debug The Debug button in the top row, next to the Run button, starts the program under the debugger. Let the room answer before each click. The full bank of 128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What do the chapter's worked programs show? The answer is: Which instrument finds which kind of bug The chapter's worked programs show which instrument finds which kind of bug. 17. In the chapter, which instrument exposes the bug of the factorial, and which exposes the bug of the adding program? The answer is: Logging for the factorial and the debugger for the adding program The log messages show i starting at 0 in the factorial, and the Debug Inspector pane shows the strings '5', '3' and '42' in the adding program. 18. Why does the chapter's factorial(5) return 0? The answer is: range(n + 1) starts at 0, so total is multiplied by 0 on the first pass The factorial multiplies by zero because its range starts at 0, and range(1, n + 1) fixes it. Let the room answer before each click. The full bank of 128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verified list, with the time each page was read, is in 03-materials/ch05/rdodi/sen0414_ch05_research_v1_1_0.ttl. The first entry is the primary source, the chapter itself; the rest are the Python documentation pages and the language proposals that this lecture cites where it goes beyond the book. Tell students that the chapter page's own resources tab links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verified list, with the time each page was read, is in 03-materials/ch05/rdodi/sen0414_ch05_research_v1_1_0.ttl. The first entry is the primary source, the chapter itself; the rest are the Python documentation pages and the language proposals that this lecture cites where it goes beyond the book. Tell students that the chapter page's own resources tab links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the 3rd edition is Lists. Ask for questions, and remind the room that the page has the same simulations they saw today and that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0584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0584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1874520"/>
            <a:ext cx="804672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Chapter 5: Debugging</a:t>
            </a:r>
            <a:endParaRPr lang="en-US" sz="3600" dirty="0"/>
          </a:p>
        </p:txBody>
      </p:sp>
      <p:sp>
        <p:nvSpPr>
          <p:cNvPr id="5" name="x"/>
          <p:cNvSpPr txBox="1"/>
          <p:nvPr/>
        </p:nvSpPr>
        <p:spPr>
          <a:xfrm>
            <a:off x="548640" y="2697480"/>
            <a:ext cx="8046720" cy="548640"/>
          </a:xfrm>
          <a:prstGeom prst="rect">
            <a:avLst/>
          </a:prstGeom>
          <a:noFill/>
          <a:ln/>
        </p:spPr>
        <p:txBody>
          <a:bodyPr wrap="square" lIns="0" tIns="0" rIns="0" bIns="0" rtlCol="0" anchor="t"/>
          <a:lstStyle/>
          <a:p>
            <a:pPr indent="0" marL="0">
              <a:buNone/>
            </a:pPr>
            <a:r>
              <a:rPr lang="en-US" sz="1700" i="1" dirty="0">
                <a:solidFill>
                  <a:srgbClr val="FFD43B"/>
                </a:solidFill>
                <a:latin typeface="Calibri" pitchFamily="34" charset="0"/>
                <a:ea typeface="Calibri" pitchFamily="34" charset="-122"/>
                <a:cs typeface="Calibri" pitchFamily="34" charset="-120"/>
              </a:rPr>
              <a:t>Four ways to find out what a program is really doing</a:t>
            </a:r>
            <a:endParaRPr lang="en-US" sz="1700" dirty="0"/>
          </a:p>
        </p:txBody>
      </p:sp>
      <p:sp>
        <p:nvSpPr>
          <p:cNvPr id="6" name="x"/>
          <p:cNvSpPr txBox="1"/>
          <p:nvPr/>
        </p:nvSpPr>
        <p:spPr>
          <a:xfrm>
            <a:off x="548640" y="393192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Kultur University</a:t>
            </a:r>
            <a:endParaRPr lang="en-US" sz="1300" dirty="0"/>
          </a:p>
        </p:txBody>
      </p:sp>
      <p:sp>
        <p:nvSpPr>
          <p:cNvPr id="7" name="x"/>
          <p:cNvSpPr txBox="1"/>
          <p:nvPr/>
        </p:nvSpPr>
        <p:spPr>
          <a:xfrm>
            <a:off x="548640" y="4315968"/>
            <a:ext cx="8046720" cy="365760"/>
          </a:xfrm>
          <a:prstGeom prst="rect">
            <a:avLst/>
          </a:prstGeom>
          <a:noFill/>
          <a:ln/>
        </p:spPr>
        <p:txBody>
          <a:bodyPr wrap="square" lIns="0" tIns="0" rIns="0" bIns="0" rtlCol="0" anchor="ctr"/>
          <a:lstStyle/>
          <a:p>
            <a:pPr indent="0" marL="0">
              <a:buNone/>
            </a:pPr>
            <a:r>
              <a:rPr lang="en-US" sz="1100" i="1" dirty="0">
                <a:solidFill>
                  <a:srgbClr val="8FA3B8"/>
                </a:solidFill>
                <a:latin typeface="Calibri" pitchFamily="34" charset="0"/>
                <a:ea typeface="Calibri" pitchFamily="34" charset="-122"/>
                <a:cs typeface="Calibri" pitchFamily="34" charset="-120"/>
              </a:rPr>
              <a:t>Debugging for an advanced course: chapter 5 of the 3rd edition and today's Python  |  82 concepts, 62 of them worked through, all results re-run under Python 3.14.4</a:t>
            </a:r>
            <a:endParaRPr lang="en-US" sz="11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What this chapter covers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book's own sections, and what this lecture adds to them</a:t>
            </a:r>
            <a:endParaRPr lang="en-US" sz="1400" dirty="0"/>
          </a:p>
        </p:txBody>
      </p:sp>
      <p:sp>
        <p:nvSpPr>
          <p:cNvPr id="6" name="prose"/>
          <p:cNvSpPr txBox="1"/>
          <p:nvPr/>
        </p:nvSpPr>
        <p:spPr>
          <a:xfrm>
            <a:off x="411480" y="1207008"/>
            <a:ext cx="4846320" cy="228600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This document renews chapter 5 of the 3rd edition for an advanced course (Sweigart, 2025), explaining every term the chapter uses.</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Concepts are corpus-derived from the 3rd edition's chapter 5 through the Stage 1 research artefact; the modern-practice branch and the concepts added in 1.1.0 for terms the chapter uses without explaining (bug, exception class, standard error stream, logger, handler, process, random integer and others) come from that artefact's secondary sources, not from the book.</a:t>
            </a:r>
            <a:endParaRPr lang="en-US" sz="1400" dirty="0"/>
          </a:p>
        </p:txBody>
      </p:sp>
      <p:sp>
        <p:nvSpPr>
          <p:cNvPr id="7" name="band|b1"/>
          <p:cNvSpPr/>
          <p:nvPr/>
        </p:nvSpPr>
        <p:spPr>
          <a:xfrm>
            <a:off x="411480" y="3657600"/>
            <a:ext cx="4846320" cy="914400"/>
          </a:xfrm>
          <a:prstGeom prst="roundRect">
            <a:avLst>
              <a:gd name="adj" fmla="val 10000"/>
            </a:avLst>
          </a:prstGeom>
          <a:solidFill>
            <a:srgbClr val="E3EEF8"/>
          </a:solidFill>
          <a:ln w="25400">
            <a:solidFill>
              <a:srgbClr val="306998"/>
            </a:solidFill>
            <a:prstDash val="solid"/>
          </a:ln>
        </p:spPr>
      </p:sp>
      <p:sp>
        <p:nvSpPr>
          <p:cNvPr id="8" name="bandt|b1"/>
          <p:cNvSpPr txBox="1"/>
          <p:nvPr/>
        </p:nvSpPr>
        <p:spPr>
          <a:xfrm>
            <a:off x="576072" y="3712464"/>
            <a:ext cx="4517136" cy="804672"/>
          </a:xfrm>
          <a:prstGeom prst="rect">
            <a:avLst/>
          </a:prstGeom>
          <a:noFill/>
          <a:ln/>
        </p:spPr>
        <p:txBody>
          <a:bodyPr wrap="square" lIns="0" tIns="0" rIns="0" bIns="0" rtlCol="0" anchor="t"/>
          <a:lstStyle/>
          <a:p>
            <a:pPr indent="0" marL="0">
              <a:buNone/>
            </a:pPr>
            <a:r>
              <a:rPr lang="en-US" sz="1250" b="1" dirty="0">
                <a:solidFill>
                  <a:srgbClr val="306998"/>
                </a:solidFill>
                <a:latin typeface="Cambria" pitchFamily="34" charset="0"/>
                <a:ea typeface="Cambria" pitchFamily="34" charset="-122"/>
                <a:cs typeface="Cambria" pitchFamily="34" charset="-120"/>
              </a:rPr>
              <a:t>Read with it  </a:t>
            </a:r>
            <a:r>
              <a:rPr lang="en-US" sz="1250" dirty="0">
                <a:solidFill>
                  <a:srgbClr val="1F2933"/>
                </a:solidFill>
                <a:latin typeface="Calibri" pitchFamily="34" charset="0"/>
                <a:ea typeface="Calibri" pitchFamily="34" charset="-122"/>
                <a:cs typeface="Calibri" pitchFamily="34" charset="-120"/>
              </a:rPr>
              <a:t>The chapter page for this chapter carries the same concepts, the same executed examples and a question bank; the chapter document carries every paragraph in full.</a:t>
            </a:r>
            <a:endParaRPr lang="en-US" sz="1300" dirty="0"/>
          </a:p>
        </p:txBody>
      </p:sp>
      <p:sp>
        <p:nvSpPr>
          <p:cNvPr id="9" name="bsh"/>
          <p:cNvSpPr txBox="1"/>
          <p:nvPr/>
        </p:nvSpPr>
        <p:spPr>
          <a:xfrm>
            <a:off x="5532120" y="1152144"/>
            <a:ext cx="3200400" cy="329184"/>
          </a:xfrm>
          <a:prstGeom prst="rect">
            <a:avLst/>
          </a:prstGeom>
          <a:noFill/>
          <a:ln/>
        </p:spPr>
        <p:txBody>
          <a:bodyPr wrap="square" lIns="0" tIns="0" rIns="0" bIns="0" rtlCol="0" anchor="ctr"/>
          <a:lstStyle/>
          <a:p>
            <a:pPr indent="0" marL="0">
              <a:buNone/>
            </a:pPr>
            <a:r>
              <a:rPr lang="en-US" sz="1000" b="1" dirty="0">
                <a:solidFill>
                  <a:srgbClr val="1E2A3A"/>
                </a:solidFill>
                <a:latin typeface="Calibri" pitchFamily="34" charset="0"/>
                <a:ea typeface="Calibri" pitchFamily="34" charset="-122"/>
                <a:cs typeface="Calibri" pitchFamily="34" charset="-120"/>
              </a:rPr>
              <a:t>The sections of chapter 5, as the book sets them out</a:t>
            </a:r>
            <a:endParaRPr lang="en-US" sz="1000" dirty="0"/>
          </a:p>
        </p:txBody>
      </p:sp>
      <p:sp>
        <p:nvSpPr>
          <p:cNvPr id="10" name="bs"/>
          <p:cNvSpPr/>
          <p:nvPr/>
        </p:nvSpPr>
        <p:spPr>
          <a:xfrm>
            <a:off x="5532120" y="1554480"/>
            <a:ext cx="3200400" cy="301752"/>
          </a:xfrm>
          <a:prstGeom prst="rect">
            <a:avLst/>
          </a:prstGeom>
          <a:solidFill>
            <a:srgbClr val="E3EEF8"/>
          </a:solidFill>
          <a:ln w="12700">
            <a:solidFill>
              <a:srgbClr val="E3EEF8"/>
            </a:solidFill>
            <a:prstDash val="solid"/>
          </a:ln>
        </p:spPr>
      </p:sp>
      <p:sp>
        <p:nvSpPr>
          <p:cNvPr id="11" name="bst"/>
          <p:cNvSpPr txBox="1"/>
          <p:nvPr/>
        </p:nvSpPr>
        <p:spPr>
          <a:xfrm>
            <a:off x="5623560" y="1554480"/>
            <a:ext cx="3017520" cy="30175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  Raising Exceptions</a:t>
            </a:r>
            <a:endParaRPr lang="en-US" sz="1100" dirty="0"/>
          </a:p>
        </p:txBody>
      </p:sp>
      <p:sp>
        <p:nvSpPr>
          <p:cNvPr id="12" name="bs"/>
          <p:cNvSpPr/>
          <p:nvPr/>
        </p:nvSpPr>
        <p:spPr>
          <a:xfrm>
            <a:off x="5532120" y="1883664"/>
            <a:ext cx="3200400" cy="301752"/>
          </a:xfrm>
          <a:prstGeom prst="rect">
            <a:avLst/>
          </a:prstGeom>
          <a:solidFill>
            <a:srgbClr val="F1F4F8"/>
          </a:solidFill>
          <a:ln w="12700">
            <a:solidFill>
              <a:srgbClr val="F1F4F8"/>
            </a:solidFill>
            <a:prstDash val="solid"/>
          </a:ln>
        </p:spPr>
      </p:sp>
      <p:sp>
        <p:nvSpPr>
          <p:cNvPr id="13" name="bst"/>
          <p:cNvSpPr txBox="1"/>
          <p:nvPr/>
        </p:nvSpPr>
        <p:spPr>
          <a:xfrm>
            <a:off x="5623560" y="1883664"/>
            <a:ext cx="3017520" cy="30175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  Assertions</a:t>
            </a:r>
            <a:endParaRPr lang="en-US" sz="1100" dirty="0"/>
          </a:p>
        </p:txBody>
      </p:sp>
      <p:sp>
        <p:nvSpPr>
          <p:cNvPr id="14" name="bs"/>
          <p:cNvSpPr/>
          <p:nvPr/>
        </p:nvSpPr>
        <p:spPr>
          <a:xfrm>
            <a:off x="5532120" y="2212848"/>
            <a:ext cx="3200400" cy="301752"/>
          </a:xfrm>
          <a:prstGeom prst="rect">
            <a:avLst/>
          </a:prstGeom>
          <a:solidFill>
            <a:srgbClr val="E3EEF8"/>
          </a:solidFill>
          <a:ln w="12700">
            <a:solidFill>
              <a:srgbClr val="E3EEF8"/>
            </a:solidFill>
            <a:prstDash val="solid"/>
          </a:ln>
        </p:spPr>
      </p:sp>
      <p:sp>
        <p:nvSpPr>
          <p:cNvPr id="15" name="bst"/>
          <p:cNvSpPr txBox="1"/>
          <p:nvPr/>
        </p:nvSpPr>
        <p:spPr>
          <a:xfrm>
            <a:off x="5623560" y="2212848"/>
            <a:ext cx="3017520" cy="30175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  Logging</a:t>
            </a:r>
            <a:endParaRPr lang="en-US" sz="1100" dirty="0"/>
          </a:p>
        </p:txBody>
      </p:sp>
      <p:sp>
        <p:nvSpPr>
          <p:cNvPr id="16" name="bs"/>
          <p:cNvSpPr/>
          <p:nvPr/>
        </p:nvSpPr>
        <p:spPr>
          <a:xfrm>
            <a:off x="5532120" y="2542032"/>
            <a:ext cx="3200400" cy="301752"/>
          </a:xfrm>
          <a:prstGeom prst="rect">
            <a:avLst/>
          </a:prstGeom>
          <a:solidFill>
            <a:srgbClr val="F1F4F8"/>
          </a:solidFill>
          <a:ln w="12700">
            <a:solidFill>
              <a:srgbClr val="F1F4F8"/>
            </a:solidFill>
            <a:prstDash val="solid"/>
          </a:ln>
        </p:spPr>
      </p:sp>
      <p:sp>
        <p:nvSpPr>
          <p:cNvPr id="17" name="bst"/>
          <p:cNvSpPr txBox="1"/>
          <p:nvPr/>
        </p:nvSpPr>
        <p:spPr>
          <a:xfrm>
            <a:off x="5623560" y="2542032"/>
            <a:ext cx="3017520" cy="30175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  Mu’s Debugger</a:t>
            </a:r>
            <a:endParaRPr lang="en-US" sz="1100" dirty="0"/>
          </a:p>
        </p:txBody>
      </p:sp>
      <p:sp>
        <p:nvSpPr>
          <p:cNvPr id="18" name="bs"/>
          <p:cNvSpPr/>
          <p:nvPr/>
        </p:nvSpPr>
        <p:spPr>
          <a:xfrm>
            <a:off x="5532120" y="2871216"/>
            <a:ext cx="3200400" cy="301752"/>
          </a:xfrm>
          <a:prstGeom prst="rect">
            <a:avLst/>
          </a:prstGeom>
          <a:solidFill>
            <a:srgbClr val="E3EEF8"/>
          </a:solidFill>
          <a:ln w="12700">
            <a:solidFill>
              <a:srgbClr val="E3EEF8"/>
            </a:solidFill>
            <a:prstDash val="solid"/>
          </a:ln>
        </p:spPr>
      </p:sp>
      <p:sp>
        <p:nvSpPr>
          <p:cNvPr id="19" name="bst"/>
          <p:cNvSpPr txBox="1"/>
          <p:nvPr/>
        </p:nvSpPr>
        <p:spPr>
          <a:xfrm>
            <a:off x="5623560" y="2871216"/>
            <a:ext cx="3017520" cy="30175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5.  Summary</a:t>
            </a:r>
            <a:endParaRPr lang="en-US" sz="1100" dirty="0"/>
          </a:p>
        </p:txBody>
      </p:sp>
      <p:sp>
        <p:nvSpPr>
          <p:cNvPr id="20" name="bs"/>
          <p:cNvSpPr/>
          <p:nvPr/>
        </p:nvSpPr>
        <p:spPr>
          <a:xfrm>
            <a:off x="5532120" y="3200400"/>
            <a:ext cx="3200400" cy="301752"/>
          </a:xfrm>
          <a:prstGeom prst="rect">
            <a:avLst/>
          </a:prstGeom>
          <a:solidFill>
            <a:srgbClr val="F1F4F8"/>
          </a:solidFill>
          <a:ln w="12700">
            <a:solidFill>
              <a:srgbClr val="F1F4F8"/>
            </a:solidFill>
            <a:prstDash val="solid"/>
          </a:ln>
        </p:spPr>
      </p:sp>
      <p:sp>
        <p:nvSpPr>
          <p:cNvPr id="21" name="bst"/>
          <p:cNvSpPr txBox="1"/>
          <p:nvPr/>
        </p:nvSpPr>
        <p:spPr>
          <a:xfrm>
            <a:off x="5623560" y="3200400"/>
            <a:ext cx="3017520" cy="30175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6.  Practice Questions</a:t>
            </a:r>
            <a:endParaRPr lang="en-US" sz="1100" dirty="0"/>
          </a:p>
        </p:txBody>
      </p:sp>
      <p:sp>
        <p:nvSpPr>
          <p:cNvPr id="22" name="bs"/>
          <p:cNvSpPr/>
          <p:nvPr/>
        </p:nvSpPr>
        <p:spPr>
          <a:xfrm>
            <a:off x="5532120" y="3529584"/>
            <a:ext cx="3200400" cy="301752"/>
          </a:xfrm>
          <a:prstGeom prst="rect">
            <a:avLst/>
          </a:prstGeom>
          <a:solidFill>
            <a:srgbClr val="E3EEF8"/>
          </a:solidFill>
          <a:ln w="12700">
            <a:solidFill>
              <a:srgbClr val="E3EEF8"/>
            </a:solidFill>
            <a:prstDash val="solid"/>
          </a:ln>
        </p:spPr>
      </p:sp>
      <p:sp>
        <p:nvSpPr>
          <p:cNvPr id="23" name="bst"/>
          <p:cNvSpPr txBox="1"/>
          <p:nvPr/>
        </p:nvSpPr>
        <p:spPr>
          <a:xfrm>
            <a:off x="5623560" y="3529584"/>
            <a:ext cx="3017520" cy="30175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7.  Practice Program: Debugging Coin Toss</a:t>
            </a:r>
            <a:endParaRPr lang="en-US" sz="1100" dirty="0"/>
          </a:p>
        </p:txBody>
      </p:sp>
      <p:sp>
        <p:nvSpPr>
          <p:cNvPr id="24"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Source: sen0414_ch05_corpus_v1_0_0.py and the textbook ontology for the 3rd edition</a:t>
            </a:r>
            <a:endParaRPr lang="en-US" sz="950" dirty="0"/>
          </a:p>
        </p:txBody>
      </p:sp>
      <p:sp>
        <p:nvSpPr>
          <p:cNvPr id="25"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What you should be able to do afterwards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five objectives this chapter is taught against, and the course outcome they serve</a:t>
            </a:r>
            <a:endParaRPr lang="en-US" sz="1400" dirty="0"/>
          </a:p>
        </p:txBody>
      </p:sp>
      <p:sp>
        <p:nvSpPr>
          <p:cNvPr id="6" name="ob|b1"/>
          <p:cNvSpPr/>
          <p:nvPr/>
        </p:nvSpPr>
        <p:spPr>
          <a:xfrm>
            <a:off x="411480" y="1207008"/>
            <a:ext cx="868680" cy="640080"/>
          </a:xfrm>
          <a:prstGeom prst="roundRect">
            <a:avLst>
              <a:gd name="adj" fmla="val 11429"/>
            </a:avLst>
          </a:prstGeom>
          <a:solidFill>
            <a:srgbClr val="306998"/>
          </a:solidFill>
          <a:ln w="12700">
            <a:solidFill>
              <a:srgbClr val="306998"/>
            </a:solidFill>
            <a:prstDash val="solid"/>
          </a:ln>
        </p:spPr>
      </p:sp>
      <p:sp>
        <p:nvSpPr>
          <p:cNvPr id="7" name="obc|b1"/>
          <p:cNvSpPr txBox="1"/>
          <p:nvPr/>
        </p:nvSpPr>
        <p:spPr>
          <a:xfrm>
            <a:off x="411480" y="1207008"/>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CO1</a:t>
            </a:r>
            <a:endParaRPr lang="en-US" sz="1600" dirty="0"/>
          </a:p>
        </p:txBody>
      </p:sp>
      <p:sp>
        <p:nvSpPr>
          <p:cNvPr id="8" name="obb|b1"/>
          <p:cNvSpPr/>
          <p:nvPr/>
        </p:nvSpPr>
        <p:spPr>
          <a:xfrm>
            <a:off x="1371600" y="1207008"/>
            <a:ext cx="6172200" cy="640080"/>
          </a:xfrm>
          <a:prstGeom prst="roundRect">
            <a:avLst>
              <a:gd name="adj" fmla="val 11429"/>
            </a:avLst>
          </a:prstGeom>
          <a:solidFill>
            <a:srgbClr val="F1F4F8"/>
          </a:solidFill>
          <a:ln w="12700">
            <a:solidFill>
              <a:srgbClr val="F1F4F8"/>
            </a:solidFill>
            <a:prstDash val="solid"/>
          </a:ln>
        </p:spPr>
      </p:sp>
      <p:sp>
        <p:nvSpPr>
          <p:cNvPr id="9" name="obt|b1"/>
          <p:cNvSpPr txBox="1"/>
          <p:nvPr/>
        </p:nvSpPr>
        <p:spPr>
          <a:xfrm>
            <a:off x="1481328" y="1207008"/>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Raise an exception with a message when a call cannot be served, and read the traceback of one that nobody handles</a:t>
            </a:r>
            <a:endParaRPr lang="en-US" sz="1350" dirty="0"/>
          </a:p>
        </p:txBody>
      </p:sp>
      <p:sp>
        <p:nvSpPr>
          <p:cNvPr id="10" name="obl|b1"/>
          <p:cNvSpPr/>
          <p:nvPr/>
        </p:nvSpPr>
        <p:spPr>
          <a:xfrm>
            <a:off x="7635240" y="1207008"/>
            <a:ext cx="1097280" cy="640080"/>
          </a:xfrm>
          <a:prstGeom prst="roundRect">
            <a:avLst>
              <a:gd name="adj" fmla="val 11429"/>
            </a:avLst>
          </a:prstGeom>
          <a:solidFill>
            <a:srgbClr val="FCEFD0"/>
          </a:solidFill>
          <a:ln w="12700">
            <a:solidFill>
              <a:srgbClr val="B7791F"/>
            </a:solidFill>
            <a:prstDash val="solid"/>
          </a:ln>
        </p:spPr>
      </p:sp>
      <p:sp>
        <p:nvSpPr>
          <p:cNvPr id="11" name="oblt|b1"/>
          <p:cNvSpPr txBox="1"/>
          <p:nvPr/>
        </p:nvSpPr>
        <p:spPr>
          <a:xfrm>
            <a:off x="7635240" y="1207008"/>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12" name="ob|b2"/>
          <p:cNvSpPr/>
          <p:nvPr/>
        </p:nvSpPr>
        <p:spPr>
          <a:xfrm>
            <a:off x="411480" y="1901952"/>
            <a:ext cx="868680" cy="640080"/>
          </a:xfrm>
          <a:prstGeom prst="roundRect">
            <a:avLst>
              <a:gd name="adj" fmla="val 11429"/>
            </a:avLst>
          </a:prstGeom>
          <a:solidFill>
            <a:srgbClr val="306998"/>
          </a:solidFill>
          <a:ln w="12700">
            <a:solidFill>
              <a:srgbClr val="306998"/>
            </a:solidFill>
            <a:prstDash val="solid"/>
          </a:ln>
        </p:spPr>
      </p:sp>
      <p:sp>
        <p:nvSpPr>
          <p:cNvPr id="13" name="obc|b2"/>
          <p:cNvSpPr txBox="1"/>
          <p:nvPr/>
        </p:nvSpPr>
        <p:spPr>
          <a:xfrm>
            <a:off x="411480" y="1901952"/>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CO2</a:t>
            </a:r>
            <a:endParaRPr lang="en-US" sz="1600" dirty="0"/>
          </a:p>
        </p:txBody>
      </p:sp>
      <p:sp>
        <p:nvSpPr>
          <p:cNvPr id="14" name="obb|b2"/>
          <p:cNvSpPr/>
          <p:nvPr/>
        </p:nvSpPr>
        <p:spPr>
          <a:xfrm>
            <a:off x="1371600" y="1901952"/>
            <a:ext cx="6172200" cy="640080"/>
          </a:xfrm>
          <a:prstGeom prst="roundRect">
            <a:avLst>
              <a:gd name="adj" fmla="val 11429"/>
            </a:avLst>
          </a:prstGeom>
          <a:solidFill>
            <a:srgbClr val="F1F4F8"/>
          </a:solidFill>
          <a:ln w="12700">
            <a:solidFill>
              <a:srgbClr val="F1F4F8"/>
            </a:solidFill>
            <a:prstDash val="solid"/>
          </a:ln>
        </p:spPr>
      </p:sp>
      <p:sp>
        <p:nvSpPr>
          <p:cNvPr id="15" name="obt|b2"/>
          <p:cNvSpPr txBox="1"/>
          <p:nvPr/>
        </p:nvSpPr>
        <p:spPr>
          <a:xfrm>
            <a:off x="1481328" y="1901952"/>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Choose between raise and assert for a given error, and explain why an assert cannot guard user input</a:t>
            </a:r>
            <a:endParaRPr lang="en-US" sz="1350" dirty="0"/>
          </a:p>
        </p:txBody>
      </p:sp>
      <p:sp>
        <p:nvSpPr>
          <p:cNvPr id="16" name="obl|b2"/>
          <p:cNvSpPr/>
          <p:nvPr/>
        </p:nvSpPr>
        <p:spPr>
          <a:xfrm>
            <a:off x="7635240" y="1901952"/>
            <a:ext cx="1097280" cy="640080"/>
          </a:xfrm>
          <a:prstGeom prst="roundRect">
            <a:avLst>
              <a:gd name="adj" fmla="val 11429"/>
            </a:avLst>
          </a:prstGeom>
          <a:solidFill>
            <a:srgbClr val="FCEFD0"/>
          </a:solidFill>
          <a:ln w="12700">
            <a:solidFill>
              <a:srgbClr val="B7791F"/>
            </a:solidFill>
            <a:prstDash val="solid"/>
          </a:ln>
        </p:spPr>
      </p:sp>
      <p:sp>
        <p:nvSpPr>
          <p:cNvPr id="17" name="oblt|b2"/>
          <p:cNvSpPr txBox="1"/>
          <p:nvPr/>
        </p:nvSpPr>
        <p:spPr>
          <a:xfrm>
            <a:off x="7635240" y="1901952"/>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18" name="ob|b3"/>
          <p:cNvSpPr/>
          <p:nvPr/>
        </p:nvSpPr>
        <p:spPr>
          <a:xfrm>
            <a:off x="411480" y="2596896"/>
            <a:ext cx="868680" cy="640080"/>
          </a:xfrm>
          <a:prstGeom prst="roundRect">
            <a:avLst>
              <a:gd name="adj" fmla="val 11429"/>
            </a:avLst>
          </a:prstGeom>
          <a:solidFill>
            <a:srgbClr val="306998"/>
          </a:solidFill>
          <a:ln w="12700">
            <a:solidFill>
              <a:srgbClr val="306998"/>
            </a:solidFill>
            <a:prstDash val="solid"/>
          </a:ln>
        </p:spPr>
      </p:sp>
      <p:sp>
        <p:nvSpPr>
          <p:cNvPr id="19" name="obc|b3"/>
          <p:cNvSpPr txBox="1"/>
          <p:nvPr/>
        </p:nvSpPr>
        <p:spPr>
          <a:xfrm>
            <a:off x="411480" y="2596896"/>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CO3</a:t>
            </a:r>
            <a:endParaRPr lang="en-US" sz="1600" dirty="0"/>
          </a:p>
        </p:txBody>
      </p:sp>
      <p:sp>
        <p:nvSpPr>
          <p:cNvPr id="20" name="obb|b3"/>
          <p:cNvSpPr/>
          <p:nvPr/>
        </p:nvSpPr>
        <p:spPr>
          <a:xfrm>
            <a:off x="1371600" y="2596896"/>
            <a:ext cx="6172200" cy="640080"/>
          </a:xfrm>
          <a:prstGeom prst="roundRect">
            <a:avLst>
              <a:gd name="adj" fmla="val 11429"/>
            </a:avLst>
          </a:prstGeom>
          <a:solidFill>
            <a:srgbClr val="F1F4F8"/>
          </a:solidFill>
          <a:ln w="12700">
            <a:solidFill>
              <a:srgbClr val="F1F4F8"/>
            </a:solidFill>
            <a:prstDash val="solid"/>
          </a:ln>
        </p:spPr>
      </p:sp>
      <p:sp>
        <p:nvSpPr>
          <p:cNvPr id="21" name="obt|b3"/>
          <p:cNvSpPr txBox="1"/>
          <p:nvPr/>
        </p:nvSpPr>
        <p:spPr>
          <a:xfrm>
            <a:off x="1481328" y="2596896"/>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Set up logging with a level and a format, and predict which messages a given threshold shows</a:t>
            </a:r>
            <a:endParaRPr lang="en-US" sz="1350" dirty="0"/>
          </a:p>
        </p:txBody>
      </p:sp>
      <p:sp>
        <p:nvSpPr>
          <p:cNvPr id="22" name="obl|b3"/>
          <p:cNvSpPr/>
          <p:nvPr/>
        </p:nvSpPr>
        <p:spPr>
          <a:xfrm>
            <a:off x="7635240" y="2596896"/>
            <a:ext cx="1097280" cy="640080"/>
          </a:xfrm>
          <a:prstGeom prst="roundRect">
            <a:avLst>
              <a:gd name="adj" fmla="val 11429"/>
            </a:avLst>
          </a:prstGeom>
          <a:solidFill>
            <a:srgbClr val="FCEFD0"/>
          </a:solidFill>
          <a:ln w="12700">
            <a:solidFill>
              <a:srgbClr val="B7791F"/>
            </a:solidFill>
            <a:prstDash val="solid"/>
          </a:ln>
        </p:spPr>
      </p:sp>
      <p:sp>
        <p:nvSpPr>
          <p:cNvPr id="23" name="oblt|b3"/>
          <p:cNvSpPr txBox="1"/>
          <p:nvPr/>
        </p:nvSpPr>
        <p:spPr>
          <a:xfrm>
            <a:off x="7635240" y="2596896"/>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24" name="ob|b4"/>
          <p:cNvSpPr/>
          <p:nvPr/>
        </p:nvSpPr>
        <p:spPr>
          <a:xfrm>
            <a:off x="411480" y="3291840"/>
            <a:ext cx="868680" cy="640080"/>
          </a:xfrm>
          <a:prstGeom prst="roundRect">
            <a:avLst>
              <a:gd name="adj" fmla="val 11429"/>
            </a:avLst>
          </a:prstGeom>
          <a:solidFill>
            <a:srgbClr val="306998"/>
          </a:solidFill>
          <a:ln w="12700">
            <a:solidFill>
              <a:srgbClr val="306998"/>
            </a:solidFill>
            <a:prstDash val="solid"/>
          </a:ln>
        </p:spPr>
      </p:sp>
      <p:sp>
        <p:nvSpPr>
          <p:cNvPr id="25" name="obc|b4"/>
          <p:cNvSpPr txBox="1"/>
          <p:nvPr/>
        </p:nvSpPr>
        <p:spPr>
          <a:xfrm>
            <a:off x="411480" y="3291840"/>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CO4</a:t>
            </a:r>
            <a:endParaRPr lang="en-US" sz="1600" dirty="0"/>
          </a:p>
        </p:txBody>
      </p:sp>
      <p:sp>
        <p:nvSpPr>
          <p:cNvPr id="26" name="obb|b4"/>
          <p:cNvSpPr/>
          <p:nvPr/>
        </p:nvSpPr>
        <p:spPr>
          <a:xfrm>
            <a:off x="1371600" y="3291840"/>
            <a:ext cx="6172200" cy="640080"/>
          </a:xfrm>
          <a:prstGeom prst="roundRect">
            <a:avLst>
              <a:gd name="adj" fmla="val 11429"/>
            </a:avLst>
          </a:prstGeom>
          <a:solidFill>
            <a:srgbClr val="F1F4F8"/>
          </a:solidFill>
          <a:ln w="12700">
            <a:solidFill>
              <a:srgbClr val="F1F4F8"/>
            </a:solidFill>
            <a:prstDash val="solid"/>
          </a:ln>
        </p:spPr>
      </p:sp>
      <p:sp>
        <p:nvSpPr>
          <p:cNvPr id="27" name="obt|b4"/>
          <p:cNvSpPr txBox="1"/>
          <p:nvPr/>
        </p:nvSpPr>
        <p:spPr>
          <a:xfrm>
            <a:off x="1481328" y="3291840"/>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Find a bug by tracing it with log messages, and repair it</a:t>
            </a:r>
            <a:endParaRPr lang="en-US" sz="1350" dirty="0"/>
          </a:p>
        </p:txBody>
      </p:sp>
      <p:sp>
        <p:nvSpPr>
          <p:cNvPr id="28" name="obl|b4"/>
          <p:cNvSpPr/>
          <p:nvPr/>
        </p:nvSpPr>
        <p:spPr>
          <a:xfrm>
            <a:off x="7635240" y="3291840"/>
            <a:ext cx="1097280" cy="640080"/>
          </a:xfrm>
          <a:prstGeom prst="roundRect">
            <a:avLst>
              <a:gd name="adj" fmla="val 11429"/>
            </a:avLst>
          </a:prstGeom>
          <a:solidFill>
            <a:srgbClr val="FCEFD0"/>
          </a:solidFill>
          <a:ln w="12700">
            <a:solidFill>
              <a:srgbClr val="B7791F"/>
            </a:solidFill>
            <a:prstDash val="solid"/>
          </a:ln>
        </p:spPr>
      </p:sp>
      <p:sp>
        <p:nvSpPr>
          <p:cNvPr id="29" name="oblt|b4"/>
          <p:cNvSpPr txBox="1"/>
          <p:nvPr/>
        </p:nvSpPr>
        <p:spPr>
          <a:xfrm>
            <a:off x="7635240" y="3291840"/>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30" name="ob|b5"/>
          <p:cNvSpPr/>
          <p:nvPr/>
        </p:nvSpPr>
        <p:spPr>
          <a:xfrm>
            <a:off x="411480" y="3986784"/>
            <a:ext cx="868680" cy="640080"/>
          </a:xfrm>
          <a:prstGeom prst="roundRect">
            <a:avLst>
              <a:gd name="adj" fmla="val 11429"/>
            </a:avLst>
          </a:prstGeom>
          <a:solidFill>
            <a:srgbClr val="306998"/>
          </a:solidFill>
          <a:ln w="12700">
            <a:solidFill>
              <a:srgbClr val="306998"/>
            </a:solidFill>
            <a:prstDash val="solid"/>
          </a:ln>
        </p:spPr>
      </p:sp>
      <p:sp>
        <p:nvSpPr>
          <p:cNvPr id="31" name="obc|b5"/>
          <p:cNvSpPr txBox="1"/>
          <p:nvPr/>
        </p:nvSpPr>
        <p:spPr>
          <a:xfrm>
            <a:off x="411480" y="3986784"/>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CO5</a:t>
            </a:r>
            <a:endParaRPr lang="en-US" sz="1600" dirty="0"/>
          </a:p>
        </p:txBody>
      </p:sp>
      <p:sp>
        <p:nvSpPr>
          <p:cNvPr id="32" name="obb|b5"/>
          <p:cNvSpPr/>
          <p:nvPr/>
        </p:nvSpPr>
        <p:spPr>
          <a:xfrm>
            <a:off x="1371600" y="3986784"/>
            <a:ext cx="6172200" cy="640080"/>
          </a:xfrm>
          <a:prstGeom prst="roundRect">
            <a:avLst>
              <a:gd name="adj" fmla="val 11429"/>
            </a:avLst>
          </a:prstGeom>
          <a:solidFill>
            <a:srgbClr val="F1F4F8"/>
          </a:solidFill>
          <a:ln w="12700">
            <a:solidFill>
              <a:srgbClr val="F1F4F8"/>
            </a:solidFill>
            <a:prstDash val="solid"/>
          </a:ln>
        </p:spPr>
      </p:sp>
      <p:sp>
        <p:nvSpPr>
          <p:cNvPr id="33" name="obt|b5"/>
          <p:cNvSpPr txBox="1"/>
          <p:nvPr/>
        </p:nvSpPr>
        <p:spPr>
          <a:xfrm>
            <a:off x="1481328" y="3986784"/>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Use breakpoints and the Continue, Step In, Step Over and Step Out controls to inspect a program's state</a:t>
            </a:r>
            <a:endParaRPr lang="en-US" sz="1350" dirty="0"/>
          </a:p>
        </p:txBody>
      </p:sp>
      <p:sp>
        <p:nvSpPr>
          <p:cNvPr id="34" name="obl|b5"/>
          <p:cNvSpPr/>
          <p:nvPr/>
        </p:nvSpPr>
        <p:spPr>
          <a:xfrm>
            <a:off x="7635240" y="3986784"/>
            <a:ext cx="1097280" cy="640080"/>
          </a:xfrm>
          <a:prstGeom prst="roundRect">
            <a:avLst>
              <a:gd name="adj" fmla="val 11429"/>
            </a:avLst>
          </a:prstGeom>
          <a:solidFill>
            <a:srgbClr val="FCEFD0"/>
          </a:solidFill>
          <a:ln w="12700">
            <a:solidFill>
              <a:srgbClr val="B7791F"/>
            </a:solidFill>
            <a:prstDash val="solid"/>
          </a:ln>
        </p:spPr>
      </p:sp>
      <p:sp>
        <p:nvSpPr>
          <p:cNvPr id="35" name="oblt|b5"/>
          <p:cNvSpPr txBox="1"/>
          <p:nvPr/>
        </p:nvSpPr>
        <p:spPr>
          <a:xfrm>
            <a:off x="7635240" y="3986784"/>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36"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Source: objectives_v1_0_0.json and 01-outcomes/sen0414_outcomes_v1_0_0.ttl</a:t>
            </a:r>
            <a:endParaRPr lang="en-US" sz="950" dirty="0"/>
          </a:p>
        </p:txBody>
      </p:sp>
      <p:sp>
        <p:nvSpPr>
          <p:cNvPr id="37"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the level on the right is the Bloom level the objective is written at</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00"/>
                                        <p:tgtEl>
                                          <p:spTgt spid="31"/>
                                        </p:tgtEl>
                                      </p:cBhvr>
                                    </p:animEffect>
                                  </p:childTnLst>
                                </p:cTn>
                              </p:par>
                              <p:par>
                                <p:cTn id="89" presetID="10" presetClass="entr" presetSubtype="0" fill="hold"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0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00"/>
                                        <p:tgtEl>
                                          <p:spTgt spid="33"/>
                                        </p:tgtEl>
                                      </p:cBhvr>
                                    </p:animEffect>
                                  </p:childTnLst>
                                </p:cTn>
                              </p:par>
                              <p:par>
                                <p:cTn id="95" presetID="10" presetClass="entr" presetSubtype="0" fill="hold"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The chapter as one tree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Every concept this lecture teaches, in the order it teaches them; the number in each box is how many concepts it holds</a:t>
            </a:r>
            <a:endParaRPr lang="en-US" sz="1300" dirty="0"/>
          </a:p>
        </p:txBody>
      </p:sp>
      <p:sp>
        <p:nvSpPr>
          <p:cNvPr id="6" name="tree1|b1"/>
          <p:cNvSpPr/>
          <p:nvPr/>
        </p:nvSpPr>
        <p:spPr>
          <a:xfrm>
            <a:off x="365760" y="1325880"/>
            <a:ext cx="1310640" cy="512064"/>
          </a:xfrm>
          <a:prstGeom prst="roundRect">
            <a:avLst>
              <a:gd name="adj" fmla="val 14286"/>
            </a:avLst>
          </a:prstGeom>
          <a:solidFill>
            <a:srgbClr val="306998"/>
          </a:solidFill>
          <a:ln w="12700">
            <a:solidFill>
              <a:srgbClr val="306998"/>
            </a:solidFill>
            <a:prstDash val="solid"/>
          </a:ln>
        </p:spPr>
      </p:sp>
      <p:sp>
        <p:nvSpPr>
          <p:cNvPr id="7" name="tree1t|b1"/>
          <p:cNvSpPr txBox="1"/>
          <p:nvPr/>
        </p:nvSpPr>
        <p:spPr>
          <a:xfrm>
            <a:off x="402336" y="1325880"/>
            <a:ext cx="123748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Bugs and debugging</a:t>
            </a:r>
            <a:endParaRPr lang="en-US" sz="1300" dirty="0"/>
          </a:p>
        </p:txBody>
      </p:sp>
      <p:sp>
        <p:nvSpPr>
          <p:cNvPr id="8" name="arrow|b1"/>
          <p:cNvSpPr/>
          <p:nvPr/>
        </p:nvSpPr>
        <p:spPr>
          <a:xfrm>
            <a:off x="1021080" y="1837944"/>
            <a:ext cx="0" cy="146304"/>
          </a:xfrm>
          <a:prstGeom prst="line">
            <a:avLst/>
          </a:prstGeom>
          <a:noFill/>
          <a:ln w="12700">
            <a:solidFill>
              <a:srgbClr val="9AA8B8"/>
            </a:solidFill>
            <a:prstDash val="solid"/>
          </a:ln>
        </p:spPr>
      </p:sp>
      <p:sp>
        <p:nvSpPr>
          <p:cNvPr id="9" name="tree2|b1"/>
          <p:cNvSpPr/>
          <p:nvPr/>
        </p:nvSpPr>
        <p:spPr>
          <a:xfrm>
            <a:off x="393192" y="1984248"/>
            <a:ext cx="1255776" cy="475488"/>
          </a:xfrm>
          <a:prstGeom prst="roundRect">
            <a:avLst>
              <a:gd name="adj" fmla="val 11538"/>
            </a:avLst>
          </a:prstGeom>
          <a:solidFill>
            <a:srgbClr val="E3EEF8"/>
          </a:solidFill>
          <a:ln w="12700">
            <a:solidFill>
              <a:srgbClr val="306998"/>
            </a:solidFill>
            <a:prstDash val="solid"/>
          </a:ln>
        </p:spPr>
      </p:sp>
      <p:sp>
        <p:nvSpPr>
          <p:cNvPr id="10" name="tree2t|b1"/>
          <p:cNvSpPr txBox="1"/>
          <p:nvPr/>
        </p:nvSpPr>
        <p:spPr>
          <a:xfrm>
            <a:off x="420624" y="1984248"/>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Nature of a bug  (3)</a:t>
            </a:r>
            <a:endParaRPr lang="en-US" sz="1100" dirty="0"/>
          </a:p>
        </p:txBody>
      </p:sp>
      <p:sp>
        <p:nvSpPr>
          <p:cNvPr id="11" name="arrow|b1"/>
          <p:cNvSpPr/>
          <p:nvPr/>
        </p:nvSpPr>
        <p:spPr>
          <a:xfrm>
            <a:off x="1021080" y="2459736"/>
            <a:ext cx="0" cy="109728"/>
          </a:xfrm>
          <a:prstGeom prst="line">
            <a:avLst/>
          </a:prstGeom>
          <a:noFill/>
          <a:ln w="12700">
            <a:solidFill>
              <a:srgbClr val="9AA8B8"/>
            </a:solidFill>
            <a:prstDash val="solid"/>
          </a:ln>
        </p:spPr>
      </p:sp>
      <p:sp>
        <p:nvSpPr>
          <p:cNvPr id="12" name="tree2|b1"/>
          <p:cNvSpPr/>
          <p:nvPr/>
        </p:nvSpPr>
        <p:spPr>
          <a:xfrm>
            <a:off x="393192" y="2569464"/>
            <a:ext cx="1255776" cy="475488"/>
          </a:xfrm>
          <a:prstGeom prst="roundRect">
            <a:avLst>
              <a:gd name="adj" fmla="val 11538"/>
            </a:avLst>
          </a:prstGeom>
          <a:solidFill>
            <a:srgbClr val="E3EEF8"/>
          </a:solidFill>
          <a:ln w="12700">
            <a:solidFill>
              <a:srgbClr val="306998"/>
            </a:solidFill>
            <a:prstDash val="solid"/>
          </a:ln>
        </p:spPr>
      </p:sp>
      <p:sp>
        <p:nvSpPr>
          <p:cNvPr id="13" name="tree2t|b1"/>
          <p:cNvSpPr txBox="1"/>
          <p:nvPr/>
        </p:nvSpPr>
        <p:spPr>
          <a:xfrm>
            <a:off x="420624" y="2569464"/>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Instrument selection  (1)</a:t>
            </a:r>
            <a:endParaRPr lang="en-US" sz="1100" dirty="0"/>
          </a:p>
        </p:txBody>
      </p:sp>
      <p:sp>
        <p:nvSpPr>
          <p:cNvPr id="14" name="arrow|b1"/>
          <p:cNvSpPr/>
          <p:nvPr/>
        </p:nvSpPr>
        <p:spPr>
          <a:xfrm>
            <a:off x="1021080" y="3044952"/>
            <a:ext cx="0" cy="109728"/>
          </a:xfrm>
          <a:prstGeom prst="line">
            <a:avLst/>
          </a:prstGeom>
          <a:noFill/>
          <a:ln w="12700">
            <a:solidFill>
              <a:srgbClr val="9AA8B8"/>
            </a:solidFill>
            <a:prstDash val="solid"/>
          </a:ln>
        </p:spPr>
      </p:sp>
      <p:sp>
        <p:nvSpPr>
          <p:cNvPr id="15" name="tree2|b1"/>
          <p:cNvSpPr/>
          <p:nvPr/>
        </p:nvSpPr>
        <p:spPr>
          <a:xfrm>
            <a:off x="393192" y="3154680"/>
            <a:ext cx="1255776" cy="475488"/>
          </a:xfrm>
          <a:prstGeom prst="roundRect">
            <a:avLst>
              <a:gd name="adj" fmla="val 11538"/>
            </a:avLst>
          </a:prstGeom>
          <a:solidFill>
            <a:srgbClr val="E3EEF8"/>
          </a:solidFill>
          <a:ln w="12700">
            <a:solidFill>
              <a:srgbClr val="306998"/>
            </a:solidFill>
            <a:prstDash val="solid"/>
          </a:ln>
        </p:spPr>
      </p:sp>
      <p:sp>
        <p:nvSpPr>
          <p:cNvPr id="16" name="tree2t|b1"/>
          <p:cNvSpPr txBox="1"/>
          <p:nvPr/>
        </p:nvSpPr>
        <p:spPr>
          <a:xfrm>
            <a:off x="420624" y="3154680"/>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Working vocabulary  (3)</a:t>
            </a:r>
            <a:endParaRPr lang="en-US" sz="1100" dirty="0"/>
          </a:p>
        </p:txBody>
      </p:sp>
      <p:sp>
        <p:nvSpPr>
          <p:cNvPr id="17" name="tree1|b2"/>
          <p:cNvSpPr/>
          <p:nvPr/>
        </p:nvSpPr>
        <p:spPr>
          <a:xfrm>
            <a:off x="1786128" y="1325880"/>
            <a:ext cx="1310640" cy="512064"/>
          </a:xfrm>
          <a:prstGeom prst="roundRect">
            <a:avLst>
              <a:gd name="adj" fmla="val 14286"/>
            </a:avLst>
          </a:prstGeom>
          <a:solidFill>
            <a:srgbClr val="306998"/>
          </a:solidFill>
          <a:ln w="12700">
            <a:solidFill>
              <a:srgbClr val="306998"/>
            </a:solidFill>
            <a:prstDash val="solid"/>
          </a:ln>
        </p:spPr>
      </p:sp>
      <p:sp>
        <p:nvSpPr>
          <p:cNvPr id="18" name="tree1t|b2"/>
          <p:cNvSpPr txBox="1"/>
          <p:nvPr/>
        </p:nvSpPr>
        <p:spPr>
          <a:xfrm>
            <a:off x="1822704" y="1325880"/>
            <a:ext cx="123748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Error signalling</a:t>
            </a:r>
            <a:endParaRPr lang="en-US" sz="1300" dirty="0"/>
          </a:p>
        </p:txBody>
      </p:sp>
      <p:sp>
        <p:nvSpPr>
          <p:cNvPr id="19" name="arrow|b2"/>
          <p:cNvSpPr/>
          <p:nvPr/>
        </p:nvSpPr>
        <p:spPr>
          <a:xfrm>
            <a:off x="2441448" y="1837944"/>
            <a:ext cx="0" cy="146304"/>
          </a:xfrm>
          <a:prstGeom prst="line">
            <a:avLst/>
          </a:prstGeom>
          <a:noFill/>
          <a:ln w="12700">
            <a:solidFill>
              <a:srgbClr val="9AA8B8"/>
            </a:solidFill>
            <a:prstDash val="solid"/>
          </a:ln>
        </p:spPr>
      </p:sp>
      <p:sp>
        <p:nvSpPr>
          <p:cNvPr id="20" name="tree2|b2"/>
          <p:cNvSpPr/>
          <p:nvPr/>
        </p:nvSpPr>
        <p:spPr>
          <a:xfrm>
            <a:off x="1813560" y="1984248"/>
            <a:ext cx="1255776" cy="475488"/>
          </a:xfrm>
          <a:prstGeom prst="roundRect">
            <a:avLst>
              <a:gd name="adj" fmla="val 11538"/>
            </a:avLst>
          </a:prstGeom>
          <a:solidFill>
            <a:srgbClr val="E3EEF8"/>
          </a:solidFill>
          <a:ln w="12700">
            <a:solidFill>
              <a:srgbClr val="306998"/>
            </a:solidFill>
            <a:prstDash val="solid"/>
          </a:ln>
        </p:spPr>
      </p:sp>
      <p:sp>
        <p:nvSpPr>
          <p:cNvPr id="21" name="tree2t|b2"/>
          <p:cNvSpPr txBox="1"/>
          <p:nvPr/>
        </p:nvSpPr>
        <p:spPr>
          <a:xfrm>
            <a:off x="1840992" y="1984248"/>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Raising  (5)</a:t>
            </a:r>
            <a:endParaRPr lang="en-US" sz="1100" dirty="0"/>
          </a:p>
        </p:txBody>
      </p:sp>
      <p:sp>
        <p:nvSpPr>
          <p:cNvPr id="22" name="arrow|b2"/>
          <p:cNvSpPr/>
          <p:nvPr/>
        </p:nvSpPr>
        <p:spPr>
          <a:xfrm>
            <a:off x="2441448" y="2459736"/>
            <a:ext cx="0" cy="109728"/>
          </a:xfrm>
          <a:prstGeom prst="line">
            <a:avLst/>
          </a:prstGeom>
          <a:noFill/>
          <a:ln w="12700">
            <a:solidFill>
              <a:srgbClr val="9AA8B8"/>
            </a:solidFill>
            <a:prstDash val="solid"/>
          </a:ln>
        </p:spPr>
      </p:sp>
      <p:sp>
        <p:nvSpPr>
          <p:cNvPr id="23" name="tree2|b2"/>
          <p:cNvSpPr/>
          <p:nvPr/>
        </p:nvSpPr>
        <p:spPr>
          <a:xfrm>
            <a:off x="1813560" y="2569464"/>
            <a:ext cx="1255776" cy="475488"/>
          </a:xfrm>
          <a:prstGeom prst="roundRect">
            <a:avLst>
              <a:gd name="adj" fmla="val 11538"/>
            </a:avLst>
          </a:prstGeom>
          <a:solidFill>
            <a:srgbClr val="E3EEF8"/>
          </a:solidFill>
          <a:ln w="12700">
            <a:solidFill>
              <a:srgbClr val="306998"/>
            </a:solidFill>
            <a:prstDash val="solid"/>
          </a:ln>
        </p:spPr>
      </p:sp>
      <p:sp>
        <p:nvSpPr>
          <p:cNvPr id="24" name="tree2t|b2"/>
          <p:cNvSpPr txBox="1"/>
          <p:nvPr/>
        </p:nvSpPr>
        <p:spPr>
          <a:xfrm>
            <a:off x="1840992" y="2569464"/>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Tracebacks  (5)</a:t>
            </a:r>
            <a:endParaRPr lang="en-US" sz="1100" dirty="0"/>
          </a:p>
        </p:txBody>
      </p:sp>
      <p:sp>
        <p:nvSpPr>
          <p:cNvPr id="25" name="tree1|b3"/>
          <p:cNvSpPr/>
          <p:nvPr/>
        </p:nvSpPr>
        <p:spPr>
          <a:xfrm>
            <a:off x="3206496" y="1325880"/>
            <a:ext cx="1310640" cy="512064"/>
          </a:xfrm>
          <a:prstGeom prst="roundRect">
            <a:avLst>
              <a:gd name="adj" fmla="val 14286"/>
            </a:avLst>
          </a:prstGeom>
          <a:solidFill>
            <a:srgbClr val="306998"/>
          </a:solidFill>
          <a:ln w="12700">
            <a:solidFill>
              <a:srgbClr val="306998"/>
            </a:solidFill>
            <a:prstDash val="solid"/>
          </a:ln>
        </p:spPr>
      </p:sp>
      <p:sp>
        <p:nvSpPr>
          <p:cNvPr id="26" name="tree1t|b3"/>
          <p:cNvSpPr txBox="1"/>
          <p:nvPr/>
        </p:nvSpPr>
        <p:spPr>
          <a:xfrm>
            <a:off x="3243072" y="1325880"/>
            <a:ext cx="123748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Assertion</a:t>
            </a:r>
            <a:endParaRPr lang="en-US" sz="1300" dirty="0"/>
          </a:p>
        </p:txBody>
      </p:sp>
      <p:sp>
        <p:nvSpPr>
          <p:cNvPr id="27" name="arrow|b3"/>
          <p:cNvSpPr/>
          <p:nvPr/>
        </p:nvSpPr>
        <p:spPr>
          <a:xfrm>
            <a:off x="3861816" y="1837944"/>
            <a:ext cx="0" cy="146304"/>
          </a:xfrm>
          <a:prstGeom prst="line">
            <a:avLst/>
          </a:prstGeom>
          <a:noFill/>
          <a:ln w="12700">
            <a:solidFill>
              <a:srgbClr val="9AA8B8"/>
            </a:solidFill>
            <a:prstDash val="solid"/>
          </a:ln>
        </p:spPr>
      </p:sp>
      <p:sp>
        <p:nvSpPr>
          <p:cNvPr id="28" name="tree2|b3"/>
          <p:cNvSpPr/>
          <p:nvPr/>
        </p:nvSpPr>
        <p:spPr>
          <a:xfrm>
            <a:off x="3233928" y="1984248"/>
            <a:ext cx="1255776" cy="475488"/>
          </a:xfrm>
          <a:prstGeom prst="roundRect">
            <a:avLst>
              <a:gd name="adj" fmla="val 11538"/>
            </a:avLst>
          </a:prstGeom>
          <a:solidFill>
            <a:srgbClr val="E3EEF8"/>
          </a:solidFill>
          <a:ln w="12700">
            <a:solidFill>
              <a:srgbClr val="306998"/>
            </a:solidFill>
            <a:prstDash val="solid"/>
          </a:ln>
        </p:spPr>
      </p:sp>
      <p:sp>
        <p:nvSpPr>
          <p:cNvPr id="29" name="tree2t|b3"/>
          <p:cNvSpPr txBox="1"/>
          <p:nvPr/>
        </p:nvSpPr>
        <p:spPr>
          <a:xfrm>
            <a:off x="3261360" y="1984248"/>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Assert  (9)</a:t>
            </a:r>
            <a:endParaRPr lang="en-US" sz="1100" dirty="0"/>
          </a:p>
        </p:txBody>
      </p:sp>
      <p:sp>
        <p:nvSpPr>
          <p:cNvPr id="30" name="tree1|b4"/>
          <p:cNvSpPr/>
          <p:nvPr/>
        </p:nvSpPr>
        <p:spPr>
          <a:xfrm>
            <a:off x="4626864" y="1325880"/>
            <a:ext cx="1310640" cy="512064"/>
          </a:xfrm>
          <a:prstGeom prst="roundRect">
            <a:avLst>
              <a:gd name="adj" fmla="val 14286"/>
            </a:avLst>
          </a:prstGeom>
          <a:solidFill>
            <a:srgbClr val="306998"/>
          </a:solidFill>
          <a:ln w="12700">
            <a:solidFill>
              <a:srgbClr val="306998"/>
            </a:solidFill>
            <a:prstDash val="solid"/>
          </a:ln>
        </p:spPr>
      </p:sp>
      <p:sp>
        <p:nvSpPr>
          <p:cNvPr id="31" name="tree1t|b4"/>
          <p:cNvSpPr txBox="1"/>
          <p:nvPr/>
        </p:nvSpPr>
        <p:spPr>
          <a:xfrm>
            <a:off x="4663440" y="1325880"/>
            <a:ext cx="123748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Logging</a:t>
            </a:r>
            <a:endParaRPr lang="en-US" sz="1300" dirty="0"/>
          </a:p>
        </p:txBody>
      </p:sp>
      <p:sp>
        <p:nvSpPr>
          <p:cNvPr id="32" name="arrow|b4"/>
          <p:cNvSpPr/>
          <p:nvPr/>
        </p:nvSpPr>
        <p:spPr>
          <a:xfrm>
            <a:off x="5282184" y="1837944"/>
            <a:ext cx="0" cy="146304"/>
          </a:xfrm>
          <a:prstGeom prst="line">
            <a:avLst/>
          </a:prstGeom>
          <a:noFill/>
          <a:ln w="12700">
            <a:solidFill>
              <a:srgbClr val="9AA8B8"/>
            </a:solidFill>
            <a:prstDash val="solid"/>
          </a:ln>
        </p:spPr>
      </p:sp>
      <p:sp>
        <p:nvSpPr>
          <p:cNvPr id="33" name="tree2|b4"/>
          <p:cNvSpPr/>
          <p:nvPr/>
        </p:nvSpPr>
        <p:spPr>
          <a:xfrm>
            <a:off x="4654296" y="1984248"/>
            <a:ext cx="1255776" cy="475488"/>
          </a:xfrm>
          <a:prstGeom prst="roundRect">
            <a:avLst>
              <a:gd name="adj" fmla="val 11538"/>
            </a:avLst>
          </a:prstGeom>
          <a:solidFill>
            <a:srgbClr val="E3EEF8"/>
          </a:solidFill>
          <a:ln w="12700">
            <a:solidFill>
              <a:srgbClr val="306998"/>
            </a:solidFill>
            <a:prstDash val="solid"/>
          </a:ln>
        </p:spPr>
      </p:sp>
      <p:sp>
        <p:nvSpPr>
          <p:cNvPr id="34" name="tree2t|b4"/>
          <p:cNvSpPr txBox="1"/>
          <p:nvPr/>
        </p:nvSpPr>
        <p:spPr>
          <a:xfrm>
            <a:off x="4681728" y="1984248"/>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Setup  (5)</a:t>
            </a:r>
            <a:endParaRPr lang="en-US" sz="1100" dirty="0"/>
          </a:p>
        </p:txBody>
      </p:sp>
      <p:sp>
        <p:nvSpPr>
          <p:cNvPr id="35" name="arrow|b4"/>
          <p:cNvSpPr/>
          <p:nvPr/>
        </p:nvSpPr>
        <p:spPr>
          <a:xfrm>
            <a:off x="5282184" y="2459736"/>
            <a:ext cx="0" cy="109728"/>
          </a:xfrm>
          <a:prstGeom prst="line">
            <a:avLst/>
          </a:prstGeom>
          <a:noFill/>
          <a:ln w="12700">
            <a:solidFill>
              <a:srgbClr val="9AA8B8"/>
            </a:solidFill>
            <a:prstDash val="solid"/>
          </a:ln>
        </p:spPr>
      </p:sp>
      <p:sp>
        <p:nvSpPr>
          <p:cNvPr id="36" name="tree2|b4"/>
          <p:cNvSpPr/>
          <p:nvPr/>
        </p:nvSpPr>
        <p:spPr>
          <a:xfrm>
            <a:off x="4654296" y="2569464"/>
            <a:ext cx="1255776" cy="475488"/>
          </a:xfrm>
          <a:prstGeom prst="roundRect">
            <a:avLst>
              <a:gd name="adj" fmla="val 11538"/>
            </a:avLst>
          </a:prstGeom>
          <a:solidFill>
            <a:srgbClr val="E3EEF8"/>
          </a:solidFill>
          <a:ln w="12700">
            <a:solidFill>
              <a:srgbClr val="306998"/>
            </a:solidFill>
            <a:prstDash val="solid"/>
          </a:ln>
        </p:spPr>
      </p:sp>
      <p:sp>
        <p:nvSpPr>
          <p:cNvPr id="37" name="tree2t|b4"/>
          <p:cNvSpPr txBox="1"/>
          <p:nvPr/>
        </p:nvSpPr>
        <p:spPr>
          <a:xfrm>
            <a:off x="4681728" y="2569464"/>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Loggers and handlers  (3)</a:t>
            </a:r>
            <a:endParaRPr lang="en-US" sz="1100" dirty="0"/>
          </a:p>
        </p:txBody>
      </p:sp>
      <p:sp>
        <p:nvSpPr>
          <p:cNvPr id="38" name="arrow|b4"/>
          <p:cNvSpPr/>
          <p:nvPr/>
        </p:nvSpPr>
        <p:spPr>
          <a:xfrm>
            <a:off x="5282184" y="3044952"/>
            <a:ext cx="0" cy="109728"/>
          </a:xfrm>
          <a:prstGeom prst="line">
            <a:avLst/>
          </a:prstGeom>
          <a:noFill/>
          <a:ln w="12700">
            <a:solidFill>
              <a:srgbClr val="9AA8B8"/>
            </a:solidFill>
            <a:prstDash val="solid"/>
          </a:ln>
        </p:spPr>
      </p:sp>
      <p:sp>
        <p:nvSpPr>
          <p:cNvPr id="39" name="tree2|b4"/>
          <p:cNvSpPr/>
          <p:nvPr/>
        </p:nvSpPr>
        <p:spPr>
          <a:xfrm>
            <a:off x="4654296" y="3154680"/>
            <a:ext cx="1255776" cy="475488"/>
          </a:xfrm>
          <a:prstGeom prst="roundRect">
            <a:avLst>
              <a:gd name="adj" fmla="val 11538"/>
            </a:avLst>
          </a:prstGeom>
          <a:solidFill>
            <a:srgbClr val="E3EEF8"/>
          </a:solidFill>
          <a:ln w="12700">
            <a:solidFill>
              <a:srgbClr val="306998"/>
            </a:solidFill>
            <a:prstDash val="solid"/>
          </a:ln>
        </p:spPr>
      </p:sp>
      <p:sp>
        <p:nvSpPr>
          <p:cNvPr id="40" name="tree2t|b4"/>
          <p:cNvSpPr txBox="1"/>
          <p:nvPr/>
        </p:nvSpPr>
        <p:spPr>
          <a:xfrm>
            <a:off x="4681728" y="3154680"/>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Levels  (4)</a:t>
            </a:r>
            <a:endParaRPr lang="en-US" sz="1100" dirty="0"/>
          </a:p>
        </p:txBody>
      </p:sp>
      <p:sp>
        <p:nvSpPr>
          <p:cNvPr id="41" name="arrow|b4"/>
          <p:cNvSpPr/>
          <p:nvPr/>
        </p:nvSpPr>
        <p:spPr>
          <a:xfrm>
            <a:off x="5282184" y="3630168"/>
            <a:ext cx="0" cy="109728"/>
          </a:xfrm>
          <a:prstGeom prst="line">
            <a:avLst/>
          </a:prstGeom>
          <a:noFill/>
          <a:ln w="12700">
            <a:solidFill>
              <a:srgbClr val="9AA8B8"/>
            </a:solidFill>
            <a:prstDash val="solid"/>
          </a:ln>
        </p:spPr>
      </p:sp>
      <p:sp>
        <p:nvSpPr>
          <p:cNvPr id="42" name="tree2|b4"/>
          <p:cNvSpPr/>
          <p:nvPr/>
        </p:nvSpPr>
        <p:spPr>
          <a:xfrm>
            <a:off x="4654296" y="3739896"/>
            <a:ext cx="1255776" cy="475488"/>
          </a:xfrm>
          <a:prstGeom prst="roundRect">
            <a:avLst>
              <a:gd name="adj" fmla="val 11538"/>
            </a:avLst>
          </a:prstGeom>
          <a:solidFill>
            <a:srgbClr val="E3EEF8"/>
          </a:solidFill>
          <a:ln w="12700">
            <a:solidFill>
              <a:srgbClr val="306998"/>
            </a:solidFill>
            <a:prstDash val="solid"/>
          </a:ln>
        </p:spPr>
      </p:sp>
      <p:sp>
        <p:nvSpPr>
          <p:cNvPr id="43" name="tree2t|b4"/>
          <p:cNvSpPr txBox="1"/>
          <p:nvPr/>
        </p:nvSpPr>
        <p:spPr>
          <a:xfrm>
            <a:off x="4681728" y="3739896"/>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Practice  (2)</a:t>
            </a:r>
            <a:endParaRPr lang="en-US" sz="1100" dirty="0"/>
          </a:p>
        </p:txBody>
      </p:sp>
      <p:sp>
        <p:nvSpPr>
          <p:cNvPr id="44" name="tree1|b5"/>
          <p:cNvSpPr/>
          <p:nvPr/>
        </p:nvSpPr>
        <p:spPr>
          <a:xfrm>
            <a:off x="6047232" y="1325880"/>
            <a:ext cx="1310640" cy="512064"/>
          </a:xfrm>
          <a:prstGeom prst="roundRect">
            <a:avLst>
              <a:gd name="adj" fmla="val 14286"/>
            </a:avLst>
          </a:prstGeom>
          <a:solidFill>
            <a:srgbClr val="306998"/>
          </a:solidFill>
          <a:ln w="12700">
            <a:solidFill>
              <a:srgbClr val="306998"/>
            </a:solidFill>
            <a:prstDash val="solid"/>
          </a:ln>
        </p:spPr>
      </p:sp>
      <p:sp>
        <p:nvSpPr>
          <p:cNvPr id="45" name="tree1t|b5"/>
          <p:cNvSpPr txBox="1"/>
          <p:nvPr/>
        </p:nvSpPr>
        <p:spPr>
          <a:xfrm>
            <a:off x="6083808" y="1325880"/>
            <a:ext cx="123748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Debugger</a:t>
            </a:r>
            <a:endParaRPr lang="en-US" sz="1300" dirty="0"/>
          </a:p>
        </p:txBody>
      </p:sp>
      <p:sp>
        <p:nvSpPr>
          <p:cNvPr id="46" name="arrow|b5"/>
          <p:cNvSpPr/>
          <p:nvPr/>
        </p:nvSpPr>
        <p:spPr>
          <a:xfrm>
            <a:off x="6702552" y="1837944"/>
            <a:ext cx="0" cy="146304"/>
          </a:xfrm>
          <a:prstGeom prst="line">
            <a:avLst/>
          </a:prstGeom>
          <a:noFill/>
          <a:ln w="12700">
            <a:solidFill>
              <a:srgbClr val="9AA8B8"/>
            </a:solidFill>
            <a:prstDash val="solid"/>
          </a:ln>
        </p:spPr>
      </p:sp>
      <p:sp>
        <p:nvSpPr>
          <p:cNvPr id="47" name="tree2|b5"/>
          <p:cNvSpPr/>
          <p:nvPr/>
        </p:nvSpPr>
        <p:spPr>
          <a:xfrm>
            <a:off x="6074664" y="1984248"/>
            <a:ext cx="1255776" cy="475488"/>
          </a:xfrm>
          <a:prstGeom prst="roundRect">
            <a:avLst>
              <a:gd name="adj" fmla="val 11538"/>
            </a:avLst>
          </a:prstGeom>
          <a:solidFill>
            <a:srgbClr val="E3EEF8"/>
          </a:solidFill>
          <a:ln w="12700">
            <a:solidFill>
              <a:srgbClr val="306998"/>
            </a:solidFill>
            <a:prstDash val="solid"/>
          </a:ln>
        </p:spPr>
      </p:sp>
      <p:sp>
        <p:nvSpPr>
          <p:cNvPr id="48" name="tree2t|b5"/>
          <p:cNvSpPr txBox="1"/>
          <p:nvPr/>
        </p:nvSpPr>
        <p:spPr>
          <a:xfrm>
            <a:off x="6102096" y="1984248"/>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Debugger interface  (5)</a:t>
            </a:r>
            <a:endParaRPr lang="en-US" sz="1100" dirty="0"/>
          </a:p>
        </p:txBody>
      </p:sp>
      <p:sp>
        <p:nvSpPr>
          <p:cNvPr id="49" name="arrow|b5"/>
          <p:cNvSpPr/>
          <p:nvPr/>
        </p:nvSpPr>
        <p:spPr>
          <a:xfrm>
            <a:off x="6702552" y="2459736"/>
            <a:ext cx="0" cy="109728"/>
          </a:xfrm>
          <a:prstGeom prst="line">
            <a:avLst/>
          </a:prstGeom>
          <a:noFill/>
          <a:ln w="12700">
            <a:solidFill>
              <a:srgbClr val="9AA8B8"/>
            </a:solidFill>
            <a:prstDash val="solid"/>
          </a:ln>
        </p:spPr>
      </p:sp>
      <p:sp>
        <p:nvSpPr>
          <p:cNvPr id="50" name="tree2|b5"/>
          <p:cNvSpPr/>
          <p:nvPr/>
        </p:nvSpPr>
        <p:spPr>
          <a:xfrm>
            <a:off x="6074664" y="2569464"/>
            <a:ext cx="1255776" cy="475488"/>
          </a:xfrm>
          <a:prstGeom prst="roundRect">
            <a:avLst>
              <a:gd name="adj" fmla="val 11538"/>
            </a:avLst>
          </a:prstGeom>
          <a:solidFill>
            <a:srgbClr val="E3EEF8"/>
          </a:solidFill>
          <a:ln w="12700">
            <a:solidFill>
              <a:srgbClr val="306998"/>
            </a:solidFill>
            <a:prstDash val="solid"/>
          </a:ln>
        </p:spPr>
      </p:sp>
      <p:sp>
        <p:nvSpPr>
          <p:cNvPr id="51" name="tree2t|b5"/>
          <p:cNvSpPr txBox="1"/>
          <p:nvPr/>
        </p:nvSpPr>
        <p:spPr>
          <a:xfrm>
            <a:off x="6102096" y="2569464"/>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Controls  (5)</a:t>
            </a:r>
            <a:endParaRPr lang="en-US" sz="1100" dirty="0"/>
          </a:p>
        </p:txBody>
      </p:sp>
      <p:sp>
        <p:nvSpPr>
          <p:cNvPr id="52" name="arrow|b5"/>
          <p:cNvSpPr/>
          <p:nvPr/>
        </p:nvSpPr>
        <p:spPr>
          <a:xfrm>
            <a:off x="6702552" y="3044952"/>
            <a:ext cx="0" cy="109728"/>
          </a:xfrm>
          <a:prstGeom prst="line">
            <a:avLst/>
          </a:prstGeom>
          <a:noFill/>
          <a:ln w="12700">
            <a:solidFill>
              <a:srgbClr val="9AA8B8"/>
            </a:solidFill>
            <a:prstDash val="solid"/>
          </a:ln>
        </p:spPr>
      </p:sp>
      <p:sp>
        <p:nvSpPr>
          <p:cNvPr id="53" name="tree2|b5"/>
          <p:cNvSpPr/>
          <p:nvPr/>
        </p:nvSpPr>
        <p:spPr>
          <a:xfrm>
            <a:off x="6074664" y="3154680"/>
            <a:ext cx="1255776" cy="475488"/>
          </a:xfrm>
          <a:prstGeom prst="roundRect">
            <a:avLst>
              <a:gd name="adj" fmla="val 11538"/>
            </a:avLst>
          </a:prstGeom>
          <a:solidFill>
            <a:srgbClr val="E3EEF8"/>
          </a:solidFill>
          <a:ln w="12700">
            <a:solidFill>
              <a:srgbClr val="306998"/>
            </a:solidFill>
            <a:prstDash val="solid"/>
          </a:ln>
        </p:spPr>
      </p:sp>
      <p:sp>
        <p:nvSpPr>
          <p:cNvPr id="54" name="tree2t|b5"/>
          <p:cNvSpPr txBox="1"/>
          <p:nvPr/>
        </p:nvSpPr>
        <p:spPr>
          <a:xfrm>
            <a:off x="6102096" y="3154680"/>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Python debugger  (6)</a:t>
            </a:r>
            <a:endParaRPr lang="en-US" sz="1100" dirty="0"/>
          </a:p>
        </p:txBody>
      </p:sp>
      <p:sp>
        <p:nvSpPr>
          <p:cNvPr id="55" name="tree1|b6"/>
          <p:cNvSpPr/>
          <p:nvPr/>
        </p:nvSpPr>
        <p:spPr>
          <a:xfrm>
            <a:off x="7467600" y="1325880"/>
            <a:ext cx="1310640" cy="512064"/>
          </a:xfrm>
          <a:prstGeom prst="roundRect">
            <a:avLst>
              <a:gd name="adj" fmla="val 14286"/>
            </a:avLst>
          </a:prstGeom>
          <a:solidFill>
            <a:srgbClr val="306998"/>
          </a:solidFill>
          <a:ln w="12700">
            <a:solidFill>
              <a:srgbClr val="306998"/>
            </a:solidFill>
            <a:prstDash val="solid"/>
          </a:ln>
        </p:spPr>
      </p:sp>
      <p:sp>
        <p:nvSpPr>
          <p:cNvPr id="56" name="tree1t|b6"/>
          <p:cNvSpPr txBox="1"/>
          <p:nvPr/>
        </p:nvSpPr>
        <p:spPr>
          <a:xfrm>
            <a:off x="7504176" y="1325880"/>
            <a:ext cx="123748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Modern practice</a:t>
            </a:r>
            <a:endParaRPr lang="en-US" sz="1300" dirty="0"/>
          </a:p>
        </p:txBody>
      </p:sp>
      <p:sp>
        <p:nvSpPr>
          <p:cNvPr id="57" name="arrow|b6"/>
          <p:cNvSpPr/>
          <p:nvPr/>
        </p:nvSpPr>
        <p:spPr>
          <a:xfrm>
            <a:off x="8122920" y="1837944"/>
            <a:ext cx="0" cy="146304"/>
          </a:xfrm>
          <a:prstGeom prst="line">
            <a:avLst/>
          </a:prstGeom>
          <a:noFill/>
          <a:ln w="12700">
            <a:solidFill>
              <a:srgbClr val="9AA8B8"/>
            </a:solidFill>
            <a:prstDash val="solid"/>
          </a:ln>
        </p:spPr>
      </p:sp>
      <p:sp>
        <p:nvSpPr>
          <p:cNvPr id="58" name="tree2|b6"/>
          <p:cNvSpPr/>
          <p:nvPr/>
        </p:nvSpPr>
        <p:spPr>
          <a:xfrm>
            <a:off x="7495032" y="1984248"/>
            <a:ext cx="1255776" cy="475488"/>
          </a:xfrm>
          <a:prstGeom prst="roundRect">
            <a:avLst>
              <a:gd name="adj" fmla="val 11538"/>
            </a:avLst>
          </a:prstGeom>
          <a:solidFill>
            <a:srgbClr val="E3EEF8"/>
          </a:solidFill>
          <a:ln w="12700">
            <a:solidFill>
              <a:srgbClr val="306998"/>
            </a:solidFill>
            <a:prstDash val="solid"/>
          </a:ln>
        </p:spPr>
      </p:sp>
      <p:sp>
        <p:nvSpPr>
          <p:cNvPr id="59" name="tree2t|b6"/>
          <p:cNvSpPr txBox="1"/>
          <p:nvPr/>
        </p:nvSpPr>
        <p:spPr>
          <a:xfrm>
            <a:off x="7522464" y="1984248"/>
            <a:ext cx="120091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Worked cases  (6)</a:t>
            </a:r>
            <a:endParaRPr lang="en-US" sz="1100" dirty="0"/>
          </a:p>
        </p:txBody>
      </p:sp>
      <p:sp>
        <p:nvSpPr>
          <p:cNvPr id="60"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sen0414_ch05_corpus_v1_0_0.py, the same taxonomy the chapter page draws</a:t>
            </a:r>
            <a:endParaRPr lang="en-US" sz="950" dirty="0"/>
          </a:p>
        </p:txBody>
      </p:sp>
      <p:sp>
        <p:nvSpPr>
          <p:cNvPr id="61"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childTnLst>
                          </p:cTn>
                        </p:par>
                      </p:childTnLst>
                    </p:cTn>
                  </p:par>
                  <p:par>
                    <p:cTn id="62" fill="hold">
                      <p:stCondLst>
                        <p:cond delay="indefinite"/>
                      </p:stCondLst>
                      <p:childTnLst>
                        <p:par>
                          <p:cTn id="63"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childTnLst>
                          </p:cTn>
                        </p:par>
                      </p:childTnLst>
                    </p:cTn>
                  </p:par>
                  <p:par>
                    <p:cTn id="79" fill="hold">
                      <p:stCondLst>
                        <p:cond delay="indefinite"/>
                      </p:stCondLst>
                      <p:childTnLst>
                        <p:par>
                          <p:cTn id="80"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00"/>
                                        <p:tgtEl>
                                          <p:spTgt spid="27"/>
                                        </p:tgtEl>
                                      </p:cBhvr>
                                    </p:animEffect>
                                  </p:childTnLst>
                                </p:cTn>
                              </p:par>
                              <p:par>
                                <p:cTn id="73" presetID="10" presetClass="entr" presetSubtype="0" fill="hold"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00"/>
                                        <p:tgtEl>
                                          <p:spTgt spid="29"/>
                                        </p:tgtEl>
                                      </p:cBhvr>
                                    </p:animEffect>
                                  </p:childTnLst>
                                </p:cTn>
                              </p:par>
                            </p:childTnLst>
                          </p:cTn>
                        </p:par>
                      </p:childTnLst>
                    </p:cTn>
                  </p:par>
                  <p:par>
                    <p:cTn id="123" fill="hold">
                      <p:stCondLst>
                        <p:cond delay="indefinite"/>
                      </p:stCondLst>
                      <p:childTnLst>
                        <p:par>
                          <p:cTn id="124"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par>
                                <p:cTn id="90" presetID="10" presetClass="entr" presetSubtype="0" fill="hold"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00"/>
                                        <p:tgtEl>
                                          <p:spTgt spid="3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400"/>
                                        <p:tgtEl>
                                          <p:spTgt spid="34"/>
                                        </p:tgtEl>
                                      </p:cBhvr>
                                    </p:animEffect>
                                  </p:childTnLst>
                                </p:cTn>
                              </p:par>
                              <p:par>
                                <p:cTn id="96" presetID="10" presetClass="entr" presetSubtype="0" fill="hold"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0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00"/>
                                        <p:tgtEl>
                                          <p:spTgt spid="3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400"/>
                                        <p:tgtEl>
                                          <p:spTgt spid="37"/>
                                        </p:tgtEl>
                                      </p:cBhvr>
                                    </p:animEffect>
                                  </p:childTnLst>
                                </p:cTn>
                              </p:par>
                              <p:par>
                                <p:cTn id="105" presetID="10" presetClass="entr" presetSubtype="0" fill="hold"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400"/>
                                        <p:tgtEl>
                                          <p:spTgt spid="38"/>
                                        </p:tgtEl>
                                      </p:cBhvr>
                                    </p:animEffect>
                                  </p:childTnLst>
                                </p:cTn>
                              </p:par>
                              <p:par>
                                <p:cTn id="108" presetID="10" presetClass="entr" presetSubtype="0" fill="hold" nodeType="withEffect">
                                  <p:stCondLst>
                                    <p:cond delay="0"/>
                                  </p:stCondLst>
                                  <p:childTnLst>
                                    <p:set>
                                      <p:cBhvr>
                                        <p:cTn id="109" dur="1" fill="hold">
                                          <p:stCondLst>
                                            <p:cond delay="0"/>
                                          </p:stCondLst>
                                        </p:cTn>
                                        <p:tgtEl>
                                          <p:spTgt spid="39"/>
                                        </p:tgtEl>
                                        <p:attrNameLst>
                                          <p:attrName>style.visibility</p:attrName>
                                        </p:attrNameLst>
                                      </p:cBhvr>
                                      <p:to>
                                        <p:strVal val="visible"/>
                                      </p:to>
                                    </p:set>
                                    <p:animEffect transition="in" filter="fade">
                                      <p:cBhvr>
                                        <p:cTn id="110" dur="400"/>
                                        <p:tgtEl>
                                          <p:spTgt spid="39"/>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0"/>
                                        </p:tgtEl>
                                        <p:attrNameLst>
                                          <p:attrName>style.visibility</p:attrName>
                                        </p:attrNameLst>
                                      </p:cBhvr>
                                      <p:to>
                                        <p:strVal val="visible"/>
                                      </p:to>
                                    </p:set>
                                    <p:animEffect transition="in" filter="fade">
                                      <p:cBhvr>
                                        <p:cTn id="113" dur="400"/>
                                        <p:tgtEl>
                                          <p:spTgt spid="40"/>
                                        </p:tgtEl>
                                      </p:cBhvr>
                                    </p:animEffect>
                                  </p:childTnLst>
                                </p:cTn>
                              </p:par>
                              <p:par>
                                <p:cTn id="114" presetID="10" presetClass="entr" presetSubtype="0" fill="hold" nodeType="withEffect">
                                  <p:stCondLst>
                                    <p:cond delay="0"/>
                                  </p:stCondLst>
                                  <p:childTnLst>
                                    <p:set>
                                      <p:cBhvr>
                                        <p:cTn id="115" dur="1" fill="hold">
                                          <p:stCondLst>
                                            <p:cond delay="0"/>
                                          </p:stCondLst>
                                        </p:cTn>
                                        <p:tgtEl>
                                          <p:spTgt spid="41"/>
                                        </p:tgtEl>
                                        <p:attrNameLst>
                                          <p:attrName>style.visibility</p:attrName>
                                        </p:attrNameLst>
                                      </p:cBhvr>
                                      <p:to>
                                        <p:strVal val="visible"/>
                                      </p:to>
                                    </p:set>
                                    <p:animEffect transition="in" filter="fade">
                                      <p:cBhvr>
                                        <p:cTn id="116" dur="400"/>
                                        <p:tgtEl>
                                          <p:spTgt spid="41"/>
                                        </p:tgtEl>
                                      </p:cBhvr>
                                    </p:animEffect>
                                  </p:childTnLst>
                                </p:cTn>
                              </p:par>
                              <p:par>
                                <p:cTn id="117" presetID="10" presetClass="entr" presetSubtype="0" fill="hold" nodeType="withEffect">
                                  <p:stCondLst>
                                    <p:cond delay="0"/>
                                  </p:stCondLst>
                                  <p:childTnLst>
                                    <p:set>
                                      <p:cBhvr>
                                        <p:cTn id="118" dur="1" fill="hold">
                                          <p:stCondLst>
                                            <p:cond delay="0"/>
                                          </p:stCondLst>
                                        </p:cTn>
                                        <p:tgtEl>
                                          <p:spTgt spid="42"/>
                                        </p:tgtEl>
                                        <p:attrNameLst>
                                          <p:attrName>style.visibility</p:attrName>
                                        </p:attrNameLst>
                                      </p:cBhvr>
                                      <p:to>
                                        <p:strVal val="visible"/>
                                      </p:to>
                                    </p:set>
                                    <p:animEffect transition="in" filter="fade">
                                      <p:cBhvr>
                                        <p:cTn id="119" dur="400"/>
                                        <p:tgtEl>
                                          <p:spTgt spid="4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400"/>
                                        <p:tgtEl>
                                          <p:spTgt spid="43"/>
                                        </p:tgtEl>
                                      </p:cBhvr>
                                    </p:animEffect>
                                  </p:childTnLst>
                                </p:cTn>
                              </p:par>
                            </p:childTnLst>
                          </p:cTn>
                        </p:par>
                      </p:childTnLst>
                    </p:cTn>
                  </p:par>
                  <p:par>
                    <p:cTn id="158" fill="hold">
                      <p:stCondLst>
                        <p:cond delay="indefinite"/>
                      </p:stCondLst>
                      <p:childTnLst>
                        <p:par>
                          <p:cTn id="159"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400"/>
                                        <p:tgtEl>
                                          <p:spTgt spid="44"/>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400"/>
                                        <p:tgtEl>
                                          <p:spTgt spid="45"/>
                                        </p:tgtEl>
                                      </p:cBhvr>
                                    </p:animEffect>
                                  </p:childTnLst>
                                </p:cTn>
                              </p:par>
                              <p:par>
                                <p:cTn id="131" presetID="10" presetClass="entr" presetSubtype="0" fill="hold" nodeType="withEffect">
                                  <p:stCondLst>
                                    <p:cond delay="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400"/>
                                        <p:tgtEl>
                                          <p:spTgt spid="46"/>
                                        </p:tgtEl>
                                      </p:cBhvr>
                                    </p:animEffect>
                                  </p:childTnLst>
                                </p:cTn>
                              </p:par>
                              <p:par>
                                <p:cTn id="134" presetID="10" presetClass="entr" presetSubtype="0" fill="hold" nodeType="withEffect">
                                  <p:stCondLst>
                                    <p:cond delay="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400"/>
                                        <p:tgtEl>
                                          <p:spTgt spid="4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400"/>
                                        <p:tgtEl>
                                          <p:spTgt spid="48"/>
                                        </p:tgtEl>
                                      </p:cBhvr>
                                    </p:animEffect>
                                  </p:childTnLst>
                                </p:cTn>
                              </p:par>
                              <p:par>
                                <p:cTn id="140" presetID="10" presetClass="entr" presetSubtype="0" fill="hold" nodeType="withEffect">
                                  <p:stCondLst>
                                    <p:cond delay="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400"/>
                                        <p:tgtEl>
                                          <p:spTgt spid="49"/>
                                        </p:tgtEl>
                                      </p:cBhvr>
                                    </p:animEffect>
                                  </p:childTnLst>
                                </p:cTn>
                              </p:par>
                              <p:par>
                                <p:cTn id="143" presetID="10" presetClass="entr" presetSubtype="0" fill="hold" nodeType="withEffect">
                                  <p:stCondLst>
                                    <p:cond delay="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00"/>
                                        <p:tgtEl>
                                          <p:spTgt spid="5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00"/>
                                        <p:tgtEl>
                                          <p:spTgt spid="51"/>
                                        </p:tgtEl>
                                      </p:cBhvr>
                                    </p:animEffect>
                                  </p:childTnLst>
                                </p:cTn>
                              </p:par>
                              <p:par>
                                <p:cTn id="149" presetID="10" presetClass="entr" presetSubtype="0" fill="hold" nodeType="withEffect">
                                  <p:stCondLst>
                                    <p:cond delay="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00"/>
                                        <p:tgtEl>
                                          <p:spTgt spid="52"/>
                                        </p:tgtEl>
                                      </p:cBhvr>
                                    </p:animEffect>
                                  </p:childTnLst>
                                </p:cTn>
                              </p:par>
                              <p:par>
                                <p:cTn id="152" presetID="10" presetClass="entr" presetSubtype="0" fill="hold" nodeType="with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00"/>
                                        <p:tgtEl>
                                          <p:spTgt spid="5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00"/>
                                        <p:tgtEl>
                                          <p:spTgt spid="54"/>
                                        </p:tgtEl>
                                      </p:cBhvr>
                                    </p:animEffect>
                                  </p:childTnLst>
                                </p:cTn>
                              </p:par>
                            </p:childTnLst>
                          </p:cTn>
                        </p:par>
                      </p:childTnLst>
                    </p:cTn>
                  </p:par>
                  <p:par>
                    <p:cTn id="175" fill="hold">
                      <p:stCondLst>
                        <p:cond delay="indefinite"/>
                      </p:stCondLst>
                      <p:childTnLst>
                        <p:par>
                          <p:cTn id="176" fill="hold">
                            <p:stCondLst>
                              <p:cond delay="0"/>
                            </p:stCondLst>
                            <p:childTnLst>
                              <p:par>
                                <p:cTn id="160" presetID="10" presetClass="entr" presetSubtype="0" fill="hold" nodeType="click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400"/>
                                        <p:tgtEl>
                                          <p:spTgt spid="5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400"/>
                                        <p:tgtEl>
                                          <p:spTgt spid="56"/>
                                        </p:tgtEl>
                                      </p:cBhvr>
                                    </p:animEffect>
                                  </p:childTnLst>
                                </p:cTn>
                              </p:par>
                              <p:par>
                                <p:cTn id="166" presetID="10" presetClass="entr" presetSubtype="0" fill="hold" nodeType="with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400"/>
                                        <p:tgtEl>
                                          <p:spTgt spid="57"/>
                                        </p:tgtEl>
                                      </p:cBhvr>
                                    </p:animEffect>
                                  </p:childTnLst>
                                </p:cTn>
                              </p:par>
                              <p:par>
                                <p:cTn id="169" presetID="10" presetClass="entr" presetSubtype="0" fill="hold" nodeType="with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400"/>
                                        <p:tgtEl>
                                          <p:spTgt spid="58"/>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6" grpId="0" animBg="1"/>
      <p:bldP spid="18" grpId="0" animBg="1"/>
      <p:bldP spid="21" grpId="0" animBg="1"/>
      <p:bldP spid="24" grpId="0" animBg="1"/>
      <p:bldP spid="26" grpId="0" animBg="1"/>
      <p:bldP spid="29" grpId="0" animBg="1"/>
      <p:bldP spid="31" grpId="0" animBg="1"/>
      <p:bldP spid="34" grpId="0" animBg="1"/>
      <p:bldP spid="37" grpId="0" animBg="1"/>
      <p:bldP spid="40" grpId="0" animBg="1"/>
      <p:bldP spid="43" grpId="0" animBg="1"/>
      <p:bldP spid="45" grpId="0" animBg="1"/>
      <p:bldP spid="48" grpId="0" animBg="1"/>
      <p:bldP spid="51" grpId="0" animBg="1"/>
      <p:bldP spid="54" grpId="0" animBg="1"/>
      <p:bldP spid="56"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Bugs and debugging</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A bug is a place where a program does something other than what its author meant it to do, and debugging is the work of finding and removing such places.</a:t>
            </a:r>
            <a:endParaRPr lang="en-US" sz="1150" dirty="0"/>
          </a:p>
        </p:txBody>
      </p:sp>
      <p:sp>
        <p:nvSpPr>
          <p:cNvPr id="4" name="br1|b1"/>
          <p:cNvSpPr/>
          <p:nvPr/>
        </p:nvSpPr>
        <p:spPr>
          <a:xfrm>
            <a:off x="457200" y="1828800"/>
            <a:ext cx="2657856"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2584704"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Nature of a bug</a:t>
            </a:r>
            <a:endParaRPr lang="en-US" sz="1400" dirty="0"/>
          </a:p>
        </p:txBody>
      </p:sp>
      <p:sp>
        <p:nvSpPr>
          <p:cNvPr id="6" name="br2|b1"/>
          <p:cNvSpPr/>
          <p:nvPr/>
        </p:nvSpPr>
        <p:spPr>
          <a:xfrm>
            <a:off x="457200" y="2359152"/>
            <a:ext cx="2657856"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2474976"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Bug</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Logic error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Debugging</a:t>
            </a:r>
            <a:endParaRPr lang="en-US" sz="1200" dirty="0"/>
          </a:p>
        </p:txBody>
      </p:sp>
      <p:sp>
        <p:nvSpPr>
          <p:cNvPr id="8" name="br1|b2"/>
          <p:cNvSpPr/>
          <p:nvPr/>
        </p:nvSpPr>
        <p:spPr>
          <a:xfrm>
            <a:off x="3243072" y="1828800"/>
            <a:ext cx="2657856"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3279648" y="1828800"/>
            <a:ext cx="2584704"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Instrument selection</a:t>
            </a:r>
            <a:endParaRPr lang="en-US" sz="1400" dirty="0"/>
          </a:p>
        </p:txBody>
      </p:sp>
      <p:sp>
        <p:nvSpPr>
          <p:cNvPr id="10" name="br2|b2"/>
          <p:cNvSpPr/>
          <p:nvPr/>
        </p:nvSpPr>
        <p:spPr>
          <a:xfrm>
            <a:off x="3243072" y="2359152"/>
            <a:ext cx="2657856" cy="2121408"/>
          </a:xfrm>
          <a:prstGeom prst="roundRect">
            <a:avLst>
              <a:gd name="adj" fmla="val 3448"/>
            </a:avLst>
          </a:prstGeom>
          <a:solidFill>
            <a:srgbClr val="27374B"/>
          </a:solidFill>
          <a:ln w="12700">
            <a:solidFill>
              <a:srgbClr val="3B5B87"/>
            </a:solidFill>
            <a:prstDash val="solid"/>
          </a:ln>
        </p:spPr>
      </p:sp>
      <p:sp>
        <p:nvSpPr>
          <p:cNvPr id="11" name="br2t|b2"/>
          <p:cNvSpPr txBox="1"/>
          <p:nvPr/>
        </p:nvSpPr>
        <p:spPr>
          <a:xfrm>
            <a:off x="3334512" y="2432304"/>
            <a:ext cx="2474976"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Choosing by question</a:t>
            </a:r>
            <a:endParaRPr lang="en-US" sz="1200" dirty="0"/>
          </a:p>
        </p:txBody>
      </p:sp>
      <p:sp>
        <p:nvSpPr>
          <p:cNvPr id="12" name="br1|b3"/>
          <p:cNvSpPr/>
          <p:nvPr/>
        </p:nvSpPr>
        <p:spPr>
          <a:xfrm>
            <a:off x="6028944" y="1828800"/>
            <a:ext cx="2657856" cy="457200"/>
          </a:xfrm>
          <a:prstGeom prst="roundRect">
            <a:avLst>
              <a:gd name="adj" fmla="val 16000"/>
            </a:avLst>
          </a:prstGeom>
          <a:solidFill>
            <a:srgbClr val="FFD43B"/>
          </a:solidFill>
          <a:ln w="12700">
            <a:solidFill>
              <a:srgbClr val="FFD43B"/>
            </a:solidFill>
            <a:prstDash val="solid"/>
          </a:ln>
        </p:spPr>
      </p:sp>
      <p:sp>
        <p:nvSpPr>
          <p:cNvPr id="13" name="br1t|b3"/>
          <p:cNvSpPr txBox="1"/>
          <p:nvPr/>
        </p:nvSpPr>
        <p:spPr>
          <a:xfrm>
            <a:off x="6065520" y="1828800"/>
            <a:ext cx="2584704"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Working vocabulary</a:t>
            </a:r>
            <a:endParaRPr lang="en-US" sz="1400" dirty="0"/>
          </a:p>
        </p:txBody>
      </p:sp>
      <p:sp>
        <p:nvSpPr>
          <p:cNvPr id="14" name="br2|b3"/>
          <p:cNvSpPr/>
          <p:nvPr/>
        </p:nvSpPr>
        <p:spPr>
          <a:xfrm>
            <a:off x="6028944" y="2359152"/>
            <a:ext cx="2657856" cy="2121408"/>
          </a:xfrm>
          <a:prstGeom prst="roundRect">
            <a:avLst>
              <a:gd name="adj" fmla="val 3448"/>
            </a:avLst>
          </a:prstGeom>
          <a:solidFill>
            <a:srgbClr val="27374B"/>
          </a:solidFill>
          <a:ln w="12700">
            <a:solidFill>
              <a:srgbClr val="3B5B87"/>
            </a:solidFill>
            <a:prstDash val="solid"/>
          </a:ln>
        </p:spPr>
      </p:sp>
      <p:sp>
        <p:nvSpPr>
          <p:cNvPr id="15" name="br2t|b3"/>
          <p:cNvSpPr txBox="1"/>
          <p:nvPr/>
        </p:nvSpPr>
        <p:spPr>
          <a:xfrm>
            <a:off x="6120384" y="2432304"/>
            <a:ext cx="2474976"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Objects, attributes and methods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Command line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File and directory</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Nature of a bug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nature of a bug concerns what kind of thing a bug is and how it shows itself.</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Knowing which of the three kinds one is facing decides what to do next. A message from Python names a line to look at, whereas a silently wrong answer gives no line at all, and the programmer must observe the program's behaviour to find the cause. The chapter's two practice programs, a factorial that returns 0 and an adding program that prints 5342, are both of the silent kind (Sweigart, 2025).</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next three concepts take the three kinds in turn: the bug as a gap between intention and behaviour, the logic error that hides behind a program that runs normally, and debugging as the method by which the gap is located and closed.</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Bug</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the product 1 * 0 * 1 * 2 * 3 * 4 * 5</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Logic error</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buggy adding program</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Debugging</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printing i and total in the loop</a:t>
            </a:r>
            <a:endParaRPr lang="en-US" sz="1100" dirty="0"/>
          </a:p>
        </p:txBody>
      </p:sp>
      <p:sp>
        <p:nvSpPr>
          <p:cNvPr id="23"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Nature of a bug</a:t>
            </a:r>
            <a:endParaRPr lang="en-US" sz="950" dirty="0"/>
          </a:p>
        </p:txBody>
      </p:sp>
      <p:sp>
        <p:nvSpPr>
          <p:cNvPr id="24"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Bug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place where a program does something other than what its author intended; the chapter's factorial multiplies by 0 and so returns 0 instead of 120.</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bug is a defect in a program: a line, a missing line or a wrong assumption that makes the program behave differently from what its author intended. The word describes the gap between the intention in the programmer's head and the behaviour of the running program, and not the computer, which carries out every instruction exactly as written. As the chapter puts it, the computer does only what it is told to do, and it will not read the programmer's mind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effect can be reproduced by hand.</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Not every surprising result is a bug in the program: sometimes the author's expectation is wrong. Before changing code, state precisely what the correct result should be and why.</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1 * 0 * 1 * 2 * 3 * 4 * 5</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0</a:t>
            </a:r>
            <a:endParaRPr lang="en-US" sz="11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Bugs are met in every program a learner writes. The chapter's first example is a function that computes the factorial of 5, the product 1 x 2 x 3 x 4 x 5, which should be 120. Its loop starts at 0 instead of 1, so the first multiplication multiplies by zero and every later step keeps the total at zero, and the function returns 0 (Sweigart, 2025).</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Nature of a bug</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the product 1 * 0 * 1 * 2 * 3 * 4 * 5</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Logic error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mistake that lets the program run to the end without any exception but produces a wrong result, so only the person who knows the right answer can notice it.</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logic error is a mistake in the reasoning of a program that lets it run to the end without raising any exception and yet produces a wrong result. It is different from a syntax error, which the Python tutorial describes as a parsing error that stops the program from starting, and from an exception, which the tutorial defines as an error detected during execution (Python Software Foundation, 2026). A logic error produces neither complaint, and so the interpreter is silent about it.</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Finding a logic error is a matter of making the program show its inner state.</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Watch out  </a:t>
            </a:r>
            <a:r>
              <a:rPr lang="en-US" sz="1100" dirty="0">
                <a:solidFill>
                  <a:srgbClr val="1F2933"/>
                </a:solidFill>
                <a:latin typeface="Calibri" pitchFamily="34" charset="0"/>
                <a:ea typeface="Calibri" pitchFamily="34" charset="-122"/>
                <a:cs typeface="Calibri" pitchFamily="34" charset="-120"/>
              </a:rPr>
              <a:t>A passing run is not proof of correctness. A logic error can hide for as long as the test inputs happen not to touch it, so the cheapest defence is to test with inputs whose answers are known in advance and to compare them with what the program prints.</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900" b="1" dirty="0">
                <a:solidFill>
                  <a:srgbClr val="FFD43B"/>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'The sum is ' + '5' + '3' + '42'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'The sum is 5342'</a:t>
            </a:r>
            <a:endParaRPr lang="en-US" sz="9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chapter contains two logic errors. The factorial function returns 0 because its loop begins at the wrong number, and the adding program prints The sum is 5342 for the inputs 5, 3 and 42, because input returns strings and the plus sign joins strings instead of adding numbers (Sweigart, 2025). The coin toss practice program at the end of the chapter contains further ones.</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Nature of a bug</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buggy adding program</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Logic error: the program, and what it really prints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print('Enter the first number to add:')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first = int(input())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print('Enter the second number to add:')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second = int(input())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print('Enter the third number to add:')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third = int(input())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print('The sum is', first + second + third)</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adding_fixed_v1_0_0.py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Enter the first number to add:</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5</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Enter the second number to add:</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3</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Enter the third number to add:</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42</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The sum is 50</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3.14.4 - typed input in blue</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Finding a logic error is a matter of making the program show its inner state.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Nature of a bug</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Debugging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method of finding the root cause of a bug by making the program show its state, forming a guess about the cause and testing it.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Debugging is the activity of finding the root cause of a bug and removing it. The chapter introduces it as a set of tools and techniques that identify exactly what the code is doing and where it is going wrong (Sweigart, 2025). The root cause is the earliest point at which the program's behaviour departs from the programmer's intention, and not the place where the wrong result is finally printed.</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 debugging session follows a loop: reproduce the wrong behaviour, look at the program's state at a suitable point, guess the cause, change one thing and run again. The cheapest way to look at the state is a print of the loop's variables. A loop that multiplies a total by i over range(5 + 1) prints 0 0, 1 0, 2 0, 3 0, 4 0 and 5 0 for i and total, and the first line already reveals that i starts at zero.</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Change one thing at a time, and run the program again after each change; two simultaneous changes make it impossible to tell which one mattered. Remove the temporary prints when the bug is found, or use logging, which the chapter recommends for the reason that its messages can be switched off in one place (Sweigart, 2025).</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Nature of a bug</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printing i and total in the loop</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Instrument selection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Instrument selection is the choice of which of the chapter's four tools suits a given question.</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A learner who knows only one tool will use it for everything, filling a program with print calls or stepping through a thousand iterations by hand. Matching the tool to the question saves effort and avoids the characteristic misuse of each, such as an assertion that checks what a user types.</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next concept states the rule of choice in a sentence for each tool. The branches that follow in the concept tree then explain each tool in turn, beginning with the raise statement.</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Choosing by question</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raise, assert, log or step through?</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Instrument selection</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Choosing by question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Raise when the caller can react to the error, assert when the programmer's belief must hold, log when the run must leave a record, and use the debugger when the state at one point is the question.</a:t>
            </a:r>
            <a:endParaRPr lang="en-US" sz="12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Choosing an instrument means asking what the problem is and then picking the tool built for that kind of problem. The chapter's summary supplies the material: assertions are a good way to implement sanity checks that give early warning when a necessary condition does not hold, an exception can be caught and handled by try and except statements, the logging module looks into the code while it runs, and the debugger steps through the program one line at a time (Sweigart, 2025).</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rule of thumb, which this course states in four sentences, is as follows. Raise an exception when the caller can do something about the error. Assert a condition that must be true if the program is correct. Log when a run must leave a record that can be read after it ends. Step through with the debugger when the question is about the state at one particular line. Each sentence has a concept of its own later in this chapter.</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sentences describe tendencies and not laws. A logged message about a user error is often worth keeping next to the exception that reports it, and a debugger session often ends with a new assertion added to keep the bug from returning. Do not use an assertion for a user error, because assertions can be removed from a running program, which a later concept explains.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Instrument selection</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raise, assert, log or step through?</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Choosing by question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Raise when the caller can react to the error, assert when the programmer's belief must hold, log when the run must leave a record, and use the debugger when the state at one point is the question.</a:t>
            </a:r>
            <a:endParaRPr lang="en-US" sz="1200" dirty="0"/>
          </a:p>
        </p:txBody>
      </p:sp>
      <p:sp>
        <p:nvSpPr>
          <p:cNvPr id="6" name="prose"/>
          <p:cNvSpPr txBox="1"/>
          <p:nvPr/>
        </p:nvSpPr>
        <p:spPr>
          <a:xfrm>
            <a:off x="411480" y="1207008"/>
            <a:ext cx="8321040" cy="566928"/>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Choosing an instrument means asking what the problem is and then picking the tool built for that kind of problem.</a:t>
            </a:r>
            <a:endParaRPr lang="en-US" sz="1150" dirty="0"/>
          </a:p>
        </p:txBody>
      </p:sp>
      <p:sp>
        <p:nvSpPr>
          <p:cNvPr id="7" name="inst|b1"/>
          <p:cNvSpPr/>
          <p:nvPr/>
        </p:nvSpPr>
        <p:spPr>
          <a:xfrm>
            <a:off x="411480" y="1883664"/>
            <a:ext cx="1993392" cy="2688336"/>
          </a:xfrm>
          <a:prstGeom prst="roundRect">
            <a:avLst>
              <a:gd name="adj" fmla="val 4587"/>
            </a:avLst>
          </a:prstGeom>
          <a:solidFill>
            <a:srgbClr val="F1F4F8"/>
          </a:solidFill>
          <a:ln w="25400">
            <a:solidFill>
              <a:srgbClr val="306998"/>
            </a:solidFill>
            <a:prstDash val="solid"/>
          </a:ln>
        </p:spPr>
      </p:sp>
      <p:sp>
        <p:nvSpPr>
          <p:cNvPr id="8" name="instn|b1"/>
          <p:cNvSpPr txBox="1"/>
          <p:nvPr/>
        </p:nvSpPr>
        <p:spPr>
          <a:xfrm>
            <a:off x="539496" y="1956816"/>
            <a:ext cx="1737360" cy="457200"/>
          </a:xfrm>
          <a:prstGeom prst="rect">
            <a:avLst/>
          </a:prstGeom>
          <a:noFill/>
          <a:ln/>
        </p:spPr>
        <p:txBody>
          <a:bodyPr wrap="square" lIns="0" tIns="0" rIns="0" bIns="0" rtlCol="0" anchor="ctr"/>
          <a:lstStyle/>
          <a:p>
            <a:pPr indent="0" marL="0">
              <a:buNone/>
            </a:pPr>
            <a:r>
              <a:rPr lang="en-US" sz="2200" b="1" dirty="0">
                <a:solidFill>
                  <a:srgbClr val="306998"/>
                </a:solidFill>
                <a:latin typeface="Courier New" pitchFamily="34" charset="0"/>
                <a:ea typeface="Courier New" pitchFamily="34" charset="-122"/>
                <a:cs typeface="Courier New" pitchFamily="34" charset="-120"/>
              </a:rPr>
              <a:t>raise</a:t>
            </a:r>
            <a:endParaRPr lang="en-US" sz="2200" dirty="0"/>
          </a:p>
        </p:txBody>
      </p:sp>
      <p:sp>
        <p:nvSpPr>
          <p:cNvPr id="9" name="instq|b1"/>
          <p:cNvSpPr txBox="1"/>
          <p:nvPr/>
        </p:nvSpPr>
        <p:spPr>
          <a:xfrm>
            <a:off x="539496" y="2468880"/>
            <a:ext cx="1737360" cy="100584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Can the caller fix this?</a:t>
            </a:r>
            <a:endParaRPr lang="en-US" sz="1400" dirty="0"/>
          </a:p>
        </p:txBody>
      </p:sp>
      <p:sp>
        <p:nvSpPr>
          <p:cNvPr id="10" name="instd|b1"/>
          <p:cNvSpPr txBox="1"/>
          <p:nvPr/>
        </p:nvSpPr>
        <p:spPr>
          <a:xfrm>
            <a:off x="539496" y="3529584"/>
            <a:ext cx="1737360" cy="420624"/>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Tell the caller</a:t>
            </a:r>
            <a:endParaRPr lang="en-US" sz="1600" dirty="0"/>
          </a:p>
        </p:txBody>
      </p:sp>
      <p:sp>
        <p:nvSpPr>
          <p:cNvPr id="11" name="instc|b1"/>
          <p:cNvSpPr txBox="1"/>
          <p:nvPr/>
        </p:nvSpPr>
        <p:spPr>
          <a:xfrm>
            <a:off x="539496" y="4023360"/>
            <a:ext cx="1737360" cy="420624"/>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raise Exception(...)</a:t>
            </a:r>
            <a:endParaRPr lang="en-US" sz="1100" dirty="0"/>
          </a:p>
        </p:txBody>
      </p:sp>
      <p:sp>
        <p:nvSpPr>
          <p:cNvPr id="12" name="inst|b2"/>
          <p:cNvSpPr/>
          <p:nvPr/>
        </p:nvSpPr>
        <p:spPr>
          <a:xfrm>
            <a:off x="2532888" y="1883664"/>
            <a:ext cx="1993392" cy="2688336"/>
          </a:xfrm>
          <a:prstGeom prst="roundRect">
            <a:avLst>
              <a:gd name="adj" fmla="val 4587"/>
            </a:avLst>
          </a:prstGeom>
          <a:solidFill>
            <a:srgbClr val="F1F4F8"/>
          </a:solidFill>
          <a:ln w="25400">
            <a:solidFill>
              <a:srgbClr val="D64545"/>
            </a:solidFill>
            <a:prstDash val="solid"/>
          </a:ln>
        </p:spPr>
      </p:sp>
      <p:sp>
        <p:nvSpPr>
          <p:cNvPr id="13" name="instn|b2"/>
          <p:cNvSpPr txBox="1"/>
          <p:nvPr/>
        </p:nvSpPr>
        <p:spPr>
          <a:xfrm>
            <a:off x="2660904" y="1956816"/>
            <a:ext cx="1737360" cy="457200"/>
          </a:xfrm>
          <a:prstGeom prst="rect">
            <a:avLst/>
          </a:prstGeom>
          <a:noFill/>
          <a:ln/>
        </p:spPr>
        <p:txBody>
          <a:bodyPr wrap="square" lIns="0" tIns="0" rIns="0" bIns="0" rtlCol="0" anchor="ctr"/>
          <a:lstStyle/>
          <a:p>
            <a:pPr indent="0" marL="0">
              <a:buNone/>
            </a:pPr>
            <a:r>
              <a:rPr lang="en-US" sz="2200" b="1" dirty="0">
                <a:solidFill>
                  <a:srgbClr val="D64545"/>
                </a:solidFill>
                <a:latin typeface="Courier New" pitchFamily="34" charset="0"/>
                <a:ea typeface="Courier New" pitchFamily="34" charset="-122"/>
                <a:cs typeface="Courier New" pitchFamily="34" charset="-120"/>
              </a:rPr>
              <a:t>assert</a:t>
            </a:r>
            <a:endParaRPr lang="en-US" sz="2200" dirty="0"/>
          </a:p>
        </p:txBody>
      </p:sp>
      <p:sp>
        <p:nvSpPr>
          <p:cNvPr id="14" name="instq|b2"/>
          <p:cNvSpPr txBox="1"/>
          <p:nvPr/>
        </p:nvSpPr>
        <p:spPr>
          <a:xfrm>
            <a:off x="2660904" y="2468880"/>
            <a:ext cx="1737360" cy="100584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Must this be true if my code is right?</a:t>
            </a:r>
            <a:endParaRPr lang="en-US" sz="1400" dirty="0"/>
          </a:p>
        </p:txBody>
      </p:sp>
      <p:sp>
        <p:nvSpPr>
          <p:cNvPr id="15" name="instd|b2"/>
          <p:cNvSpPr txBox="1"/>
          <p:nvPr/>
        </p:nvSpPr>
        <p:spPr>
          <a:xfrm>
            <a:off x="2660904" y="3529584"/>
            <a:ext cx="1737360" cy="420624"/>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Stop the program</a:t>
            </a:r>
            <a:endParaRPr lang="en-US" sz="1600" dirty="0"/>
          </a:p>
        </p:txBody>
      </p:sp>
      <p:sp>
        <p:nvSpPr>
          <p:cNvPr id="16" name="instc|b2"/>
          <p:cNvSpPr txBox="1"/>
          <p:nvPr/>
        </p:nvSpPr>
        <p:spPr>
          <a:xfrm>
            <a:off x="2660904" y="4023360"/>
            <a:ext cx="1737360" cy="420624"/>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assert x &gt; 0</a:t>
            </a:r>
            <a:endParaRPr lang="en-US" sz="1100" dirty="0"/>
          </a:p>
        </p:txBody>
      </p:sp>
      <p:sp>
        <p:nvSpPr>
          <p:cNvPr id="17" name="inst|b3"/>
          <p:cNvSpPr/>
          <p:nvPr/>
        </p:nvSpPr>
        <p:spPr>
          <a:xfrm>
            <a:off x="4654296" y="1883664"/>
            <a:ext cx="1993392" cy="2688336"/>
          </a:xfrm>
          <a:prstGeom prst="roundRect">
            <a:avLst>
              <a:gd name="adj" fmla="val 4587"/>
            </a:avLst>
          </a:prstGeom>
          <a:solidFill>
            <a:srgbClr val="F1F4F8"/>
          </a:solidFill>
          <a:ln w="25400">
            <a:solidFill>
              <a:srgbClr val="2E9E5B"/>
            </a:solidFill>
            <a:prstDash val="solid"/>
          </a:ln>
        </p:spPr>
      </p:sp>
      <p:sp>
        <p:nvSpPr>
          <p:cNvPr id="18" name="instn|b3"/>
          <p:cNvSpPr txBox="1"/>
          <p:nvPr/>
        </p:nvSpPr>
        <p:spPr>
          <a:xfrm>
            <a:off x="4782312" y="1956816"/>
            <a:ext cx="1737360" cy="457200"/>
          </a:xfrm>
          <a:prstGeom prst="rect">
            <a:avLst/>
          </a:prstGeom>
          <a:noFill/>
          <a:ln/>
        </p:spPr>
        <p:txBody>
          <a:bodyPr wrap="square" lIns="0" tIns="0" rIns="0" bIns="0" rtlCol="0" anchor="ctr"/>
          <a:lstStyle/>
          <a:p>
            <a:pPr indent="0" marL="0">
              <a:buNone/>
            </a:pPr>
            <a:r>
              <a:rPr lang="en-US" sz="2200" b="1" dirty="0">
                <a:solidFill>
                  <a:srgbClr val="2E9E5B"/>
                </a:solidFill>
                <a:latin typeface="Courier New" pitchFamily="34" charset="0"/>
                <a:ea typeface="Courier New" pitchFamily="34" charset="-122"/>
                <a:cs typeface="Courier New" pitchFamily="34" charset="-120"/>
              </a:rPr>
              <a:t>log</a:t>
            </a:r>
            <a:endParaRPr lang="en-US" sz="2200" dirty="0"/>
          </a:p>
        </p:txBody>
      </p:sp>
      <p:sp>
        <p:nvSpPr>
          <p:cNvPr id="19" name="instq|b3"/>
          <p:cNvSpPr txBox="1"/>
          <p:nvPr/>
        </p:nvSpPr>
        <p:spPr>
          <a:xfrm>
            <a:off x="4782312" y="2468880"/>
            <a:ext cx="1737360" cy="100584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did the program do?</a:t>
            </a:r>
            <a:endParaRPr lang="en-US" sz="1400" dirty="0"/>
          </a:p>
        </p:txBody>
      </p:sp>
      <p:sp>
        <p:nvSpPr>
          <p:cNvPr id="20" name="instd|b3"/>
          <p:cNvSpPr txBox="1"/>
          <p:nvPr/>
        </p:nvSpPr>
        <p:spPr>
          <a:xfrm>
            <a:off x="4782312" y="3529584"/>
            <a:ext cx="1737360" cy="420624"/>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Leave a record</a:t>
            </a:r>
            <a:endParaRPr lang="en-US" sz="1600" dirty="0"/>
          </a:p>
        </p:txBody>
      </p:sp>
      <p:sp>
        <p:nvSpPr>
          <p:cNvPr id="21" name="instc|b3"/>
          <p:cNvSpPr txBox="1"/>
          <p:nvPr/>
        </p:nvSpPr>
        <p:spPr>
          <a:xfrm>
            <a:off x="4782312" y="4023360"/>
            <a:ext cx="1737360" cy="420624"/>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logging.debug(...)</a:t>
            </a:r>
            <a:endParaRPr lang="en-US" sz="1100" dirty="0"/>
          </a:p>
        </p:txBody>
      </p:sp>
      <p:sp>
        <p:nvSpPr>
          <p:cNvPr id="22" name="inst|b4"/>
          <p:cNvSpPr/>
          <p:nvPr/>
        </p:nvSpPr>
        <p:spPr>
          <a:xfrm>
            <a:off x="6775704" y="1883664"/>
            <a:ext cx="1993392" cy="2688336"/>
          </a:xfrm>
          <a:prstGeom prst="roundRect">
            <a:avLst>
              <a:gd name="adj" fmla="val 4587"/>
            </a:avLst>
          </a:prstGeom>
          <a:solidFill>
            <a:srgbClr val="F1F4F8"/>
          </a:solidFill>
          <a:ln w="25400">
            <a:solidFill>
              <a:srgbClr val="B7791F"/>
            </a:solidFill>
            <a:prstDash val="solid"/>
          </a:ln>
        </p:spPr>
      </p:sp>
      <p:sp>
        <p:nvSpPr>
          <p:cNvPr id="23" name="instn|b4"/>
          <p:cNvSpPr txBox="1"/>
          <p:nvPr/>
        </p:nvSpPr>
        <p:spPr>
          <a:xfrm>
            <a:off x="6903720" y="1956816"/>
            <a:ext cx="1737360" cy="457200"/>
          </a:xfrm>
          <a:prstGeom prst="rect">
            <a:avLst/>
          </a:prstGeom>
          <a:noFill/>
          <a:ln/>
        </p:spPr>
        <p:txBody>
          <a:bodyPr wrap="square" lIns="0" tIns="0" rIns="0" bIns="0" rtlCol="0" anchor="ctr"/>
          <a:lstStyle/>
          <a:p>
            <a:pPr indent="0" marL="0">
              <a:buNone/>
            </a:pPr>
            <a:r>
              <a:rPr lang="en-US" sz="2200" b="1" dirty="0">
                <a:solidFill>
                  <a:srgbClr val="B7791F"/>
                </a:solidFill>
                <a:latin typeface="Courier New" pitchFamily="34" charset="0"/>
                <a:ea typeface="Courier New" pitchFamily="34" charset="-122"/>
                <a:cs typeface="Courier New" pitchFamily="34" charset="-120"/>
              </a:rPr>
              <a:t>step</a:t>
            </a:r>
            <a:endParaRPr lang="en-US" sz="2200" dirty="0"/>
          </a:p>
        </p:txBody>
      </p:sp>
      <p:sp>
        <p:nvSpPr>
          <p:cNvPr id="24" name="instq|b4"/>
          <p:cNvSpPr txBox="1"/>
          <p:nvPr/>
        </p:nvSpPr>
        <p:spPr>
          <a:xfrm>
            <a:off x="6903720" y="2468880"/>
            <a:ext cx="1737360" cy="100584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is the state at this line?</a:t>
            </a:r>
            <a:endParaRPr lang="en-US" sz="1400" dirty="0"/>
          </a:p>
        </p:txBody>
      </p:sp>
      <p:sp>
        <p:nvSpPr>
          <p:cNvPr id="25" name="instd|b4"/>
          <p:cNvSpPr txBox="1"/>
          <p:nvPr/>
        </p:nvSpPr>
        <p:spPr>
          <a:xfrm>
            <a:off x="6903720" y="3529584"/>
            <a:ext cx="1737360" cy="420624"/>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Pause and look</a:t>
            </a:r>
            <a:endParaRPr lang="en-US" sz="1600" dirty="0"/>
          </a:p>
        </p:txBody>
      </p:sp>
      <p:sp>
        <p:nvSpPr>
          <p:cNvPr id="26" name="instc|b4"/>
          <p:cNvSpPr txBox="1"/>
          <p:nvPr/>
        </p:nvSpPr>
        <p:spPr>
          <a:xfrm>
            <a:off x="6903720" y="4023360"/>
            <a:ext cx="1737360" cy="420624"/>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breakpoint()</a:t>
            </a:r>
            <a:endParaRPr lang="en-US" sz="1100" dirty="0"/>
          </a:p>
        </p:txBody>
      </p:sp>
      <p:sp>
        <p:nvSpPr>
          <p:cNvPr id="2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Instrument selection</a:t>
            </a:r>
            <a:endParaRPr lang="en-US" sz="950" dirty="0"/>
          </a:p>
        </p:txBody>
      </p:sp>
      <p:sp>
        <p:nvSpPr>
          <p:cNvPr id="2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Working vocabulary</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The working vocabulary gathers three everyday ideas that the chapter's tools take for granted: objects with their attributes and methods, the command line, and files with the directories that hold them.</a:t>
            </a:r>
            <a:endParaRPr lang="en-US" sz="11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A reader who does not know these words meets them everywhere in the rest of the chapter and in the Python documentation, which uses them without comment. The glossary of the documentation defines them in a line or two, and the course builds on those definitions. Knowing them also removes a source of confusion in debugging itself: a program started from a button of an editor and the same program started from the command line can differ in options and in environment, and a log file that was written in one directory is not found in another.</a:t>
            </a:r>
            <a:endParaRPr lang="en-US" sz="1150" dirty="0"/>
          </a:p>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three concepts take the ideas in turn. The first explains objects, classes, attributes and methods, the vocabulary of every exception, logger and record. The second explains the command line, with its options and arguments, which controls how Python and its debugger are started. The third explains files, their modes, and directories, which the logging branch relies on when it writes a log file. Each has a short executed example.</a:t>
            </a:r>
            <a:endParaRPr lang="en-US" sz="11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950" b="1" dirty="0">
                <a:solidFill>
                  <a:srgbClr val="1E2A3A"/>
                </a:solidFill>
                <a:latin typeface="Calibri" pitchFamily="34" charset="0"/>
                <a:ea typeface="Calibri" pitchFamily="34" charset="-122"/>
                <a:cs typeface="Calibri" pitchFamily="34" charset="-120"/>
              </a:rPr>
              <a:t>Objects, attributes and methods</a:t>
            </a:r>
            <a:endParaRPr lang="en-US" sz="95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'abc'.upper()</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Command line</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python myscript.py</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File and directory</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open('workfile', 'w', encoding='utf-8')</a:t>
            </a:r>
            <a:endParaRPr lang="en-US" sz="1100" dirty="0"/>
          </a:p>
        </p:txBody>
      </p:sp>
      <p:sp>
        <p:nvSpPr>
          <p:cNvPr id="23"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Working vocabulary</a:t>
            </a:r>
            <a:endParaRPr lang="en-US" sz="950" dirty="0"/>
          </a:p>
        </p:txBody>
      </p:sp>
      <p:sp>
        <p:nvSpPr>
          <p:cNvPr id="24"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Objects, attributes and methods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object is data with state and behaviour; an attribute is a value reached from it by a dotted name, and a method is a function reached the same way and called with parentheses.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object, in the words of the glossary, is any data with state, that is attributes or a value, and defined behavior, that is methods (Python Software Foundation, 2026). A class is a template for creating user-defined objects, and the objects made from it are its instances. An attribute is a value associated with an object which is usually referenced by name using dotted expressions, so that an attribute a of an object o is written o.a. A method is a function which is defined inside a class body and which, called as an attribute of an instance, gets the instance as its first argument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dotted name reaches into the object.</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parentheses decide what the expression means. args is a value, so Exception('m').args() raises a TypeError with the message 'tuple' object is not callable.</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'abc'.upper()</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'ABC'</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executed checks show the vocabulary at work. The expression Exception('m') creates an instance, type(Exception('m')).__name__ is 'Exception', and isinstance(Exception('m'), Exception) is True. The attribute args of Exception('custom message') is the tuple ('custom message',).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Working vocabulary</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'abc'.upper()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Command line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command line is the line of text typed in a terminal to start a program: the interpreter, then options, then what to run, then arguments for the program.</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command line is the line of text that a person types in a terminal to start a program. A terminal is the text window in which such lines are typed and their answers shown. The documentation gives the general shape of the line for Python: python, then options, then one of -c command, -m module-name, a script, or -, then arguments; and it names the most common use case as a simple invocation of a script, python myscript.py (Python Software Foundation, 2026). The documentation adds that the interpreter scans the command line and the environment for various settings.</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position of a word decides who reads it. Words before the script name or the -c command are options for Python itself. Words after them are arguments for the program, which reads them in sys.argv. Executed check: a script that prints sys.flags.optimize and sys.argv and is started as python main.py -O prints 0 and ['main.py', '-O'], so the -O reached the program and did not switch optimisation on.</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A misplaced option is silently taken as an argument. python main.py -O does not run the program with assertions off, and in the executed check python -m pdb main.py -O hands -O to the program being debugged, which prints 0 ['main.py', '-O'], and not to Python. The documentation's own description of the interpreter's options is the place to check where an option belongs.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Working vocabulary</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python myscript.py</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File and directory</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file is a named piece of stored data that a program can read and write; a directory holds files, and a path says where a file is.</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file is a named piece of data stored on the computer, which a program reads or writes through a file object. The tutorial explains that open() returns a file object and takes the filename as its first argument, a string, and a mode as its second (Python Software Foundation, 2026). The mode 'r' means that the file will only be read, 'w' means only writing, and 'a' opens the file for appending. A directory is a place that holds files, and the current working directory of a program is returned by os.getcwd() as a string (Python Software Foundation, 2026). The path of a file is the text that says in which directory it is.</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file is used in three steps: open, read or write, close. The tutorial says that in text mode strings are read and written, encoded in a specific encoding, and recommends encoding='utf-8' unless a different one is needed (Python Software Foundation, 2026). The glossary explains that to store a string it has to be serialized as a sequence of bytes, and the text encoding is the rule for that. A name without a directory, such as 'workfile', is looked for in the current working directory, which the executed check confirms by finding os.getcwd() to be a directory.</a:t>
            </a:r>
            <a:endParaRPr lang="en-US" sz="12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filename alone does not say where a file is. The same name in another directory is another file, so a program that is started from a different directory writes its log somewhere else. Opening an existing file for writing destroys its contents, as the mode 'w' does, and there is no undo. And a file that was not closed may not have its last data written; closing it, as the tutorial's examples do, makes sure that it has.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Bugs and debugging  &gt;  Working vocabulary</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open('workfile', 'w', encoding='utf-8')</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Error signalling</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400" i="1" dirty="0">
                <a:solidFill>
                  <a:srgbClr val="FFD43B"/>
                </a:solidFill>
                <a:latin typeface="Calibri" pitchFamily="34" charset="0"/>
                <a:ea typeface="Calibri" pitchFamily="34" charset="-122"/>
                <a:cs typeface="Calibri" pitchFamily="34" charset="-120"/>
              </a:rPr>
              <a:t>Error signalling is the way a program says that something has gone wrong. In Python the saying is done with exceptions: an exception is an object that carries a description of the problem and travels up through the running code until something handles it.</a:t>
            </a:r>
            <a:endParaRPr lang="en-US" sz="1400" dirty="0"/>
          </a:p>
        </p:txBody>
      </p:sp>
      <p:sp>
        <p:nvSpPr>
          <p:cNvPr id="4" name="br1|b1"/>
          <p:cNvSpPr/>
          <p:nvPr/>
        </p:nvSpPr>
        <p:spPr>
          <a:xfrm>
            <a:off x="457200" y="1828800"/>
            <a:ext cx="4050792"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Raising</a:t>
            </a:r>
            <a:endParaRPr lang="en-US" sz="1400" dirty="0"/>
          </a:p>
        </p:txBody>
      </p:sp>
      <p:sp>
        <p:nvSpPr>
          <p:cNvPr id="6" name="br2|b1"/>
          <p:cNvSpPr/>
          <p:nvPr/>
        </p:nvSpPr>
        <p:spPr>
          <a:xfrm>
            <a:off x="457200" y="2359152"/>
            <a:ext cx="4050792"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Raise statement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Exception class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Exception message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Argument validation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Unhandled exception</a:t>
            </a:r>
            <a:endParaRPr lang="en-US" sz="1200" dirty="0"/>
          </a:p>
        </p:txBody>
      </p:sp>
      <p:sp>
        <p:nvSpPr>
          <p:cNvPr id="8" name="br1|b2"/>
          <p:cNvSpPr/>
          <p:nvPr/>
        </p:nvSpPr>
        <p:spPr>
          <a:xfrm>
            <a:off x="4636008" y="1828800"/>
            <a:ext cx="4050792"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4672584"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Tracebacks</a:t>
            </a:r>
            <a:endParaRPr lang="en-US" sz="1400" dirty="0"/>
          </a:p>
        </p:txBody>
      </p:sp>
      <p:sp>
        <p:nvSpPr>
          <p:cNvPr id="10" name="br2|b2"/>
          <p:cNvSpPr/>
          <p:nvPr/>
        </p:nvSpPr>
        <p:spPr>
          <a:xfrm>
            <a:off x="4636008" y="2359152"/>
            <a:ext cx="4050792" cy="2121408"/>
          </a:xfrm>
          <a:prstGeom prst="roundRect">
            <a:avLst>
              <a:gd name="adj" fmla="val 3448"/>
            </a:avLst>
          </a:prstGeom>
          <a:solidFill>
            <a:srgbClr val="27374B"/>
          </a:solidFill>
          <a:ln w="12700">
            <a:solidFill>
              <a:srgbClr val="3B5B87"/>
            </a:solidFill>
            <a:prstDash val="solid"/>
          </a:ln>
        </p:spPr>
      </p:sp>
      <p:sp>
        <p:nvSpPr>
          <p:cNvPr id="11" name="br2t|b2"/>
          <p:cNvSpPr txBox="1"/>
          <p:nvPr/>
        </p:nvSpPr>
        <p:spPr>
          <a:xfrm>
            <a:off x="4727448"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Exception unwinding</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Traceback reading</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Fine grained locations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Exception notes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Standard error stream</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Raising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Raising is the act of signalling an exception on purpose.</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Raising turns a silent wrong answer into a loud, early failure. A function that is given an argument it cannot work with has only two honest choices, to return something misleading or to refuse, and raising is the refusal. The caller, which knows the larger context, can then recover, ask the user again or stop.</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concepts that follow describe the statement itself, the exception classes from which a raiser chooses, the message that is passed along, the use of raising to validate the arguments of a function, and the outcome when no handler exists.</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Raise statement</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raise Exception('message')</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Exception class</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ValueError</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Exception message</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except Exception as err:</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Argument validation</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if width &lt;= 0: raise ValueError(...)</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Unhandled exception</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a raise with no except</a:t>
            </a:r>
            <a:endParaRPr lang="en-US" sz="110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Raising</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Raise statement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raise statement stops the running code and passes an exception to the nearest matching except clause, which is how a function tells its caller that a call was invalid.</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A raise statement signals an exception on purpose. In the chapter it consists of the keyword raise, a call to Exception, and a string with a helpful error message passed to that call (Sweigart, 2025). The language reference gives the general rule: raise evaluates its expression and the result must be a subclass or an instance of BaseException, the base of all exceptions; if it is a class, an instance is created by calling the class with no arguments (Python Software Foundation, 2026).</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When Python executes raise, it stops the current function at that line and starts looking for an except clause that matches the exception, first in the function itself and then in each caller above it. A bare raise with no expression inside an except clause re-raises the exception that is being handled, so a handler can look at an error and then let it continue (Python Software Foundation, 2026). The statement raise ValueError is shorthand for raise ValueError(), which creates the exception without a message.</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A raise statement outside any try block does not give an error of its own; it ends the program with a traceback. And a raise inside a function does not return a value to the caller: the code after it in the same function never runs. Write the message so that someone who has not seen the code can act on it; Width must be greater than 2. says what was wrong and what is needed.</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Raising</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raise Exception('message')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Raise statement: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def box_print(symbol, width, height):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len(symbol) !=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raise Exception('Symbol must be a single character string.')</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width &lt;= 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raise Exception('Width must be greater than 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height &lt;= 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raise Exception('Height must be greater than 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 i in range(height - 2):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print(symbol + (' ' * (width - 2)) + symbol)</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buNone/>
            </a:pP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for sym, w, h in (('*', 4, 4), ('x', 1, 3), ('ZZ', 3, 3)):</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box_print(sym, w, h)</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except Exception as err: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print('An exception happened: ' + str(err))</a:t>
            </a:r>
            <a:endParaRPr lang="en-US" sz="9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boxprint_v1_0_0.py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550" dirty="0">
                <a:solidFill>
                  <a:srgbClr val="1F2933"/>
                </a:solidFill>
                <a:latin typeface="Courier New" pitchFamily="34" charset="0"/>
                <a:ea typeface="Courier New" pitchFamily="34" charset="-122"/>
                <a:cs typeface="Courier New" pitchFamily="34" charset="-120"/>
              </a:rPr>
              <a:t>****</a:t>
            </a:r>
            <a:endParaRPr lang="en-US" sz="550" dirty="0"/>
          </a:p>
          <a:p>
            <a:pPr indent="0" marL="0">
              <a:buNone/>
            </a:pPr>
            <a:r>
              <a:rPr lang="en-US" sz="550" dirty="0">
                <a:solidFill>
                  <a:srgbClr val="1F2933"/>
                </a:solidFill>
                <a:latin typeface="Courier New" pitchFamily="34" charset="0"/>
                <a:ea typeface="Courier New" pitchFamily="34" charset="-122"/>
                <a:cs typeface="Courier New" pitchFamily="34" charset="-120"/>
              </a:rPr>
              <a:t>*  *</a:t>
            </a:r>
            <a:endParaRPr lang="en-US" sz="550" dirty="0"/>
          </a:p>
          <a:p>
            <a:pPr indent="0" marL="0">
              <a:buNone/>
            </a:pPr>
            <a:r>
              <a:rPr lang="en-US" sz="550" dirty="0">
                <a:solidFill>
                  <a:srgbClr val="1F2933"/>
                </a:solidFill>
                <a:latin typeface="Courier New" pitchFamily="34" charset="0"/>
                <a:ea typeface="Courier New" pitchFamily="34" charset="-122"/>
                <a:cs typeface="Courier New" pitchFamily="34" charset="-120"/>
              </a:rPr>
              <a:t>*  *</a:t>
            </a:r>
            <a:endParaRPr lang="en-US" sz="550" dirty="0"/>
          </a:p>
          <a:p>
            <a:pPr indent="0" marL="0">
              <a:buNone/>
            </a:pPr>
            <a:r>
              <a:rPr lang="en-US" sz="550" dirty="0">
                <a:solidFill>
                  <a:srgbClr val="1F2933"/>
                </a:solidFill>
                <a:latin typeface="Courier New" pitchFamily="34" charset="0"/>
                <a:ea typeface="Courier New" pitchFamily="34" charset="-122"/>
                <a:cs typeface="Courier New" pitchFamily="34" charset="-120"/>
              </a:rPr>
              <a:t>****</a:t>
            </a:r>
            <a:endParaRPr lang="en-US" sz="550" dirty="0"/>
          </a:p>
          <a:p>
            <a:pPr indent="0" marL="0">
              <a:buNone/>
            </a:pPr>
            <a:r>
              <a:rPr lang="en-US" sz="550" dirty="0">
                <a:solidFill>
                  <a:srgbClr val="1F2933"/>
                </a:solidFill>
                <a:latin typeface="Courier New" pitchFamily="34" charset="0"/>
                <a:ea typeface="Courier New" pitchFamily="34" charset="-122"/>
                <a:cs typeface="Courier New" pitchFamily="34" charset="-120"/>
              </a:rPr>
              <a:t>An exception happened: Width must be greater than 2.</a:t>
            </a:r>
            <a:endParaRPr lang="en-US" sz="550" dirty="0"/>
          </a:p>
          <a:p>
            <a:pPr indent="0" marL="0">
              <a:buNone/>
            </a:pPr>
            <a:r>
              <a:rPr lang="en-US" sz="550" dirty="0">
                <a:solidFill>
                  <a:srgbClr val="1F2933"/>
                </a:solidFill>
                <a:latin typeface="Courier New" pitchFamily="34" charset="0"/>
                <a:ea typeface="Courier New" pitchFamily="34" charset="-122"/>
                <a:cs typeface="Courier New" pitchFamily="34" charset="-120"/>
              </a:rPr>
              <a:t>An exception happened: Symbol must be a single character string.</a:t>
            </a:r>
            <a:endParaRPr lang="en-US" sz="55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When Python executes raise, it stops the current function at that line and starts looking for an except clause that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Raising</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 class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kind of an exception: ValueError, TypeError and the others are classes derived from Exception, and an except clause catches the classes it names.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exception class is the kind of an exception, and each kind is a class. A class is a pattern from which objects are made, and a subclass is a class that inherits from another and so counts as a kind of that other class. Python's built-in exceptions form a hierarchy with BaseException at the top, and Exception, from which all built-in exceptions that do not exit the interpreter are derived, directly beneath it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except clause names a class and catches every exception that is an instance of that class or of a subclass.</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Catching Exception is the broadest ordinary choice and hides the difference between a mistake by the user and a mistake by the programmer, so prefer the narrowest class that fits.</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850" b="1" dirty="0">
                <a:solidFill>
                  <a:srgbClr val="FFD43B"/>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issubclass(ValueError, Exception)</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class name is the first word on the last line of every traceback, for example ValueError: invalid literal for int() with base 10: 'abc'.</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Raising</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ValueError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 message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text passed to an exception is kept in its args and printed by str, so an except clause can show a message written for the user instead of a traceback.</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message of an exception is the text that was passed to it when it was created. The exception stores its arguments in the attribute args, which is a tuple, a fixed sequence of values, and calling str on the exception returns the arguments as text, or the empty string if there were none (Python Software Foundation, 2026). In the chapter the message is the string passed to Exception(), for example Width must be greater than 2.</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Writing as err after the class in the except clause binds the exception that was caught to the name err for the length of the clause.</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message is for people and not for code. A handler that decides what to do by comparing the text of the message breaks as soon as the wording changes, so decide by the exception class and keep the message for display.</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900" b="1" dirty="0">
                <a:solidFill>
                  <a:srgbClr val="FFD43B"/>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Exception('custom message').args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('custom message',)</a:t>
            </a:r>
            <a:endParaRPr lang="en-US" sz="9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The form appears in the chapter's boxPrint.py: the except clause prints the text An exception happened: followed by str(err). The same form is the standard way to show or log an error without letting the program crash, and the message is the line that follows the class name in a traceback (Sweigart, 2025).</a:t>
            </a:r>
            <a:endParaRPr lang="en-US" sz="10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Raising</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except Exception as err: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Argument validation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Checking the arguments a function receives before using them and raising an exception that names the problem when they are unusable.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Argument validation is the practice of checking the values a function receives before the function uses them, and raising an exception when they cannot be used. The chapter's function box_print validates its three arguments with if statements, one for the length of the symbol and two for the size, and each failed test is followed by a raise statement with a message (Sweigart, 2025). A condition, an expression that evaluates to True or False, decides whether the exception is raised.</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 small function shows the pattern. After def area(width), the lines if width &lt;= 0 and raise ValueError('width must be positive, got ' + str(width)) refuse the bad value before the function computes width * 2. A loop that calls area(3) and area(0) inside try prints 6 for the first call and refused: width must be positive, got 0 for the second.</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50" b="1" dirty="0">
                <a:solidFill>
                  <a:srgbClr val="B7791F"/>
                </a:solidFill>
                <a:latin typeface="Cambria" pitchFamily="34" charset="0"/>
                <a:ea typeface="Cambria" pitchFamily="34" charset="-122"/>
                <a:cs typeface="Cambria" pitchFamily="34" charset="-120"/>
              </a:rPr>
              <a:t>Watch out  </a:t>
            </a:r>
            <a:r>
              <a:rPr lang="en-US" sz="1150" dirty="0">
                <a:solidFill>
                  <a:srgbClr val="1F2933"/>
                </a:solidFill>
                <a:latin typeface="Calibri" pitchFamily="34" charset="0"/>
                <a:ea typeface="Calibri" pitchFamily="34" charset="-122"/>
                <a:cs typeface="Calibri" pitchFamily="34" charset="-120"/>
              </a:rPr>
              <a:t>Do the validation before any effect of the function has happened, such as printing or changing data, so that a refused call leaves nothing half done. Put in the message the value that was received and the value that was expected. And do not validate with assert: an assert statement can be removed from a running program, and a check that must always happen belongs in an if with a raise.</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Raising</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if width &lt;= 0: raise ValueError(...)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Unhandled exception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exception that no except clause matches ends the program: Python prints a traceback on the error stream and the process finishes with a nonzero exit status.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unhandled exception is one that no except clause matches. The chapter describes the consequence in one sentence: if no try and except statements cover the raise statement that raised the exception, the program simply crashes and displays the exception's error message (Sweigart, 2025). Crashing here means that Python stops running the program at that point.</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program that prints before, raises Exception('boom') and then has a print of after shows exactly the behaviour. Only before reaches the screen, the traceback ends with the line Exception: boom, and the process finishes with the exit status 1. The statement after the raise never runs.</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crash can leave work unfinished, such as a half-written result, so a program that must clean up needs a finally clause or a handler near the top.</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50" b="1" dirty="0">
                <a:solidFill>
                  <a:srgbClr val="FFD43B"/>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callable(__import__('sys').excepthook)</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situation is met whenever a program fails with a traceback in the terminal, and it is the usual fate of an AssertionError, which the chapter says should not be caught.</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Raising</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 raise with no except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Tracebacks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 traceback is the report that Python prints when an exception is not handled.</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traceback answers the question where the program was when it failed, and it answers it without running anything again. Reading it well is the most economical debugging skill: a learner who can read a traceback knows which file, which line and which call to look at first.</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concepts that follow explain how an exception travels up the call stack, how the lines of a traceback are read, how Python 3.11 and later point at the failing part of a line, how notes add context while an exception is re-raised, and why the report appears on the error stream.</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Exception unwinding</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process calls load calls read_age</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Traceback reading</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File, line, in, source line</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Fine grained locations</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Exception notes</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e.add_note('while reading the age field')</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Standard error stream</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print('...', file=sys.stderr)</a:t>
            </a:r>
            <a:endParaRPr lang="en-US" sz="110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 unwinding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exception that no function handles leaves each function in turn, up the call stack, until an except clause matches it or the program ends with a traceback.</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Exception unwinding is the way an exception travels from the place where it was raised back through the functions that were called to get there. The call stack is the list of functions that are currently running, the newest on top. An exception that a function does not handle leaves that function and arrives in the caller, and the process is repeated until an except clause matches the exception or the stack is empty.</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journey can be inspected, because the exception object keeps its traceback.</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handler can be anywhere along the way, and the nearer it is to the raise the less of the program is skipped.</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def read_age(text):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return int(text)</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def load(record):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return read_age(record['age'])</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def process(records):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return [load(r) for r in records]</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process([{'age': '41'}, {'age': 'abc'}])</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except ValueError as 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print('caught:', e)</a:t>
            </a:r>
            <a:endParaRPr lang="en-US" sz="8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unwinding_v1_0_0.py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900" dirty="0">
                <a:solidFill>
                  <a:srgbClr val="1F2933"/>
                </a:solidFill>
                <a:latin typeface="Courier New" pitchFamily="34" charset="0"/>
                <a:ea typeface="Courier New" pitchFamily="34" charset="-122"/>
                <a:cs typeface="Courier New" pitchFamily="34" charset="-120"/>
              </a:rPr>
              <a:t>caught: invalid literal for int() with base 10: 'abc'</a:t>
            </a:r>
            <a:endParaRPr lang="en-US" sz="9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process calls load calls read_age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 unwinding: drawn from a real run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exception that no function handles leaves each function in turn, up the call stack, until an except clause matches it or the program ends with a traceback.</a:t>
            </a:r>
            <a:endParaRPr lang="en-US" sz="1300" dirty="0"/>
          </a:p>
        </p:txBody>
      </p:sp>
      <p:sp>
        <p:nvSpPr>
          <p:cNvPr id="6" name="uwbox"/>
          <p:cNvSpPr/>
          <p:nvPr/>
        </p:nvSpPr>
        <p:spPr>
          <a:xfrm>
            <a:off x="1828800" y="1554480"/>
            <a:ext cx="5486400" cy="420624"/>
          </a:xfrm>
          <a:prstGeom prst="roundRect">
            <a:avLst>
              <a:gd name="adj" fmla="val 17391"/>
            </a:avLst>
          </a:prstGeom>
          <a:solidFill>
            <a:srgbClr val="FBE1E1"/>
          </a:solidFill>
          <a:ln w="25400">
            <a:solidFill>
              <a:srgbClr val="D64545"/>
            </a:solidFill>
            <a:prstDash val="solid"/>
          </a:ln>
        </p:spPr>
      </p:sp>
      <p:sp>
        <p:nvSpPr>
          <p:cNvPr id="7" name="v:ExceptionUnwinding:f0"/>
          <p:cNvSpPr txBox="1"/>
          <p:nvPr/>
        </p:nvSpPr>
        <p:spPr>
          <a:xfrm>
            <a:off x="1938528" y="1554480"/>
            <a:ext cx="5266944" cy="420624"/>
          </a:xfrm>
          <a:prstGeom prst="rect">
            <a:avLst/>
          </a:prstGeom>
          <a:noFill/>
          <a:ln/>
        </p:spPr>
        <p:txBody>
          <a:bodyPr wrap="square" lIns="0" tIns="0" rIns="0" bIns="0" rtlCol="0" anchor="ctr"/>
          <a:lstStyle/>
          <a:p>
            <a:pPr indent="0" marL="0">
              <a:buNone/>
            </a:pPr>
            <a:r>
              <a:rPr lang="en-US" sz="1100" b="1" dirty="0">
                <a:solidFill>
                  <a:srgbClr val="D64545"/>
                </a:solidFill>
                <a:latin typeface="Courier New" pitchFamily="34" charset="0"/>
                <a:ea typeface="Courier New" pitchFamily="34" charset="-122"/>
                <a:cs typeface="Courier New" pitchFamily="34" charset="-120"/>
              </a:rPr>
              <a:t>read_age  ·  line 2  ·  return int(text)</a:t>
            </a:r>
            <a:endParaRPr lang="en-US" sz="1100" dirty="0"/>
          </a:p>
        </p:txBody>
      </p:sp>
      <p:sp>
        <p:nvSpPr>
          <p:cNvPr id="8" name="arrow|b2"/>
          <p:cNvSpPr/>
          <p:nvPr/>
        </p:nvSpPr>
        <p:spPr>
          <a:xfrm>
            <a:off x="4572000" y="1975104"/>
            <a:ext cx="0" cy="182880"/>
          </a:xfrm>
          <a:prstGeom prst="line">
            <a:avLst/>
          </a:prstGeom>
          <a:noFill/>
          <a:ln w="31750">
            <a:solidFill>
              <a:srgbClr val="D64545"/>
            </a:solidFill>
            <a:prstDash val="solid"/>
            <a:tailEnd type="triangle"/>
          </a:ln>
        </p:spPr>
      </p:sp>
      <p:sp>
        <p:nvSpPr>
          <p:cNvPr id="9" name="uwlab|b2"/>
          <p:cNvSpPr txBox="1"/>
          <p:nvPr/>
        </p:nvSpPr>
        <p:spPr>
          <a:xfrm>
            <a:off x="4681728" y="1975104"/>
            <a:ext cx="2633472" cy="182880"/>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0" name="uwbox"/>
          <p:cNvSpPr/>
          <p:nvPr/>
        </p:nvSpPr>
        <p:spPr>
          <a:xfrm>
            <a:off x="1828800" y="2157984"/>
            <a:ext cx="5486400" cy="420624"/>
          </a:xfrm>
          <a:prstGeom prst="roundRect">
            <a:avLst>
              <a:gd name="adj" fmla="val 17391"/>
            </a:avLst>
          </a:prstGeom>
          <a:solidFill>
            <a:srgbClr val="F1F4F8"/>
          </a:solidFill>
          <a:ln w="25400">
            <a:solidFill>
              <a:srgbClr val="9AA8B8"/>
            </a:solidFill>
            <a:prstDash val="solid"/>
          </a:ln>
        </p:spPr>
      </p:sp>
      <p:sp>
        <p:nvSpPr>
          <p:cNvPr id="11" name="v:ExceptionUnwinding:f1"/>
          <p:cNvSpPr txBox="1"/>
          <p:nvPr/>
        </p:nvSpPr>
        <p:spPr>
          <a:xfrm>
            <a:off x="1938528" y="2157984"/>
            <a:ext cx="526694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load  ·  line 5  ·  return read_age(record['age'])</a:t>
            </a:r>
            <a:endParaRPr lang="en-US" sz="1100" dirty="0"/>
          </a:p>
        </p:txBody>
      </p:sp>
      <p:sp>
        <p:nvSpPr>
          <p:cNvPr id="12" name="arrow|b3"/>
          <p:cNvSpPr/>
          <p:nvPr/>
        </p:nvSpPr>
        <p:spPr>
          <a:xfrm>
            <a:off x="4572000" y="2578608"/>
            <a:ext cx="0" cy="182880"/>
          </a:xfrm>
          <a:prstGeom prst="line">
            <a:avLst/>
          </a:prstGeom>
          <a:noFill/>
          <a:ln w="31750">
            <a:solidFill>
              <a:srgbClr val="D64545"/>
            </a:solidFill>
            <a:prstDash val="solid"/>
            <a:tailEnd type="triangle"/>
          </a:ln>
        </p:spPr>
      </p:sp>
      <p:sp>
        <p:nvSpPr>
          <p:cNvPr id="13" name="uwlab|b3"/>
          <p:cNvSpPr txBox="1"/>
          <p:nvPr/>
        </p:nvSpPr>
        <p:spPr>
          <a:xfrm>
            <a:off x="4681728" y="2578608"/>
            <a:ext cx="2633472" cy="182880"/>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4" name="uwbox"/>
          <p:cNvSpPr/>
          <p:nvPr/>
        </p:nvSpPr>
        <p:spPr>
          <a:xfrm>
            <a:off x="1828800" y="2761488"/>
            <a:ext cx="5486400" cy="420624"/>
          </a:xfrm>
          <a:prstGeom prst="roundRect">
            <a:avLst>
              <a:gd name="adj" fmla="val 17391"/>
            </a:avLst>
          </a:prstGeom>
          <a:solidFill>
            <a:srgbClr val="F1F4F8"/>
          </a:solidFill>
          <a:ln w="25400">
            <a:solidFill>
              <a:srgbClr val="9AA8B8"/>
            </a:solidFill>
            <a:prstDash val="solid"/>
          </a:ln>
        </p:spPr>
      </p:sp>
      <p:sp>
        <p:nvSpPr>
          <p:cNvPr id="15" name="v:ExceptionUnwinding:f2"/>
          <p:cNvSpPr txBox="1"/>
          <p:nvPr/>
        </p:nvSpPr>
        <p:spPr>
          <a:xfrm>
            <a:off x="1938528" y="2761488"/>
            <a:ext cx="526694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process  ·  line 8  ·  return [load(r) for r in records]</a:t>
            </a:r>
            <a:endParaRPr lang="en-US" sz="1100" dirty="0"/>
          </a:p>
        </p:txBody>
      </p:sp>
      <p:sp>
        <p:nvSpPr>
          <p:cNvPr id="16" name="arrow|b4"/>
          <p:cNvSpPr/>
          <p:nvPr/>
        </p:nvSpPr>
        <p:spPr>
          <a:xfrm>
            <a:off x="4572000" y="3182112"/>
            <a:ext cx="0" cy="182880"/>
          </a:xfrm>
          <a:prstGeom prst="line">
            <a:avLst/>
          </a:prstGeom>
          <a:noFill/>
          <a:ln w="31750">
            <a:solidFill>
              <a:srgbClr val="D64545"/>
            </a:solidFill>
            <a:prstDash val="solid"/>
            <a:tailEnd type="triangle"/>
          </a:ln>
        </p:spPr>
      </p:sp>
      <p:sp>
        <p:nvSpPr>
          <p:cNvPr id="17" name="uwlab|b4"/>
          <p:cNvSpPr txBox="1"/>
          <p:nvPr/>
        </p:nvSpPr>
        <p:spPr>
          <a:xfrm>
            <a:off x="4681728" y="3182112"/>
            <a:ext cx="2633472" cy="182880"/>
          </a:xfrm>
          <a:prstGeom prst="rect">
            <a:avLst/>
          </a:prstGeom>
          <a:noFill/>
          <a:ln/>
        </p:spPr>
        <p:txBody>
          <a:bodyPr wrap="square" lIns="0" tIns="0" rIns="0" bIns="0" rtlCol="0" anchor="ctr"/>
          <a:lstStyle/>
          <a:p>
            <a:pPr indent="0" marL="0">
              <a:buNone/>
            </a:pPr>
            <a:r>
              <a:rPr lang="en-US" sz="1000" i="1" dirty="0">
                <a:solidFill>
                  <a:srgbClr val="2E9E5B"/>
                </a:solidFill>
                <a:latin typeface="Calibri" pitchFamily="34" charset="0"/>
                <a:ea typeface="Calibri" pitchFamily="34" charset="-122"/>
                <a:cs typeface="Calibri" pitchFamily="34" charset="-120"/>
              </a:rPr>
              <a:t>a matching except clause: caught</a:t>
            </a:r>
            <a:endParaRPr lang="en-US" sz="1000" dirty="0"/>
          </a:p>
        </p:txBody>
      </p:sp>
      <p:sp>
        <p:nvSpPr>
          <p:cNvPr id="18" name="uwbox"/>
          <p:cNvSpPr/>
          <p:nvPr/>
        </p:nvSpPr>
        <p:spPr>
          <a:xfrm>
            <a:off x="1828800" y="3364992"/>
            <a:ext cx="5486400" cy="420624"/>
          </a:xfrm>
          <a:prstGeom prst="roundRect">
            <a:avLst>
              <a:gd name="adj" fmla="val 17391"/>
            </a:avLst>
          </a:prstGeom>
          <a:solidFill>
            <a:srgbClr val="DDF3E6"/>
          </a:solidFill>
          <a:ln w="25400">
            <a:solidFill>
              <a:srgbClr val="2E9E5B"/>
            </a:solidFill>
            <a:prstDash val="solid"/>
          </a:ln>
        </p:spPr>
      </p:sp>
      <p:sp>
        <p:nvSpPr>
          <p:cNvPr id="19" name="v:ExceptionUnwinding:handler"/>
          <p:cNvSpPr txBox="1"/>
          <p:nvPr/>
        </p:nvSpPr>
        <p:spPr>
          <a:xfrm>
            <a:off x="1938528" y="3364992"/>
            <a:ext cx="5266944" cy="420624"/>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&lt;module&gt;  ·  line 12  ·  except ValueError as e:</a:t>
            </a:r>
            <a:endParaRPr lang="en-US" sz="1100" dirty="0"/>
          </a:p>
        </p:txBody>
      </p:sp>
      <p:sp>
        <p:nvSpPr>
          <p:cNvPr id="20" name="v:ExceptionUnwinding:exc|b1"/>
          <p:cNvSpPr txBox="1"/>
          <p:nvPr/>
        </p:nvSpPr>
        <p:spPr>
          <a:xfrm>
            <a:off x="5577840" y="1261872"/>
            <a:ext cx="1737360" cy="256032"/>
          </a:xfrm>
          <a:prstGeom prst="rect">
            <a:avLst/>
          </a:prstGeom>
          <a:noFill/>
          <a:ln/>
        </p:spPr>
        <p:txBody>
          <a:bodyPr wrap="square" lIns="0" tIns="0" rIns="0" bIns="0" rtlCol="0" anchor="ctr"/>
          <a:lstStyle/>
          <a:p>
            <a:pPr algn="r" indent="0" marL="0">
              <a:buNone/>
            </a:pPr>
            <a:r>
              <a:rPr lang="en-US" sz="1100" b="1" dirty="0">
                <a:solidFill>
                  <a:srgbClr val="D64545"/>
                </a:solidFill>
                <a:latin typeface="Courier New" pitchFamily="34" charset="0"/>
                <a:ea typeface="Courier New" pitchFamily="34" charset="-122"/>
                <a:cs typeface="Courier New" pitchFamily="34" charset="-120"/>
              </a:rPr>
              <a:t>raise ValueError</a:t>
            </a:r>
            <a:endParaRPr lang="en-US" sz="1100" dirty="0"/>
          </a:p>
        </p:txBody>
      </p:sp>
      <p:sp>
        <p:nvSpPr>
          <p:cNvPr id="21" name="band|b5"/>
          <p:cNvSpPr/>
          <p:nvPr/>
        </p:nvSpPr>
        <p:spPr>
          <a:xfrm>
            <a:off x="411480" y="4041648"/>
            <a:ext cx="8321040" cy="530352"/>
          </a:xfrm>
          <a:prstGeom prst="roundRect">
            <a:avLst>
              <a:gd name="adj" fmla="val 17241"/>
            </a:avLst>
          </a:prstGeom>
          <a:solidFill>
            <a:srgbClr val="FCEFD0"/>
          </a:solidFill>
          <a:ln w="25400">
            <a:solidFill>
              <a:srgbClr val="B7791F"/>
            </a:solidFill>
            <a:prstDash val="solid"/>
          </a:ln>
        </p:spPr>
      </p:sp>
      <p:sp>
        <p:nvSpPr>
          <p:cNvPr id="22" name="bandt|b5"/>
          <p:cNvSpPr txBox="1"/>
          <p:nvPr/>
        </p:nvSpPr>
        <p:spPr>
          <a:xfrm>
            <a:off x="576072" y="4096512"/>
            <a:ext cx="7991856" cy="420624"/>
          </a:xfrm>
          <a:prstGeom prst="rect">
            <a:avLst/>
          </a:prstGeom>
          <a:noFill/>
          <a:ln/>
        </p:spPr>
        <p:txBody>
          <a:bodyPr wrap="square" lIns="0" tIns="0" rIns="0" bIns="0" rtlCol="0" anchor="t"/>
          <a:lstStyle/>
          <a:p>
            <a:pPr indent="0" marL="0">
              <a:buNone/>
            </a:pPr>
            <a:r>
              <a:rPr lang="en-US" sz="1300" b="1" dirty="0">
                <a:solidFill>
                  <a:srgbClr val="B7791F"/>
                </a:solidFill>
                <a:latin typeface="Cambria" pitchFamily="34" charset="0"/>
                <a:ea typeface="Cambria" pitchFamily="34" charset="-122"/>
                <a:cs typeface="Cambria" pitchFamily="34" charset="-120"/>
              </a:rPr>
              <a:t>The climb  </a:t>
            </a:r>
            <a:r>
              <a:rPr lang="en-US" sz="1300" dirty="0">
                <a:solidFill>
                  <a:srgbClr val="1F2933"/>
                </a:solidFill>
                <a:latin typeface="Calibri" pitchFamily="34" charset="0"/>
                <a:ea typeface="Calibri" pitchFamily="34" charset="-122"/>
                <a:cs typeface="Calibri" pitchFamily="34" charset="-120"/>
              </a:rPr>
              <a:t>read_age cannot turn 'abc' into a number. No function on the way up handles the error, so it leaves each in turn until the try around the call catches it.</a:t>
            </a:r>
            <a:endParaRPr lang="en-US" sz="1300" dirty="0"/>
          </a:p>
        </p:txBody>
      </p:sp>
      <p:sp>
        <p:nvSpPr>
          <p:cNvPr id="23"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24"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par>
                    <p:cTn id="38" fill="hold">
                      <p:stCondLst>
                        <p:cond delay="indefinite"/>
                      </p:stCondLst>
                      <p:childTnLst>
                        <p:par>
                          <p:cTn id="39"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0" grpId="0" animBg="1"/>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Traceback reading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traceback lists the calls from the outermost to the one that raised, each with file, line, function and source line, and ends with the exception class and message.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Reading a traceback means taking its lines in order and understanding what each one says. The first line is the header Traceback (most recent call last):. Each following entry gives a file name, a line number and the name of the function in which a call was made, and under it the text of that line of source. The last line names the class and the message of the exception (Python Software Foundation, 2026).</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line number is where execution was inside that function when it called the next one, so each entry except the last points at a call. The last entry points at the line that raised. The header and the last line are the same in every recent version of Python, but the lines between them are refined from release to release, for example by the finer marks that the next concept describes.</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Reading from the top and stopping at the first entry is a common mistake. That entry is usually the main program calling something, and it is the last entry that shows where the problem happened. Note too that code typed directly into the interpreter or given with python -c has no file to read from, so such entries have no source line.</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File, line, in, source line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Traceback reading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traceback lists the calls from the outermost to the one that raised, each with file, line, function and source line, and ends with the exception class and message.</a:t>
            </a:r>
            <a:endParaRPr lang="en-US" sz="1300" dirty="0"/>
          </a:p>
        </p:txBody>
      </p:sp>
      <p:sp>
        <p:nvSpPr>
          <p:cNvPr id="6" name="tbbox"/>
          <p:cNvSpPr/>
          <p:nvPr/>
        </p:nvSpPr>
        <p:spPr>
          <a:xfrm>
            <a:off x="411480" y="1225296"/>
            <a:ext cx="5394960" cy="3017520"/>
          </a:xfrm>
          <a:prstGeom prst="roundRect">
            <a:avLst>
              <a:gd name="adj" fmla="val 3030"/>
            </a:avLst>
          </a:prstGeom>
          <a:solidFill>
            <a:srgbClr val="17202B"/>
          </a:solidFill>
          <a:ln w="12700">
            <a:solidFill>
              <a:srgbClr val="17202B"/>
            </a:solidFill>
            <a:prstDash val="solid"/>
          </a:ln>
        </p:spPr>
      </p:sp>
      <p:sp>
        <p:nvSpPr>
          <p:cNvPr id="7" name="v:ExceptionUnwinding:tb"/>
          <p:cNvSpPr txBox="1"/>
          <p:nvPr/>
        </p:nvSpPr>
        <p:spPr>
          <a:xfrm>
            <a:off x="566928" y="1316736"/>
            <a:ext cx="5084064" cy="2834640"/>
          </a:xfrm>
          <a:prstGeom prst="rect">
            <a:avLst/>
          </a:prstGeom>
          <a:noFill/>
          <a:ln/>
        </p:spPr>
        <p:txBody>
          <a:bodyPr wrap="square" lIns="0" tIns="0" rIns="0" bIns="0" rtlCol="0" anchor="t"/>
          <a:lstStyle/>
          <a:p>
            <a:pPr indent="0" marL="0">
              <a:buNone/>
            </a:pPr>
            <a:r>
              <a:rPr lang="en-US" sz="1100" dirty="0">
                <a:solidFill>
                  <a:srgbClr val="8FA3B8"/>
                </a:solidFill>
                <a:latin typeface="Courier New" pitchFamily="34" charset="0"/>
                <a:ea typeface="Courier New" pitchFamily="34" charset="-122"/>
                <a:cs typeface="Courier New" pitchFamily="34" charset="-120"/>
              </a:rPr>
              <a:t>Traceback (most recent call last):</a:t>
            </a:r>
            <a:endParaRPr lang="en-US" sz="1100" dirty="0"/>
          </a:p>
          <a:p>
            <a:pPr indent="0" marL="0">
              <a:buNone/>
            </a:pPr>
            <a:r>
              <a:rPr lang="en-US" sz="1100" dirty="0">
                <a:solidFill>
                  <a:srgbClr val="8FB8E8"/>
                </a:solidFill>
                <a:latin typeface="Courier New" pitchFamily="34" charset="0"/>
                <a:ea typeface="Courier New" pitchFamily="34" charset="-122"/>
                <a:cs typeface="Courier New" pitchFamily="34" charset="-120"/>
              </a:rPr>
              <a:t>  File "main.py", line 10, in &lt;module&gt;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process([{'age': '41'}, {'age': 'abc'}])</a:t>
            </a:r>
            <a:endParaRPr lang="en-US" sz="1100" dirty="0"/>
          </a:p>
          <a:p>
            <a:pPr indent="0" marL="0">
              <a:buNone/>
            </a:pPr>
            <a:r>
              <a:rPr lang="en-US" sz="1100" dirty="0">
                <a:solidFill>
                  <a:srgbClr val="FFD43B"/>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8FB8E8"/>
                </a:solidFill>
                <a:latin typeface="Courier New" pitchFamily="34" charset="0"/>
                <a:ea typeface="Courier New" pitchFamily="34" charset="-122"/>
                <a:cs typeface="Courier New" pitchFamily="34" charset="-120"/>
              </a:rPr>
              <a:t>  File "main.py", line 8, in process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[load(r) for r in records]</a:t>
            </a:r>
            <a:endParaRPr lang="en-US" sz="1100" dirty="0"/>
          </a:p>
          <a:p>
            <a:pPr indent="0" marL="0">
              <a:buNone/>
            </a:pPr>
            <a:r>
              <a:rPr lang="en-US" sz="1100" dirty="0">
                <a:solidFill>
                  <a:srgbClr val="FFD43B"/>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8FB8E8"/>
                </a:solidFill>
                <a:latin typeface="Courier New" pitchFamily="34" charset="0"/>
                <a:ea typeface="Courier New" pitchFamily="34" charset="-122"/>
                <a:cs typeface="Courier New" pitchFamily="34" charset="-120"/>
              </a:rPr>
              <a:t>  File "main.py", line 5, in load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read_age(record['age'])</a:t>
            </a:r>
            <a:endParaRPr lang="en-US" sz="1100" dirty="0"/>
          </a:p>
          <a:p>
            <a:pPr indent="0" marL="0">
              <a:buNone/>
            </a:pPr>
            <a:r>
              <a:rPr lang="en-US" sz="1100" dirty="0">
                <a:solidFill>
                  <a:srgbClr val="8FB8E8"/>
                </a:solidFill>
                <a:latin typeface="Courier New" pitchFamily="34" charset="0"/>
                <a:ea typeface="Courier New" pitchFamily="34" charset="-122"/>
                <a:cs typeface="Courier New" pitchFamily="34" charset="-120"/>
              </a:rPr>
              <a:t>  File "main.py", line 2, in read_age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int(text)</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ValueError: invalid literal for int() with base 10: 'abc'</a:t>
            </a:r>
            <a:endParaRPr lang="en-US" sz="1100" dirty="0"/>
          </a:p>
        </p:txBody>
      </p:sp>
      <p:sp>
        <p:nvSpPr>
          <p:cNvPr id="8" name="tbcap"/>
          <p:cNvSpPr txBox="1"/>
          <p:nvPr/>
        </p:nvSpPr>
        <p:spPr>
          <a:xfrm>
            <a:off x="411480" y="4261104"/>
            <a:ext cx="5394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850" dirty="0"/>
          </a:p>
        </p:txBody>
      </p:sp>
      <p:sp>
        <p:nvSpPr>
          <p:cNvPr id="9" name="card|b1"/>
          <p:cNvSpPr/>
          <p:nvPr/>
        </p:nvSpPr>
        <p:spPr>
          <a:xfrm>
            <a:off x="5943600" y="1225296"/>
            <a:ext cx="2788920" cy="950976"/>
          </a:xfrm>
          <a:prstGeom prst="roundRect">
            <a:avLst>
              <a:gd name="adj" fmla="val 9615"/>
            </a:avLst>
          </a:prstGeom>
          <a:solidFill>
            <a:srgbClr val="F1F4F8"/>
          </a:solidFill>
          <a:ln w="12700">
            <a:solidFill>
              <a:srgbClr val="F1F4F8"/>
            </a:solidFill>
            <a:prstDash val="solid"/>
          </a:ln>
        </p:spPr>
      </p:sp>
      <p:sp>
        <p:nvSpPr>
          <p:cNvPr id="10" name="cardhead|b1"/>
          <p:cNvSpPr txBox="1"/>
          <p:nvPr/>
        </p:nvSpPr>
        <p:spPr>
          <a:xfrm>
            <a:off x="6089904" y="1298448"/>
            <a:ext cx="2496312" cy="292608"/>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1  The last line</a:t>
            </a:r>
            <a:endParaRPr lang="en-US" sz="1500" dirty="0"/>
          </a:p>
        </p:txBody>
      </p:sp>
      <p:sp>
        <p:nvSpPr>
          <p:cNvPr id="11" name="cardbody|b1"/>
          <p:cNvSpPr txBox="1"/>
          <p:nvPr/>
        </p:nvSpPr>
        <p:spPr>
          <a:xfrm>
            <a:off x="6089904" y="1627632"/>
            <a:ext cx="2496312" cy="47548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names the exception class and its message</a:t>
            </a:r>
            <a:endParaRPr lang="en-US" sz="1300" dirty="0"/>
          </a:p>
        </p:txBody>
      </p:sp>
      <p:sp>
        <p:nvSpPr>
          <p:cNvPr id="12" name="card|b2"/>
          <p:cNvSpPr/>
          <p:nvPr/>
        </p:nvSpPr>
        <p:spPr>
          <a:xfrm>
            <a:off x="5943600" y="2267712"/>
            <a:ext cx="2788920" cy="950976"/>
          </a:xfrm>
          <a:prstGeom prst="roundRect">
            <a:avLst>
              <a:gd name="adj" fmla="val 9615"/>
            </a:avLst>
          </a:prstGeom>
          <a:solidFill>
            <a:srgbClr val="F1F4F8"/>
          </a:solidFill>
          <a:ln w="12700">
            <a:solidFill>
              <a:srgbClr val="F1F4F8"/>
            </a:solidFill>
            <a:prstDash val="solid"/>
          </a:ln>
        </p:spPr>
      </p:sp>
      <p:sp>
        <p:nvSpPr>
          <p:cNvPr id="13" name="cardhead|b2"/>
          <p:cNvSpPr txBox="1"/>
          <p:nvPr/>
        </p:nvSpPr>
        <p:spPr>
          <a:xfrm>
            <a:off x="6089904" y="2340864"/>
            <a:ext cx="249631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2  Outermost first</a:t>
            </a:r>
            <a:endParaRPr lang="en-US" sz="1500" dirty="0"/>
          </a:p>
        </p:txBody>
      </p:sp>
      <p:sp>
        <p:nvSpPr>
          <p:cNvPr id="14" name="cardbody|b2"/>
          <p:cNvSpPr txBox="1"/>
          <p:nvPr/>
        </p:nvSpPr>
        <p:spPr>
          <a:xfrm>
            <a:off x="6089904" y="2670048"/>
            <a:ext cx="2496312" cy="47548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frame that raised is the one just above the last line</a:t>
            </a:r>
            <a:endParaRPr lang="en-US" sz="1300" dirty="0"/>
          </a:p>
        </p:txBody>
      </p:sp>
      <p:sp>
        <p:nvSpPr>
          <p:cNvPr id="15" name="card|b3"/>
          <p:cNvSpPr/>
          <p:nvPr/>
        </p:nvSpPr>
        <p:spPr>
          <a:xfrm>
            <a:off x="5943600" y="3310128"/>
            <a:ext cx="2788920" cy="950976"/>
          </a:xfrm>
          <a:prstGeom prst="roundRect">
            <a:avLst>
              <a:gd name="adj" fmla="val 9615"/>
            </a:avLst>
          </a:prstGeom>
          <a:solidFill>
            <a:srgbClr val="F1F4F8"/>
          </a:solidFill>
          <a:ln w="12700">
            <a:solidFill>
              <a:srgbClr val="F1F4F8"/>
            </a:solidFill>
            <a:prstDash val="solid"/>
          </a:ln>
        </p:spPr>
      </p:sp>
      <p:sp>
        <p:nvSpPr>
          <p:cNvPr id="16" name="cardhead|b3"/>
          <p:cNvSpPr txBox="1"/>
          <p:nvPr/>
        </p:nvSpPr>
        <p:spPr>
          <a:xfrm>
            <a:off x="6089904" y="3383280"/>
            <a:ext cx="249631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3  Four parts a frame</a:t>
            </a:r>
            <a:endParaRPr lang="en-US" sz="1500" dirty="0"/>
          </a:p>
        </p:txBody>
      </p:sp>
      <p:sp>
        <p:nvSpPr>
          <p:cNvPr id="17" name="cardbody|b3"/>
          <p:cNvSpPr txBox="1"/>
          <p:nvPr/>
        </p:nvSpPr>
        <p:spPr>
          <a:xfrm>
            <a:off x="6089904" y="3712464"/>
            <a:ext cx="2496312" cy="47548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file, line, function, and the source line itself</a:t>
            </a:r>
            <a:endParaRPr lang="en-US" sz="1300" dirty="0"/>
          </a:p>
        </p:txBody>
      </p:sp>
      <p:sp>
        <p:nvSpPr>
          <p:cNvPr id="18" name="band|b4"/>
          <p:cNvSpPr/>
          <p:nvPr/>
        </p:nvSpPr>
        <p:spPr>
          <a:xfrm>
            <a:off x="411480" y="4352544"/>
            <a:ext cx="8321040" cy="237744"/>
          </a:xfrm>
          <a:prstGeom prst="roundRect">
            <a:avLst>
              <a:gd name="adj" fmla="val 38462"/>
            </a:avLst>
          </a:prstGeom>
          <a:solidFill>
            <a:srgbClr val="FCEFD0"/>
          </a:solidFill>
          <a:ln w="25400">
            <a:solidFill>
              <a:srgbClr val="B7791F"/>
            </a:solidFill>
            <a:prstDash val="solid"/>
          </a:ln>
        </p:spPr>
      </p:sp>
      <p:sp>
        <p:nvSpPr>
          <p:cNvPr id="19" name="bandt|b4"/>
          <p:cNvSpPr txBox="1"/>
          <p:nvPr/>
        </p:nvSpPr>
        <p:spPr>
          <a:xfrm>
            <a:off x="576072" y="4407408"/>
            <a:ext cx="7991856" cy="128016"/>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Read it  </a:t>
            </a:r>
            <a:endParaRPr lang="en-US" sz="1300" dirty="0"/>
          </a:p>
        </p:txBody>
      </p:sp>
      <p:sp>
        <p:nvSpPr>
          <p:cNvPr id="20"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21"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par>
                    <p:cTn id="42" fill="hold">
                      <p:stCondLst>
                        <p:cond delay="indefinite"/>
                      </p:stCondLst>
                      <p:childTnLst>
                        <p:par>
                          <p:cTn id="43"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Fine grained locations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Since Python 3.11 a traceback marks the failing part of a line, so which subscript or call failed in a chained expression can be read from it.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Fine grained locations are the marks that a traceback draws under a line of source to show which part of it failed. A row of carets, ^, marks the failing operation, and a row of tildes, ~, runs under the part of the expression that it was applied to. The feature was proposed in PEP 657 and arrived in Python 3.11 (Galindo Salgado et al., 2021).</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Python records, for each bytecode instruction, the start and end columns of the source it came from, and the traceback machinery uses these ranges to draw the marks (Galindo Salgado et al., 2021). The marks depend on the interpreter: for the call line process('abc') of the previous concept, Python 3.14 draws tildes and carets and Python 3.12 does not, so the exact picture varies between versions even when the first and last lines are the same.</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marks can be switched off. The PEP provides the environment variable PYTHONNODEBUGRANGES and the option -X no_debug_ranges for those who want smaller files or a traceback in the old form (Galindo Salgado et al., 2021). A program that parses traceback text should therefore not rely on the marks being present.</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Fine grained locations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Since Python 3.11 a traceback marks the failing part of a line, so which subscript or call failed in a chained expression can be read from it.</a:t>
            </a:r>
            <a:endParaRPr lang="en-US" sz="1300" dirty="0"/>
          </a:p>
        </p:txBody>
      </p:sp>
      <p:sp>
        <p:nvSpPr>
          <p:cNvPr id="6" name="prose"/>
          <p:cNvSpPr txBox="1"/>
          <p:nvPr/>
        </p:nvSpPr>
        <p:spPr>
          <a:xfrm>
            <a:off x="411480" y="1207008"/>
            <a:ext cx="3931920" cy="137160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Fine grained locations are the marks that a traceback draws under a line of source to show which part of it failed. A row of carets, ^, marks the failing operation, and a row of tildes, ~, runs under the part of the expression that it was applied to. The feature was proposed in PEP 657 and arrived in Python 3.11 (Galindo Salgado et al., 2021).</a:t>
            </a:r>
            <a:endParaRPr lang="en-US" sz="1150" dirty="0"/>
          </a:p>
        </p:txBody>
      </p:sp>
      <p:sp>
        <p:nvSpPr>
          <p:cNvPr id="7" name="tbbox|b1"/>
          <p:cNvSpPr/>
          <p:nvPr/>
        </p:nvSpPr>
        <p:spPr>
          <a:xfrm>
            <a:off x="411480" y="2706624"/>
            <a:ext cx="3931920" cy="1463040"/>
          </a:xfrm>
          <a:prstGeom prst="roundRect">
            <a:avLst>
              <a:gd name="adj" fmla="val 6250"/>
            </a:avLst>
          </a:prstGeom>
          <a:solidFill>
            <a:srgbClr val="17202B"/>
          </a:solidFill>
          <a:ln w="12700">
            <a:solidFill>
              <a:srgbClr val="17202B"/>
            </a:solidFill>
            <a:prstDash val="solid"/>
          </a:ln>
        </p:spPr>
      </p:sp>
      <p:sp>
        <p:nvSpPr>
          <p:cNvPr id="8" name="v:FineGrainedLocations:text|b1"/>
          <p:cNvSpPr txBox="1"/>
          <p:nvPr/>
        </p:nvSpPr>
        <p:spPr>
          <a:xfrm>
            <a:off x="566928" y="2798064"/>
            <a:ext cx="3621024" cy="1280160"/>
          </a:xfrm>
          <a:prstGeom prst="rect">
            <a:avLst/>
          </a:prstGeom>
          <a:noFill/>
          <a:ln/>
        </p:spPr>
        <p:txBody>
          <a:bodyPr wrap="square" lIns="0" tIns="0" rIns="0" bIns="0" rtlCol="0" anchor="t"/>
          <a:lstStyle/>
          <a:p>
            <a:pPr indent="0" marL="0">
              <a:buNone/>
            </a:pPr>
            <a:r>
              <a:rPr lang="en-US" sz="950" dirty="0">
                <a:solidFill>
                  <a:srgbClr val="8FA3B8"/>
                </a:solidFill>
                <a:latin typeface="Courier New" pitchFamily="34" charset="0"/>
                <a:ea typeface="Courier New" pitchFamily="34" charset="-122"/>
                <a:cs typeface="Courier New" pitchFamily="34" charset="-120"/>
              </a:rPr>
              <a:t>Traceback (most recent call last):</a:t>
            </a:r>
            <a:endParaRPr lang="en-US" sz="950" dirty="0"/>
          </a:p>
          <a:p>
            <a:pPr indent="0" marL="0">
              <a:buNone/>
            </a:pPr>
            <a:r>
              <a:rPr lang="en-US" sz="950" dirty="0">
                <a:solidFill>
                  <a:srgbClr val="8FB8E8"/>
                </a:solidFill>
                <a:latin typeface="Courier New" pitchFamily="34" charset="0"/>
                <a:ea typeface="Courier New" pitchFamily="34" charset="-122"/>
                <a:cs typeface="Courier New" pitchFamily="34" charset="-120"/>
              </a:rPr>
              <a:t>  File "main.py", line 2, in &lt;module&gt;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print(data['a']['b']['c'])</a:t>
            </a:r>
            <a:endParaRPr lang="en-US" sz="950" dirty="0"/>
          </a:p>
          <a:p>
            <a:pPr indent="0" marL="0">
              <a:buNone/>
            </a:pPr>
            <a:r>
              <a:rPr lang="en-US" sz="950" dirty="0">
                <a:solidFill>
                  <a:srgbClr val="FFD43B"/>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FF7B72"/>
                </a:solidFill>
                <a:latin typeface="Courier New" pitchFamily="34" charset="0"/>
                <a:ea typeface="Courier New" pitchFamily="34" charset="-122"/>
                <a:cs typeface="Courier New" pitchFamily="34" charset="-120"/>
              </a:rPr>
              <a:t>TypeError: 'NoneType' object is not subscriptable</a:t>
            </a:r>
            <a:endParaRPr lang="en-US" sz="950" dirty="0"/>
          </a:p>
        </p:txBody>
      </p:sp>
      <p:sp>
        <p:nvSpPr>
          <p:cNvPr id="9" name="tbcap|b1"/>
          <p:cNvSpPr txBox="1"/>
          <p:nvPr/>
        </p:nvSpPr>
        <p:spPr>
          <a:xfrm>
            <a:off x="411480" y="4187952"/>
            <a:ext cx="393192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850" dirty="0"/>
          </a:p>
        </p:txBody>
      </p:sp>
      <p:sp>
        <p:nvSpPr>
          <p:cNvPr id="10" name="fgc"/>
          <p:cNvSpPr/>
          <p:nvPr/>
        </p:nvSpPr>
        <p:spPr>
          <a:xfrm>
            <a:off x="4617720" y="1207008"/>
            <a:ext cx="4114800" cy="1097280"/>
          </a:xfrm>
          <a:prstGeom prst="roundRect">
            <a:avLst>
              <a:gd name="adj" fmla="val 8333"/>
            </a:avLst>
          </a:prstGeom>
          <a:solidFill>
            <a:srgbClr val="17202B"/>
          </a:solidFill>
          <a:ln w="12700">
            <a:solidFill>
              <a:srgbClr val="17202B"/>
            </a:solidFill>
            <a:prstDash val="solid"/>
          </a:ln>
        </p:spPr>
      </p:sp>
      <p:sp>
        <p:nvSpPr>
          <p:cNvPr id="11" name="fgct"/>
          <p:cNvSpPr txBox="1"/>
          <p:nvPr/>
        </p:nvSpPr>
        <p:spPr>
          <a:xfrm>
            <a:off x="4754880" y="1280160"/>
            <a:ext cx="3840480" cy="950976"/>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data = {'a': {'b': 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print(data['a']['b']['c'])</a:t>
            </a:r>
            <a:endParaRPr lang="en-US" sz="1100" dirty="0"/>
          </a:p>
        </p:txBody>
      </p:sp>
      <p:sp>
        <p:nvSpPr>
          <p:cNvPr id="12" name="card|b2"/>
          <p:cNvSpPr/>
          <p:nvPr/>
        </p:nvSpPr>
        <p:spPr>
          <a:xfrm>
            <a:off x="4617720" y="2450592"/>
            <a:ext cx="4114800" cy="2121408"/>
          </a:xfrm>
          <a:prstGeom prst="roundRect">
            <a:avLst>
              <a:gd name="adj" fmla="val 4310"/>
            </a:avLst>
          </a:prstGeom>
          <a:solidFill>
            <a:srgbClr val="F1F4F8"/>
          </a:solidFill>
          <a:ln w="12700">
            <a:solidFill>
              <a:srgbClr val="F1F4F8"/>
            </a:solidFill>
            <a:prstDash val="solid"/>
          </a:ln>
        </p:spPr>
      </p:sp>
      <p:sp>
        <p:nvSpPr>
          <p:cNvPr id="13" name="cardhead|b2"/>
          <p:cNvSpPr txBox="1"/>
          <p:nvPr/>
        </p:nvSpPr>
        <p:spPr>
          <a:xfrm>
            <a:off x="4764024" y="2523744"/>
            <a:ext cx="382219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What the carets mark</a:t>
            </a:r>
            <a:endParaRPr lang="en-US" sz="1500" dirty="0"/>
          </a:p>
        </p:txBody>
      </p:sp>
      <p:sp>
        <p:nvSpPr>
          <p:cNvPr id="14" name="cardbody|b2"/>
          <p:cNvSpPr txBox="1"/>
          <p:nvPr/>
        </p:nvSpPr>
        <p:spPr>
          <a:xfrm>
            <a:off x="4764024" y="2852928"/>
            <a:ext cx="3822192" cy="16459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Python records, for each bytecode instruction, the start and end columns of the source it came from, and the traceback machinery uses these ranges to draw the marks (Galindo Salgado et al., 2021). The marks depend on the interpreter: for the call line process('abc') of the previous concept, Python 3.14 draws tildes and carets and Python 3.12 does not, so the exact picture varies between versions even when the first and last lines are the same.</a:t>
            </a:r>
            <a:endParaRPr lang="en-US" sz="11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 notes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exception can carry notes added with add_note, kept in __notes__ and printed after the traceback, so code that re-raises can add context.</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exception note is a short piece of text added to an exception after it has been created. The method add_note(note) adds a string to the exception's notes, which are kept in the list __notes__, and the standard traceback shows the notes after the exception string (Python Software Foundation, 2026). The feature was proposed in PEP 678 and arrived in Python 3.11 (Hatfield-Dodds, 2021).</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In a program that tries int('abc'), catches the ValueError, calls add_note('while reading the age field') and then raises again, the last two lines of the traceback are ValueError: invalid literal for int() with base 10: 'abc' and while reading the age field.</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argument must be a string; passing anything else raises TypeError (Python Software Foundation, 2026). Notes are not part of the message, so str(err) does not contain them, and code that logs only str(err) loses them.</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(lambda e: (e.add_note('n'), e.__notes__)[1])(ValueError('x'))</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['n']</a:t>
            </a:r>
            <a:endParaRPr lang="en-US" sz="6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The pattern is used when a handler cannot repair a problem but knows more than the raiser. The Python tutorial shows a handler that adds a note and then uses a bare raise, so the traceback ends with the exception and its notes in the order they were added (Python Software Foundation, 2026).</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e.add_note('while reading the age field')</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Exception notes: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int('x')</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except ValueError as 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e.add_note('while reading the age field')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raise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except ValueError as 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print(e.__notes__)</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notes_v1_0_0.py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['while reading the age field']</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a program that tries int('abc'), catches the ValueError, calls add_note('while reading the age field') and then raises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Standard error stream</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second output channel of a program, used by the interpreter for tracebacks and error messages, separate from the standard output that print uses.</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standard error stream is a second channel of output that every program has next to its ordinary output. Python's documentation describes the standard streams as file objects: stdin is used for all interactive input, including calls to input; stdout is used for the output of print and for the prompts of input; and the interpreter's own prompts and error messages go to stderr (Python Software Foundation, 2026). A stream is simply a flow of text out of or into the program.</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function print writes to sys.stdout unless the keyword argument file is given, and an uncaught exception is reported by sys.excepthook, which prints the traceback to sys.stderr (Python Software Foundation, 2026). Writing to the error stream on purpose therefore needs only print(..., file=sys.stderr), where sys is the module that holds the streams.</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Do not print the information that other programs must read to the error stream, and do not print error messages to the standard output of a program whose output is processed further. Remember, too, that a log message sent to the screen goes by default to the error stream, not to the standard output.</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signalling  &gt;  Tracebacks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print('...', file=sys.stderr)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Assertion</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An assertion is a statement that a certain condition must be true at a certain point of a program, together with a check that stops the program at once if it is not.</a:t>
            </a:r>
            <a:endParaRPr lang="en-US" sz="1150" dirty="0"/>
          </a:p>
        </p:txBody>
      </p:sp>
      <p:sp>
        <p:nvSpPr>
          <p:cNvPr id="4" name="br1|b1"/>
          <p:cNvSpPr/>
          <p:nvPr/>
        </p:nvSpPr>
        <p:spPr>
          <a:xfrm>
            <a:off x="457200" y="1828800"/>
            <a:ext cx="8229600"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8156448"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Assert</a:t>
            </a:r>
            <a:endParaRPr lang="en-US" sz="1400" dirty="0"/>
          </a:p>
        </p:txBody>
      </p:sp>
      <p:sp>
        <p:nvSpPr>
          <p:cNvPr id="6" name="br2|b1"/>
          <p:cNvSpPr/>
          <p:nvPr/>
        </p:nvSpPr>
        <p:spPr>
          <a:xfrm>
            <a:off x="457200" y="2359152"/>
            <a:ext cx="8229600"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8046720"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Sanity check</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Assert statement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Sorted-order check</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Assertion failure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Assert message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Fail fast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Assert versus raise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Optimised mode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Command-line option</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Assert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assert group covers the mechanics and the discipline of assertions.</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Assertions are easy to write and easy to misuse. The same statement that gives an early warning during development can become a security or correctness hole if it stands in for a check that must always run, because Python can be told to leave assertions out. The concepts of this group therefore pair every mechanism with the limit that goes with it.</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concepts begin with the idea of the sanity check and the statement that implements it, then the list example from the chapter, the failure, the message, the rule of fail fast, the choice between assertion and exception, the option that removes assertions, and the command-line options in general.</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28854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Sanity check</a:t>
            </a:r>
            <a:endParaRPr lang="en-US" sz="1200" dirty="0"/>
          </a:p>
        </p:txBody>
      </p:sp>
      <p:sp>
        <p:nvSpPr>
          <p:cNvPr id="13" name="ltb|b1"/>
          <p:cNvSpPr/>
          <p:nvPr/>
        </p:nvSpPr>
        <p:spPr>
          <a:xfrm>
            <a:off x="6493154" y="1581912"/>
            <a:ext cx="2239366" cy="28854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ages[0] &lt;= ages[-1] after sorting</a:t>
            </a:r>
            <a:endParaRPr lang="en-US" sz="850" dirty="0"/>
          </a:p>
        </p:txBody>
      </p:sp>
      <p:sp>
        <p:nvSpPr>
          <p:cNvPr id="15" name="ltb|b2"/>
          <p:cNvSpPr/>
          <p:nvPr/>
        </p:nvSpPr>
        <p:spPr>
          <a:xfrm>
            <a:off x="5120640" y="1907032"/>
            <a:ext cx="1335938" cy="288544"/>
          </a:xfrm>
          <a:prstGeom prst="rect">
            <a:avLst/>
          </a:prstGeom>
          <a:solidFill>
            <a:srgbClr val="E3EEF8"/>
          </a:solidFill>
          <a:ln w="12700">
            <a:solidFill>
              <a:srgbClr val="E3EEF8"/>
            </a:solidFill>
            <a:prstDash val="solid"/>
          </a:ln>
        </p:spPr>
      </p:sp>
      <p:sp>
        <p:nvSpPr>
          <p:cNvPr id="16" name="lta|b2"/>
          <p:cNvSpPr txBox="1"/>
          <p:nvPr/>
        </p:nvSpPr>
        <p:spPr>
          <a:xfrm>
            <a:off x="5184648" y="1907032"/>
            <a:ext cx="1207922" cy="288544"/>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Assert statement</a:t>
            </a:r>
            <a:endParaRPr lang="en-US" sz="1100" dirty="0"/>
          </a:p>
        </p:txBody>
      </p:sp>
      <p:sp>
        <p:nvSpPr>
          <p:cNvPr id="17" name="ltb|b2"/>
          <p:cNvSpPr/>
          <p:nvPr/>
        </p:nvSpPr>
        <p:spPr>
          <a:xfrm>
            <a:off x="6493154" y="1907032"/>
            <a:ext cx="2239366" cy="288544"/>
          </a:xfrm>
          <a:prstGeom prst="rect">
            <a:avLst/>
          </a:prstGeom>
          <a:solidFill>
            <a:srgbClr val="F1F4F8"/>
          </a:solidFill>
          <a:ln w="12700">
            <a:solidFill>
              <a:srgbClr val="F1F4F8"/>
            </a:solidFill>
            <a:prstDash val="solid"/>
          </a:ln>
        </p:spPr>
      </p:sp>
      <p:sp>
        <p:nvSpPr>
          <p:cNvPr id="18" name="ltb2|b2"/>
          <p:cNvSpPr txBox="1"/>
          <p:nvPr/>
        </p:nvSpPr>
        <p:spPr>
          <a:xfrm>
            <a:off x="6557162" y="1907032"/>
            <a:ext cx="2074774" cy="288544"/>
          </a:xfrm>
          <a:prstGeom prst="rect">
            <a:avLst/>
          </a:prstGeom>
          <a:noFill/>
          <a:ln/>
        </p:spPr>
        <p:txBody>
          <a:bodyPr wrap="square" lIns="0" tIns="0" rIns="0" bIns="0" rtlCol="0" anchor="ctr"/>
          <a:lstStyle/>
          <a:p>
            <a:pPr indent="0" marL="0">
              <a:buNone/>
            </a:pPr>
            <a:r>
              <a:rPr lang="en-US" sz="1000" dirty="0">
                <a:solidFill>
                  <a:srgbClr val="1F2933"/>
                </a:solidFill>
                <a:latin typeface="Courier New" pitchFamily="34" charset="0"/>
                <a:ea typeface="Courier New" pitchFamily="34" charset="-122"/>
                <a:cs typeface="Courier New" pitchFamily="34" charset="-120"/>
              </a:rPr>
              <a:t>assert ages[0] &lt;= ages[-1]</a:t>
            </a:r>
            <a:endParaRPr lang="en-US" sz="1000" dirty="0"/>
          </a:p>
        </p:txBody>
      </p:sp>
      <p:sp>
        <p:nvSpPr>
          <p:cNvPr id="19" name="ltb|b3"/>
          <p:cNvSpPr/>
          <p:nvPr/>
        </p:nvSpPr>
        <p:spPr>
          <a:xfrm>
            <a:off x="5120640" y="2232152"/>
            <a:ext cx="1335938" cy="288544"/>
          </a:xfrm>
          <a:prstGeom prst="rect">
            <a:avLst/>
          </a:prstGeom>
          <a:solidFill>
            <a:srgbClr val="E3EEF8"/>
          </a:solidFill>
          <a:ln w="12700">
            <a:solidFill>
              <a:srgbClr val="E3EEF8"/>
            </a:solidFill>
            <a:prstDash val="solid"/>
          </a:ln>
        </p:spPr>
      </p:sp>
      <p:sp>
        <p:nvSpPr>
          <p:cNvPr id="20" name="lta|b3"/>
          <p:cNvSpPr txBox="1"/>
          <p:nvPr/>
        </p:nvSpPr>
        <p:spPr>
          <a:xfrm>
            <a:off x="5184648" y="2232152"/>
            <a:ext cx="1207922" cy="288544"/>
          </a:xfrm>
          <a:prstGeom prst="rect">
            <a:avLst/>
          </a:prstGeom>
          <a:noFill/>
          <a:ln/>
        </p:spPr>
        <p:txBody>
          <a:bodyPr wrap="square" lIns="0" tIns="0" rIns="0" bIns="0" rtlCol="0" anchor="ctr"/>
          <a:lstStyle/>
          <a:p>
            <a:pPr indent="0" marL="0">
              <a:buNone/>
            </a:pPr>
            <a:r>
              <a:rPr lang="en-US" sz="1000" b="1" dirty="0">
                <a:solidFill>
                  <a:srgbClr val="1E2A3A"/>
                </a:solidFill>
                <a:latin typeface="Calibri" pitchFamily="34" charset="0"/>
                <a:ea typeface="Calibri" pitchFamily="34" charset="-122"/>
                <a:cs typeface="Calibri" pitchFamily="34" charset="-120"/>
              </a:rPr>
              <a:t>Sorted-order check</a:t>
            </a:r>
            <a:endParaRPr lang="en-US" sz="1000" dirty="0"/>
          </a:p>
        </p:txBody>
      </p:sp>
      <p:sp>
        <p:nvSpPr>
          <p:cNvPr id="21" name="ltb|b3"/>
          <p:cNvSpPr/>
          <p:nvPr/>
        </p:nvSpPr>
        <p:spPr>
          <a:xfrm>
            <a:off x="6493154" y="2232152"/>
            <a:ext cx="2239366" cy="288544"/>
          </a:xfrm>
          <a:prstGeom prst="rect">
            <a:avLst/>
          </a:prstGeom>
          <a:solidFill>
            <a:srgbClr val="F1F4F8"/>
          </a:solidFill>
          <a:ln w="12700">
            <a:solidFill>
              <a:srgbClr val="F1F4F8"/>
            </a:solidFill>
            <a:prstDash val="solid"/>
          </a:ln>
        </p:spPr>
      </p:sp>
      <p:sp>
        <p:nvSpPr>
          <p:cNvPr id="22" name="ltb2|b3"/>
          <p:cNvSpPr txBox="1"/>
          <p:nvPr/>
        </p:nvSpPr>
        <p:spPr>
          <a:xfrm>
            <a:off x="6557162" y="2232152"/>
            <a:ext cx="2074774" cy="288544"/>
          </a:xfrm>
          <a:prstGeom prst="rect">
            <a:avLst/>
          </a:prstGeom>
          <a:noFill/>
          <a:ln/>
        </p:spPr>
        <p:txBody>
          <a:bodyPr wrap="square" lIns="0" tIns="0" rIns="0" bIns="0" rtlCol="0" anchor="ctr"/>
          <a:lstStyle/>
          <a:p>
            <a:pPr indent="0" marL="0">
              <a:buNone/>
            </a:pPr>
            <a:r>
              <a:rPr lang="en-US" sz="1000" dirty="0">
                <a:solidFill>
                  <a:srgbClr val="1F2933"/>
                </a:solidFill>
                <a:latin typeface="Courier New" pitchFamily="34" charset="0"/>
                <a:ea typeface="Courier New" pitchFamily="34" charset="-122"/>
                <a:cs typeface="Courier New" pitchFamily="34" charset="-120"/>
              </a:rPr>
              <a:t>assert ages[0] &lt;= ages[-1]</a:t>
            </a:r>
            <a:endParaRPr lang="en-US" sz="1000" dirty="0"/>
          </a:p>
        </p:txBody>
      </p:sp>
      <p:sp>
        <p:nvSpPr>
          <p:cNvPr id="23" name="ltb|b4"/>
          <p:cNvSpPr/>
          <p:nvPr/>
        </p:nvSpPr>
        <p:spPr>
          <a:xfrm>
            <a:off x="5120640" y="2557272"/>
            <a:ext cx="1335938" cy="288544"/>
          </a:xfrm>
          <a:prstGeom prst="rect">
            <a:avLst/>
          </a:prstGeom>
          <a:solidFill>
            <a:srgbClr val="E3EEF8"/>
          </a:solidFill>
          <a:ln w="12700">
            <a:solidFill>
              <a:srgbClr val="E3EEF8"/>
            </a:solidFill>
            <a:prstDash val="solid"/>
          </a:ln>
        </p:spPr>
      </p:sp>
      <p:sp>
        <p:nvSpPr>
          <p:cNvPr id="24" name="lta|b4"/>
          <p:cNvSpPr txBox="1"/>
          <p:nvPr/>
        </p:nvSpPr>
        <p:spPr>
          <a:xfrm>
            <a:off x="5184648" y="2557272"/>
            <a:ext cx="1207922" cy="288544"/>
          </a:xfrm>
          <a:prstGeom prst="rect">
            <a:avLst/>
          </a:prstGeom>
          <a:noFill/>
          <a:ln/>
        </p:spPr>
        <p:txBody>
          <a:bodyPr wrap="square" lIns="0" tIns="0" rIns="0" bIns="0" rtlCol="0" anchor="ctr"/>
          <a:lstStyle/>
          <a:p>
            <a:pPr indent="0" marL="0">
              <a:buNone/>
            </a:pPr>
            <a:r>
              <a:rPr lang="en-US" sz="1050" b="1" dirty="0">
                <a:solidFill>
                  <a:srgbClr val="1E2A3A"/>
                </a:solidFill>
                <a:latin typeface="Calibri" pitchFamily="34" charset="0"/>
                <a:ea typeface="Calibri" pitchFamily="34" charset="-122"/>
                <a:cs typeface="Calibri" pitchFamily="34" charset="-120"/>
              </a:rPr>
              <a:t>Assertion failure</a:t>
            </a:r>
            <a:endParaRPr lang="en-US" sz="1050" dirty="0"/>
          </a:p>
        </p:txBody>
      </p:sp>
      <p:sp>
        <p:nvSpPr>
          <p:cNvPr id="25" name="ltb|b4"/>
          <p:cNvSpPr/>
          <p:nvPr/>
        </p:nvSpPr>
        <p:spPr>
          <a:xfrm>
            <a:off x="6493154" y="2557272"/>
            <a:ext cx="2239366" cy="288544"/>
          </a:xfrm>
          <a:prstGeom prst="rect">
            <a:avLst/>
          </a:prstGeom>
          <a:solidFill>
            <a:srgbClr val="F1F4F8"/>
          </a:solidFill>
          <a:ln w="12700">
            <a:solidFill>
              <a:srgbClr val="F1F4F8"/>
            </a:solidFill>
            <a:prstDash val="solid"/>
          </a:ln>
        </p:spPr>
      </p:sp>
      <p:sp>
        <p:nvSpPr>
          <p:cNvPr id="26" name="ltb2|b4"/>
          <p:cNvSpPr txBox="1"/>
          <p:nvPr/>
        </p:nvSpPr>
        <p:spPr>
          <a:xfrm>
            <a:off x="6557162" y="255727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AssertionError</a:t>
            </a:r>
            <a:endParaRPr lang="en-US" sz="1100" dirty="0"/>
          </a:p>
        </p:txBody>
      </p:sp>
      <p:sp>
        <p:nvSpPr>
          <p:cNvPr id="27" name="ltb|b5"/>
          <p:cNvSpPr/>
          <p:nvPr/>
        </p:nvSpPr>
        <p:spPr>
          <a:xfrm>
            <a:off x="5120640" y="2882392"/>
            <a:ext cx="1335938" cy="288544"/>
          </a:xfrm>
          <a:prstGeom prst="rect">
            <a:avLst/>
          </a:prstGeom>
          <a:solidFill>
            <a:srgbClr val="E3EEF8"/>
          </a:solidFill>
          <a:ln w="12700">
            <a:solidFill>
              <a:srgbClr val="E3EEF8"/>
            </a:solidFill>
            <a:prstDash val="solid"/>
          </a:ln>
        </p:spPr>
      </p:sp>
      <p:sp>
        <p:nvSpPr>
          <p:cNvPr id="28" name="lta|b5"/>
          <p:cNvSpPr txBox="1"/>
          <p:nvPr/>
        </p:nvSpPr>
        <p:spPr>
          <a:xfrm>
            <a:off x="5184648" y="288239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Assert message</a:t>
            </a:r>
            <a:endParaRPr lang="en-US" sz="1200" dirty="0"/>
          </a:p>
        </p:txBody>
      </p:sp>
      <p:sp>
        <p:nvSpPr>
          <p:cNvPr id="29" name="ltb|b5"/>
          <p:cNvSpPr/>
          <p:nvPr/>
        </p:nvSpPr>
        <p:spPr>
          <a:xfrm>
            <a:off x="6493154" y="2882392"/>
            <a:ext cx="2239366" cy="288544"/>
          </a:xfrm>
          <a:prstGeom prst="rect">
            <a:avLst/>
          </a:prstGeom>
          <a:solidFill>
            <a:srgbClr val="F1F4F8"/>
          </a:solidFill>
          <a:ln w="12700">
            <a:solidFill>
              <a:srgbClr val="F1F4F8"/>
            </a:solidFill>
            <a:prstDash val="solid"/>
          </a:ln>
        </p:spPr>
      </p:sp>
      <p:sp>
        <p:nvSpPr>
          <p:cNvPr id="30" name="ltb2|b5"/>
          <p:cNvSpPr txBox="1"/>
          <p:nvPr/>
        </p:nvSpPr>
        <p:spPr>
          <a:xfrm>
            <a:off x="6557162" y="288239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assert x &gt; 0, f'x must be positive, got {x}'</a:t>
            </a:r>
            <a:endParaRPr lang="en-US" sz="850" dirty="0"/>
          </a:p>
        </p:txBody>
      </p:sp>
      <p:sp>
        <p:nvSpPr>
          <p:cNvPr id="31" name="ltb|b6"/>
          <p:cNvSpPr/>
          <p:nvPr/>
        </p:nvSpPr>
        <p:spPr>
          <a:xfrm>
            <a:off x="5120640" y="3207512"/>
            <a:ext cx="1335938" cy="288544"/>
          </a:xfrm>
          <a:prstGeom prst="rect">
            <a:avLst/>
          </a:prstGeom>
          <a:solidFill>
            <a:srgbClr val="E3EEF8"/>
          </a:solidFill>
          <a:ln w="12700">
            <a:solidFill>
              <a:srgbClr val="E3EEF8"/>
            </a:solidFill>
            <a:prstDash val="solid"/>
          </a:ln>
        </p:spPr>
      </p:sp>
      <p:sp>
        <p:nvSpPr>
          <p:cNvPr id="32" name="lta|b6"/>
          <p:cNvSpPr txBox="1"/>
          <p:nvPr/>
        </p:nvSpPr>
        <p:spPr>
          <a:xfrm>
            <a:off x="5184648" y="320751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Fail fast</a:t>
            </a:r>
            <a:endParaRPr lang="en-US" sz="1200" dirty="0"/>
          </a:p>
        </p:txBody>
      </p:sp>
      <p:sp>
        <p:nvSpPr>
          <p:cNvPr id="33" name="ltb|b6"/>
          <p:cNvSpPr/>
          <p:nvPr/>
        </p:nvSpPr>
        <p:spPr>
          <a:xfrm>
            <a:off x="6493154" y="3207512"/>
            <a:ext cx="2239366" cy="288544"/>
          </a:xfrm>
          <a:prstGeom prst="rect">
            <a:avLst/>
          </a:prstGeom>
          <a:solidFill>
            <a:srgbClr val="F1F4F8"/>
          </a:solidFill>
          <a:ln w="12700">
            <a:solidFill>
              <a:srgbClr val="F1F4F8"/>
            </a:solidFill>
            <a:prstDash val="solid"/>
          </a:ln>
        </p:spPr>
      </p:sp>
      <p:sp>
        <p:nvSpPr>
          <p:cNvPr id="34" name="ltb2|b6"/>
          <p:cNvSpPr txBox="1"/>
          <p:nvPr/>
        </p:nvSpPr>
        <p:spPr>
          <a:xfrm>
            <a:off x="6557162" y="320751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assert at the point of the assumption</a:t>
            </a:r>
            <a:endParaRPr lang="en-US" sz="850" dirty="0"/>
          </a:p>
        </p:txBody>
      </p:sp>
      <p:sp>
        <p:nvSpPr>
          <p:cNvPr id="35" name="ltb|b7"/>
          <p:cNvSpPr/>
          <p:nvPr/>
        </p:nvSpPr>
        <p:spPr>
          <a:xfrm>
            <a:off x="5120640" y="3532632"/>
            <a:ext cx="1335938" cy="288544"/>
          </a:xfrm>
          <a:prstGeom prst="rect">
            <a:avLst/>
          </a:prstGeom>
          <a:solidFill>
            <a:srgbClr val="E3EEF8"/>
          </a:solidFill>
          <a:ln w="12700">
            <a:solidFill>
              <a:srgbClr val="E3EEF8"/>
            </a:solidFill>
            <a:prstDash val="solid"/>
          </a:ln>
        </p:spPr>
      </p:sp>
      <p:sp>
        <p:nvSpPr>
          <p:cNvPr id="36" name="lta|b7"/>
          <p:cNvSpPr txBox="1"/>
          <p:nvPr/>
        </p:nvSpPr>
        <p:spPr>
          <a:xfrm>
            <a:off x="5184648" y="3532632"/>
            <a:ext cx="1207922" cy="288544"/>
          </a:xfrm>
          <a:prstGeom prst="rect">
            <a:avLst/>
          </a:prstGeom>
          <a:noFill/>
          <a:ln/>
        </p:spPr>
        <p:txBody>
          <a:bodyPr wrap="square" lIns="0" tIns="0" rIns="0" bIns="0" rtlCol="0" anchor="ctr"/>
          <a:lstStyle/>
          <a:p>
            <a:pPr indent="0" marL="0">
              <a:buNone/>
            </a:pPr>
            <a:r>
              <a:rPr lang="en-US" sz="950" b="1" dirty="0">
                <a:solidFill>
                  <a:srgbClr val="1E2A3A"/>
                </a:solidFill>
                <a:latin typeface="Calibri" pitchFamily="34" charset="0"/>
                <a:ea typeface="Calibri" pitchFamily="34" charset="-122"/>
                <a:cs typeface="Calibri" pitchFamily="34" charset="-120"/>
              </a:rPr>
              <a:t>Assert versus raise</a:t>
            </a:r>
            <a:endParaRPr lang="en-US" sz="950" dirty="0"/>
          </a:p>
        </p:txBody>
      </p:sp>
      <p:sp>
        <p:nvSpPr>
          <p:cNvPr id="37" name="ltb|b7"/>
          <p:cNvSpPr/>
          <p:nvPr/>
        </p:nvSpPr>
        <p:spPr>
          <a:xfrm>
            <a:off x="6493154" y="3532632"/>
            <a:ext cx="2239366" cy="288544"/>
          </a:xfrm>
          <a:prstGeom prst="rect">
            <a:avLst/>
          </a:prstGeom>
          <a:solidFill>
            <a:srgbClr val="F1F4F8"/>
          </a:solidFill>
          <a:ln w="12700">
            <a:solidFill>
              <a:srgbClr val="F1F4F8"/>
            </a:solidFill>
            <a:prstDash val="solid"/>
          </a:ln>
        </p:spPr>
      </p:sp>
      <p:sp>
        <p:nvSpPr>
          <p:cNvPr id="38" name="ltb2|b7"/>
          <p:cNvSpPr txBox="1"/>
          <p:nvPr/>
        </p:nvSpPr>
        <p:spPr>
          <a:xfrm>
            <a:off x="6557162" y="353263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user error or programmer error</a:t>
            </a:r>
            <a:endParaRPr lang="en-US" sz="850" dirty="0"/>
          </a:p>
        </p:txBody>
      </p:sp>
      <p:sp>
        <p:nvSpPr>
          <p:cNvPr id="39" name="ltb|b8"/>
          <p:cNvSpPr/>
          <p:nvPr/>
        </p:nvSpPr>
        <p:spPr>
          <a:xfrm>
            <a:off x="5120640" y="3857752"/>
            <a:ext cx="1335938" cy="288544"/>
          </a:xfrm>
          <a:prstGeom prst="rect">
            <a:avLst/>
          </a:prstGeom>
          <a:solidFill>
            <a:srgbClr val="E3EEF8"/>
          </a:solidFill>
          <a:ln w="12700">
            <a:solidFill>
              <a:srgbClr val="E3EEF8"/>
            </a:solidFill>
            <a:prstDash val="solid"/>
          </a:ln>
        </p:spPr>
      </p:sp>
      <p:sp>
        <p:nvSpPr>
          <p:cNvPr id="40" name="lta|b8"/>
          <p:cNvSpPr txBox="1"/>
          <p:nvPr/>
        </p:nvSpPr>
        <p:spPr>
          <a:xfrm>
            <a:off x="5184648" y="385775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Optimised mode</a:t>
            </a:r>
            <a:endParaRPr lang="en-US" sz="1200" dirty="0"/>
          </a:p>
        </p:txBody>
      </p:sp>
      <p:sp>
        <p:nvSpPr>
          <p:cNvPr id="41" name="ltb|b8"/>
          <p:cNvSpPr/>
          <p:nvPr/>
        </p:nvSpPr>
        <p:spPr>
          <a:xfrm>
            <a:off x="6493154" y="3857752"/>
            <a:ext cx="2239366" cy="288544"/>
          </a:xfrm>
          <a:prstGeom prst="rect">
            <a:avLst/>
          </a:prstGeom>
          <a:solidFill>
            <a:srgbClr val="F1F4F8"/>
          </a:solidFill>
          <a:ln w="12700">
            <a:solidFill>
              <a:srgbClr val="F1F4F8"/>
            </a:solidFill>
            <a:prstDash val="solid"/>
          </a:ln>
        </p:spPr>
      </p:sp>
      <p:sp>
        <p:nvSpPr>
          <p:cNvPr id="42" name="ltb2|b8"/>
          <p:cNvSpPr txBox="1"/>
          <p:nvPr/>
        </p:nvSpPr>
        <p:spPr>
          <a:xfrm>
            <a:off x="6557162" y="385775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python -O</a:t>
            </a:r>
            <a:endParaRPr lang="en-US" sz="1100" dirty="0"/>
          </a:p>
        </p:txBody>
      </p:sp>
      <p:sp>
        <p:nvSpPr>
          <p:cNvPr id="43" name="ltb|b9"/>
          <p:cNvSpPr/>
          <p:nvPr/>
        </p:nvSpPr>
        <p:spPr>
          <a:xfrm>
            <a:off x="5120640" y="4182872"/>
            <a:ext cx="1335938" cy="288544"/>
          </a:xfrm>
          <a:prstGeom prst="rect">
            <a:avLst/>
          </a:prstGeom>
          <a:solidFill>
            <a:srgbClr val="E3EEF8"/>
          </a:solidFill>
          <a:ln w="12700">
            <a:solidFill>
              <a:srgbClr val="E3EEF8"/>
            </a:solidFill>
            <a:prstDash val="solid"/>
          </a:ln>
        </p:spPr>
      </p:sp>
      <p:sp>
        <p:nvSpPr>
          <p:cNvPr id="44" name="lta|b9"/>
          <p:cNvSpPr txBox="1"/>
          <p:nvPr/>
        </p:nvSpPr>
        <p:spPr>
          <a:xfrm>
            <a:off x="5184648" y="4182872"/>
            <a:ext cx="1207922" cy="288544"/>
          </a:xfrm>
          <a:prstGeom prst="rect">
            <a:avLst/>
          </a:prstGeom>
          <a:noFill/>
          <a:ln/>
        </p:spPr>
        <p:txBody>
          <a:bodyPr wrap="square" lIns="0" tIns="0" rIns="0" bIns="0" rtlCol="0" anchor="ctr"/>
          <a:lstStyle/>
          <a:p>
            <a:pPr indent="0" marL="0">
              <a:buNone/>
            </a:pPr>
            <a:r>
              <a:rPr lang="en-US" sz="950" b="1" dirty="0">
                <a:solidFill>
                  <a:srgbClr val="1E2A3A"/>
                </a:solidFill>
                <a:latin typeface="Calibri" pitchFamily="34" charset="0"/>
                <a:ea typeface="Calibri" pitchFamily="34" charset="-122"/>
                <a:cs typeface="Calibri" pitchFamily="34" charset="-120"/>
              </a:rPr>
              <a:t>Command-line option</a:t>
            </a:r>
            <a:endParaRPr lang="en-US" sz="950" dirty="0"/>
          </a:p>
        </p:txBody>
      </p:sp>
      <p:sp>
        <p:nvSpPr>
          <p:cNvPr id="45" name="ltb|b9"/>
          <p:cNvSpPr/>
          <p:nvPr/>
        </p:nvSpPr>
        <p:spPr>
          <a:xfrm>
            <a:off x="6493154" y="4182872"/>
            <a:ext cx="2239366" cy="288544"/>
          </a:xfrm>
          <a:prstGeom prst="rect">
            <a:avLst/>
          </a:prstGeom>
          <a:solidFill>
            <a:srgbClr val="F1F4F8"/>
          </a:solidFill>
          <a:ln w="12700">
            <a:solidFill>
              <a:srgbClr val="F1F4F8"/>
            </a:solidFill>
            <a:prstDash val="solid"/>
          </a:ln>
        </p:spPr>
      </p:sp>
      <p:sp>
        <p:nvSpPr>
          <p:cNvPr id="46" name="ltb2|b9"/>
          <p:cNvSpPr txBox="1"/>
          <p:nvPr/>
        </p:nvSpPr>
        <p:spPr>
          <a:xfrm>
            <a:off x="6557162" y="418287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python -O script.py</a:t>
            </a:r>
            <a:endParaRPr lang="en-US" sz="1100" dirty="0"/>
          </a:p>
        </p:txBody>
      </p:sp>
      <p:sp>
        <p:nvSpPr>
          <p:cNvPr id="4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4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9" fill="hold">
                      <p:stCondLst>
                        <p:cond delay="indefinite"/>
                      </p:stCondLst>
                      <p:childTnLst>
                        <p:par>
                          <p:cTn id="100"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childTnLst>
                          </p:cTn>
                        </p:par>
                      </p:childTnLst>
                    </p:cTn>
                  </p:par>
                  <p:par>
                    <p:cTn id="113" fill="hold">
                      <p:stCondLst>
                        <p:cond delay="indefinite"/>
                      </p:stCondLst>
                      <p:childTnLst>
                        <p:par>
                          <p:cTn id="114"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fade">
                                      <p:cBhvr>
                                        <p:cTn id="103" dur="400"/>
                                        <p:tgtEl>
                                          <p:spTgt spid="3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400"/>
                                        <p:tgtEl>
                                          <p:spTgt spid="40"/>
                                        </p:tgtEl>
                                      </p:cBhvr>
                                    </p:animEffect>
                                  </p:childTnLst>
                                </p:cTn>
                              </p:par>
                              <p:par>
                                <p:cTn id="107" presetID="10" presetClass="entr" presetSubtype="0" fill="hold" nodeType="with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400"/>
                                        <p:tgtEl>
                                          <p:spTgt spid="4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fade">
                                      <p:cBhvr>
                                        <p:cTn id="112" dur="400"/>
                                        <p:tgtEl>
                                          <p:spTgt spid="42"/>
                                        </p:tgtEl>
                                      </p:cBhvr>
                                    </p:animEffect>
                                  </p:childTnLst>
                                </p:cTn>
                              </p:par>
                            </p:childTnLst>
                          </p:cTn>
                        </p:par>
                      </p:childTnLst>
                    </p:cTn>
                  </p:par>
                  <p:par>
                    <p:cTn id="127" fill="hold">
                      <p:stCondLst>
                        <p:cond delay="indefinite"/>
                      </p:stCondLst>
                      <p:childTnLst>
                        <p:par>
                          <p:cTn id="128"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4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400"/>
                                        <p:tgtEl>
                                          <p:spTgt spid="44"/>
                                        </p:tgtEl>
                                      </p:cBhvr>
                                    </p:animEffect>
                                  </p:childTnLst>
                                </p:cTn>
                              </p:par>
                              <p:par>
                                <p:cTn id="121" presetID="10" presetClass="entr" presetSubtype="0" fill="hold"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4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Sanity check</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cheap test of a result that must hold if the code before it is correct, written to catch an obvious mistake early.</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sanity check is a quick test that a result is not obviously wrong. It does not prove that a program is correct; it checks a property that must hold if the preceding code did its job, and it fails loudly when the property is violated. The chapter defines an assertion in just these terms: a sanity check to make sure the code is not doing something obviously wrong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check is a condition, an expression whose value is True or False, and the assert statement stops the program when it is false. For example, sorted([3, 1, 2]) == [1, 2, 3] evaluates to True, so the check passes in silence, whereas sorted([3, 1, 2]) == [3, 2, 1] evaluates to False and an assertion built from it would fail.</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sanity check should be independent of the code it checks. If it recomputes the result with the same faulty logic, it will agree with the bug.</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sorted([3, 1, 2]) == [1, 2, 3]</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Typical sanity checks compare a computed total with the sum of its parts, check that a result has the expected length, check that a number lies within its allowed range, or check that a collection that should be sorted is in order. They are placed directly after the code whose result they test.</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ages[0] &lt;= ages[-1] after sorting</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Assert statement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assert statement checks a condition the programmer believes is true and raises AssertionError when it is false.</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assert statement checks a condition and raises an AssertionError exception if the condition is false. In the chapter it consists of the keyword assert, a condition that is an expression evaluating to True or False, and optionally a comma followed by a string to display when the condition is False (Sweigart, 2025). In plain English it says: I assert that the condition holds, and if not, there is a bug somewhere, so stop the program immediately.</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language reference defines the simple form, ...</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Do not put the condition and the message in parentheses together.</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ages = [26, 57, 92, 54, 22, 15, 17, 80, 47, 73]</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ages.reverse()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try: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assert ages[0] &lt;= ages[-1]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print('the list is sorted')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except AssertionError as 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print(type(e).__name__, repr(str(e)))</a:t>
            </a:r>
            <a:endParaRPr lang="en-US" sz="10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assertdemo_v1_0_0.py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AssertionError ''</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assert ages[0] &lt;= ages[-1]</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Sorted-order check</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chapter's example of a sanity check on a list: after sort() the first item is not larger than the last, and after reverse() it is.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sorted-order check is the chapter's example of an assertion. It uses a list, which is an ordered collection of values written between square brackets, such as [26, 57, 92]. Items are reached by their position, called the index, which starts at 0, so ages[0] is the first item, and a negative index counts from the end, so ages[-1] is the last item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Both sort() and reverse() change the list in place, which is why the chapter calls them in separate statements and then looks at the list (Python Software Foundation, 2026); when they are run they give back None, so a line such as ages = ages.sort() would destroy the list.</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check is deliberately weak. A list in which the first item happens to be smaller than the last passes the assertion even though the list is not sorted, as [1, 3, 2] does.</a:t>
            </a:r>
            <a:endParaRPr lang="en-US" sz="1300" dirty="0"/>
          </a:p>
        </p:txBody>
      </p:sp>
      <p:sp>
        <p:nvSpPr>
          <p:cNvPr id="9" name="codebox|b1"/>
          <p:cNvSpPr/>
          <p:nvPr/>
        </p:nvSpPr>
        <p:spPr>
          <a:xfrm>
            <a:off x="5897880" y="1243584"/>
            <a:ext cx="2834640" cy="1005840"/>
          </a:xfrm>
          <a:prstGeom prst="roundRect">
            <a:avLst>
              <a:gd name="adj" fmla="val 9091"/>
            </a:avLst>
          </a:prstGeom>
          <a:solidFill>
            <a:srgbClr val="17202B"/>
          </a:solidFill>
          <a:ln w="12700">
            <a:solidFill>
              <a:srgbClr val="17202B"/>
            </a:solidFill>
            <a:prstDash val="solid"/>
          </a:ln>
        </p:spPr>
      </p:sp>
      <p:sp>
        <p:nvSpPr>
          <p:cNvPr id="10" name="codecard|b1"/>
          <p:cNvSpPr txBox="1"/>
          <p:nvPr/>
        </p:nvSpPr>
        <p:spPr>
          <a:xfrm>
            <a:off x="6053328" y="1335024"/>
            <a:ext cx="2523744" cy="822960"/>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(lambda a: (a.sort(), a[0] &lt;= a[-1])[1])([26, 57, 92, 54, 22])</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True</a:t>
            </a:r>
            <a:endParaRPr lang="en-US" sz="600" dirty="0"/>
          </a:p>
        </p:txBody>
      </p:sp>
      <p:sp>
        <p:nvSpPr>
          <p:cNvPr id="11" name="codecap|b1"/>
          <p:cNvSpPr txBox="1"/>
          <p:nvPr/>
        </p:nvSpPr>
        <p:spPr>
          <a:xfrm>
            <a:off x="5897880" y="226771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the chapter the list is ages = [26, 57, 92, 54, 22, 15, 17, 80, 47, 73]. The method sort() puts the items in ascending order in place, giving [15, 17, 22, 26, 47, 54, 57, 73, 80, 92], and the assertion passes. The method reverse() reverses the list in place, giving [73, 47, 80, 17, 15, 22, 54, 92, 57, 26], and the same assertion raises an AssertionError (Sweigart, 2025).</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assert ages[0] &lt;= ages[-1]</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Assertion failure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failed assertion is an ordinary exception of class AssertionError; the chapter advises against catching it, since it reports a programmer error.</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assertion failure is the event in which an assert statement finds its condition false and raises AssertionError. The built-in exceptions page describes the class in one line: raised when an assert statement fails (Python Software Foundation, 2026). It is an ordinary exception, a subclass of Exception, and so it travels up the call stack like any other.</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Because no message was given, the exception's text is empty: str(AssertionError()) is the empty string. Because the class derives from Exception, issubclass(AssertionError, Exception) evaluates to True, so an except Exception clause would catch it, and that is exactly what the advice warns against.</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Watch out  </a:t>
            </a:r>
            <a:r>
              <a:rPr lang="en-US" sz="1100" dirty="0">
                <a:solidFill>
                  <a:srgbClr val="1F2933"/>
                </a:solidFill>
                <a:latin typeface="Calibri" pitchFamily="34" charset="0"/>
                <a:ea typeface="Calibri" pitchFamily="34" charset="-122"/>
                <a:cs typeface="Calibri" pitchFamily="34" charset="-120"/>
              </a:rPr>
              <a:t>Never catch AssertionError to keep a program going. If a check is needed for input that comes from outside the program, the right tool is an if statement that raises a more specific exception such as ValueError, which a caller can reasonably handle.</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50" b="1" dirty="0">
                <a:solidFill>
                  <a:srgbClr val="FFD43B"/>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issubclass(AssertionError, Exception)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A failure shows up as a traceback whose last line is AssertionError, followed by the message if the assert had one. In the chapter's example the line assert ages[0] &lt;= ages[-1] fails on the reversed list, and the traceback ends with AssertionError and nothing after it, because no message was given (Sweigart, 2025).</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AssertionError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Assert message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assert statement can carry a second expression, evaluated only on failure, whose text becomes the message of the AssertionError.</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assert message is the optional second part of an assert statement. After the condition comes a comma and an expression, usually a string, and if the condition is false the value of that expression becomes the message of the AssertionError. The chapter lists it as the string to display when the condition is False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second expression is evaluated only when the condition is false (Python Software Foundation, 2026).</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Keep the message free of side effects, since it runs only on failure and would make the failing run behave differently from a passing one.</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x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try: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assert x &gt; 0, f'x must be positive, got {x}'</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except AssertionError as 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print(e)</a:t>
            </a:r>
            <a:endParaRPr lang="en-US" sz="10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assertmsg_v1_0_0.py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x must be positive, got -1</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example: assert x &gt; 0, f'x must be positive, got {x}'</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Fail fast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Stopping a program as soon as a necessary condition is violated, so that the failure appears near its cause.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Failing fast is the principle of stopping a program at the first sign that something is wrong. The chapter uses the phrase for assertions: by failing fast like this, the time between the original cause of the bug and the moment of first noticing it is shortened, and so is the amount of code that has to be checked to find the cause (Sweigart, 2025).</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 program that does not fail fast continues to run with bad data, and the damage grows with every step. A program that does fail fast raises the exception at once, Python prints a traceback that names the file and line of the check, and the search for the cause starts there. The assert statement is the simplest implementation of the idea, and the raise statement is the more general one.</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Failing fast belongs in development and in code where an error is a bug. For a service that must keep running or a program with a user at the keyboard, the same moment of detection should lead to a handled exception or a clear message, and not to a crash that destroys the user's work.</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assert at the point of the assumption</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Assert versus raise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error the user can cause is checked with an if and a raise; an assert states what must be true if the program is correct.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Assert and raise are two ways of stopping a program that has met a bad condition, and the chapter assigns each a different kind of error. Assertions are for programmer errors, not user errors. Errors that a program can meet as a normal part of its operation, such as a file that is not found or invalid data typed by the user, are handled by raising an exception (Sweigart, 2025).</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 practical test is to ask who could cause the condition to be false. If a user, a file, a network or another program could, then the check must always run and must lead to a recoverable error, so it is an if with a raise. If only a mistake in the program itself could, then it is an assertion. Because assertions can be removed by an option of the interpreter, only the second kind may rely on them.</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boundary moves. A function that is called only from the program's own code may use an assertion for its argument, and the same function offered to other programmers as a library must validate its arguments with exceptions, because strangers do not follow the program's own rules.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user error or programmer error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Optimised mode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Under the -O option, and in code compiled with optimisation, assert statements produce no code at all, so a check that must always run is not written as an assertion.</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Optimised mode is a way of running Python in which assert statements are removed. The command-line option -O removes assert statements and any code that is conditional on the value of __debug__ (Python Software Foundation, 2026). The built-in constant __debug__ is true if Python was not started with -O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statement assert False normally raises AssertionError. A program that runs assert False and then prints reached prints nothing on the screen but a traceback in a normal run, and prints reached when it is started with python -O.</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compiler, the part of Python that turns source code into bytecode, emits no code for an assert statement when optimisation is requested, so even a condition with a side effect is not evaluated (Python Software Foundation, 2026).</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__debug__</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mode is met when a program is run with optimisation in real use, when the environment variable PYTHONOPTIMIZE is set, and when code is compiled by hand.</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python -O</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Optimised mode: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src = "assert False, 'boom'\nprint('reached')"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exec(compile(src, 'x', 'exec'))</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except AssertionError as 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print('normal run:', 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exec(compile(src, 'x', 'exec', optimize=1))</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optimised_v1_0_0.py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normal run: boom</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reached</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statement assert False normally raises AssertionError.</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Command-line option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flag written after the python command, such as -O, -c, -m or -V, that changes how the interpreter runs.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command-line option is a word that begins with a hyphen and is written after the name of the interpreter to change how it runs, as in python -O script.py. The documentation gives the general form python [-bBdEhiIOPqRsSuvVWx?] [-c command | -m module-name | script | - ] [args], and says that the most common use is simply python myscript.py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interpreter reads the options first and then the program. An interface option such as -c or -m ends the list of options that the interpreter itself consumes, and the arguments after it end up in sys.argv, where the program or the module run with -m reads them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Options and environment variables overlap: the documentation notes that it is customary for command-line switches to override environment variables where there is a conflict (Python Software Foundation, 2026).</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900" b="1" dirty="0">
                <a:solidFill>
                  <a:srgbClr val="FFD43B"/>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__import__('sys').flags.optimize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Options are typed in a terminal after the name of the interpreter. A running program can find out which of them are in force: the value sys.flags reports them, and its optimize field stands for -O or -OO, so it is 0 in a normal run and 1 under -O (Python Software Foundation, 2026).</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Assertion  &gt;  Assert</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python -O script.py</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Logging</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Logging is the practice of making a program write down what it does while it runs.</a:t>
            </a:r>
            <a:endParaRPr lang="en-US" sz="1150" dirty="0"/>
          </a:p>
        </p:txBody>
      </p:sp>
      <p:sp>
        <p:nvSpPr>
          <p:cNvPr id="4" name="br1|b1"/>
          <p:cNvSpPr/>
          <p:nvPr/>
        </p:nvSpPr>
        <p:spPr>
          <a:xfrm>
            <a:off x="457200" y="1828800"/>
            <a:ext cx="1961388"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1888236"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Setup</a:t>
            </a:r>
            <a:endParaRPr lang="en-US" sz="1400" dirty="0"/>
          </a:p>
        </p:txBody>
      </p:sp>
      <p:sp>
        <p:nvSpPr>
          <p:cNvPr id="6" name="br2|b1"/>
          <p:cNvSpPr/>
          <p:nvPr/>
        </p:nvSpPr>
        <p:spPr>
          <a:xfrm>
            <a:off x="457200" y="2359152"/>
            <a:ext cx="1961388" cy="2121408"/>
          </a:xfrm>
          <a:prstGeom prst="roundRect">
            <a:avLst>
              <a:gd name="adj" fmla="val 3730"/>
            </a:avLst>
          </a:prstGeom>
          <a:solidFill>
            <a:srgbClr val="27374B"/>
          </a:solidFill>
          <a:ln w="12700">
            <a:solidFill>
              <a:srgbClr val="3B5B87"/>
            </a:solidFill>
            <a:prstDash val="solid"/>
          </a:ln>
        </p:spPr>
      </p:sp>
      <p:sp>
        <p:nvSpPr>
          <p:cNvPr id="7" name="br2t|b1"/>
          <p:cNvSpPr txBox="1"/>
          <p:nvPr/>
        </p:nvSpPr>
        <p:spPr>
          <a:xfrm>
            <a:off x="548640" y="2432304"/>
            <a:ext cx="1778508"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Basic config</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Log format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Percent placeholder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Log to file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Force reconfigure</a:t>
            </a:r>
            <a:endParaRPr lang="en-US" sz="1200" dirty="0"/>
          </a:p>
        </p:txBody>
      </p:sp>
      <p:sp>
        <p:nvSpPr>
          <p:cNvPr id="8" name="br1|b2"/>
          <p:cNvSpPr/>
          <p:nvPr/>
        </p:nvSpPr>
        <p:spPr>
          <a:xfrm>
            <a:off x="2546604" y="1828800"/>
            <a:ext cx="1961388"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2583180" y="1828800"/>
            <a:ext cx="1888236"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Loggers and handlers</a:t>
            </a:r>
            <a:endParaRPr lang="en-US" sz="1400" dirty="0"/>
          </a:p>
        </p:txBody>
      </p:sp>
      <p:sp>
        <p:nvSpPr>
          <p:cNvPr id="10" name="br2|b2"/>
          <p:cNvSpPr/>
          <p:nvPr/>
        </p:nvSpPr>
        <p:spPr>
          <a:xfrm>
            <a:off x="2546604" y="2359152"/>
            <a:ext cx="1961388" cy="2121408"/>
          </a:xfrm>
          <a:prstGeom prst="roundRect">
            <a:avLst>
              <a:gd name="adj" fmla="val 3730"/>
            </a:avLst>
          </a:prstGeom>
          <a:solidFill>
            <a:srgbClr val="27374B"/>
          </a:solidFill>
          <a:ln w="12700">
            <a:solidFill>
              <a:srgbClr val="3B5B87"/>
            </a:solidFill>
            <a:prstDash val="solid"/>
          </a:ln>
        </p:spPr>
      </p:sp>
      <p:sp>
        <p:nvSpPr>
          <p:cNvPr id="11" name="br2t|b2"/>
          <p:cNvSpPr txBox="1"/>
          <p:nvPr/>
        </p:nvSpPr>
        <p:spPr>
          <a:xfrm>
            <a:off x="2638044" y="2432304"/>
            <a:ext cx="1778508"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Logger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Handler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Log record</a:t>
            </a:r>
            <a:endParaRPr lang="en-US" sz="1200" dirty="0"/>
          </a:p>
        </p:txBody>
      </p:sp>
      <p:sp>
        <p:nvSpPr>
          <p:cNvPr id="12" name="br1|b3"/>
          <p:cNvSpPr/>
          <p:nvPr/>
        </p:nvSpPr>
        <p:spPr>
          <a:xfrm>
            <a:off x="4636008" y="1828800"/>
            <a:ext cx="1961388" cy="457200"/>
          </a:xfrm>
          <a:prstGeom prst="roundRect">
            <a:avLst>
              <a:gd name="adj" fmla="val 16000"/>
            </a:avLst>
          </a:prstGeom>
          <a:solidFill>
            <a:srgbClr val="FFD43B"/>
          </a:solidFill>
          <a:ln w="12700">
            <a:solidFill>
              <a:srgbClr val="FFD43B"/>
            </a:solidFill>
            <a:prstDash val="solid"/>
          </a:ln>
        </p:spPr>
      </p:sp>
      <p:sp>
        <p:nvSpPr>
          <p:cNvPr id="13" name="br1t|b3"/>
          <p:cNvSpPr txBox="1"/>
          <p:nvPr/>
        </p:nvSpPr>
        <p:spPr>
          <a:xfrm>
            <a:off x="4672584" y="1828800"/>
            <a:ext cx="1888236"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Levels</a:t>
            </a:r>
            <a:endParaRPr lang="en-US" sz="1400" dirty="0"/>
          </a:p>
        </p:txBody>
      </p:sp>
      <p:sp>
        <p:nvSpPr>
          <p:cNvPr id="14" name="br2|b3"/>
          <p:cNvSpPr/>
          <p:nvPr/>
        </p:nvSpPr>
        <p:spPr>
          <a:xfrm>
            <a:off x="4636008" y="2359152"/>
            <a:ext cx="1961388" cy="2121408"/>
          </a:xfrm>
          <a:prstGeom prst="roundRect">
            <a:avLst>
              <a:gd name="adj" fmla="val 3730"/>
            </a:avLst>
          </a:prstGeom>
          <a:solidFill>
            <a:srgbClr val="27374B"/>
          </a:solidFill>
          <a:ln w="12700">
            <a:solidFill>
              <a:srgbClr val="3B5B87"/>
            </a:solidFill>
            <a:prstDash val="solid"/>
          </a:ln>
        </p:spPr>
      </p:sp>
      <p:sp>
        <p:nvSpPr>
          <p:cNvPr id="15" name="br2t|b3"/>
          <p:cNvSpPr txBox="1"/>
          <p:nvPr/>
        </p:nvSpPr>
        <p:spPr>
          <a:xfrm>
            <a:off x="4727448" y="2432304"/>
            <a:ext cx="1778508"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Logging levels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Level threshold</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Default level</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Disabling logging</a:t>
            </a:r>
            <a:endParaRPr lang="en-US" sz="1200" dirty="0"/>
          </a:p>
        </p:txBody>
      </p:sp>
      <p:sp>
        <p:nvSpPr>
          <p:cNvPr id="16" name="br1|b4"/>
          <p:cNvSpPr/>
          <p:nvPr/>
        </p:nvSpPr>
        <p:spPr>
          <a:xfrm>
            <a:off x="6725412" y="1828800"/>
            <a:ext cx="1961388" cy="457200"/>
          </a:xfrm>
          <a:prstGeom prst="roundRect">
            <a:avLst>
              <a:gd name="adj" fmla="val 16000"/>
            </a:avLst>
          </a:prstGeom>
          <a:solidFill>
            <a:srgbClr val="FFD43B"/>
          </a:solidFill>
          <a:ln w="12700">
            <a:solidFill>
              <a:srgbClr val="FFD43B"/>
            </a:solidFill>
            <a:prstDash val="solid"/>
          </a:ln>
        </p:spPr>
      </p:sp>
      <p:sp>
        <p:nvSpPr>
          <p:cNvPr id="17" name="br1t|b4"/>
          <p:cNvSpPr txBox="1"/>
          <p:nvPr/>
        </p:nvSpPr>
        <p:spPr>
          <a:xfrm>
            <a:off x="6761988" y="1828800"/>
            <a:ext cx="1888236"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Practice</a:t>
            </a:r>
            <a:endParaRPr lang="en-US" sz="1400" dirty="0"/>
          </a:p>
        </p:txBody>
      </p:sp>
      <p:sp>
        <p:nvSpPr>
          <p:cNvPr id="18" name="br2|b4"/>
          <p:cNvSpPr/>
          <p:nvPr/>
        </p:nvSpPr>
        <p:spPr>
          <a:xfrm>
            <a:off x="6725412" y="2359152"/>
            <a:ext cx="1961388" cy="2121408"/>
          </a:xfrm>
          <a:prstGeom prst="roundRect">
            <a:avLst>
              <a:gd name="adj" fmla="val 3730"/>
            </a:avLst>
          </a:prstGeom>
          <a:solidFill>
            <a:srgbClr val="27374B"/>
          </a:solidFill>
          <a:ln w="12700">
            <a:solidFill>
              <a:srgbClr val="3B5B87"/>
            </a:solidFill>
            <a:prstDash val="solid"/>
          </a:ln>
        </p:spPr>
      </p:sp>
      <p:sp>
        <p:nvSpPr>
          <p:cNvPr id="19" name="br2t|b4"/>
          <p:cNvSpPr txBox="1"/>
          <p:nvPr/>
        </p:nvSpPr>
        <p:spPr>
          <a:xfrm>
            <a:off x="6816852" y="2432304"/>
            <a:ext cx="1778508"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Logging versus print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Lazy formatting</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5" grpId="0" animBg="1"/>
      <p:bldP spid="17" grpId="0" animBg="1"/>
      <p:bldP spid="1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Setup</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Setting up logging means telling the module three things: which messages count, how a message should look and where it should go.</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Without a setup a program prints only warnings and worse, in a fixed shape, to the error stream. The setup is what turns logging into a debugging tool for the programmer: lowering the threshold to DEBUG shows everything, and a format with a time shows the order and the pace of events.</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concepts of this group follow the order of the arguments. basicConfig itself comes first, then the format string and the percent placeholders it is written with, then the log file, and then the rule that makes a second call of basicConfig do nothing unless it is forced.</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Basic config</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logging.basicConfig(level=logging.DEBUG)</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Log format</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%(asctime)s - %(levelname)s - %(message)s</a:t>
            </a:r>
            <a:endParaRPr lang="en-US" sz="95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Percent placeholder</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 has %d quote types.' % ('Python', 2)</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Log to file</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basicConfig(filename='myProgramLog.txt')</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Force reconfigure</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basicConfig(force=True)</a:t>
            </a:r>
            <a:endParaRPr lang="en-US" sz="110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Basic config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basicConfig sets the threshold, the format and the destination of the root logger; the chapter calls it once at the top of a program.</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function logging.basicConfig does the basic configuration of the logging system. According to the library reference it creates a StreamHandler with a default Formatter and adds it to the root logger, and its keyword arguments choose the level, the format string, a file name, a stream and a few other options (Python Software Foundation, 2026). The chapter lets the reader copy two lines to the top of a program: import logging, and logging.basicConfig(level=logging.DEBUG, format='%(asctime)s - %(levelname)s - %(message)s')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program that calls logging.basicConfig(level=logging.DEBUG, format='%(levelname)s - %(message)s') and then logs a debug message and an info message prints DEBUG - Start of program and INFO - going on, on the error stream. The functions debug, info, warning, error and critical call basicConfig automatically if no handlers are defined for the root logger (Python Software Foundation, 2026), which is why the chapter's description of debug() as calling basicConfig is true only when the program has not configured logging itself.</a:t>
            </a:r>
            <a:endParaRPr lang="en-US" sz="12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call can be silently ignored. It does nothing if the root logger already has handlers, which includes the case where an earlier logging call has configured the system implicitly, and a later concept shows the effect. Also, basicConfig must be called from the main thread before other threads are started (Python Software Foundation, 2026). Keep it at the very top of the program.</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logging.basicConfig(level=logging.DEBUG)</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Basic config: the program, and what it really prints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600" dirty="0">
                <a:solidFill>
                  <a:srgbClr val="E6EDF3"/>
                </a:solidFill>
                <a:latin typeface="Courier New" pitchFamily="34" charset="0"/>
                <a:ea typeface="Courier New" pitchFamily="34" charset="-122"/>
                <a:cs typeface="Courier New" pitchFamily="34" charset="-120"/>
              </a:rPr>
              <a:t>import logging, sys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logging.debug('debug message')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logging.info('info message')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logging.warning('warning message')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logging.error('error message')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logging.critical('critical message')</a:t>
            </a:r>
            <a:endParaRPr lang="en-US" sz="6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levelsdemo_v1_0_0.py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INFO - info message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WARNING - warning message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ERROR - error message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CRITICAL - critical message</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A program that calls logging.basicConfig(level=logging.DEBUG, format='%(levelname)s - %(message)s')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 format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format string with named fields decides what each log line shows; the chapter's shows time, level and message.</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log format is a string that describes the layout of each line a log call produces. It is a template in which named fields, written in the form %(name)s, stand for the parts of a log record. The chapter's template, %(asctime)s - %(levelname)s - %(message)s, puts the time, the level name and the message, separated by dashes, on every line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When no format is given, basicConfig uses the default, which has the attributes levelname, name and message separated by colons (Python Software Foundation, 2026), so logging.warning('Watch out!') prints WARNING:root:Watch out!. With the format '%(levelname)s - %(message)s' the same record is shown as WARNING - Watch out!.</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field name that is not an attribute of the record does not stop the program.</a:t>
            </a:r>
            <a:endParaRPr lang="en-US" sz="1300" dirty="0"/>
          </a:p>
        </p:txBody>
      </p:sp>
      <p:sp>
        <p:nvSpPr>
          <p:cNvPr id="9" name="codebox|b1"/>
          <p:cNvSpPr/>
          <p:nvPr/>
        </p:nvSpPr>
        <p:spPr>
          <a:xfrm>
            <a:off x="5897880" y="1243584"/>
            <a:ext cx="2834640" cy="1024128"/>
          </a:xfrm>
          <a:prstGeom prst="roundRect">
            <a:avLst>
              <a:gd name="adj" fmla="val 8929"/>
            </a:avLst>
          </a:prstGeom>
          <a:solidFill>
            <a:srgbClr val="17202B"/>
          </a:solidFill>
          <a:ln w="12700">
            <a:solidFill>
              <a:srgbClr val="17202B"/>
            </a:solidFill>
            <a:prstDash val="solid"/>
          </a:ln>
        </p:spPr>
      </p:sp>
      <p:sp>
        <p:nvSpPr>
          <p:cNvPr id="10" name="codecard|b1"/>
          <p:cNvSpPr txBox="1"/>
          <p:nvPr/>
        </p:nvSpPr>
        <p:spPr>
          <a:xfrm>
            <a:off x="6053328" y="1335024"/>
            <a:ext cx="2523744" cy="841248"/>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__import__('logging').Formatter('%(levelname)s - %(message)s').format(__import__('logging').LogRecord('app', 10, 'p.py', 1, 'hello', None, None))</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'DEBUG - hello'</a:t>
            </a:r>
            <a:endParaRPr lang="en-US" sz="600" dirty="0"/>
          </a:p>
        </p:txBody>
      </p:sp>
      <p:sp>
        <p:nvSpPr>
          <p:cNvPr id="11" name="codecap|b1"/>
          <p:cNvSpPr txBox="1"/>
          <p:nvPr/>
        </p:nvSpPr>
        <p:spPr>
          <a:xfrm>
            <a:off x="5897880" y="228600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format string is passed to basicConfig as the format argument.</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%(asctime)s - %(levelname)s - %(message)s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Percent placeholder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old-style way of putting values into a string: % conversion specifications in the string are replaced by the values to the right of the % operator.</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percent placeholder is a marker such as %s or %d in a string that is replaced by a value. The Python reference calls the % operator on strings the string formatting or interpolation operator: given format % values, the conversion specifications in the format are replaced with elements of values, as in the example '%s has %d quote types.' % ('Python', 2), which gives 'Python has 2 quote types.' (Python Software Foundation, 2026). A conversion specification starts with the % character; s converts any object with str and d stands for a signed decimal integer.</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Python scans the string for markers and fills them in order from a tuple, or by name from a dictionary.</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literal percent sign in a message that has arguments must be written as %%, because a lone one starts a conversion.</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'%s has %d quote types.' % ('Python',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'Python has 2 quote types.'</a:t>
            </a:r>
            <a:endParaRPr lang="en-US" sz="7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markers appear in two places in logging: in the message of a log call, where each marker is filled from the arguments that follow the message, and in the format string, where a marker with a name in parentheses, such as %(levelname)s, is filled from the attributes of the log record.</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 has %d quote types.' % ('Python', 2)</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 to file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Passing filename to basicConfig sends the messages to a text file instead of the screen.</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Logging to a file means sending the log messages to a text file instead of the screen. A file is a named sequence of characters kept on disk, and a text file can be read in any text editor. The chapter passes a filename named argument to basicConfig, as in logging.basicConfig(filename='myProgramLog.txt', level=logging.DEBUG, format=...), and the log messages are saved to myProgramLog.txt (Sweigart, 2025).</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file is opened in the mode given by filemode, which defaults to 'a' (Python Software Foundation, 2026), and the HOWTO explains the result: if the script is run several times, the messages of successive runs are appended to the file, and a filemode of 'w' makes every run start afresh (Python Software Foundation, 2026). In a test in which a short program is run twice with the same file name, the file holds two lines DEBUG - run; run twice again with filemode='w', it holds one.</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By default the file grows indefinitely, as the FileHandler documentation warns (Python Software Foundation, 2026), so a long-lived program needs a plan for old logs.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basicConfig(filename='myProgramLog.txt')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 to file: the program, and what it really prints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650" dirty="0">
                <a:solidFill>
                  <a:srgbClr val="E6EDF3"/>
                </a:solidFill>
                <a:latin typeface="Courier New" pitchFamily="34" charset="0"/>
                <a:ea typeface="Courier New" pitchFamily="34" charset="-122"/>
                <a:cs typeface="Courier New" pitchFamily="34" charset="-120"/>
              </a:rPr>
              <a:t>import logging, os, tempfile</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path = os.path.join(tempfile.mkdtemp(), 'myProgramLog.txt')</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logging.basicConfig(filename=path, level=logging.DEBUG, format='%(levelname)s - %(message)s')</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logging.debug('to the file')</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logging.critical('also to the file')</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print(open(path).read(), end='')</a:t>
            </a:r>
            <a:endParaRPr lang="en-US" sz="65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filelog_v1_0_0.py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to the file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CRITICAL - also to the file</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file is opened in the mode given by filemode, which defaults to 'a' (Python Software Foundation, 2026), and the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Force reconfigure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basicConfig does nothing if the root logger already has handlers, so a second call is ignored unless force=True is passed.</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Force reconfigure is the option that makes basicConfig replace an existing configuration. The library reference states that the function does nothing if the root logger already has handlers configured, unless the keyword argument force is set to true, in which case the existing handlers are removed and closed before the new configuration is carried out (Python Software Foundation, 2026). The argument was added in Python 3.8.</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 program that calls basicConfig with level WARNING and the format 'first %(message)s', then again with level DEBUG and the format 'second %(message)s', and then logs a debug and a warning message prints only first w, because the second call is ignored. After a third call with force=True and the format 'third %(message)s', a debug message prints third d2.</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50" b="1" dirty="0">
                <a:solidFill>
                  <a:srgbClr val="B7791F"/>
                </a:solidFill>
                <a:latin typeface="Cambria" pitchFamily="34" charset="0"/>
                <a:ea typeface="Cambria" pitchFamily="34" charset="-122"/>
                <a:cs typeface="Cambria" pitchFamily="34" charset="-120"/>
              </a:rPr>
              <a:t>Watch out  </a:t>
            </a:r>
            <a:r>
              <a:rPr lang="en-US" sz="1150" dirty="0">
                <a:solidFill>
                  <a:srgbClr val="1F2933"/>
                </a:solidFill>
                <a:latin typeface="Calibri" pitchFamily="34" charset="0"/>
                <a:ea typeface="Calibri" pitchFamily="34" charset="-122"/>
                <a:cs typeface="Calibri" pitchFamily="34" charset="-120"/>
              </a:rPr>
              <a:t>An implicit configuration counts too. The call logging.warning('first') configures the root logger by itself, because it has no handlers, and a later basicConfig(level=logging.DEBUG) is then ignored: a following logging.debug call prints nothing and the level of the root logger is still 30. Place basicConfig before any other logging call, or use force=True when the order cannot be controlled.</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basicConfig(force=True)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Force reconfigure: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550" dirty="0">
                <a:solidFill>
                  <a:srgbClr val="E6EDF3"/>
                </a:solidFill>
                <a:latin typeface="Courier New" pitchFamily="34" charset="0"/>
                <a:ea typeface="Courier New" pitchFamily="34" charset="-122"/>
                <a:cs typeface="Courier New" pitchFamily="34" charset="-120"/>
              </a:rPr>
              <a:t>import logging, sys</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logging.debug('second call ignored')</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logging.info('first call rules')</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 force=True)</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logging.debug('force=True replaces it')</a:t>
            </a:r>
            <a:endParaRPr lang="en-US" sz="55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force_v1_0_0.py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INFO - first call rules</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force=True replaces it</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A program that calls basicConfig with level WARNING and the format 'first %(message)s', then again with level DEBUG and the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Setup</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Loggers and handlers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Behind the simple module-level functions of logging stands a small system of objects.</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system explains behaviour that the one-line setup hides: why a message from one part of a program can be shown while another is not, why a message can appear twice, and why basicConfig can be ignored. A learner who knows the logger, the handler and the record can read the documentation of logging and the logs of larger programs.</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concepts of this group are the logger, which receives the calls and chooses by level, the handler, which delivers the record to a destination, and the log record, the object that carries the details of one event from the first to the second. Log information is passed between loggers, handlers, filters and formatters in a LogRecord instance (Python Software Foundation, 2026).</a:t>
            </a:r>
            <a:endParaRPr lang="en-US" sz="130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Logger</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logging.getLogger('app')</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Handler</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logging.StreamHandler / logging.FileHandler</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Log record</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logging.LogRecord(...)</a:t>
            </a:r>
            <a:endParaRPr lang="en-US" sz="1100" dirty="0"/>
          </a:p>
        </p:txBody>
      </p:sp>
      <p:sp>
        <p:nvSpPr>
          <p:cNvPr id="23"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Loggers and handlers</a:t>
            </a:r>
            <a:endParaRPr lang="en-US" sz="950" dirty="0"/>
          </a:p>
        </p:txBody>
      </p:sp>
      <p:sp>
        <p:nvSpPr>
          <p:cNvPr id="24"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Logger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object that receives log calls; the module-level functions use the root logger, and named loggers form a hierarchy by dotted names.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logger is the object on which log calls are made. Each logger has a name, and the names are arranged in a hierarchy by dots, so that the logger 'app.db' is a child of 'app', and all loggers are descendants of the root logger. A logger is always obtained from logging.getLogger(name), and calls with the same name return the same object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In a check, the call logging.getLogger() returns an object of the class RootLogger whose name is 'root', logging.getLogger('app') is logging.getLogger('app') is True, and once the logger 'app' exists the parent of logging.getLogger('app.db') is the logger named 'app'.</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documentation says that loggers should never be created directly but always through the function getLogger (Python Software Foundation, 2026).</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type(__import__('logging').getLogger()).__name__</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'RootLogger'</a:t>
            </a:r>
            <a:endParaRPr lang="en-US" sz="6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the chapter a logger is present but not named: the functions logging.debug, logging.info, logging.warning, logging.error and logging.critical just call the same-named method of the root logger, whose name is printed as root in the output (Python Software Foundation, 2026).</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Loggers and handlers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logging.getLogger('app')</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Handler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object that sends a log record to a destination; basicConfig creates a StreamHandler for the screen or, with filename, a FileHandler for a file.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A handler is the object that delivers a log record to a destination. The logging documentation lists several: a StreamHandler writes to a stream and uses sys.stderr when none is given, a FileHandler writes to a disk file, and there are handlers for email and for system logs, among others (Python Software Foundation, 2026). A handler also has its own level, which starts as NOTSET so that every record is processed.</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When a logger accepts a call, it creates a record and offers it to its handlers, and then, if its propagate attribute is true, to the handlers of its parent loggers. If no handler is found in the whole chain, the handler of last resort is used, a StreamHandler writing to sys.stderr with the level WARNING (Python Software Foundation, 2026). That explains why a warning from an unconfigured named logger still appears on the screen while its info messages do not.</a:t>
            </a:r>
            <a:endParaRPr lang="en-US" sz="13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Do not attach the same handler to a logger and to its ancestors: the documentation warns that a record may then be emitted several times (Python Software Foundation, 2026). The reason why basicConfig does nothing on a second call is that it checks whether the root logger already has handlers.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Loggers and handlers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example: logging.StreamHandler / logging.FileHandler</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 record</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object created for every logging event; it carries the logger name, the level, the message and its arguments, and the place of the call.</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log record is the object that a logger creates for each event that is logged. It contains all the information pertinent to the event: the name of the logger, the numeric level, the path and line number of the call, the message and the arguments to merge into it (Python Software Foundation, 2026). Records are created automatically; the logging reference notes that they can also be made by hand.</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message of a record is computed as msg % args when it is needed. With msg equal to 'hello %s' and args equal to ('world',), the call getMessage() returns 'hello world', and the record created for a level of 20 has the levelname 'INFO'.</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he record is created only if the logger is enabled for the level of the call, so a call below the threshold is cheap: in a test that counts how many records are created, a debug call to a logger whose threshold is WARNING creates none and a warning call creates ...</a:t>
            </a:r>
            <a:endParaRPr lang="en-US" sz="1300" dirty="0"/>
          </a:p>
        </p:txBody>
      </p:sp>
      <p:sp>
        <p:nvSpPr>
          <p:cNvPr id="9" name="codebox|b1"/>
          <p:cNvSpPr/>
          <p:nvPr/>
        </p:nvSpPr>
        <p:spPr>
          <a:xfrm>
            <a:off x="5897880" y="1243584"/>
            <a:ext cx="2834640" cy="1024128"/>
          </a:xfrm>
          <a:prstGeom prst="roundRect">
            <a:avLst>
              <a:gd name="adj" fmla="val 8929"/>
            </a:avLst>
          </a:prstGeom>
          <a:solidFill>
            <a:srgbClr val="17202B"/>
          </a:solidFill>
          <a:ln w="12700">
            <a:solidFill>
              <a:srgbClr val="17202B"/>
            </a:solidFill>
            <a:prstDash val="solid"/>
          </a:ln>
        </p:spPr>
      </p:sp>
      <p:sp>
        <p:nvSpPr>
          <p:cNvPr id="10" name="codecard|b1"/>
          <p:cNvSpPr txBox="1"/>
          <p:nvPr/>
        </p:nvSpPr>
        <p:spPr>
          <a:xfrm>
            <a:off x="6053328" y="1335024"/>
            <a:ext cx="2523744" cy="841248"/>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__import__('logging').LogRecord('app', 20, 'p.py', 3, 'hello %s', ('world',), None).getMessage()</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'hello world'</a:t>
            </a:r>
            <a:endParaRPr lang="en-US" sz="600" dirty="0"/>
          </a:p>
        </p:txBody>
      </p:sp>
      <p:sp>
        <p:nvSpPr>
          <p:cNvPr id="11" name="codecap|b1"/>
          <p:cNvSpPr txBox="1"/>
          <p:nvPr/>
        </p:nvSpPr>
        <p:spPr>
          <a:xfrm>
            <a:off x="5897880" y="228600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A record is never seen in the simple use of the chapter, but its attributes are what the format string selects: asctime, levelname and message are all attributes of the record (Python Software Foundation, 2026). The attribute levelname is the text of the level, 'INFO' for 20, and levelno is the number.</a:t>
            </a:r>
            <a:endParaRPr lang="en-US" sz="10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Loggers and handlers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logging.LogRecord(...)</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Levels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Levels are the importance ranks that log messages carry.</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levels allow one program to produce a lot of output while it is being developed and little when it is finished, without changing any logging call. The programmer decides the level of each message once, and the setup decides which levels are shown. This turns logging into a dial that can be turned from detailed to silent.</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group has four concepts: the five levels and their numbers, the threshold that selects among them, the default threshold that applies when nothing has been configured, and logging.disable, which silences levels from outside the program's own setup.</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Logging levels</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INFO, WARNING, ERROR, CRITICAL</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Level threshold</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level=logging.INFO</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Default level</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the default threshold is WARNING</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Disabling logging</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logging.disable(logging.CRITICAL)</a:t>
            </a:r>
            <a:endParaRPr lang="en-US" sz="1100" dirty="0"/>
          </a:p>
        </p:txBody>
      </p:sp>
      <p:sp>
        <p:nvSpPr>
          <p:cNvPr id="2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Levels</a:t>
            </a:r>
            <a:endParaRPr lang="en-US" sz="950" dirty="0"/>
          </a:p>
        </p:txBody>
      </p:sp>
      <p:sp>
        <p:nvSpPr>
          <p:cNvPr id="2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Logging levels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five levels run from lowest to highest importance, and each has a number: 10, 20, 30, 40 and 50.</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five logging levels are DEBUG, INFO, WARNING, ERROR and CRITICAL, in increasing order of importance. Each is a number in the logging module: 10, 20, 30, 40 and 50, and a sixth value, NOTSET, which is 0, means that no level is set (Python Software Foundation, 2026). The chapter gives the five names with the functions that log at each level: logging.debug(), logging.info(), logging.warning(), logging.error() and logging.critical()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numbers make the comparison of importance possible: a message is accepted if its number is not lower than the threshold. The module defines the five names as constants, so logging.DEBUG is the number 10 and logging.CRITICAL is 50.</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level of a message is the programmer's judgment, not a property that Python can check: as the chapter says, it is up to you to decide which category your log message falls into (Sweigart, 2025).</a:t>
            </a:r>
            <a:endParaRPr lang="en-US" sz="1300" dirty="0"/>
          </a:p>
        </p:txBody>
      </p:sp>
      <p:sp>
        <p:nvSpPr>
          <p:cNvPr id="9" name="codebox|b1"/>
          <p:cNvSpPr/>
          <p:nvPr/>
        </p:nvSpPr>
        <p:spPr>
          <a:xfrm>
            <a:off x="5897880" y="1243584"/>
            <a:ext cx="2834640" cy="1024128"/>
          </a:xfrm>
          <a:prstGeom prst="roundRect">
            <a:avLst>
              <a:gd name="adj" fmla="val 8929"/>
            </a:avLst>
          </a:prstGeom>
          <a:solidFill>
            <a:srgbClr val="17202B"/>
          </a:solidFill>
          <a:ln w="12700">
            <a:solidFill>
              <a:srgbClr val="17202B"/>
            </a:solidFill>
            <a:prstDash val="solid"/>
          </a:ln>
        </p:spPr>
      </p:sp>
      <p:sp>
        <p:nvSpPr>
          <p:cNvPr id="10" name="codecard|b1"/>
          <p:cNvSpPr txBox="1"/>
          <p:nvPr/>
        </p:nvSpPr>
        <p:spPr>
          <a:xfrm>
            <a:off x="6053328" y="1335024"/>
            <a:ext cx="2523744" cy="841248"/>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[getattr(__import__('logging'), n) for n in ('DEBUG','INFO','WARNING','ERROR','CRITICAL')]</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[10, 20, 30, 40, 50]</a:t>
            </a:r>
            <a:endParaRPr lang="en-US" sz="600" dirty="0"/>
          </a:p>
        </p:txBody>
      </p:sp>
      <p:sp>
        <p:nvSpPr>
          <p:cNvPr id="11" name="codecap|b1"/>
          <p:cNvSpPr txBox="1"/>
          <p:nvPr/>
        </p:nvSpPr>
        <p:spPr>
          <a:xfrm>
            <a:off x="5897880" y="228600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Each level is used by calling the function with the same name as the level in lower case. A program that sets the level to DEBUG with format '%(levelname)s - %(message)s' and logs one message at each level prints DEBUG - d, INFO - i, WARNING - w, ERROR - e and CRITICAL - c, in the order of the calls.</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Levels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DEBUG, INFO, WARNING, ERROR, CRITICAL</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Logging levels: drawn from a real run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five levels run from lowest to highest importance, and each has a number: 10, 20, 30, 40 and 50.</a:t>
            </a:r>
            <a:endParaRPr lang="en-US" sz="1300" dirty="0"/>
          </a:p>
        </p:txBody>
      </p:sp>
      <p:sp>
        <p:nvSpPr>
          <p:cNvPr id="6" name="thr|b1"/>
          <p:cNvSpPr txBox="1"/>
          <p:nvPr/>
        </p:nvSpPr>
        <p:spPr>
          <a:xfrm>
            <a:off x="411480" y="1207008"/>
            <a:ext cx="8321040" cy="292608"/>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level=logging.WARNING: a message is shown when its own number is at least the threshold's, so the two steps below the ...</a:t>
            </a:r>
            <a:endParaRPr lang="en-US" sz="1050" dirty="0"/>
          </a:p>
        </p:txBody>
      </p:sp>
      <p:sp>
        <p:nvSpPr>
          <p:cNvPr id="7" name="stair"/>
          <p:cNvSpPr/>
          <p:nvPr/>
        </p:nvSpPr>
        <p:spPr>
          <a:xfrm>
            <a:off x="548640" y="3017520"/>
            <a:ext cx="1521562" cy="640080"/>
          </a:xfrm>
          <a:prstGeom prst="roundRect">
            <a:avLst>
              <a:gd name="adj" fmla="val 11429"/>
            </a:avLst>
          </a:prstGeom>
          <a:solidFill>
            <a:srgbClr val="E3EEF8"/>
          </a:solidFill>
          <a:ln w="25400">
            <a:solidFill>
              <a:srgbClr val="306998"/>
            </a:solidFill>
            <a:prstDash val="solid"/>
          </a:ln>
        </p:spPr>
      </p:sp>
      <p:sp>
        <p:nvSpPr>
          <p:cNvPr id="8" name="stairt"/>
          <p:cNvSpPr txBox="1"/>
          <p:nvPr/>
        </p:nvSpPr>
        <p:spPr>
          <a:xfrm>
            <a:off x="548640" y="3017520"/>
            <a:ext cx="1521562" cy="640080"/>
          </a:xfrm>
          <a:prstGeom prst="rect">
            <a:avLst/>
          </a:prstGeom>
          <a:noFill/>
          <a:ln/>
        </p:spPr>
        <p:txBody>
          <a:bodyPr wrap="square" lIns="0" tIns="0" rIns="0" bIns="0" rtlCol="0" anchor="ctr"/>
          <a:lstStyle/>
          <a:p>
            <a:pPr algn="ctr" indent="0" marL="0">
              <a:buNone/>
            </a:pPr>
            <a:r>
              <a:rPr lang="en-US" sz="1300" b="1" dirty="0">
                <a:solidFill>
                  <a:srgbClr val="306998"/>
                </a:solidFill>
                <a:latin typeface="Courier New" pitchFamily="34" charset="0"/>
                <a:ea typeface="Courier New" pitchFamily="34" charset="-122"/>
                <a:cs typeface="Courier New" pitchFamily="34" charset="-120"/>
              </a:rPr>
              <a:t>DEBUG</a:t>
            </a:r>
            <a:endParaRPr lang="en-US" sz="1300" dirty="0"/>
          </a:p>
          <a:p>
            <a:pPr algn="ctr" indent="0" marL="0">
              <a:buNone/>
            </a:pPr>
            <a:r>
              <a:rPr lang="en-US" sz="1800" b="1" dirty="0">
                <a:solidFill>
                  <a:srgbClr val="1E2A3A"/>
                </a:solidFill>
                <a:latin typeface="Calibri" pitchFamily="34" charset="0"/>
                <a:ea typeface="Calibri" pitchFamily="34" charset="-122"/>
                <a:cs typeface="Calibri" pitchFamily="34" charset="-120"/>
              </a:rPr>
              <a:t>10</a:t>
            </a:r>
            <a:endParaRPr lang="en-US" sz="1300" dirty="0"/>
          </a:p>
          <a:p>
            <a:pPr algn="ctr" indent="0" marL="0">
              <a:buNone/>
            </a:pPr>
            <a:r>
              <a:rPr lang="en-US" sz="900" dirty="0">
                <a:solidFill>
                  <a:srgbClr val="5B6B7B"/>
                </a:solidFill>
                <a:latin typeface="Courier New" pitchFamily="34" charset="0"/>
                <a:ea typeface="Courier New" pitchFamily="34" charset="-122"/>
                <a:cs typeface="Courier New" pitchFamily="34" charset="-120"/>
              </a:rPr>
              <a:t>logging.debug()</a:t>
            </a:r>
            <a:endParaRPr lang="en-US" sz="1300" dirty="0"/>
          </a:p>
        </p:txBody>
      </p:sp>
      <p:sp>
        <p:nvSpPr>
          <p:cNvPr id="9" name="stair"/>
          <p:cNvSpPr/>
          <p:nvPr/>
        </p:nvSpPr>
        <p:spPr>
          <a:xfrm>
            <a:off x="2179930" y="2688336"/>
            <a:ext cx="1521562" cy="969264"/>
          </a:xfrm>
          <a:prstGeom prst="roundRect">
            <a:avLst>
              <a:gd name="adj" fmla="val 7547"/>
            </a:avLst>
          </a:prstGeom>
          <a:solidFill>
            <a:srgbClr val="E3EEF8"/>
          </a:solidFill>
          <a:ln w="25400">
            <a:solidFill>
              <a:srgbClr val="306998"/>
            </a:solidFill>
            <a:prstDash val="solid"/>
          </a:ln>
        </p:spPr>
      </p:sp>
      <p:sp>
        <p:nvSpPr>
          <p:cNvPr id="10" name="stairt"/>
          <p:cNvSpPr txBox="1"/>
          <p:nvPr/>
        </p:nvSpPr>
        <p:spPr>
          <a:xfrm>
            <a:off x="2179930" y="2688336"/>
            <a:ext cx="1521562" cy="969264"/>
          </a:xfrm>
          <a:prstGeom prst="rect">
            <a:avLst/>
          </a:prstGeom>
          <a:noFill/>
          <a:ln/>
        </p:spPr>
        <p:txBody>
          <a:bodyPr wrap="square" lIns="0" tIns="0" rIns="0" bIns="0" rtlCol="0" anchor="ctr"/>
          <a:lstStyle/>
          <a:p>
            <a:pPr algn="ctr" indent="0" marL="0">
              <a:buNone/>
            </a:pPr>
            <a:r>
              <a:rPr lang="en-US" sz="1300" b="1" dirty="0">
                <a:solidFill>
                  <a:srgbClr val="306998"/>
                </a:solidFill>
                <a:latin typeface="Courier New" pitchFamily="34" charset="0"/>
                <a:ea typeface="Courier New" pitchFamily="34" charset="-122"/>
                <a:cs typeface="Courier New" pitchFamily="34" charset="-120"/>
              </a:rPr>
              <a:t>INFO</a:t>
            </a:r>
            <a:endParaRPr lang="en-US" sz="1300" dirty="0"/>
          </a:p>
          <a:p>
            <a:pPr algn="ctr" indent="0" marL="0">
              <a:buNone/>
            </a:pPr>
            <a:r>
              <a:rPr lang="en-US" sz="1800" b="1" dirty="0">
                <a:solidFill>
                  <a:srgbClr val="1E2A3A"/>
                </a:solidFill>
                <a:latin typeface="Calibri" pitchFamily="34" charset="0"/>
                <a:ea typeface="Calibri" pitchFamily="34" charset="-122"/>
                <a:cs typeface="Calibri" pitchFamily="34" charset="-120"/>
              </a:rPr>
              <a:t>20</a:t>
            </a:r>
            <a:endParaRPr lang="en-US" sz="1300" dirty="0"/>
          </a:p>
          <a:p>
            <a:pPr algn="ctr" indent="0" marL="0">
              <a:buNone/>
            </a:pPr>
            <a:r>
              <a:rPr lang="en-US" sz="900" dirty="0">
                <a:solidFill>
                  <a:srgbClr val="5B6B7B"/>
                </a:solidFill>
                <a:latin typeface="Courier New" pitchFamily="34" charset="0"/>
                <a:ea typeface="Courier New" pitchFamily="34" charset="-122"/>
                <a:cs typeface="Courier New" pitchFamily="34" charset="-120"/>
              </a:rPr>
              <a:t>logging.info()</a:t>
            </a:r>
            <a:endParaRPr lang="en-US" sz="1300" dirty="0"/>
          </a:p>
        </p:txBody>
      </p:sp>
      <p:sp>
        <p:nvSpPr>
          <p:cNvPr id="11" name="stair"/>
          <p:cNvSpPr/>
          <p:nvPr/>
        </p:nvSpPr>
        <p:spPr>
          <a:xfrm>
            <a:off x="3811219" y="2359152"/>
            <a:ext cx="1521562" cy="1298448"/>
          </a:xfrm>
          <a:prstGeom prst="roundRect">
            <a:avLst>
              <a:gd name="adj" fmla="val 5634"/>
            </a:avLst>
          </a:prstGeom>
          <a:solidFill>
            <a:srgbClr val="FCEFD0"/>
          </a:solidFill>
          <a:ln w="25400">
            <a:solidFill>
              <a:srgbClr val="B7791F"/>
            </a:solidFill>
            <a:prstDash val="solid"/>
          </a:ln>
        </p:spPr>
      </p:sp>
      <p:sp>
        <p:nvSpPr>
          <p:cNvPr id="12" name="stairt"/>
          <p:cNvSpPr txBox="1"/>
          <p:nvPr/>
        </p:nvSpPr>
        <p:spPr>
          <a:xfrm>
            <a:off x="3811219" y="2359152"/>
            <a:ext cx="1521562" cy="1298448"/>
          </a:xfrm>
          <a:prstGeom prst="rect">
            <a:avLst/>
          </a:prstGeom>
          <a:noFill/>
          <a:ln/>
        </p:spPr>
        <p:txBody>
          <a:bodyPr wrap="square" lIns="0" tIns="0" rIns="0" bIns="0" rtlCol="0" anchor="ctr"/>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WARNING</a:t>
            </a:r>
            <a:endParaRPr lang="en-US" sz="1300" dirty="0"/>
          </a:p>
          <a:p>
            <a:pPr algn="ctr" indent="0" marL="0">
              <a:buNone/>
            </a:pPr>
            <a:r>
              <a:rPr lang="en-US" sz="1800" b="1" dirty="0">
                <a:solidFill>
                  <a:srgbClr val="1E2A3A"/>
                </a:solidFill>
                <a:latin typeface="Calibri" pitchFamily="34" charset="0"/>
                <a:ea typeface="Calibri" pitchFamily="34" charset="-122"/>
                <a:cs typeface="Calibri" pitchFamily="34" charset="-120"/>
              </a:rPr>
              <a:t>30</a:t>
            </a:r>
            <a:endParaRPr lang="en-US" sz="1300" dirty="0"/>
          </a:p>
          <a:p>
            <a:pPr algn="ctr" indent="0" marL="0">
              <a:buNone/>
            </a:pPr>
            <a:r>
              <a:rPr lang="en-US" sz="900" dirty="0">
                <a:solidFill>
                  <a:srgbClr val="5B6B7B"/>
                </a:solidFill>
                <a:latin typeface="Courier New" pitchFamily="34" charset="0"/>
                <a:ea typeface="Courier New" pitchFamily="34" charset="-122"/>
                <a:cs typeface="Courier New" pitchFamily="34" charset="-120"/>
              </a:rPr>
              <a:t>logging.warning()</a:t>
            </a:r>
            <a:endParaRPr lang="en-US" sz="1300" dirty="0"/>
          </a:p>
        </p:txBody>
      </p:sp>
      <p:sp>
        <p:nvSpPr>
          <p:cNvPr id="13" name="stair"/>
          <p:cNvSpPr/>
          <p:nvPr/>
        </p:nvSpPr>
        <p:spPr>
          <a:xfrm>
            <a:off x="5442509" y="2029968"/>
            <a:ext cx="1521562" cy="1627632"/>
          </a:xfrm>
          <a:prstGeom prst="roundRect">
            <a:avLst>
              <a:gd name="adj" fmla="val 4808"/>
            </a:avLst>
          </a:prstGeom>
          <a:solidFill>
            <a:srgbClr val="FBE1E1"/>
          </a:solidFill>
          <a:ln w="25400">
            <a:solidFill>
              <a:srgbClr val="D64545"/>
            </a:solidFill>
            <a:prstDash val="solid"/>
          </a:ln>
        </p:spPr>
      </p:sp>
      <p:sp>
        <p:nvSpPr>
          <p:cNvPr id="14" name="stairt"/>
          <p:cNvSpPr txBox="1"/>
          <p:nvPr/>
        </p:nvSpPr>
        <p:spPr>
          <a:xfrm>
            <a:off x="5442509" y="2029968"/>
            <a:ext cx="1521562" cy="1627632"/>
          </a:xfrm>
          <a:prstGeom prst="rect">
            <a:avLst/>
          </a:prstGeom>
          <a:noFill/>
          <a:ln/>
        </p:spPr>
        <p:txBody>
          <a:bodyPr wrap="square" lIns="0" tIns="0" rIns="0" bIns="0" rtlCol="0" anchor="ctr"/>
          <a:lstStyle/>
          <a:p>
            <a:pPr algn="ctr" indent="0" marL="0">
              <a:buNone/>
            </a:pPr>
            <a:r>
              <a:rPr lang="en-US" sz="1300" b="1" dirty="0">
                <a:solidFill>
                  <a:srgbClr val="D64545"/>
                </a:solidFill>
                <a:latin typeface="Courier New" pitchFamily="34" charset="0"/>
                <a:ea typeface="Courier New" pitchFamily="34" charset="-122"/>
                <a:cs typeface="Courier New" pitchFamily="34" charset="-120"/>
              </a:rPr>
              <a:t>ERROR</a:t>
            </a:r>
            <a:endParaRPr lang="en-US" sz="1300" dirty="0"/>
          </a:p>
          <a:p>
            <a:pPr algn="ctr" indent="0" marL="0">
              <a:buNone/>
            </a:pPr>
            <a:r>
              <a:rPr lang="en-US" sz="1800" b="1" dirty="0">
                <a:solidFill>
                  <a:srgbClr val="1E2A3A"/>
                </a:solidFill>
                <a:latin typeface="Calibri" pitchFamily="34" charset="0"/>
                <a:ea typeface="Calibri" pitchFamily="34" charset="-122"/>
                <a:cs typeface="Calibri" pitchFamily="34" charset="-120"/>
              </a:rPr>
              <a:t>40</a:t>
            </a:r>
            <a:endParaRPr lang="en-US" sz="1300" dirty="0"/>
          </a:p>
          <a:p>
            <a:pPr algn="ctr" indent="0" marL="0">
              <a:buNone/>
            </a:pPr>
            <a:r>
              <a:rPr lang="en-US" sz="900" dirty="0">
                <a:solidFill>
                  <a:srgbClr val="5B6B7B"/>
                </a:solidFill>
                <a:latin typeface="Courier New" pitchFamily="34" charset="0"/>
                <a:ea typeface="Courier New" pitchFamily="34" charset="-122"/>
                <a:cs typeface="Courier New" pitchFamily="34" charset="-120"/>
              </a:rPr>
              <a:t>logging.error()</a:t>
            </a:r>
            <a:endParaRPr lang="en-US" sz="1300" dirty="0"/>
          </a:p>
        </p:txBody>
      </p:sp>
      <p:sp>
        <p:nvSpPr>
          <p:cNvPr id="15" name="stair"/>
          <p:cNvSpPr/>
          <p:nvPr/>
        </p:nvSpPr>
        <p:spPr>
          <a:xfrm>
            <a:off x="7073798" y="1700784"/>
            <a:ext cx="1521562" cy="1956816"/>
          </a:xfrm>
          <a:prstGeom prst="roundRect">
            <a:avLst>
              <a:gd name="adj" fmla="val 4808"/>
            </a:avLst>
          </a:prstGeom>
          <a:solidFill>
            <a:srgbClr val="FBE1E1"/>
          </a:solidFill>
          <a:ln w="25400">
            <a:solidFill>
              <a:srgbClr val="D64545"/>
            </a:solidFill>
            <a:prstDash val="solid"/>
          </a:ln>
        </p:spPr>
      </p:sp>
      <p:sp>
        <p:nvSpPr>
          <p:cNvPr id="16" name="stairt"/>
          <p:cNvSpPr txBox="1"/>
          <p:nvPr/>
        </p:nvSpPr>
        <p:spPr>
          <a:xfrm>
            <a:off x="7073798" y="1700784"/>
            <a:ext cx="1521562" cy="1956816"/>
          </a:xfrm>
          <a:prstGeom prst="rect">
            <a:avLst/>
          </a:prstGeom>
          <a:noFill/>
          <a:ln/>
        </p:spPr>
        <p:txBody>
          <a:bodyPr wrap="square" lIns="0" tIns="0" rIns="0" bIns="0" rtlCol="0" anchor="ctr"/>
          <a:lstStyle/>
          <a:p>
            <a:pPr algn="ctr" indent="0" marL="0">
              <a:buNone/>
            </a:pPr>
            <a:r>
              <a:rPr lang="en-US" sz="1300" b="1" dirty="0">
                <a:solidFill>
                  <a:srgbClr val="D64545"/>
                </a:solidFill>
                <a:latin typeface="Courier New" pitchFamily="34" charset="0"/>
                <a:ea typeface="Courier New" pitchFamily="34" charset="-122"/>
                <a:cs typeface="Courier New" pitchFamily="34" charset="-120"/>
              </a:rPr>
              <a:t>CRITICAL</a:t>
            </a:r>
            <a:endParaRPr lang="en-US" sz="1300" dirty="0"/>
          </a:p>
          <a:p>
            <a:pPr algn="ctr" indent="0" marL="0">
              <a:buNone/>
            </a:pPr>
            <a:r>
              <a:rPr lang="en-US" sz="1800" b="1" dirty="0">
                <a:solidFill>
                  <a:srgbClr val="1E2A3A"/>
                </a:solidFill>
                <a:latin typeface="Calibri" pitchFamily="34" charset="0"/>
                <a:ea typeface="Calibri" pitchFamily="34" charset="-122"/>
                <a:cs typeface="Calibri" pitchFamily="34" charset="-120"/>
              </a:rPr>
              <a:t>50</a:t>
            </a:r>
            <a:endParaRPr lang="en-US" sz="1300" dirty="0"/>
          </a:p>
          <a:p>
            <a:pPr algn="ctr" indent="0" marL="0">
              <a:buNone/>
            </a:pPr>
            <a:r>
              <a:rPr lang="en-US" sz="900" dirty="0">
                <a:solidFill>
                  <a:srgbClr val="5B6B7B"/>
                </a:solidFill>
                <a:latin typeface="Courier New" pitchFamily="34" charset="0"/>
                <a:ea typeface="Courier New" pitchFamily="34" charset="-122"/>
                <a:cs typeface="Courier New" pitchFamily="34" charset="-120"/>
              </a:rPr>
              <a:t>logging.critical()</a:t>
            </a:r>
            <a:endParaRPr lang="en-US" sz="1300" dirty="0"/>
          </a:p>
        </p:txBody>
      </p:sp>
      <p:sp>
        <p:nvSpPr>
          <p:cNvPr id="17" name="hide|b1"/>
          <p:cNvSpPr/>
          <p:nvPr/>
        </p:nvSpPr>
        <p:spPr>
          <a:xfrm>
            <a:off x="548640" y="3017520"/>
            <a:ext cx="1521562" cy="640080"/>
          </a:xfrm>
          <a:prstGeom prst="roundRect">
            <a:avLst>
              <a:gd name="adj" fmla="val 11429"/>
            </a:avLst>
          </a:prstGeom>
          <a:solidFill>
            <a:srgbClr val="DDE3EA"/>
          </a:solidFill>
          <a:ln w="12700">
            <a:solidFill>
              <a:srgbClr val="DDE3EA"/>
            </a:solidFill>
            <a:prstDash val="solid"/>
          </a:ln>
        </p:spPr>
      </p:sp>
      <p:sp>
        <p:nvSpPr>
          <p:cNvPr id="18" name="hidet|b1"/>
          <p:cNvSpPr txBox="1"/>
          <p:nvPr/>
        </p:nvSpPr>
        <p:spPr>
          <a:xfrm>
            <a:off x="548640" y="3694176"/>
            <a:ext cx="1521562" cy="237744"/>
          </a:xfrm>
          <a:prstGeom prst="rect">
            <a:avLst/>
          </a:prstGeom>
          <a:noFill/>
          <a:ln/>
        </p:spPr>
        <p:txBody>
          <a:bodyPr wrap="square" lIns="0" tIns="0" rIns="0" bIns="0" rtlCol="0" anchor="ctr"/>
          <a:lstStyle/>
          <a:p>
            <a:pPr algn="ctr" indent="0" marL="0">
              <a:buNone/>
            </a:pPr>
            <a:r>
              <a:rPr lang="en-US" sz="900" b="1" dirty="0">
                <a:solidFill>
                  <a:srgbClr val="5B6B7B"/>
                </a:solidFill>
                <a:latin typeface="Calibri" pitchFamily="34" charset="0"/>
                <a:ea typeface="Calibri" pitchFamily="34" charset="-122"/>
                <a:cs typeface="Calibri" pitchFamily="34" charset="-120"/>
              </a:rPr>
              <a:t>hidden at this threshold</a:t>
            </a:r>
            <a:endParaRPr lang="en-US" sz="900" dirty="0"/>
          </a:p>
        </p:txBody>
      </p:sp>
      <p:sp>
        <p:nvSpPr>
          <p:cNvPr id="19" name="hide|b1"/>
          <p:cNvSpPr/>
          <p:nvPr/>
        </p:nvSpPr>
        <p:spPr>
          <a:xfrm>
            <a:off x="2179930" y="2688336"/>
            <a:ext cx="1521562" cy="969264"/>
          </a:xfrm>
          <a:prstGeom prst="roundRect">
            <a:avLst>
              <a:gd name="adj" fmla="val 7547"/>
            </a:avLst>
          </a:prstGeom>
          <a:solidFill>
            <a:srgbClr val="DDE3EA"/>
          </a:solidFill>
          <a:ln w="12700">
            <a:solidFill>
              <a:srgbClr val="DDE3EA"/>
            </a:solidFill>
            <a:prstDash val="solid"/>
          </a:ln>
        </p:spPr>
      </p:sp>
      <p:sp>
        <p:nvSpPr>
          <p:cNvPr id="20" name="hidet|b1"/>
          <p:cNvSpPr txBox="1"/>
          <p:nvPr/>
        </p:nvSpPr>
        <p:spPr>
          <a:xfrm>
            <a:off x="2179930" y="3694176"/>
            <a:ext cx="1521562" cy="237744"/>
          </a:xfrm>
          <a:prstGeom prst="rect">
            <a:avLst/>
          </a:prstGeom>
          <a:noFill/>
          <a:ln/>
        </p:spPr>
        <p:txBody>
          <a:bodyPr wrap="square" lIns="0" tIns="0" rIns="0" bIns="0" rtlCol="0" anchor="ctr"/>
          <a:lstStyle/>
          <a:p>
            <a:pPr algn="ctr" indent="0" marL="0">
              <a:buNone/>
            </a:pPr>
            <a:r>
              <a:rPr lang="en-US" sz="900" b="1" dirty="0">
                <a:solidFill>
                  <a:srgbClr val="5B6B7B"/>
                </a:solidFill>
                <a:latin typeface="Calibri" pitchFamily="34" charset="0"/>
                <a:ea typeface="Calibri" pitchFamily="34" charset="-122"/>
                <a:cs typeface="Calibri" pitchFamily="34" charset="-120"/>
              </a:rPr>
              <a:t>hidden at this threshold</a:t>
            </a:r>
            <a:endParaRPr lang="en-US" sz="900" dirty="0"/>
          </a:p>
        </p:txBody>
      </p:sp>
      <p:sp>
        <p:nvSpPr>
          <p:cNvPr id="21" name="arrow|b1"/>
          <p:cNvSpPr/>
          <p:nvPr/>
        </p:nvSpPr>
        <p:spPr>
          <a:xfrm>
            <a:off x="502920" y="2304288"/>
            <a:ext cx="8138160" cy="0"/>
          </a:xfrm>
          <a:prstGeom prst="line">
            <a:avLst/>
          </a:prstGeom>
          <a:noFill/>
          <a:ln w="31750">
            <a:solidFill>
              <a:srgbClr val="D64545"/>
            </a:solidFill>
            <a:prstDash val="dash"/>
          </a:ln>
        </p:spPr>
      </p:sp>
      <p:sp>
        <p:nvSpPr>
          <p:cNvPr id="22" name="band|b2"/>
          <p:cNvSpPr/>
          <p:nvPr/>
        </p:nvSpPr>
        <p:spPr>
          <a:xfrm>
            <a:off x="411480" y="3968496"/>
            <a:ext cx="8321040" cy="603504"/>
          </a:xfrm>
          <a:prstGeom prst="roundRect">
            <a:avLst>
              <a:gd name="adj" fmla="val 15152"/>
            </a:avLst>
          </a:prstGeom>
          <a:solidFill>
            <a:srgbClr val="E3EEF8"/>
          </a:solidFill>
          <a:ln w="25400">
            <a:solidFill>
              <a:srgbClr val="306998"/>
            </a:solidFill>
            <a:prstDash val="solid"/>
          </a:ln>
        </p:spPr>
      </p:sp>
      <p:sp>
        <p:nvSpPr>
          <p:cNvPr id="23" name="bandt|b2"/>
          <p:cNvSpPr txBox="1"/>
          <p:nvPr/>
        </p:nvSpPr>
        <p:spPr>
          <a:xfrm>
            <a:off x="576072" y="4023360"/>
            <a:ext cx="7991856" cy="493776"/>
          </a:xfrm>
          <a:prstGeom prst="rect">
            <a:avLst/>
          </a:prstGeom>
          <a:noFill/>
          <a:ln/>
        </p:spPr>
        <p:txBody>
          <a:bodyPr wrap="square" lIns="0" tIns="0" rIns="0" bIns="0" rtlCol="0" anchor="t"/>
          <a:lstStyle/>
          <a:p>
            <a:pPr indent="0" marL="0">
              <a:buNone/>
            </a:pPr>
            <a:r>
              <a:rPr lang="en-US" sz="1050" b="1" dirty="0">
                <a:solidFill>
                  <a:srgbClr val="306998"/>
                </a:solidFill>
                <a:latin typeface="Cambria" pitchFamily="34" charset="0"/>
                <a:ea typeface="Cambria" pitchFamily="34" charset="-122"/>
                <a:cs typeface="Cambria" pitchFamily="34" charset="-120"/>
              </a:rPr>
              <a:t>The rule  </a:t>
            </a:r>
            <a:r>
              <a:rPr lang="en-US" sz="1050" dirty="0">
                <a:solidFill>
                  <a:srgbClr val="1F2933"/>
                </a:solidFill>
                <a:latin typeface="Calibri" pitchFamily="34" charset="0"/>
                <a:ea typeface="Calibri" pitchFamily="34" charset="-122"/>
                <a:cs typeface="Calibri" pitchFamily="34" charset="-120"/>
              </a:rPr>
              <a:t>The numbers make the comparison of importance possible: a message is accepted if its number is not lower than the threshold.</a:t>
            </a:r>
            <a:endParaRPr lang="en-US" sz="1300" dirty="0"/>
          </a:p>
        </p:txBody>
      </p:sp>
      <p:sp>
        <p:nvSpPr>
          <p:cNvPr id="24"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Levels</a:t>
            </a:r>
            <a:endParaRPr lang="en-US" sz="950" dirty="0"/>
          </a:p>
        </p:txBody>
      </p:sp>
      <p:sp>
        <p:nvSpPr>
          <p:cNvPr id="25"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par>
                    <p:cTn id="29" fill="hold">
                      <p:stCondLst>
                        <p:cond delay="indefinite"/>
                      </p:stCondLst>
                      <p:childTnLst>
                        <p:par>
                          <p:cTn id="30"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8" grpId="0" animBg="1"/>
      <p:bldP spid="20" grpId="0" animBg="1"/>
      <p:bldP spid="2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Level threshold</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message is shown only if its level is at least the threshold, so raising the threshold hides the lower levels without deleting any call.</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level threshold is the level below which messages are ignored. It is set with the level argument of basicConfig, and a logger set to a threshold accepts messages of that level and above. The documentation of setLevel says that messages less severe than the level will be ignored, and messages of that severity or higher are emitted, unless a handler's own level is higher (Python Software Foundation, 2026).</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In a program that sets level=logging.ERROR and logs one message at each level, only ERROR - e and CRITICAL - c appear. The comparison uses the numbers: 40 and 50 are not lower than the threshold 40, whereas 10, 20 and 30 are. Nothing is deleted or changed in the logging calls; changing the one word in the setup brings the other messages back.</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There are two thresholds, one in the logger and one in each handler, and a message must pass both. The logger's level is checked first; a handler with a higher level of its own will drop the record afterwards. If a message does not appear although the logger's level is low enough, look at the level of the handler.</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Levels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level=logging.INFO</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Level threshold</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message is shown only if its level is at least the threshold, so raising the threshold hides the lower levels without deleting any call.</a:t>
            </a:r>
            <a:endParaRPr lang="en-US" sz="1300" dirty="0"/>
          </a:p>
        </p:txBody>
      </p:sp>
      <p:sp>
        <p:nvSpPr>
          <p:cNvPr id="6" name="v:LevelThreshold:m0"/>
          <p:cNvSpPr txBox="1"/>
          <p:nvPr/>
        </p:nvSpPr>
        <p:spPr>
          <a:xfrm>
            <a:off x="457200" y="1645920"/>
            <a:ext cx="2103120" cy="374904"/>
          </a:xfrm>
          <a:prstGeom prst="rect">
            <a:avLst/>
          </a:prstGeom>
          <a:noFill/>
          <a:ln/>
        </p:spPr>
        <p:txBody>
          <a:bodyPr wrap="square" lIns="0" tIns="0" rIns="0" bIns="0" rtlCol="0" anchor="ct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logging.debug('debug message')</a:t>
            </a:r>
            <a:endParaRPr lang="en-US" sz="900" dirty="0"/>
          </a:p>
        </p:txBody>
      </p:sp>
      <p:sp>
        <p:nvSpPr>
          <p:cNvPr id="7" name="v:LevelThreshold:m1"/>
          <p:cNvSpPr txBox="1"/>
          <p:nvPr/>
        </p:nvSpPr>
        <p:spPr>
          <a:xfrm>
            <a:off x="457200" y="2066544"/>
            <a:ext cx="2103120" cy="374904"/>
          </a:xfrm>
          <a:prstGeom prst="rect">
            <a:avLst/>
          </a:prstGeom>
          <a:noFill/>
          <a:ln/>
        </p:spPr>
        <p:txBody>
          <a:bodyPr wrap="square" lIns="0" tIns="0" rIns="0" bIns="0" rtlCol="0" anchor="ct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logging.info('info message')</a:t>
            </a:r>
            <a:endParaRPr lang="en-US" sz="900" dirty="0"/>
          </a:p>
        </p:txBody>
      </p:sp>
      <p:sp>
        <p:nvSpPr>
          <p:cNvPr id="8" name="v:LevelThreshold:m2"/>
          <p:cNvSpPr txBox="1"/>
          <p:nvPr/>
        </p:nvSpPr>
        <p:spPr>
          <a:xfrm>
            <a:off x="457200" y="2487168"/>
            <a:ext cx="2103120" cy="374904"/>
          </a:xfrm>
          <a:prstGeom prst="rect">
            <a:avLst/>
          </a:prstGeom>
          <a:noFill/>
          <a:ln/>
        </p:spPr>
        <p:txBody>
          <a:bodyPr wrap="square" lIns="0" tIns="0" rIns="0" bIns="0" rtlCol="0" anchor="ct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logging.warning('warning message')</a:t>
            </a:r>
            <a:endParaRPr lang="en-US" sz="900" dirty="0"/>
          </a:p>
        </p:txBody>
      </p:sp>
      <p:sp>
        <p:nvSpPr>
          <p:cNvPr id="9" name="v:LevelThreshold:m3"/>
          <p:cNvSpPr txBox="1"/>
          <p:nvPr/>
        </p:nvSpPr>
        <p:spPr>
          <a:xfrm>
            <a:off x="457200" y="2907792"/>
            <a:ext cx="2103120" cy="374904"/>
          </a:xfrm>
          <a:prstGeom prst="rect">
            <a:avLst/>
          </a:prstGeom>
          <a:noFill/>
          <a:ln/>
        </p:spPr>
        <p:txBody>
          <a:bodyPr wrap="square" lIns="0" tIns="0" rIns="0" bIns="0" rtlCol="0" anchor="ct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logging.error('error message')</a:t>
            </a:r>
            <a:endParaRPr lang="en-US" sz="900" dirty="0"/>
          </a:p>
        </p:txBody>
      </p:sp>
      <p:sp>
        <p:nvSpPr>
          <p:cNvPr id="10" name="v:LevelThreshold:m4"/>
          <p:cNvSpPr txBox="1"/>
          <p:nvPr/>
        </p:nvSpPr>
        <p:spPr>
          <a:xfrm>
            <a:off x="457200" y="3328416"/>
            <a:ext cx="2103120" cy="374904"/>
          </a:xfrm>
          <a:prstGeom prst="rect">
            <a:avLst/>
          </a:prstGeom>
          <a:noFill/>
          <a:ln/>
        </p:spPr>
        <p:txBody>
          <a:bodyPr wrap="square" lIns="0" tIns="0" rIns="0" bIns="0" rtlCol="0" anchor="ct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logging.critical('critical message')</a:t>
            </a:r>
            <a:endParaRPr lang="en-US" sz="900" dirty="0"/>
          </a:p>
        </p:txBody>
      </p:sp>
      <p:sp>
        <p:nvSpPr>
          <p:cNvPr id="11" name="lvhead|b1"/>
          <p:cNvSpPr/>
          <p:nvPr/>
        </p:nvSpPr>
        <p:spPr>
          <a:xfrm>
            <a:off x="2606040" y="1243584"/>
            <a:ext cx="838635" cy="365760"/>
          </a:xfrm>
          <a:prstGeom prst="rect">
            <a:avLst/>
          </a:prstGeom>
          <a:solidFill>
            <a:srgbClr val="1E2A3A"/>
          </a:solidFill>
          <a:ln w="12700">
            <a:solidFill>
              <a:srgbClr val="1E2A3A"/>
            </a:solidFill>
            <a:prstDash val="solid"/>
          </a:ln>
        </p:spPr>
      </p:sp>
      <p:sp>
        <p:nvSpPr>
          <p:cNvPr id="12" name="v:LevelThreshold:h0|b1"/>
          <p:cNvSpPr txBox="1"/>
          <p:nvPr/>
        </p:nvSpPr>
        <p:spPr>
          <a:xfrm>
            <a:off x="2624328" y="1243584"/>
            <a:ext cx="802059"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no </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basicConfig</a:t>
            </a:r>
            <a:endParaRPr lang="en-US" sz="850" dirty="0"/>
          </a:p>
        </p:txBody>
      </p:sp>
      <p:sp>
        <p:nvSpPr>
          <p:cNvPr id="13" name="lvcellbox|b1"/>
          <p:cNvSpPr/>
          <p:nvPr/>
        </p:nvSpPr>
        <p:spPr>
          <a:xfrm>
            <a:off x="2606040" y="1645920"/>
            <a:ext cx="838635" cy="374904"/>
          </a:xfrm>
          <a:prstGeom prst="rect">
            <a:avLst/>
          </a:prstGeom>
          <a:solidFill>
            <a:srgbClr val="F1F4F8"/>
          </a:solidFill>
          <a:ln w="12700">
            <a:solidFill>
              <a:srgbClr val="F1F4F8"/>
            </a:solidFill>
            <a:prstDash val="solid"/>
          </a:ln>
        </p:spPr>
      </p:sp>
      <p:sp>
        <p:nvSpPr>
          <p:cNvPr id="14" name="v:LevelThreshold:c0r0|b1"/>
          <p:cNvSpPr txBox="1"/>
          <p:nvPr/>
        </p:nvSpPr>
        <p:spPr>
          <a:xfrm>
            <a:off x="2606040" y="1645920"/>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5" name="lvcellbox|b1"/>
          <p:cNvSpPr/>
          <p:nvPr/>
        </p:nvSpPr>
        <p:spPr>
          <a:xfrm>
            <a:off x="2606040" y="2066544"/>
            <a:ext cx="838635" cy="374904"/>
          </a:xfrm>
          <a:prstGeom prst="rect">
            <a:avLst/>
          </a:prstGeom>
          <a:solidFill>
            <a:srgbClr val="F1F4F8"/>
          </a:solidFill>
          <a:ln w="12700">
            <a:solidFill>
              <a:srgbClr val="F1F4F8"/>
            </a:solidFill>
            <a:prstDash val="solid"/>
          </a:ln>
        </p:spPr>
      </p:sp>
      <p:sp>
        <p:nvSpPr>
          <p:cNvPr id="16" name="v:LevelThreshold:c0r1|b1"/>
          <p:cNvSpPr txBox="1"/>
          <p:nvPr/>
        </p:nvSpPr>
        <p:spPr>
          <a:xfrm>
            <a:off x="2606040" y="2066544"/>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7" name="lvcellbox|b1"/>
          <p:cNvSpPr/>
          <p:nvPr/>
        </p:nvSpPr>
        <p:spPr>
          <a:xfrm>
            <a:off x="2606040" y="2487168"/>
            <a:ext cx="838635" cy="374904"/>
          </a:xfrm>
          <a:prstGeom prst="rect">
            <a:avLst/>
          </a:prstGeom>
          <a:solidFill>
            <a:srgbClr val="DDF3E6"/>
          </a:solidFill>
          <a:ln w="12700">
            <a:solidFill>
              <a:srgbClr val="2E9E5B"/>
            </a:solidFill>
            <a:prstDash val="solid"/>
          </a:ln>
        </p:spPr>
      </p:sp>
      <p:sp>
        <p:nvSpPr>
          <p:cNvPr id="18" name="v:LevelThreshold:c0r2|b1"/>
          <p:cNvSpPr txBox="1"/>
          <p:nvPr/>
        </p:nvSpPr>
        <p:spPr>
          <a:xfrm>
            <a:off x="2606040" y="2487168"/>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19" name="lvcellbox|b1"/>
          <p:cNvSpPr/>
          <p:nvPr/>
        </p:nvSpPr>
        <p:spPr>
          <a:xfrm>
            <a:off x="2606040" y="2907792"/>
            <a:ext cx="838635" cy="374904"/>
          </a:xfrm>
          <a:prstGeom prst="rect">
            <a:avLst/>
          </a:prstGeom>
          <a:solidFill>
            <a:srgbClr val="DDF3E6"/>
          </a:solidFill>
          <a:ln w="12700">
            <a:solidFill>
              <a:srgbClr val="2E9E5B"/>
            </a:solidFill>
            <a:prstDash val="solid"/>
          </a:ln>
        </p:spPr>
      </p:sp>
      <p:sp>
        <p:nvSpPr>
          <p:cNvPr id="20" name="v:LevelThreshold:c0r3|b1"/>
          <p:cNvSpPr txBox="1"/>
          <p:nvPr/>
        </p:nvSpPr>
        <p:spPr>
          <a:xfrm>
            <a:off x="2606040" y="2907792"/>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1" name="lvcellbox|b1"/>
          <p:cNvSpPr/>
          <p:nvPr/>
        </p:nvSpPr>
        <p:spPr>
          <a:xfrm>
            <a:off x="2606040" y="3328416"/>
            <a:ext cx="838635" cy="374904"/>
          </a:xfrm>
          <a:prstGeom prst="rect">
            <a:avLst/>
          </a:prstGeom>
          <a:solidFill>
            <a:srgbClr val="DDF3E6"/>
          </a:solidFill>
          <a:ln w="12700">
            <a:solidFill>
              <a:srgbClr val="2E9E5B"/>
            </a:solidFill>
            <a:prstDash val="solid"/>
          </a:ln>
        </p:spPr>
      </p:sp>
      <p:sp>
        <p:nvSpPr>
          <p:cNvPr id="22" name="v:LevelThreshold:c0r4|b1"/>
          <p:cNvSpPr txBox="1"/>
          <p:nvPr/>
        </p:nvSpPr>
        <p:spPr>
          <a:xfrm>
            <a:off x="2606040" y="3328416"/>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3" name="lvhead|b2"/>
          <p:cNvSpPr/>
          <p:nvPr/>
        </p:nvSpPr>
        <p:spPr>
          <a:xfrm>
            <a:off x="3481251" y="1243584"/>
            <a:ext cx="838635" cy="365760"/>
          </a:xfrm>
          <a:prstGeom prst="rect">
            <a:avLst/>
          </a:prstGeom>
          <a:solidFill>
            <a:srgbClr val="1E2A3A"/>
          </a:solidFill>
          <a:ln w="12700">
            <a:solidFill>
              <a:srgbClr val="1E2A3A"/>
            </a:solidFill>
            <a:prstDash val="solid"/>
          </a:ln>
        </p:spPr>
      </p:sp>
      <p:sp>
        <p:nvSpPr>
          <p:cNvPr id="24" name="v:LevelThreshold:h1|b2"/>
          <p:cNvSpPr txBox="1"/>
          <p:nvPr/>
        </p:nvSpPr>
        <p:spPr>
          <a:xfrm>
            <a:off x="3499539" y="1243584"/>
            <a:ext cx="802059"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DEBUG</a:t>
            </a:r>
            <a:endParaRPr lang="en-US" sz="850" dirty="0"/>
          </a:p>
        </p:txBody>
      </p:sp>
      <p:sp>
        <p:nvSpPr>
          <p:cNvPr id="25" name="lvcellbox|b2"/>
          <p:cNvSpPr/>
          <p:nvPr/>
        </p:nvSpPr>
        <p:spPr>
          <a:xfrm>
            <a:off x="3481251" y="1645920"/>
            <a:ext cx="838635" cy="374904"/>
          </a:xfrm>
          <a:prstGeom prst="rect">
            <a:avLst/>
          </a:prstGeom>
          <a:solidFill>
            <a:srgbClr val="DDF3E6"/>
          </a:solidFill>
          <a:ln w="12700">
            <a:solidFill>
              <a:srgbClr val="2E9E5B"/>
            </a:solidFill>
            <a:prstDash val="solid"/>
          </a:ln>
        </p:spPr>
      </p:sp>
      <p:sp>
        <p:nvSpPr>
          <p:cNvPr id="26" name="v:LevelThreshold:c1r0|b2"/>
          <p:cNvSpPr txBox="1"/>
          <p:nvPr/>
        </p:nvSpPr>
        <p:spPr>
          <a:xfrm>
            <a:off x="3481251" y="1645920"/>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7" name="lvcellbox|b2"/>
          <p:cNvSpPr/>
          <p:nvPr/>
        </p:nvSpPr>
        <p:spPr>
          <a:xfrm>
            <a:off x="3481251" y="2066544"/>
            <a:ext cx="838635" cy="374904"/>
          </a:xfrm>
          <a:prstGeom prst="rect">
            <a:avLst/>
          </a:prstGeom>
          <a:solidFill>
            <a:srgbClr val="DDF3E6"/>
          </a:solidFill>
          <a:ln w="12700">
            <a:solidFill>
              <a:srgbClr val="2E9E5B"/>
            </a:solidFill>
            <a:prstDash val="solid"/>
          </a:ln>
        </p:spPr>
      </p:sp>
      <p:sp>
        <p:nvSpPr>
          <p:cNvPr id="28" name="v:LevelThreshold:c1r1|b2"/>
          <p:cNvSpPr txBox="1"/>
          <p:nvPr/>
        </p:nvSpPr>
        <p:spPr>
          <a:xfrm>
            <a:off x="3481251" y="2066544"/>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9" name="lvcellbox|b2"/>
          <p:cNvSpPr/>
          <p:nvPr/>
        </p:nvSpPr>
        <p:spPr>
          <a:xfrm>
            <a:off x="3481251" y="2487168"/>
            <a:ext cx="838635" cy="374904"/>
          </a:xfrm>
          <a:prstGeom prst="rect">
            <a:avLst/>
          </a:prstGeom>
          <a:solidFill>
            <a:srgbClr val="DDF3E6"/>
          </a:solidFill>
          <a:ln w="12700">
            <a:solidFill>
              <a:srgbClr val="2E9E5B"/>
            </a:solidFill>
            <a:prstDash val="solid"/>
          </a:ln>
        </p:spPr>
      </p:sp>
      <p:sp>
        <p:nvSpPr>
          <p:cNvPr id="30" name="v:LevelThreshold:c1r2|b2"/>
          <p:cNvSpPr txBox="1"/>
          <p:nvPr/>
        </p:nvSpPr>
        <p:spPr>
          <a:xfrm>
            <a:off x="3481251" y="2487168"/>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1" name="lvcellbox|b2"/>
          <p:cNvSpPr/>
          <p:nvPr/>
        </p:nvSpPr>
        <p:spPr>
          <a:xfrm>
            <a:off x="3481251" y="2907792"/>
            <a:ext cx="838635" cy="374904"/>
          </a:xfrm>
          <a:prstGeom prst="rect">
            <a:avLst/>
          </a:prstGeom>
          <a:solidFill>
            <a:srgbClr val="DDF3E6"/>
          </a:solidFill>
          <a:ln w="12700">
            <a:solidFill>
              <a:srgbClr val="2E9E5B"/>
            </a:solidFill>
            <a:prstDash val="solid"/>
          </a:ln>
        </p:spPr>
      </p:sp>
      <p:sp>
        <p:nvSpPr>
          <p:cNvPr id="32" name="v:LevelThreshold:c1r3|b2"/>
          <p:cNvSpPr txBox="1"/>
          <p:nvPr/>
        </p:nvSpPr>
        <p:spPr>
          <a:xfrm>
            <a:off x="3481251" y="2907792"/>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3" name="lvcellbox|b2"/>
          <p:cNvSpPr/>
          <p:nvPr/>
        </p:nvSpPr>
        <p:spPr>
          <a:xfrm>
            <a:off x="3481251" y="3328416"/>
            <a:ext cx="838635" cy="374904"/>
          </a:xfrm>
          <a:prstGeom prst="rect">
            <a:avLst/>
          </a:prstGeom>
          <a:solidFill>
            <a:srgbClr val="DDF3E6"/>
          </a:solidFill>
          <a:ln w="12700">
            <a:solidFill>
              <a:srgbClr val="2E9E5B"/>
            </a:solidFill>
            <a:prstDash val="solid"/>
          </a:ln>
        </p:spPr>
      </p:sp>
      <p:sp>
        <p:nvSpPr>
          <p:cNvPr id="34" name="v:LevelThreshold:c1r4|b2"/>
          <p:cNvSpPr txBox="1"/>
          <p:nvPr/>
        </p:nvSpPr>
        <p:spPr>
          <a:xfrm>
            <a:off x="3481251" y="3328416"/>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5" name="lvhead|b3"/>
          <p:cNvSpPr/>
          <p:nvPr/>
        </p:nvSpPr>
        <p:spPr>
          <a:xfrm>
            <a:off x="4356463" y="1243584"/>
            <a:ext cx="838635" cy="365760"/>
          </a:xfrm>
          <a:prstGeom prst="rect">
            <a:avLst/>
          </a:prstGeom>
          <a:solidFill>
            <a:srgbClr val="1E2A3A"/>
          </a:solidFill>
          <a:ln w="12700">
            <a:solidFill>
              <a:srgbClr val="1E2A3A"/>
            </a:solidFill>
            <a:prstDash val="solid"/>
          </a:ln>
        </p:spPr>
      </p:sp>
      <p:sp>
        <p:nvSpPr>
          <p:cNvPr id="36" name="v:LevelThreshold:h2|b3"/>
          <p:cNvSpPr txBox="1"/>
          <p:nvPr/>
        </p:nvSpPr>
        <p:spPr>
          <a:xfrm>
            <a:off x="4374751" y="1243584"/>
            <a:ext cx="802059"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INFO</a:t>
            </a:r>
            <a:endParaRPr lang="en-US" sz="850" dirty="0"/>
          </a:p>
        </p:txBody>
      </p:sp>
      <p:sp>
        <p:nvSpPr>
          <p:cNvPr id="37" name="lvcellbox|b3"/>
          <p:cNvSpPr/>
          <p:nvPr/>
        </p:nvSpPr>
        <p:spPr>
          <a:xfrm>
            <a:off x="4356463" y="1645920"/>
            <a:ext cx="838635" cy="374904"/>
          </a:xfrm>
          <a:prstGeom prst="rect">
            <a:avLst/>
          </a:prstGeom>
          <a:solidFill>
            <a:srgbClr val="F1F4F8"/>
          </a:solidFill>
          <a:ln w="12700">
            <a:solidFill>
              <a:srgbClr val="F1F4F8"/>
            </a:solidFill>
            <a:prstDash val="solid"/>
          </a:ln>
        </p:spPr>
      </p:sp>
      <p:sp>
        <p:nvSpPr>
          <p:cNvPr id="38" name="v:LevelThreshold:c2r0|b3"/>
          <p:cNvSpPr txBox="1"/>
          <p:nvPr/>
        </p:nvSpPr>
        <p:spPr>
          <a:xfrm>
            <a:off x="4356463" y="1645920"/>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39" name="lvcellbox|b3"/>
          <p:cNvSpPr/>
          <p:nvPr/>
        </p:nvSpPr>
        <p:spPr>
          <a:xfrm>
            <a:off x="4356463" y="2066544"/>
            <a:ext cx="838635" cy="374904"/>
          </a:xfrm>
          <a:prstGeom prst="rect">
            <a:avLst/>
          </a:prstGeom>
          <a:solidFill>
            <a:srgbClr val="DDF3E6"/>
          </a:solidFill>
          <a:ln w="12700">
            <a:solidFill>
              <a:srgbClr val="2E9E5B"/>
            </a:solidFill>
            <a:prstDash val="solid"/>
          </a:ln>
        </p:spPr>
      </p:sp>
      <p:sp>
        <p:nvSpPr>
          <p:cNvPr id="40" name="v:LevelThreshold:c2r1|b3"/>
          <p:cNvSpPr txBox="1"/>
          <p:nvPr/>
        </p:nvSpPr>
        <p:spPr>
          <a:xfrm>
            <a:off x="4356463" y="2066544"/>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1" name="lvcellbox|b3"/>
          <p:cNvSpPr/>
          <p:nvPr/>
        </p:nvSpPr>
        <p:spPr>
          <a:xfrm>
            <a:off x="4356463" y="2487168"/>
            <a:ext cx="838635" cy="374904"/>
          </a:xfrm>
          <a:prstGeom prst="rect">
            <a:avLst/>
          </a:prstGeom>
          <a:solidFill>
            <a:srgbClr val="DDF3E6"/>
          </a:solidFill>
          <a:ln w="12700">
            <a:solidFill>
              <a:srgbClr val="2E9E5B"/>
            </a:solidFill>
            <a:prstDash val="solid"/>
          </a:ln>
        </p:spPr>
      </p:sp>
      <p:sp>
        <p:nvSpPr>
          <p:cNvPr id="42" name="v:LevelThreshold:c2r2|b3"/>
          <p:cNvSpPr txBox="1"/>
          <p:nvPr/>
        </p:nvSpPr>
        <p:spPr>
          <a:xfrm>
            <a:off x="4356463" y="2487168"/>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3" name="lvcellbox|b3"/>
          <p:cNvSpPr/>
          <p:nvPr/>
        </p:nvSpPr>
        <p:spPr>
          <a:xfrm>
            <a:off x="4356463" y="2907792"/>
            <a:ext cx="838635" cy="374904"/>
          </a:xfrm>
          <a:prstGeom prst="rect">
            <a:avLst/>
          </a:prstGeom>
          <a:solidFill>
            <a:srgbClr val="DDF3E6"/>
          </a:solidFill>
          <a:ln w="12700">
            <a:solidFill>
              <a:srgbClr val="2E9E5B"/>
            </a:solidFill>
            <a:prstDash val="solid"/>
          </a:ln>
        </p:spPr>
      </p:sp>
      <p:sp>
        <p:nvSpPr>
          <p:cNvPr id="44" name="v:LevelThreshold:c2r3|b3"/>
          <p:cNvSpPr txBox="1"/>
          <p:nvPr/>
        </p:nvSpPr>
        <p:spPr>
          <a:xfrm>
            <a:off x="4356463" y="2907792"/>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5" name="lvcellbox|b3"/>
          <p:cNvSpPr/>
          <p:nvPr/>
        </p:nvSpPr>
        <p:spPr>
          <a:xfrm>
            <a:off x="4356463" y="3328416"/>
            <a:ext cx="838635" cy="374904"/>
          </a:xfrm>
          <a:prstGeom prst="rect">
            <a:avLst/>
          </a:prstGeom>
          <a:solidFill>
            <a:srgbClr val="DDF3E6"/>
          </a:solidFill>
          <a:ln w="12700">
            <a:solidFill>
              <a:srgbClr val="2E9E5B"/>
            </a:solidFill>
            <a:prstDash val="solid"/>
          </a:ln>
        </p:spPr>
      </p:sp>
      <p:sp>
        <p:nvSpPr>
          <p:cNvPr id="46" name="v:LevelThreshold:c2r4|b3"/>
          <p:cNvSpPr txBox="1"/>
          <p:nvPr/>
        </p:nvSpPr>
        <p:spPr>
          <a:xfrm>
            <a:off x="4356463" y="3328416"/>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7" name="lvhead|b4"/>
          <p:cNvSpPr/>
          <p:nvPr/>
        </p:nvSpPr>
        <p:spPr>
          <a:xfrm>
            <a:off x="5231674" y="1243584"/>
            <a:ext cx="838635" cy="365760"/>
          </a:xfrm>
          <a:prstGeom prst="rect">
            <a:avLst/>
          </a:prstGeom>
          <a:solidFill>
            <a:srgbClr val="1E2A3A"/>
          </a:solidFill>
          <a:ln w="12700">
            <a:solidFill>
              <a:srgbClr val="1E2A3A"/>
            </a:solidFill>
            <a:prstDash val="solid"/>
          </a:ln>
        </p:spPr>
      </p:sp>
      <p:sp>
        <p:nvSpPr>
          <p:cNvPr id="48" name="v:LevelThreshold:h3|b4"/>
          <p:cNvSpPr txBox="1"/>
          <p:nvPr/>
        </p:nvSpPr>
        <p:spPr>
          <a:xfrm>
            <a:off x="5249962" y="1243584"/>
            <a:ext cx="802059"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WARNING</a:t>
            </a:r>
            <a:endParaRPr lang="en-US" sz="850" dirty="0"/>
          </a:p>
        </p:txBody>
      </p:sp>
      <p:sp>
        <p:nvSpPr>
          <p:cNvPr id="49" name="lvcellbox|b4"/>
          <p:cNvSpPr/>
          <p:nvPr/>
        </p:nvSpPr>
        <p:spPr>
          <a:xfrm>
            <a:off x="5231674" y="1645920"/>
            <a:ext cx="838635" cy="374904"/>
          </a:xfrm>
          <a:prstGeom prst="rect">
            <a:avLst/>
          </a:prstGeom>
          <a:solidFill>
            <a:srgbClr val="F1F4F8"/>
          </a:solidFill>
          <a:ln w="12700">
            <a:solidFill>
              <a:srgbClr val="F1F4F8"/>
            </a:solidFill>
            <a:prstDash val="solid"/>
          </a:ln>
        </p:spPr>
      </p:sp>
      <p:sp>
        <p:nvSpPr>
          <p:cNvPr id="50" name="v:LevelThreshold:c3r0|b4"/>
          <p:cNvSpPr txBox="1"/>
          <p:nvPr/>
        </p:nvSpPr>
        <p:spPr>
          <a:xfrm>
            <a:off x="5231674" y="1645920"/>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1" name="lvcellbox|b4"/>
          <p:cNvSpPr/>
          <p:nvPr/>
        </p:nvSpPr>
        <p:spPr>
          <a:xfrm>
            <a:off x="5231674" y="2066544"/>
            <a:ext cx="838635" cy="374904"/>
          </a:xfrm>
          <a:prstGeom prst="rect">
            <a:avLst/>
          </a:prstGeom>
          <a:solidFill>
            <a:srgbClr val="F1F4F8"/>
          </a:solidFill>
          <a:ln w="12700">
            <a:solidFill>
              <a:srgbClr val="F1F4F8"/>
            </a:solidFill>
            <a:prstDash val="solid"/>
          </a:ln>
        </p:spPr>
      </p:sp>
      <p:sp>
        <p:nvSpPr>
          <p:cNvPr id="52" name="v:LevelThreshold:c3r1|b4"/>
          <p:cNvSpPr txBox="1"/>
          <p:nvPr/>
        </p:nvSpPr>
        <p:spPr>
          <a:xfrm>
            <a:off x="5231674" y="2066544"/>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3" name="lvcellbox|b4"/>
          <p:cNvSpPr/>
          <p:nvPr/>
        </p:nvSpPr>
        <p:spPr>
          <a:xfrm>
            <a:off x="5231674" y="2487168"/>
            <a:ext cx="838635" cy="374904"/>
          </a:xfrm>
          <a:prstGeom prst="rect">
            <a:avLst/>
          </a:prstGeom>
          <a:solidFill>
            <a:srgbClr val="DDF3E6"/>
          </a:solidFill>
          <a:ln w="12700">
            <a:solidFill>
              <a:srgbClr val="2E9E5B"/>
            </a:solidFill>
            <a:prstDash val="solid"/>
          </a:ln>
        </p:spPr>
      </p:sp>
      <p:sp>
        <p:nvSpPr>
          <p:cNvPr id="54" name="v:LevelThreshold:c3r2|b4"/>
          <p:cNvSpPr txBox="1"/>
          <p:nvPr/>
        </p:nvSpPr>
        <p:spPr>
          <a:xfrm>
            <a:off x="5231674" y="2487168"/>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5" name="lvcellbox|b4"/>
          <p:cNvSpPr/>
          <p:nvPr/>
        </p:nvSpPr>
        <p:spPr>
          <a:xfrm>
            <a:off x="5231674" y="2907792"/>
            <a:ext cx="838635" cy="374904"/>
          </a:xfrm>
          <a:prstGeom prst="rect">
            <a:avLst/>
          </a:prstGeom>
          <a:solidFill>
            <a:srgbClr val="DDF3E6"/>
          </a:solidFill>
          <a:ln w="12700">
            <a:solidFill>
              <a:srgbClr val="2E9E5B"/>
            </a:solidFill>
            <a:prstDash val="solid"/>
          </a:ln>
        </p:spPr>
      </p:sp>
      <p:sp>
        <p:nvSpPr>
          <p:cNvPr id="56" name="v:LevelThreshold:c3r3|b4"/>
          <p:cNvSpPr txBox="1"/>
          <p:nvPr/>
        </p:nvSpPr>
        <p:spPr>
          <a:xfrm>
            <a:off x="5231674" y="2907792"/>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7" name="lvcellbox|b4"/>
          <p:cNvSpPr/>
          <p:nvPr/>
        </p:nvSpPr>
        <p:spPr>
          <a:xfrm>
            <a:off x="5231674" y="3328416"/>
            <a:ext cx="838635" cy="374904"/>
          </a:xfrm>
          <a:prstGeom prst="rect">
            <a:avLst/>
          </a:prstGeom>
          <a:solidFill>
            <a:srgbClr val="DDF3E6"/>
          </a:solidFill>
          <a:ln w="12700">
            <a:solidFill>
              <a:srgbClr val="2E9E5B"/>
            </a:solidFill>
            <a:prstDash val="solid"/>
          </a:ln>
        </p:spPr>
      </p:sp>
      <p:sp>
        <p:nvSpPr>
          <p:cNvPr id="58" name="v:LevelThreshold:c3r4|b4"/>
          <p:cNvSpPr txBox="1"/>
          <p:nvPr/>
        </p:nvSpPr>
        <p:spPr>
          <a:xfrm>
            <a:off x="5231674" y="3328416"/>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9" name="lvhead|b5"/>
          <p:cNvSpPr/>
          <p:nvPr/>
        </p:nvSpPr>
        <p:spPr>
          <a:xfrm>
            <a:off x="6106886" y="1243584"/>
            <a:ext cx="838635" cy="365760"/>
          </a:xfrm>
          <a:prstGeom prst="rect">
            <a:avLst/>
          </a:prstGeom>
          <a:solidFill>
            <a:srgbClr val="1E2A3A"/>
          </a:solidFill>
          <a:ln w="12700">
            <a:solidFill>
              <a:srgbClr val="1E2A3A"/>
            </a:solidFill>
            <a:prstDash val="solid"/>
          </a:ln>
        </p:spPr>
      </p:sp>
      <p:sp>
        <p:nvSpPr>
          <p:cNvPr id="60" name="v:LevelThreshold:h4|b5"/>
          <p:cNvSpPr txBox="1"/>
          <p:nvPr/>
        </p:nvSpPr>
        <p:spPr>
          <a:xfrm>
            <a:off x="6125174" y="1243584"/>
            <a:ext cx="802059"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ERROR</a:t>
            </a:r>
            <a:endParaRPr lang="en-US" sz="850" dirty="0"/>
          </a:p>
        </p:txBody>
      </p:sp>
      <p:sp>
        <p:nvSpPr>
          <p:cNvPr id="61" name="lvcellbox|b5"/>
          <p:cNvSpPr/>
          <p:nvPr/>
        </p:nvSpPr>
        <p:spPr>
          <a:xfrm>
            <a:off x="6106886" y="1645920"/>
            <a:ext cx="838635" cy="374904"/>
          </a:xfrm>
          <a:prstGeom prst="rect">
            <a:avLst/>
          </a:prstGeom>
          <a:solidFill>
            <a:srgbClr val="F1F4F8"/>
          </a:solidFill>
          <a:ln w="12700">
            <a:solidFill>
              <a:srgbClr val="F1F4F8"/>
            </a:solidFill>
            <a:prstDash val="solid"/>
          </a:ln>
        </p:spPr>
      </p:sp>
      <p:sp>
        <p:nvSpPr>
          <p:cNvPr id="62" name="v:LevelThreshold:c4r0|b5"/>
          <p:cNvSpPr txBox="1"/>
          <p:nvPr/>
        </p:nvSpPr>
        <p:spPr>
          <a:xfrm>
            <a:off x="6106886" y="1645920"/>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3" name="lvcellbox|b5"/>
          <p:cNvSpPr/>
          <p:nvPr/>
        </p:nvSpPr>
        <p:spPr>
          <a:xfrm>
            <a:off x="6106886" y="2066544"/>
            <a:ext cx="838635" cy="374904"/>
          </a:xfrm>
          <a:prstGeom prst="rect">
            <a:avLst/>
          </a:prstGeom>
          <a:solidFill>
            <a:srgbClr val="F1F4F8"/>
          </a:solidFill>
          <a:ln w="12700">
            <a:solidFill>
              <a:srgbClr val="F1F4F8"/>
            </a:solidFill>
            <a:prstDash val="solid"/>
          </a:ln>
        </p:spPr>
      </p:sp>
      <p:sp>
        <p:nvSpPr>
          <p:cNvPr id="64" name="v:LevelThreshold:c4r1|b5"/>
          <p:cNvSpPr txBox="1"/>
          <p:nvPr/>
        </p:nvSpPr>
        <p:spPr>
          <a:xfrm>
            <a:off x="6106886" y="2066544"/>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5" name="lvcellbox|b5"/>
          <p:cNvSpPr/>
          <p:nvPr/>
        </p:nvSpPr>
        <p:spPr>
          <a:xfrm>
            <a:off x="6106886" y="2487168"/>
            <a:ext cx="838635" cy="374904"/>
          </a:xfrm>
          <a:prstGeom prst="rect">
            <a:avLst/>
          </a:prstGeom>
          <a:solidFill>
            <a:srgbClr val="F1F4F8"/>
          </a:solidFill>
          <a:ln w="12700">
            <a:solidFill>
              <a:srgbClr val="F1F4F8"/>
            </a:solidFill>
            <a:prstDash val="solid"/>
          </a:ln>
        </p:spPr>
      </p:sp>
      <p:sp>
        <p:nvSpPr>
          <p:cNvPr id="66" name="v:LevelThreshold:c4r2|b5"/>
          <p:cNvSpPr txBox="1"/>
          <p:nvPr/>
        </p:nvSpPr>
        <p:spPr>
          <a:xfrm>
            <a:off x="6106886" y="2487168"/>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7" name="lvcellbox|b5"/>
          <p:cNvSpPr/>
          <p:nvPr/>
        </p:nvSpPr>
        <p:spPr>
          <a:xfrm>
            <a:off x="6106886" y="2907792"/>
            <a:ext cx="838635" cy="374904"/>
          </a:xfrm>
          <a:prstGeom prst="rect">
            <a:avLst/>
          </a:prstGeom>
          <a:solidFill>
            <a:srgbClr val="DDF3E6"/>
          </a:solidFill>
          <a:ln w="12700">
            <a:solidFill>
              <a:srgbClr val="2E9E5B"/>
            </a:solidFill>
            <a:prstDash val="solid"/>
          </a:ln>
        </p:spPr>
      </p:sp>
      <p:sp>
        <p:nvSpPr>
          <p:cNvPr id="68" name="v:LevelThreshold:c4r3|b5"/>
          <p:cNvSpPr txBox="1"/>
          <p:nvPr/>
        </p:nvSpPr>
        <p:spPr>
          <a:xfrm>
            <a:off x="6106886" y="2907792"/>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69" name="lvcellbox|b5"/>
          <p:cNvSpPr/>
          <p:nvPr/>
        </p:nvSpPr>
        <p:spPr>
          <a:xfrm>
            <a:off x="6106886" y="3328416"/>
            <a:ext cx="838635" cy="374904"/>
          </a:xfrm>
          <a:prstGeom prst="rect">
            <a:avLst/>
          </a:prstGeom>
          <a:solidFill>
            <a:srgbClr val="DDF3E6"/>
          </a:solidFill>
          <a:ln w="12700">
            <a:solidFill>
              <a:srgbClr val="2E9E5B"/>
            </a:solidFill>
            <a:prstDash val="solid"/>
          </a:ln>
        </p:spPr>
      </p:sp>
      <p:sp>
        <p:nvSpPr>
          <p:cNvPr id="70" name="v:LevelThreshold:c4r4|b5"/>
          <p:cNvSpPr txBox="1"/>
          <p:nvPr/>
        </p:nvSpPr>
        <p:spPr>
          <a:xfrm>
            <a:off x="6106886" y="3328416"/>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71" name="lvhead|b6"/>
          <p:cNvSpPr/>
          <p:nvPr/>
        </p:nvSpPr>
        <p:spPr>
          <a:xfrm>
            <a:off x="6982097" y="1243584"/>
            <a:ext cx="838635" cy="365760"/>
          </a:xfrm>
          <a:prstGeom prst="rect">
            <a:avLst/>
          </a:prstGeom>
          <a:solidFill>
            <a:srgbClr val="1E2A3A"/>
          </a:solidFill>
          <a:ln w="12700">
            <a:solidFill>
              <a:srgbClr val="1E2A3A"/>
            </a:solidFill>
            <a:prstDash val="solid"/>
          </a:ln>
        </p:spPr>
      </p:sp>
      <p:sp>
        <p:nvSpPr>
          <p:cNvPr id="72" name="v:LevelThreshold:h5|b6"/>
          <p:cNvSpPr txBox="1"/>
          <p:nvPr/>
        </p:nvSpPr>
        <p:spPr>
          <a:xfrm>
            <a:off x="7000385" y="1243584"/>
            <a:ext cx="802059"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73" name="lvcellbox|b6"/>
          <p:cNvSpPr/>
          <p:nvPr/>
        </p:nvSpPr>
        <p:spPr>
          <a:xfrm>
            <a:off x="6982097" y="1645920"/>
            <a:ext cx="838635" cy="374904"/>
          </a:xfrm>
          <a:prstGeom prst="rect">
            <a:avLst/>
          </a:prstGeom>
          <a:solidFill>
            <a:srgbClr val="F1F4F8"/>
          </a:solidFill>
          <a:ln w="12700">
            <a:solidFill>
              <a:srgbClr val="F1F4F8"/>
            </a:solidFill>
            <a:prstDash val="solid"/>
          </a:ln>
        </p:spPr>
      </p:sp>
      <p:sp>
        <p:nvSpPr>
          <p:cNvPr id="74" name="v:LevelThreshold:c5r0|b6"/>
          <p:cNvSpPr txBox="1"/>
          <p:nvPr/>
        </p:nvSpPr>
        <p:spPr>
          <a:xfrm>
            <a:off x="6982097" y="1645920"/>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5" name="lvcellbox|b6"/>
          <p:cNvSpPr/>
          <p:nvPr/>
        </p:nvSpPr>
        <p:spPr>
          <a:xfrm>
            <a:off x="6982097" y="2066544"/>
            <a:ext cx="838635" cy="374904"/>
          </a:xfrm>
          <a:prstGeom prst="rect">
            <a:avLst/>
          </a:prstGeom>
          <a:solidFill>
            <a:srgbClr val="F1F4F8"/>
          </a:solidFill>
          <a:ln w="12700">
            <a:solidFill>
              <a:srgbClr val="F1F4F8"/>
            </a:solidFill>
            <a:prstDash val="solid"/>
          </a:ln>
        </p:spPr>
      </p:sp>
      <p:sp>
        <p:nvSpPr>
          <p:cNvPr id="76" name="v:LevelThreshold:c5r1|b6"/>
          <p:cNvSpPr txBox="1"/>
          <p:nvPr/>
        </p:nvSpPr>
        <p:spPr>
          <a:xfrm>
            <a:off x="6982097" y="2066544"/>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7" name="lvcellbox|b6"/>
          <p:cNvSpPr/>
          <p:nvPr/>
        </p:nvSpPr>
        <p:spPr>
          <a:xfrm>
            <a:off x="6982097" y="2487168"/>
            <a:ext cx="838635" cy="374904"/>
          </a:xfrm>
          <a:prstGeom prst="rect">
            <a:avLst/>
          </a:prstGeom>
          <a:solidFill>
            <a:srgbClr val="F1F4F8"/>
          </a:solidFill>
          <a:ln w="12700">
            <a:solidFill>
              <a:srgbClr val="F1F4F8"/>
            </a:solidFill>
            <a:prstDash val="solid"/>
          </a:ln>
        </p:spPr>
      </p:sp>
      <p:sp>
        <p:nvSpPr>
          <p:cNvPr id="78" name="v:LevelThreshold:c5r2|b6"/>
          <p:cNvSpPr txBox="1"/>
          <p:nvPr/>
        </p:nvSpPr>
        <p:spPr>
          <a:xfrm>
            <a:off x="6982097" y="2487168"/>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9" name="lvcellbox|b6"/>
          <p:cNvSpPr/>
          <p:nvPr/>
        </p:nvSpPr>
        <p:spPr>
          <a:xfrm>
            <a:off x="6982097" y="2907792"/>
            <a:ext cx="838635" cy="374904"/>
          </a:xfrm>
          <a:prstGeom prst="rect">
            <a:avLst/>
          </a:prstGeom>
          <a:solidFill>
            <a:srgbClr val="F1F4F8"/>
          </a:solidFill>
          <a:ln w="12700">
            <a:solidFill>
              <a:srgbClr val="F1F4F8"/>
            </a:solidFill>
            <a:prstDash val="solid"/>
          </a:ln>
        </p:spPr>
      </p:sp>
      <p:sp>
        <p:nvSpPr>
          <p:cNvPr id="80" name="v:LevelThreshold:c5r3|b6"/>
          <p:cNvSpPr txBox="1"/>
          <p:nvPr/>
        </p:nvSpPr>
        <p:spPr>
          <a:xfrm>
            <a:off x="6982097" y="2907792"/>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1" name="lvcellbox|b6"/>
          <p:cNvSpPr/>
          <p:nvPr/>
        </p:nvSpPr>
        <p:spPr>
          <a:xfrm>
            <a:off x="6982097" y="3328416"/>
            <a:ext cx="838635" cy="374904"/>
          </a:xfrm>
          <a:prstGeom prst="rect">
            <a:avLst/>
          </a:prstGeom>
          <a:solidFill>
            <a:srgbClr val="DDF3E6"/>
          </a:solidFill>
          <a:ln w="12700">
            <a:solidFill>
              <a:srgbClr val="2E9E5B"/>
            </a:solidFill>
            <a:prstDash val="solid"/>
          </a:ln>
        </p:spPr>
      </p:sp>
      <p:sp>
        <p:nvSpPr>
          <p:cNvPr id="82" name="v:LevelThreshold:c5r4|b6"/>
          <p:cNvSpPr txBox="1"/>
          <p:nvPr/>
        </p:nvSpPr>
        <p:spPr>
          <a:xfrm>
            <a:off x="6982097" y="3328416"/>
            <a:ext cx="838635" cy="37490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83" name="lvhead|b7"/>
          <p:cNvSpPr/>
          <p:nvPr/>
        </p:nvSpPr>
        <p:spPr>
          <a:xfrm>
            <a:off x="7857309" y="1243584"/>
            <a:ext cx="838635" cy="365760"/>
          </a:xfrm>
          <a:prstGeom prst="rect">
            <a:avLst/>
          </a:prstGeom>
          <a:solidFill>
            <a:srgbClr val="1E2A3A"/>
          </a:solidFill>
          <a:ln w="12700">
            <a:solidFill>
              <a:srgbClr val="1E2A3A"/>
            </a:solidFill>
            <a:prstDash val="solid"/>
          </a:ln>
        </p:spPr>
      </p:sp>
      <p:sp>
        <p:nvSpPr>
          <p:cNvPr id="84" name="v:LevelThreshold:h6|b7"/>
          <p:cNvSpPr txBox="1"/>
          <p:nvPr/>
        </p:nvSpPr>
        <p:spPr>
          <a:xfrm>
            <a:off x="7875597" y="1243584"/>
            <a:ext cx="802059"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disable</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85" name="lvcellbox|b7"/>
          <p:cNvSpPr/>
          <p:nvPr/>
        </p:nvSpPr>
        <p:spPr>
          <a:xfrm>
            <a:off x="7857309" y="1645920"/>
            <a:ext cx="838635" cy="374904"/>
          </a:xfrm>
          <a:prstGeom prst="rect">
            <a:avLst/>
          </a:prstGeom>
          <a:solidFill>
            <a:srgbClr val="F1F4F8"/>
          </a:solidFill>
          <a:ln w="12700">
            <a:solidFill>
              <a:srgbClr val="F1F4F8"/>
            </a:solidFill>
            <a:prstDash val="solid"/>
          </a:ln>
        </p:spPr>
      </p:sp>
      <p:sp>
        <p:nvSpPr>
          <p:cNvPr id="86" name="v:LevelThreshold:c6r0|b7"/>
          <p:cNvSpPr txBox="1"/>
          <p:nvPr/>
        </p:nvSpPr>
        <p:spPr>
          <a:xfrm>
            <a:off x="7857309" y="1645920"/>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7" name="lvcellbox|b7"/>
          <p:cNvSpPr/>
          <p:nvPr/>
        </p:nvSpPr>
        <p:spPr>
          <a:xfrm>
            <a:off x="7857309" y="2066544"/>
            <a:ext cx="838635" cy="374904"/>
          </a:xfrm>
          <a:prstGeom prst="rect">
            <a:avLst/>
          </a:prstGeom>
          <a:solidFill>
            <a:srgbClr val="F1F4F8"/>
          </a:solidFill>
          <a:ln w="12700">
            <a:solidFill>
              <a:srgbClr val="F1F4F8"/>
            </a:solidFill>
            <a:prstDash val="solid"/>
          </a:ln>
        </p:spPr>
      </p:sp>
      <p:sp>
        <p:nvSpPr>
          <p:cNvPr id="88" name="v:LevelThreshold:c6r1|b7"/>
          <p:cNvSpPr txBox="1"/>
          <p:nvPr/>
        </p:nvSpPr>
        <p:spPr>
          <a:xfrm>
            <a:off x="7857309" y="2066544"/>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9" name="lvcellbox|b7"/>
          <p:cNvSpPr/>
          <p:nvPr/>
        </p:nvSpPr>
        <p:spPr>
          <a:xfrm>
            <a:off x="7857309" y="2487168"/>
            <a:ext cx="838635" cy="374904"/>
          </a:xfrm>
          <a:prstGeom prst="rect">
            <a:avLst/>
          </a:prstGeom>
          <a:solidFill>
            <a:srgbClr val="F1F4F8"/>
          </a:solidFill>
          <a:ln w="12700">
            <a:solidFill>
              <a:srgbClr val="F1F4F8"/>
            </a:solidFill>
            <a:prstDash val="solid"/>
          </a:ln>
        </p:spPr>
      </p:sp>
      <p:sp>
        <p:nvSpPr>
          <p:cNvPr id="90" name="v:LevelThreshold:c6r2|b7"/>
          <p:cNvSpPr txBox="1"/>
          <p:nvPr/>
        </p:nvSpPr>
        <p:spPr>
          <a:xfrm>
            <a:off x="7857309" y="2487168"/>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1" name="lvcellbox|b7"/>
          <p:cNvSpPr/>
          <p:nvPr/>
        </p:nvSpPr>
        <p:spPr>
          <a:xfrm>
            <a:off x="7857309" y="2907792"/>
            <a:ext cx="838635" cy="374904"/>
          </a:xfrm>
          <a:prstGeom prst="rect">
            <a:avLst/>
          </a:prstGeom>
          <a:solidFill>
            <a:srgbClr val="F1F4F8"/>
          </a:solidFill>
          <a:ln w="12700">
            <a:solidFill>
              <a:srgbClr val="F1F4F8"/>
            </a:solidFill>
            <a:prstDash val="solid"/>
          </a:ln>
        </p:spPr>
      </p:sp>
      <p:sp>
        <p:nvSpPr>
          <p:cNvPr id="92" name="v:LevelThreshold:c6r3|b7"/>
          <p:cNvSpPr txBox="1"/>
          <p:nvPr/>
        </p:nvSpPr>
        <p:spPr>
          <a:xfrm>
            <a:off x="7857309" y="2907792"/>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3" name="lvcellbox|b7"/>
          <p:cNvSpPr/>
          <p:nvPr/>
        </p:nvSpPr>
        <p:spPr>
          <a:xfrm>
            <a:off x="7857309" y="3328416"/>
            <a:ext cx="838635" cy="374904"/>
          </a:xfrm>
          <a:prstGeom prst="rect">
            <a:avLst/>
          </a:prstGeom>
          <a:solidFill>
            <a:srgbClr val="F1F4F8"/>
          </a:solidFill>
          <a:ln w="12700">
            <a:solidFill>
              <a:srgbClr val="F1F4F8"/>
            </a:solidFill>
            <a:prstDash val="solid"/>
          </a:ln>
        </p:spPr>
      </p:sp>
      <p:sp>
        <p:nvSpPr>
          <p:cNvPr id="94" name="v:LevelThreshold:c6r4|b7"/>
          <p:cNvSpPr txBox="1"/>
          <p:nvPr/>
        </p:nvSpPr>
        <p:spPr>
          <a:xfrm>
            <a:off x="7857309" y="3328416"/>
            <a:ext cx="838635" cy="374904"/>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5" name="band|b9"/>
          <p:cNvSpPr/>
          <p:nvPr/>
        </p:nvSpPr>
        <p:spPr>
          <a:xfrm>
            <a:off x="411480" y="3931920"/>
            <a:ext cx="8321040" cy="640080"/>
          </a:xfrm>
          <a:prstGeom prst="roundRect">
            <a:avLst>
              <a:gd name="adj" fmla="val 14286"/>
            </a:avLst>
          </a:prstGeom>
          <a:solidFill>
            <a:srgbClr val="E3EEF8"/>
          </a:solidFill>
          <a:ln w="25400">
            <a:solidFill>
              <a:srgbClr val="306998"/>
            </a:solidFill>
            <a:prstDash val="solid"/>
          </a:ln>
        </p:spPr>
      </p:sp>
      <p:sp>
        <p:nvSpPr>
          <p:cNvPr id="96" name="bandt|b9"/>
          <p:cNvSpPr txBox="1"/>
          <p:nvPr/>
        </p:nvSpPr>
        <p:spPr>
          <a:xfrm>
            <a:off x="576072" y="3986784"/>
            <a:ext cx="7991856" cy="530352"/>
          </a:xfrm>
          <a:prstGeom prst="rect">
            <a:avLst/>
          </a:prstGeom>
          <a:noFill/>
          <a:ln/>
        </p:spPr>
        <p:txBody>
          <a:bodyPr wrap="square" lIns="0" tIns="0" rIns="0" bIns="0" rtlCol="0" anchor="t"/>
          <a:lstStyle/>
          <a:p>
            <a:pPr indent="0" marL="0">
              <a:buNone/>
            </a:pPr>
            <a:r>
              <a:rPr lang="en-US" sz="1300" b="1" dirty="0">
                <a:solidFill>
                  <a:srgbClr val="306998"/>
                </a:solidFill>
                <a:latin typeface="Cambria" pitchFamily="34" charset="0"/>
                <a:ea typeface="Cambria" pitchFamily="34" charset="-122"/>
                <a:cs typeface="Cambria" pitchFamily="34" charset="-120"/>
              </a:rPr>
              <a:t>Read the grid  </a:t>
            </a:r>
            <a:r>
              <a:rPr lang="en-US" sz="1300" dirty="0">
                <a:solidFill>
                  <a:srgbClr val="1F2933"/>
                </a:solidFill>
                <a:latin typeface="Calibri" pitchFamily="34" charset="0"/>
                <a:ea typeface="Calibri" pitchFamily="34" charset="-122"/>
                <a:cs typeface="Calibri" pitchFamily="34" charset="-120"/>
              </a:rPr>
              <a:t>Every cell is what a real run of the same five calls printed at that setting. The first column has no basicConfig at all; the last is logging.disable(CRITICAL).</a:t>
            </a:r>
            <a:endParaRPr lang="en-US" sz="1300" dirty="0"/>
          </a:p>
        </p:txBody>
      </p:sp>
      <p:sp>
        <p:nvSpPr>
          <p:cNvPr id="9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Levels</a:t>
            </a:r>
            <a:endParaRPr lang="en-US" sz="950" dirty="0"/>
          </a:p>
        </p:txBody>
      </p:sp>
      <p:sp>
        <p:nvSpPr>
          <p:cNvPr id="9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00"/>
                                        <p:tgtEl>
                                          <p:spTgt spid="28"/>
                                        </p:tgtEl>
                                      </p:cBhvr>
                                    </p:animEffect>
                                  </p:childTnLst>
                                </p:cTn>
                              </p:par>
                              <p:par>
                                <p:cTn id="59" presetID="10"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00"/>
                                        <p:tgtEl>
                                          <p:spTgt spid="34"/>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nodeType="with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par>
                                <p:cTn id="109" presetID="10"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childTnLst>
                          </p:cTn>
                        </p:par>
                      </p:childTnLst>
                    </p:cTn>
                  </p:par>
                  <p:par>
                    <p:cTn id="191" fill="hold">
                      <p:stCondLst>
                        <p:cond delay="indefinite"/>
                      </p:stCondLst>
                      <p:childTnLst>
                        <p:par>
                          <p:cTn id="192"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400"/>
                                        <p:tgtEl>
                                          <p:spTgt spid="5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fade">
                                      <p:cBhvr>
                                        <p:cTn id="160" dur="400"/>
                                        <p:tgtEl>
                                          <p:spTgt spid="60"/>
                                        </p:tgtEl>
                                      </p:cBhvr>
                                    </p:animEffect>
                                  </p:childTnLst>
                                </p:cTn>
                              </p:par>
                              <p:par>
                                <p:cTn id="161" presetID="10" presetClass="entr" presetSubtype="0"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400"/>
                                        <p:tgtEl>
                                          <p:spTgt spid="6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childTnLst>
                                </p:cTn>
                              </p:par>
                              <p:par>
                                <p:cTn id="167" presetID="10" presetClass="entr" presetSubtype="0" fill="hold" nodeType="withEffect">
                                  <p:stCondLst>
                                    <p:cond delay="0"/>
                                  </p:stCondLst>
                                  <p:childTnLst>
                                    <p:set>
                                      <p:cBhvr>
                                        <p:cTn id="168" dur="1" fill="hold">
                                          <p:stCondLst>
                                            <p:cond delay="0"/>
                                          </p:stCondLst>
                                        </p:cTn>
                                        <p:tgtEl>
                                          <p:spTgt spid="63"/>
                                        </p:tgtEl>
                                        <p:attrNameLst>
                                          <p:attrName>style.visibility</p:attrName>
                                        </p:attrNameLst>
                                      </p:cBhvr>
                                      <p:to>
                                        <p:strVal val="visible"/>
                                      </p:to>
                                    </p:set>
                                    <p:animEffect transition="in" filter="fade">
                                      <p:cBhvr>
                                        <p:cTn id="169" dur="400"/>
                                        <p:tgtEl>
                                          <p:spTgt spid="63"/>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nodeType="with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nodeType="with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par>
                                <p:cTn id="185" presetID="10" presetClass="entr" presetSubtype="0" fill="hold" nodeType="withEffect">
                                  <p:stCondLst>
                                    <p:cond delay="0"/>
                                  </p:stCondLst>
                                  <p:childTnLst>
                                    <p:set>
                                      <p:cBhvr>
                                        <p:cTn id="186" dur="1" fill="hold">
                                          <p:stCondLst>
                                            <p:cond delay="0"/>
                                          </p:stCondLst>
                                        </p:cTn>
                                        <p:tgtEl>
                                          <p:spTgt spid="69"/>
                                        </p:tgtEl>
                                        <p:attrNameLst>
                                          <p:attrName>style.visibility</p:attrName>
                                        </p:attrNameLst>
                                      </p:cBhvr>
                                      <p:to>
                                        <p:strVal val="visible"/>
                                      </p:to>
                                    </p:set>
                                    <p:animEffect transition="in" filter="fade">
                                      <p:cBhvr>
                                        <p:cTn id="187" dur="400"/>
                                        <p:tgtEl>
                                          <p:spTgt spid="69"/>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childTnLst>
                          </p:cTn>
                        </p:par>
                      </p:childTnLst>
                    </p:cTn>
                  </p:par>
                  <p:par>
                    <p:cTn id="229" fill="hold">
                      <p:stCondLst>
                        <p:cond delay="indefinite"/>
                      </p:stCondLst>
                      <p:childTnLst>
                        <p:par>
                          <p:cTn id="230"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4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400"/>
                                        <p:tgtEl>
                                          <p:spTgt spid="72"/>
                                        </p:tgtEl>
                                      </p:cBhvr>
                                    </p:animEffect>
                                  </p:childTnLst>
                                </p:cTn>
                              </p:par>
                              <p:par>
                                <p:cTn id="199" presetID="10" presetClass="entr" presetSubtype="0" fill="hold"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4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4"/>
                                        </p:tgtEl>
                                        <p:attrNameLst>
                                          <p:attrName>style.visibility</p:attrName>
                                        </p:attrNameLst>
                                      </p:cBhvr>
                                      <p:to>
                                        <p:strVal val="visible"/>
                                      </p:to>
                                    </p:set>
                                    <p:animEffect transition="in" filter="fade">
                                      <p:cBhvr>
                                        <p:cTn id="204" dur="400"/>
                                        <p:tgtEl>
                                          <p:spTgt spid="74"/>
                                        </p:tgtEl>
                                      </p:cBhvr>
                                    </p:animEffect>
                                  </p:childTnLst>
                                </p:cTn>
                              </p:par>
                              <p:par>
                                <p:cTn id="205" presetID="10" presetClass="entr" presetSubtype="0" fill="hold" nodeType="withEffect">
                                  <p:stCondLst>
                                    <p:cond delay="0"/>
                                  </p:stCondLst>
                                  <p:childTnLst>
                                    <p:set>
                                      <p:cBhvr>
                                        <p:cTn id="206" dur="1" fill="hold">
                                          <p:stCondLst>
                                            <p:cond delay="0"/>
                                          </p:stCondLst>
                                        </p:cTn>
                                        <p:tgtEl>
                                          <p:spTgt spid="75"/>
                                        </p:tgtEl>
                                        <p:attrNameLst>
                                          <p:attrName>style.visibility</p:attrName>
                                        </p:attrNameLst>
                                      </p:cBhvr>
                                      <p:to>
                                        <p:strVal val="visible"/>
                                      </p:to>
                                    </p:set>
                                    <p:animEffect transition="in" filter="fade">
                                      <p:cBhvr>
                                        <p:cTn id="207" dur="400"/>
                                        <p:tgtEl>
                                          <p:spTgt spid="75"/>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6"/>
                                        </p:tgtEl>
                                        <p:attrNameLst>
                                          <p:attrName>style.visibility</p:attrName>
                                        </p:attrNameLst>
                                      </p:cBhvr>
                                      <p:to>
                                        <p:strVal val="visible"/>
                                      </p:to>
                                    </p:set>
                                    <p:animEffect transition="in" filter="fade">
                                      <p:cBhvr>
                                        <p:cTn id="210" dur="400"/>
                                        <p:tgtEl>
                                          <p:spTgt spid="76"/>
                                        </p:tgtEl>
                                      </p:cBhvr>
                                    </p:animEffect>
                                  </p:childTnLst>
                                </p:cTn>
                              </p:par>
                              <p:par>
                                <p:cTn id="211" presetID="10" presetClass="entr" presetSubtype="0" fill="hold" nodeType="withEffect">
                                  <p:stCondLst>
                                    <p:cond delay="0"/>
                                  </p:stCondLst>
                                  <p:childTnLst>
                                    <p:set>
                                      <p:cBhvr>
                                        <p:cTn id="212" dur="1" fill="hold">
                                          <p:stCondLst>
                                            <p:cond delay="0"/>
                                          </p:stCondLst>
                                        </p:cTn>
                                        <p:tgtEl>
                                          <p:spTgt spid="77"/>
                                        </p:tgtEl>
                                        <p:attrNameLst>
                                          <p:attrName>style.visibility</p:attrName>
                                        </p:attrNameLst>
                                      </p:cBhvr>
                                      <p:to>
                                        <p:strVal val="visible"/>
                                      </p:to>
                                    </p:set>
                                    <p:animEffect transition="in" filter="fade">
                                      <p:cBhvr>
                                        <p:cTn id="213" dur="400"/>
                                        <p:tgtEl>
                                          <p:spTgt spid="77"/>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8"/>
                                        </p:tgtEl>
                                        <p:attrNameLst>
                                          <p:attrName>style.visibility</p:attrName>
                                        </p:attrNameLst>
                                      </p:cBhvr>
                                      <p:to>
                                        <p:strVal val="visible"/>
                                      </p:to>
                                    </p:set>
                                    <p:animEffect transition="in" filter="fade">
                                      <p:cBhvr>
                                        <p:cTn id="216" dur="400"/>
                                        <p:tgtEl>
                                          <p:spTgt spid="78"/>
                                        </p:tgtEl>
                                      </p:cBhvr>
                                    </p:animEffect>
                                  </p:childTnLst>
                                </p:cTn>
                              </p:par>
                              <p:par>
                                <p:cTn id="217" presetID="10" presetClass="entr" presetSubtype="0" fill="hold" nodeType="with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fade">
                                      <p:cBhvr>
                                        <p:cTn id="219" dur="400"/>
                                        <p:tgtEl>
                                          <p:spTgt spid="79"/>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0"/>
                                        </p:tgtEl>
                                        <p:attrNameLst>
                                          <p:attrName>style.visibility</p:attrName>
                                        </p:attrNameLst>
                                      </p:cBhvr>
                                      <p:to>
                                        <p:strVal val="visible"/>
                                      </p:to>
                                    </p:set>
                                    <p:animEffect transition="in" filter="fade">
                                      <p:cBhvr>
                                        <p:cTn id="222" dur="400"/>
                                        <p:tgtEl>
                                          <p:spTgt spid="80"/>
                                        </p:tgtEl>
                                      </p:cBhvr>
                                    </p:animEffect>
                                  </p:childTnLst>
                                </p:cTn>
                              </p:par>
                              <p:par>
                                <p:cTn id="223" presetID="10" presetClass="entr" presetSubtype="0" fill="hold" nodeType="withEffect">
                                  <p:stCondLst>
                                    <p:cond delay="0"/>
                                  </p:stCondLst>
                                  <p:childTnLst>
                                    <p:set>
                                      <p:cBhvr>
                                        <p:cTn id="224" dur="1" fill="hold">
                                          <p:stCondLst>
                                            <p:cond delay="0"/>
                                          </p:stCondLst>
                                        </p:cTn>
                                        <p:tgtEl>
                                          <p:spTgt spid="81"/>
                                        </p:tgtEl>
                                        <p:attrNameLst>
                                          <p:attrName>style.visibility</p:attrName>
                                        </p:attrNameLst>
                                      </p:cBhvr>
                                      <p:to>
                                        <p:strVal val="visible"/>
                                      </p:to>
                                    </p:set>
                                    <p:animEffect transition="in" filter="fade">
                                      <p:cBhvr>
                                        <p:cTn id="225" dur="400"/>
                                        <p:tgtEl>
                                          <p:spTgt spid="81"/>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2"/>
                                        </p:tgtEl>
                                        <p:attrNameLst>
                                          <p:attrName>style.visibility</p:attrName>
                                        </p:attrNameLst>
                                      </p:cBhvr>
                                      <p:to>
                                        <p:strVal val="visible"/>
                                      </p:to>
                                    </p:set>
                                    <p:animEffect transition="in" filter="fade">
                                      <p:cBhvr>
                                        <p:cTn id="228" dur="400"/>
                                        <p:tgtEl>
                                          <p:spTgt spid="82"/>
                                        </p:tgtEl>
                                      </p:cBhvr>
                                    </p:animEffect>
                                  </p:childTnLst>
                                </p:cTn>
                              </p:par>
                            </p:childTnLst>
                          </p:cTn>
                        </p:par>
                      </p:childTnLst>
                    </p:cTn>
                  </p:par>
                  <p:par>
                    <p:cTn id="267" fill="hold">
                      <p:stCondLst>
                        <p:cond delay="indefinite"/>
                      </p:stCondLst>
                      <p:childTnLst>
                        <p:par>
                          <p:cTn id="268" fill="hold">
                            <p:stCondLst>
                              <p:cond delay="0"/>
                            </p:stCondLst>
                            <p:childTnLst>
                              <p:par>
                                <p:cTn id="231" presetID="10" presetClass="entr" presetSubtype="0" fill="hold" nodeType="clickEffect">
                                  <p:stCondLst>
                                    <p:cond delay="0"/>
                                  </p:stCondLst>
                                  <p:childTnLst>
                                    <p:set>
                                      <p:cBhvr>
                                        <p:cTn id="232" dur="1" fill="hold">
                                          <p:stCondLst>
                                            <p:cond delay="0"/>
                                          </p:stCondLst>
                                        </p:cTn>
                                        <p:tgtEl>
                                          <p:spTgt spid="83"/>
                                        </p:tgtEl>
                                        <p:attrNameLst>
                                          <p:attrName>style.visibility</p:attrName>
                                        </p:attrNameLst>
                                      </p:cBhvr>
                                      <p:to>
                                        <p:strVal val="visible"/>
                                      </p:to>
                                    </p:set>
                                    <p:animEffect transition="in" filter="fade">
                                      <p:cBhvr>
                                        <p:cTn id="233" dur="400"/>
                                        <p:tgtEl>
                                          <p:spTgt spid="83"/>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4"/>
                                        </p:tgtEl>
                                        <p:attrNameLst>
                                          <p:attrName>style.visibility</p:attrName>
                                        </p:attrNameLst>
                                      </p:cBhvr>
                                      <p:to>
                                        <p:strVal val="visible"/>
                                      </p:to>
                                    </p:set>
                                    <p:animEffect transition="in" filter="fade">
                                      <p:cBhvr>
                                        <p:cTn id="236" dur="400"/>
                                        <p:tgtEl>
                                          <p:spTgt spid="84"/>
                                        </p:tgtEl>
                                      </p:cBhvr>
                                    </p:animEffect>
                                  </p:childTnLst>
                                </p:cTn>
                              </p:par>
                              <p:par>
                                <p:cTn id="237" presetID="10" presetClass="entr" presetSubtype="0" fill="hold" nodeType="withEffect">
                                  <p:stCondLst>
                                    <p:cond delay="0"/>
                                  </p:stCondLst>
                                  <p:childTnLst>
                                    <p:set>
                                      <p:cBhvr>
                                        <p:cTn id="238" dur="1" fill="hold">
                                          <p:stCondLst>
                                            <p:cond delay="0"/>
                                          </p:stCondLst>
                                        </p:cTn>
                                        <p:tgtEl>
                                          <p:spTgt spid="85"/>
                                        </p:tgtEl>
                                        <p:attrNameLst>
                                          <p:attrName>style.visibility</p:attrName>
                                        </p:attrNameLst>
                                      </p:cBhvr>
                                      <p:to>
                                        <p:strVal val="visible"/>
                                      </p:to>
                                    </p:set>
                                    <p:animEffect transition="in" filter="fade">
                                      <p:cBhvr>
                                        <p:cTn id="239" dur="400"/>
                                        <p:tgtEl>
                                          <p:spTgt spid="85"/>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86"/>
                                        </p:tgtEl>
                                        <p:attrNameLst>
                                          <p:attrName>style.visibility</p:attrName>
                                        </p:attrNameLst>
                                      </p:cBhvr>
                                      <p:to>
                                        <p:strVal val="visible"/>
                                      </p:to>
                                    </p:set>
                                    <p:animEffect transition="in" filter="fade">
                                      <p:cBhvr>
                                        <p:cTn id="242" dur="400"/>
                                        <p:tgtEl>
                                          <p:spTgt spid="86"/>
                                        </p:tgtEl>
                                      </p:cBhvr>
                                    </p:animEffect>
                                  </p:childTnLst>
                                </p:cTn>
                              </p:par>
                              <p:par>
                                <p:cTn id="243" presetID="10" presetClass="entr" presetSubtype="0" fill="hold" nodeType="withEffect">
                                  <p:stCondLst>
                                    <p:cond delay="0"/>
                                  </p:stCondLst>
                                  <p:childTnLst>
                                    <p:set>
                                      <p:cBhvr>
                                        <p:cTn id="244" dur="1" fill="hold">
                                          <p:stCondLst>
                                            <p:cond delay="0"/>
                                          </p:stCondLst>
                                        </p:cTn>
                                        <p:tgtEl>
                                          <p:spTgt spid="87"/>
                                        </p:tgtEl>
                                        <p:attrNameLst>
                                          <p:attrName>style.visibility</p:attrName>
                                        </p:attrNameLst>
                                      </p:cBhvr>
                                      <p:to>
                                        <p:strVal val="visible"/>
                                      </p:to>
                                    </p:set>
                                    <p:animEffect transition="in" filter="fade">
                                      <p:cBhvr>
                                        <p:cTn id="245" dur="400"/>
                                        <p:tgtEl>
                                          <p:spTgt spid="87"/>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88"/>
                                        </p:tgtEl>
                                        <p:attrNameLst>
                                          <p:attrName>style.visibility</p:attrName>
                                        </p:attrNameLst>
                                      </p:cBhvr>
                                      <p:to>
                                        <p:strVal val="visible"/>
                                      </p:to>
                                    </p:set>
                                    <p:animEffect transition="in" filter="fade">
                                      <p:cBhvr>
                                        <p:cTn id="248" dur="400"/>
                                        <p:tgtEl>
                                          <p:spTgt spid="88"/>
                                        </p:tgtEl>
                                      </p:cBhvr>
                                    </p:animEffect>
                                  </p:childTnLst>
                                </p:cTn>
                              </p:par>
                              <p:par>
                                <p:cTn id="249" presetID="10" presetClass="entr" presetSubtype="0" fill="hold" nodeType="withEffect">
                                  <p:stCondLst>
                                    <p:cond delay="0"/>
                                  </p:stCondLst>
                                  <p:childTnLst>
                                    <p:set>
                                      <p:cBhvr>
                                        <p:cTn id="250" dur="1" fill="hold">
                                          <p:stCondLst>
                                            <p:cond delay="0"/>
                                          </p:stCondLst>
                                        </p:cTn>
                                        <p:tgtEl>
                                          <p:spTgt spid="89"/>
                                        </p:tgtEl>
                                        <p:attrNameLst>
                                          <p:attrName>style.visibility</p:attrName>
                                        </p:attrNameLst>
                                      </p:cBhvr>
                                      <p:to>
                                        <p:strVal val="visible"/>
                                      </p:to>
                                    </p:set>
                                    <p:animEffect transition="in" filter="fade">
                                      <p:cBhvr>
                                        <p:cTn id="251" dur="400"/>
                                        <p:tgtEl>
                                          <p:spTgt spid="8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90"/>
                                        </p:tgtEl>
                                        <p:attrNameLst>
                                          <p:attrName>style.visibility</p:attrName>
                                        </p:attrNameLst>
                                      </p:cBhvr>
                                      <p:to>
                                        <p:strVal val="visible"/>
                                      </p:to>
                                    </p:set>
                                    <p:animEffect transition="in" filter="fade">
                                      <p:cBhvr>
                                        <p:cTn id="254" dur="400"/>
                                        <p:tgtEl>
                                          <p:spTgt spid="90"/>
                                        </p:tgtEl>
                                      </p:cBhvr>
                                    </p:animEffect>
                                  </p:childTnLst>
                                </p:cTn>
                              </p:par>
                              <p:par>
                                <p:cTn id="255" presetID="10" presetClass="entr" presetSubtype="0" fill="hold" nodeType="withEffect">
                                  <p:stCondLst>
                                    <p:cond delay="0"/>
                                  </p:stCondLst>
                                  <p:childTnLst>
                                    <p:set>
                                      <p:cBhvr>
                                        <p:cTn id="256" dur="1" fill="hold">
                                          <p:stCondLst>
                                            <p:cond delay="0"/>
                                          </p:stCondLst>
                                        </p:cTn>
                                        <p:tgtEl>
                                          <p:spTgt spid="91"/>
                                        </p:tgtEl>
                                        <p:attrNameLst>
                                          <p:attrName>style.visibility</p:attrName>
                                        </p:attrNameLst>
                                      </p:cBhvr>
                                      <p:to>
                                        <p:strVal val="visible"/>
                                      </p:to>
                                    </p:set>
                                    <p:animEffect transition="in" filter="fade">
                                      <p:cBhvr>
                                        <p:cTn id="257" dur="400"/>
                                        <p:tgtEl>
                                          <p:spTgt spid="91"/>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92"/>
                                        </p:tgtEl>
                                        <p:attrNameLst>
                                          <p:attrName>style.visibility</p:attrName>
                                        </p:attrNameLst>
                                      </p:cBhvr>
                                      <p:to>
                                        <p:strVal val="visible"/>
                                      </p:to>
                                    </p:set>
                                    <p:animEffect transition="in" filter="fade">
                                      <p:cBhvr>
                                        <p:cTn id="260" dur="400"/>
                                        <p:tgtEl>
                                          <p:spTgt spid="92"/>
                                        </p:tgtEl>
                                      </p:cBhvr>
                                    </p:animEffect>
                                  </p:childTnLst>
                                </p:cTn>
                              </p:par>
                              <p:par>
                                <p:cTn id="261" presetID="10" presetClass="entr" presetSubtype="0" fill="hold" nodeType="withEffect">
                                  <p:stCondLst>
                                    <p:cond delay="0"/>
                                  </p:stCondLst>
                                  <p:childTnLst>
                                    <p:set>
                                      <p:cBhvr>
                                        <p:cTn id="262" dur="1" fill="hold">
                                          <p:stCondLst>
                                            <p:cond delay="0"/>
                                          </p:stCondLst>
                                        </p:cTn>
                                        <p:tgtEl>
                                          <p:spTgt spid="93"/>
                                        </p:tgtEl>
                                        <p:attrNameLst>
                                          <p:attrName>style.visibility</p:attrName>
                                        </p:attrNameLst>
                                      </p:cBhvr>
                                      <p:to>
                                        <p:strVal val="visible"/>
                                      </p:to>
                                    </p:set>
                                    <p:animEffect transition="in" filter="fade">
                                      <p:cBhvr>
                                        <p:cTn id="263" dur="400"/>
                                        <p:tgtEl>
                                          <p:spTgt spid="93"/>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4"/>
                                        </p:tgtEl>
                                        <p:attrNameLst>
                                          <p:attrName>style.visibility</p:attrName>
                                        </p:attrNameLst>
                                      </p:cBhvr>
                                      <p:to>
                                        <p:strVal val="visible"/>
                                      </p:to>
                                    </p:set>
                                    <p:animEffect transition="in" filter="fade">
                                      <p:cBhvr>
                                        <p:cTn id="266" dur="400"/>
                                        <p:tgtEl>
                                          <p:spTgt spid="94"/>
                                        </p:tgtEl>
                                      </p:cBhvr>
                                    </p:animEffect>
                                  </p:childTnLst>
                                </p:cTn>
                              </p:par>
                            </p:childTnLst>
                          </p:cTn>
                        </p:par>
                      </p:childTnLst>
                    </p:cTn>
                  </p:par>
                  <p:par>
                    <p:cTn id="275" fill="hold">
                      <p:stCondLst>
                        <p:cond delay="indefinite"/>
                      </p:stCondLst>
                      <p:childTnLst>
                        <p:par>
                          <p:cTn id="276" fill="hold">
                            <p:stCondLst>
                              <p:cond delay="0"/>
                            </p:stCondLst>
                            <p:childTnLst>
                              <p:par>
                                <p:cTn id="269" presetID="10" presetClass="entr" presetSubtype="0" fill="hold" nodeType="clickEffect">
                                  <p:stCondLst>
                                    <p:cond delay="0"/>
                                  </p:stCondLst>
                                  <p:childTnLst>
                                    <p:set>
                                      <p:cBhvr>
                                        <p:cTn id="270" dur="1" fill="hold">
                                          <p:stCondLst>
                                            <p:cond delay="0"/>
                                          </p:stCondLst>
                                        </p:cTn>
                                        <p:tgtEl>
                                          <p:spTgt spid="95"/>
                                        </p:tgtEl>
                                        <p:attrNameLst>
                                          <p:attrName>style.visibility</p:attrName>
                                        </p:attrNameLst>
                                      </p:cBhvr>
                                      <p:to>
                                        <p:strVal val="visible"/>
                                      </p:to>
                                    </p:set>
                                    <p:animEffect transition="in" filter="fade">
                                      <p:cBhvr>
                                        <p:cTn id="271" dur="400"/>
                                        <p:tgtEl>
                                          <p:spTgt spid="95"/>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96"/>
                                        </p:tgtEl>
                                        <p:attrNameLst>
                                          <p:attrName>style.visibility</p:attrName>
                                        </p:attrNameLst>
                                      </p:cBhvr>
                                      <p:to>
                                        <p:strVal val="visible"/>
                                      </p:to>
                                    </p:set>
                                    <p:animEffect transition="in" filter="fade">
                                      <p:cBhvr>
                                        <p:cTn id="274" dur="4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4" grpId="0" animBg="1"/>
      <p:bldP spid="76" grpId="0" animBg="1"/>
      <p:bldP spid="78" grpId="0" animBg="1"/>
      <p:bldP spid="80" grpId="0" animBg="1"/>
      <p:bldP spid="82" grpId="0" animBg="1"/>
      <p:bldP spid="84" grpId="0" animBg="1"/>
      <p:bldP spid="86" grpId="0" animBg="1"/>
      <p:bldP spid="88" grpId="0" animBg="1"/>
      <p:bldP spid="90" grpId="0" animBg="1"/>
      <p:bldP spid="92" grpId="0" animBg="1"/>
      <p:bldP spid="94" grpId="0" animBg="1"/>
      <p:bldP spid="9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Default level</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Without basicConfig the threshold is WARNING, so debug and info calls print nothing and warning and error calls print to standard error.</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default level is the threshold that applies when the program has not configured logging. The documentation states that the default level is WARNING, which means that only events of this severity and higher are tracked unless the logging package is configured to do otherwise, and that the root logger is created with the level WARNING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expression logging.getLogger().getEffectiveLevel() evaluates to 30 in a fresh program, the number of WARNING.</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side effect on the root logger is the trap: after the first implicit call the root logger has a handler, so a later basicConfig is ignored.</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__import__('logging').getLogger().getEffectiveLevel()</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30</a:t>
            </a:r>
            <a:endParaRPr lang="en-US" sz="6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default is met in any program that imports logging and logs without a setup, in the interactive shell, and in code that libraries run. In such a program logging.warning('Watch out!') prints WARNING:root:Watch out!, and logging.info('I told you so') prints nothing, as the HOWTO shows (Python Software Foundation, 2026).</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Levels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the default threshold is WARNING</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Disabling logging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logging.disable silences the given level and all below it; disabling CRITICAL turns every message off, and NOTSET turns them back on.</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Disabling logging means switching log messages off from one place, without deleting the calls. The function logging.disable(level) provides an overriding level for all loggers, which takes precedence over each logger's own level, and its effect is to disable all logging calls of severity level and below (Python Software Foundation, 2026). The chapter's recipe is logging.disable(logging.CRITICAL), which suppresses all log messages (Sweigart, 2025).</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In a program that sets level=logging.INFO, logs a critical message, calls logging.disable(logging.CRITICAL) and logs again, the first message appears as CRITICAL - before and the later critical and error messages are silent. Calling logging.disable(logging.NOTSET) removes the override, so a following error message appears as ERROR - after. A call with logging.INFO discards INFO and DEBUG events only, so a later warning still prints.</a:t>
            </a:r>
            <a:endParaRPr lang="en-US" sz="13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disable level applies to all loggers in the process, including those of libraries, and it overrides their own settings, so a program that disables logging for a test must undo it. The setting is a number: logging.disable(logging.NOTSET) is the way back, not logging.enable, which does not exist.</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Levels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logging.disable(logging.CRITICAL)</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Disabling logging: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600" dirty="0">
                <a:solidFill>
                  <a:srgbClr val="E6EDF3"/>
                </a:solidFill>
                <a:latin typeface="Courier New" pitchFamily="34" charset="0"/>
                <a:ea typeface="Courier New" pitchFamily="34" charset="-122"/>
                <a:cs typeface="Courier New" pitchFamily="34" charset="-120"/>
              </a:rPr>
              <a:t>import logging, sys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logging.critical('before disable')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logging.disable(logging.CRITICAL)</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logging.critical('after disable')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logging.error('after disable')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logging.disable(logging.NOTSET)</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logging.error('after re-enabling')</a:t>
            </a:r>
            <a:endParaRPr lang="en-US" sz="6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disable_v1_0_0.py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CRITICAL - before disable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ERROR - after re-enabling</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a program that sets level=logging.INFO, logs a critical message, calls logging.disable(logging.CRITICAL) and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Levels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Practice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Practice in logging is the set of habits that decide whether log messages help or hinder.</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A log that is easy to switch off, and cheap when off, is a log the programmer will leave in the program. A log full of expensive string building is one that has to be removed before the program is released, which brings back the problem that logging was meant to solve.</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two concepts are the comparison of logging with print, which the chapter makes in its section A Poor Practice and in its practice questions, and the lazy formatting of messages, which the logging documentation explains.</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Logging versus print</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print or logging.debug</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Lazy formatting</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log.debug('value is %s', obj)</a:t>
            </a:r>
            <a:endParaRPr lang="en-US" sz="1100" dirty="0"/>
          </a:p>
        </p:txBody>
      </p:sp>
      <p:sp>
        <p:nvSpPr>
          <p:cNvPr id="1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Practice</a:t>
            </a:r>
            <a:endParaRPr lang="en-US" sz="950" dirty="0"/>
          </a:p>
        </p:txBody>
      </p:sp>
      <p:sp>
        <p:nvSpPr>
          <p:cNvPr id="2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Logging versus print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Log messages are for the programmer and print is for the user; log calls stay in the program and one setting switches them all off, where print calls would each have to be deleted.</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Logging and print both write text, but they serve different readers. The chapter's rule is that log messages are intended for the programmer, not the user, and that for error messages the user should see, like File not found or Invalid input, please enter a number, a print call is the right tool (Sweigart, 2025). The practice question that asks why logging messages are better than print calls for the same message has the answer in the same section.</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Each log call also adds a level and, if the format asks for it, a time, and it goes by default to the error stream, whereas print goes to the standard output. A program that prints one line with print and logs one line with logging.warning shows both until logging.disable(logging.CRITICAL) is called; after it only the print line remains.</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Watch out  </a:t>
            </a:r>
            <a:r>
              <a:rPr lang="en-US" sz="1100" dirty="0">
                <a:solidFill>
                  <a:srgbClr val="1F2933"/>
                </a:solidFill>
                <a:latin typeface="Calibri" pitchFamily="34" charset="0"/>
                <a:ea typeface="Calibri" pitchFamily="34" charset="-122"/>
                <a:cs typeface="Calibri" pitchFamily="34" charset="-120"/>
              </a:rPr>
              <a:t>The distinction is easy to blur in small scripts: a message the user needs, such as the result of the calculation, must be printed, and must not depend on the logging setup, or it would vanish when logging is disabled. The chapter's factorial program makes the point: print(factorial(5)) is part of the original program, so the code displays the result even if logging messages are disabled (Sweigart, 2025).</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Practice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print or logging.debug</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Lazy formatting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message given arguments is formatted only when it is emitted, so a disabled debug call costs no string conversion, unlike an f-string built before the call.</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Lazy formatting means that the text of a log message is built only if the message is actually going to be emitted. A call such as log.debug('value is %s', obj) hands the message and the argument separately to the logger; the HOWTO says that formatting of message arguments is deferred until it cannot be avoided (Python Software Foundation, 2026). An f-string, by contrast, builds the whole text before the call is made.</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small experiment shows the difference.</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Lazy formatting defers only the formatting. The arguments themselves are evaluated before the call, so an expensive function call among them still runs.</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import logging</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class Loud: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calls = 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def __str__(self):</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Loud.calls += 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return 'loud'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 = logging.getLogger('demo')</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log.setLevel(logging.INFO)</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log.addHandler(logging.NullHandler())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log.debug('value is %s', Loud())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print('lazy:', Loud.calls)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log.debug(f'value is {Loud()}')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print('f-string:', Loud.calls)</a:t>
            </a:r>
            <a:endParaRPr lang="en-US" sz="8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lazy_v1_0_0.py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lazy: 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f-string: 1</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Logging  &gt;  Practice</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log.debug('value is %s', obj)</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Debugger</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The debugger is a tool that runs a program one instruction at a time and lets the programmer look at the program between the steps.</a:t>
            </a:r>
            <a:endParaRPr lang="en-US" sz="1150" dirty="0"/>
          </a:p>
        </p:txBody>
      </p:sp>
      <p:sp>
        <p:nvSpPr>
          <p:cNvPr id="4" name="br1|b1"/>
          <p:cNvSpPr/>
          <p:nvPr/>
        </p:nvSpPr>
        <p:spPr>
          <a:xfrm>
            <a:off x="457200" y="1828800"/>
            <a:ext cx="2657856"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2584704"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Debugger interface</a:t>
            </a:r>
            <a:endParaRPr lang="en-US" sz="1400" dirty="0"/>
          </a:p>
        </p:txBody>
      </p:sp>
      <p:sp>
        <p:nvSpPr>
          <p:cNvPr id="6" name="br2|b1"/>
          <p:cNvSpPr/>
          <p:nvPr/>
        </p:nvSpPr>
        <p:spPr>
          <a:xfrm>
            <a:off x="457200" y="2359152"/>
            <a:ext cx="2657856"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2474976"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Mu editor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Running under the debugger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Program state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Debug Inspector pane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Stop button</a:t>
            </a:r>
            <a:endParaRPr lang="en-US" sz="1200" dirty="0"/>
          </a:p>
        </p:txBody>
      </p:sp>
      <p:sp>
        <p:nvSpPr>
          <p:cNvPr id="8" name="br1|b2"/>
          <p:cNvSpPr/>
          <p:nvPr/>
        </p:nvSpPr>
        <p:spPr>
          <a:xfrm>
            <a:off x="3243072" y="1828800"/>
            <a:ext cx="2657856"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3279648" y="1828800"/>
            <a:ext cx="2584704"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Controls</a:t>
            </a:r>
            <a:endParaRPr lang="en-US" sz="1400" dirty="0"/>
          </a:p>
        </p:txBody>
      </p:sp>
      <p:sp>
        <p:nvSpPr>
          <p:cNvPr id="10" name="br2|b2"/>
          <p:cNvSpPr/>
          <p:nvPr/>
        </p:nvSpPr>
        <p:spPr>
          <a:xfrm>
            <a:off x="3243072" y="2359152"/>
            <a:ext cx="2657856" cy="2121408"/>
          </a:xfrm>
          <a:prstGeom prst="roundRect">
            <a:avLst>
              <a:gd name="adj" fmla="val 3448"/>
            </a:avLst>
          </a:prstGeom>
          <a:solidFill>
            <a:srgbClr val="27374B"/>
          </a:solidFill>
          <a:ln w="12700">
            <a:solidFill>
              <a:srgbClr val="3B5B87"/>
            </a:solidFill>
            <a:prstDash val="solid"/>
          </a:ln>
        </p:spPr>
      </p:sp>
      <p:sp>
        <p:nvSpPr>
          <p:cNvPr id="11" name="br2t|b2"/>
          <p:cNvSpPr txBox="1"/>
          <p:nvPr/>
        </p:nvSpPr>
        <p:spPr>
          <a:xfrm>
            <a:off x="3334512" y="2432304"/>
            <a:ext cx="2474976"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Breakpoint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Continue control</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Step in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Step over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Step out</a:t>
            </a:r>
            <a:endParaRPr lang="en-US" sz="1200" dirty="0"/>
          </a:p>
        </p:txBody>
      </p:sp>
      <p:sp>
        <p:nvSpPr>
          <p:cNvPr id="12" name="br1|b3"/>
          <p:cNvSpPr/>
          <p:nvPr/>
        </p:nvSpPr>
        <p:spPr>
          <a:xfrm>
            <a:off x="6028944" y="1828800"/>
            <a:ext cx="2657856" cy="457200"/>
          </a:xfrm>
          <a:prstGeom prst="roundRect">
            <a:avLst>
              <a:gd name="adj" fmla="val 16000"/>
            </a:avLst>
          </a:prstGeom>
          <a:solidFill>
            <a:srgbClr val="FFD43B"/>
          </a:solidFill>
          <a:ln w="12700">
            <a:solidFill>
              <a:srgbClr val="FFD43B"/>
            </a:solidFill>
            <a:prstDash val="solid"/>
          </a:ln>
        </p:spPr>
      </p:sp>
      <p:sp>
        <p:nvSpPr>
          <p:cNvPr id="13" name="br1t|b3"/>
          <p:cNvSpPr txBox="1"/>
          <p:nvPr/>
        </p:nvSpPr>
        <p:spPr>
          <a:xfrm>
            <a:off x="6065520" y="1828800"/>
            <a:ext cx="2584704"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Python debugger</a:t>
            </a:r>
            <a:endParaRPr lang="en-US" sz="1400" dirty="0"/>
          </a:p>
        </p:txBody>
      </p:sp>
      <p:sp>
        <p:nvSpPr>
          <p:cNvPr id="14" name="br2|b3"/>
          <p:cNvSpPr/>
          <p:nvPr/>
        </p:nvSpPr>
        <p:spPr>
          <a:xfrm>
            <a:off x="6028944" y="2359152"/>
            <a:ext cx="2657856" cy="2121408"/>
          </a:xfrm>
          <a:prstGeom prst="roundRect">
            <a:avLst>
              <a:gd name="adj" fmla="val 3448"/>
            </a:avLst>
          </a:prstGeom>
          <a:solidFill>
            <a:srgbClr val="27374B"/>
          </a:solidFill>
          <a:ln w="12700">
            <a:solidFill>
              <a:srgbClr val="3B5B87"/>
            </a:solidFill>
            <a:prstDash val="solid"/>
          </a:ln>
        </p:spPr>
      </p:sp>
      <p:sp>
        <p:nvSpPr>
          <p:cNvPr id="15" name="br2t|b3"/>
          <p:cNvSpPr txBox="1"/>
          <p:nvPr/>
        </p:nvSpPr>
        <p:spPr>
          <a:xfrm>
            <a:off x="6120384" y="2432304"/>
            <a:ext cx="2474976"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Process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Environment variable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Breakpoint function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Breakpoint hook</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Pdb commands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Remote attach</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Debugger interface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debugger interface is everything the person at the keyboard sees and touches while a program runs under the debugger.</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same four parts exist in every debugger, even though their look differs. IDLE starts its debugger from a toggle in a menu and marks breakpoints through a context menu (Python Software Foundation, 2026), and pdb replaces buttons and panes with commands typed at a prompt and answers printed as text. A student who knows what each part is for can therefore use whichever tool is at hand, and can read a transcript of a debugging session without having the window in front of them.</a:t>
            </a:r>
            <a:endParaRPr lang="en-US" sz="1150" dirty="0"/>
          </a:p>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concepts follow the order of a debugging session: the editor in which it takes place, running a program under the debugger so that it pauses before its first line, reading the program state in the inspector pane, and stopping the program. The controls that move the program forward, namely breakpoints, Continue and the three kinds of step, belong to the next group. Because the windows of Mu cannot be reproduced in text, the transcripts quoted in this group were produced by running pdb on the same kind of program.</a:t>
            </a:r>
            <a:endParaRPr lang="en-US" sz="11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Mu editor</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the Mu window with a Debug button next to Run</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Running under the debugger</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clicking Debug instead of Run</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Program state</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heads is 500 at the halfway point</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Debug Inspector pane</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first, second and third shown as strings</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 button</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the usual Stop button</a:t>
            </a:r>
            <a:endParaRPr lang="en-US" sz="110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Debugger interface</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Mu editor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code editor used in the chapter; it has a Run button, a Debug button and a Debug Inspector pane, and its output pane is where a running program receives typed input.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Mu is the code editor that the chapter uses for its programs. An editor is a program for writing source code, and Mu adds to it the means to run a program and to run it under the debugger. The chapter says that the debugger is a feature of the Mu editor, IDLE, and other editor software (Sweigart, 2025). In Mu the top row of buttons has a Run button and, next to it, a Debug button, and the file being edited is shown in a file editor with a number for each line.</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Starting the debugger in Mu is a matter of clicking Debug instead of Run. The Debug Inspector pane then opens at the right side of the window, and Debugging mode adds the buttons Continue, Step Over, Step In and Step Out to the top of the editor, next to the usual Stop button (Sweigart, 2025). Everything else, editing the text and saving the file, works as before. The same program can therefore be run in the two ways one after the other, which is how the chapter proceeds with its adding program.</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Mu is one editor among many, and its buttons and menus are not part of Python. The chapter itself remarks that Mu should prevent the debugger from entering Python's built-in functions (Sweigart, 2025), a convenience that a command-line debugger does not necessarily share. The IDLE documentation warns that its debugger is still incomplete and somewhat experimental (Python Software Foundation, 2026).</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Debugger interface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example: the Mu window with a Debug button next to Run</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Running under the debugger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Running a program under the debugger starts it paused just before its first line, so that the programmer decides how it goes on from there.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Running a program under the debugger means starting it through the debugger instead of running it directly. The program does not run to its end at once. It is paused just before its first line of code and waits for the programmer to say what to do next. In Mu the Debug button, next to the Run button, starts this mode, and the first line, the one about to be executed, is highlighted in the file editor (Sweigart, 2025).</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debugger then prints its prompt, (Pdb), and waits for a command. After the command n, which executes the current line and pauses at the next one in the same function, the next stop is on line 4, val = 3, because lines 2 and 3 belong to the function that line 1 only defines; after another n the stop is on line 5, result = double(val). Lines 2 and 3 run only when the function is called. This shows that the debugger moves through the lines in the order in which they execute, not the order in which they are written.</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Running under the debugger changes nothing about what the program does, only when it does it, so effects such as printing, asking for input, or writing a file all still happen. If the program ends, pdb reports that the program finished and will be restarted and stops again before the first line, as the executed run of the coin program shows (Python Software Foundation, 2026).</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Debugger interface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clicking Debug instead of Run</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Program state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state of a program at a moment is the values of its variables together with the line that is about to run; the debugger shows both.</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state of a program is what the program holds at one moment: the values of its variables and the position of the line that is about to run. The chapter describes the debugger as a way to inspect the values in variables while the code runs and to track how the values change over the course of the program (Sweigart, 2025). Each executed line can change the state, so a running program is a sequence of states, and the debugger lets the programmer stop the sequence and look at one of them.</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state changes with every step. In the executed transcript of a two-line program that assigns x = 1 and then prints x, the command p x on line 1 prints *** NameError: name 'x' is not defined, because the line that creates x has not run yet; after the command n, p x prints 1. In a loop the state changes on every pass: with a breakpoint on the if line of the coin program, the first c stops with i equal to 1 and the second with i equal to 2.</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Watch out  </a:t>
            </a:r>
            <a:r>
              <a:rPr lang="en-US" sz="1100" dirty="0">
                <a:solidFill>
                  <a:srgbClr val="1F2933"/>
                </a:solidFill>
                <a:latin typeface="Calibri" pitchFamily="34" charset="0"/>
                <a:ea typeface="Calibri" pitchFamily="34" charset="-122"/>
                <a:cs typeface="Calibri" pitchFamily="34" charset="-120"/>
              </a:rPr>
              <a:t>The state is only what is true now. A pause shows the value that a variable has at that moment and not the values it had before, so a wrong value found at a pause may have been created many steps earlier. The programmer then has to run again with an earlier breakpoint, or step through the earlier lines while watching the value. A state that looks right also proves little, since the bug may show itself only with other values.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Debugger interface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heads is 500 at the halfway point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Debug Inspector pane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pane at the right of the Mu window that lists the current value of each variable of the paused program.</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Debug Inspector pane is the part of the Mu window that lists the current value of each variable of the program. It opens at the right side of the window when the program is run under the debugger (Sweigart, 2025). Each row names a variable and shows the value that it has at this moment. When the program is paused, the pane is a snapshot of the variables, and it changes whenever the program moves on.</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pane lets the programmer test a theory before changing anything. In the adding program the theory is that adding the three variables joins their text, and the evidence is the quote marks. The cure follows from it: int() turns each string into a number, and in the executed transcript p int(first) + int(second) + int(third) prints 50. In pdb the command p can take any expression, so the same session can answer many questions about the state of the program without editing the file.</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pane shows values, but a value alone can mislead. The text '5' and the number 5 look alike unless the display shows the quote marks,. Also, the pane shows the program as it is when paused and says nothing about how it got there, so the programmer should step through the preceding lines while watching the value change. In pdb, asking for a variable that has not been assigned yet prints an error line that says the name is not defined.</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Debugger interface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first, second and third shown as strings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Stop button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Stop button ends the debugging session at once and terminates the program without running its remaining lines.</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Stop button ends a debugging session immediately. The chapter says that to stop debugging entirely, without bothering to execute the rest of the program, one clicks the Stop button, and that it immediately terminates the program (Sweigart, 2025). It is the usual Stop button of the editor, which is also available during debugging, next to the buttons that Debugging mode adds (Sweigart, 2025). In pdb the equivalent is the quit command, which the documentation says aborts the program being executed (Python Software Foundation, 2026).</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two ways of leaving a session differ in what happens to the rest of the program. Continue runs the rest of the program at full speed, stopping only at breakpoints (Sweigart, 2025). Stop terminates it. With pdb there is a third case, in which the program reaches its end by itself: pdb then reports that the program finished and will be restarted and returns to the first line, ready for another run (Python Software Foundation, 2026).</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Stopping is not the same as finishing. A program stopped in the middle may have printed only part of its output, written only part of a file, or changed things that the rest of the program would have changed back. And stopping the debugger does not remove the bug: the programmer still has to edit the program and run it again.</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Debugger interface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the usual Stop button</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Controls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controls are the means by which the programmer moves a paused program forward, or tells it where to pause.</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A debugger is only as useful as the control the programmer has over it. Stepping through a long program one line at a time takes too long, and running it at full speed lets the interesting moment go by. The chapter shows how the controls divide the work: breakpoints and Continue skip the part of the program that is not of interest, and the steps examine the part that is. The chapter notes, for instance, that stepping through the 1,000 flips of its coin program would take thousands of clicks (Sweigart, 2025).</a:t>
            </a:r>
            <a:endParaRPr lang="en-US" sz="1150" dirty="0"/>
          </a:p>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controls are the buttons at the top of the Mu window, the entries of IDLE's debugger window, and the commands of pdb. The documentation of pdb names them step, next, return, continue and break, each also available in the short form s, n, r, c and b (Python Software Foundation, 2026). The chapter's questions at the end ask for exactly these differences between the three step buttons and for the moment at which Continue stops.</a:t>
            </a:r>
            <a:endParaRPr lang="en-US" sz="11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Breakpoint</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a red dot at a line number</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Continue control</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Continue</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in</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Step In</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Step Over</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out</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Step Out</a:t>
            </a:r>
            <a:endParaRPr lang="en-US" sz="110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Breakpoint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breakpoint marks a line at which the debugger pauses the running program so its variables can be read.</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breakpoint is a mark on a line of code that makes the debugger pause whenever the program reaches that line. The chapter says that setting a breakpoint on a specific line forces the debugger to pause whenever the program execution reaches that line (Sweigart, 2025). In Mu the breakpoint is set by clicking the line number in the file editor, which makes a red dot appear next to the number, and it is removed by clicking the line number again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line matters.</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breakpoint on a line that never runs never stops the program, and a breakpoint on a line that runs very often stops very often.</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add(a, b):</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total = a + b</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total</a:t>
            </a:r>
            <a:endParaRPr lang="en-US" sz="1100" dirty="0"/>
          </a:p>
          <a:p>
            <a:pPr indent="0" marL="0">
              <a:buNone/>
            </a:pP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main():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x = add(2, 3)</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y = add(x, 10)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print(y)</a:t>
            </a:r>
            <a:endParaRPr lang="en-US" sz="1100" dirty="0"/>
          </a:p>
          <a:p>
            <a:pPr indent="0" marL="0">
              <a:buNone/>
            </a:pP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main()</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debugdemo_v1_0_0.py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15</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 red dot at a line number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Breakpoint: drawn from a real run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breakpoint marks a line at which the debugger pauses the running program so its variables can be read.</a:t>
            </a:r>
            <a:endParaRPr lang="en-US" sz="1300" dirty="0"/>
          </a:p>
        </p:txBody>
      </p:sp>
      <p:sp>
        <p:nvSpPr>
          <p:cNvPr id="6" name="dbglabel"/>
          <p:cNvSpPr txBox="1"/>
          <p:nvPr/>
        </p:nvSpPr>
        <p:spPr>
          <a:xfrm>
            <a:off x="411480" y="1243584"/>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Start: stopped on the first line</a:t>
            </a:r>
            <a:endParaRPr lang="en-US" sz="1200" dirty="0"/>
          </a:p>
        </p:txBody>
      </p:sp>
      <p:sp>
        <p:nvSpPr>
          <p:cNvPr id="7" name="dbgbox"/>
          <p:cNvSpPr/>
          <p:nvPr/>
        </p:nvSpPr>
        <p:spPr>
          <a:xfrm>
            <a:off x="411480" y="1517904"/>
            <a:ext cx="3749040" cy="2036826"/>
          </a:xfrm>
          <a:prstGeom prst="roundRect">
            <a:avLst>
              <a:gd name="adj" fmla="val 3591"/>
            </a:avLst>
          </a:prstGeom>
          <a:solidFill>
            <a:srgbClr val="17202B"/>
          </a:solidFill>
          <a:ln w="12700">
            <a:solidFill>
              <a:srgbClr val="17202B"/>
            </a:solidFill>
            <a:prstDash val="solid"/>
          </a:ln>
        </p:spPr>
      </p:sp>
      <p:sp>
        <p:nvSpPr>
          <p:cNvPr id="8" name="v:Breakpoint:e0:hl:box"/>
          <p:cNvSpPr/>
          <p:nvPr/>
        </p:nvSpPr>
        <p:spPr>
          <a:xfrm>
            <a:off x="466344" y="1591056"/>
            <a:ext cx="3639312" cy="189052"/>
          </a:xfrm>
          <a:prstGeom prst="rect">
            <a:avLst/>
          </a:prstGeom>
          <a:solidFill>
            <a:srgbClr val="3B5B87"/>
          </a:solidFill>
          <a:ln w="12700">
            <a:solidFill>
              <a:srgbClr val="3B5B87"/>
            </a:solidFill>
            <a:prstDash val="solid"/>
          </a:ln>
        </p:spPr>
      </p:sp>
      <p:sp>
        <p:nvSpPr>
          <p:cNvPr id="9" name="v:Breakpoint:e0:bp7:dot"/>
          <p:cNvSpPr/>
          <p:nvPr/>
        </p:nvSpPr>
        <p:spPr>
          <a:xfrm>
            <a:off x="502920" y="2759399"/>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85800" y="1591056"/>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1033272" y="1591056"/>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411480" y="3609594"/>
            <a:ext cx="3749040" cy="228600"/>
          </a:xfrm>
          <a:prstGeom prst="roundRect">
            <a:avLst>
              <a:gd name="adj" fmla="val 20000"/>
            </a:avLst>
          </a:prstGeom>
          <a:solidFill>
            <a:srgbClr val="FCEFD0"/>
          </a:solidFill>
          <a:ln w="12700">
            <a:solidFill>
              <a:srgbClr val="B7791F"/>
            </a:solidFill>
            <a:prstDash val="solid"/>
          </a:ln>
        </p:spPr>
      </p:sp>
      <p:sp>
        <p:nvSpPr>
          <p:cNvPr id="13" name="v:Breakpoint:e0:line"/>
          <p:cNvSpPr txBox="1"/>
          <p:nvPr/>
        </p:nvSpPr>
        <p:spPr>
          <a:xfrm>
            <a:off x="484632" y="3609594"/>
            <a:ext cx="360273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1</a:t>
            </a:r>
            <a:endParaRPr lang="en-US" sz="950" dirty="0"/>
          </a:p>
        </p:txBody>
      </p:sp>
      <p:sp>
        <p:nvSpPr>
          <p:cNvPr id="14" name="dbgrow"/>
          <p:cNvSpPr/>
          <p:nvPr/>
        </p:nvSpPr>
        <p:spPr>
          <a:xfrm>
            <a:off x="411480" y="3856482"/>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84632" y="385648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Breakpoint:e0:vars"/>
          <p:cNvSpPr txBox="1"/>
          <p:nvPr/>
        </p:nvSpPr>
        <p:spPr>
          <a:xfrm>
            <a:off x="1307592" y="3856482"/>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411480" y="4103370"/>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84632" y="4103370"/>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Breakpoint:e0:stack"/>
          <p:cNvSpPr txBox="1"/>
          <p:nvPr/>
        </p:nvSpPr>
        <p:spPr>
          <a:xfrm>
            <a:off x="1307592" y="4103370"/>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a:t>
            </a:r>
            <a:endParaRPr lang="en-US" sz="950" dirty="0"/>
          </a:p>
        </p:txBody>
      </p:sp>
      <p:sp>
        <p:nvSpPr>
          <p:cNvPr id="20" name="dbgrow"/>
          <p:cNvSpPr/>
          <p:nvPr/>
        </p:nvSpPr>
        <p:spPr>
          <a:xfrm>
            <a:off x="411480" y="4350258"/>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84632" y="4350258"/>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Breakpoint:e0:out"/>
          <p:cNvSpPr txBox="1"/>
          <p:nvPr/>
        </p:nvSpPr>
        <p:spPr>
          <a:xfrm>
            <a:off x="1307592" y="4350258"/>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4983480" y="1243584"/>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After Continue: the breakpoint at line 7</a:t>
            </a:r>
            <a:endParaRPr lang="en-US" sz="1200" dirty="0"/>
          </a:p>
        </p:txBody>
      </p:sp>
      <p:sp>
        <p:nvSpPr>
          <p:cNvPr id="24" name="dbgbox|b1"/>
          <p:cNvSpPr/>
          <p:nvPr/>
        </p:nvSpPr>
        <p:spPr>
          <a:xfrm>
            <a:off x="4983480" y="1517904"/>
            <a:ext cx="3749040" cy="2036826"/>
          </a:xfrm>
          <a:prstGeom prst="roundRect">
            <a:avLst>
              <a:gd name="adj" fmla="val 3591"/>
            </a:avLst>
          </a:prstGeom>
          <a:solidFill>
            <a:srgbClr val="17202B"/>
          </a:solidFill>
          <a:ln w="12700">
            <a:solidFill>
              <a:srgbClr val="17202B"/>
            </a:solidFill>
            <a:prstDash val="solid"/>
          </a:ln>
        </p:spPr>
      </p:sp>
      <p:sp>
        <p:nvSpPr>
          <p:cNvPr id="25" name="v:Breakpoint:e6:hl:box|b1"/>
          <p:cNvSpPr/>
          <p:nvPr/>
        </p:nvSpPr>
        <p:spPr>
          <a:xfrm>
            <a:off x="5038344" y="2725369"/>
            <a:ext cx="3639312" cy="189052"/>
          </a:xfrm>
          <a:prstGeom prst="rect">
            <a:avLst/>
          </a:prstGeom>
          <a:solidFill>
            <a:srgbClr val="3B5B87"/>
          </a:solidFill>
          <a:ln w="12700">
            <a:solidFill>
              <a:srgbClr val="3B5B87"/>
            </a:solidFill>
            <a:prstDash val="solid"/>
          </a:ln>
        </p:spPr>
      </p:sp>
      <p:sp>
        <p:nvSpPr>
          <p:cNvPr id="26" name="v:Breakpoint:e6:bp7:dot|b1"/>
          <p:cNvSpPr/>
          <p:nvPr/>
        </p:nvSpPr>
        <p:spPr>
          <a:xfrm>
            <a:off x="5074920" y="2759399"/>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257800" y="1591056"/>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05272" y="1591056"/>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4983480" y="3609594"/>
            <a:ext cx="3749040" cy="228600"/>
          </a:xfrm>
          <a:prstGeom prst="roundRect">
            <a:avLst>
              <a:gd name="adj" fmla="val 20000"/>
            </a:avLst>
          </a:prstGeom>
          <a:solidFill>
            <a:srgbClr val="FCEFD0"/>
          </a:solidFill>
          <a:ln w="12700">
            <a:solidFill>
              <a:srgbClr val="B7791F"/>
            </a:solidFill>
            <a:prstDash val="solid"/>
          </a:ln>
        </p:spPr>
      </p:sp>
      <p:sp>
        <p:nvSpPr>
          <p:cNvPr id="30" name="v:Breakpoint:e6:line|b1"/>
          <p:cNvSpPr txBox="1"/>
          <p:nvPr/>
        </p:nvSpPr>
        <p:spPr>
          <a:xfrm>
            <a:off x="5056632" y="3609594"/>
            <a:ext cx="360273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 (breakpoint)</a:t>
            </a:r>
            <a:endParaRPr lang="en-US" sz="950" dirty="0"/>
          </a:p>
        </p:txBody>
      </p:sp>
      <p:sp>
        <p:nvSpPr>
          <p:cNvPr id="31" name="dbgrow|b1"/>
          <p:cNvSpPr/>
          <p:nvPr/>
        </p:nvSpPr>
        <p:spPr>
          <a:xfrm>
            <a:off x="4983480" y="3856482"/>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056632" y="385648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Breakpoint:e6:vars|b1"/>
          <p:cNvSpPr txBox="1"/>
          <p:nvPr/>
        </p:nvSpPr>
        <p:spPr>
          <a:xfrm>
            <a:off x="5879592" y="3856482"/>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4983480" y="4103370"/>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056632" y="4103370"/>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Breakpoint:e6:stack|b1"/>
          <p:cNvSpPr txBox="1"/>
          <p:nvPr/>
        </p:nvSpPr>
        <p:spPr>
          <a:xfrm>
            <a:off x="5879592" y="4103370"/>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4983480" y="4350258"/>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056632" y="4350258"/>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Breakpoint:e6:out|b1"/>
          <p:cNvSpPr txBox="1"/>
          <p:nvPr/>
        </p:nvSpPr>
        <p:spPr>
          <a:xfrm>
            <a:off x="5879592" y="4350258"/>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206240" y="2286000"/>
            <a:ext cx="731520" cy="0"/>
          </a:xfrm>
          <a:prstGeom prst="line">
            <a:avLst/>
          </a:prstGeom>
          <a:noFill/>
          <a:ln w="38100">
            <a:solidFill>
              <a:srgbClr val="2E9E5B"/>
            </a:solidFill>
            <a:prstDash val="solid"/>
            <a:tailEnd type="triangle"/>
          </a:ln>
        </p:spPr>
      </p:sp>
      <p:sp>
        <p:nvSpPr>
          <p:cNvPr id="4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4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Continue control</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Continue runs the program until the next breakpoint or the end.</a:t>
            </a:r>
            <a:endParaRPr lang="en-US" sz="14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Continue is the control that lets a paused program run at normal speed again. The chapter says that clicking Continue causes the program to execute normally until it terminates or reaches a breakpoint, and that someone who is done debugging and wants the program to go on normally should click it (Sweigart, 2025). In pdb the command is continue, or c, and the documentation says it continues execution and stops only when a breakpoint is encountered (Python Software Foundation, 2026).</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Continue stops for one of two reasons only: a breakpoint or the end of the program. If the same breakpoint is inside a loop, Continue stops again on every pass, and in the executed transcript of the breakpoint on the if line, the first c stopped at the first pass and the second c at the second. The chapter's last review question asks when the debugger stops after Continue, and the answer is just these two cases (Sweigart, 2025).</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Continue is not Stop. It leaves the debugger attached, and a breakpoint that is later reached pauses the program again, while Stop ends the session. And Continue offers no protection against a program that never ends: a loop that never finishes runs forever under Continue if no breakpoint is hit. In that case the programmer must interrupt the program or use the Stop button.</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Continue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Continue control</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Continue runs the program until the next breakpoint or the end.</a:t>
            </a:r>
            <a:endParaRPr lang="en-US" sz="1400" dirty="0"/>
          </a:p>
        </p:txBody>
      </p:sp>
      <p:sp>
        <p:nvSpPr>
          <p:cNvPr id="6" name="dbglabel"/>
          <p:cNvSpPr txBox="1"/>
          <p:nvPr/>
        </p:nvSpPr>
        <p:spPr>
          <a:xfrm>
            <a:off x="411480" y="1243584"/>
            <a:ext cx="26517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Start</a:t>
            </a:r>
            <a:endParaRPr lang="en-US" sz="1200" dirty="0"/>
          </a:p>
        </p:txBody>
      </p:sp>
      <p:sp>
        <p:nvSpPr>
          <p:cNvPr id="7" name="dbgbox"/>
          <p:cNvSpPr/>
          <p:nvPr/>
        </p:nvSpPr>
        <p:spPr>
          <a:xfrm>
            <a:off x="411480" y="1517904"/>
            <a:ext cx="2651760" cy="1943100"/>
          </a:xfrm>
          <a:prstGeom prst="roundRect">
            <a:avLst>
              <a:gd name="adj" fmla="val 3765"/>
            </a:avLst>
          </a:prstGeom>
          <a:solidFill>
            <a:srgbClr val="17202B"/>
          </a:solidFill>
          <a:ln w="12700">
            <a:solidFill>
              <a:srgbClr val="17202B"/>
            </a:solidFill>
            <a:prstDash val="solid"/>
          </a:ln>
        </p:spPr>
      </p:sp>
      <p:sp>
        <p:nvSpPr>
          <p:cNvPr id="8" name="v:ContinueControl:e0:hl:box"/>
          <p:cNvSpPr/>
          <p:nvPr/>
        </p:nvSpPr>
        <p:spPr>
          <a:xfrm>
            <a:off x="466344" y="1591056"/>
            <a:ext cx="2542032" cy="179680"/>
          </a:xfrm>
          <a:prstGeom prst="rect">
            <a:avLst/>
          </a:prstGeom>
          <a:solidFill>
            <a:srgbClr val="3B5B87"/>
          </a:solidFill>
          <a:ln w="12700">
            <a:solidFill>
              <a:srgbClr val="3B5B87"/>
            </a:solidFill>
            <a:prstDash val="solid"/>
          </a:ln>
        </p:spPr>
      </p:sp>
      <p:sp>
        <p:nvSpPr>
          <p:cNvPr id="9" name="v:ContinueControl:e0:bp2:dot"/>
          <p:cNvSpPr/>
          <p:nvPr/>
        </p:nvSpPr>
        <p:spPr>
          <a:xfrm>
            <a:off x="502920" y="1803078"/>
            <a:ext cx="114995" cy="114995"/>
          </a:xfrm>
          <a:prstGeom prst="ellipse">
            <a:avLst/>
          </a:prstGeom>
          <a:solidFill>
            <a:srgbClr val="D64545"/>
          </a:solidFill>
          <a:ln w="12700">
            <a:solidFill>
              <a:srgbClr val="D64545"/>
            </a:solidFill>
            <a:prstDash val="solid"/>
          </a:ln>
        </p:spPr>
      </p:sp>
      <p:sp>
        <p:nvSpPr>
          <p:cNvPr id="10" name="v:ContinueControl:e0:bp7:dot"/>
          <p:cNvSpPr/>
          <p:nvPr/>
        </p:nvSpPr>
        <p:spPr>
          <a:xfrm>
            <a:off x="502920" y="2701476"/>
            <a:ext cx="114995" cy="114995"/>
          </a:xfrm>
          <a:prstGeom prst="ellipse">
            <a:avLst/>
          </a:prstGeom>
          <a:solidFill>
            <a:srgbClr val="D64545"/>
          </a:solidFill>
          <a:ln w="12700">
            <a:solidFill>
              <a:srgbClr val="D64545"/>
            </a:solidFill>
            <a:prstDash val="solid"/>
          </a:ln>
        </p:spPr>
      </p:sp>
      <p:sp>
        <p:nvSpPr>
          <p:cNvPr id="11" name="dbgnums"/>
          <p:cNvSpPr txBox="1"/>
          <p:nvPr/>
        </p:nvSpPr>
        <p:spPr>
          <a:xfrm>
            <a:off x="685800" y="1591056"/>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12" name="dbgcode"/>
          <p:cNvSpPr txBox="1"/>
          <p:nvPr/>
        </p:nvSpPr>
        <p:spPr>
          <a:xfrm>
            <a:off x="1033272" y="1591056"/>
            <a:ext cx="192024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13" name="dbgrow"/>
          <p:cNvSpPr/>
          <p:nvPr/>
        </p:nvSpPr>
        <p:spPr>
          <a:xfrm>
            <a:off x="411480" y="3515868"/>
            <a:ext cx="2651760" cy="228600"/>
          </a:xfrm>
          <a:prstGeom prst="roundRect">
            <a:avLst>
              <a:gd name="adj" fmla="val 20000"/>
            </a:avLst>
          </a:prstGeom>
          <a:solidFill>
            <a:srgbClr val="FCEFD0"/>
          </a:solidFill>
          <a:ln w="12700">
            <a:solidFill>
              <a:srgbClr val="B7791F"/>
            </a:solidFill>
            <a:prstDash val="solid"/>
          </a:ln>
        </p:spPr>
      </p:sp>
      <p:sp>
        <p:nvSpPr>
          <p:cNvPr id="14" name="v:ContinueControl:e0:line"/>
          <p:cNvSpPr txBox="1"/>
          <p:nvPr/>
        </p:nvSpPr>
        <p:spPr>
          <a:xfrm>
            <a:off x="484632" y="3515868"/>
            <a:ext cx="250545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1</a:t>
            </a:r>
            <a:endParaRPr lang="en-US" sz="950" dirty="0"/>
          </a:p>
        </p:txBody>
      </p:sp>
      <p:sp>
        <p:nvSpPr>
          <p:cNvPr id="15" name="dbgrow"/>
          <p:cNvSpPr/>
          <p:nvPr/>
        </p:nvSpPr>
        <p:spPr>
          <a:xfrm>
            <a:off x="411480" y="3762756"/>
            <a:ext cx="2651760" cy="228600"/>
          </a:xfrm>
          <a:prstGeom prst="roundRect">
            <a:avLst>
              <a:gd name="adj" fmla="val 20000"/>
            </a:avLst>
          </a:prstGeom>
          <a:solidFill>
            <a:srgbClr val="F1F4F8"/>
          </a:solidFill>
          <a:ln w="12700">
            <a:solidFill>
              <a:srgbClr val="F1F4F8"/>
            </a:solidFill>
            <a:prstDash val="solid"/>
          </a:ln>
        </p:spPr>
      </p:sp>
      <p:sp>
        <p:nvSpPr>
          <p:cNvPr id="16" name="dbgtag"/>
          <p:cNvSpPr txBox="1"/>
          <p:nvPr/>
        </p:nvSpPr>
        <p:spPr>
          <a:xfrm>
            <a:off x="484632" y="3762756"/>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7" name="v:ContinueControl:e0:vars"/>
          <p:cNvSpPr txBox="1"/>
          <p:nvPr/>
        </p:nvSpPr>
        <p:spPr>
          <a:xfrm>
            <a:off x="1307592" y="3762756"/>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8" name="dbgrow"/>
          <p:cNvSpPr/>
          <p:nvPr/>
        </p:nvSpPr>
        <p:spPr>
          <a:xfrm>
            <a:off x="411480" y="4009644"/>
            <a:ext cx="2651760" cy="228600"/>
          </a:xfrm>
          <a:prstGeom prst="roundRect">
            <a:avLst>
              <a:gd name="adj" fmla="val 20000"/>
            </a:avLst>
          </a:prstGeom>
          <a:solidFill>
            <a:srgbClr val="F1F4F8"/>
          </a:solidFill>
          <a:ln w="12700">
            <a:solidFill>
              <a:srgbClr val="F1F4F8"/>
            </a:solidFill>
            <a:prstDash val="solid"/>
          </a:ln>
        </p:spPr>
      </p:sp>
      <p:sp>
        <p:nvSpPr>
          <p:cNvPr id="19" name="dbgtag"/>
          <p:cNvSpPr txBox="1"/>
          <p:nvPr/>
        </p:nvSpPr>
        <p:spPr>
          <a:xfrm>
            <a:off x="484632" y="4009644"/>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20" name="v:ContinueControl:e0:stack"/>
          <p:cNvSpPr txBox="1"/>
          <p:nvPr/>
        </p:nvSpPr>
        <p:spPr>
          <a:xfrm>
            <a:off x="1307592" y="4009644"/>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a:t>
            </a:r>
            <a:endParaRPr lang="en-US" sz="950" dirty="0"/>
          </a:p>
        </p:txBody>
      </p:sp>
      <p:sp>
        <p:nvSpPr>
          <p:cNvPr id="21" name="dbgrow"/>
          <p:cNvSpPr/>
          <p:nvPr/>
        </p:nvSpPr>
        <p:spPr>
          <a:xfrm>
            <a:off x="411480" y="4256532"/>
            <a:ext cx="2651760" cy="228600"/>
          </a:xfrm>
          <a:prstGeom prst="roundRect">
            <a:avLst>
              <a:gd name="adj" fmla="val 20000"/>
            </a:avLst>
          </a:prstGeom>
          <a:solidFill>
            <a:srgbClr val="F1F4F8"/>
          </a:solidFill>
          <a:ln w="12700">
            <a:solidFill>
              <a:srgbClr val="F1F4F8"/>
            </a:solidFill>
            <a:prstDash val="solid"/>
          </a:ln>
        </p:spPr>
      </p:sp>
      <p:sp>
        <p:nvSpPr>
          <p:cNvPr id="22" name="dbgtag"/>
          <p:cNvSpPr txBox="1"/>
          <p:nvPr/>
        </p:nvSpPr>
        <p:spPr>
          <a:xfrm>
            <a:off x="484632" y="425653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3" name="v:ContinueControl:e0:out"/>
          <p:cNvSpPr txBox="1"/>
          <p:nvPr/>
        </p:nvSpPr>
        <p:spPr>
          <a:xfrm>
            <a:off x="1307592" y="4256532"/>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4" name="dbglabel|b1"/>
          <p:cNvSpPr txBox="1"/>
          <p:nvPr/>
        </p:nvSpPr>
        <p:spPr>
          <a:xfrm>
            <a:off x="3246120" y="1243584"/>
            <a:ext cx="26517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Continue → line 2</a:t>
            </a:r>
            <a:endParaRPr lang="en-US" sz="1200" dirty="0"/>
          </a:p>
        </p:txBody>
      </p:sp>
      <p:sp>
        <p:nvSpPr>
          <p:cNvPr id="25" name="dbgbox|b1"/>
          <p:cNvSpPr/>
          <p:nvPr/>
        </p:nvSpPr>
        <p:spPr>
          <a:xfrm>
            <a:off x="3246120" y="1517904"/>
            <a:ext cx="2651760" cy="1943100"/>
          </a:xfrm>
          <a:prstGeom prst="roundRect">
            <a:avLst>
              <a:gd name="adj" fmla="val 3765"/>
            </a:avLst>
          </a:prstGeom>
          <a:solidFill>
            <a:srgbClr val="17202B"/>
          </a:solidFill>
          <a:ln w="12700">
            <a:solidFill>
              <a:srgbClr val="17202B"/>
            </a:solidFill>
            <a:prstDash val="solid"/>
          </a:ln>
        </p:spPr>
      </p:sp>
      <p:sp>
        <p:nvSpPr>
          <p:cNvPr id="26" name="v:ContinueControl:e4:hl:box|b1"/>
          <p:cNvSpPr/>
          <p:nvPr/>
        </p:nvSpPr>
        <p:spPr>
          <a:xfrm>
            <a:off x="3300984" y="1770736"/>
            <a:ext cx="2542032" cy="179680"/>
          </a:xfrm>
          <a:prstGeom prst="rect">
            <a:avLst/>
          </a:prstGeom>
          <a:solidFill>
            <a:srgbClr val="3B5B87"/>
          </a:solidFill>
          <a:ln w="12700">
            <a:solidFill>
              <a:srgbClr val="3B5B87"/>
            </a:solidFill>
            <a:prstDash val="solid"/>
          </a:ln>
        </p:spPr>
      </p:sp>
      <p:sp>
        <p:nvSpPr>
          <p:cNvPr id="27" name="v:ContinueControl:e4:bp2:dot|b1"/>
          <p:cNvSpPr/>
          <p:nvPr/>
        </p:nvSpPr>
        <p:spPr>
          <a:xfrm>
            <a:off x="3337560" y="1803078"/>
            <a:ext cx="114995" cy="114995"/>
          </a:xfrm>
          <a:prstGeom prst="ellipse">
            <a:avLst/>
          </a:prstGeom>
          <a:solidFill>
            <a:srgbClr val="D64545"/>
          </a:solidFill>
          <a:ln w="12700">
            <a:solidFill>
              <a:srgbClr val="D64545"/>
            </a:solidFill>
            <a:prstDash val="solid"/>
          </a:ln>
        </p:spPr>
      </p:sp>
      <p:sp>
        <p:nvSpPr>
          <p:cNvPr id="28" name="v:ContinueControl:e4:bp7:dot|b1"/>
          <p:cNvSpPr/>
          <p:nvPr/>
        </p:nvSpPr>
        <p:spPr>
          <a:xfrm>
            <a:off x="3337560" y="2701476"/>
            <a:ext cx="114995" cy="114995"/>
          </a:xfrm>
          <a:prstGeom prst="ellipse">
            <a:avLst/>
          </a:prstGeom>
          <a:solidFill>
            <a:srgbClr val="D64545"/>
          </a:solidFill>
          <a:ln w="12700">
            <a:solidFill>
              <a:srgbClr val="D64545"/>
            </a:solidFill>
            <a:prstDash val="solid"/>
          </a:ln>
        </p:spPr>
      </p:sp>
      <p:sp>
        <p:nvSpPr>
          <p:cNvPr id="29" name="dbgnums|b1"/>
          <p:cNvSpPr txBox="1"/>
          <p:nvPr/>
        </p:nvSpPr>
        <p:spPr>
          <a:xfrm>
            <a:off x="3520440" y="1591056"/>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30" name="dbgcode|b1"/>
          <p:cNvSpPr txBox="1"/>
          <p:nvPr/>
        </p:nvSpPr>
        <p:spPr>
          <a:xfrm>
            <a:off x="3867912" y="1591056"/>
            <a:ext cx="192024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31" name="dbgrow|b1"/>
          <p:cNvSpPr/>
          <p:nvPr/>
        </p:nvSpPr>
        <p:spPr>
          <a:xfrm>
            <a:off x="3246120" y="3515868"/>
            <a:ext cx="2651760" cy="228600"/>
          </a:xfrm>
          <a:prstGeom prst="roundRect">
            <a:avLst>
              <a:gd name="adj" fmla="val 20000"/>
            </a:avLst>
          </a:prstGeom>
          <a:solidFill>
            <a:srgbClr val="FCEFD0"/>
          </a:solidFill>
          <a:ln w="12700">
            <a:solidFill>
              <a:srgbClr val="B7791F"/>
            </a:solidFill>
            <a:prstDash val="solid"/>
          </a:ln>
        </p:spPr>
      </p:sp>
      <p:sp>
        <p:nvSpPr>
          <p:cNvPr id="32" name="v:ContinueControl:e4:line|b1"/>
          <p:cNvSpPr txBox="1"/>
          <p:nvPr/>
        </p:nvSpPr>
        <p:spPr>
          <a:xfrm>
            <a:off x="3319272" y="3515868"/>
            <a:ext cx="250545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 (breakpoint)</a:t>
            </a:r>
            <a:endParaRPr lang="en-US" sz="950" dirty="0"/>
          </a:p>
        </p:txBody>
      </p:sp>
      <p:sp>
        <p:nvSpPr>
          <p:cNvPr id="33" name="dbgrow|b1"/>
          <p:cNvSpPr/>
          <p:nvPr/>
        </p:nvSpPr>
        <p:spPr>
          <a:xfrm>
            <a:off x="3246120" y="3762756"/>
            <a:ext cx="2651760" cy="228600"/>
          </a:xfrm>
          <a:prstGeom prst="roundRect">
            <a:avLst>
              <a:gd name="adj" fmla="val 20000"/>
            </a:avLst>
          </a:prstGeom>
          <a:solidFill>
            <a:srgbClr val="F1F4F8"/>
          </a:solidFill>
          <a:ln w="12700">
            <a:solidFill>
              <a:srgbClr val="F1F4F8"/>
            </a:solidFill>
            <a:prstDash val="solid"/>
          </a:ln>
        </p:spPr>
      </p:sp>
      <p:sp>
        <p:nvSpPr>
          <p:cNvPr id="34" name="dbgtag|b1"/>
          <p:cNvSpPr txBox="1"/>
          <p:nvPr/>
        </p:nvSpPr>
        <p:spPr>
          <a:xfrm>
            <a:off x="3319272" y="3762756"/>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5" name="v:ContinueControl:e4:vars|b1"/>
          <p:cNvSpPr txBox="1"/>
          <p:nvPr/>
        </p:nvSpPr>
        <p:spPr>
          <a:xfrm>
            <a:off x="4142232" y="3762756"/>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36" name="dbgrow|b1"/>
          <p:cNvSpPr/>
          <p:nvPr/>
        </p:nvSpPr>
        <p:spPr>
          <a:xfrm>
            <a:off x="3246120" y="4009644"/>
            <a:ext cx="2651760" cy="228600"/>
          </a:xfrm>
          <a:prstGeom prst="roundRect">
            <a:avLst>
              <a:gd name="adj" fmla="val 20000"/>
            </a:avLst>
          </a:prstGeom>
          <a:solidFill>
            <a:srgbClr val="F1F4F8"/>
          </a:solidFill>
          <a:ln w="12700">
            <a:solidFill>
              <a:srgbClr val="F1F4F8"/>
            </a:solidFill>
            <a:prstDash val="solid"/>
          </a:ln>
        </p:spPr>
      </p:sp>
      <p:sp>
        <p:nvSpPr>
          <p:cNvPr id="37" name="dbgtag|b1"/>
          <p:cNvSpPr txBox="1"/>
          <p:nvPr/>
        </p:nvSpPr>
        <p:spPr>
          <a:xfrm>
            <a:off x="3319272" y="4009644"/>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8" name="v:ContinueControl:e4:stack|b1"/>
          <p:cNvSpPr txBox="1"/>
          <p:nvPr/>
        </p:nvSpPr>
        <p:spPr>
          <a:xfrm>
            <a:off x="4142232" y="4009644"/>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39" name="dbgrow|b1"/>
          <p:cNvSpPr/>
          <p:nvPr/>
        </p:nvSpPr>
        <p:spPr>
          <a:xfrm>
            <a:off x="3246120" y="4256532"/>
            <a:ext cx="2651760" cy="228600"/>
          </a:xfrm>
          <a:prstGeom prst="roundRect">
            <a:avLst>
              <a:gd name="adj" fmla="val 20000"/>
            </a:avLst>
          </a:prstGeom>
          <a:solidFill>
            <a:srgbClr val="F1F4F8"/>
          </a:solidFill>
          <a:ln w="12700">
            <a:solidFill>
              <a:srgbClr val="F1F4F8"/>
            </a:solidFill>
            <a:prstDash val="solid"/>
          </a:ln>
        </p:spPr>
      </p:sp>
      <p:sp>
        <p:nvSpPr>
          <p:cNvPr id="40" name="dbgtag|b1"/>
          <p:cNvSpPr txBox="1"/>
          <p:nvPr/>
        </p:nvSpPr>
        <p:spPr>
          <a:xfrm>
            <a:off x="3319272" y="425653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41" name="v:ContinueControl:e4:out|b1"/>
          <p:cNvSpPr txBox="1"/>
          <p:nvPr/>
        </p:nvSpPr>
        <p:spPr>
          <a:xfrm>
            <a:off x="4142232" y="4256532"/>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2" name="dbglabel|b2"/>
          <p:cNvSpPr txBox="1"/>
          <p:nvPr/>
        </p:nvSpPr>
        <p:spPr>
          <a:xfrm>
            <a:off x="6080760" y="1243584"/>
            <a:ext cx="26517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Continue again → line 7</a:t>
            </a:r>
            <a:endParaRPr lang="en-US" sz="1200" dirty="0"/>
          </a:p>
        </p:txBody>
      </p:sp>
      <p:sp>
        <p:nvSpPr>
          <p:cNvPr id="43" name="dbgbox|b2"/>
          <p:cNvSpPr/>
          <p:nvPr/>
        </p:nvSpPr>
        <p:spPr>
          <a:xfrm>
            <a:off x="6080760" y="1517904"/>
            <a:ext cx="2651760" cy="1943100"/>
          </a:xfrm>
          <a:prstGeom prst="roundRect">
            <a:avLst>
              <a:gd name="adj" fmla="val 3765"/>
            </a:avLst>
          </a:prstGeom>
          <a:solidFill>
            <a:srgbClr val="17202B"/>
          </a:solidFill>
          <a:ln w="12700">
            <a:solidFill>
              <a:srgbClr val="17202B"/>
            </a:solidFill>
            <a:prstDash val="solid"/>
          </a:ln>
        </p:spPr>
      </p:sp>
      <p:sp>
        <p:nvSpPr>
          <p:cNvPr id="44" name="v:ContinueControl:e6:hl:box|b2"/>
          <p:cNvSpPr/>
          <p:nvPr/>
        </p:nvSpPr>
        <p:spPr>
          <a:xfrm>
            <a:off x="6135624" y="2669134"/>
            <a:ext cx="2542032" cy="179680"/>
          </a:xfrm>
          <a:prstGeom prst="rect">
            <a:avLst/>
          </a:prstGeom>
          <a:solidFill>
            <a:srgbClr val="3B5B87"/>
          </a:solidFill>
          <a:ln w="12700">
            <a:solidFill>
              <a:srgbClr val="3B5B87"/>
            </a:solidFill>
            <a:prstDash val="solid"/>
          </a:ln>
        </p:spPr>
      </p:sp>
      <p:sp>
        <p:nvSpPr>
          <p:cNvPr id="45" name="v:ContinueControl:e6:bp2:dot|b2"/>
          <p:cNvSpPr/>
          <p:nvPr/>
        </p:nvSpPr>
        <p:spPr>
          <a:xfrm>
            <a:off x="6172200" y="1803078"/>
            <a:ext cx="114995" cy="114995"/>
          </a:xfrm>
          <a:prstGeom prst="ellipse">
            <a:avLst/>
          </a:prstGeom>
          <a:solidFill>
            <a:srgbClr val="D64545"/>
          </a:solidFill>
          <a:ln w="12700">
            <a:solidFill>
              <a:srgbClr val="D64545"/>
            </a:solidFill>
            <a:prstDash val="solid"/>
          </a:ln>
        </p:spPr>
      </p:sp>
      <p:sp>
        <p:nvSpPr>
          <p:cNvPr id="46" name="v:ContinueControl:e6:bp7:dot|b2"/>
          <p:cNvSpPr/>
          <p:nvPr/>
        </p:nvSpPr>
        <p:spPr>
          <a:xfrm>
            <a:off x="6172200" y="2701476"/>
            <a:ext cx="114995" cy="114995"/>
          </a:xfrm>
          <a:prstGeom prst="ellipse">
            <a:avLst/>
          </a:prstGeom>
          <a:solidFill>
            <a:srgbClr val="D64545"/>
          </a:solidFill>
          <a:ln w="12700">
            <a:solidFill>
              <a:srgbClr val="D64545"/>
            </a:solidFill>
            <a:prstDash val="solid"/>
          </a:ln>
        </p:spPr>
      </p:sp>
      <p:sp>
        <p:nvSpPr>
          <p:cNvPr id="47" name="dbgnums|b2"/>
          <p:cNvSpPr txBox="1"/>
          <p:nvPr/>
        </p:nvSpPr>
        <p:spPr>
          <a:xfrm>
            <a:off x="6355080" y="1591056"/>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48" name="dbgcode|b2"/>
          <p:cNvSpPr txBox="1"/>
          <p:nvPr/>
        </p:nvSpPr>
        <p:spPr>
          <a:xfrm>
            <a:off x="6702552" y="1591056"/>
            <a:ext cx="192024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49" name="dbgrow|b2"/>
          <p:cNvSpPr/>
          <p:nvPr/>
        </p:nvSpPr>
        <p:spPr>
          <a:xfrm>
            <a:off x="6080760" y="3515868"/>
            <a:ext cx="2651760" cy="228600"/>
          </a:xfrm>
          <a:prstGeom prst="roundRect">
            <a:avLst>
              <a:gd name="adj" fmla="val 20000"/>
            </a:avLst>
          </a:prstGeom>
          <a:solidFill>
            <a:srgbClr val="FCEFD0"/>
          </a:solidFill>
          <a:ln w="12700">
            <a:solidFill>
              <a:srgbClr val="B7791F"/>
            </a:solidFill>
            <a:prstDash val="solid"/>
          </a:ln>
        </p:spPr>
      </p:sp>
      <p:sp>
        <p:nvSpPr>
          <p:cNvPr id="50" name="v:ContinueControl:e6:line|b2"/>
          <p:cNvSpPr txBox="1"/>
          <p:nvPr/>
        </p:nvSpPr>
        <p:spPr>
          <a:xfrm>
            <a:off x="6153912" y="3515868"/>
            <a:ext cx="250545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 (breakpoint)</a:t>
            </a:r>
            <a:endParaRPr lang="en-US" sz="950" dirty="0"/>
          </a:p>
        </p:txBody>
      </p:sp>
      <p:sp>
        <p:nvSpPr>
          <p:cNvPr id="51" name="dbgrow|b2"/>
          <p:cNvSpPr/>
          <p:nvPr/>
        </p:nvSpPr>
        <p:spPr>
          <a:xfrm>
            <a:off x="6080760" y="3762756"/>
            <a:ext cx="2651760" cy="228600"/>
          </a:xfrm>
          <a:prstGeom prst="roundRect">
            <a:avLst>
              <a:gd name="adj" fmla="val 20000"/>
            </a:avLst>
          </a:prstGeom>
          <a:solidFill>
            <a:srgbClr val="F1F4F8"/>
          </a:solidFill>
          <a:ln w="12700">
            <a:solidFill>
              <a:srgbClr val="F1F4F8"/>
            </a:solidFill>
            <a:prstDash val="solid"/>
          </a:ln>
        </p:spPr>
      </p:sp>
      <p:sp>
        <p:nvSpPr>
          <p:cNvPr id="52" name="dbgtag|b2"/>
          <p:cNvSpPr txBox="1"/>
          <p:nvPr/>
        </p:nvSpPr>
        <p:spPr>
          <a:xfrm>
            <a:off x="6153912" y="3762756"/>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53" name="v:ContinueControl:e6:vars|b2"/>
          <p:cNvSpPr txBox="1"/>
          <p:nvPr/>
        </p:nvSpPr>
        <p:spPr>
          <a:xfrm>
            <a:off x="6976872" y="3762756"/>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54" name="dbgrow|b2"/>
          <p:cNvSpPr/>
          <p:nvPr/>
        </p:nvSpPr>
        <p:spPr>
          <a:xfrm>
            <a:off x="6080760" y="4009644"/>
            <a:ext cx="2651760" cy="228600"/>
          </a:xfrm>
          <a:prstGeom prst="roundRect">
            <a:avLst>
              <a:gd name="adj" fmla="val 20000"/>
            </a:avLst>
          </a:prstGeom>
          <a:solidFill>
            <a:srgbClr val="F1F4F8"/>
          </a:solidFill>
          <a:ln w="12700">
            <a:solidFill>
              <a:srgbClr val="F1F4F8"/>
            </a:solidFill>
            <a:prstDash val="solid"/>
          </a:ln>
        </p:spPr>
      </p:sp>
      <p:sp>
        <p:nvSpPr>
          <p:cNvPr id="55" name="dbgtag|b2"/>
          <p:cNvSpPr txBox="1"/>
          <p:nvPr/>
        </p:nvSpPr>
        <p:spPr>
          <a:xfrm>
            <a:off x="6153912" y="4009644"/>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56" name="v:ContinueControl:e6:stack|b2"/>
          <p:cNvSpPr txBox="1"/>
          <p:nvPr/>
        </p:nvSpPr>
        <p:spPr>
          <a:xfrm>
            <a:off x="6976872" y="4009644"/>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57" name="dbgrow|b2"/>
          <p:cNvSpPr/>
          <p:nvPr/>
        </p:nvSpPr>
        <p:spPr>
          <a:xfrm>
            <a:off x="6080760" y="4256532"/>
            <a:ext cx="2651760" cy="228600"/>
          </a:xfrm>
          <a:prstGeom prst="roundRect">
            <a:avLst>
              <a:gd name="adj" fmla="val 20000"/>
            </a:avLst>
          </a:prstGeom>
          <a:solidFill>
            <a:srgbClr val="F1F4F8"/>
          </a:solidFill>
          <a:ln w="12700">
            <a:solidFill>
              <a:srgbClr val="F1F4F8"/>
            </a:solidFill>
            <a:prstDash val="solid"/>
          </a:ln>
        </p:spPr>
      </p:sp>
      <p:sp>
        <p:nvSpPr>
          <p:cNvPr id="58" name="dbgtag|b2"/>
          <p:cNvSpPr txBox="1"/>
          <p:nvPr/>
        </p:nvSpPr>
        <p:spPr>
          <a:xfrm>
            <a:off x="6153912" y="425653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59" name="v:ContinueControl:e6:out|b2"/>
          <p:cNvSpPr txBox="1"/>
          <p:nvPr/>
        </p:nvSpPr>
        <p:spPr>
          <a:xfrm>
            <a:off x="6976872" y="4256532"/>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60"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61"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400"/>
                                        <p:tgtEl>
                                          <p:spTgt spid="24"/>
                                        </p:tgtEl>
                                      </p:cBhvr>
                                    </p:animEffect>
                                  </p:childTnLst>
                                </p:cTn>
                              </p:par>
                              <p:par>
                                <p:cTn id="6" presetID="10" presetClass="entr" presetSubtype="0" fill="hold" nodeType="withEffect">
                                  <p:stCondLst>
                                    <p:cond delay="0"/>
                                  </p:stCondLst>
                                  <p:childTnLst>
                                    <p:set>
                                      <p:cBhvr>
                                        <p:cTn id="7" dur="1" fill="hold">
                                          <p:stCondLst>
                                            <p:cond delay="0"/>
                                          </p:stCondLst>
                                        </p:cTn>
                                        <p:tgtEl>
                                          <p:spTgt spid="25"/>
                                        </p:tgtEl>
                                        <p:attrNameLst>
                                          <p:attrName>style.visibility</p:attrName>
                                        </p:attrNameLst>
                                      </p:cBhvr>
                                      <p:to>
                                        <p:strVal val="visible"/>
                                      </p:to>
                                    </p:set>
                                    <p:animEffect transition="in" filter="fade">
                                      <p:cBhvr>
                                        <p:cTn id="8" dur="400"/>
                                        <p:tgtEl>
                                          <p:spTgt spid="25"/>
                                        </p:tgtEl>
                                      </p:cBhvr>
                                    </p:animEffect>
                                  </p:childTnLst>
                                </p:cTn>
                              </p:par>
                              <p:par>
                                <p:cTn id="9" presetID="10"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par>
                                <p:cTn id="12" presetID="10" presetClass="entr" presetSubtype="0" fill="hold"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400"/>
                                        <p:tgtEl>
                                          <p:spTgt spid="27"/>
                                        </p:tgtEl>
                                      </p:cBhvr>
                                    </p:animEffect>
                                  </p:childTnLst>
                                </p:cTn>
                              </p:par>
                              <p:par>
                                <p:cTn id="15" presetID="10"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4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00"/>
                                        <p:tgtEl>
                                          <p:spTgt spid="30"/>
                                        </p:tgtEl>
                                      </p:cBhvr>
                                    </p:animEffect>
                                  </p:childTnLst>
                                </p:cTn>
                              </p:par>
                              <p:par>
                                <p:cTn id="24" presetID="10" presetClass="entr" presetSubtype="0" fill="hold"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400"/>
                                        <p:tgtEl>
                                          <p:spTgt spid="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par>
                                <p:cTn id="30" presetID="10" presetClass="entr" presetSubtype="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400"/>
                                        <p:tgtEl>
                                          <p:spTgt spid="3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400"/>
                                        <p:tgtEl>
                                          <p:spTgt spid="35"/>
                                        </p:tgtEl>
                                      </p:cBhvr>
                                    </p:animEffect>
                                  </p:childTnLst>
                                </p:cTn>
                              </p:par>
                              <p:par>
                                <p:cTn id="39" presetID="10"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4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400"/>
                                        <p:tgtEl>
                                          <p:spTgt spid="3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400"/>
                                        <p:tgtEl>
                                          <p:spTgt spid="38"/>
                                        </p:tgtEl>
                                      </p:cBhvr>
                                    </p:animEffect>
                                  </p:childTnLst>
                                </p:cTn>
                              </p:par>
                              <p:par>
                                <p:cTn id="48" presetID="10" presetClass="entr" presetSubtype="0" fill="hold" nodeType="with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fade">
                                      <p:cBhvr>
                                        <p:cTn id="50" dur="400"/>
                                        <p:tgtEl>
                                          <p:spTgt spid="3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400"/>
                                        <p:tgtEl>
                                          <p:spTgt spid="4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400"/>
                                        <p:tgtEl>
                                          <p:spTgt spid="41"/>
                                        </p:tgtEl>
                                      </p:cBhvr>
                                    </p:animEffect>
                                  </p:childTnLst>
                                </p:cTn>
                              </p:par>
                            </p:childTnLst>
                          </p:cTn>
                        </p:par>
                      </p:childTnLst>
                    </p:cTn>
                  </p:par>
                  <p:par>
                    <p:cTn id="113" fill="hold">
                      <p:stCondLst>
                        <p:cond delay="indefinite"/>
                      </p:stCondLst>
                      <p:childTnLst>
                        <p:par>
                          <p:cTn id="114"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400"/>
                                        <p:tgtEl>
                                          <p:spTgt spid="42"/>
                                        </p:tgtEl>
                                      </p:cBhvr>
                                    </p:animEffect>
                                  </p:childTnLst>
                                </p:cTn>
                              </p:par>
                              <p:par>
                                <p:cTn id="62" presetID="10" presetClass="entr" presetSubtype="0" fill="hold"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fade">
                                      <p:cBhvr>
                                        <p:cTn id="64" dur="400"/>
                                        <p:tgtEl>
                                          <p:spTgt spid="43"/>
                                        </p:tgtEl>
                                      </p:cBhvr>
                                    </p:animEffect>
                                  </p:childTnLst>
                                </p:cTn>
                              </p:par>
                              <p:par>
                                <p:cTn id="65" presetID="10" presetClass="entr" presetSubtype="0"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400"/>
                                        <p:tgtEl>
                                          <p:spTgt spid="44"/>
                                        </p:tgtEl>
                                      </p:cBhvr>
                                    </p:animEffect>
                                  </p:childTnLst>
                                </p:cTn>
                              </p:par>
                              <p:par>
                                <p:cTn id="68" presetID="10" presetClass="entr" presetSubtype="0" fill="hold"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fade">
                                      <p:cBhvr>
                                        <p:cTn id="70" dur="400"/>
                                        <p:tgtEl>
                                          <p:spTgt spid="45"/>
                                        </p:tgtEl>
                                      </p:cBhvr>
                                    </p:animEffect>
                                  </p:childTnLst>
                                </p:cTn>
                              </p:par>
                              <p:par>
                                <p:cTn id="71" presetID="10" presetClass="entr" presetSubtype="0" fill="hold" nodeType="with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fade">
                                      <p:cBhvr>
                                        <p:cTn id="73" dur="400"/>
                                        <p:tgtEl>
                                          <p:spTgt spid="4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fade">
                                      <p:cBhvr>
                                        <p:cTn id="76" dur="400"/>
                                        <p:tgtEl>
                                          <p:spTgt spid="4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animEffect transition="in" filter="fade">
                                      <p:cBhvr>
                                        <p:cTn id="79" dur="400"/>
                                        <p:tgtEl>
                                          <p:spTgt spid="48"/>
                                        </p:tgtEl>
                                      </p:cBhvr>
                                    </p:animEffect>
                                  </p:childTnLst>
                                </p:cTn>
                              </p:par>
                              <p:par>
                                <p:cTn id="80" presetID="10" presetClass="entr" presetSubtype="0" fill="hold" nodeType="with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fade">
                                      <p:cBhvr>
                                        <p:cTn id="82" dur="400"/>
                                        <p:tgtEl>
                                          <p:spTgt spid="4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400"/>
                                        <p:tgtEl>
                                          <p:spTgt spid="50"/>
                                        </p:tgtEl>
                                      </p:cBhvr>
                                    </p:animEffect>
                                  </p:childTnLst>
                                </p:cTn>
                              </p:par>
                              <p:par>
                                <p:cTn id="86" presetID="10" presetClass="entr" presetSubtype="0" fill="hold" nodeType="withEffect">
                                  <p:stCondLst>
                                    <p:cond delay="0"/>
                                  </p:stCondLst>
                                  <p:childTnLst>
                                    <p:set>
                                      <p:cBhvr>
                                        <p:cTn id="87" dur="1" fill="hold">
                                          <p:stCondLst>
                                            <p:cond delay="0"/>
                                          </p:stCondLst>
                                        </p:cTn>
                                        <p:tgtEl>
                                          <p:spTgt spid="51"/>
                                        </p:tgtEl>
                                        <p:attrNameLst>
                                          <p:attrName>style.visibility</p:attrName>
                                        </p:attrNameLst>
                                      </p:cBhvr>
                                      <p:to>
                                        <p:strVal val="visible"/>
                                      </p:to>
                                    </p:set>
                                    <p:animEffect transition="in" filter="fade">
                                      <p:cBhvr>
                                        <p:cTn id="88" dur="400"/>
                                        <p:tgtEl>
                                          <p:spTgt spid="5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2"/>
                                        </p:tgtEl>
                                        <p:attrNameLst>
                                          <p:attrName>style.visibility</p:attrName>
                                        </p:attrNameLst>
                                      </p:cBhvr>
                                      <p:to>
                                        <p:strVal val="visible"/>
                                      </p:to>
                                    </p:set>
                                    <p:animEffect transition="in" filter="fade">
                                      <p:cBhvr>
                                        <p:cTn id="91" dur="400"/>
                                        <p:tgtEl>
                                          <p:spTgt spid="5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3"/>
                                        </p:tgtEl>
                                        <p:attrNameLst>
                                          <p:attrName>style.visibility</p:attrName>
                                        </p:attrNameLst>
                                      </p:cBhvr>
                                      <p:to>
                                        <p:strVal val="visible"/>
                                      </p:to>
                                    </p:set>
                                    <p:animEffect transition="in" filter="fade">
                                      <p:cBhvr>
                                        <p:cTn id="94" dur="400"/>
                                        <p:tgtEl>
                                          <p:spTgt spid="53"/>
                                        </p:tgtEl>
                                      </p:cBhvr>
                                    </p:animEffect>
                                  </p:childTnLst>
                                </p:cTn>
                              </p:par>
                              <p:par>
                                <p:cTn id="95" presetID="10" presetClass="entr" presetSubtype="0" fill="hold" nodeType="withEffect">
                                  <p:stCondLst>
                                    <p:cond delay="0"/>
                                  </p:stCondLst>
                                  <p:childTnLst>
                                    <p:set>
                                      <p:cBhvr>
                                        <p:cTn id="96" dur="1" fill="hold">
                                          <p:stCondLst>
                                            <p:cond delay="0"/>
                                          </p:stCondLst>
                                        </p:cTn>
                                        <p:tgtEl>
                                          <p:spTgt spid="54"/>
                                        </p:tgtEl>
                                        <p:attrNameLst>
                                          <p:attrName>style.visibility</p:attrName>
                                        </p:attrNameLst>
                                      </p:cBhvr>
                                      <p:to>
                                        <p:strVal val="visible"/>
                                      </p:to>
                                    </p:set>
                                    <p:animEffect transition="in" filter="fade">
                                      <p:cBhvr>
                                        <p:cTn id="97" dur="400"/>
                                        <p:tgtEl>
                                          <p:spTgt spid="5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5"/>
                                        </p:tgtEl>
                                        <p:attrNameLst>
                                          <p:attrName>style.visibility</p:attrName>
                                        </p:attrNameLst>
                                      </p:cBhvr>
                                      <p:to>
                                        <p:strVal val="visible"/>
                                      </p:to>
                                    </p:set>
                                    <p:animEffect transition="in" filter="fade">
                                      <p:cBhvr>
                                        <p:cTn id="100" dur="400"/>
                                        <p:tgtEl>
                                          <p:spTgt spid="5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6"/>
                                        </p:tgtEl>
                                        <p:attrNameLst>
                                          <p:attrName>style.visibility</p:attrName>
                                        </p:attrNameLst>
                                      </p:cBhvr>
                                      <p:to>
                                        <p:strVal val="visible"/>
                                      </p:to>
                                    </p:set>
                                    <p:animEffect transition="in" filter="fade">
                                      <p:cBhvr>
                                        <p:cTn id="103" dur="400"/>
                                        <p:tgtEl>
                                          <p:spTgt spid="56"/>
                                        </p:tgtEl>
                                      </p:cBhvr>
                                    </p:animEffect>
                                  </p:childTnLst>
                                </p:cTn>
                              </p:par>
                              <p:par>
                                <p:cTn id="104" presetID="10" presetClass="entr" presetSubtype="0" fill="hold" nodeType="withEffect">
                                  <p:stCondLst>
                                    <p:cond delay="0"/>
                                  </p:stCondLst>
                                  <p:childTnLst>
                                    <p:set>
                                      <p:cBhvr>
                                        <p:cTn id="105" dur="1" fill="hold">
                                          <p:stCondLst>
                                            <p:cond delay="0"/>
                                          </p:stCondLst>
                                        </p:cTn>
                                        <p:tgtEl>
                                          <p:spTgt spid="57"/>
                                        </p:tgtEl>
                                        <p:attrNameLst>
                                          <p:attrName>style.visibility</p:attrName>
                                        </p:attrNameLst>
                                      </p:cBhvr>
                                      <p:to>
                                        <p:strVal val="visible"/>
                                      </p:to>
                                    </p:set>
                                    <p:animEffect transition="in" filter="fade">
                                      <p:cBhvr>
                                        <p:cTn id="106" dur="400"/>
                                        <p:tgtEl>
                                          <p:spTgt spid="5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8"/>
                                        </p:tgtEl>
                                        <p:attrNameLst>
                                          <p:attrName>style.visibility</p:attrName>
                                        </p:attrNameLst>
                                      </p:cBhvr>
                                      <p:to>
                                        <p:strVal val="visible"/>
                                      </p:to>
                                    </p:set>
                                    <p:animEffect transition="in" filter="fade">
                                      <p:cBhvr>
                                        <p:cTn id="109" dur="400"/>
                                        <p:tgtEl>
                                          <p:spTgt spid="5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9"/>
                                        </p:tgtEl>
                                        <p:attrNameLst>
                                          <p:attrName>style.visibility</p:attrName>
                                        </p:attrNameLst>
                                      </p:cBhvr>
                                      <p:to>
                                        <p:strVal val="visible"/>
                                      </p:to>
                                    </p:set>
                                    <p:animEffect transition="in" filter="fade">
                                      <p:cBhvr>
                                        <p:cTn id="112"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9" grpId="0" animBg="1"/>
      <p:bldP spid="30" grpId="0" animBg="1"/>
      <p:bldP spid="32" grpId="0" animBg="1"/>
      <p:bldP spid="34" grpId="0" animBg="1"/>
      <p:bldP spid="35" grpId="0" animBg="1"/>
      <p:bldP spid="37" grpId="0" animBg="1"/>
      <p:bldP spid="38" grpId="0" animBg="1"/>
      <p:bldP spid="40" grpId="0" animBg="1"/>
      <p:bldP spid="41" grpId="0" animBg="1"/>
      <p:bldP spid="42" grpId="0" animBg="1"/>
      <p:bldP spid="47" grpId="0" animBg="1"/>
      <p:bldP spid="48" grpId="0" animBg="1"/>
      <p:bldP spid="50" grpId="0" animBg="1"/>
      <p:bldP spid="52" grpId="0" animBg="1"/>
      <p:bldP spid="53" grpId="0" animBg="1"/>
      <p:bldP spid="55" grpId="0" animBg="1"/>
      <p:bldP spid="56" grpId="0" animBg="1"/>
      <p:bldP spid="58" grpId="0" animBg="1"/>
      <p:bldP spid="5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Step in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Step In executes the next line and, if that line is a call, pauses on the first line of the called function.</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Step In is the control that executes the next line and then pauses again. The chapter adds that if the next line is a function call, the debugger steps into that function, jumping to the function's first line of code (Sweigart, 2025). The pdb command for the same control is step, or s, and the documentation says it executes the current line and stops at the first possible occasion, either in a function that is called or on the next line in the current function (Python Software Foundation, 2026).</a:t>
            </a:r>
            <a:endParaRPr lang="en-US" sz="1250" dirty="0"/>
          </a:p>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Step In behaves differently depending on the line. On a line that is not a call, it does the same as Step Over: it executes the line and pauses at the next. On a line that calls a function written in the program, it enters. The chapter notes that Mu should prevent the debugger from entering Python's built-in functions (Sweigart, 2025). In the executed transcript of pdb on a program whose lines 1 and 2 call print(), the command s on line 1 prints a and stops on line 2, so it did not enter print().</a:t>
            </a:r>
            <a:endParaRPr lang="en-US" sz="12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Step In on the wrong line leads into code that does not matter. The chapter warns about this with its adding program: the reader should use Step Over instead of Step In on the line that calls print(), because there is no interest in the code of print() (Sweigart, 2025). And once inside a function, the programmer must remember to get out again, with Step Out, or continue stepping through the lines of the function until it returns.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Step In</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Step in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Step In executes the next line and, if that line is a call, pauses on the first line of the called function.</a:t>
            </a:r>
            <a:endParaRPr lang="en-US" sz="1300" dirty="0"/>
          </a:p>
        </p:txBody>
      </p:sp>
      <p:sp>
        <p:nvSpPr>
          <p:cNvPr id="6" name="dbglabel"/>
          <p:cNvSpPr txBox="1"/>
          <p:nvPr/>
        </p:nvSpPr>
        <p:spPr>
          <a:xfrm>
            <a:off x="411480" y="1243584"/>
            <a:ext cx="26517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at line 6</a:t>
            </a:r>
            <a:endParaRPr lang="en-US" sz="1200" dirty="0"/>
          </a:p>
        </p:txBody>
      </p:sp>
      <p:sp>
        <p:nvSpPr>
          <p:cNvPr id="7" name="dbgbox"/>
          <p:cNvSpPr/>
          <p:nvPr/>
        </p:nvSpPr>
        <p:spPr>
          <a:xfrm>
            <a:off x="411480" y="1517904"/>
            <a:ext cx="2651760" cy="1943100"/>
          </a:xfrm>
          <a:prstGeom prst="roundRect">
            <a:avLst>
              <a:gd name="adj" fmla="val 3765"/>
            </a:avLst>
          </a:prstGeom>
          <a:solidFill>
            <a:srgbClr val="17202B"/>
          </a:solidFill>
          <a:ln w="12700">
            <a:solidFill>
              <a:srgbClr val="17202B"/>
            </a:solidFill>
            <a:prstDash val="solid"/>
          </a:ln>
        </p:spPr>
      </p:sp>
      <p:sp>
        <p:nvSpPr>
          <p:cNvPr id="8" name="v:StepIn:e3:hl:box"/>
          <p:cNvSpPr/>
          <p:nvPr/>
        </p:nvSpPr>
        <p:spPr>
          <a:xfrm>
            <a:off x="466344" y="2489454"/>
            <a:ext cx="2542032" cy="179680"/>
          </a:xfrm>
          <a:prstGeom prst="rect">
            <a:avLst/>
          </a:prstGeom>
          <a:solidFill>
            <a:srgbClr val="3B5B87"/>
          </a:solidFill>
          <a:ln w="12700">
            <a:solidFill>
              <a:srgbClr val="3B5B87"/>
            </a:solidFill>
            <a:prstDash val="solid"/>
          </a:ln>
        </p:spPr>
      </p:sp>
      <p:sp>
        <p:nvSpPr>
          <p:cNvPr id="9" name="v:StepIn:e3:bp6:dot"/>
          <p:cNvSpPr/>
          <p:nvPr/>
        </p:nvSpPr>
        <p:spPr>
          <a:xfrm>
            <a:off x="502920" y="2521796"/>
            <a:ext cx="114995" cy="114995"/>
          </a:xfrm>
          <a:prstGeom prst="ellipse">
            <a:avLst/>
          </a:prstGeom>
          <a:solidFill>
            <a:srgbClr val="D64545"/>
          </a:solidFill>
          <a:ln w="12700">
            <a:solidFill>
              <a:srgbClr val="D64545"/>
            </a:solidFill>
            <a:prstDash val="solid"/>
          </a:ln>
        </p:spPr>
      </p:sp>
      <p:sp>
        <p:nvSpPr>
          <p:cNvPr id="10" name="dbgnums"/>
          <p:cNvSpPr txBox="1"/>
          <p:nvPr/>
        </p:nvSpPr>
        <p:spPr>
          <a:xfrm>
            <a:off x="685800" y="1591056"/>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11" name="dbgcode"/>
          <p:cNvSpPr txBox="1"/>
          <p:nvPr/>
        </p:nvSpPr>
        <p:spPr>
          <a:xfrm>
            <a:off x="1033272" y="1591056"/>
            <a:ext cx="192024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12" name="dbgrow"/>
          <p:cNvSpPr/>
          <p:nvPr/>
        </p:nvSpPr>
        <p:spPr>
          <a:xfrm>
            <a:off x="411480" y="3515868"/>
            <a:ext cx="2651760" cy="228600"/>
          </a:xfrm>
          <a:prstGeom prst="roundRect">
            <a:avLst>
              <a:gd name="adj" fmla="val 20000"/>
            </a:avLst>
          </a:prstGeom>
          <a:solidFill>
            <a:srgbClr val="FCEFD0"/>
          </a:solidFill>
          <a:ln w="12700">
            <a:solidFill>
              <a:srgbClr val="B7791F"/>
            </a:solidFill>
            <a:prstDash val="solid"/>
          </a:ln>
        </p:spPr>
      </p:sp>
      <p:sp>
        <p:nvSpPr>
          <p:cNvPr id="13" name="v:StepIn:e3:line"/>
          <p:cNvSpPr txBox="1"/>
          <p:nvPr/>
        </p:nvSpPr>
        <p:spPr>
          <a:xfrm>
            <a:off x="484632" y="3515868"/>
            <a:ext cx="250545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6 (breakpoint)</a:t>
            </a:r>
            <a:endParaRPr lang="en-US" sz="950" dirty="0"/>
          </a:p>
        </p:txBody>
      </p:sp>
      <p:sp>
        <p:nvSpPr>
          <p:cNvPr id="14" name="dbgrow"/>
          <p:cNvSpPr/>
          <p:nvPr/>
        </p:nvSpPr>
        <p:spPr>
          <a:xfrm>
            <a:off x="411480" y="3762756"/>
            <a:ext cx="265176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84632" y="3762756"/>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In:e3:vars"/>
          <p:cNvSpPr txBox="1"/>
          <p:nvPr/>
        </p:nvSpPr>
        <p:spPr>
          <a:xfrm>
            <a:off x="1307592" y="3762756"/>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411480" y="4009644"/>
            <a:ext cx="265176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84632" y="4009644"/>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In:e3:stack"/>
          <p:cNvSpPr txBox="1"/>
          <p:nvPr/>
        </p:nvSpPr>
        <p:spPr>
          <a:xfrm>
            <a:off x="1307592" y="4009644"/>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20" name="dbgrow"/>
          <p:cNvSpPr/>
          <p:nvPr/>
        </p:nvSpPr>
        <p:spPr>
          <a:xfrm>
            <a:off x="411480" y="4256532"/>
            <a:ext cx="265176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84632" y="425653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In:e3:out"/>
          <p:cNvSpPr txBox="1"/>
          <p:nvPr/>
        </p:nvSpPr>
        <p:spPr>
          <a:xfrm>
            <a:off x="1307592" y="4256532"/>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3246120" y="1243584"/>
            <a:ext cx="26517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In → line 2, inside add</a:t>
            </a:r>
            <a:endParaRPr lang="en-US" sz="1200" dirty="0"/>
          </a:p>
        </p:txBody>
      </p:sp>
      <p:sp>
        <p:nvSpPr>
          <p:cNvPr id="24" name="dbgbox|b1"/>
          <p:cNvSpPr/>
          <p:nvPr/>
        </p:nvSpPr>
        <p:spPr>
          <a:xfrm>
            <a:off x="3246120" y="1517904"/>
            <a:ext cx="2651760" cy="1943100"/>
          </a:xfrm>
          <a:prstGeom prst="roundRect">
            <a:avLst>
              <a:gd name="adj" fmla="val 3765"/>
            </a:avLst>
          </a:prstGeom>
          <a:solidFill>
            <a:srgbClr val="17202B"/>
          </a:solidFill>
          <a:ln w="12700">
            <a:solidFill>
              <a:srgbClr val="17202B"/>
            </a:solidFill>
            <a:prstDash val="solid"/>
          </a:ln>
        </p:spPr>
      </p:sp>
      <p:sp>
        <p:nvSpPr>
          <p:cNvPr id="25" name="v:StepIn:e4:hl:box|b1"/>
          <p:cNvSpPr/>
          <p:nvPr/>
        </p:nvSpPr>
        <p:spPr>
          <a:xfrm>
            <a:off x="3300984" y="1770736"/>
            <a:ext cx="2542032" cy="179680"/>
          </a:xfrm>
          <a:prstGeom prst="rect">
            <a:avLst/>
          </a:prstGeom>
          <a:solidFill>
            <a:srgbClr val="3B5B87"/>
          </a:solidFill>
          <a:ln w="12700">
            <a:solidFill>
              <a:srgbClr val="3B5B87"/>
            </a:solidFill>
            <a:prstDash val="solid"/>
          </a:ln>
        </p:spPr>
      </p:sp>
      <p:sp>
        <p:nvSpPr>
          <p:cNvPr id="26" name="v:StepIn:e4:bp6:dot|b1"/>
          <p:cNvSpPr/>
          <p:nvPr/>
        </p:nvSpPr>
        <p:spPr>
          <a:xfrm>
            <a:off x="3337560" y="2521796"/>
            <a:ext cx="114995" cy="114995"/>
          </a:xfrm>
          <a:prstGeom prst="ellipse">
            <a:avLst/>
          </a:prstGeom>
          <a:solidFill>
            <a:srgbClr val="D64545"/>
          </a:solidFill>
          <a:ln w="12700">
            <a:solidFill>
              <a:srgbClr val="D64545"/>
            </a:solidFill>
            <a:prstDash val="solid"/>
          </a:ln>
        </p:spPr>
      </p:sp>
      <p:sp>
        <p:nvSpPr>
          <p:cNvPr id="27" name="dbgnums|b1"/>
          <p:cNvSpPr txBox="1"/>
          <p:nvPr/>
        </p:nvSpPr>
        <p:spPr>
          <a:xfrm>
            <a:off x="3520440" y="1591056"/>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28" name="dbgcode|b1"/>
          <p:cNvSpPr txBox="1"/>
          <p:nvPr/>
        </p:nvSpPr>
        <p:spPr>
          <a:xfrm>
            <a:off x="3867912" y="1591056"/>
            <a:ext cx="192024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29" name="dbgrow|b1"/>
          <p:cNvSpPr/>
          <p:nvPr/>
        </p:nvSpPr>
        <p:spPr>
          <a:xfrm>
            <a:off x="3246120" y="3515868"/>
            <a:ext cx="2651760" cy="228600"/>
          </a:xfrm>
          <a:prstGeom prst="roundRect">
            <a:avLst>
              <a:gd name="adj" fmla="val 20000"/>
            </a:avLst>
          </a:prstGeom>
          <a:solidFill>
            <a:srgbClr val="FCEFD0"/>
          </a:solidFill>
          <a:ln w="12700">
            <a:solidFill>
              <a:srgbClr val="B7791F"/>
            </a:solidFill>
            <a:prstDash val="solid"/>
          </a:ln>
        </p:spPr>
      </p:sp>
      <p:sp>
        <p:nvSpPr>
          <p:cNvPr id="30" name="v:StepIn:e4:line|b1"/>
          <p:cNvSpPr txBox="1"/>
          <p:nvPr/>
        </p:nvSpPr>
        <p:spPr>
          <a:xfrm>
            <a:off x="3319272" y="3515868"/>
            <a:ext cx="250545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a:t>
            </a:r>
            <a:endParaRPr lang="en-US" sz="950" dirty="0"/>
          </a:p>
        </p:txBody>
      </p:sp>
      <p:sp>
        <p:nvSpPr>
          <p:cNvPr id="31" name="dbgrow|b1"/>
          <p:cNvSpPr/>
          <p:nvPr/>
        </p:nvSpPr>
        <p:spPr>
          <a:xfrm>
            <a:off x="3246120" y="3762756"/>
            <a:ext cx="265176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3319272" y="3762756"/>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In:e4:vars|b1"/>
          <p:cNvSpPr txBox="1"/>
          <p:nvPr/>
        </p:nvSpPr>
        <p:spPr>
          <a:xfrm>
            <a:off x="4142232" y="3762756"/>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34" name="dbgrow|b1"/>
          <p:cNvSpPr/>
          <p:nvPr/>
        </p:nvSpPr>
        <p:spPr>
          <a:xfrm>
            <a:off x="3246120" y="4009644"/>
            <a:ext cx="265176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3319272" y="4009644"/>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In:e4:stack|b1"/>
          <p:cNvSpPr txBox="1"/>
          <p:nvPr/>
        </p:nvSpPr>
        <p:spPr>
          <a:xfrm>
            <a:off x="4142232" y="4009644"/>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37" name="dbgrow|b1"/>
          <p:cNvSpPr/>
          <p:nvPr/>
        </p:nvSpPr>
        <p:spPr>
          <a:xfrm>
            <a:off x="3246120" y="4256532"/>
            <a:ext cx="265176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3319272" y="425653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In:e4:out|b1"/>
          <p:cNvSpPr txBox="1"/>
          <p:nvPr/>
        </p:nvSpPr>
        <p:spPr>
          <a:xfrm>
            <a:off x="4142232" y="4256532"/>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dbglabel|b2"/>
          <p:cNvSpPr txBox="1"/>
          <p:nvPr/>
        </p:nvSpPr>
        <p:spPr>
          <a:xfrm>
            <a:off x="6080760" y="1243584"/>
            <a:ext cx="26517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 → line 7, after add</a:t>
            </a:r>
            <a:endParaRPr lang="en-US" sz="1200" dirty="0"/>
          </a:p>
        </p:txBody>
      </p:sp>
      <p:sp>
        <p:nvSpPr>
          <p:cNvPr id="41" name="dbgbox|b2"/>
          <p:cNvSpPr/>
          <p:nvPr/>
        </p:nvSpPr>
        <p:spPr>
          <a:xfrm>
            <a:off x="6080760" y="1517904"/>
            <a:ext cx="2651760" cy="1943100"/>
          </a:xfrm>
          <a:prstGeom prst="roundRect">
            <a:avLst>
              <a:gd name="adj" fmla="val 3765"/>
            </a:avLst>
          </a:prstGeom>
          <a:solidFill>
            <a:srgbClr val="17202B"/>
          </a:solidFill>
          <a:ln w="12700">
            <a:solidFill>
              <a:srgbClr val="17202B"/>
            </a:solidFill>
            <a:prstDash val="solid"/>
          </a:ln>
        </p:spPr>
      </p:sp>
      <p:sp>
        <p:nvSpPr>
          <p:cNvPr id="42" name="v:StepIn:e6:hl:box|b2"/>
          <p:cNvSpPr/>
          <p:nvPr/>
        </p:nvSpPr>
        <p:spPr>
          <a:xfrm>
            <a:off x="6135624" y="2669134"/>
            <a:ext cx="2542032" cy="179680"/>
          </a:xfrm>
          <a:prstGeom prst="rect">
            <a:avLst/>
          </a:prstGeom>
          <a:solidFill>
            <a:srgbClr val="3B5B87"/>
          </a:solidFill>
          <a:ln w="12700">
            <a:solidFill>
              <a:srgbClr val="3B5B87"/>
            </a:solidFill>
            <a:prstDash val="solid"/>
          </a:ln>
        </p:spPr>
      </p:sp>
      <p:sp>
        <p:nvSpPr>
          <p:cNvPr id="43" name="v:StepIn:e6:bp6:dot|b2"/>
          <p:cNvSpPr/>
          <p:nvPr/>
        </p:nvSpPr>
        <p:spPr>
          <a:xfrm>
            <a:off x="6172200" y="2521796"/>
            <a:ext cx="114995" cy="114995"/>
          </a:xfrm>
          <a:prstGeom prst="ellipse">
            <a:avLst/>
          </a:prstGeom>
          <a:solidFill>
            <a:srgbClr val="D64545"/>
          </a:solidFill>
          <a:ln w="12700">
            <a:solidFill>
              <a:srgbClr val="D64545"/>
            </a:solidFill>
            <a:prstDash val="solid"/>
          </a:ln>
        </p:spPr>
      </p:sp>
      <p:sp>
        <p:nvSpPr>
          <p:cNvPr id="44" name="dbgnums|b2"/>
          <p:cNvSpPr txBox="1"/>
          <p:nvPr/>
        </p:nvSpPr>
        <p:spPr>
          <a:xfrm>
            <a:off x="6355080" y="1591056"/>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45" name="dbgcode|b2"/>
          <p:cNvSpPr txBox="1"/>
          <p:nvPr/>
        </p:nvSpPr>
        <p:spPr>
          <a:xfrm>
            <a:off x="6702552" y="1591056"/>
            <a:ext cx="192024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46" name="dbgrow|b2"/>
          <p:cNvSpPr/>
          <p:nvPr/>
        </p:nvSpPr>
        <p:spPr>
          <a:xfrm>
            <a:off x="6080760" y="3515868"/>
            <a:ext cx="2651760" cy="228600"/>
          </a:xfrm>
          <a:prstGeom prst="roundRect">
            <a:avLst>
              <a:gd name="adj" fmla="val 20000"/>
            </a:avLst>
          </a:prstGeom>
          <a:solidFill>
            <a:srgbClr val="FCEFD0"/>
          </a:solidFill>
          <a:ln w="12700">
            <a:solidFill>
              <a:srgbClr val="B7791F"/>
            </a:solidFill>
            <a:prstDash val="solid"/>
          </a:ln>
        </p:spPr>
      </p:sp>
      <p:sp>
        <p:nvSpPr>
          <p:cNvPr id="47" name="v:StepIn:e6:line|b2"/>
          <p:cNvSpPr txBox="1"/>
          <p:nvPr/>
        </p:nvSpPr>
        <p:spPr>
          <a:xfrm>
            <a:off x="6153912" y="3515868"/>
            <a:ext cx="250545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48" name="dbgrow|b2"/>
          <p:cNvSpPr/>
          <p:nvPr/>
        </p:nvSpPr>
        <p:spPr>
          <a:xfrm>
            <a:off x="6080760" y="3762756"/>
            <a:ext cx="2651760" cy="228600"/>
          </a:xfrm>
          <a:prstGeom prst="roundRect">
            <a:avLst>
              <a:gd name="adj" fmla="val 20000"/>
            </a:avLst>
          </a:prstGeom>
          <a:solidFill>
            <a:srgbClr val="F1F4F8"/>
          </a:solidFill>
          <a:ln w="12700">
            <a:solidFill>
              <a:srgbClr val="F1F4F8"/>
            </a:solidFill>
            <a:prstDash val="solid"/>
          </a:ln>
        </p:spPr>
      </p:sp>
      <p:sp>
        <p:nvSpPr>
          <p:cNvPr id="49" name="dbgtag|b2"/>
          <p:cNvSpPr txBox="1"/>
          <p:nvPr/>
        </p:nvSpPr>
        <p:spPr>
          <a:xfrm>
            <a:off x="6153912" y="3762756"/>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50" name="v:StepIn:e6:vars|b2"/>
          <p:cNvSpPr txBox="1"/>
          <p:nvPr/>
        </p:nvSpPr>
        <p:spPr>
          <a:xfrm>
            <a:off x="6976872" y="3762756"/>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51" name="dbgrow|b2"/>
          <p:cNvSpPr/>
          <p:nvPr/>
        </p:nvSpPr>
        <p:spPr>
          <a:xfrm>
            <a:off x="6080760" y="4009644"/>
            <a:ext cx="2651760" cy="228600"/>
          </a:xfrm>
          <a:prstGeom prst="roundRect">
            <a:avLst>
              <a:gd name="adj" fmla="val 20000"/>
            </a:avLst>
          </a:prstGeom>
          <a:solidFill>
            <a:srgbClr val="F1F4F8"/>
          </a:solidFill>
          <a:ln w="12700">
            <a:solidFill>
              <a:srgbClr val="F1F4F8"/>
            </a:solidFill>
            <a:prstDash val="solid"/>
          </a:ln>
        </p:spPr>
      </p:sp>
      <p:sp>
        <p:nvSpPr>
          <p:cNvPr id="52" name="dbgtag|b2"/>
          <p:cNvSpPr txBox="1"/>
          <p:nvPr/>
        </p:nvSpPr>
        <p:spPr>
          <a:xfrm>
            <a:off x="6153912" y="4009644"/>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53" name="v:StepIn:e6:stack|b2"/>
          <p:cNvSpPr txBox="1"/>
          <p:nvPr/>
        </p:nvSpPr>
        <p:spPr>
          <a:xfrm>
            <a:off x="6976872" y="4009644"/>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54" name="dbgrow|b2"/>
          <p:cNvSpPr/>
          <p:nvPr/>
        </p:nvSpPr>
        <p:spPr>
          <a:xfrm>
            <a:off x="6080760" y="4256532"/>
            <a:ext cx="2651760" cy="228600"/>
          </a:xfrm>
          <a:prstGeom prst="roundRect">
            <a:avLst>
              <a:gd name="adj" fmla="val 20000"/>
            </a:avLst>
          </a:prstGeom>
          <a:solidFill>
            <a:srgbClr val="F1F4F8"/>
          </a:solidFill>
          <a:ln w="12700">
            <a:solidFill>
              <a:srgbClr val="F1F4F8"/>
            </a:solidFill>
            <a:prstDash val="solid"/>
          </a:ln>
        </p:spPr>
      </p:sp>
      <p:sp>
        <p:nvSpPr>
          <p:cNvPr id="55" name="dbgtag|b2"/>
          <p:cNvSpPr txBox="1"/>
          <p:nvPr/>
        </p:nvSpPr>
        <p:spPr>
          <a:xfrm>
            <a:off x="6153912" y="425653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56" name="v:StepIn:e6:out|b2"/>
          <p:cNvSpPr txBox="1"/>
          <p:nvPr/>
        </p:nvSpPr>
        <p:spPr>
          <a:xfrm>
            <a:off x="6976872" y="4256532"/>
            <a:ext cx="168249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5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5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par>
                                <p:cTn id="59" presetID="10"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400"/>
                                        <p:tgtEl>
                                          <p:spTgt spid="4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400"/>
                                        <p:tgtEl>
                                          <p:spTgt spid="4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400"/>
                                        <p:tgtEl>
                                          <p:spTgt spid="50"/>
                                        </p:tgtEl>
                                      </p:cBhvr>
                                    </p:animEffect>
                                  </p:childTnLst>
                                </p:cTn>
                              </p:par>
                              <p:par>
                                <p:cTn id="89" presetID="10"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4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400"/>
                                        <p:tgtEl>
                                          <p:spTgt spid="53"/>
                                        </p:tgtEl>
                                      </p:cBhvr>
                                    </p:animEffect>
                                  </p:childTnLst>
                                </p:cTn>
                              </p:par>
                              <p:par>
                                <p:cTn id="98" presetID="10" presetClass="entr" presetSubtype="0" fill="hold" nodeType="with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4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fade">
                                      <p:cBhvr>
                                        <p:cTn id="103" dur="400"/>
                                        <p:tgtEl>
                                          <p:spTgt spid="5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0" grpId="0" animBg="1"/>
      <p:bldP spid="44" grpId="0" animBg="1"/>
      <p:bldP spid="45" grpId="0" animBg="1"/>
      <p:bldP spid="47" grpId="0" animBg="1"/>
      <p:bldP spid="49" grpId="0" animBg="1"/>
      <p:bldP spid="50" grpId="0" animBg="1"/>
      <p:bldP spid="52" grpId="0" animBg="1"/>
      <p:bldP spid="53" grpId="0" animBg="1"/>
      <p:bldP spid="55" grpId="0" animBg="1"/>
      <p:bldP spid="5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Step over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Step Over executes the next line as a whole, running a called function without pausing inside it.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Step Over is the control that executes the next line of code like Step In does, but treats a function call as a single step. The chapter says that, if the next line calls a function, Step Over steps over, or rushes through, the code in the function: its code runs at full speed and the debugger pauses as soon as the call returns (Sweigart, 2025). In pdb the command is next, or n, and the documentation says that the difference between next and step is that step stops inside a called function, while next executes called functions at nearly full speed, stopping only at the next line in the current function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control is a decision about detail. By choosing Step Over on a line, the programmer says that the result of the line matters but how it was computed does not. If the result later turns out to be wrong, the programmer can start again, or use the breakpoint, and choose Step In on that line. The stops of the debugger stay in the same function, the one that is being examined, and each stop is the next line of that function.</a:t>
            </a:r>
            <a:endParaRPr lang="en-US" sz="12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Step Over hides what happens inside the call, including a bug. A function that has a mistake can return a wrong value, and Step Over will report only that the line finished. If an exception is raised inside the call, it is still raised: in the executed transcript, the command n on a line that calls a function whose body divides by zero prints ZeroDivisionError: division by zero and stays on the calling line.</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Step Over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Step over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Step Over executes the next line as a whole, running a called function without pausing inside it.</a:t>
            </a:r>
            <a:endParaRPr lang="en-US" sz="1300" dirty="0"/>
          </a:p>
        </p:txBody>
      </p:sp>
      <p:sp>
        <p:nvSpPr>
          <p:cNvPr id="6" name="dbglabel"/>
          <p:cNvSpPr txBox="1"/>
          <p:nvPr/>
        </p:nvSpPr>
        <p:spPr>
          <a:xfrm>
            <a:off x="411480" y="1243584"/>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at line 6, which calls add</a:t>
            </a:r>
            <a:endParaRPr lang="en-US" sz="1200" dirty="0"/>
          </a:p>
        </p:txBody>
      </p:sp>
      <p:sp>
        <p:nvSpPr>
          <p:cNvPr id="7" name="dbgbox"/>
          <p:cNvSpPr/>
          <p:nvPr/>
        </p:nvSpPr>
        <p:spPr>
          <a:xfrm>
            <a:off x="411480" y="1517904"/>
            <a:ext cx="3749040" cy="2036826"/>
          </a:xfrm>
          <a:prstGeom prst="roundRect">
            <a:avLst>
              <a:gd name="adj" fmla="val 3591"/>
            </a:avLst>
          </a:prstGeom>
          <a:solidFill>
            <a:srgbClr val="17202B"/>
          </a:solidFill>
          <a:ln w="12700">
            <a:solidFill>
              <a:srgbClr val="17202B"/>
            </a:solidFill>
            <a:prstDash val="solid"/>
          </a:ln>
        </p:spPr>
      </p:sp>
      <p:sp>
        <p:nvSpPr>
          <p:cNvPr id="8" name="v:StepOver:e3:hl:box"/>
          <p:cNvSpPr/>
          <p:nvPr/>
        </p:nvSpPr>
        <p:spPr>
          <a:xfrm>
            <a:off x="466344" y="2536317"/>
            <a:ext cx="3639312" cy="189052"/>
          </a:xfrm>
          <a:prstGeom prst="rect">
            <a:avLst/>
          </a:prstGeom>
          <a:solidFill>
            <a:srgbClr val="3B5B87"/>
          </a:solidFill>
          <a:ln w="12700">
            <a:solidFill>
              <a:srgbClr val="3B5B87"/>
            </a:solidFill>
            <a:prstDash val="solid"/>
          </a:ln>
        </p:spPr>
      </p:sp>
      <p:sp>
        <p:nvSpPr>
          <p:cNvPr id="9" name="v:StepOver:e3:bp6:dot"/>
          <p:cNvSpPr/>
          <p:nvPr/>
        </p:nvSpPr>
        <p:spPr>
          <a:xfrm>
            <a:off x="502920" y="2570346"/>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85800" y="1591056"/>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1033272" y="1591056"/>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411480" y="3609594"/>
            <a:ext cx="3749040" cy="228600"/>
          </a:xfrm>
          <a:prstGeom prst="roundRect">
            <a:avLst>
              <a:gd name="adj" fmla="val 20000"/>
            </a:avLst>
          </a:prstGeom>
          <a:solidFill>
            <a:srgbClr val="FCEFD0"/>
          </a:solidFill>
          <a:ln w="12700">
            <a:solidFill>
              <a:srgbClr val="B7791F"/>
            </a:solidFill>
            <a:prstDash val="solid"/>
          </a:ln>
        </p:spPr>
      </p:sp>
      <p:sp>
        <p:nvSpPr>
          <p:cNvPr id="13" name="v:StepOver:e3:line"/>
          <p:cNvSpPr txBox="1"/>
          <p:nvPr/>
        </p:nvSpPr>
        <p:spPr>
          <a:xfrm>
            <a:off x="484632" y="3609594"/>
            <a:ext cx="360273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6 (breakpoint)</a:t>
            </a:r>
            <a:endParaRPr lang="en-US" sz="950" dirty="0"/>
          </a:p>
        </p:txBody>
      </p:sp>
      <p:sp>
        <p:nvSpPr>
          <p:cNvPr id="14" name="dbgrow"/>
          <p:cNvSpPr/>
          <p:nvPr/>
        </p:nvSpPr>
        <p:spPr>
          <a:xfrm>
            <a:off x="411480" y="3856482"/>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84632" y="385648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Over:e3:vars"/>
          <p:cNvSpPr txBox="1"/>
          <p:nvPr/>
        </p:nvSpPr>
        <p:spPr>
          <a:xfrm>
            <a:off x="1307592" y="3856482"/>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411480" y="4103370"/>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84632" y="4103370"/>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Over:e3:stack"/>
          <p:cNvSpPr txBox="1"/>
          <p:nvPr/>
        </p:nvSpPr>
        <p:spPr>
          <a:xfrm>
            <a:off x="1307592" y="4103370"/>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20" name="dbgrow"/>
          <p:cNvSpPr/>
          <p:nvPr/>
        </p:nvSpPr>
        <p:spPr>
          <a:xfrm>
            <a:off x="411480" y="4350258"/>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84632" y="4350258"/>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Over:e3:out"/>
          <p:cNvSpPr txBox="1"/>
          <p:nvPr/>
        </p:nvSpPr>
        <p:spPr>
          <a:xfrm>
            <a:off x="1307592" y="4350258"/>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4983480" y="1243584"/>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 → line 7, the call ran whole</a:t>
            </a:r>
            <a:endParaRPr lang="en-US" sz="1200" dirty="0"/>
          </a:p>
        </p:txBody>
      </p:sp>
      <p:sp>
        <p:nvSpPr>
          <p:cNvPr id="24" name="dbgbox|b1"/>
          <p:cNvSpPr/>
          <p:nvPr/>
        </p:nvSpPr>
        <p:spPr>
          <a:xfrm>
            <a:off x="4983480" y="1517904"/>
            <a:ext cx="3749040" cy="2036826"/>
          </a:xfrm>
          <a:prstGeom prst="roundRect">
            <a:avLst>
              <a:gd name="adj" fmla="val 3591"/>
            </a:avLst>
          </a:prstGeom>
          <a:solidFill>
            <a:srgbClr val="17202B"/>
          </a:solidFill>
          <a:ln w="12700">
            <a:solidFill>
              <a:srgbClr val="17202B"/>
            </a:solidFill>
            <a:prstDash val="solid"/>
          </a:ln>
        </p:spPr>
      </p:sp>
      <p:sp>
        <p:nvSpPr>
          <p:cNvPr id="25" name="v:StepOver:e6:hl:box|b1"/>
          <p:cNvSpPr/>
          <p:nvPr/>
        </p:nvSpPr>
        <p:spPr>
          <a:xfrm>
            <a:off x="5038344" y="2725369"/>
            <a:ext cx="3639312" cy="189052"/>
          </a:xfrm>
          <a:prstGeom prst="rect">
            <a:avLst/>
          </a:prstGeom>
          <a:solidFill>
            <a:srgbClr val="3B5B87"/>
          </a:solidFill>
          <a:ln w="12700">
            <a:solidFill>
              <a:srgbClr val="3B5B87"/>
            </a:solidFill>
            <a:prstDash val="solid"/>
          </a:ln>
        </p:spPr>
      </p:sp>
      <p:sp>
        <p:nvSpPr>
          <p:cNvPr id="26" name="v:StepOver:e6:bp6:dot|b1"/>
          <p:cNvSpPr/>
          <p:nvPr/>
        </p:nvSpPr>
        <p:spPr>
          <a:xfrm>
            <a:off x="5074920" y="2570346"/>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257800" y="1591056"/>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05272" y="1591056"/>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4983480" y="3609594"/>
            <a:ext cx="3749040" cy="228600"/>
          </a:xfrm>
          <a:prstGeom prst="roundRect">
            <a:avLst>
              <a:gd name="adj" fmla="val 20000"/>
            </a:avLst>
          </a:prstGeom>
          <a:solidFill>
            <a:srgbClr val="FCEFD0"/>
          </a:solidFill>
          <a:ln w="12700">
            <a:solidFill>
              <a:srgbClr val="B7791F"/>
            </a:solidFill>
            <a:prstDash val="solid"/>
          </a:ln>
        </p:spPr>
      </p:sp>
      <p:sp>
        <p:nvSpPr>
          <p:cNvPr id="30" name="v:StepOver:e6:line|b1"/>
          <p:cNvSpPr txBox="1"/>
          <p:nvPr/>
        </p:nvSpPr>
        <p:spPr>
          <a:xfrm>
            <a:off x="5056632" y="3609594"/>
            <a:ext cx="360273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31" name="dbgrow|b1"/>
          <p:cNvSpPr/>
          <p:nvPr/>
        </p:nvSpPr>
        <p:spPr>
          <a:xfrm>
            <a:off x="4983480" y="3856482"/>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056632" y="385648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Over:e6:vars|b1"/>
          <p:cNvSpPr txBox="1"/>
          <p:nvPr/>
        </p:nvSpPr>
        <p:spPr>
          <a:xfrm>
            <a:off x="5879592" y="3856482"/>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4983480" y="4103370"/>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056632" y="4103370"/>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Over:e6:stack|b1"/>
          <p:cNvSpPr txBox="1"/>
          <p:nvPr/>
        </p:nvSpPr>
        <p:spPr>
          <a:xfrm>
            <a:off x="5879592" y="4103370"/>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4983480" y="4350258"/>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056632" y="4350258"/>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Over:e6:out|b1"/>
          <p:cNvSpPr txBox="1"/>
          <p:nvPr/>
        </p:nvSpPr>
        <p:spPr>
          <a:xfrm>
            <a:off x="5879592" y="4350258"/>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206240" y="2286000"/>
            <a:ext cx="731520" cy="0"/>
          </a:xfrm>
          <a:prstGeom prst="line">
            <a:avLst/>
          </a:prstGeom>
          <a:noFill/>
          <a:ln w="38100">
            <a:solidFill>
              <a:srgbClr val="306998"/>
            </a:solidFill>
            <a:prstDash val="solid"/>
            <a:tailEnd type="triangle"/>
          </a:ln>
        </p:spPr>
      </p:sp>
      <p:sp>
        <p:nvSpPr>
          <p:cNvPr id="4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4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Step out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Step Out runs the rest of the current function at full speed until it returns.</a:t>
            </a:r>
            <a:endParaRPr lang="en-US" sz="14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Step Out is the control that runs the rest of the current function at full speed. The chapter says that it causes the debugger to execute lines of code at full speed until it returns from the current function, and that it is meant for the reader who has stepped into a function call with Step In and now simply wants to keep executing instructions until leaving it (Sweigart, 2025). In pdb the command is return, or r, and the documentation says it continues execution until the current function returns (Python Software Foundation, 2026).</a:t>
            </a:r>
            <a:endParaRPr lang="en-US" sz="1250" dirty="0"/>
          </a:p>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Step Out is therefore a way of saying finish this function. It does not skip the lines that follow in the caller. A breakpoint on a line of the function that has not yet run still stops the program first: in the executed transcript a breakpoint is set on line 2 of double after stepping into it, and the command r then stops on line 2 and not at the return. After the stop at the return, pdb shows the value that the function returns after the arrow, so the programmer can see the result before it is used.</a:t>
            </a:r>
            <a:endParaRPr lang="en-US" sz="12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Step Out from the top level, outside any function, has no function to leave. In the executed transcript the command r on line 1 of the program runs everything, so 6 and end are printed, and the stop is on the last line, where pdb prints --Return-- with -&gt;None. The tools also differ in where they pause: the chapter speaks of executing at full speed until the function is left, and pdb pauses on the return line itself.</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Step Out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Step out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Step Out runs the rest of the current function at full speed until it returns.</a:t>
            </a:r>
            <a:endParaRPr lang="en-US" sz="1400" dirty="0"/>
          </a:p>
        </p:txBody>
      </p:sp>
      <p:sp>
        <p:nvSpPr>
          <p:cNvPr id="6" name="dbglabel"/>
          <p:cNvSpPr txBox="1"/>
          <p:nvPr/>
        </p:nvSpPr>
        <p:spPr>
          <a:xfrm>
            <a:off x="411480" y="1243584"/>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inside add, at line 2</a:t>
            </a:r>
            <a:endParaRPr lang="en-US" sz="1200" dirty="0"/>
          </a:p>
        </p:txBody>
      </p:sp>
      <p:sp>
        <p:nvSpPr>
          <p:cNvPr id="7" name="dbgbox"/>
          <p:cNvSpPr/>
          <p:nvPr/>
        </p:nvSpPr>
        <p:spPr>
          <a:xfrm>
            <a:off x="411480" y="1517904"/>
            <a:ext cx="3749040" cy="2036826"/>
          </a:xfrm>
          <a:prstGeom prst="roundRect">
            <a:avLst>
              <a:gd name="adj" fmla="val 3591"/>
            </a:avLst>
          </a:prstGeom>
          <a:solidFill>
            <a:srgbClr val="17202B"/>
          </a:solidFill>
          <a:ln w="12700">
            <a:solidFill>
              <a:srgbClr val="17202B"/>
            </a:solidFill>
            <a:prstDash val="solid"/>
          </a:ln>
        </p:spPr>
      </p:sp>
      <p:sp>
        <p:nvSpPr>
          <p:cNvPr id="8" name="v:StepOut:e4:hl:box"/>
          <p:cNvSpPr/>
          <p:nvPr/>
        </p:nvSpPr>
        <p:spPr>
          <a:xfrm>
            <a:off x="466344" y="1780108"/>
            <a:ext cx="3639312" cy="189052"/>
          </a:xfrm>
          <a:prstGeom prst="rect">
            <a:avLst/>
          </a:prstGeom>
          <a:solidFill>
            <a:srgbClr val="3B5B87"/>
          </a:solidFill>
          <a:ln w="12700">
            <a:solidFill>
              <a:srgbClr val="3B5B87"/>
            </a:solidFill>
            <a:prstDash val="solid"/>
          </a:ln>
        </p:spPr>
      </p:sp>
      <p:sp>
        <p:nvSpPr>
          <p:cNvPr id="9" name="v:StepOut:e4:bp2:dot"/>
          <p:cNvSpPr/>
          <p:nvPr/>
        </p:nvSpPr>
        <p:spPr>
          <a:xfrm>
            <a:off x="502920" y="1814138"/>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85800" y="1591056"/>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1033272" y="1591056"/>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411480" y="3609594"/>
            <a:ext cx="3749040" cy="228600"/>
          </a:xfrm>
          <a:prstGeom prst="roundRect">
            <a:avLst>
              <a:gd name="adj" fmla="val 20000"/>
            </a:avLst>
          </a:prstGeom>
          <a:solidFill>
            <a:srgbClr val="FCEFD0"/>
          </a:solidFill>
          <a:ln w="12700">
            <a:solidFill>
              <a:srgbClr val="B7791F"/>
            </a:solidFill>
            <a:prstDash val="solid"/>
          </a:ln>
        </p:spPr>
      </p:sp>
      <p:sp>
        <p:nvSpPr>
          <p:cNvPr id="13" name="v:StepOut:e4:line"/>
          <p:cNvSpPr txBox="1"/>
          <p:nvPr/>
        </p:nvSpPr>
        <p:spPr>
          <a:xfrm>
            <a:off x="484632" y="3609594"/>
            <a:ext cx="360273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 (breakpoint)</a:t>
            </a:r>
            <a:endParaRPr lang="en-US" sz="950" dirty="0"/>
          </a:p>
        </p:txBody>
      </p:sp>
      <p:sp>
        <p:nvSpPr>
          <p:cNvPr id="14" name="dbgrow"/>
          <p:cNvSpPr/>
          <p:nvPr/>
        </p:nvSpPr>
        <p:spPr>
          <a:xfrm>
            <a:off x="411480" y="3856482"/>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84632" y="385648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Out:e4:vars"/>
          <p:cNvSpPr txBox="1"/>
          <p:nvPr/>
        </p:nvSpPr>
        <p:spPr>
          <a:xfrm>
            <a:off x="1307592" y="3856482"/>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17" name="dbgrow"/>
          <p:cNvSpPr/>
          <p:nvPr/>
        </p:nvSpPr>
        <p:spPr>
          <a:xfrm>
            <a:off x="411480" y="4103370"/>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84632" y="4103370"/>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Out:e4:stack"/>
          <p:cNvSpPr txBox="1"/>
          <p:nvPr/>
        </p:nvSpPr>
        <p:spPr>
          <a:xfrm>
            <a:off x="1307592" y="4103370"/>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20" name="dbgrow"/>
          <p:cNvSpPr/>
          <p:nvPr/>
        </p:nvSpPr>
        <p:spPr>
          <a:xfrm>
            <a:off x="411480" y="4350258"/>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84632" y="4350258"/>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Out:e4:out"/>
          <p:cNvSpPr txBox="1"/>
          <p:nvPr/>
        </p:nvSpPr>
        <p:spPr>
          <a:xfrm>
            <a:off x="1307592" y="4350258"/>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4983480" y="1243584"/>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Out → line 7, back in main</a:t>
            </a:r>
            <a:endParaRPr lang="en-US" sz="1200" dirty="0"/>
          </a:p>
        </p:txBody>
      </p:sp>
      <p:sp>
        <p:nvSpPr>
          <p:cNvPr id="24" name="dbgbox|b1"/>
          <p:cNvSpPr/>
          <p:nvPr/>
        </p:nvSpPr>
        <p:spPr>
          <a:xfrm>
            <a:off x="4983480" y="1517904"/>
            <a:ext cx="3749040" cy="2036826"/>
          </a:xfrm>
          <a:prstGeom prst="roundRect">
            <a:avLst>
              <a:gd name="adj" fmla="val 3591"/>
            </a:avLst>
          </a:prstGeom>
          <a:solidFill>
            <a:srgbClr val="17202B"/>
          </a:solidFill>
          <a:ln w="12700">
            <a:solidFill>
              <a:srgbClr val="17202B"/>
            </a:solidFill>
            <a:prstDash val="solid"/>
          </a:ln>
        </p:spPr>
      </p:sp>
      <p:sp>
        <p:nvSpPr>
          <p:cNvPr id="25" name="v:StepOut:e6:hl:box|b1"/>
          <p:cNvSpPr/>
          <p:nvPr/>
        </p:nvSpPr>
        <p:spPr>
          <a:xfrm>
            <a:off x="5038344" y="2725369"/>
            <a:ext cx="3639312" cy="189052"/>
          </a:xfrm>
          <a:prstGeom prst="rect">
            <a:avLst/>
          </a:prstGeom>
          <a:solidFill>
            <a:srgbClr val="3B5B87"/>
          </a:solidFill>
          <a:ln w="12700">
            <a:solidFill>
              <a:srgbClr val="3B5B87"/>
            </a:solidFill>
            <a:prstDash val="solid"/>
          </a:ln>
        </p:spPr>
      </p:sp>
      <p:sp>
        <p:nvSpPr>
          <p:cNvPr id="26" name="v:StepOut:e6:bp2:dot|b1"/>
          <p:cNvSpPr/>
          <p:nvPr/>
        </p:nvSpPr>
        <p:spPr>
          <a:xfrm>
            <a:off x="5074920" y="1814138"/>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257800" y="1591056"/>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05272" y="1591056"/>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4983480" y="3609594"/>
            <a:ext cx="3749040" cy="228600"/>
          </a:xfrm>
          <a:prstGeom prst="roundRect">
            <a:avLst>
              <a:gd name="adj" fmla="val 20000"/>
            </a:avLst>
          </a:prstGeom>
          <a:solidFill>
            <a:srgbClr val="FCEFD0"/>
          </a:solidFill>
          <a:ln w="12700">
            <a:solidFill>
              <a:srgbClr val="B7791F"/>
            </a:solidFill>
            <a:prstDash val="solid"/>
          </a:ln>
        </p:spPr>
      </p:sp>
      <p:sp>
        <p:nvSpPr>
          <p:cNvPr id="30" name="v:StepOut:e6:line|b1"/>
          <p:cNvSpPr txBox="1"/>
          <p:nvPr/>
        </p:nvSpPr>
        <p:spPr>
          <a:xfrm>
            <a:off x="5056632" y="3609594"/>
            <a:ext cx="3602736" cy="228600"/>
          </a:xfrm>
          <a:prstGeom prst="rect">
            <a:avLst/>
          </a:prstGeom>
          <a:noFill/>
          <a:ln/>
        </p:spPr>
        <p:txBody>
          <a:bodyPr wrap="square" lIns="0" tIns="0" rIns="0" bIns="0" rtlCol="0" anchor="ct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31" name="dbgrow|b1"/>
          <p:cNvSpPr/>
          <p:nvPr/>
        </p:nvSpPr>
        <p:spPr>
          <a:xfrm>
            <a:off x="4983480" y="3856482"/>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056632" y="3856482"/>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Out:e6:vars|b1"/>
          <p:cNvSpPr txBox="1"/>
          <p:nvPr/>
        </p:nvSpPr>
        <p:spPr>
          <a:xfrm>
            <a:off x="5879592" y="3856482"/>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4983480" y="4103370"/>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056632" y="4103370"/>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Out:e6:stack|b1"/>
          <p:cNvSpPr txBox="1"/>
          <p:nvPr/>
        </p:nvSpPr>
        <p:spPr>
          <a:xfrm>
            <a:off x="5879592" y="4103370"/>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4983480" y="4350258"/>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056632" y="4350258"/>
            <a:ext cx="786384"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Out:e6:out|b1"/>
          <p:cNvSpPr txBox="1"/>
          <p:nvPr/>
        </p:nvSpPr>
        <p:spPr>
          <a:xfrm>
            <a:off x="5879592" y="4350258"/>
            <a:ext cx="2779776" cy="228600"/>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206240" y="2286000"/>
            <a:ext cx="731520" cy="0"/>
          </a:xfrm>
          <a:prstGeom prst="line">
            <a:avLst/>
          </a:prstGeom>
          <a:noFill/>
          <a:ln w="38100">
            <a:solidFill>
              <a:srgbClr val="306998"/>
            </a:solidFill>
            <a:prstDash val="solid"/>
            <a:tailEnd type="triangle"/>
          </a:ln>
        </p:spPr>
      </p:sp>
      <p:sp>
        <p:nvSpPr>
          <p:cNvPr id="4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Controls</a:t>
            </a:r>
            <a:endParaRPr lang="en-US" sz="950" dirty="0"/>
          </a:p>
        </p:txBody>
      </p:sp>
      <p:sp>
        <p:nvSpPr>
          <p:cNvPr id="4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Python debugger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Python debugger is the debugger that comes with Python itself, the module pdb.</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Unlike the buttons of an editor, pdb belongs to the standard library, so it comes with Python. It needs no window: the executed transcripts of this chapter were produced by starting it as a separate program and typing its commands as lines of input. It can be started in three ways: from the command line with python -m pdb followed by the file name, from inside the program by the function breakpoint(), and, since Python 3.14, by attaching to a process that is already running. The concepts below take the ways in turn.</a:t>
            </a:r>
            <a:endParaRPr lang="en-US" sz="1150" dirty="0"/>
          </a:p>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module is met whenever a Python program is run with python -m pdb, and whenever breakpoint() is reached. Its prompt is (Pdb). The documentation also shows the case of a program that has crashed: pdb.pm() can be called afterwards to enter the debugger at the place where the exception occurred and to print the value of a variable there (Python Software Foundation, 2026).</a:t>
            </a:r>
            <a:endParaRPr lang="en-US" sz="11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Process</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os.getpid()</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Environment variable</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PYTHONBREAKPOINT=0</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Breakpoint function</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breakpoint()</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Breakpoint hook</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PYTHONBREAKPOINT=builtins.print</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Pdb commands</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step, next, return, continue, break, where</a:t>
            </a:r>
            <a:endParaRPr lang="en-US" sz="1100" dirty="0"/>
          </a:p>
        </p:txBody>
      </p:sp>
      <p:sp>
        <p:nvSpPr>
          <p:cNvPr id="31" name="ltb|b6"/>
          <p:cNvSpPr/>
          <p:nvPr/>
        </p:nvSpPr>
        <p:spPr>
          <a:xfrm>
            <a:off x="5120640" y="3867912"/>
            <a:ext cx="1335938" cy="420624"/>
          </a:xfrm>
          <a:prstGeom prst="rect">
            <a:avLst/>
          </a:prstGeom>
          <a:solidFill>
            <a:srgbClr val="E3EEF8"/>
          </a:solidFill>
          <a:ln w="12700">
            <a:solidFill>
              <a:srgbClr val="E3EEF8"/>
            </a:solidFill>
            <a:prstDash val="solid"/>
          </a:ln>
        </p:spPr>
      </p:sp>
      <p:sp>
        <p:nvSpPr>
          <p:cNvPr id="32" name="lta|b6"/>
          <p:cNvSpPr txBox="1"/>
          <p:nvPr/>
        </p:nvSpPr>
        <p:spPr>
          <a:xfrm>
            <a:off x="5184648" y="3867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Remote attach</a:t>
            </a:r>
            <a:endParaRPr lang="en-US" sz="1200" dirty="0"/>
          </a:p>
        </p:txBody>
      </p:sp>
      <p:sp>
        <p:nvSpPr>
          <p:cNvPr id="33" name="ltb|b6"/>
          <p:cNvSpPr/>
          <p:nvPr/>
        </p:nvSpPr>
        <p:spPr>
          <a:xfrm>
            <a:off x="6493154" y="3867912"/>
            <a:ext cx="2239366" cy="420624"/>
          </a:xfrm>
          <a:prstGeom prst="rect">
            <a:avLst/>
          </a:prstGeom>
          <a:solidFill>
            <a:srgbClr val="F1F4F8"/>
          </a:solidFill>
          <a:ln w="12700">
            <a:solidFill>
              <a:srgbClr val="F1F4F8"/>
            </a:solidFill>
            <a:prstDash val="solid"/>
          </a:ln>
        </p:spPr>
      </p:sp>
      <p:sp>
        <p:nvSpPr>
          <p:cNvPr id="34" name="ltb2|b6"/>
          <p:cNvSpPr txBox="1"/>
          <p:nvPr/>
        </p:nvSpPr>
        <p:spPr>
          <a:xfrm>
            <a:off x="6557162" y="3867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python -m pdb -p PID</a:t>
            </a:r>
            <a:endParaRPr lang="en-US" sz="1100" dirty="0"/>
          </a:p>
        </p:txBody>
      </p:sp>
      <p:sp>
        <p:nvSpPr>
          <p:cNvPr id="3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Python debugger</a:t>
            </a:r>
            <a:endParaRPr lang="en-US" sz="950" dirty="0"/>
          </a:p>
        </p:txBody>
      </p:sp>
      <p:sp>
        <p:nvSpPr>
          <p:cNvPr id="3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Process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process is a running program as the operating system sees it; each process has its own identifier, which os.getpid() returns.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process is a program that is running. PEP 768 speaks of running Python processes and of attaching to a live process by process ID (Galindo Salgado, Wozniski and Stojanovic, 2024). The number that identifies a process is its process identifier, abbreviated PID, and the function os.getpid() returns the current process id (Python Software Foundation, 2026). The abbreviation appears in the options of pdb, where the documentation speaks of attaching to the process with the specified PID.</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Two runs of Python are two processes even if they run the same file.</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identifier belongs to one run only, since two runs are two processes. A tool that is pointed at a wrong number would examine another program, so the number should be read from the program itself, for example by printing os.getpid(), at the time it is needed.</a:t>
            </a:r>
            <a:endParaRPr lang="en-US" sz="1300" dirty="0"/>
          </a:p>
        </p:txBody>
      </p:sp>
      <p:sp>
        <p:nvSpPr>
          <p:cNvPr id="9" name="codebox|b1"/>
          <p:cNvSpPr/>
          <p:nvPr/>
        </p:nvSpPr>
        <p:spPr>
          <a:xfrm>
            <a:off x="5897880" y="1243584"/>
            <a:ext cx="2834640" cy="1005840"/>
          </a:xfrm>
          <a:prstGeom prst="roundRect">
            <a:avLst>
              <a:gd name="adj" fmla="val 9091"/>
            </a:avLst>
          </a:prstGeom>
          <a:solidFill>
            <a:srgbClr val="17202B"/>
          </a:solidFill>
          <a:ln w="12700">
            <a:solidFill>
              <a:srgbClr val="17202B"/>
            </a:solidFill>
            <a:prstDash val="solid"/>
          </a:ln>
        </p:spPr>
      </p:sp>
      <p:sp>
        <p:nvSpPr>
          <p:cNvPr id="10" name="codecard|b1"/>
          <p:cNvSpPr txBox="1"/>
          <p:nvPr/>
        </p:nvSpPr>
        <p:spPr>
          <a:xfrm>
            <a:off x="6053328" y="1335024"/>
            <a:ext cx="2523744" cy="822960"/>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isinstance(__import__('os').getpid(), int)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p:txBody>
      </p:sp>
      <p:sp>
        <p:nvSpPr>
          <p:cNvPr id="11" name="codecap|b1"/>
          <p:cNvSpPr txBox="1"/>
          <p:nvPr/>
        </p:nvSpPr>
        <p:spPr>
          <a:xfrm>
            <a:off x="5897880" y="226771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The process identifier is met in the command python -m pdb -p 1234 and in the call sys.remote_exec(1234, script) of Python 3.14 (Python Software Foundation, 2026). The executed expression isinstance(os.getpid(), int) evaluates to True, and os.getpid() &gt; 0 does too.</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Python debugger</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os.getpid()</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Environment variable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named text setting that the operating system hands to a process when it starts; Python reads it through os.environ.</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environment variable is a named piece of text that belongs to the environment in which a process runs. It belongs to the process environment, which the program can read. The documentation of the os module describes os.environ as a mapping object whose keys and values are strings that represent the process environment, with the example that environ['HOME'] is the path of the home directory on some platforms (Python Software Foundation, 2026). The glossary defines a mapping as a container object that supports arbitrary key lookups, and a dictionary is one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documentation says that the mapping is captured the first time the os module is imported, typically during Python startup, and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Values are text. The documentation says that keys and values are strings, so a setting such as 0 is the string '0', not the number zero (Python Software Foundation, 2026).</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50" b="1" dirty="0">
                <a:solidFill>
                  <a:srgbClr val="FFD43B"/>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type(__import__('os').environ).__name__</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'_Environ'</a:t>
            </a:r>
            <a:endParaRPr lang="en-US" sz="7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os.environ, the executed expression type(os.environ).__name__ evaluates to '_Environ', the class that holds the environment. A program reads a variable with os.environ.get('NAME'), which gives None when the variable is not set; the executed check prints None for a name that is not set.</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Python debugger</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PYTHONBREAKPOINT=0</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Breakpoint function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built-in breakpoint() pauses the program in the debugger at that line; it calls sys.breakpointhook, and PYTHONBREAKPOINT=0 makes it do nothing.</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built-in function breakpoint() puts a breakpoint into the program itself. Writing breakpoint() on a line makes the program stop in the debugger when it reaches that line. The documentation of pdb says that, called with defaults, it can be used instead of import pdb; pdb.set_trace() (Python Software Foundation, 2026). PEP 553, which proposed the function, describes it as a new built-in that enters a Python debugger at the call site (Warsaw, 2017).</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function does little itself. It calls sys.breakpointhook(), passing on whatever arguments it received, and returns what the hook returns (Python Software Foundation, 2026). The default hook starts pdb at the line after the call.</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breakpoint() that is left in the program will stop it for whoever runs it, including users who have no one to type commands.</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__import__('sys').breakpointhook.__name__</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'breakpointhook'</a:t>
            </a:r>
            <a:endParaRPr lang="en-US" sz="7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function is used in scripts, and the pdb page of the documentation shows an example in which breakpoint() is the first line of a function double, followed by a session in which p x prints 3 and continue lets the program finish (Python Software Foundation, 2026).</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Python debugger</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breakpoint()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Breakpoint hook</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function sys.breakpointhook is what breakpoint() calls; by default it starts pdb, but the environment variable PYTHONBREAKPOINT or a replacement function can change it.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breakpoint hook is the function that breakpoint() calls: sys.breakpointhook. A hook is a name that holds a function which other code calls, so replacing the function changes what happens. The documentation says that by default the hook drops the programmer into the pdb debugger, but it can be set to any other function so that a different debugger is used (Python Software Foundation, 2026). This is the design of PEP 553, which proposed the hook and the environment variable together (Warsaw, 2017).</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environment variable is read each time the default hook is called. If it names something that cannot be imported, the documentation says a RuntimeWarning is reported and the breakpoint is ignored (Python Software Foundation, 2026). In the executed run, with PYTHONBREAKPOINT set to no.such.module.func, the error output ends with RuntimeWarning: Ignoring unimportable $PYTHONBREAKPOINT: "no.such.module.func", and the program carries on, printing went on.</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Watch out  </a:t>
            </a:r>
            <a:r>
              <a:rPr lang="en-US" sz="1100" dirty="0">
                <a:solidFill>
                  <a:srgbClr val="1F2933"/>
                </a:solidFill>
                <a:latin typeface="Calibri" pitchFamily="34" charset="0"/>
                <a:ea typeface="Calibri" pitchFamily="34" charset="-122"/>
                <a:cs typeface="Calibri" pitchFamily="34" charset="-120"/>
              </a:rPr>
              <a:t>A program that replaces sys.breakpointhook by its own function no longer consults PYTHONBREAKPOINT, as the documentation says; in the executed run the replaced hook still ran with the variable set to 0 (Python Software Foundation, 2026). And the setting 0 silences only breakpoint(): in the executed transcript, with PYTHONBREAKPOINT set to 0, the command b 2 inside pdb still stops the program on line 2.</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Python debugger</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PYTHONBREAKPOINT=builtins.print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Pdb commands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standard debugger pdb offers the chapter's controls as commands: step, next, return, continue and break, and where lists the call stack.</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commands of pdb are the text form of the controls of the chapter. At the prompt (Pdb) the programmer types a command and presses Enter. The commands that correspond to the buttons are step (Step In), next (Step Over), return (Step Out), continue (Continue) and break (Breakpoint), and the command quit corresponds to the Stop button (Python Software Foundation, 2026). Each also has a short form, s, n, r, c, b and q.</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commands steer the paused program, and a statement written after an exclamation point is executed in its context; the point can be omitted unless the first word of the statement resembles a debugger command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name that matches a command is read as the command: the documentation says the exclamation point can be omitted only unless the first word resembles a debugger command (Python Software Foundation, 2026).</a:t>
            </a:r>
            <a:endParaRPr lang="en-US" sz="1300" dirty="0"/>
          </a:p>
        </p:txBody>
      </p:sp>
      <p:sp>
        <p:nvSpPr>
          <p:cNvPr id="9" name="codebox|b1"/>
          <p:cNvSpPr/>
          <p:nvPr/>
        </p:nvSpPr>
        <p:spPr>
          <a:xfrm>
            <a:off x="5897880" y="1243584"/>
            <a:ext cx="2834640" cy="1024128"/>
          </a:xfrm>
          <a:prstGeom prst="roundRect">
            <a:avLst>
              <a:gd name="adj" fmla="val 8929"/>
            </a:avLst>
          </a:prstGeom>
          <a:solidFill>
            <a:srgbClr val="17202B"/>
          </a:solidFill>
          <a:ln w="12700">
            <a:solidFill>
              <a:srgbClr val="17202B"/>
            </a:solidFill>
            <a:prstDash val="solid"/>
          </a:ln>
        </p:spPr>
      </p:sp>
      <p:sp>
        <p:nvSpPr>
          <p:cNvPr id="10" name="codecard|b1"/>
          <p:cNvSpPr txBox="1"/>
          <p:nvPr/>
        </p:nvSpPr>
        <p:spPr>
          <a:xfrm>
            <a:off x="6053328" y="1335024"/>
            <a:ext cx="2523744" cy="841248"/>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[c for c in ('do_step','do_next','do_return','do_continue','do_break','do_where') if hasattr(__import__('pdb').Pdb, c)]</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['do_step', 'do_next', 'do_return', 'do_continue', 'do_break', 'do_where']</a:t>
            </a:r>
            <a:endParaRPr lang="en-US" sz="600" dirty="0"/>
          </a:p>
        </p:txBody>
      </p:sp>
      <p:sp>
        <p:nvSpPr>
          <p:cNvPr id="11" name="codecap|b1"/>
          <p:cNvSpPr txBox="1"/>
          <p:nvPr/>
        </p:nvSpPr>
        <p:spPr>
          <a:xfrm>
            <a:off x="5897880" y="228600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the executed transcripts every control of the chapter appears as a command: n and s give the stops on lines 4 and 5 and then --Call-- at the start of double; r gives --Return-- and the value 6; b 6 prints Breakpoint 1 at main.py:6, and c stops there, where p result prints 6.</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Python debugger</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step, next, return, continue, break, where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Remote attach</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Since Python 3.14 the debugger can attach to a running process by its identifier, using sys.remote_exec.</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Remote attach is the ability of the debugger to join a program that is already running. Since Python 3.14 the command python -m pdb -p 1234 attaches to the process with that PID (Python Software Foundation, 2026). It rests on the function sys.remote_exec(pid, script), which executes a file of Python code in the process with the given identifier (Python Software Foundation, 2026), and on PEP 768, which proposed a safe external debugger interface for CPython (Galindo Salgado, Wozniski and Stojanovic, 2024).</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function returns at once, and the code is run by the main thread of the target process at the next available opportunity; there is no interface to learn when it ran, and the caller must keep the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he same power is a risk, since a tool that can run code in another process could be misused, so the feature can be disabled: with the environment variable PYTHON_DISABLE_REMOTE_DEBUG, with the option -X disable-remote-debug, or at build time with ...</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callable(__import__('sys').breakpointhook)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interface is used by debuggers and other tools, and the documented command is python -m pdb -p followed by the number of the process. The function sys.remote_exec is available on Unix and Windows (Python Software Foundation, 2026).</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Debugger  &gt;  Python debugger</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python -m pdb -p PID</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Modern practice</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400" i="1" dirty="0">
                <a:solidFill>
                  <a:srgbClr val="FFD43B"/>
                </a:solidFill>
                <a:latin typeface="Calibri" pitchFamily="34" charset="0"/>
                <a:ea typeface="Calibri" pitchFamily="34" charset="-122"/>
                <a:cs typeface="Calibri" pitchFamily="34" charset="-120"/>
              </a:rPr>
              <a:t>Modern practice is the part of the chapter in which the four instruments, exceptions, assertions, logging and the debugger, are used together on programs that contain real mistakes. The chapter does this three times.</a:t>
            </a:r>
            <a:endParaRPr lang="en-US" sz="1400" dirty="0"/>
          </a:p>
        </p:txBody>
      </p:sp>
      <p:sp>
        <p:nvSpPr>
          <p:cNvPr id="4" name="br1|b1"/>
          <p:cNvSpPr/>
          <p:nvPr/>
        </p:nvSpPr>
        <p:spPr>
          <a:xfrm>
            <a:off x="457200" y="1828800"/>
            <a:ext cx="8229600"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8156448"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Worked cases</a:t>
            </a:r>
            <a:endParaRPr lang="en-US" sz="1400" dirty="0"/>
          </a:p>
        </p:txBody>
      </p:sp>
      <p:sp>
        <p:nvSpPr>
          <p:cNvPr id="6" name="br2|b1"/>
          <p:cNvSpPr/>
          <p:nvPr/>
        </p:nvSpPr>
        <p:spPr>
          <a:xfrm>
            <a:off x="457200" y="2359152"/>
            <a:ext cx="8229600"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8046720"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Off-by-one range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Accumulator starting value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String concatenation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Random integer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Membership test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Type mismatch comparison</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Worked cases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worked cases are six small mistakes, each taken from one of the programs of the chapter.</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cases are useful in three ways. They show how each instrument is used on a real program and not on an artificial one. They give the learner a stock of patterns to recognise, which shortens the search the next time. And they fix the vocabulary: to say that a bug is an off-by-one in a range, or a type mismatch in a comparison, is to say where to look. In the chapter the logging output pointed at the range, and the debugger pane at the strings.</a:t>
            </a:r>
            <a:endParaRPr lang="en-US" sz="1150" dirty="0"/>
          </a:p>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cases follow the order of the chapter's programs. The off-by-one range and the accumulator starting value explain the factorial that returns 0. String concatenation explains the adding program, whose pane shows '5', '3' and '42' as strings. The random integer, the membership test and the type mismatch comparison explain the lines of the coin toss game that decide whether the player's guess is accepted and whether it matches. For each case the executed examples show the value that exposes the mistake.</a:t>
            </a:r>
            <a:endParaRPr lang="en-US" sz="11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Off-by-one range</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range(n + 1) in factorial</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Accumulator starting value</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total = 1 before the loop</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String concatenation</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'5' + '3' + '42'</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Random integer</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random.randint(0, 1)</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Membership test</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not in ('heads', 'tails')</a:t>
            </a:r>
            <a:endParaRPr lang="en-US" sz="1100" dirty="0"/>
          </a:p>
        </p:txBody>
      </p:sp>
      <p:sp>
        <p:nvSpPr>
          <p:cNvPr id="31" name="ltb|b6"/>
          <p:cNvSpPr/>
          <p:nvPr/>
        </p:nvSpPr>
        <p:spPr>
          <a:xfrm>
            <a:off x="5120640" y="3867912"/>
            <a:ext cx="1335938" cy="420624"/>
          </a:xfrm>
          <a:prstGeom prst="rect">
            <a:avLst/>
          </a:prstGeom>
          <a:solidFill>
            <a:srgbClr val="E3EEF8"/>
          </a:solidFill>
          <a:ln w="12700">
            <a:solidFill>
              <a:srgbClr val="E3EEF8"/>
            </a:solidFill>
            <a:prstDash val="solid"/>
          </a:ln>
        </p:spPr>
      </p:sp>
      <p:sp>
        <p:nvSpPr>
          <p:cNvPr id="32" name="lta|b6"/>
          <p:cNvSpPr txBox="1"/>
          <p:nvPr/>
        </p:nvSpPr>
        <p:spPr>
          <a:xfrm>
            <a:off x="5184648" y="3867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Type mismatch comparison</a:t>
            </a:r>
            <a:endParaRPr lang="en-US" sz="1200" dirty="0"/>
          </a:p>
        </p:txBody>
      </p:sp>
      <p:sp>
        <p:nvSpPr>
          <p:cNvPr id="33" name="ltb|b6"/>
          <p:cNvSpPr/>
          <p:nvPr/>
        </p:nvSpPr>
        <p:spPr>
          <a:xfrm>
            <a:off x="6493154" y="3867912"/>
            <a:ext cx="2239366" cy="420624"/>
          </a:xfrm>
          <a:prstGeom prst="rect">
            <a:avLst/>
          </a:prstGeom>
          <a:solidFill>
            <a:srgbClr val="F1F4F8"/>
          </a:solidFill>
          <a:ln w="12700">
            <a:solidFill>
              <a:srgbClr val="F1F4F8"/>
            </a:solidFill>
            <a:prstDash val="solid"/>
          </a:ln>
        </p:spPr>
      </p:sp>
      <p:sp>
        <p:nvSpPr>
          <p:cNvPr id="34" name="ltb2|b6"/>
          <p:cNvSpPr txBox="1"/>
          <p:nvPr/>
        </p:nvSpPr>
        <p:spPr>
          <a:xfrm>
            <a:off x="6557162" y="3867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toss == 'heads'</a:t>
            </a:r>
            <a:endParaRPr lang="en-US" sz="1100" dirty="0"/>
          </a:p>
        </p:txBody>
      </p:sp>
      <p:sp>
        <p:nvSpPr>
          <p:cNvPr id="3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3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Off-by-one range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chapter's factorial multiplies by zero because its range starts at 0; the log shows i as 0 and total as 0 on the first pass, and range(1, n + 1) fixes it.</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off-by-one error is a loop that runs one step too many, one too few, or from the wrong first number. The chapter's example is the factorial function, which contains the line for i in range(n + 1). The built-in type range is documented with the form range(start, stop), and the documentation says that if the start argument is omitted, it defaults to 0, and that the contents are the numbers from start up to but not including stop (Python Software Foundation, 2026). So range(n + 1) gives the numbers from 0 to n, and the factorial needs the numbers from 1 to n.</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repair changes the first number of the range.</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Counting errors hide in the edges. An off-by-one error can show itself only for the first or the last item, so tests should use the smallest case, the case with one item, and the case with none.</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list(range(5 + 1))</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[0, 1, 2, 3, 4, 5]</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log in the chapter shows the evidence. The debug messages say i is 0, total is 0 on the first pass, and then total stays 0 on every pass because zero times anything is zero (Sweigart, 2025). In the executed program, factorial(5) with range(n + 1) prints 0, and with range(1, n + 1) it prints 120.</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range(n + 1) in factorial</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Off-by-one range: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600" dirty="0">
                <a:solidFill>
                  <a:srgbClr val="E6EDF3"/>
                </a:solidFill>
                <a:latin typeface="Courier New" pitchFamily="34" charset="0"/>
                <a:ea typeface="Courier New" pitchFamily="34" charset="-122"/>
                <a:cs typeface="Courier New" pitchFamily="34" charset="-120"/>
              </a:rPr>
              <a:t>import logging, sys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def factorial(n):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logging.debug('Start of factorial(%s)', 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total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for i in range(n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total *= i</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logging.debug('i is %s, total is %s', i, total)</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logging.debug('End of factorial(%s)', 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return total</a:t>
            </a:r>
            <a:endParaRPr lang="en-US" sz="600" dirty="0"/>
          </a:p>
          <a:p>
            <a:pPr indent="0" marL="0">
              <a:buNone/>
            </a:pP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print(factorial(3))</a:t>
            </a:r>
            <a:endParaRPr lang="en-US" sz="6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factorial_bug_v1_0_0.py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Start of factorial(3)</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i is 0, total is 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End of factorial(3)</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repair changes the first number of the range.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Off-by-one range: drawn from a real run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chapter's factorial multiplies by zero because its range starts at 0; the log shows i as 0 and total as 0 on the first pass, and range(1, n + 1) fixes it.</a:t>
            </a:r>
            <a:endParaRPr lang="en-US" sz="1300" dirty="0"/>
          </a:p>
        </p:txBody>
      </p:sp>
      <p:sp>
        <p:nvSpPr>
          <p:cNvPr id="6" name="tth"/>
          <p:cNvSpPr/>
          <p:nvPr/>
        </p:nvSpPr>
        <p:spPr>
          <a:xfrm>
            <a:off x="411480" y="1225296"/>
            <a:ext cx="512064" cy="292608"/>
          </a:xfrm>
          <a:prstGeom prst="rect">
            <a:avLst/>
          </a:prstGeom>
          <a:solidFill>
            <a:srgbClr val="1E2A3A"/>
          </a:solidFill>
          <a:ln w="12700">
            <a:solidFill>
              <a:srgbClr val="1E2A3A"/>
            </a:solidFill>
            <a:prstDash val="solid"/>
          </a:ln>
        </p:spPr>
      </p:sp>
      <p:sp>
        <p:nvSpPr>
          <p:cNvPr id="7" name="ttht"/>
          <p:cNvSpPr txBox="1"/>
          <p:nvPr/>
        </p:nvSpPr>
        <p:spPr>
          <a:xfrm>
            <a:off x="466344" y="1225296"/>
            <a:ext cx="402336"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Pass</a:t>
            </a:r>
            <a:endParaRPr lang="en-US" sz="1100" dirty="0"/>
          </a:p>
        </p:txBody>
      </p:sp>
      <p:sp>
        <p:nvSpPr>
          <p:cNvPr id="8" name="tth"/>
          <p:cNvSpPr/>
          <p:nvPr/>
        </p:nvSpPr>
        <p:spPr>
          <a:xfrm>
            <a:off x="960120" y="1225296"/>
            <a:ext cx="969264" cy="292608"/>
          </a:xfrm>
          <a:prstGeom prst="rect">
            <a:avLst/>
          </a:prstGeom>
          <a:solidFill>
            <a:srgbClr val="1E2A3A"/>
          </a:solidFill>
          <a:ln w="12700">
            <a:solidFill>
              <a:srgbClr val="1E2A3A"/>
            </a:solidFill>
            <a:prstDash val="solid"/>
          </a:ln>
        </p:spPr>
      </p:sp>
      <p:sp>
        <p:nvSpPr>
          <p:cNvPr id="9" name="ttht"/>
          <p:cNvSpPr txBox="1"/>
          <p:nvPr/>
        </p:nvSpPr>
        <p:spPr>
          <a:xfrm>
            <a:off x="1014984" y="1225296"/>
            <a:ext cx="859536" cy="292608"/>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i</a:t>
            </a:r>
            <a:endParaRPr lang="en-US" sz="1100" dirty="0"/>
          </a:p>
        </p:txBody>
      </p:sp>
      <p:sp>
        <p:nvSpPr>
          <p:cNvPr id="10" name="tth"/>
          <p:cNvSpPr/>
          <p:nvPr/>
        </p:nvSpPr>
        <p:spPr>
          <a:xfrm>
            <a:off x="1965960" y="1225296"/>
            <a:ext cx="969264" cy="292608"/>
          </a:xfrm>
          <a:prstGeom prst="rect">
            <a:avLst/>
          </a:prstGeom>
          <a:solidFill>
            <a:srgbClr val="1E2A3A"/>
          </a:solidFill>
          <a:ln w="12700">
            <a:solidFill>
              <a:srgbClr val="1E2A3A"/>
            </a:solidFill>
            <a:prstDash val="solid"/>
          </a:ln>
        </p:spPr>
      </p:sp>
      <p:sp>
        <p:nvSpPr>
          <p:cNvPr id="11" name="ttht"/>
          <p:cNvSpPr txBox="1"/>
          <p:nvPr/>
        </p:nvSpPr>
        <p:spPr>
          <a:xfrm>
            <a:off x="2020824" y="1225296"/>
            <a:ext cx="859536" cy="292608"/>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total</a:t>
            </a:r>
            <a:endParaRPr lang="en-US" sz="1100" dirty="0"/>
          </a:p>
        </p:txBody>
      </p:sp>
      <p:sp>
        <p:nvSpPr>
          <p:cNvPr id="12" name="tth"/>
          <p:cNvSpPr/>
          <p:nvPr/>
        </p:nvSpPr>
        <p:spPr>
          <a:xfrm>
            <a:off x="2971800" y="1225296"/>
            <a:ext cx="2843784" cy="292608"/>
          </a:xfrm>
          <a:prstGeom prst="rect">
            <a:avLst/>
          </a:prstGeom>
          <a:solidFill>
            <a:srgbClr val="1E2A3A"/>
          </a:solidFill>
          <a:ln w="12700">
            <a:solidFill>
              <a:srgbClr val="1E2A3A"/>
            </a:solidFill>
            <a:prstDash val="solid"/>
          </a:ln>
        </p:spPr>
      </p:sp>
      <p:sp>
        <p:nvSpPr>
          <p:cNvPr id="13" name="ttht"/>
          <p:cNvSpPr txBox="1"/>
          <p:nvPr/>
        </p:nvSpPr>
        <p:spPr>
          <a:xfrm>
            <a:off x="3026664" y="1225296"/>
            <a:ext cx="2734056"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p>
        </p:txBody>
      </p:sp>
      <p:sp>
        <p:nvSpPr>
          <p:cNvPr id="14" name="tth"/>
          <p:cNvSpPr/>
          <p:nvPr/>
        </p:nvSpPr>
        <p:spPr>
          <a:xfrm>
            <a:off x="5852160" y="1225296"/>
            <a:ext cx="2843784" cy="292608"/>
          </a:xfrm>
          <a:prstGeom prst="rect">
            <a:avLst/>
          </a:prstGeom>
          <a:solidFill>
            <a:srgbClr val="1E2A3A"/>
          </a:solidFill>
          <a:ln w="12700">
            <a:solidFill>
              <a:srgbClr val="1E2A3A"/>
            </a:solidFill>
            <a:prstDash val="solid"/>
          </a:ln>
        </p:spPr>
      </p:sp>
      <p:sp>
        <p:nvSpPr>
          <p:cNvPr id="15" name="ttht"/>
          <p:cNvSpPr txBox="1"/>
          <p:nvPr/>
        </p:nvSpPr>
        <p:spPr>
          <a:xfrm>
            <a:off x="5907024" y="1225296"/>
            <a:ext cx="2734056"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Printed</a:t>
            </a:r>
            <a:endParaRPr lang="en-US" sz="1100" dirty="0"/>
          </a:p>
        </p:txBody>
      </p:sp>
      <p:sp>
        <p:nvSpPr>
          <p:cNvPr id="16" name="ttb|b1"/>
          <p:cNvSpPr/>
          <p:nvPr/>
        </p:nvSpPr>
        <p:spPr>
          <a:xfrm>
            <a:off x="411480" y="1554480"/>
            <a:ext cx="512064" cy="466344"/>
          </a:xfrm>
          <a:prstGeom prst="rect">
            <a:avLst/>
          </a:prstGeom>
          <a:solidFill>
            <a:srgbClr val="F1F4F8"/>
          </a:solidFill>
          <a:ln w="12700">
            <a:solidFill>
              <a:srgbClr val="F1F4F8"/>
            </a:solidFill>
            <a:prstDash val="solid"/>
          </a:ln>
        </p:spPr>
      </p:sp>
      <p:sp>
        <p:nvSpPr>
          <p:cNvPr id="17" name="v:OffByOneRange:0:0:n|b1"/>
          <p:cNvSpPr txBox="1"/>
          <p:nvPr/>
        </p:nvSpPr>
        <p:spPr>
          <a:xfrm>
            <a:off x="466344" y="1554480"/>
            <a:ext cx="402336" cy="466344"/>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ttb|b1"/>
          <p:cNvSpPr/>
          <p:nvPr/>
        </p:nvSpPr>
        <p:spPr>
          <a:xfrm>
            <a:off x="960120" y="1554480"/>
            <a:ext cx="969264" cy="466344"/>
          </a:xfrm>
          <a:prstGeom prst="rect">
            <a:avLst/>
          </a:prstGeom>
          <a:solidFill>
            <a:srgbClr val="F1F4F8"/>
          </a:solidFill>
          <a:ln w="12700">
            <a:solidFill>
              <a:srgbClr val="F1F4F8"/>
            </a:solidFill>
            <a:prstDash val="solid"/>
          </a:ln>
        </p:spPr>
      </p:sp>
      <p:sp>
        <p:nvSpPr>
          <p:cNvPr id="19" name="v:OffByOneRange:0:0:v0|b1"/>
          <p:cNvSpPr txBox="1"/>
          <p:nvPr/>
        </p:nvSpPr>
        <p:spPr>
          <a:xfrm>
            <a:off x="1014984" y="1554480"/>
            <a:ext cx="85953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0" name="ttb|b1"/>
          <p:cNvSpPr/>
          <p:nvPr/>
        </p:nvSpPr>
        <p:spPr>
          <a:xfrm>
            <a:off x="1965960" y="1554480"/>
            <a:ext cx="969264" cy="466344"/>
          </a:xfrm>
          <a:prstGeom prst="rect">
            <a:avLst/>
          </a:prstGeom>
          <a:solidFill>
            <a:srgbClr val="F1F4F8"/>
          </a:solidFill>
          <a:ln w="12700">
            <a:solidFill>
              <a:srgbClr val="F1F4F8"/>
            </a:solidFill>
            <a:prstDash val="solid"/>
          </a:ln>
        </p:spPr>
      </p:sp>
      <p:sp>
        <p:nvSpPr>
          <p:cNvPr id="21" name="v:OffByOneRange:0:0:v1|b1"/>
          <p:cNvSpPr txBox="1"/>
          <p:nvPr/>
        </p:nvSpPr>
        <p:spPr>
          <a:xfrm>
            <a:off x="2020824" y="1554480"/>
            <a:ext cx="85953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2" name="ttb|b1"/>
          <p:cNvSpPr/>
          <p:nvPr/>
        </p:nvSpPr>
        <p:spPr>
          <a:xfrm>
            <a:off x="2971800" y="1554480"/>
            <a:ext cx="2843784" cy="466344"/>
          </a:xfrm>
          <a:prstGeom prst="rect">
            <a:avLst/>
          </a:prstGeom>
          <a:solidFill>
            <a:srgbClr val="DDF3E6"/>
          </a:solidFill>
          <a:ln w="12700">
            <a:solidFill>
              <a:srgbClr val="DDF3E6"/>
            </a:solidFill>
            <a:prstDash val="solid"/>
          </a:ln>
        </p:spPr>
      </p:sp>
      <p:sp>
        <p:nvSpPr>
          <p:cNvPr id="23" name="v:OffByOneRange:0:0:ev|b1"/>
          <p:cNvSpPr txBox="1"/>
          <p:nvPr/>
        </p:nvSpPr>
        <p:spPr>
          <a:xfrm>
            <a:off x="3026664" y="1554480"/>
            <a:ext cx="2734056" cy="466344"/>
          </a:xfrm>
          <a:prstGeom prst="rect">
            <a:avLst/>
          </a:prstGeom>
          <a:noFill/>
          <a:ln/>
        </p:spPr>
        <p:txBody>
          <a:bodyPr wrap="square" lIns="0" tIns="0" rIns="0" bIns="0" rtlCol="0" anchor="ctr"/>
          <a:lstStyle/>
          <a:p>
            <a:pPr indent="0" marL="0">
              <a:buNone/>
            </a:pPr>
            <a:r>
              <a:rPr lang="en-US" sz="1100" b="1" dirty="0">
                <a:solidFill>
                  <a:srgbClr val="2E9E5B"/>
                </a:solidFill>
                <a:latin typeface="Calibri" pitchFamily="34" charset="0"/>
                <a:ea typeface="Calibri" pitchFamily="34" charset="-122"/>
                <a:cs typeface="Calibri" pitchFamily="34" charset="-120"/>
              </a:rPr>
              <a:t>block ran</a:t>
            </a:r>
            <a:endParaRPr lang="en-US" sz="1100" dirty="0"/>
          </a:p>
        </p:txBody>
      </p:sp>
      <p:sp>
        <p:nvSpPr>
          <p:cNvPr id="24" name="ttb|b1"/>
          <p:cNvSpPr/>
          <p:nvPr/>
        </p:nvSpPr>
        <p:spPr>
          <a:xfrm>
            <a:off x="5852160" y="1554480"/>
            <a:ext cx="2843784" cy="466344"/>
          </a:xfrm>
          <a:prstGeom prst="rect">
            <a:avLst/>
          </a:prstGeom>
          <a:solidFill>
            <a:srgbClr val="F1F4F8"/>
          </a:solidFill>
          <a:ln w="12700">
            <a:solidFill>
              <a:srgbClr val="F1F4F8"/>
            </a:solidFill>
            <a:prstDash val="solid"/>
          </a:ln>
        </p:spPr>
      </p:sp>
      <p:sp>
        <p:nvSpPr>
          <p:cNvPr id="25" name="v:OffByOneRange:0:0:out|b1"/>
          <p:cNvSpPr txBox="1"/>
          <p:nvPr/>
        </p:nvSpPr>
        <p:spPr>
          <a:xfrm>
            <a:off x="5907024" y="1554480"/>
            <a:ext cx="273405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0, total is 0</a:t>
            </a:r>
            <a:endParaRPr lang="en-US" sz="1100" dirty="0"/>
          </a:p>
        </p:txBody>
      </p:sp>
      <p:sp>
        <p:nvSpPr>
          <p:cNvPr id="26" name="ttb|b2"/>
          <p:cNvSpPr/>
          <p:nvPr/>
        </p:nvSpPr>
        <p:spPr>
          <a:xfrm>
            <a:off x="411480" y="2066544"/>
            <a:ext cx="512064" cy="466344"/>
          </a:xfrm>
          <a:prstGeom prst="rect">
            <a:avLst/>
          </a:prstGeom>
          <a:solidFill>
            <a:srgbClr val="F1F4F8"/>
          </a:solidFill>
          <a:ln w="12700">
            <a:solidFill>
              <a:srgbClr val="F1F4F8"/>
            </a:solidFill>
            <a:prstDash val="solid"/>
          </a:ln>
        </p:spPr>
      </p:sp>
      <p:sp>
        <p:nvSpPr>
          <p:cNvPr id="27" name="v:OffByOneRange:0:1:n|b2"/>
          <p:cNvSpPr txBox="1"/>
          <p:nvPr/>
        </p:nvSpPr>
        <p:spPr>
          <a:xfrm>
            <a:off x="466344" y="2066544"/>
            <a:ext cx="402336" cy="466344"/>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ttb|b2"/>
          <p:cNvSpPr/>
          <p:nvPr/>
        </p:nvSpPr>
        <p:spPr>
          <a:xfrm>
            <a:off x="960120" y="2066544"/>
            <a:ext cx="969264" cy="466344"/>
          </a:xfrm>
          <a:prstGeom prst="rect">
            <a:avLst/>
          </a:prstGeom>
          <a:solidFill>
            <a:srgbClr val="F1F4F8"/>
          </a:solidFill>
          <a:ln w="12700">
            <a:solidFill>
              <a:srgbClr val="F1F4F8"/>
            </a:solidFill>
            <a:prstDash val="solid"/>
          </a:ln>
        </p:spPr>
      </p:sp>
      <p:sp>
        <p:nvSpPr>
          <p:cNvPr id="29" name="v:OffByOneRange:0:1:v0|b2"/>
          <p:cNvSpPr txBox="1"/>
          <p:nvPr/>
        </p:nvSpPr>
        <p:spPr>
          <a:xfrm>
            <a:off x="1014984" y="2066544"/>
            <a:ext cx="85953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0" name="ttb|b2"/>
          <p:cNvSpPr/>
          <p:nvPr/>
        </p:nvSpPr>
        <p:spPr>
          <a:xfrm>
            <a:off x="1965960" y="2066544"/>
            <a:ext cx="969264" cy="466344"/>
          </a:xfrm>
          <a:prstGeom prst="rect">
            <a:avLst/>
          </a:prstGeom>
          <a:solidFill>
            <a:srgbClr val="F1F4F8"/>
          </a:solidFill>
          <a:ln w="12700">
            <a:solidFill>
              <a:srgbClr val="F1F4F8"/>
            </a:solidFill>
            <a:prstDash val="solid"/>
          </a:ln>
        </p:spPr>
      </p:sp>
      <p:sp>
        <p:nvSpPr>
          <p:cNvPr id="31" name="v:OffByOneRange:0:1:v1|b2"/>
          <p:cNvSpPr txBox="1"/>
          <p:nvPr/>
        </p:nvSpPr>
        <p:spPr>
          <a:xfrm>
            <a:off x="2020824" y="2066544"/>
            <a:ext cx="85953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2" name="ttb|b2"/>
          <p:cNvSpPr/>
          <p:nvPr/>
        </p:nvSpPr>
        <p:spPr>
          <a:xfrm>
            <a:off x="2971800" y="2066544"/>
            <a:ext cx="2843784" cy="466344"/>
          </a:xfrm>
          <a:prstGeom prst="rect">
            <a:avLst/>
          </a:prstGeom>
          <a:solidFill>
            <a:srgbClr val="DDF3E6"/>
          </a:solidFill>
          <a:ln w="12700">
            <a:solidFill>
              <a:srgbClr val="DDF3E6"/>
            </a:solidFill>
            <a:prstDash val="solid"/>
          </a:ln>
        </p:spPr>
      </p:sp>
      <p:sp>
        <p:nvSpPr>
          <p:cNvPr id="33" name="v:OffByOneRange:0:1:ev|b2"/>
          <p:cNvSpPr txBox="1"/>
          <p:nvPr/>
        </p:nvSpPr>
        <p:spPr>
          <a:xfrm>
            <a:off x="3026664" y="2066544"/>
            <a:ext cx="2734056" cy="466344"/>
          </a:xfrm>
          <a:prstGeom prst="rect">
            <a:avLst/>
          </a:prstGeom>
          <a:noFill/>
          <a:ln/>
        </p:spPr>
        <p:txBody>
          <a:bodyPr wrap="square" lIns="0" tIns="0" rIns="0" bIns="0" rtlCol="0" anchor="ctr"/>
          <a:lstStyle/>
          <a:p>
            <a:pPr indent="0" marL="0">
              <a:buNone/>
            </a:pPr>
            <a:r>
              <a:rPr lang="en-US" sz="1100" b="1" dirty="0">
                <a:solidFill>
                  <a:srgbClr val="2E9E5B"/>
                </a:solidFill>
                <a:latin typeface="Calibri" pitchFamily="34" charset="0"/>
                <a:ea typeface="Calibri" pitchFamily="34" charset="-122"/>
                <a:cs typeface="Calibri" pitchFamily="34" charset="-120"/>
              </a:rPr>
              <a:t>block ran</a:t>
            </a:r>
            <a:endParaRPr lang="en-US" sz="1100" dirty="0"/>
          </a:p>
        </p:txBody>
      </p:sp>
      <p:sp>
        <p:nvSpPr>
          <p:cNvPr id="34" name="ttb|b2"/>
          <p:cNvSpPr/>
          <p:nvPr/>
        </p:nvSpPr>
        <p:spPr>
          <a:xfrm>
            <a:off x="5852160" y="2066544"/>
            <a:ext cx="2843784" cy="466344"/>
          </a:xfrm>
          <a:prstGeom prst="rect">
            <a:avLst/>
          </a:prstGeom>
          <a:solidFill>
            <a:srgbClr val="F1F4F8"/>
          </a:solidFill>
          <a:ln w="12700">
            <a:solidFill>
              <a:srgbClr val="F1F4F8"/>
            </a:solidFill>
            <a:prstDash val="solid"/>
          </a:ln>
        </p:spPr>
      </p:sp>
      <p:sp>
        <p:nvSpPr>
          <p:cNvPr id="35" name="v:OffByOneRange:0:1:out|b2"/>
          <p:cNvSpPr txBox="1"/>
          <p:nvPr/>
        </p:nvSpPr>
        <p:spPr>
          <a:xfrm>
            <a:off x="5907024" y="2066544"/>
            <a:ext cx="273405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0</a:t>
            </a:r>
            <a:endParaRPr lang="en-US" sz="1100" dirty="0"/>
          </a:p>
        </p:txBody>
      </p:sp>
      <p:sp>
        <p:nvSpPr>
          <p:cNvPr id="36" name="ttb|b3"/>
          <p:cNvSpPr/>
          <p:nvPr/>
        </p:nvSpPr>
        <p:spPr>
          <a:xfrm>
            <a:off x="411480" y="2578608"/>
            <a:ext cx="512064" cy="466344"/>
          </a:xfrm>
          <a:prstGeom prst="rect">
            <a:avLst/>
          </a:prstGeom>
          <a:solidFill>
            <a:srgbClr val="F1F4F8"/>
          </a:solidFill>
          <a:ln w="12700">
            <a:solidFill>
              <a:srgbClr val="F1F4F8"/>
            </a:solidFill>
            <a:prstDash val="solid"/>
          </a:ln>
        </p:spPr>
      </p:sp>
      <p:sp>
        <p:nvSpPr>
          <p:cNvPr id="37" name="v:OffByOneRange:0:2:n|b3"/>
          <p:cNvSpPr txBox="1"/>
          <p:nvPr/>
        </p:nvSpPr>
        <p:spPr>
          <a:xfrm>
            <a:off x="466344" y="2578608"/>
            <a:ext cx="402336" cy="466344"/>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ttb|b3"/>
          <p:cNvSpPr/>
          <p:nvPr/>
        </p:nvSpPr>
        <p:spPr>
          <a:xfrm>
            <a:off x="960120" y="2578608"/>
            <a:ext cx="969264" cy="466344"/>
          </a:xfrm>
          <a:prstGeom prst="rect">
            <a:avLst/>
          </a:prstGeom>
          <a:solidFill>
            <a:srgbClr val="F1F4F8"/>
          </a:solidFill>
          <a:ln w="12700">
            <a:solidFill>
              <a:srgbClr val="F1F4F8"/>
            </a:solidFill>
            <a:prstDash val="solid"/>
          </a:ln>
        </p:spPr>
      </p:sp>
      <p:sp>
        <p:nvSpPr>
          <p:cNvPr id="39" name="v:OffByOneRange:0:2:v0|b3"/>
          <p:cNvSpPr txBox="1"/>
          <p:nvPr/>
        </p:nvSpPr>
        <p:spPr>
          <a:xfrm>
            <a:off x="1014984" y="2578608"/>
            <a:ext cx="85953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0" name="ttb|b3"/>
          <p:cNvSpPr/>
          <p:nvPr/>
        </p:nvSpPr>
        <p:spPr>
          <a:xfrm>
            <a:off x="1965960" y="2578608"/>
            <a:ext cx="969264" cy="466344"/>
          </a:xfrm>
          <a:prstGeom prst="rect">
            <a:avLst/>
          </a:prstGeom>
          <a:solidFill>
            <a:srgbClr val="F1F4F8"/>
          </a:solidFill>
          <a:ln w="12700">
            <a:solidFill>
              <a:srgbClr val="F1F4F8"/>
            </a:solidFill>
            <a:prstDash val="solid"/>
          </a:ln>
        </p:spPr>
      </p:sp>
      <p:sp>
        <p:nvSpPr>
          <p:cNvPr id="41" name="v:OffByOneRange:0:2:v1|b3"/>
          <p:cNvSpPr txBox="1"/>
          <p:nvPr/>
        </p:nvSpPr>
        <p:spPr>
          <a:xfrm>
            <a:off x="2020824" y="2578608"/>
            <a:ext cx="85953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42" name="ttb|b3"/>
          <p:cNvSpPr/>
          <p:nvPr/>
        </p:nvSpPr>
        <p:spPr>
          <a:xfrm>
            <a:off x="2971800" y="2578608"/>
            <a:ext cx="2843784" cy="466344"/>
          </a:xfrm>
          <a:prstGeom prst="rect">
            <a:avLst/>
          </a:prstGeom>
          <a:solidFill>
            <a:srgbClr val="DDF3E6"/>
          </a:solidFill>
          <a:ln w="12700">
            <a:solidFill>
              <a:srgbClr val="DDF3E6"/>
            </a:solidFill>
            <a:prstDash val="solid"/>
          </a:ln>
        </p:spPr>
      </p:sp>
      <p:sp>
        <p:nvSpPr>
          <p:cNvPr id="43" name="v:OffByOneRange:0:2:ev|b3"/>
          <p:cNvSpPr txBox="1"/>
          <p:nvPr/>
        </p:nvSpPr>
        <p:spPr>
          <a:xfrm>
            <a:off x="3026664" y="2578608"/>
            <a:ext cx="2734056" cy="466344"/>
          </a:xfrm>
          <a:prstGeom prst="rect">
            <a:avLst/>
          </a:prstGeom>
          <a:noFill/>
          <a:ln/>
        </p:spPr>
        <p:txBody>
          <a:bodyPr wrap="square" lIns="0" tIns="0" rIns="0" bIns="0" rtlCol="0" anchor="ctr"/>
          <a:lstStyle/>
          <a:p>
            <a:pPr indent="0" marL="0">
              <a:buNone/>
            </a:pPr>
            <a:r>
              <a:rPr lang="en-US" sz="1100" b="1" dirty="0">
                <a:solidFill>
                  <a:srgbClr val="2E9E5B"/>
                </a:solidFill>
                <a:latin typeface="Calibri" pitchFamily="34" charset="0"/>
                <a:ea typeface="Calibri" pitchFamily="34" charset="-122"/>
                <a:cs typeface="Calibri" pitchFamily="34" charset="-120"/>
              </a:rPr>
              <a:t>block ran</a:t>
            </a:r>
            <a:endParaRPr lang="en-US" sz="1100" dirty="0"/>
          </a:p>
        </p:txBody>
      </p:sp>
      <p:sp>
        <p:nvSpPr>
          <p:cNvPr id="44" name="ttb|b3"/>
          <p:cNvSpPr/>
          <p:nvPr/>
        </p:nvSpPr>
        <p:spPr>
          <a:xfrm>
            <a:off x="5852160" y="2578608"/>
            <a:ext cx="2843784" cy="466344"/>
          </a:xfrm>
          <a:prstGeom prst="rect">
            <a:avLst/>
          </a:prstGeom>
          <a:solidFill>
            <a:srgbClr val="F1F4F8"/>
          </a:solidFill>
          <a:ln w="12700">
            <a:solidFill>
              <a:srgbClr val="F1F4F8"/>
            </a:solidFill>
            <a:prstDash val="solid"/>
          </a:ln>
        </p:spPr>
      </p:sp>
      <p:sp>
        <p:nvSpPr>
          <p:cNvPr id="45" name="v:OffByOneRange:0:2:out|b3"/>
          <p:cNvSpPr txBox="1"/>
          <p:nvPr/>
        </p:nvSpPr>
        <p:spPr>
          <a:xfrm>
            <a:off x="5907024" y="2578608"/>
            <a:ext cx="273405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0</a:t>
            </a:r>
            <a:endParaRPr lang="en-US" sz="1100" dirty="0"/>
          </a:p>
        </p:txBody>
      </p:sp>
      <p:sp>
        <p:nvSpPr>
          <p:cNvPr id="46" name="ttb|b4"/>
          <p:cNvSpPr/>
          <p:nvPr/>
        </p:nvSpPr>
        <p:spPr>
          <a:xfrm>
            <a:off x="411480" y="3090672"/>
            <a:ext cx="512064" cy="466344"/>
          </a:xfrm>
          <a:prstGeom prst="rect">
            <a:avLst/>
          </a:prstGeom>
          <a:solidFill>
            <a:srgbClr val="F1F4F8"/>
          </a:solidFill>
          <a:ln w="12700">
            <a:solidFill>
              <a:srgbClr val="F1F4F8"/>
            </a:solidFill>
            <a:prstDash val="solid"/>
          </a:ln>
        </p:spPr>
      </p:sp>
      <p:sp>
        <p:nvSpPr>
          <p:cNvPr id="47" name="v:OffByOneRange:0:3:n|b4"/>
          <p:cNvSpPr txBox="1"/>
          <p:nvPr/>
        </p:nvSpPr>
        <p:spPr>
          <a:xfrm>
            <a:off x="466344" y="3090672"/>
            <a:ext cx="402336" cy="466344"/>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a:t>
            </a:r>
            <a:endParaRPr lang="en-US" sz="1100" dirty="0"/>
          </a:p>
        </p:txBody>
      </p:sp>
      <p:sp>
        <p:nvSpPr>
          <p:cNvPr id="48" name="ttb|b4"/>
          <p:cNvSpPr/>
          <p:nvPr/>
        </p:nvSpPr>
        <p:spPr>
          <a:xfrm>
            <a:off x="960120" y="3090672"/>
            <a:ext cx="969264" cy="466344"/>
          </a:xfrm>
          <a:prstGeom prst="rect">
            <a:avLst/>
          </a:prstGeom>
          <a:solidFill>
            <a:srgbClr val="F1F4F8"/>
          </a:solidFill>
          <a:ln w="12700">
            <a:solidFill>
              <a:srgbClr val="F1F4F8"/>
            </a:solidFill>
            <a:prstDash val="solid"/>
          </a:ln>
        </p:spPr>
      </p:sp>
      <p:sp>
        <p:nvSpPr>
          <p:cNvPr id="49" name="v:OffByOneRange:0:3:v0|b4"/>
          <p:cNvSpPr txBox="1"/>
          <p:nvPr/>
        </p:nvSpPr>
        <p:spPr>
          <a:xfrm>
            <a:off x="1014984" y="3090672"/>
            <a:ext cx="85953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50" name="ttb|b4"/>
          <p:cNvSpPr/>
          <p:nvPr/>
        </p:nvSpPr>
        <p:spPr>
          <a:xfrm>
            <a:off x="1965960" y="3090672"/>
            <a:ext cx="969264" cy="466344"/>
          </a:xfrm>
          <a:prstGeom prst="rect">
            <a:avLst/>
          </a:prstGeom>
          <a:solidFill>
            <a:srgbClr val="F1F4F8"/>
          </a:solidFill>
          <a:ln w="12700">
            <a:solidFill>
              <a:srgbClr val="F1F4F8"/>
            </a:solidFill>
            <a:prstDash val="solid"/>
          </a:ln>
        </p:spPr>
      </p:sp>
      <p:sp>
        <p:nvSpPr>
          <p:cNvPr id="51" name="v:OffByOneRange:0:3:v1|b4"/>
          <p:cNvSpPr txBox="1"/>
          <p:nvPr/>
        </p:nvSpPr>
        <p:spPr>
          <a:xfrm>
            <a:off x="2020824" y="3090672"/>
            <a:ext cx="85953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52" name="ttb|b4"/>
          <p:cNvSpPr/>
          <p:nvPr/>
        </p:nvSpPr>
        <p:spPr>
          <a:xfrm>
            <a:off x="2971800" y="3090672"/>
            <a:ext cx="2843784" cy="466344"/>
          </a:xfrm>
          <a:prstGeom prst="rect">
            <a:avLst/>
          </a:prstGeom>
          <a:solidFill>
            <a:srgbClr val="DDF3E6"/>
          </a:solidFill>
          <a:ln w="12700">
            <a:solidFill>
              <a:srgbClr val="DDF3E6"/>
            </a:solidFill>
            <a:prstDash val="solid"/>
          </a:ln>
        </p:spPr>
      </p:sp>
      <p:sp>
        <p:nvSpPr>
          <p:cNvPr id="53" name="v:OffByOneRange:0:3:ev|b4"/>
          <p:cNvSpPr txBox="1"/>
          <p:nvPr/>
        </p:nvSpPr>
        <p:spPr>
          <a:xfrm>
            <a:off x="3026664" y="3090672"/>
            <a:ext cx="2734056" cy="466344"/>
          </a:xfrm>
          <a:prstGeom prst="rect">
            <a:avLst/>
          </a:prstGeom>
          <a:noFill/>
          <a:ln/>
        </p:spPr>
        <p:txBody>
          <a:bodyPr wrap="square" lIns="0" tIns="0" rIns="0" bIns="0" rtlCol="0" anchor="ctr"/>
          <a:lstStyle/>
          <a:p>
            <a:pPr indent="0" marL="0">
              <a:buNone/>
            </a:pPr>
            <a:r>
              <a:rPr lang="en-US" sz="1100" b="1" dirty="0">
                <a:solidFill>
                  <a:srgbClr val="2E9E5B"/>
                </a:solidFill>
                <a:latin typeface="Calibri" pitchFamily="34" charset="0"/>
                <a:ea typeface="Calibri" pitchFamily="34" charset="-122"/>
                <a:cs typeface="Calibri" pitchFamily="34" charset="-120"/>
              </a:rPr>
              <a:t>block ran</a:t>
            </a:r>
            <a:endParaRPr lang="en-US" sz="1100" dirty="0"/>
          </a:p>
        </p:txBody>
      </p:sp>
      <p:sp>
        <p:nvSpPr>
          <p:cNvPr id="54" name="ttb|b4"/>
          <p:cNvSpPr/>
          <p:nvPr/>
        </p:nvSpPr>
        <p:spPr>
          <a:xfrm>
            <a:off x="5852160" y="3090672"/>
            <a:ext cx="2843784" cy="466344"/>
          </a:xfrm>
          <a:prstGeom prst="rect">
            <a:avLst/>
          </a:prstGeom>
          <a:solidFill>
            <a:srgbClr val="F1F4F8"/>
          </a:solidFill>
          <a:ln w="12700">
            <a:solidFill>
              <a:srgbClr val="F1F4F8"/>
            </a:solidFill>
            <a:prstDash val="solid"/>
          </a:ln>
        </p:spPr>
      </p:sp>
      <p:sp>
        <p:nvSpPr>
          <p:cNvPr id="55" name="v:OffByOneRange:0:3:out|b4"/>
          <p:cNvSpPr txBox="1"/>
          <p:nvPr/>
        </p:nvSpPr>
        <p:spPr>
          <a:xfrm>
            <a:off x="5907024" y="3090672"/>
            <a:ext cx="2734056" cy="4663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0 / DEBUG - End of factorial(3) / 0</a:t>
            </a:r>
            <a:endParaRPr lang="en-US" sz="1100" dirty="0"/>
          </a:p>
        </p:txBody>
      </p:sp>
      <p:sp>
        <p:nvSpPr>
          <p:cNvPr id="56" name="band|b8"/>
          <p:cNvSpPr/>
          <p:nvPr/>
        </p:nvSpPr>
        <p:spPr>
          <a:xfrm>
            <a:off x="411480" y="3986784"/>
            <a:ext cx="8321040" cy="585216"/>
          </a:xfrm>
          <a:prstGeom prst="roundRect">
            <a:avLst>
              <a:gd name="adj" fmla="val 15625"/>
            </a:avLst>
          </a:prstGeom>
          <a:solidFill>
            <a:srgbClr val="FCEFD0"/>
          </a:solidFill>
          <a:ln w="25400">
            <a:solidFill>
              <a:srgbClr val="B7791F"/>
            </a:solidFill>
            <a:prstDash val="solid"/>
          </a:ln>
        </p:spPr>
      </p:sp>
      <p:sp>
        <p:nvSpPr>
          <p:cNvPr id="57" name="bandt|b8"/>
          <p:cNvSpPr txBox="1"/>
          <p:nvPr/>
        </p:nvSpPr>
        <p:spPr>
          <a:xfrm>
            <a:off x="576072" y="4041648"/>
            <a:ext cx="7991856" cy="475488"/>
          </a:xfrm>
          <a:prstGeom prst="rect">
            <a:avLst/>
          </a:prstGeom>
          <a:noFill/>
          <a:ln/>
        </p:spPr>
        <p:txBody>
          <a:bodyPr wrap="square" lIns="0" tIns="0" rIns="0" bIns="0" rtlCol="0" anchor="t"/>
          <a:lstStyle/>
          <a:p>
            <a:pPr indent="0" marL="0">
              <a:buNone/>
            </a:pPr>
            <a:r>
              <a:rPr lang="en-US" sz="1350" b="1" dirty="0">
                <a:solidFill>
                  <a:srgbClr val="B7791F"/>
                </a:solidFill>
                <a:latin typeface="Cambria" pitchFamily="34" charset="0"/>
                <a:ea typeface="Cambria" pitchFamily="34" charset="-122"/>
                <a:cs typeface="Cambria" pitchFamily="34" charset="-120"/>
              </a:rPr>
              <a:t>What the trace shows  </a:t>
            </a:r>
            <a:r>
              <a:rPr lang="en-US" sz="1350" dirty="0">
                <a:solidFill>
                  <a:srgbClr val="1F2933"/>
                </a:solidFill>
                <a:latin typeface="Calibri" pitchFamily="34" charset="0"/>
                <a:ea typeface="Calibri" pitchFamily="34" charset="-122"/>
                <a:cs typeface="Calibri" pitchFamily="34" charset="-120"/>
              </a:rPr>
              <a:t>Each row is one pass of the loop, with i and total after total *= i has run. The first pass multiplies by 0, and total stays 0 from then on.</a:t>
            </a:r>
            <a:endParaRPr lang="en-US" sz="1300" dirty="0"/>
          </a:p>
        </p:txBody>
      </p:sp>
      <p:sp>
        <p:nvSpPr>
          <p:cNvPr id="58"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59"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par>
                    <p:cTn id="137" fill="hold">
                      <p:stCondLst>
                        <p:cond delay="indefinite"/>
                      </p:stCondLst>
                      <p:childTnLst>
                        <p:par>
                          <p:cTn id="138"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fade">
                                      <p:cBhvr>
                                        <p:cTn id="133" dur="400"/>
                                        <p:tgtEl>
                                          <p:spTgt spid="56"/>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57"/>
                                        </p:tgtEl>
                                        <p:attrNameLst>
                                          <p:attrName>style.visibility</p:attrName>
                                        </p:attrNameLst>
                                      </p:cBhvr>
                                      <p:to>
                                        <p:strVal val="visible"/>
                                      </p:to>
                                    </p:set>
                                    <p:animEffect transition="in" filter="fade">
                                      <p:cBhvr>
                                        <p:cTn id="136"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P spid="57"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Accumulator starting value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value that an accumulator holds before its loop must suit the operation: 1 for a product, 0 for a sum; a wrong start gives a wrong result without any error.</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starting value of an accumulator is the value it holds before the loop begins. An accumulator, as Chapter 3 introduced it, is a variable that collects a result over the passes of a loop: it is given a starting value, and each pass updates it with the item of that pass. The chapter's factorial contains one: total = 1 before the loop and total *= i inside it (Sweigart, 2025). The line total *= i is an augmented assignment, which the language reference describes as evaluating the target and the expression, performing the operation on the two operands, and assigning the result to the original target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update line works in the same way on every pass: it takes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When a total comes out wrong, there are two suspects, the loop and the starting value, and both must be checked before anything is changed. Another trap is to initialise the accumulator inside the loop, which resets it on every pass and leaves only the last item.</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sum(range(1, 5 + 1))</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15</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Accumulators appear in nearly every program that totals, counts or builds a result.</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total = 1 before the loop</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Accumulator starting value: the program, and what it really prints</a:t>
            </a:r>
            <a:endParaRPr lang="en-US" sz="16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600" dirty="0">
                <a:solidFill>
                  <a:srgbClr val="E6EDF3"/>
                </a:solidFill>
                <a:latin typeface="Courier New" pitchFamily="34" charset="0"/>
                <a:ea typeface="Courier New" pitchFamily="34" charset="-122"/>
                <a:cs typeface="Courier New" pitchFamily="34" charset="-120"/>
              </a:rPr>
              <a:t>import logging, sys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def factorial(n):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logging.debug('Start of factorial(%s)', 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total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for i in range(1, n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total *= i</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logging.debug('i is %s, total is %s', i, total)</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logging.debug('End of factorial(%s)', 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return total</a:t>
            </a:r>
            <a:endParaRPr lang="en-US" sz="600" dirty="0"/>
          </a:p>
          <a:p>
            <a:pPr indent="0" marL="0">
              <a:buNone/>
            </a:pP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print(factorial(3))</a:t>
            </a:r>
            <a:endParaRPr lang="en-US" sz="6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factorial_fixed_v1_0_0.py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Start of factorial(3)</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1</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2</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6</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DEBUG - End of factorial(3)</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6</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update line works in the same way on every pass: it takes the current value, combines it with the item, and stores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String concatenation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input and a list of typed answers give strings, and adding strings joins them, so the sum prints as 5342 until each answer is converted with int.</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String concatenation is the joining of strings, written with the plus sign. The Python documentation lists the operation s + t as the concatenation of s and t (Python Software Foundation, 2026). When the operands are numbers the plus sign adds them, and when they are strings it joins them, so '5' + '3' is '53', and the result has no error and no warning. The chapter's adding program shows the consequence: it prints The sum is 5342 for the inputs 5, 3 and 42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cure is to convert before computing. The function int() turns a string of digits into an integer, so int(first) + int(second) + int(third) is the sum that was meant.</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Conversion has its own failure: int() applied to a string that is not made of digits raises a ValueError, so a check on the input belongs near the input call.</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'5' + '3' + '42'</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'5342'</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the executed program the three answers are read with input(), and print('The sum is ' + first + second + third) prints The sum is 5342, while converting each answer with int() gives 50. The types can be read directly: type(input()).__name__ is 'str' even when the line typed was 7.</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'5' + '3' + '42'</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1800" b="1" dirty="0">
                <a:solidFill>
                  <a:srgbClr val="1E2A3A"/>
                </a:solidFill>
                <a:latin typeface="Cambria" pitchFamily="34" charset="0"/>
                <a:ea typeface="Cambria" pitchFamily="34" charset="-122"/>
                <a:cs typeface="Cambria" pitchFamily="34" charset="-120"/>
              </a:rPr>
              <a:t>String concatenation: the program, and what it really prints</a:t>
            </a:r>
            <a:endParaRPr lang="en-US" sz="18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print('Enter the first number to add:')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first = input()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print('Enter the second number to add:')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second = input()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print('Enter the third number to add:')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third = input()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print('The sum is ' + first + second + third)</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adding_bug_v1_0_0.py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Enter the first number to add:</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5</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Enter the second number to add:</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3</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Enter the third number to add:</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42</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The sum is 5342</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3.14.4 - typed input in blue</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cure is to convert before computing.</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Random integer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random.randint(a, b) returns a random whole number N with a &lt;= N &lt;= b, both ends included.</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random integer is a whole number chosen by chance from a range. The function random.randint(a, b) returns a random integer N such that a &lt;= N &lt;= b, and the documentation adds that it is an alias, another name, for randrange(a, b+1) (Python Software Foundation, 2026), where randrange(start, stop) returns a randomly selected element from range(start, stop) (Python Software Foundation, 2026). The two ends are both possible, which is different from range, whose last number is left out. In the chapter's programs randint(0, 1) simulates a coin flip, where the book says it returns 0 half of the time and 1 the other half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function needs the first number not to be larger than the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result is a number and not a word. A program that compares it with a string, as the practice program does, will never find them equal, which is the last of the worked cases.</a:t>
            </a:r>
            <a:endParaRPr lang="en-US" sz="1300" dirty="0"/>
          </a:p>
        </p:txBody>
      </p:sp>
      <p:sp>
        <p:nvSpPr>
          <p:cNvPr id="9" name="codebox|b1"/>
          <p:cNvSpPr/>
          <p:nvPr/>
        </p:nvSpPr>
        <p:spPr>
          <a:xfrm>
            <a:off x="5897880" y="1243584"/>
            <a:ext cx="2834640" cy="1005840"/>
          </a:xfrm>
          <a:prstGeom prst="roundRect">
            <a:avLst>
              <a:gd name="adj" fmla="val 9091"/>
            </a:avLst>
          </a:prstGeom>
          <a:solidFill>
            <a:srgbClr val="17202B"/>
          </a:solidFill>
          <a:ln w="12700">
            <a:solidFill>
              <a:srgbClr val="17202B"/>
            </a:solidFill>
            <a:prstDash val="solid"/>
          </a:ln>
        </p:spPr>
      </p:sp>
      <p:sp>
        <p:nvSpPr>
          <p:cNvPr id="10" name="codecard|b1"/>
          <p:cNvSpPr txBox="1"/>
          <p:nvPr/>
        </p:nvSpPr>
        <p:spPr>
          <a:xfrm>
            <a:off x="6053328" y="1335024"/>
            <a:ext cx="2523744" cy="822960"/>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isinstance(__import__('random').randint(1, 6), int)</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True</a:t>
            </a:r>
            <a:endParaRPr lang="en-US" sz="600" dirty="0"/>
          </a:p>
        </p:txBody>
      </p:sp>
      <p:sp>
        <p:nvSpPr>
          <p:cNvPr id="11" name="codecap|b1"/>
          <p:cNvSpPr txBox="1"/>
          <p:nvPr/>
        </p:nvSpPr>
        <p:spPr>
          <a:xfrm>
            <a:off x="5897880" y="226771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coin flip in the chapter calls random.randint(0, 1) a thousand times and counts the ones as heads. The practice program calls it once, in toss = random.randint(0, 1), with the comment that 0 is tails and 1 is heads (Sweigart, 2025).</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random.randint(0, 1)</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Membership test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in and not in operators test whether a value is a member of a collection; for a string they test whether one string is a substring of another.</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membership test asks whether a value is among the members of a collection. The operators in and not in do it: the language reference says x in s evaluates to True if x is a member of s and False otherwise, and x not in s is the negation (Python Software Foundation, 2026). The chapter's practice program uses the test to repeat a question until the answer is acceptable: while guess not in ('heads', 'tails'). The collection in the parentheses is a tuple, which the tutorial describes as a number of values separated by commas, and which is immutable, that is, cannot be changed once made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two sides of the operator must fit.</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One error to watch for is forgetting the comma. With guess in ('heads') the test asks whether guess is a substring of the word heads, so the answer 'he' is accepted.</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'heads' in ('heads', 'tails')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the practice program the test works as intended. In the executed run with the inputs maybe, tails and tails, the question Guess the coin toss! Enter heads or tails: is printed twice, once for maybe, which is not a member of the tuple, and once for tails, which is.</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guess not in ('heads', 'tails')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Type mismatch comparison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number never equals a string, so comparing the integer from randint with 'heads' is always false and the game reports every guess as wrong.</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type mismatch comparison compares two values of different kinds, such as a number and a string. The documentation of the built-in types says that unless stated otherwise, objects of different types never compare equal (Python Software Foundation, 2026). So 0 == 'heads' is False and 0 != 'heads' is True, without any error, however the values are chosen. This is the bug at the centre of the chapter's practice program: toss = random.randint(0, 1) is an integer and guess is a string, and the test if toss == guess can never be true.</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repair is to compare like with like.</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correct-looking condition is not evidence. A program that prints Nope for every input should lead the programmer to print the two operands and their types, not to read the condition again.</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0 == 'heads'</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False</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comparison appears wherever data arrives in one form and is tested in another, as the number from randint and the word typed by the player do.</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toss == 'heads'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1800" b="1" dirty="0">
                <a:solidFill>
                  <a:srgbClr val="1E2A3A"/>
                </a:solidFill>
                <a:latin typeface="Cambria" pitchFamily="34" charset="0"/>
                <a:ea typeface="Cambria" pitchFamily="34" charset="-122"/>
                <a:cs typeface="Cambria" pitchFamily="34" charset="-120"/>
              </a:rPr>
              <a:t>Type mismatch comparison: the program, and what it really prints</a:t>
            </a:r>
            <a:endParaRPr lang="en-US" sz="18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random</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random.seed(7)</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guess = input('Guess the coin toss! Enter heads or tails: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toss = random.randint(0, 1)  # 0 is tails, 1 is heads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if toss == guess: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print('You got it!')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else: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print('Nope! Guess again!')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print(type(toss).__name__, type(guess).__name__)</a:t>
            </a:r>
            <a:endParaRPr lang="en-US" sz="10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cointoss_bug_v1_0_0.py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750" dirty="0">
                <a:solidFill>
                  <a:srgbClr val="1F2933"/>
                </a:solidFill>
                <a:latin typeface="Courier New" pitchFamily="34" charset="0"/>
                <a:ea typeface="Courier New" pitchFamily="34" charset="-122"/>
                <a:cs typeface="Courier New" pitchFamily="34" charset="-120"/>
              </a:rPr>
              <a:t>Guess the coin toss! Enter heads or tails: </a:t>
            </a:r>
            <a:r>
              <a:rPr lang="en-US" sz="750" b="1" dirty="0">
                <a:solidFill>
                  <a:srgbClr val="306998"/>
                </a:solidFill>
                <a:latin typeface="Courier New" pitchFamily="34" charset="0"/>
                <a:ea typeface="Courier New" pitchFamily="34" charset="-122"/>
                <a:cs typeface="Courier New" pitchFamily="34" charset="-120"/>
              </a:rPr>
              <a:t>heads</a:t>
            </a:r>
            <a:endParaRPr lang="en-US" sz="750" dirty="0"/>
          </a:p>
          <a:p>
            <a:pPr indent="0" marL="0">
              <a:buNone/>
            </a:pPr>
            <a:r>
              <a:rPr lang="en-US" sz="750" dirty="0">
                <a:solidFill>
                  <a:srgbClr val="1F2933"/>
                </a:solidFill>
                <a:latin typeface="Courier New" pitchFamily="34" charset="0"/>
                <a:ea typeface="Courier New" pitchFamily="34" charset="-122"/>
                <a:cs typeface="Courier New" pitchFamily="34" charset="-120"/>
              </a:rPr>
              <a:t>Nope! Guess again!</a:t>
            </a:r>
            <a:endParaRPr lang="en-US" sz="750" dirty="0"/>
          </a:p>
          <a:p>
            <a:pPr indent="0" marL="0">
              <a:buNone/>
            </a:pPr>
            <a:r>
              <a:rPr lang="en-US" sz="750" dirty="0">
                <a:solidFill>
                  <a:srgbClr val="1F2933"/>
                </a:solidFill>
                <a:latin typeface="Courier New" pitchFamily="34" charset="0"/>
                <a:ea typeface="Courier New" pitchFamily="34" charset="-122"/>
                <a:cs typeface="Courier New" pitchFamily="34" charset="-120"/>
              </a:rPr>
              <a:t>int str</a:t>
            </a:r>
            <a:endParaRPr lang="en-US" sz="750" dirty="0"/>
          </a:p>
          <a:p>
            <a:pPr indent="0" marL="0">
              <a:buNone/>
            </a:pPr>
            <a:r>
              <a:rPr lang="en-US" sz="750" i="1" dirty="0">
                <a:solidFill>
                  <a:srgbClr val="5B6B7B"/>
                </a:solidFill>
                <a:latin typeface="Calibri" pitchFamily="34" charset="0"/>
                <a:ea typeface="Calibri" pitchFamily="34" charset="-122"/>
                <a:cs typeface="Calibri" pitchFamily="34" charset="-120"/>
              </a:rPr>
              <a:t>- another run -</a:t>
            </a:r>
            <a:endParaRPr lang="en-US" sz="750" dirty="0"/>
          </a:p>
          <a:p>
            <a:pPr indent="0" marL="0">
              <a:buNone/>
            </a:pPr>
            <a:r>
              <a:rPr lang="en-US" sz="750" dirty="0">
                <a:solidFill>
                  <a:srgbClr val="1F2933"/>
                </a:solidFill>
                <a:latin typeface="Courier New" pitchFamily="34" charset="0"/>
                <a:ea typeface="Courier New" pitchFamily="34" charset="-122"/>
                <a:cs typeface="Courier New" pitchFamily="34" charset="-120"/>
              </a:rPr>
              <a:t>Guess the coin toss! Enter heads or tails: </a:t>
            </a:r>
            <a:r>
              <a:rPr lang="en-US" sz="750" b="1" dirty="0">
                <a:solidFill>
                  <a:srgbClr val="306998"/>
                </a:solidFill>
                <a:latin typeface="Courier New" pitchFamily="34" charset="0"/>
                <a:ea typeface="Courier New" pitchFamily="34" charset="-122"/>
                <a:cs typeface="Courier New" pitchFamily="34" charset="-120"/>
              </a:rPr>
              <a:t>tails</a:t>
            </a:r>
            <a:endParaRPr lang="en-US" sz="750" dirty="0"/>
          </a:p>
          <a:p>
            <a:pPr indent="0" marL="0">
              <a:buNone/>
            </a:pPr>
            <a:r>
              <a:rPr lang="en-US" sz="750" dirty="0">
                <a:solidFill>
                  <a:srgbClr val="1F2933"/>
                </a:solidFill>
                <a:latin typeface="Courier New" pitchFamily="34" charset="0"/>
                <a:ea typeface="Courier New" pitchFamily="34" charset="-122"/>
                <a:cs typeface="Courier New" pitchFamily="34" charset="-120"/>
              </a:rPr>
              <a:t>Nope! Guess again!</a:t>
            </a:r>
            <a:endParaRPr lang="en-US" sz="750" dirty="0"/>
          </a:p>
          <a:p>
            <a:pPr indent="0" marL="0">
              <a:buNone/>
            </a:pPr>
            <a:r>
              <a:rPr lang="en-US" sz="750" dirty="0">
                <a:solidFill>
                  <a:srgbClr val="1F2933"/>
                </a:solidFill>
                <a:latin typeface="Courier New" pitchFamily="34" charset="0"/>
                <a:ea typeface="Courier New" pitchFamily="34" charset="-122"/>
                <a:cs typeface="Courier New" pitchFamily="34" charset="-120"/>
              </a:rPr>
              <a:t>int str</a:t>
            </a:r>
            <a:endParaRPr lang="en-US" sz="75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runs under Python 3.14.4 - typed input in blue</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repair is to compare like with like.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Worked cases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chapter closed against the objectives it opened with</a:t>
            </a:r>
            <a:endParaRPr lang="en-US" sz="1400" dirty="0"/>
          </a:p>
        </p:txBody>
      </p:sp>
      <p:sp>
        <p:nvSpPr>
          <p:cNvPr id="6" name="rc|b1"/>
          <p:cNvSpPr/>
          <p:nvPr/>
        </p:nvSpPr>
        <p:spPr>
          <a:xfrm>
            <a:off x="411480" y="1207008"/>
            <a:ext cx="868680" cy="640080"/>
          </a:xfrm>
          <a:prstGeom prst="roundRect">
            <a:avLst>
              <a:gd name="adj" fmla="val 11429"/>
            </a:avLst>
          </a:prstGeom>
          <a:solidFill>
            <a:srgbClr val="2E9E5B"/>
          </a:solidFill>
          <a:ln w="12700">
            <a:solidFill>
              <a:srgbClr val="2E9E5B"/>
            </a:solidFill>
            <a:prstDash val="solid"/>
          </a:ln>
        </p:spPr>
      </p:sp>
      <p:sp>
        <p:nvSpPr>
          <p:cNvPr id="7" name="rcc|b1"/>
          <p:cNvSpPr txBox="1"/>
          <p:nvPr/>
        </p:nvSpPr>
        <p:spPr>
          <a:xfrm>
            <a:off x="411480" y="1207008"/>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CO1</a:t>
            </a:r>
            <a:endParaRPr lang="en-US" sz="1600" dirty="0"/>
          </a:p>
        </p:txBody>
      </p:sp>
      <p:sp>
        <p:nvSpPr>
          <p:cNvPr id="8" name="rct|b1"/>
          <p:cNvSpPr txBox="1"/>
          <p:nvPr/>
        </p:nvSpPr>
        <p:spPr>
          <a:xfrm>
            <a:off x="1463040" y="1207008"/>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Raise an exception with a message when a call cannot be served, and read the traceback of one that nobody handles</a:t>
            </a:r>
            <a:endParaRPr lang="en-US" sz="1400" dirty="0"/>
          </a:p>
        </p:txBody>
      </p:sp>
      <p:sp>
        <p:nvSpPr>
          <p:cNvPr id="9" name="rc|b2"/>
          <p:cNvSpPr/>
          <p:nvPr/>
        </p:nvSpPr>
        <p:spPr>
          <a:xfrm>
            <a:off x="411480" y="1901952"/>
            <a:ext cx="868680" cy="640080"/>
          </a:xfrm>
          <a:prstGeom prst="roundRect">
            <a:avLst>
              <a:gd name="adj" fmla="val 11429"/>
            </a:avLst>
          </a:prstGeom>
          <a:solidFill>
            <a:srgbClr val="2E9E5B"/>
          </a:solidFill>
          <a:ln w="12700">
            <a:solidFill>
              <a:srgbClr val="2E9E5B"/>
            </a:solidFill>
            <a:prstDash val="solid"/>
          </a:ln>
        </p:spPr>
      </p:sp>
      <p:sp>
        <p:nvSpPr>
          <p:cNvPr id="10" name="rcc|b2"/>
          <p:cNvSpPr txBox="1"/>
          <p:nvPr/>
        </p:nvSpPr>
        <p:spPr>
          <a:xfrm>
            <a:off x="411480" y="1901952"/>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CO2</a:t>
            </a:r>
            <a:endParaRPr lang="en-US" sz="1600" dirty="0"/>
          </a:p>
        </p:txBody>
      </p:sp>
      <p:sp>
        <p:nvSpPr>
          <p:cNvPr id="11" name="rct|b2"/>
          <p:cNvSpPr txBox="1"/>
          <p:nvPr/>
        </p:nvSpPr>
        <p:spPr>
          <a:xfrm>
            <a:off x="1463040" y="1901952"/>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Choose between raise and assert for a given error, and explain why an assert cannot guard user input</a:t>
            </a:r>
            <a:endParaRPr lang="en-US" sz="1400" dirty="0"/>
          </a:p>
        </p:txBody>
      </p:sp>
      <p:sp>
        <p:nvSpPr>
          <p:cNvPr id="12" name="rc|b3"/>
          <p:cNvSpPr/>
          <p:nvPr/>
        </p:nvSpPr>
        <p:spPr>
          <a:xfrm>
            <a:off x="411480" y="2596896"/>
            <a:ext cx="868680" cy="640080"/>
          </a:xfrm>
          <a:prstGeom prst="roundRect">
            <a:avLst>
              <a:gd name="adj" fmla="val 11429"/>
            </a:avLst>
          </a:prstGeom>
          <a:solidFill>
            <a:srgbClr val="2E9E5B"/>
          </a:solidFill>
          <a:ln w="12700">
            <a:solidFill>
              <a:srgbClr val="2E9E5B"/>
            </a:solidFill>
            <a:prstDash val="solid"/>
          </a:ln>
        </p:spPr>
      </p:sp>
      <p:sp>
        <p:nvSpPr>
          <p:cNvPr id="13" name="rcc|b3"/>
          <p:cNvSpPr txBox="1"/>
          <p:nvPr/>
        </p:nvSpPr>
        <p:spPr>
          <a:xfrm>
            <a:off x="411480" y="2596896"/>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CO3</a:t>
            </a:r>
            <a:endParaRPr lang="en-US" sz="1600" dirty="0"/>
          </a:p>
        </p:txBody>
      </p:sp>
      <p:sp>
        <p:nvSpPr>
          <p:cNvPr id="14" name="rct|b3"/>
          <p:cNvSpPr txBox="1"/>
          <p:nvPr/>
        </p:nvSpPr>
        <p:spPr>
          <a:xfrm>
            <a:off x="1463040" y="2596896"/>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Set up logging with a level and a format, and predict which messages a given threshold shows</a:t>
            </a:r>
            <a:endParaRPr lang="en-US" sz="1400" dirty="0"/>
          </a:p>
        </p:txBody>
      </p:sp>
      <p:sp>
        <p:nvSpPr>
          <p:cNvPr id="15" name="rc|b4"/>
          <p:cNvSpPr/>
          <p:nvPr/>
        </p:nvSpPr>
        <p:spPr>
          <a:xfrm>
            <a:off x="411480" y="3291840"/>
            <a:ext cx="868680" cy="640080"/>
          </a:xfrm>
          <a:prstGeom prst="roundRect">
            <a:avLst>
              <a:gd name="adj" fmla="val 11429"/>
            </a:avLst>
          </a:prstGeom>
          <a:solidFill>
            <a:srgbClr val="2E9E5B"/>
          </a:solidFill>
          <a:ln w="12700">
            <a:solidFill>
              <a:srgbClr val="2E9E5B"/>
            </a:solidFill>
            <a:prstDash val="solid"/>
          </a:ln>
        </p:spPr>
      </p:sp>
      <p:sp>
        <p:nvSpPr>
          <p:cNvPr id="16" name="rcc|b4"/>
          <p:cNvSpPr txBox="1"/>
          <p:nvPr/>
        </p:nvSpPr>
        <p:spPr>
          <a:xfrm>
            <a:off x="411480" y="3291840"/>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CO4</a:t>
            </a:r>
            <a:endParaRPr lang="en-US" sz="1600" dirty="0"/>
          </a:p>
        </p:txBody>
      </p:sp>
      <p:sp>
        <p:nvSpPr>
          <p:cNvPr id="17" name="rct|b4"/>
          <p:cNvSpPr txBox="1"/>
          <p:nvPr/>
        </p:nvSpPr>
        <p:spPr>
          <a:xfrm>
            <a:off x="1463040" y="3291840"/>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Find a bug by tracing it with log messages, and repair it</a:t>
            </a:r>
            <a:endParaRPr lang="en-US" sz="1400" dirty="0"/>
          </a:p>
        </p:txBody>
      </p:sp>
      <p:sp>
        <p:nvSpPr>
          <p:cNvPr id="18" name="rc|b5"/>
          <p:cNvSpPr/>
          <p:nvPr/>
        </p:nvSpPr>
        <p:spPr>
          <a:xfrm>
            <a:off x="411480" y="3986784"/>
            <a:ext cx="868680" cy="640080"/>
          </a:xfrm>
          <a:prstGeom prst="roundRect">
            <a:avLst>
              <a:gd name="adj" fmla="val 11429"/>
            </a:avLst>
          </a:prstGeom>
          <a:solidFill>
            <a:srgbClr val="2E9E5B"/>
          </a:solidFill>
          <a:ln w="12700">
            <a:solidFill>
              <a:srgbClr val="2E9E5B"/>
            </a:solidFill>
            <a:prstDash val="solid"/>
          </a:ln>
        </p:spPr>
      </p:sp>
      <p:sp>
        <p:nvSpPr>
          <p:cNvPr id="19" name="rcc|b5"/>
          <p:cNvSpPr txBox="1"/>
          <p:nvPr/>
        </p:nvSpPr>
        <p:spPr>
          <a:xfrm>
            <a:off x="411480" y="3986784"/>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CO5</a:t>
            </a:r>
            <a:endParaRPr lang="en-US" sz="1600" dirty="0"/>
          </a:p>
        </p:txBody>
      </p:sp>
      <p:sp>
        <p:nvSpPr>
          <p:cNvPr id="20" name="rct|b5"/>
          <p:cNvSpPr txBox="1"/>
          <p:nvPr/>
        </p:nvSpPr>
        <p:spPr>
          <a:xfrm>
            <a:off x="1463040" y="3986784"/>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Use breakpoints and the Continue, Step In, Step Over and Step Out controls to inspect a program's state</a:t>
            </a:r>
            <a:endParaRPr lang="en-US" sz="1400" dirty="0"/>
          </a:p>
        </p:txBody>
      </p:sp>
      <p:sp>
        <p:nvSpPr>
          <p:cNvPr id="2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Source: objectives_v1_0_0.json</a:t>
            </a:r>
            <a:endParaRPr lang="en-US" sz="950" dirty="0"/>
          </a:p>
        </p:txBody>
      </p:sp>
      <p:sp>
        <p:nvSpPr>
          <p:cNvPr id="2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(1 of 4)</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question do raising exceptions, assertions, logging and the debugger all answer in different ways?</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How can the programmer find out what the program is really doing?</a:t>
            </a:r>
            <a:endParaRPr lang="en-US" sz="1150" dirty="0"/>
          </a:p>
        </p:txBody>
      </p:sp>
      <p:sp>
        <p:nvSpPr>
          <p:cNvPr id="11" name="qn"/>
          <p:cNvSpPr/>
          <p:nvPr/>
        </p:nvSpPr>
        <p:spPr>
          <a:xfrm>
            <a:off x="411480" y="1911096"/>
            <a:ext cx="402336" cy="402336"/>
          </a:xfrm>
          <a:prstGeom prst="ellipse">
            <a:avLst/>
          </a:prstGeom>
          <a:solidFill>
            <a:srgbClr val="FFD43B"/>
          </a:solidFill>
          <a:ln w="12700">
            <a:solidFill>
              <a:srgbClr val="FFD43B"/>
            </a:solidFill>
            <a:prstDash val="solid"/>
          </a:ln>
        </p:spPr>
      </p:sp>
      <p:sp>
        <p:nvSpPr>
          <p:cNvPr id="12" name="qnt"/>
          <p:cNvSpPr txBox="1"/>
          <p:nvPr/>
        </p:nvSpPr>
        <p:spPr>
          <a:xfrm>
            <a:off x="411480" y="191109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a:t>
            </a:r>
            <a:endParaRPr lang="en-US" sz="1400" dirty="0"/>
          </a:p>
        </p:txBody>
      </p:sp>
      <p:sp>
        <p:nvSpPr>
          <p:cNvPr id="13" name="qq"/>
          <p:cNvSpPr txBox="1"/>
          <p:nvPr/>
        </p:nvSpPr>
        <p:spPr>
          <a:xfrm>
            <a:off x="914400" y="1874520"/>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 program runs to its end, prints a plausible result, and the result is wrong. What kind of bug is it?</a:t>
            </a:r>
            <a:endParaRPr lang="en-US" sz="1250" dirty="0"/>
          </a:p>
        </p:txBody>
      </p:sp>
      <p:sp>
        <p:nvSpPr>
          <p:cNvPr id="14" name="qa|b2"/>
          <p:cNvSpPr/>
          <p:nvPr/>
        </p:nvSpPr>
        <p:spPr>
          <a:xfrm>
            <a:off x="5257800" y="1892808"/>
            <a:ext cx="3474720" cy="585216"/>
          </a:xfrm>
          <a:prstGeom prst="roundRect">
            <a:avLst>
              <a:gd name="adj" fmla="val 12500"/>
            </a:avLst>
          </a:prstGeom>
          <a:solidFill>
            <a:srgbClr val="DDF3E6"/>
          </a:solidFill>
          <a:ln w="12700">
            <a:solidFill>
              <a:srgbClr val="2E9E5B"/>
            </a:solidFill>
            <a:prstDash val="solid"/>
          </a:ln>
        </p:spPr>
      </p:sp>
      <p:sp>
        <p:nvSpPr>
          <p:cNvPr id="15" name="qat|b2"/>
          <p:cNvSpPr txBox="1"/>
          <p:nvPr/>
        </p:nvSpPr>
        <p:spPr>
          <a:xfrm>
            <a:off x="5367528" y="1892808"/>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A logic error, which Python does not report</a:t>
            </a:r>
            <a:endParaRPr lang="en-US" sz="1150" dirty="0"/>
          </a:p>
        </p:txBody>
      </p:sp>
      <p:sp>
        <p:nvSpPr>
          <p:cNvPr id="16" name="qn"/>
          <p:cNvSpPr/>
          <p:nvPr/>
        </p:nvSpPr>
        <p:spPr>
          <a:xfrm>
            <a:off x="411480" y="2578608"/>
            <a:ext cx="402336" cy="402336"/>
          </a:xfrm>
          <a:prstGeom prst="ellipse">
            <a:avLst/>
          </a:prstGeom>
          <a:solidFill>
            <a:srgbClr val="FFD43B"/>
          </a:solidFill>
          <a:ln w="12700">
            <a:solidFill>
              <a:srgbClr val="FFD43B"/>
            </a:solidFill>
            <a:prstDash val="solid"/>
          </a:ln>
        </p:spPr>
      </p:sp>
      <p:sp>
        <p:nvSpPr>
          <p:cNvPr id="17" name="qnt"/>
          <p:cNvSpPr txBox="1"/>
          <p:nvPr/>
        </p:nvSpPr>
        <p:spPr>
          <a:xfrm>
            <a:off x="411480" y="257860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3</a:t>
            </a:r>
            <a:endParaRPr lang="en-US" sz="1400" dirty="0"/>
          </a:p>
        </p:txBody>
      </p:sp>
      <p:sp>
        <p:nvSpPr>
          <p:cNvPr id="18" name="qq"/>
          <p:cNvSpPr txBox="1"/>
          <p:nvPr/>
        </p:nvSpPr>
        <p:spPr>
          <a:xfrm>
            <a:off x="914400" y="2542032"/>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is a bug, in the sense of the chapter?</a:t>
            </a:r>
            <a:endParaRPr lang="en-US" sz="1250" dirty="0"/>
          </a:p>
        </p:txBody>
      </p:sp>
      <p:sp>
        <p:nvSpPr>
          <p:cNvPr id="19" name="qa|b3"/>
          <p:cNvSpPr/>
          <p:nvPr/>
        </p:nvSpPr>
        <p:spPr>
          <a:xfrm>
            <a:off x="5257800" y="2560320"/>
            <a:ext cx="3474720" cy="585216"/>
          </a:xfrm>
          <a:prstGeom prst="roundRect">
            <a:avLst>
              <a:gd name="adj" fmla="val 12500"/>
            </a:avLst>
          </a:prstGeom>
          <a:solidFill>
            <a:srgbClr val="DDF3E6"/>
          </a:solidFill>
          <a:ln w="12700">
            <a:solidFill>
              <a:srgbClr val="2E9E5B"/>
            </a:solidFill>
            <a:prstDash val="solid"/>
          </a:ln>
        </p:spPr>
      </p:sp>
      <p:sp>
        <p:nvSpPr>
          <p:cNvPr id="20" name="qat|b3"/>
          <p:cNvSpPr txBox="1"/>
          <p:nvPr/>
        </p:nvSpPr>
        <p:spPr>
          <a:xfrm>
            <a:off x="5367528" y="2560320"/>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A place where the program does something other than its author intended</a:t>
            </a:r>
            <a:endParaRPr lang="en-US" sz="1150" dirty="0"/>
          </a:p>
        </p:txBody>
      </p:sp>
      <p:sp>
        <p:nvSpPr>
          <p:cNvPr id="21" name="qn"/>
          <p:cNvSpPr/>
          <p:nvPr/>
        </p:nvSpPr>
        <p:spPr>
          <a:xfrm>
            <a:off x="411480" y="3246120"/>
            <a:ext cx="402336" cy="402336"/>
          </a:xfrm>
          <a:prstGeom prst="ellipse">
            <a:avLst/>
          </a:prstGeom>
          <a:solidFill>
            <a:srgbClr val="FFD43B"/>
          </a:solidFill>
          <a:ln w="12700">
            <a:solidFill>
              <a:srgbClr val="FFD43B"/>
            </a:solidFill>
            <a:prstDash val="solid"/>
          </a:ln>
        </p:spPr>
      </p:sp>
      <p:sp>
        <p:nvSpPr>
          <p:cNvPr id="22" name="qnt"/>
          <p:cNvSpPr txBox="1"/>
          <p:nvPr/>
        </p:nvSpPr>
        <p:spPr>
          <a:xfrm>
            <a:off x="411480" y="324612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4</a:t>
            </a:r>
            <a:endParaRPr lang="en-US" sz="1400" dirty="0"/>
          </a:p>
        </p:txBody>
      </p:sp>
      <p:sp>
        <p:nvSpPr>
          <p:cNvPr id="23" name="qq"/>
          <p:cNvSpPr txBox="1"/>
          <p:nvPr/>
        </p:nvSpPr>
        <p:spPr>
          <a:xfrm>
            <a:off x="914400" y="3209544"/>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the traceback of an unhandled exception tell the person who runs the program?</a:t>
            </a:r>
            <a:endParaRPr lang="en-US" sz="1250" dirty="0"/>
          </a:p>
        </p:txBody>
      </p:sp>
      <p:sp>
        <p:nvSpPr>
          <p:cNvPr id="24" name="qa|b4"/>
          <p:cNvSpPr/>
          <p:nvPr/>
        </p:nvSpPr>
        <p:spPr>
          <a:xfrm>
            <a:off x="5257800" y="3227832"/>
            <a:ext cx="3474720" cy="585216"/>
          </a:xfrm>
          <a:prstGeom prst="roundRect">
            <a:avLst>
              <a:gd name="adj" fmla="val 12500"/>
            </a:avLst>
          </a:prstGeom>
          <a:solidFill>
            <a:srgbClr val="DDF3E6"/>
          </a:solidFill>
          <a:ln w="12700">
            <a:solidFill>
              <a:srgbClr val="2E9E5B"/>
            </a:solidFill>
            <a:prstDash val="solid"/>
          </a:ln>
        </p:spPr>
      </p:sp>
      <p:sp>
        <p:nvSpPr>
          <p:cNvPr id="25" name="qat|b4"/>
          <p:cNvSpPr txBox="1"/>
          <p:nvPr/>
        </p:nvSpPr>
        <p:spPr>
          <a:xfrm>
            <a:off x="5367528" y="3227832"/>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That something went wrong, and the calls the exception passed through</a:t>
            </a:r>
            <a:endParaRPr lang="en-US" sz="1150" dirty="0"/>
          </a:p>
        </p:txBody>
      </p:sp>
      <p:sp>
        <p:nvSpPr>
          <p:cNvPr id="26" name="qn"/>
          <p:cNvSpPr/>
          <p:nvPr/>
        </p:nvSpPr>
        <p:spPr>
          <a:xfrm>
            <a:off x="411480" y="3913632"/>
            <a:ext cx="402336" cy="402336"/>
          </a:xfrm>
          <a:prstGeom prst="ellipse">
            <a:avLst/>
          </a:prstGeom>
          <a:solidFill>
            <a:srgbClr val="FFD43B"/>
          </a:solidFill>
          <a:ln w="12700">
            <a:solidFill>
              <a:srgbClr val="FFD43B"/>
            </a:solidFill>
            <a:prstDash val="solid"/>
          </a:ln>
        </p:spPr>
      </p:sp>
      <p:sp>
        <p:nvSpPr>
          <p:cNvPr id="27" name="qnt"/>
          <p:cNvSpPr txBox="1"/>
          <p:nvPr/>
        </p:nvSpPr>
        <p:spPr>
          <a:xfrm>
            <a:off x="411480" y="391363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5</a:t>
            </a:r>
            <a:endParaRPr lang="en-US" sz="1400" dirty="0"/>
          </a:p>
        </p:txBody>
      </p:sp>
      <p:sp>
        <p:nvSpPr>
          <p:cNvPr id="28" name="qq"/>
          <p:cNvSpPr txBox="1"/>
          <p:nvPr/>
        </p:nvSpPr>
        <p:spPr>
          <a:xfrm>
            <a:off x="914400" y="3877056"/>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 function cannot serve a call it was given. What does raising an exception let the function do?</a:t>
            </a:r>
            <a:endParaRPr lang="en-US" sz="1250" dirty="0"/>
          </a:p>
        </p:txBody>
      </p:sp>
      <p:sp>
        <p:nvSpPr>
          <p:cNvPr id="29" name="qa|b5"/>
          <p:cNvSpPr/>
          <p:nvPr/>
        </p:nvSpPr>
        <p:spPr>
          <a:xfrm>
            <a:off x="5257800" y="3895344"/>
            <a:ext cx="3474720" cy="585216"/>
          </a:xfrm>
          <a:prstGeom prst="roundRect">
            <a:avLst>
              <a:gd name="adj" fmla="val 12500"/>
            </a:avLst>
          </a:prstGeom>
          <a:solidFill>
            <a:srgbClr val="DDF3E6"/>
          </a:solidFill>
          <a:ln w="12700">
            <a:solidFill>
              <a:srgbClr val="2E9E5B"/>
            </a:solidFill>
            <a:prstDash val="solid"/>
          </a:ln>
        </p:spPr>
      </p:sp>
      <p:sp>
        <p:nvSpPr>
          <p:cNvPr id="30" name="qat|b5"/>
          <p:cNvSpPr txBox="1"/>
          <p:nvPr/>
        </p:nvSpPr>
        <p:spPr>
          <a:xfrm>
            <a:off x="5367528" y="3895344"/>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Refuse the call and let the caller decide how to recover</a:t>
            </a:r>
            <a:endParaRPr lang="en-US" sz="115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(2 of 4)</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6</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a raise statement do to the running code?</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It stops the code and passes an exception to the nearest matching except clause</a:t>
            </a:r>
            <a:endParaRPr lang="en-US" sz="1150" dirty="0"/>
          </a:p>
        </p:txBody>
      </p:sp>
      <p:sp>
        <p:nvSpPr>
          <p:cNvPr id="11" name="qn"/>
          <p:cNvSpPr/>
          <p:nvPr/>
        </p:nvSpPr>
        <p:spPr>
          <a:xfrm>
            <a:off x="411480" y="1911096"/>
            <a:ext cx="402336" cy="402336"/>
          </a:xfrm>
          <a:prstGeom prst="ellipse">
            <a:avLst/>
          </a:prstGeom>
          <a:solidFill>
            <a:srgbClr val="FFD43B"/>
          </a:solidFill>
          <a:ln w="12700">
            <a:solidFill>
              <a:srgbClr val="FFD43B"/>
            </a:solidFill>
            <a:prstDash val="solid"/>
          </a:ln>
        </p:spPr>
      </p:sp>
      <p:sp>
        <p:nvSpPr>
          <p:cNvPr id="12" name="qnt"/>
          <p:cNvSpPr txBox="1"/>
          <p:nvPr/>
        </p:nvSpPr>
        <p:spPr>
          <a:xfrm>
            <a:off x="411480" y="191109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7</a:t>
            </a:r>
            <a:endParaRPr lang="en-US" sz="1400" dirty="0"/>
          </a:p>
        </p:txBody>
      </p:sp>
      <p:sp>
        <p:nvSpPr>
          <p:cNvPr id="13" name="qq"/>
          <p:cNvSpPr txBox="1"/>
          <p:nvPr/>
        </p:nvSpPr>
        <p:spPr>
          <a:xfrm>
            <a:off x="914400" y="1874520"/>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Whose errors are assertions meant to catch?</a:t>
            </a:r>
            <a:endParaRPr lang="en-US" sz="1250" dirty="0"/>
          </a:p>
        </p:txBody>
      </p:sp>
      <p:sp>
        <p:nvSpPr>
          <p:cNvPr id="14" name="qa|b2"/>
          <p:cNvSpPr/>
          <p:nvPr/>
        </p:nvSpPr>
        <p:spPr>
          <a:xfrm>
            <a:off x="5257800" y="1892808"/>
            <a:ext cx="3474720" cy="585216"/>
          </a:xfrm>
          <a:prstGeom prst="roundRect">
            <a:avLst>
              <a:gd name="adj" fmla="val 12500"/>
            </a:avLst>
          </a:prstGeom>
          <a:solidFill>
            <a:srgbClr val="DDF3E6"/>
          </a:solidFill>
          <a:ln w="12700">
            <a:solidFill>
              <a:srgbClr val="2E9E5B"/>
            </a:solidFill>
            <a:prstDash val="solid"/>
          </a:ln>
        </p:spPr>
      </p:sp>
      <p:sp>
        <p:nvSpPr>
          <p:cNvPr id="15" name="qat|b2"/>
          <p:cNvSpPr txBox="1"/>
          <p:nvPr/>
        </p:nvSpPr>
        <p:spPr>
          <a:xfrm>
            <a:off x="5367528" y="1892808"/>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The programmer's errors, meaning bugs in the code</a:t>
            </a:r>
            <a:endParaRPr lang="en-US" sz="1150" dirty="0"/>
          </a:p>
        </p:txBody>
      </p:sp>
      <p:sp>
        <p:nvSpPr>
          <p:cNvPr id="16" name="qn"/>
          <p:cNvSpPr/>
          <p:nvPr/>
        </p:nvSpPr>
        <p:spPr>
          <a:xfrm>
            <a:off x="411480" y="2578608"/>
            <a:ext cx="402336" cy="402336"/>
          </a:xfrm>
          <a:prstGeom prst="ellipse">
            <a:avLst/>
          </a:prstGeom>
          <a:solidFill>
            <a:srgbClr val="FFD43B"/>
          </a:solidFill>
          <a:ln w="12700">
            <a:solidFill>
              <a:srgbClr val="FFD43B"/>
            </a:solidFill>
            <a:prstDash val="solid"/>
          </a:ln>
        </p:spPr>
      </p:sp>
      <p:sp>
        <p:nvSpPr>
          <p:cNvPr id="17" name="qnt"/>
          <p:cNvSpPr txBox="1"/>
          <p:nvPr/>
        </p:nvSpPr>
        <p:spPr>
          <a:xfrm>
            <a:off x="411480" y="257860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8</a:t>
            </a:r>
            <a:endParaRPr lang="en-US" sz="1400" dirty="0"/>
          </a:p>
        </p:txBody>
      </p:sp>
      <p:sp>
        <p:nvSpPr>
          <p:cNvPr id="18" name="qq"/>
          <p:cNvSpPr txBox="1"/>
          <p:nvPr/>
        </p:nvSpPr>
        <p:spPr>
          <a:xfrm>
            <a:off x="914400" y="2542032"/>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an assertion state?</a:t>
            </a:r>
            <a:endParaRPr lang="en-US" sz="1250" dirty="0"/>
          </a:p>
        </p:txBody>
      </p:sp>
      <p:sp>
        <p:nvSpPr>
          <p:cNvPr id="19" name="qa|b3"/>
          <p:cNvSpPr/>
          <p:nvPr/>
        </p:nvSpPr>
        <p:spPr>
          <a:xfrm>
            <a:off x="5257800" y="2560320"/>
            <a:ext cx="3474720" cy="585216"/>
          </a:xfrm>
          <a:prstGeom prst="roundRect">
            <a:avLst>
              <a:gd name="adj" fmla="val 12500"/>
            </a:avLst>
          </a:prstGeom>
          <a:solidFill>
            <a:srgbClr val="DDF3E6"/>
          </a:solidFill>
          <a:ln w="12700">
            <a:solidFill>
              <a:srgbClr val="2E9E5B"/>
            </a:solidFill>
            <a:prstDash val="solid"/>
          </a:ln>
        </p:spPr>
      </p:sp>
      <p:sp>
        <p:nvSpPr>
          <p:cNvPr id="20" name="qat|b3"/>
          <p:cNvSpPr txBox="1"/>
          <p:nvPr/>
        </p:nvSpPr>
        <p:spPr>
          <a:xfrm>
            <a:off x="5367528" y="2560320"/>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What must be true at that point if the program is correct</a:t>
            </a:r>
            <a:endParaRPr lang="en-US" sz="1150" dirty="0"/>
          </a:p>
        </p:txBody>
      </p:sp>
      <p:sp>
        <p:nvSpPr>
          <p:cNvPr id="21" name="qn"/>
          <p:cNvSpPr/>
          <p:nvPr/>
        </p:nvSpPr>
        <p:spPr>
          <a:xfrm>
            <a:off x="411480" y="3246120"/>
            <a:ext cx="402336" cy="402336"/>
          </a:xfrm>
          <a:prstGeom prst="ellipse">
            <a:avLst/>
          </a:prstGeom>
          <a:solidFill>
            <a:srgbClr val="FFD43B"/>
          </a:solidFill>
          <a:ln w="12700">
            <a:solidFill>
              <a:srgbClr val="FFD43B"/>
            </a:solidFill>
            <a:prstDash val="solid"/>
          </a:ln>
        </p:spPr>
      </p:sp>
      <p:sp>
        <p:nvSpPr>
          <p:cNvPr id="22" name="qnt"/>
          <p:cNvSpPr txBox="1"/>
          <p:nvPr/>
        </p:nvSpPr>
        <p:spPr>
          <a:xfrm>
            <a:off x="411480" y="324612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9</a:t>
            </a:r>
            <a:endParaRPr lang="en-US" sz="1400" dirty="0"/>
          </a:p>
        </p:txBody>
      </p:sp>
      <p:sp>
        <p:nvSpPr>
          <p:cNvPr id="23" name="qq"/>
          <p:cNvSpPr txBox="1"/>
          <p:nvPr/>
        </p:nvSpPr>
        <p:spPr>
          <a:xfrm>
            <a:off x="914400" y="3209544"/>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a sanity check test?</a:t>
            </a:r>
            <a:endParaRPr lang="en-US" sz="1250" dirty="0"/>
          </a:p>
        </p:txBody>
      </p:sp>
      <p:sp>
        <p:nvSpPr>
          <p:cNvPr id="24" name="qa|b4"/>
          <p:cNvSpPr/>
          <p:nvPr/>
        </p:nvSpPr>
        <p:spPr>
          <a:xfrm>
            <a:off x="5257800" y="3227832"/>
            <a:ext cx="3474720" cy="585216"/>
          </a:xfrm>
          <a:prstGeom prst="roundRect">
            <a:avLst>
              <a:gd name="adj" fmla="val 12500"/>
            </a:avLst>
          </a:prstGeom>
          <a:solidFill>
            <a:srgbClr val="DDF3E6"/>
          </a:solidFill>
          <a:ln w="12700">
            <a:solidFill>
              <a:srgbClr val="2E9E5B"/>
            </a:solidFill>
            <a:prstDash val="solid"/>
          </a:ln>
        </p:spPr>
      </p:sp>
      <p:sp>
        <p:nvSpPr>
          <p:cNvPr id="25" name="qat|b4"/>
          <p:cNvSpPr txBox="1"/>
          <p:nvPr/>
        </p:nvSpPr>
        <p:spPr>
          <a:xfrm>
            <a:off x="5367528" y="3227832"/>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A property that must hold if the code before it is correct</a:t>
            </a:r>
            <a:endParaRPr lang="en-US" sz="1150" dirty="0"/>
          </a:p>
        </p:txBody>
      </p:sp>
      <p:sp>
        <p:nvSpPr>
          <p:cNvPr id="26" name="qn"/>
          <p:cNvSpPr/>
          <p:nvPr/>
        </p:nvSpPr>
        <p:spPr>
          <a:xfrm>
            <a:off x="411480" y="3913632"/>
            <a:ext cx="402336" cy="402336"/>
          </a:xfrm>
          <a:prstGeom prst="ellipse">
            <a:avLst/>
          </a:prstGeom>
          <a:solidFill>
            <a:srgbClr val="FFD43B"/>
          </a:solidFill>
          <a:ln w="12700">
            <a:solidFill>
              <a:srgbClr val="FFD43B"/>
            </a:solidFill>
            <a:prstDash val="solid"/>
          </a:ln>
        </p:spPr>
      </p:sp>
      <p:sp>
        <p:nvSpPr>
          <p:cNvPr id="27" name="qnt"/>
          <p:cNvSpPr txBox="1"/>
          <p:nvPr/>
        </p:nvSpPr>
        <p:spPr>
          <a:xfrm>
            <a:off x="411480" y="391363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10</a:t>
            </a:r>
            <a:endParaRPr lang="en-US" sz="1400" dirty="0"/>
          </a:p>
        </p:txBody>
      </p:sp>
      <p:sp>
        <p:nvSpPr>
          <p:cNvPr id="28" name="qq"/>
          <p:cNvSpPr txBox="1"/>
          <p:nvPr/>
        </p:nvSpPr>
        <p:spPr>
          <a:xfrm>
            <a:off x="914400" y="3877056"/>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is logging for?</a:t>
            </a:r>
            <a:endParaRPr lang="en-US" sz="1250" dirty="0"/>
          </a:p>
        </p:txBody>
      </p:sp>
      <p:sp>
        <p:nvSpPr>
          <p:cNvPr id="29" name="qa|b5"/>
          <p:cNvSpPr/>
          <p:nvPr/>
        </p:nvSpPr>
        <p:spPr>
          <a:xfrm>
            <a:off x="5257800" y="3895344"/>
            <a:ext cx="3474720" cy="585216"/>
          </a:xfrm>
          <a:prstGeom prst="roundRect">
            <a:avLst>
              <a:gd name="adj" fmla="val 12500"/>
            </a:avLst>
          </a:prstGeom>
          <a:solidFill>
            <a:srgbClr val="DDF3E6"/>
          </a:solidFill>
          <a:ln w="12700">
            <a:solidFill>
              <a:srgbClr val="2E9E5B"/>
            </a:solidFill>
            <a:prstDash val="solid"/>
          </a:ln>
        </p:spPr>
      </p:sp>
      <p:sp>
        <p:nvSpPr>
          <p:cNvPr id="30" name="qat|b5"/>
          <p:cNvSpPr txBox="1"/>
          <p:nvPr/>
        </p:nvSpPr>
        <p:spPr>
          <a:xfrm>
            <a:off x="5367528" y="3895344"/>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Leaving a record of what a program did without stopping it</a:t>
            </a:r>
            <a:endParaRPr lang="en-US" sz="115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(3 of 4)</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11</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three things does setting up logging choose?</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A threshold, a format and a destination</a:t>
            </a:r>
            <a:endParaRPr lang="en-US" sz="1150" dirty="0"/>
          </a:p>
        </p:txBody>
      </p:sp>
      <p:sp>
        <p:nvSpPr>
          <p:cNvPr id="11" name="qn"/>
          <p:cNvSpPr/>
          <p:nvPr/>
        </p:nvSpPr>
        <p:spPr>
          <a:xfrm>
            <a:off x="411480" y="1911096"/>
            <a:ext cx="402336" cy="402336"/>
          </a:xfrm>
          <a:prstGeom prst="ellipse">
            <a:avLst/>
          </a:prstGeom>
          <a:solidFill>
            <a:srgbClr val="FFD43B"/>
          </a:solidFill>
          <a:ln w="12700">
            <a:solidFill>
              <a:srgbClr val="FFD43B"/>
            </a:solidFill>
            <a:prstDash val="solid"/>
          </a:ln>
        </p:spPr>
      </p:sp>
      <p:sp>
        <p:nvSpPr>
          <p:cNvPr id="12" name="qnt"/>
          <p:cNvSpPr txBox="1"/>
          <p:nvPr/>
        </p:nvSpPr>
        <p:spPr>
          <a:xfrm>
            <a:off x="411480" y="191109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12</a:t>
            </a:r>
            <a:endParaRPr lang="en-US" sz="1400" dirty="0"/>
          </a:p>
        </p:txBody>
      </p:sp>
      <p:sp>
        <p:nvSpPr>
          <p:cNvPr id="13" name="qq"/>
          <p:cNvSpPr txBox="1"/>
          <p:nvPr/>
        </p:nvSpPr>
        <p:spPr>
          <a:xfrm>
            <a:off x="914400" y="1874520"/>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basicConfig set, and how does the chapter use it?</a:t>
            </a:r>
            <a:endParaRPr lang="en-US" sz="1250" dirty="0"/>
          </a:p>
        </p:txBody>
      </p:sp>
      <p:sp>
        <p:nvSpPr>
          <p:cNvPr id="14" name="qa|b2"/>
          <p:cNvSpPr/>
          <p:nvPr/>
        </p:nvSpPr>
        <p:spPr>
          <a:xfrm>
            <a:off x="5257800" y="1892808"/>
            <a:ext cx="3474720" cy="585216"/>
          </a:xfrm>
          <a:prstGeom prst="roundRect">
            <a:avLst>
              <a:gd name="adj" fmla="val 12500"/>
            </a:avLst>
          </a:prstGeom>
          <a:solidFill>
            <a:srgbClr val="DDF3E6"/>
          </a:solidFill>
          <a:ln w="12700">
            <a:solidFill>
              <a:srgbClr val="2E9E5B"/>
            </a:solidFill>
            <a:prstDash val="solid"/>
          </a:ln>
        </p:spPr>
      </p:sp>
      <p:sp>
        <p:nvSpPr>
          <p:cNvPr id="15" name="qat|b2"/>
          <p:cNvSpPr txBox="1"/>
          <p:nvPr/>
        </p:nvSpPr>
        <p:spPr>
          <a:xfrm>
            <a:off x="5367528" y="1892808"/>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The threshold, format and destination of the root logger, called once at the top</a:t>
            </a:r>
            <a:endParaRPr lang="en-US" sz="1150" dirty="0"/>
          </a:p>
        </p:txBody>
      </p:sp>
      <p:sp>
        <p:nvSpPr>
          <p:cNvPr id="16" name="qn"/>
          <p:cNvSpPr/>
          <p:nvPr/>
        </p:nvSpPr>
        <p:spPr>
          <a:xfrm>
            <a:off x="411480" y="2578608"/>
            <a:ext cx="402336" cy="402336"/>
          </a:xfrm>
          <a:prstGeom prst="ellipse">
            <a:avLst/>
          </a:prstGeom>
          <a:solidFill>
            <a:srgbClr val="FFD43B"/>
          </a:solidFill>
          <a:ln w="12700">
            <a:solidFill>
              <a:srgbClr val="FFD43B"/>
            </a:solidFill>
            <a:prstDash val="solid"/>
          </a:ln>
        </p:spPr>
      </p:sp>
      <p:sp>
        <p:nvSpPr>
          <p:cNvPr id="17" name="qnt"/>
          <p:cNvSpPr txBox="1"/>
          <p:nvPr/>
        </p:nvSpPr>
        <p:spPr>
          <a:xfrm>
            <a:off x="411480" y="257860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13</a:t>
            </a:r>
            <a:endParaRPr lang="en-US" sz="1400" dirty="0"/>
          </a:p>
        </p:txBody>
      </p:sp>
      <p:sp>
        <p:nvSpPr>
          <p:cNvPr id="18" name="qq"/>
          <p:cNvSpPr txBox="1"/>
          <p:nvPr/>
        </p:nvSpPr>
        <p:spPr>
          <a:xfrm>
            <a:off x="914400" y="2542032"/>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For which kind of question is the debugger the right instrument?</a:t>
            </a:r>
            <a:endParaRPr lang="en-US" sz="1250" dirty="0"/>
          </a:p>
        </p:txBody>
      </p:sp>
      <p:sp>
        <p:nvSpPr>
          <p:cNvPr id="19" name="qa|b3"/>
          <p:cNvSpPr/>
          <p:nvPr/>
        </p:nvSpPr>
        <p:spPr>
          <a:xfrm>
            <a:off x="5257800" y="2560320"/>
            <a:ext cx="3474720" cy="585216"/>
          </a:xfrm>
          <a:prstGeom prst="roundRect">
            <a:avLst>
              <a:gd name="adj" fmla="val 12500"/>
            </a:avLst>
          </a:prstGeom>
          <a:solidFill>
            <a:srgbClr val="DDF3E6"/>
          </a:solidFill>
          <a:ln w="12700">
            <a:solidFill>
              <a:srgbClr val="2E9E5B"/>
            </a:solidFill>
            <a:prstDash val="solid"/>
          </a:ln>
        </p:spPr>
      </p:sp>
      <p:sp>
        <p:nvSpPr>
          <p:cNvPr id="20" name="qat|b3"/>
          <p:cNvSpPr txBox="1"/>
          <p:nvPr/>
        </p:nvSpPr>
        <p:spPr>
          <a:xfrm>
            <a:off x="5367528" y="2560320"/>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What the variables hold at one particular line</a:t>
            </a:r>
            <a:endParaRPr lang="en-US" sz="1150" dirty="0"/>
          </a:p>
        </p:txBody>
      </p:sp>
      <p:sp>
        <p:nvSpPr>
          <p:cNvPr id="21" name="qn"/>
          <p:cNvSpPr/>
          <p:nvPr/>
        </p:nvSpPr>
        <p:spPr>
          <a:xfrm>
            <a:off x="411480" y="3246120"/>
            <a:ext cx="402336" cy="402336"/>
          </a:xfrm>
          <a:prstGeom prst="ellipse">
            <a:avLst/>
          </a:prstGeom>
          <a:solidFill>
            <a:srgbClr val="FFD43B"/>
          </a:solidFill>
          <a:ln w="12700">
            <a:solidFill>
              <a:srgbClr val="FFD43B"/>
            </a:solidFill>
            <a:prstDash val="solid"/>
          </a:ln>
        </p:spPr>
      </p:sp>
      <p:sp>
        <p:nvSpPr>
          <p:cNvPr id="22" name="qnt"/>
          <p:cNvSpPr txBox="1"/>
          <p:nvPr/>
        </p:nvSpPr>
        <p:spPr>
          <a:xfrm>
            <a:off x="411480" y="324612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14</a:t>
            </a:r>
            <a:endParaRPr lang="en-US" sz="1400" dirty="0"/>
          </a:p>
        </p:txBody>
      </p:sp>
      <p:sp>
        <p:nvSpPr>
          <p:cNvPr id="23" name="qq"/>
          <p:cNvSpPr txBox="1"/>
          <p:nvPr/>
        </p:nvSpPr>
        <p:spPr>
          <a:xfrm>
            <a:off x="914400" y="3209544"/>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part of the Mu window lists the current values of the program's variables?</a:t>
            </a:r>
            <a:endParaRPr lang="en-US" sz="1250" dirty="0"/>
          </a:p>
        </p:txBody>
      </p:sp>
      <p:sp>
        <p:nvSpPr>
          <p:cNvPr id="24" name="qa|b4"/>
          <p:cNvSpPr/>
          <p:nvPr/>
        </p:nvSpPr>
        <p:spPr>
          <a:xfrm>
            <a:off x="5257800" y="3227832"/>
            <a:ext cx="3474720" cy="585216"/>
          </a:xfrm>
          <a:prstGeom prst="roundRect">
            <a:avLst>
              <a:gd name="adj" fmla="val 12500"/>
            </a:avLst>
          </a:prstGeom>
          <a:solidFill>
            <a:srgbClr val="DDF3E6"/>
          </a:solidFill>
          <a:ln w="12700">
            <a:solidFill>
              <a:srgbClr val="2E9E5B"/>
            </a:solidFill>
            <a:prstDash val="solid"/>
          </a:ln>
        </p:spPr>
      </p:sp>
      <p:sp>
        <p:nvSpPr>
          <p:cNvPr id="25" name="qat|b4"/>
          <p:cNvSpPr txBox="1"/>
          <p:nvPr/>
        </p:nvSpPr>
        <p:spPr>
          <a:xfrm>
            <a:off x="5367528" y="3227832"/>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The Debug Inspector pane</a:t>
            </a:r>
            <a:endParaRPr lang="en-US" sz="1150" dirty="0"/>
          </a:p>
        </p:txBody>
      </p:sp>
      <p:sp>
        <p:nvSpPr>
          <p:cNvPr id="26" name="qn"/>
          <p:cNvSpPr/>
          <p:nvPr/>
        </p:nvSpPr>
        <p:spPr>
          <a:xfrm>
            <a:off x="411480" y="3913632"/>
            <a:ext cx="402336" cy="402336"/>
          </a:xfrm>
          <a:prstGeom prst="ellipse">
            <a:avLst/>
          </a:prstGeom>
          <a:solidFill>
            <a:srgbClr val="FFD43B"/>
          </a:solidFill>
          <a:ln w="12700">
            <a:solidFill>
              <a:srgbClr val="FFD43B"/>
            </a:solidFill>
            <a:prstDash val="solid"/>
          </a:ln>
        </p:spPr>
      </p:sp>
      <p:sp>
        <p:nvSpPr>
          <p:cNvPr id="27" name="qnt"/>
          <p:cNvSpPr txBox="1"/>
          <p:nvPr/>
        </p:nvSpPr>
        <p:spPr>
          <a:xfrm>
            <a:off x="411480" y="391363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15</a:t>
            </a:r>
            <a:endParaRPr lang="en-US" sz="1400" dirty="0"/>
          </a:p>
        </p:txBody>
      </p:sp>
      <p:sp>
        <p:nvSpPr>
          <p:cNvPr id="28" name="qq"/>
          <p:cNvSpPr txBox="1"/>
          <p:nvPr/>
        </p:nvSpPr>
        <p:spPr>
          <a:xfrm>
            <a:off x="914400" y="3877056"/>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button of the Mu editor starts a program under the debugger?</a:t>
            </a:r>
            <a:endParaRPr lang="en-US" sz="1250" dirty="0"/>
          </a:p>
        </p:txBody>
      </p:sp>
      <p:sp>
        <p:nvSpPr>
          <p:cNvPr id="29" name="qa|b5"/>
          <p:cNvSpPr/>
          <p:nvPr/>
        </p:nvSpPr>
        <p:spPr>
          <a:xfrm>
            <a:off x="5257800" y="3895344"/>
            <a:ext cx="3474720" cy="585216"/>
          </a:xfrm>
          <a:prstGeom prst="roundRect">
            <a:avLst>
              <a:gd name="adj" fmla="val 12500"/>
            </a:avLst>
          </a:prstGeom>
          <a:solidFill>
            <a:srgbClr val="DDF3E6"/>
          </a:solidFill>
          <a:ln w="12700">
            <a:solidFill>
              <a:srgbClr val="2E9E5B"/>
            </a:solidFill>
            <a:prstDash val="solid"/>
          </a:ln>
        </p:spPr>
      </p:sp>
      <p:sp>
        <p:nvSpPr>
          <p:cNvPr id="30" name="qat|b5"/>
          <p:cNvSpPr txBox="1"/>
          <p:nvPr/>
        </p:nvSpPr>
        <p:spPr>
          <a:xfrm>
            <a:off x="5367528" y="3895344"/>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Debug</a:t>
            </a:r>
            <a:endParaRPr lang="en-US" sz="115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(4 of 4)</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16</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 the chapter's worked programs show?</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Which instrument finds which kind of bug</a:t>
            </a:r>
            <a:endParaRPr lang="en-US" sz="1150" dirty="0"/>
          </a:p>
        </p:txBody>
      </p:sp>
      <p:sp>
        <p:nvSpPr>
          <p:cNvPr id="11" name="qn"/>
          <p:cNvSpPr/>
          <p:nvPr/>
        </p:nvSpPr>
        <p:spPr>
          <a:xfrm>
            <a:off x="411480" y="1911096"/>
            <a:ext cx="402336" cy="402336"/>
          </a:xfrm>
          <a:prstGeom prst="ellipse">
            <a:avLst/>
          </a:prstGeom>
          <a:solidFill>
            <a:srgbClr val="FFD43B"/>
          </a:solidFill>
          <a:ln w="12700">
            <a:solidFill>
              <a:srgbClr val="FFD43B"/>
            </a:solidFill>
            <a:prstDash val="solid"/>
          </a:ln>
        </p:spPr>
      </p:sp>
      <p:sp>
        <p:nvSpPr>
          <p:cNvPr id="12" name="qnt"/>
          <p:cNvSpPr txBox="1"/>
          <p:nvPr/>
        </p:nvSpPr>
        <p:spPr>
          <a:xfrm>
            <a:off x="411480" y="191109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17</a:t>
            </a:r>
            <a:endParaRPr lang="en-US" sz="1400" dirty="0"/>
          </a:p>
        </p:txBody>
      </p:sp>
      <p:sp>
        <p:nvSpPr>
          <p:cNvPr id="13" name="qq"/>
          <p:cNvSpPr txBox="1"/>
          <p:nvPr/>
        </p:nvSpPr>
        <p:spPr>
          <a:xfrm>
            <a:off x="914400" y="1874520"/>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In the chapter, which instrument exposes the bug of the factorial, and which exposes the bug of the adding program?</a:t>
            </a:r>
            <a:endParaRPr lang="en-US" sz="1250" dirty="0"/>
          </a:p>
        </p:txBody>
      </p:sp>
      <p:sp>
        <p:nvSpPr>
          <p:cNvPr id="14" name="qa|b2"/>
          <p:cNvSpPr/>
          <p:nvPr/>
        </p:nvSpPr>
        <p:spPr>
          <a:xfrm>
            <a:off x="5257800" y="1892808"/>
            <a:ext cx="3474720" cy="585216"/>
          </a:xfrm>
          <a:prstGeom prst="roundRect">
            <a:avLst>
              <a:gd name="adj" fmla="val 12500"/>
            </a:avLst>
          </a:prstGeom>
          <a:solidFill>
            <a:srgbClr val="DDF3E6"/>
          </a:solidFill>
          <a:ln w="12700">
            <a:solidFill>
              <a:srgbClr val="2E9E5B"/>
            </a:solidFill>
            <a:prstDash val="solid"/>
          </a:ln>
        </p:spPr>
      </p:sp>
      <p:sp>
        <p:nvSpPr>
          <p:cNvPr id="15" name="qat|b2"/>
          <p:cNvSpPr txBox="1"/>
          <p:nvPr/>
        </p:nvSpPr>
        <p:spPr>
          <a:xfrm>
            <a:off x="5367528" y="1892808"/>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Logging for the factorial and the debugger for the adding program</a:t>
            </a:r>
            <a:endParaRPr lang="en-US" sz="1150" dirty="0"/>
          </a:p>
        </p:txBody>
      </p:sp>
      <p:sp>
        <p:nvSpPr>
          <p:cNvPr id="16" name="qn"/>
          <p:cNvSpPr/>
          <p:nvPr/>
        </p:nvSpPr>
        <p:spPr>
          <a:xfrm>
            <a:off x="411480" y="2578608"/>
            <a:ext cx="402336" cy="402336"/>
          </a:xfrm>
          <a:prstGeom prst="ellipse">
            <a:avLst/>
          </a:prstGeom>
          <a:solidFill>
            <a:srgbClr val="FFD43B"/>
          </a:solidFill>
          <a:ln w="12700">
            <a:solidFill>
              <a:srgbClr val="FFD43B"/>
            </a:solidFill>
            <a:prstDash val="solid"/>
          </a:ln>
        </p:spPr>
      </p:sp>
      <p:sp>
        <p:nvSpPr>
          <p:cNvPr id="17" name="qnt"/>
          <p:cNvSpPr txBox="1"/>
          <p:nvPr/>
        </p:nvSpPr>
        <p:spPr>
          <a:xfrm>
            <a:off x="411480" y="257860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18</a:t>
            </a:r>
            <a:endParaRPr lang="en-US" sz="1400" dirty="0"/>
          </a:p>
        </p:txBody>
      </p:sp>
      <p:sp>
        <p:nvSpPr>
          <p:cNvPr id="18" name="qq"/>
          <p:cNvSpPr txBox="1"/>
          <p:nvPr/>
        </p:nvSpPr>
        <p:spPr>
          <a:xfrm>
            <a:off x="914400" y="2542032"/>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Why does the chapter's factorial(5) return 0?</a:t>
            </a:r>
            <a:endParaRPr lang="en-US" sz="1250" dirty="0"/>
          </a:p>
        </p:txBody>
      </p:sp>
      <p:sp>
        <p:nvSpPr>
          <p:cNvPr id="19" name="qa|b3"/>
          <p:cNvSpPr/>
          <p:nvPr/>
        </p:nvSpPr>
        <p:spPr>
          <a:xfrm>
            <a:off x="5257800" y="2560320"/>
            <a:ext cx="3474720" cy="585216"/>
          </a:xfrm>
          <a:prstGeom prst="roundRect">
            <a:avLst>
              <a:gd name="adj" fmla="val 12500"/>
            </a:avLst>
          </a:prstGeom>
          <a:solidFill>
            <a:srgbClr val="DDF3E6"/>
          </a:solidFill>
          <a:ln w="12700">
            <a:solidFill>
              <a:srgbClr val="2E9E5B"/>
            </a:solidFill>
            <a:prstDash val="solid"/>
          </a:ln>
        </p:spPr>
      </p:sp>
      <p:sp>
        <p:nvSpPr>
          <p:cNvPr id="20" name="qat|b3"/>
          <p:cNvSpPr txBox="1"/>
          <p:nvPr/>
        </p:nvSpPr>
        <p:spPr>
          <a:xfrm>
            <a:off x="5367528" y="2560320"/>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range(n + 1) starts at 0, so total is multiplied by 0 on the first pass</a:t>
            </a:r>
            <a:endParaRPr lang="en-US" sz="1150" dirty="0"/>
          </a:p>
        </p:txBody>
      </p:sp>
      <p:sp>
        <p:nvSpPr>
          <p:cNvPr id="2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2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Sources (1 of 2)</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Every source below was opened and verified for this chapter; the record is sen0414_ch05_research_v1_1_0.ttl</a:t>
            </a:r>
            <a:endParaRPr lang="en-US" sz="1300" dirty="0"/>
          </a:p>
        </p:txBody>
      </p:sp>
      <p:sp>
        <p:nvSpPr>
          <p:cNvPr id="6" name="src"/>
          <p:cNvSpPr txBox="1"/>
          <p:nvPr/>
        </p:nvSpPr>
        <p:spPr>
          <a:xfrm>
            <a:off x="411480" y="1207008"/>
            <a:ext cx="832104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Automate the Boring Stuff with Python, 3rd edition - Chapter 5, Debugging (Sweigart, 2025; No Starch Press)</a:t>
            </a:r>
            <a:endParaRPr lang="en-US" sz="1100" dirty="0"/>
          </a:p>
        </p:txBody>
      </p:sp>
      <p:sp>
        <p:nvSpPr>
          <p:cNvPr id="7" name="src"/>
          <p:cNvSpPr txBox="1"/>
          <p:nvPr/>
        </p:nvSpPr>
        <p:spPr>
          <a:xfrm>
            <a:off x="411480" y="1408176"/>
            <a:ext cx="8321040" cy="201168"/>
          </a:xfrm>
          <a:prstGeom prst="rect">
            <a:avLst/>
          </a:prstGeom>
          <a:noFill/>
          <a:ln/>
        </p:spPr>
        <p:txBody>
          <a:bodyPr wrap="square" lIns="0" tIns="0" rIns="0" bIns="0" rtlCol="0" anchor="ctr"/>
          <a:lstStyle/>
          <a:p>
            <a:pPr indent="0" marL="0">
              <a:buNone/>
            </a:pPr>
            <a:r>
              <a:rPr lang="en-US" sz="850" dirty="0">
                <a:solidFill>
                  <a:srgbClr val="1F2933"/>
                </a:solidFill>
                <a:latin typeface="Calibri" pitchFamily="34" charset="0"/>
                <a:ea typeface="Calibri" pitchFamily="34" charset="-122"/>
                <a:cs typeface="Calibri" pitchFamily="34" charset="-120"/>
              </a:rPr>
              <a:t>The Python Language Reference, 7. Simple statements - the raise and assert statements (Python 3.14.8 documentation, Python Software Foundation, 2026)</a:t>
            </a:r>
            <a:endParaRPr lang="en-US" sz="850" dirty="0"/>
          </a:p>
        </p:txBody>
      </p:sp>
      <p:sp>
        <p:nvSpPr>
          <p:cNvPr id="8" name="src"/>
          <p:cNvSpPr txBox="1"/>
          <p:nvPr/>
        </p:nvSpPr>
        <p:spPr>
          <a:xfrm>
            <a:off x="411480" y="1609344"/>
            <a:ext cx="8321040" cy="201168"/>
          </a:xfrm>
          <a:prstGeom prst="rect">
            <a:avLst/>
          </a:prstGeom>
          <a:noFill/>
          <a:ln/>
        </p:spPr>
        <p:txBody>
          <a:bodyPr wrap="square" lIns="0" tIns="0" rIns="0" bIns="0" rtlCol="0" anchor="ctr"/>
          <a:lstStyle/>
          <a:p>
            <a:pPr indent="0" marL="0">
              <a:buNone/>
            </a:pPr>
            <a:r>
              <a:rPr lang="en-US" sz="750" dirty="0">
                <a:solidFill>
                  <a:srgbClr val="1F2933"/>
                </a:solidFill>
                <a:latin typeface="Calibri" pitchFamily="34" charset="0"/>
                <a:ea typeface="Calibri" pitchFamily="34" charset="-122"/>
                <a:cs typeface="Calibri" pitchFamily="34" charset="-120"/>
              </a:rPr>
              <a:t>The Python Standard Library, Built-in Exceptions - AssertionError, BaseException.add_note, __notes__ (Python 3.14.8 documentation, Python Software Foundation, 2026)</a:t>
            </a:r>
            <a:endParaRPr lang="en-US" sz="750" dirty="0"/>
          </a:p>
        </p:txBody>
      </p:sp>
      <p:sp>
        <p:nvSpPr>
          <p:cNvPr id="9" name="src"/>
          <p:cNvSpPr txBox="1"/>
          <p:nvPr/>
        </p:nvSpPr>
        <p:spPr>
          <a:xfrm>
            <a:off x="411480" y="1810512"/>
            <a:ext cx="8321040" cy="201168"/>
          </a:xfrm>
          <a:prstGeom prst="rect">
            <a:avLst/>
          </a:prstGeom>
          <a:noFill/>
          <a:ln/>
        </p:spPr>
        <p:txBody>
          <a:bodyPr wrap="square" lIns="0" tIns="0" rIns="0" bIns="0" rtlCol="0" anchor="ctr"/>
          <a:lstStyle/>
          <a:p>
            <a:pPr indent="0" marL="0">
              <a:buNone/>
            </a:pPr>
            <a:r>
              <a:rPr lang="en-US" sz="800" dirty="0">
                <a:solidFill>
                  <a:srgbClr val="1F2933"/>
                </a:solidFill>
                <a:latin typeface="Calibri" pitchFamily="34" charset="0"/>
                <a:ea typeface="Calibri" pitchFamily="34" charset="-122"/>
                <a:cs typeface="Calibri" pitchFamily="34" charset="-120"/>
              </a:rPr>
              <a:t>The Python Tutorial, 8. Errors and Exceptions - raising exceptions, enriching exceptions with notes (Python 3.14.8 documentation, Python Software Foundation, 2026)</a:t>
            </a:r>
            <a:endParaRPr lang="en-US" sz="800" dirty="0"/>
          </a:p>
        </p:txBody>
      </p:sp>
      <p:sp>
        <p:nvSpPr>
          <p:cNvPr id="10" name="src"/>
          <p:cNvSpPr txBox="1"/>
          <p:nvPr/>
        </p:nvSpPr>
        <p:spPr>
          <a:xfrm>
            <a:off x="411480" y="2011680"/>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Logging HOWTO (Python 3.14.8 documentation, Python Software Foundation, 2026)</a:t>
            </a:r>
            <a:endParaRPr lang="en-US" sz="1100" dirty="0"/>
          </a:p>
        </p:txBody>
      </p:sp>
      <p:sp>
        <p:nvSpPr>
          <p:cNvPr id="11" name="src"/>
          <p:cNvSpPr txBox="1"/>
          <p:nvPr/>
        </p:nvSpPr>
        <p:spPr>
          <a:xfrm>
            <a:off x="411480" y="2212848"/>
            <a:ext cx="8321040" cy="201168"/>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The Python Standard Library, logging - basicConfig, disable, levels (Python 3.14.8 documentation, Python Software Foundation, 2026)</a:t>
            </a:r>
            <a:endParaRPr lang="en-US" sz="950" dirty="0"/>
          </a:p>
        </p:txBody>
      </p:sp>
      <p:sp>
        <p:nvSpPr>
          <p:cNvPr id="12" name="src"/>
          <p:cNvSpPr txBox="1"/>
          <p:nvPr/>
        </p:nvSpPr>
        <p:spPr>
          <a:xfrm>
            <a:off x="411480" y="2414016"/>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Python Standard Library, pdb - the Python debugger (Python 3.14.8 documentation, Python Software Foundation, 2026)</a:t>
            </a:r>
            <a:endParaRPr lang="en-US" sz="1100" dirty="0"/>
          </a:p>
        </p:txBody>
      </p:sp>
      <p:sp>
        <p:nvSpPr>
          <p:cNvPr id="13" name="src"/>
          <p:cNvSpPr txBox="1"/>
          <p:nvPr/>
        </p:nvSpPr>
        <p:spPr>
          <a:xfrm>
            <a:off x="411480" y="2615184"/>
            <a:ext cx="8321040" cy="201168"/>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The Python Standard Library, sys - breakpointhook, remote_exec (Python 3.14.8 documentation, Python Software Foundation, 2026)</a:t>
            </a:r>
            <a:endParaRPr lang="en-US" sz="1000" dirty="0"/>
          </a:p>
        </p:txBody>
      </p:sp>
      <p:sp>
        <p:nvSpPr>
          <p:cNvPr id="14" name="src"/>
          <p:cNvSpPr txBox="1"/>
          <p:nvPr/>
        </p:nvSpPr>
        <p:spPr>
          <a:xfrm>
            <a:off x="411480" y="2816352"/>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Python Standard Library, traceback (Python 3.14.8 documentation, Python Software Foundation, 2026)</a:t>
            </a:r>
            <a:endParaRPr lang="en-US" sz="1100" dirty="0"/>
          </a:p>
        </p:txBody>
      </p:sp>
      <p:sp>
        <p:nvSpPr>
          <p:cNvPr id="15" name="src"/>
          <p:cNvSpPr txBox="1"/>
          <p:nvPr/>
        </p:nvSpPr>
        <p:spPr>
          <a:xfrm>
            <a:off x="411480" y="3017520"/>
            <a:ext cx="8321040" cy="201168"/>
          </a:xfrm>
          <a:prstGeom prst="rect">
            <a:avLst/>
          </a:prstGeom>
          <a:noFill/>
          <a:ln/>
        </p:spPr>
        <p:txBody>
          <a:bodyPr wrap="square" lIns="0" tIns="0" rIns="0" bIns="0" rtlCol="0" anchor="ctr"/>
          <a:lstStyle/>
          <a:p>
            <a:pPr indent="0" marL="0">
              <a:buNone/>
            </a:pPr>
            <a:r>
              <a:rPr lang="en-US" sz="800" dirty="0">
                <a:solidFill>
                  <a:srgbClr val="1F2933"/>
                </a:solidFill>
                <a:latin typeface="Calibri" pitchFamily="34" charset="0"/>
                <a:ea typeface="Calibri" pitchFamily="34" charset="-122"/>
                <a:cs typeface="Calibri" pitchFamily="34" charset="-120"/>
              </a:rPr>
              <a:t>Using the Python Interpreter, command line and environment - the -O option and PYTHONBREAKPOINT (Python 3.14.8 documentation, Python Software Foundation, 2026)</a:t>
            </a:r>
            <a:endParaRPr lang="en-US" sz="800" dirty="0"/>
          </a:p>
        </p:txBody>
      </p:sp>
      <p:sp>
        <p:nvSpPr>
          <p:cNvPr id="16" name="src"/>
          <p:cNvSpPr txBox="1"/>
          <p:nvPr/>
        </p:nvSpPr>
        <p:spPr>
          <a:xfrm>
            <a:off x="411480" y="3218688"/>
            <a:ext cx="8321040" cy="201168"/>
          </a:xfrm>
          <a:prstGeom prst="rect">
            <a:avLst/>
          </a:prstGeom>
          <a:noFill/>
          <a:ln/>
        </p:spPr>
        <p:txBody>
          <a:bodyPr wrap="square" lIns="0" tIns="0" rIns="0" bIns="0" rtlCol="0" anchor="ctr"/>
          <a:lstStyle/>
          <a:p>
            <a:pPr indent="0" marL="0">
              <a:buNone/>
            </a:pPr>
            <a:r>
              <a:rPr lang="en-US" sz="850" dirty="0">
                <a:solidFill>
                  <a:srgbClr val="1F2933"/>
                </a:solidFill>
                <a:latin typeface="Calibri" pitchFamily="34" charset="0"/>
                <a:ea typeface="Calibri" pitchFamily="34" charset="-122"/>
                <a:cs typeface="Calibri" pitchFamily="34" charset="-120"/>
              </a:rPr>
              <a:t>What's New In Python 3.14 - remote debugging attachment to pdb and hardcoded breakpoints (Python 3.14.8 documentation, Python Software Foundation, 2026)</a:t>
            </a:r>
            <a:endParaRPr lang="en-US" sz="850" dirty="0"/>
          </a:p>
        </p:txBody>
      </p:sp>
      <p:sp>
        <p:nvSpPr>
          <p:cNvPr id="17" name="src"/>
          <p:cNvSpPr txBox="1"/>
          <p:nvPr/>
        </p:nvSpPr>
        <p:spPr>
          <a:xfrm>
            <a:off x="411480" y="3419856"/>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553 - Built-in breakpoint() (Warsaw, 2017; Python 3.7)</a:t>
            </a:r>
            <a:endParaRPr lang="en-US" sz="1100" dirty="0"/>
          </a:p>
        </p:txBody>
      </p:sp>
      <p:sp>
        <p:nvSpPr>
          <p:cNvPr id="18" name="src"/>
          <p:cNvSpPr txBox="1"/>
          <p:nvPr/>
        </p:nvSpPr>
        <p:spPr>
          <a:xfrm>
            <a:off x="411480" y="3621024"/>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657 - Include Fine Grained Error Locations in Tracebacks (Galindo Salgado et al., 2021; Python 3.11)</a:t>
            </a:r>
            <a:endParaRPr lang="en-US" sz="1100" dirty="0"/>
          </a:p>
        </p:txBody>
      </p:sp>
      <p:sp>
        <p:nvSpPr>
          <p:cNvPr id="19" name="src"/>
          <p:cNvSpPr txBox="1"/>
          <p:nvPr/>
        </p:nvSpPr>
        <p:spPr>
          <a:xfrm>
            <a:off x="411480" y="3822192"/>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678 - Enriching Exceptions with Notes (Hatfield-Dodds, 2021; Python 3.11)</a:t>
            </a:r>
            <a:endParaRPr lang="en-US" sz="1100" dirty="0"/>
          </a:p>
        </p:txBody>
      </p:sp>
      <p:sp>
        <p:nvSpPr>
          <p:cNvPr id="20" name="src"/>
          <p:cNvSpPr txBox="1"/>
          <p:nvPr/>
        </p:nvSpPr>
        <p:spPr>
          <a:xfrm>
            <a:off x="411480" y="4023360"/>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768 - Safe external debugger interface for CPython (Galindo Salgado, Wozniski and Stojanovic, 2024; Python 3.14)</a:t>
            </a:r>
            <a:endParaRPr lang="en-US" sz="1100" dirty="0"/>
          </a:p>
        </p:txBody>
      </p:sp>
      <p:sp>
        <p:nvSpPr>
          <p:cNvPr id="21" name="lic"/>
          <p:cNvSpPr txBox="1"/>
          <p:nvPr/>
        </p:nvSpPr>
        <p:spPr>
          <a:xfrm>
            <a:off x="411480" y="4315968"/>
            <a:ext cx="8321040" cy="274320"/>
          </a:xfrm>
          <a:prstGeom prst="rect">
            <a:avLst/>
          </a:prstGeom>
          <a:noFill/>
          <a:ln/>
        </p:spPr>
        <p:txBody>
          <a:bodyPr wrap="square" lIns="0" tIns="0" rIns="0" bIns="0" rtlCol="0" anchor="ctr"/>
          <a:lstStyle/>
          <a:p>
            <a:pPr indent="0" marL="0">
              <a:buNone/>
            </a:pPr>
            <a:r>
              <a:rPr lang="en-US" sz="95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950" dirty="0"/>
          </a:p>
        </p:txBody>
      </p:sp>
      <p:sp>
        <p:nvSpPr>
          <p:cNvPr id="22"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Research record: 03-materials/ch05/rdodi/sen0414_ch05_research_v1_1_0.ttl</a:t>
            </a:r>
            <a:endParaRPr lang="en-US" sz="950" dirty="0"/>
          </a:p>
        </p:txBody>
      </p:sp>
      <p:sp>
        <p:nvSpPr>
          <p:cNvPr id="23"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Sources (2 of 2)</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Every source below was opened and verified for this chapter; the record is sen0414_ch05_research_v1_1_0.ttl</a:t>
            </a:r>
            <a:endParaRPr lang="en-US" sz="1300" dirty="0"/>
          </a:p>
        </p:txBody>
      </p:sp>
      <p:sp>
        <p:nvSpPr>
          <p:cNvPr id="6" name="src"/>
          <p:cNvSpPr txBox="1"/>
          <p:nvPr/>
        </p:nvSpPr>
        <p:spPr>
          <a:xfrm>
            <a:off x="411480" y="1207008"/>
            <a:ext cx="8321040" cy="219456"/>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Glossary (Python 3.14.8 documentation, Python Software Foundation, 2026)</a:t>
            </a:r>
            <a:endParaRPr lang="en-US" sz="1100" dirty="0"/>
          </a:p>
        </p:txBody>
      </p:sp>
      <p:sp>
        <p:nvSpPr>
          <p:cNvPr id="7" name="src"/>
          <p:cNvSpPr txBox="1"/>
          <p:nvPr/>
        </p:nvSpPr>
        <p:spPr>
          <a:xfrm>
            <a:off x="411480" y="1426464"/>
            <a:ext cx="8321040" cy="219456"/>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The Python Tutorial, 5. Data Structures - tuples and sequences (Python 3.14.8 documentation, Python Software Foundation, 2026)</a:t>
            </a:r>
            <a:endParaRPr lang="en-US" sz="1000" dirty="0"/>
          </a:p>
        </p:txBody>
      </p:sp>
      <p:sp>
        <p:nvSpPr>
          <p:cNvPr id="8" name="src"/>
          <p:cNvSpPr txBox="1"/>
          <p:nvPr/>
        </p:nvSpPr>
        <p:spPr>
          <a:xfrm>
            <a:off x="411480" y="1645920"/>
            <a:ext cx="8321040" cy="219456"/>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The Python Tutorial, 7. Input and Output - reading and writing files (Python 3.14.8 documentation, Python Software Foundation, 2026)</a:t>
            </a:r>
            <a:endParaRPr lang="en-US" sz="950" dirty="0"/>
          </a:p>
        </p:txBody>
      </p:sp>
      <p:sp>
        <p:nvSpPr>
          <p:cNvPr id="9" name="src"/>
          <p:cNvSpPr txBox="1"/>
          <p:nvPr/>
        </p:nvSpPr>
        <p:spPr>
          <a:xfrm>
            <a:off x="411480" y="1865376"/>
            <a:ext cx="8321040" cy="219456"/>
          </a:xfrm>
          <a:prstGeom prst="rect">
            <a:avLst/>
          </a:prstGeom>
          <a:noFill/>
          <a:ln/>
        </p:spPr>
        <p:txBody>
          <a:bodyPr wrap="square" lIns="0" tIns="0" rIns="0" bIns="0" rtlCol="0" anchor="ctr"/>
          <a:lstStyle/>
          <a:p>
            <a:pPr indent="0" marL="0">
              <a:buNone/>
            </a:pPr>
            <a:r>
              <a:rPr lang="en-US" sz="800" dirty="0">
                <a:solidFill>
                  <a:srgbClr val="1F2933"/>
                </a:solidFill>
                <a:latin typeface="Calibri" pitchFamily="34" charset="0"/>
                <a:ea typeface="Calibri" pitchFamily="34" charset="-122"/>
                <a:cs typeface="Calibri" pitchFamily="34" charset="-120"/>
              </a:rPr>
              <a:t>The Python Language Reference, 6. Expressions - comparisons and membership test operations (Python 3.14.8 documentation, Python Software Foundation, 2026)</a:t>
            </a:r>
            <a:endParaRPr lang="en-US" sz="800" dirty="0"/>
          </a:p>
        </p:txBody>
      </p:sp>
      <p:sp>
        <p:nvSpPr>
          <p:cNvPr id="10" name="src"/>
          <p:cNvSpPr txBox="1"/>
          <p:nvPr/>
        </p:nvSpPr>
        <p:spPr>
          <a:xfrm>
            <a:off x="411480" y="2084832"/>
            <a:ext cx="8321040" cy="219456"/>
          </a:xfrm>
          <a:prstGeom prst="rect">
            <a:avLst/>
          </a:prstGeom>
          <a:noFill/>
          <a:ln/>
        </p:spPr>
        <p:txBody>
          <a:bodyPr wrap="square" lIns="0" tIns="0" rIns="0" bIns="0" rtlCol="0" anchor="ctr"/>
          <a:lstStyle/>
          <a:p>
            <a:pPr indent="0" marL="0">
              <a:buNone/>
            </a:pPr>
            <a:r>
              <a:rPr lang="en-US" sz="800" dirty="0">
                <a:solidFill>
                  <a:srgbClr val="1F2933"/>
                </a:solidFill>
                <a:latin typeface="Calibri" pitchFamily="34" charset="0"/>
                <a:ea typeface="Calibri" pitchFamily="34" charset="-122"/>
                <a:cs typeface="Calibri" pitchFamily="34" charset="-120"/>
              </a:rPr>
              <a:t>The Python Standard Library, Built-in Types - truth value testing, comparisons, sequence operations (Python 3.14.8 documentation, Python Software Foundation, 2026)</a:t>
            </a:r>
            <a:endParaRPr lang="en-US" sz="800" dirty="0"/>
          </a:p>
        </p:txBody>
      </p:sp>
      <p:sp>
        <p:nvSpPr>
          <p:cNvPr id="11" name="src"/>
          <p:cNvSpPr txBox="1"/>
          <p:nvPr/>
        </p:nvSpPr>
        <p:spPr>
          <a:xfrm>
            <a:off x="411480" y="2304288"/>
            <a:ext cx="8321040" cy="219456"/>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Python Standard Library, logging.handlers (Python 3.14.8 documentation, Python Software Foundation, 2026)</a:t>
            </a:r>
            <a:endParaRPr lang="en-US" sz="1100" dirty="0"/>
          </a:p>
        </p:txBody>
      </p:sp>
      <p:sp>
        <p:nvSpPr>
          <p:cNvPr id="12" name="src"/>
          <p:cNvSpPr txBox="1"/>
          <p:nvPr/>
        </p:nvSpPr>
        <p:spPr>
          <a:xfrm>
            <a:off x="411480" y="2523744"/>
            <a:ext cx="8321040" cy="219456"/>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The Python Standard Library, Built-in Functions - breakpoint, input (Python 3.14.8 documentation, Python Software Foundation, 2026)</a:t>
            </a:r>
            <a:endParaRPr lang="en-US" sz="950" dirty="0"/>
          </a:p>
        </p:txBody>
      </p:sp>
      <p:sp>
        <p:nvSpPr>
          <p:cNvPr id="13" name="src"/>
          <p:cNvSpPr txBox="1"/>
          <p:nvPr/>
        </p:nvSpPr>
        <p:spPr>
          <a:xfrm>
            <a:off x="411480" y="2743200"/>
            <a:ext cx="8321040" cy="219456"/>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The Python Standard Library, Built-in Constants - __debug__ (Python 3.14.8 documentation, Python Software Foundation, 2026)</a:t>
            </a:r>
            <a:endParaRPr lang="en-US" sz="1050" dirty="0"/>
          </a:p>
        </p:txBody>
      </p:sp>
      <p:sp>
        <p:nvSpPr>
          <p:cNvPr id="14" name="src"/>
          <p:cNvSpPr txBox="1"/>
          <p:nvPr/>
        </p:nvSpPr>
        <p:spPr>
          <a:xfrm>
            <a:off x="411480" y="2962656"/>
            <a:ext cx="8321040" cy="219456"/>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The Python Standard Library, random - randint, randrange, seed (Python 3.14.8 documentation, Python Software Foundation, 2026)</a:t>
            </a:r>
            <a:endParaRPr lang="en-US" sz="1000" dirty="0"/>
          </a:p>
        </p:txBody>
      </p:sp>
      <p:sp>
        <p:nvSpPr>
          <p:cNvPr id="15" name="src"/>
          <p:cNvSpPr txBox="1"/>
          <p:nvPr/>
        </p:nvSpPr>
        <p:spPr>
          <a:xfrm>
            <a:off x="411480" y="3182112"/>
            <a:ext cx="8321040" cy="219456"/>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The Python Standard Library, os - environ, getpid, getcwd (Python 3.14.8 documentation, Python Software Foundation, 2026)</a:t>
            </a:r>
            <a:endParaRPr lang="en-US" sz="1050" dirty="0"/>
          </a:p>
        </p:txBody>
      </p:sp>
      <p:sp>
        <p:nvSpPr>
          <p:cNvPr id="16" name="src"/>
          <p:cNvSpPr txBox="1"/>
          <p:nvPr/>
        </p:nvSpPr>
        <p:spPr>
          <a:xfrm>
            <a:off x="411480" y="3401568"/>
            <a:ext cx="8321040" cy="219456"/>
          </a:xfrm>
          <a:prstGeom prst="rect">
            <a:avLst/>
          </a:prstGeom>
          <a:noFill/>
          <a:ln/>
        </p:spPr>
        <p:txBody>
          <a:bodyPr wrap="square" lIns="0" tIns="0" rIns="0" bIns="0" rtlCol="0" anchor="ctr"/>
          <a:lstStyle/>
          <a:p>
            <a:pPr indent="0" marL="0">
              <a:buNone/>
            </a:pPr>
            <a:r>
              <a:rPr lang="en-US" sz="850" dirty="0">
                <a:solidFill>
                  <a:srgbClr val="1F2933"/>
                </a:solidFill>
                <a:latin typeface="Calibri" pitchFamily="34" charset="0"/>
                <a:ea typeface="Calibri" pitchFamily="34" charset="-122"/>
                <a:cs typeface="Calibri" pitchFamily="34" charset="-120"/>
              </a:rPr>
              <a:t>The Python Standard Library, IDLE - Python editor and shell, debugger and breakpoints (Python 3.14.8 documentation, Python Software Foundation, 2026)</a:t>
            </a:r>
            <a:endParaRPr lang="en-US" sz="850" dirty="0"/>
          </a:p>
        </p:txBody>
      </p:sp>
      <p:sp>
        <p:nvSpPr>
          <p:cNvPr id="17" name="src"/>
          <p:cNvSpPr txBox="1"/>
          <p:nvPr/>
        </p:nvSpPr>
        <p:spPr>
          <a:xfrm>
            <a:off x="411480" y="3621024"/>
            <a:ext cx="8321040" cy="219456"/>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The Python Standard Library, subprocess - subprocess management (Python 3.14.8 documentation, Python Software Foundation, 2026)</a:t>
            </a:r>
            <a:endParaRPr lang="en-US" sz="1000" dirty="0"/>
          </a:p>
        </p:txBody>
      </p:sp>
      <p:sp>
        <p:nvSpPr>
          <p:cNvPr id="18" name="lic"/>
          <p:cNvSpPr txBox="1"/>
          <p:nvPr/>
        </p:nvSpPr>
        <p:spPr>
          <a:xfrm>
            <a:off x="411480" y="4315968"/>
            <a:ext cx="8321040" cy="274320"/>
          </a:xfrm>
          <a:prstGeom prst="rect">
            <a:avLst/>
          </a:prstGeom>
          <a:noFill/>
          <a:ln/>
        </p:spPr>
        <p:txBody>
          <a:bodyPr wrap="square" lIns="0" tIns="0" rIns="0" bIns="0" rtlCol="0" anchor="ctr"/>
          <a:lstStyle/>
          <a:p>
            <a:pPr indent="0" marL="0">
              <a:buNone/>
            </a:pPr>
            <a:r>
              <a:rPr lang="en-US" sz="95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950" dirty="0"/>
          </a:p>
        </p:txBody>
      </p:sp>
      <p:sp>
        <p:nvSpPr>
          <p:cNvPr id="1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Research record: 03-materials/ch05/rdodi/sen0414_ch05_research_v1_1_0.ttl</a:t>
            </a:r>
            <a:endParaRPr lang="en-US" sz="950" dirty="0"/>
          </a:p>
        </p:txBody>
      </p:sp>
      <p:sp>
        <p:nvSpPr>
          <p:cNvPr id="2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5 of Automate the Boring Stuff with Python, 3rd edition (Sweigart, 2025)</a:t>
            </a:r>
            <a:endParaRPr lang="en-US" sz="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37160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6 - Lists</a:t>
            </a:r>
            <a:endParaRPr lang="en-US" sz="3000" dirty="0"/>
          </a:p>
        </p:txBody>
      </p:sp>
      <p:sp>
        <p:nvSpPr>
          <p:cNvPr id="3" name="x"/>
          <p:cNvSpPr txBox="1"/>
          <p:nvPr/>
        </p:nvSpPr>
        <p:spPr>
          <a:xfrm>
            <a:off x="548640" y="2286000"/>
            <a:ext cx="8046720" cy="1188720"/>
          </a:xfrm>
          <a:prstGeom prst="rect">
            <a:avLst/>
          </a:prstGeom>
          <a:noFill/>
          <a:ln/>
        </p:spPr>
        <p:txBody>
          <a:bodyPr wrap="square" lIns="0" tIns="0" rIns="0" bIns="0" rtlCol="0" anchor="t"/>
          <a:lstStyle/>
          <a:p>
            <a:pPr indent="0" marL="0">
              <a:buNone/>
            </a:pPr>
            <a:r>
              <a:rPr lang="en-US" sz="1600" dirty="0">
                <a:solidFill>
                  <a:srgbClr val="FFD43B"/>
                </a:solidFill>
                <a:latin typeface="Calibri" pitchFamily="34" charset="0"/>
                <a:ea typeface="Calibri" pitchFamily="34" charset="-122"/>
                <a:cs typeface="Calibri" pitchFamily="34" charset="-120"/>
              </a:rPr>
              <a:t>Before then: work through the chapter 5 interactive page - the debugger simulator, the logging table and the exception climb you saw today, all runnable, plus a question bank and a subject agent for each branch. Bring a bug of your own.</a:t>
            </a:r>
            <a:endParaRPr lang="en-US" sz="16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118</Slides>
  <Notes>118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118</vt:i4>
      </vt:variant>
    </vt:vector>
  </HeadingPairs>
  <TitlesOfParts>
    <vt:vector size="1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 Debugging</dc:title>
  <dc:subject>PptxGenJS Presentation</dc:subject>
  <dc:creator>Yusuf Altunel</dc:creator>
  <cp:lastModifiedBy>Yusuf Altunel</cp:lastModifiedBy>
  <cp:revision>1</cp:revision>
  <dcterms:created xsi:type="dcterms:W3CDTF">2026-10-04T18:45:10Z</dcterms:created>
  <dcterms:modified xsi:type="dcterms:W3CDTF">2026-10-04T18:45:10Z</dcterms:modified>
  <cp:version>1.1.0</cp:version>
</cp:coreProperties>
</file>