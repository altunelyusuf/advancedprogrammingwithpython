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 number</c:v>
                </c:pt>
              </c:strCache>
            </c:strRef>
          </c:tx>
          <c:spPr>
            <a:solidFill>
              <a:srgbClr val="0E7C86"/>
            </a:solidFill>
          </c:spPr>
          <c:cat>
            <c:strRef>
              <c:f>Sheet1!$A$2:$A$6</c:f>
              <c:strCache>
                <c:ptCount val="5"/>
                <c:pt idx="0">
                  <c:v>DEBUG</c:v>
                </c:pt>
                <c:pt idx="1">
                  <c:v>INFO</c:v>
                </c:pt>
                <c:pt idx="2">
                  <c:v>WARNING</c:v>
                </c:pt>
                <c:pt idx="3">
                  <c:v>ERROR</c:v>
                </c:pt>
                <c:pt idx="4">
                  <c:v>CRITICAL</c:v>
                </c:pt>
              </c:strCache>
            </c:strRef>
          </c:cat>
          <c:val>
            <c:numRef>
              <c:f>Sheet1!$B$2:$B$6</c:f>
              <c:numCache>
                <c:formatCode>General</c:formatCode>
                <c:ptCount val="5"/>
                <c:pt idx="0">
                  <c:v>10</c:v>
                </c:pt>
                <c:pt idx="1">
                  <c:v>20</c:v>
                </c:pt>
                <c:pt idx="2">
                  <c:v>30</c:v>
                </c:pt>
                <c:pt idx="3">
                  <c:v>40</c:v>
                </c:pt>
                <c:pt idx="4">
                  <c:v>50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messages shown</c:v>
                </c:pt>
              </c:strCache>
            </c:strRef>
          </c:tx>
          <c:spPr>
            <a:solidFill>
              <a:srgbClr val="0E7C86"/>
            </a:solidFill>
          </c:spPr>
          <c:cat>
            <c:strRef>
              <c:f>Sheet1!$A$2:$A$6</c:f>
              <c:strCache>
                <c:ptCount val="5"/>
                <c:pt idx="0">
                  <c:v>DEBUG</c:v>
                </c:pt>
                <c:pt idx="1">
                  <c:v>INFO</c:v>
                </c:pt>
                <c:pt idx="2">
                  <c:v>WARNING</c:v>
                </c:pt>
                <c:pt idx="3">
                  <c:v>ERROR</c:v>
                </c:pt>
                <c:pt idx="4">
                  <c:v>CRITICAL</c:v>
                </c:pt>
              </c:strCache>
            </c:strRef>
          </c:cat>
          <c:val>
            <c:numRef>
              <c:f>Sheet1!$B$2:$B$6</c:f>
              <c:numCache>
                <c:formatCode>General</c:formatCode>
                <c:ptCount val="5"/>
                <c:pt idx="0">
                  <c:v>5</c:v>
                </c:pt>
                <c:pt idx="1">
                  <c:v>4</c:v>
                </c:pt>
                <c:pt idx="2">
                  <c:v>3</c:v>
                </c:pt>
                <c:pt idx="3">
                  <c:v>2</c:v>
                </c:pt>
                <c:pt idx="4">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__str__ calls</c:v>
                </c:pt>
              </c:strCache>
            </c:strRef>
          </c:tx>
          <c:spPr>
            <a:solidFill>
              <a:srgbClr val="0E7C86"/>
            </a:solidFill>
          </c:spPr>
          <c:cat>
            <c:strRef>
              <c:f>Sheet1!$A$2:$A$3</c:f>
              <c:strCache>
                <c:ptCount val="2"/>
                <c:pt idx="0">
                  <c:v>arguments: log.debug('..%s', obj)</c:v>
                </c:pt>
                <c:pt idx="1">
                  <c:v>f-string: log.debug(f'..')</c:v>
                </c:pt>
              </c:strCache>
            </c:strRef>
          </c:cat>
          <c:val>
            <c:numRef>
              <c:f>Sheet1!$B$2:$B$3</c:f>
              <c:numCache>
                <c:formatCode>General</c:formatCode>
                <c:ptCount val="2"/>
                <c:pt idx="0">
                  <c:v>0</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after the step</c:v>
                </c:pt>
              </c:strCache>
            </c:strRef>
          </c:tx>
          <c:spPr>
            <a:solidFill>
              <a:srgbClr val="0E7C86"/>
            </a:solidFill>
          </c:spPr>
          <c:cat>
            <c:strRef>
              <c:f>Sheet1!$A$2:$A$5</c:f>
              <c:strCache>
                <c:ptCount val="4"/>
                <c:pt idx="0">
                  <c:v>i = 0</c:v>
                </c:pt>
                <c:pt idx="1">
                  <c:v>i = 1</c:v>
                </c:pt>
                <c:pt idx="2">
                  <c:v>i = 2</c:v>
                </c:pt>
                <c:pt idx="3">
                  <c:v>i = 3</c:v>
                </c:pt>
              </c:strCache>
            </c:strRef>
          </c:cat>
          <c:val>
            <c:numRef>
              <c:f>Sheet1!$B$2:$B$5</c:f>
              <c:numCache>
                <c:formatCode>General</c:formatCode>
                <c:ptCount val="4"/>
                <c:pt idx="0">
                  <c:v>0</c:v>
                </c:pt>
                <c:pt idx="1">
                  <c:v>0</c:v>
                </c:pt>
                <c:pt idx="2">
                  <c:v>0</c:v>
                </c:pt>
                <c:pt idx="3">
                  <c:v>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after the step</c:v>
                </c:pt>
              </c:strCache>
            </c:strRef>
          </c:tx>
          <c:spPr>
            <a:solidFill>
              <a:srgbClr val="0E7C86"/>
            </a:solidFill>
          </c:spPr>
          <c:cat>
            <c:strRef>
              <c:f>Sheet1!$A$2:$A$4</c:f>
              <c:strCache>
                <c:ptCount val="3"/>
                <c:pt idx="0">
                  <c:v>i = 1</c:v>
                </c:pt>
                <c:pt idx="1">
                  <c:v>i = 2</c:v>
                </c:pt>
                <c:pt idx="2">
                  <c:v>i = 3</c:v>
                </c:pt>
              </c:strCache>
            </c:strRef>
          </c:cat>
          <c:val>
            <c:numRef>
              <c:f>Sheet1!$B$2:$B$4</c:f>
              <c:numCache>
                <c:formatCode>General</c:formatCode>
                <c:ptCount val="3"/>
                <c:pt idx="0">
                  <c:v>1</c:v>
                </c:pt>
                <c:pt idx="1">
                  <c:v>2</c:v>
                </c:pt>
                <c:pt idx="2">
                  <c:v>6</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printed sum</c:v>
                </c:pt>
              </c:strCache>
            </c:strRef>
          </c:tx>
          <c:spPr>
            <a:solidFill>
              <a:srgbClr val="0E7C86"/>
            </a:solidFill>
          </c:spPr>
          <c:cat>
            <c:strRef>
              <c:f>Sheet1!$A$2:$A$3</c:f>
              <c:strCache>
                <c:ptCount val="2"/>
                <c:pt idx="0">
                  <c:v>'5' + '3' + '42'</c:v>
                </c:pt>
                <c:pt idx="1">
                  <c:v>int sum</c:v>
                </c:pt>
              </c:strCache>
            </c:strRef>
          </c:cat>
          <c:val>
            <c:numRef>
              <c:f>Sheet1!$B$2:$B$3</c:f>
              <c:numCache>
                <c:formatCode>General</c:formatCode>
                <c:ptCount val="2"/>
                <c:pt idx="0">
                  <c:v>5342</c:v>
                </c:pt>
                <c:pt idx="1">
                  <c:v>50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50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0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wins</c:v>
                </c:pt>
              </c:strCache>
            </c:strRef>
          </c:tx>
          <c:spPr>
            <a:solidFill>
              <a:srgbClr val="0E7C86"/>
            </a:solidFill>
          </c:spPr>
          <c:cat>
            <c:strRef>
              <c:f>Sheet1!$A$2:$A$3</c:f>
              <c:strCache>
                <c:ptCount val="2"/>
                <c:pt idx="0">
                  <c:v>buggy: toss == guess</c:v>
                </c:pt>
                <c:pt idx="1">
                  <c:v>fixed: word == guess</c:v>
                </c:pt>
              </c:strCache>
            </c:strRef>
          </c:cat>
          <c:val>
            <c:numRef>
              <c:f>Sheet1!$B$2:$B$3</c:f>
              <c:numCache>
                <c:formatCode>General</c:formatCode>
                <c:ptCount val="2"/>
                <c:pt idx="0">
                  <c:v>0</c:v>
                </c:pt>
                <c:pt idx="1">
                  <c:v>489</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Raise</c:v>
                </c:pt>
                <c:pt idx="1">
                  <c:v>Assert</c:v>
                </c:pt>
                <c:pt idx="2">
                  <c:v>Log</c:v>
                </c:pt>
                <c:pt idx="3">
                  <c:v>Hunt</c:v>
                </c:pt>
                <c:pt idx="4">
                  <c:v>Debug</c:v>
                </c:pt>
              </c:strCache>
            </c:strRef>
          </c:cat>
          <c:val>
            <c:numRef>
              <c:f>Sheet1!$B$2:$B$6</c:f>
              <c:numCache>
                <c:formatCode>General</c:formatCode>
                <c:ptCount val="5"/>
                <c:pt idx="0">
                  <c:v>4</c:v>
                </c:pt>
                <c:pt idx="1">
                  <c:v>3</c:v>
                </c:pt>
                <c:pt idx="2">
                  <c:v>6</c:v>
                </c:pt>
                <c:pt idx="3">
                  <c:v>5</c:v>
                </c:pt>
                <c:pt idx="4">
                  <c:v>2</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teaches four instruments for finding bugs: raise, assert, logging and the debugger. Every code slide shows the code, a plain explanation, and the result of the run as a table, chart or drawing. The same examples run on the chapter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exceptions and tracebacks, assertions, logging, hunting bugs with the log, and the debugger.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Which instrument fits which problem? And which printed outputs of the book differ in current Python? The answers come back near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function refuses a bad call with raise. The exception climbs the call stack, and the traceback is the report of that climb.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exception is a fire alarm. Raise pulls the lever, the traceback shows the path the alarm took. Ask students to add one more everyday picture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logbook page is dated 9 September 1947. The moth was taped in beside the joke about the first actual case of a bug. Ask students what evidence they keep when they debug.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print refuses a call it cannot serve. Each raise stops the function and hands an Exception with a message to the caller. Predict the box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message is kept in args. The except clause catches by class, and a more specific class is still an Exception. The diagram shows the family tree.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in read age, load or process claims the error, so it climbs to the try. The traceback lists the calls it passed, outermost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Python 3.11 an exception can carry notes. The note is added where the context is known and printed after the message. Ask why raise without arguments keeps the original error.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An assert is a tripwire for the programmer. It checks beliefs, not user input, and it disappears under python dash capital 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assertion is a tripwire set by the builder. It checks what must be true if the program is correct. It guards the programmer, never the user.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assert states a belief and is silent when it holds. When it fails it raises AssertionError. Ask students why the book says not to catch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can pass an empty list, so we raise. Only our own bug can make a negative total, so we assert. The message is built only when the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python dash O, assert statements are removed. That is why asserts guard the programmer and never the user. Compile with optimize equals one shows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Logging leaves a record without stopping the program. Choose a level, a format and a destination, and switch it off without deleting a 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log is a logbook. Each entry has a level, the format is the form, and the file is the notebook. Disable is the mute button.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Kernighan wrote this in 1979. Thinking comes first, print statements second. Logging is the same idea with levels and an off switch. Ask: when is a print statement enough?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PEP 282 was created in February 2002 and landed in Python 2.3. The five levels are its design. Ask students which level they would use for a missing file.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names, five numbers, from ten to fifty. A message is shown when its number reaches the threshold. Warning is the default threshold.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call to basicConfig sets the threshold, the format and the destination. With INFO the debug line stays silent. Force equals true replaces an earlier setup.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format string names the fields of a line. To keep the result fixed, the record is built by hand. In a real program logging does that for you.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named parameter filename sends the log to a file. The screen stays quiet; the evidence stays on disk. A critical message still lands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Disable silences a level and everything below it. Notset switches everything back on. No logging call has to be deleted.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message with arguments is formatted only if it is emitted. The f-string builds the text first, even when nobody reads it. Count the calls.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Three bugs from the chapter: a loop that starts too early, strings that were meant to be numbers, and a comparison that can never be true.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 three buggy programs hides one small mistake: a zero at the start, a string where a number belongs, a comparison across types.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DEBUG lines: i starts at zero and total dies with it. The log is the witness that shows the loop starts one step too early.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from one to n plus one. The product grows one, two, six. The same log that found the bug now proves the fix.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gives text. Plus joins text. Five, three and forty-two become 5342. Convert each answer with int before adding.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toss is a number and the guess is a text. They are never equal, so the game never lets you win. The tuple test only checks the spelling.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 the number into its word before the comparison. Out of a thousand tosses the fixed game agrees about half the time; the buggy one never.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 debugger pauses the program and shows its variables. First see how it works inside, then the controls and the breakpoint call.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debugger pauses the film of the program. A breakpoint says where, the inspector shows the variables. The Mu editor is where the book shows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controls: continue, step in, step over, step out and stop. Ask which control you would use when the next line calls a function you trust.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functions on the left, and what each control does from the line that calls add. Step in enters, step over skips, step out leaves.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debugger is a program that watches another program line by line. Settrace gives us the same hook. The list is what an inspector pane would show at each pause.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Breakpoint calls sys dot breakpointhook. Swap the hook and the call does something else. Pdb offers the editor's controls as commands.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by the question. Can the caller fix it? Raise. Must it always be true? Assert. What happened during the run? Log. What is the state at this line? Debugger.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moves on. Notes arrived in 3.11, better error locations in 3.11, and the safe attach to a running process in 3.14. The book does not cover these.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shows how many examples each part ran.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Predict first, then run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documentation.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hyperlink" Target="https://en.wikipedia.org/wiki/Software_bu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hyperlink" Target="https://en.wikipedia.org/wiki/Brian_Kernigha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hyperlink" Target="https://peps.python.org/pep-028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chart" Target="../charts/char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chart" Target="../charts/char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chart" Target="../charts/char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automatetheboringstuff.com/3e/chapter5.html" TargetMode="External"/><Relationship Id="rId4" Type="http://schemas.openxmlformats.org/officeDocument/2006/relationships/hyperlink" Target="https://docs.python.org/3/tutorial/errors.html" TargetMode="External"/><Relationship Id="rId5" Type="http://schemas.openxmlformats.org/officeDocument/2006/relationships/hyperlink" Target="https://docs.python.org/3/reference/simple_stmts.html" TargetMode="External"/><Relationship Id="rId6" Type="http://schemas.openxmlformats.org/officeDocument/2006/relationships/hyperlink" Target="https://docs.python.org/3/library/exceptions.html" TargetMode="External"/><Relationship Id="rId7" Type="http://schemas.openxmlformats.org/officeDocument/2006/relationships/hyperlink" Target="https://docs.python.org/3/library/traceback.html" TargetMode="External"/><Relationship Id="rId8" Type="http://schemas.openxmlformats.org/officeDocument/2006/relationships/hyperlink" Target="https://docs.python.org/3/howto/logging.html" TargetMode="External"/><Relationship Id="rId9" Type="http://schemas.openxmlformats.org/officeDocument/2006/relationships/hyperlink" Target="https://docs.python.org/3/library/logging.html" TargetMode="External"/><Relationship Id="rId10" Type="http://schemas.openxmlformats.org/officeDocument/2006/relationships/hyperlink" Target="https://docs.python.org/3/howto/logging-cookbook.html" TargetMode="External"/><Relationship Id="rId11" Type="http://schemas.openxmlformats.org/officeDocument/2006/relationships/hyperlink" Target="https://docs.python.org/3/library/pdb.html" TargetMode="External"/><Relationship Id="rId12" Type="http://schemas.openxmlformats.org/officeDocument/2006/relationships/hyperlink" Target="https://peps.python.org/pep-0282/" TargetMode="External"/><Relationship Id="rId13" Type="http://schemas.openxmlformats.org/officeDocument/2006/relationships/hyperlink" Target="https://peps.python.org/pep-0678/" TargetMode="External"/><Relationship Id="rId14" Type="http://schemas.openxmlformats.org/officeDocument/2006/relationships/hyperlink" Target="https://peps.python.org/pep-0768/" TargetMode="External"/><Relationship Id="rId15" Type="http://schemas.openxmlformats.org/officeDocument/2006/relationships/hyperlink" Target="https://en.wikipedia.org/wiki/Software_bug" TargetMode="External"/><Relationship Id="rId16" Type="http://schemas.openxmlformats.org/officeDocument/2006/relationships/hyperlink" Target="https://codewith.mu/"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Debugging</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5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20</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40</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43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3220278"/>
                <a:gridCol w="983973"/>
                <a:gridCol w="1162878"/>
                <a:gridCol w="2862469"/>
              </a:tblGrid>
              <a:tr h="502920">
                <a:tc>
                  <a:txBody>
                    <a:bodyPr wrap="square"/>
                    <a:lstStyle/>
                    <a:p>
                      <a:r>
                        <a:rPr sz="130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00" b="1" i="0">
                          <a:solidFill>
                            <a:srgbClr val="1F2933"/>
                          </a:solidFill>
                          <a:latin typeface="Calibri"/>
                        </a:rPr>
                        <a:t>Exceptions and tracebacks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raise, except, traceback, notes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Assertions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11 - 15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assert, messages, python -O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Logging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16 - 25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levels, basicConfig, file, disable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Hunting bugs with the log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26 - 32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factorial, string sum, coin toss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The debugger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33 - 38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line stepper, breakpoint(), pdb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Instruments, 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39 - 43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which tool for which question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20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500" b="1" i="0">
                <a:solidFill>
                  <a:srgbClr val="1F2933"/>
                </a:solidFill>
                <a:latin typeface="Calibri"/>
              </a:rPr>
              <a:t>Which constructs signal, check, record and inspect a program's behaviour, and what decides which one a problem calls for?</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39: four instruments, chosen by the question you ask.</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500" b="1" i="0">
                <a:solidFill>
                  <a:srgbClr val="1F2933"/>
                </a:solidFill>
                <a:latin typeface="Calibri"/>
              </a:rPr>
              <a:t>Which printed outputs and concepts of the chapter differ in current Python, and on what source?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40: notes, error locations and the attach of Python 3.14.</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Raise, assert, log, step: four instruments for four questions.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Exceptions and tracebacks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function refuses a bad call; the exception climbs; the traceback tells the way</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Raising Exceptions</a:t>
            </a:r>
          </a:p>
        </p:txBody>
      </p:sp>
      <p:sp>
        <p:nvSpPr>
          <p:cNvPr id="6" name="meaning"/>
          <p:cNvSpPr txBox="1"/>
          <p:nvPr/>
        </p:nvSpPr>
        <p:spPr>
          <a:xfrm>
            <a:off x="2606040" y="1371600"/>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A function refuses a call it cannot serve by raising an exception.</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Exception object</a:t>
            </a:r>
          </a:p>
        </p:txBody>
      </p:sp>
      <p:sp>
        <p:nvSpPr>
          <p:cNvPr id="8" name="meaning"/>
          <p:cNvSpPr txBox="1"/>
          <p:nvPr/>
        </p:nvSpPr>
        <p:spPr>
          <a:xfrm>
            <a:off x="2606040" y="2029968"/>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Carries its class, its arguments and the message you gave it.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traceback</a:t>
            </a:r>
          </a:p>
        </p:txBody>
      </p:sp>
      <p:sp>
        <p:nvSpPr>
          <p:cNvPr id="10" name="meaning"/>
          <p:cNvSpPr txBox="1"/>
          <p:nvPr/>
        </p:nvSpPr>
        <p:spPr>
          <a:xfrm>
            <a:off x="2606040" y="2688336"/>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The report of the calls an exception passed on its way up.</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Notes</a:t>
            </a:r>
          </a:p>
        </p:txBody>
      </p:sp>
      <p:sp>
        <p:nvSpPr>
          <p:cNvPr id="12" name="meaning"/>
          <p:cNvSpPr txBox="1"/>
          <p:nvPr/>
        </p:nvSpPr>
        <p:spPr>
          <a:xfrm>
            <a:off x="2606040" y="3346704"/>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Context that an except clause adds before it raises again.</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errors and exceptions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bug you can visit in a museum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raise: a function refuses a bad 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except ... as err: the exception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traceback: where an exception passed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add_note: context travels with the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errors and exceptions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exception is a fire alarm: it stops the normal day and tells the building where to look.</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926080"/>
                <a:gridCol w="5486400"/>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Raising Exceptions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Pulling the fire alarm: the function stops and the building hears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bug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pebble in a shoe: small, but you feel it at every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error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note on the alarm panel: which room, and what happened.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An alarm that climbs floor by floor until someone answers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raise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Pulling the alarm lever on purpose.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Exception() class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The alarm model: a plain bell, or a special siren for gas.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box_print()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stamp that refuses to print on the wrong paper size.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traceback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Muddy footprints from the front door to the broken vase.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bug you can visit in a museum</a:t>
            </a:r>
          </a:p>
        </p:txBody>
      </p:sp>
      <p:pic>
        <p:nvPicPr>
          <p:cNvPr id="4" name="photo moth" descr="Picture for the story: the bug you can visit in a museum"/>
          <p:cNvPicPr>
            <a:picLocks noChangeAspect="1"/>
          </p:cNvPicPr>
          <p:nvPr/>
        </p:nvPicPr>
        <p:blipFill>
          <a:blip r:embed="rId3"/>
          <a:stretch>
            <a:fillRect/>
          </a:stretch>
        </p:blipFill>
        <p:spPr>
          <a:xfrm>
            <a:off x="365760" y="1283446"/>
            <a:ext cx="2651760" cy="2096547"/>
          </a:xfrm>
          <a:prstGeom prst="rect">
            <a:avLst/>
          </a:prstGeom>
        </p:spPr>
      </p:pic>
      <p:sp>
        <p:nvSpPr>
          <p:cNvPr id="5" name="credit"/>
          <p:cNvSpPr txBox="1"/>
          <p:nvPr/>
        </p:nvSpPr>
        <p:spPr>
          <a:xfrm>
            <a:off x="365760" y="3840480"/>
            <a:ext cx="2651760" cy="822960"/>
          </a:xfrm>
          <a:prstGeom prst="rect">
            <a:avLst/>
          </a:prstGeom>
          <a:noFill/>
        </p:spPr>
        <p:txBody>
          <a:bodyPr wrap="square" lIns="45720" rIns="45720" tIns="27432" bIns="27432" anchor="t">
            <a:spAutoFit/>
          </a:bodyPr>
          <a:lstStyle/>
          <a:p>
            <a:r>
              <a:rPr sz="950" b="0" i="0">
                <a:solidFill>
                  <a:srgbClr val="5B6773"/>
                </a:solidFill>
                <a:latin typeface="Calibri"/>
              </a:rPr>
              <a:t>The Mark II logbook page, 9 September 1947. Photo: U.S. Navy, Naval Surface Warfare Center Dahlgren, public domain.</a:t>
            </a:r>
          </a:p>
        </p:txBody>
      </p:sp>
      <p:sp>
        <p:nvSpPr>
          <p:cNvPr id="6" name="card"/>
          <p:cNvSpPr/>
          <p:nvPr/>
        </p:nvSpPr>
        <p:spPr>
          <a:xfrm>
            <a:off x="3200400" y="84124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WHO  </a:t>
            </a:r>
            <a:r>
              <a:rPr sz="1250" b="0" i="0">
                <a:solidFill>
                  <a:srgbClr val="1F2933"/>
                </a:solidFill>
                <a:latin typeface="Calibri"/>
              </a:rPr>
              <a:t>Grace Hopper's team of operators at the Harvard Mark II computer.</a:t>
            </a:r>
          </a:p>
        </p:txBody>
      </p:sp>
      <p:sp>
        <p:nvSpPr>
          <p:cNvPr id="8" name="card"/>
          <p:cNvSpPr/>
          <p:nvPr/>
        </p:nvSpPr>
        <p:spPr>
          <a:xfrm>
            <a:off x="3200400" y="143560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3560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WHAT  </a:t>
            </a:r>
            <a:r>
              <a:rPr sz="1250" b="0" i="0">
                <a:solidFill>
                  <a:srgbClr val="1F2933"/>
                </a:solidFill>
                <a:latin typeface="Calibri"/>
              </a:rPr>
              <a:t>A moth stuck in relay 70 of panel F. They taped it into the logbook: 'First actual case of bug being found'.</a:t>
            </a:r>
          </a:p>
        </p:txBody>
      </p:sp>
      <p:sp>
        <p:nvSpPr>
          <p:cNvPr id="10" name="card"/>
          <p:cNvSpPr/>
          <p:nvPr/>
        </p:nvSpPr>
        <p:spPr>
          <a:xfrm>
            <a:off x="3200400" y="202996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2996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WHEN  </a:t>
            </a:r>
            <a:r>
              <a:rPr sz="1250" b="0" i="0">
                <a:solidFill>
                  <a:srgbClr val="1F2933"/>
                </a:solidFill>
                <a:latin typeface="Calibri"/>
              </a:rPr>
              <a:t>9 September 1947, as the log page says; a common file title wrongly says 1945.</a:t>
            </a:r>
          </a:p>
        </p:txBody>
      </p:sp>
      <p:sp>
        <p:nvSpPr>
          <p:cNvPr id="12" name="card"/>
          <p:cNvSpPr/>
          <p:nvPr/>
        </p:nvSpPr>
        <p:spPr>
          <a:xfrm>
            <a:off x="3200400" y="262432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62432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WHERE  </a:t>
            </a:r>
            <a:r>
              <a:rPr sz="1250" b="0" i="0">
                <a:solidFill>
                  <a:srgbClr val="1F2933"/>
                </a:solidFill>
                <a:latin typeface="Calibri"/>
              </a:rPr>
              <a:t>Harvard University, Cambridge, Massachusetts. The page is now at the Smithsonian.</a:t>
            </a:r>
          </a:p>
        </p:txBody>
      </p:sp>
      <p:sp>
        <p:nvSpPr>
          <p:cNvPr id="14" name="card"/>
          <p:cNvSpPr/>
          <p:nvPr/>
        </p:nvSpPr>
        <p:spPr>
          <a:xfrm>
            <a:off x="3200400" y="321868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21868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WHY  </a:t>
            </a:r>
            <a:r>
              <a:rPr sz="1250" b="0" i="0">
                <a:solidFill>
                  <a:srgbClr val="1F2933"/>
                </a:solidFill>
                <a:latin typeface="Calibri"/>
              </a:rPr>
              <a:t>The machine had stopped; finding the cause meant opening it up and looking for evidence.</a:t>
            </a:r>
          </a:p>
        </p:txBody>
      </p:sp>
      <p:sp>
        <p:nvSpPr>
          <p:cNvPr id="16" name="card"/>
          <p:cNvSpPr/>
          <p:nvPr/>
        </p:nvSpPr>
        <p:spPr>
          <a:xfrm>
            <a:off x="3200400" y="381304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81304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HOW  </a:t>
            </a:r>
            <a:r>
              <a:rPr sz="1250" b="0" i="0">
                <a:solidFill>
                  <a:srgbClr val="1F2933"/>
                </a:solidFill>
                <a:latin typeface="Calibri"/>
              </a:rPr>
              <a:t>Debugging still goes this way: find the cause, remove it, keep a record.</a:t>
            </a:r>
          </a:p>
        </p:txBody>
      </p:sp>
      <p:sp>
        <p:nvSpPr>
          <p:cNvPr id="18" name="read"/>
          <p:cNvSpPr txBox="1"/>
          <p:nvPr/>
        </p:nvSpPr>
        <p:spPr>
          <a:xfrm>
            <a:off x="3200400" y="4425696"/>
            <a:ext cx="5577840" cy="329184"/>
          </a:xfrm>
          <a:prstGeom prst="rect">
            <a:avLst/>
          </a:prstGeom>
          <a:noFill/>
        </p:spPr>
        <p:txBody>
          <a:bodyPr wrap="square" lIns="45720" rIns="45720" tIns="27432" bIns="27432" anchor="t">
            <a:spAutoFit/>
          </a:bodyPr>
          <a:lstStyle/>
          <a:p>
            <a:r>
              <a:rPr sz="1250" b="1" i="0">
                <a:solidFill>
                  <a:srgbClr val="B7791F"/>
                </a:solidFill>
                <a:latin typeface="Calibri"/>
              </a:rPr>
              <a:t>READ  </a:t>
            </a:r>
            <a:r>
              <a:rPr sz="1250" b="0" i="0">
                <a:solidFill>
                  <a:srgbClr val="0E7C86"/>
                </a:solidFill>
                <a:latin typeface="Calibri"/>
                <a:hlinkClick r:id="rId4"/>
              </a:rPr>
              <a:t>Software bug, with the 1947 logbook page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raise: a function refuses a bad call</a:t>
            </a:r>
          </a:p>
        </p:txBody>
      </p:sp>
      <p:sp>
        <p:nvSpPr>
          <p:cNvPr id="4" name="code"/>
          <p:cNvSpPr/>
          <p:nvPr/>
        </p:nvSpPr>
        <p:spPr>
          <a:xfrm>
            <a:off x="365760" y="777240"/>
            <a:ext cx="5468112" cy="73507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box_print</a:t>
            </a:r>
            <a:r>
              <a:rPr sz="950" b="0" i="0">
                <a:solidFill>
                  <a:srgbClr val="E6EDF3"/>
                </a:solidFill>
                <a:latin typeface="Courier New"/>
              </a:rPr>
              <a:t>(</a:t>
            </a:r>
            <a:r>
              <a:rPr sz="950" b="0" i="0">
                <a:solidFill>
                  <a:srgbClr val="E6EDF3"/>
                </a:solidFill>
                <a:latin typeface="Courier New"/>
              </a:rPr>
              <a:t>symbol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width</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height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if</a:t>
            </a:r>
            <a:r>
              <a:rPr sz="950" b="0" i="0">
                <a:solidFill>
                  <a:srgbClr val="E6EDF3"/>
                </a:solidFill>
                <a:latin typeface="Courier New"/>
              </a:rPr>
              <a:t> </a:t>
            </a:r>
            <a:r>
              <a:rPr sz="950" b="0" i="0">
                <a:solidFill>
                  <a:srgbClr val="E6EDF3"/>
                </a:solidFill>
                <a:latin typeface="Courier New"/>
              </a:rPr>
              <a:t>len</a:t>
            </a:r>
            <a:r>
              <a:rPr sz="950" b="0" i="0">
                <a:solidFill>
                  <a:srgbClr val="E6EDF3"/>
                </a:solidFill>
                <a:latin typeface="Courier New"/>
              </a:rPr>
              <a:t>(</a:t>
            </a:r>
            <a:r>
              <a:rPr sz="950" b="0" i="0">
                <a:solidFill>
                  <a:srgbClr val="E6EDF3"/>
                </a:solidFill>
                <a:latin typeface="Courier New"/>
              </a:rPr>
              <a:t>symbol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raise</a:t>
            </a:r>
            <a:r>
              <a:rPr sz="950" b="0" i="0">
                <a:solidFill>
                  <a:srgbClr val="E6EDF3"/>
                </a:solidFill>
                <a:latin typeface="Courier New"/>
              </a:rPr>
              <a:t> </a:t>
            </a:r>
            <a:r>
              <a:rPr sz="950" b="0" i="0">
                <a:solidFill>
                  <a:srgbClr val="E6EDF3"/>
                </a:solidFill>
                <a:latin typeface="Courier New"/>
              </a:rPr>
              <a:t>Exception</a:t>
            </a:r>
            <a:r>
              <a:rPr sz="950" b="0" i="0">
                <a:solidFill>
                  <a:srgbClr val="E6EDF3"/>
                </a:solidFill>
                <a:latin typeface="Courier New"/>
              </a:rPr>
              <a:t>(</a:t>
            </a:r>
            <a:r>
              <a:rPr sz="950" b="0" i="0">
                <a:solidFill>
                  <a:srgbClr val="9BE3A8"/>
                </a:solidFill>
                <a:latin typeface="Courier New"/>
              </a:rPr>
              <a:t>'Symbol must be a single character string.'</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if</a:t>
            </a:r>
            <a:r>
              <a:rPr sz="950" b="0" i="0">
                <a:solidFill>
                  <a:srgbClr val="E6EDF3"/>
                </a:solidFill>
                <a:latin typeface="Courier New"/>
              </a:rPr>
              <a:t> </a:t>
            </a:r>
            <a:r>
              <a:rPr sz="950" b="0" i="0">
                <a:solidFill>
                  <a:srgbClr val="E6EDF3"/>
                </a:solidFill>
                <a:latin typeface="Courier New"/>
              </a:rPr>
              <a:t>width</a:t>
            </a:r>
            <a:r>
              <a:rPr sz="950" b="0" i="0">
                <a:solidFill>
                  <a:srgbClr val="E6EDF3"/>
                </a:solidFill>
                <a:latin typeface="Courier New"/>
              </a:rPr>
              <a:t> </a:t>
            </a:r>
            <a:r>
              <a:rPr sz="950" b="0" i="0">
                <a:solidFill>
                  <a:srgbClr val="E6EDF3"/>
                </a:solidFill>
                <a:latin typeface="Courier New"/>
              </a:rPr>
              <a:t>&lt;</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p>
        </p:txBody>
      </p:sp>
      <p:sp>
        <p:nvSpPr>
          <p:cNvPr id="5" name="code"/>
          <p:cNvSpPr/>
          <p:nvPr/>
        </p:nvSpPr>
        <p:spPr>
          <a:xfrm>
            <a:off x="365760" y="1539748"/>
            <a:ext cx="5468112" cy="58788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raise</a:t>
            </a:r>
            <a:r>
              <a:rPr sz="950" b="0" i="0">
                <a:solidFill>
                  <a:srgbClr val="E6EDF3"/>
                </a:solidFill>
                <a:latin typeface="Courier New"/>
              </a:rPr>
              <a:t> </a:t>
            </a:r>
            <a:r>
              <a:rPr sz="950" b="0" i="0">
                <a:solidFill>
                  <a:srgbClr val="E6EDF3"/>
                </a:solidFill>
                <a:latin typeface="Courier New"/>
              </a:rPr>
              <a:t>Exception</a:t>
            </a:r>
            <a:r>
              <a:rPr sz="950" b="0" i="0">
                <a:solidFill>
                  <a:srgbClr val="E6EDF3"/>
                </a:solidFill>
                <a:latin typeface="Courier New"/>
              </a:rPr>
              <a:t>(</a:t>
            </a:r>
            <a:r>
              <a:rPr sz="950" b="0" i="0">
                <a:solidFill>
                  <a:srgbClr val="9BE3A8"/>
                </a:solidFill>
                <a:latin typeface="Courier New"/>
              </a:rPr>
              <a:t>'Width must be greater than 2.'</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if</a:t>
            </a:r>
            <a:r>
              <a:rPr sz="950" b="0" i="0">
                <a:solidFill>
                  <a:srgbClr val="E6EDF3"/>
                </a:solidFill>
                <a:latin typeface="Courier New"/>
              </a:rPr>
              <a:t> </a:t>
            </a:r>
            <a:r>
              <a:rPr sz="950" b="0" i="0">
                <a:solidFill>
                  <a:srgbClr val="E6EDF3"/>
                </a:solidFill>
                <a:latin typeface="Courier New"/>
              </a:rPr>
              <a:t>height</a:t>
            </a:r>
            <a:r>
              <a:rPr sz="950" b="0" i="0">
                <a:solidFill>
                  <a:srgbClr val="E6EDF3"/>
                </a:solidFill>
                <a:latin typeface="Courier New"/>
              </a:rPr>
              <a:t> </a:t>
            </a:r>
            <a:r>
              <a:rPr sz="950" b="0" i="0">
                <a:solidFill>
                  <a:srgbClr val="E6EDF3"/>
                </a:solidFill>
                <a:latin typeface="Courier New"/>
              </a:rPr>
              <a:t>&lt;</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raise</a:t>
            </a:r>
            <a:r>
              <a:rPr sz="950" b="0" i="0">
                <a:solidFill>
                  <a:srgbClr val="E6EDF3"/>
                </a:solidFill>
                <a:latin typeface="Courier New"/>
              </a:rPr>
              <a:t> </a:t>
            </a:r>
            <a:r>
              <a:rPr sz="950" b="0" i="0">
                <a:solidFill>
                  <a:srgbClr val="E6EDF3"/>
                </a:solidFill>
                <a:latin typeface="Courier New"/>
              </a:rPr>
              <a:t>Exception</a:t>
            </a:r>
            <a:r>
              <a:rPr sz="950" b="0" i="0">
                <a:solidFill>
                  <a:srgbClr val="E6EDF3"/>
                </a:solidFill>
                <a:latin typeface="Courier New"/>
              </a:rPr>
              <a:t>(</a:t>
            </a:r>
            <a:r>
              <a:rPr sz="950" b="0" i="0">
                <a:solidFill>
                  <a:srgbClr val="9BE3A8"/>
                </a:solidFill>
                <a:latin typeface="Courier New"/>
              </a:rPr>
              <a:t>'Height must be greater than 2.'</a:t>
            </a:r>
            <a:r>
              <a:rPr sz="950" b="0" i="0">
                <a:solidFill>
                  <a:srgbClr val="E6EDF3"/>
                </a:solidFill>
                <a:latin typeface="Courier New"/>
              </a:rPr>
              <a:t>)</a:t>
            </a:r>
          </a:p>
        </p:txBody>
      </p:sp>
      <p:sp>
        <p:nvSpPr>
          <p:cNvPr id="6" name="explanation"/>
          <p:cNvSpPr txBox="1"/>
          <p:nvPr/>
        </p:nvSpPr>
        <p:spPr>
          <a:xfrm>
            <a:off x="5815584" y="777240"/>
            <a:ext cx="2962656" cy="1350391"/>
          </a:xfrm>
          <a:prstGeom prst="rect">
            <a:avLst/>
          </a:prstGeom>
          <a:noFill/>
        </p:spPr>
        <p:txBody>
          <a:bodyPr wrap="square" lIns="128016" rIns="128016" tIns="18288" bIns="18288" anchor="ctr">
            <a:spAutoFit/>
          </a:bodyPr>
          <a:lstStyle/>
          <a:p>
            <a:r>
              <a:rPr sz="1050" b="0" i="0">
                <a:solidFill>
                  <a:srgbClr val="1F2933"/>
                </a:solidFill>
                <a:latin typeface="Calibri"/>
              </a:rPr>
              <a:t>box_print checks its three arguments. A bad one stops the function with raise and an Exception that carries a message.</a:t>
            </a:r>
          </a:p>
        </p:txBody>
      </p:sp>
      <p:sp>
        <p:nvSpPr>
          <p:cNvPr id="7" name="code"/>
          <p:cNvSpPr/>
          <p:nvPr/>
        </p:nvSpPr>
        <p:spPr>
          <a:xfrm>
            <a:off x="365760" y="2182495"/>
            <a:ext cx="5468112" cy="44068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row</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symbol</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 '</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width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symbol</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rows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symbol</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width</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row</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height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p>
        </p:txBody>
      </p:sp>
      <p:sp>
        <p:nvSpPr>
          <p:cNvPr id="8" name="code"/>
          <p:cNvSpPr/>
          <p:nvPr/>
        </p:nvSpPr>
        <p:spPr>
          <a:xfrm>
            <a:off x="365760" y="2650617"/>
            <a:ext cx="5468112" cy="44068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'\n'</a:t>
            </a:r>
            <a:r>
              <a:rPr sz="950" b="0" i="0">
                <a:solidFill>
                  <a:srgbClr val="E6EDF3"/>
                </a:solidFill>
                <a:latin typeface="Courier New"/>
              </a:rPr>
              <a:t>.</a:t>
            </a:r>
            <a:r>
              <a:rPr sz="950" b="0" i="0">
                <a:solidFill>
                  <a:srgbClr val="E6EDF3"/>
                </a:solidFill>
                <a:latin typeface="Courier New"/>
              </a:rPr>
              <a:t>join</a:t>
            </a:r>
            <a:r>
              <a:rPr sz="950" b="0" i="0">
                <a:solidFill>
                  <a:srgbClr val="E6EDF3"/>
                </a:solidFill>
                <a:latin typeface="Courier New"/>
              </a:rPr>
              <a:t>(</a:t>
            </a:r>
            <a:r>
              <a:rPr sz="950" b="0" i="0">
                <a:solidFill>
                  <a:srgbClr val="E6EDF3"/>
                </a:solidFill>
                <a:latin typeface="Courier New"/>
              </a:rPr>
              <a:t>rows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symbol</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width</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box_print</a:t>
            </a:r>
            <a:r>
              <a:rPr sz="950" b="0" i="0">
                <a:solidFill>
                  <a:srgbClr val="E6EDF3"/>
                </a:solidFill>
                <a:latin typeface="Courier New"/>
              </a:rPr>
              <a:t>(</a:t>
            </a:r>
            <a:r>
              <a:rPr sz="950" b="0" i="0">
                <a:solidFill>
                  <a:srgbClr val="9BE3A8"/>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5</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4</a:t>
            </a:r>
            <a:r>
              <a:rPr sz="950" b="0" i="0">
                <a:solidFill>
                  <a:srgbClr val="E6EDF3"/>
                </a:solidFill>
                <a:latin typeface="Courier New"/>
              </a:rPr>
              <a:t>)</a:t>
            </a:r>
          </a:p>
        </p:txBody>
      </p:sp>
      <p:sp>
        <p:nvSpPr>
          <p:cNvPr id="9" name="explanation"/>
          <p:cNvSpPr txBox="1"/>
          <p:nvPr/>
        </p:nvSpPr>
        <p:spPr>
          <a:xfrm>
            <a:off x="5815584" y="2182495"/>
            <a:ext cx="2962656" cy="908811"/>
          </a:xfrm>
          <a:prstGeom prst="rect">
            <a:avLst/>
          </a:prstGeom>
          <a:noFill/>
        </p:spPr>
        <p:txBody>
          <a:bodyPr wrap="square" lIns="128016" rIns="128016" tIns="18288" bIns="18288" anchor="ctr">
            <a:spAutoFit/>
          </a:bodyPr>
          <a:lstStyle/>
          <a:p>
            <a:r>
              <a:rPr sz="1050" b="0" i="0">
                <a:solidFill>
                  <a:srgbClr val="1F2933"/>
                </a:solidFill>
                <a:latin typeface="Calibri"/>
              </a:rPr>
              <a:t>Good arguments reach the drawing lines: the top edge, the middle rows and the bottom edge, printed as one box.</a:t>
            </a:r>
          </a:p>
        </p:txBody>
      </p:sp>
      <p:sp>
        <p:nvSpPr>
          <p:cNvPr id="10" name="result label"/>
          <p:cNvSpPr txBox="1"/>
          <p:nvPr/>
        </p:nvSpPr>
        <p:spPr>
          <a:xfrm>
            <a:off x="365760" y="3137027"/>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65627"/>
          <a:ext cx="6056984" cy="1297810"/>
        </p:xfrm>
        <a:graphic>
          <a:graphicData uri="http://schemas.openxmlformats.org/drawingml/2006/table">
            <a:tbl>
              <a:tblPr firstRow="0" bandRow="0"/>
              <a:tblGrid>
                <a:gridCol w="1175236"/>
                <a:gridCol w="1265638"/>
                <a:gridCol w="3616110"/>
              </a:tblGrid>
              <a:tr h="259562">
                <a:tc>
                  <a:txBody>
                    <a:bodyPr wrap="square"/>
                    <a:lstStyle/>
                    <a:p>
                      <a:r>
                        <a:rPr sz="1000" b="1" i="0">
                          <a:solidFill>
                            <a:srgbClr val="FFFFFF"/>
                          </a:solidFill>
                          <a:latin typeface="Calibri"/>
                        </a:rPr>
                        <a:t>box_print(...)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happened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Message of the 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9562">
                <a:tc>
                  <a:txBody>
                    <a:bodyPr wrap="square"/>
                    <a:lstStyle/>
                    <a:p>
                      <a:r>
                        <a:rPr sz="1000" b="0" i="0">
                          <a:solidFill>
                            <a:srgbClr val="1F2933"/>
                          </a:solidFill>
                          <a:latin typeface="Courier New"/>
                        </a:rPr>
                        <a:t>'ab', 5,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B83A1B"/>
                          </a:solidFill>
                          <a:latin typeface="Calibri"/>
                        </a:rPr>
                        <a:t>raised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Symbol must be a single character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9562">
                <a:tc>
                  <a:txBody>
                    <a:bodyPr wrap="square"/>
                    <a:lstStyle/>
                    <a:p>
                      <a:r>
                        <a:rPr sz="1000" b="0" i="0">
                          <a:solidFill>
                            <a:srgbClr val="1F2933"/>
                          </a:solidFill>
                          <a:latin typeface="Courier New"/>
                        </a:rPr>
                        <a:t>'*', 2,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B83A1B"/>
                          </a:solidFill>
                          <a:latin typeface="Calibri"/>
                        </a:rPr>
                        <a:t>raised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Width must be greater than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9562">
                <a:tc>
                  <a:txBody>
                    <a:bodyPr wrap="square"/>
                    <a:lstStyle/>
                    <a:p>
                      <a:r>
                        <a:rPr sz="1000" b="0" i="0">
                          <a:solidFill>
                            <a:srgbClr val="1F2933"/>
                          </a:solidFill>
                          <a:latin typeface="Courier New"/>
                        </a:rPr>
                        <a:t>'*', 5,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B83A1B"/>
                          </a:solidFill>
                          <a:latin typeface="Calibri"/>
                        </a:rPr>
                        <a:t>raised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Height must be greater than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9562">
                <a:tc>
                  <a:txBody>
                    <a:bodyPr wrap="square"/>
                    <a:lstStyle/>
                    <a:p>
                      <a:r>
                        <a:rPr sz="1000" b="0" i="0">
                          <a:solidFill>
                            <a:srgbClr val="1F2933"/>
                          </a:solidFill>
                          <a:latin typeface="Courier New"/>
                        </a:rPr>
                        <a:t>'*', 5,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2F855A"/>
                          </a:solidFill>
                          <a:latin typeface="Calibri"/>
                        </a:rPr>
                        <a:t>printed a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TextBox 11"/>
          <p:cNvSpPr txBox="1"/>
          <p:nvPr/>
        </p:nvSpPr>
        <p:spPr>
          <a:xfrm>
            <a:off x="6759244" y="3365627"/>
            <a:ext cx="2011680" cy="201168"/>
          </a:xfrm>
          <a:prstGeom prst="rect">
            <a:avLst/>
          </a:prstGeom>
          <a:noFill/>
        </p:spPr>
        <p:txBody>
          <a:bodyPr wrap="square" lIns="45720" rIns="45720" tIns="27432" bIns="27432" anchor="t">
            <a:spAutoFit/>
          </a:bodyPr>
          <a:lstStyle/>
          <a:p>
            <a:r>
              <a:rPr sz="950" b="0" i="1">
                <a:solidFill>
                  <a:srgbClr val="5B6773"/>
                </a:solidFill>
                <a:latin typeface="Calibri"/>
              </a:rPr>
              <a:t>the box that was printed</a:t>
            </a:r>
          </a:p>
        </p:txBody>
      </p:sp>
      <p:sp>
        <p:nvSpPr>
          <p:cNvPr id="13" name="Rounded Rectangle 12"/>
          <p:cNvSpPr/>
          <p:nvPr/>
        </p:nvSpPr>
        <p:spPr>
          <a:xfrm>
            <a:off x="6759244" y="362165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14" name="Rounded Rectangle 13"/>
          <p:cNvSpPr/>
          <p:nvPr/>
        </p:nvSpPr>
        <p:spPr>
          <a:xfrm>
            <a:off x="6942124" y="362165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15" name="Rounded Rectangle 14"/>
          <p:cNvSpPr/>
          <p:nvPr/>
        </p:nvSpPr>
        <p:spPr>
          <a:xfrm>
            <a:off x="7125004" y="362165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16" name="Rounded Rectangle 15"/>
          <p:cNvSpPr/>
          <p:nvPr/>
        </p:nvSpPr>
        <p:spPr>
          <a:xfrm>
            <a:off x="7307884" y="362165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17" name="Rounded Rectangle 16"/>
          <p:cNvSpPr/>
          <p:nvPr/>
        </p:nvSpPr>
        <p:spPr>
          <a:xfrm>
            <a:off x="7490764" y="362165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18" name="Rounded Rectangle 17"/>
          <p:cNvSpPr/>
          <p:nvPr/>
        </p:nvSpPr>
        <p:spPr>
          <a:xfrm>
            <a:off x="6759244" y="380453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19" name="Rounded Rectangle 18"/>
          <p:cNvSpPr/>
          <p:nvPr/>
        </p:nvSpPr>
        <p:spPr>
          <a:xfrm>
            <a:off x="6942124" y="3804539"/>
            <a:ext cx="164592" cy="16459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
            </a:r>
          </a:p>
        </p:txBody>
      </p:sp>
      <p:sp>
        <p:nvSpPr>
          <p:cNvPr id="20" name="Rounded Rectangle 19"/>
          <p:cNvSpPr/>
          <p:nvPr/>
        </p:nvSpPr>
        <p:spPr>
          <a:xfrm>
            <a:off x="7125004" y="3804539"/>
            <a:ext cx="164592" cy="16459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
            </a:r>
          </a:p>
        </p:txBody>
      </p:sp>
      <p:sp>
        <p:nvSpPr>
          <p:cNvPr id="21" name="Rounded Rectangle 20"/>
          <p:cNvSpPr/>
          <p:nvPr/>
        </p:nvSpPr>
        <p:spPr>
          <a:xfrm>
            <a:off x="7307884" y="3804539"/>
            <a:ext cx="164592" cy="16459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
            </a:r>
          </a:p>
        </p:txBody>
      </p:sp>
      <p:sp>
        <p:nvSpPr>
          <p:cNvPr id="22" name="Rounded Rectangle 21"/>
          <p:cNvSpPr/>
          <p:nvPr/>
        </p:nvSpPr>
        <p:spPr>
          <a:xfrm>
            <a:off x="7490764" y="380453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23" name="Rounded Rectangle 22"/>
          <p:cNvSpPr/>
          <p:nvPr/>
        </p:nvSpPr>
        <p:spPr>
          <a:xfrm>
            <a:off x="6759244" y="398741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24" name="Rounded Rectangle 23"/>
          <p:cNvSpPr/>
          <p:nvPr/>
        </p:nvSpPr>
        <p:spPr>
          <a:xfrm>
            <a:off x="6942124" y="3987419"/>
            <a:ext cx="164592" cy="16459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
            </a:r>
          </a:p>
        </p:txBody>
      </p:sp>
      <p:sp>
        <p:nvSpPr>
          <p:cNvPr id="25" name="Rounded Rectangle 24"/>
          <p:cNvSpPr/>
          <p:nvPr/>
        </p:nvSpPr>
        <p:spPr>
          <a:xfrm>
            <a:off x="7125004" y="3987419"/>
            <a:ext cx="164592" cy="16459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
            </a:r>
          </a:p>
        </p:txBody>
      </p:sp>
      <p:sp>
        <p:nvSpPr>
          <p:cNvPr id="26" name="Rounded Rectangle 25"/>
          <p:cNvSpPr/>
          <p:nvPr/>
        </p:nvSpPr>
        <p:spPr>
          <a:xfrm>
            <a:off x="7307884" y="3987419"/>
            <a:ext cx="164592" cy="164592"/>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
            </a:r>
          </a:p>
        </p:txBody>
      </p:sp>
      <p:sp>
        <p:nvSpPr>
          <p:cNvPr id="27" name="Rounded Rectangle 26"/>
          <p:cNvSpPr/>
          <p:nvPr/>
        </p:nvSpPr>
        <p:spPr>
          <a:xfrm>
            <a:off x="7490764" y="398741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28" name="Rounded Rectangle 27"/>
          <p:cNvSpPr/>
          <p:nvPr/>
        </p:nvSpPr>
        <p:spPr>
          <a:xfrm>
            <a:off x="6759244" y="417029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29" name="Rounded Rectangle 28"/>
          <p:cNvSpPr/>
          <p:nvPr/>
        </p:nvSpPr>
        <p:spPr>
          <a:xfrm>
            <a:off x="6942124" y="417029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30" name="Rounded Rectangle 29"/>
          <p:cNvSpPr/>
          <p:nvPr/>
        </p:nvSpPr>
        <p:spPr>
          <a:xfrm>
            <a:off x="7125004" y="417029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31" name="Rounded Rectangle 30"/>
          <p:cNvSpPr/>
          <p:nvPr/>
        </p:nvSpPr>
        <p:spPr>
          <a:xfrm>
            <a:off x="7307884" y="417029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32" name="Rounded Rectangle 31"/>
          <p:cNvSpPr/>
          <p:nvPr/>
        </p:nvSpPr>
        <p:spPr>
          <a:xfrm>
            <a:off x="7490764" y="4170299"/>
            <a:ext cx="164592" cy="164592"/>
          </a:xfrm>
          <a:prstGeom prst="roundRect">
            <a:avLst>
              <a:gd name="adj" fmla="val 10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raise stops the function and tells the caller why.</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except ... as err: the exception object</a:t>
            </a:r>
          </a:p>
        </p:txBody>
      </p:sp>
      <p:sp>
        <p:nvSpPr>
          <p:cNvPr id="4" name="code"/>
          <p:cNvSpPr/>
          <p:nvPr/>
        </p:nvSpPr>
        <p:spPr>
          <a:xfrm>
            <a:off x="365760" y="777240"/>
            <a:ext cx="583387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raise</a:t>
            </a:r>
            <a:r>
              <a:rPr sz="1200" b="0" i="0">
                <a:solidFill>
                  <a:srgbClr val="E6EDF3"/>
                </a:solidFill>
                <a:latin typeface="Courier New"/>
              </a:rPr>
              <a:t> </a:t>
            </a:r>
            <a:r>
              <a:rPr sz="1200" b="0" i="0">
                <a:solidFill>
                  <a:srgbClr val="E6EDF3"/>
                </a:solidFill>
                <a:latin typeface="Courier New"/>
              </a:rPr>
              <a:t>Exception</a:t>
            </a:r>
            <a:r>
              <a:rPr sz="1200" b="0" i="0">
                <a:solidFill>
                  <a:srgbClr val="E6EDF3"/>
                </a:solidFill>
                <a:latin typeface="Courier New"/>
              </a:rPr>
              <a:t>(</a:t>
            </a:r>
            <a:r>
              <a:rPr sz="1200" b="0" i="0">
                <a:solidFill>
                  <a:srgbClr val="9BE3A8"/>
                </a:solidFill>
                <a:latin typeface="Courier New"/>
              </a:rPr>
              <a:t>'custom message'</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Exception</a:t>
            </a:r>
            <a:r>
              <a:rPr sz="1200" b="0" i="0">
                <a:solidFill>
                  <a:srgbClr val="E6EDF3"/>
                </a:solidFill>
                <a:latin typeface="Courier New"/>
              </a:rPr>
              <a:t> </a:t>
            </a:r>
            <a:r>
              <a:rPr sz="1200" b="0" i="0">
                <a:solidFill>
                  <a:srgbClr val="C9A0FF"/>
                </a:solidFill>
                <a:latin typeface="Courier New"/>
              </a:rPr>
              <a:t>as</a:t>
            </a:r>
            <a:r>
              <a:rPr sz="1200" b="0" i="0">
                <a:solidFill>
                  <a:srgbClr val="E6EDF3"/>
                </a:solidFill>
                <a:latin typeface="Courier New"/>
              </a:rPr>
              <a:t> </a:t>
            </a:r>
            <a:r>
              <a:rPr sz="1200" b="0" i="0">
                <a:solidFill>
                  <a:srgbClr val="E6EDF3"/>
                </a:solidFill>
                <a:latin typeface="Courier New"/>
              </a:rPr>
              <a:t>err</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err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err</a:t>
            </a:r>
            <a:r>
              <a:rPr sz="1200" b="0" i="0">
                <a:solidFill>
                  <a:srgbClr val="E6EDF3"/>
                </a:solidFill>
                <a:latin typeface="Courier New"/>
              </a:rPr>
              <a:t>.</a:t>
            </a:r>
            <a:r>
              <a:rPr sz="1200" b="0" i="0">
                <a:solidFill>
                  <a:srgbClr val="E6EDF3"/>
                </a:solidFill>
                <a:latin typeface="Courier New"/>
              </a:rPr>
              <a:t>args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str</a:t>
            </a:r>
            <a:r>
              <a:rPr sz="1200" b="0" i="0">
                <a:solidFill>
                  <a:srgbClr val="E6EDF3"/>
                </a:solidFill>
                <a:latin typeface="Courier New"/>
              </a:rPr>
              <a:t>(</a:t>
            </a:r>
            <a:r>
              <a:rPr sz="1200" b="0" i="0">
                <a:solidFill>
                  <a:srgbClr val="E6EDF3"/>
                </a:solidFill>
                <a:latin typeface="Courier New"/>
              </a:rPr>
              <a:t>err</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6181344" y="777240"/>
            <a:ext cx="2596895" cy="1080516"/>
          </a:xfrm>
          <a:prstGeom prst="rect">
            <a:avLst/>
          </a:prstGeom>
          <a:noFill/>
        </p:spPr>
        <p:txBody>
          <a:bodyPr wrap="square" lIns="128016" rIns="128016" tIns="18288" bIns="18288" anchor="ctr">
            <a:spAutoFit/>
          </a:bodyPr>
          <a:lstStyle/>
          <a:p>
            <a:r>
              <a:rPr sz="1200" b="0" i="0">
                <a:solidFill>
                  <a:srgbClr val="1F2933"/>
                </a:solidFill>
                <a:latin typeface="Calibri"/>
              </a:rPr>
              <a:t>The message given to Exception is kept in args, and str(err) gives it back. The except clause catches the exception by its class.</a:t>
            </a:r>
          </a:p>
        </p:txBody>
      </p:sp>
      <p:sp>
        <p:nvSpPr>
          <p:cNvPr id="6" name="code"/>
          <p:cNvSpPr/>
          <p:nvPr/>
        </p:nvSpPr>
        <p:spPr>
          <a:xfrm>
            <a:off x="365760" y="1912620"/>
            <a:ext cx="583387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raise</a:t>
            </a:r>
            <a:r>
              <a:rPr sz="1200" b="0" i="0">
                <a:solidFill>
                  <a:srgbClr val="E6EDF3"/>
                </a:solidFill>
                <a:latin typeface="Courier New"/>
              </a:rPr>
              <a:t> </a:t>
            </a:r>
            <a:r>
              <a:rPr sz="1200" b="0" i="0">
                <a:solidFill>
                  <a:srgbClr val="E6EDF3"/>
                </a:solidFill>
                <a:latin typeface="Courier New"/>
              </a:rPr>
              <a:t>ValueError</a:t>
            </a:r>
            <a:r>
              <a:rPr sz="1200" b="0" i="0">
                <a:solidFill>
                  <a:srgbClr val="E6EDF3"/>
                </a:solidFill>
                <a:latin typeface="Courier New"/>
              </a:rPr>
              <a:t>(</a:t>
            </a:r>
            <a:r>
              <a:rPr sz="1200" b="0" i="0">
                <a:solidFill>
                  <a:srgbClr val="9BE3A8"/>
                </a:solidFill>
                <a:latin typeface="Courier New"/>
              </a:rPr>
              <a:t>'a more specific class'</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Exception</a:t>
            </a:r>
            <a:r>
              <a:rPr sz="1200" b="0" i="0">
                <a:solidFill>
                  <a:srgbClr val="E6EDF3"/>
                </a:solidFill>
                <a:latin typeface="Courier New"/>
              </a:rPr>
              <a:t> </a:t>
            </a:r>
            <a:r>
              <a:rPr sz="1200" b="0" i="0">
                <a:solidFill>
                  <a:srgbClr val="C9A0FF"/>
                </a:solidFill>
                <a:latin typeface="Courier New"/>
              </a:rPr>
              <a:t>as</a:t>
            </a:r>
            <a:r>
              <a:rPr sz="1200" b="0" i="0">
                <a:solidFill>
                  <a:srgbClr val="E6EDF3"/>
                </a:solidFill>
                <a:latin typeface="Courier New"/>
              </a:rPr>
              <a:t> </a:t>
            </a:r>
            <a:r>
              <a:rPr sz="1200" b="0" i="0">
                <a:solidFill>
                  <a:srgbClr val="E6EDF3"/>
                </a:solidFill>
                <a:latin typeface="Courier New"/>
              </a:rPr>
              <a:t>err</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err</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isinstance</a:t>
            </a:r>
            <a:r>
              <a:rPr sz="1200" b="0" i="0">
                <a:solidFill>
                  <a:srgbClr val="E6EDF3"/>
                </a:solidFill>
                <a:latin typeface="Courier New"/>
              </a:rPr>
              <a:t>(</a:t>
            </a:r>
            <a:r>
              <a:rPr sz="1200" b="0" i="0">
                <a:solidFill>
                  <a:srgbClr val="E6EDF3"/>
                </a:solidFill>
                <a:latin typeface="Courier New"/>
              </a:rPr>
              <a:t>err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Exception</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6181344" y="1912620"/>
            <a:ext cx="2596895" cy="890016"/>
          </a:xfrm>
          <a:prstGeom prst="rect">
            <a:avLst/>
          </a:prstGeom>
          <a:noFill/>
        </p:spPr>
        <p:txBody>
          <a:bodyPr wrap="square" lIns="128016" rIns="128016" tIns="18288" bIns="18288" anchor="ctr">
            <a:spAutoFit/>
          </a:bodyPr>
          <a:lstStyle/>
          <a:p>
            <a:r>
              <a:rPr sz="1200" b="0" i="0">
                <a:solidFill>
                  <a:srgbClr val="1F2933"/>
                </a:solidFill>
                <a:latin typeface="Calibri"/>
              </a:rPr>
              <a:t>ValueError is a more specific class of Exception, so the same except clause catches it too.</a:t>
            </a:r>
          </a:p>
        </p:txBody>
      </p:sp>
      <p:sp>
        <p:nvSpPr>
          <p:cNvPr id="8" name="result label"/>
          <p:cNvSpPr txBox="1"/>
          <p:nvPr/>
        </p:nvSpPr>
        <p:spPr>
          <a:xfrm>
            <a:off x="365760" y="2848356"/>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76956"/>
          <a:ext cx="4626863" cy="1371600"/>
        </p:xfrm>
        <a:graphic>
          <a:graphicData uri="http://schemas.openxmlformats.org/drawingml/2006/table">
            <a:tbl>
              <a:tblPr firstRow="0" bandRow="0"/>
              <a:tblGrid>
                <a:gridCol w="2358793"/>
                <a:gridCol w="2268070"/>
              </a:tblGrid>
              <a:tr h="274320">
                <a:tc>
                  <a:txBody>
                    <a:bodyPr wrap="square"/>
                    <a:lstStyle/>
                    <a:p>
                      <a:r>
                        <a:rPr sz="10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type(err).__name__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err.args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('custom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str(err)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'custom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isinstance(ValueError(), 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6419088" y="3076956"/>
            <a:ext cx="1645920" cy="27432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BaseException</a:t>
            </a:r>
          </a:p>
        </p:txBody>
      </p:sp>
      <p:sp>
        <p:nvSpPr>
          <p:cNvPr id="11" name="Rounded Rectangle 10"/>
          <p:cNvSpPr/>
          <p:nvPr/>
        </p:nvSpPr>
        <p:spPr>
          <a:xfrm>
            <a:off x="6419088" y="3579876"/>
            <a:ext cx="164592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Exception</a:t>
            </a:r>
          </a:p>
        </p:txBody>
      </p:sp>
      <p:sp>
        <p:nvSpPr>
          <p:cNvPr id="12" name="Rounded Rectangle 11"/>
          <p:cNvSpPr/>
          <p:nvPr/>
        </p:nvSpPr>
        <p:spPr>
          <a:xfrm>
            <a:off x="5413248" y="4082796"/>
            <a:ext cx="150876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ValueError</a:t>
            </a:r>
          </a:p>
        </p:txBody>
      </p:sp>
      <p:sp>
        <p:nvSpPr>
          <p:cNvPr id="13" name="Rounded Rectangle 12"/>
          <p:cNvSpPr/>
          <p:nvPr/>
        </p:nvSpPr>
        <p:spPr>
          <a:xfrm>
            <a:off x="7104888" y="4082796"/>
            <a:ext cx="1508760" cy="27432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AssertionError</a:t>
            </a:r>
          </a:p>
        </p:txBody>
      </p:sp>
      <p:cxnSp>
        <p:nvCxnSpPr>
          <p:cNvPr id="14" name="arrow"/>
          <p:cNvCxnSpPr/>
          <p:nvPr/>
        </p:nvCxnSpPr>
        <p:spPr>
          <a:xfrm flipV="1">
            <a:off x="7242048" y="3360420"/>
            <a:ext cx="0" cy="219456"/>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arrow"/>
          <p:cNvCxnSpPr/>
          <p:nvPr/>
        </p:nvCxnSpPr>
        <p:spPr>
          <a:xfrm flipV="1">
            <a:off x="6236208" y="3863340"/>
            <a:ext cx="640080" cy="219456"/>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p:cNvCxnSpPr/>
          <p:nvPr/>
        </p:nvCxnSpPr>
        <p:spPr>
          <a:xfrm flipH="1" flipV="1">
            <a:off x="7516367" y="3863340"/>
            <a:ext cx="365761" cy="219456"/>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110728" y="3579876"/>
            <a:ext cx="822960" cy="274320"/>
          </a:xfrm>
          <a:prstGeom prst="rect">
            <a:avLst/>
          </a:prstGeom>
          <a:noFill/>
        </p:spPr>
        <p:txBody>
          <a:bodyPr wrap="square" lIns="45720" rIns="45720" tIns="27432" bIns="27432" anchor="ctr">
            <a:spAutoFit/>
          </a:bodyPr>
          <a:lstStyle/>
          <a:p>
            <a:r>
              <a:rPr sz="900" b="0" i="1">
                <a:solidFill>
                  <a:srgbClr val="5B6773"/>
                </a:solidFill>
                <a:latin typeface="Calibri"/>
              </a:rPr>
              <a:t>is a kind of</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exception is an object with a class, args and a message.</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traceback: where an exception passed</a:t>
            </a:r>
          </a:p>
        </p:txBody>
      </p:sp>
      <p:sp>
        <p:nvSpPr>
          <p:cNvPr id="4" name="code"/>
          <p:cNvSpPr/>
          <p:nvPr/>
        </p:nvSpPr>
        <p:spPr>
          <a:xfrm>
            <a:off x="365760" y="777240"/>
            <a:ext cx="4782312" cy="9984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traceback</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read_age</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int</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load</a:t>
            </a:r>
            <a:r>
              <a:rPr sz="1100" b="0" i="0">
                <a:solidFill>
                  <a:srgbClr val="E6EDF3"/>
                </a:solidFill>
                <a:latin typeface="Courier New"/>
              </a:rPr>
              <a:t>(</a:t>
            </a:r>
            <a:r>
              <a:rPr sz="1100" b="0" i="0">
                <a:solidFill>
                  <a:srgbClr val="E6EDF3"/>
                </a:solidFill>
                <a:latin typeface="Courier New"/>
              </a:rPr>
              <a:t>record</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read_age</a:t>
            </a:r>
            <a:r>
              <a:rPr sz="1100" b="0" i="0">
                <a:solidFill>
                  <a:srgbClr val="E6EDF3"/>
                </a:solidFill>
                <a:latin typeface="Courier New"/>
              </a:rPr>
              <a:t>(</a:t>
            </a:r>
            <a:r>
              <a:rPr sz="1100" b="0" i="0">
                <a:solidFill>
                  <a:srgbClr val="E6EDF3"/>
                </a:solidFill>
                <a:latin typeface="Courier New"/>
              </a:rPr>
              <a:t>record</a:t>
            </a:r>
            <a:r>
              <a:rPr sz="1100" b="0" i="0">
                <a:solidFill>
                  <a:srgbClr val="E6EDF3"/>
                </a:solidFill>
                <a:latin typeface="Courier New"/>
              </a:rPr>
              <a:t>[</a:t>
            </a:r>
            <a:r>
              <a:rPr sz="1100" b="0" i="0">
                <a:solidFill>
                  <a:srgbClr val="9BE3A8"/>
                </a:solidFill>
                <a:latin typeface="Courier New"/>
              </a:rPr>
              <a:t>'age'</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129784" y="777240"/>
            <a:ext cx="3648456" cy="998474"/>
          </a:xfrm>
          <a:prstGeom prst="rect">
            <a:avLst/>
          </a:prstGeom>
          <a:noFill/>
        </p:spPr>
        <p:txBody>
          <a:bodyPr wrap="square" lIns="128016" rIns="128016" tIns="18288" bIns="18288" anchor="ctr">
            <a:spAutoFit/>
          </a:bodyPr>
          <a:lstStyle/>
          <a:p>
            <a:r>
              <a:rPr sz="1150" b="0" i="0">
                <a:solidFill>
                  <a:srgbClr val="1F2933"/>
                </a:solidFill>
                <a:latin typeface="Calibri"/>
              </a:rPr>
              <a:t>load calls read_age, and read_age turns the text into a number with int.</a:t>
            </a:r>
          </a:p>
        </p:txBody>
      </p:sp>
      <p:sp>
        <p:nvSpPr>
          <p:cNvPr id="6" name="code"/>
          <p:cNvSpPr/>
          <p:nvPr/>
        </p:nvSpPr>
        <p:spPr>
          <a:xfrm>
            <a:off x="365760" y="1830577"/>
            <a:ext cx="4782312" cy="116890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load</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'age'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'abc'</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except</a:t>
            </a:r>
            <a:r>
              <a:rPr sz="1100" b="0" i="0">
                <a:solidFill>
                  <a:srgbClr val="E6EDF3"/>
                </a:solidFill>
                <a:latin typeface="Courier New"/>
              </a:rPr>
              <a:t> </a:t>
            </a:r>
            <a:r>
              <a:rPr sz="1100" b="0" i="0">
                <a:solidFill>
                  <a:srgbClr val="E6EDF3"/>
                </a:solidFill>
                <a:latin typeface="Courier New"/>
              </a:rPr>
              <a:t>ValueError</a:t>
            </a:r>
            <a:r>
              <a:rPr sz="1100" b="0" i="0">
                <a:solidFill>
                  <a:srgbClr val="E6EDF3"/>
                </a:solidFill>
                <a:latin typeface="Courier New"/>
              </a:rPr>
              <a:t> </a:t>
            </a:r>
            <a:r>
              <a:rPr sz="1100" b="0" i="0">
                <a:solidFill>
                  <a:srgbClr val="C9A0FF"/>
                </a:solidFill>
                <a:latin typeface="Courier New"/>
              </a:rPr>
              <a:t>as</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'caught:'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frames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traceback</a:t>
            </a:r>
            <a:r>
              <a:rPr sz="1100" b="0" i="0">
                <a:solidFill>
                  <a:srgbClr val="E6EDF3"/>
                </a:solidFill>
                <a:latin typeface="Courier New"/>
              </a:rPr>
              <a:t>.</a:t>
            </a:r>
            <a:r>
              <a:rPr sz="1100" b="0" i="0">
                <a:solidFill>
                  <a:srgbClr val="E6EDF3"/>
                </a:solidFill>
                <a:latin typeface="Courier New"/>
              </a:rPr>
              <a:t>extract_tb</a:t>
            </a:r>
            <a:r>
              <a:rPr sz="1100" b="0" i="0">
                <a:solidFill>
                  <a:srgbClr val="E6EDF3"/>
                </a:solidFill>
                <a:latin typeface="Courier New"/>
              </a:rPr>
              <a:t>(</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__traceback__</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frames</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129784" y="1830577"/>
            <a:ext cx="3648456" cy="1168907"/>
          </a:xfrm>
          <a:prstGeom prst="rect">
            <a:avLst/>
          </a:prstGeom>
          <a:noFill/>
        </p:spPr>
        <p:txBody>
          <a:bodyPr wrap="square" lIns="128016" rIns="128016" tIns="18288" bIns="18288" anchor="ctr">
            <a:spAutoFit/>
          </a:bodyPr>
          <a:lstStyle/>
          <a:p>
            <a:r>
              <a:rPr sz="1150" b="0" i="0">
                <a:solidFill>
                  <a:srgbClr val="1F2933"/>
                </a:solidFill>
                <a:latin typeface="Calibri"/>
              </a:rPr>
              <a:t>'abc' is not a number, and nobody inside claims the error, so it climbs to the try. The traceback lists the calls it passed, outermost first.</a:t>
            </a:r>
          </a:p>
        </p:txBody>
      </p:sp>
      <p:sp>
        <p:nvSpPr>
          <p:cNvPr id="8" name="result label"/>
          <p:cNvSpPr txBox="1"/>
          <p:nvPr/>
        </p:nvSpPr>
        <p:spPr>
          <a:xfrm>
            <a:off x="365760" y="3045205"/>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9" name="Rounded Rectangle 8"/>
          <p:cNvSpPr/>
          <p:nvPr/>
        </p:nvSpPr>
        <p:spPr>
          <a:xfrm>
            <a:off x="365760" y="3273805"/>
            <a:ext cx="1828800" cy="45720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&lt;module&gt; (the try)</a:t>
            </a:r>
          </a:p>
        </p:txBody>
      </p:sp>
      <p:sp>
        <p:nvSpPr>
          <p:cNvPr id="10" name="TextBox 9"/>
          <p:cNvSpPr txBox="1"/>
          <p:nvPr/>
        </p:nvSpPr>
        <p:spPr>
          <a:xfrm>
            <a:off x="365760" y="3749293"/>
            <a:ext cx="1828800" cy="228600"/>
          </a:xfrm>
          <a:prstGeom prst="rect">
            <a:avLst/>
          </a:prstGeom>
          <a:noFill/>
        </p:spPr>
        <p:txBody>
          <a:bodyPr wrap="square" lIns="0" rIns="0" tIns="0" bIns="0" anchor="t">
            <a:spAutoFit/>
          </a:bodyPr>
          <a:lstStyle/>
          <a:p>
            <a:pPr algn="ctr"/>
            <a:r>
              <a:rPr sz="950" b="0" i="0">
                <a:solidFill>
                  <a:srgbClr val="5B6773"/>
                </a:solidFill>
                <a:latin typeface="Courier New"/>
              </a:rPr>
              <a:t>load({...})</a:t>
            </a:r>
          </a:p>
        </p:txBody>
      </p:sp>
      <p:cxnSp>
        <p:nvCxnSpPr>
          <p:cNvPr id="11" name="arrow"/>
          <p:cNvCxnSpPr/>
          <p:nvPr/>
        </p:nvCxnSpPr>
        <p:spPr>
          <a:xfrm>
            <a:off x="2221991" y="3502405"/>
            <a:ext cx="310897"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560320" y="3273805"/>
            <a:ext cx="1828800" cy="45720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load</a:t>
            </a:r>
          </a:p>
        </p:txBody>
      </p:sp>
      <p:sp>
        <p:nvSpPr>
          <p:cNvPr id="13" name="TextBox 12"/>
          <p:cNvSpPr txBox="1"/>
          <p:nvPr/>
        </p:nvSpPr>
        <p:spPr>
          <a:xfrm>
            <a:off x="2560320" y="3749293"/>
            <a:ext cx="1828800" cy="228600"/>
          </a:xfrm>
          <a:prstGeom prst="rect">
            <a:avLst/>
          </a:prstGeom>
          <a:noFill/>
        </p:spPr>
        <p:txBody>
          <a:bodyPr wrap="square" lIns="0" rIns="0" tIns="0" bIns="0" anchor="t">
            <a:spAutoFit/>
          </a:bodyPr>
          <a:lstStyle/>
          <a:p>
            <a:pPr algn="ctr"/>
            <a:r>
              <a:rPr sz="950" b="0" i="0">
                <a:solidFill>
                  <a:srgbClr val="5B6773"/>
                </a:solidFill>
                <a:latin typeface="Courier New"/>
              </a:rPr>
              <a:t>read_age(...)</a:t>
            </a:r>
          </a:p>
        </p:txBody>
      </p:sp>
      <p:cxnSp>
        <p:nvCxnSpPr>
          <p:cNvPr id="14" name="arrow"/>
          <p:cNvCxnSpPr/>
          <p:nvPr/>
        </p:nvCxnSpPr>
        <p:spPr>
          <a:xfrm>
            <a:off x="4416552" y="3502405"/>
            <a:ext cx="310896" cy="0"/>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54880" y="3273805"/>
            <a:ext cx="1828800" cy="45720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read_age</a:t>
            </a:r>
          </a:p>
        </p:txBody>
      </p:sp>
      <p:sp>
        <p:nvSpPr>
          <p:cNvPr id="16" name="TextBox 15"/>
          <p:cNvSpPr txBox="1"/>
          <p:nvPr/>
        </p:nvSpPr>
        <p:spPr>
          <a:xfrm>
            <a:off x="4754880" y="3749293"/>
            <a:ext cx="1828800" cy="228600"/>
          </a:xfrm>
          <a:prstGeom prst="rect">
            <a:avLst/>
          </a:prstGeom>
          <a:noFill/>
        </p:spPr>
        <p:txBody>
          <a:bodyPr wrap="square" lIns="0" rIns="0" tIns="0" bIns="0" anchor="t">
            <a:spAutoFit/>
          </a:bodyPr>
          <a:lstStyle/>
          <a:p>
            <a:pPr algn="ctr"/>
            <a:r>
              <a:rPr sz="950" b="0" i="0">
                <a:solidFill>
                  <a:srgbClr val="5B6773"/>
                </a:solidFill>
                <a:latin typeface="Courier New"/>
              </a:rPr>
              <a:t>int(text) fails</a:t>
            </a:r>
          </a:p>
        </p:txBody>
      </p:sp>
      <p:sp>
        <p:nvSpPr>
          <p:cNvPr id="17" name="TextBox 16"/>
          <p:cNvSpPr txBox="1"/>
          <p:nvPr/>
        </p:nvSpPr>
        <p:spPr>
          <a:xfrm>
            <a:off x="1280160" y="4005326"/>
            <a:ext cx="4389120" cy="228600"/>
          </a:xfrm>
          <a:prstGeom prst="rect">
            <a:avLst/>
          </a:prstGeom>
          <a:noFill/>
        </p:spPr>
        <p:txBody>
          <a:bodyPr wrap="square" lIns="45720" rIns="45720" tIns="27432" bIns="27432" anchor="t">
            <a:spAutoFit/>
          </a:bodyPr>
          <a:lstStyle/>
          <a:p>
            <a:pPr algn="ctr"/>
            <a:r>
              <a:rPr sz="1000" b="1" i="0">
                <a:solidFill>
                  <a:srgbClr val="B83A1B"/>
                </a:solidFill>
                <a:latin typeface="Calibri"/>
              </a:rPr>
              <a:t>the ValueError climbs back until a try claims it</a:t>
            </a:r>
          </a:p>
        </p:txBody>
      </p:sp>
      <p:cxnSp>
        <p:nvCxnSpPr>
          <p:cNvPr id="18" name="arrow"/>
          <p:cNvCxnSpPr/>
          <p:nvPr/>
        </p:nvCxnSpPr>
        <p:spPr>
          <a:xfrm flipH="1">
            <a:off x="1280160" y="4279646"/>
            <a:ext cx="4389120" cy="0"/>
          </a:xfrm>
          <a:prstGeom prst="line">
            <a:avLst/>
          </a:prstGeom>
          <a:ln w="2540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65760" y="4371085"/>
            <a:ext cx="6035040" cy="27432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caught: invalid literal for int() with base 10: 'abc'</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traceback lists the calls, outermost first.</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add_note: context travels with the error</a:t>
            </a:r>
          </a:p>
        </p:txBody>
      </p:sp>
      <p:sp>
        <p:nvSpPr>
          <p:cNvPr id="4" name="code"/>
          <p:cNvSpPr/>
          <p:nvPr/>
        </p:nvSpPr>
        <p:spPr>
          <a:xfrm>
            <a:off x="365760" y="777240"/>
            <a:ext cx="5376672" cy="144780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traceback</a:t>
            </a:r>
          </a:p>
          <a:p>
            <a:pPr algn="l"/>
            <a:r>
              <a:rPr sz="1200" b="0" i="0">
                <a:solidFill>
                  <a:srgbClr val="8FA3B8"/>
                </a:solidFill>
                <a:latin typeface="Courier New"/>
              </a:rPr>
              <a:t>&gt;&gt;&gt;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int</a:t>
            </a:r>
            <a:r>
              <a:rPr sz="1200" b="0" i="0">
                <a:solidFill>
                  <a:srgbClr val="E6EDF3"/>
                </a:solidFill>
                <a:latin typeface="Courier New"/>
              </a:rPr>
              <a:t>(</a:t>
            </a:r>
            <a:r>
              <a:rPr sz="1200" b="0" i="0">
                <a:solidFill>
                  <a:srgbClr val="9BE3A8"/>
                </a:solidFill>
                <a:latin typeface="Courier New"/>
              </a:rPr>
              <a:t>'x'</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ValueError</a:t>
            </a:r>
            <a:r>
              <a:rPr sz="1200" b="0" i="0">
                <a:solidFill>
                  <a:srgbClr val="E6EDF3"/>
                </a:solidFill>
                <a:latin typeface="Courier New"/>
              </a:rPr>
              <a:t> </a:t>
            </a:r>
            <a:r>
              <a:rPr sz="1200" b="0" i="0">
                <a:solidFill>
                  <a:srgbClr val="C9A0FF"/>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add_note</a:t>
            </a:r>
            <a:r>
              <a:rPr sz="1200" b="0" i="0">
                <a:solidFill>
                  <a:srgbClr val="E6EDF3"/>
                </a:solidFill>
                <a:latin typeface="Courier New"/>
              </a:rPr>
              <a:t>(</a:t>
            </a:r>
            <a:r>
              <a:rPr sz="1200" b="0" i="0">
                <a:solidFill>
                  <a:srgbClr val="9BE3A8"/>
                </a:solidFill>
                <a:latin typeface="Courier New"/>
              </a:rPr>
              <a:t>'while reading the age field'</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raise</a:t>
            </a:r>
          </a:p>
        </p:txBody>
      </p:sp>
      <p:sp>
        <p:nvSpPr>
          <p:cNvPr id="5" name="explanation"/>
          <p:cNvSpPr txBox="1"/>
          <p:nvPr/>
        </p:nvSpPr>
        <p:spPr>
          <a:xfrm>
            <a:off x="5724144" y="777240"/>
            <a:ext cx="3054095" cy="1447800"/>
          </a:xfrm>
          <a:prstGeom prst="rect">
            <a:avLst/>
          </a:prstGeom>
          <a:noFill/>
        </p:spPr>
        <p:txBody>
          <a:bodyPr wrap="square" lIns="128016" rIns="128016" tIns="18288" bIns="18288" anchor="ctr">
            <a:spAutoFit/>
          </a:bodyPr>
          <a:lstStyle/>
          <a:p>
            <a:r>
              <a:rPr sz="1200" b="0" i="0">
                <a:solidFill>
                  <a:srgbClr val="1F2933"/>
                </a:solidFill>
                <a:latin typeface="Calibri"/>
              </a:rPr>
              <a:t>The inner except adds a note and raises the same error again. The note says where in the work the error happened.</a:t>
            </a:r>
          </a:p>
        </p:txBody>
      </p:sp>
      <p:sp>
        <p:nvSpPr>
          <p:cNvPr id="6" name="code"/>
          <p:cNvSpPr/>
          <p:nvPr/>
        </p:nvSpPr>
        <p:spPr>
          <a:xfrm>
            <a:off x="365760" y="2279904"/>
            <a:ext cx="5376672" cy="70408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ValueError</a:t>
            </a:r>
            <a:r>
              <a:rPr sz="1200" b="0" i="0">
                <a:solidFill>
                  <a:srgbClr val="E6EDF3"/>
                </a:solidFill>
                <a:latin typeface="Courier New"/>
              </a:rPr>
              <a:t> </a:t>
            </a:r>
            <a:r>
              <a:rPr sz="1200" b="0" i="0">
                <a:solidFill>
                  <a:srgbClr val="C9A0FF"/>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__notes__</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traceback</a:t>
            </a:r>
            <a:r>
              <a:rPr sz="1200" b="0" i="0">
                <a:solidFill>
                  <a:srgbClr val="E6EDF3"/>
                </a:solidFill>
                <a:latin typeface="Courier New"/>
              </a:rPr>
              <a:t>.</a:t>
            </a:r>
            <a:r>
              <a:rPr sz="1200" b="0" i="0">
                <a:solidFill>
                  <a:srgbClr val="E6EDF3"/>
                </a:solidFill>
                <a:latin typeface="Courier New"/>
              </a:rPr>
              <a:t>format_exception</a:t>
            </a:r>
            <a:r>
              <a:rPr sz="1200" b="0" i="0">
                <a:solidFill>
                  <a:srgbClr val="E6EDF3"/>
                </a:solidFill>
                <a:latin typeface="Courier New"/>
              </a:rPr>
              <a:t>(</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strip</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724144" y="2279904"/>
            <a:ext cx="3054095" cy="704088"/>
          </a:xfrm>
          <a:prstGeom prst="rect">
            <a:avLst/>
          </a:prstGeom>
          <a:noFill/>
        </p:spPr>
        <p:txBody>
          <a:bodyPr wrap="square" lIns="128016" rIns="128016" tIns="18288" bIns="18288" anchor="ctr">
            <a:spAutoFit/>
          </a:bodyPr>
          <a:lstStyle/>
          <a:p>
            <a:r>
              <a:rPr sz="1200" b="0" i="0">
                <a:solidFill>
                  <a:srgbClr val="1F2933"/>
                </a:solidFill>
                <a:latin typeface="Calibri"/>
              </a:rPr>
              <a:t>The notes are kept in __notes__. The formatted report prints them right after the error message.</a:t>
            </a:r>
          </a:p>
        </p:txBody>
      </p:sp>
      <p:sp>
        <p:nvSpPr>
          <p:cNvPr id="8" name="result label"/>
          <p:cNvSpPr txBox="1"/>
          <p:nvPr/>
        </p:nvSpPr>
        <p:spPr>
          <a:xfrm>
            <a:off x="365760" y="3029712"/>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58312"/>
          <a:ext cx="6561734" cy="987552"/>
        </p:xfrm>
        <a:graphic>
          <a:graphicData uri="http://schemas.openxmlformats.org/drawingml/2006/table">
            <a:tbl>
              <a:tblPr firstRow="0" bandRow="0"/>
              <a:tblGrid>
                <a:gridCol w="3971576"/>
                <a:gridCol w="2590158"/>
              </a:tblGrid>
              <a:tr h="329184">
                <a:tc>
                  <a:txBody>
                    <a:bodyPr wrap="square"/>
                    <a:lstStyle/>
                    <a:p>
                      <a:r>
                        <a:rPr sz="1000" b="1" i="0">
                          <a:solidFill>
                            <a:srgbClr val="FFFFFF"/>
                          </a:solidFill>
                          <a:latin typeface="Calibri"/>
                        </a:rPr>
                        <a:t>Last lines of the report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the line is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00" b="0" i="0">
                          <a:solidFill>
                            <a:srgbClr val="1F2933"/>
                          </a:solidFill>
                          <a:latin typeface="Courier New"/>
                        </a:rPr>
                        <a:t>ValueError: invalid literal for int() with base 10: 'x'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class and message of the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000" b="0" i="0">
                          <a:solidFill>
                            <a:srgbClr val="1F2933"/>
                          </a:solidFill>
                          <a:latin typeface="Courier New"/>
                        </a:rPr>
                        <a:t>while reading the age field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note, printed after the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0" name="Rounded Rectangle 9"/>
          <p:cNvSpPr/>
          <p:nvPr/>
        </p:nvSpPr>
        <p:spPr>
          <a:xfrm>
            <a:off x="365760" y="4401312"/>
            <a:ext cx="6561734"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e.__notes__ = ['while reading the age field']</a:t>
            </a:r>
          </a:p>
        </p:txBody>
      </p:sp>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add_note sends context along with the error.</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43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Assertions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Executable beliefs of the programmer, not checks on the user</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assert</a:t>
            </a:r>
          </a:p>
        </p:txBody>
      </p:sp>
      <p:sp>
        <p:nvSpPr>
          <p:cNvPr id="6" name="meaning"/>
          <p:cNvSpPr txBox="1"/>
          <p:nvPr/>
        </p:nvSpPr>
        <p:spPr>
          <a:xfrm>
            <a:off x="2606040" y="1371600"/>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A statement that raises AssertionError when its condition is false.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Message</a:t>
            </a:r>
          </a:p>
        </p:txBody>
      </p:sp>
      <p:sp>
        <p:nvSpPr>
          <p:cNvPr id="8" name="meaning"/>
          <p:cNvSpPr txBox="1"/>
          <p:nvPr/>
        </p:nvSpPr>
        <p:spPr>
          <a:xfrm>
            <a:off x="2606040" y="2029968"/>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The second expression explains the failure and is built only on failure.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User or bug?</a:t>
            </a:r>
          </a:p>
        </p:txBody>
      </p:sp>
      <p:sp>
        <p:nvSpPr>
          <p:cNvPr id="10" name="meaning"/>
          <p:cNvSpPr txBox="1"/>
          <p:nvPr/>
        </p:nvSpPr>
        <p:spPr>
          <a:xfrm>
            <a:off x="2606040" y="2688336"/>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Errors of the user are raised; errors of the programmer are asserted.</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python -O</a:t>
            </a:r>
          </a:p>
        </p:txBody>
      </p:sp>
      <p:sp>
        <p:nvSpPr>
          <p:cNvPr id="12" name="meaning"/>
          <p:cNvSpPr txBox="1"/>
          <p:nvPr/>
        </p:nvSpPr>
        <p:spPr>
          <a:xfrm>
            <a:off x="2606040" y="3346704"/>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Optimised runs remove every assert statement from the program.</a:t>
            </a:r>
          </a:p>
        </p:txBody>
      </p:sp>
      <p:graphicFrame>
        <p:nvGraphicFramePr>
          <p:cNvPr id="13" name="table"/>
          <p:cNvGraphicFramePr>
            <a:graphicFrameLocks noGrp="1"/>
          </p:cNvGraphicFramePr>
          <p:nvPr/>
        </p:nvGraphicFramePr>
        <p:xfrm>
          <a:off x="5303520" y="1417320"/>
          <a:ext cx="3474719" cy="182880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assertions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assert: a check the programmer believes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assert for the programmer, raise for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python -O removes every assert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43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assertions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assertion is a tripwire a builder strings across a place nobody should ever reach.</a:t>
            </a:r>
          </a:p>
        </p:txBody>
      </p:sp>
      <p:graphicFrame>
        <p:nvGraphicFramePr>
          <p:cNvPr id="6" name="table"/>
          <p:cNvGraphicFramePr>
            <a:graphicFrameLocks noGrp="1"/>
          </p:cNvGraphicFramePr>
          <p:nvPr/>
        </p:nvGraphicFramePr>
        <p:xfrm>
          <a:off x="365760" y="1463040"/>
          <a:ext cx="8412480" cy="3108959"/>
        </p:xfrm>
        <a:graphic>
          <a:graphicData uri="http://schemas.openxmlformats.org/drawingml/2006/table">
            <a:tbl>
              <a:tblPr firstRow="0" bandRow="0"/>
              <a:tblGrid>
                <a:gridCol w="2926080"/>
                <a:gridCol w="5486400"/>
              </a:tblGrid>
              <a:tr h="444137">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300" b="1" i="0">
                          <a:solidFill>
                            <a:srgbClr val="1F2933"/>
                          </a:solidFill>
                          <a:latin typeface="Calibri"/>
                        </a:rPr>
                        <a:t>Assertions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Smoke detectors fitted by the builder, not by the tenant.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300" b="1" i="0">
                          <a:solidFill>
                            <a:srgbClr val="1F2933"/>
                          </a:solidFill>
                          <a:latin typeface="Calibri"/>
                        </a:rPr>
                        <a:t>assertion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One tripwire across one doorway.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300" b="1" i="0">
                          <a:solidFill>
                            <a:srgbClr val="1F2933"/>
                          </a:solidFill>
                          <a:latin typeface="Calibri"/>
                        </a:rPr>
                        <a:t>assert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Stringing the wire: the statement that sets the trap.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300" b="1" i="0">
                          <a:solidFill>
                            <a:srgbClr val="1F2933"/>
                          </a:solidFill>
                          <a:latin typeface="Calibri"/>
                        </a:rPr>
                        <a:t>sanity check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Testing the ladder before you climb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300" b="1" i="0">
                          <a:solidFill>
                            <a:srgbClr val="1F2933"/>
                          </a:solidFill>
                          <a:latin typeface="Calibri"/>
                        </a:rPr>
                        <a:t>programmer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wiring mistake of the electrician, not of the person who flips the switch.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300" b="1" i="0">
                          <a:solidFill>
                            <a:srgbClr val="1F2933"/>
                          </a:solidFill>
                          <a:latin typeface="Calibri"/>
                        </a:rPr>
                        <a:t>sort() and the list 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Lining people up by age, then checking that the first is not older than the last.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assert: a check the programmer believes</a:t>
            </a:r>
          </a:p>
        </p:txBody>
      </p:sp>
      <p:sp>
        <p:nvSpPr>
          <p:cNvPr id="4" name="code"/>
          <p:cNvSpPr/>
          <p:nvPr/>
        </p:nvSpPr>
        <p:spPr>
          <a:xfrm>
            <a:off x="365760" y="777240"/>
            <a:ext cx="491947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ages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CC4FF"/>
                </a:solidFill>
                <a:latin typeface="Courier New"/>
              </a:rPr>
              <a:t>26</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57</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92</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54</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22</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15</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17</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80</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47</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73</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ages</a:t>
            </a:r>
            <a:r>
              <a:rPr sz="1200" b="0" i="0">
                <a:solidFill>
                  <a:srgbClr val="E6EDF3"/>
                </a:solidFill>
                <a:latin typeface="Courier New"/>
              </a:rPr>
              <a:t>.</a:t>
            </a:r>
            <a:r>
              <a:rPr sz="1200" b="0" i="0">
                <a:solidFill>
                  <a:srgbClr val="E6EDF3"/>
                </a:solidFill>
                <a:latin typeface="Courier New"/>
              </a:rPr>
              <a:t>sort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assert</a:t>
            </a:r>
            <a:r>
              <a:rPr sz="1200" b="0" i="0">
                <a:solidFill>
                  <a:srgbClr val="E6EDF3"/>
                </a:solidFill>
                <a:latin typeface="Courier New"/>
              </a:rPr>
              <a:t> </a:t>
            </a:r>
            <a:r>
              <a:rPr sz="1200" b="0" i="0">
                <a:solidFill>
                  <a:srgbClr val="E6EDF3"/>
                </a:solidFill>
                <a:latin typeface="Courier New"/>
              </a:rPr>
              <a:t>ages</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ages</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'sorted: ok'</a:t>
            </a:r>
            <a:r>
              <a:rPr sz="1200" b="0" i="0">
                <a:solidFill>
                  <a:srgbClr val="E6EDF3"/>
                </a:solidFill>
                <a:latin typeface="Courier New"/>
              </a:rPr>
              <a:t>)</a:t>
            </a:r>
          </a:p>
        </p:txBody>
      </p:sp>
      <p:sp>
        <p:nvSpPr>
          <p:cNvPr id="5" name="explanation"/>
          <p:cNvSpPr txBox="1"/>
          <p:nvPr/>
        </p:nvSpPr>
        <p:spPr>
          <a:xfrm>
            <a:off x="5266944" y="777240"/>
            <a:ext cx="3511295" cy="890016"/>
          </a:xfrm>
          <a:prstGeom prst="rect">
            <a:avLst/>
          </a:prstGeom>
          <a:noFill/>
        </p:spPr>
        <p:txBody>
          <a:bodyPr wrap="square" lIns="128016" rIns="128016" tIns="18288" bIns="18288" anchor="ctr">
            <a:spAutoFit/>
          </a:bodyPr>
          <a:lstStyle/>
          <a:p>
            <a:r>
              <a:rPr sz="1200" b="0" i="0">
                <a:solidFill>
                  <a:srgbClr val="1F2933"/>
                </a:solidFill>
                <a:latin typeface="Calibri"/>
              </a:rPr>
              <a:t>After sort the first age cannot be larger than the last. The assert states that belief and stays silent when it holds.</a:t>
            </a:r>
          </a:p>
        </p:txBody>
      </p:sp>
      <p:sp>
        <p:nvSpPr>
          <p:cNvPr id="6" name="code"/>
          <p:cNvSpPr/>
          <p:nvPr/>
        </p:nvSpPr>
        <p:spPr>
          <a:xfrm>
            <a:off x="365760" y="1722120"/>
            <a:ext cx="4919472" cy="107594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ages</a:t>
            </a:r>
            <a:r>
              <a:rPr sz="1200" b="0" i="0">
                <a:solidFill>
                  <a:srgbClr val="E6EDF3"/>
                </a:solidFill>
                <a:latin typeface="Courier New"/>
              </a:rPr>
              <a:t>.</a:t>
            </a:r>
            <a:r>
              <a:rPr sz="1200" b="0" i="0">
                <a:solidFill>
                  <a:srgbClr val="E6EDF3"/>
                </a:solidFill>
                <a:latin typeface="Courier New"/>
              </a:rPr>
              <a:t>reverse</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assert</a:t>
            </a:r>
            <a:r>
              <a:rPr sz="1200" b="0" i="0">
                <a:solidFill>
                  <a:srgbClr val="E6EDF3"/>
                </a:solidFill>
                <a:latin typeface="Courier New"/>
              </a:rPr>
              <a:t> </a:t>
            </a:r>
            <a:r>
              <a:rPr sz="1200" b="0" i="0">
                <a:solidFill>
                  <a:srgbClr val="E6EDF3"/>
                </a:solidFill>
                <a:latin typeface="Courier New"/>
              </a:rPr>
              <a:t>ages</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ages</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AssertionError</a:t>
            </a:r>
            <a:r>
              <a:rPr sz="1200" b="0" i="0">
                <a:solidFill>
                  <a:srgbClr val="E6EDF3"/>
                </a:solidFill>
                <a:latin typeface="Courier New"/>
              </a:rPr>
              <a:t> </a:t>
            </a:r>
            <a:r>
              <a:rPr sz="1200" b="0" i="0">
                <a:solidFill>
                  <a:srgbClr val="C9A0FF"/>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repr</a:t>
            </a:r>
            <a:r>
              <a:rPr sz="1200" b="0" i="0">
                <a:solidFill>
                  <a:srgbClr val="E6EDF3"/>
                </a:solidFill>
                <a:latin typeface="Courier New"/>
              </a:rPr>
              <a:t>(</a:t>
            </a:r>
            <a:r>
              <a:rPr sz="1200" b="0" i="0">
                <a:solidFill>
                  <a:srgbClr val="E6EDF3"/>
                </a:solidFill>
                <a:latin typeface="Courier New"/>
              </a:rPr>
              <a:t>str</a:t>
            </a:r>
            <a:r>
              <a:rPr sz="1200" b="0" i="0">
                <a:solidFill>
                  <a:srgbClr val="E6EDF3"/>
                </a:solidFill>
                <a:latin typeface="Courier New"/>
              </a:rPr>
              <a:t>(</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266944" y="1722120"/>
            <a:ext cx="3511295" cy="1075943"/>
          </a:xfrm>
          <a:prstGeom prst="rect">
            <a:avLst/>
          </a:prstGeom>
          <a:noFill/>
        </p:spPr>
        <p:txBody>
          <a:bodyPr wrap="square" lIns="128016" rIns="128016" tIns="18288" bIns="18288" anchor="ctr">
            <a:spAutoFit/>
          </a:bodyPr>
          <a:lstStyle/>
          <a:p>
            <a:r>
              <a:rPr sz="1200" b="0" i="0">
                <a:solidFill>
                  <a:srgbClr val="1F2933"/>
                </a:solidFill>
                <a:latin typeface="Calibri"/>
              </a:rPr>
              <a:t>A reversed list breaks the belief. The assert raises AssertionError, an ordinary exception, with an empty message.</a:t>
            </a:r>
          </a:p>
        </p:txBody>
      </p:sp>
      <p:sp>
        <p:nvSpPr>
          <p:cNvPr id="8" name="result label"/>
          <p:cNvSpPr txBox="1"/>
          <p:nvPr/>
        </p:nvSpPr>
        <p:spPr>
          <a:xfrm>
            <a:off x="365760" y="2843784"/>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9" name="TextBox 8"/>
          <p:cNvSpPr txBox="1"/>
          <p:nvPr/>
        </p:nvSpPr>
        <p:spPr>
          <a:xfrm>
            <a:off x="365760" y="3072384"/>
            <a:ext cx="914400" cy="292608"/>
          </a:xfrm>
          <a:prstGeom prst="rect">
            <a:avLst/>
          </a:prstGeom>
          <a:noFill/>
        </p:spPr>
        <p:txBody>
          <a:bodyPr wrap="square" lIns="45720" rIns="45720" tIns="27432" bIns="27432" anchor="ctr">
            <a:spAutoFit/>
          </a:bodyPr>
          <a:lstStyle/>
          <a:p>
            <a:r>
              <a:rPr sz="1050" b="1" i="0">
                <a:solidFill>
                  <a:srgbClr val="1F2933"/>
                </a:solidFill>
                <a:latin typeface="Courier New"/>
              </a:rPr>
              <a:t>sort()</a:t>
            </a:r>
          </a:p>
        </p:txBody>
      </p:sp>
      <p:sp>
        <p:nvSpPr>
          <p:cNvPr id="10" name="Rounded Rectangle 9"/>
          <p:cNvSpPr/>
          <p:nvPr/>
        </p:nvSpPr>
        <p:spPr>
          <a:xfrm>
            <a:off x="1325880" y="3072384"/>
            <a:ext cx="356616" cy="292608"/>
          </a:xfrm>
          <a:prstGeom prst="roundRect">
            <a:avLst>
              <a:gd name="adj" fmla="val 10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15</a:t>
            </a:r>
          </a:p>
        </p:txBody>
      </p:sp>
      <p:sp>
        <p:nvSpPr>
          <p:cNvPr id="11" name="Rounded Rectangle 10"/>
          <p:cNvSpPr/>
          <p:nvPr/>
        </p:nvSpPr>
        <p:spPr>
          <a:xfrm>
            <a:off x="1709928"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17</a:t>
            </a:r>
          </a:p>
        </p:txBody>
      </p:sp>
      <p:sp>
        <p:nvSpPr>
          <p:cNvPr id="12" name="Rounded Rectangle 11"/>
          <p:cNvSpPr/>
          <p:nvPr/>
        </p:nvSpPr>
        <p:spPr>
          <a:xfrm>
            <a:off x="2093976"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22</a:t>
            </a:r>
          </a:p>
        </p:txBody>
      </p:sp>
      <p:sp>
        <p:nvSpPr>
          <p:cNvPr id="13" name="Rounded Rectangle 12"/>
          <p:cNvSpPr/>
          <p:nvPr/>
        </p:nvSpPr>
        <p:spPr>
          <a:xfrm>
            <a:off x="2478024"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26</a:t>
            </a:r>
          </a:p>
        </p:txBody>
      </p:sp>
      <p:sp>
        <p:nvSpPr>
          <p:cNvPr id="14" name="Rounded Rectangle 13"/>
          <p:cNvSpPr/>
          <p:nvPr/>
        </p:nvSpPr>
        <p:spPr>
          <a:xfrm>
            <a:off x="2862072"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47</a:t>
            </a:r>
          </a:p>
        </p:txBody>
      </p:sp>
      <p:sp>
        <p:nvSpPr>
          <p:cNvPr id="15" name="Rounded Rectangle 14"/>
          <p:cNvSpPr/>
          <p:nvPr/>
        </p:nvSpPr>
        <p:spPr>
          <a:xfrm>
            <a:off x="3246120"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54</a:t>
            </a:r>
          </a:p>
        </p:txBody>
      </p:sp>
      <p:sp>
        <p:nvSpPr>
          <p:cNvPr id="16" name="Rounded Rectangle 15"/>
          <p:cNvSpPr/>
          <p:nvPr/>
        </p:nvSpPr>
        <p:spPr>
          <a:xfrm>
            <a:off x="3630168"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57</a:t>
            </a:r>
          </a:p>
        </p:txBody>
      </p:sp>
      <p:sp>
        <p:nvSpPr>
          <p:cNvPr id="17" name="Rounded Rectangle 16"/>
          <p:cNvSpPr/>
          <p:nvPr/>
        </p:nvSpPr>
        <p:spPr>
          <a:xfrm>
            <a:off x="4014216"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73</a:t>
            </a:r>
          </a:p>
        </p:txBody>
      </p:sp>
      <p:sp>
        <p:nvSpPr>
          <p:cNvPr id="18" name="Rounded Rectangle 17"/>
          <p:cNvSpPr/>
          <p:nvPr/>
        </p:nvSpPr>
        <p:spPr>
          <a:xfrm>
            <a:off x="4398264" y="307238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80</a:t>
            </a:r>
          </a:p>
        </p:txBody>
      </p:sp>
      <p:sp>
        <p:nvSpPr>
          <p:cNvPr id="19" name="Rounded Rectangle 18"/>
          <p:cNvSpPr/>
          <p:nvPr/>
        </p:nvSpPr>
        <p:spPr>
          <a:xfrm>
            <a:off x="4782312" y="3072384"/>
            <a:ext cx="356616" cy="292608"/>
          </a:xfrm>
          <a:prstGeom prst="roundRect">
            <a:avLst>
              <a:gd name="adj" fmla="val 10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92</a:t>
            </a:r>
          </a:p>
        </p:txBody>
      </p:sp>
      <p:cxnSp>
        <p:nvCxnSpPr>
          <p:cNvPr id="20" name="arrow"/>
          <p:cNvCxnSpPr/>
          <p:nvPr/>
        </p:nvCxnSpPr>
        <p:spPr>
          <a:xfrm>
            <a:off x="5257800" y="3218688"/>
            <a:ext cx="137160" cy="0"/>
          </a:xfrm>
          <a:prstGeom prst="line">
            <a:avLst/>
          </a:prstGeom>
          <a:ln w="2032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394960" y="3072384"/>
            <a:ext cx="329184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15 &lt;= 92 is True: the assert stays silent</a:t>
            </a:r>
          </a:p>
        </p:txBody>
      </p:sp>
      <p:sp>
        <p:nvSpPr>
          <p:cNvPr id="22" name="TextBox 21"/>
          <p:cNvSpPr txBox="1"/>
          <p:nvPr/>
        </p:nvSpPr>
        <p:spPr>
          <a:xfrm>
            <a:off x="365760" y="3621024"/>
            <a:ext cx="914400" cy="292608"/>
          </a:xfrm>
          <a:prstGeom prst="rect">
            <a:avLst/>
          </a:prstGeom>
          <a:noFill/>
        </p:spPr>
        <p:txBody>
          <a:bodyPr wrap="square" lIns="45720" rIns="45720" tIns="27432" bIns="27432" anchor="ctr">
            <a:spAutoFit/>
          </a:bodyPr>
          <a:lstStyle/>
          <a:p>
            <a:r>
              <a:rPr sz="1050" b="1" i="0">
                <a:solidFill>
                  <a:srgbClr val="1F2933"/>
                </a:solidFill>
                <a:latin typeface="Courier New"/>
              </a:rPr>
              <a:t>reverse()</a:t>
            </a:r>
          </a:p>
        </p:txBody>
      </p:sp>
      <p:sp>
        <p:nvSpPr>
          <p:cNvPr id="23" name="Rounded Rectangle 22"/>
          <p:cNvSpPr/>
          <p:nvPr/>
        </p:nvSpPr>
        <p:spPr>
          <a:xfrm>
            <a:off x="1325880" y="3621024"/>
            <a:ext cx="356616" cy="292608"/>
          </a:xfrm>
          <a:prstGeom prst="roundRect">
            <a:avLst>
              <a:gd name="adj" fmla="val 10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92</a:t>
            </a:r>
          </a:p>
        </p:txBody>
      </p:sp>
      <p:sp>
        <p:nvSpPr>
          <p:cNvPr id="24" name="Rounded Rectangle 23"/>
          <p:cNvSpPr/>
          <p:nvPr/>
        </p:nvSpPr>
        <p:spPr>
          <a:xfrm>
            <a:off x="1709928"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80</a:t>
            </a:r>
          </a:p>
        </p:txBody>
      </p:sp>
      <p:sp>
        <p:nvSpPr>
          <p:cNvPr id="25" name="Rounded Rectangle 24"/>
          <p:cNvSpPr/>
          <p:nvPr/>
        </p:nvSpPr>
        <p:spPr>
          <a:xfrm>
            <a:off x="2093976"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73</a:t>
            </a:r>
          </a:p>
        </p:txBody>
      </p:sp>
      <p:sp>
        <p:nvSpPr>
          <p:cNvPr id="26" name="Rounded Rectangle 25"/>
          <p:cNvSpPr/>
          <p:nvPr/>
        </p:nvSpPr>
        <p:spPr>
          <a:xfrm>
            <a:off x="2478024"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57</a:t>
            </a:r>
          </a:p>
        </p:txBody>
      </p:sp>
      <p:sp>
        <p:nvSpPr>
          <p:cNvPr id="27" name="Rounded Rectangle 26"/>
          <p:cNvSpPr/>
          <p:nvPr/>
        </p:nvSpPr>
        <p:spPr>
          <a:xfrm>
            <a:off x="2862072"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54</a:t>
            </a:r>
          </a:p>
        </p:txBody>
      </p:sp>
      <p:sp>
        <p:nvSpPr>
          <p:cNvPr id="28" name="Rounded Rectangle 27"/>
          <p:cNvSpPr/>
          <p:nvPr/>
        </p:nvSpPr>
        <p:spPr>
          <a:xfrm>
            <a:off x="3246120"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47</a:t>
            </a:r>
          </a:p>
        </p:txBody>
      </p:sp>
      <p:sp>
        <p:nvSpPr>
          <p:cNvPr id="29" name="Rounded Rectangle 28"/>
          <p:cNvSpPr/>
          <p:nvPr/>
        </p:nvSpPr>
        <p:spPr>
          <a:xfrm>
            <a:off x="3630168"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26</a:t>
            </a:r>
          </a:p>
        </p:txBody>
      </p:sp>
      <p:sp>
        <p:nvSpPr>
          <p:cNvPr id="30" name="Rounded Rectangle 29"/>
          <p:cNvSpPr/>
          <p:nvPr/>
        </p:nvSpPr>
        <p:spPr>
          <a:xfrm>
            <a:off x="4014216"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22</a:t>
            </a:r>
          </a:p>
        </p:txBody>
      </p:sp>
      <p:sp>
        <p:nvSpPr>
          <p:cNvPr id="31" name="Rounded Rectangle 30"/>
          <p:cNvSpPr/>
          <p:nvPr/>
        </p:nvSpPr>
        <p:spPr>
          <a:xfrm>
            <a:off x="4398264" y="3621024"/>
            <a:ext cx="356616" cy="29260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17</a:t>
            </a:r>
          </a:p>
        </p:txBody>
      </p:sp>
      <p:sp>
        <p:nvSpPr>
          <p:cNvPr id="32" name="Rounded Rectangle 31"/>
          <p:cNvSpPr/>
          <p:nvPr/>
        </p:nvSpPr>
        <p:spPr>
          <a:xfrm>
            <a:off x="4782312" y="3621024"/>
            <a:ext cx="356616" cy="292608"/>
          </a:xfrm>
          <a:prstGeom prst="roundRect">
            <a:avLst>
              <a:gd name="adj" fmla="val 10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15</a:t>
            </a:r>
          </a:p>
        </p:txBody>
      </p:sp>
      <p:cxnSp>
        <p:nvCxnSpPr>
          <p:cNvPr id="33" name="arrow"/>
          <p:cNvCxnSpPr/>
          <p:nvPr/>
        </p:nvCxnSpPr>
        <p:spPr>
          <a:xfrm>
            <a:off x="5257800" y="3767328"/>
            <a:ext cx="137160" cy="0"/>
          </a:xfrm>
          <a:prstGeom prst="line">
            <a:avLst/>
          </a:prstGeom>
          <a:ln w="2032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394960" y="3621024"/>
            <a:ext cx="3291840" cy="29260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92 &lt;= 15 is False: AssertionError</a:t>
            </a:r>
          </a:p>
        </p:txBody>
      </p:sp>
      <p:sp>
        <p:nvSpPr>
          <p:cNvPr id="35" name="TextBox 34"/>
          <p:cNvSpPr txBox="1"/>
          <p:nvPr/>
        </p:nvSpPr>
        <p:spPr>
          <a:xfrm>
            <a:off x="365760" y="4078224"/>
            <a:ext cx="8412480" cy="274320"/>
          </a:xfrm>
          <a:prstGeom prst="rect">
            <a:avLst/>
          </a:prstGeom>
          <a:noFill/>
        </p:spPr>
        <p:txBody>
          <a:bodyPr wrap="square" lIns="45720" rIns="45720" tIns="27432" bIns="27432" anchor="t">
            <a:spAutoFit/>
          </a:bodyPr>
          <a:lstStyle/>
          <a:p>
            <a:r>
              <a:rPr sz="1050" b="0" i="1">
                <a:solidFill>
                  <a:srgbClr val="5B6773"/>
                </a:solidFill>
                <a:latin typeface="Courier New"/>
              </a:rPr>
              <a:t>Printed: sorted: ok | AssertionError ''</a:t>
            </a:r>
          </a:p>
        </p:txBody>
      </p:sp>
      <p:sp>
        <p:nvSpPr>
          <p:cNvPr id="3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assert states what must be true.</a:t>
            </a:r>
          </a:p>
        </p:txBody>
      </p:sp>
      <p:sp>
        <p:nvSpPr>
          <p:cNvPr id="3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assert for the programmer, raise for the user</a:t>
            </a:r>
          </a:p>
        </p:txBody>
      </p:sp>
      <p:sp>
        <p:nvSpPr>
          <p:cNvPr id="4" name="code"/>
          <p:cNvSpPr/>
          <p:nvPr/>
        </p:nvSpPr>
        <p:spPr>
          <a:xfrm>
            <a:off x="365760" y="777240"/>
            <a:ext cx="4447032" cy="9210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average</a:t>
            </a:r>
            <a:r>
              <a:rPr sz="1000" b="0" i="0">
                <a:solidFill>
                  <a:srgbClr val="E6EDF3"/>
                </a:solidFill>
                <a:latin typeface="Courier New"/>
              </a:rPr>
              <a:t>(</a:t>
            </a:r>
            <a:r>
              <a:rPr sz="1000" b="0" i="0">
                <a:solidFill>
                  <a:srgbClr val="E6EDF3"/>
                </a:solidFill>
                <a:latin typeface="Courier New"/>
              </a:rPr>
              <a:t>scores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scores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raise</a:t>
            </a:r>
            <a:r>
              <a:rPr sz="1000" b="0" i="0">
                <a:solidFill>
                  <a:srgbClr val="E6EDF3"/>
                </a:solidFill>
                <a:latin typeface="Courier New"/>
              </a:rPr>
              <a:t> </a:t>
            </a:r>
            <a:r>
              <a:rPr sz="1000" b="0" i="0">
                <a:solidFill>
                  <a:srgbClr val="E6EDF3"/>
                </a:solidFill>
                <a:latin typeface="Courier New"/>
              </a:rPr>
              <a:t>ValueError</a:t>
            </a:r>
            <a:r>
              <a:rPr sz="1000" b="0" i="0">
                <a:solidFill>
                  <a:srgbClr val="E6EDF3"/>
                </a:solidFill>
                <a:latin typeface="Courier New"/>
              </a:rPr>
              <a:t>(</a:t>
            </a:r>
            <a:r>
              <a:rPr sz="1000" b="0" i="0">
                <a:solidFill>
                  <a:srgbClr val="9BE3A8"/>
                </a:solidFill>
                <a:latin typeface="Courier New"/>
              </a:rPr>
              <a:t>'give at least one score'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total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sum</a:t>
            </a:r>
            <a:r>
              <a:rPr sz="1000" b="0" i="0">
                <a:solidFill>
                  <a:srgbClr val="E6EDF3"/>
                </a:solidFill>
                <a:latin typeface="Courier New"/>
              </a:rPr>
              <a:t>(</a:t>
            </a:r>
            <a:r>
              <a:rPr sz="1000" b="0" i="0">
                <a:solidFill>
                  <a:srgbClr val="E6EDF3"/>
                </a:solidFill>
                <a:latin typeface="Courier New"/>
              </a:rPr>
              <a:t>scores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assert</a:t>
            </a:r>
            <a:r>
              <a:rPr sz="1000" b="0" i="0">
                <a:solidFill>
                  <a:srgbClr val="E6EDF3"/>
                </a:solidFill>
                <a:latin typeface="Courier New"/>
              </a:rPr>
              <a:t> </a:t>
            </a:r>
            <a:r>
              <a:rPr sz="1000" b="0" i="0">
                <a:solidFill>
                  <a:srgbClr val="E6EDF3"/>
                </a:solidFill>
                <a:latin typeface="Courier New"/>
              </a:rPr>
              <a:t>total</a:t>
            </a:r>
            <a:r>
              <a:rPr sz="1000" b="0" i="0">
                <a:solidFill>
                  <a:srgbClr val="E6EDF3"/>
                </a:solidFill>
                <a:latin typeface="Courier New"/>
              </a:rPr>
              <a:t> </a:t>
            </a:r>
            <a:r>
              <a:rPr sz="1000" b="0" i="0">
                <a:solidFill>
                  <a:srgbClr val="E6EDF3"/>
                </a:solidFill>
                <a:latin typeface="Courier New"/>
              </a:rPr>
              <a:t>&gt;</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f'negative total: {total}'</a:t>
            </a:r>
          </a:p>
        </p:txBody>
      </p:sp>
      <p:sp>
        <p:nvSpPr>
          <p:cNvPr id="5" name="code"/>
          <p:cNvSpPr/>
          <p:nvPr/>
        </p:nvSpPr>
        <p:spPr>
          <a:xfrm>
            <a:off x="365760" y="1725675"/>
            <a:ext cx="4447032" cy="3012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total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scores</a:t>
            </a:r>
            <a:r>
              <a:rPr sz="1000" b="0" i="0">
                <a:solidFill>
                  <a:srgbClr val="E6EDF3"/>
                </a:solidFill>
                <a:latin typeface="Courier New"/>
              </a:rPr>
              <a:t>)</a:t>
            </a:r>
          </a:p>
        </p:txBody>
      </p:sp>
      <p:sp>
        <p:nvSpPr>
          <p:cNvPr id="6" name="explanation"/>
          <p:cNvSpPr txBox="1"/>
          <p:nvPr/>
        </p:nvSpPr>
        <p:spPr>
          <a:xfrm>
            <a:off x="4794504" y="777240"/>
            <a:ext cx="3983735" cy="1249679"/>
          </a:xfrm>
          <a:prstGeom prst="rect">
            <a:avLst/>
          </a:prstGeom>
          <a:noFill/>
        </p:spPr>
        <p:txBody>
          <a:bodyPr wrap="square" lIns="128016" rIns="128016" tIns="18288" bIns="18288" anchor="ctr">
            <a:spAutoFit/>
          </a:bodyPr>
          <a:lstStyle/>
          <a:p>
            <a:r>
              <a:rPr sz="1100" b="0" i="0">
                <a:solidFill>
                  <a:srgbClr val="1F2933"/>
                </a:solidFill>
                <a:latin typeface="Calibri"/>
              </a:rPr>
              <a:t>An empty list is a mistake the user can make, so it is raised. A negative total can only be our own bug, so it is asserted.</a:t>
            </a:r>
          </a:p>
        </p:txBody>
      </p:sp>
      <p:sp>
        <p:nvSpPr>
          <p:cNvPr id="7" name="code"/>
          <p:cNvSpPr/>
          <p:nvPr/>
        </p:nvSpPr>
        <p:spPr>
          <a:xfrm>
            <a:off x="365760" y="2081783"/>
            <a:ext cx="4447032" cy="9210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data</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4</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6</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5</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average</a:t>
            </a:r>
            <a:r>
              <a:rPr sz="1000" b="0" i="0">
                <a:solidFill>
                  <a:srgbClr val="E6EDF3"/>
                </a:solidFill>
                <a:latin typeface="Courier New"/>
              </a:rPr>
              <a:t>(</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except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ValueError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AssertionError</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as</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type</a:t>
            </a:r>
            <a:r>
              <a:rPr sz="1000" b="0" i="0">
                <a:solidFill>
                  <a:srgbClr val="E6EDF3"/>
                </a:solidFill>
                <a:latin typeface="Courier New"/>
              </a:rPr>
              <a:t>(</a:t>
            </a:r>
            <a:r>
              <a:rPr sz="1000" b="0" i="0">
                <a:solidFill>
                  <a:srgbClr val="E6EDF3"/>
                </a:solidFill>
                <a:latin typeface="Courier New"/>
              </a:rPr>
              <a:t>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__name__</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p:txBody>
      </p:sp>
      <p:sp>
        <p:nvSpPr>
          <p:cNvPr id="8" name="explanation"/>
          <p:cNvSpPr txBox="1"/>
          <p:nvPr/>
        </p:nvSpPr>
        <p:spPr>
          <a:xfrm>
            <a:off x="4794504" y="2081783"/>
            <a:ext cx="3983735" cy="921003"/>
          </a:xfrm>
          <a:prstGeom prst="rect">
            <a:avLst/>
          </a:prstGeom>
          <a:noFill/>
        </p:spPr>
        <p:txBody>
          <a:bodyPr wrap="square" lIns="128016" rIns="128016" tIns="18288" bIns="18288" anchor="ctr">
            <a:spAutoFit/>
          </a:bodyPr>
          <a:lstStyle/>
          <a:p>
            <a:r>
              <a:rPr sz="1100" b="0" i="0">
                <a:solidFill>
                  <a:srgbClr val="1F2933"/>
                </a:solidFill>
                <a:latin typeface="Calibri"/>
              </a:rPr>
              <a:t>The second expression of assert becomes the message of the AssertionError. It is built only when the check fails.</a:t>
            </a:r>
          </a:p>
        </p:txBody>
      </p:sp>
      <p:sp>
        <p:nvSpPr>
          <p:cNvPr id="9" name="result label"/>
          <p:cNvSpPr txBox="1"/>
          <p:nvPr/>
        </p:nvSpPr>
        <p:spPr>
          <a:xfrm>
            <a:off x="365760" y="3048508"/>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365760" y="3277108"/>
          <a:ext cx="8412478" cy="1386328"/>
        </p:xfrm>
        <a:graphic>
          <a:graphicData uri="http://schemas.openxmlformats.org/drawingml/2006/table">
            <a:tbl>
              <a:tblPr firstRow="0" bandRow="0"/>
              <a:tblGrid>
                <a:gridCol w="1242752"/>
                <a:gridCol w="3823854"/>
                <a:gridCol w="1147156"/>
                <a:gridCol w="2198716"/>
              </a:tblGrid>
              <a:tr h="346582">
                <a:tc>
                  <a:txBody>
                    <a:bodyPr wrap="square"/>
                    <a:lstStyle/>
                    <a:p>
                      <a:r>
                        <a:rPr sz="1000" b="1" i="0">
                          <a:solidFill>
                            <a:srgbClr val="FFFFFF"/>
                          </a:solidFill>
                          <a:latin typeface="Calibri"/>
                        </a:rPr>
                        <a:t>average(...)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Who can cause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6582">
                <a:tc>
                  <a:txBody>
                    <a:bodyPr wrap="square"/>
                    <a:lstStyle/>
                    <a:p>
                      <a:r>
                        <a:rPr sz="1000" b="0" i="0">
                          <a:solidFill>
                            <a:srgbClr val="1F2933"/>
                          </a:solidFill>
                          <a:latin typeface="Courier New"/>
                        </a:rPr>
                        <a:t>[4, 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none fired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6582">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ValueError: give at least one score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raise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the user (bad 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6582">
                <a:tc>
                  <a:txBody>
                    <a:bodyPr wrap="square"/>
                    <a:lstStyle/>
                    <a:p>
                      <a:r>
                        <a:rPr sz="1000" b="0" i="0">
                          <a:solidFill>
                            <a:srgbClr val="1F2933"/>
                          </a:solidFill>
                          <a:latin typeface="Courier New"/>
                        </a:rPr>
                        <a:t>[-5,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AssertionError: negative total: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assert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r>
                        <a:rPr sz="1000" b="0" i="0">
                          <a:solidFill>
                            <a:srgbClr val="1F2933"/>
                          </a:solidFill>
                          <a:latin typeface="Calibri"/>
                        </a:rPr>
                        <a:t>our own bug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Raise for the user; assert for the programmer.</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python -O removes every assert</a:t>
            </a:r>
          </a:p>
        </p:txBody>
      </p:sp>
      <p:sp>
        <p:nvSpPr>
          <p:cNvPr id="4" name="code"/>
          <p:cNvSpPr/>
          <p:nvPr/>
        </p:nvSpPr>
        <p:spPr>
          <a:xfrm>
            <a:off x="365760" y="777240"/>
            <a:ext cx="4828031" cy="107594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src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"assert False, 'boom'\nprint('reached')"</a:t>
            </a:r>
          </a:p>
          <a:p>
            <a:pPr algn="l"/>
            <a:r>
              <a:rPr sz="1200" b="0" i="0">
                <a:solidFill>
                  <a:srgbClr val="8FA3B8"/>
                </a:solidFill>
                <a:latin typeface="Courier New"/>
              </a:rPr>
              <a:t>&gt;&gt;&gt; </a:t>
            </a:r>
            <a:r>
              <a:rPr sz="1200" b="0" i="0">
                <a:solidFill>
                  <a:srgbClr val="C9A0FF"/>
                </a:solidFill>
                <a:latin typeface="Courier New"/>
              </a:rPr>
              <a:t>try</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exec</a:t>
            </a:r>
            <a:r>
              <a:rPr sz="1200" b="0" i="0">
                <a:solidFill>
                  <a:srgbClr val="E6EDF3"/>
                </a:solidFill>
                <a:latin typeface="Courier New"/>
              </a:rPr>
              <a:t>(</a:t>
            </a:r>
            <a:r>
              <a:rPr sz="1200" b="0" i="0">
                <a:solidFill>
                  <a:srgbClr val="E6EDF3"/>
                </a:solidFill>
                <a:latin typeface="Courier New"/>
              </a:rPr>
              <a:t>compile</a:t>
            </a:r>
            <a:r>
              <a:rPr sz="1200" b="0" i="0">
                <a:solidFill>
                  <a:srgbClr val="E6EDF3"/>
                </a:solidFill>
                <a:latin typeface="Courier New"/>
              </a:rPr>
              <a:t>(</a:t>
            </a:r>
            <a:r>
              <a:rPr sz="1200" b="0" i="0">
                <a:solidFill>
                  <a:srgbClr val="E6EDF3"/>
                </a:solidFill>
                <a:latin typeface="Courier New"/>
              </a:rPr>
              <a:t>src</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'x'</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'exec'</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except</a:t>
            </a:r>
            <a:r>
              <a:rPr sz="1200" b="0" i="0">
                <a:solidFill>
                  <a:srgbClr val="E6EDF3"/>
                </a:solidFill>
                <a:latin typeface="Courier New"/>
              </a:rPr>
              <a:t> </a:t>
            </a:r>
            <a:r>
              <a:rPr sz="1200" b="0" i="0">
                <a:solidFill>
                  <a:srgbClr val="E6EDF3"/>
                </a:solidFill>
                <a:latin typeface="Courier New"/>
              </a:rPr>
              <a:t>AssertionError</a:t>
            </a:r>
            <a:r>
              <a:rPr sz="1200" b="0" i="0">
                <a:solidFill>
                  <a:srgbClr val="E6EDF3"/>
                </a:solidFill>
                <a:latin typeface="Courier New"/>
              </a:rPr>
              <a:t> </a:t>
            </a:r>
            <a:r>
              <a:rPr sz="1200" b="0" i="0">
                <a:solidFill>
                  <a:srgbClr val="C9A0FF"/>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'normal run:'</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5" name="explanation"/>
          <p:cNvSpPr txBox="1"/>
          <p:nvPr/>
        </p:nvSpPr>
        <p:spPr>
          <a:xfrm>
            <a:off x="5175504" y="777240"/>
            <a:ext cx="3602736" cy="1075943"/>
          </a:xfrm>
          <a:prstGeom prst="rect">
            <a:avLst/>
          </a:prstGeom>
          <a:noFill/>
        </p:spPr>
        <p:txBody>
          <a:bodyPr wrap="square" lIns="128016" rIns="128016" tIns="18288" bIns="18288" anchor="ctr">
            <a:spAutoFit/>
          </a:bodyPr>
          <a:lstStyle/>
          <a:p>
            <a:r>
              <a:rPr sz="1200" b="0" i="0">
                <a:solidFill>
                  <a:srgbClr val="1F2933"/>
                </a:solidFill>
                <a:latin typeface="Calibri"/>
              </a:rPr>
              <a:t>A normal run raises the AssertionError at the assert line, so the next line is never reached.</a:t>
            </a:r>
          </a:p>
        </p:txBody>
      </p:sp>
      <p:sp>
        <p:nvSpPr>
          <p:cNvPr id="6" name="code"/>
          <p:cNvSpPr/>
          <p:nvPr/>
        </p:nvSpPr>
        <p:spPr>
          <a:xfrm>
            <a:off x="365760" y="1908047"/>
            <a:ext cx="4828031" cy="5181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exec</a:t>
            </a:r>
            <a:r>
              <a:rPr sz="1200" b="0" i="0">
                <a:solidFill>
                  <a:srgbClr val="E6EDF3"/>
                </a:solidFill>
                <a:latin typeface="Courier New"/>
              </a:rPr>
              <a:t>(</a:t>
            </a:r>
            <a:r>
              <a:rPr sz="1200" b="0" i="0">
                <a:solidFill>
                  <a:srgbClr val="E6EDF3"/>
                </a:solidFill>
                <a:latin typeface="Courier New"/>
              </a:rPr>
              <a:t>compile</a:t>
            </a:r>
            <a:r>
              <a:rPr sz="1200" b="0" i="0">
                <a:solidFill>
                  <a:srgbClr val="E6EDF3"/>
                </a:solidFill>
                <a:latin typeface="Courier New"/>
              </a:rPr>
              <a:t>(</a:t>
            </a:r>
            <a:r>
              <a:rPr sz="1200" b="0" i="0">
                <a:solidFill>
                  <a:srgbClr val="E6EDF3"/>
                </a:solidFill>
                <a:latin typeface="Courier New"/>
              </a:rPr>
              <a:t>src</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'x'</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'exec'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optimize</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__debug__</a:t>
            </a:r>
            <a:r>
              <a:rPr sz="1200" b="0" i="0">
                <a:solidFill>
                  <a:srgbClr val="E6EDF3"/>
                </a:solidFill>
                <a:latin typeface="Courier New"/>
              </a:rPr>
              <a:t>)</a:t>
            </a:r>
          </a:p>
        </p:txBody>
      </p:sp>
      <p:sp>
        <p:nvSpPr>
          <p:cNvPr id="7" name="explanation"/>
          <p:cNvSpPr txBox="1"/>
          <p:nvPr/>
        </p:nvSpPr>
        <p:spPr>
          <a:xfrm>
            <a:off x="5175504" y="1908047"/>
            <a:ext cx="3602736" cy="699516"/>
          </a:xfrm>
          <a:prstGeom prst="rect">
            <a:avLst/>
          </a:prstGeom>
          <a:noFill/>
        </p:spPr>
        <p:txBody>
          <a:bodyPr wrap="square" lIns="128016" rIns="128016" tIns="18288" bIns="18288" anchor="ctr">
            <a:spAutoFit/>
          </a:bodyPr>
          <a:lstStyle/>
          <a:p>
            <a:r>
              <a:rPr sz="1200" b="0" i="0">
                <a:solidFill>
                  <a:srgbClr val="1F2933"/>
                </a:solidFill>
                <a:latin typeface="Calibri"/>
              </a:rPr>
              <a:t>Compiled with optimization, as under python -O, the program has no assert at all and reaches the next line.</a:t>
            </a:r>
          </a:p>
        </p:txBody>
      </p:sp>
      <p:sp>
        <p:nvSpPr>
          <p:cNvPr id="8" name="result label"/>
          <p:cNvSpPr txBox="1"/>
          <p:nvPr/>
        </p:nvSpPr>
        <p:spPr>
          <a:xfrm>
            <a:off x="365760" y="2653283"/>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9" name="TextBox 8"/>
          <p:cNvSpPr txBox="1"/>
          <p:nvPr/>
        </p:nvSpPr>
        <p:spPr>
          <a:xfrm>
            <a:off x="365760" y="2881883"/>
            <a:ext cx="1463040" cy="365760"/>
          </a:xfrm>
          <a:prstGeom prst="rect">
            <a:avLst/>
          </a:prstGeom>
          <a:noFill/>
        </p:spPr>
        <p:txBody>
          <a:bodyPr wrap="square" lIns="45720" rIns="45720" tIns="27432" bIns="27432" anchor="ctr">
            <a:spAutoFit/>
          </a:bodyPr>
          <a:lstStyle/>
          <a:p>
            <a:r>
              <a:rPr sz="1100" b="1" i="0">
                <a:solidFill>
                  <a:srgbClr val="1F2933"/>
                </a:solidFill>
                <a:latin typeface="Calibri"/>
              </a:rPr>
              <a:t>normal run</a:t>
            </a:r>
          </a:p>
        </p:txBody>
      </p:sp>
      <p:sp>
        <p:nvSpPr>
          <p:cNvPr id="10" name="Rounded Rectangle 9"/>
          <p:cNvSpPr/>
          <p:nvPr/>
        </p:nvSpPr>
        <p:spPr>
          <a:xfrm>
            <a:off x="1828800" y="2881883"/>
            <a:ext cx="2011680" cy="365760"/>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assert False, 'boom'</a:t>
            </a:r>
          </a:p>
        </p:txBody>
      </p:sp>
      <p:cxnSp>
        <p:nvCxnSpPr>
          <p:cNvPr id="11" name="arrow"/>
          <p:cNvCxnSpPr/>
          <p:nvPr/>
        </p:nvCxnSpPr>
        <p:spPr>
          <a:xfrm>
            <a:off x="3886200" y="3064764"/>
            <a:ext cx="502920" cy="0"/>
          </a:xfrm>
          <a:prstGeom prst="line">
            <a:avLst/>
          </a:prstGeom>
          <a:ln w="2286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34840" y="2881883"/>
            <a:ext cx="2286000"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normal run: boom</a:t>
            </a:r>
          </a:p>
        </p:txBody>
      </p:sp>
      <p:sp>
        <p:nvSpPr>
          <p:cNvPr id="13" name="Rounded Rectangle 12"/>
          <p:cNvSpPr/>
          <p:nvPr/>
        </p:nvSpPr>
        <p:spPr>
          <a:xfrm>
            <a:off x="6812280" y="2881883"/>
            <a:ext cx="182880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5B6773"/>
                </a:solidFill>
                <a:latin typeface="Calibri"/>
              </a:rPr>
              <a:t>'reached' never printed</a:t>
            </a:r>
          </a:p>
        </p:txBody>
      </p:sp>
      <p:sp>
        <p:nvSpPr>
          <p:cNvPr id="14" name="TextBox 13"/>
          <p:cNvSpPr txBox="1"/>
          <p:nvPr/>
        </p:nvSpPr>
        <p:spPr>
          <a:xfrm>
            <a:off x="365760" y="3567683"/>
            <a:ext cx="1463040" cy="365760"/>
          </a:xfrm>
          <a:prstGeom prst="rect">
            <a:avLst/>
          </a:prstGeom>
          <a:noFill/>
        </p:spPr>
        <p:txBody>
          <a:bodyPr wrap="square" lIns="45720" rIns="45720" tIns="27432" bIns="27432" anchor="ctr">
            <a:spAutoFit/>
          </a:bodyPr>
          <a:lstStyle/>
          <a:p>
            <a:r>
              <a:rPr sz="1100" b="1" i="0">
                <a:solidFill>
                  <a:srgbClr val="1F2933"/>
                </a:solidFill>
                <a:latin typeface="Calibri"/>
              </a:rPr>
              <a:t>python -O</a:t>
            </a:r>
          </a:p>
        </p:txBody>
      </p:sp>
      <p:sp>
        <p:nvSpPr>
          <p:cNvPr id="15" name="Rounded Rectangle 14"/>
          <p:cNvSpPr/>
          <p:nvPr/>
        </p:nvSpPr>
        <p:spPr>
          <a:xfrm>
            <a:off x="1828800" y="3567683"/>
            <a:ext cx="2011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ourier New"/>
              </a:rPr>
              <a:t>assert removed</a:t>
            </a:r>
          </a:p>
        </p:txBody>
      </p:sp>
      <p:cxnSp>
        <p:nvCxnSpPr>
          <p:cNvPr id="16" name="arrow"/>
          <p:cNvCxnSpPr/>
          <p:nvPr/>
        </p:nvCxnSpPr>
        <p:spPr>
          <a:xfrm>
            <a:off x="3886200" y="3750564"/>
            <a:ext cx="502920" cy="0"/>
          </a:xfrm>
          <a:prstGeom prst="line">
            <a:avLst/>
          </a:prstGeom>
          <a:ln w="2286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34840" y="3567683"/>
            <a:ext cx="2286000"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prints 'reached'</a:t>
            </a:r>
          </a:p>
        </p:txBody>
      </p:sp>
      <p:sp>
        <p:nvSpPr>
          <p:cNvPr id="18" name="Rounded Rectangle 17"/>
          <p:cNvSpPr/>
          <p:nvPr/>
        </p:nvSpPr>
        <p:spPr>
          <a:xfrm>
            <a:off x="6812280" y="3567683"/>
            <a:ext cx="1828800" cy="365760"/>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__debug__ is True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python -O removes every assert.</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43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Logging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record of what the program did, without stopping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Levels</a:t>
            </a:r>
          </a:p>
        </p:txBody>
      </p:sp>
      <p:sp>
        <p:nvSpPr>
          <p:cNvPr id="6" name="meaning"/>
          <p:cNvSpPr txBox="1"/>
          <p:nvPr/>
        </p:nvSpPr>
        <p:spPr>
          <a:xfrm>
            <a:off x="2606040" y="1371600"/>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Five names from DEBUG to CRITICAL, with the numbers 10 to 50.</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basicConfig</a:t>
            </a:r>
          </a:p>
        </p:txBody>
      </p:sp>
      <p:sp>
        <p:nvSpPr>
          <p:cNvPr id="8" name="meaning"/>
          <p:cNvSpPr txBox="1"/>
          <p:nvPr/>
        </p:nvSpPr>
        <p:spPr>
          <a:xfrm>
            <a:off x="2606040" y="2029968"/>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One call sets the threshold, the format and the destination.</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filename</a:t>
            </a:r>
          </a:p>
        </p:txBody>
      </p:sp>
      <p:sp>
        <p:nvSpPr>
          <p:cNvPr id="10" name="meaning"/>
          <p:cNvSpPr txBox="1"/>
          <p:nvPr/>
        </p:nvSpPr>
        <p:spPr>
          <a:xfrm>
            <a:off x="2606040" y="2688336"/>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Sends the log to a text file instead of the screen.</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disable</a:t>
            </a:r>
          </a:p>
        </p:txBody>
      </p:sp>
      <p:sp>
        <p:nvSpPr>
          <p:cNvPr id="12" name="meaning"/>
          <p:cNvSpPr txBox="1"/>
          <p:nvPr/>
        </p:nvSpPr>
        <p:spPr>
          <a:xfrm>
            <a:off x="2606040" y="3346704"/>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Silences logging up to a level without deleting any call.</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logging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most effective debugging tool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a logging system with a birth 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Logging levels: five names, five numbers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basicConfig: choose what you hear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format string: what each line shows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filename=: evidence on disk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logging.disable: silence without delet...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Arguments are formatted only when needed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logging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log is the ship's logbook: written while sailing, read when something went wrong.</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926080"/>
                <a:gridCol w="5486400"/>
              </a:tblGrid>
              <a:tr h="38862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200" b="1" i="0">
                          <a:solidFill>
                            <a:srgbClr val="1F2933"/>
                          </a:solidFill>
                          <a:latin typeface="Calibri"/>
                        </a:rPr>
                        <a:t>Logging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flight recorder: always on, read after the incident.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log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One line in the logbook.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logging level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tag from whisper to siren on every entry.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logging.basicConfig()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Setting up the logbook once: how loud, what layout, which 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format string with %(asctime)s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form with blanks for the date, the urgency and the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200" b="1" i="0">
                          <a:solidFill>
                            <a:srgbClr val="1F2933"/>
                          </a:solidFill>
                          <a:latin typeface="Calibri"/>
                        </a:rPr>
                        <a:t>named parameter filename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Choosing the notebook in which the entries are 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200" b="1" i="0">
                          <a:solidFill>
                            <a:srgbClr val="1F2933"/>
                          </a:solidFill>
                          <a:latin typeface="Calibri"/>
                        </a:rPr>
                        <a:t>logging.disable()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mute button: the entries stay in the code, the radio goes quiet.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most effective debugging tool</a:t>
            </a:r>
          </a:p>
        </p:txBody>
      </p:sp>
      <p:pic>
        <p:nvPicPr>
          <p:cNvPr id="4" name="photo kernighan" descr="Picture for the story: the most effective debugging tool"/>
          <p:cNvPicPr>
            <a:picLocks noChangeAspect="1"/>
          </p:cNvPicPr>
          <p:nvPr/>
        </p:nvPicPr>
        <p:blipFill>
          <a:blip r:embed="rId3"/>
          <a:stretch>
            <a:fillRect/>
          </a:stretch>
        </p:blipFill>
        <p:spPr>
          <a:xfrm>
            <a:off x="365760" y="1447800"/>
            <a:ext cx="2651760" cy="1767840"/>
          </a:xfrm>
          <a:prstGeom prst="rect">
            <a:avLst/>
          </a:prstGeom>
        </p:spPr>
      </p:pic>
      <p:sp>
        <p:nvSpPr>
          <p:cNvPr id="5" name="credit"/>
          <p:cNvSpPr txBox="1"/>
          <p:nvPr/>
        </p:nvSpPr>
        <p:spPr>
          <a:xfrm>
            <a:off x="365760" y="3840480"/>
            <a:ext cx="2651760" cy="822960"/>
          </a:xfrm>
          <a:prstGeom prst="rect">
            <a:avLst/>
          </a:prstGeom>
          <a:noFill/>
        </p:spPr>
        <p:txBody>
          <a:bodyPr wrap="square" lIns="45720" rIns="45720" tIns="27432" bIns="27432" anchor="t">
            <a:spAutoFit/>
          </a:bodyPr>
          <a:lstStyle/>
          <a:p>
            <a:r>
              <a:rPr sz="950" b="0" i="0">
                <a:solidFill>
                  <a:srgbClr val="5B6773"/>
                </a:solidFill>
                <a:latin typeface="Calibri"/>
              </a:rPr>
              <a:t>Brian Kernighan at Bell Labs, 2012. Photo: Ben Lowe, CC BY 2.0,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50" b="1" i="0">
                <a:solidFill>
                  <a:srgbClr val="0E7C86"/>
                </a:solidFill>
                <a:latin typeface="Calibri"/>
              </a:rPr>
              <a:t>WHO  </a:t>
            </a:r>
            <a:r>
              <a:rPr sz="1250" b="0" i="0">
                <a:solidFill>
                  <a:srgbClr val="1F2933"/>
                </a:solidFill>
                <a:latin typeface="Calibri"/>
              </a:rPr>
              <a:t>Brian Kernighan, computer scientist at Bell Labs.</a:t>
            </a:r>
          </a:p>
        </p:txBody>
      </p:sp>
      <p:sp>
        <p:nvSpPr>
          <p:cNvPr id="8" name="card"/>
          <p:cNvSpPr/>
          <p:nvPr/>
        </p:nvSpPr>
        <p:spPr>
          <a:xfrm>
            <a:off x="3200400" y="1298448"/>
            <a:ext cx="5577840" cy="7452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298448"/>
            <a:ext cx="5486400" cy="745236"/>
          </a:xfrm>
          <a:prstGeom prst="rect">
            <a:avLst/>
          </a:prstGeom>
          <a:noFill/>
        </p:spPr>
        <p:txBody>
          <a:bodyPr wrap="square" lIns="45720" rIns="45720" tIns="27432" bIns="27432" anchor="ctr">
            <a:spAutoFit/>
          </a:bodyPr>
          <a:lstStyle/>
          <a:p>
            <a:r>
              <a:rPr sz="1250" b="1" i="0">
                <a:solidFill>
                  <a:srgbClr val="0E7C86"/>
                </a:solidFill>
                <a:latin typeface="Calibri"/>
              </a:rPr>
              <a:t>WHAT  </a:t>
            </a:r>
            <a:r>
              <a:rPr sz="1250" b="0" i="0">
                <a:solidFill>
                  <a:srgbClr val="1F2933"/>
                </a:solidFill>
                <a:latin typeface="Calibri"/>
              </a:rPr>
              <a:t>The sentence: 'The most effective debugging tool is still careful thought, coupled with judiciously placed print statements.'</a:t>
            </a:r>
          </a:p>
        </p:txBody>
      </p:sp>
      <p:sp>
        <p:nvSpPr>
          <p:cNvPr id="10" name="card"/>
          <p:cNvSpPr/>
          <p:nvPr/>
        </p:nvSpPr>
        <p:spPr>
          <a:xfrm>
            <a:off x="3200400" y="20985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98548"/>
            <a:ext cx="5486400" cy="402336"/>
          </a:xfrm>
          <a:prstGeom prst="rect">
            <a:avLst/>
          </a:prstGeom>
          <a:noFill/>
        </p:spPr>
        <p:txBody>
          <a:bodyPr wrap="square" lIns="45720" rIns="45720" tIns="27432" bIns="27432" anchor="ctr">
            <a:spAutoFit/>
          </a:bodyPr>
          <a:lstStyle/>
          <a:p>
            <a:r>
              <a:rPr sz="1250" b="1" i="0">
                <a:solidFill>
                  <a:srgbClr val="0E7C86"/>
                </a:solidFill>
                <a:latin typeface="Calibri"/>
              </a:rPr>
              <a:t>WHEN  </a:t>
            </a:r>
            <a:r>
              <a:rPr sz="1250" b="0" i="0">
                <a:solidFill>
                  <a:srgbClr val="1F2933"/>
                </a:solidFill>
                <a:latin typeface="Calibri"/>
              </a:rPr>
              <a:t>1979, in the Bell Labs memorandum 'Unix for Beginners'.</a:t>
            </a:r>
          </a:p>
        </p:txBody>
      </p:sp>
      <p:sp>
        <p:nvSpPr>
          <p:cNvPr id="12" name="card"/>
          <p:cNvSpPr/>
          <p:nvPr/>
        </p:nvSpPr>
        <p:spPr>
          <a:xfrm>
            <a:off x="3200400" y="25557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5748"/>
            <a:ext cx="5486400" cy="402336"/>
          </a:xfrm>
          <a:prstGeom prst="rect">
            <a:avLst/>
          </a:prstGeom>
          <a:noFill/>
        </p:spPr>
        <p:txBody>
          <a:bodyPr wrap="square" lIns="45720" rIns="45720" tIns="27432" bIns="27432" anchor="ctr">
            <a:spAutoFit/>
          </a:bodyPr>
          <a:lstStyle/>
          <a:p>
            <a:r>
              <a:rPr sz="1250" b="1" i="0">
                <a:solidFill>
                  <a:srgbClr val="0E7C86"/>
                </a:solidFill>
                <a:latin typeface="Calibri"/>
              </a:rPr>
              <a:t>WHERE  </a:t>
            </a:r>
            <a:r>
              <a:rPr sz="1250" b="0" i="0">
                <a:solidFill>
                  <a:srgbClr val="1F2933"/>
                </a:solidFill>
                <a:latin typeface="Calibri"/>
              </a:rPr>
              <a:t>Bell Laboratories, Murray Hill, New Jersey.</a:t>
            </a:r>
          </a:p>
        </p:txBody>
      </p:sp>
      <p:sp>
        <p:nvSpPr>
          <p:cNvPr id="14" name="card"/>
          <p:cNvSpPr/>
          <p:nvPr/>
        </p:nvSpPr>
        <p:spPr>
          <a:xfrm>
            <a:off x="3200400" y="301294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1294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WHY  </a:t>
            </a:r>
            <a:r>
              <a:rPr sz="1250" b="0" i="0">
                <a:solidFill>
                  <a:srgbClr val="1F2933"/>
                </a:solidFill>
                <a:latin typeface="Calibri"/>
              </a:rPr>
              <a:t>Tools help, but a debugging session starts with thinking about what the program should do.</a:t>
            </a:r>
          </a:p>
        </p:txBody>
      </p:sp>
      <p:sp>
        <p:nvSpPr>
          <p:cNvPr id="16" name="card"/>
          <p:cNvSpPr/>
          <p:nvPr/>
        </p:nvSpPr>
        <p:spPr>
          <a:xfrm>
            <a:off x="3200400" y="360730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0730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HOW  </a:t>
            </a:r>
            <a:r>
              <a:rPr sz="1250" b="0" i="0">
                <a:solidFill>
                  <a:srgbClr val="1F2933"/>
                </a:solidFill>
                <a:latin typeface="Calibri"/>
              </a:rPr>
              <a:t>This chapter agrees, then upgrades the print statement into logging, with levels, files and an off switch.</a:t>
            </a:r>
          </a:p>
        </p:txBody>
      </p:sp>
      <p:sp>
        <p:nvSpPr>
          <p:cNvPr id="18" name="read"/>
          <p:cNvSpPr txBox="1"/>
          <p:nvPr/>
        </p:nvSpPr>
        <p:spPr>
          <a:xfrm>
            <a:off x="3200400" y="4219956"/>
            <a:ext cx="5577840" cy="329184"/>
          </a:xfrm>
          <a:prstGeom prst="rect">
            <a:avLst/>
          </a:prstGeom>
          <a:noFill/>
        </p:spPr>
        <p:txBody>
          <a:bodyPr wrap="square" lIns="45720" rIns="45720" tIns="27432" bIns="27432" anchor="t">
            <a:spAutoFit/>
          </a:bodyPr>
          <a:lstStyle/>
          <a:p>
            <a:r>
              <a:rPr sz="1250" b="1" i="0">
                <a:solidFill>
                  <a:srgbClr val="B7791F"/>
                </a:solidFill>
                <a:latin typeface="Calibri"/>
              </a:rPr>
              <a:t>READ  </a:t>
            </a:r>
            <a:r>
              <a:rPr sz="1250" b="0" i="0">
                <a:solidFill>
                  <a:srgbClr val="0E7C86"/>
                </a:solidFill>
                <a:latin typeface="Calibri"/>
                <a:hlinkClick r:id="rId4"/>
              </a:rPr>
              <a:t>Brian Kernighan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43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 logging system with a birth certificate</a:t>
            </a:r>
          </a:p>
        </p:txBody>
      </p:sp>
      <p:pic>
        <p:nvPicPr>
          <p:cNvPr id="4" name="photo pep282" descr="Picture for the story: a logging system with a birth certificate"/>
          <p:cNvPicPr>
            <a:picLocks noChangeAspect="1"/>
          </p:cNvPicPr>
          <p:nvPr/>
        </p:nvPicPr>
        <p:blipFill>
          <a:blip r:embed="rId3"/>
          <a:stretch>
            <a:fillRect/>
          </a:stretch>
        </p:blipFill>
        <p:spPr>
          <a:xfrm>
            <a:off x="365759" y="1005839"/>
            <a:ext cx="2651760" cy="2651760"/>
          </a:xfrm>
          <a:prstGeom prst="rect">
            <a:avLst/>
          </a:prstGeom>
        </p:spPr>
      </p:pic>
      <p:sp>
        <p:nvSpPr>
          <p:cNvPr id="5" name="credit"/>
          <p:cNvSpPr txBox="1"/>
          <p:nvPr/>
        </p:nvSpPr>
        <p:spPr>
          <a:xfrm>
            <a:off x="365760" y="3840480"/>
            <a:ext cx="2651760" cy="822960"/>
          </a:xfrm>
          <a:prstGeom prst="rect">
            <a:avLst/>
          </a:prstGeom>
          <a:noFill/>
        </p:spPr>
        <p:txBody>
          <a:bodyPr wrap="square" lIns="45720" rIns="45720" tIns="27432" bIns="27432" anchor="t">
            <a:spAutoFit/>
          </a:bodyPr>
          <a:lstStyle/>
          <a:p>
            <a:r>
              <a:rPr sz="950" b="0" i="0">
                <a:solidFill>
                  <a:srgbClr val="5B6773"/>
                </a:solidFill>
                <a:latin typeface="Calibri"/>
              </a:rPr>
              <a:t>Python logo. Source: python.org, Python Software Foundation, used under its trademark policy.</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50" b="1" i="0">
                <a:solidFill>
                  <a:srgbClr val="0E7C86"/>
                </a:solidFill>
                <a:latin typeface="Calibri"/>
              </a:rPr>
              <a:t>WHO  </a:t>
            </a:r>
            <a:r>
              <a:rPr sz="1250" b="0" i="0">
                <a:solidFill>
                  <a:srgbClr val="1F2933"/>
                </a:solidFill>
                <a:latin typeface="Calibri"/>
              </a:rPr>
              <a:t>Vinay Sajip and Trent Mick, the authors of PEP 282.</a:t>
            </a:r>
          </a:p>
        </p:txBody>
      </p:sp>
      <p:sp>
        <p:nvSpPr>
          <p:cNvPr id="8" name="card"/>
          <p:cNvSpPr/>
          <p:nvPr/>
        </p:nvSpPr>
        <p:spPr>
          <a:xfrm>
            <a:off x="3200400" y="129844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29844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WHAT  </a:t>
            </a:r>
            <a:r>
              <a:rPr sz="1250" b="0" i="0">
                <a:solidFill>
                  <a:srgbClr val="1F2933"/>
                </a:solidFill>
                <a:latin typeface="Calibri"/>
              </a:rPr>
              <a:t>PEP 282, 'A Logging System': loggers, levels, handlers and formatters for Python's standard library.</a:t>
            </a:r>
          </a:p>
        </p:txBody>
      </p:sp>
      <p:sp>
        <p:nvSpPr>
          <p:cNvPr id="10" name="card"/>
          <p:cNvSpPr/>
          <p:nvPr/>
        </p:nvSpPr>
        <p:spPr>
          <a:xfrm>
            <a:off x="3200400" y="189280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9280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WHEN  </a:t>
            </a:r>
            <a:r>
              <a:rPr sz="1250" b="0" i="0">
                <a:solidFill>
                  <a:srgbClr val="1F2933"/>
                </a:solidFill>
                <a:latin typeface="Calibri"/>
              </a:rPr>
              <a:t>Created on 4 February 2002; part of Python since version 2.3.</a:t>
            </a:r>
          </a:p>
        </p:txBody>
      </p:sp>
      <p:sp>
        <p:nvSpPr>
          <p:cNvPr id="12" name="card"/>
          <p:cNvSpPr/>
          <p:nvPr/>
        </p:nvSpPr>
        <p:spPr>
          <a:xfrm>
            <a:off x="3200400" y="248716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8716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WHERE  </a:t>
            </a:r>
            <a:r>
              <a:rPr sz="1250" b="0" i="0">
                <a:solidFill>
                  <a:srgbClr val="1F2933"/>
                </a:solidFill>
                <a:latin typeface="Calibri"/>
              </a:rPr>
              <a:t>The Python Enhancement Proposals, peps.python.org, status Final.</a:t>
            </a:r>
          </a:p>
        </p:txBody>
      </p:sp>
      <p:sp>
        <p:nvSpPr>
          <p:cNvPr id="14" name="card"/>
          <p:cNvSpPr/>
          <p:nvPr/>
        </p:nvSpPr>
        <p:spPr>
          <a:xfrm>
            <a:off x="3200400" y="308152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8152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WHY  </a:t>
            </a:r>
            <a:r>
              <a:rPr sz="1250" b="0" i="0">
                <a:solidFill>
                  <a:srgbClr val="1F2933"/>
                </a:solidFill>
                <a:latin typeface="Calibri"/>
              </a:rPr>
              <a:t>Every program printed its own notes in its own way. A shared system makes logs work together.</a:t>
            </a:r>
          </a:p>
        </p:txBody>
      </p:sp>
      <p:sp>
        <p:nvSpPr>
          <p:cNvPr id="16" name="card"/>
          <p:cNvSpPr/>
          <p:nvPr/>
        </p:nvSpPr>
        <p:spPr>
          <a:xfrm>
            <a:off x="3200400" y="3675888"/>
            <a:ext cx="5577840" cy="53949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75888"/>
            <a:ext cx="5486400" cy="539496"/>
          </a:xfrm>
          <a:prstGeom prst="rect">
            <a:avLst/>
          </a:prstGeom>
          <a:noFill/>
        </p:spPr>
        <p:txBody>
          <a:bodyPr wrap="square" lIns="45720" rIns="45720" tIns="27432" bIns="27432" anchor="ctr">
            <a:spAutoFit/>
          </a:bodyPr>
          <a:lstStyle/>
          <a:p>
            <a:r>
              <a:rPr sz="1250" b="1" i="0">
                <a:solidFill>
                  <a:srgbClr val="0E7C86"/>
                </a:solidFill>
                <a:latin typeface="Calibri"/>
              </a:rPr>
              <a:t>HOW  </a:t>
            </a:r>
            <a:r>
              <a:rPr sz="1250" b="0" i="0">
                <a:solidFill>
                  <a:srgbClr val="1F2933"/>
                </a:solidFill>
                <a:latin typeface="Calibri"/>
              </a:rPr>
              <a:t>The five levels DEBUG to CRITICAL on these slides are that design, and every logging example here runs it.</a:t>
            </a:r>
          </a:p>
        </p:txBody>
      </p:sp>
      <p:sp>
        <p:nvSpPr>
          <p:cNvPr id="18" name="read"/>
          <p:cNvSpPr txBox="1"/>
          <p:nvPr/>
        </p:nvSpPr>
        <p:spPr>
          <a:xfrm>
            <a:off x="3200400" y="4288536"/>
            <a:ext cx="5577840" cy="329184"/>
          </a:xfrm>
          <a:prstGeom prst="rect">
            <a:avLst/>
          </a:prstGeom>
          <a:noFill/>
        </p:spPr>
        <p:txBody>
          <a:bodyPr wrap="square" lIns="45720" rIns="45720" tIns="27432" bIns="27432" anchor="t">
            <a:spAutoFit/>
          </a:bodyPr>
          <a:lstStyle/>
          <a:p>
            <a:r>
              <a:rPr sz="1250" b="1" i="0">
                <a:solidFill>
                  <a:srgbClr val="B7791F"/>
                </a:solidFill>
                <a:latin typeface="Calibri"/>
              </a:rPr>
              <a:t>READ  </a:t>
            </a:r>
            <a:r>
              <a:rPr sz="1250" b="0" i="0">
                <a:solidFill>
                  <a:srgbClr val="0E7C86"/>
                </a:solidFill>
                <a:latin typeface="Calibri"/>
                <a:hlinkClick r:id="rId4"/>
              </a:rPr>
              <a:t>PEP 282, A Logging System (peps.python.org)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Logging levels: five names, five numbers</a:t>
            </a:r>
          </a:p>
        </p:txBody>
      </p:sp>
      <p:sp>
        <p:nvSpPr>
          <p:cNvPr id="4" name="code"/>
          <p:cNvSpPr/>
          <p:nvPr/>
        </p:nvSpPr>
        <p:spPr>
          <a:xfrm>
            <a:off x="365760" y="777240"/>
            <a:ext cx="8412480" cy="70408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logging</a:t>
            </a:r>
          </a:p>
          <a:p>
            <a:pPr algn="l"/>
            <a:r>
              <a:rPr sz="1200" b="0" i="0">
                <a:solidFill>
                  <a:srgbClr val="8FA3B8"/>
                </a:solidFill>
                <a:latin typeface="Courier New"/>
              </a:rPr>
              <a:t>&gt;&gt;&gt; </a:t>
            </a:r>
            <a:r>
              <a:rPr sz="1200" b="0" i="0">
                <a:solidFill>
                  <a:srgbClr val="E6EDF3"/>
                </a:solidFill>
                <a:latin typeface="Courier New"/>
              </a:rPr>
              <a:t>levels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'DEBUG'</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'INFO'</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'WARNING'</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'ERROR'</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'CRITICAL'</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getattr</a:t>
            </a:r>
            <a:r>
              <a:rPr sz="1200" b="0" i="0">
                <a:solidFill>
                  <a:srgbClr val="E6EDF3"/>
                </a:solidFill>
                <a:latin typeface="Courier New"/>
              </a:rPr>
              <a:t>(</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name</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levels</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365760" y="1490472"/>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Each level is a name with a number: 10, 20, 30, 40 and 50. A higher number means a more serious message.</a:t>
            </a:r>
          </a:p>
        </p:txBody>
      </p:sp>
      <p:sp>
        <p:nvSpPr>
          <p:cNvPr id="6" name="code"/>
          <p:cNvSpPr/>
          <p:nvPr/>
        </p:nvSpPr>
        <p:spPr>
          <a:xfrm>
            <a:off x="365760" y="1854708"/>
            <a:ext cx="8412480" cy="3322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WARNING</a:t>
            </a:r>
            <a:r>
              <a:rPr sz="1200" b="0" i="0">
                <a:solidFill>
                  <a:srgbClr val="E6EDF3"/>
                </a:solidFill>
                <a:latin typeface="Courier New"/>
              </a:rPr>
              <a:t> </a:t>
            </a:r>
            <a:r>
              <a:rPr sz="1200" b="0" i="0">
                <a:solidFill>
                  <a:srgbClr val="E6EDF3"/>
                </a:solidFill>
                <a:latin typeface="Courier New"/>
              </a:rPr>
              <a:t>&gt;</a:t>
            </a:r>
            <a:r>
              <a:rPr sz="1200" b="0" i="0">
                <a:solidFill>
                  <a:srgbClr val="E6EDF3"/>
                </a:solidFill>
                <a:latin typeface="Courier New"/>
              </a:rPr>
              <a: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INFO</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getLevelName</a:t>
            </a:r>
            <a:r>
              <a:rPr sz="1200" b="0" i="0">
                <a:solidFill>
                  <a:srgbClr val="E6EDF3"/>
                </a:solidFill>
                <a:latin typeface="Courier New"/>
              </a:rPr>
              <a:t>(</a:t>
            </a:r>
            <a:r>
              <a:rPr sz="1200" b="0" i="0">
                <a:solidFill>
                  <a:srgbClr val="7CC4FF"/>
                </a:solidFill>
                <a:latin typeface="Courier New"/>
              </a:rPr>
              <a:t>30</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365760" y="2196083"/>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Levels compare as numbers, and getLevelName turns a number back into its name.</a:t>
            </a:r>
          </a:p>
        </p:txBody>
      </p:sp>
      <p:sp>
        <p:nvSpPr>
          <p:cNvPr id="8" name="result label"/>
          <p:cNvSpPr txBox="1"/>
          <p:nvPr/>
        </p:nvSpPr>
        <p:spPr>
          <a:xfrm>
            <a:off x="365760" y="2551176"/>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2779776"/>
          <a:ext cx="4206240" cy="1883663"/>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824374" y="2825496"/>
          <a:ext cx="3953864" cy="1645920"/>
        </p:xfrm>
        <a:graphic>
          <a:graphicData uri="http://schemas.openxmlformats.org/drawingml/2006/table">
            <a:tbl>
              <a:tblPr firstRow="0" bandRow="0"/>
              <a:tblGrid>
                <a:gridCol w="1408848"/>
                <a:gridCol w="545360"/>
                <a:gridCol w="1999656"/>
              </a:tblGrid>
              <a:tr h="274320">
                <a:tc>
                  <a:txBody>
                    <a:bodyPr wrap="square"/>
                    <a:lstStyle/>
                    <a:p>
                      <a:r>
                        <a:rPr sz="9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00" b="1" i="0">
                          <a:solidFill>
                            <a:srgbClr val="FFFFFF"/>
                          </a:solidFill>
                          <a:latin typeface="Calibri"/>
                        </a:rPr>
                        <a:t>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Typical use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00" b="0" i="0">
                          <a:solidFill>
                            <a:srgbClr val="1F2933"/>
                          </a:solidFill>
                          <a:latin typeface="Courier New"/>
                        </a:rPr>
                        <a:t>logging.debug()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details for the programmer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00" b="0" i="0">
                          <a:solidFill>
                            <a:srgbClr val="1F2933"/>
                          </a:solidFill>
                          <a:latin typeface="Courier New"/>
                        </a:rPr>
                        <a:t>logging.info()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0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the program works as planned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00" b="0" i="0">
                          <a:solidFill>
                            <a:srgbClr val="1F2933"/>
                          </a:solidFill>
                          <a:latin typeface="Courier New"/>
                        </a:rPr>
                        <a:t>logging.warning()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something unexpected (default)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00" b="0" i="0">
                          <a:solidFill>
                            <a:srgbClr val="1F2933"/>
                          </a:solidFill>
                          <a:latin typeface="Courier New"/>
                        </a:rPr>
                        <a:t>logging.error()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a part of the work failed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00" b="0" i="0">
                          <a:solidFill>
                            <a:srgbClr val="1F2933"/>
                          </a:solidFill>
                          <a:latin typeface="Courier New"/>
                        </a:rPr>
                        <a:t>logging.critical()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50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the program may not go 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Five names, five numbers, 10 to 50.</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43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basicConfig: choose what you hear</a:t>
            </a:r>
          </a:p>
        </p:txBody>
      </p:sp>
      <p:sp>
        <p:nvSpPr>
          <p:cNvPr id="4" name="code"/>
          <p:cNvSpPr/>
          <p:nvPr/>
        </p:nvSpPr>
        <p:spPr>
          <a:xfrm>
            <a:off x="365760" y="777240"/>
            <a:ext cx="546811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sys</a:t>
            </a:r>
          </a:p>
          <a:p>
            <a:pPr algn="l"/>
            <a:r>
              <a:rPr sz="1200" b="0" i="0">
                <a:solidFill>
                  <a:srgbClr val="8FA3B8"/>
                </a:solidFill>
                <a:latin typeface="Courier New"/>
              </a:rPr>
              <a:t>&gt;&gt;&gt; </a:t>
            </a:r>
            <a:r>
              <a:rPr sz="1200" b="0" i="0">
                <a:solidFill>
                  <a:srgbClr val="E6EDF3"/>
                </a:solidFill>
                <a:latin typeface="Courier New"/>
              </a:rPr>
              <a:t>fmt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'%(levelname)s - %(message)s'</a:t>
            </a:r>
          </a:p>
          <a:p>
            <a:pPr algn="l"/>
            <a:r>
              <a:rPr sz="1200" b="0" i="0">
                <a:solidFill>
                  <a:srgbClr val="8FA3B8"/>
                </a:solidFill>
                <a:latin typeface="Courier New"/>
              </a:rPr>
              <a:t>&gt;&gt;&gt; </a:t>
            </a:r>
            <a:r>
              <a:rPr sz="1200" b="0" i="0">
                <a:solidFill>
                  <a:srgbClr val="E6EDF3"/>
                </a:solidFill>
                <a:latin typeface="Courier New"/>
              </a:rPr>
              <a:t>cfg</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dict</a:t>
            </a:r>
            <a:r>
              <a:rPr sz="1200" b="0" i="0">
                <a:solidFill>
                  <a:srgbClr val="E6EDF3"/>
                </a:solidFill>
                <a:latin typeface="Courier New"/>
              </a:rPr>
              <a:t>(</a:t>
            </a:r>
            <a:r>
              <a:rPr sz="1200" b="0" i="0">
                <a:solidFill>
                  <a:srgbClr val="E6EDF3"/>
                </a:solidFill>
                <a:latin typeface="Courier New"/>
              </a:rPr>
              <a:t>stream</a:t>
            </a:r>
            <a:r>
              <a:rPr sz="1200" b="0" i="0">
                <a:solidFill>
                  <a:srgbClr val="E6EDF3"/>
                </a:solidFill>
                <a:latin typeface="Courier New"/>
              </a:rPr>
              <a:t>=</a:t>
            </a:r>
            <a:r>
              <a:rPr sz="1200" b="0" i="0">
                <a:solidFill>
                  <a:srgbClr val="E6EDF3"/>
                </a:solidFill>
                <a:latin typeface="Courier New"/>
              </a:rPr>
              <a:t>sys</a:t>
            </a:r>
            <a:r>
              <a:rPr sz="1200" b="0" i="0">
                <a:solidFill>
                  <a:srgbClr val="E6EDF3"/>
                </a:solidFill>
                <a:latin typeface="Courier New"/>
              </a:rPr>
              <a:t>.</a:t>
            </a:r>
            <a:r>
              <a:rPr sz="1200" b="0" i="0">
                <a:solidFill>
                  <a:srgbClr val="E6EDF3"/>
                </a:solidFill>
                <a:latin typeface="Courier New"/>
              </a:rPr>
              <a:t>stdout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format</a:t>
            </a:r>
            <a:r>
              <a:rPr sz="1200" b="0" i="0">
                <a:solidFill>
                  <a:srgbClr val="E6EDF3"/>
                </a:solidFill>
                <a:latin typeface="Courier New"/>
              </a:rPr>
              <a:t>=</a:t>
            </a:r>
            <a:r>
              <a:rPr sz="1200" b="0" i="0">
                <a:solidFill>
                  <a:srgbClr val="E6EDF3"/>
                </a:solidFill>
                <a:latin typeface="Courier New"/>
              </a:rPr>
              <a:t>fmt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force</a:t>
            </a:r>
            <a:r>
              <a:rPr sz="1200" b="0" i="0">
                <a:solidFill>
                  <a:srgbClr val="E6EDF3"/>
                </a:solidFill>
                <a:latin typeface="Courier New"/>
              </a:rPr>
              <a:t>=</a:t>
            </a:r>
            <a:r>
              <a:rPr sz="1200" b="0" i="0">
                <a:solidFill>
                  <a:srgbClr val="C9A0FF"/>
                </a:solidFill>
                <a:latin typeface="Courier New"/>
              </a:rPr>
              <a:t>True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basicConfig</a:t>
            </a:r>
            <a:r>
              <a:rPr sz="1200" b="0" i="0">
                <a:solidFill>
                  <a:srgbClr val="E6EDF3"/>
                </a:solidFill>
                <a:latin typeface="Courier New"/>
              </a:rPr>
              <a:t>(</a:t>
            </a:r>
            <a:r>
              <a:rPr sz="1200" b="0" i="0">
                <a:solidFill>
                  <a:srgbClr val="E6EDF3"/>
                </a:solidFill>
                <a:latin typeface="Courier New"/>
              </a:rPr>
              <a:t>level</a:t>
            </a:r>
            <a:r>
              <a:rPr sz="1200" b="0" i="0">
                <a:solidFill>
                  <a:srgbClr val="E6EDF3"/>
                </a:solidFill>
                <a:latin typeface="Courier New"/>
              </a:rPr>
              <a:t>=</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INFO</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cfg</a:t>
            </a:r>
            <a:r>
              <a:rPr sz="1200" b="0" i="0">
                <a:solidFill>
                  <a:srgbClr val="E6EDF3"/>
                </a:solidFill>
                <a:latin typeface="Courier New"/>
              </a:rPr>
              <a:t>)</a:t>
            </a:r>
          </a:p>
        </p:txBody>
      </p:sp>
      <p:sp>
        <p:nvSpPr>
          <p:cNvPr id="5" name="explanation"/>
          <p:cNvSpPr txBox="1"/>
          <p:nvPr/>
        </p:nvSpPr>
        <p:spPr>
          <a:xfrm>
            <a:off x="5815584" y="777240"/>
            <a:ext cx="2962656" cy="890016"/>
          </a:xfrm>
          <a:prstGeom prst="rect">
            <a:avLst/>
          </a:prstGeom>
          <a:noFill/>
        </p:spPr>
        <p:txBody>
          <a:bodyPr wrap="square" lIns="128016" rIns="128016" tIns="18288" bIns="18288" anchor="ctr">
            <a:spAutoFit/>
          </a:bodyPr>
          <a:lstStyle/>
          <a:p>
            <a:r>
              <a:rPr sz="1200" b="0" i="0">
                <a:solidFill>
                  <a:srgbClr val="1F2933"/>
                </a:solidFill>
                <a:latin typeface="Calibri"/>
              </a:rPr>
              <a:t>cfg gathers the format, the place to write and force=True. basicConfig adds the threshold: INFO hides DEBUG.</a:t>
            </a:r>
          </a:p>
        </p:txBody>
      </p:sp>
      <p:sp>
        <p:nvSpPr>
          <p:cNvPr id="6" name="code"/>
          <p:cNvSpPr/>
          <p:nvPr/>
        </p:nvSpPr>
        <p:spPr>
          <a:xfrm>
            <a:off x="365760" y="1722120"/>
            <a:ext cx="5468112" cy="107594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debug</a:t>
            </a:r>
            <a:r>
              <a:rPr sz="1200" b="0" i="0">
                <a:solidFill>
                  <a:srgbClr val="E6EDF3"/>
                </a:solidFill>
                <a:latin typeface="Courier New"/>
              </a:rPr>
              <a:t>(</a:t>
            </a:r>
            <a:r>
              <a:rPr sz="1200" b="0" i="0">
                <a:solidFill>
                  <a:srgbClr val="9BE3A8"/>
                </a:solidFill>
                <a:latin typeface="Courier New"/>
              </a:rPr>
              <a:t>'debug message'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info</a:t>
            </a:r>
            <a:r>
              <a:rPr sz="1200" b="0" i="0">
                <a:solidFill>
                  <a:srgbClr val="E6EDF3"/>
                </a:solidFill>
                <a:latin typeface="Courier New"/>
              </a:rPr>
              <a:t>(</a:t>
            </a:r>
            <a:r>
              <a:rPr sz="1200" b="0" i="0">
                <a:solidFill>
                  <a:srgbClr val="9BE3A8"/>
                </a:solidFill>
                <a:latin typeface="Courier New"/>
              </a:rPr>
              <a:t>'info message'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warning</a:t>
            </a:r>
            <a:r>
              <a:rPr sz="1200" b="0" i="0">
                <a:solidFill>
                  <a:srgbClr val="E6EDF3"/>
                </a:solidFill>
                <a:latin typeface="Courier New"/>
              </a:rPr>
              <a:t>(</a:t>
            </a:r>
            <a:r>
              <a:rPr sz="1200" b="0" i="0">
                <a:solidFill>
                  <a:srgbClr val="9BE3A8"/>
                </a:solidFill>
                <a:latin typeface="Courier New"/>
              </a:rPr>
              <a:t>'warning message'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error</a:t>
            </a:r>
            <a:r>
              <a:rPr sz="1200" b="0" i="0">
                <a:solidFill>
                  <a:srgbClr val="E6EDF3"/>
                </a:solidFill>
                <a:latin typeface="Courier New"/>
              </a:rPr>
              <a:t>(</a:t>
            </a:r>
            <a:r>
              <a:rPr sz="1200" b="0" i="0">
                <a:solidFill>
                  <a:srgbClr val="9BE3A8"/>
                </a:solidFill>
                <a:latin typeface="Courier New"/>
              </a:rPr>
              <a:t>'error message'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logging</a:t>
            </a:r>
            <a:r>
              <a:rPr sz="1200" b="0" i="0">
                <a:solidFill>
                  <a:srgbClr val="E6EDF3"/>
                </a:solidFill>
                <a:latin typeface="Courier New"/>
              </a:rPr>
              <a:t>.</a:t>
            </a:r>
            <a:r>
              <a:rPr sz="1200" b="0" i="0">
                <a:solidFill>
                  <a:srgbClr val="E6EDF3"/>
                </a:solidFill>
                <a:latin typeface="Courier New"/>
              </a:rPr>
              <a:t>critical</a:t>
            </a:r>
            <a:r>
              <a:rPr sz="1200" b="0" i="0">
                <a:solidFill>
                  <a:srgbClr val="E6EDF3"/>
                </a:solidFill>
                <a:latin typeface="Courier New"/>
              </a:rPr>
              <a:t>(</a:t>
            </a:r>
            <a:r>
              <a:rPr sz="1200" b="0" i="0">
                <a:solidFill>
                  <a:srgbClr val="9BE3A8"/>
                </a:solidFill>
                <a:latin typeface="Courier New"/>
              </a:rPr>
              <a:t>'critical message'</a:t>
            </a:r>
            <a:r>
              <a:rPr sz="1200" b="0" i="0">
                <a:solidFill>
                  <a:srgbClr val="E6EDF3"/>
                </a:solidFill>
                <a:latin typeface="Courier New"/>
              </a:rPr>
              <a:t>)</a:t>
            </a:r>
          </a:p>
        </p:txBody>
      </p:sp>
      <p:sp>
        <p:nvSpPr>
          <p:cNvPr id="7" name="explanation"/>
          <p:cNvSpPr txBox="1"/>
          <p:nvPr/>
        </p:nvSpPr>
        <p:spPr>
          <a:xfrm>
            <a:off x="5815584" y="1722120"/>
            <a:ext cx="2962656" cy="1075943"/>
          </a:xfrm>
          <a:prstGeom prst="rect">
            <a:avLst/>
          </a:prstGeom>
          <a:noFill/>
        </p:spPr>
        <p:txBody>
          <a:bodyPr wrap="square" lIns="128016" rIns="128016" tIns="18288" bIns="18288" anchor="ctr">
            <a:spAutoFit/>
          </a:bodyPr>
          <a:lstStyle/>
          <a:p>
            <a:r>
              <a:rPr sz="1200" b="0" i="0">
                <a:solidFill>
                  <a:srgbClr val="1F2933"/>
                </a:solidFill>
                <a:latin typeface="Calibri"/>
              </a:rPr>
              <a:t>Five calls, one per level. Only the messages at the threshold or above are printed, and no call has to be deleted.</a:t>
            </a:r>
          </a:p>
        </p:txBody>
      </p:sp>
      <p:sp>
        <p:nvSpPr>
          <p:cNvPr id="8" name="result label"/>
          <p:cNvSpPr txBox="1"/>
          <p:nvPr/>
        </p:nvSpPr>
        <p:spPr>
          <a:xfrm>
            <a:off x="365760" y="2843784"/>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9" name="TextBox 8"/>
          <p:cNvSpPr txBox="1"/>
          <p:nvPr/>
        </p:nvSpPr>
        <p:spPr>
          <a:xfrm>
            <a:off x="365760" y="3072384"/>
            <a:ext cx="3785615" cy="219456"/>
          </a:xfrm>
          <a:prstGeom prst="rect">
            <a:avLst/>
          </a:prstGeom>
          <a:noFill/>
        </p:spPr>
        <p:txBody>
          <a:bodyPr wrap="square" lIns="45720" rIns="45720" tIns="27432" bIns="27432" anchor="t">
            <a:spAutoFit/>
          </a:bodyPr>
          <a:lstStyle/>
          <a:p>
            <a:r>
              <a:rPr sz="1000" b="1" i="0">
                <a:solidFill>
                  <a:srgbClr val="0E7C86"/>
                </a:solidFill>
                <a:latin typeface="Calibri"/>
              </a:rPr>
              <a:t>messages shown at each threshold</a:t>
            </a:r>
          </a:p>
        </p:txBody>
      </p:sp>
      <p:graphicFrame>
        <p:nvGraphicFramePr>
          <p:cNvPr id="10" name="chart"/>
          <p:cNvGraphicFramePr>
            <a:graphicFrameLocks noGrp="1"/>
          </p:cNvGraphicFramePr>
          <p:nvPr/>
        </p:nvGraphicFramePr>
        <p:xfrm>
          <a:off x="365760" y="3310128"/>
          <a:ext cx="3785615" cy="1353311"/>
        </p:xfrm>
        <a:graphic>
          <a:graphicData uri="http://schemas.openxmlformats.org/drawingml/2006/chart">
            <c:chart xmlns:c="http://schemas.openxmlformats.org/drawingml/2006/chart" r:id="rId3"/>
          </a:graphicData>
        </a:graphic>
      </p:graphicFrame>
      <p:graphicFrame>
        <p:nvGraphicFramePr>
          <p:cNvPr id="11" name="table"/>
          <p:cNvGraphicFramePr>
            <a:graphicFrameLocks noGrp="1"/>
          </p:cNvGraphicFramePr>
          <p:nvPr/>
        </p:nvGraphicFramePr>
        <p:xfrm>
          <a:off x="4572000" y="3118103"/>
          <a:ext cx="4206240" cy="1371600"/>
        </p:xfrm>
        <a:graphic>
          <a:graphicData uri="http://schemas.openxmlformats.org/drawingml/2006/table">
            <a:tbl>
              <a:tblPr firstRow="0" bandRow="0"/>
              <a:tblGrid>
                <a:gridCol w="4206240"/>
              </a:tblGrid>
              <a:tr h="274320">
                <a:tc>
                  <a:txBody>
                    <a:bodyPr wrap="square"/>
                    <a:lstStyle/>
                    <a:p>
                      <a:r>
                        <a:rPr sz="1000" b="1" i="0">
                          <a:solidFill>
                            <a:srgbClr val="FFFFFF"/>
                          </a:solidFill>
                          <a:latin typeface="Calibri"/>
                        </a:rPr>
                        <a:t>Printed at threshold INFO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INFO - info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WARNING - warning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B83A1B"/>
                          </a:solidFill>
                          <a:latin typeface="Courier New"/>
                        </a:rPr>
                        <a:t>ERROR - error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B83A1B"/>
                          </a:solidFill>
                          <a:latin typeface="Courier New"/>
                        </a:rPr>
                        <a:t>CRITICAL - critical 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threshold hides the lower levels.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format string: what each line shows</a:t>
            </a:r>
          </a:p>
        </p:txBody>
      </p:sp>
      <p:sp>
        <p:nvSpPr>
          <p:cNvPr id="4" name="code"/>
          <p:cNvSpPr/>
          <p:nvPr/>
        </p:nvSpPr>
        <p:spPr>
          <a:xfrm>
            <a:off x="365760" y="777240"/>
            <a:ext cx="5696712" cy="7970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time</a:t>
            </a:r>
          </a:p>
          <a:p>
            <a:pPr algn="l"/>
            <a:r>
              <a:rPr sz="1050" b="0" i="0">
                <a:solidFill>
                  <a:srgbClr val="8FA3B8"/>
                </a:solidFill>
                <a:latin typeface="Courier New"/>
              </a:rPr>
              <a:t>&gt;&gt;&gt; </a:t>
            </a:r>
            <a:r>
              <a:rPr sz="1050" b="0" i="0">
                <a:solidFill>
                  <a:srgbClr val="E6EDF3"/>
                </a:solidFill>
                <a:latin typeface="Courier New"/>
              </a:rPr>
              <a:t>text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'%(asctime)s - %(levelname)s - %(message)s'</a:t>
            </a:r>
          </a:p>
          <a:p>
            <a:pPr algn="l"/>
            <a:r>
              <a:rPr sz="1050" b="0" i="0">
                <a:solidFill>
                  <a:srgbClr val="8FA3B8"/>
                </a:solidFill>
                <a:latin typeface="Courier New"/>
              </a:rPr>
              <a:t>&gt;&gt;&gt; </a:t>
            </a:r>
            <a:r>
              <a:rPr sz="1050" b="0" i="0">
                <a:solidFill>
                  <a:srgbClr val="E6EDF3"/>
                </a:solidFill>
                <a:latin typeface="Courier New"/>
              </a:rPr>
              <a:t>fmt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Formatter</a:t>
            </a:r>
            <a:r>
              <a:rPr sz="1050" b="0" i="0">
                <a:solidFill>
                  <a:srgbClr val="E6EDF3"/>
                </a:solidFill>
                <a:latin typeface="Courier New"/>
              </a:rPr>
              <a:t>(</a:t>
            </a:r>
            <a:r>
              <a:rPr sz="1050" b="0" i="0">
                <a:solidFill>
                  <a:srgbClr val="E6EDF3"/>
                </a:solidFill>
                <a:latin typeface="Courier New"/>
              </a:rPr>
              <a:t>text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datefmt</a:t>
            </a:r>
            <a:r>
              <a:rPr sz="1050" b="0" i="0">
                <a:solidFill>
                  <a:srgbClr val="E6EDF3"/>
                </a:solidFill>
                <a:latin typeface="Courier New"/>
              </a:rPr>
              <a:t>=</a:t>
            </a:r>
            <a:r>
              <a:rPr sz="1050" b="0" i="0">
                <a:solidFill>
                  <a:srgbClr val="9BE3A8"/>
                </a:solidFill>
                <a:latin typeface="Courier New"/>
              </a:rPr>
              <a:t>'%Y-%m-%d %H:%M'</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fmt</a:t>
            </a:r>
            <a:r>
              <a:rPr sz="1050" b="0" i="0">
                <a:solidFill>
                  <a:srgbClr val="E6EDF3"/>
                </a:solidFill>
                <a:latin typeface="Courier New"/>
              </a:rPr>
              <a:t>.</a:t>
            </a:r>
            <a:r>
              <a:rPr sz="1050" b="0" i="0">
                <a:solidFill>
                  <a:srgbClr val="E6EDF3"/>
                </a:solidFill>
                <a:latin typeface="Courier New"/>
              </a:rPr>
              <a:t>converter</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time</a:t>
            </a:r>
            <a:r>
              <a:rPr sz="1050" b="0" i="0">
                <a:solidFill>
                  <a:srgbClr val="E6EDF3"/>
                </a:solidFill>
                <a:latin typeface="Courier New"/>
              </a:rPr>
              <a:t>.</a:t>
            </a:r>
            <a:r>
              <a:rPr sz="1050" b="0" i="0">
                <a:solidFill>
                  <a:srgbClr val="E6EDF3"/>
                </a:solidFill>
                <a:latin typeface="Courier New"/>
              </a:rPr>
              <a:t>gmtime</a:t>
            </a:r>
          </a:p>
        </p:txBody>
      </p:sp>
      <p:sp>
        <p:nvSpPr>
          <p:cNvPr id="5" name="explanation"/>
          <p:cNvSpPr txBox="1"/>
          <p:nvPr/>
        </p:nvSpPr>
        <p:spPr>
          <a:xfrm>
            <a:off x="6044184" y="777240"/>
            <a:ext cx="2734056" cy="826516"/>
          </a:xfrm>
          <a:prstGeom prst="rect">
            <a:avLst/>
          </a:prstGeom>
          <a:noFill/>
        </p:spPr>
        <p:txBody>
          <a:bodyPr wrap="square" lIns="128016" rIns="128016" tIns="18288" bIns="18288" anchor="ctr">
            <a:spAutoFit/>
          </a:bodyPr>
          <a:lstStyle/>
          <a:p>
            <a:r>
              <a:rPr sz="1100" b="0" i="0">
                <a:solidFill>
                  <a:srgbClr val="1F2933"/>
                </a:solidFill>
                <a:latin typeface="Calibri"/>
              </a:rPr>
              <a:t>The format string names the fields of a line: the time, the level and the message. Here the time is shown in UTC.</a:t>
            </a:r>
          </a:p>
        </p:txBody>
      </p:sp>
      <p:sp>
        <p:nvSpPr>
          <p:cNvPr id="6" name="code"/>
          <p:cNvSpPr/>
          <p:nvPr/>
        </p:nvSpPr>
        <p:spPr>
          <a:xfrm>
            <a:off x="365760" y="1658619"/>
            <a:ext cx="5696712" cy="7970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args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'demo'</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WARNING</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'app.py'</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7</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rec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LogRecord</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args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'disk is %s%% full'</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CC4FF"/>
                </a:solidFill>
                <a:latin typeface="Courier New"/>
              </a:rPr>
              <a:t>91</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C9A0FF"/>
                </a:solidFill>
                <a:latin typeface="Courier New"/>
              </a:rPr>
              <a:t>None</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rec</a:t>
            </a:r>
            <a:r>
              <a:rPr sz="1050" b="0" i="0">
                <a:solidFill>
                  <a:srgbClr val="E6EDF3"/>
                </a:solidFill>
                <a:latin typeface="Courier New"/>
              </a:rPr>
              <a:t>.</a:t>
            </a:r>
            <a:r>
              <a:rPr sz="1050" b="0" i="0">
                <a:solidFill>
                  <a:srgbClr val="E6EDF3"/>
                </a:solidFill>
                <a:latin typeface="Courier New"/>
              </a:rPr>
              <a:t>created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1790000000</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fmt</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rec</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6044184" y="1658619"/>
            <a:ext cx="2734056" cy="826516"/>
          </a:xfrm>
          <a:prstGeom prst="rect">
            <a:avLst/>
          </a:prstGeom>
          <a:noFill/>
        </p:spPr>
        <p:txBody>
          <a:bodyPr wrap="square" lIns="128016" rIns="128016" tIns="18288" bIns="18288" anchor="ctr">
            <a:spAutoFit/>
          </a:bodyPr>
          <a:lstStyle/>
          <a:p>
            <a:r>
              <a:rPr sz="1100" b="0" i="0">
                <a:solidFill>
                  <a:srgbClr val="1F2933"/>
                </a:solidFill>
                <a:latin typeface="Calibri"/>
              </a:rPr>
              <a:t>To keep the result fixed, the record is built by hand with a fixed time. In a program, logging builds it for you.</a:t>
            </a:r>
          </a:p>
        </p:txBody>
      </p:sp>
      <p:sp>
        <p:nvSpPr>
          <p:cNvPr id="8" name="result label"/>
          <p:cNvSpPr txBox="1"/>
          <p:nvPr/>
        </p:nvSpPr>
        <p:spPr>
          <a:xfrm>
            <a:off x="365760" y="2530855"/>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9" name="Rounded Rectangle 8"/>
          <p:cNvSpPr/>
          <p:nvPr/>
        </p:nvSpPr>
        <p:spPr>
          <a:xfrm>
            <a:off x="365760" y="2759455"/>
            <a:ext cx="260604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%(asctime)s</a:t>
            </a:r>
          </a:p>
        </p:txBody>
      </p:sp>
      <p:cxnSp>
        <p:nvCxnSpPr>
          <p:cNvPr id="10" name="arrow"/>
          <p:cNvCxnSpPr/>
          <p:nvPr/>
        </p:nvCxnSpPr>
        <p:spPr>
          <a:xfrm>
            <a:off x="1668780" y="3125215"/>
            <a:ext cx="0" cy="384048"/>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 y="3536696"/>
            <a:ext cx="2606040"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2026-09-21 14:13</a:t>
            </a:r>
          </a:p>
        </p:txBody>
      </p:sp>
      <p:sp>
        <p:nvSpPr>
          <p:cNvPr id="12" name="Rounded Rectangle 11"/>
          <p:cNvSpPr/>
          <p:nvPr/>
        </p:nvSpPr>
        <p:spPr>
          <a:xfrm>
            <a:off x="3227832" y="2759455"/>
            <a:ext cx="260604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%(levelname)s</a:t>
            </a:r>
          </a:p>
        </p:txBody>
      </p:sp>
      <p:cxnSp>
        <p:nvCxnSpPr>
          <p:cNvPr id="13" name="arrow"/>
          <p:cNvCxnSpPr/>
          <p:nvPr/>
        </p:nvCxnSpPr>
        <p:spPr>
          <a:xfrm>
            <a:off x="4530852" y="3125215"/>
            <a:ext cx="0" cy="384048"/>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227832" y="3536696"/>
            <a:ext cx="2606040"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WARNING</a:t>
            </a:r>
          </a:p>
        </p:txBody>
      </p:sp>
      <p:sp>
        <p:nvSpPr>
          <p:cNvPr id="15" name="Rounded Rectangle 14"/>
          <p:cNvSpPr/>
          <p:nvPr/>
        </p:nvSpPr>
        <p:spPr>
          <a:xfrm>
            <a:off x="6089904" y="2759455"/>
            <a:ext cx="260604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%(message)s</a:t>
            </a:r>
          </a:p>
        </p:txBody>
      </p:sp>
      <p:cxnSp>
        <p:nvCxnSpPr>
          <p:cNvPr id="16" name="arrow"/>
          <p:cNvCxnSpPr/>
          <p:nvPr/>
        </p:nvCxnSpPr>
        <p:spPr>
          <a:xfrm>
            <a:off x="7392924" y="3125215"/>
            <a:ext cx="0" cy="384048"/>
          </a:xfrm>
          <a:prstGeom prst="line">
            <a:avLst/>
          </a:prstGeom>
          <a:ln w="2032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9904" y="3536696"/>
            <a:ext cx="2606040"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ourier New"/>
              </a:rPr>
              <a:t>disk is 91% full</a:t>
            </a:r>
          </a:p>
        </p:txBody>
      </p:sp>
      <p:sp>
        <p:nvSpPr>
          <p:cNvPr id="18" name="TextBox 17"/>
          <p:cNvSpPr txBox="1"/>
          <p:nvPr/>
        </p:nvSpPr>
        <p:spPr>
          <a:xfrm>
            <a:off x="365760" y="3948176"/>
            <a:ext cx="8412480" cy="274320"/>
          </a:xfrm>
          <a:prstGeom prst="rect">
            <a:avLst/>
          </a:prstGeom>
          <a:noFill/>
        </p:spPr>
        <p:txBody>
          <a:bodyPr wrap="square" lIns="45720" rIns="45720" tIns="27432" bIns="27432" anchor="t">
            <a:spAutoFit/>
          </a:bodyPr>
          <a:lstStyle/>
          <a:p>
            <a:r>
              <a:rPr sz="1050" b="0" i="1">
                <a:solidFill>
                  <a:srgbClr val="5B6773"/>
                </a:solidFill>
                <a:latin typeface="Courier New"/>
              </a:rPr>
              <a:t>one log line: 2026-09-21 14:13 - WARNING - disk is 91% full</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format string chooses the fields of each line.</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filename=: evidence on disk</a:t>
            </a:r>
          </a:p>
        </p:txBody>
      </p:sp>
      <p:sp>
        <p:nvSpPr>
          <p:cNvPr id="4" name="code"/>
          <p:cNvSpPr/>
          <p:nvPr/>
        </p:nvSpPr>
        <p:spPr>
          <a:xfrm>
            <a:off x="365760" y="777240"/>
            <a:ext cx="5788152" cy="9984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E6EDF3"/>
                </a:solidFill>
                <a:latin typeface="Courier New"/>
              </a:rPr>
              <a:t>path</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join</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'myProgramLog.txt'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fmt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'%(levelname)s - %(message)s'</a:t>
            </a:r>
          </a:p>
          <a:p>
            <a:pPr algn="l"/>
            <a:r>
              <a:rPr sz="1100" b="0" i="0">
                <a:solidFill>
                  <a:srgbClr val="8FA3B8"/>
                </a:solidFill>
                <a:latin typeface="Courier New"/>
              </a:rPr>
              <a:t>&gt;&gt;&gt; </a:t>
            </a:r>
            <a:r>
              <a:rPr sz="1100" b="0" i="0">
                <a:solidFill>
                  <a:srgbClr val="E6EDF3"/>
                </a:solidFill>
                <a:latin typeface="Courier New"/>
              </a:rPr>
              <a:t>cfg</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dict</a:t>
            </a:r>
            <a:r>
              <a:rPr sz="1100" b="0" i="0">
                <a:solidFill>
                  <a:srgbClr val="E6EDF3"/>
                </a:solidFill>
                <a:latin typeface="Courier New"/>
              </a:rPr>
              <a:t>(</a:t>
            </a:r>
            <a:r>
              <a:rPr sz="1100" b="0" i="0">
                <a:solidFill>
                  <a:srgbClr val="E6EDF3"/>
                </a:solidFill>
                <a:latin typeface="Courier New"/>
              </a:rPr>
              <a:t>format</a:t>
            </a:r>
            <a:r>
              <a:rPr sz="1100" b="0" i="0">
                <a:solidFill>
                  <a:srgbClr val="E6EDF3"/>
                </a:solidFill>
                <a:latin typeface="Courier New"/>
              </a:rPr>
              <a:t>=</a:t>
            </a:r>
            <a:r>
              <a:rPr sz="1100" b="0" i="0">
                <a:solidFill>
                  <a:srgbClr val="E6EDF3"/>
                </a:solidFill>
                <a:latin typeface="Courier New"/>
              </a:rPr>
              <a:t>fmt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force</a:t>
            </a:r>
            <a:r>
              <a:rPr sz="1100" b="0" i="0">
                <a:solidFill>
                  <a:srgbClr val="E6EDF3"/>
                </a:solidFill>
                <a:latin typeface="Courier New"/>
              </a:rPr>
              <a:t>=</a:t>
            </a:r>
            <a:r>
              <a:rPr sz="1100" b="0" i="0">
                <a:solidFill>
                  <a:srgbClr val="C9A0FF"/>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basicConfig</a:t>
            </a:r>
            <a:r>
              <a:rPr sz="1100" b="0" i="0">
                <a:solidFill>
                  <a:srgbClr val="E6EDF3"/>
                </a:solidFill>
                <a:latin typeface="Courier New"/>
              </a:rPr>
              <a:t>(</a:t>
            </a:r>
            <a:r>
              <a:rPr sz="1100" b="0" i="0">
                <a:solidFill>
                  <a:srgbClr val="E6EDF3"/>
                </a:solidFill>
                <a:latin typeface="Courier New"/>
              </a:rPr>
              <a:t>filename</a:t>
            </a:r>
            <a:r>
              <a:rPr sz="1100" b="0" i="0">
                <a:solidFill>
                  <a:srgbClr val="E6EDF3"/>
                </a:solidFill>
                <a:latin typeface="Courier New"/>
              </a:rPr>
              <a:t>=</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level</a:t>
            </a:r>
            <a:r>
              <a:rPr sz="1100" b="0" i="0">
                <a:solidFill>
                  <a:srgbClr val="E6EDF3"/>
                </a:solidFill>
                <a:latin typeface="Courier New"/>
              </a:rPr>
              <a:t>=</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DEBUG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cfg</a:t>
            </a:r>
            <a:r>
              <a:rPr sz="1100" b="0" i="0">
                <a:solidFill>
                  <a:srgbClr val="E6EDF3"/>
                </a:solidFill>
                <a:latin typeface="Courier New"/>
              </a:rPr>
              <a:t>)</a:t>
            </a:r>
          </a:p>
        </p:txBody>
      </p:sp>
      <p:sp>
        <p:nvSpPr>
          <p:cNvPr id="5" name="explanation"/>
          <p:cNvSpPr txBox="1"/>
          <p:nvPr/>
        </p:nvSpPr>
        <p:spPr>
          <a:xfrm>
            <a:off x="6135624" y="777240"/>
            <a:ext cx="2642615" cy="998474"/>
          </a:xfrm>
          <a:prstGeom prst="rect">
            <a:avLst/>
          </a:prstGeom>
          <a:noFill/>
        </p:spPr>
        <p:txBody>
          <a:bodyPr wrap="square" lIns="128016" rIns="128016" tIns="18288" bIns="18288" anchor="ctr">
            <a:spAutoFit/>
          </a:bodyPr>
          <a:lstStyle/>
          <a:p>
            <a:r>
              <a:rPr sz="1150" b="0" i="0">
                <a:solidFill>
                  <a:srgbClr val="1F2933"/>
                </a:solidFill>
                <a:latin typeface="Calibri"/>
              </a:rPr>
              <a:t>The named parameter filename sends every message to a text file instead of the screen. A temporary folder keeps the demo clean.</a:t>
            </a:r>
          </a:p>
        </p:txBody>
      </p:sp>
      <p:sp>
        <p:nvSpPr>
          <p:cNvPr id="6" name="code"/>
          <p:cNvSpPr/>
          <p:nvPr/>
        </p:nvSpPr>
        <p:spPr>
          <a:xfrm>
            <a:off x="365760" y="1830577"/>
            <a:ext cx="5788152" cy="65760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debug</a:t>
            </a:r>
            <a:r>
              <a:rPr sz="1100" b="0" i="0">
                <a:solidFill>
                  <a:srgbClr val="E6EDF3"/>
                </a:solidFill>
                <a:latin typeface="Courier New"/>
              </a:rPr>
              <a:t>(</a:t>
            </a:r>
            <a:r>
              <a:rPr sz="1100" b="0" i="0">
                <a:solidFill>
                  <a:srgbClr val="9BE3A8"/>
                </a:solidFill>
                <a:latin typeface="Courier New"/>
              </a:rPr>
              <a:t>'to the file'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critical</a:t>
            </a:r>
            <a:r>
              <a:rPr sz="1100" b="0" i="0">
                <a:solidFill>
                  <a:srgbClr val="E6EDF3"/>
                </a:solidFill>
                <a:latin typeface="Courier New"/>
              </a:rPr>
              <a:t>(</a:t>
            </a:r>
            <a:r>
              <a:rPr sz="1100" b="0" i="0">
                <a:solidFill>
                  <a:srgbClr val="9BE3A8"/>
                </a:solidFill>
                <a:latin typeface="Courier New"/>
              </a:rPr>
              <a:t>'also to the file'</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open</a:t>
            </a:r>
            <a:r>
              <a:rPr sz="1100" b="0" i="0">
                <a:solidFill>
                  <a:srgbClr val="E6EDF3"/>
                </a:solidFill>
                <a:latin typeface="Courier New"/>
              </a:rPr>
              <a:t>(</a:t>
            </a:r>
            <a:r>
              <a:rPr sz="1100" b="0" i="0">
                <a:solidFill>
                  <a:srgbClr val="E6EDF3"/>
                </a:solidFill>
                <a:latin typeface="Courier New"/>
              </a:rPr>
              <a:t>path</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read</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end</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p:txBody>
      </p:sp>
      <p:sp>
        <p:nvSpPr>
          <p:cNvPr id="7" name="explanation"/>
          <p:cNvSpPr txBox="1"/>
          <p:nvPr/>
        </p:nvSpPr>
        <p:spPr>
          <a:xfrm>
            <a:off x="6135624" y="1830577"/>
            <a:ext cx="2642615" cy="858266"/>
          </a:xfrm>
          <a:prstGeom prst="rect">
            <a:avLst/>
          </a:prstGeom>
          <a:noFill/>
        </p:spPr>
        <p:txBody>
          <a:bodyPr wrap="square" lIns="128016" rIns="128016" tIns="18288" bIns="18288" anchor="ctr">
            <a:spAutoFit/>
          </a:bodyPr>
          <a:lstStyle/>
          <a:p>
            <a:r>
              <a:rPr sz="1150" b="0" i="0">
                <a:solidFill>
                  <a:srgbClr val="1F2933"/>
                </a:solidFill>
                <a:latin typeface="Calibri"/>
              </a:rPr>
              <a:t>Nothing appears on the screen while the program runs. Reading the file afterwards shows both messages.</a:t>
            </a:r>
          </a:p>
        </p:txBody>
      </p:sp>
      <p:sp>
        <p:nvSpPr>
          <p:cNvPr id="8" name="result label"/>
          <p:cNvSpPr txBox="1"/>
          <p:nvPr/>
        </p:nvSpPr>
        <p:spPr>
          <a:xfrm>
            <a:off x="365760" y="2734564"/>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9" name="Rounded Rectangle 8"/>
          <p:cNvSpPr/>
          <p:nvPr/>
        </p:nvSpPr>
        <p:spPr>
          <a:xfrm>
            <a:off x="365760" y="2963164"/>
            <a:ext cx="2011680" cy="457200"/>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logging.debug() and logging.critical()</a:t>
            </a:r>
          </a:p>
        </p:txBody>
      </p:sp>
      <p:cxnSp>
        <p:nvCxnSpPr>
          <p:cNvPr id="10" name="arrow"/>
          <p:cNvCxnSpPr/>
          <p:nvPr/>
        </p:nvCxnSpPr>
        <p:spPr>
          <a:xfrm>
            <a:off x="2423160" y="3191764"/>
            <a:ext cx="685800" cy="0"/>
          </a:xfrm>
          <a:prstGeom prst="line">
            <a:avLst/>
          </a:prstGeom>
          <a:ln w="2540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154679" y="2963164"/>
            <a:ext cx="1920240" cy="45720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myProgramLog.txt</a:t>
            </a:r>
          </a:p>
        </p:txBody>
      </p:sp>
      <p:sp>
        <p:nvSpPr>
          <p:cNvPr id="12" name="Rounded Rectangle 11"/>
          <p:cNvSpPr/>
          <p:nvPr/>
        </p:nvSpPr>
        <p:spPr>
          <a:xfrm>
            <a:off x="365760" y="3648964"/>
            <a:ext cx="2011680" cy="365760"/>
          </a:xfrm>
          <a:prstGeom prst="roundRect">
            <a:avLst>
              <a:gd name="adj" fmla="val 15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5B6773"/>
                </a:solidFill>
                <a:latin typeface="Calibri"/>
              </a:rPr>
              <a:t>the screen: nothing</a:t>
            </a:r>
          </a:p>
        </p:txBody>
      </p:sp>
      <p:sp>
        <p:nvSpPr>
          <p:cNvPr id="13" name="TextBox 12"/>
          <p:cNvSpPr txBox="1"/>
          <p:nvPr/>
        </p:nvSpPr>
        <p:spPr>
          <a:xfrm>
            <a:off x="365760" y="4060443"/>
            <a:ext cx="4663440" cy="274320"/>
          </a:xfrm>
          <a:prstGeom prst="rect">
            <a:avLst/>
          </a:prstGeom>
          <a:noFill/>
        </p:spPr>
        <p:txBody>
          <a:bodyPr wrap="square" lIns="45720" rIns="45720" tIns="27432" bIns="27432" anchor="t">
            <a:spAutoFit/>
          </a:bodyPr>
          <a:lstStyle/>
          <a:p>
            <a:r>
              <a:rPr sz="1000" b="0" i="1">
                <a:solidFill>
                  <a:srgbClr val="5B6773"/>
                </a:solidFill>
                <a:latin typeface="Calibri"/>
              </a:rPr>
              <a:t>the messages go to the file, not to the screen</a:t>
            </a:r>
          </a:p>
        </p:txBody>
      </p:sp>
      <p:graphicFrame>
        <p:nvGraphicFramePr>
          <p:cNvPr id="14" name="table"/>
          <p:cNvGraphicFramePr>
            <a:graphicFrameLocks noGrp="1"/>
          </p:cNvGraphicFramePr>
          <p:nvPr/>
        </p:nvGraphicFramePr>
        <p:xfrm>
          <a:off x="5394960" y="2963164"/>
          <a:ext cx="3383278" cy="932688"/>
        </p:xfrm>
        <a:graphic>
          <a:graphicData uri="http://schemas.openxmlformats.org/drawingml/2006/table">
            <a:tbl>
              <a:tblPr firstRow="0" bandRow="0"/>
              <a:tblGrid>
                <a:gridCol w="483325"/>
                <a:gridCol w="1063316"/>
                <a:gridCol w="1836637"/>
              </a:tblGrid>
              <a:tr h="310896">
                <a:tc>
                  <a:txBody>
                    <a:bodyPr wrap="square"/>
                    <a:lstStyle/>
                    <a:p>
                      <a:pPr algn="ctr"/>
                      <a:r>
                        <a:rPr sz="1000" b="1" i="0">
                          <a:solidFill>
                            <a:srgbClr val="FFFFFF"/>
                          </a:solidFill>
                          <a:latin typeface="Calibri"/>
                        </a:rPr>
                        <a:t>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Level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Message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pPr algn="ctr"/>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DEBUG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to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pPr algn="ctr"/>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CRITICAL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also to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filename= sends the log to a file.</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logging.disable: silence without deleting</a:t>
            </a:r>
          </a:p>
        </p:txBody>
      </p:sp>
      <p:sp>
        <p:nvSpPr>
          <p:cNvPr id="4" name="code"/>
          <p:cNvSpPr/>
          <p:nvPr/>
        </p:nvSpPr>
        <p:spPr>
          <a:xfrm>
            <a:off x="365760" y="777240"/>
            <a:ext cx="5033771" cy="9984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E6EDF3"/>
                </a:solidFill>
                <a:latin typeface="Courier New"/>
              </a:rPr>
              <a:t>fmt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'%(levelname)s - %(message)s'</a:t>
            </a:r>
          </a:p>
          <a:p>
            <a:pPr algn="l"/>
            <a:r>
              <a:rPr sz="1100" b="0" i="0">
                <a:solidFill>
                  <a:srgbClr val="8FA3B8"/>
                </a:solidFill>
                <a:latin typeface="Courier New"/>
              </a:rPr>
              <a:t>&gt;&gt;&gt; </a:t>
            </a:r>
            <a:r>
              <a:rPr sz="1100" b="0" i="0">
                <a:solidFill>
                  <a:srgbClr val="E6EDF3"/>
                </a:solidFill>
                <a:latin typeface="Courier New"/>
              </a:rPr>
              <a:t>cfg</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dict</a:t>
            </a:r>
            <a:r>
              <a:rPr sz="1100" b="0" i="0">
                <a:solidFill>
                  <a:srgbClr val="E6EDF3"/>
                </a:solidFill>
                <a:latin typeface="Courier New"/>
              </a:rPr>
              <a:t>(</a:t>
            </a:r>
            <a:r>
              <a:rPr sz="1100" b="0" i="0">
                <a:solidFill>
                  <a:srgbClr val="E6EDF3"/>
                </a:solidFill>
                <a:latin typeface="Courier New"/>
              </a:rPr>
              <a:t>stream</a:t>
            </a:r>
            <a:r>
              <a:rPr sz="1100" b="0" i="0">
                <a:solidFill>
                  <a:srgbClr val="E6EDF3"/>
                </a:solidFill>
                <a:latin typeface="Courier New"/>
              </a:rPr>
              <a:t>=</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stdout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format</a:t>
            </a:r>
            <a:r>
              <a:rPr sz="1100" b="0" i="0">
                <a:solidFill>
                  <a:srgbClr val="E6EDF3"/>
                </a:solidFill>
                <a:latin typeface="Courier New"/>
              </a:rPr>
              <a:t>=</a:t>
            </a:r>
            <a:r>
              <a:rPr sz="1100" b="0" i="0">
                <a:solidFill>
                  <a:srgbClr val="E6EDF3"/>
                </a:solidFill>
                <a:latin typeface="Courier New"/>
              </a:rPr>
              <a:t>fmt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force</a:t>
            </a:r>
            <a:r>
              <a:rPr sz="1100" b="0" i="0">
                <a:solidFill>
                  <a:srgbClr val="E6EDF3"/>
                </a:solidFill>
                <a:latin typeface="Courier New"/>
              </a:rPr>
              <a:t>=</a:t>
            </a:r>
            <a:r>
              <a:rPr sz="1100" b="0" i="0">
                <a:solidFill>
                  <a:srgbClr val="C9A0FF"/>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basicConfig</a:t>
            </a:r>
            <a:r>
              <a:rPr sz="1100" b="0" i="0">
                <a:solidFill>
                  <a:srgbClr val="E6EDF3"/>
                </a:solidFill>
                <a:latin typeface="Courier New"/>
              </a:rPr>
              <a:t>(</a:t>
            </a:r>
            <a:r>
              <a:rPr sz="1100" b="0" i="0">
                <a:solidFill>
                  <a:srgbClr val="E6EDF3"/>
                </a:solidFill>
                <a:latin typeface="Courier New"/>
              </a:rPr>
              <a:t>level</a:t>
            </a:r>
            <a:r>
              <a:rPr sz="1100" b="0" i="0">
                <a:solidFill>
                  <a:srgbClr val="E6EDF3"/>
                </a:solidFill>
                <a:latin typeface="Courier New"/>
              </a:rPr>
              <a:t>=</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INFO</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cfg</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critical</a:t>
            </a:r>
            <a:r>
              <a:rPr sz="1100" b="0" i="0">
                <a:solidFill>
                  <a:srgbClr val="E6EDF3"/>
                </a:solidFill>
                <a:latin typeface="Courier New"/>
              </a:rPr>
              <a:t>(</a:t>
            </a:r>
            <a:r>
              <a:rPr sz="1100" b="0" i="0">
                <a:solidFill>
                  <a:srgbClr val="9BE3A8"/>
                </a:solidFill>
                <a:latin typeface="Courier New"/>
              </a:rPr>
              <a:t>'before disable'</a:t>
            </a:r>
            <a:r>
              <a:rPr sz="1100" b="0" i="0">
                <a:solidFill>
                  <a:srgbClr val="E6EDF3"/>
                </a:solidFill>
                <a:latin typeface="Courier New"/>
              </a:rPr>
              <a:t>)</a:t>
            </a:r>
          </a:p>
        </p:txBody>
      </p:sp>
      <p:sp>
        <p:nvSpPr>
          <p:cNvPr id="5" name="explanation"/>
          <p:cNvSpPr txBox="1"/>
          <p:nvPr/>
        </p:nvSpPr>
        <p:spPr>
          <a:xfrm>
            <a:off x="5381244" y="777240"/>
            <a:ext cx="3396996" cy="998474"/>
          </a:xfrm>
          <a:prstGeom prst="rect">
            <a:avLst/>
          </a:prstGeom>
          <a:noFill/>
        </p:spPr>
        <p:txBody>
          <a:bodyPr wrap="square" lIns="128016" rIns="128016" tIns="18288" bIns="18288" anchor="ctr">
            <a:spAutoFit/>
          </a:bodyPr>
          <a:lstStyle/>
          <a:p>
            <a:r>
              <a:rPr sz="1150" b="0" i="0">
                <a:solidFill>
                  <a:srgbClr val="1F2933"/>
                </a:solidFill>
                <a:latin typeface="Calibri"/>
              </a:rPr>
              <a:t>The first message is printed, because CRITICAL is above the INFO threshold.</a:t>
            </a:r>
          </a:p>
        </p:txBody>
      </p:sp>
      <p:sp>
        <p:nvSpPr>
          <p:cNvPr id="6" name="code"/>
          <p:cNvSpPr/>
          <p:nvPr/>
        </p:nvSpPr>
        <p:spPr>
          <a:xfrm>
            <a:off x="365760" y="1830577"/>
            <a:ext cx="5033771" cy="9984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disable</a:t>
            </a:r>
            <a:r>
              <a:rPr sz="1100" b="0" i="0">
                <a:solidFill>
                  <a:srgbClr val="E6EDF3"/>
                </a:solidFill>
                <a:latin typeface="Courier New"/>
              </a:rPr>
              <a:t>(</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CRITICAL</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critical</a:t>
            </a:r>
            <a:r>
              <a:rPr sz="1100" b="0" i="0">
                <a:solidFill>
                  <a:srgbClr val="E6EDF3"/>
                </a:solidFill>
                <a:latin typeface="Courier New"/>
              </a:rPr>
              <a:t>(</a:t>
            </a:r>
            <a:r>
              <a:rPr sz="1100" b="0" i="0">
                <a:solidFill>
                  <a:srgbClr val="9BE3A8"/>
                </a:solidFill>
                <a:latin typeface="Courier New"/>
              </a:rPr>
              <a:t>'after disable'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error</a:t>
            </a:r>
            <a:r>
              <a:rPr sz="1100" b="0" i="0">
                <a:solidFill>
                  <a:srgbClr val="E6EDF3"/>
                </a:solidFill>
                <a:latin typeface="Courier New"/>
              </a:rPr>
              <a:t>(</a:t>
            </a:r>
            <a:r>
              <a:rPr sz="1100" b="0" i="0">
                <a:solidFill>
                  <a:srgbClr val="9BE3A8"/>
                </a:solidFill>
                <a:latin typeface="Courier New"/>
              </a:rPr>
              <a:t>'after disable'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disable</a:t>
            </a:r>
            <a:r>
              <a:rPr sz="1100" b="0" i="0">
                <a:solidFill>
                  <a:srgbClr val="E6EDF3"/>
                </a:solidFill>
                <a:latin typeface="Courier New"/>
              </a:rPr>
              <a:t>(</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NOTSET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logging</a:t>
            </a:r>
            <a:r>
              <a:rPr sz="1100" b="0" i="0">
                <a:solidFill>
                  <a:srgbClr val="E6EDF3"/>
                </a:solidFill>
                <a:latin typeface="Courier New"/>
              </a:rPr>
              <a:t>.</a:t>
            </a:r>
            <a:r>
              <a:rPr sz="1100" b="0" i="0">
                <a:solidFill>
                  <a:srgbClr val="E6EDF3"/>
                </a:solidFill>
                <a:latin typeface="Courier New"/>
              </a:rPr>
              <a:t>error</a:t>
            </a:r>
            <a:r>
              <a:rPr sz="1100" b="0" i="0">
                <a:solidFill>
                  <a:srgbClr val="E6EDF3"/>
                </a:solidFill>
                <a:latin typeface="Courier New"/>
              </a:rPr>
              <a:t>(</a:t>
            </a:r>
            <a:r>
              <a:rPr sz="1100" b="0" i="0">
                <a:solidFill>
                  <a:srgbClr val="9BE3A8"/>
                </a:solidFill>
                <a:latin typeface="Courier New"/>
              </a:rPr>
              <a:t>'after re-enabling'</a:t>
            </a:r>
            <a:r>
              <a:rPr sz="1100" b="0" i="0">
                <a:solidFill>
                  <a:srgbClr val="E6EDF3"/>
                </a:solidFill>
                <a:latin typeface="Courier New"/>
              </a:rPr>
              <a:t>)</a:t>
            </a:r>
          </a:p>
        </p:txBody>
      </p:sp>
      <p:sp>
        <p:nvSpPr>
          <p:cNvPr id="7" name="explanation"/>
          <p:cNvSpPr txBox="1"/>
          <p:nvPr/>
        </p:nvSpPr>
        <p:spPr>
          <a:xfrm>
            <a:off x="5381244" y="1830577"/>
            <a:ext cx="3396996" cy="998474"/>
          </a:xfrm>
          <a:prstGeom prst="rect">
            <a:avLst/>
          </a:prstGeom>
          <a:noFill/>
        </p:spPr>
        <p:txBody>
          <a:bodyPr wrap="square" lIns="128016" rIns="128016" tIns="18288" bIns="18288" anchor="ctr">
            <a:spAutoFit/>
          </a:bodyPr>
          <a:lstStyle/>
          <a:p>
            <a:r>
              <a:rPr sz="1150" b="0" i="0">
                <a:solidFill>
                  <a:srgbClr val="1F2933"/>
                </a:solidFill>
                <a:latin typeface="Calibri"/>
              </a:rPr>
              <a:t>disable(CRITICAL) silences that level and all below it. NOTSET switches everything back on.</a:t>
            </a:r>
          </a:p>
        </p:txBody>
      </p:sp>
      <p:sp>
        <p:nvSpPr>
          <p:cNvPr id="8" name="result label"/>
          <p:cNvSpPr txBox="1"/>
          <p:nvPr/>
        </p:nvSpPr>
        <p:spPr>
          <a:xfrm>
            <a:off x="365760" y="2874772"/>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03372"/>
          <a:ext cx="5047487" cy="1463040"/>
        </p:xfrm>
        <a:graphic>
          <a:graphicData uri="http://schemas.openxmlformats.org/drawingml/2006/table">
            <a:tbl>
              <a:tblPr firstRow="0" bandRow="0"/>
              <a:tblGrid>
                <a:gridCol w="3605348"/>
                <a:gridCol w="1442139"/>
              </a:tblGrid>
              <a:tr h="292608">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1000" b="0" i="0">
                          <a:solidFill>
                            <a:srgbClr val="1F2933"/>
                          </a:solidFill>
                          <a:latin typeface="Courier New"/>
                        </a:rPr>
                        <a:t>critical('before disable')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92608">
                <a:tc>
                  <a:txBody>
                    <a:bodyPr wrap="square"/>
                    <a:lstStyle/>
                    <a:p>
                      <a:r>
                        <a:rPr sz="1000" b="0" i="0">
                          <a:solidFill>
                            <a:srgbClr val="1F2933"/>
                          </a:solidFill>
                          <a:latin typeface="Courier New"/>
                        </a:rPr>
                        <a:t>disable(CRITICAL), then critical(...)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silent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r>
              <a:tr h="292608">
                <a:tc>
                  <a:txBody>
                    <a:bodyPr wrap="square"/>
                    <a:lstStyle/>
                    <a:p>
                      <a:r>
                        <a:rPr sz="1000" b="0" i="0">
                          <a:solidFill>
                            <a:srgbClr val="1F2933"/>
                          </a:solidFill>
                          <a:latin typeface="Courier New"/>
                        </a:rPr>
                        <a:t>error('after disable')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silent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r>
              <a:tr h="292608">
                <a:tc>
                  <a:txBody>
                    <a:bodyPr wrap="square"/>
                    <a:lstStyle/>
                    <a:p>
                      <a:r>
                        <a:rPr sz="1000" b="0" i="0">
                          <a:solidFill>
                            <a:srgbClr val="1F2933"/>
                          </a:solidFill>
                          <a:latin typeface="Courier New"/>
                        </a:rPr>
                        <a:t>disable(NOTSET), then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printed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0" name="Rounded Rectangle 9"/>
          <p:cNvSpPr/>
          <p:nvPr/>
        </p:nvSpPr>
        <p:spPr>
          <a:xfrm>
            <a:off x="5749747" y="3103372"/>
            <a:ext cx="292608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2 of 4 calls printed</a:t>
            </a:r>
          </a:p>
        </p:txBody>
      </p:sp>
      <p:sp>
        <p:nvSpPr>
          <p:cNvPr id="11" name="TextBox 10"/>
          <p:cNvSpPr txBox="1"/>
          <p:nvPr/>
        </p:nvSpPr>
        <p:spPr>
          <a:xfrm>
            <a:off x="5749747" y="3514852"/>
            <a:ext cx="3017520" cy="822960"/>
          </a:xfrm>
          <a:prstGeom prst="rect">
            <a:avLst/>
          </a:prstGeom>
          <a:noFill/>
        </p:spPr>
        <p:txBody>
          <a:bodyPr wrap="square" lIns="45720" rIns="45720" tIns="27432" bIns="27432" anchor="t">
            <a:spAutoFit/>
          </a:bodyPr>
          <a:lstStyle/>
          <a:p>
            <a:r>
              <a:rPr sz="1000" b="0" i="1">
                <a:solidFill>
                  <a:srgbClr val="5B6773"/>
                </a:solidFill>
                <a:latin typeface="Calibri"/>
              </a:rPr>
              <a:t>disable(CRITICAL) silences everything up to CRITICAL, so even the error call stays quiet until NOTSET.</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disable silences a level and everything below.</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43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Arguments are formatted only when needed</a:t>
            </a:r>
          </a:p>
        </p:txBody>
      </p:sp>
      <p:sp>
        <p:nvSpPr>
          <p:cNvPr id="4" name="code"/>
          <p:cNvSpPr/>
          <p:nvPr/>
        </p:nvSpPr>
        <p:spPr>
          <a:xfrm>
            <a:off x="365760" y="777240"/>
            <a:ext cx="3536441" cy="11224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logging</a:t>
            </a:r>
          </a:p>
          <a:p>
            <a:pPr algn="l"/>
            <a:r>
              <a:rPr sz="1050" b="0" i="0">
                <a:solidFill>
                  <a:srgbClr val="8FA3B8"/>
                </a:solidFill>
                <a:latin typeface="Courier New"/>
              </a:rPr>
              <a:t>&gt;&gt;&gt; </a:t>
            </a:r>
            <a:r>
              <a:rPr sz="1050" b="0" i="0">
                <a:solidFill>
                  <a:srgbClr val="C9A0FF"/>
                </a:solidFill>
                <a:latin typeface="Courier New"/>
              </a:rPr>
              <a:t>class</a:t>
            </a:r>
            <a:r>
              <a:rPr sz="1050" b="0" i="0">
                <a:solidFill>
                  <a:srgbClr val="E6EDF3"/>
                </a:solidFill>
                <a:latin typeface="Courier New"/>
              </a:rPr>
              <a:t> </a:t>
            </a:r>
            <a:r>
              <a:rPr sz="1050" b="0" i="0">
                <a:solidFill>
                  <a:srgbClr val="E6EDF3"/>
                </a:solidFill>
                <a:latin typeface="Courier New"/>
              </a:rPr>
              <a:t>Loud</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calls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0</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def</a:t>
            </a:r>
            <a:r>
              <a:rPr sz="1050" b="0" i="0">
                <a:solidFill>
                  <a:srgbClr val="E6EDF3"/>
                </a:solidFill>
                <a:latin typeface="Courier New"/>
              </a:rPr>
              <a:t> </a:t>
            </a:r>
            <a:r>
              <a:rPr sz="1050" b="0" i="0">
                <a:solidFill>
                  <a:srgbClr val="E6EDF3"/>
                </a:solidFill>
                <a:latin typeface="Courier New"/>
              </a:rPr>
              <a:t>__str__</a:t>
            </a:r>
            <a:r>
              <a:rPr sz="1050" b="0" i="0">
                <a:solidFill>
                  <a:srgbClr val="E6EDF3"/>
                </a:solidFill>
                <a:latin typeface="Courier New"/>
              </a:rPr>
              <a:t>(</a:t>
            </a:r>
            <a:r>
              <a:rPr sz="1050" b="0" i="0">
                <a:solidFill>
                  <a:srgbClr val="E6EDF3"/>
                </a:solidFill>
                <a:latin typeface="Courier New"/>
              </a:rPr>
              <a:t>self</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Loud</a:t>
            </a:r>
            <a:r>
              <a:rPr sz="1050" b="0" i="0">
                <a:solidFill>
                  <a:srgbClr val="E6EDF3"/>
                </a:solidFill>
                <a:latin typeface="Courier New"/>
              </a:rPr>
              <a:t>.</a:t>
            </a:r>
            <a:r>
              <a:rPr sz="1050" b="0" i="0">
                <a:solidFill>
                  <a:srgbClr val="E6EDF3"/>
                </a:solidFill>
                <a:latin typeface="Courier New"/>
              </a:rPr>
              <a:t>calls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return</a:t>
            </a:r>
            <a:r>
              <a:rPr sz="1050" b="0" i="0">
                <a:solidFill>
                  <a:srgbClr val="E6EDF3"/>
                </a:solidFill>
                <a:latin typeface="Courier New"/>
              </a:rPr>
              <a:t> </a:t>
            </a:r>
            <a:r>
              <a:rPr sz="1050" b="0" i="0">
                <a:solidFill>
                  <a:srgbClr val="9BE3A8"/>
                </a:solidFill>
                <a:latin typeface="Courier New"/>
              </a:rPr>
              <a:t>'loud'</a:t>
            </a:r>
          </a:p>
        </p:txBody>
      </p:sp>
      <p:sp>
        <p:nvSpPr>
          <p:cNvPr id="5" name="explanation"/>
          <p:cNvSpPr txBox="1"/>
          <p:nvPr/>
        </p:nvSpPr>
        <p:spPr>
          <a:xfrm>
            <a:off x="365760" y="1908809"/>
            <a:ext cx="3536441" cy="651891"/>
          </a:xfrm>
          <a:prstGeom prst="rect">
            <a:avLst/>
          </a:prstGeom>
          <a:noFill/>
        </p:spPr>
        <p:txBody>
          <a:bodyPr wrap="square" lIns="109728" rIns="109728" tIns="18288" bIns="18288" anchor="ctr">
            <a:spAutoFit/>
          </a:bodyPr>
          <a:lstStyle/>
          <a:p>
            <a:r>
              <a:rPr sz="1100" b="0" i="0">
                <a:solidFill>
                  <a:srgbClr val="1F2933"/>
                </a:solidFill>
                <a:latin typeface="Calibri"/>
              </a:rPr>
              <a:t>Loud counts how often Python turns it into text. That count shows when the formatting work really happens.</a:t>
            </a:r>
          </a:p>
        </p:txBody>
      </p:sp>
      <p:sp>
        <p:nvSpPr>
          <p:cNvPr id="6" name="code"/>
          <p:cNvSpPr/>
          <p:nvPr/>
        </p:nvSpPr>
        <p:spPr>
          <a:xfrm>
            <a:off x="365760" y="2606420"/>
            <a:ext cx="3536441" cy="128511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log</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getLogger</a:t>
            </a:r>
            <a:r>
              <a:rPr sz="1050" b="0" i="0">
                <a:solidFill>
                  <a:srgbClr val="E6EDF3"/>
                </a:solidFill>
                <a:latin typeface="Courier New"/>
              </a:rPr>
              <a:t>(</a:t>
            </a:r>
            <a:r>
              <a:rPr sz="1050" b="0" i="0">
                <a:solidFill>
                  <a:srgbClr val="9BE3A8"/>
                </a:solidFill>
                <a:latin typeface="Courier New"/>
              </a:rPr>
              <a:t>'demo'</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log</a:t>
            </a:r>
            <a:r>
              <a:rPr sz="1050" b="0" i="0">
                <a:solidFill>
                  <a:srgbClr val="E6EDF3"/>
                </a:solidFill>
                <a:latin typeface="Courier New"/>
              </a:rPr>
              <a:t>.</a:t>
            </a:r>
            <a:r>
              <a:rPr sz="1050" b="0" i="0">
                <a:solidFill>
                  <a:srgbClr val="E6EDF3"/>
                </a:solidFill>
                <a:latin typeface="Courier New"/>
              </a:rPr>
              <a:t>setLevel</a:t>
            </a:r>
            <a:r>
              <a:rPr sz="1050" b="0" i="0">
                <a:solidFill>
                  <a:srgbClr val="E6EDF3"/>
                </a:solidFill>
                <a:latin typeface="Courier New"/>
              </a:rPr>
              <a:t>(</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INFO</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log</a:t>
            </a:r>
            <a:r>
              <a:rPr sz="1050" b="0" i="0">
                <a:solidFill>
                  <a:srgbClr val="E6EDF3"/>
                </a:solidFill>
                <a:latin typeface="Courier New"/>
              </a:rPr>
              <a:t>.</a:t>
            </a:r>
            <a:r>
              <a:rPr sz="1050" b="0" i="0">
                <a:solidFill>
                  <a:srgbClr val="E6EDF3"/>
                </a:solidFill>
                <a:latin typeface="Courier New"/>
              </a:rPr>
              <a:t>addHandler</a:t>
            </a:r>
            <a:r>
              <a:rPr sz="1050" b="0" i="0">
                <a:solidFill>
                  <a:srgbClr val="E6EDF3"/>
                </a:solidFill>
                <a:latin typeface="Courier New"/>
              </a:rPr>
              <a:t>(</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NullHandler</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log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'value is %s'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Loud</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'lazy:'</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Loud</a:t>
            </a:r>
            <a:r>
              <a:rPr sz="1050" b="0" i="0">
                <a:solidFill>
                  <a:srgbClr val="E6EDF3"/>
                </a:solidFill>
                <a:latin typeface="Courier New"/>
              </a:rPr>
              <a:t>.</a:t>
            </a:r>
            <a:r>
              <a:rPr sz="1050" b="0" i="0">
                <a:solidFill>
                  <a:srgbClr val="E6EDF3"/>
                </a:solidFill>
                <a:latin typeface="Courier New"/>
              </a:rPr>
              <a:t>calls</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log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f'value is {Loud()}'</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'f-string:'</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Loud</a:t>
            </a:r>
            <a:r>
              <a:rPr sz="1050" b="0" i="0">
                <a:solidFill>
                  <a:srgbClr val="E6EDF3"/>
                </a:solidFill>
                <a:latin typeface="Courier New"/>
              </a:rPr>
              <a:t>.</a:t>
            </a:r>
            <a:r>
              <a:rPr sz="1050" b="0" i="0">
                <a:solidFill>
                  <a:srgbClr val="E6EDF3"/>
                </a:solidFill>
                <a:latin typeface="Courier New"/>
              </a:rPr>
              <a:t>calls</a:t>
            </a:r>
            <a:r>
              <a:rPr sz="1050" b="0" i="0">
                <a:solidFill>
                  <a:srgbClr val="E6EDF3"/>
                </a:solidFill>
                <a:latin typeface="Courier New"/>
              </a:rPr>
              <a:t>)</a:t>
            </a:r>
          </a:p>
        </p:txBody>
      </p:sp>
      <p:sp>
        <p:nvSpPr>
          <p:cNvPr id="7" name="explanation"/>
          <p:cNvSpPr txBox="1"/>
          <p:nvPr/>
        </p:nvSpPr>
        <p:spPr>
          <a:xfrm>
            <a:off x="365760" y="3900678"/>
            <a:ext cx="3536441" cy="651891"/>
          </a:xfrm>
          <a:prstGeom prst="rect">
            <a:avLst/>
          </a:prstGeom>
          <a:noFill/>
        </p:spPr>
        <p:txBody>
          <a:bodyPr wrap="square" lIns="109728" rIns="109728" tIns="18288" bIns="18288" anchor="ctr">
            <a:spAutoFit/>
          </a:bodyPr>
          <a:lstStyle/>
          <a:p>
            <a:r>
              <a:rPr sz="1100" b="0" i="0">
                <a:solidFill>
                  <a:srgbClr val="1F2933"/>
                </a:solidFill>
                <a:latin typeface="Calibri"/>
              </a:rPr>
              <a:t>A DEBUG message is below the INFO threshold. With arguments it costs nothing; an f-string builds the text first anyway.</a:t>
            </a:r>
          </a:p>
        </p:txBody>
      </p:sp>
      <p:sp>
        <p:nvSpPr>
          <p:cNvPr id="8" name="result label"/>
          <p:cNvSpPr txBox="1"/>
          <p:nvPr/>
        </p:nvSpPr>
        <p:spPr>
          <a:xfrm>
            <a:off x="4130801" y="777240"/>
            <a:ext cx="464743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TextBox 8"/>
          <p:cNvSpPr txBox="1"/>
          <p:nvPr/>
        </p:nvSpPr>
        <p:spPr>
          <a:xfrm>
            <a:off x="4130801" y="1078992"/>
            <a:ext cx="4647438" cy="219456"/>
          </a:xfrm>
          <a:prstGeom prst="rect">
            <a:avLst/>
          </a:prstGeom>
          <a:noFill/>
        </p:spPr>
        <p:txBody>
          <a:bodyPr wrap="square" lIns="45720" rIns="45720" tIns="27432" bIns="27432" anchor="t">
            <a:spAutoFit/>
          </a:bodyPr>
          <a:lstStyle/>
          <a:p>
            <a:r>
              <a:rPr sz="1000" b="1" i="0">
                <a:solidFill>
                  <a:srgbClr val="0E7C86"/>
                </a:solidFill>
                <a:latin typeface="Calibri"/>
              </a:rPr>
              <a:t>calls of __str__ while a DEBUG message is below the threshold</a:t>
            </a:r>
          </a:p>
        </p:txBody>
      </p:sp>
      <p:graphicFrame>
        <p:nvGraphicFramePr>
          <p:cNvPr id="10" name="chart"/>
          <p:cNvGraphicFramePr>
            <a:graphicFrameLocks noGrp="1"/>
          </p:cNvGraphicFramePr>
          <p:nvPr/>
        </p:nvGraphicFramePr>
        <p:xfrm>
          <a:off x="4130801" y="1353312"/>
          <a:ext cx="4647438" cy="1737360"/>
        </p:xfrm>
        <a:graphic>
          <a:graphicData uri="http://schemas.openxmlformats.org/drawingml/2006/chart">
            <c:chart xmlns:c="http://schemas.openxmlformats.org/drawingml/2006/chart" r:id="rId3"/>
          </a:graphicData>
        </a:graphic>
      </p:graphicFrame>
      <p:graphicFrame>
        <p:nvGraphicFramePr>
          <p:cNvPr id="11" name="table"/>
          <p:cNvGraphicFramePr>
            <a:graphicFrameLocks noGrp="1"/>
          </p:cNvGraphicFramePr>
          <p:nvPr/>
        </p:nvGraphicFramePr>
        <p:xfrm>
          <a:off x="4130801" y="3227832"/>
          <a:ext cx="4647437" cy="932688"/>
        </p:xfrm>
        <a:graphic>
          <a:graphicData uri="http://schemas.openxmlformats.org/drawingml/2006/table">
            <a:tbl>
              <a:tblPr firstRow="0" bandRow="0"/>
              <a:tblGrid>
                <a:gridCol w="1549146"/>
                <a:gridCol w="1452324"/>
                <a:gridCol w="1645967"/>
              </a:tblGrid>
              <a:tr h="310896">
                <a:tc>
                  <a:txBody>
                    <a:bodyPr wrap="square"/>
                    <a:lstStyle/>
                    <a:p>
                      <a:r>
                        <a:rPr sz="1050" b="1" i="0">
                          <a:solidFill>
                            <a:srgbClr val="FFFFFF"/>
                          </a:solidFill>
                          <a:latin typeface="Calibri"/>
                        </a:rPr>
                        <a:t>Style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Text built?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__str__ calls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alibri"/>
                        </a:rPr>
                        <a:t>arguments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10896">
                <a:tc>
                  <a:txBody>
                    <a:bodyPr wrap="square"/>
                    <a:lstStyle/>
                    <a:p>
                      <a:r>
                        <a:rPr sz="1050" b="0" i="0">
                          <a:solidFill>
                            <a:srgbClr val="1F2933"/>
                          </a:solidFill>
                          <a:latin typeface="Calibri"/>
                        </a:rPr>
                        <a:t>f-string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Arguments are formatted only when needed.</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43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Hunting bugs with the log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Three small mistakes, each found by reading evidence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Off by one</a:t>
            </a:r>
          </a:p>
        </p:txBody>
      </p:sp>
      <p:sp>
        <p:nvSpPr>
          <p:cNvPr id="6" name="meaning"/>
          <p:cNvSpPr txBox="1"/>
          <p:nvPr/>
        </p:nvSpPr>
        <p:spPr>
          <a:xfrm>
            <a:off x="2606040" y="1371600"/>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A loop that starts at zero multiplies everything by zero.</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Text, not number</a:t>
            </a:r>
          </a:p>
        </p:txBody>
      </p:sp>
      <p:sp>
        <p:nvSpPr>
          <p:cNvPr id="8" name="meaning"/>
          <p:cNvSpPr txBox="1"/>
          <p:nvPr/>
        </p:nvSpPr>
        <p:spPr>
          <a:xfrm>
            <a:off x="2606040" y="2029968"/>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input() returns strings, and plus joins strings.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Type mismatch</a:t>
            </a:r>
          </a:p>
        </p:txBody>
      </p:sp>
      <p:sp>
        <p:nvSpPr>
          <p:cNvPr id="10" name="meaning"/>
          <p:cNvSpPr txBox="1"/>
          <p:nvPr/>
        </p:nvSpPr>
        <p:spPr>
          <a:xfrm>
            <a:off x="2606040" y="2688336"/>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A number never equals a text, so the comparison always fails.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Log as proof</a:t>
            </a:r>
          </a:p>
        </p:txBody>
      </p:sp>
      <p:sp>
        <p:nvSpPr>
          <p:cNvPr id="12" name="meaning"/>
          <p:cNvSpPr txBox="1"/>
          <p:nvPr/>
        </p:nvSpPr>
        <p:spPr>
          <a:xfrm>
            <a:off x="2606040" y="3346704"/>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The same log that finds a bug also proves the fix.</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hunting a bug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Hunt one bug with the log as witness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one-character fix, witnessed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The string that beat the 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coin toss that can never win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Compare like with 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hunting a bug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Hunting a bug is detective work: collect clues, test one idea at a time.</a:t>
            </a:r>
          </a:p>
        </p:txBody>
      </p:sp>
      <p:graphicFrame>
        <p:nvGraphicFramePr>
          <p:cNvPr id="6" name="table"/>
          <p:cNvGraphicFramePr>
            <a:graphicFrameLocks noGrp="1"/>
          </p:cNvGraphicFramePr>
          <p:nvPr/>
        </p:nvGraphicFramePr>
        <p:xfrm>
          <a:off x="365760" y="1463040"/>
          <a:ext cx="8412480" cy="3108960"/>
        </p:xfrm>
        <a:graphic>
          <a:graphicData uri="http://schemas.openxmlformats.org/drawingml/2006/table">
            <a:tbl>
              <a:tblPr firstRow="0" bandRow="0"/>
              <a:tblGrid>
                <a:gridCol w="2926080"/>
                <a:gridCol w="5486400"/>
              </a:tblGrid>
              <a:tr h="345440">
                <a:tc>
                  <a:txBody>
                    <a:bodyPr wrap="square"/>
                    <a:lstStyle/>
                    <a:p>
                      <a:r>
                        <a:rPr sz="12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200" b="1" i="0">
                          <a:solidFill>
                            <a:srgbClr val="1F2933"/>
                          </a:solidFill>
                          <a:latin typeface="Calibri"/>
                        </a:rPr>
                        <a:t>Practice Program: Buggy Coin Toss Game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rigged table: whatever you bet, you cannot win.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range(n + 1)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Counting guests from the empty doorway: one step too early.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total *=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snowball rolling downhill; one zero flattens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string concatenation with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Gluing two number cards side by side: 5 and 3 make 53, not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input()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mailbox: whatever arrives is a sealed envelope, never the number inside.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random.randint()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die with only two faces.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200" b="1" i="0">
                          <a:solidFill>
                            <a:srgbClr val="1F2933"/>
                          </a:solidFill>
                          <a:latin typeface="Calibri"/>
                        </a:rPr>
                        <a:t>toss == guess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Comparing an apple with the word 'apple': never the same 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200" b="1" i="0">
                          <a:solidFill>
                            <a:srgbClr val="1F2933"/>
                          </a:solidFill>
                          <a:latin typeface="Calibri"/>
                        </a:rPr>
                        <a:t>guess not in tuple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guest list at the door: names not on it are turned away.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Hunt one bug with the log as witness</a:t>
            </a:r>
          </a:p>
        </p:txBody>
      </p:sp>
      <p:sp>
        <p:nvSpPr>
          <p:cNvPr id="4" name="code"/>
          <p:cNvSpPr/>
          <p:nvPr/>
        </p:nvSpPr>
        <p:spPr>
          <a:xfrm>
            <a:off x="365760" y="777240"/>
            <a:ext cx="4976622" cy="7970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sys</a:t>
            </a:r>
          </a:p>
          <a:p>
            <a:pPr algn="l"/>
            <a:r>
              <a:rPr sz="1050" b="0" i="0">
                <a:solidFill>
                  <a:srgbClr val="8FA3B8"/>
                </a:solidFill>
                <a:latin typeface="Courier New"/>
              </a:rPr>
              <a:t>&gt;&gt;&gt; </a:t>
            </a:r>
            <a:r>
              <a:rPr sz="1050" b="0" i="0">
                <a:solidFill>
                  <a:srgbClr val="E6EDF3"/>
                </a:solidFill>
                <a:latin typeface="Courier New"/>
              </a:rPr>
              <a:t>fmt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'%(levelname)s - %(message)s'</a:t>
            </a:r>
          </a:p>
          <a:p>
            <a:pPr algn="l"/>
            <a:r>
              <a:rPr sz="1050" b="0" i="0">
                <a:solidFill>
                  <a:srgbClr val="8FA3B8"/>
                </a:solidFill>
                <a:latin typeface="Courier New"/>
              </a:rPr>
              <a:t>&gt;&gt;&gt; </a:t>
            </a:r>
            <a:r>
              <a:rPr sz="1050" b="0" i="0">
                <a:solidFill>
                  <a:srgbClr val="E6EDF3"/>
                </a:solidFill>
                <a:latin typeface="Courier New"/>
              </a:rPr>
              <a:t>cfg</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dict</a:t>
            </a:r>
            <a:r>
              <a:rPr sz="1050" b="0" i="0">
                <a:solidFill>
                  <a:srgbClr val="E6EDF3"/>
                </a:solidFill>
                <a:latin typeface="Courier New"/>
              </a:rPr>
              <a:t>(</a:t>
            </a:r>
            <a:r>
              <a:rPr sz="1050" b="0" i="0">
                <a:solidFill>
                  <a:srgbClr val="E6EDF3"/>
                </a:solidFill>
                <a:latin typeface="Courier New"/>
              </a:rPr>
              <a:t>stream</a:t>
            </a:r>
            <a:r>
              <a:rPr sz="1050" b="0" i="0">
                <a:solidFill>
                  <a:srgbClr val="E6EDF3"/>
                </a:solidFill>
                <a:latin typeface="Courier New"/>
              </a:rPr>
              <a:t>=</a:t>
            </a:r>
            <a:r>
              <a:rPr sz="1050" b="0" i="0">
                <a:solidFill>
                  <a:srgbClr val="E6EDF3"/>
                </a:solidFill>
                <a:latin typeface="Courier New"/>
              </a:rPr>
              <a:t>sys</a:t>
            </a:r>
            <a:r>
              <a:rPr sz="1050" b="0" i="0">
                <a:solidFill>
                  <a:srgbClr val="E6EDF3"/>
                </a:solidFill>
                <a:latin typeface="Courier New"/>
              </a:rPr>
              <a:t>.</a:t>
            </a:r>
            <a:r>
              <a:rPr sz="1050" b="0" i="0">
                <a:solidFill>
                  <a:srgbClr val="E6EDF3"/>
                </a:solidFill>
                <a:latin typeface="Courier New"/>
              </a:rPr>
              <a:t>stdout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fmt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force</a:t>
            </a:r>
            <a:r>
              <a:rPr sz="1050" b="0" i="0">
                <a:solidFill>
                  <a:srgbClr val="E6EDF3"/>
                </a:solidFill>
                <a:latin typeface="Courier New"/>
              </a:rPr>
              <a:t>=</a:t>
            </a:r>
            <a:r>
              <a:rPr sz="1050" b="0" i="0">
                <a:solidFill>
                  <a:srgbClr val="C9A0FF"/>
                </a:solidFill>
                <a:latin typeface="Courier New"/>
              </a:rPr>
              <a:t>True</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basicConfig</a:t>
            </a:r>
            <a:r>
              <a:rPr sz="1050" b="0" i="0">
                <a:solidFill>
                  <a:srgbClr val="E6EDF3"/>
                </a:solidFill>
                <a:latin typeface="Courier New"/>
              </a:rPr>
              <a:t>(</a:t>
            </a:r>
            <a:r>
              <a:rPr sz="1050" b="0" i="0">
                <a:solidFill>
                  <a:srgbClr val="E6EDF3"/>
                </a:solidFill>
                <a:latin typeface="Courier New"/>
              </a:rPr>
              <a:t>level</a:t>
            </a:r>
            <a:r>
              <a:rPr sz="1050" b="0" i="0">
                <a:solidFill>
                  <a:srgbClr val="E6EDF3"/>
                </a:solidFill>
                <a:latin typeface="Courier New"/>
              </a:rPr>
              <a:t>=</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cfg</a:t>
            </a:r>
            <a:r>
              <a:rPr sz="1050" b="0" i="0">
                <a:solidFill>
                  <a:srgbClr val="E6EDF3"/>
                </a:solidFill>
                <a:latin typeface="Courier New"/>
              </a:rPr>
              <a:t>)</a:t>
            </a:r>
          </a:p>
        </p:txBody>
      </p:sp>
      <p:sp>
        <p:nvSpPr>
          <p:cNvPr id="5" name="explanation"/>
          <p:cNvSpPr txBox="1"/>
          <p:nvPr/>
        </p:nvSpPr>
        <p:spPr>
          <a:xfrm>
            <a:off x="365760" y="1583436"/>
            <a:ext cx="4976622" cy="477266"/>
          </a:xfrm>
          <a:prstGeom prst="rect">
            <a:avLst/>
          </a:prstGeom>
          <a:noFill/>
        </p:spPr>
        <p:txBody>
          <a:bodyPr wrap="square" lIns="109728" rIns="109728" tIns="18288" bIns="18288" anchor="ctr">
            <a:spAutoFit/>
          </a:bodyPr>
          <a:lstStyle/>
          <a:p>
            <a:r>
              <a:rPr sz="1100" b="0" i="0">
                <a:solidFill>
                  <a:srgbClr val="1F2933"/>
                </a:solidFill>
                <a:latin typeface="Calibri"/>
              </a:rPr>
              <a:t>The log is set to DEBUG, so every step of the loop will be written down.</a:t>
            </a:r>
          </a:p>
        </p:txBody>
      </p:sp>
      <p:sp>
        <p:nvSpPr>
          <p:cNvPr id="6" name="code"/>
          <p:cNvSpPr/>
          <p:nvPr/>
        </p:nvSpPr>
        <p:spPr>
          <a:xfrm>
            <a:off x="365760" y="2106422"/>
            <a:ext cx="4976622" cy="9597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def</a:t>
            </a:r>
            <a:r>
              <a:rPr sz="1050" b="0" i="0">
                <a:solidFill>
                  <a:srgbClr val="E6EDF3"/>
                </a:solidFill>
                <a:latin typeface="Courier New"/>
              </a:rPr>
              <a:t> </a:t>
            </a:r>
            <a:r>
              <a:rPr sz="1050" b="0" i="0">
                <a:solidFill>
                  <a:srgbClr val="E6EDF3"/>
                </a:solidFill>
                <a:latin typeface="Courier New"/>
              </a:rPr>
              <a:t>factorial</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'Start of factorial(%s)'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range</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p>
        </p:txBody>
      </p:sp>
      <p:sp>
        <p:nvSpPr>
          <p:cNvPr id="7" name="code"/>
          <p:cNvSpPr/>
          <p:nvPr/>
        </p:nvSpPr>
        <p:spPr>
          <a:xfrm>
            <a:off x="365760" y="3093593"/>
            <a:ext cx="4976622" cy="7970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'i is %s, total is %s'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'End of factorial(%s)'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return</a:t>
            </a:r>
            <a:r>
              <a:rPr sz="1050" b="0" i="0">
                <a:solidFill>
                  <a:srgbClr val="E6EDF3"/>
                </a:solidFill>
                <a:latin typeface="Courier New"/>
              </a:rPr>
              <a:t> </a:t>
            </a:r>
            <a:r>
              <a:rPr sz="1050" b="0" i="0">
                <a:solidFill>
                  <a:srgbClr val="E6EDF3"/>
                </a:solidFill>
                <a:latin typeface="Courier New"/>
              </a:rPr>
              <a:t>total</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factorial</a:t>
            </a:r>
            <a:r>
              <a:rPr sz="1050" b="0" i="0">
                <a:solidFill>
                  <a:srgbClr val="E6EDF3"/>
                </a:solidFill>
                <a:latin typeface="Courier New"/>
              </a:rPr>
              <a:t>(</a:t>
            </a:r>
            <a:r>
              <a:rPr sz="1050" b="0" i="0">
                <a:solidFill>
                  <a:srgbClr val="7CC4FF"/>
                </a:solidFill>
                <a:latin typeface="Courier New"/>
              </a:rPr>
              <a:t>3</a:t>
            </a:r>
            <a:r>
              <a:rPr sz="1050" b="0" i="0">
                <a:solidFill>
                  <a:srgbClr val="E6EDF3"/>
                </a:solidFill>
                <a:latin typeface="Courier New"/>
              </a:rPr>
              <a:t>)</a:t>
            </a:r>
            <a:r>
              <a:rPr sz="1050" b="0" i="0">
                <a:solidFill>
                  <a:srgbClr val="E6EDF3"/>
                </a:solidFill>
                <a:latin typeface="Courier New"/>
              </a:rPr>
              <a:t>)</a:t>
            </a:r>
          </a:p>
        </p:txBody>
      </p:sp>
      <p:sp>
        <p:nvSpPr>
          <p:cNvPr id="8" name="explanation"/>
          <p:cNvSpPr txBox="1"/>
          <p:nvPr/>
        </p:nvSpPr>
        <p:spPr>
          <a:xfrm>
            <a:off x="365760" y="3899789"/>
            <a:ext cx="4976622" cy="477266"/>
          </a:xfrm>
          <a:prstGeom prst="rect">
            <a:avLst/>
          </a:prstGeom>
          <a:noFill/>
        </p:spPr>
        <p:txBody>
          <a:bodyPr wrap="square" lIns="109728" rIns="109728" tIns="18288" bIns="18288" anchor="ctr">
            <a:spAutoFit/>
          </a:bodyPr>
          <a:lstStyle/>
          <a:p>
            <a:r>
              <a:rPr sz="1100" b="0" i="0">
                <a:solidFill>
                  <a:srgbClr val="1F2933"/>
                </a:solidFill>
                <a:latin typeface="Calibri"/>
              </a:rPr>
              <a:t>factorial(3) should give 6 but prints 0. The log shows why: the loop starts at i = 0 and the product dies at once.</a:t>
            </a:r>
          </a:p>
        </p:txBody>
      </p:sp>
      <p:sp>
        <p:nvSpPr>
          <p:cNvPr id="9" name="result label"/>
          <p:cNvSpPr txBox="1"/>
          <p:nvPr/>
        </p:nvSpPr>
        <p:spPr>
          <a:xfrm>
            <a:off x="5570982" y="777240"/>
            <a:ext cx="3207257"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TextBox 9"/>
          <p:cNvSpPr txBox="1"/>
          <p:nvPr/>
        </p:nvSpPr>
        <p:spPr>
          <a:xfrm>
            <a:off x="5570982" y="1078992"/>
            <a:ext cx="3207257" cy="219456"/>
          </a:xfrm>
          <a:prstGeom prst="rect">
            <a:avLst/>
          </a:prstGeom>
          <a:noFill/>
        </p:spPr>
        <p:txBody>
          <a:bodyPr wrap="square" lIns="45720" rIns="45720" tIns="27432" bIns="27432" anchor="t">
            <a:spAutoFit/>
          </a:bodyPr>
          <a:lstStyle/>
          <a:p>
            <a:r>
              <a:rPr sz="1000" b="1" i="0">
                <a:solidFill>
                  <a:srgbClr val="0E7C86"/>
                </a:solidFill>
                <a:latin typeface="Calibri"/>
              </a:rPr>
              <a:t>total after each step of the loop</a:t>
            </a:r>
          </a:p>
        </p:txBody>
      </p:sp>
      <p:graphicFrame>
        <p:nvGraphicFramePr>
          <p:cNvPr id="11" name="chart"/>
          <p:cNvGraphicFramePr>
            <a:graphicFrameLocks noGrp="1"/>
          </p:cNvGraphicFramePr>
          <p:nvPr/>
        </p:nvGraphicFramePr>
        <p:xfrm>
          <a:off x="5570982" y="1316736"/>
          <a:ext cx="3207257" cy="1508760"/>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5570982" y="2907791"/>
          <a:ext cx="3207256" cy="1234440"/>
        </p:xfrm>
        <a:graphic>
          <a:graphicData uri="http://schemas.openxmlformats.org/drawingml/2006/table">
            <a:tbl>
              <a:tblPr firstRow="0" bandRow="0"/>
              <a:tblGrid>
                <a:gridCol w="346730"/>
                <a:gridCol w="606778"/>
                <a:gridCol w="2253748"/>
              </a:tblGrid>
              <a:tr h="246888">
                <a:tc>
                  <a:txBody>
                    <a:bodyPr wrap="square"/>
                    <a:lstStyle/>
                    <a:p>
                      <a:pPr algn="ctr"/>
                      <a:r>
                        <a:rPr sz="950" b="1" i="0">
                          <a:solidFill>
                            <a:srgbClr val="FFFFFF"/>
                          </a:solidFill>
                          <a:latin typeface="Calibri"/>
                        </a:rPr>
                        <a: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log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pPr algn="ctr"/>
                      <a:r>
                        <a:rPr sz="95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B83A1B"/>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i is 0, total is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pPr algn="ctr"/>
                      <a:r>
                        <a:rPr sz="9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B83A1B"/>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i is 1, total is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pPr algn="ctr"/>
                      <a:r>
                        <a:rPr sz="9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B83A1B"/>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i is 2, total is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pPr algn="ctr"/>
                      <a:r>
                        <a:rPr sz="9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B83A1B"/>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i is 3, total is 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3" name="Rounded Rectangle 12"/>
          <p:cNvSpPr/>
          <p:nvPr/>
        </p:nvSpPr>
        <p:spPr>
          <a:xfrm>
            <a:off x="5570982" y="4233671"/>
            <a:ext cx="3207257" cy="27432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factorial(3) printed 0  (should be 6)</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log shows the loop dying at i = 0.</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one-character fix, witnessed</a:t>
            </a:r>
          </a:p>
        </p:txBody>
      </p:sp>
      <p:sp>
        <p:nvSpPr>
          <p:cNvPr id="4" name="code"/>
          <p:cNvSpPr/>
          <p:nvPr/>
        </p:nvSpPr>
        <p:spPr>
          <a:xfrm>
            <a:off x="365760" y="777240"/>
            <a:ext cx="4976622" cy="7970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sys</a:t>
            </a:r>
          </a:p>
          <a:p>
            <a:pPr algn="l"/>
            <a:r>
              <a:rPr sz="1050" b="0" i="0">
                <a:solidFill>
                  <a:srgbClr val="8FA3B8"/>
                </a:solidFill>
                <a:latin typeface="Courier New"/>
              </a:rPr>
              <a:t>&gt;&gt;&gt; </a:t>
            </a:r>
            <a:r>
              <a:rPr sz="1050" b="0" i="0">
                <a:solidFill>
                  <a:srgbClr val="E6EDF3"/>
                </a:solidFill>
                <a:latin typeface="Courier New"/>
              </a:rPr>
              <a:t>fmt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'%(levelname)s - %(message)s'</a:t>
            </a:r>
          </a:p>
          <a:p>
            <a:pPr algn="l"/>
            <a:r>
              <a:rPr sz="1050" b="0" i="0">
                <a:solidFill>
                  <a:srgbClr val="8FA3B8"/>
                </a:solidFill>
                <a:latin typeface="Courier New"/>
              </a:rPr>
              <a:t>&gt;&gt;&gt; </a:t>
            </a:r>
            <a:r>
              <a:rPr sz="1050" b="0" i="0">
                <a:solidFill>
                  <a:srgbClr val="E6EDF3"/>
                </a:solidFill>
                <a:latin typeface="Courier New"/>
              </a:rPr>
              <a:t>cfg</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dict</a:t>
            </a:r>
            <a:r>
              <a:rPr sz="1050" b="0" i="0">
                <a:solidFill>
                  <a:srgbClr val="E6EDF3"/>
                </a:solidFill>
                <a:latin typeface="Courier New"/>
              </a:rPr>
              <a:t>(</a:t>
            </a:r>
            <a:r>
              <a:rPr sz="1050" b="0" i="0">
                <a:solidFill>
                  <a:srgbClr val="E6EDF3"/>
                </a:solidFill>
                <a:latin typeface="Courier New"/>
              </a:rPr>
              <a:t>stream</a:t>
            </a:r>
            <a:r>
              <a:rPr sz="1050" b="0" i="0">
                <a:solidFill>
                  <a:srgbClr val="E6EDF3"/>
                </a:solidFill>
                <a:latin typeface="Courier New"/>
              </a:rPr>
              <a:t>=</a:t>
            </a:r>
            <a:r>
              <a:rPr sz="1050" b="0" i="0">
                <a:solidFill>
                  <a:srgbClr val="E6EDF3"/>
                </a:solidFill>
                <a:latin typeface="Courier New"/>
              </a:rPr>
              <a:t>sys</a:t>
            </a:r>
            <a:r>
              <a:rPr sz="1050" b="0" i="0">
                <a:solidFill>
                  <a:srgbClr val="E6EDF3"/>
                </a:solidFill>
                <a:latin typeface="Courier New"/>
              </a:rPr>
              <a:t>.</a:t>
            </a:r>
            <a:r>
              <a:rPr sz="1050" b="0" i="0">
                <a:solidFill>
                  <a:srgbClr val="E6EDF3"/>
                </a:solidFill>
                <a:latin typeface="Courier New"/>
              </a:rPr>
              <a:t>stdout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fmt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force</a:t>
            </a:r>
            <a:r>
              <a:rPr sz="1050" b="0" i="0">
                <a:solidFill>
                  <a:srgbClr val="E6EDF3"/>
                </a:solidFill>
                <a:latin typeface="Courier New"/>
              </a:rPr>
              <a:t>=</a:t>
            </a:r>
            <a:r>
              <a:rPr sz="1050" b="0" i="0">
                <a:solidFill>
                  <a:srgbClr val="C9A0FF"/>
                </a:solidFill>
                <a:latin typeface="Courier New"/>
              </a:rPr>
              <a:t>True</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basicConfig</a:t>
            </a:r>
            <a:r>
              <a:rPr sz="1050" b="0" i="0">
                <a:solidFill>
                  <a:srgbClr val="E6EDF3"/>
                </a:solidFill>
                <a:latin typeface="Courier New"/>
              </a:rPr>
              <a:t>(</a:t>
            </a:r>
            <a:r>
              <a:rPr sz="1050" b="0" i="0">
                <a:solidFill>
                  <a:srgbClr val="E6EDF3"/>
                </a:solidFill>
                <a:latin typeface="Courier New"/>
              </a:rPr>
              <a:t>level</a:t>
            </a:r>
            <a:r>
              <a:rPr sz="1050" b="0" i="0">
                <a:solidFill>
                  <a:srgbClr val="E6EDF3"/>
                </a:solidFill>
                <a:latin typeface="Courier New"/>
              </a:rPr>
              <a:t>=</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cfg</a:t>
            </a:r>
            <a:r>
              <a:rPr sz="1050" b="0" i="0">
                <a:solidFill>
                  <a:srgbClr val="E6EDF3"/>
                </a:solidFill>
                <a:latin typeface="Courier New"/>
              </a:rPr>
              <a:t>)</a:t>
            </a:r>
          </a:p>
        </p:txBody>
      </p:sp>
      <p:sp>
        <p:nvSpPr>
          <p:cNvPr id="5" name="explanation"/>
          <p:cNvSpPr txBox="1"/>
          <p:nvPr/>
        </p:nvSpPr>
        <p:spPr>
          <a:xfrm>
            <a:off x="365760" y="1583436"/>
            <a:ext cx="4976622" cy="477266"/>
          </a:xfrm>
          <a:prstGeom prst="rect">
            <a:avLst/>
          </a:prstGeom>
          <a:noFill/>
        </p:spPr>
        <p:txBody>
          <a:bodyPr wrap="square" lIns="109728" rIns="109728" tIns="18288" bIns="18288" anchor="ctr">
            <a:spAutoFit/>
          </a:bodyPr>
          <a:lstStyle/>
          <a:p>
            <a:r>
              <a:rPr sz="1100" b="0" i="0">
                <a:solidFill>
                  <a:srgbClr val="1F2933"/>
                </a:solidFill>
                <a:latin typeface="Calibri"/>
              </a:rPr>
              <a:t>The same log set-up as before: DEBUG level, printed to the screen in the same format.</a:t>
            </a:r>
          </a:p>
        </p:txBody>
      </p:sp>
      <p:sp>
        <p:nvSpPr>
          <p:cNvPr id="6" name="code"/>
          <p:cNvSpPr/>
          <p:nvPr/>
        </p:nvSpPr>
        <p:spPr>
          <a:xfrm>
            <a:off x="365760" y="2106422"/>
            <a:ext cx="4976622" cy="9597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def</a:t>
            </a:r>
            <a:r>
              <a:rPr sz="1050" b="0" i="0">
                <a:solidFill>
                  <a:srgbClr val="E6EDF3"/>
                </a:solidFill>
                <a:latin typeface="Courier New"/>
              </a:rPr>
              <a:t> </a:t>
            </a:r>
            <a:r>
              <a:rPr sz="1050" b="0" i="0">
                <a:solidFill>
                  <a:srgbClr val="E6EDF3"/>
                </a:solidFill>
                <a:latin typeface="Courier New"/>
              </a:rPr>
              <a:t>factorial</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'Start of factorial(%s)'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range</a:t>
            </a:r>
            <a:r>
              <a:rPr sz="1050" b="0" i="0">
                <a:solidFill>
                  <a:srgbClr val="E6EDF3"/>
                </a:solidFill>
                <a:latin typeface="Courier New"/>
              </a:rPr>
              <a:t>(</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p>
        </p:txBody>
      </p:sp>
      <p:sp>
        <p:nvSpPr>
          <p:cNvPr id="7" name="code"/>
          <p:cNvSpPr/>
          <p:nvPr/>
        </p:nvSpPr>
        <p:spPr>
          <a:xfrm>
            <a:off x="365760" y="3093593"/>
            <a:ext cx="4976622" cy="7970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'i is %s, total is %s'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total</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E6EDF3"/>
                </a:solidFill>
                <a:latin typeface="Courier New"/>
              </a:rPr>
              <a:t>logging</a:t>
            </a:r>
            <a:r>
              <a:rPr sz="1050" b="0" i="0">
                <a:solidFill>
                  <a:srgbClr val="E6EDF3"/>
                </a:solidFill>
                <a:latin typeface="Courier New"/>
              </a:rPr>
              <a:t>.</a:t>
            </a:r>
            <a:r>
              <a:rPr sz="1050" b="0" i="0">
                <a:solidFill>
                  <a:srgbClr val="E6EDF3"/>
                </a:solidFill>
                <a:latin typeface="Courier New"/>
              </a:rPr>
              <a:t>debug</a:t>
            </a:r>
            <a:r>
              <a:rPr sz="1050" b="0" i="0">
                <a:solidFill>
                  <a:srgbClr val="E6EDF3"/>
                </a:solidFill>
                <a:latin typeface="Courier New"/>
              </a:rPr>
              <a:t>(</a:t>
            </a:r>
            <a:r>
              <a:rPr sz="1050" b="0" i="0">
                <a:solidFill>
                  <a:srgbClr val="9BE3A8"/>
                </a:solidFill>
                <a:latin typeface="Courier New"/>
              </a:rPr>
              <a:t>'End of factorial(%s)'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return</a:t>
            </a:r>
            <a:r>
              <a:rPr sz="1050" b="0" i="0">
                <a:solidFill>
                  <a:srgbClr val="E6EDF3"/>
                </a:solidFill>
                <a:latin typeface="Courier New"/>
              </a:rPr>
              <a:t> </a:t>
            </a:r>
            <a:r>
              <a:rPr sz="1050" b="0" i="0">
                <a:solidFill>
                  <a:srgbClr val="E6EDF3"/>
                </a:solidFill>
                <a:latin typeface="Courier New"/>
              </a:rPr>
              <a:t>total</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factorial</a:t>
            </a:r>
            <a:r>
              <a:rPr sz="1050" b="0" i="0">
                <a:solidFill>
                  <a:srgbClr val="E6EDF3"/>
                </a:solidFill>
                <a:latin typeface="Courier New"/>
              </a:rPr>
              <a:t>(</a:t>
            </a:r>
            <a:r>
              <a:rPr sz="1050" b="0" i="0">
                <a:solidFill>
                  <a:srgbClr val="7CC4FF"/>
                </a:solidFill>
                <a:latin typeface="Courier New"/>
              </a:rPr>
              <a:t>3</a:t>
            </a:r>
            <a:r>
              <a:rPr sz="1050" b="0" i="0">
                <a:solidFill>
                  <a:srgbClr val="E6EDF3"/>
                </a:solidFill>
                <a:latin typeface="Courier New"/>
              </a:rPr>
              <a:t>)</a:t>
            </a:r>
            <a:r>
              <a:rPr sz="1050" b="0" i="0">
                <a:solidFill>
                  <a:srgbClr val="E6EDF3"/>
                </a:solidFill>
                <a:latin typeface="Courier New"/>
              </a:rPr>
              <a:t>)</a:t>
            </a:r>
          </a:p>
        </p:txBody>
      </p:sp>
      <p:sp>
        <p:nvSpPr>
          <p:cNvPr id="8" name="explanation"/>
          <p:cNvSpPr txBox="1"/>
          <p:nvPr/>
        </p:nvSpPr>
        <p:spPr>
          <a:xfrm>
            <a:off x="365760" y="3899789"/>
            <a:ext cx="4976622" cy="477266"/>
          </a:xfrm>
          <a:prstGeom prst="rect">
            <a:avLst/>
          </a:prstGeom>
          <a:noFill/>
        </p:spPr>
        <p:txBody>
          <a:bodyPr wrap="square" lIns="109728" rIns="109728" tIns="18288" bIns="18288" anchor="ctr">
            <a:spAutoFit/>
          </a:bodyPr>
          <a:lstStyle/>
          <a:p>
            <a:r>
              <a:rPr sz="1100" b="0" i="0">
                <a:solidFill>
                  <a:srgbClr val="1F2933"/>
                </a:solidFill>
                <a:latin typeface="Calibri"/>
              </a:rPr>
              <a:t>range(1, n + 1) starts at 1, so the product grows 1, 2, 6. The same log now proves that the fix worked.</a:t>
            </a:r>
          </a:p>
        </p:txBody>
      </p:sp>
      <p:sp>
        <p:nvSpPr>
          <p:cNvPr id="9" name="result label"/>
          <p:cNvSpPr txBox="1"/>
          <p:nvPr/>
        </p:nvSpPr>
        <p:spPr>
          <a:xfrm>
            <a:off x="5570982" y="777240"/>
            <a:ext cx="3207257"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0" name="TextBox 9"/>
          <p:cNvSpPr txBox="1"/>
          <p:nvPr/>
        </p:nvSpPr>
        <p:spPr>
          <a:xfrm>
            <a:off x="5570982" y="1078992"/>
            <a:ext cx="3207257" cy="219456"/>
          </a:xfrm>
          <a:prstGeom prst="rect">
            <a:avLst/>
          </a:prstGeom>
          <a:noFill/>
        </p:spPr>
        <p:txBody>
          <a:bodyPr wrap="square" lIns="45720" rIns="45720" tIns="27432" bIns="27432" anchor="t">
            <a:spAutoFit/>
          </a:bodyPr>
          <a:lstStyle/>
          <a:p>
            <a:r>
              <a:rPr sz="1000" b="1" i="0">
                <a:solidFill>
                  <a:srgbClr val="0E7C86"/>
                </a:solidFill>
                <a:latin typeface="Calibri"/>
              </a:rPr>
              <a:t>total after each step of the loop</a:t>
            </a:r>
          </a:p>
        </p:txBody>
      </p:sp>
      <p:graphicFrame>
        <p:nvGraphicFramePr>
          <p:cNvPr id="11" name="chart"/>
          <p:cNvGraphicFramePr>
            <a:graphicFrameLocks noGrp="1"/>
          </p:cNvGraphicFramePr>
          <p:nvPr/>
        </p:nvGraphicFramePr>
        <p:xfrm>
          <a:off x="5570982" y="1316736"/>
          <a:ext cx="3207257" cy="1508760"/>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5570982" y="2907791"/>
          <a:ext cx="3207256" cy="987552"/>
        </p:xfrm>
        <a:graphic>
          <a:graphicData uri="http://schemas.openxmlformats.org/drawingml/2006/table">
            <a:tbl>
              <a:tblPr firstRow="0" bandRow="0"/>
              <a:tblGrid>
                <a:gridCol w="346730"/>
                <a:gridCol w="606778"/>
                <a:gridCol w="2253748"/>
              </a:tblGrid>
              <a:tr h="246888">
                <a:tc>
                  <a:txBody>
                    <a:bodyPr wrap="square"/>
                    <a:lstStyle/>
                    <a:p>
                      <a:pPr algn="ctr"/>
                      <a:r>
                        <a:rPr sz="950" b="1" i="0">
                          <a:solidFill>
                            <a:srgbClr val="FFFFFF"/>
                          </a:solidFill>
                          <a:latin typeface="Calibri"/>
                        </a:rPr>
                        <a: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50" b="1" i="0">
                          <a:solidFill>
                            <a:srgbClr val="FFFFFF"/>
                          </a:solidFill>
                          <a:latin typeface="Calibri"/>
                        </a:rPr>
                        <a:t>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log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pPr algn="ctr"/>
                      <a:r>
                        <a:rPr sz="95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2F855A"/>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i is 1, total is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pPr algn="ctr"/>
                      <a:r>
                        <a:rPr sz="95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50" b="0" i="0">
                          <a:solidFill>
                            <a:srgbClr val="2F855A"/>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i is 2, total is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pPr algn="ctr"/>
                      <a:r>
                        <a:rPr sz="9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50" b="0" i="0">
                          <a:solidFill>
                            <a:srgbClr val="2F855A"/>
                          </a:solidFill>
                          <a:latin typeface="Courier New"/>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i is 3, total is 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Rounded Rectangle 12"/>
          <p:cNvSpPr/>
          <p:nvPr/>
        </p:nvSpPr>
        <p:spPr>
          <a:xfrm>
            <a:off x="5570982" y="3986783"/>
            <a:ext cx="3207257" cy="27432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factorial(3) printed 6  (correct)</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same log proves the fix.</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string that beat the number</a:t>
            </a:r>
          </a:p>
        </p:txBody>
      </p:sp>
      <p:sp>
        <p:nvSpPr>
          <p:cNvPr id="4" name="code"/>
          <p:cNvSpPr/>
          <p:nvPr/>
        </p:nvSpPr>
        <p:spPr>
          <a:xfrm>
            <a:off x="365760" y="777240"/>
            <a:ext cx="8412480" cy="3322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first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second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third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'42'</a:t>
            </a:r>
          </a:p>
        </p:txBody>
      </p:sp>
      <p:sp>
        <p:nvSpPr>
          <p:cNvPr id="5" name="explanation"/>
          <p:cNvSpPr txBox="1"/>
          <p:nvPr/>
        </p:nvSpPr>
        <p:spPr>
          <a:xfrm>
            <a:off x="365760" y="1118616"/>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input() always returns text, so three typed answers are three strings. Here they are given directly, with no keyboard.</a:t>
            </a:r>
          </a:p>
        </p:txBody>
      </p:sp>
      <p:sp>
        <p:nvSpPr>
          <p:cNvPr id="6" name="code"/>
          <p:cNvSpPr/>
          <p:nvPr/>
        </p:nvSpPr>
        <p:spPr>
          <a:xfrm>
            <a:off x="365760" y="1673352"/>
            <a:ext cx="8412480" cy="51816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'The sum is '</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first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second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third</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'The sum is'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int</a:t>
            </a:r>
            <a:r>
              <a:rPr sz="1200" b="0" i="0">
                <a:solidFill>
                  <a:srgbClr val="E6EDF3"/>
                </a:solidFill>
                <a:latin typeface="Courier New"/>
              </a:rPr>
              <a:t>(</a:t>
            </a:r>
            <a:r>
              <a:rPr sz="1200" b="0" i="0">
                <a:solidFill>
                  <a:srgbClr val="E6EDF3"/>
                </a:solidFill>
                <a:latin typeface="Courier New"/>
              </a:rPr>
              <a:t>first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int</a:t>
            </a:r>
            <a:r>
              <a:rPr sz="1200" b="0" i="0">
                <a:solidFill>
                  <a:srgbClr val="E6EDF3"/>
                </a:solidFill>
                <a:latin typeface="Courier New"/>
              </a:rPr>
              <a:t>(</a:t>
            </a:r>
            <a:r>
              <a:rPr sz="1200" b="0" i="0">
                <a:solidFill>
                  <a:srgbClr val="E6EDF3"/>
                </a:solidFill>
                <a:latin typeface="Courier New"/>
              </a:rPr>
              <a:t>second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int</a:t>
            </a:r>
            <a:r>
              <a:rPr sz="1200" b="0" i="0">
                <a:solidFill>
                  <a:srgbClr val="E6EDF3"/>
                </a:solidFill>
                <a:latin typeface="Courier New"/>
              </a:rPr>
              <a:t>(</a:t>
            </a:r>
            <a:r>
              <a:rPr sz="1200" b="0" i="0">
                <a:solidFill>
                  <a:srgbClr val="E6EDF3"/>
                </a:solidFill>
                <a:latin typeface="Courier New"/>
              </a:rPr>
              <a:t>third</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365760" y="2200655"/>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Adding strings with + joins them, so 5, 3 and 42 become 5342. Converting each answer with int gives the sum 50.</a:t>
            </a:r>
          </a:p>
        </p:txBody>
      </p:sp>
      <p:sp>
        <p:nvSpPr>
          <p:cNvPr id="8" name="result label"/>
          <p:cNvSpPr txBox="1"/>
          <p:nvPr/>
        </p:nvSpPr>
        <p:spPr>
          <a:xfrm>
            <a:off x="365760" y="2746247"/>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974847"/>
          <a:ext cx="3785614" cy="1243584"/>
        </p:xfrm>
        <a:graphic>
          <a:graphicData uri="http://schemas.openxmlformats.org/drawingml/2006/table">
            <a:tbl>
              <a:tblPr firstRow="0" bandRow="0"/>
              <a:tblGrid>
                <a:gridCol w="1406085"/>
                <a:gridCol w="1297925"/>
                <a:gridCol w="1081604"/>
              </a:tblGrid>
              <a:tr h="310896">
                <a:tc>
                  <a:txBody>
                    <a:bodyPr wrap="square"/>
                    <a:lstStyle/>
                    <a:p>
                      <a:r>
                        <a:rPr sz="1050" b="1" i="0">
                          <a:solidFill>
                            <a:srgbClr val="FFFFFF"/>
                          </a:solidFill>
                          <a:latin typeface="Calibri"/>
                        </a:rPr>
                        <a:t>Variable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50" b="0" i="0">
                          <a:solidFill>
                            <a:srgbClr val="1F2933"/>
                          </a:solidFill>
                          <a:latin typeface="Courier New"/>
                        </a:rPr>
                        <a:t>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10896">
                <a:tc>
                  <a:txBody>
                    <a:bodyPr wrap="square"/>
                    <a:lstStyle/>
                    <a:p>
                      <a:r>
                        <a:rPr sz="1050" b="0" i="0">
                          <a:solidFill>
                            <a:srgbClr val="1F2933"/>
                          </a:solidFill>
                          <a:latin typeface="Courier New"/>
                        </a:rPr>
                        <a:t>second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310896">
                <a:tc>
                  <a:txBody>
                    <a:bodyPr wrap="square"/>
                    <a:lstStyle/>
                    <a:p>
                      <a:r>
                        <a:rPr sz="1050" b="0" i="0">
                          <a:solidFill>
                            <a:srgbClr val="1F2933"/>
                          </a:solidFill>
                          <a:latin typeface="Courier New"/>
                        </a:rPr>
                        <a:t>third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0" name="TextBox 9"/>
          <p:cNvSpPr txBox="1"/>
          <p:nvPr/>
        </p:nvSpPr>
        <p:spPr>
          <a:xfrm>
            <a:off x="4572000" y="2974847"/>
            <a:ext cx="4206240" cy="219456"/>
          </a:xfrm>
          <a:prstGeom prst="rect">
            <a:avLst/>
          </a:prstGeom>
          <a:noFill/>
        </p:spPr>
        <p:txBody>
          <a:bodyPr wrap="square" lIns="45720" rIns="45720" tIns="27432" bIns="27432" anchor="t">
            <a:spAutoFit/>
          </a:bodyPr>
          <a:lstStyle/>
          <a:p>
            <a:r>
              <a:rPr sz="1000" b="1" i="0">
                <a:solidFill>
                  <a:srgbClr val="0E7C86"/>
                </a:solidFill>
                <a:latin typeface="Calibri"/>
              </a:rPr>
              <a:t>the sum that was printed</a:t>
            </a:r>
          </a:p>
        </p:txBody>
      </p:sp>
      <p:graphicFrame>
        <p:nvGraphicFramePr>
          <p:cNvPr id="11" name="chart"/>
          <p:cNvGraphicFramePr>
            <a:graphicFrameLocks noGrp="1"/>
          </p:cNvGraphicFramePr>
          <p:nvPr/>
        </p:nvGraphicFramePr>
        <p:xfrm>
          <a:off x="4572000" y="3212591"/>
          <a:ext cx="4206240" cy="1450848"/>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input() gives text; + joins text.</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coin toss that can never win</a:t>
            </a:r>
          </a:p>
        </p:txBody>
      </p:sp>
      <p:sp>
        <p:nvSpPr>
          <p:cNvPr id="4" name="code"/>
          <p:cNvSpPr/>
          <p:nvPr/>
        </p:nvSpPr>
        <p:spPr>
          <a:xfrm>
            <a:off x="365760" y="777240"/>
            <a:ext cx="5616701" cy="79705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random</a:t>
            </a:r>
          </a:p>
          <a:p>
            <a:pPr algn="l"/>
            <a:r>
              <a:rPr sz="1050" b="0" i="0">
                <a:solidFill>
                  <a:srgbClr val="8FA3B8"/>
                </a:solidFill>
                <a:latin typeface="Courier New"/>
              </a:rPr>
              <a:t>&gt;&gt;&gt; </a:t>
            </a:r>
            <a:r>
              <a:rPr sz="1050" b="0" i="0">
                <a:solidFill>
                  <a:srgbClr val="E6EDF3"/>
                </a:solidFill>
                <a:latin typeface="Courier New"/>
              </a:rPr>
              <a:t>random</a:t>
            </a:r>
            <a:r>
              <a:rPr sz="1050" b="0" i="0">
                <a:solidFill>
                  <a:srgbClr val="E6EDF3"/>
                </a:solidFill>
                <a:latin typeface="Courier New"/>
              </a:rPr>
              <a:t>.</a:t>
            </a:r>
            <a:r>
              <a:rPr sz="1050" b="0" i="0">
                <a:solidFill>
                  <a:srgbClr val="E6EDF3"/>
                </a:solidFill>
                <a:latin typeface="Courier New"/>
              </a:rPr>
              <a:t>seed</a:t>
            </a:r>
            <a:r>
              <a:rPr sz="1050" b="0" i="0">
                <a:solidFill>
                  <a:srgbClr val="E6EDF3"/>
                </a:solidFill>
                <a:latin typeface="Courier New"/>
              </a:rPr>
              <a:t>(</a:t>
            </a:r>
            <a:r>
              <a:rPr sz="1050" b="0" i="0">
                <a:solidFill>
                  <a:srgbClr val="7CC4FF"/>
                </a:solidFill>
                <a:latin typeface="Courier New"/>
              </a:rPr>
              <a:t>7</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guess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'heads'</a:t>
            </a:r>
            <a:r>
              <a:rPr sz="1050" b="0" i="0">
                <a:solidFill>
                  <a:srgbClr val="E6EDF3"/>
                </a:solidFill>
                <a:latin typeface="Courier New"/>
              </a:rPr>
              <a:t>    </a:t>
            </a:r>
            <a:r>
              <a:rPr sz="1050" b="0" i="0">
                <a:solidFill>
                  <a:srgbClr val="8FA3B8"/>
                </a:solidFill>
                <a:latin typeface="Courier New"/>
              </a:rPr>
              <a:t># input() always gives a str</a:t>
            </a:r>
          </a:p>
          <a:p>
            <a:pPr algn="l"/>
            <a:r>
              <a:rPr sz="1050" b="0" i="0">
                <a:solidFill>
                  <a:srgbClr val="8FA3B8"/>
                </a:solidFill>
                <a:latin typeface="Courier New"/>
              </a:rPr>
              <a:t>&gt;&gt;&gt; </a:t>
            </a:r>
            <a:r>
              <a:rPr sz="1050" b="0" i="0">
                <a:solidFill>
                  <a:srgbClr val="E6EDF3"/>
                </a:solidFill>
                <a:latin typeface="Courier New"/>
              </a:rPr>
              <a:t>toss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random</a:t>
            </a:r>
            <a:r>
              <a:rPr sz="1050" b="0" i="0">
                <a:solidFill>
                  <a:srgbClr val="E6EDF3"/>
                </a:solidFill>
                <a:latin typeface="Courier New"/>
              </a:rPr>
              <a:t>.</a:t>
            </a:r>
            <a:r>
              <a:rPr sz="1050" b="0" i="0">
                <a:solidFill>
                  <a:srgbClr val="E6EDF3"/>
                </a:solidFill>
                <a:latin typeface="Courier New"/>
              </a:rPr>
              <a:t>randint</a:t>
            </a:r>
            <a:r>
              <a:rPr sz="1050" b="0" i="0">
                <a:solidFill>
                  <a:srgbClr val="E6EDF3"/>
                </a:solidFill>
                <a:latin typeface="Courier New"/>
              </a:rPr>
              <a:t>(</a:t>
            </a:r>
            <a:r>
              <a:rPr sz="1050" b="0" i="0">
                <a:solidFill>
                  <a:srgbClr val="7CC4FF"/>
                </a:solidFill>
                <a:latin typeface="Courier New"/>
              </a:rPr>
              <a:t>0</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1</a:t>
            </a:r>
            <a:r>
              <a:rPr sz="1050" b="0" i="0">
                <a:solidFill>
                  <a:srgbClr val="E6EDF3"/>
                </a:solidFill>
                <a:latin typeface="Courier New"/>
              </a:rPr>
              <a:t>)</a:t>
            </a:r>
            <a:r>
              <a:rPr sz="1050" b="0" i="0">
                <a:solidFill>
                  <a:srgbClr val="E6EDF3"/>
                </a:solidFill>
                <a:latin typeface="Courier New"/>
              </a:rPr>
              <a:t>    </a:t>
            </a:r>
            <a:r>
              <a:rPr sz="1050" b="0" i="0">
                <a:solidFill>
                  <a:srgbClr val="8FA3B8"/>
                </a:solidFill>
                <a:latin typeface="Courier New"/>
              </a:rPr>
              <a:t># 0 is tails, 1 is heads</a:t>
            </a:r>
          </a:p>
        </p:txBody>
      </p:sp>
      <p:sp>
        <p:nvSpPr>
          <p:cNvPr id="5" name="explanation"/>
          <p:cNvSpPr txBox="1"/>
          <p:nvPr/>
        </p:nvSpPr>
        <p:spPr>
          <a:xfrm>
            <a:off x="5964174" y="777240"/>
            <a:ext cx="2814066" cy="797052"/>
          </a:xfrm>
          <a:prstGeom prst="rect">
            <a:avLst/>
          </a:prstGeom>
          <a:noFill/>
        </p:spPr>
        <p:txBody>
          <a:bodyPr wrap="square" lIns="128016" rIns="128016" tIns="18288" bIns="18288" anchor="ctr">
            <a:spAutoFit/>
          </a:bodyPr>
          <a:lstStyle/>
          <a:p>
            <a:r>
              <a:rPr sz="1100" b="0" i="0">
                <a:solidFill>
                  <a:srgbClr val="1F2933"/>
                </a:solidFill>
                <a:latin typeface="Calibri"/>
              </a:rPr>
              <a:t>randint gives a number, and the guess is a text. The seed makes the toss repeatable.</a:t>
            </a:r>
          </a:p>
        </p:txBody>
      </p:sp>
      <p:sp>
        <p:nvSpPr>
          <p:cNvPr id="6" name="code"/>
          <p:cNvSpPr/>
          <p:nvPr/>
        </p:nvSpPr>
        <p:spPr>
          <a:xfrm>
            <a:off x="365760" y="1629156"/>
            <a:ext cx="5616701" cy="6343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E6EDF3"/>
                </a:solidFill>
                <a:latin typeface="Courier New"/>
              </a:rPr>
              <a:t>toss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__name__</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type</a:t>
            </a:r>
            <a:r>
              <a:rPr sz="1050" b="0" i="0">
                <a:solidFill>
                  <a:srgbClr val="E6EDF3"/>
                </a:solidFill>
                <a:latin typeface="Courier New"/>
              </a:rPr>
              <a:t>(</a:t>
            </a:r>
            <a:r>
              <a:rPr sz="1050" b="0" i="0">
                <a:solidFill>
                  <a:srgbClr val="E6EDF3"/>
                </a:solidFill>
                <a:latin typeface="Courier New"/>
              </a:rPr>
              <a:t>guess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__name__</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toss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guess</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9BE3A8"/>
                </a:solidFill>
                <a:latin typeface="Courier New"/>
              </a:rPr>
              <a:t>'You got it!'</a:t>
            </a:r>
            <a:r>
              <a:rPr sz="1050" b="0" i="0">
                <a:solidFill>
                  <a:srgbClr val="E6EDF3"/>
                </a:solidFill>
                <a:latin typeface="Courier New"/>
              </a:rPr>
              <a:t> </a:t>
            </a:r>
            <a:r>
              <a:rPr sz="1050" b="0" i="0">
                <a:solidFill>
                  <a:srgbClr val="C9A0FF"/>
                </a:solidFill>
                <a:latin typeface="Courier New"/>
              </a:rPr>
              <a:t>if</a:t>
            </a:r>
            <a:r>
              <a:rPr sz="1050" b="0" i="0">
                <a:solidFill>
                  <a:srgbClr val="E6EDF3"/>
                </a:solidFill>
                <a:latin typeface="Courier New"/>
              </a:rPr>
              <a:t> </a:t>
            </a:r>
            <a:r>
              <a:rPr sz="1050" b="0" i="0">
                <a:solidFill>
                  <a:srgbClr val="E6EDF3"/>
                </a:solidFill>
                <a:latin typeface="Courier New"/>
              </a:rPr>
              <a:t>toss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guess</a:t>
            </a:r>
            <a:r>
              <a:rPr sz="1050" b="0" i="0">
                <a:solidFill>
                  <a:srgbClr val="E6EDF3"/>
                </a:solidFill>
                <a:latin typeface="Courier New"/>
              </a:rPr>
              <a:t> </a:t>
            </a:r>
            <a:r>
              <a:rPr sz="1050" b="0" i="0">
                <a:solidFill>
                  <a:srgbClr val="C9A0FF"/>
                </a:solidFill>
                <a:latin typeface="Courier New"/>
              </a:rPr>
              <a:t>else</a:t>
            </a:r>
            <a:r>
              <a:rPr sz="1050" b="0" i="0">
                <a:solidFill>
                  <a:srgbClr val="E6EDF3"/>
                </a:solidFill>
                <a:latin typeface="Courier New"/>
              </a:rPr>
              <a:t> </a:t>
            </a:r>
            <a:r>
              <a:rPr sz="1050" b="0" i="0">
                <a:solidFill>
                  <a:srgbClr val="9BE3A8"/>
                </a:solidFill>
                <a:latin typeface="Courier New"/>
              </a:rPr>
              <a:t>'Nope! Guess again!'</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g</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'heads'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'tails'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'maybe'</a:t>
            </a:r>
            <a:r>
              <a:rPr sz="1050" b="0" i="0">
                <a:solidFill>
                  <a:srgbClr val="E6EDF3"/>
                </a:solidFill>
                <a:latin typeface="Courier New"/>
              </a:rPr>
              <a:t>)</a:t>
            </a:r>
            <a:r>
              <a:rPr sz="1050" b="0" i="0">
                <a:solidFill>
                  <a:srgbClr val="E6EDF3"/>
                </a:solidFill>
                <a:latin typeface="Courier New"/>
              </a:rPr>
              <a:t>:</a:t>
            </a:r>
          </a:p>
        </p:txBody>
      </p:sp>
      <p:sp>
        <p:nvSpPr>
          <p:cNvPr id="7" name="code"/>
          <p:cNvSpPr/>
          <p:nvPr/>
        </p:nvSpPr>
        <p:spPr>
          <a:xfrm>
            <a:off x="365760" y="2290953"/>
            <a:ext cx="5616701" cy="3089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g</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'not in tuple:'</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g</a:t>
            </a:r>
            <a:r>
              <a:rPr sz="1050" b="0" i="0">
                <a:solidFill>
                  <a:srgbClr val="E6EDF3"/>
                </a:solidFill>
                <a:latin typeface="Courier New"/>
              </a:rPr>
              <a:t> </a:t>
            </a:r>
            <a:r>
              <a:rPr sz="1050" b="0" i="0">
                <a:solidFill>
                  <a:srgbClr val="C9A0FF"/>
                </a:solidFill>
                <a:latin typeface="Courier New"/>
              </a:rPr>
              <a:t>not</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'heads'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'tails'</a:t>
            </a:r>
            <a:r>
              <a:rPr sz="1050" b="0" i="0">
                <a:solidFill>
                  <a:srgbClr val="E6EDF3"/>
                </a:solidFill>
                <a:latin typeface="Courier New"/>
              </a:rPr>
              <a:t>)</a:t>
            </a:r>
            <a:r>
              <a:rPr sz="1050" b="0" i="0">
                <a:solidFill>
                  <a:srgbClr val="E6EDF3"/>
                </a:solidFill>
                <a:latin typeface="Courier New"/>
              </a:rPr>
              <a:t>)</a:t>
            </a:r>
          </a:p>
        </p:txBody>
      </p:sp>
      <p:sp>
        <p:nvSpPr>
          <p:cNvPr id="8" name="explanation"/>
          <p:cNvSpPr txBox="1"/>
          <p:nvPr/>
        </p:nvSpPr>
        <p:spPr>
          <a:xfrm>
            <a:off x="5964174" y="1629156"/>
            <a:ext cx="2814066" cy="970788"/>
          </a:xfrm>
          <a:prstGeom prst="rect">
            <a:avLst/>
          </a:prstGeom>
          <a:noFill/>
        </p:spPr>
        <p:txBody>
          <a:bodyPr wrap="square" lIns="128016" rIns="128016" tIns="18288" bIns="18288" anchor="ctr">
            <a:spAutoFit/>
          </a:bodyPr>
          <a:lstStyle/>
          <a:p>
            <a:r>
              <a:rPr sz="1100" b="0" i="0">
                <a:solidFill>
                  <a:srgbClr val="1F2933"/>
                </a:solidFill>
                <a:latin typeface="Calibri"/>
              </a:rPr>
              <a:t>A number never equals a text, so every guess loses. The tuple test only checks that the guess is a legal word.</a:t>
            </a:r>
          </a:p>
        </p:txBody>
      </p:sp>
      <p:sp>
        <p:nvSpPr>
          <p:cNvPr id="9" name="result label"/>
          <p:cNvSpPr txBox="1"/>
          <p:nvPr/>
        </p:nvSpPr>
        <p:spPr>
          <a:xfrm>
            <a:off x="365760" y="2645664"/>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10" name="Rounded Rectangle 9"/>
          <p:cNvSpPr/>
          <p:nvPr/>
        </p:nvSpPr>
        <p:spPr>
          <a:xfrm>
            <a:off x="365760" y="2874264"/>
            <a:ext cx="2103120" cy="384048"/>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toss = 1  (int)</a:t>
            </a:r>
          </a:p>
        </p:txBody>
      </p:sp>
      <p:sp>
        <p:nvSpPr>
          <p:cNvPr id="11" name="Rounded Rectangle 10"/>
          <p:cNvSpPr/>
          <p:nvPr/>
        </p:nvSpPr>
        <p:spPr>
          <a:xfrm>
            <a:off x="3383279" y="2874264"/>
            <a:ext cx="2377440" cy="38404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guess = 'heads'  (str)</a:t>
            </a:r>
          </a:p>
        </p:txBody>
      </p:sp>
      <p:cxnSp>
        <p:nvCxnSpPr>
          <p:cNvPr id="12" name="arrow"/>
          <p:cNvCxnSpPr/>
          <p:nvPr/>
        </p:nvCxnSpPr>
        <p:spPr>
          <a:xfrm>
            <a:off x="2514600" y="3066288"/>
            <a:ext cx="822960" cy="0"/>
          </a:xfrm>
          <a:prstGeom prst="line">
            <a:avLst/>
          </a:prstGeom>
          <a:ln w="2032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60320" y="2855976"/>
            <a:ext cx="731520" cy="182880"/>
          </a:xfrm>
          <a:prstGeom prst="rect">
            <a:avLst/>
          </a:prstGeom>
          <a:noFill/>
        </p:spPr>
        <p:txBody>
          <a:bodyPr wrap="square" lIns="0" rIns="0" tIns="0" bIns="0" anchor="t">
            <a:spAutoFit/>
          </a:bodyPr>
          <a:lstStyle/>
          <a:p>
            <a:pPr algn="ctr"/>
            <a:r>
              <a:rPr sz="1100" b="1" i="0">
                <a:solidFill>
                  <a:srgbClr val="5B6773"/>
                </a:solidFill>
                <a:latin typeface="Courier New"/>
              </a:rPr>
              <a:t>==</a:t>
            </a:r>
          </a:p>
        </p:txBody>
      </p:sp>
      <p:sp>
        <p:nvSpPr>
          <p:cNvPr id="14" name="Rounded Rectangle 13"/>
          <p:cNvSpPr/>
          <p:nvPr/>
        </p:nvSpPr>
        <p:spPr>
          <a:xfrm>
            <a:off x="5852160" y="2874264"/>
            <a:ext cx="1463040" cy="384048"/>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200" b="0" i="0">
                <a:solidFill>
                  <a:srgbClr val="1F2933"/>
                </a:solidFill>
                <a:latin typeface="Courier New"/>
              </a:rPr>
              <a:t>False</a:t>
            </a:r>
          </a:p>
        </p:txBody>
      </p:sp>
      <p:graphicFrame>
        <p:nvGraphicFramePr>
          <p:cNvPr id="15" name="table"/>
          <p:cNvGraphicFramePr>
            <a:graphicFrameLocks noGrp="1"/>
          </p:cNvGraphicFramePr>
          <p:nvPr/>
        </p:nvGraphicFramePr>
        <p:xfrm>
          <a:off x="365760" y="3422904"/>
          <a:ext cx="4206239" cy="1188720"/>
        </p:xfrm>
        <a:graphic>
          <a:graphicData uri="http://schemas.openxmlformats.org/drawingml/2006/table">
            <a:tbl>
              <a:tblPr firstRow="0" bandRow="0"/>
              <a:tblGrid>
                <a:gridCol w="1001485"/>
                <a:gridCol w="1402080"/>
                <a:gridCol w="1802674"/>
              </a:tblGrid>
              <a:tr h="237744">
                <a:tc>
                  <a:txBody>
                    <a:bodyPr wrap="square"/>
                    <a:lstStyle/>
                    <a:p>
                      <a:r>
                        <a:rPr sz="1000" b="1" i="0">
                          <a:solidFill>
                            <a:srgbClr val="FFFFFF"/>
                          </a:solidFill>
                          <a:latin typeface="Calibri"/>
                        </a:rPr>
                        <a:t>toss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guess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toss == guess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'tails'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ourier New"/>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'heads'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'tails'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'heads'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B83A1B"/>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graphicFrame>
        <p:nvGraphicFramePr>
          <p:cNvPr id="16" name="table"/>
          <p:cNvGraphicFramePr>
            <a:graphicFrameLocks noGrp="1"/>
          </p:cNvGraphicFramePr>
          <p:nvPr/>
        </p:nvGraphicFramePr>
        <p:xfrm>
          <a:off x="4992624" y="3422904"/>
          <a:ext cx="3785615" cy="950976"/>
        </p:xfrm>
        <a:graphic>
          <a:graphicData uri="http://schemas.openxmlformats.org/drawingml/2006/table">
            <a:tbl>
              <a:tblPr firstRow="0" bandRow="0"/>
              <a:tblGrid>
                <a:gridCol w="830988"/>
                <a:gridCol w="2954627"/>
              </a:tblGrid>
              <a:tr h="237744">
                <a:tc>
                  <a:txBody>
                    <a:bodyPr wrap="square"/>
                    <a:lstStyle/>
                    <a:p>
                      <a:r>
                        <a:rPr sz="1000" b="1" i="0">
                          <a:solidFill>
                            <a:srgbClr val="FFFFFF"/>
                          </a:solidFill>
                          <a:latin typeface="Calibri"/>
                        </a:rPr>
                        <a:t>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 not in ('heads', 'tails')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heads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ourier New"/>
                        </a:rPr>
                        <a:t>tails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00" b="0" i="0">
                          <a:solidFill>
                            <a:srgbClr val="1F2933"/>
                          </a:solidFill>
                          <a:latin typeface="Courier New"/>
                        </a:rPr>
                        <a:t>maybe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number never equals a text.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Compare like with like</a:t>
            </a:r>
          </a:p>
        </p:txBody>
      </p:sp>
      <p:sp>
        <p:nvSpPr>
          <p:cNvPr id="4" name="code"/>
          <p:cNvSpPr/>
          <p:nvPr/>
        </p:nvSpPr>
        <p:spPr>
          <a:xfrm>
            <a:off x="365760" y="777240"/>
            <a:ext cx="583387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random</a:t>
            </a:r>
          </a:p>
          <a:p>
            <a:pPr algn="l"/>
            <a:r>
              <a:rPr sz="1200" b="0" i="0">
                <a:solidFill>
                  <a:srgbClr val="8FA3B8"/>
                </a:solidFill>
                <a:latin typeface="Courier New"/>
              </a:rPr>
              <a:t>&gt;&gt;&gt; </a:t>
            </a:r>
            <a:r>
              <a:rPr sz="1200" b="0" i="0">
                <a:solidFill>
                  <a:srgbClr val="E6EDF3"/>
                </a:solidFill>
                <a:latin typeface="Courier New"/>
              </a:rPr>
              <a:t>random</a:t>
            </a:r>
            <a:r>
              <a:rPr sz="1200" b="0" i="0">
                <a:solidFill>
                  <a:srgbClr val="E6EDF3"/>
                </a:solidFill>
                <a:latin typeface="Courier New"/>
              </a:rPr>
              <a:t>.</a:t>
            </a:r>
            <a:r>
              <a:rPr sz="1200" b="0" i="0">
                <a:solidFill>
                  <a:srgbClr val="E6EDF3"/>
                </a:solidFill>
                <a:latin typeface="Courier New"/>
              </a:rPr>
              <a:t>seed</a:t>
            </a:r>
            <a:r>
              <a:rPr sz="1200" b="0" i="0">
                <a:solidFill>
                  <a:srgbClr val="E6EDF3"/>
                </a:solidFill>
                <a:latin typeface="Courier New"/>
              </a:rPr>
              <a:t>(</a:t>
            </a:r>
            <a:r>
              <a:rPr sz="1200" b="0" i="0">
                <a:solidFill>
                  <a:srgbClr val="7CC4FF"/>
                </a:solidFill>
                <a:latin typeface="Courier New"/>
              </a:rPr>
              <a:t>7</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guess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'heads'</a:t>
            </a:r>
          </a:p>
          <a:p>
            <a:pPr algn="l"/>
            <a:r>
              <a:rPr sz="1200" b="0" i="0">
                <a:solidFill>
                  <a:srgbClr val="8FA3B8"/>
                </a:solidFill>
                <a:latin typeface="Courier New"/>
              </a:rPr>
              <a:t>&gt;&gt;&gt; </a:t>
            </a:r>
            <a:r>
              <a:rPr sz="1200" b="0" i="0">
                <a:solidFill>
                  <a:srgbClr val="E6EDF3"/>
                </a:solidFill>
                <a:latin typeface="Courier New"/>
              </a:rPr>
              <a:t>buggy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fixed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0</a:t>
            </a:r>
          </a:p>
        </p:txBody>
      </p:sp>
      <p:sp>
        <p:nvSpPr>
          <p:cNvPr id="5" name="explanation"/>
          <p:cNvSpPr txBox="1"/>
          <p:nvPr/>
        </p:nvSpPr>
        <p:spPr>
          <a:xfrm>
            <a:off x="6181344" y="777240"/>
            <a:ext cx="2596895" cy="890016"/>
          </a:xfrm>
          <a:prstGeom prst="rect">
            <a:avLst/>
          </a:prstGeom>
          <a:noFill/>
        </p:spPr>
        <p:txBody>
          <a:bodyPr wrap="square" lIns="128016" rIns="128016" tIns="18288" bIns="18288" anchor="ctr">
            <a:spAutoFit/>
          </a:bodyPr>
          <a:lstStyle/>
          <a:p>
            <a:r>
              <a:rPr sz="1200" b="0" i="0">
                <a:solidFill>
                  <a:srgbClr val="1F2933"/>
                </a:solidFill>
                <a:latin typeface="Calibri"/>
              </a:rPr>
              <a:t>Two counters will count the wins of the buggy comparison and of the fixed one.</a:t>
            </a:r>
          </a:p>
        </p:txBody>
      </p:sp>
      <p:sp>
        <p:nvSpPr>
          <p:cNvPr id="6" name="code"/>
          <p:cNvSpPr/>
          <p:nvPr/>
        </p:nvSpPr>
        <p:spPr>
          <a:xfrm>
            <a:off x="365760" y="1722120"/>
            <a:ext cx="583387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range</a:t>
            </a:r>
            <a:r>
              <a:rPr sz="1200" b="0" i="0">
                <a:solidFill>
                  <a:srgbClr val="E6EDF3"/>
                </a:solidFill>
                <a:latin typeface="Courier New"/>
              </a:rPr>
              <a:t>(</a:t>
            </a:r>
            <a:r>
              <a:rPr sz="1200" b="0" i="0">
                <a:solidFill>
                  <a:srgbClr val="7CC4FF"/>
                </a:solidFill>
                <a:latin typeface="Courier New"/>
              </a:rPr>
              <a:t>1000</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toss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random</a:t>
            </a:r>
            <a:r>
              <a:rPr sz="1200" b="0" i="0">
                <a:solidFill>
                  <a:srgbClr val="E6EDF3"/>
                </a:solidFill>
                <a:latin typeface="Courier New"/>
              </a:rPr>
              <a:t>.</a:t>
            </a:r>
            <a:r>
              <a:rPr sz="1200" b="0" i="0">
                <a:solidFill>
                  <a:srgbClr val="E6EDF3"/>
                </a:solidFill>
                <a:latin typeface="Courier New"/>
              </a:rPr>
              <a:t>randint</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buggy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toss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guess</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fixed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'heads'</a:t>
            </a:r>
            <a:r>
              <a:rPr sz="1200" b="0" i="0">
                <a:solidFill>
                  <a:srgbClr val="E6EDF3"/>
                </a:solidFill>
                <a:latin typeface="Courier New"/>
              </a:rPr>
              <a:t> </a:t>
            </a:r>
            <a:r>
              <a:rPr sz="1200" b="0" i="0">
                <a:solidFill>
                  <a:srgbClr val="C9A0FF"/>
                </a:solidFill>
                <a:latin typeface="Courier New"/>
              </a:rPr>
              <a:t>if</a:t>
            </a:r>
            <a:r>
              <a:rPr sz="1200" b="0" i="0">
                <a:solidFill>
                  <a:srgbClr val="E6EDF3"/>
                </a:solidFill>
                <a:latin typeface="Courier New"/>
              </a:rPr>
              <a:t> </a:t>
            </a:r>
            <a:r>
              <a:rPr sz="1200" b="0" i="0">
                <a:solidFill>
                  <a:srgbClr val="E6EDF3"/>
                </a:solidFill>
                <a:latin typeface="Courier New"/>
              </a:rPr>
              <a:t>toss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a:t>
            </a:r>
            <a:r>
              <a:rPr sz="1200" b="0" i="0">
                <a:solidFill>
                  <a:srgbClr val="E6EDF3"/>
                </a:solidFill>
                <a:latin typeface="Courier New"/>
              </a:rPr>
              <a:t> </a:t>
            </a:r>
            <a:r>
              <a:rPr sz="1200" b="0" i="0">
                <a:solidFill>
                  <a:srgbClr val="C9A0FF"/>
                </a:solidFill>
                <a:latin typeface="Courier New"/>
              </a:rPr>
              <a:t>else</a:t>
            </a:r>
            <a:r>
              <a:rPr sz="1200" b="0" i="0">
                <a:solidFill>
                  <a:srgbClr val="E6EDF3"/>
                </a:solidFill>
                <a:latin typeface="Courier New"/>
              </a:rPr>
              <a:t> </a:t>
            </a:r>
            <a:r>
              <a:rPr sz="1200" b="0" i="0">
                <a:solidFill>
                  <a:srgbClr val="9BE3A8"/>
                </a:solidFill>
                <a:latin typeface="Courier New"/>
              </a:rPr>
              <a:t>'tails'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guess</a:t>
            </a:r>
          </a:p>
        </p:txBody>
      </p:sp>
      <p:sp>
        <p:nvSpPr>
          <p:cNvPr id="7" name="code"/>
          <p:cNvSpPr/>
          <p:nvPr/>
        </p:nvSpPr>
        <p:spPr>
          <a:xfrm>
            <a:off x="365760" y="2639568"/>
            <a:ext cx="5833872" cy="3322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9BE3A8"/>
                </a:solidFill>
                <a:latin typeface="Courier New"/>
              </a:rPr>
              <a:t>'buggy wins:'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buggy</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'fixed wins:'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fixed</a:t>
            </a:r>
            <a:r>
              <a:rPr sz="1200" b="0" i="0">
                <a:solidFill>
                  <a:srgbClr val="E6EDF3"/>
                </a:solidFill>
                <a:latin typeface="Courier New"/>
              </a:rPr>
              <a:t>)</a:t>
            </a:r>
          </a:p>
        </p:txBody>
      </p:sp>
      <p:sp>
        <p:nvSpPr>
          <p:cNvPr id="8" name="explanation"/>
          <p:cNvSpPr txBox="1"/>
          <p:nvPr/>
        </p:nvSpPr>
        <p:spPr>
          <a:xfrm>
            <a:off x="6181344" y="1722120"/>
            <a:ext cx="2596895" cy="1249680"/>
          </a:xfrm>
          <a:prstGeom prst="rect">
            <a:avLst/>
          </a:prstGeom>
          <a:noFill/>
        </p:spPr>
        <p:txBody>
          <a:bodyPr wrap="square" lIns="128016" rIns="128016" tIns="18288" bIns="18288" anchor="ctr">
            <a:spAutoFit/>
          </a:bodyPr>
          <a:lstStyle/>
          <a:p>
            <a:r>
              <a:rPr sz="1200" b="0" i="0">
                <a:solidFill>
                  <a:srgbClr val="1F2933"/>
                </a:solidFill>
                <a:latin typeface="Calibri"/>
              </a:rPr>
              <a:t>The fix turns the number into its word before comparing. About half of 1000 tosses now agree with the guess.</a:t>
            </a:r>
          </a:p>
        </p:txBody>
      </p:sp>
      <p:sp>
        <p:nvSpPr>
          <p:cNvPr id="9" name="result label"/>
          <p:cNvSpPr txBox="1"/>
          <p:nvPr/>
        </p:nvSpPr>
        <p:spPr>
          <a:xfrm>
            <a:off x="365760" y="3017520"/>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sp>
        <p:nvSpPr>
          <p:cNvPr id="10" name="TextBox 9"/>
          <p:cNvSpPr txBox="1"/>
          <p:nvPr/>
        </p:nvSpPr>
        <p:spPr>
          <a:xfrm>
            <a:off x="365760" y="3246120"/>
            <a:ext cx="4626864" cy="219456"/>
          </a:xfrm>
          <a:prstGeom prst="rect">
            <a:avLst/>
          </a:prstGeom>
          <a:noFill/>
        </p:spPr>
        <p:txBody>
          <a:bodyPr wrap="square" lIns="45720" rIns="45720" tIns="27432" bIns="27432" anchor="t">
            <a:spAutoFit/>
          </a:bodyPr>
          <a:lstStyle/>
          <a:p>
            <a:r>
              <a:rPr sz="1000" b="1" i="0">
                <a:solidFill>
                  <a:srgbClr val="0E7C86"/>
                </a:solidFill>
                <a:latin typeface="Calibri"/>
              </a:rPr>
              <a:t>wins out of 1000 tosses, always guessing heads</a:t>
            </a:r>
          </a:p>
        </p:txBody>
      </p:sp>
      <p:graphicFrame>
        <p:nvGraphicFramePr>
          <p:cNvPr id="11" name="chart"/>
          <p:cNvGraphicFramePr>
            <a:graphicFrameLocks noGrp="1"/>
          </p:cNvGraphicFramePr>
          <p:nvPr/>
        </p:nvGraphicFramePr>
        <p:xfrm>
          <a:off x="365760" y="3483863"/>
          <a:ext cx="4626864" cy="1179575"/>
        </p:xfrm>
        <a:graphic>
          <a:graphicData uri="http://schemas.openxmlformats.org/drawingml/2006/chart">
            <c:chart xmlns:c="http://schemas.openxmlformats.org/drawingml/2006/chart" r:id="rId3"/>
          </a:graphicData>
        </a:graphic>
      </p:graphicFrame>
      <p:sp>
        <p:nvSpPr>
          <p:cNvPr id="12" name="Rounded Rectangle 11"/>
          <p:cNvSpPr/>
          <p:nvPr/>
        </p:nvSpPr>
        <p:spPr>
          <a:xfrm>
            <a:off x="5413248" y="3429000"/>
            <a:ext cx="3364991" cy="365760"/>
          </a:xfrm>
          <a:prstGeom prst="roundRect">
            <a:avLst>
              <a:gd name="adj" fmla="val 15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buggy wins: 0</a:t>
            </a:r>
          </a:p>
        </p:txBody>
      </p:sp>
      <p:sp>
        <p:nvSpPr>
          <p:cNvPr id="13" name="Rounded Rectangle 12"/>
          <p:cNvSpPr/>
          <p:nvPr/>
        </p:nvSpPr>
        <p:spPr>
          <a:xfrm>
            <a:off x="5413248" y="3931920"/>
            <a:ext cx="3364991" cy="365760"/>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0" i="0">
                <a:solidFill>
                  <a:srgbClr val="1F2933"/>
                </a:solidFill>
                <a:latin typeface="Calibri"/>
              </a:rPr>
              <a:t>fixed wins: 489</a:t>
            </a:r>
          </a:p>
        </p:txBody>
      </p:sp>
      <p:sp>
        <p:nvSpPr>
          <p:cNvPr id="14" name="TextBox 13"/>
          <p:cNvSpPr txBox="1"/>
          <p:nvPr/>
        </p:nvSpPr>
        <p:spPr>
          <a:xfrm>
            <a:off x="5413248" y="4389120"/>
            <a:ext cx="3364991" cy="274320"/>
          </a:xfrm>
          <a:prstGeom prst="rect">
            <a:avLst/>
          </a:prstGeom>
          <a:noFill/>
        </p:spPr>
        <p:txBody>
          <a:bodyPr wrap="square" lIns="45720" rIns="45720" tIns="27432" bIns="27432" anchor="t">
            <a:spAutoFit/>
          </a:bodyPr>
          <a:lstStyle/>
          <a:p>
            <a:r>
              <a:rPr sz="1000" b="0" i="1">
                <a:solidFill>
                  <a:srgbClr val="5B6773"/>
                </a:solidFill>
                <a:latin typeface="Calibri"/>
              </a:rPr>
              <a:t>about half: a fair coin</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Compare like with like.</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43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The debugger</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Pause the program, look at its variables, step through the lines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Breakpoint</a:t>
            </a:r>
          </a:p>
        </p:txBody>
      </p:sp>
      <p:sp>
        <p:nvSpPr>
          <p:cNvPr id="6" name="meaning"/>
          <p:cNvSpPr txBox="1"/>
          <p:nvPr/>
        </p:nvSpPr>
        <p:spPr>
          <a:xfrm>
            <a:off x="2606040" y="1371600"/>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A line at which the debugger pauses the running program.</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Inspector pane</a:t>
            </a:r>
          </a:p>
        </p:txBody>
      </p:sp>
      <p:sp>
        <p:nvSpPr>
          <p:cNvPr id="8" name="meaning"/>
          <p:cNvSpPr txBox="1"/>
          <p:nvPr/>
        </p:nvSpPr>
        <p:spPr>
          <a:xfrm>
            <a:off x="2606040" y="2029968"/>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Shows the values of the variables while the program is paused.</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Step controls</a:t>
            </a:r>
          </a:p>
        </p:txBody>
      </p:sp>
      <p:sp>
        <p:nvSpPr>
          <p:cNvPr id="10" name="meaning"/>
          <p:cNvSpPr txBox="1"/>
          <p:nvPr/>
        </p:nvSpPr>
        <p:spPr>
          <a:xfrm>
            <a:off x="2606040" y="2688336"/>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Step In, Step Over and Step Out move through the code.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pdb</a:t>
            </a:r>
          </a:p>
        </p:txBody>
      </p:sp>
      <p:sp>
        <p:nvSpPr>
          <p:cNvPr id="12" name="meaning"/>
          <p:cNvSpPr txBox="1"/>
          <p:nvPr/>
        </p:nvSpPr>
        <p:spPr>
          <a:xfrm>
            <a:off x="2606040" y="3346704"/>
            <a:ext cx="2560320" cy="621792"/>
          </a:xfrm>
          <a:prstGeom prst="rect">
            <a:avLst/>
          </a:prstGeom>
          <a:noFill/>
        </p:spPr>
        <p:txBody>
          <a:bodyPr wrap="square" lIns="45720" rIns="45720" tIns="27432" bIns="27432" anchor="ctr">
            <a:spAutoFit/>
          </a:bodyPr>
          <a:lstStyle/>
          <a:p>
            <a:r>
              <a:rPr sz="1200" b="0" i="0">
                <a:solidFill>
                  <a:srgbClr val="1F2933"/>
                </a:solidFill>
                <a:latin typeface="Calibri"/>
              </a:rPr>
              <a:t>The standard debugger, started by the call breakpoint().</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the debugger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Everyday pictures: the debugger controls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controls of the debugger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Inside a debugger: pause at every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breakpoint() and the commands of pdb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debugger</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debugger is a pause button on the film of your program, with a magnifier for every variable.</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Using the Debugger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Watching the cooking through the oven window, and pausing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debugger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pause button with a magnifier.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breakpoint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red flag on the road: the car stops there.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Inspector pane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dashboard that shows speed and fuel while the car stands still.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Mu editor and Run button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classroom workbench with its green start button.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43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debugger controls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68096"/>
            <a:ext cx="8138160" cy="530352"/>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Stepping is walking through a house: into a room, past a room, or back out to the hall.</a:t>
            </a:r>
          </a:p>
        </p:txBody>
      </p:sp>
      <p:graphicFrame>
        <p:nvGraphicFramePr>
          <p:cNvPr id="6" name="table"/>
          <p:cNvGraphicFramePr>
            <a:graphicFrameLocks noGrp="1"/>
          </p:cNvGraphicFramePr>
          <p:nvPr/>
        </p:nvGraphicFramePr>
        <p:xfrm>
          <a:off x="365760" y="1463040"/>
          <a:ext cx="8412480" cy="2743200"/>
        </p:xfrm>
        <a:graphic>
          <a:graphicData uri="http://schemas.openxmlformats.org/drawingml/2006/table">
            <a:tbl>
              <a:tblPr firstRow="0" bandRow="0"/>
              <a:tblGrid>
                <a:gridCol w="2926080"/>
                <a:gridCol w="548640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Continue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Release the brake and drive to the next red flag.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Step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Walk through the door of the room the recipe names.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Step Over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Trust the helper in the kitchen: the dish arrives, you do not watch.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Step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Finish the work in this room and return to the hall.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Stop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emergency stop button of the machine.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controls of the debugger</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line x = add(2, 3), with a breakpoint on it</a:t>
            </a:r>
          </a:p>
        </p:txBody>
      </p:sp>
      <p:graphicFrame>
        <p:nvGraphicFramePr>
          <p:cNvPr id="5" name="table"/>
          <p:cNvGraphicFramePr>
            <a:graphicFrameLocks noGrp="1"/>
          </p:cNvGraphicFramePr>
          <p:nvPr/>
        </p:nvGraphicFramePr>
        <p:xfrm>
          <a:off x="365760" y="1051560"/>
          <a:ext cx="4572000" cy="3291840"/>
        </p:xfrm>
        <a:graphic>
          <a:graphicData uri="http://schemas.openxmlformats.org/drawingml/2006/table">
            <a:tbl>
              <a:tblPr firstRow="0" bandRow="0"/>
              <a:tblGrid>
                <a:gridCol w="914400"/>
                <a:gridCol w="2286000"/>
                <a:gridCol w="1371600"/>
              </a:tblGrid>
              <a:tr h="548640">
                <a:tc>
                  <a:txBody>
                    <a:bodyPr wrap="square"/>
                    <a:lstStyle/>
                    <a:p>
                      <a:r>
                        <a:rPr sz="1050" b="1" i="0">
                          <a:solidFill>
                            <a:srgbClr val="FFFFFF"/>
                          </a:solidFill>
                          <a:latin typeface="Calibri"/>
                        </a:rPr>
                        <a:t>Control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it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Pauses next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48640">
                <a:tc>
                  <a:txBody>
                    <a:bodyPr wrap="square"/>
                    <a:lstStyle/>
                    <a:p>
                      <a:r>
                        <a:rPr sz="1050" b="1" i="0">
                          <a:solidFill>
                            <a:srgbClr val="1F2933"/>
                          </a:solidFill>
                          <a:latin typeface="Calibri"/>
                        </a:rPr>
                        <a:t>Continue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Runs to the next breakpoint, or to the end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the next red dot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48640">
                <a:tc>
                  <a:txBody>
                    <a:bodyPr wrap="square"/>
                    <a:lstStyle/>
                    <a:p>
                      <a:r>
                        <a:rPr sz="1050" b="1" i="0">
                          <a:solidFill>
                            <a:srgbClr val="1F2933"/>
                          </a:solidFill>
                          <a:latin typeface="Calibri"/>
                        </a:rPr>
                        <a:t>Step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Runs the line; enters a function it calls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total = a +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48640">
                <a:tc>
                  <a:txBody>
                    <a:bodyPr wrap="square"/>
                    <a:lstStyle/>
                    <a:p>
                      <a:r>
                        <a:rPr sz="1050" b="1" i="0">
                          <a:solidFill>
                            <a:srgbClr val="1F2933"/>
                          </a:solidFill>
                          <a:latin typeface="Calibri"/>
                        </a:rPr>
                        <a:t>Step Over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Runs the line as a whole, calls included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return add(x,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48640">
                <a:tc>
                  <a:txBody>
                    <a:bodyPr wrap="square"/>
                    <a:lstStyle/>
                    <a:p>
                      <a:r>
                        <a:rPr sz="1050" b="1" i="0">
                          <a:solidFill>
                            <a:srgbClr val="1F2933"/>
                          </a:solidFill>
                          <a:latin typeface="Calibri"/>
                        </a:rPr>
                        <a:t>Step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Runs the rest of this function, then pauses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back in main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48640">
                <a:tc>
                  <a:txBody>
                    <a:bodyPr wrap="square"/>
                    <a:lstStyle/>
                    <a:p>
                      <a:r>
                        <a:rPr sz="1050" b="1" i="0">
                          <a:solidFill>
                            <a:srgbClr val="1F2933"/>
                          </a:solidFill>
                          <a:latin typeface="Calibri"/>
                        </a:rPr>
                        <a:t>Stop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Ends the program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nowhere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Rounded Rectangle 5"/>
          <p:cNvSpPr/>
          <p:nvPr/>
        </p:nvSpPr>
        <p:spPr>
          <a:xfrm>
            <a:off x="5001768" y="1170432"/>
            <a:ext cx="201168" cy="201168"/>
          </a:xfrm>
          <a:prstGeom prst="roundRect">
            <a:avLst>
              <a:gd name="adj" fmla="val 50000"/>
            </a:avLst>
          </a:prstGeom>
          <a:solidFill>
            <a:srgbClr val="B83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600" b="0" i="0">
                <a:solidFill>
                  <a:srgbClr val="1F2933"/>
                </a:solidFill>
                <a:latin typeface="Calibri"/>
              </a:rPr>
              <a:t/>
            </a:r>
          </a:p>
        </p:txBody>
      </p:sp>
      <p:sp>
        <p:nvSpPr>
          <p:cNvPr id="7" name="Rounded Rectangle 6"/>
          <p:cNvSpPr/>
          <p:nvPr/>
        </p:nvSpPr>
        <p:spPr>
          <a:xfrm>
            <a:off x="5257800" y="1097280"/>
            <a:ext cx="3108960" cy="347472"/>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ourier New"/>
              </a:rPr>
              <a:t>main:  x = add(2, 3)</a:t>
            </a:r>
          </a:p>
        </p:txBody>
      </p:sp>
      <p:sp>
        <p:nvSpPr>
          <p:cNvPr id="8" name="Rounded Rectangle 7"/>
          <p:cNvSpPr/>
          <p:nvPr/>
        </p:nvSpPr>
        <p:spPr>
          <a:xfrm>
            <a:off x="5257800" y="1965960"/>
            <a:ext cx="265176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main:  return add(x, 10)</a:t>
            </a:r>
          </a:p>
        </p:txBody>
      </p:sp>
      <p:sp>
        <p:nvSpPr>
          <p:cNvPr id="9" name="Rounded Rectangle 8"/>
          <p:cNvSpPr/>
          <p:nvPr/>
        </p:nvSpPr>
        <p:spPr>
          <a:xfrm>
            <a:off x="5669280" y="2834640"/>
            <a:ext cx="2240280" cy="347472"/>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add:  total = a + b</a:t>
            </a:r>
          </a:p>
        </p:txBody>
      </p:sp>
      <p:sp>
        <p:nvSpPr>
          <p:cNvPr id="10" name="Rounded Rectangle 9"/>
          <p:cNvSpPr/>
          <p:nvPr/>
        </p:nvSpPr>
        <p:spPr>
          <a:xfrm>
            <a:off x="5669280" y="3429000"/>
            <a:ext cx="2240280" cy="347472"/>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add:  return total</a:t>
            </a:r>
          </a:p>
        </p:txBody>
      </p:sp>
      <p:cxnSp>
        <p:nvCxnSpPr>
          <p:cNvPr id="11" name="arrow"/>
          <p:cNvCxnSpPr/>
          <p:nvPr/>
        </p:nvCxnSpPr>
        <p:spPr>
          <a:xfrm>
            <a:off x="5440680" y="1463040"/>
            <a:ext cx="0" cy="484632"/>
          </a:xfrm>
          <a:prstGeom prst="line">
            <a:avLst/>
          </a:prstGeom>
          <a:ln w="25400">
            <a:solidFill>
              <a:srgbClr val="2F8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label step over"/>
          <p:cNvSpPr txBox="1"/>
          <p:nvPr/>
        </p:nvSpPr>
        <p:spPr>
          <a:xfrm>
            <a:off x="5532120" y="1517904"/>
            <a:ext cx="914400" cy="384048"/>
          </a:xfrm>
          <a:prstGeom prst="rect">
            <a:avLst/>
          </a:prstGeom>
          <a:noFill/>
        </p:spPr>
        <p:txBody>
          <a:bodyPr wrap="square" lIns="45720" rIns="45720" tIns="27432" bIns="27432" anchor="ctr">
            <a:spAutoFit/>
          </a:bodyPr>
          <a:lstStyle/>
          <a:p>
            <a:r>
              <a:rPr sz="1000" b="1" i="0">
                <a:solidFill>
                  <a:srgbClr val="2F855A"/>
                </a:solidFill>
                <a:latin typeface="Calibri"/>
              </a:rPr>
              <a:t>Step Over</a:t>
            </a:r>
          </a:p>
        </p:txBody>
      </p:sp>
      <p:cxnSp>
        <p:nvCxnSpPr>
          <p:cNvPr id="13" name="arrow"/>
          <p:cNvCxnSpPr/>
          <p:nvPr/>
        </p:nvCxnSpPr>
        <p:spPr>
          <a:xfrm flipH="1">
            <a:off x="7973568" y="1463040"/>
            <a:ext cx="27432" cy="1554480"/>
          </a:xfrm>
          <a:prstGeom prst="line">
            <a:avLst/>
          </a:prstGeom>
          <a:ln w="2540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label step in"/>
          <p:cNvSpPr txBox="1"/>
          <p:nvPr/>
        </p:nvSpPr>
        <p:spPr>
          <a:xfrm>
            <a:off x="8092440" y="2103120"/>
            <a:ext cx="685800" cy="274320"/>
          </a:xfrm>
          <a:prstGeom prst="rect">
            <a:avLst/>
          </a:prstGeom>
          <a:noFill/>
        </p:spPr>
        <p:txBody>
          <a:bodyPr wrap="square" lIns="45720" rIns="45720" tIns="27432" bIns="27432" anchor="t">
            <a:spAutoFit/>
          </a:bodyPr>
          <a:lstStyle/>
          <a:p>
            <a:r>
              <a:rPr sz="1000" b="1" i="0">
                <a:solidFill>
                  <a:srgbClr val="0E7C86"/>
                </a:solidFill>
                <a:latin typeface="Calibri"/>
              </a:rPr>
              <a:t>Step In</a:t>
            </a:r>
          </a:p>
        </p:txBody>
      </p:sp>
      <p:cxnSp>
        <p:nvCxnSpPr>
          <p:cNvPr id="15" name="arrow"/>
          <p:cNvCxnSpPr/>
          <p:nvPr/>
        </p:nvCxnSpPr>
        <p:spPr>
          <a:xfrm flipH="1" flipV="1">
            <a:off x="5440680" y="2331720"/>
            <a:ext cx="274320" cy="1463040"/>
          </a:xfrm>
          <a:prstGeom prst="line">
            <a:avLst/>
          </a:prstGeom>
          <a:ln w="25400">
            <a:solidFill>
              <a:srgbClr val="B83A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label step out"/>
          <p:cNvSpPr txBox="1"/>
          <p:nvPr/>
        </p:nvSpPr>
        <p:spPr>
          <a:xfrm>
            <a:off x="4956048" y="2926080"/>
            <a:ext cx="731520" cy="274320"/>
          </a:xfrm>
          <a:prstGeom prst="rect">
            <a:avLst/>
          </a:prstGeom>
          <a:noFill/>
        </p:spPr>
        <p:txBody>
          <a:bodyPr wrap="square" lIns="45720" rIns="45720" tIns="27432" bIns="27432" anchor="t">
            <a:spAutoFit/>
          </a:bodyPr>
          <a:lstStyle/>
          <a:p>
            <a:r>
              <a:rPr sz="1000" b="1" i="0">
                <a:solidFill>
                  <a:srgbClr val="B83A1B"/>
                </a:solidFill>
                <a:latin typeface="Calibri"/>
              </a:rPr>
              <a:t>Step Out</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Step In enters, Step Over skips, Step Out leaves.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Inside a debugger: pause at every line</a:t>
            </a:r>
          </a:p>
        </p:txBody>
      </p:sp>
      <p:sp>
        <p:nvSpPr>
          <p:cNvPr id="4" name="code"/>
          <p:cNvSpPr/>
          <p:nvPr/>
        </p:nvSpPr>
        <p:spPr>
          <a:xfrm>
            <a:off x="365760" y="777240"/>
            <a:ext cx="4744211" cy="117665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sys</a:t>
            </a:r>
          </a:p>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add</a:t>
            </a:r>
            <a:r>
              <a:rPr sz="950" b="0" i="0">
                <a:solidFill>
                  <a:srgbClr val="E6EDF3"/>
                </a:solidFill>
                <a:latin typeface="Courier New"/>
              </a:rPr>
              <a:t>(</a:t>
            </a:r>
            <a:r>
              <a:rPr sz="950" b="0" i="0">
                <a:solidFill>
                  <a:srgbClr val="E6EDF3"/>
                </a:solidFill>
                <a:latin typeface="Courier New"/>
              </a:rPr>
              <a:t>a</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total</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E6EDF3"/>
                </a:solidFill>
                <a:latin typeface="Courier New"/>
              </a:rPr>
              <a:t>total</a:t>
            </a:r>
          </a:p>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main</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x</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add</a:t>
            </a:r>
            <a:r>
              <a:rPr sz="950" b="0" i="0">
                <a:solidFill>
                  <a:srgbClr val="E6EDF3"/>
                </a:solidFill>
                <a:latin typeface="Courier New"/>
              </a:rPr>
              <a:t>(</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3</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E6EDF3"/>
                </a:solidFill>
                <a:latin typeface="Courier New"/>
              </a:rPr>
              <a:t>add</a:t>
            </a:r>
            <a:r>
              <a:rPr sz="950" b="0" i="0">
                <a:solidFill>
                  <a:srgbClr val="E6EDF3"/>
                </a:solidFill>
                <a:latin typeface="Courier New"/>
              </a:rPr>
              <a:t>(</a:t>
            </a:r>
            <a:r>
              <a:rPr sz="950" b="0" i="0">
                <a:solidFill>
                  <a:srgbClr val="E6EDF3"/>
                </a:solidFill>
                <a:latin typeface="Courier New"/>
              </a:rPr>
              <a:t>x</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10</a:t>
            </a:r>
            <a:r>
              <a:rPr sz="950" b="0" i="0">
                <a:solidFill>
                  <a:srgbClr val="E6EDF3"/>
                </a:solidFill>
                <a:latin typeface="Courier New"/>
              </a:rPr>
              <a:t>)</a:t>
            </a:r>
          </a:p>
        </p:txBody>
      </p:sp>
      <p:sp>
        <p:nvSpPr>
          <p:cNvPr id="5" name="explanation"/>
          <p:cNvSpPr txBox="1"/>
          <p:nvPr/>
        </p:nvSpPr>
        <p:spPr>
          <a:xfrm>
            <a:off x="365760" y="1963038"/>
            <a:ext cx="4744211" cy="461391"/>
          </a:xfrm>
          <a:prstGeom prst="rect">
            <a:avLst/>
          </a:prstGeom>
          <a:noFill/>
        </p:spPr>
        <p:txBody>
          <a:bodyPr wrap="square" lIns="109728" rIns="109728" tIns="18288" bIns="18288" anchor="ctr">
            <a:spAutoFit/>
          </a:bodyPr>
          <a:lstStyle/>
          <a:p>
            <a:r>
              <a:rPr sz="1050" b="0" i="0">
                <a:solidFill>
                  <a:srgbClr val="1F2933"/>
                </a:solidFill>
                <a:latin typeface="Calibri"/>
              </a:rPr>
              <a:t>main calls add twice. The first answer, 5, becomes the first argument of the second call.</a:t>
            </a:r>
          </a:p>
        </p:txBody>
      </p:sp>
      <p:sp>
        <p:nvSpPr>
          <p:cNvPr id="6" name="code"/>
          <p:cNvSpPr/>
          <p:nvPr/>
        </p:nvSpPr>
        <p:spPr>
          <a:xfrm>
            <a:off x="365760" y="2470150"/>
            <a:ext cx="4744211" cy="132384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steps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watch</a:t>
            </a:r>
            <a:r>
              <a:rPr sz="950" b="0" i="0">
                <a:solidFill>
                  <a:srgbClr val="E6EDF3"/>
                </a:solidFill>
                <a:latin typeface="Courier New"/>
              </a:rPr>
              <a:t>(</a:t>
            </a:r>
            <a:r>
              <a:rPr sz="950" b="0" i="0">
                <a:solidFill>
                  <a:srgbClr val="E6EDF3"/>
                </a:solidFill>
                <a:latin typeface="Courier New"/>
              </a:rPr>
              <a:t>f</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event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arg</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if</a:t>
            </a:r>
            <a:r>
              <a:rPr sz="950" b="0" i="0">
                <a:solidFill>
                  <a:srgbClr val="E6EDF3"/>
                </a:solidFill>
                <a:latin typeface="Courier New"/>
              </a:rPr>
              <a:t> </a:t>
            </a:r>
            <a:r>
              <a:rPr sz="950" b="0" i="0">
                <a:solidFill>
                  <a:srgbClr val="E6EDF3"/>
                </a:solidFill>
                <a:latin typeface="Courier New"/>
              </a:rPr>
              <a:t>event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'line'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steps</a:t>
            </a:r>
            <a:r>
              <a:rPr sz="950" b="0" i="0">
                <a:solidFill>
                  <a:srgbClr val="E6EDF3"/>
                </a:solidFill>
                <a:latin typeface="Courier New"/>
              </a:rPr>
              <a:t>.</a:t>
            </a:r>
            <a:r>
              <a:rPr sz="950" b="0" i="0">
                <a:solidFill>
                  <a:srgbClr val="E6EDF3"/>
                </a:solidFill>
                <a:latin typeface="Courier New"/>
              </a:rPr>
              <a:t>append</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a:t>
            </a:r>
            <a:r>
              <a:rPr sz="950" b="0" i="0">
                <a:solidFill>
                  <a:srgbClr val="E6EDF3"/>
                </a:solidFill>
                <a:latin typeface="Courier New"/>
              </a:rPr>
              <a:t>.</a:t>
            </a:r>
            <a:r>
              <a:rPr sz="950" b="0" i="0">
                <a:solidFill>
                  <a:srgbClr val="E6EDF3"/>
                </a:solidFill>
                <a:latin typeface="Courier New"/>
              </a:rPr>
              <a:t>f_code</a:t>
            </a:r>
            <a:r>
              <a:rPr sz="950" b="0" i="0">
                <a:solidFill>
                  <a:srgbClr val="E6EDF3"/>
                </a:solidFill>
                <a:latin typeface="Courier New"/>
              </a:rPr>
              <a:t>.</a:t>
            </a:r>
            <a:r>
              <a:rPr sz="950" b="0" i="0">
                <a:solidFill>
                  <a:srgbClr val="E6EDF3"/>
                </a:solidFill>
                <a:latin typeface="Courier New"/>
              </a:rPr>
              <a:t>co_name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dict</a:t>
            </a:r>
            <a:r>
              <a:rPr sz="950" b="0" i="0">
                <a:solidFill>
                  <a:srgbClr val="E6EDF3"/>
                </a:solidFill>
                <a:latin typeface="Courier New"/>
              </a:rPr>
              <a:t>(</a:t>
            </a:r>
            <a:r>
              <a:rPr sz="950" b="0" i="0">
                <a:solidFill>
                  <a:srgbClr val="E6EDF3"/>
                </a:solidFill>
                <a:latin typeface="Courier New"/>
              </a:rPr>
              <a:t>f</a:t>
            </a:r>
            <a:r>
              <a:rPr sz="950" b="0" i="0">
                <a:solidFill>
                  <a:srgbClr val="E6EDF3"/>
                </a:solidFill>
                <a:latin typeface="Courier New"/>
              </a:rPr>
              <a:t>.</a:t>
            </a:r>
            <a:r>
              <a:rPr sz="950" b="0" i="0">
                <a:solidFill>
                  <a:srgbClr val="E6EDF3"/>
                </a:solidFill>
                <a:latin typeface="Courier New"/>
              </a:rPr>
              <a:t>f_locals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E6EDF3"/>
                </a:solidFill>
                <a:latin typeface="Courier New"/>
              </a:rPr>
              <a:t>watch</a:t>
            </a:r>
          </a:p>
          <a:p>
            <a:pPr algn="l"/>
            <a:r>
              <a:rPr sz="950" b="0" i="0">
                <a:solidFill>
                  <a:srgbClr val="8FA3B8"/>
                </a:solidFill>
                <a:latin typeface="Courier New"/>
              </a:rPr>
              <a:t>&gt;&gt;&gt; </a:t>
            </a:r>
            <a:r>
              <a:rPr sz="950" b="0" i="0">
                <a:solidFill>
                  <a:srgbClr val="E6EDF3"/>
                </a:solidFill>
                <a:latin typeface="Courier New"/>
              </a:rPr>
              <a:t>sys</a:t>
            </a:r>
            <a:r>
              <a:rPr sz="950" b="0" i="0">
                <a:solidFill>
                  <a:srgbClr val="E6EDF3"/>
                </a:solidFill>
                <a:latin typeface="Courier New"/>
              </a:rPr>
              <a:t>.</a:t>
            </a:r>
            <a:r>
              <a:rPr sz="950" b="0" i="0">
                <a:solidFill>
                  <a:srgbClr val="E6EDF3"/>
                </a:solidFill>
                <a:latin typeface="Courier New"/>
              </a:rPr>
              <a:t>settrace</a:t>
            </a:r>
            <a:r>
              <a:rPr sz="950" b="0" i="0">
                <a:solidFill>
                  <a:srgbClr val="E6EDF3"/>
                </a:solidFill>
                <a:latin typeface="Courier New"/>
              </a:rPr>
              <a:t>(</a:t>
            </a:r>
            <a:r>
              <a:rPr sz="950" b="0" i="0">
                <a:solidFill>
                  <a:srgbClr val="E6EDF3"/>
                </a:solidFill>
                <a:latin typeface="Courier New"/>
              </a:rPr>
              <a:t>watch</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main</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sys</a:t>
            </a:r>
            <a:r>
              <a:rPr sz="950" b="0" i="0">
                <a:solidFill>
                  <a:srgbClr val="E6EDF3"/>
                </a:solidFill>
                <a:latin typeface="Courier New"/>
              </a:rPr>
              <a:t>.</a:t>
            </a:r>
            <a:r>
              <a:rPr sz="950" b="0" i="0">
                <a:solidFill>
                  <a:srgbClr val="E6EDF3"/>
                </a:solidFill>
                <a:latin typeface="Courier New"/>
              </a:rPr>
              <a:t>settrace</a:t>
            </a:r>
            <a:r>
              <a:rPr sz="950" b="0" i="0">
                <a:solidFill>
                  <a:srgbClr val="E6EDF3"/>
                </a:solidFill>
                <a:latin typeface="Courier New"/>
              </a:rPr>
              <a:t>(</a:t>
            </a:r>
            <a:r>
              <a:rPr sz="950" b="0" i="0">
                <a:solidFill>
                  <a:srgbClr val="C9A0FF"/>
                </a:solidFill>
                <a:latin typeface="Courier New"/>
              </a:rPr>
              <a:t>None</a:t>
            </a:r>
            <a:r>
              <a:rPr sz="950" b="0" i="0">
                <a:solidFill>
                  <a:srgbClr val="E6EDF3"/>
                </a:solidFill>
                <a:latin typeface="Courier New"/>
              </a:rPr>
              <a:t>)</a:t>
            </a:r>
          </a:p>
        </p:txBody>
      </p:sp>
      <p:sp>
        <p:nvSpPr>
          <p:cNvPr id="7" name="code"/>
          <p:cNvSpPr/>
          <p:nvPr/>
        </p:nvSpPr>
        <p:spPr>
          <a:xfrm>
            <a:off x="365760" y="3821429"/>
            <a:ext cx="4744211" cy="29349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steps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sep</a:t>
            </a:r>
            <a:r>
              <a:rPr sz="950" b="0" i="0">
                <a:solidFill>
                  <a:srgbClr val="E6EDF3"/>
                </a:solidFill>
                <a:latin typeface="Courier New"/>
              </a:rPr>
              <a:t>=</a:t>
            </a:r>
            <a:r>
              <a:rPr sz="950" b="0" i="0">
                <a:solidFill>
                  <a:srgbClr val="9BE3A8"/>
                </a:solidFill>
                <a:latin typeface="Courier New"/>
              </a:rPr>
              <a:t>'\n'</a:t>
            </a:r>
            <a:r>
              <a:rPr sz="950" b="0" i="0">
                <a:solidFill>
                  <a:srgbClr val="E6EDF3"/>
                </a:solidFill>
                <a:latin typeface="Courier New"/>
              </a:rPr>
              <a:t>)</a:t>
            </a:r>
          </a:p>
        </p:txBody>
      </p:sp>
      <p:sp>
        <p:nvSpPr>
          <p:cNvPr id="8" name="explanation"/>
          <p:cNvSpPr txBox="1"/>
          <p:nvPr/>
        </p:nvSpPr>
        <p:spPr>
          <a:xfrm>
            <a:off x="365760" y="4124070"/>
            <a:ext cx="4744211" cy="461391"/>
          </a:xfrm>
          <a:prstGeom prst="rect">
            <a:avLst/>
          </a:prstGeom>
          <a:noFill/>
        </p:spPr>
        <p:txBody>
          <a:bodyPr wrap="square" lIns="109728" rIns="109728" tIns="18288" bIns="18288" anchor="ctr">
            <a:spAutoFit/>
          </a:bodyPr>
          <a:lstStyle/>
          <a:p>
            <a:r>
              <a:rPr sz="1050" b="0" i="0">
                <a:solidFill>
                  <a:srgbClr val="1F2933"/>
                </a:solidFill>
                <a:latin typeface="Calibri"/>
              </a:rPr>
              <a:t>settrace calls watch before every line. A real debugger pauses there and shows the variables, as this list does.</a:t>
            </a:r>
          </a:p>
        </p:txBody>
      </p:sp>
      <p:sp>
        <p:nvSpPr>
          <p:cNvPr id="9" name="result label"/>
          <p:cNvSpPr txBox="1"/>
          <p:nvPr/>
        </p:nvSpPr>
        <p:spPr>
          <a:xfrm>
            <a:off x="5338572" y="777240"/>
            <a:ext cx="3439668"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0" name="table"/>
          <p:cNvGraphicFramePr>
            <a:graphicFrameLocks noGrp="1"/>
          </p:cNvGraphicFramePr>
          <p:nvPr/>
        </p:nvGraphicFramePr>
        <p:xfrm>
          <a:off x="5338572" y="1078992"/>
          <a:ext cx="3439667" cy="2688336"/>
        </p:xfrm>
        <a:graphic>
          <a:graphicData uri="http://schemas.openxmlformats.org/drawingml/2006/table">
            <a:tbl>
              <a:tblPr firstRow="0" bandRow="0"/>
              <a:tblGrid>
                <a:gridCol w="477731"/>
                <a:gridCol w="668824"/>
                <a:gridCol w="2293112"/>
              </a:tblGrid>
              <a:tr h="384048">
                <a:tc>
                  <a:txBody>
                    <a:bodyPr wrap="square"/>
                    <a:lstStyle/>
                    <a:p>
                      <a:pPr algn="ctr"/>
                      <a:r>
                        <a:rPr sz="950" b="1" i="0">
                          <a:solidFill>
                            <a:srgbClr val="FFFFFF"/>
                          </a:solidFill>
                          <a:latin typeface="Calibri"/>
                        </a:rPr>
                        <a:t>Pause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Inspector pane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pPr algn="ctr"/>
                      <a:r>
                        <a:rPr sz="9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main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r>
                        <a:rPr sz="950" b="0" i="0">
                          <a:solidFill>
                            <a:srgbClr val="1F2933"/>
                          </a:solidFill>
                          <a:latin typeface="Courier New"/>
                        </a:rPr>
                        <a:t>(nothing yet)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pPr algn="ctr"/>
                      <a:r>
                        <a:rPr sz="9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add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a=2, b=3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4048">
                <a:tc>
                  <a:txBody>
                    <a:bodyPr wrap="square"/>
                    <a:lstStyle/>
                    <a:p>
                      <a:pPr algn="ctr"/>
                      <a:r>
                        <a:rPr sz="9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a=2, b=3, total=5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pPr algn="ctr"/>
                      <a:r>
                        <a:rPr sz="9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main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c>
                  <a:txBody>
                    <a:bodyPr wrap="square"/>
                    <a:lstStyle/>
                    <a:p>
                      <a:r>
                        <a:rPr sz="950" b="0" i="0">
                          <a:solidFill>
                            <a:srgbClr val="1F2933"/>
                          </a:solidFill>
                          <a:latin typeface="Courier New"/>
                        </a:rPr>
                        <a:t>x=5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4048">
                <a:tc>
                  <a:txBody>
                    <a:bodyPr wrap="square"/>
                    <a:lstStyle/>
                    <a:p>
                      <a:pPr algn="ctr"/>
                      <a:r>
                        <a:rPr sz="9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a=5, b=10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4048">
                <a:tc>
                  <a:txBody>
                    <a:bodyPr wrap="square"/>
                    <a:lstStyle/>
                    <a:p>
                      <a:pPr algn="ctr"/>
                      <a:r>
                        <a:rPr sz="9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add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a=5, b=10, total=15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debugger pauses at every line and shows the variables.</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43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breakpoint() and the commands of pdb</a:t>
            </a:r>
          </a:p>
        </p:txBody>
      </p:sp>
      <p:sp>
        <p:nvSpPr>
          <p:cNvPr id="4" name="code"/>
          <p:cNvSpPr/>
          <p:nvPr/>
        </p:nvSpPr>
        <p:spPr>
          <a:xfrm>
            <a:off x="365760" y="777240"/>
            <a:ext cx="5369052" cy="99847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pdb</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p>
          <a:p>
            <a:pPr algn="l"/>
            <a:r>
              <a:rPr sz="1100" b="0" i="0">
                <a:solidFill>
                  <a:srgbClr val="8FA3B8"/>
                </a:solidFill>
                <a:latin typeface="Courier New"/>
              </a:rPr>
              <a:t>&gt;&gt;&gt;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breakpointhook</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lambda</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'the hook was called'</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breakpoint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breakpointhook</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__breakpointhook__</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sys</a:t>
            </a:r>
            <a:r>
              <a:rPr sz="1100" b="0" i="0">
                <a:solidFill>
                  <a:srgbClr val="E6EDF3"/>
                </a:solidFill>
                <a:latin typeface="Courier New"/>
              </a:rPr>
              <a:t>.</a:t>
            </a:r>
            <a:r>
              <a:rPr sz="1100" b="0" i="0">
                <a:solidFill>
                  <a:srgbClr val="E6EDF3"/>
                </a:solidFill>
                <a:latin typeface="Courier New"/>
              </a:rPr>
              <a:t>breakpointhook</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5" name="explanation"/>
          <p:cNvSpPr txBox="1"/>
          <p:nvPr/>
        </p:nvSpPr>
        <p:spPr>
          <a:xfrm>
            <a:off x="5716524" y="777240"/>
            <a:ext cx="3061715" cy="998474"/>
          </a:xfrm>
          <a:prstGeom prst="rect">
            <a:avLst/>
          </a:prstGeom>
          <a:noFill/>
        </p:spPr>
        <p:txBody>
          <a:bodyPr wrap="square" lIns="128016" rIns="128016" tIns="18288" bIns="18288" anchor="ctr">
            <a:spAutoFit/>
          </a:bodyPr>
          <a:lstStyle/>
          <a:p>
            <a:r>
              <a:rPr sz="1150" b="0" i="0">
                <a:solidFill>
                  <a:srgbClr val="1F2933"/>
                </a:solidFill>
                <a:latin typeface="Calibri"/>
              </a:rPr>
              <a:t>breakpoint() simply calls sys.breakpointhook, which normally starts pdb. Here the hook is swapped for a print, so the program goes on.</a:t>
            </a:r>
          </a:p>
        </p:txBody>
      </p:sp>
      <p:sp>
        <p:nvSpPr>
          <p:cNvPr id="6" name="code"/>
          <p:cNvSpPr/>
          <p:nvPr/>
        </p:nvSpPr>
        <p:spPr>
          <a:xfrm>
            <a:off x="365760" y="1830577"/>
            <a:ext cx="5369052" cy="48717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names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'step next return continue break where'</a:t>
            </a:r>
            <a:r>
              <a:rPr sz="1100" b="0" i="0">
                <a:solidFill>
                  <a:srgbClr val="E6EDF3"/>
                </a:solidFill>
                <a:latin typeface="Courier New"/>
              </a:rPr>
              <a:t>.</a:t>
            </a:r>
            <a:r>
              <a:rPr sz="1100" b="0" i="0">
                <a:solidFill>
                  <a:srgbClr val="E6EDF3"/>
                </a:solidFill>
                <a:latin typeface="Courier New"/>
              </a:rPr>
              <a:t>split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hasattr</a:t>
            </a:r>
            <a:r>
              <a:rPr sz="1100" b="0" i="0">
                <a:solidFill>
                  <a:srgbClr val="E6EDF3"/>
                </a:solidFill>
                <a:latin typeface="Courier New"/>
              </a:rPr>
              <a:t>(</a:t>
            </a:r>
            <a:r>
              <a:rPr sz="1100" b="0" i="0">
                <a:solidFill>
                  <a:srgbClr val="E6EDF3"/>
                </a:solidFill>
                <a:latin typeface="Courier New"/>
              </a:rPr>
              <a:t>pdb</a:t>
            </a:r>
            <a:r>
              <a:rPr sz="1100" b="0" i="0">
                <a:solidFill>
                  <a:srgbClr val="E6EDF3"/>
                </a:solidFill>
                <a:latin typeface="Courier New"/>
              </a:rPr>
              <a:t>.</a:t>
            </a:r>
            <a:r>
              <a:rPr sz="1100" b="0" i="0">
                <a:solidFill>
                  <a:srgbClr val="E6EDF3"/>
                </a:solidFill>
                <a:latin typeface="Courier New"/>
              </a:rPr>
              <a:t>Pdb</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'do_'</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716524" y="1830577"/>
            <a:ext cx="3061715" cy="858266"/>
          </a:xfrm>
          <a:prstGeom prst="rect">
            <a:avLst/>
          </a:prstGeom>
          <a:noFill/>
        </p:spPr>
        <p:txBody>
          <a:bodyPr wrap="square" lIns="128016" rIns="128016" tIns="18288" bIns="18288" anchor="ctr">
            <a:spAutoFit/>
          </a:bodyPr>
          <a:lstStyle/>
          <a:p>
            <a:r>
              <a:rPr sz="1150" b="0" i="0">
                <a:solidFill>
                  <a:srgbClr val="1F2933"/>
                </a:solidFill>
                <a:latin typeface="Calibri"/>
              </a:rPr>
              <a:t>pdb offers the editor's controls as commands: step, next, return, continue, break and where. Setting PYTHONBREAKPOINT to 0 also turns the call off.</a:t>
            </a:r>
          </a:p>
        </p:txBody>
      </p:sp>
      <p:sp>
        <p:nvSpPr>
          <p:cNvPr id="8" name="result label"/>
          <p:cNvSpPr txBox="1"/>
          <p:nvPr/>
        </p:nvSpPr>
        <p:spPr>
          <a:xfrm>
            <a:off x="365760" y="2734564"/>
            <a:ext cx="5486400" cy="201168"/>
          </a:xfrm>
          <a:prstGeom prst="rect">
            <a:avLst/>
          </a:prstGeom>
          <a:noFill/>
        </p:spPr>
        <p:txBody>
          <a:bodyPr wrap="square" lIns="45720" rIns="45720" tIns="27432" bIns="27432" anchor="t">
            <a:spAutoFit/>
          </a:bodyPr>
          <a:lstStyle/>
          <a:p>
            <a:r>
              <a:rPr sz="105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963164"/>
          <a:ext cx="4626863" cy="1700272"/>
        </p:xfrm>
        <a:graphic>
          <a:graphicData uri="http://schemas.openxmlformats.org/drawingml/2006/table">
            <a:tbl>
              <a:tblPr firstRow="0" bandRow="0"/>
              <a:tblGrid>
                <a:gridCol w="1920585"/>
                <a:gridCol w="1396789"/>
                <a:gridCol w="1309489"/>
              </a:tblGrid>
              <a:tr h="242896">
                <a:tc>
                  <a:txBody>
                    <a:bodyPr wrap="square"/>
                    <a:lstStyle/>
                    <a:p>
                      <a:r>
                        <a:rPr sz="1000" b="1" i="0">
                          <a:solidFill>
                            <a:srgbClr val="FFFFFF"/>
                          </a:solidFill>
                          <a:latin typeface="Calibri"/>
                        </a:rPr>
                        <a:t>Control of the editor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pdb command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In this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2896">
                <a:tc>
                  <a:txBody>
                    <a:bodyPr wrap="square"/>
                    <a:lstStyle/>
                    <a:p>
                      <a:r>
                        <a:rPr sz="1000" b="0" i="0">
                          <a:solidFill>
                            <a:srgbClr val="1F2933"/>
                          </a:solidFill>
                          <a:latin typeface="Calibri"/>
                        </a:rPr>
                        <a:t>Continue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continue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42896">
                <a:tc>
                  <a:txBody>
                    <a:bodyPr wrap="square"/>
                    <a:lstStyle/>
                    <a:p>
                      <a:r>
                        <a:rPr sz="1000" b="0" i="0">
                          <a:solidFill>
                            <a:srgbClr val="1F2933"/>
                          </a:solidFill>
                          <a:latin typeface="Calibri"/>
                        </a:rPr>
                        <a:t>Step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42896">
                <a:tc>
                  <a:txBody>
                    <a:bodyPr wrap="square"/>
                    <a:lstStyle/>
                    <a:p>
                      <a:r>
                        <a:rPr sz="1000" b="0" i="0">
                          <a:solidFill>
                            <a:srgbClr val="1F2933"/>
                          </a:solidFill>
                          <a:latin typeface="Calibri"/>
                        </a:rPr>
                        <a:t>Step Over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42896">
                <a:tc>
                  <a:txBody>
                    <a:bodyPr wrap="square"/>
                    <a:lstStyle/>
                    <a:p>
                      <a:r>
                        <a:rPr sz="1000" b="0" i="0">
                          <a:solidFill>
                            <a:srgbClr val="1F2933"/>
                          </a:solidFill>
                          <a:latin typeface="Calibri"/>
                        </a:rPr>
                        <a:t>Step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return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42896">
                <a:tc>
                  <a:txBody>
                    <a:bodyPr wrap="square"/>
                    <a:lstStyle/>
                    <a:p>
                      <a:r>
                        <a:rPr sz="1000" b="0" i="0">
                          <a:solidFill>
                            <a:srgbClr val="1F2933"/>
                          </a:solidFill>
                          <a:latin typeface="Calibri"/>
                        </a:rPr>
                        <a:t>breakpoint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break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42896">
                <a:tc>
                  <a:txBody>
                    <a:bodyPr wrap="square"/>
                    <a:lstStyle/>
                    <a:p>
                      <a:r>
                        <a:rPr sz="1000" b="0" i="0">
                          <a:solidFill>
                            <a:srgbClr val="1F2933"/>
                          </a:solidFill>
                          <a:latin typeface="Calibri"/>
                        </a:rPr>
                        <a:t>call stack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where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0" name="Rounded Rectangle 9"/>
          <p:cNvSpPr/>
          <p:nvPr/>
        </p:nvSpPr>
        <p:spPr>
          <a:xfrm>
            <a:off x="5413248" y="2963164"/>
            <a:ext cx="3200400" cy="310896"/>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the hook was called</a:t>
            </a:r>
          </a:p>
        </p:txBody>
      </p:sp>
      <p:sp>
        <p:nvSpPr>
          <p:cNvPr id="11" name="Rounded Rectangle 10"/>
          <p:cNvSpPr/>
          <p:nvPr/>
        </p:nvSpPr>
        <p:spPr>
          <a:xfrm>
            <a:off x="5413248" y="3420364"/>
            <a:ext cx="3200400" cy="310896"/>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hook name: 'breakpointhook'</a:t>
            </a:r>
          </a:p>
        </p:txBody>
      </p:sp>
      <p:sp>
        <p:nvSpPr>
          <p:cNvPr id="12" name="TextBox 11"/>
          <p:cNvSpPr txBox="1"/>
          <p:nvPr/>
        </p:nvSpPr>
        <p:spPr>
          <a:xfrm>
            <a:off x="5413248" y="3831843"/>
            <a:ext cx="3200400" cy="548640"/>
          </a:xfrm>
          <a:prstGeom prst="rect">
            <a:avLst/>
          </a:prstGeom>
          <a:noFill/>
        </p:spPr>
        <p:txBody>
          <a:bodyPr wrap="square" lIns="45720" rIns="45720" tIns="27432" bIns="27432" anchor="t">
            <a:spAutoFit/>
          </a:bodyPr>
          <a:lstStyle/>
          <a:p>
            <a:r>
              <a:rPr sz="1000" b="0" i="1">
                <a:solidFill>
                  <a:srgbClr val="5B6773"/>
                </a:solidFill>
                <a:latin typeface="Calibri"/>
              </a:rPr>
              <a:t>Stop has no pdb command of its own: quit leaves the debugger.</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breakpoint() calls sys.breakpointhook.</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43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Choose the instrument by the question</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Four instruments; each answers a different question</a:t>
            </a:r>
          </a:p>
        </p:txBody>
      </p:sp>
      <p:graphicFrame>
        <p:nvGraphicFramePr>
          <p:cNvPr id="5" name="table"/>
          <p:cNvGraphicFramePr>
            <a:graphicFrameLocks noGrp="1"/>
          </p:cNvGraphicFramePr>
          <p:nvPr/>
        </p:nvGraphicFramePr>
        <p:xfrm>
          <a:off x="365760" y="1097280"/>
          <a:ext cx="8412477" cy="3200400"/>
        </p:xfrm>
        <a:graphic>
          <a:graphicData uri="http://schemas.openxmlformats.org/drawingml/2006/table">
            <a:tbl>
              <a:tblPr firstRow="0" bandRow="0"/>
              <a:tblGrid>
                <a:gridCol w="3402800"/>
                <a:gridCol w="1795922"/>
                <a:gridCol w="1795922"/>
                <a:gridCol w="1417833"/>
              </a:tblGrid>
              <a:tr h="640080">
                <a:tc>
                  <a:txBody>
                    <a:bodyPr wrap="square"/>
                    <a:lstStyle/>
                    <a:p>
                      <a:r>
                        <a:rPr sz="1200" b="1" i="0">
                          <a:solidFill>
                            <a:srgbClr val="FFFFFF"/>
                          </a:solidFill>
                          <a:latin typeface="Calibri"/>
                        </a:rPr>
                        <a:t>The question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The instrument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200" b="1" i="0">
                          <a:solidFill>
                            <a:srgbClr val="FFFFFF"/>
                          </a:solidFill>
                          <a:latin typeface="Calibri"/>
                        </a:rPr>
                        <a:t>Seen on 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640080">
                <a:tc>
                  <a:txBody>
                    <a:bodyPr wrap="square"/>
                    <a:lstStyle/>
                    <a:p>
                      <a:r>
                        <a:rPr sz="1200" b="0" i="0">
                          <a:solidFill>
                            <a:srgbClr val="1F2933"/>
                          </a:solidFill>
                          <a:latin typeface="Calibri"/>
                        </a:rPr>
                        <a:t>Can the caller do something about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1" i="0">
                          <a:solidFill>
                            <a:srgbClr val="1F2933"/>
                          </a:solidFill>
                          <a:latin typeface="Calibri"/>
                        </a:rPr>
                        <a:t>raise and except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fire alarm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7 - 10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640080">
                <a:tc>
                  <a:txBody>
                    <a:bodyPr wrap="square"/>
                    <a:lstStyle/>
                    <a:p>
                      <a:r>
                        <a:rPr sz="1200" b="0" i="0">
                          <a:solidFill>
                            <a:srgbClr val="1F2933"/>
                          </a:solidFill>
                          <a:latin typeface="Calibri"/>
                        </a:rPr>
                        <a:t>Must this always be true, if my code is 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1" i="0">
                          <a:solidFill>
                            <a:srgbClr val="1F2933"/>
                          </a:solidFill>
                          <a:latin typeface="Calibri"/>
                        </a:rPr>
                        <a:t>assert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tripwire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13 - 15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640080">
                <a:tc>
                  <a:txBody>
                    <a:bodyPr wrap="square"/>
                    <a:lstStyle/>
                    <a:p>
                      <a:r>
                        <a:rPr sz="1200" b="0" i="0">
                          <a:solidFill>
                            <a:srgbClr val="1F2933"/>
                          </a:solidFill>
                          <a:latin typeface="Calibri"/>
                        </a:rPr>
                        <a:t>What happened while the program ran?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1" i="0">
                          <a:solidFill>
                            <a:srgbClr val="1F2933"/>
                          </a:solidFill>
                          <a:latin typeface="Calibri"/>
                        </a:rPr>
                        <a:t>logging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 logbook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20 - 25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640080">
                <a:tc>
                  <a:txBody>
                    <a:bodyPr wrap="square"/>
                    <a:lstStyle/>
                    <a:p>
                      <a:r>
                        <a:rPr sz="1200" b="0" i="0">
                          <a:solidFill>
                            <a:srgbClr val="1F2933"/>
                          </a:solidFill>
                          <a:latin typeface="Calibri"/>
                        </a:rPr>
                        <a:t>What is the state at this one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1" i="0">
                          <a:solidFill>
                            <a:srgbClr val="1F2933"/>
                          </a:solidFill>
                          <a:latin typeface="Calibri"/>
                        </a:rPr>
                        <a:t>the debugger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 pause button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36 - 38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Raise for the user, assert for the programmer, log for the record, step for the state.</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43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adds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Features newer than the book, from the chapter research</a:t>
            </a:r>
          </a:p>
        </p:txBody>
      </p:sp>
      <p:graphicFrame>
        <p:nvGraphicFramePr>
          <p:cNvPr id="5" name="table"/>
          <p:cNvGraphicFramePr>
            <a:graphicFrameLocks noGrp="1"/>
          </p:cNvGraphicFramePr>
          <p:nvPr/>
        </p:nvGraphicFramePr>
        <p:xfrm>
          <a:off x="457200" y="1143000"/>
          <a:ext cx="8229599" cy="3520440"/>
        </p:xfrm>
        <a:graphic>
          <a:graphicData uri="http://schemas.openxmlformats.org/drawingml/2006/table">
            <a:tbl>
              <a:tblPr firstRow="0" bandRow="0"/>
              <a:tblGrid>
                <a:gridCol w="3474719"/>
                <a:gridCol w="731520"/>
                <a:gridCol w="4023360"/>
              </a:tblGrid>
              <a:tr h="502920">
                <a:tc>
                  <a:txBody>
                    <a:bodyPr wrap="square"/>
                    <a:lstStyle/>
                    <a:p>
                      <a:r>
                        <a:rPr sz="1300" b="1" i="0">
                          <a:solidFill>
                            <a:srgbClr val="FFFFFF"/>
                          </a:solidFill>
                          <a:latin typeface="Calibri"/>
                        </a:rPr>
                        <a:t>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300" b="1" i="0">
                          <a:solidFill>
                            <a:srgbClr val="FFFFFF"/>
                          </a:solidFill>
                          <a:latin typeface="Calibri"/>
                        </a:rPr>
                        <a:t>Since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What it gives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00" b="1" i="0">
                          <a:solidFill>
                            <a:srgbClr val="1F2933"/>
                          </a:solidFill>
                          <a:latin typeface="Calibri"/>
                        </a:rPr>
                        <a:t>add_note and __notes__ on every 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Context travels with the error and is printed after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Tracebacks mark the failing part of a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3.11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chained lookup shows which subscript failed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basicConfig(force=True)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Replaces a set-up that already exists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breakpoint() and PYTHONBREAKPOINT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One call starts the debugger; 0 switches it off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python -m pdb -p PID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300" b="0" i="0">
                          <a:solidFill>
                            <a:srgbClr val="1F2933"/>
                          </a:solidFill>
                          <a:latin typeface="Calibri"/>
                        </a:rPr>
                        <a:t>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Attach the debugger to a running process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assert is removed under -O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300" b="0" i="0">
                          <a:solidFill>
                            <a:srgbClr val="1F2933"/>
                          </a:solidFill>
                          <a:latin typeface="Calibri"/>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check the program needs is never an assert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43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raise stops a function and tells the caller why; the traceback shows the way.</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assert states what must be true; python -O removes it.</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Logging has five levels, a format and a destination, and it can be switched off.</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The log is evidence: it finds a bug and proves the fix.</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debugger pauses the program and shows its variables.</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per part of the chapter</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Four instruments, four questions.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43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it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short drills before the performance.</a:t>
            </a:r>
          </a:p>
        </p:txBody>
      </p:sp>
      <p:sp>
        <p:nvSpPr>
          <p:cNvPr id="7" name="card"/>
          <p:cNvSpPr/>
          <p:nvPr/>
        </p:nvSpPr>
        <p:spPr>
          <a:xfrm>
            <a:off x="365760" y="16459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739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824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does factorial(3) print 0 when the loop is range(n + 1)? Change one character to fix it.</a:t>
            </a:r>
          </a:p>
        </p:txBody>
      </p:sp>
      <p:sp>
        <p:nvSpPr>
          <p:cNvPr id="10" name="card"/>
          <p:cNvSpPr/>
          <p:nvPr/>
        </p:nvSpPr>
        <p:spPr>
          <a:xfrm>
            <a:off x="365760" y="23774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054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4140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What is the difference between raise and assert? Which one checks a value typed by a user?</a:t>
            </a:r>
          </a:p>
        </p:txBody>
      </p:sp>
      <p:sp>
        <p:nvSpPr>
          <p:cNvPr id="13" name="card"/>
          <p:cNvSpPr/>
          <p:nvPr/>
        </p:nvSpPr>
        <p:spPr>
          <a:xfrm>
            <a:off x="365760" y="31089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2369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1455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Your DEBUG lines show on the screen but the log file stays empty. Which basicConfig arguments decide this?</a:t>
            </a:r>
          </a:p>
        </p:txBody>
      </p:sp>
      <p:sp>
        <p:nvSpPr>
          <p:cNvPr id="16" name="card"/>
          <p:cNvSpPr/>
          <p:nvPr/>
        </p:nvSpPr>
        <p:spPr>
          <a:xfrm>
            <a:off x="365760" y="384048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6849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7705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How do you silence all logging at once without deleting a single logging call?</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one line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43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history,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5</a:t>
            </a:r>
          </a:p>
          <a:p>
            <a:r>
              <a:rPr sz="900" b="0" i="0">
                <a:solidFill>
                  <a:srgbClr val="0E7C86"/>
                </a:solidFill>
                <a:latin typeface="Calibri"/>
                <a:hlinkClick r:id="rId3"/>
              </a:rPr>
              <a:t>https://automatetheboringstuff.com/3e/chapter5.html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The Python tutorial: errors and exceptions</a:t>
            </a:r>
          </a:p>
          <a:p>
            <a:r>
              <a:rPr sz="900" b="0" i="0">
                <a:solidFill>
                  <a:srgbClr val="0E7C86"/>
                </a:solidFill>
                <a:latin typeface="Calibri"/>
                <a:hlinkClick r:id="rId4"/>
              </a:rPr>
              <a:t>https://docs.python.org/3/tutorial/errors.html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Language reference: the raise and assert statements</a:t>
            </a:r>
          </a:p>
          <a:p>
            <a:r>
              <a:rPr sz="900" b="0" i="0">
                <a:solidFill>
                  <a:srgbClr val="0E7C86"/>
                </a:solidFill>
                <a:latin typeface="Calibri"/>
                <a:hlinkClick r:id="rId5"/>
              </a:rPr>
              <a:t>https://docs.python.org/3/reference/simple_stmts.html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Built-in exceptions</a:t>
            </a:r>
          </a:p>
          <a:p>
            <a:r>
              <a:rPr sz="900" b="0" i="0">
                <a:solidFill>
                  <a:srgbClr val="0E7C86"/>
                </a:solidFill>
                <a:latin typeface="Calibri"/>
                <a:hlinkClick r:id="rId6"/>
              </a:rPr>
              <a:t>https://docs.python.org/3/library/exceptions.html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traceback: print or retrieve a stack traceback</a:t>
            </a:r>
          </a:p>
          <a:p>
            <a:r>
              <a:rPr sz="900" b="0" i="0">
                <a:solidFill>
                  <a:srgbClr val="0E7C86"/>
                </a:solidFill>
                <a:latin typeface="Calibri"/>
                <a:hlinkClick r:id="rId7"/>
              </a:rPr>
              <a:t>https://docs.python.org/3/library/traceback.html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Logging HOWTO</a:t>
            </a:r>
          </a:p>
          <a:p>
            <a:r>
              <a:rPr sz="900" b="0" i="0">
                <a:solidFill>
                  <a:srgbClr val="0E7C86"/>
                </a:solidFill>
                <a:latin typeface="Calibri"/>
                <a:hlinkClick r:id="rId8"/>
              </a:rPr>
              <a:t>https://docs.python.org/3/howto/logging.html</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logging: the module reference</a:t>
            </a:r>
          </a:p>
          <a:p>
            <a:r>
              <a:rPr sz="900" b="0" i="0">
                <a:solidFill>
                  <a:srgbClr val="0E7C86"/>
                </a:solidFill>
                <a:latin typeface="Calibri"/>
                <a:hlinkClick r:id="rId9"/>
              </a:rPr>
              <a:t>https://docs.python.org/3/library/logging.html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Logging Cookbook</a:t>
            </a:r>
          </a:p>
          <a:p>
            <a:r>
              <a:rPr sz="900" b="0" i="0">
                <a:solidFill>
                  <a:srgbClr val="0E7C86"/>
                </a:solidFill>
                <a:latin typeface="Calibri"/>
                <a:hlinkClick r:id="rId10"/>
              </a:rPr>
              <a:t>https://docs.python.org/3/howto/logging-cookbook.html</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pdb: the Python debugger</a:t>
            </a:r>
          </a:p>
          <a:p>
            <a:r>
              <a:rPr sz="900" b="0" i="0">
                <a:solidFill>
                  <a:srgbClr val="0E7C86"/>
                </a:solidFill>
                <a:latin typeface="Calibri"/>
                <a:hlinkClick r:id="rId11"/>
              </a:rPr>
              <a:t>https://docs.python.org/3/library/pdb.html</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282: A Logging System (2002)</a:t>
            </a:r>
          </a:p>
          <a:p>
            <a:r>
              <a:rPr sz="900" b="0" i="0">
                <a:solidFill>
                  <a:srgbClr val="0E7C86"/>
                </a:solidFill>
                <a:latin typeface="Calibri"/>
                <a:hlinkClick r:id="rId12"/>
              </a:rPr>
              <a:t>https://peps.python.org/pep-0282/</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678: notes on exceptions</a:t>
            </a:r>
          </a:p>
          <a:p>
            <a:r>
              <a:rPr sz="900" b="0" i="0">
                <a:solidFill>
                  <a:srgbClr val="0E7C86"/>
                </a:solidFill>
                <a:latin typeface="Calibri"/>
                <a:hlinkClick r:id="rId13"/>
              </a:rPr>
              <a:t>https://peps.python.org/pep-0678/</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PEP 768: a safe external debugger interface (Python 3.14)</a:t>
            </a:r>
          </a:p>
          <a:p>
            <a:r>
              <a:rPr sz="900" b="0" i="0">
                <a:solidFill>
                  <a:srgbClr val="0E7C86"/>
                </a:solidFill>
                <a:latin typeface="Calibri"/>
                <a:hlinkClick r:id="rId14"/>
              </a:rPr>
              <a:t>https://peps.python.org/pep-0768/</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The 1947 moth and the word 'bug' (Wikipedia)</a:t>
            </a:r>
          </a:p>
          <a:p>
            <a:r>
              <a:rPr sz="900" b="0" i="0">
                <a:solidFill>
                  <a:srgbClr val="0E7C86"/>
                </a:solidFill>
                <a:latin typeface="Calibri"/>
                <a:hlinkClick r:id="rId15"/>
              </a:rPr>
              <a:t>https://en.wikipedia.org/wiki/Software_bug</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The Mu editor, home of the book's debugger</a:t>
            </a:r>
          </a:p>
          <a:p>
            <a:r>
              <a:rPr sz="900" b="0" i="0">
                <a:solidFill>
                  <a:srgbClr val="0E7C86"/>
                </a:solidFill>
                <a:latin typeface="Calibri"/>
                <a:hlinkClick r:id="rId16"/>
              </a:rPr>
              <a:t>https://codewith.mu/</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Debugging (lecture deck 3.0.0)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