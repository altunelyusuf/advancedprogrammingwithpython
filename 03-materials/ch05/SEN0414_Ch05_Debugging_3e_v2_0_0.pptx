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Chapters 1-4 wrote programs; chapter 5 is for the day they misbehave: reading what Python tells you, planting tripwires, keeping logs, and pausing the program mid-thought.
FULL TEXT: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from a museum moth to a paused program - every transcript verified off this very file.
ASK: Which part do you expect to be hardest - mark it now, check at the summary.
FULL TEXT: course page, chapter 5 -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FULL TEXT: course page, chapter 5 - BugModel.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FULL TEXT: course page, chapter 5 - BugModel,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signalling is the way a program says that something has gone wrong. In Python the saying is done with exceptions: an exception is an object that carries a description of the problem and travels up through the running code until something handles it.
FULL TEXT: course page, chapter 5 - ErrorSignalling.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(1947-09-09): On 9 September 1947 the Harvard Mark II stopped, and the operators traced the fault to a moth caught in relay 70 of panel F. They taped the insect into the logbook with the note 'First actual case of bug being found' - the joke being that engineers already said 'bug' for faults. The page, moth and all, survives at the Smithsonian, and the photograph on this slide is the Navy's own. Debugging has meant removing the moth ever since.
SOURCE: The Mark II logbook page of 1947-09-09, 'First actual case of bug being found', held by the Smithsonian's National Museum of American History; photograph courtesy of the Naval Surface Warfare Center, Dahlgren (public domain). Note: a common file title misdates it 1945; the log page itself is dated September 9, 1947.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signalling is the way a program says that something has gone wrong. In Python the saying is done with exceptions: an exception is an object that carries a description of the problem and travels up through the running code until something handles it.
ASK: Which line of the report names YOUR file, and which names the library's?
FULL TEXT: course page, chapter 5 - ErrorSignalling.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Error signalling is the way a program says that something has gone wrong. In Python the saying is done with exceptions: an exception is an object that carries a description of the problem and travels up through the running code until something handles it.
ASK: Where would the note have saved you an hour last week?
FULL TEXT: course page, chapter 5 - ErrorSignalling,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assertion is a statement that a certain condition must be true at a certain point of a program, together with a check that stops the program at once if it is not. The chapter calls an assertion a sanity check, a test that makes sure the code is not doing something obviously wrong, and it performs such checks with the assert statement, which raises an AssertionError exception when the check fails (Sweigart, 2025).
FULL TEXT: course page, chapter 5 -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assertion is a statement that a certain condition must be true at a certain point of a program, together with a check that stops the program at once if it is not. The chapter calls an assertion a sanity check, a test that makes sure the code is not doing something obviously wrong, and it performs such checks with the assert statement, which raises an AssertionError exception when the check fails (Sweigart, 2025).
ASK: Which chapter-4 validation would be WRONG as an assert, and why?
FULL TEXT: course page, chapter 5 - Assertion.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Logging is the practice of making a program write down what it does while it runs. The Python logging HOWTO defines it as a means of tracking events that happen when some software runs: the developer adds logging calls to the code to indicate that certain events have occurred, and each event is described by a message and has an importance, which is called its level or severity (Python Software Foundation, 2026).
FULL TEXT: course page, chapter 5 -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(1979): In a 1979 Bell Labs paper Kernighan wrote the sentence every debugger vendor has to argue with: 'The most effective debugging tool is still careful thought, coupled with judiciously placed print statements.' This chapter agrees, then upgrades the print statement into logging. Same idea - but with levels, timestamps, files, and an off switch that does not require deleting your evidence.
SOURCE: Brian W. Kernighan, 'Unix for Beginners' (Bell Laboratories, 1979), the 'careful thought... judiciously placed print statements' sentence; biography and bibliography at en.wikipedia.org/wiki/Brian_Kernighan. Photo: Ben Lowe, CC BY 2.0, at Bell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(PEP 282, 2002; stdlib since Python 2.3): Python's logging module did not drift into the language; it was proposed as PEP 282 in 2002 by Vinay Sajip and Trent Mick, modelled on log4j's levels, and entered the standard library in Python 2.3. DEBUG, INFO, WARNING, ERROR, CRITICAL - the five-step ladder on these slides is that PEP's design, and the chapter's demos run it: to the console, to a file, forced, and disabled.
SOURCE: PEP 282, 'A Logging System', authors Vinay Sajip and Trent Mick (2002), implemented as the standard library's logging module from Python 2.3 (peps.python.org/pep-0282).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Logging is the practice of making a program write down what it does while it runs. The Python logging HOWTO defines it as a means of tracking events that happen when some software runs: the developer adds logging calls to the code to indicate that certain events have occurred, and each event is described by a message and has an importance, which is called its level or severity (Python Software Foundation, 2026).
ASK: Which level would your coin-toss homework log its guesses at?
FULL TEXT: course page, chapter 5 -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Logging is the practice of making a program write down what it does while it runs. The Python logging HOWTO defines it as a means of tracking events that happen when some software runs: the developer adds logging calls to the code to indicate that certain events have occurred, and each event is described by a message and has an importance, which is called its level or severity (Python Software Foundation, 2026).
ASK: Why does disable() beat deleting log calls the night before a demo?
FULL TEXT: course page, chapter 5 -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FULL TEXT: course page, chapter 5 - BugModel.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ASK: Before the next slide: which single argument of range() is wrong?
FULL TEXT: course page, chapter 5 - BugModel,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ASK: Keep or delete these DEBUG lines after the fix - argue both ways in one sentence.
FULL TEXT: course page, chapter 5 - BugModel,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bug is a place where a program does something other than what its author meant it to do, and debugging is the work of finding and removing such places. Chapter 5 opens with the observation that once a learner can write basic programs, the bugs become less simple, and it offers tools and techniques for finding the root cause of a bug quickly and with little effort (Sweigart, 2025).
ASK: Write the one-line fix both ways - which reads better at the call site?
FULL TEXT: course page, chapter 5 - BugModel.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debugger is a tool that runs a program one instruction at a time and lets the programmer look at the program between the steps. The chapter defines it as a feature of the Mu editor that executes a program one instruction at a time, giving a chance to inspect the values in variables while the code runs and to track how the values change over the course of the program (Sweigart, 2025).
ASK: At which line would a breakpoint have caught the factorial bug fastest?
FULL TEXT: course page, chapter 5 - Debugger.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5 -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link is a source the chapter corpus cites and checked. Homework: run the coin toss UNSEEDED, lose three times, then fix it and log every toss at DEBUG.
ASK: Bring one traceback you met this week - we will read it upward together.
FULL TEXT: course page, chapter 5 - Logging.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transcript you watched print. Five chapters, one look, every number earned - the first half of the course stands.
FULL TEXT: course page,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Software_bug"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en.wikipedia.org/wiki/Brian_Kernighan" TargetMode="External"/><Relationship Id="rId1" Type="http://schemas.openxmlformats.org/officeDocument/2006/relationships/image" Target="../media/image-12-1.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peps.python.org/pep-0282/"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5.html" TargetMode="External"/><Relationship Id="rId2" Type="http://schemas.openxmlformats.org/officeDocument/2006/relationships/hyperlink" Target="https://docs.python.org/3/tutorial/errors.html" TargetMode="External"/><Relationship Id="rId3" Type="http://schemas.openxmlformats.org/officeDocument/2006/relationships/hyperlink" Target="https://docs.python.org/3/library/logging.html" TargetMode="External"/><Relationship Id="rId4" Type="http://schemas.openxmlformats.org/officeDocument/2006/relationships/hyperlink" Target="https://docs.python.org/3/library/pdb.html" TargetMode="External"/><Relationship Id="rId5" Type="http://schemas.openxmlformats.org/officeDocument/2006/relationships/hyperlink" Target="https://docs.python.org/3/library/exceptions.html" TargetMode="External"/><Relationship Id="rId6" Type="http://schemas.openxmlformats.org/officeDocument/2006/relationships/hyperlink" Target="https://peps.python.org/pep-0282/" TargetMode="External"/><Relationship Id="rId7" Type="http://schemas.openxmlformats.org/officeDocument/2006/relationships/hyperlink" Target="https://en.wikipedia.org/wiki/Software_bug" TargetMode="External"/><Relationship Id="rId8" Type="http://schemas.openxmlformats.org/officeDocument/2006/relationships/hyperlink" Target="https://docs.python.org/3/using/cmdline.html" TargetMode="External"/><Relationship Id="rId9" Type="http://schemas.openxmlformats.org/officeDocument/2006/relationships/hyperlink" Target="https://peps.python.org/pep-0678/" TargetMode="External"/><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5: Debugging</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Tracebacks, assertions, logging - and the moth that started it all</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1188720"/>
            <a:ext cx="3200400" cy="1554480"/>
          </a:xfrm>
          <a:prstGeom prst="roundRect">
            <a:avLst>
              <a:gd name="adj" fmla="val 5882"/>
            </a:avLst>
          </a:prstGeom>
          <a:solidFill>
            <a:srgbClr val="23272E"/>
          </a:solidFill>
          <a:ln w="12700">
            <a:solidFill>
              <a:srgbClr val="23272E"/>
            </a:solidFill>
            <a:prstDash val="solid"/>
          </a:ln>
        </p:spPr>
      </p:sp>
      <p:sp>
        <p:nvSpPr>
          <p:cNvPr id="12" name="Text 10"/>
          <p:cNvSpPr txBox="1"/>
          <p:nvPr/>
        </p:nvSpPr>
        <p:spPr>
          <a:xfrm>
            <a:off x="5669280" y="1307592"/>
            <a:ext cx="2834640" cy="13167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int('x')</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ValueError: invalid literal for int() with base 10: 'x'</a:t>
            </a:r>
            <a:endParaRPr lang="en-US" sz="1100" dirty="0"/>
          </a:p>
        </p:txBody>
      </p:sp>
      <p:sp>
        <p:nvSpPr>
          <p:cNvPr id="13" name="Text 11"/>
          <p:cNvSpPr txBox="1"/>
          <p:nvPr/>
        </p:nvSpPr>
        <p:spPr>
          <a:xfrm>
            <a:off x="5486400" y="276148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Reading the report - tracebacks, unwinding, notes  (slides 5-8)</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Assertions - executable assumptions  (slides 9-10)</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Logging - levels, files, the off switch  (slides 11-15)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hunt,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16</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whole programs, run live</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 moth with its own museum label</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constructs signal, check, record and inspect a program's behaviour, and what decides which of them a given problem calls for?</a:t>
            </a:r>
            <a:endParaRPr lang="en-US" sz="13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and concepts of the chapter differ in current Python, and on what source?</a:t>
            </a:r>
            <a:endParaRPr lang="en-US" sz="13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300" dirty="0"/>
          </a:p>
        </p:txBody>
      </p:sp>
      <p:sp>
        <p:nvSpPr>
          <p:cNvPr id="15" name="Shape 13"/>
          <p:cNvSpPr/>
          <p:nvPr/>
        </p:nvSpPr>
        <p:spPr>
          <a:xfrm>
            <a:off x="457200" y="3931920"/>
            <a:ext cx="4064508"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3931920"/>
            <a:ext cx="406450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recorded under Python 3.14.6</a:t>
            </a:r>
            <a:endParaRPr lang="en-US" sz="1250" dirty="0"/>
          </a:p>
        </p:txBody>
      </p:sp>
      <p:sp>
        <p:nvSpPr>
          <p:cNvPr id="17" name="Shape 15"/>
          <p:cNvSpPr/>
          <p:nvPr/>
        </p:nvSpPr>
        <p:spPr>
          <a:xfrm>
            <a:off x="4722876" y="3931920"/>
            <a:ext cx="3670173"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722876" y="3931920"/>
            <a:ext cx="367017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bug-and-fix program pairs</a:t>
            </a:r>
            <a:endParaRPr lang="en-US" sz="1250" dirty="0"/>
          </a:p>
        </p:txBody>
      </p:sp>
      <p:sp>
        <p:nvSpPr>
          <p:cNvPr id="19" name="Shape 17"/>
          <p:cNvSpPr/>
          <p:nvPr/>
        </p:nvSpPr>
        <p:spPr>
          <a:xfrm>
            <a:off x="457200" y="4517136"/>
            <a:ext cx="2881503"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4517136"/>
            <a:ext cx="288150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the log as evidence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5 is yours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Six branches; the count under each is how many concepts the course page explains for it - today walks the spine.</a:t>
            </a:r>
            <a:endParaRPr lang="en-US" sz="1250" dirty="0"/>
          </a:p>
        </p:txBody>
      </p:sp>
      <p:sp>
        <p:nvSpPr>
          <p:cNvPr id="7" name="Shape 5"/>
          <p:cNvSpPr/>
          <p:nvPr/>
        </p:nvSpPr>
        <p:spPr>
          <a:xfrm>
            <a:off x="457200" y="1554480"/>
            <a:ext cx="2645664" cy="1261872"/>
          </a:xfrm>
          <a:prstGeom prst="roundRect">
            <a:avLst>
              <a:gd name="adj" fmla="val 5797"/>
            </a:avLst>
          </a:prstGeom>
          <a:solidFill>
            <a:srgbClr val="D97A14"/>
          </a:solidFill>
          <a:ln w="12700">
            <a:solidFill>
              <a:srgbClr val="D97A14"/>
            </a:solidFill>
            <a:prstDash val="solid"/>
          </a:ln>
        </p:spPr>
      </p:sp>
      <p:sp>
        <p:nvSpPr>
          <p:cNvPr id="8" name="Text 6"/>
          <p:cNvSpPr txBox="1"/>
          <p:nvPr/>
        </p:nvSpPr>
        <p:spPr>
          <a:xfrm>
            <a:off x="548640" y="1609344"/>
            <a:ext cx="2462784" cy="11521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Bug Model</a:t>
            </a:r>
            <a:endParaRPr lang="en-US" sz="1250" dirty="0"/>
          </a:p>
          <a:p>
            <a:pPr algn="ctr" indent="0" marL="0">
              <a:buNone/>
            </a:pPr>
            <a:r>
              <a:rPr lang="en-US" sz="1000" dirty="0">
                <a:solidFill>
                  <a:srgbClr val="FFFFFF"/>
                </a:solidFill>
                <a:latin typeface="Calibri" pitchFamily="34" charset="0"/>
                <a:ea typeface="Calibri" pitchFamily="34" charset="-122"/>
                <a:cs typeface="Calibri" pitchFamily="34" charset="-120"/>
              </a:rPr>
              <a:t>10 concepts</a:t>
            </a:r>
            <a:endParaRPr lang="en-US" sz="1250" dirty="0"/>
          </a:p>
        </p:txBody>
      </p:sp>
      <p:sp>
        <p:nvSpPr>
          <p:cNvPr id="9" name="Shape 7"/>
          <p:cNvSpPr/>
          <p:nvPr/>
        </p:nvSpPr>
        <p:spPr>
          <a:xfrm>
            <a:off x="3249168" y="1554480"/>
            <a:ext cx="2645664"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3340608" y="1609344"/>
            <a:ext cx="2462784"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Error Signalling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11" name="Shape 9"/>
          <p:cNvSpPr/>
          <p:nvPr/>
        </p:nvSpPr>
        <p:spPr>
          <a:xfrm>
            <a:off x="6041136" y="1554480"/>
            <a:ext cx="2645664"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6132576" y="1609344"/>
            <a:ext cx="2462784"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Assertion</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13" name="Shape 11"/>
          <p:cNvSpPr/>
          <p:nvPr/>
        </p:nvSpPr>
        <p:spPr>
          <a:xfrm>
            <a:off x="457200" y="2944368"/>
            <a:ext cx="2645664"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48640" y="2999232"/>
            <a:ext cx="2462784"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Logging</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18 concepts</a:t>
            </a:r>
            <a:endParaRPr lang="en-US" sz="1250" dirty="0"/>
          </a:p>
        </p:txBody>
      </p:sp>
      <p:sp>
        <p:nvSpPr>
          <p:cNvPr id="15" name="Shape 13"/>
          <p:cNvSpPr/>
          <p:nvPr/>
        </p:nvSpPr>
        <p:spPr>
          <a:xfrm>
            <a:off x="3249168" y="2944368"/>
            <a:ext cx="2645664"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3340608" y="2999232"/>
            <a:ext cx="2462784"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Debugger</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19 concepts</a:t>
            </a:r>
            <a:endParaRPr lang="en-US" sz="1250" dirty="0"/>
          </a:p>
        </p:txBody>
      </p:sp>
      <p:sp>
        <p:nvSpPr>
          <p:cNvPr id="17" name="Shape 15"/>
          <p:cNvSpPr/>
          <p:nvPr/>
        </p:nvSpPr>
        <p:spPr>
          <a:xfrm>
            <a:off x="6041136" y="2944368"/>
            <a:ext cx="2645664"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6132576" y="2999232"/>
            <a:ext cx="2462784" cy="11521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Modern Practice</a:t>
            </a:r>
            <a:endParaRPr lang="en-US" sz="12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2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Reading the report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Tracebacks, raised errors, and notes</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traceback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raise</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Unwinding</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Notes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bug you can visit in a museum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1947-09-09</a:t>
            </a:r>
            <a:endParaRPr lang="en-US" sz="1300" dirty="0"/>
          </a:p>
        </p:txBody>
      </p:sp>
      <p:pic>
        <p:nvPicPr>
          <p:cNvPr id="6" name="Image 0" descr="../../03-materials/ch05/assets/photo_mark2_moth.jpg">    </p:cNvPr>
          <p:cNvPicPr>
            <a:picLocks noChangeAspect="1"/>
          </p:cNvPicPr>
          <p:nvPr/>
        </p:nvPicPr>
        <p:blipFill>
          <a:blip r:embed="rId1"/>
          <a:srcRect l="0" r="0" t="0" b="0"/>
          <a:stretch/>
        </p:blipFill>
        <p:spPr>
          <a:xfrm>
            <a:off x="457200" y="1325880"/>
            <a:ext cx="4023360" cy="2514600"/>
          </a:xfrm>
          <a:prstGeom prst="rect">
            <a:avLst/>
          </a:prstGeom>
        </p:spPr>
      </p:pic>
      <p:sp>
        <p:nvSpPr>
          <p:cNvPr id="7" name="Text 4"/>
          <p:cNvSpPr txBox="1"/>
          <p:nvPr/>
        </p:nvSpPr>
        <p:spPr>
          <a:xfrm>
            <a:off x="457200" y="385876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Mark II logbook page, moth taped in - U.S. Navy photo, public domain</a:t>
            </a:r>
            <a:endParaRPr lang="en-US" sz="900" dirty="0"/>
          </a:p>
        </p:txBody>
      </p:sp>
      <p:sp>
        <p:nvSpPr>
          <p:cNvPr id="8" name="Shape 5"/>
          <p:cNvSpPr/>
          <p:nvPr/>
        </p:nvSpPr>
        <p:spPr>
          <a:xfrm>
            <a:off x="4846320" y="1593342"/>
            <a:ext cx="128016" cy="128016"/>
          </a:xfrm>
          <a:prstGeom prst="diamond">
            <a:avLst/>
          </a:prstGeom>
          <a:solidFill>
            <a:srgbClr val="D97A14"/>
          </a:solidFill>
          <a:ln w="12700">
            <a:solidFill>
              <a:srgbClr val="D97A14"/>
            </a:solidFill>
            <a:prstDash val="solid"/>
          </a:ln>
        </p:spPr>
      </p:sp>
      <p:sp>
        <p:nvSpPr>
          <p:cNvPr id="9" name="Text 6"/>
          <p:cNvSpPr txBox="1"/>
          <p:nvPr/>
        </p:nvSpPr>
        <p:spPr>
          <a:xfrm>
            <a:off x="5120640" y="1371600"/>
            <a:ext cx="35661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9 September 1947: the Mark II stops</a:t>
            </a:r>
            <a:endParaRPr lang="en-US" sz="1250" dirty="0"/>
          </a:p>
        </p:txBody>
      </p:sp>
      <p:sp>
        <p:nvSpPr>
          <p:cNvPr id="10" name="Shape 7"/>
          <p:cNvSpPr/>
          <p:nvPr/>
        </p:nvSpPr>
        <p:spPr>
          <a:xfrm>
            <a:off x="4846320" y="2164842"/>
            <a:ext cx="128016" cy="128016"/>
          </a:xfrm>
          <a:prstGeom prst="diamond">
            <a:avLst/>
          </a:prstGeom>
          <a:solidFill>
            <a:srgbClr val="D97A14"/>
          </a:solidFill>
          <a:ln w="12700">
            <a:solidFill>
              <a:srgbClr val="D97A14"/>
            </a:solidFill>
            <a:prstDash val="solid"/>
          </a:ln>
        </p:spPr>
      </p:sp>
      <p:sp>
        <p:nvSpPr>
          <p:cNvPr id="11" name="Text 8"/>
          <p:cNvSpPr txBox="1"/>
          <p:nvPr/>
        </p:nvSpPr>
        <p:spPr>
          <a:xfrm>
            <a:off x="5120640" y="1943100"/>
            <a:ext cx="35661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Relay 70, panel F: a moth</a:t>
            </a:r>
            <a:endParaRPr lang="en-US" sz="1250" dirty="0"/>
          </a:p>
        </p:txBody>
      </p:sp>
      <p:sp>
        <p:nvSpPr>
          <p:cNvPr id="12" name="Shape 9"/>
          <p:cNvSpPr/>
          <p:nvPr/>
        </p:nvSpPr>
        <p:spPr>
          <a:xfrm>
            <a:off x="4846320" y="27363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120640" y="2514600"/>
            <a:ext cx="35661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'First actual case of bug being found'</a:t>
            </a:r>
            <a:endParaRPr lang="en-US" sz="1250" dirty="0"/>
          </a:p>
        </p:txBody>
      </p:sp>
      <p:sp>
        <p:nvSpPr>
          <p:cNvPr id="14" name="Shape 11"/>
          <p:cNvSpPr/>
          <p:nvPr/>
        </p:nvSpPr>
        <p:spPr>
          <a:xfrm>
            <a:off x="4846320" y="330784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120640" y="3086100"/>
            <a:ext cx="3566160" cy="5715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page survives at the Smithsonian</a:t>
            </a:r>
            <a:endParaRPr lang="en-US" sz="125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Grace Hopper's Harvard Mark II team</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the machine's logbook - now at the Smi…</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1947-09-09</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bug since has been a metaphor; this one had wings</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 the traceback upward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crash in a box-printing program, dissected</a:t>
            </a:r>
            <a:endParaRPr lang="en-US" sz="1300" dirty="0"/>
          </a:p>
        </p:txBody>
      </p:sp>
      <p:sp>
        <p:nvSpPr>
          <p:cNvPr id="6" name="Text 4"/>
          <p:cNvSpPr txBox="1"/>
          <p:nvPr/>
        </p:nvSpPr>
        <p:spPr>
          <a:xfrm>
            <a:off x="457200" y="10241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box prints, then the crash - read the report bottom line first</a:t>
            </a:r>
            <a:endParaRPr lang="en-US" sz="1150" dirty="0"/>
          </a:p>
        </p:txBody>
      </p:sp>
      <p:sp>
        <p:nvSpPr>
          <p:cNvPr id="7" name="Shape 5"/>
          <p:cNvSpPr/>
          <p:nvPr/>
        </p:nvSpPr>
        <p:spPr>
          <a:xfrm>
            <a:off x="457200" y="1298448"/>
            <a:ext cx="8229600" cy="3200400"/>
          </a:xfrm>
          <a:prstGeom prst="roundRect">
            <a:avLst>
              <a:gd name="adj" fmla="val 2857"/>
            </a:avLst>
          </a:prstGeom>
          <a:solidFill>
            <a:srgbClr val="23272E"/>
          </a:solidFill>
          <a:ln w="12700">
            <a:solidFill>
              <a:srgbClr val="23272E"/>
            </a:solidFill>
            <a:prstDash val="solid"/>
          </a:ln>
        </p:spPr>
      </p:sp>
      <p:sp>
        <p:nvSpPr>
          <p:cNvPr id="8" name="Text 6"/>
          <p:cNvSpPr txBox="1"/>
          <p:nvPr/>
        </p:nvSpPr>
        <p:spPr>
          <a:xfrm>
            <a:off x="640080" y="1417320"/>
            <a:ext cx="7863840" cy="296265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box_print(symbol, width, height):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if</a:t>
            </a:r>
            <a:pPr indent="0" marL="0">
              <a:buNone/>
            </a:pPr>
            <a:r>
              <a:rPr lang="en-US" sz="710" dirty="0">
                <a:solidFill>
                  <a:srgbClr val="E6EDF3"/>
                </a:solidFill>
                <a:latin typeface="Courier New" pitchFamily="34" charset="0"/>
                <a:ea typeface="Courier New" pitchFamily="34" charset="-122"/>
                <a:cs typeface="Courier New" pitchFamily="34" charset="-120"/>
              </a:rPr>
              <a:t> len(symbol) != </a:t>
            </a:r>
            <a:pPr indent="0" marL="0">
              <a:buNone/>
            </a:pPr>
            <a:r>
              <a:rPr lang="en-US" sz="710" dirty="0">
                <a:solidFill>
                  <a:srgbClr val="FFD28A"/>
                </a:solidFill>
                <a:latin typeface="Courier New" pitchFamily="34" charset="0"/>
                <a:ea typeface="Courier New" pitchFamily="34" charset="-122"/>
                <a:cs typeface="Courier New" pitchFamily="34" charset="-120"/>
              </a:rPr>
              <a:t>1</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raise Exception(</a:t>
            </a:r>
            <a:pPr indent="0" marL="0">
              <a:buNone/>
            </a:pPr>
            <a:r>
              <a:rPr lang="en-US" sz="710" dirty="0">
                <a:solidFill>
                  <a:srgbClr val="9ECBFF"/>
                </a:solidFill>
                <a:latin typeface="Courier New" pitchFamily="34" charset="0"/>
                <a:ea typeface="Courier New" pitchFamily="34" charset="-122"/>
                <a:cs typeface="Courier New" pitchFamily="34" charset="-120"/>
              </a:rPr>
              <a:t>'Symbol must be a single character string.'</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if</a:t>
            </a:r>
            <a:pPr indent="0" marL="0">
              <a:buNone/>
            </a:pPr>
            <a:r>
              <a:rPr lang="en-US" sz="710" dirty="0">
                <a:solidFill>
                  <a:srgbClr val="E6EDF3"/>
                </a:solidFill>
                <a:latin typeface="Courier New" pitchFamily="34" charset="0"/>
                <a:ea typeface="Courier New" pitchFamily="34" charset="-122"/>
                <a:cs typeface="Courier New" pitchFamily="34" charset="-120"/>
              </a:rPr>
              <a:t> width &lt;= </a:t>
            </a:r>
            <a:pPr indent="0" marL="0">
              <a:buNone/>
            </a:pPr>
            <a:r>
              <a:rPr lang="en-US" sz="710" dirty="0">
                <a:solidFill>
                  <a:srgbClr val="FFD28A"/>
                </a:solidFill>
                <a:latin typeface="Courier New" pitchFamily="34" charset="0"/>
                <a:ea typeface="Courier New" pitchFamily="34" charset="-122"/>
                <a:cs typeface="Courier New" pitchFamily="34" charset="-120"/>
              </a:rPr>
              <a:t>2</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raise Exception(</a:t>
            </a:r>
            <a:pPr indent="0" marL="0">
              <a:buNone/>
            </a:pPr>
            <a:r>
              <a:rPr lang="en-US" sz="710" dirty="0">
                <a:solidFill>
                  <a:srgbClr val="9ECBFF"/>
                </a:solidFill>
                <a:latin typeface="Courier New" pitchFamily="34" charset="0"/>
                <a:ea typeface="Courier New" pitchFamily="34" charset="-122"/>
                <a:cs typeface="Courier New" pitchFamily="34" charset="-120"/>
              </a:rPr>
              <a:t>'Width must be greater than 2.'</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if</a:t>
            </a:r>
            <a:pPr indent="0" marL="0">
              <a:buNone/>
            </a:pPr>
            <a:r>
              <a:rPr lang="en-US" sz="710" dirty="0">
                <a:solidFill>
                  <a:srgbClr val="E6EDF3"/>
                </a:solidFill>
                <a:latin typeface="Courier New" pitchFamily="34" charset="0"/>
                <a:ea typeface="Courier New" pitchFamily="34" charset="-122"/>
                <a:cs typeface="Courier New" pitchFamily="34" charset="-120"/>
              </a:rPr>
              <a:t> height &lt;= </a:t>
            </a:r>
            <a:pPr indent="0" marL="0">
              <a:buNone/>
            </a:pPr>
            <a:r>
              <a:rPr lang="en-US" sz="710" dirty="0">
                <a:solidFill>
                  <a:srgbClr val="FFD28A"/>
                </a:solidFill>
                <a:latin typeface="Courier New" pitchFamily="34" charset="0"/>
                <a:ea typeface="Courier New" pitchFamily="34" charset="-122"/>
                <a:cs typeface="Courier New" pitchFamily="34" charset="-120"/>
              </a:rPr>
              <a:t>2</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raise Exception(</a:t>
            </a:r>
            <a:pPr indent="0" marL="0">
              <a:buNone/>
            </a:pPr>
            <a:r>
              <a:rPr lang="en-US" sz="710" dirty="0">
                <a:solidFill>
                  <a:srgbClr val="9ECBFF"/>
                </a:solidFill>
                <a:latin typeface="Courier New" pitchFamily="34" charset="0"/>
                <a:ea typeface="Courier New" pitchFamily="34" charset="-122"/>
                <a:cs typeface="Courier New" pitchFamily="34" charset="-120"/>
              </a:rPr>
              <a:t>'Height must be greater than 2.'</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print(symbol * width)</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for</a:t>
            </a:r>
            <a:pPr indent="0" marL="0">
              <a:buNone/>
            </a:pPr>
            <a:r>
              <a:rPr lang="en-US" sz="710" dirty="0">
                <a:solidFill>
                  <a:srgbClr val="E6EDF3"/>
                </a:solidFill>
                <a:latin typeface="Courier New" pitchFamily="34" charset="0"/>
                <a:ea typeface="Courier New" pitchFamily="34" charset="-122"/>
                <a:cs typeface="Courier New" pitchFamily="34" charset="-120"/>
              </a:rPr>
              <a:t> i </a:t>
            </a:r>
            <a:pPr indent="0" marL="0">
              <a:buNone/>
            </a:pPr>
            <a:r>
              <a:rPr lang="en-US" sz="710" b="1" dirty="0">
                <a:solidFill>
                  <a:srgbClr val="F2A860"/>
                </a:solidFill>
                <a:latin typeface="Courier New" pitchFamily="34" charset="0"/>
                <a:ea typeface="Courier New" pitchFamily="34" charset="-122"/>
                <a:cs typeface="Courier New" pitchFamily="34" charset="-120"/>
              </a:rPr>
              <a:t>in</a:t>
            </a:r>
            <a:pPr indent="0" marL="0">
              <a:buNone/>
            </a:pPr>
            <a:r>
              <a:rPr lang="en-US" sz="710" dirty="0">
                <a:solidFill>
                  <a:srgbClr val="E6EDF3"/>
                </a:solidFill>
                <a:latin typeface="Courier New" pitchFamily="34" charset="0"/>
                <a:ea typeface="Courier New" pitchFamily="34" charset="-122"/>
                <a:cs typeface="Courier New" pitchFamily="34" charset="-120"/>
              </a:rPr>
              <a:t> range(height - </a:t>
            </a:r>
            <a:pPr indent="0" marL="0">
              <a:buNone/>
            </a:pPr>
            <a:r>
              <a:rPr lang="en-US" sz="710" dirty="0">
                <a:solidFill>
                  <a:srgbClr val="FFD28A"/>
                </a:solidFill>
                <a:latin typeface="Courier New" pitchFamily="34" charset="0"/>
                <a:ea typeface="Courier New" pitchFamily="34" charset="-122"/>
                <a:cs typeface="Courier New" pitchFamily="34" charset="-120"/>
              </a:rPr>
              <a:t>2</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print(symbol + (</a:t>
            </a:r>
            <a:pPr indent="0" marL="0">
              <a:buNone/>
            </a:pPr>
            <a:r>
              <a:rPr lang="en-US" sz="710" dirty="0">
                <a:solidFill>
                  <a:srgbClr val="9ECBFF"/>
                </a:solidFill>
                <a:latin typeface="Courier New" pitchFamily="34" charset="0"/>
                <a:ea typeface="Courier New" pitchFamily="34" charset="-122"/>
                <a:cs typeface="Courier New" pitchFamily="34" charset="-120"/>
              </a:rPr>
              <a:t>' '</a:t>
            </a:r>
            <a:pPr indent="0" marL="0">
              <a:buNone/>
            </a:pPr>
            <a:r>
              <a:rPr lang="en-US" sz="710" dirty="0">
                <a:solidFill>
                  <a:srgbClr val="E6EDF3"/>
                </a:solidFill>
                <a:latin typeface="Courier New" pitchFamily="34" charset="0"/>
                <a:ea typeface="Courier New" pitchFamily="34" charset="-122"/>
                <a:cs typeface="Courier New" pitchFamily="34" charset="-120"/>
              </a:rPr>
              <a:t> * (width - </a:t>
            </a:r>
            <a:pPr indent="0" marL="0">
              <a:buNone/>
            </a:pPr>
            <a:r>
              <a:rPr lang="en-US" sz="710" dirty="0">
                <a:solidFill>
                  <a:srgbClr val="FFD28A"/>
                </a:solidFill>
                <a:latin typeface="Courier New" pitchFamily="34" charset="0"/>
                <a:ea typeface="Courier New" pitchFamily="34" charset="-122"/>
                <a:cs typeface="Courier New" pitchFamily="34" charset="-120"/>
              </a:rPr>
              <a:t>2</a:t>
            </a:r>
            <a:pPr indent="0" marL="0">
              <a:buNone/>
            </a:pPr>
            <a:r>
              <a:rPr lang="en-US" sz="710" dirty="0">
                <a:solidFill>
                  <a:srgbClr val="E6EDF3"/>
                </a:solidFill>
                <a:latin typeface="Courier New" pitchFamily="34" charset="0"/>
                <a:ea typeface="Courier New" pitchFamily="34" charset="-122"/>
                <a:cs typeface="Courier New" pitchFamily="34" charset="-120"/>
              </a:rPr>
              <a:t>)) + symbol)</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print(symbol * width)</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pPr indent="0" marL="0">
              <a:buNone/>
            </a:pPr>
            <a:r>
              <a:rPr lang="en-US" sz="710" dirty="0">
                <a:solidFill>
                  <a:srgbClr val="E6EDF3"/>
                </a:solidFill>
                <a:latin typeface="Courier New" pitchFamily="34" charset="0"/>
                <a:ea typeface="Courier New" pitchFamily="34" charset="-122"/>
                <a:cs typeface="Courier New" pitchFamily="34" charset="-120"/>
              </a:rPr>
              <a:t> sym, w, h </a:t>
            </a:r>
            <a:pPr indent="0" marL="0">
              <a:buNone/>
            </a:pPr>
            <a:r>
              <a:rPr lang="en-US" sz="710" b="1" dirty="0">
                <a:solidFill>
                  <a:srgbClr val="F2A860"/>
                </a:solidFill>
                <a:latin typeface="Courier New" pitchFamily="34" charset="0"/>
                <a:ea typeface="Courier New" pitchFamily="34" charset="-122"/>
                <a:cs typeface="Courier New" pitchFamily="34" charset="-120"/>
              </a:rPr>
              <a:t>in</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9ECBFF"/>
                </a:solidFill>
                <a:latin typeface="Courier New" pitchFamily="34" charset="0"/>
                <a:ea typeface="Courier New" pitchFamily="34" charset="-122"/>
                <a:cs typeface="Courier New" pitchFamily="34" charset="-120"/>
              </a:rPr>
              <a:t>'*'</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4</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4</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9ECBFF"/>
                </a:solidFill>
                <a:latin typeface="Courier New" pitchFamily="34" charset="0"/>
                <a:ea typeface="Courier New" pitchFamily="34" charset="-122"/>
                <a:cs typeface="Courier New" pitchFamily="34" charset="-120"/>
              </a:rPr>
              <a:t>'x'</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1</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3</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9ECBFF"/>
                </a:solidFill>
                <a:latin typeface="Courier New" pitchFamily="34" charset="0"/>
                <a:ea typeface="Courier New" pitchFamily="34" charset="-122"/>
                <a:cs typeface="Courier New" pitchFamily="34" charset="-120"/>
              </a:rPr>
              <a:t>'ZZ'</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3</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FFD28A"/>
                </a:solidFill>
                <a:latin typeface="Courier New" pitchFamily="34" charset="0"/>
                <a:ea typeface="Courier New" pitchFamily="34" charset="-122"/>
                <a:cs typeface="Courier New" pitchFamily="34" charset="-120"/>
              </a:rPr>
              <a:t>3</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try:</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box_print(sym, w, h)</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except Exception as err:</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a:t>
            </a:r>
            <a:pPr indent="0" marL="0">
              <a:buNone/>
            </a:pPr>
            <a:r>
              <a:rPr lang="en-US" sz="710" dirty="0">
                <a:solidFill>
                  <a:srgbClr val="9ECBFF"/>
                </a:solidFill>
                <a:latin typeface="Courier New" pitchFamily="34" charset="0"/>
                <a:ea typeface="Courier New" pitchFamily="34" charset="-122"/>
                <a:cs typeface="Courier New" pitchFamily="34" charset="-120"/>
              </a:rPr>
              <a:t>'An exception happened: '</a:t>
            </a:r>
            <a:pPr indent="0" marL="0">
              <a:buNone/>
            </a:pPr>
            <a:r>
              <a:rPr lang="en-US" sz="710" dirty="0">
                <a:solidFill>
                  <a:srgbClr val="E6EDF3"/>
                </a:solidFill>
                <a:latin typeface="Courier New" pitchFamily="34" charset="0"/>
                <a:ea typeface="Courier New" pitchFamily="34" charset="-122"/>
                <a:cs typeface="Courier New" pitchFamily="34" charset="-120"/>
              </a:rPr>
              <a:t> + str(err))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  *</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  *</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An exception happened: Width must be greater than 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An exception happened: Symbol must be a single character string.</a:t>
            </a:r>
            <a:endParaRPr lang="en-US" sz="710" dirty="0"/>
          </a:p>
        </p:txBody>
      </p:sp>
      <p:sp>
        <p:nvSpPr>
          <p:cNvPr id="9" name="Text 7"/>
          <p:cNvSpPr txBox="1"/>
          <p:nvPr/>
        </p:nvSpPr>
        <p:spPr>
          <a:xfrm>
            <a:off x="640080" y="4224528"/>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boxprint_v1_0_0.py, lines 1 to 17 of 17, run under Python 3.14.6</a:t>
            </a:r>
            <a:endParaRPr lang="en-US" sz="7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last line names the crime; the lines above name the scene</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Unwind, catch, annotate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exception climbs until someone claims it</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frames up, one except claims it</a:t>
            </a:r>
            <a:endParaRPr lang="en-US" sz="1150" dirty="0"/>
          </a:p>
        </p:txBody>
      </p:sp>
      <p:sp>
        <p:nvSpPr>
          <p:cNvPr id="7" name="Shape 5"/>
          <p:cNvSpPr/>
          <p:nvPr/>
        </p:nvSpPr>
        <p:spPr>
          <a:xfrm>
            <a:off x="457200" y="1417320"/>
            <a:ext cx="3931920" cy="2377440"/>
          </a:xfrm>
          <a:prstGeom prst="roundRect">
            <a:avLst>
              <a:gd name="adj" fmla="val 3846"/>
            </a:avLst>
          </a:prstGeom>
          <a:solidFill>
            <a:srgbClr val="23272E"/>
          </a:solidFill>
          <a:ln w="12700">
            <a:solidFill>
              <a:srgbClr val="23272E"/>
            </a:solidFill>
            <a:prstDash val="solid"/>
          </a:ln>
        </p:spPr>
      </p:sp>
      <p:sp>
        <p:nvSpPr>
          <p:cNvPr id="8" name="Text 6"/>
          <p:cNvSpPr txBox="1"/>
          <p:nvPr/>
        </p:nvSpPr>
        <p:spPr>
          <a:xfrm>
            <a:off x="640080" y="1536192"/>
            <a:ext cx="3566160" cy="2139696"/>
          </a:xfrm>
          <a:prstGeom prst="rect">
            <a:avLst/>
          </a:prstGeom>
          <a:noFill/>
          <a:ln/>
        </p:spPr>
        <p:txBody>
          <a:bodyPr wrap="square" lIns="0" tIns="0" rIns="0" bIns="0" rtlCol="0" anchor="t"/>
          <a:lstStyle/>
          <a:p>
            <a:pPr indent="0" marL="0">
              <a:buNone/>
            </a:pPr>
            <a:r>
              <a:rPr lang="en-US" sz="760" b="1" dirty="0">
                <a:solidFill>
                  <a:srgbClr val="F2A860"/>
                </a:solidFill>
                <a:latin typeface="Courier New" pitchFamily="34" charset="0"/>
                <a:ea typeface="Courier New" pitchFamily="34" charset="-122"/>
                <a:cs typeface="Courier New" pitchFamily="34" charset="-120"/>
              </a:rPr>
              <a:t>def</a:t>
            </a:r>
            <a:pPr indent="0" marL="0">
              <a:buNone/>
            </a:pPr>
            <a:r>
              <a:rPr lang="en-US" sz="760" dirty="0">
                <a:solidFill>
                  <a:srgbClr val="E6EDF3"/>
                </a:solidFill>
                <a:latin typeface="Courier New" pitchFamily="34" charset="0"/>
                <a:ea typeface="Courier New" pitchFamily="34" charset="-122"/>
                <a:cs typeface="Courier New" pitchFamily="34" charset="-120"/>
              </a:rPr>
              <a:t> read_age(text):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return</a:t>
            </a:r>
            <a:pPr indent="0" marL="0">
              <a:buNone/>
            </a:pPr>
            <a:r>
              <a:rPr lang="en-US" sz="760" dirty="0">
                <a:solidFill>
                  <a:srgbClr val="E6EDF3"/>
                </a:solidFill>
                <a:latin typeface="Courier New" pitchFamily="34" charset="0"/>
                <a:ea typeface="Courier New" pitchFamily="34" charset="-122"/>
                <a:cs typeface="Courier New" pitchFamily="34" charset="-120"/>
              </a:rPr>
              <a:t> int(text)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pPr indent="0" marL="0">
              <a:buNone/>
            </a:pPr>
            <a:r>
              <a:rPr lang="en-US" sz="760" dirty="0">
                <a:solidFill>
                  <a:srgbClr val="E6EDF3"/>
                </a:solidFill>
                <a:latin typeface="Courier New" pitchFamily="34" charset="0"/>
                <a:ea typeface="Courier New" pitchFamily="34" charset="-122"/>
                <a:cs typeface="Courier New" pitchFamily="34" charset="-120"/>
              </a:rPr>
              <a:t> load(record):</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return</a:t>
            </a:r>
            <a:pPr indent="0" marL="0">
              <a:buNone/>
            </a:pPr>
            <a:r>
              <a:rPr lang="en-US" sz="760" dirty="0">
                <a:solidFill>
                  <a:srgbClr val="E6EDF3"/>
                </a:solidFill>
                <a:latin typeface="Courier New" pitchFamily="34" charset="0"/>
                <a:ea typeface="Courier New" pitchFamily="34" charset="-122"/>
                <a:cs typeface="Courier New" pitchFamily="34" charset="-120"/>
              </a:rPr>
              <a:t> read_age(record[</a:t>
            </a:r>
            <a:pPr indent="0" marL="0">
              <a:buNone/>
            </a:pPr>
            <a:r>
              <a:rPr lang="en-US" sz="760" dirty="0">
                <a:solidFill>
                  <a:srgbClr val="9ECBFF"/>
                </a:solidFill>
                <a:latin typeface="Courier New" pitchFamily="34" charset="0"/>
                <a:ea typeface="Courier New" pitchFamily="34" charset="-122"/>
                <a:cs typeface="Courier New" pitchFamily="34" charset="-120"/>
              </a:rPr>
              <a:t>'age'</a:t>
            </a:r>
            <a:pPr indent="0" marL="0">
              <a:buNone/>
            </a:pP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pPr indent="0" marL="0">
              <a:buNone/>
            </a:pPr>
            <a:r>
              <a:rPr lang="en-US" sz="760" dirty="0">
                <a:solidFill>
                  <a:srgbClr val="E6EDF3"/>
                </a:solidFill>
                <a:latin typeface="Courier New" pitchFamily="34" charset="0"/>
                <a:ea typeface="Courier New" pitchFamily="34" charset="-122"/>
                <a:cs typeface="Courier New" pitchFamily="34" charset="-120"/>
              </a:rPr>
              <a:t> process(records):</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b="1" dirty="0">
                <a:solidFill>
                  <a:srgbClr val="F2A860"/>
                </a:solidFill>
                <a:latin typeface="Courier New" pitchFamily="34" charset="0"/>
                <a:ea typeface="Courier New" pitchFamily="34" charset="-122"/>
                <a:cs typeface="Courier New" pitchFamily="34" charset="-120"/>
              </a:rPr>
              <a:t>return</a:t>
            </a:r>
            <a:pPr indent="0" marL="0">
              <a:buNone/>
            </a:pPr>
            <a:r>
              <a:rPr lang="en-US" sz="760" dirty="0">
                <a:solidFill>
                  <a:srgbClr val="E6EDF3"/>
                </a:solidFill>
                <a:latin typeface="Courier New" pitchFamily="34" charset="0"/>
                <a:ea typeface="Courier New" pitchFamily="34" charset="-122"/>
                <a:cs typeface="Courier New" pitchFamily="34" charset="-120"/>
              </a:rPr>
              <a:t> [load(r) </a:t>
            </a:r>
            <a:pPr indent="0" marL="0">
              <a:buNone/>
            </a:pPr>
            <a:r>
              <a:rPr lang="en-US" sz="760" b="1" dirty="0">
                <a:solidFill>
                  <a:srgbClr val="F2A860"/>
                </a:solidFill>
                <a:latin typeface="Courier New" pitchFamily="34" charset="0"/>
                <a:ea typeface="Courier New" pitchFamily="34" charset="-122"/>
                <a:cs typeface="Courier New" pitchFamily="34" charset="-120"/>
              </a:rPr>
              <a:t>for</a:t>
            </a:r>
            <a:pPr indent="0" marL="0">
              <a:buNone/>
            </a:pPr>
            <a:r>
              <a:rPr lang="en-US" sz="760" dirty="0">
                <a:solidFill>
                  <a:srgbClr val="E6EDF3"/>
                </a:solidFill>
                <a:latin typeface="Courier New" pitchFamily="34" charset="0"/>
                <a:ea typeface="Courier New" pitchFamily="34" charset="-122"/>
                <a:cs typeface="Courier New" pitchFamily="34" charset="-120"/>
              </a:rPr>
              <a:t> r </a:t>
            </a:r>
            <a:pPr indent="0" marL="0">
              <a:buNone/>
            </a:pPr>
            <a:r>
              <a:rPr lang="en-US" sz="760" b="1" dirty="0">
                <a:solidFill>
                  <a:srgbClr val="F2A860"/>
                </a:solidFill>
                <a:latin typeface="Courier New" pitchFamily="34" charset="0"/>
                <a:ea typeface="Courier New" pitchFamily="34" charset="-122"/>
                <a:cs typeface="Courier New" pitchFamily="34" charset="-120"/>
              </a:rPr>
              <a:t>in</a:t>
            </a:r>
            <a:pPr indent="0" marL="0">
              <a:buNone/>
            </a:pPr>
            <a:r>
              <a:rPr lang="en-US" sz="760" dirty="0">
                <a:solidFill>
                  <a:srgbClr val="E6EDF3"/>
                </a:solidFill>
                <a:latin typeface="Courier New" pitchFamily="34" charset="0"/>
                <a:ea typeface="Courier New" pitchFamily="34" charset="-122"/>
                <a:cs typeface="Courier New" pitchFamily="34" charset="-120"/>
              </a:rPr>
              <a:t> records]</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try: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process([{</a:t>
            </a:r>
            <a:pPr indent="0" marL="0">
              <a:buNone/>
            </a:pPr>
            <a:r>
              <a:rPr lang="en-US" sz="760" dirty="0">
                <a:solidFill>
                  <a:srgbClr val="9ECBFF"/>
                </a:solidFill>
                <a:latin typeface="Courier New" pitchFamily="34" charset="0"/>
                <a:ea typeface="Courier New" pitchFamily="34" charset="-122"/>
                <a:cs typeface="Courier New" pitchFamily="34" charset="-120"/>
              </a:rPr>
              <a:t>'age'</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dirty="0">
                <a:solidFill>
                  <a:srgbClr val="9ECBFF"/>
                </a:solidFill>
                <a:latin typeface="Courier New" pitchFamily="34" charset="0"/>
                <a:ea typeface="Courier New" pitchFamily="34" charset="-122"/>
                <a:cs typeface="Courier New" pitchFamily="34" charset="-120"/>
              </a:rPr>
              <a:t>'41'</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dirty="0">
                <a:solidFill>
                  <a:srgbClr val="9ECBFF"/>
                </a:solidFill>
                <a:latin typeface="Courier New" pitchFamily="34" charset="0"/>
                <a:ea typeface="Courier New" pitchFamily="34" charset="-122"/>
                <a:cs typeface="Courier New" pitchFamily="34" charset="-120"/>
              </a:rPr>
              <a:t>'age'</a:t>
            </a:r>
            <a:pPr indent="0" marL="0">
              <a:buNone/>
            </a:pPr>
            <a:r>
              <a:rPr lang="en-US" sz="760" dirty="0">
                <a:solidFill>
                  <a:srgbClr val="E6EDF3"/>
                </a:solidFill>
                <a:latin typeface="Courier New" pitchFamily="34" charset="0"/>
                <a:ea typeface="Courier New" pitchFamily="34" charset="-122"/>
                <a:cs typeface="Courier New" pitchFamily="34" charset="-120"/>
              </a:rPr>
              <a:t>: </a:t>
            </a:r>
            <a:pPr indent="0" marL="0">
              <a:buNone/>
            </a:pPr>
            <a:r>
              <a:rPr lang="en-US" sz="760" dirty="0">
                <a:solidFill>
                  <a:srgbClr val="9ECBFF"/>
                </a:solidFill>
                <a:latin typeface="Courier New" pitchFamily="34" charset="0"/>
                <a:ea typeface="Courier New" pitchFamily="34" charset="-122"/>
                <a:cs typeface="Courier New" pitchFamily="34" charset="-120"/>
              </a:rPr>
              <a:t>'abc'</a:t>
            </a:r>
            <a:pPr indent="0" marL="0">
              <a:buNone/>
            </a:pP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except ValueError as 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print(</a:t>
            </a:r>
            <a:pPr indent="0" marL="0">
              <a:buNone/>
            </a:pPr>
            <a:r>
              <a:rPr lang="en-US" sz="760" dirty="0">
                <a:solidFill>
                  <a:srgbClr val="9ECBFF"/>
                </a:solidFill>
                <a:latin typeface="Courier New" pitchFamily="34" charset="0"/>
                <a:ea typeface="Courier New" pitchFamily="34" charset="-122"/>
                <a:cs typeface="Courier New" pitchFamily="34" charset="-120"/>
              </a:rPr>
              <a:t>'caught:'</a:t>
            </a:r>
            <a:pPr indent="0" marL="0">
              <a:buNone/>
            </a:pPr>
            <a:r>
              <a:rPr lang="en-US" sz="760" dirty="0">
                <a:solidFill>
                  <a:srgbClr val="E6EDF3"/>
                </a:solidFill>
                <a:latin typeface="Courier New" pitchFamily="34" charset="0"/>
                <a:ea typeface="Courier New" pitchFamily="34" charset="-122"/>
                <a:cs typeface="Courier New" pitchFamily="34" charset="-120"/>
              </a:rPr>
              <a:t>, 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pPr indent="0" marL="0">
              <a:buNone/>
            </a:pPr>
            <a:r>
              <a:rPr lang="en-US" sz="760" dirty="0">
                <a:solidFill>
                  <a:srgbClr val="7EE787"/>
                </a:solidFill>
                <a:latin typeface="Courier New" pitchFamily="34" charset="0"/>
                <a:ea typeface="Courier New" pitchFamily="34" charset="-122"/>
                <a:cs typeface="Courier New" pitchFamily="34" charset="-120"/>
              </a:rPr>
              <a:t>caught: invalid literal for int() with base 10: 'abc'</a:t>
            </a:r>
            <a:endParaRPr lang="en-US" sz="760" dirty="0"/>
          </a:p>
        </p:txBody>
      </p:sp>
      <p:sp>
        <p:nvSpPr>
          <p:cNvPr id="9" name="Text 7"/>
          <p:cNvSpPr txBox="1"/>
          <p:nvPr/>
        </p:nvSpPr>
        <p:spPr>
          <a:xfrm>
            <a:off x="640080" y="352044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unwinding_v1_0_0.py, lines 1 to 13 of 13,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add_note: context travels WITH the error</a:t>
            </a:r>
            <a:endParaRPr lang="en-US" sz="1150" dirty="0"/>
          </a:p>
        </p:txBody>
      </p:sp>
      <p:sp>
        <p:nvSpPr>
          <p:cNvPr id="11" name="Shape 9"/>
          <p:cNvSpPr/>
          <p:nvPr/>
        </p:nvSpPr>
        <p:spPr>
          <a:xfrm>
            <a:off x="4663440" y="1417320"/>
            <a:ext cx="4023360" cy="1828800"/>
          </a:xfrm>
          <a:prstGeom prst="roundRect">
            <a:avLst>
              <a:gd name="adj" fmla="val 5000"/>
            </a:avLst>
          </a:prstGeom>
          <a:solidFill>
            <a:srgbClr val="23272E"/>
          </a:solidFill>
          <a:ln w="12700">
            <a:solidFill>
              <a:srgbClr val="23272E"/>
            </a:solidFill>
            <a:prstDash val="solid"/>
          </a:ln>
        </p:spPr>
      </p:sp>
      <p:sp>
        <p:nvSpPr>
          <p:cNvPr id="12" name="Text 10"/>
          <p:cNvSpPr txBox="1"/>
          <p:nvPr/>
        </p:nvSpPr>
        <p:spPr>
          <a:xfrm>
            <a:off x="4846320" y="1536192"/>
            <a:ext cx="3657600" cy="159105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int(</a:t>
            </a:r>
            <a:pPr indent="0" marL="0">
              <a:buNone/>
            </a:pPr>
            <a:r>
              <a:rPr lang="en-US" sz="850" dirty="0">
                <a:solidFill>
                  <a:srgbClr val="9ECBFF"/>
                </a:solidFill>
                <a:latin typeface="Courier New" pitchFamily="34" charset="0"/>
                <a:ea typeface="Courier New" pitchFamily="34" charset="-122"/>
                <a:cs typeface="Courier New" pitchFamily="34" charset="-120"/>
              </a:rPr>
              <a:t>'x'</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except ValueError as 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e.add_note(</a:t>
            </a:r>
            <a:pPr indent="0" marL="0">
              <a:buNone/>
            </a:pPr>
            <a:r>
              <a:rPr lang="en-US" sz="850" dirty="0">
                <a:solidFill>
                  <a:srgbClr val="9ECBFF"/>
                </a:solidFill>
                <a:latin typeface="Courier New" pitchFamily="34" charset="0"/>
                <a:ea typeface="Courier New" pitchFamily="34" charset="-122"/>
                <a:cs typeface="Courier New" pitchFamily="34" charset="-120"/>
              </a:rPr>
              <a:t>'while reading the age field'</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raise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except ValueError as 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print(e.__notes__)</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['while reading the age field']</a:t>
            </a:r>
            <a:endParaRPr lang="en-US" sz="850" dirty="0"/>
          </a:p>
        </p:txBody>
      </p:sp>
      <p:sp>
        <p:nvSpPr>
          <p:cNvPr id="13" name="Text 11"/>
          <p:cNvSpPr txBox="1"/>
          <p:nvPr/>
        </p:nvSpPr>
        <p:spPr>
          <a:xfrm>
            <a:off x="4846320" y="297180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notes_v1_0_0.py, lines 1 to 8 of 8, run under Python 3.14.6</a:t>
            </a:r>
            <a:endParaRPr lang="en-US" sz="750" dirty="0"/>
          </a:p>
        </p:txBody>
      </p:sp>
      <p:sp>
        <p:nvSpPr>
          <p:cNvPr id="14" name="Shape 12"/>
          <p:cNvSpPr/>
          <p:nvPr/>
        </p:nvSpPr>
        <p:spPr>
          <a:xfrm>
            <a:off x="4663440" y="347472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4663440" y="347472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notes are 3.11+ modern practice</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exception travels up until someone claims it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Assertions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Executable assumptions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assert</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Messages</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-O caveat</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assert: executable assumptions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Tripwires for states that must never happen</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bare assert: it fires, but mutely</a:t>
            </a:r>
            <a:endParaRPr lang="en-US" sz="1150" dirty="0"/>
          </a:p>
        </p:txBody>
      </p:sp>
      <p:sp>
        <p:nvSpPr>
          <p:cNvPr id="7" name="Shape 5"/>
          <p:cNvSpPr/>
          <p:nvPr/>
        </p:nvSpPr>
        <p:spPr>
          <a:xfrm>
            <a:off x="457200" y="1417320"/>
            <a:ext cx="3931920" cy="1737360"/>
          </a:xfrm>
          <a:prstGeom prst="roundRect">
            <a:avLst>
              <a:gd name="adj" fmla="val 5263"/>
            </a:avLst>
          </a:prstGeom>
          <a:solidFill>
            <a:srgbClr val="23272E"/>
          </a:solidFill>
          <a:ln w="12700">
            <a:solidFill>
              <a:srgbClr val="23272E"/>
            </a:solidFill>
            <a:prstDash val="solid"/>
          </a:ln>
        </p:spPr>
      </p:sp>
      <p:sp>
        <p:nvSpPr>
          <p:cNvPr id="8" name="Text 6"/>
          <p:cNvSpPr txBox="1"/>
          <p:nvPr/>
        </p:nvSpPr>
        <p:spPr>
          <a:xfrm>
            <a:off x="640080" y="1536192"/>
            <a:ext cx="3566160" cy="149961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ages = [</a:t>
            </a:r>
            <a:pPr indent="0" marL="0">
              <a:buNone/>
            </a:pPr>
            <a:r>
              <a:rPr lang="en-US" sz="850" dirty="0">
                <a:solidFill>
                  <a:srgbClr val="FFD28A"/>
                </a:solidFill>
                <a:latin typeface="Courier New" pitchFamily="34" charset="0"/>
                <a:ea typeface="Courier New" pitchFamily="34" charset="-122"/>
                <a:cs typeface="Courier New" pitchFamily="34" charset="-120"/>
              </a:rPr>
              <a:t>26</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57</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92</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54</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22</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15</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17</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80</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47</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73</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ages.reverse()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assert ages[</a:t>
            </a:r>
            <a:pPr indent="0" marL="0">
              <a:buNone/>
            </a:pPr>
            <a:r>
              <a:rPr lang="en-US" sz="850" dirty="0">
                <a:solidFill>
                  <a:srgbClr val="FFD28A"/>
                </a:solidFill>
                <a:latin typeface="Courier New" pitchFamily="34" charset="0"/>
                <a:ea typeface="Courier New" pitchFamily="34" charset="-122"/>
                <a:cs typeface="Courier New" pitchFamily="34" charset="-120"/>
              </a:rPr>
              <a:t>0</a:t>
            </a:r>
            <a:pPr indent="0" marL="0">
              <a:buNone/>
            </a:pPr>
            <a:r>
              <a:rPr lang="en-US" sz="850" dirty="0">
                <a:solidFill>
                  <a:srgbClr val="E6EDF3"/>
                </a:solidFill>
                <a:latin typeface="Courier New" pitchFamily="34" charset="0"/>
                <a:ea typeface="Courier New" pitchFamily="34" charset="-122"/>
                <a:cs typeface="Courier New" pitchFamily="34" charset="-120"/>
              </a:rPr>
              <a:t>] &lt;= ages[-</a:t>
            </a:r>
            <a:pPr indent="0" marL="0">
              <a:buNone/>
            </a:pPr>
            <a:r>
              <a:rPr lang="en-US" sz="850" dirty="0">
                <a:solidFill>
                  <a:srgbClr val="FFD28A"/>
                </a:solidFill>
                <a:latin typeface="Courier New" pitchFamily="34" charset="0"/>
                <a:ea typeface="Courier New" pitchFamily="34" charset="-122"/>
                <a:cs typeface="Courier New" pitchFamily="34" charset="-120"/>
              </a:rPr>
              <a:t>1</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a:t>
            </a:r>
            <a:pPr indent="0" marL="0">
              <a:buNone/>
            </a:pPr>
            <a:r>
              <a:rPr lang="en-US" sz="850" dirty="0">
                <a:solidFill>
                  <a:srgbClr val="9ECBFF"/>
                </a:solidFill>
                <a:latin typeface="Courier New" pitchFamily="34" charset="0"/>
                <a:ea typeface="Courier New" pitchFamily="34" charset="-122"/>
                <a:cs typeface="Courier New" pitchFamily="34" charset="-120"/>
              </a:rPr>
              <a:t>'the list is sorted'</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except AssertionError as 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print(type(e).__name__, repr(str(e)))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AssertionError ''</a:t>
            </a:r>
            <a:endParaRPr lang="en-US" sz="850" dirty="0"/>
          </a:p>
        </p:txBody>
      </p:sp>
      <p:sp>
        <p:nvSpPr>
          <p:cNvPr id="9" name="Text 7"/>
          <p:cNvSpPr txBox="1"/>
          <p:nvPr/>
        </p:nvSpPr>
        <p:spPr>
          <a:xfrm>
            <a:off x="640080" y="288036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assertdemo_v1_0_0.py, lines 1 to 7 of 7, run under Python 3.14.6</a:t>
            </a:r>
            <a:endParaRPr lang="en-US" sz="75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with a message: the tripwire explains itself</a:t>
            </a:r>
            <a:endParaRPr lang="en-US" sz="1150" dirty="0"/>
          </a:p>
        </p:txBody>
      </p:sp>
      <p:sp>
        <p:nvSpPr>
          <p:cNvPr id="11" name="Shape 9"/>
          <p:cNvSpPr/>
          <p:nvPr/>
        </p:nvSpPr>
        <p:spPr>
          <a:xfrm>
            <a:off x="4663440" y="1417320"/>
            <a:ext cx="4023360" cy="1600200"/>
          </a:xfrm>
          <a:prstGeom prst="roundRect">
            <a:avLst>
              <a:gd name="adj" fmla="val 5714"/>
            </a:avLst>
          </a:prstGeom>
          <a:solidFill>
            <a:srgbClr val="23272E"/>
          </a:solidFill>
          <a:ln w="12700">
            <a:solidFill>
              <a:srgbClr val="23272E"/>
            </a:solidFill>
            <a:prstDash val="solid"/>
          </a:ln>
        </p:spPr>
      </p:sp>
      <p:sp>
        <p:nvSpPr>
          <p:cNvPr id="12" name="Text 10"/>
          <p:cNvSpPr txBox="1"/>
          <p:nvPr/>
        </p:nvSpPr>
        <p:spPr>
          <a:xfrm>
            <a:off x="4846320" y="1536192"/>
            <a:ext cx="3657600" cy="1362456"/>
          </a:xfrm>
          <a:prstGeom prst="rect">
            <a:avLst/>
          </a:prstGeom>
          <a:noFill/>
          <a:ln/>
        </p:spPr>
        <p:txBody>
          <a:bodyPr wrap="square" lIns="0" tIns="0" rIns="0" bIns="0" rtlCol="0" anchor="t"/>
          <a:lstStyle/>
          <a:p>
            <a:pPr indent="0" marL="0">
              <a:buNone/>
            </a:pPr>
            <a:r>
              <a:rPr lang="en-US" sz="850" dirty="0">
                <a:solidFill>
                  <a:srgbClr val="E6EDF3"/>
                </a:solidFill>
                <a:latin typeface="Courier New" pitchFamily="34" charset="0"/>
                <a:ea typeface="Courier New" pitchFamily="34" charset="-122"/>
                <a:cs typeface="Courier New" pitchFamily="34" charset="-120"/>
              </a:rPr>
              <a:t>x = -</a:t>
            </a:r>
            <a:pPr indent="0" marL="0">
              <a:buNone/>
            </a:pPr>
            <a:r>
              <a:rPr lang="en-US" sz="850" dirty="0">
                <a:solidFill>
                  <a:srgbClr val="FFD28A"/>
                </a:solidFill>
                <a:latin typeface="Courier New" pitchFamily="34" charset="0"/>
                <a:ea typeface="Courier New" pitchFamily="34" charset="-122"/>
                <a:cs typeface="Courier New" pitchFamily="34" charset="-120"/>
              </a:rPr>
              <a:t>1</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try:</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assert x &gt; </a:t>
            </a:r>
            <a:pPr indent="0" marL="0">
              <a:buNone/>
            </a:pPr>
            <a:r>
              <a:rPr lang="en-US" sz="850" dirty="0">
                <a:solidFill>
                  <a:srgbClr val="FFD28A"/>
                </a:solidFill>
                <a:latin typeface="Courier New" pitchFamily="34" charset="0"/>
                <a:ea typeface="Courier New" pitchFamily="34" charset="-122"/>
                <a:cs typeface="Courier New" pitchFamily="34" charset="-120"/>
              </a:rPr>
              <a:t>0</a:t>
            </a:r>
            <a:pPr indent="0" marL="0">
              <a:buNone/>
            </a:pPr>
            <a:r>
              <a:rPr lang="en-US" sz="850" dirty="0">
                <a:solidFill>
                  <a:srgbClr val="E6EDF3"/>
                </a:solidFill>
                <a:latin typeface="Courier New" pitchFamily="34" charset="0"/>
                <a:ea typeface="Courier New" pitchFamily="34" charset="-122"/>
                <a:cs typeface="Courier New" pitchFamily="34" charset="-120"/>
              </a:rPr>
              <a:t>, f</a:t>
            </a:r>
            <a:pPr indent="0" marL="0">
              <a:buNone/>
            </a:pPr>
            <a:r>
              <a:rPr lang="en-US" sz="850" dirty="0">
                <a:solidFill>
                  <a:srgbClr val="9ECBFF"/>
                </a:solidFill>
                <a:latin typeface="Courier New" pitchFamily="34" charset="0"/>
                <a:ea typeface="Courier New" pitchFamily="34" charset="-122"/>
                <a:cs typeface="Courier New" pitchFamily="34" charset="-120"/>
              </a:rPr>
              <a:t>'x must be positive, got {x}'</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except AssertionError as e:</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x must be positive, got -1</a:t>
            </a:r>
            <a:endParaRPr lang="en-US" sz="850" dirty="0"/>
          </a:p>
        </p:txBody>
      </p:sp>
      <p:sp>
        <p:nvSpPr>
          <p:cNvPr id="13" name="Text 11"/>
          <p:cNvSpPr txBox="1"/>
          <p:nvPr/>
        </p:nvSpPr>
        <p:spPr>
          <a:xfrm>
            <a:off x="4846320" y="2743200"/>
            <a:ext cx="365760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assertmsg_v1_0_0.py, lines 1 to 5 of 5, run under Python 3.14.6</a:t>
            </a:r>
            <a:endParaRPr lang="en-US" sz="750" dirty="0"/>
          </a:p>
        </p:txBody>
      </p:sp>
      <p:sp>
        <p:nvSpPr>
          <p:cNvPr id="14" name="Text 12"/>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python -O strips asserts: they guard the programmer, never user input</a:t>
            </a:r>
            <a:endParaRPr lang="en-US" sz="1150" dirty="0"/>
          </a:p>
        </p:txBody>
      </p:sp>
      <p:sp>
        <p:nvSpPr>
          <p:cNvPr id="15" name="Shape 13"/>
          <p:cNvSpPr/>
          <p:nvPr/>
        </p:nvSpPr>
        <p:spPr>
          <a:xfrm>
            <a:off x="457200" y="3127248"/>
            <a:ext cx="8229600" cy="1444752"/>
          </a:xfrm>
          <a:prstGeom prst="roundRect">
            <a:avLst>
              <a:gd name="adj" fmla="val 6329"/>
            </a:avLst>
          </a:prstGeom>
          <a:solidFill>
            <a:srgbClr val="23272E"/>
          </a:solidFill>
          <a:ln w="12700">
            <a:solidFill>
              <a:srgbClr val="23272E"/>
            </a:solidFill>
            <a:prstDash val="solid"/>
          </a:ln>
        </p:spPr>
      </p:sp>
      <p:sp>
        <p:nvSpPr>
          <p:cNvPr id="16" name="Text 14"/>
          <p:cNvSpPr txBox="1"/>
          <p:nvPr/>
        </p:nvSpPr>
        <p:spPr>
          <a:xfrm>
            <a:off x="640080" y="3246120"/>
            <a:ext cx="7863840" cy="120700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src = </a:t>
            </a:r>
            <a:pPr indent="0" marL="0">
              <a:buNone/>
            </a:pPr>
            <a:r>
              <a:rPr lang="en-US" sz="710" dirty="0">
                <a:solidFill>
                  <a:srgbClr val="9ECBFF"/>
                </a:solidFill>
                <a:latin typeface="Courier New" pitchFamily="34" charset="0"/>
                <a:ea typeface="Courier New" pitchFamily="34" charset="-122"/>
                <a:cs typeface="Courier New" pitchFamily="34" charset="-120"/>
              </a:rPr>
              <a:t>"assert False, 'boom'\nprint('reached')"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try:</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exec(compile(src, </a:t>
            </a:r>
            <a:pPr indent="0" marL="0">
              <a:buNone/>
            </a:pPr>
            <a:r>
              <a:rPr lang="en-US" sz="710" dirty="0">
                <a:solidFill>
                  <a:srgbClr val="9ECBFF"/>
                </a:solidFill>
                <a:latin typeface="Courier New" pitchFamily="34" charset="0"/>
                <a:ea typeface="Courier New" pitchFamily="34" charset="-122"/>
                <a:cs typeface="Courier New" pitchFamily="34" charset="-120"/>
              </a:rPr>
              <a:t>'x'</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9ECBFF"/>
                </a:solidFill>
                <a:latin typeface="Courier New" pitchFamily="34" charset="0"/>
                <a:ea typeface="Courier New" pitchFamily="34" charset="-122"/>
                <a:cs typeface="Courier New" pitchFamily="34" charset="-120"/>
              </a:rPr>
              <a:t>'exec'</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except AssertionError as 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a:t>
            </a:r>
            <a:pPr indent="0" marL="0">
              <a:buNone/>
            </a:pPr>
            <a:r>
              <a:rPr lang="en-US" sz="710" dirty="0">
                <a:solidFill>
                  <a:srgbClr val="9ECBFF"/>
                </a:solidFill>
                <a:latin typeface="Courier New" pitchFamily="34" charset="0"/>
                <a:ea typeface="Courier New" pitchFamily="34" charset="-122"/>
                <a:cs typeface="Courier New" pitchFamily="34" charset="-120"/>
              </a:rPr>
              <a:t>'normal run:'</a:t>
            </a:r>
            <a:pPr indent="0" marL="0">
              <a:buNone/>
            </a:pPr>
            <a:r>
              <a:rPr lang="en-US" sz="710" dirty="0">
                <a:solidFill>
                  <a:srgbClr val="E6EDF3"/>
                </a:solidFill>
                <a:latin typeface="Courier New" pitchFamily="34" charset="0"/>
                <a:ea typeface="Courier New" pitchFamily="34" charset="-122"/>
                <a:cs typeface="Courier New" pitchFamily="34" charset="-120"/>
              </a:rPr>
              <a:t>, e)</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exec(compile(src, </a:t>
            </a:r>
            <a:pPr indent="0" marL="0">
              <a:buNone/>
            </a:pPr>
            <a:r>
              <a:rPr lang="en-US" sz="710" dirty="0">
                <a:solidFill>
                  <a:srgbClr val="9ECBFF"/>
                </a:solidFill>
                <a:latin typeface="Courier New" pitchFamily="34" charset="0"/>
                <a:ea typeface="Courier New" pitchFamily="34" charset="-122"/>
                <a:cs typeface="Courier New" pitchFamily="34" charset="-120"/>
              </a:rPr>
              <a:t>'x'</a:t>
            </a:r>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dirty="0">
                <a:solidFill>
                  <a:srgbClr val="9ECBFF"/>
                </a:solidFill>
                <a:latin typeface="Courier New" pitchFamily="34" charset="0"/>
                <a:ea typeface="Courier New" pitchFamily="34" charset="-122"/>
                <a:cs typeface="Courier New" pitchFamily="34" charset="-120"/>
              </a:rPr>
              <a:t>'exec'</a:t>
            </a:r>
            <a:pPr indent="0" marL="0">
              <a:buNone/>
            </a:pPr>
            <a:r>
              <a:rPr lang="en-US" sz="710" dirty="0">
                <a:solidFill>
                  <a:srgbClr val="E6EDF3"/>
                </a:solidFill>
                <a:latin typeface="Courier New" pitchFamily="34" charset="0"/>
                <a:ea typeface="Courier New" pitchFamily="34" charset="-122"/>
                <a:cs typeface="Courier New" pitchFamily="34" charset="-120"/>
              </a:rPr>
              <a:t>, optimize=</a:t>
            </a:r>
            <a:pPr indent="0" marL="0">
              <a:buNone/>
            </a:pPr>
            <a:r>
              <a:rPr lang="en-US" sz="710" dirty="0">
                <a:solidFill>
                  <a:srgbClr val="FFD28A"/>
                </a:solidFill>
                <a:latin typeface="Courier New" pitchFamily="34" charset="0"/>
                <a:ea typeface="Courier New" pitchFamily="34" charset="-122"/>
                <a:cs typeface="Courier New" pitchFamily="34" charset="-120"/>
              </a:rPr>
              <a:t>1</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normal run: boom</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reached</a:t>
            </a:r>
            <a:endParaRPr lang="en-US" sz="710" dirty="0"/>
          </a:p>
        </p:txBody>
      </p:sp>
      <p:sp>
        <p:nvSpPr>
          <p:cNvPr id="17" name="Text 15"/>
          <p:cNvSpPr txBox="1"/>
          <p:nvPr/>
        </p:nvSpPr>
        <p:spPr>
          <a:xfrm>
            <a:off x="640080" y="429768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optimised_v1_0_0.py, lines 1 to 6 of 6, run under Python 3.14.6</a:t>
            </a:r>
            <a:endParaRPr lang="en-US" sz="7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assert is a tripwire for states that must never happen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Logging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print statement that grew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Levels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To a file</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force and disable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Lazy formatting</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most effective debugging tool</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1979</a:t>
            </a:r>
            <a:endParaRPr lang="en-US" sz="1300" dirty="0"/>
          </a:p>
        </p:txBody>
      </p:sp>
      <p:pic>
        <p:nvPicPr>
          <p:cNvPr id="6" name="Image 0" descr="../../03-materials/ch05/assets/photo_brian_kernighan.jpg">    </p:cNvPr>
          <p:cNvPicPr>
            <a:picLocks noChangeAspect="1"/>
          </p:cNvPicPr>
          <p:nvPr/>
        </p:nvPicPr>
        <p:blipFill>
          <a:blip r:embed="rId1"/>
          <a:srcRect l="0" r="0" t="0" b="0"/>
          <a:stretch/>
        </p:blipFill>
        <p:spPr>
          <a:xfrm>
            <a:off x="457200" y="1325880"/>
            <a:ext cx="2743200" cy="2651760"/>
          </a:xfrm>
          <a:prstGeom prst="rect">
            <a:avLst/>
          </a:prstGeom>
        </p:spPr>
      </p:pic>
      <p:sp>
        <p:nvSpPr>
          <p:cNvPr id="7" name="Text 4"/>
          <p:cNvSpPr txBox="1"/>
          <p:nvPr/>
        </p:nvSpPr>
        <p:spPr>
          <a:xfrm>
            <a:off x="457200" y="3995928"/>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Brian Kernighan at Bell Labs - photo: Ben Lowe, CC BY 2.0</a:t>
            </a:r>
            <a:endParaRPr lang="en-US" sz="900" dirty="0"/>
          </a:p>
        </p:txBody>
      </p:sp>
      <p:sp>
        <p:nvSpPr>
          <p:cNvPr id="8" name="Shape 5"/>
          <p:cNvSpPr/>
          <p:nvPr/>
        </p:nvSpPr>
        <p:spPr>
          <a:xfrm>
            <a:off x="356616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40480" y="1371600"/>
            <a:ext cx="484632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Bell Labs, 1979: 'careful thought, coupled with</a:t>
            </a:r>
            <a:endParaRPr lang="en-US" sz="1250" dirty="0"/>
          </a:p>
        </p:txBody>
      </p:sp>
      <p:sp>
        <p:nvSpPr>
          <p:cNvPr id="10" name="Shape 7"/>
          <p:cNvSpPr/>
          <p:nvPr/>
        </p:nvSpPr>
        <p:spPr>
          <a:xfrm>
            <a:off x="356616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40480" y="1897380"/>
            <a:ext cx="484632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judiciously placed print statements'</a:t>
            </a:r>
            <a:endParaRPr lang="en-US" sz="1250" dirty="0"/>
          </a:p>
        </p:txBody>
      </p:sp>
      <p:sp>
        <p:nvSpPr>
          <p:cNvPr id="12" name="Shape 9"/>
          <p:cNvSpPr/>
          <p:nvPr/>
        </p:nvSpPr>
        <p:spPr>
          <a:xfrm>
            <a:off x="356616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40480" y="2423160"/>
            <a:ext cx="484632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This chapter agrees - then gives print levels,</a:t>
            </a:r>
            <a:endParaRPr lang="en-US" sz="1250" dirty="0"/>
          </a:p>
        </p:txBody>
      </p:sp>
      <p:sp>
        <p:nvSpPr>
          <p:cNvPr id="14" name="Shape 11"/>
          <p:cNvSpPr/>
          <p:nvPr/>
        </p:nvSpPr>
        <p:spPr>
          <a:xfrm>
            <a:off x="356616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840480" y="2948940"/>
            <a:ext cx="4846320" cy="52578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timestamps, files, and an off switch</a:t>
            </a:r>
            <a:endParaRPr lang="en-US" sz="1250" dirty="0"/>
          </a:p>
        </p:txBody>
      </p:sp>
      <p:sp>
        <p:nvSpPr>
          <p:cNvPr id="16" name="Shape 13"/>
          <p:cNvSpPr/>
          <p:nvPr/>
        </p:nvSpPr>
        <p:spPr>
          <a:xfrm>
            <a:off x="3566160" y="4041648"/>
            <a:ext cx="1485351"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657600" y="4041648"/>
            <a:ext cx="13390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Brian Kernighan, Be…</a:t>
            </a:r>
            <a:endParaRPr lang="en-US" sz="750" dirty="0"/>
          </a:p>
        </p:txBody>
      </p:sp>
      <p:sp>
        <p:nvSpPr>
          <p:cNvPr id="18" name="Shape 15"/>
          <p:cNvSpPr/>
          <p:nvPr/>
        </p:nvSpPr>
        <p:spPr>
          <a:xfrm>
            <a:off x="5161239" y="4041648"/>
            <a:ext cx="148535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252679" y="4041648"/>
            <a:ext cx="133904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'Unix for Beginners…</a:t>
            </a:r>
            <a:endParaRPr lang="en-US" sz="750" dirty="0"/>
          </a:p>
        </p:txBody>
      </p:sp>
      <p:sp>
        <p:nvSpPr>
          <p:cNvPr id="20" name="Shape 17"/>
          <p:cNvSpPr/>
          <p:nvPr/>
        </p:nvSpPr>
        <p:spPr>
          <a:xfrm>
            <a:off x="6756319" y="4041648"/>
            <a:ext cx="814548"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6847759" y="4041648"/>
            <a:ext cx="66824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1979</a:t>
            </a:r>
            <a:endParaRPr lang="en-US" sz="750" dirty="0"/>
          </a:p>
        </p:txBody>
      </p:sp>
      <p:sp>
        <p:nvSpPr>
          <p:cNvPr id="22" name="Shape 19"/>
          <p:cNvSpPr/>
          <p:nvPr/>
        </p:nvSpPr>
        <p:spPr>
          <a:xfrm>
            <a:off x="7680594" y="4041648"/>
            <a:ext cx="100620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772034" y="4041648"/>
            <a:ext cx="85990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Logging is the print statement that grew up</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logging system with a birth certificate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PEP 282, 2002; stdlib since Python 2.3</a:t>
            </a:r>
            <a:endParaRPr lang="en-US" sz="1300" dirty="0"/>
          </a:p>
        </p:txBody>
      </p:sp>
      <p:sp>
        <p:nvSpPr>
          <p:cNvPr id="6" name="Shape 4"/>
          <p:cNvSpPr/>
          <p:nvPr/>
        </p:nvSpPr>
        <p:spPr>
          <a:xfrm>
            <a:off x="457200" y="1463040"/>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98448"/>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PEP 282 (2002), Vinay Sajip and Trent Mick - modelled on log4j's levels</a:t>
            </a:r>
            <a:endParaRPr lang="en-US" sz="1250" dirty="0"/>
          </a:p>
        </p:txBody>
      </p:sp>
      <p:sp>
        <p:nvSpPr>
          <p:cNvPr id="8" name="Shape 6"/>
          <p:cNvSpPr/>
          <p:nvPr/>
        </p:nvSpPr>
        <p:spPr>
          <a:xfrm>
            <a:off x="457200" y="1920240"/>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55648"/>
            <a:ext cx="7955280" cy="45720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 the standard library since Python 2.3; these slides run that exact machinery</a:t>
            </a:r>
            <a:endParaRPr lang="en-US" sz="1250" dirty="0"/>
          </a:p>
        </p:txBody>
      </p:sp>
      <p:sp>
        <p:nvSpPr>
          <p:cNvPr id="10" name="Text 8"/>
          <p:cNvSpPr txBox="1"/>
          <p:nvPr/>
        </p:nvSpPr>
        <p:spPr>
          <a:xfrm>
            <a:off x="457200" y="20574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ladder, asked directly</a:t>
            </a:r>
            <a:endParaRPr lang="en-US" sz="1150" dirty="0"/>
          </a:p>
        </p:txBody>
      </p:sp>
      <p:sp>
        <p:nvSpPr>
          <p:cNvPr id="11" name="Shape 9"/>
          <p:cNvSpPr/>
          <p:nvPr/>
        </p:nvSpPr>
        <p:spPr>
          <a:xfrm>
            <a:off x="457200" y="2331720"/>
            <a:ext cx="8229600" cy="960120"/>
          </a:xfrm>
          <a:prstGeom prst="roundRect">
            <a:avLst>
              <a:gd name="adj" fmla="val 9524"/>
            </a:avLst>
          </a:prstGeom>
          <a:solidFill>
            <a:srgbClr val="23272E"/>
          </a:solidFill>
          <a:ln w="12700">
            <a:solidFill>
              <a:srgbClr val="23272E"/>
            </a:solidFill>
            <a:prstDash val="solid"/>
          </a:ln>
        </p:spPr>
      </p:sp>
      <p:sp>
        <p:nvSpPr>
          <p:cNvPr id="12" name="Text 10"/>
          <p:cNvSpPr txBox="1"/>
          <p:nvPr/>
        </p:nvSpPr>
        <p:spPr>
          <a:xfrm>
            <a:off x="640080" y="2450592"/>
            <a:ext cx="7863840" cy="72237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__import__('logging').getLogger().getEffectiveLevel()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30</a:t>
            </a:r>
            <a:endParaRPr lang="en-US" sz="900" dirty="0"/>
          </a:p>
        </p:txBody>
      </p:sp>
      <p:sp>
        <p:nvSpPr>
          <p:cNvPr id="13" name="Text 11"/>
          <p:cNvSpPr txBox="1"/>
          <p:nvPr/>
        </p:nvSpPr>
        <p:spPr>
          <a:xfrm>
            <a:off x="457200" y="3310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5" name="Text 13"/>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Vinay Sajip and Trent Mick, through th…</a:t>
            </a:r>
            <a:endParaRPr lang="en-US" sz="750" dirty="0"/>
          </a:p>
        </p:txBody>
      </p:sp>
      <p:sp>
        <p:nvSpPr>
          <p:cNvPr id="16" name="Shape 14"/>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peps.python.org - and the logging modu…</a:t>
            </a:r>
            <a:endParaRPr lang="en-US" sz="750" dirty="0"/>
          </a:p>
        </p:txBody>
      </p:sp>
      <p:sp>
        <p:nvSpPr>
          <p:cNvPr id="18" name="Shape 16"/>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PEP 282, 2002; s…</a:t>
            </a:r>
            <a:endParaRPr lang="en-US" sz="750" dirty="0"/>
          </a:p>
        </p:txBody>
      </p:sp>
      <p:sp>
        <p:nvSpPr>
          <p:cNvPr id="20" name="Shape 18"/>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1" name="Text 19"/>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five log levels are a 2002 design decision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Levels: choose what you hear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knob from DEBUG to CRITICAL</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level=INFO: the DEBUG line stays silent</a:t>
            </a:r>
            <a:endParaRPr lang="en-US" sz="1150" dirty="0"/>
          </a:p>
        </p:txBody>
      </p:sp>
      <p:sp>
        <p:nvSpPr>
          <p:cNvPr id="7" name="Shape 5"/>
          <p:cNvSpPr/>
          <p:nvPr/>
        </p:nvSpPr>
        <p:spPr>
          <a:xfrm>
            <a:off x="457200" y="1371600"/>
            <a:ext cx="8229600" cy="2011680"/>
          </a:xfrm>
          <a:prstGeom prst="roundRect">
            <a:avLst>
              <a:gd name="adj" fmla="val 4545"/>
            </a:avLst>
          </a:prstGeom>
          <a:solidFill>
            <a:srgbClr val="23272E"/>
          </a:solidFill>
          <a:ln w="12700">
            <a:solidFill>
              <a:srgbClr val="23272E"/>
            </a:solidFill>
            <a:prstDash val="solid"/>
          </a:ln>
        </p:spPr>
      </p:sp>
      <p:sp>
        <p:nvSpPr>
          <p:cNvPr id="8" name="Text 6"/>
          <p:cNvSpPr txBox="1"/>
          <p:nvPr/>
        </p:nvSpPr>
        <p:spPr>
          <a:xfrm>
            <a:off x="640080" y="1490472"/>
            <a:ext cx="7863840" cy="177393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pPr indent="0" marL="0">
              <a:buNone/>
            </a:pPr>
            <a:r>
              <a:rPr lang="en-US" sz="800" dirty="0">
                <a:solidFill>
                  <a:srgbClr val="E6EDF3"/>
                </a:solidFill>
                <a:latin typeface="Courier New" pitchFamily="34" charset="0"/>
                <a:ea typeface="Courier New" pitchFamily="34" charset="-122"/>
                <a:cs typeface="Courier New" pitchFamily="34" charset="-120"/>
              </a:rPr>
              <a:t> logging, sys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logging.basicConfig(level=logging.INFO, stream=sys.stdout, format=</a:t>
            </a:r>
            <a:pPr indent="0" marL="0">
              <a:buNone/>
            </a:pPr>
            <a:r>
              <a:rPr lang="en-US" sz="80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logging.debug(</a:t>
            </a:r>
            <a:pPr indent="0" marL="0">
              <a:buNone/>
            </a:pPr>
            <a:r>
              <a:rPr lang="en-US" sz="800" dirty="0">
                <a:solidFill>
                  <a:srgbClr val="9ECBFF"/>
                </a:solidFill>
                <a:latin typeface="Courier New" pitchFamily="34" charset="0"/>
                <a:ea typeface="Courier New" pitchFamily="34" charset="-122"/>
                <a:cs typeface="Courier New" pitchFamily="34" charset="-120"/>
              </a:rPr>
              <a:t>'debug message'</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logging.info(</a:t>
            </a:r>
            <a:pPr indent="0" marL="0">
              <a:buNone/>
            </a:pPr>
            <a:r>
              <a:rPr lang="en-US" sz="800" dirty="0">
                <a:solidFill>
                  <a:srgbClr val="9ECBFF"/>
                </a:solidFill>
                <a:latin typeface="Courier New" pitchFamily="34" charset="0"/>
                <a:ea typeface="Courier New" pitchFamily="34" charset="-122"/>
                <a:cs typeface="Courier New" pitchFamily="34" charset="-120"/>
              </a:rPr>
              <a:t>'info message'</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logging.warning(</a:t>
            </a:r>
            <a:pPr indent="0" marL="0">
              <a:buNone/>
            </a:pPr>
            <a:r>
              <a:rPr lang="en-US" sz="800" dirty="0">
                <a:solidFill>
                  <a:srgbClr val="9ECBFF"/>
                </a:solidFill>
                <a:latin typeface="Courier New" pitchFamily="34" charset="0"/>
                <a:ea typeface="Courier New" pitchFamily="34" charset="-122"/>
                <a:cs typeface="Courier New" pitchFamily="34" charset="-120"/>
              </a:rPr>
              <a:t>'warning message'</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logging.error(</a:t>
            </a:r>
            <a:pPr indent="0" marL="0">
              <a:buNone/>
            </a:pPr>
            <a:r>
              <a:rPr lang="en-US" sz="800" dirty="0">
                <a:solidFill>
                  <a:srgbClr val="9ECBFF"/>
                </a:solidFill>
                <a:latin typeface="Courier New" pitchFamily="34" charset="0"/>
                <a:ea typeface="Courier New" pitchFamily="34" charset="-122"/>
                <a:cs typeface="Courier New" pitchFamily="34" charset="-120"/>
              </a:rPr>
              <a:t>'error message'</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logging.critical(</a:t>
            </a:r>
            <a:pPr indent="0" marL="0">
              <a:buNone/>
            </a:pPr>
            <a:r>
              <a:rPr lang="en-US" sz="800" dirty="0">
                <a:solidFill>
                  <a:srgbClr val="9ECBFF"/>
                </a:solidFill>
                <a:latin typeface="Courier New" pitchFamily="34" charset="0"/>
                <a:ea typeface="Courier New" pitchFamily="34" charset="-122"/>
                <a:cs typeface="Courier New" pitchFamily="34" charset="-120"/>
              </a:rPr>
              <a:t>'critical message'</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pPr indent="0" marL="0">
              <a:buNone/>
            </a:pPr>
            <a:r>
              <a:rPr lang="en-US" sz="800" dirty="0">
                <a:solidFill>
                  <a:srgbClr val="7EE787"/>
                </a:solidFill>
                <a:latin typeface="Courier New" pitchFamily="34" charset="0"/>
                <a:ea typeface="Courier New" pitchFamily="34" charset="-122"/>
                <a:cs typeface="Courier New" pitchFamily="34" charset="-120"/>
              </a:rPr>
              <a:t>INFO - info message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WARNING - warning message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ERROR - error message</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CRITICAL - critical message</a:t>
            </a:r>
            <a:endParaRPr lang="en-US" sz="800" dirty="0"/>
          </a:p>
        </p:txBody>
      </p:sp>
      <p:sp>
        <p:nvSpPr>
          <p:cNvPr id="9" name="Text 7"/>
          <p:cNvSpPr txBox="1"/>
          <p:nvPr/>
        </p:nvSpPr>
        <p:spPr>
          <a:xfrm>
            <a:off x="640080" y="310896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levelsdemo_v1_0_0.py, lines 1 to 7 of 7, run under Python 3.14.6</a:t>
            </a:r>
            <a:endParaRPr lang="en-US" sz="750" dirty="0"/>
          </a:p>
        </p:txBody>
      </p:sp>
      <p:sp>
        <p:nvSpPr>
          <p:cNvPr id="10" name="Text 8"/>
          <p:cNvSpPr txBox="1"/>
          <p:nvPr/>
        </p:nvSpPr>
        <p:spPr>
          <a:xfrm>
            <a:off x="457200" y="31821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force=True rewires mid-program - 3.8+ practice</a:t>
            </a:r>
            <a:endParaRPr lang="en-US" sz="1150" dirty="0"/>
          </a:p>
        </p:txBody>
      </p:sp>
      <p:sp>
        <p:nvSpPr>
          <p:cNvPr id="11" name="Shape 9"/>
          <p:cNvSpPr/>
          <p:nvPr/>
        </p:nvSpPr>
        <p:spPr>
          <a:xfrm>
            <a:off x="457200" y="3456432"/>
            <a:ext cx="8229600" cy="1115568"/>
          </a:xfrm>
          <a:prstGeom prst="roundRect">
            <a:avLst>
              <a:gd name="adj" fmla="val 8197"/>
            </a:avLst>
          </a:prstGeom>
          <a:solidFill>
            <a:srgbClr val="23272E"/>
          </a:solidFill>
          <a:ln w="12700">
            <a:solidFill>
              <a:srgbClr val="23272E"/>
            </a:solidFill>
            <a:prstDash val="solid"/>
          </a:ln>
        </p:spPr>
      </p:sp>
      <p:sp>
        <p:nvSpPr>
          <p:cNvPr id="12" name="Text 10"/>
          <p:cNvSpPr txBox="1"/>
          <p:nvPr/>
        </p:nvSpPr>
        <p:spPr>
          <a:xfrm>
            <a:off x="640080" y="3575304"/>
            <a:ext cx="7863840" cy="877824"/>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logging.info(</a:t>
            </a:r>
            <a:pPr indent="0" marL="0">
              <a:buNone/>
            </a:pPr>
            <a:r>
              <a:rPr lang="en-US" sz="730" dirty="0">
                <a:solidFill>
                  <a:srgbClr val="9ECBFF"/>
                </a:solidFill>
                <a:latin typeface="Courier New" pitchFamily="34" charset="0"/>
                <a:ea typeface="Courier New" pitchFamily="34" charset="-122"/>
                <a:cs typeface="Courier New" pitchFamily="34" charset="-120"/>
              </a:rPr>
              <a:t>'first call rules'</a:t>
            </a:r>
            <a:pPr indent="0" marL="0">
              <a:buNone/>
            </a:pP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logging.basicConfig(level=logging.DEBUG, stream=sys.stdout, format=</a:t>
            </a:r>
            <a:pPr indent="0" marL="0">
              <a:buNone/>
            </a:pPr>
            <a:r>
              <a:rPr lang="en-US" sz="73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730" dirty="0">
                <a:solidFill>
                  <a:srgbClr val="E6EDF3"/>
                </a:solidFill>
                <a:latin typeface="Courier New" pitchFamily="34" charset="0"/>
                <a:ea typeface="Courier New" pitchFamily="34" charset="-122"/>
                <a:cs typeface="Courier New" pitchFamily="34" charset="-120"/>
              </a:rPr>
              <a:t>, force=</a:t>
            </a:r>
            <a:pPr indent="0" marL="0">
              <a:buNone/>
            </a:pPr>
            <a:r>
              <a:rPr lang="en-US" sz="730" b="1" dirty="0">
                <a:solidFill>
                  <a:srgbClr val="F2A860"/>
                </a:solidFill>
                <a:latin typeface="Courier New" pitchFamily="34" charset="0"/>
                <a:ea typeface="Courier New" pitchFamily="34" charset="-122"/>
                <a:cs typeface="Courier New" pitchFamily="34" charset="-120"/>
              </a:rPr>
              <a:t>True</a:t>
            </a:r>
            <a:pPr indent="0" marL="0">
              <a:buNone/>
            </a:pP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logging.debug(</a:t>
            </a:r>
            <a:pPr indent="0" marL="0">
              <a:buNone/>
            </a:pPr>
            <a:r>
              <a:rPr lang="en-US" sz="730" dirty="0">
                <a:solidFill>
                  <a:srgbClr val="9ECBFF"/>
                </a:solidFill>
                <a:latin typeface="Courier New" pitchFamily="34" charset="0"/>
                <a:ea typeface="Courier New" pitchFamily="34" charset="-122"/>
                <a:cs typeface="Courier New" pitchFamily="34" charset="-120"/>
              </a:rPr>
              <a:t>'force=True replaces it'</a:t>
            </a:r>
            <a:pPr indent="0" marL="0">
              <a:buNone/>
            </a:pP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prints </a:t>
            </a:r>
            <a:pPr indent="0" marL="0">
              <a:buNone/>
            </a:pPr>
            <a:r>
              <a:rPr lang="en-US" sz="730" dirty="0">
                <a:solidFill>
                  <a:srgbClr val="7EE787"/>
                </a:solidFill>
                <a:latin typeface="Courier New" pitchFamily="34" charset="0"/>
                <a:ea typeface="Courier New" pitchFamily="34" charset="-122"/>
                <a:cs typeface="Courier New" pitchFamily="34" charset="-120"/>
              </a:rPr>
              <a:t>INFO - first call rules</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DEBUG - force=True replaces it</a:t>
            </a:r>
            <a:endParaRPr lang="en-US" sz="730" dirty="0"/>
          </a:p>
        </p:txBody>
      </p:sp>
      <p:sp>
        <p:nvSpPr>
          <p:cNvPr id="13" name="Text 11"/>
          <p:cNvSpPr txBox="1"/>
          <p:nvPr/>
        </p:nvSpPr>
        <p:spPr>
          <a:xfrm>
            <a:off x="640080" y="429768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force_v1_0_0.py, lines 5 to 7 of 7, run under Python 3.14.6</a:t>
            </a:r>
            <a:endParaRPr lang="en-US" sz="7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Set the level, not your patience - DEBUG to CRITICAL</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Log to a file; switch it off cleanly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Evidence on disk, silence on demand</a:t>
            </a:r>
            <a:endParaRPr lang="en-US" sz="1300" dirty="0"/>
          </a:p>
        </p:txBody>
      </p:sp>
      <p:sp>
        <p:nvSpPr>
          <p:cNvPr id="6" name="Text 4"/>
          <p:cNvSpPr txBox="1"/>
          <p:nvPr/>
        </p:nvSpPr>
        <p:spPr>
          <a:xfrm>
            <a:off x="457200" y="106070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filename= sends the evidence to disk - and CRITICAL still reaches you</a:t>
            </a:r>
            <a:endParaRPr lang="en-US" sz="1150" dirty="0"/>
          </a:p>
        </p:txBody>
      </p:sp>
      <p:sp>
        <p:nvSpPr>
          <p:cNvPr id="7" name="Shape 5"/>
          <p:cNvSpPr/>
          <p:nvPr/>
        </p:nvSpPr>
        <p:spPr>
          <a:xfrm>
            <a:off x="457200" y="1335024"/>
            <a:ext cx="8229600" cy="1499616"/>
          </a:xfrm>
          <a:prstGeom prst="roundRect">
            <a:avLst>
              <a:gd name="adj" fmla="val 6098"/>
            </a:avLst>
          </a:prstGeom>
          <a:solidFill>
            <a:srgbClr val="23272E"/>
          </a:solidFill>
          <a:ln w="12700">
            <a:solidFill>
              <a:srgbClr val="23272E"/>
            </a:solidFill>
            <a:prstDash val="solid"/>
          </a:ln>
        </p:spPr>
      </p:sp>
      <p:sp>
        <p:nvSpPr>
          <p:cNvPr id="8" name="Text 6"/>
          <p:cNvSpPr txBox="1"/>
          <p:nvPr/>
        </p:nvSpPr>
        <p:spPr>
          <a:xfrm>
            <a:off x="640080" y="1453896"/>
            <a:ext cx="7863840" cy="126187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import</a:t>
            </a:r>
            <a:pPr indent="0" marL="0">
              <a:buNone/>
            </a:pPr>
            <a:r>
              <a:rPr lang="en-US" sz="750" dirty="0">
                <a:solidFill>
                  <a:srgbClr val="E6EDF3"/>
                </a:solidFill>
                <a:latin typeface="Courier New" pitchFamily="34" charset="0"/>
                <a:ea typeface="Courier New" pitchFamily="34" charset="-122"/>
                <a:cs typeface="Courier New" pitchFamily="34" charset="-120"/>
              </a:rPr>
              <a:t> logging, os, tempfile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path = os.path.join(tempfile.mkdtemp(), </a:t>
            </a:r>
            <a:pPr indent="0" marL="0">
              <a:buNone/>
            </a:pPr>
            <a:r>
              <a:rPr lang="en-US" sz="750" dirty="0">
                <a:solidFill>
                  <a:srgbClr val="9ECBFF"/>
                </a:solidFill>
                <a:latin typeface="Courier New" pitchFamily="34" charset="0"/>
                <a:ea typeface="Courier New" pitchFamily="34" charset="-122"/>
                <a:cs typeface="Courier New" pitchFamily="34" charset="-120"/>
              </a:rPr>
              <a:t>'myProgramLog.txt'</a:t>
            </a:r>
            <a:pPr indent="0" marL="0">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logging.basicConfig(filename=path, level=logging.DEBUG, format=</a:t>
            </a:r>
            <a:pPr indent="0" marL="0">
              <a:buNone/>
            </a:pPr>
            <a:r>
              <a:rPr lang="en-US" sz="75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logging.debug(</a:t>
            </a:r>
            <a:pPr indent="0" marL="0">
              <a:buNone/>
            </a:pPr>
            <a:r>
              <a:rPr lang="en-US" sz="750" dirty="0">
                <a:solidFill>
                  <a:srgbClr val="9ECBFF"/>
                </a:solidFill>
                <a:latin typeface="Courier New" pitchFamily="34" charset="0"/>
                <a:ea typeface="Courier New" pitchFamily="34" charset="-122"/>
                <a:cs typeface="Courier New" pitchFamily="34" charset="-120"/>
              </a:rPr>
              <a:t>'to the file'</a:t>
            </a:r>
            <a:pPr indent="0" marL="0">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logging.critical(</a:t>
            </a:r>
            <a:pPr indent="0" marL="0">
              <a:buNone/>
            </a:pPr>
            <a:r>
              <a:rPr lang="en-US" sz="750" dirty="0">
                <a:solidFill>
                  <a:srgbClr val="9ECBFF"/>
                </a:solidFill>
                <a:latin typeface="Courier New" pitchFamily="34" charset="0"/>
                <a:ea typeface="Courier New" pitchFamily="34" charset="-122"/>
                <a:cs typeface="Courier New" pitchFamily="34" charset="-120"/>
              </a:rPr>
              <a:t>'also to the file'</a:t>
            </a:r>
            <a:pPr indent="0" marL="0">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print(open(path).read(), end=</a:t>
            </a:r>
            <a:pPr indent="0" marL="0">
              <a:buNone/>
            </a:pPr>
            <a:r>
              <a:rPr lang="en-US" sz="750" dirty="0">
                <a:solidFill>
                  <a:srgbClr val="9ECBFF"/>
                </a:solidFill>
                <a:latin typeface="Courier New" pitchFamily="34" charset="0"/>
                <a:ea typeface="Courier New" pitchFamily="34" charset="-122"/>
                <a:cs typeface="Courier New" pitchFamily="34" charset="-120"/>
              </a:rPr>
              <a:t>''</a:t>
            </a:r>
            <a:pPr indent="0" marL="0">
              <a:buNone/>
            </a:pP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pPr indent="0" marL="0">
              <a:buNone/>
            </a:pPr>
            <a:r>
              <a:rPr lang="en-US" sz="750" dirty="0">
                <a:solidFill>
                  <a:srgbClr val="7EE787"/>
                </a:solidFill>
                <a:latin typeface="Courier New" pitchFamily="34" charset="0"/>
                <a:ea typeface="Courier New" pitchFamily="34" charset="-122"/>
                <a:cs typeface="Courier New" pitchFamily="34" charset="-120"/>
              </a:rPr>
              <a:t>DEBUG - to the file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CRITICAL - also to the file</a:t>
            </a:r>
            <a:endParaRPr lang="en-US" sz="750" dirty="0"/>
          </a:p>
        </p:txBody>
      </p:sp>
      <p:sp>
        <p:nvSpPr>
          <p:cNvPr id="9" name="Text 7"/>
          <p:cNvSpPr txBox="1"/>
          <p:nvPr/>
        </p:nvSpPr>
        <p:spPr>
          <a:xfrm>
            <a:off x="640080" y="256032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filelog_v1_0_0.py, lines 1 to 6 of 6, run under Python 3.14.6</a:t>
            </a:r>
            <a:endParaRPr lang="en-US" sz="750" dirty="0"/>
          </a:p>
        </p:txBody>
      </p:sp>
      <p:sp>
        <p:nvSpPr>
          <p:cNvPr id="10" name="Text 8"/>
          <p:cNvSpPr txBox="1"/>
          <p:nvPr/>
        </p:nvSpPr>
        <p:spPr>
          <a:xfrm>
            <a:off x="457200" y="261518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logging.disable: one line silences below a level - no deletions</a:t>
            </a:r>
            <a:endParaRPr lang="en-US" sz="1150" dirty="0"/>
          </a:p>
        </p:txBody>
      </p:sp>
      <p:sp>
        <p:nvSpPr>
          <p:cNvPr id="11" name="Shape 9"/>
          <p:cNvSpPr/>
          <p:nvPr/>
        </p:nvSpPr>
        <p:spPr>
          <a:xfrm>
            <a:off x="457200" y="2889504"/>
            <a:ext cx="8229600" cy="1682496"/>
          </a:xfrm>
          <a:prstGeom prst="roundRect">
            <a:avLst>
              <a:gd name="adj" fmla="val 5435"/>
            </a:avLst>
          </a:prstGeom>
          <a:solidFill>
            <a:srgbClr val="23272E"/>
          </a:solidFill>
          <a:ln w="12700">
            <a:solidFill>
              <a:srgbClr val="23272E"/>
            </a:solidFill>
            <a:prstDash val="solid"/>
          </a:ln>
        </p:spPr>
      </p:sp>
      <p:sp>
        <p:nvSpPr>
          <p:cNvPr id="12" name="Text 10"/>
          <p:cNvSpPr txBox="1"/>
          <p:nvPr/>
        </p:nvSpPr>
        <p:spPr>
          <a:xfrm>
            <a:off x="640080" y="3008376"/>
            <a:ext cx="7863840" cy="1444752"/>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pPr indent="0" marL="0">
              <a:buNone/>
            </a:pPr>
            <a:r>
              <a:rPr lang="en-US" sz="710" dirty="0">
                <a:solidFill>
                  <a:srgbClr val="E6EDF3"/>
                </a:solidFill>
                <a:latin typeface="Courier New" pitchFamily="34" charset="0"/>
                <a:ea typeface="Courier New" pitchFamily="34" charset="-122"/>
                <a:cs typeface="Courier New" pitchFamily="34" charset="-120"/>
              </a:rPr>
              <a:t> logging, sys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logging.basicConfig(level=logging.INFO, stream=sys.stdout, format=</a:t>
            </a:r>
            <a:pPr indent="0" marL="0">
              <a:buNone/>
            </a:pPr>
            <a:r>
              <a:rPr lang="en-US" sz="71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logging.critical(</a:t>
            </a:r>
            <a:pPr indent="0" marL="0">
              <a:buNone/>
            </a:pPr>
            <a:r>
              <a:rPr lang="en-US" sz="710" dirty="0">
                <a:solidFill>
                  <a:srgbClr val="9ECBFF"/>
                </a:solidFill>
                <a:latin typeface="Courier New" pitchFamily="34" charset="0"/>
                <a:ea typeface="Courier New" pitchFamily="34" charset="-122"/>
                <a:cs typeface="Courier New" pitchFamily="34" charset="-120"/>
              </a:rPr>
              <a:t>'before disable'</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logging.disable(logging.CRITICAL)</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logging.critical(</a:t>
            </a:r>
            <a:pPr indent="0" marL="0">
              <a:buNone/>
            </a:pPr>
            <a:r>
              <a:rPr lang="en-US" sz="710" dirty="0">
                <a:solidFill>
                  <a:srgbClr val="9ECBFF"/>
                </a:solidFill>
                <a:latin typeface="Courier New" pitchFamily="34" charset="0"/>
                <a:ea typeface="Courier New" pitchFamily="34" charset="-122"/>
                <a:cs typeface="Courier New" pitchFamily="34" charset="-120"/>
              </a:rPr>
              <a:t>'after disable'</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logging.error(</a:t>
            </a:r>
            <a:pPr indent="0" marL="0">
              <a:buNone/>
            </a:pPr>
            <a:r>
              <a:rPr lang="en-US" sz="710" dirty="0">
                <a:solidFill>
                  <a:srgbClr val="9ECBFF"/>
                </a:solidFill>
                <a:latin typeface="Courier New" pitchFamily="34" charset="0"/>
                <a:ea typeface="Courier New" pitchFamily="34" charset="-122"/>
                <a:cs typeface="Courier New" pitchFamily="34" charset="-120"/>
              </a:rPr>
              <a:t>'after disable'</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logging.disable(logging.NOTSET)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logging.error(</a:t>
            </a:r>
            <a:pPr indent="0" marL="0">
              <a:buNone/>
            </a:pPr>
            <a:r>
              <a:rPr lang="en-US" sz="710" dirty="0">
                <a:solidFill>
                  <a:srgbClr val="9ECBFF"/>
                </a:solidFill>
                <a:latin typeface="Courier New" pitchFamily="34" charset="0"/>
                <a:ea typeface="Courier New" pitchFamily="34" charset="-122"/>
                <a:cs typeface="Courier New" pitchFamily="34" charset="-120"/>
              </a:rPr>
              <a:t>'after re-enabling'</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CRITICAL - before disable</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ERROR - after re-enabling</a:t>
            </a:r>
            <a:endParaRPr lang="en-US" sz="710" dirty="0"/>
          </a:p>
        </p:txBody>
      </p:sp>
      <p:sp>
        <p:nvSpPr>
          <p:cNvPr id="13" name="Text 11"/>
          <p:cNvSpPr txBox="1"/>
          <p:nvPr/>
        </p:nvSpPr>
        <p:spPr>
          <a:xfrm>
            <a:off x="640080" y="429768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disable_v1_0_0.py, lines 1 to 8 of 8, run under Python 3.14.6</a:t>
            </a:r>
            <a:endParaRPr lang="en-US" sz="7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Evidence goes to files; disable beats delete</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hunt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Two real bugs, found by their logs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Factorial, off by one</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 vs int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debugger</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Hunt one bug, with the log as witness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factorial(3) returns 0 - the log says why</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read the DEBUG lines: i starts at 0, and the product dies with it</a:t>
            </a:r>
            <a:endParaRPr lang="en-US" sz="1150" dirty="0"/>
          </a:p>
        </p:txBody>
      </p:sp>
      <p:sp>
        <p:nvSpPr>
          <p:cNvPr id="7" name="Shape 5"/>
          <p:cNvSpPr/>
          <p:nvPr/>
        </p:nvSpPr>
        <p:spPr>
          <a:xfrm>
            <a:off x="457200" y="1371600"/>
            <a:ext cx="8229600" cy="2743200"/>
          </a:xfrm>
          <a:prstGeom prst="roundRect">
            <a:avLst>
              <a:gd name="adj" fmla="val 3333"/>
            </a:avLst>
          </a:prstGeom>
          <a:solidFill>
            <a:srgbClr val="23272E"/>
          </a:solidFill>
          <a:ln w="12700">
            <a:solidFill>
              <a:srgbClr val="23272E"/>
            </a:solidFill>
            <a:prstDash val="solid"/>
          </a:ln>
        </p:spPr>
      </p:sp>
      <p:sp>
        <p:nvSpPr>
          <p:cNvPr id="8" name="Text 6"/>
          <p:cNvSpPr txBox="1"/>
          <p:nvPr/>
        </p:nvSpPr>
        <p:spPr>
          <a:xfrm>
            <a:off x="640080" y="1490472"/>
            <a:ext cx="7863840" cy="2505456"/>
          </a:xfrm>
          <a:prstGeom prst="rect">
            <a:avLst/>
          </a:prstGeom>
          <a:noFill/>
          <a:ln/>
        </p:spPr>
        <p:txBody>
          <a:bodyPr wrap="square" lIns="0" tIns="0" rIns="0" bIns="0" rtlCol="0" anchor="t"/>
          <a:lstStyle/>
          <a:p>
            <a:pPr indent="0" marL="0">
              <a:buNone/>
            </a:pPr>
            <a:r>
              <a:rPr lang="en-US" sz="710" b="1" dirty="0">
                <a:solidFill>
                  <a:srgbClr val="F2A860"/>
                </a:solidFill>
                <a:latin typeface="Courier New" pitchFamily="34" charset="0"/>
                <a:ea typeface="Courier New" pitchFamily="34" charset="-122"/>
                <a:cs typeface="Courier New" pitchFamily="34" charset="-120"/>
              </a:rPr>
              <a:t>import</a:t>
            </a:r>
            <a:pPr indent="0" marL="0">
              <a:buNone/>
            </a:pPr>
            <a:r>
              <a:rPr lang="en-US" sz="710" dirty="0">
                <a:solidFill>
                  <a:srgbClr val="E6EDF3"/>
                </a:solidFill>
                <a:latin typeface="Courier New" pitchFamily="34" charset="0"/>
                <a:ea typeface="Courier New" pitchFamily="34" charset="-122"/>
                <a:cs typeface="Courier New" pitchFamily="34" charset="-120"/>
              </a:rPr>
              <a:t> logging, sys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logging.basicConfig(level=logging.DEBUG, stream=sys.stdout, format=</a:t>
            </a:r>
            <a:pPr indent="0" marL="0">
              <a:buNone/>
            </a:pPr>
            <a:r>
              <a:rPr lang="en-US" sz="71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def</a:t>
            </a:r>
            <a:pPr indent="0" marL="0">
              <a:buNone/>
            </a:pPr>
            <a:r>
              <a:rPr lang="en-US" sz="710" dirty="0">
                <a:solidFill>
                  <a:srgbClr val="E6EDF3"/>
                </a:solidFill>
                <a:latin typeface="Courier New" pitchFamily="34" charset="0"/>
                <a:ea typeface="Courier New" pitchFamily="34" charset="-122"/>
                <a:cs typeface="Courier New" pitchFamily="34" charset="-120"/>
              </a:rPr>
              <a:t> factorial(n):</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logging.debug(</a:t>
            </a:r>
            <a:pPr indent="0" marL="0">
              <a:buNone/>
            </a:pPr>
            <a:r>
              <a:rPr lang="en-US" sz="710" dirty="0">
                <a:solidFill>
                  <a:srgbClr val="9ECBFF"/>
                </a:solidFill>
                <a:latin typeface="Courier New" pitchFamily="34" charset="0"/>
                <a:ea typeface="Courier New" pitchFamily="34" charset="-122"/>
                <a:cs typeface="Courier New" pitchFamily="34" charset="-120"/>
              </a:rPr>
              <a:t>'Start of factorial(%s)'</a:t>
            </a:r>
            <a:pPr indent="0" marL="0">
              <a:buNone/>
            </a:pPr>
            <a:r>
              <a:rPr lang="en-US" sz="710" dirty="0">
                <a:solidFill>
                  <a:srgbClr val="E6EDF3"/>
                </a:solidFill>
                <a:latin typeface="Courier New" pitchFamily="34" charset="0"/>
                <a:ea typeface="Courier New" pitchFamily="34" charset="-122"/>
                <a:cs typeface="Courier New" pitchFamily="34" charset="-120"/>
              </a:rPr>
              <a:t>, n)</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total = </a:t>
            </a:r>
            <a:pPr indent="0" marL="0">
              <a:buNone/>
            </a:pPr>
            <a:r>
              <a:rPr lang="en-US" sz="710" dirty="0">
                <a:solidFill>
                  <a:srgbClr val="FFD28A"/>
                </a:solidFill>
                <a:latin typeface="Courier New" pitchFamily="34" charset="0"/>
                <a:ea typeface="Courier New" pitchFamily="34" charset="-122"/>
                <a:cs typeface="Courier New" pitchFamily="34" charset="-120"/>
              </a:rPr>
              <a:t>1</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for</a:t>
            </a:r>
            <a:pPr indent="0" marL="0">
              <a:buNone/>
            </a:pPr>
            <a:r>
              <a:rPr lang="en-US" sz="710" dirty="0">
                <a:solidFill>
                  <a:srgbClr val="E6EDF3"/>
                </a:solidFill>
                <a:latin typeface="Courier New" pitchFamily="34" charset="0"/>
                <a:ea typeface="Courier New" pitchFamily="34" charset="-122"/>
                <a:cs typeface="Courier New" pitchFamily="34" charset="-120"/>
              </a:rPr>
              <a:t> i </a:t>
            </a:r>
            <a:pPr indent="0" marL="0">
              <a:buNone/>
            </a:pPr>
            <a:r>
              <a:rPr lang="en-US" sz="710" b="1" dirty="0">
                <a:solidFill>
                  <a:srgbClr val="F2A860"/>
                </a:solidFill>
                <a:latin typeface="Courier New" pitchFamily="34" charset="0"/>
                <a:ea typeface="Courier New" pitchFamily="34" charset="-122"/>
                <a:cs typeface="Courier New" pitchFamily="34" charset="-120"/>
              </a:rPr>
              <a:t>in</a:t>
            </a:r>
            <a:pPr indent="0" marL="0">
              <a:buNone/>
            </a:pPr>
            <a:r>
              <a:rPr lang="en-US" sz="710" dirty="0">
                <a:solidFill>
                  <a:srgbClr val="E6EDF3"/>
                </a:solidFill>
                <a:latin typeface="Courier New" pitchFamily="34" charset="0"/>
                <a:ea typeface="Courier New" pitchFamily="34" charset="-122"/>
                <a:cs typeface="Courier New" pitchFamily="34" charset="-120"/>
              </a:rPr>
              <a:t> range(n + </a:t>
            </a:r>
            <a:pPr indent="0" marL="0">
              <a:buNone/>
            </a:pPr>
            <a:r>
              <a:rPr lang="en-US" sz="710" dirty="0">
                <a:solidFill>
                  <a:srgbClr val="FFD28A"/>
                </a:solidFill>
                <a:latin typeface="Courier New" pitchFamily="34" charset="0"/>
                <a:ea typeface="Courier New" pitchFamily="34" charset="-122"/>
                <a:cs typeface="Courier New" pitchFamily="34" charset="-120"/>
              </a:rPr>
              <a:t>1</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total *= i</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logging.debug(</a:t>
            </a:r>
            <a:pPr indent="0" marL="0">
              <a:buNone/>
            </a:pPr>
            <a:r>
              <a:rPr lang="en-US" sz="710" dirty="0">
                <a:solidFill>
                  <a:srgbClr val="9ECBFF"/>
                </a:solidFill>
                <a:latin typeface="Courier New" pitchFamily="34" charset="0"/>
                <a:ea typeface="Courier New" pitchFamily="34" charset="-122"/>
                <a:cs typeface="Courier New" pitchFamily="34" charset="-120"/>
              </a:rPr>
              <a:t>'i is %s, total is %s'</a:t>
            </a:r>
            <a:pPr indent="0" marL="0">
              <a:buNone/>
            </a:pPr>
            <a:r>
              <a:rPr lang="en-US" sz="710" dirty="0">
                <a:solidFill>
                  <a:srgbClr val="E6EDF3"/>
                </a:solidFill>
                <a:latin typeface="Courier New" pitchFamily="34" charset="0"/>
                <a:ea typeface="Courier New" pitchFamily="34" charset="-122"/>
                <a:cs typeface="Courier New" pitchFamily="34" charset="-120"/>
              </a:rPr>
              <a:t>, i, total)</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logging.debug(</a:t>
            </a:r>
            <a:pPr indent="0" marL="0">
              <a:buNone/>
            </a:pPr>
            <a:r>
              <a:rPr lang="en-US" sz="710" dirty="0">
                <a:solidFill>
                  <a:srgbClr val="9ECBFF"/>
                </a:solidFill>
                <a:latin typeface="Courier New" pitchFamily="34" charset="0"/>
                <a:ea typeface="Courier New" pitchFamily="34" charset="-122"/>
                <a:cs typeface="Courier New" pitchFamily="34" charset="-120"/>
              </a:rPr>
              <a:t>'End of factorial(%s)'</a:t>
            </a:r>
            <a:pPr indent="0" marL="0">
              <a:buNone/>
            </a:pPr>
            <a:r>
              <a:rPr lang="en-US" sz="710" dirty="0">
                <a:solidFill>
                  <a:srgbClr val="E6EDF3"/>
                </a:solidFill>
                <a:latin typeface="Courier New" pitchFamily="34" charset="0"/>
                <a:ea typeface="Courier New" pitchFamily="34" charset="-122"/>
                <a:cs typeface="Courier New" pitchFamily="34" charset="-120"/>
              </a:rPr>
              <a:t>, n)</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a:t>
            </a:r>
            <a:pPr indent="0" marL="0">
              <a:buNone/>
            </a:pPr>
            <a:r>
              <a:rPr lang="en-US" sz="710" b="1" dirty="0">
                <a:solidFill>
                  <a:srgbClr val="F2A860"/>
                </a:solidFill>
                <a:latin typeface="Courier New" pitchFamily="34" charset="0"/>
                <a:ea typeface="Courier New" pitchFamily="34" charset="-122"/>
                <a:cs typeface="Courier New" pitchFamily="34" charset="-120"/>
              </a:rPr>
              <a:t>return</a:t>
            </a:r>
            <a:pPr indent="0" marL="0">
              <a:buNone/>
            </a:pPr>
            <a:r>
              <a:rPr lang="en-US" sz="710" dirty="0">
                <a:solidFill>
                  <a:srgbClr val="E6EDF3"/>
                </a:solidFill>
                <a:latin typeface="Courier New" pitchFamily="34" charset="0"/>
                <a:ea typeface="Courier New" pitchFamily="34" charset="-122"/>
                <a:cs typeface="Courier New" pitchFamily="34" charset="-120"/>
              </a:rPr>
              <a:t> total</a:t>
            </a:r>
            <a:endParaRPr lang="en-US" sz="710" dirty="0"/>
          </a:p>
          <a:p>
            <a:pPr indent="0" marL="0">
              <a:buNone/>
            </a:pP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print(factorial(</a:t>
            </a:r>
            <a:pPr indent="0" marL="0">
              <a:buNone/>
            </a:pPr>
            <a:r>
              <a:rPr lang="en-US" sz="710" dirty="0">
                <a:solidFill>
                  <a:srgbClr val="FFD28A"/>
                </a:solidFill>
                <a:latin typeface="Courier New" pitchFamily="34" charset="0"/>
                <a:ea typeface="Courier New" pitchFamily="34" charset="-122"/>
                <a:cs typeface="Courier New" pitchFamily="34" charset="-120"/>
              </a:rPr>
              <a:t>3</a:t>
            </a:r>
            <a:pPr indent="0" marL="0">
              <a:buNone/>
            </a:pP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pPr indent="0" marL="0">
              <a:buNone/>
            </a:pPr>
            <a:r>
              <a:rPr lang="en-US" sz="710" dirty="0">
                <a:solidFill>
                  <a:srgbClr val="7EE787"/>
                </a:solidFill>
                <a:latin typeface="Courier New" pitchFamily="34" charset="0"/>
                <a:ea typeface="Courier New" pitchFamily="34" charset="-122"/>
                <a:cs typeface="Courier New" pitchFamily="34" charset="-120"/>
              </a:rPr>
              <a:t>DEBUG - Start of factorial(3)</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DEBUG - i is 0, total is 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DEBUG - i is 1, total is 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DEBUG - i is 2, total is 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DEBUG - i is 3, total is 0</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DEBUG - End of factorial(3)</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p:txBody>
      </p:sp>
      <p:sp>
        <p:nvSpPr>
          <p:cNvPr id="9" name="Text 7"/>
          <p:cNvSpPr txBox="1"/>
          <p:nvPr/>
        </p:nvSpPr>
        <p:spPr>
          <a:xfrm>
            <a:off x="640080" y="384048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factorial_bug_v1_0_0.py, lines 1 to 12 of 12, run under Python 3.14.6</a:t>
            </a:r>
            <a:endParaRPr lang="en-US" sz="750" dirty="0"/>
          </a:p>
        </p:txBody>
      </p:sp>
      <p:sp>
        <p:nvSpPr>
          <p:cNvPr id="10"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log shows the loop die one step early</a:t>
            </a:r>
            <a:endParaRPr lang="en-US" sz="135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one-character fix, witnessed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Same program, range(1, ...) - the log now testifies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log ends at 6 - and reads as the proof the fix worked</a:t>
            </a:r>
            <a:endParaRPr lang="en-US" sz="1150" dirty="0"/>
          </a:p>
        </p:txBody>
      </p:sp>
      <p:sp>
        <p:nvSpPr>
          <p:cNvPr id="7" name="Shape 5"/>
          <p:cNvSpPr/>
          <p:nvPr/>
        </p:nvSpPr>
        <p:spPr>
          <a:xfrm>
            <a:off x="457200" y="1371600"/>
            <a:ext cx="8229600" cy="2651760"/>
          </a:xfrm>
          <a:prstGeom prst="roundRect">
            <a:avLst>
              <a:gd name="adj" fmla="val 3448"/>
            </a:avLst>
          </a:prstGeom>
          <a:solidFill>
            <a:srgbClr val="23272E"/>
          </a:solidFill>
          <a:ln w="12700">
            <a:solidFill>
              <a:srgbClr val="23272E"/>
            </a:solidFill>
            <a:prstDash val="solid"/>
          </a:ln>
        </p:spPr>
      </p:sp>
      <p:sp>
        <p:nvSpPr>
          <p:cNvPr id="8" name="Text 6"/>
          <p:cNvSpPr txBox="1"/>
          <p:nvPr/>
        </p:nvSpPr>
        <p:spPr>
          <a:xfrm>
            <a:off x="640080" y="1490472"/>
            <a:ext cx="7863840" cy="2414016"/>
          </a:xfrm>
          <a:prstGeom prst="rect">
            <a:avLst/>
          </a:prstGeom>
          <a:noFill/>
          <a:ln/>
        </p:spPr>
        <p:txBody>
          <a:bodyPr wrap="square" lIns="0" tIns="0" rIns="0" bIns="0" rtlCol="0" anchor="t"/>
          <a:lstStyle/>
          <a:p>
            <a:pPr indent="0" marL="0">
              <a:buNone/>
            </a:pPr>
            <a:r>
              <a:rPr lang="en-US" sz="720" b="1" dirty="0">
                <a:solidFill>
                  <a:srgbClr val="F2A860"/>
                </a:solidFill>
                <a:latin typeface="Courier New" pitchFamily="34" charset="0"/>
                <a:ea typeface="Courier New" pitchFamily="34" charset="-122"/>
                <a:cs typeface="Courier New" pitchFamily="34" charset="-120"/>
              </a:rPr>
              <a:t>import</a:t>
            </a:r>
            <a:pPr indent="0" marL="0">
              <a:buNone/>
            </a:pPr>
            <a:r>
              <a:rPr lang="en-US" sz="720" dirty="0">
                <a:solidFill>
                  <a:srgbClr val="E6EDF3"/>
                </a:solidFill>
                <a:latin typeface="Courier New" pitchFamily="34" charset="0"/>
                <a:ea typeface="Courier New" pitchFamily="34" charset="-122"/>
                <a:cs typeface="Courier New" pitchFamily="34" charset="-120"/>
              </a:rPr>
              <a:t> logging, sys</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logging.basicConfig(level=logging.DEBUG, stream=sys.stdout, format=</a:t>
            </a:r>
            <a:pPr indent="0" marL="0">
              <a:buNone/>
            </a:pPr>
            <a:r>
              <a:rPr lang="en-US" sz="720" dirty="0">
                <a:solidFill>
                  <a:srgbClr val="9ECBFF"/>
                </a:solidFill>
                <a:latin typeface="Courier New" pitchFamily="34" charset="0"/>
                <a:ea typeface="Courier New" pitchFamily="34" charset="-122"/>
                <a:cs typeface="Courier New" pitchFamily="34" charset="-120"/>
              </a:rPr>
              <a:t>'%(levelname)s - %(message)s'</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def</a:t>
            </a:r>
            <a:pPr indent="0" marL="0">
              <a:buNone/>
            </a:pPr>
            <a:r>
              <a:rPr lang="en-US" sz="720" dirty="0">
                <a:solidFill>
                  <a:srgbClr val="E6EDF3"/>
                </a:solidFill>
                <a:latin typeface="Courier New" pitchFamily="34" charset="0"/>
                <a:ea typeface="Courier New" pitchFamily="34" charset="-122"/>
                <a:cs typeface="Courier New" pitchFamily="34" charset="-120"/>
              </a:rPr>
              <a:t> factorial(n):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logging.debug(</a:t>
            </a:r>
            <a:pPr indent="0" marL="0">
              <a:buNone/>
            </a:pPr>
            <a:r>
              <a:rPr lang="en-US" sz="720" dirty="0">
                <a:solidFill>
                  <a:srgbClr val="9ECBFF"/>
                </a:solidFill>
                <a:latin typeface="Courier New" pitchFamily="34" charset="0"/>
                <a:ea typeface="Courier New" pitchFamily="34" charset="-122"/>
                <a:cs typeface="Courier New" pitchFamily="34" charset="-120"/>
              </a:rPr>
              <a:t>'Start of factorial(%s)'</a:t>
            </a:r>
            <a:pPr indent="0" marL="0">
              <a:buNone/>
            </a:pPr>
            <a:r>
              <a:rPr lang="en-US" sz="720" dirty="0">
                <a:solidFill>
                  <a:srgbClr val="E6EDF3"/>
                </a:solidFill>
                <a:latin typeface="Courier New" pitchFamily="34" charset="0"/>
                <a:ea typeface="Courier New" pitchFamily="34" charset="-122"/>
                <a:cs typeface="Courier New" pitchFamily="34" charset="-120"/>
              </a:rPr>
              <a:t>, 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total = </a:t>
            </a:r>
            <a:pPr indent="0" marL="0">
              <a:buNone/>
            </a:pPr>
            <a:r>
              <a:rPr lang="en-US" sz="720" dirty="0">
                <a:solidFill>
                  <a:srgbClr val="FFD28A"/>
                </a:solidFill>
                <a:latin typeface="Courier New" pitchFamily="34" charset="0"/>
                <a:ea typeface="Courier New" pitchFamily="34" charset="-122"/>
                <a:cs typeface="Courier New" pitchFamily="34" charset="-120"/>
              </a:rPr>
              <a:t>1</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a:t>
            </a:r>
            <a:pPr indent="0" marL="0">
              <a:buNone/>
            </a:pPr>
            <a:r>
              <a:rPr lang="en-US" sz="720" b="1" dirty="0">
                <a:solidFill>
                  <a:srgbClr val="F2A860"/>
                </a:solidFill>
                <a:latin typeface="Courier New" pitchFamily="34" charset="0"/>
                <a:ea typeface="Courier New" pitchFamily="34" charset="-122"/>
                <a:cs typeface="Courier New" pitchFamily="34" charset="-120"/>
              </a:rPr>
              <a:t>for</a:t>
            </a:r>
            <a:pPr indent="0" marL="0">
              <a:buNone/>
            </a:pPr>
            <a:r>
              <a:rPr lang="en-US" sz="720" dirty="0">
                <a:solidFill>
                  <a:srgbClr val="E6EDF3"/>
                </a:solidFill>
                <a:latin typeface="Courier New" pitchFamily="34" charset="0"/>
                <a:ea typeface="Courier New" pitchFamily="34" charset="-122"/>
                <a:cs typeface="Courier New" pitchFamily="34" charset="-120"/>
              </a:rPr>
              <a:t> i </a:t>
            </a:r>
            <a:pPr indent="0" marL="0">
              <a:buNone/>
            </a:pPr>
            <a:r>
              <a:rPr lang="en-US" sz="720" b="1" dirty="0">
                <a:solidFill>
                  <a:srgbClr val="F2A860"/>
                </a:solidFill>
                <a:latin typeface="Courier New" pitchFamily="34" charset="0"/>
                <a:ea typeface="Courier New" pitchFamily="34" charset="-122"/>
                <a:cs typeface="Courier New" pitchFamily="34" charset="-120"/>
              </a:rPr>
              <a:t>in</a:t>
            </a:r>
            <a:pPr indent="0" marL="0">
              <a:buNone/>
            </a:pPr>
            <a:r>
              <a:rPr lang="en-US" sz="720" dirty="0">
                <a:solidFill>
                  <a:srgbClr val="E6EDF3"/>
                </a:solidFill>
                <a:latin typeface="Courier New" pitchFamily="34" charset="0"/>
                <a:ea typeface="Courier New" pitchFamily="34" charset="-122"/>
                <a:cs typeface="Courier New" pitchFamily="34" charset="-120"/>
              </a:rPr>
              <a:t> range(</a:t>
            </a:r>
            <a:pPr indent="0" marL="0">
              <a:buNone/>
            </a:pPr>
            <a:r>
              <a:rPr lang="en-US" sz="720" dirty="0">
                <a:solidFill>
                  <a:srgbClr val="FFD28A"/>
                </a:solidFill>
                <a:latin typeface="Courier New" pitchFamily="34" charset="0"/>
                <a:ea typeface="Courier New" pitchFamily="34" charset="-122"/>
                <a:cs typeface="Courier New" pitchFamily="34" charset="-120"/>
              </a:rPr>
              <a:t>1</a:t>
            </a:r>
            <a:pPr indent="0" marL="0">
              <a:buNone/>
            </a:pPr>
            <a:r>
              <a:rPr lang="en-US" sz="720" dirty="0">
                <a:solidFill>
                  <a:srgbClr val="E6EDF3"/>
                </a:solidFill>
                <a:latin typeface="Courier New" pitchFamily="34" charset="0"/>
                <a:ea typeface="Courier New" pitchFamily="34" charset="-122"/>
                <a:cs typeface="Courier New" pitchFamily="34" charset="-120"/>
              </a:rPr>
              <a:t>, n + </a:t>
            </a:r>
            <a:pPr indent="0" marL="0">
              <a:buNone/>
            </a:pPr>
            <a:r>
              <a:rPr lang="en-US" sz="720" dirty="0">
                <a:solidFill>
                  <a:srgbClr val="FFD28A"/>
                </a:solidFill>
                <a:latin typeface="Courier New" pitchFamily="34" charset="0"/>
                <a:ea typeface="Courier New" pitchFamily="34" charset="-122"/>
                <a:cs typeface="Courier New" pitchFamily="34" charset="-120"/>
              </a:rPr>
              <a:t>1</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total *= i</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logging.debug(</a:t>
            </a:r>
            <a:pPr indent="0" marL="0">
              <a:buNone/>
            </a:pPr>
            <a:r>
              <a:rPr lang="en-US" sz="720" dirty="0">
                <a:solidFill>
                  <a:srgbClr val="9ECBFF"/>
                </a:solidFill>
                <a:latin typeface="Courier New" pitchFamily="34" charset="0"/>
                <a:ea typeface="Courier New" pitchFamily="34" charset="-122"/>
                <a:cs typeface="Courier New" pitchFamily="34" charset="-120"/>
              </a:rPr>
              <a:t>'i is %s, total is %s'</a:t>
            </a:r>
            <a:pPr indent="0" marL="0">
              <a:buNone/>
            </a:pPr>
            <a:r>
              <a:rPr lang="en-US" sz="720" dirty="0">
                <a:solidFill>
                  <a:srgbClr val="E6EDF3"/>
                </a:solidFill>
                <a:latin typeface="Courier New" pitchFamily="34" charset="0"/>
                <a:ea typeface="Courier New" pitchFamily="34" charset="-122"/>
                <a:cs typeface="Courier New" pitchFamily="34" charset="-120"/>
              </a:rPr>
              <a:t>, i, total)</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logging.debug(</a:t>
            </a:r>
            <a:pPr indent="0" marL="0">
              <a:buNone/>
            </a:pPr>
            <a:r>
              <a:rPr lang="en-US" sz="720" dirty="0">
                <a:solidFill>
                  <a:srgbClr val="9ECBFF"/>
                </a:solidFill>
                <a:latin typeface="Courier New" pitchFamily="34" charset="0"/>
                <a:ea typeface="Courier New" pitchFamily="34" charset="-122"/>
                <a:cs typeface="Courier New" pitchFamily="34" charset="-120"/>
              </a:rPr>
              <a:t>'End of factorial(%s)'</a:t>
            </a:r>
            <a:pPr indent="0" marL="0">
              <a:buNone/>
            </a:pPr>
            <a:r>
              <a:rPr lang="en-US" sz="720" dirty="0">
                <a:solidFill>
                  <a:srgbClr val="E6EDF3"/>
                </a:solidFill>
                <a:latin typeface="Courier New" pitchFamily="34" charset="0"/>
                <a:ea typeface="Courier New" pitchFamily="34" charset="-122"/>
                <a:cs typeface="Courier New" pitchFamily="34" charset="-120"/>
              </a:rPr>
              <a:t>, 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a:t>
            </a:r>
            <a:pPr indent="0" marL="0">
              <a:buNone/>
            </a:pPr>
            <a:r>
              <a:rPr lang="en-US" sz="720" b="1" dirty="0">
                <a:solidFill>
                  <a:srgbClr val="F2A860"/>
                </a:solidFill>
                <a:latin typeface="Courier New" pitchFamily="34" charset="0"/>
                <a:ea typeface="Courier New" pitchFamily="34" charset="-122"/>
                <a:cs typeface="Courier New" pitchFamily="34" charset="-120"/>
              </a:rPr>
              <a:t>return</a:t>
            </a:r>
            <a:pPr indent="0" marL="0">
              <a:buNone/>
            </a:pPr>
            <a:r>
              <a:rPr lang="en-US" sz="720" dirty="0">
                <a:solidFill>
                  <a:srgbClr val="E6EDF3"/>
                </a:solidFill>
                <a:latin typeface="Courier New" pitchFamily="34" charset="0"/>
                <a:ea typeface="Courier New" pitchFamily="34" charset="-122"/>
                <a:cs typeface="Courier New" pitchFamily="34" charset="-120"/>
              </a:rPr>
              <a:t> total</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print(factorial(</a:t>
            </a:r>
            <a:pPr indent="0" marL="0">
              <a:buNone/>
            </a:pPr>
            <a:r>
              <a:rPr lang="en-US" sz="720" dirty="0">
                <a:solidFill>
                  <a:srgbClr val="FFD28A"/>
                </a:solidFill>
                <a:latin typeface="Courier New" pitchFamily="34" charset="0"/>
                <a:ea typeface="Courier New" pitchFamily="34" charset="-122"/>
                <a:cs typeface="Courier New" pitchFamily="34" charset="-120"/>
              </a:rPr>
              <a:t>3</a:t>
            </a:r>
            <a:pPr indent="0" marL="0">
              <a:buNone/>
            </a:pP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pPr indent="0" marL="0">
              <a:buNone/>
            </a:pPr>
            <a:r>
              <a:rPr lang="en-US" sz="720" dirty="0">
                <a:solidFill>
                  <a:srgbClr val="7EE787"/>
                </a:solidFill>
                <a:latin typeface="Courier New" pitchFamily="34" charset="0"/>
                <a:ea typeface="Courier New" pitchFamily="34" charset="-122"/>
                <a:cs typeface="Courier New" pitchFamily="34" charset="-120"/>
              </a:rPr>
              <a:t>DEBUG - Start of factorial(3)</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DEBUG - i is 1, total is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DEBUG - i is 2, total is 2</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DEBUG - i is 3, total is 6</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DEBUG - End of factorial(3)</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6</a:t>
            </a:r>
            <a:endParaRPr lang="en-US" sz="720" dirty="0"/>
          </a:p>
        </p:txBody>
      </p:sp>
      <p:sp>
        <p:nvSpPr>
          <p:cNvPr id="9" name="Text 7"/>
          <p:cNvSpPr txBox="1"/>
          <p:nvPr/>
        </p:nvSpPr>
        <p:spPr>
          <a:xfrm>
            <a:off x="640080" y="374904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factorial_fixed_v1_0_0.py, lines 1 to 12 of 12, run under Python 3.14.6</a:t>
            </a:r>
            <a:endParaRPr lang="en-US" sz="750" dirty="0"/>
          </a:p>
        </p:txBody>
      </p:sp>
      <p:sp>
        <p:nvSpPr>
          <p:cNvPr id="10" name="Shape 8"/>
          <p:cNvSpPr/>
          <p:nvPr/>
        </p:nvSpPr>
        <p:spPr>
          <a:xfrm>
            <a:off x="457200" y="419709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4197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1024128" y="4160520"/>
            <a:ext cx="7662672" cy="3474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fix is one character class: range(n + 1) became range(1, n + 1)</a:t>
            </a:r>
            <a:endParaRPr lang="en-US" sz="10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log that found the bug doubles as the proof of the fix</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string that beat the integer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coin toss never wins - types tell</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seeded for the slide: toss is an int, your guess is a str - they can never be equal</a:t>
            </a:r>
            <a:endParaRPr lang="en-US" sz="1150" dirty="0"/>
          </a:p>
        </p:txBody>
      </p:sp>
      <p:sp>
        <p:nvSpPr>
          <p:cNvPr id="7" name="Shape 5"/>
          <p:cNvSpPr/>
          <p:nvPr/>
        </p:nvSpPr>
        <p:spPr>
          <a:xfrm>
            <a:off x="457200" y="1371600"/>
            <a:ext cx="8229600" cy="2148840"/>
          </a:xfrm>
          <a:prstGeom prst="roundRect">
            <a:avLst>
              <a:gd name="adj" fmla="val 4255"/>
            </a:avLst>
          </a:prstGeom>
          <a:solidFill>
            <a:srgbClr val="23272E"/>
          </a:solidFill>
          <a:ln w="12700">
            <a:solidFill>
              <a:srgbClr val="23272E"/>
            </a:solidFill>
            <a:prstDash val="solid"/>
          </a:ln>
        </p:spPr>
      </p:sp>
      <p:sp>
        <p:nvSpPr>
          <p:cNvPr id="8" name="Text 6"/>
          <p:cNvSpPr txBox="1"/>
          <p:nvPr/>
        </p:nvSpPr>
        <p:spPr>
          <a:xfrm>
            <a:off x="640080" y="1490472"/>
            <a:ext cx="7863840" cy="1911096"/>
          </a:xfrm>
          <a:prstGeom prst="rect">
            <a:avLst/>
          </a:prstGeom>
          <a:noFill/>
          <a:ln/>
        </p:spPr>
        <p:txBody>
          <a:bodyPr wrap="square" lIns="0" tIns="0" rIns="0" bIns="0" rtlCol="0" anchor="t"/>
          <a:lstStyle/>
          <a:p>
            <a:pPr indent="0" marL="0">
              <a:buNone/>
            </a:pPr>
            <a:r>
              <a:rPr lang="en-US" sz="830" b="1" dirty="0">
                <a:solidFill>
                  <a:srgbClr val="F2A860"/>
                </a:solidFill>
                <a:latin typeface="Courier New" pitchFamily="34" charset="0"/>
                <a:ea typeface="Courier New" pitchFamily="34" charset="-122"/>
                <a:cs typeface="Courier New" pitchFamily="34" charset="-120"/>
              </a:rPr>
              <a:t>import</a:t>
            </a:r>
            <a:pPr indent="0" marL="0">
              <a:buNone/>
            </a:pPr>
            <a:r>
              <a:rPr lang="en-US" sz="830" dirty="0">
                <a:solidFill>
                  <a:srgbClr val="E6EDF3"/>
                </a:solidFill>
                <a:latin typeface="Courier New" pitchFamily="34" charset="0"/>
                <a:ea typeface="Courier New" pitchFamily="34" charset="-122"/>
                <a:cs typeface="Courier New" pitchFamily="34" charset="-120"/>
              </a:rPr>
              <a:t> random</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random.seed(</a:t>
            </a:r>
            <a:pPr indent="0" marL="0">
              <a:buNone/>
            </a:pPr>
            <a:r>
              <a:rPr lang="en-US" sz="830" dirty="0">
                <a:solidFill>
                  <a:srgbClr val="FFD28A"/>
                </a:solidFill>
                <a:latin typeface="Courier New" pitchFamily="34" charset="0"/>
                <a:ea typeface="Courier New" pitchFamily="34" charset="-122"/>
                <a:cs typeface="Courier New" pitchFamily="34" charset="-120"/>
              </a:rPr>
              <a:t>7</a:t>
            </a:r>
            <a:pPr indent="0" marL="0">
              <a:buNone/>
            </a:pP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guess = input(</a:t>
            </a:r>
            <a:pPr indent="0" marL="0">
              <a:buNone/>
            </a:pPr>
            <a:r>
              <a:rPr lang="en-US" sz="830" dirty="0">
                <a:solidFill>
                  <a:srgbClr val="9ECBFF"/>
                </a:solidFill>
                <a:latin typeface="Courier New" pitchFamily="34" charset="0"/>
                <a:ea typeface="Courier New" pitchFamily="34" charset="-122"/>
                <a:cs typeface="Courier New" pitchFamily="34" charset="-120"/>
              </a:rPr>
              <a:t>'Guess the coin toss! Enter heads or tails: '</a:t>
            </a:r>
            <a:pPr indent="0" marL="0">
              <a:buNone/>
            </a:pP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toss = random.randint(</a:t>
            </a:r>
            <a:pPr indent="0" marL="0">
              <a:buNone/>
            </a:pPr>
            <a:r>
              <a:rPr lang="en-US" sz="830" dirty="0">
                <a:solidFill>
                  <a:srgbClr val="FFD28A"/>
                </a:solidFill>
                <a:latin typeface="Courier New" pitchFamily="34" charset="0"/>
                <a:ea typeface="Courier New" pitchFamily="34" charset="-122"/>
                <a:cs typeface="Courier New" pitchFamily="34" charset="-120"/>
              </a:rPr>
              <a:t>0</a:t>
            </a:r>
            <a:pPr indent="0" marL="0">
              <a:buNone/>
            </a:pPr>
            <a:r>
              <a:rPr lang="en-US" sz="830" dirty="0">
                <a:solidFill>
                  <a:srgbClr val="E6EDF3"/>
                </a:solidFill>
                <a:latin typeface="Courier New" pitchFamily="34" charset="0"/>
                <a:ea typeface="Courier New" pitchFamily="34" charset="-122"/>
                <a:cs typeface="Courier New" pitchFamily="34" charset="-120"/>
              </a:rPr>
              <a:t>, </a:t>
            </a:r>
            <a:pPr indent="0" marL="0">
              <a:buNone/>
            </a:pPr>
            <a:r>
              <a:rPr lang="en-US" sz="830" dirty="0">
                <a:solidFill>
                  <a:srgbClr val="FFD28A"/>
                </a:solidFill>
                <a:latin typeface="Courier New" pitchFamily="34" charset="0"/>
                <a:ea typeface="Courier New" pitchFamily="34" charset="-122"/>
                <a:cs typeface="Courier New" pitchFamily="34" charset="-120"/>
              </a:rPr>
              <a:t>1</a:t>
            </a:r>
            <a:pPr indent="0" marL="0">
              <a:buNone/>
            </a:pPr>
            <a:r>
              <a:rPr lang="en-US" sz="830" dirty="0">
                <a:solidFill>
                  <a:srgbClr val="E6EDF3"/>
                </a:solidFill>
                <a:latin typeface="Courier New" pitchFamily="34" charset="0"/>
                <a:ea typeface="Courier New" pitchFamily="34" charset="-122"/>
                <a:cs typeface="Courier New" pitchFamily="34" charset="-120"/>
              </a:rPr>
              <a:t>)  </a:t>
            </a:r>
            <a:pPr indent="0" marL="0">
              <a:buNone/>
            </a:pPr>
            <a:r>
              <a:rPr lang="en-US" sz="830" i="1" dirty="0">
                <a:solidFill>
                  <a:srgbClr val="8FA98F"/>
                </a:solidFill>
                <a:latin typeface="Courier New" pitchFamily="34" charset="0"/>
                <a:ea typeface="Courier New" pitchFamily="34" charset="-122"/>
                <a:cs typeface="Courier New" pitchFamily="34" charset="-120"/>
              </a:rPr>
              <a:t># 0 is tails, 1 is heads</a:t>
            </a:r>
            <a:endParaRPr lang="en-US" sz="830" dirty="0"/>
          </a:p>
          <a:p>
            <a:pPr indent="0" marL="0">
              <a:buNone/>
            </a:pPr>
            <a:r>
              <a:rPr lang="en-US" sz="830" b="1" dirty="0">
                <a:solidFill>
                  <a:srgbClr val="F2A860"/>
                </a:solidFill>
                <a:latin typeface="Courier New" pitchFamily="34" charset="0"/>
                <a:ea typeface="Courier New" pitchFamily="34" charset="-122"/>
                <a:cs typeface="Courier New" pitchFamily="34" charset="-120"/>
              </a:rPr>
              <a:t>if</a:t>
            </a:r>
            <a:pPr indent="0" marL="0">
              <a:buNone/>
            </a:pPr>
            <a:r>
              <a:rPr lang="en-US" sz="830" dirty="0">
                <a:solidFill>
                  <a:srgbClr val="E6EDF3"/>
                </a:solidFill>
                <a:latin typeface="Courier New" pitchFamily="34" charset="0"/>
                <a:ea typeface="Courier New" pitchFamily="34" charset="-122"/>
                <a:cs typeface="Courier New" pitchFamily="34" charset="-120"/>
              </a:rPr>
              <a:t> toss == guess:</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    print(</a:t>
            </a:r>
            <a:pPr indent="0" marL="0">
              <a:buNone/>
            </a:pPr>
            <a:r>
              <a:rPr lang="en-US" sz="830" dirty="0">
                <a:solidFill>
                  <a:srgbClr val="9ECBFF"/>
                </a:solidFill>
                <a:latin typeface="Courier New" pitchFamily="34" charset="0"/>
                <a:ea typeface="Courier New" pitchFamily="34" charset="-122"/>
                <a:cs typeface="Courier New" pitchFamily="34" charset="-120"/>
              </a:rPr>
              <a:t>'You got it!'</a:t>
            </a:r>
            <a:pPr indent="0" marL="0">
              <a:buNone/>
            </a:pP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b="1" dirty="0">
                <a:solidFill>
                  <a:srgbClr val="F2A860"/>
                </a:solidFill>
                <a:latin typeface="Courier New" pitchFamily="34" charset="0"/>
                <a:ea typeface="Courier New" pitchFamily="34" charset="-122"/>
                <a:cs typeface="Courier New" pitchFamily="34" charset="-120"/>
              </a:rPr>
              <a:t>else</a:t>
            </a:r>
            <a:pPr indent="0" marL="0">
              <a:buNone/>
            </a:pP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    print(</a:t>
            </a:r>
            <a:pPr indent="0" marL="0">
              <a:buNone/>
            </a:pPr>
            <a:r>
              <a:rPr lang="en-US" sz="830" dirty="0">
                <a:solidFill>
                  <a:srgbClr val="9ECBFF"/>
                </a:solidFill>
                <a:latin typeface="Courier New" pitchFamily="34" charset="0"/>
                <a:ea typeface="Courier New" pitchFamily="34" charset="-122"/>
                <a:cs typeface="Courier New" pitchFamily="34" charset="-120"/>
              </a:rPr>
              <a:t>'Nope! Guess again!'</a:t>
            </a:r>
            <a:pPr indent="0" marL="0">
              <a:buNone/>
            </a:pP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E6EDF3"/>
                </a:solidFill>
                <a:latin typeface="Courier New" pitchFamily="34" charset="0"/>
                <a:ea typeface="Courier New" pitchFamily="34" charset="-122"/>
                <a:cs typeface="Courier New" pitchFamily="34" charset="-120"/>
              </a:rPr>
              <a:t>print(type(toss).__name__, type(guess).__name__)</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prints </a:t>
            </a:r>
            <a:pPr indent="0" marL="0">
              <a:buNone/>
            </a:pPr>
            <a:r>
              <a:rPr lang="en-US" sz="830" dirty="0">
                <a:solidFill>
                  <a:srgbClr val="7EE787"/>
                </a:solidFill>
                <a:latin typeface="Courier New" pitchFamily="34" charset="0"/>
                <a:ea typeface="Courier New" pitchFamily="34" charset="-122"/>
                <a:cs typeface="Courier New" pitchFamily="34" charset="-120"/>
              </a:rPr>
              <a:t>Guess the coin toss! Enter heads or tails: heads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Nope! Guess again!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int str</a:t>
            </a:r>
            <a:endParaRPr lang="en-US" sz="830" dirty="0"/>
          </a:p>
        </p:txBody>
      </p:sp>
      <p:sp>
        <p:nvSpPr>
          <p:cNvPr id="9" name="Text 7"/>
          <p:cNvSpPr txBox="1"/>
          <p:nvPr/>
        </p:nvSpPr>
        <p:spPr>
          <a:xfrm>
            <a:off x="640080" y="3246120"/>
            <a:ext cx="786384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cointoss_bug_v1_0_0.py, lines 1 to 9 of 9, run under Python 3.14.6</a:t>
            </a:r>
            <a:endParaRPr lang="en-US" sz="750" dirty="0"/>
          </a:p>
        </p:txBody>
      </p:sp>
      <p:sp>
        <p:nvSpPr>
          <p:cNvPr id="10" name="Text 8"/>
          <p:cNvSpPr txBox="1"/>
          <p:nvPr/>
        </p:nvSpPr>
        <p:spPr>
          <a:xfrm>
            <a:off x="457200" y="3675888"/>
            <a:ext cx="5577840" cy="822960"/>
          </a:xfrm>
          <a:prstGeom prst="rect">
            <a:avLst/>
          </a:prstGeom>
          <a:noFill/>
          <a:ln/>
        </p:spPr>
        <p:txBody>
          <a:bodyPr wrap="square" lIns="0" tIns="0" rIns="0" bIns="0" rtlCol="0" anchor="t"/>
          <a:lstStyle/>
          <a:p>
            <a:pPr algn="l" indent="0" marL="0">
              <a:buNone/>
            </a:pPr>
            <a:r>
              <a:rPr lang="en-US" sz="850" dirty="0">
                <a:solidFill>
                  <a:srgbClr val="6E655C"/>
                </a:solidFill>
                <a:latin typeface="Calibri" pitchFamily="34" charset="0"/>
                <a:ea typeface="Calibri" pitchFamily="34" charset="-122"/>
                <a:cs typeface="Calibri" pitchFamily="34" charset="-120"/>
              </a:rPr>
              <a:t>the second recorded run, guessing tails, loses identically:</a:t>
            </a:r>
            <a:endParaRPr lang="en-US" sz="850" dirty="0"/>
          </a:p>
          <a:p>
            <a:pPr algn="l" indent="0" marL="0">
              <a:buNone/>
            </a:pPr>
            <a:r>
              <a:rPr lang="en-US" sz="850" dirty="0">
                <a:solidFill>
                  <a:srgbClr val="6E655C"/>
                </a:solidFill>
                <a:latin typeface="Calibri" pitchFamily="34" charset="0"/>
                <a:ea typeface="Calibri" pitchFamily="34" charset="-122"/>
                <a:cs typeface="Calibri" pitchFamily="34" charset="-120"/>
              </a:rPr>
              <a:t>Guess the coin toss! Enter heads or tails: tails</a:t>
            </a:r>
            <a:endParaRPr lang="en-US" sz="850" dirty="0"/>
          </a:p>
          <a:p>
            <a:pPr algn="l" indent="0" marL="0">
              <a:buNone/>
            </a:pPr>
            <a:r>
              <a:rPr lang="en-US" sz="850" dirty="0">
                <a:solidFill>
                  <a:srgbClr val="6E655C"/>
                </a:solidFill>
                <a:latin typeface="Calibri" pitchFamily="34" charset="0"/>
                <a:ea typeface="Calibri" pitchFamily="34" charset="-122"/>
                <a:cs typeface="Calibri" pitchFamily="34" charset="-120"/>
              </a:rPr>
              <a:t>Nope! Guess again!</a:t>
            </a:r>
            <a:endParaRPr lang="en-US" sz="850" dirty="0"/>
          </a:p>
          <a:p>
            <a:pPr algn="l" indent="0" marL="0">
              <a:buNone/>
            </a:pPr>
            <a:r>
              <a:rPr lang="en-US" sz="850" dirty="0">
                <a:solidFill>
                  <a:srgbClr val="6E655C"/>
                </a:solidFill>
                <a:latin typeface="Calibri" pitchFamily="34" charset="0"/>
                <a:ea typeface="Calibri" pitchFamily="34" charset="-122"/>
                <a:cs typeface="Calibri" pitchFamily="34" charset="-120"/>
              </a:rPr>
              <a:t>int str</a:t>
            </a:r>
            <a:endParaRPr lang="en-US" sz="850" dirty="0"/>
          </a:p>
        </p:txBody>
      </p:sp>
      <p:sp>
        <p:nvSpPr>
          <p:cNvPr id="11" name="Shape 9"/>
          <p:cNvSpPr/>
          <p:nvPr/>
        </p:nvSpPr>
        <p:spPr>
          <a:xfrm>
            <a:off x="6309360" y="3886200"/>
            <a:ext cx="2377440" cy="402336"/>
          </a:xfrm>
          <a:prstGeom prst="roundRect">
            <a:avLst>
              <a:gd name="adj" fmla="val 50000"/>
            </a:avLst>
          </a:prstGeom>
          <a:solidFill>
            <a:srgbClr val="2F6D62"/>
          </a:solidFill>
          <a:ln w="12700">
            <a:solidFill>
              <a:srgbClr val="2F6D62"/>
            </a:solidFill>
            <a:prstDash val="solid"/>
          </a:ln>
        </p:spPr>
      </p:sp>
      <p:sp>
        <p:nvSpPr>
          <p:cNvPr id="12" name="Text 10"/>
          <p:cNvSpPr txBox="1"/>
          <p:nvPr/>
        </p:nvSpPr>
        <p:spPr>
          <a:xfrm>
            <a:off x="6309360" y="3886200"/>
            <a:ext cx="23774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fix: compare like with like</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Types are part of the bug - the log prints them</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debugger: the program, paused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breakpoint() - a conversation mid-thought</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demo the lab runs under pdb</a:t>
            </a:r>
            <a:endParaRPr lang="en-US" sz="1150" dirty="0"/>
          </a:p>
        </p:txBody>
      </p:sp>
      <p:sp>
        <p:nvSpPr>
          <p:cNvPr id="7" name="Shape 5"/>
          <p:cNvSpPr/>
          <p:nvPr/>
        </p:nvSpPr>
        <p:spPr>
          <a:xfrm>
            <a:off x="457200" y="1417320"/>
            <a:ext cx="3931920" cy="2377440"/>
          </a:xfrm>
          <a:prstGeom prst="roundRect">
            <a:avLst>
              <a:gd name="adj" fmla="val 3846"/>
            </a:avLst>
          </a:prstGeom>
          <a:solidFill>
            <a:srgbClr val="23272E"/>
          </a:solidFill>
          <a:ln w="12700">
            <a:solidFill>
              <a:srgbClr val="23272E"/>
            </a:solidFill>
            <a:prstDash val="solid"/>
          </a:ln>
        </p:spPr>
      </p:sp>
      <p:sp>
        <p:nvSpPr>
          <p:cNvPr id="8" name="Text 6"/>
          <p:cNvSpPr txBox="1"/>
          <p:nvPr/>
        </p:nvSpPr>
        <p:spPr>
          <a:xfrm>
            <a:off x="640080" y="1536192"/>
            <a:ext cx="3566160" cy="2139696"/>
          </a:xfrm>
          <a:prstGeom prst="rect">
            <a:avLst/>
          </a:prstGeom>
          <a:noFill/>
          <a:ln/>
        </p:spPr>
        <p:txBody>
          <a:bodyPr wrap="square" lIns="0" tIns="0" rIns="0" bIns="0" rtlCol="0" anchor="t"/>
          <a:lstStyle/>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add(a, b):</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total = a + b</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b="1" dirty="0">
                <a:solidFill>
                  <a:srgbClr val="F2A860"/>
                </a:solidFill>
                <a:latin typeface="Courier New" pitchFamily="34" charset="0"/>
                <a:ea typeface="Courier New" pitchFamily="34" charset="-122"/>
                <a:cs typeface="Courier New" pitchFamily="34" charset="-120"/>
              </a:rPr>
              <a:t>return</a:t>
            </a:r>
            <a:pPr indent="0" marL="0">
              <a:buNone/>
            </a:pPr>
            <a:r>
              <a:rPr lang="en-US" sz="850" dirty="0">
                <a:solidFill>
                  <a:srgbClr val="E6EDF3"/>
                </a:solidFill>
                <a:latin typeface="Courier New" pitchFamily="34" charset="0"/>
                <a:ea typeface="Courier New" pitchFamily="34" charset="-122"/>
                <a:cs typeface="Courier New" pitchFamily="34" charset="-120"/>
              </a:rPr>
              <a:t> total</a:t>
            </a:r>
            <a:endParaRPr lang="en-US" sz="850" dirty="0"/>
          </a:p>
          <a:p>
            <a:pPr indent="0" marL="0">
              <a:buNone/>
            </a:pPr>
            <a:endParaRPr lang="en-US" sz="850" dirty="0"/>
          </a:p>
          <a:p>
            <a:pPr indent="0" marL="0">
              <a:buNone/>
            </a:pPr>
            <a:r>
              <a:rPr lang="en-US" sz="850" b="1" dirty="0">
                <a:solidFill>
                  <a:srgbClr val="F2A860"/>
                </a:solidFill>
                <a:latin typeface="Courier New" pitchFamily="34" charset="0"/>
                <a:ea typeface="Courier New" pitchFamily="34" charset="-122"/>
                <a:cs typeface="Courier New" pitchFamily="34" charset="-120"/>
              </a:rPr>
              <a:t>def</a:t>
            </a:r>
            <a:pPr indent="0" marL="0">
              <a:buNone/>
            </a:pPr>
            <a:r>
              <a:rPr lang="en-US" sz="850" dirty="0">
                <a:solidFill>
                  <a:srgbClr val="E6EDF3"/>
                </a:solidFill>
                <a:latin typeface="Courier New" pitchFamily="34" charset="0"/>
                <a:ea typeface="Courier New" pitchFamily="34" charset="-122"/>
                <a:cs typeface="Courier New" pitchFamily="34" charset="-120"/>
              </a:rPr>
              <a:t> main():</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x = add(</a:t>
            </a:r>
            <a:pPr indent="0" marL="0">
              <a:buNone/>
            </a:pPr>
            <a:r>
              <a:rPr lang="en-US" sz="850" dirty="0">
                <a:solidFill>
                  <a:srgbClr val="FFD28A"/>
                </a:solidFill>
                <a:latin typeface="Courier New" pitchFamily="34" charset="0"/>
                <a:ea typeface="Courier New" pitchFamily="34" charset="-122"/>
                <a:cs typeface="Courier New" pitchFamily="34" charset="-120"/>
              </a:rPr>
              <a:t>2</a:t>
            </a:r>
            <a:pPr indent="0" marL="0">
              <a:buNone/>
            </a:pPr>
            <a:r>
              <a:rPr lang="en-US" sz="850" dirty="0">
                <a:solidFill>
                  <a:srgbClr val="E6EDF3"/>
                </a:solidFill>
                <a:latin typeface="Courier New" pitchFamily="34" charset="0"/>
                <a:ea typeface="Courier New" pitchFamily="34" charset="-122"/>
                <a:cs typeface="Courier New" pitchFamily="34" charset="-120"/>
              </a:rPr>
              <a:t>, </a:t>
            </a:r>
            <a:pPr indent="0" marL="0">
              <a:buNone/>
            </a:pPr>
            <a:r>
              <a:rPr lang="en-US" sz="850" dirty="0">
                <a:solidFill>
                  <a:srgbClr val="FFD28A"/>
                </a:solidFill>
                <a:latin typeface="Courier New" pitchFamily="34" charset="0"/>
                <a:ea typeface="Courier New" pitchFamily="34" charset="-122"/>
                <a:cs typeface="Courier New" pitchFamily="34" charset="-120"/>
              </a:rPr>
              <a:t>3</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y = add(x, </a:t>
            </a:r>
            <a:pPr indent="0" marL="0">
              <a:buNone/>
            </a:pPr>
            <a:r>
              <a:rPr lang="en-US" sz="850" dirty="0">
                <a:solidFill>
                  <a:srgbClr val="FFD28A"/>
                </a:solidFill>
                <a:latin typeface="Courier New" pitchFamily="34" charset="0"/>
                <a:ea typeface="Courier New" pitchFamily="34" charset="-122"/>
                <a:cs typeface="Courier New" pitchFamily="34" charset="-120"/>
              </a:rPr>
              <a:t>10</a:t>
            </a:r>
            <a:pPr indent="0" marL="0">
              <a:buNone/>
            </a:pP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    print(y)</a:t>
            </a:r>
            <a:endParaRPr lang="en-US" sz="850" dirty="0"/>
          </a:p>
          <a:p>
            <a:pPr indent="0" marL="0">
              <a:buNone/>
            </a:pPr>
            <a:endParaRPr lang="en-US" sz="850" dirty="0"/>
          </a:p>
          <a:p>
            <a:pPr indent="0" marL="0">
              <a:buNone/>
            </a:pPr>
            <a:r>
              <a:rPr lang="en-US" sz="850" dirty="0">
                <a:solidFill>
                  <a:srgbClr val="E6EDF3"/>
                </a:solidFill>
                <a:latin typeface="Courier New" pitchFamily="34" charset="0"/>
                <a:ea typeface="Courier New" pitchFamily="34" charset="-122"/>
                <a:cs typeface="Courier New" pitchFamily="34" charset="-120"/>
              </a:rPr>
              <a:t>main()</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prints </a:t>
            </a:r>
            <a:pPr indent="0" marL="0">
              <a:buNone/>
            </a:pPr>
            <a:r>
              <a:rPr lang="en-US" sz="850" dirty="0">
                <a:solidFill>
                  <a:srgbClr val="7EE787"/>
                </a:solidFill>
                <a:latin typeface="Courier New" pitchFamily="34" charset="0"/>
                <a:ea typeface="Courier New" pitchFamily="34" charset="-122"/>
                <a:cs typeface="Courier New" pitchFamily="34" charset="-120"/>
              </a:rPr>
              <a:t>15</a:t>
            </a:r>
            <a:endParaRPr lang="en-US" sz="850" dirty="0"/>
          </a:p>
        </p:txBody>
      </p:sp>
      <p:sp>
        <p:nvSpPr>
          <p:cNvPr id="9" name="Text 7"/>
          <p:cNvSpPr txBox="1"/>
          <p:nvPr/>
        </p:nvSpPr>
        <p:spPr>
          <a:xfrm>
            <a:off x="640080" y="3520440"/>
            <a:ext cx="3566160" cy="237744"/>
          </a:xfrm>
          <a:prstGeom prst="rect">
            <a:avLst/>
          </a:prstGeom>
          <a:noFill/>
          <a:ln/>
        </p:spPr>
        <p:txBody>
          <a:bodyPr wrap="square" lIns="0" tIns="0" rIns="0" bIns="0" rtlCol="0" anchor="ctr"/>
          <a:lstStyle/>
          <a:p>
            <a:pPr algn="r" indent="0" marL="0">
              <a:buNone/>
            </a:pPr>
            <a:r>
              <a:rPr lang="en-US" sz="750" i="1" dirty="0">
                <a:solidFill>
                  <a:srgbClr val="8B949E"/>
                </a:solidFill>
                <a:latin typeface="Calibri" pitchFamily="34" charset="0"/>
                <a:ea typeface="Calibri" pitchFamily="34" charset="-122"/>
                <a:cs typeface="Calibri" pitchFamily="34" charset="-120"/>
              </a:rPr>
              <a:t>program debugdemo_v1_0_0.py, lines 1 to 10 of 10, run under Python 3.14.6</a:t>
            </a:r>
            <a:endParaRPr lang="en-US" sz="750" dirty="0"/>
          </a:p>
        </p:txBody>
      </p:sp>
      <p:sp>
        <p:nvSpPr>
          <p:cNvPr id="10" name="Shape 8"/>
          <p:cNvSpPr/>
          <p:nvPr/>
        </p:nvSpPr>
        <p:spPr>
          <a:xfrm>
            <a:off x="4663440" y="149961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66344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2" name="Text 10"/>
          <p:cNvSpPr txBox="1"/>
          <p:nvPr/>
        </p:nvSpPr>
        <p:spPr>
          <a:xfrm>
            <a:off x="5230368" y="1463040"/>
            <a:ext cx="3456432" cy="48920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breakpoint() drops you into pdb at that line</a:t>
            </a:r>
            <a:endParaRPr lang="en-US" sz="1050" dirty="0"/>
          </a:p>
        </p:txBody>
      </p:sp>
      <p:sp>
        <p:nvSpPr>
          <p:cNvPr id="13" name="Shape 11"/>
          <p:cNvSpPr/>
          <p:nvPr/>
        </p:nvSpPr>
        <p:spPr>
          <a:xfrm>
            <a:off x="4663440" y="202539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663440" y="20253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5230368" y="1988820"/>
            <a:ext cx="3456432" cy="48920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 steps over; s steps in; p prints a name</a:t>
            </a:r>
            <a:endParaRPr lang="en-US" sz="1050" dirty="0"/>
          </a:p>
        </p:txBody>
      </p:sp>
      <p:sp>
        <p:nvSpPr>
          <p:cNvPr id="16" name="Shape 14"/>
          <p:cNvSpPr/>
          <p:nvPr/>
        </p:nvSpPr>
        <p:spPr>
          <a:xfrm>
            <a:off x="4663440" y="2551176"/>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663440" y="2551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5230368" y="2514600"/>
            <a:ext cx="3456432" cy="48920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 continues; q quits the session</a:t>
            </a:r>
            <a:endParaRPr lang="en-US" sz="1050" dirty="0"/>
          </a:p>
        </p:txBody>
      </p:sp>
      <p:sp>
        <p:nvSpPr>
          <p:cNvPr id="19" name="Shape 17"/>
          <p:cNvSpPr/>
          <p:nvPr/>
        </p:nvSpPr>
        <p:spPr>
          <a:xfrm>
            <a:off x="4663440" y="3076956"/>
            <a:ext cx="402336" cy="402336"/>
          </a:xfrm>
          <a:prstGeom prst="ellipse">
            <a:avLst/>
          </a:prstGeom>
          <a:solidFill>
            <a:srgbClr val="D97A14"/>
          </a:solidFill>
          <a:ln w="12700">
            <a:solidFill>
              <a:srgbClr val="D97A14"/>
            </a:solidFill>
            <a:prstDash val="solid"/>
          </a:ln>
        </p:spPr>
      </p:sp>
      <p:sp>
        <p:nvSpPr>
          <p:cNvPr id="20" name="Text 18"/>
          <p:cNvSpPr txBox="1"/>
          <p:nvPr/>
        </p:nvSpPr>
        <p:spPr>
          <a:xfrm>
            <a:off x="4663440" y="30769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txBox="1"/>
          <p:nvPr/>
        </p:nvSpPr>
        <p:spPr>
          <a:xfrm>
            <a:off x="5230368" y="3040380"/>
            <a:ext cx="3456432" cy="48920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lab: watch total grow, step by step</a:t>
            </a:r>
            <a:endParaRPr lang="en-US" sz="1050" dirty="0"/>
          </a:p>
        </p:txBody>
      </p:sp>
      <p:sp>
        <p:nvSpPr>
          <p:cNvPr id="22" name="Shape 20"/>
          <p:cNvSpPr/>
          <p:nvPr/>
        </p:nvSpPr>
        <p:spPr>
          <a:xfrm>
            <a:off x="457200" y="3977640"/>
            <a:ext cx="114117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3977640"/>
            <a:ext cx="114117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n next</a:t>
            </a:r>
            <a:endParaRPr lang="en-US" sz="1200" dirty="0"/>
          </a:p>
        </p:txBody>
      </p:sp>
      <p:sp>
        <p:nvSpPr>
          <p:cNvPr id="24" name="Shape 22"/>
          <p:cNvSpPr/>
          <p:nvPr/>
        </p:nvSpPr>
        <p:spPr>
          <a:xfrm>
            <a:off x="1799539" y="3977640"/>
            <a:ext cx="1519733"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799539" y="3977640"/>
            <a:ext cx="1519733"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s step in</a:t>
            </a:r>
            <a:endParaRPr lang="en-US" sz="1200" dirty="0"/>
          </a:p>
        </p:txBody>
      </p:sp>
      <p:sp>
        <p:nvSpPr>
          <p:cNvPr id="26" name="Shape 24"/>
          <p:cNvSpPr/>
          <p:nvPr/>
        </p:nvSpPr>
        <p:spPr>
          <a:xfrm>
            <a:off x="3520440" y="3977640"/>
            <a:ext cx="1141171"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520440" y="3977640"/>
            <a:ext cx="114117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p name</a:t>
            </a:r>
            <a:endParaRPr lang="en-US" sz="1200" dirty="0"/>
          </a:p>
        </p:txBody>
      </p:sp>
      <p:sp>
        <p:nvSpPr>
          <p:cNvPr id="28" name="Shape 26"/>
          <p:cNvSpPr/>
          <p:nvPr/>
        </p:nvSpPr>
        <p:spPr>
          <a:xfrm>
            <a:off x="4862779" y="3977640"/>
            <a:ext cx="1645920" cy="420624"/>
          </a:xfrm>
          <a:prstGeom prst="roundRect">
            <a:avLst>
              <a:gd name="adj" fmla="val 50000"/>
            </a:avLst>
          </a:prstGeom>
          <a:solidFill>
            <a:srgbClr val="F2ECE1"/>
          </a:solidFill>
          <a:ln w="12700">
            <a:solidFill>
              <a:srgbClr val="D97A14"/>
            </a:solidFill>
            <a:prstDash val="solid"/>
          </a:ln>
        </p:spPr>
      </p:sp>
      <p:sp>
        <p:nvSpPr>
          <p:cNvPr id="29" name="Text 27"/>
          <p:cNvSpPr txBox="1"/>
          <p:nvPr/>
        </p:nvSpPr>
        <p:spPr>
          <a:xfrm>
            <a:off x="4862779" y="3977640"/>
            <a:ext cx="1645920"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c continue</a:t>
            </a:r>
            <a:endParaRPr lang="en-US" sz="1200" dirty="0"/>
          </a:p>
        </p:txBody>
      </p:sp>
      <p:sp>
        <p:nvSpPr>
          <p:cNvPr id="30" name="Shape 28"/>
          <p:cNvSpPr/>
          <p:nvPr/>
        </p:nvSpPr>
        <p:spPr>
          <a:xfrm>
            <a:off x="6709867" y="3977640"/>
            <a:ext cx="1141171" cy="420624"/>
          </a:xfrm>
          <a:prstGeom prst="roundRect">
            <a:avLst>
              <a:gd name="adj" fmla="val 50000"/>
            </a:avLst>
          </a:prstGeom>
          <a:solidFill>
            <a:srgbClr val="F2ECE1"/>
          </a:solidFill>
          <a:ln w="12700">
            <a:solidFill>
              <a:srgbClr val="D97A14"/>
            </a:solidFill>
            <a:prstDash val="solid"/>
          </a:ln>
        </p:spPr>
      </p:sp>
      <p:sp>
        <p:nvSpPr>
          <p:cNvPr id="31" name="Text 29"/>
          <p:cNvSpPr txBox="1"/>
          <p:nvPr/>
        </p:nvSpPr>
        <p:spPr>
          <a:xfrm>
            <a:off x="6709867" y="3977640"/>
            <a:ext cx="1141171" cy="420624"/>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q quit</a:t>
            </a:r>
            <a:endParaRPr lang="en-US" sz="12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debugger is a conversation with a paused program</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traceback reads upward: the last line names the crime, the ones above the scene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Exceptions climb until claimed; add_note sends context along for the ride</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assert trips on impossible states - and python -O reminds you whom it guards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Logging is print with levels, files and an off switch - a 2002 PEP you inherit</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Two real bugs fell today: the log cornered one, types confessed the other</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checked sources - every entry a live link</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chapter 5 - free online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automatetheboringstuff.com/3e/chapter5.html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tutorial: errors and exceptions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docs.python.org/3/tutorial/errors.html</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Reference</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logging - the module these slides ran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docs.python.org/3/library/logging.html</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pdb - the debugger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docs.python.org/3/library/pdb.html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exceptions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docs.python.org/3/library/exceptions.html</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History</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282 - a logging system (2002)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peps.python.org/pep-0282/</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1947 moth, at the Smithsonian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en.wikipedia.org/wiki/Software_bug</a:t>
            </a:r>
            <a:endParaRPr lang="en-US" sz="1000" dirty="0"/>
          </a:p>
        </p:txBody>
      </p:sp>
      <p:sp>
        <p:nvSpPr>
          <p:cNvPr id="23" name="Text 21"/>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Practice</a:t>
            </a:r>
            <a:endParaRPr lang="en-US" sz="1250" dirty="0"/>
          </a:p>
        </p:txBody>
      </p:sp>
      <p:sp>
        <p:nvSpPr>
          <p:cNvPr id="24" name="Shape 22"/>
          <p:cNvSpPr/>
          <p:nvPr/>
        </p:nvSpPr>
        <p:spPr>
          <a:xfrm>
            <a:off x="4768596" y="2724912"/>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python -O and assertions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docs.python.org/3/using/cmdline.html</a:t>
            </a:r>
            <a:endParaRPr lang="en-US" sz="100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678 - notes on exceptions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peps.python.org/pep-0678/</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links, checked by the build - one of them has a moth in it</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to read a traceback, and in which direction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an assert guards, and what it must never guard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Five log levels, to console or file, silenced cleanly</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log and a breakpoint corner a real bug</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Debugging</dc:title>
  <dc:subject>PptxGenJS Presentation</dc:subject>
  <dc:creator>Yusuf Altunel</dc:creator>
  <cp:lastModifiedBy>Yusuf Altunel</cp:lastModifiedBy>
  <cp:revision>1</cp:revision>
  <dcterms:created xsi:type="dcterms:W3CDTF">2026-10-06T11:27:10Z</dcterms:created>
  <dcterms:modified xsi:type="dcterms:W3CDTF">2026-10-06T11:27:10Z</dcterms:modified>
</cp:coreProperties>
</file>