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files found</c:v>
                </c:pt>
              </c:strCache>
            </c:strRef>
          </c:tx>
          <c:spPr>
            <a:solidFill>
              <a:srgbClr val="0E7C86"/>
            </a:solidFill>
          </c:spPr>
          <c:cat>
            <c:strRef>
              <c:f>Sheet1!$A$2:$A$4</c:f>
              <c:strCache>
                <c:ptCount val="3"/>
                <c:pt idx="0">
                  <c:v>*</c:v>
                </c:pt>
                <c:pt idx="1">
                  <c:v>*.txt</c:v>
                </c:pt>
                <c:pt idx="2">
                  <c:v>project?.txt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2C3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b"/>
        <c:majorGridlines>
          <c:spPr>
            <a:ln>
              <a:solidFill>
                <a:srgbClr val="D9D2C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900">
          <a:solidFill>
            <a:srgbClr val="1F29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characters</c:v>
                </c:pt>
              </c:strCache>
            </c:strRef>
          </c:tx>
          <c:spPr>
            <a:solidFill>
              <a:srgbClr val="0E7C86"/>
            </a:solidFill>
          </c:spPr>
          <c:cat>
            <c:strRef>
              <c:f>Sheet1!$A$2:$A$3</c:f>
              <c:strCache>
                <c:ptCount val="2"/>
                <c:pt idx="0">
                  <c:v>'Hello, world!'</c:v>
                </c:pt>
                <c:pt idx="1">
                  <c:v>'café'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</c:v>
                </c:pt>
                <c:pt idx="1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bytes on disk</c:v>
                </c:pt>
              </c:strCache>
            </c:strRef>
          </c:tx>
          <c:spPr>
            <a:solidFill>
              <a:srgbClr val="B7791F"/>
            </a:solidFill>
          </c:spPr>
          <c:cat>
            <c:strRef>
              <c:f>Sheet1!$A$2:$A$3</c:f>
              <c:strCache>
                <c:ptCount val="2"/>
                <c:pt idx="0">
                  <c:v>'Hello, world!'</c:v>
                </c:pt>
                <c:pt idx="1">
                  <c:v>'café'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13</c:v>
                </c:pt>
                <c:pt idx="1">
                  <c:v>5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9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2C3"/>
            </a:solidFill>
          </a:ln>
        </c:spPr>
        <c:txPr>
          <a:bodyPr/>
          <a:lstStyle/>
          <a:p>
            <a:pPr>
              <a:defRPr sz="9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.0"/>
          <c:min val="0.0"/>
        </c:scaling>
        <c:delete val="0"/>
        <c:axPos val="l"/>
        <c:majorGridlines>
          <c:spPr>
            <a:ln>
              <a:solidFill>
                <a:srgbClr val="D9D2C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/>
            </a:pPr>
          </a:p>
        </c:txPr>
        <c:crossAx val="-2068027336"/>
        <c:crosses val="autoZero"/>
        <c:majorUnit val="4.0"/>
      </c:valAx>
    </c:plotArea>
    <c:legend>
      <c:legendPos val="t"/>
      <c:overlay val="0"/>
      <c:txPr>
        <a:bodyPr/>
        <a:lstStyle/>
        <a:p>
          <a:pPr>
            <a:defRPr sz="950"/>
          </a:pPr>
        </a:p>
      </c:txPr>
    </c:legend>
    <c:dispBlanksAs val="gap"/>
  </c:chart>
  <c:txPr>
    <a:bodyPr/>
    <a:lstStyle/>
    <a:p>
      <a:pPr>
        <a:defRPr sz="950">
          <a:solidFill>
            <a:srgbClr val="1F29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file size in bytes after the step</c:v>
                </c:pt>
              </c:strCache>
            </c:strRef>
          </c:tx>
          <c:spPr>
            <a:solidFill>
              <a:srgbClr val="0E7C86"/>
            </a:solidFill>
          </c:spPr>
          <c:cat>
            <c:strRef>
              <c:f>Sheet1!$A$2:$A$5</c:f>
              <c:strCache>
                <c:ptCount val="4"/>
                <c:pt idx="0">
                  <c:v>1: w</c:v>
                </c:pt>
                <c:pt idx="1">
                  <c:v>2: a</c:v>
                </c:pt>
                <c:pt idx="2">
                  <c:v>3: a</c:v>
                </c:pt>
                <c:pt idx="3">
                  <c:v>4: 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2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9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2C3"/>
            </a:solidFill>
          </a:ln>
        </c:spPr>
        <c:txPr>
          <a:bodyPr/>
          <a:lstStyle/>
          <a:p>
            <a:pPr>
              <a:defRPr sz="9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.0"/>
          <c:min val="0.0"/>
        </c:scaling>
        <c:delete val="0"/>
        <c:axPos val="l"/>
        <c:majorGridlines>
          <c:spPr>
            <a:ln>
              <a:solidFill>
                <a:srgbClr val="D9D2C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/>
            </a:pPr>
          </a:p>
        </c:txPr>
        <c:crossAx val="-2068027336"/>
        <c:crosses val="autoZero"/>
        <c:majorUnit val="2.0"/>
      </c:valAx>
    </c:plotArea>
    <c:dispBlanksAs val="gap"/>
  </c:chart>
  <c:txPr>
    <a:bodyPr/>
    <a:lstStyle/>
    <a:p>
      <a:pPr>
        <a:defRPr sz="950">
          <a:solidFill>
            <a:srgbClr val="1F29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bytes for 'café'</c:v>
                </c:pt>
              </c:strCache>
            </c:strRef>
          </c:tx>
          <c:spPr>
            <a:solidFill>
              <a:srgbClr val="0E7C86"/>
            </a:solidFill>
          </c:spPr>
          <c:cat>
            <c:strRef>
              <c:f>Sheet1!$A$2:$A$4</c:f>
              <c:strCache>
                <c:ptCount val="3"/>
                <c:pt idx="0">
                  <c:v>utf-8</c:v>
                </c:pt>
                <c:pt idx="1">
                  <c:v>utf-16-le</c:v>
                </c:pt>
                <c:pt idx="2">
                  <c:v>latin-1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8</c:v>
                </c:pt>
                <c:pt idx="2">
                  <c:v>4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9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2C3"/>
            </a:solidFill>
          </a:ln>
        </c:spPr>
        <c:txPr>
          <a:bodyPr/>
          <a:lstStyle/>
          <a:p>
            <a:pPr>
              <a:defRPr sz="9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"/>
          <c:min val="0.0"/>
        </c:scaling>
        <c:delete val="0"/>
        <c:axPos val="l"/>
        <c:majorGridlines>
          <c:spPr>
            <a:ln>
              <a:solidFill>
                <a:srgbClr val="D9D2C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/>
            </a:pPr>
          </a:p>
        </c:txPr>
        <c:crossAx val="-2068027336"/>
        <c:crosses val="autoZero"/>
        <c:majorUnit val="2.0"/>
      </c:valAx>
    </c:plotArea>
    <c:dispBlanksAs val="gap"/>
  </c:chart>
  <c:txPr>
    <a:bodyPr/>
    <a:lstStyle/>
    <a:p>
      <a:pPr>
        <a:defRPr sz="950">
          <a:solidFill>
            <a:srgbClr val="1F29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names in the list</c:v>
                </c:pt>
              </c:strCache>
            </c:strRef>
          </c:tx>
          <c:spPr>
            <a:solidFill>
              <a:srgbClr val="0E7C86"/>
            </a:solidFill>
          </c:spPr>
          <c:cat>
            <c:strRef>
              <c:f>Sheet1!$A$2:$A$4</c:f>
              <c:strCache>
                <c:ptCount val="3"/>
                <c:pt idx="0">
                  <c:v>assigned back</c:v>
                </c:pt>
                <c:pt idx="1">
                  <c:v>changed in place</c:v>
                </c:pt>
                <c:pt idx="2">
                  <c:v>stored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3</c:v>
                </c:pt>
                <c:pt idx="2">
                  <c:v>3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8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2C3"/>
            </a:solidFill>
          </a:ln>
        </c:spPr>
        <c:txPr>
          <a:bodyPr/>
          <a:lstStyle/>
          <a:p>
            <a:pPr>
              <a:defRPr sz="8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b"/>
        <c:majorGridlines>
          <c:spPr>
            <a:ln>
              <a:solidFill>
                <a:srgbClr val="D9D2C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/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850">
          <a:solidFill>
            <a:srgbClr val="1F29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lines in file</c:v>
                </c:pt>
              </c:strCache>
            </c:strRef>
          </c:tx>
          <c:spPr>
            <a:solidFill>
              <a:srgbClr val="0E7C86"/>
            </a:solidFill>
          </c:spPr>
          <c:cat>
            <c:strRef>
              <c:f>Sheet1!$A$2:$A$3</c:f>
              <c:strCache>
                <c:ptCount val="2"/>
                <c:pt idx="0">
                  <c:v>a.txt</c:v>
                </c:pt>
                <c:pt idx="1">
                  <c:v>b.txt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lines printed</c:v>
                </c:pt>
              </c:strCache>
            </c:strRef>
          </c:tx>
          <c:spPr>
            <a:solidFill>
              <a:srgbClr val="B7791F"/>
            </a:solidFill>
          </c:spPr>
          <c:cat>
            <c:strRef>
              <c:f>Sheet1!$A$2:$A$3</c:f>
              <c:strCache>
                <c:ptCount val="2"/>
                <c:pt idx="0">
                  <c:v>a.txt</c:v>
                </c:pt>
                <c:pt idx="1">
                  <c:v>b.txt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8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2C3"/>
            </a:solidFill>
          </a:ln>
        </c:spPr>
        <c:txPr>
          <a:bodyPr/>
          <a:lstStyle/>
          <a:p>
            <a:pPr>
              <a:defRPr sz="8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.0"/>
          <c:min val="0.0"/>
        </c:scaling>
        <c:delete val="0"/>
        <c:axPos val="l"/>
        <c:majorGridlines>
          <c:spPr>
            <a:ln>
              <a:solidFill>
                <a:srgbClr val="D9D2C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/>
            </a:pPr>
          </a:p>
        </c:txPr>
        <c:crossAx val="-2068027336"/>
        <c:crosses val="autoZero"/>
        <c:majorUnit val="1.0"/>
      </c:valAx>
    </c:plotArea>
    <c:legend>
      <c:legendPos val="t"/>
      <c:overlay val="0"/>
      <c:txPr>
        <a:bodyPr/>
        <a:lstStyle/>
        <a:p>
          <a:pPr>
            <a:defRPr sz="850"/>
          </a:pPr>
        </a:p>
      </c:txPr>
    </c:legend>
    <c:dispBlanksAs val="gap"/>
  </c:chart>
  <c:txPr>
    <a:bodyPr/>
    <a:lstStyle/>
    <a:p>
      <a:pPr>
        <a:defRPr sz="850">
          <a:solidFill>
            <a:srgbClr val="1F29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tools</c:v>
                </c:pt>
              </c:strCache>
            </c:strRef>
          </c:tx>
          <c:spPr>
            <a:solidFill>
              <a:srgbClr val="0E7C86"/>
            </a:solidFill>
          </c:spPr>
          <c:cat>
            <c:strRef>
              <c:f>Sheet1!$A$2:$A$4</c:f>
              <c:strCache>
                <c:ptCount val="3"/>
                <c:pt idx="0">
                  <c:v>Change a file or folder</c:v>
                </c:pt>
                <c:pt idx="1">
                  <c:v>Ask the file system</c:v>
                </c:pt>
                <c:pt idx="2">
                  <c:v>Compute a path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6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2C3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.0"/>
          <c:min val="0.0"/>
        </c:scaling>
        <c:delete val="0"/>
        <c:axPos val="b"/>
        <c:majorGridlines>
          <c:spPr>
            <a:ln>
              <a:solidFill>
                <a:srgbClr val="D9D2C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000">
          <a:solidFill>
            <a:srgbClr val="1F29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This chapter is about files: where they live, how to name them with a path, and how to read, write and save data. Every code slide shows the code, a plain explanation and what the run printed. The same examples run on the chapter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parts: paths, folders and file facts, reading and writing text, saving variables, and programs. Each code slide has a place in the chapter-code tab of the page, in this same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questions to carry through. Which operations only compute a path, which ask the file system, and which change something? And where does the book differ from current Python?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one. A path is the address of a file. pathlib makes it an object: you join, you ask where it starts, and you take it apart.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filepath is an address. Absolute means the full address, relative means directions from where you stand. Ask students for one more everyday picture of their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Path joins names with the separator of the computer. The slash does the same. Two plain strings cannot use the slash, because neither one is a path object.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Antoine Pitrou proposed pathlib in PEP 428 on 30 July 2012. A path became an object. Ask students what they gain when a path knows its own parent and suffix.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working directory is where you stand. Home is your front door. A path object is a card with an address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Cwd and home are absolute; a path with only names is relative. A relative path is read from the working directory. Resolve adds the full address.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pure path works on text only. Name, stem, suffix and drive are its parts. Parents climbs up. With suffix gives a new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two. Make folders, find files with patterns, and ask the file system for size, time and existence. Nothing here changes a file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Folders are boxes in boxes. A glob pattern is a search card. Stat is the information card of a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Makedirs builds all missing folders. Mkdir makes one. Rglob lists the tree below a folder; the chart of the slide is drawn from the real listing.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question mark is exactly one character, a star is any number. Project10 does not fit the question mark pattern. Predict before you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Exists is False for a missing path, not an error. Stat gives size in bytes and the modified time. We set the time ourselves so the output never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three. Open a file, read it, write it and close it. The with statement closes for you. Modes decide what happens to old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Reading a file is a loan: open, use, close. A plain text file you can read; a binary file only a program 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Write text returns characters, not bytes. The accent in cafe takes two bytes in utf-8, so four characters need five bytes. Binary files use write bytes.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Thompson and Pike designed UTF-8 in September 1992 in a New Jersey diner. Today open() with encoding utf-8 uses it. Ask: what goes wrong when two programs disagree on the encoding?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returns a file object. Mode w starts a clean file. Always close it. Reading is the default mode. The closed flag tells the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file has a cursor. Readline moves it one line, readlines to the end, read from the cursor. At the end, read gives an empty string. Seek zero rewinds.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Modes decide what happens to old text: w clears, a continues, x refuses. The with block closes the file by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with block closes the file when it ends, also after an error. That is why professionals use it. A closed file cannot be written.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 clears the old text. A appends. X refuses when the file exists. The chart shows the file size after every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encoding every time. The wrong one garbles text or fails. The same word needs a different number of bytes in each encoding.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four. A shelf keeps Python values in a file under a key. Json is the plain alternative that other programs can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shelf is a dictionary in a file. Json is plain text that any program understands.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shelf is a dictionary that a file can keep; values are pickled, so never open a shelf from a stranger. Here a dict plays the file because the browser has no dbm. Trap: assign a changed list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Ken Thompson wrote the first dbm in 1979. A shelf is the same idea: one key, one value, one file. Ask students why a program might want to save values by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Json is plain text. Tuples become lists and every key becomes text. Prefer json when another program must read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Crockford and Morningstar wrote up JSON in 2001. It is the plain alternative to a shelf when another program must read the data. Ask which one a web server would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five. Two practice programs and Project 4, the random quiz maker. Each uses only what parts one to four taught.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programs make the parts automatic. Project 4 builds a quiz and its key from a dictionary.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Mad Libs reads a file, replaces the blanks with re sub and writes a second file. Answers come from a list so the run repeats.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Glob picks the txt files, the pattern tests each line, the print shows file, line number and line. The csv file is skipped by the glob.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4 step one: one question. Choose a state, three wrong capitals, one right one, shuffle. The seed makes the run repeat.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two writes the quiz and the key to two files. The book prints a different layout; the research notes the differences. Ask students to find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moves on. Path walk and the case sensitive glob came in 3.12. Python 3.14 makes exists return False on any error. Python 3.15 makes UTF-8 the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path is computed, asked about or changed. The chart counts the chapter's tools by kind. Computing is safe, asking is free, changing needs 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drills. Predict first, then run on the page. Ask students to explain each answer in one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the book chapter, then the Python documentation. The stories link to first-hand sources. Choose one link and read it before the next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hyperlink" Target="https://peps.python.org/pep-0428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Relationship Id="rId4" Type="http://schemas.openxmlformats.org/officeDocument/2006/relationships/hyperlink" Target="https://doc.cat-v.org/bell_labs/utf-8_history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chart" Target="../charts/char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chart" Target="../charts/char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chart" Target="../charts/chart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jpg"/><Relationship Id="rId4" Type="http://schemas.openxmlformats.org/officeDocument/2006/relationships/hyperlink" Target="https://en.wikipedia.org/wiki/DBM_(computing)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jpg"/><Relationship Id="rId4" Type="http://schemas.openxmlformats.org/officeDocument/2006/relationships/hyperlink" Target="https://en.wikipedia.org/wiki/JSON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chart" Target="../charts/char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chart" Target="../charts/char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automatetheboringstuff.com/3e/chapter10.html" TargetMode="External"/><Relationship Id="rId4" Type="http://schemas.openxmlformats.org/officeDocument/2006/relationships/hyperlink" Target="https://docs.python.org/3/library/pathlib.html" TargetMode="External"/><Relationship Id="rId5" Type="http://schemas.openxmlformats.org/officeDocument/2006/relationships/hyperlink" Target="https://docs.python.org/3/library/functions.html" TargetMode="External"/><Relationship Id="rId6" Type="http://schemas.openxmlformats.org/officeDocument/2006/relationships/hyperlink" Target="https://docs.python.org/3/library/io.html" TargetMode="External"/><Relationship Id="rId7" Type="http://schemas.openxmlformats.org/officeDocument/2006/relationships/hyperlink" Target="https://docs.python.org/3/tutorial/inputoutput.html" TargetMode="External"/><Relationship Id="rId8" Type="http://schemas.openxmlformats.org/officeDocument/2006/relationships/hyperlink" Target="https://docs.python.org/3/library/shelve.html" TargetMode="External"/><Relationship Id="rId9" Type="http://schemas.openxmlformats.org/officeDocument/2006/relationships/hyperlink" Target="https://docs.python.org/3/library/dbm.html" TargetMode="External"/><Relationship Id="rId10" Type="http://schemas.openxmlformats.org/officeDocument/2006/relationships/hyperlink" Target="https://docs.python.org/3/library/json.html" TargetMode="External"/><Relationship Id="rId11" Type="http://schemas.openxmlformats.org/officeDocument/2006/relationships/hyperlink" Target="https://docs.python.org/3/library/tempfile.html" TargetMode="External"/><Relationship Id="rId12" Type="http://schemas.openxmlformats.org/officeDocument/2006/relationships/hyperlink" Target="https://peps.python.org/pep-0428/" TargetMode="External"/><Relationship Id="rId13" Type="http://schemas.openxmlformats.org/officeDocument/2006/relationships/hyperlink" Target="https://peps.python.org/pep-0686/" TargetMode="External"/><Relationship Id="rId14" Type="http://schemas.openxmlformats.org/officeDocument/2006/relationships/hyperlink" Target="https://peps.python.org/pep-0597/" TargetMode="External"/><Relationship Id="rId15" Type="http://schemas.openxmlformats.org/officeDocument/2006/relationships/hyperlink" Target="https://doc.cat-v.org/bell_labs/utf-8_history" TargetMode="External"/><Relationship Id="rId16" Type="http://schemas.openxmlformats.org/officeDocument/2006/relationships/hyperlink" Target="https://www.json.org/json-en.html" TargetMode="External"/><Relationship Id="rId17" Type="http://schemas.openxmlformats.org/officeDocument/2006/relationships/hyperlink" Target="https://www.joelonsoftware.com/2003/10/08/the-absolute-minimum-every-software-developer-absolutely-positively-must-know-about-unicode-and-character-sets-no-excuses/" TargetMode="External"/><Relationship Id="rId18" Type="http://schemas.openxmlformats.org/officeDocument/2006/relationships/hyperlink" Target="https://www.youtube.com/watch?v=Uh2ebFW8OY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1554480"/>
            <a:ext cx="804672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800" b="1" i="0">
                <a:solidFill>
                  <a:srgbClr val="1F2933"/>
                </a:solidFill>
                <a:latin typeface="Calibri"/>
              </a:rPr>
              <a:t>Reading and Writing Files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48640" y="2423160"/>
            <a:ext cx="80467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600" b="0" i="0">
                <a:solidFill>
                  <a:srgbClr val="5B6773"/>
                </a:solidFill>
                <a:latin typeface="Calibri"/>
              </a:rPr>
              <a:t>Chapter 10 of Automate the Boring Stuff with Python, 3rd edition, for an advanced course</a:t>
            </a:r>
          </a:p>
        </p:txBody>
      </p:sp>
      <p:sp>
        <p:nvSpPr>
          <p:cNvPr id="5" name="card"/>
          <p:cNvSpPr/>
          <p:nvPr/>
        </p:nvSpPr>
        <p:spPr>
          <a:xfrm>
            <a:off x="548640" y="320040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"/>
          <p:cNvSpPr txBox="1"/>
          <p:nvPr/>
        </p:nvSpPr>
        <p:spPr>
          <a:xfrm>
            <a:off x="640080" y="3246120"/>
            <a:ext cx="23774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i="0">
                <a:solidFill>
                  <a:srgbClr val="0E7C86"/>
                </a:solidFill>
                <a:latin typeface="Calibri"/>
              </a:rPr>
              <a:t>18</a:t>
            </a:r>
          </a:p>
        </p:txBody>
      </p:sp>
      <p:sp>
        <p:nvSpPr>
          <p:cNvPr id="7" name="stat label"/>
          <p:cNvSpPr txBox="1"/>
          <p:nvPr/>
        </p:nvSpPr>
        <p:spPr>
          <a:xfrm>
            <a:off x="640080" y="3703320"/>
            <a:ext cx="23774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50" b="0" i="0">
                <a:solidFill>
                  <a:srgbClr val="1F2933"/>
                </a:solidFill>
                <a:latin typeface="Calibri"/>
              </a:rPr>
              <a:t>code examples that run on the chapter page</a:t>
            </a:r>
          </a:p>
        </p:txBody>
      </p:sp>
      <p:sp>
        <p:nvSpPr>
          <p:cNvPr id="8" name="card"/>
          <p:cNvSpPr/>
          <p:nvPr/>
        </p:nvSpPr>
        <p:spPr>
          <a:xfrm>
            <a:off x="3291840" y="320040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"/>
          <p:cNvSpPr txBox="1"/>
          <p:nvPr/>
        </p:nvSpPr>
        <p:spPr>
          <a:xfrm>
            <a:off x="3383280" y="3246120"/>
            <a:ext cx="23774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i="0">
                <a:solidFill>
                  <a:srgbClr val="0E7C86"/>
                </a:solidFill>
                <a:latin typeface="Calibri"/>
              </a:rPr>
              <a:t>4</a:t>
            </a:r>
          </a:p>
        </p:txBody>
      </p:sp>
      <p:sp>
        <p:nvSpPr>
          <p:cNvPr id="10" name="stat label"/>
          <p:cNvSpPr txBox="1"/>
          <p:nvPr/>
        </p:nvSpPr>
        <p:spPr>
          <a:xfrm>
            <a:off x="3383280" y="3703320"/>
            <a:ext cx="23774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50" b="0" i="0">
                <a:solidFill>
                  <a:srgbClr val="1F2933"/>
                </a:solidFill>
                <a:latin typeface="Calibri"/>
              </a:rPr>
              <a:t>true stories with who, what, when, where, why and how</a:t>
            </a:r>
          </a:p>
        </p:txBody>
      </p:sp>
      <p:sp>
        <p:nvSpPr>
          <p:cNvPr id="11" name="card"/>
          <p:cNvSpPr/>
          <p:nvPr/>
        </p:nvSpPr>
        <p:spPr>
          <a:xfrm>
            <a:off x="6035040" y="320040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"/>
          <p:cNvSpPr txBox="1"/>
          <p:nvPr/>
        </p:nvSpPr>
        <p:spPr>
          <a:xfrm>
            <a:off x="6126479" y="3246120"/>
            <a:ext cx="23774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i="0">
                <a:solidFill>
                  <a:srgbClr val="0E7C86"/>
                </a:solidFill>
                <a:latin typeface="Calibri"/>
              </a:rPr>
              <a:t>52</a:t>
            </a:r>
          </a:p>
        </p:txBody>
      </p:sp>
      <p:sp>
        <p:nvSpPr>
          <p:cNvPr id="13" name="stat label"/>
          <p:cNvSpPr txBox="1"/>
          <p:nvPr/>
        </p:nvSpPr>
        <p:spPr>
          <a:xfrm>
            <a:off x="6126479" y="3703320"/>
            <a:ext cx="23774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50" b="0" i="0">
                <a:solidFill>
                  <a:srgbClr val="1F2933"/>
                </a:solidFill>
                <a:latin typeface="Calibri"/>
              </a:rPr>
              <a:t>distinct chapter concepts, each with an everyday picture</a:t>
            </a:r>
          </a:p>
        </p:txBody>
      </p:sp>
      <p:sp>
        <p:nvSpPr>
          <p:cNvPr id="14" name="author"/>
          <p:cNvSpPr txBox="1"/>
          <p:nvPr/>
        </p:nvSpPr>
        <p:spPr>
          <a:xfrm>
            <a:off x="548640" y="44348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5B6773"/>
                </a:solidFill>
                <a:latin typeface="Calibri"/>
              </a:rPr>
              <a:t>SEN0414 Advanced Programming, Fall 2026. Yusuf Altunel, İstanbul Kültür Üniversitesi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1 / 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Today's route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051560" y="658368"/>
            <a:ext cx="7680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0">
                <a:solidFill>
                  <a:srgbClr val="5B6773"/>
                </a:solidFill>
                <a:latin typeface="Calibri"/>
              </a:rPr>
              <a:t>Five parts; every range is a run of slides you can jump to</a:t>
            </a:r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457200" y="1097280"/>
          <a:ext cx="8229598" cy="3520440"/>
        </p:xfrm>
        <a:graphic>
          <a:graphicData uri="http://schemas.openxmlformats.org/drawingml/2006/table">
            <a:tbl>
              <a:tblPr firstRow="0" bandRow="0"/>
              <a:tblGrid>
                <a:gridCol w="2683565"/>
                <a:gridCol w="983973"/>
                <a:gridCol w="1162878"/>
                <a:gridCol w="339918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Slides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Code examples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You will run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1F2933"/>
                          </a:solidFill>
                          <a:latin typeface="Calibri"/>
                        </a:rPr>
                        <a:t>Filepaths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4 - 10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Path, slash, cwd, parts of a path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1F2933"/>
                          </a:solidFill>
                          <a:latin typeface="Calibri"/>
                        </a:rPr>
                        <a:t>Folders and file facts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11 - 15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makedirs, glob, exists, stat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1F2933"/>
                          </a:solidFill>
                          <a:latin typeface="Calibri"/>
                        </a:rPr>
                        <a:t>Reading and writing text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16 - 25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open, read, write, with, modes, encoding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1F2933"/>
                          </a:solidFill>
                          <a:latin typeface="Calibri"/>
                        </a:rPr>
                        <a:t>Saving variables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26 - 31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shelve and json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1F2933"/>
                          </a:solidFill>
                          <a:latin typeface="Calibri"/>
                        </a:rPr>
                        <a:t>Programs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32 - 37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Mad Libs, Regex Search, Project 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1F2933"/>
                          </a:solidFill>
                          <a:latin typeface="Calibri"/>
                        </a:rPr>
                        <a:t>Changes, summary, practice, resources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38 - 41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what current Python adds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6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Open the chapter-code tab of the page: the same 18 examples, in this order.</a:t>
            </a:r>
          </a:p>
        </p:txBody>
      </p:sp>
      <p:sp>
        <p:nvSpPr>
          <p:cNvPr id="8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2 / 41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Two questions this chapter answers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051560" y="658368"/>
            <a:ext cx="7680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0">
                <a:solidFill>
                  <a:srgbClr val="5B6773"/>
                </a:solidFill>
                <a:latin typeface="Calibri"/>
              </a:rPr>
              <a:t>Carry them through every part; the answers come back at the end</a:t>
            </a:r>
          </a:p>
        </p:txBody>
      </p:sp>
      <p:sp>
        <p:nvSpPr>
          <p:cNvPr id="5" name="card"/>
          <p:cNvSpPr/>
          <p:nvPr/>
        </p:nvSpPr>
        <p:spPr>
          <a:xfrm>
            <a:off x="457200" y="1188720"/>
            <a:ext cx="822960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question"/>
          <p:cNvSpPr txBox="1"/>
          <p:nvPr/>
        </p:nvSpPr>
        <p:spPr>
          <a:xfrm>
            <a:off x="1280160" y="1298448"/>
            <a:ext cx="722376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600" b="1" i="0">
                <a:solidFill>
                  <a:srgbClr val="1F2933"/>
                </a:solidFill>
                <a:latin typeface="Calibri"/>
              </a:rPr>
              <a:t>Which tools only compute a path, which ask the file system, and which change a file or a folder?</a:t>
            </a:r>
          </a:p>
        </p:txBody>
      </p:sp>
      <p:sp>
        <p:nvSpPr>
          <p:cNvPr id="8" name="answer"/>
          <p:cNvSpPr txBox="1"/>
          <p:nvPr/>
        </p:nvSpPr>
        <p:spPr>
          <a:xfrm>
            <a:off x="1280160" y="2057400"/>
            <a:ext cx="72237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0E7C86"/>
                </a:solidFill>
                <a:latin typeface="Calibri"/>
              </a:rPr>
              <a:t>Answer on slide 39: the summary sorts every tool of the chapter.</a:t>
            </a:r>
          </a:p>
        </p:txBody>
      </p:sp>
      <p:sp>
        <p:nvSpPr>
          <p:cNvPr id="9" name="card"/>
          <p:cNvSpPr/>
          <p:nvPr/>
        </p:nvSpPr>
        <p:spPr>
          <a:xfrm>
            <a:off x="457200" y="2788920"/>
            <a:ext cx="822960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9718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question"/>
          <p:cNvSpPr txBox="1"/>
          <p:nvPr/>
        </p:nvSpPr>
        <p:spPr>
          <a:xfrm>
            <a:off x="1280160" y="2898648"/>
            <a:ext cx="722376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600" b="1" i="0">
                <a:solidFill>
                  <a:srgbClr val="1F2933"/>
                </a:solidFill>
                <a:latin typeface="Calibri"/>
              </a:rPr>
              <a:t>Where do the printed outputs and programs of the book differ in current Python?</a:t>
            </a:r>
          </a:p>
        </p:txBody>
      </p:sp>
      <p:sp>
        <p:nvSpPr>
          <p:cNvPr id="12" name="answer"/>
          <p:cNvSpPr txBox="1"/>
          <p:nvPr/>
        </p:nvSpPr>
        <p:spPr>
          <a:xfrm>
            <a:off x="1280160" y="3657600"/>
            <a:ext cx="72237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0E7C86"/>
                </a:solidFill>
                <a:latin typeface="Calibri"/>
              </a:rPr>
              <a:t>Answer on slides 37 and 38: Project 4 and the newer features.</a:t>
            </a:r>
          </a:p>
        </p:txBody>
      </p:sp>
      <p:sp>
        <p:nvSpPr>
          <p:cNvPr id="13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Compute, ask, or change: every file tool is one of the three.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3 / 41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Part 1: Filepaths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 i="0">
                <a:solidFill>
                  <a:srgbClr val="5B6773"/>
                </a:solidFill>
                <a:latin typeface="Calibri"/>
              </a:rPr>
              <a:t>Names, addresses and the parts of a path</a:t>
            </a:r>
          </a:p>
        </p:txBody>
      </p:sp>
      <p:sp>
        <p:nvSpPr>
          <p:cNvPr id="4" name="rule"/>
          <p:cNvSpPr/>
          <p:nvPr/>
        </p:nvSpPr>
        <p:spPr>
          <a:xfrm>
            <a:off x="457200" y="1216152"/>
            <a:ext cx="1097280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Path object</a:t>
            </a:r>
          </a:p>
        </p:txBody>
      </p:sp>
      <p:sp>
        <p:nvSpPr>
          <p:cNvPr id="6" name="meaning"/>
          <p:cNvSpPr txBox="1"/>
          <p:nvPr/>
        </p:nvSpPr>
        <p:spPr>
          <a:xfrm>
            <a:off x="2606040" y="1417320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A path is an object, built with Path() or the slash.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75688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Working directory</a:t>
            </a:r>
          </a:p>
        </p:txBody>
      </p:sp>
      <p:sp>
        <p:nvSpPr>
          <p:cNvPr id="8" name="meaning"/>
          <p:cNvSpPr txBox="1"/>
          <p:nvPr/>
        </p:nvSpPr>
        <p:spPr>
          <a:xfrm>
            <a:off x="2606040" y="2075688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The folder that every short path starts from.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34056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Absolute or relative</a:t>
            </a:r>
          </a:p>
        </p:txBody>
      </p:sp>
      <p:sp>
        <p:nvSpPr>
          <p:cNvPr id="10" name="meaning"/>
          <p:cNvSpPr txBox="1"/>
          <p:nvPr/>
        </p:nvSpPr>
        <p:spPr>
          <a:xfrm>
            <a:off x="2606040" y="2734056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A full address, or directions from where you stand.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92424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Path parts</a:t>
            </a:r>
          </a:p>
        </p:txBody>
      </p:sp>
      <p:sp>
        <p:nvSpPr>
          <p:cNvPr id="12" name="meaning"/>
          <p:cNvSpPr txBox="1"/>
          <p:nvPr/>
        </p:nvSpPr>
        <p:spPr>
          <a:xfrm>
            <a:off x="2606040" y="3392424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Name, stem, suffix and parents of one path.</a:t>
            </a:r>
          </a:p>
        </p:txBody>
      </p:sp>
      <p:graphicFrame>
        <p:nvGraphicFramePr>
          <p:cNvPr id="13" name="table"/>
          <p:cNvGraphicFramePr>
            <a:graphicFrameLocks noGrp="1"/>
          </p:cNvGraphicFramePr>
          <p:nvPr/>
        </p:nvGraphicFramePr>
        <p:xfrm>
          <a:off x="5303520" y="1417320"/>
          <a:ext cx="3474719" cy="2560320"/>
        </p:xfrm>
        <a:graphic>
          <a:graphicData uri="http://schemas.openxmlformats.org/drawingml/2006/table">
            <a:tbl>
              <a:tblPr firstRow="0" bandRow="0"/>
              <a:tblGrid>
                <a:gridCol w="507543"/>
                <a:gridCol w="2967176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Slide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In this part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Everyday pictures: a path is an address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Path objects: joining names into a path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Story: a 2012 proposal made paths obje...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Everyday pictures: where you stand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Where you stand: working directory and...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Taking a path apart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14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4 / 41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Everyday pictures: a path is an address</a:t>
            </a:r>
          </a:p>
        </p:txBody>
      </p:sp>
      <p:sp>
        <p:nvSpPr>
          <p:cNvPr id="4" name="card"/>
          <p:cNvSpPr/>
          <p:nvPr/>
        </p:nvSpPr>
        <p:spPr>
          <a:xfrm>
            <a:off x="365760" y="749808"/>
            <a:ext cx="8412480" cy="566928"/>
          </a:xfrm>
          <a:prstGeom prst="roundRect">
            <a:avLst>
              <a:gd name="adj" fmla="val 8000"/>
            </a:avLst>
          </a:prstGeom>
          <a:solidFill>
            <a:srgbClr val="F8E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nalogy"/>
          <p:cNvSpPr txBox="1"/>
          <p:nvPr/>
        </p:nvSpPr>
        <p:spPr>
          <a:xfrm>
            <a:off x="502920" y="768096"/>
            <a:ext cx="813816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400" b="1" i="0">
                <a:solidFill>
                  <a:srgbClr val="B7791F"/>
                </a:solidFill>
                <a:latin typeface="Calibri"/>
              </a:rPr>
              <a:t>ANALOGY 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A filepath is a street address for a file: it says in which building, on which floor and in which room to look.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365760" y="1444752"/>
          <a:ext cx="8412480" cy="3200400"/>
        </p:xfrm>
        <a:graphic>
          <a:graphicData uri="http://schemas.openxmlformats.org/drawingml/2006/table">
            <a:tbl>
              <a:tblPr firstRow="0" bandRow="0"/>
              <a:tblGrid>
                <a:gridCol w="2926080"/>
                <a:gridCol w="5486400"/>
              </a:tblGrid>
              <a:tr h="3556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Chapter concept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Everyday picture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2933"/>
                          </a:solidFill>
                          <a:latin typeface="Calibri"/>
                        </a:rPr>
                        <a:t>Files and Filepaths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</a:rPr>
                        <a:t>A document in a filing cabinet, and the label that says which drawer.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2933"/>
                          </a:solidFill>
                          <a:latin typeface="Calibri"/>
                        </a:rPr>
                        <a:t>Filepath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</a:rPr>
                        <a:t>The full address of a document: cabinet, drawer, folder, sheet.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2933"/>
                          </a:solidFill>
                          <a:latin typeface="Calibri"/>
                        </a:rPr>
                        <a:t>Standardizing Path Separators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</a:rPr>
                        <a:t>Some countries write addresses with slashes, some with backslashes; Path writes the local style.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2933"/>
                          </a:solidFill>
                          <a:latin typeface="Calibri"/>
                        </a:rPr>
                        <a:t>Joining Paths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</a:rPr>
                        <a:t>Gluing address pieces together: city, street, house number.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2933"/>
                          </a:solidFill>
                          <a:latin typeface="Calibri"/>
                        </a:rPr>
                        <a:t>Absolute path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</a:rPr>
                        <a:t>A full postal address that works from anywhere in the world.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2933"/>
                          </a:solidFill>
                          <a:latin typeface="Calibri"/>
                        </a:rPr>
                        <a:t>Relative path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</a:rPr>
                        <a:t>Directions such as 'two doors down from here'.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2933"/>
                          </a:solidFill>
                          <a:latin typeface="Calibri"/>
                        </a:rPr>
                        <a:t>Specifying Absolute vs. Relative Paths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</a:rPr>
                        <a:t>A full address on a parcel, or a note on the desk that says 'next door'.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2933"/>
                          </a:solidFill>
                          <a:latin typeface="Calibri"/>
                        </a:rPr>
                        <a:t>Handling Absolute and Relative Paths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</a:rPr>
                        <a:t>Turning 'next door' into a full address, and a full address into 'next door'.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5 / 41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Path objects: joining names into a path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4530851" cy="662940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from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pathlib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Path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PureWindowsPath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p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Path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'spam'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'bacon'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'eggs'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p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4878324" y="841248"/>
            <a:ext cx="3899915" cy="662940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200" b="0" i="0">
                <a:solidFill>
                  <a:srgbClr val="1F2933"/>
                </a:solidFill>
                <a:latin typeface="Calibri"/>
              </a:rPr>
              <a:t>Path() joins the names it is given with the separator of this computer and returns one path object.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559052"/>
            <a:ext cx="4530851" cy="472440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Path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'spam'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/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'bacon'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/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'eggs'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p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PureWindowsPath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'spam'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'bacon'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'eggs'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4878324" y="1559052"/>
            <a:ext cx="3899915" cy="472440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200" b="0" i="0">
                <a:solidFill>
                  <a:srgbClr val="1F2933"/>
                </a:solidFill>
                <a:latin typeface="Calibri"/>
              </a:rPr>
              <a:t>The slash operator joins too. A Windows path object writes the same names with backslashes.</a:t>
            </a:r>
          </a:p>
        </p:txBody>
      </p:sp>
      <p:sp>
        <p:nvSpPr>
          <p:cNvPr id="8" name="code"/>
          <p:cNvSpPr/>
          <p:nvPr/>
        </p:nvSpPr>
        <p:spPr>
          <a:xfrm>
            <a:off x="365760" y="2086356"/>
            <a:ext cx="4530851" cy="800608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try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: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'spam'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/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'bacon'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except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TypeError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: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'two strings cannot use the slash'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9" name="explanation"/>
          <p:cNvSpPr txBox="1"/>
          <p:nvPr/>
        </p:nvSpPr>
        <p:spPr>
          <a:xfrm>
            <a:off x="4878324" y="2086356"/>
            <a:ext cx="3899915" cy="800608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200" b="0" i="0">
                <a:solidFill>
                  <a:srgbClr val="1F2933"/>
                </a:solidFill>
                <a:latin typeface="Calibri"/>
              </a:rPr>
              <a:t>One side of the slash must be a path object. Two plain strings raise a TypeError.</a:t>
            </a:r>
          </a:p>
        </p:txBody>
      </p:sp>
      <p:sp>
        <p:nvSpPr>
          <p:cNvPr id="10" name="result label"/>
          <p:cNvSpPr txBox="1"/>
          <p:nvPr/>
        </p:nvSpPr>
        <p:spPr>
          <a:xfrm>
            <a:off x="365760" y="2886964"/>
            <a:ext cx="548640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11" name="table"/>
          <p:cNvGraphicFramePr>
            <a:graphicFrameLocks noGrp="1"/>
          </p:cNvGraphicFramePr>
          <p:nvPr/>
        </p:nvGraphicFramePr>
        <p:xfrm>
          <a:off x="365760" y="3133852"/>
          <a:ext cx="5552236" cy="1371600"/>
        </p:xfrm>
        <a:graphic>
          <a:graphicData uri="http://schemas.openxmlformats.org/drawingml/2006/table">
            <a:tbl>
              <a:tblPr firstRow="0" bandRow="0"/>
              <a:tblGrid>
                <a:gridCol w="2868655"/>
                <a:gridCol w="2683581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Expression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What it printed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Path('spam', 'bacon', 'eggs')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spam/bacon/eggs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Path('spam') / 'bacon' / 'eggs' == p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F855A"/>
                          </a:solidFill>
                          <a:latin typeface="Courier New"/>
                        </a:rPr>
                        <a:t>True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PureWindowsPath('spam', 'bacon', 'eggs')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spam\bacon\eggs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'spam' / 'bacon'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B83A1B"/>
                          </a:solidFill>
                          <a:latin typeface="Courier New"/>
                        </a:rPr>
                        <a:t>two strings cannot use the slash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254496" y="3133852"/>
            <a:ext cx="822960" cy="292608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spam</a:t>
            </a:r>
          </a:p>
        </p:txBody>
      </p:sp>
      <p:cxnSp>
        <p:nvCxnSpPr>
          <p:cNvPr id="13" name="arrow"/>
          <p:cNvCxnSpPr/>
          <p:nvPr/>
        </p:nvCxnSpPr>
        <p:spPr>
          <a:xfrm>
            <a:off x="7095744" y="3280156"/>
            <a:ext cx="301752" cy="365760"/>
          </a:xfrm>
          <a:prstGeom prst="line">
            <a:avLst/>
          </a:prstGeom>
          <a:ln w="15240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54496" y="3499612"/>
            <a:ext cx="822960" cy="292608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bacon</a:t>
            </a:r>
          </a:p>
        </p:txBody>
      </p:sp>
      <p:cxnSp>
        <p:nvCxnSpPr>
          <p:cNvPr id="15" name="arrow"/>
          <p:cNvCxnSpPr/>
          <p:nvPr/>
        </p:nvCxnSpPr>
        <p:spPr>
          <a:xfrm>
            <a:off x="7095744" y="3645916"/>
            <a:ext cx="301752" cy="0"/>
          </a:xfrm>
          <a:prstGeom prst="line">
            <a:avLst/>
          </a:prstGeom>
          <a:ln w="15240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54496" y="3865372"/>
            <a:ext cx="822960" cy="292608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eggs</a:t>
            </a:r>
          </a:p>
        </p:txBody>
      </p:sp>
      <p:cxnSp>
        <p:nvCxnSpPr>
          <p:cNvPr id="17" name="arrow"/>
          <p:cNvCxnSpPr/>
          <p:nvPr/>
        </p:nvCxnSpPr>
        <p:spPr>
          <a:xfrm flipV="1">
            <a:off x="7095744" y="3645916"/>
            <a:ext cx="301752" cy="365760"/>
          </a:xfrm>
          <a:prstGeom prst="line">
            <a:avLst/>
          </a:prstGeom>
          <a:ln w="15240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15783" y="3499612"/>
            <a:ext cx="1371600" cy="292608"/>
          </a:xfrm>
          <a:prstGeom prst="roundRect">
            <a:avLst>
              <a:gd name="adj" fmla="val 15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spam/bacon/eggs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4231132"/>
            <a:ext cx="25603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1">
                <a:solidFill>
                  <a:srgbClr val="5B6773"/>
                </a:solidFill>
                <a:latin typeface="Calibri"/>
              </a:rPr>
              <a:t>three names, one path object</a:t>
            </a:r>
          </a:p>
        </p:txBody>
      </p:sp>
      <p:sp>
        <p:nvSpPr>
          <p:cNvPr id="20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Path() and the slash join names into one path object.</a:t>
            </a:r>
          </a:p>
        </p:txBody>
      </p:sp>
      <p:sp>
        <p:nvSpPr>
          <p:cNvPr id="22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6 / 41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Story: a 2012 proposal made paths objects</a:t>
            </a:r>
          </a:p>
        </p:txBody>
      </p:sp>
      <p:pic>
        <p:nvPicPr>
          <p:cNvPr id="4" name="photo pathlib" descr="Picture for the story: a 2012 proposal made paths objec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120"/>
            <a:ext cx="2743200" cy="2743200"/>
          </a:xfrm>
          <a:prstGeom prst="rect">
            <a:avLst/>
          </a:prstGeom>
        </p:spPr>
      </p:pic>
      <p:sp>
        <p:nvSpPr>
          <p:cNvPr id="5" name="credit"/>
          <p:cNvSpPr txBox="1"/>
          <p:nvPr/>
        </p:nvSpPr>
        <p:spPr>
          <a:xfrm>
            <a:off x="365760" y="3840480"/>
            <a:ext cx="2743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0">
                <a:solidFill>
                  <a:srgbClr val="5B6773"/>
                </a:solidFill>
                <a:latin typeface="Calibri"/>
              </a:rPr>
              <a:t>Python logo. Source: python.org, Python Software Foundation, used under its trademark policy.</a:t>
            </a:r>
          </a:p>
        </p:txBody>
      </p:sp>
      <p:sp>
        <p:nvSpPr>
          <p:cNvPr id="6" name="card"/>
          <p:cNvSpPr/>
          <p:nvPr/>
        </p:nvSpPr>
        <p:spPr>
          <a:xfrm>
            <a:off x="3291840" y="841248"/>
            <a:ext cx="5486400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ho"/>
          <p:cNvSpPr txBox="1"/>
          <p:nvPr/>
        </p:nvSpPr>
        <p:spPr>
          <a:xfrm>
            <a:off x="3337560" y="841248"/>
            <a:ext cx="539496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WHO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Antoine Pitrou, Python core developer.</a:t>
            </a:r>
          </a:p>
        </p:txBody>
      </p:sp>
      <p:sp>
        <p:nvSpPr>
          <p:cNvPr id="8" name="card"/>
          <p:cNvSpPr/>
          <p:nvPr/>
        </p:nvSpPr>
        <p:spPr>
          <a:xfrm>
            <a:off x="3291840" y="1307592"/>
            <a:ext cx="548640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hat"/>
          <p:cNvSpPr txBox="1"/>
          <p:nvPr/>
        </p:nvSpPr>
        <p:spPr>
          <a:xfrm>
            <a:off x="3337560" y="1307592"/>
            <a:ext cx="539496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WHAT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PEP 428: a filesystem path as an object with its own methods, not a plain string.</a:t>
            </a:r>
          </a:p>
        </p:txBody>
      </p:sp>
      <p:sp>
        <p:nvSpPr>
          <p:cNvPr id="10" name="card"/>
          <p:cNvSpPr/>
          <p:nvPr/>
        </p:nvSpPr>
        <p:spPr>
          <a:xfrm>
            <a:off x="3291840" y="1929384"/>
            <a:ext cx="548640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hen"/>
          <p:cNvSpPr txBox="1"/>
          <p:nvPr/>
        </p:nvSpPr>
        <p:spPr>
          <a:xfrm>
            <a:off x="3337560" y="1929384"/>
            <a:ext cx="539496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WHEN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Written 30 July 2012; shipped in Python 3.4, March 2014.</a:t>
            </a:r>
          </a:p>
        </p:txBody>
      </p:sp>
      <p:sp>
        <p:nvSpPr>
          <p:cNvPr id="12" name="card"/>
          <p:cNvSpPr/>
          <p:nvPr/>
        </p:nvSpPr>
        <p:spPr>
          <a:xfrm>
            <a:off x="3291840" y="2551176"/>
            <a:ext cx="5486400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where"/>
          <p:cNvSpPr txBox="1"/>
          <p:nvPr/>
        </p:nvSpPr>
        <p:spPr>
          <a:xfrm>
            <a:off x="3337560" y="2551176"/>
            <a:ext cx="539496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WHERE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The Python Enhancement Proposals process, python.org.</a:t>
            </a:r>
          </a:p>
        </p:txBody>
      </p:sp>
      <p:sp>
        <p:nvSpPr>
          <p:cNvPr id="14" name="card"/>
          <p:cNvSpPr/>
          <p:nvPr/>
        </p:nvSpPr>
        <p:spPr>
          <a:xfrm>
            <a:off x="3291840" y="3017520"/>
            <a:ext cx="548640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why"/>
          <p:cNvSpPr txBox="1"/>
          <p:nvPr/>
        </p:nvSpPr>
        <p:spPr>
          <a:xfrm>
            <a:off x="3337560" y="3017520"/>
            <a:ext cx="539496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WHY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Separate os.path functions on strings were clumsy and hard to read.</a:t>
            </a:r>
          </a:p>
        </p:txBody>
      </p:sp>
      <p:sp>
        <p:nvSpPr>
          <p:cNvPr id="16" name="card"/>
          <p:cNvSpPr/>
          <p:nvPr/>
        </p:nvSpPr>
        <p:spPr>
          <a:xfrm>
            <a:off x="3291840" y="3639311"/>
            <a:ext cx="548640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ow"/>
          <p:cNvSpPr txBox="1"/>
          <p:nvPr/>
        </p:nvSpPr>
        <p:spPr>
          <a:xfrm>
            <a:off x="3337560" y="3639311"/>
            <a:ext cx="539496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HOW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Path('spam', 'bacon', 'eggs') and the slash operator of this chapter come from it.</a:t>
            </a:r>
          </a:p>
        </p:txBody>
      </p:sp>
      <p:sp>
        <p:nvSpPr>
          <p:cNvPr id="18" name="read"/>
          <p:cNvSpPr txBox="1"/>
          <p:nvPr/>
        </p:nvSpPr>
        <p:spPr>
          <a:xfrm>
            <a:off x="3291840" y="4279391"/>
            <a:ext cx="548640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1" i="0">
                <a:solidFill>
                  <a:srgbClr val="B7791F"/>
                </a:solidFill>
                <a:latin typeface="Calibri"/>
              </a:rPr>
              <a:t>READ  </a:t>
            </a:r>
            <a:r>
              <a:rPr sz="1300" b="0" i="0">
                <a:solidFill>
                  <a:srgbClr val="0E7C86"/>
                </a:solidFill>
                <a:latin typeface="Calibri"/>
                <a:hlinkClick r:id="rId4"/>
              </a:rPr>
              <a:t>PEP 428, the pathlib module (peps.python.org)</a:t>
            </a:r>
          </a:p>
        </p:txBody>
      </p:sp>
      <p:sp>
        <p:nvSpPr>
          <p:cNvPr id="19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7 / 41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Everyday pictures: where you stand</a:t>
            </a:r>
          </a:p>
        </p:txBody>
      </p:sp>
      <p:sp>
        <p:nvSpPr>
          <p:cNvPr id="4" name="card"/>
          <p:cNvSpPr/>
          <p:nvPr/>
        </p:nvSpPr>
        <p:spPr>
          <a:xfrm>
            <a:off x="365760" y="749808"/>
            <a:ext cx="8412480" cy="566928"/>
          </a:xfrm>
          <a:prstGeom prst="roundRect">
            <a:avLst>
              <a:gd name="adj" fmla="val 8000"/>
            </a:avLst>
          </a:prstGeom>
          <a:solidFill>
            <a:srgbClr val="F8E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nalogy"/>
          <p:cNvSpPr txBox="1"/>
          <p:nvPr/>
        </p:nvSpPr>
        <p:spPr>
          <a:xfrm>
            <a:off x="502920" y="768096"/>
            <a:ext cx="813816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400" b="1" i="0">
                <a:solidFill>
                  <a:srgbClr val="B7791F"/>
                </a:solidFill>
                <a:latin typeface="Calibri"/>
              </a:rPr>
              <a:t>ANALOGY 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The working directory is the room you are standing in: every short direction starts from there.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365760" y="1444752"/>
          <a:ext cx="8412480" cy="3200400"/>
        </p:xfrm>
        <a:graphic>
          <a:graphicData uri="http://schemas.openxmlformats.org/drawingml/2006/table">
            <a:tbl>
              <a:tblPr firstRow="0" bandRow="0"/>
              <a:tblGrid>
                <a:gridCol w="2926080"/>
                <a:gridCol w="5486400"/>
              </a:tblGrid>
              <a:tr h="3200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Chapter concept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Everyday picture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2933"/>
                          </a:solidFill>
                          <a:latin typeface="Calibri"/>
                        </a:rPr>
                        <a:t>Accessing the Current Working Directory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</a:rPr>
                        <a:t>Asking the signpost in the hall: 'which room am I in?'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2933"/>
                          </a:solidFill>
                          <a:latin typeface="Calibri"/>
                        </a:rPr>
                        <a:t>Current working directory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</a:rPr>
                        <a:t>The room you are standing in right now.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2933"/>
                          </a:solidFill>
                          <a:latin typeface="Calibri"/>
                        </a:rPr>
                        <a:t>os.chdir()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</a:rPr>
                        <a:t>Walking into another room; from now on 'next door' means something else.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2933"/>
                          </a:solidFill>
                          <a:latin typeface="Calibri"/>
                        </a:rPr>
                        <a:t>Accessing the Home Directory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</a:rPr>
                        <a:t>Finding your own front door, in whatever town you are.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2933"/>
                          </a:solidFill>
                          <a:latin typeface="Calibri"/>
                        </a:rPr>
                        <a:t>Path()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</a:rPr>
                        <a:t>Writing an address on a card; the card is not the house.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2933"/>
                          </a:solidFill>
                          <a:latin typeface="Calibri"/>
                        </a:rPr>
                        <a:t>Path.cwd()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</a:rPr>
                        <a:t>A card that already carries the address of the room you stand in.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2933"/>
                          </a:solidFill>
                          <a:latin typeface="Calibri"/>
                        </a:rPr>
                        <a:t>Path.home()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</a:rPr>
                        <a:t>A card that carries the address of your front door.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2933"/>
                          </a:solidFill>
                          <a:latin typeface="Calibri"/>
                        </a:rPr>
                        <a:t>is_absolute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</a:rPr>
                        <a:t>Checking whether the card shows a full address or only 'next door'.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2933"/>
                          </a:solidFill>
                          <a:latin typeface="Calibri"/>
                        </a:rPr>
                        <a:t>Getting the Parts of a Filepath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</a:rPr>
                        <a:t>Reading an address label piece by piece: street, number, flat.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8 / 41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Where you stand: working directory and home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5132832" cy="615315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os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tempfile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;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os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chdir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tempfile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mkdtemp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from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pathlib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Path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5480304" y="841248"/>
            <a:ext cx="3297935" cy="615315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Work in a fresh scratch folder. os.chdir makes it the current working directory of this program.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511427"/>
            <a:ext cx="5132832" cy="615315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Path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cwd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is_absolute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Path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home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is_absolute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Path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'spam/bacon/eggs'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is_absolute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480304" y="1511427"/>
            <a:ext cx="3297935" cy="615315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cwd and home start at the root, so they are absolute. A path that names only its own parts is relative.</a:t>
            </a:r>
          </a:p>
        </p:txBody>
      </p:sp>
      <p:sp>
        <p:nvSpPr>
          <p:cNvPr id="8" name="code"/>
          <p:cNvSpPr/>
          <p:nvPr/>
        </p:nvSpPr>
        <p:spPr>
          <a:xfrm>
            <a:off x="365760" y="2181606"/>
            <a:ext cx="5132832" cy="615315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Path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'./spam.txt'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Path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'spam.txt'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Path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'spam.txt'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resolve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Path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cwd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/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'spam.txt'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9" name="explanation"/>
          <p:cNvSpPr txBox="1"/>
          <p:nvPr/>
        </p:nvSpPr>
        <p:spPr>
          <a:xfrm>
            <a:off x="5480304" y="2181606"/>
            <a:ext cx="3297935" cy="615315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A relative path is read from the working directory. The dot means this folder, and resolve adds the full address.</a:t>
            </a:r>
          </a:p>
        </p:txBody>
      </p:sp>
      <p:sp>
        <p:nvSpPr>
          <p:cNvPr id="10" name="result label"/>
          <p:cNvSpPr txBox="1"/>
          <p:nvPr/>
        </p:nvSpPr>
        <p:spPr>
          <a:xfrm>
            <a:off x="365760" y="2796921"/>
            <a:ext cx="548640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11" name="table"/>
          <p:cNvGraphicFramePr>
            <a:graphicFrameLocks noGrp="1"/>
          </p:cNvGraphicFramePr>
          <p:nvPr/>
        </p:nvGraphicFramePr>
        <p:xfrm>
          <a:off x="365760" y="3043809"/>
          <a:ext cx="5047487" cy="1628772"/>
        </p:xfrm>
        <a:graphic>
          <a:graphicData uri="http://schemas.openxmlformats.org/drawingml/2006/table">
            <a:tbl>
              <a:tblPr firstRow="0" bandRow="0"/>
              <a:tblGrid>
                <a:gridCol w="3925823"/>
                <a:gridCol w="1121664"/>
              </a:tblGrid>
              <a:tr h="27146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Question asked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27146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Path.cwd().is_absolute()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F855A"/>
                          </a:solidFill>
                          <a:latin typeface="Courier New"/>
                        </a:rPr>
                        <a:t>True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Path.home().is_absolute()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F855A"/>
                          </a:solidFill>
                          <a:latin typeface="Courier New"/>
                        </a:rPr>
                        <a:t>True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27146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Path('spam/bacon/eggs').is_absolute()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B83A1B"/>
                          </a:solidFill>
                          <a:latin typeface="Courier New"/>
                        </a:rPr>
                        <a:t>False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146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Path('./spam.txt') == Path('spam.txt')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F855A"/>
                          </a:solidFill>
                          <a:latin typeface="Courier New"/>
                        </a:rPr>
                        <a:t>True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27146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resolve() equals cwd / 'spam.txt'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F855A"/>
                          </a:solidFill>
                          <a:latin typeface="Courier New"/>
                        </a:rPr>
                        <a:t>True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749747" y="3043809"/>
            <a:ext cx="914400" cy="274320"/>
          </a:xfrm>
          <a:prstGeom prst="roundRect">
            <a:avLst>
              <a:gd name="adj" fmla="val 15000"/>
            </a:avLst>
          </a:prstGeom>
          <a:solidFill>
            <a:srgbClr val="ECE6D8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5B6773"/>
                </a:solidFill>
                <a:latin typeface="Courier New"/>
              </a:rPr>
              <a:t>/ root</a:t>
            </a:r>
          </a:p>
        </p:txBody>
      </p:sp>
      <p:cxnSp>
        <p:nvCxnSpPr>
          <p:cNvPr id="13" name="arrow"/>
          <p:cNvCxnSpPr/>
          <p:nvPr/>
        </p:nvCxnSpPr>
        <p:spPr>
          <a:xfrm>
            <a:off x="6682435" y="3180969"/>
            <a:ext cx="256032" cy="0"/>
          </a:xfrm>
          <a:prstGeom prst="line">
            <a:avLst/>
          </a:prstGeom>
          <a:ln w="1524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956755" y="3043809"/>
            <a:ext cx="1828800" cy="274320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alibri"/>
              </a:rPr>
              <a:t>scratch folder (cwd)</a:t>
            </a:r>
          </a:p>
        </p:txBody>
      </p:sp>
      <p:cxnSp>
        <p:nvCxnSpPr>
          <p:cNvPr id="15" name="arrow"/>
          <p:cNvCxnSpPr/>
          <p:nvPr/>
        </p:nvCxnSpPr>
        <p:spPr>
          <a:xfrm>
            <a:off x="7852867" y="3336416"/>
            <a:ext cx="0" cy="274321"/>
          </a:xfrm>
          <a:prstGeom prst="line">
            <a:avLst/>
          </a:prstGeom>
          <a:ln w="1524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956755" y="3629025"/>
            <a:ext cx="1828800" cy="274320"/>
          </a:xfrm>
          <a:prstGeom prst="roundRect">
            <a:avLst>
              <a:gd name="adj" fmla="val 15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spam.txt</a:t>
            </a:r>
          </a:p>
        </p:txBody>
      </p:sp>
      <p:sp>
        <p:nvSpPr>
          <p:cNvPr id="17" name="legend"/>
          <p:cNvSpPr txBox="1"/>
          <p:nvPr/>
        </p:nvSpPr>
        <p:spPr>
          <a:xfrm>
            <a:off x="5749747" y="3958208"/>
            <a:ext cx="3200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1F2933"/>
                </a:solidFill>
                <a:latin typeface="Calibri"/>
              </a:rPr>
              <a:t>relative: spam.txt  (from the cwd)</a:t>
            </a:r>
          </a:p>
        </p:txBody>
      </p:sp>
      <p:sp>
        <p:nvSpPr>
          <p:cNvPr id="18" name="legend"/>
          <p:cNvSpPr txBox="1"/>
          <p:nvPr/>
        </p:nvSpPr>
        <p:spPr>
          <a:xfrm>
            <a:off x="5749747" y="4186808"/>
            <a:ext cx="3200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0">
                <a:solidFill>
                  <a:srgbClr val="1F2933"/>
                </a:solidFill>
                <a:latin typeface="Calibri"/>
              </a:rPr>
              <a:t>absolute: / scratch folder / spam.txt</a:t>
            </a:r>
          </a:p>
        </p:txBody>
      </p:sp>
      <p:sp>
        <p:nvSpPr>
          <p:cNvPr id="19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Relative paths are read from the working directory.</a:t>
            </a:r>
          </a:p>
        </p:txBody>
      </p:sp>
      <p:sp>
        <p:nvSpPr>
          <p:cNvPr id="21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9 / 41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Taking a path apart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4911851" cy="521715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3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from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pathlib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PureWindowsPath</a:t>
            </a:r>
          </a:p>
          <a:p>
            <a:pPr algn="l"/>
            <a:r>
              <a:rPr sz="13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p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PureWindowsPath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9BE3A8"/>
                </a:solidFill>
                <a:latin typeface="Courier New"/>
              </a:rPr>
              <a:t>'C:/Users/Al/spam.txt'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5259324" y="841248"/>
            <a:ext cx="3518916" cy="521715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A pure path only works on the text of a path, so this runs on any computer.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417828"/>
            <a:ext cx="4911851" cy="723138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3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3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p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drive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p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name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p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stem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p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suffix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3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3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p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parent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3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3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p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parts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259324" y="1417828"/>
            <a:ext cx="3518916" cy="723138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drive is the letter, name the last part, stem the name without its ending, suffix the ending. parts lists every piece.</a:t>
            </a:r>
          </a:p>
        </p:txBody>
      </p:sp>
      <p:sp>
        <p:nvSpPr>
          <p:cNvPr id="8" name="code"/>
          <p:cNvSpPr/>
          <p:nvPr/>
        </p:nvSpPr>
        <p:spPr>
          <a:xfrm>
            <a:off x="365760" y="2195829"/>
            <a:ext cx="4911851" cy="521715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3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3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p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parents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300" b="0" i="0">
                <a:solidFill>
                  <a:srgbClr val="7CC4FF"/>
                </a:solidFill>
                <a:latin typeface="Courier New"/>
              </a:rPr>
              <a:t>1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3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3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p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with_suffix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9BE3A8"/>
                </a:solidFill>
                <a:latin typeface="Courier New"/>
              </a:rPr>
              <a:t>'.csv'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9" name="explanation"/>
          <p:cNvSpPr txBox="1"/>
          <p:nvPr/>
        </p:nvSpPr>
        <p:spPr>
          <a:xfrm>
            <a:off x="5259324" y="2195829"/>
            <a:ext cx="3518916" cy="521715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parents climbs up one folder at a time. with_suffix swaps the ending.</a:t>
            </a:r>
          </a:p>
        </p:txBody>
      </p:sp>
      <p:sp>
        <p:nvSpPr>
          <p:cNvPr id="10" name="result label"/>
          <p:cNvSpPr txBox="1"/>
          <p:nvPr/>
        </p:nvSpPr>
        <p:spPr>
          <a:xfrm>
            <a:off x="365760" y="2717545"/>
            <a:ext cx="548640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284473"/>
            <a:ext cx="822960" cy="384048"/>
          </a:xfrm>
          <a:prstGeom prst="roundRect">
            <a:avLst>
              <a:gd name="adj" fmla="val 15000"/>
            </a:avLst>
          </a:prstGeom>
          <a:solidFill>
            <a:srgbClr val="ECE6D8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 i="0">
                <a:solidFill>
                  <a:srgbClr val="5B6773"/>
                </a:solidFill>
                <a:latin typeface="Courier New"/>
              </a:rPr>
              <a:t>C:\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98448" y="3284473"/>
            <a:ext cx="822960" cy="384048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 i="0">
                <a:solidFill>
                  <a:srgbClr val="1F2933"/>
                </a:solidFill>
                <a:latin typeface="Courier New"/>
              </a:rPr>
              <a:t>Users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31136" y="3284473"/>
            <a:ext cx="822960" cy="384048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 i="0">
                <a:solidFill>
                  <a:srgbClr val="1F2933"/>
                </a:solidFill>
                <a:latin typeface="Courier New"/>
              </a:rPr>
              <a:t>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63824" y="3284473"/>
            <a:ext cx="822960" cy="384048"/>
          </a:xfrm>
          <a:prstGeom prst="roundRect">
            <a:avLst>
              <a:gd name="adj" fmla="val 15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 i="0">
                <a:solidFill>
                  <a:srgbClr val="1F2933"/>
                </a:solidFill>
                <a:latin typeface="Courier New"/>
              </a:rPr>
              <a:t>spam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96512" y="3284473"/>
            <a:ext cx="822960" cy="384048"/>
          </a:xfrm>
          <a:prstGeom prst="roundRect">
            <a:avLst>
              <a:gd name="adj" fmla="val 15000"/>
            </a:avLst>
          </a:prstGeom>
          <a:solidFill>
            <a:srgbClr val="DCF1E4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 i="0">
                <a:solidFill>
                  <a:srgbClr val="1F2933"/>
                </a:solidFill>
                <a:latin typeface="Courier New"/>
              </a:rPr>
              <a:t>.txt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695953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B6773"/>
                </a:solidFill>
                <a:latin typeface="Calibri"/>
              </a:rPr>
              <a:t>drive + root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" y="3695953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B6773"/>
                </a:solidFill>
                <a:latin typeface="Calibri"/>
              </a:rPr>
              <a:t>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85416" y="3695953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B6773"/>
                </a:solidFill>
                <a:latin typeface="Calibri"/>
              </a:rPr>
              <a:t>folder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695953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B6773"/>
                </a:solidFill>
                <a:latin typeface="Calibri"/>
              </a:rPr>
              <a:t>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50792" y="3695953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B6773"/>
                </a:solidFill>
                <a:latin typeface="Calibri"/>
              </a:rPr>
              <a:t>suffix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63824" y="3988561"/>
            <a:ext cx="1755648" cy="0"/>
          </a:xfrm>
          <a:prstGeom prst="line">
            <a:avLst/>
          </a:prstGeom>
          <a:ln w="25400">
            <a:solidFill>
              <a:srgbClr val="B779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072384" y="4015994"/>
            <a:ext cx="19385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F2933"/>
                </a:solidFill>
                <a:latin typeface="Calibri"/>
              </a:rPr>
              <a:t>name = spam.txt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5760" y="3988561"/>
            <a:ext cx="2688336" cy="0"/>
          </a:xfrm>
          <a:prstGeom prst="line">
            <a:avLst/>
          </a:prstGeom>
          <a:ln w="2540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65760" y="4015994"/>
            <a:ext cx="26883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F2933"/>
                </a:solidFill>
                <a:latin typeface="Calibri"/>
              </a:rPr>
              <a:t>parent = C:\Users\Al</a:t>
            </a:r>
          </a:p>
        </p:txBody>
      </p:sp>
      <p:sp>
        <p:nvSpPr>
          <p:cNvPr id="25" name="path label"/>
          <p:cNvSpPr txBox="1"/>
          <p:nvPr/>
        </p:nvSpPr>
        <p:spPr>
          <a:xfrm>
            <a:off x="365760" y="2964433"/>
            <a:ext cx="5029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1" i="0">
                <a:solidFill>
                  <a:srgbClr val="0E7C86"/>
                </a:solidFill>
                <a:latin typeface="Courier New"/>
              </a:rPr>
              <a:t>p = PureWindowsPath('C:/Users/Al/spam.txt')</a:t>
            </a:r>
          </a:p>
        </p:txBody>
      </p:sp>
      <p:graphicFrame>
        <p:nvGraphicFramePr>
          <p:cNvPr id="26" name="table"/>
          <p:cNvGraphicFramePr>
            <a:graphicFrameLocks noGrp="1"/>
          </p:cNvGraphicFramePr>
          <p:nvPr/>
        </p:nvGraphicFramePr>
        <p:xfrm>
          <a:off x="4937760" y="3193033"/>
          <a:ext cx="3840478" cy="932688"/>
        </p:xfrm>
        <a:graphic>
          <a:graphicData uri="http://schemas.openxmlformats.org/drawingml/2006/table">
            <a:tbl>
              <a:tblPr firstRow="0" bandRow="0"/>
              <a:tblGrid>
                <a:gridCol w="1828799"/>
                <a:gridCol w="201167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Call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p.parents[1]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C:\Users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p.with_suffix('.csv')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C:\Users\Al\spam.csv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27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A path has parts: drive, name, stem, suffix, parents.</a:t>
            </a:r>
          </a:p>
        </p:txBody>
      </p:sp>
      <p:sp>
        <p:nvSpPr>
          <p:cNvPr id="29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10 / 41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Part 2: Folders and file facts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 i="0">
                <a:solidFill>
                  <a:srgbClr val="5B6773"/>
                </a:solidFill>
                <a:latin typeface="Calibri"/>
              </a:rPr>
              <a:t>Build folders, find files, ask the file system</a:t>
            </a:r>
          </a:p>
        </p:txBody>
      </p:sp>
      <p:sp>
        <p:nvSpPr>
          <p:cNvPr id="4" name="rule"/>
          <p:cNvSpPr/>
          <p:nvPr/>
        </p:nvSpPr>
        <p:spPr>
          <a:xfrm>
            <a:off x="457200" y="1216152"/>
            <a:ext cx="1097280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makedirs and mkdir</a:t>
            </a:r>
          </a:p>
        </p:txBody>
      </p:sp>
      <p:sp>
        <p:nvSpPr>
          <p:cNvPr id="6" name="meaning"/>
          <p:cNvSpPr txBox="1"/>
          <p:nvPr/>
        </p:nvSpPr>
        <p:spPr>
          <a:xfrm>
            <a:off x="2606040" y="1417320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Build one folder, or a whole chain of them at once.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75688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glob</a:t>
            </a:r>
          </a:p>
        </p:txBody>
      </p:sp>
      <p:sp>
        <p:nvSpPr>
          <p:cNvPr id="8" name="meaning"/>
          <p:cNvSpPr txBox="1"/>
          <p:nvPr/>
        </p:nvSpPr>
        <p:spPr>
          <a:xfrm>
            <a:off x="2606040" y="2075688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Find files by a pattern with a question mark or a star.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34056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exists</a:t>
            </a:r>
          </a:p>
        </p:txBody>
      </p:sp>
      <p:sp>
        <p:nvSpPr>
          <p:cNvPr id="10" name="meaning"/>
          <p:cNvSpPr txBox="1"/>
          <p:nvPr/>
        </p:nvSpPr>
        <p:spPr>
          <a:xfrm>
            <a:off x="2606040" y="2734056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Ask whether a path is really there before you use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92424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stat</a:t>
            </a:r>
          </a:p>
        </p:txBody>
      </p:sp>
      <p:sp>
        <p:nvSpPr>
          <p:cNvPr id="12" name="meaning"/>
          <p:cNvSpPr txBox="1"/>
          <p:nvPr/>
        </p:nvSpPr>
        <p:spPr>
          <a:xfrm>
            <a:off x="2606040" y="3392424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Read the size and the time of a file.</a:t>
            </a:r>
          </a:p>
        </p:txBody>
      </p:sp>
      <p:graphicFrame>
        <p:nvGraphicFramePr>
          <p:cNvPr id="13" name="table"/>
          <p:cNvGraphicFramePr>
            <a:graphicFrameLocks noGrp="1"/>
          </p:cNvGraphicFramePr>
          <p:nvPr/>
        </p:nvGraphicFramePr>
        <p:xfrm>
          <a:off x="5303520" y="1417320"/>
          <a:ext cx="3474719" cy="1828800"/>
        </p:xfrm>
        <a:graphic>
          <a:graphicData uri="http://schemas.openxmlformats.org/drawingml/2006/table">
            <a:tbl>
              <a:tblPr firstRow="0" bandRow="0"/>
              <a:tblGrid>
                <a:gridCol w="507543"/>
                <a:gridCol w="2967176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Slide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In this part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Everyday pictures: folders and file fa...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Creating folders and listing a tree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glob: find files by a pattern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Does it exist? How big? How old?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14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11 / 41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Everyday pictures: folders and file facts</a:t>
            </a:r>
          </a:p>
        </p:txBody>
      </p:sp>
      <p:sp>
        <p:nvSpPr>
          <p:cNvPr id="4" name="card"/>
          <p:cNvSpPr/>
          <p:nvPr/>
        </p:nvSpPr>
        <p:spPr>
          <a:xfrm>
            <a:off x="365760" y="749808"/>
            <a:ext cx="8412480" cy="566928"/>
          </a:xfrm>
          <a:prstGeom prst="roundRect">
            <a:avLst>
              <a:gd name="adj" fmla="val 8000"/>
            </a:avLst>
          </a:prstGeom>
          <a:solidFill>
            <a:srgbClr val="F8E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nalogy"/>
          <p:cNvSpPr txBox="1"/>
          <p:nvPr/>
        </p:nvSpPr>
        <p:spPr>
          <a:xfrm>
            <a:off x="502920" y="768096"/>
            <a:ext cx="813816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400" b="1" i="0">
                <a:solidFill>
                  <a:srgbClr val="B7791F"/>
                </a:solidFill>
                <a:latin typeface="Calibri"/>
              </a:rPr>
              <a:t>ANALOGY 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A folder is a box inside a box; a glob pattern is a search card that says 'every box whose label looks like this'.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365760" y="1444752"/>
          <a:ext cx="8412480" cy="3200400"/>
        </p:xfrm>
        <a:graphic>
          <a:graphicData uri="http://schemas.openxmlformats.org/drawingml/2006/table">
            <a:tbl>
              <a:tblPr firstRow="0" bandRow="0"/>
              <a:tblGrid>
                <a:gridCol w="2926080"/>
                <a:gridCol w="5486400"/>
              </a:tblGrid>
              <a:tr h="3200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Chapter concept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Everyday picture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2933"/>
                          </a:solidFill>
                          <a:latin typeface="Calibri"/>
                        </a:rPr>
                        <a:t>Creating New Folders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</a:rPr>
                        <a:t>Building the shelves for a new archive before you fill them.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2933"/>
                          </a:solidFill>
                          <a:latin typeface="Calibri"/>
                        </a:rPr>
                        <a:t>os.makedirs()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</a:rPr>
                        <a:t>Building every missing shelf on the way, from the room down to the box.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2933"/>
                          </a:solidFill>
                          <a:latin typeface="Calibri"/>
                        </a:rPr>
                        <a:t>mkdir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</a:rPr>
                        <a:t>Adding one new box to a shelf that is already there.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2933"/>
                          </a:solidFill>
                          <a:latin typeface="Calibri"/>
                        </a:rPr>
                        <a:t>Checking Path Validity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</a:rPr>
                        <a:t>Looking at the shelf to see whether a box is really there before you reach in.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2933"/>
                          </a:solidFill>
                          <a:latin typeface="Calibri"/>
                        </a:rPr>
                        <a:t>exists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</a:rPr>
                        <a:t>A yes or no question: is this label on any shelf?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2933"/>
                          </a:solidFill>
                          <a:latin typeface="Calibri"/>
                        </a:rPr>
                        <a:t>Finding File Sizes and Timestamps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</a:rPr>
                        <a:t>Reading the weight and the date stamp on a parcel.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2933"/>
                          </a:solidFill>
                          <a:latin typeface="Calibri"/>
                        </a:rPr>
                        <a:t>stat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</a:rPr>
                        <a:t>The parcel's information card: weight, date, owner.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2933"/>
                          </a:solidFill>
                          <a:latin typeface="Calibri"/>
                        </a:rPr>
                        <a:t>Finding Files Using Glob Patterns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</a:rPr>
                        <a:t>A library search card: 'every book whose title starts with project'.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2933"/>
                          </a:solidFill>
                          <a:latin typeface="Calibri"/>
                        </a:rPr>
                        <a:t>glob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</a:rPr>
                        <a:t>The librarian who walks the shelves with your search card and brings the matches.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12 / 41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Creating folders and listing a tree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4698491" cy="472440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os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tempfile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;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os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chdir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tempfile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mkdtemp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from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pathlib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Path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5045964" y="841248"/>
            <a:ext cx="3732275" cy="472440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200" b="0" i="0">
                <a:solidFill>
                  <a:srgbClr val="1F2933"/>
                </a:solidFill>
                <a:latin typeface="Calibri"/>
              </a:rPr>
              <a:t>A fresh scratch folder keeps your own files clean.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368552"/>
            <a:ext cx="4698491" cy="662940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os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makedirs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'delicious/walnut/waffles'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Path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'delicious/walnut/pecan'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mkdir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Path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'delicious'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mkdir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exist_ok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True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045964" y="1368552"/>
            <a:ext cx="3732275" cy="662940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200" b="0" i="0">
                <a:solidFill>
                  <a:srgbClr val="1F2933"/>
                </a:solidFill>
                <a:latin typeface="Calibri"/>
              </a:rPr>
              <a:t>os.makedirs builds every missing folder on the way. mkdir makes one folder, and exist_ok=True allows that it exists.</a:t>
            </a:r>
          </a:p>
        </p:txBody>
      </p:sp>
      <p:sp>
        <p:nvSpPr>
          <p:cNvPr id="8" name="code"/>
          <p:cNvSpPr/>
          <p:nvPr/>
        </p:nvSpPr>
        <p:spPr>
          <a:xfrm>
            <a:off x="365760" y="2086355"/>
            <a:ext cx="4698491" cy="472440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p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sorted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Path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'delicious'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rglob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'*'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: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p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9" name="explanation"/>
          <p:cNvSpPr txBox="1"/>
          <p:nvPr/>
        </p:nvSpPr>
        <p:spPr>
          <a:xfrm>
            <a:off x="5045964" y="2086355"/>
            <a:ext cx="3732275" cy="472440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200" b="0" i="0">
                <a:solidFill>
                  <a:srgbClr val="1F2933"/>
                </a:solidFill>
                <a:latin typeface="Calibri"/>
              </a:rPr>
              <a:t>rglob walks the whole tree below a folder. The star pattern takes every name.</a:t>
            </a:r>
          </a:p>
        </p:txBody>
      </p:sp>
      <p:sp>
        <p:nvSpPr>
          <p:cNvPr id="10" name="result label"/>
          <p:cNvSpPr txBox="1"/>
          <p:nvPr/>
        </p:nvSpPr>
        <p:spPr>
          <a:xfrm>
            <a:off x="365760" y="2558796"/>
            <a:ext cx="548640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034284"/>
            <a:ext cx="1600200" cy="310896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delicious/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3034284"/>
            <a:ext cx="1600200" cy="310896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walnut/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805684"/>
            <a:ext cx="1600200" cy="310896"/>
          </a:xfrm>
          <a:prstGeom prst="roundRect">
            <a:avLst>
              <a:gd name="adj" fmla="val 15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pecan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262884"/>
            <a:ext cx="1600200" cy="310896"/>
          </a:xfrm>
          <a:prstGeom prst="roundRect">
            <a:avLst>
              <a:gd name="adj" fmla="val 15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waffles</a:t>
            </a:r>
          </a:p>
        </p:txBody>
      </p:sp>
      <p:cxnSp>
        <p:nvCxnSpPr>
          <p:cNvPr id="15" name="arrow"/>
          <p:cNvCxnSpPr/>
          <p:nvPr/>
        </p:nvCxnSpPr>
        <p:spPr>
          <a:xfrm>
            <a:off x="1965960" y="3189732"/>
            <a:ext cx="548640" cy="0"/>
          </a:xfrm>
          <a:prstGeom prst="line">
            <a:avLst/>
          </a:prstGeom>
          <a:ln w="1524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arrow"/>
          <p:cNvCxnSpPr/>
          <p:nvPr/>
        </p:nvCxnSpPr>
        <p:spPr>
          <a:xfrm flipV="1">
            <a:off x="4114800" y="2961132"/>
            <a:ext cx="548640" cy="228600"/>
          </a:xfrm>
          <a:prstGeom prst="line">
            <a:avLst/>
          </a:prstGeom>
          <a:ln w="1524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arrow"/>
          <p:cNvCxnSpPr/>
          <p:nvPr/>
        </p:nvCxnSpPr>
        <p:spPr>
          <a:xfrm>
            <a:off x="4114800" y="3189732"/>
            <a:ext cx="548640" cy="228600"/>
          </a:xfrm>
          <a:prstGeom prst="line">
            <a:avLst/>
          </a:prstGeom>
          <a:ln w="1524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legend"/>
          <p:cNvSpPr txBox="1"/>
          <p:nvPr/>
        </p:nvSpPr>
        <p:spPr>
          <a:xfrm>
            <a:off x="6629400" y="2805684"/>
            <a:ext cx="2148839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0" i="1">
                <a:solidFill>
                  <a:srgbClr val="5B6773"/>
                </a:solidFill>
                <a:latin typeface="Calibri"/>
              </a:rPr>
              <a:t>Each line the loop printed is one box of the tree. Teal boxes hold other folders; amber boxes are the deepest folders.</a:t>
            </a:r>
          </a:p>
        </p:txBody>
      </p:sp>
      <p:sp>
        <p:nvSpPr>
          <p:cNvPr id="19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makedirs builds all; mkdir builds one.</a:t>
            </a:r>
          </a:p>
        </p:txBody>
      </p:sp>
      <p:sp>
        <p:nvSpPr>
          <p:cNvPr id="21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13 / 41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glob: find files by a pattern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8412480" cy="800608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os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tempfile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;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os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chdir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tempfile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mkdtemp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from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pathlib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Path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name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'project1.txt'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'project2.txt'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'project10.txt'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'notes.csv'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: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Path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name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write_text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'x'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365760" y="1651000"/>
            <a:ext cx="8412480" cy="281940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200" b="0" i="0">
                <a:solidFill>
                  <a:srgbClr val="1F2933"/>
                </a:solidFill>
                <a:latin typeface="Calibri"/>
              </a:rPr>
              <a:t>Four small files to search. write_text creates each one with one letter inside.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978659"/>
            <a:ext cx="8412480" cy="630173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sorted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p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name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p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Path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'.'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glob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'project?.txt'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sorted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p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name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p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Path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'.'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glob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'*.txt'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sorted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p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name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p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Path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'.'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glob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'*'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365760" y="2617977"/>
            <a:ext cx="8412480" cy="472440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200" b="0" i="0">
                <a:solidFill>
                  <a:srgbClr val="1F2933"/>
                </a:solidFill>
                <a:latin typeface="Calibri"/>
              </a:rPr>
              <a:t>A question mark stands for exactly one character, a star for any number. glob hands back the paths that fit.</a:t>
            </a:r>
          </a:p>
        </p:txBody>
      </p:sp>
      <p:sp>
        <p:nvSpPr>
          <p:cNvPr id="8" name="result label"/>
          <p:cNvSpPr txBox="1"/>
          <p:nvPr/>
        </p:nvSpPr>
        <p:spPr>
          <a:xfrm>
            <a:off x="365760" y="3099561"/>
            <a:ext cx="548640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9" name="table"/>
          <p:cNvGraphicFramePr>
            <a:graphicFrameLocks noGrp="1"/>
          </p:cNvGraphicFramePr>
          <p:nvPr/>
        </p:nvGraphicFramePr>
        <p:xfrm>
          <a:off x="365760" y="3346449"/>
          <a:ext cx="5888735" cy="1243584"/>
        </p:xfrm>
        <a:graphic>
          <a:graphicData uri="http://schemas.openxmlformats.org/drawingml/2006/table">
            <a:tbl>
              <a:tblPr firstRow="0" bandRow="0"/>
              <a:tblGrid>
                <a:gridCol w="1177747"/>
                <a:gridCol w="4167413"/>
                <a:gridCol w="543575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glob pattern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Names found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project?.txt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project1.txt, project2.txt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*.txt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project1.txt, project10.txt, project2.txt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*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notes.csv, project1.txt, project10.txt, project2.txt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chart"/>
          <p:cNvGraphicFramePr>
            <a:graphicFrameLocks noGrp="1"/>
          </p:cNvGraphicFramePr>
          <p:nvPr/>
        </p:nvGraphicFramePr>
        <p:xfrm>
          <a:off x="6422745" y="3300730"/>
          <a:ext cx="2355494" cy="132613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? is one character; * is any number.</a:t>
            </a:r>
          </a:p>
        </p:txBody>
      </p:sp>
      <p:sp>
        <p:nvSpPr>
          <p:cNvPr id="13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14 / 41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Does it exist? How big? How old?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5033772" cy="707644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os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tempfile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time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;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os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chdir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tempfile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mkdtemp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from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pathlib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Path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f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Path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'f.txt'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f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exists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5381244" y="841248"/>
            <a:ext cx="3396995" cy="707644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Before the file is written, exists says False. A missing path is not an error.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603756"/>
            <a:ext cx="5033772" cy="440689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f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write_text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'Hello, world!'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f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exists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f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is_file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f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is_dir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Path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'.'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is_dir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381244" y="1603756"/>
            <a:ext cx="3396995" cy="440689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After writing, the path exists and is a file. The dot is a folder.</a:t>
            </a:r>
          </a:p>
        </p:txBody>
      </p:sp>
      <p:sp>
        <p:nvSpPr>
          <p:cNvPr id="8" name="code"/>
          <p:cNvSpPr/>
          <p:nvPr/>
        </p:nvSpPr>
        <p:spPr>
          <a:xfrm>
            <a:off x="365760" y="2099310"/>
            <a:ext cx="5033772" cy="615315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f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stat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st_size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os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utime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'f.txt'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1712627129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1712627129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time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asctime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time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gmtime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f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stat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st_mtime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9" name="explanation"/>
          <p:cNvSpPr txBox="1"/>
          <p:nvPr/>
        </p:nvSpPr>
        <p:spPr>
          <a:xfrm>
            <a:off x="5381244" y="2099310"/>
            <a:ext cx="3396995" cy="615315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stat reports the size in bytes and the last-modified time. utime sets a fixed time, so the printout never changes.</a:t>
            </a:r>
          </a:p>
        </p:txBody>
      </p:sp>
      <p:sp>
        <p:nvSpPr>
          <p:cNvPr id="10" name="result label"/>
          <p:cNvSpPr txBox="1"/>
          <p:nvPr/>
        </p:nvSpPr>
        <p:spPr>
          <a:xfrm>
            <a:off x="365760" y="2714625"/>
            <a:ext cx="548640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11" name="table"/>
          <p:cNvGraphicFramePr>
            <a:graphicFrameLocks noGrp="1"/>
          </p:cNvGraphicFramePr>
          <p:nvPr/>
        </p:nvGraphicFramePr>
        <p:xfrm>
          <a:off x="365760" y="2961513"/>
          <a:ext cx="4206239" cy="1591056"/>
        </p:xfrm>
        <a:graphic>
          <a:graphicData uri="http://schemas.openxmlformats.org/drawingml/2006/table">
            <a:tbl>
              <a:tblPr firstRow="0" bandRow="0"/>
              <a:tblGrid>
                <a:gridCol w="3210025"/>
                <a:gridCol w="996214"/>
              </a:tblGrid>
              <a:tr h="26517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Question asked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f.exists() before writing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B83A1B"/>
                          </a:solidFill>
                          <a:latin typeface="Courier New"/>
                        </a:rPr>
                        <a:t>False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f.exists() after writing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F855A"/>
                          </a:solidFill>
                          <a:latin typeface="Courier New"/>
                        </a:rPr>
                        <a:t>True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f.is_file()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F855A"/>
                          </a:solidFill>
                          <a:latin typeface="Courier New"/>
                        </a:rPr>
                        <a:t>True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f.is_dir()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B83A1B"/>
                          </a:solidFill>
                          <a:latin typeface="Courier New"/>
                        </a:rPr>
                        <a:t>False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Path('.').is_dir()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F855A"/>
                          </a:solidFill>
                          <a:latin typeface="Courier New"/>
                        </a:rPr>
                        <a:t>True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663440" y="3464433"/>
            <a:ext cx="822960" cy="329184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 i="0">
                <a:solidFill>
                  <a:srgbClr val="1F2933"/>
                </a:solidFill>
                <a:latin typeface="Courier New"/>
              </a:rPr>
              <a:t>f.txt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2961513"/>
            <a:ext cx="2377440" cy="310896"/>
          </a:xfrm>
          <a:prstGeom prst="roundRect">
            <a:avLst>
              <a:gd name="adj" fmla="val 15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st_size = 13 bytes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464433"/>
            <a:ext cx="2377440" cy="310896"/>
          </a:xfrm>
          <a:prstGeom prst="roundRect">
            <a:avLst>
              <a:gd name="adj" fmla="val 15000"/>
            </a:avLst>
          </a:prstGeom>
          <a:solidFill>
            <a:srgbClr val="DCF1E4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alibri"/>
              </a:rPr>
              <a:t>is a file, not a folder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967353"/>
            <a:ext cx="2834640" cy="310896"/>
          </a:xfrm>
          <a:prstGeom prst="roundRect">
            <a:avLst>
              <a:gd name="adj" fmla="val 15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st_mtime = Tue Apr  9 01:45:29 2024</a:t>
            </a:r>
          </a:p>
        </p:txBody>
      </p:sp>
      <p:cxnSp>
        <p:nvCxnSpPr>
          <p:cNvPr id="16" name="arrow"/>
          <p:cNvCxnSpPr/>
          <p:nvPr/>
        </p:nvCxnSpPr>
        <p:spPr>
          <a:xfrm flipV="1">
            <a:off x="5504688" y="3116961"/>
            <a:ext cx="420624" cy="512064"/>
          </a:xfrm>
          <a:prstGeom prst="line">
            <a:avLst/>
          </a:prstGeom>
          <a:ln w="1524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arrow"/>
          <p:cNvCxnSpPr/>
          <p:nvPr/>
        </p:nvCxnSpPr>
        <p:spPr>
          <a:xfrm flipV="1">
            <a:off x="5504688" y="3619881"/>
            <a:ext cx="420624" cy="9144"/>
          </a:xfrm>
          <a:prstGeom prst="line">
            <a:avLst/>
          </a:prstGeom>
          <a:ln w="1524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arrow"/>
          <p:cNvCxnSpPr/>
          <p:nvPr/>
        </p:nvCxnSpPr>
        <p:spPr>
          <a:xfrm>
            <a:off x="5504688" y="3629025"/>
            <a:ext cx="420624" cy="493776"/>
          </a:xfrm>
          <a:prstGeom prst="line">
            <a:avLst/>
          </a:prstGeom>
          <a:ln w="1524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exists asks; stat measures.</a:t>
            </a:r>
          </a:p>
        </p:txBody>
      </p:sp>
      <p:sp>
        <p:nvSpPr>
          <p:cNvPr id="21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15 / 41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Part 3: Reading and writing text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 i="0">
                <a:solidFill>
                  <a:srgbClr val="5B6773"/>
                </a:solidFill>
                <a:latin typeface="Calibri"/>
              </a:rPr>
              <a:t>Open, read, write, close, and say how the letters are stored</a:t>
            </a:r>
          </a:p>
        </p:txBody>
      </p:sp>
      <p:sp>
        <p:nvSpPr>
          <p:cNvPr id="4" name="rule"/>
          <p:cNvSpPr/>
          <p:nvPr/>
        </p:nvSpPr>
        <p:spPr>
          <a:xfrm>
            <a:off x="457200" y="1216152"/>
            <a:ext cx="1097280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open and close</a:t>
            </a:r>
          </a:p>
        </p:txBody>
      </p:sp>
      <p:sp>
        <p:nvSpPr>
          <p:cNvPr id="6" name="meaning"/>
          <p:cNvSpPr txBox="1"/>
          <p:nvPr/>
        </p:nvSpPr>
        <p:spPr>
          <a:xfrm>
            <a:off x="2606040" y="1417320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Borrow a file object, use it, give it 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75688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read and write</a:t>
            </a:r>
          </a:p>
        </p:txBody>
      </p:sp>
      <p:sp>
        <p:nvSpPr>
          <p:cNvPr id="8" name="meaning"/>
          <p:cNvSpPr txBox="1"/>
          <p:nvPr/>
        </p:nvSpPr>
        <p:spPr>
          <a:xfrm>
            <a:off x="2606040" y="2075688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Take the whole text, one line, or a few characters.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34056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with</a:t>
            </a:r>
          </a:p>
        </p:txBody>
      </p:sp>
      <p:sp>
        <p:nvSpPr>
          <p:cNvPr id="10" name="meaning"/>
          <p:cNvSpPr txBox="1"/>
          <p:nvPr/>
        </p:nvSpPr>
        <p:spPr>
          <a:xfrm>
            <a:off x="2606040" y="2734056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The block that closes the file for you.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92424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Modes and encoding</a:t>
            </a:r>
          </a:p>
        </p:txBody>
      </p:sp>
      <p:sp>
        <p:nvSpPr>
          <p:cNvPr id="12" name="meaning"/>
          <p:cNvSpPr txBox="1"/>
          <p:nvPr/>
        </p:nvSpPr>
        <p:spPr>
          <a:xfrm>
            <a:off x="2606040" y="3392424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w, a and x decide what happens to old text.</a:t>
            </a:r>
          </a:p>
        </p:txBody>
      </p:sp>
      <p:graphicFrame>
        <p:nvGraphicFramePr>
          <p:cNvPr id="13" name="table"/>
          <p:cNvGraphicFramePr>
            <a:graphicFrameLocks noGrp="1"/>
          </p:cNvGraphicFramePr>
          <p:nvPr/>
        </p:nvGraphicFramePr>
        <p:xfrm>
          <a:off x="5303520" y="1417320"/>
          <a:ext cx="3474719" cy="3200400"/>
        </p:xfrm>
        <a:graphic>
          <a:graphicData uri="http://schemas.openxmlformats.org/drawingml/2006/table">
            <a:tbl>
              <a:tblPr firstRow="0" bandRow="0"/>
              <a:tblGrid>
                <a:gridCol w="507543"/>
                <a:gridCol w="2967176"/>
              </a:tblGrid>
              <a:tr h="32004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Slide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In this part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Everyday pictures: reading and writing...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Whole files: write_text and read_text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Story: UTF-8 was drawn on a diner plac...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open(): a file object you must close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Reading: the file cursor moves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Everyday pictures: writing and the wit...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with: the file closes itself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Write modes: w, a and x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encoding: how bytes become characters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16 / 41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Everyday pictures: reading and writing files</a:t>
            </a:r>
          </a:p>
        </p:txBody>
      </p:sp>
      <p:sp>
        <p:nvSpPr>
          <p:cNvPr id="4" name="card"/>
          <p:cNvSpPr/>
          <p:nvPr/>
        </p:nvSpPr>
        <p:spPr>
          <a:xfrm>
            <a:off x="365760" y="749808"/>
            <a:ext cx="8412480" cy="566928"/>
          </a:xfrm>
          <a:prstGeom prst="roundRect">
            <a:avLst>
              <a:gd name="adj" fmla="val 8000"/>
            </a:avLst>
          </a:prstGeom>
          <a:solidFill>
            <a:srgbClr val="F8E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nalogy"/>
          <p:cNvSpPr txBox="1"/>
          <p:nvPr/>
        </p:nvSpPr>
        <p:spPr>
          <a:xfrm>
            <a:off x="502920" y="768096"/>
            <a:ext cx="813816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400" b="1" i="0">
                <a:solidFill>
                  <a:srgbClr val="B7791F"/>
                </a:solidFill>
                <a:latin typeface="Calibri"/>
              </a:rPr>
              <a:t>ANALOGY 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Working with a file is like a library loan: you open the book, you read or write, and you must give it back.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365760" y="1444752"/>
          <a:ext cx="8412480" cy="3200400"/>
        </p:xfrm>
        <a:graphic>
          <a:graphicData uri="http://schemas.openxmlformats.org/drawingml/2006/table">
            <a:tbl>
              <a:tblPr firstRow="0" bandRow="0"/>
              <a:tblGrid>
                <a:gridCol w="2926080"/>
                <a:gridCol w="5486400"/>
              </a:tblGrid>
              <a:tr h="3200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Chapter concept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Everyday picture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2933"/>
                          </a:solidFill>
                          <a:latin typeface="Calibri"/>
                        </a:rPr>
                        <a:t>The File Reading and Writing Process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</a:rPr>
                        <a:t>Borrow the book, read or write, return the book: three steps, always in this order.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2933"/>
                          </a:solidFill>
                          <a:latin typeface="Calibri"/>
                        </a:rPr>
                        <a:t>Plaintext file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</a:rPr>
                        <a:t>A note you can read with your own eyes: letters and line breaks.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2933"/>
                          </a:solidFill>
                          <a:latin typeface="Calibri"/>
                        </a:rPr>
                        <a:t>Binary file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</a:rPr>
                        <a:t>A sealed parcel that only the right machine can open: photos, music, spreadsheets.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2933"/>
                          </a:solidFill>
                          <a:latin typeface="Calibri"/>
                        </a:rPr>
                        <a:t>Opening Files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</a:rPr>
                        <a:t>Showing your library card and borrowing the book.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2933"/>
                          </a:solidFill>
                          <a:latin typeface="Calibri"/>
                        </a:rPr>
                        <a:t>open()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</a:rPr>
                        <a:t>The librarian's desk where a loan begins.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2933"/>
                          </a:solidFill>
                          <a:latin typeface="Calibri"/>
                        </a:rPr>
                        <a:t>File object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</a:rPr>
                        <a:t>The borrowed book in your hands, with a bookmark.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2933"/>
                          </a:solidFill>
                          <a:latin typeface="Calibri"/>
                        </a:rPr>
                        <a:t>Reading the Contents of Files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</a:rPr>
                        <a:t>Reading the book from the bookmark onward.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2933"/>
                          </a:solidFill>
                          <a:latin typeface="Calibri"/>
                        </a:rPr>
                        <a:t>read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</a:rPr>
                        <a:t>Reading the whole book in one go, from the bookmark to the last page.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F2933"/>
                          </a:solidFill>
                          <a:latin typeface="Calibri"/>
                        </a:rPr>
                        <a:t>close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3"/>
                          </a:solidFill>
                          <a:latin typeface="Calibri"/>
                        </a:rPr>
                        <a:t>Returning the book so the next reader can have it.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17 / 41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Whole files: write_text and read_text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4698491" cy="630173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os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tempfile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;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os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chdir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tempfile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mkdtemp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from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pathlib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Path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spam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Path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'spam.txt'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5045964" y="841248"/>
            <a:ext cx="3732275" cy="630173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200" b="0" i="0">
                <a:solidFill>
                  <a:srgbClr val="1F2933"/>
                </a:solidFill>
                <a:latin typeface="Calibri"/>
              </a:rPr>
              <a:t>One path object, spam.txt, in a fresh scratch folder.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526285"/>
            <a:ext cx="4698491" cy="800608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spam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write_text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'Hello, world!'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spam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read_text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spam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write_text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'café'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encoding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'utf-8'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spam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stat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st_size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045964" y="1526285"/>
            <a:ext cx="3732275" cy="800608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200" b="0" i="0">
                <a:solidFill>
                  <a:srgbClr val="1F2933"/>
                </a:solidFill>
                <a:latin typeface="Calibri"/>
              </a:rPr>
              <a:t>write_text returns the number of characters, not bytes. The accent takes two bytes, so 4 characters need 5 bytes.</a:t>
            </a:r>
          </a:p>
        </p:txBody>
      </p:sp>
      <p:sp>
        <p:nvSpPr>
          <p:cNvPr id="8" name="code"/>
          <p:cNvSpPr/>
          <p:nvPr/>
        </p:nvSpPr>
        <p:spPr>
          <a:xfrm>
            <a:off x="365760" y="2381757"/>
            <a:ext cx="4698491" cy="472440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Path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'b.bin'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write_bytes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bytes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100" b="0" i="0">
                <a:solidFill>
                  <a:srgbClr val="7CC4FF"/>
                </a:solidFill>
                <a:latin typeface="Courier New"/>
              </a:rPr>
              <a:t>0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7CC4FF"/>
                </a:solidFill>
                <a:latin typeface="Courier New"/>
              </a:rPr>
              <a:t>1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7CC4FF"/>
                </a:solidFill>
                <a:latin typeface="Courier New"/>
              </a:rPr>
              <a:t>255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Path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'b.bin'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read_bytes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9" name="explanation"/>
          <p:cNvSpPr txBox="1"/>
          <p:nvPr/>
        </p:nvSpPr>
        <p:spPr>
          <a:xfrm>
            <a:off x="5045964" y="2381757"/>
            <a:ext cx="3732275" cy="472440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200" b="0" i="0">
                <a:solidFill>
                  <a:srgbClr val="1F2933"/>
                </a:solidFill>
                <a:latin typeface="Calibri"/>
              </a:rPr>
              <a:t>A binary file holds bytes, not text. read_bytes gives them back exactly.</a:t>
            </a:r>
          </a:p>
        </p:txBody>
      </p:sp>
      <p:sp>
        <p:nvSpPr>
          <p:cNvPr id="10" name="result label"/>
          <p:cNvSpPr txBox="1"/>
          <p:nvPr/>
        </p:nvSpPr>
        <p:spPr>
          <a:xfrm>
            <a:off x="365760" y="2854198"/>
            <a:ext cx="548640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11" name="chart"/>
          <p:cNvGraphicFramePr>
            <a:graphicFrameLocks noGrp="1"/>
          </p:cNvGraphicFramePr>
          <p:nvPr/>
        </p:nvGraphicFramePr>
        <p:xfrm>
          <a:off x="365760" y="3055366"/>
          <a:ext cx="3533241" cy="1571497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2" name="table"/>
          <p:cNvGraphicFramePr>
            <a:graphicFrameLocks noGrp="1"/>
          </p:cNvGraphicFramePr>
          <p:nvPr/>
        </p:nvGraphicFramePr>
        <p:xfrm>
          <a:off x="4235500" y="3101086"/>
          <a:ext cx="4542739" cy="1571496"/>
        </p:xfrm>
        <a:graphic>
          <a:graphicData uri="http://schemas.openxmlformats.org/drawingml/2006/table">
            <a:tbl>
              <a:tblPr firstRow="0" bandRow="0"/>
              <a:tblGrid>
                <a:gridCol w="2366010"/>
                <a:gridCol w="2176729"/>
              </a:tblGrid>
              <a:tr h="26191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Call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26191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write_text('Hello, world!')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13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191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read_text()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Hello, world!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26191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write_text('café')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191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stat().st_size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26191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read_bytes()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b'\x00\x01\xff'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write_text counts characters; the file counts bytes.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18 / 41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Story: UTF-8 was drawn on a diner placemat</a:t>
            </a:r>
          </a:p>
        </p:txBody>
      </p:sp>
      <p:pic>
        <p:nvPicPr>
          <p:cNvPr id="4" name="photo utf8" descr="Picture for the story: UTF-8 was drawn on a diner placema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17320"/>
            <a:ext cx="2743200" cy="1828800"/>
          </a:xfrm>
          <a:prstGeom prst="rect">
            <a:avLst/>
          </a:prstGeom>
        </p:spPr>
      </p:pic>
      <p:sp>
        <p:nvSpPr>
          <p:cNvPr id="5" name="credit"/>
          <p:cNvSpPr txBox="1"/>
          <p:nvPr/>
        </p:nvSpPr>
        <p:spPr>
          <a:xfrm>
            <a:off x="365760" y="3840480"/>
            <a:ext cx="2743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0">
                <a:solidFill>
                  <a:srgbClr val="5B6773"/>
                </a:solidFill>
                <a:latin typeface="Calibri"/>
              </a:rPr>
              <a:t>Rob Pike at OSCON. Photo: Kevin Shockey, CC BY 2.0, Wikimedia Commons.</a:t>
            </a:r>
          </a:p>
        </p:txBody>
      </p:sp>
      <p:sp>
        <p:nvSpPr>
          <p:cNvPr id="6" name="card"/>
          <p:cNvSpPr/>
          <p:nvPr/>
        </p:nvSpPr>
        <p:spPr>
          <a:xfrm>
            <a:off x="3291840" y="841248"/>
            <a:ext cx="5486400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ho"/>
          <p:cNvSpPr txBox="1"/>
          <p:nvPr/>
        </p:nvSpPr>
        <p:spPr>
          <a:xfrm>
            <a:off x="3337560" y="841248"/>
            <a:ext cx="539496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WHO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Ken Thompson and Rob Pike, both of Bell Labs.</a:t>
            </a:r>
          </a:p>
        </p:txBody>
      </p:sp>
      <p:sp>
        <p:nvSpPr>
          <p:cNvPr id="8" name="card"/>
          <p:cNvSpPr/>
          <p:nvPr/>
        </p:nvSpPr>
        <p:spPr>
          <a:xfrm>
            <a:off x="3291840" y="1307592"/>
            <a:ext cx="548640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hat"/>
          <p:cNvSpPr txBox="1"/>
          <p:nvPr/>
        </p:nvSpPr>
        <p:spPr>
          <a:xfrm>
            <a:off x="3337560" y="1307592"/>
            <a:ext cx="539496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WHAT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UTF-8, the way of writing every character as one to four bytes.</a:t>
            </a:r>
          </a:p>
        </p:txBody>
      </p:sp>
      <p:sp>
        <p:nvSpPr>
          <p:cNvPr id="10" name="card"/>
          <p:cNvSpPr/>
          <p:nvPr/>
        </p:nvSpPr>
        <p:spPr>
          <a:xfrm>
            <a:off x="3291840" y="1929384"/>
            <a:ext cx="548640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hen"/>
          <p:cNvSpPr txBox="1"/>
          <p:nvPr/>
        </p:nvSpPr>
        <p:spPr>
          <a:xfrm>
            <a:off x="3337560" y="1929384"/>
            <a:ext cx="539496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WHEN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September 1992; first working code on 4 September, proposal to X/Open on 8 September.</a:t>
            </a:r>
          </a:p>
        </p:txBody>
      </p:sp>
      <p:sp>
        <p:nvSpPr>
          <p:cNvPr id="12" name="card"/>
          <p:cNvSpPr/>
          <p:nvPr/>
        </p:nvSpPr>
        <p:spPr>
          <a:xfrm>
            <a:off x="3291840" y="2551176"/>
            <a:ext cx="5486400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where"/>
          <p:cNvSpPr txBox="1"/>
          <p:nvPr/>
        </p:nvSpPr>
        <p:spPr>
          <a:xfrm>
            <a:off x="3337560" y="2551176"/>
            <a:ext cx="539496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WHERE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A diner in New Jersey, then Bell Labs in Murray Hill.</a:t>
            </a:r>
          </a:p>
        </p:txBody>
      </p:sp>
      <p:sp>
        <p:nvSpPr>
          <p:cNvPr id="14" name="card"/>
          <p:cNvSpPr/>
          <p:nvPr/>
        </p:nvSpPr>
        <p:spPr>
          <a:xfrm>
            <a:off x="3291840" y="3017520"/>
            <a:ext cx="548640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why"/>
          <p:cNvSpPr txBox="1"/>
          <p:nvPr/>
        </p:nvSpPr>
        <p:spPr>
          <a:xfrm>
            <a:off x="3337560" y="3017520"/>
            <a:ext cx="539496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WHY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The rival encoding FSS/UTF could not recover a byte stream picked up mid-character.</a:t>
            </a:r>
          </a:p>
        </p:txBody>
      </p:sp>
      <p:sp>
        <p:nvSpPr>
          <p:cNvPr id="16" name="card"/>
          <p:cNvSpPr/>
          <p:nvPr/>
        </p:nvSpPr>
        <p:spPr>
          <a:xfrm>
            <a:off x="3291840" y="3639311"/>
            <a:ext cx="548640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ow"/>
          <p:cNvSpPr txBox="1"/>
          <p:nvPr/>
        </p:nvSpPr>
        <p:spPr>
          <a:xfrm>
            <a:off x="3337560" y="3639311"/>
            <a:ext cx="539496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HOW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The encoding='utf-8' you pass to open() names that format.</a:t>
            </a:r>
          </a:p>
        </p:txBody>
      </p:sp>
      <p:sp>
        <p:nvSpPr>
          <p:cNvPr id="18" name="read"/>
          <p:cNvSpPr txBox="1"/>
          <p:nvPr/>
        </p:nvSpPr>
        <p:spPr>
          <a:xfrm>
            <a:off x="3291840" y="4279391"/>
            <a:ext cx="548640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1" i="0">
                <a:solidFill>
                  <a:srgbClr val="B7791F"/>
                </a:solidFill>
                <a:latin typeface="Calibri"/>
              </a:rPr>
              <a:t>READ  </a:t>
            </a:r>
            <a:r>
              <a:rPr sz="1300" b="0" i="0">
                <a:solidFill>
                  <a:srgbClr val="0E7C86"/>
                </a:solidFill>
                <a:latin typeface="Calibri"/>
                <a:hlinkClick r:id="rId4"/>
              </a:rPr>
              <a:t>UTF-8 history, by Rob Pike (doc.cat-v.org)</a:t>
            </a:r>
          </a:p>
        </p:txBody>
      </p:sp>
      <p:sp>
        <p:nvSpPr>
          <p:cNvPr id="19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19 / 41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open(): a file object you must close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5102351" cy="686752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2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2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os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tempfile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;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os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chdir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tempfile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mkdtemp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2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bacon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open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'bacon.txt'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'w'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encoding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'utf-8'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5449824" y="841248"/>
            <a:ext cx="3328416" cy="686752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open returns a file object. The mode w means write, and it starts a new empty file.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582864"/>
            <a:ext cx="5102351" cy="686752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2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2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bacon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write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'Hello, world!\n'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2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2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bacon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write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'Bacon is not a vegetable.'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2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bacon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close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449824" y="1582864"/>
            <a:ext cx="3328416" cy="686752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Each write returns how many characters it wrote. close finishes the job and frees the file.</a:t>
            </a:r>
          </a:p>
        </p:txBody>
      </p:sp>
      <p:sp>
        <p:nvSpPr>
          <p:cNvPr id="8" name="code"/>
          <p:cNvSpPr/>
          <p:nvPr/>
        </p:nvSpPr>
        <p:spPr>
          <a:xfrm>
            <a:off x="365760" y="2324481"/>
            <a:ext cx="5102351" cy="862584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2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reader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open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'bacon.txt'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encoding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'utf-8'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2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2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reader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read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2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reader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close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2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2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reader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closed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9" name="explanation"/>
          <p:cNvSpPr txBox="1"/>
          <p:nvPr/>
        </p:nvSpPr>
        <p:spPr>
          <a:xfrm>
            <a:off x="5449824" y="2324481"/>
            <a:ext cx="3328416" cy="862584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Mode r, reading, is the default. read returns the whole text, and closed tells whether the file is shut.</a:t>
            </a:r>
          </a:p>
        </p:txBody>
      </p:sp>
      <p:sp>
        <p:nvSpPr>
          <p:cNvPr id="10" name="result label"/>
          <p:cNvSpPr txBox="1"/>
          <p:nvPr/>
        </p:nvSpPr>
        <p:spPr>
          <a:xfrm>
            <a:off x="365760" y="3187065"/>
            <a:ext cx="548640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525393"/>
            <a:ext cx="1261872" cy="365760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open(.., 'w')</a:t>
            </a:r>
          </a:p>
        </p:txBody>
      </p:sp>
      <p:sp>
        <p:nvSpPr>
          <p:cNvPr id="12" name="step result"/>
          <p:cNvSpPr txBox="1"/>
          <p:nvPr/>
        </p:nvSpPr>
        <p:spPr>
          <a:xfrm>
            <a:off x="365760" y="3946017"/>
            <a:ext cx="1261872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 i="0">
                <a:solidFill>
                  <a:srgbClr val="1F2933"/>
                </a:solidFill>
                <a:latin typeface="Calibri"/>
              </a:rPr>
              <a:t>an empty file</a:t>
            </a:r>
          </a:p>
        </p:txBody>
      </p:sp>
      <p:cxnSp>
        <p:nvCxnSpPr>
          <p:cNvPr id="13" name="arrow"/>
          <p:cNvCxnSpPr/>
          <p:nvPr/>
        </p:nvCxnSpPr>
        <p:spPr>
          <a:xfrm>
            <a:off x="1627631" y="3708273"/>
            <a:ext cx="164592" cy="0"/>
          </a:xfrm>
          <a:prstGeom prst="line">
            <a:avLst/>
          </a:prstGeom>
          <a:ln w="1905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792224" y="3525393"/>
            <a:ext cx="1261872" cy="365760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write(line 1)</a:t>
            </a:r>
          </a:p>
        </p:txBody>
      </p:sp>
      <p:sp>
        <p:nvSpPr>
          <p:cNvPr id="15" name="step result"/>
          <p:cNvSpPr txBox="1"/>
          <p:nvPr/>
        </p:nvSpPr>
        <p:spPr>
          <a:xfrm>
            <a:off x="1792224" y="3946017"/>
            <a:ext cx="1261872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 i="0">
                <a:solidFill>
                  <a:srgbClr val="1F2933"/>
                </a:solidFill>
                <a:latin typeface="Calibri"/>
              </a:rPr>
              <a:t>14 characters</a:t>
            </a:r>
          </a:p>
        </p:txBody>
      </p:sp>
      <p:cxnSp>
        <p:nvCxnSpPr>
          <p:cNvPr id="16" name="arrow"/>
          <p:cNvCxnSpPr/>
          <p:nvPr/>
        </p:nvCxnSpPr>
        <p:spPr>
          <a:xfrm>
            <a:off x="3054096" y="3708273"/>
            <a:ext cx="164592" cy="0"/>
          </a:xfrm>
          <a:prstGeom prst="line">
            <a:avLst/>
          </a:prstGeom>
          <a:ln w="1905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218687" y="3525393"/>
            <a:ext cx="1261872" cy="365760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write(line 2)</a:t>
            </a:r>
          </a:p>
        </p:txBody>
      </p:sp>
      <p:sp>
        <p:nvSpPr>
          <p:cNvPr id="18" name="step result"/>
          <p:cNvSpPr txBox="1"/>
          <p:nvPr/>
        </p:nvSpPr>
        <p:spPr>
          <a:xfrm>
            <a:off x="3218687" y="3946017"/>
            <a:ext cx="1261872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 i="0">
                <a:solidFill>
                  <a:srgbClr val="1F2933"/>
                </a:solidFill>
                <a:latin typeface="Calibri"/>
              </a:rPr>
              <a:t>25 characters</a:t>
            </a:r>
          </a:p>
        </p:txBody>
      </p:sp>
      <p:cxnSp>
        <p:nvCxnSpPr>
          <p:cNvPr id="19" name="arrow"/>
          <p:cNvCxnSpPr/>
          <p:nvPr/>
        </p:nvCxnSpPr>
        <p:spPr>
          <a:xfrm>
            <a:off x="4480559" y="3708273"/>
            <a:ext cx="164592" cy="0"/>
          </a:xfrm>
          <a:prstGeom prst="line">
            <a:avLst/>
          </a:prstGeom>
          <a:ln w="1905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645152" y="3525393"/>
            <a:ext cx="1261872" cy="365760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close()</a:t>
            </a:r>
          </a:p>
        </p:txBody>
      </p:sp>
      <p:sp>
        <p:nvSpPr>
          <p:cNvPr id="21" name="step result"/>
          <p:cNvSpPr txBox="1"/>
          <p:nvPr/>
        </p:nvSpPr>
        <p:spPr>
          <a:xfrm>
            <a:off x="4645152" y="3946017"/>
            <a:ext cx="1261872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 i="0">
                <a:solidFill>
                  <a:srgbClr val="1F2933"/>
                </a:solidFill>
                <a:latin typeface="Calibri"/>
              </a:rPr>
              <a:t>text saved</a:t>
            </a:r>
          </a:p>
        </p:txBody>
      </p:sp>
      <p:cxnSp>
        <p:nvCxnSpPr>
          <p:cNvPr id="22" name="arrow"/>
          <p:cNvCxnSpPr/>
          <p:nvPr/>
        </p:nvCxnSpPr>
        <p:spPr>
          <a:xfrm>
            <a:off x="5907024" y="3708273"/>
            <a:ext cx="164592" cy="0"/>
          </a:xfrm>
          <a:prstGeom prst="line">
            <a:avLst/>
          </a:prstGeom>
          <a:ln w="1905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071616" y="3525393"/>
            <a:ext cx="1261872" cy="365760"/>
          </a:xfrm>
          <a:prstGeom prst="roundRect">
            <a:avLst>
              <a:gd name="adj" fmla="val 15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reader.read()</a:t>
            </a:r>
          </a:p>
        </p:txBody>
      </p:sp>
      <p:sp>
        <p:nvSpPr>
          <p:cNvPr id="24" name="step result"/>
          <p:cNvSpPr txBox="1"/>
          <p:nvPr/>
        </p:nvSpPr>
        <p:spPr>
          <a:xfrm>
            <a:off x="6071616" y="3946017"/>
            <a:ext cx="1261872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 i="0">
                <a:solidFill>
                  <a:srgbClr val="1F2933"/>
                </a:solidFill>
                <a:latin typeface="Calibri"/>
              </a:rPr>
              <a:t>2 lines read back</a:t>
            </a:r>
          </a:p>
        </p:txBody>
      </p:sp>
      <p:cxnSp>
        <p:nvCxnSpPr>
          <p:cNvPr id="25" name="arrow"/>
          <p:cNvCxnSpPr/>
          <p:nvPr/>
        </p:nvCxnSpPr>
        <p:spPr>
          <a:xfrm>
            <a:off x="7333488" y="3708273"/>
            <a:ext cx="164591" cy="0"/>
          </a:xfrm>
          <a:prstGeom prst="line">
            <a:avLst/>
          </a:prstGeom>
          <a:ln w="1905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498079" y="3525393"/>
            <a:ext cx="1261872" cy="365760"/>
          </a:xfrm>
          <a:prstGeom prst="roundRect">
            <a:avLst>
              <a:gd name="adj" fmla="val 15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reader.close()</a:t>
            </a:r>
          </a:p>
        </p:txBody>
      </p:sp>
      <p:sp>
        <p:nvSpPr>
          <p:cNvPr id="27" name="step result"/>
          <p:cNvSpPr txBox="1"/>
          <p:nvPr/>
        </p:nvSpPr>
        <p:spPr>
          <a:xfrm>
            <a:off x="7498079" y="3946017"/>
            <a:ext cx="1261872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 i="0">
                <a:solidFill>
                  <a:srgbClr val="1F2933"/>
                </a:solidFill>
                <a:latin typeface="Calibri"/>
              </a:rPr>
              <a:t>closed = True</a:t>
            </a:r>
          </a:p>
        </p:txBody>
      </p:sp>
      <p:sp>
        <p:nvSpPr>
          <p:cNvPr id="28" name="legend"/>
          <p:cNvSpPr txBox="1"/>
          <p:nvPr/>
        </p:nvSpPr>
        <p:spPr>
          <a:xfrm>
            <a:off x="365760" y="4302633"/>
            <a:ext cx="84124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0" i="1">
                <a:solidFill>
                  <a:srgbClr val="5B6773"/>
                </a:solidFill>
                <a:latin typeface="Calibri"/>
              </a:rPr>
              <a:t>The program printed: 14, 25, then the two lines 'Hello, world!' and 'Bacon is not a vegetable.', then True.</a:t>
            </a:r>
          </a:p>
        </p:txBody>
      </p:sp>
      <p:sp>
        <p:nvSpPr>
          <p:cNvPr id="29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Open, use, close: always return the file.</a:t>
            </a:r>
          </a:p>
        </p:txBody>
      </p:sp>
      <p:sp>
        <p:nvSpPr>
          <p:cNvPr id="31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20 / 41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Reading: the file cursor moves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5132832" cy="893571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os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tempfile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;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os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chdir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tempfile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mkdtemp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from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pathlib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Path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poem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Path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'poem.txt'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poem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write_text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'roses\nviolets\nsugar\n'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encoding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'utf-8'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f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open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poem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encoding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'utf-8'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5480304" y="841248"/>
            <a:ext cx="3297935" cy="893571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A poem of three lines is written first. Then the file is opened for reading.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789684"/>
            <a:ext cx="5132832" cy="1048511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repr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f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readline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f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tell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f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readlines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f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tell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repr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f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read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f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tell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f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seek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7CC4FF"/>
                </a:solidFill>
                <a:latin typeface="Courier New"/>
              </a:rPr>
              <a:t>0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repr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f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read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7CC4FF"/>
                </a:solidFill>
                <a:latin typeface="Courier New"/>
              </a:rPr>
              <a:t>5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f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tell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f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close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480304" y="1789684"/>
            <a:ext cx="3297935" cy="1048511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Every read moves the cursor on, and tell shows where it stands. At the end read gives an empty string. seek(0) rewinds.</a:t>
            </a:r>
          </a:p>
        </p:txBody>
      </p:sp>
      <p:sp>
        <p:nvSpPr>
          <p:cNvPr id="8" name="result label"/>
          <p:cNvSpPr txBox="1"/>
          <p:nvPr/>
        </p:nvSpPr>
        <p:spPr>
          <a:xfrm>
            <a:off x="365760" y="2856484"/>
            <a:ext cx="548640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103372"/>
            <a:ext cx="393191" cy="310896"/>
          </a:xfrm>
          <a:prstGeom prst="roundRect">
            <a:avLst>
              <a:gd name="adj" fmla="val 10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414267"/>
            <a:ext cx="3931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5B6773"/>
                </a:solidFill>
                <a:latin typeface="Calibri"/>
              </a:rPr>
              <a:t>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" y="3103372"/>
            <a:ext cx="393191" cy="310896"/>
          </a:xfrm>
          <a:prstGeom prst="roundRect">
            <a:avLst>
              <a:gd name="adj" fmla="val 10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" y="3414267"/>
            <a:ext cx="3931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5B6773"/>
                </a:solidFill>
                <a:latin typeface="Calibri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97864" y="3103372"/>
            <a:ext cx="393191" cy="310896"/>
          </a:xfrm>
          <a:prstGeom prst="roundRect">
            <a:avLst>
              <a:gd name="adj" fmla="val 10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7864" y="3414267"/>
            <a:ext cx="3931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5B6773"/>
                </a:solidFill>
                <a:latin typeface="Calibri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13915" y="3103372"/>
            <a:ext cx="393191" cy="310896"/>
          </a:xfrm>
          <a:prstGeom prst="roundRect">
            <a:avLst>
              <a:gd name="adj" fmla="val 10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3915" y="3414267"/>
            <a:ext cx="3931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5B6773"/>
                </a:solidFill>
                <a:latin typeface="Calibri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29967" y="3103372"/>
            <a:ext cx="393191" cy="310896"/>
          </a:xfrm>
          <a:prstGeom prst="roundRect">
            <a:avLst>
              <a:gd name="adj" fmla="val 10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9967" y="3414267"/>
            <a:ext cx="3931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5B6773"/>
                </a:solidFill>
                <a:latin typeface="Calibri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46020" y="3103372"/>
            <a:ext cx="393191" cy="310896"/>
          </a:xfrm>
          <a:prstGeom prst="roundRect">
            <a:avLst>
              <a:gd name="adj" fmla="val 10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46020" y="3414267"/>
            <a:ext cx="3931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5B6773"/>
                </a:solidFill>
                <a:latin typeface="Calibri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62071" y="3103372"/>
            <a:ext cx="393191" cy="310896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62071" y="3414267"/>
            <a:ext cx="3931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5B6773"/>
                </a:solidFill>
                <a:latin typeface="Calibr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8123" y="3103372"/>
            <a:ext cx="393191" cy="310896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78123" y="3414267"/>
            <a:ext cx="3931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5B6773"/>
                </a:solidFill>
                <a:latin typeface="Calibri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94176" y="3103372"/>
            <a:ext cx="393191" cy="310896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94176" y="3414267"/>
            <a:ext cx="3931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5B6773"/>
                </a:solidFill>
                <a:latin typeface="Calibri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0228" y="3103372"/>
            <a:ext cx="393191" cy="310896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0228" y="3414267"/>
            <a:ext cx="3931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5B6773"/>
                </a:solidFill>
                <a:latin typeface="Calibri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26280" y="3103372"/>
            <a:ext cx="393191" cy="310896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414267"/>
            <a:ext cx="3931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5B6773"/>
                </a:solidFill>
                <a:latin typeface="Calibri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42332" y="3103372"/>
            <a:ext cx="393191" cy="310896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42332" y="3414267"/>
            <a:ext cx="3931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5B6773"/>
                </a:solidFill>
                <a:latin typeface="Calibri"/>
              </a:rPr>
              <a:t>11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58383" y="3103372"/>
            <a:ext cx="393191" cy="310896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58383" y="3414267"/>
            <a:ext cx="3931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5B6773"/>
                </a:solidFill>
                <a:latin typeface="Calibri"/>
              </a:rPr>
              <a:t>12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74436" y="3103372"/>
            <a:ext cx="393191" cy="310896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74436" y="3414267"/>
            <a:ext cx="3931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5B6773"/>
                </a:solidFill>
                <a:latin typeface="Calibri"/>
              </a:rPr>
              <a:t>13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0488" y="3103372"/>
            <a:ext cx="393191" cy="310896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0488" y="3414267"/>
            <a:ext cx="3931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5B6773"/>
                </a:solidFill>
                <a:latin typeface="Calibri"/>
              </a:rPr>
              <a:t>14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06540" y="3103372"/>
            <a:ext cx="393191" cy="310896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06540" y="3414267"/>
            <a:ext cx="3931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5B6773"/>
                </a:solidFill>
                <a:latin typeface="Calibri"/>
              </a:rPr>
              <a:t>15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22592" y="3103372"/>
            <a:ext cx="393191" cy="310896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22592" y="3414267"/>
            <a:ext cx="3931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5B6773"/>
                </a:solidFill>
                <a:latin typeface="Calibri"/>
              </a:rPr>
              <a:t>16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38644" y="3103372"/>
            <a:ext cx="393191" cy="310896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38644" y="3414267"/>
            <a:ext cx="3931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5B6773"/>
                </a:solidFill>
                <a:latin typeface="Calibri"/>
              </a:rPr>
              <a:t>17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54696" y="3103372"/>
            <a:ext cx="393191" cy="310896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54696" y="3414267"/>
            <a:ext cx="3931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5B6773"/>
                </a:solidFill>
                <a:latin typeface="Calibri"/>
              </a:rPr>
              <a:t>18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70748" y="3103372"/>
            <a:ext cx="393191" cy="310896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⏎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0748" y="3414267"/>
            <a:ext cx="3931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5B6773"/>
                </a:solidFill>
                <a:latin typeface="Calibri"/>
              </a:rPr>
              <a:t>19</a:t>
            </a:r>
          </a:p>
        </p:txBody>
      </p:sp>
      <p:sp>
        <p:nvSpPr>
          <p:cNvPr id="49" name="legend"/>
          <p:cNvSpPr txBox="1"/>
          <p:nvPr/>
        </p:nvSpPr>
        <p:spPr>
          <a:xfrm>
            <a:off x="365760" y="3606292"/>
            <a:ext cx="8412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1">
                <a:solidFill>
                  <a:srgbClr val="5B6773"/>
                </a:solidFill>
                <a:latin typeface="Calibri"/>
              </a:rPr>
              <a:t>teal: readline took it    amber: readlines took it    the cursor then stands at 20, the end</a:t>
            </a:r>
          </a:p>
        </p:txBody>
      </p:sp>
      <p:graphicFrame>
        <p:nvGraphicFramePr>
          <p:cNvPr id="50" name="table"/>
          <p:cNvGraphicFramePr>
            <a:graphicFrameLocks noGrp="1"/>
          </p:cNvGraphicFramePr>
          <p:nvPr/>
        </p:nvGraphicFramePr>
        <p:xfrm>
          <a:off x="365760" y="3880612"/>
          <a:ext cx="6729983" cy="791970"/>
        </p:xfrm>
        <a:graphic>
          <a:graphicData uri="http://schemas.openxmlformats.org/drawingml/2006/table">
            <a:tbl>
              <a:tblPr firstRow="0" bandRow="0"/>
              <a:tblGrid>
                <a:gridCol w="1781466"/>
                <a:gridCol w="3760873"/>
                <a:gridCol w="1187644"/>
              </a:tblGrid>
              <a:tr h="158394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Call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What came back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Cursor after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158394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F2933"/>
                          </a:solidFill>
                          <a:latin typeface="Courier New"/>
                        </a:rPr>
                        <a:t>readline()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F2933"/>
                          </a:solidFill>
                          <a:latin typeface="Courier New"/>
                        </a:rPr>
                        <a:t>'roses\n'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2933"/>
                          </a:solidFill>
                          <a:latin typeface="Courier New"/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8394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F2933"/>
                          </a:solidFill>
                          <a:latin typeface="Courier New"/>
                        </a:rPr>
                        <a:t>readlines()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F2933"/>
                          </a:solidFill>
                          <a:latin typeface="Courier New"/>
                        </a:rPr>
                        <a:t>['violets\n', 'sugar\n']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2933"/>
                          </a:solidFill>
                          <a:latin typeface="Courier New"/>
                        </a:rPr>
                        <a:t>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158394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F2933"/>
                          </a:solidFill>
                          <a:latin typeface="Courier New"/>
                        </a:rPr>
                        <a:t>read()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F2933"/>
                          </a:solidFill>
                          <a:latin typeface="Courier New"/>
                        </a:rPr>
                        <a:t>''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2933"/>
                          </a:solidFill>
                          <a:latin typeface="Courier New"/>
                        </a:rPr>
                        <a:t>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8394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F2933"/>
                          </a:solidFill>
                          <a:latin typeface="Courier New"/>
                        </a:rPr>
                        <a:t>seek(0); read(5)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F2933"/>
                          </a:solidFill>
                          <a:latin typeface="Courier New"/>
                        </a:rPr>
                        <a:t>'roses'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2933"/>
                          </a:solidFill>
                          <a:latin typeface="Courier New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51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Reading moves the cursor; seek(0) rewinds.</a:t>
            </a:r>
          </a:p>
        </p:txBody>
      </p:sp>
      <p:sp>
        <p:nvSpPr>
          <p:cNvPr id="53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21 / 41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Everyday pictures: writing and the with block</a:t>
            </a:r>
          </a:p>
        </p:txBody>
      </p:sp>
      <p:sp>
        <p:nvSpPr>
          <p:cNvPr id="4" name="card"/>
          <p:cNvSpPr/>
          <p:nvPr/>
        </p:nvSpPr>
        <p:spPr>
          <a:xfrm>
            <a:off x="365760" y="749808"/>
            <a:ext cx="8412480" cy="566928"/>
          </a:xfrm>
          <a:prstGeom prst="roundRect">
            <a:avLst>
              <a:gd name="adj" fmla="val 8000"/>
            </a:avLst>
          </a:prstGeom>
          <a:solidFill>
            <a:srgbClr val="F8E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nalogy"/>
          <p:cNvSpPr txBox="1"/>
          <p:nvPr/>
        </p:nvSpPr>
        <p:spPr>
          <a:xfrm>
            <a:off x="502920" y="768096"/>
            <a:ext cx="813816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400" b="1" i="0">
                <a:solidFill>
                  <a:srgbClr val="B7791F"/>
                </a:solidFill>
                <a:latin typeface="Calibri"/>
              </a:rPr>
              <a:t>ANALOGY 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A with block is a borrowing slip that returns the book by itself, even if you drop everything and run.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365760" y="1444752"/>
          <a:ext cx="8412480" cy="3200400"/>
        </p:xfrm>
        <a:graphic>
          <a:graphicData uri="http://schemas.openxmlformats.org/drawingml/2006/table">
            <a:tbl>
              <a:tblPr firstRow="0" bandRow="0"/>
              <a:tblGrid>
                <a:gridCol w="2926080"/>
                <a:gridCol w="5486400"/>
              </a:tblGrid>
              <a:tr h="40005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Chapter concept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Everyday picture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Writing to Files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Writing in a notebook: 'w' brings a clean page, 'a' continues, 'x' refuses to touch a used one.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write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Writing one more line into the notebook.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write_text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Dictating a whole letter to a secretary who files it for you.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read_text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Asking the secretary to read the whole letter back.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readlines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Tearing the letter into strips, one strip per line.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Using with Statements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A borrowing slip that sends the book back by itself.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Context manager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A hotel porter: opens the door for you and shuts it again after you leave.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22 / 41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with: the file closes itself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8412480" cy="800608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os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tempfile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;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os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chdir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tempfile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mkdtemp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with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open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'data.txt'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'w'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encoding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'utf-8'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as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file_obj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: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file_obj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write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'abc'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file_obj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closed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file_obj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closed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365760" y="1651000"/>
            <a:ext cx="8412480" cy="281940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200" b="0" i="0">
                <a:solidFill>
                  <a:srgbClr val="1F2933"/>
                </a:solidFill>
                <a:latin typeface="Calibri"/>
              </a:rPr>
              <a:t>Inside the block the file is open. When the block ends, the with statement closes it for you.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978659"/>
            <a:ext cx="8412480" cy="800608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try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: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with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open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'data.txt'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'w'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encoding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'utf-8'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as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g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raise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RuntimeError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'boom'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except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RuntimeError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: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g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closed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365760" y="2788411"/>
            <a:ext cx="8412480" cy="281940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200" b="0" i="0">
                <a:solidFill>
                  <a:srgbClr val="1F2933"/>
                </a:solidFill>
                <a:latin typeface="Calibri"/>
              </a:rPr>
              <a:t>Even when an error leaves the block, the file is closed. That is why with is the safe way.</a:t>
            </a:r>
          </a:p>
        </p:txBody>
      </p:sp>
      <p:sp>
        <p:nvSpPr>
          <p:cNvPr id="8" name="result label"/>
          <p:cNvSpPr txBox="1"/>
          <p:nvPr/>
        </p:nvSpPr>
        <p:spPr>
          <a:xfrm>
            <a:off x="365760" y="3079496"/>
            <a:ext cx="548640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372103"/>
            <a:ext cx="2468880" cy="365760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 i="0">
                <a:solidFill>
                  <a:srgbClr val="1F2933"/>
                </a:solidFill>
                <a:latin typeface="Courier New"/>
              </a:rPr>
              <a:t>with open(...) as file_obj:</a:t>
            </a:r>
          </a:p>
        </p:txBody>
      </p:sp>
      <p:sp>
        <p:nvSpPr>
          <p:cNvPr id="10" name="step note"/>
          <p:cNvSpPr txBox="1"/>
          <p:nvPr/>
        </p:nvSpPr>
        <p:spPr>
          <a:xfrm>
            <a:off x="365760" y="3783584"/>
            <a:ext cx="24688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 i="0">
                <a:solidFill>
                  <a:srgbClr val="5B6773"/>
                </a:solidFill>
                <a:latin typeface="Calibri"/>
              </a:rPr>
              <a:t>enter the block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49343"/>
            <a:ext cx="1920240" cy="310896"/>
          </a:xfrm>
          <a:prstGeom prst="roundRect">
            <a:avLst>
              <a:gd name="adj" fmla="val 15000"/>
            </a:avLst>
          </a:prstGeom>
          <a:solidFill>
            <a:srgbClr val="ECE6D8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 i="0">
                <a:solidFill>
                  <a:srgbClr val="5B6773"/>
                </a:solidFill>
                <a:latin typeface="Courier New"/>
              </a:rPr>
              <a:t>closed = False</a:t>
            </a:r>
          </a:p>
        </p:txBody>
      </p:sp>
      <p:cxnSp>
        <p:nvCxnSpPr>
          <p:cNvPr id="12" name="arrow"/>
          <p:cNvCxnSpPr/>
          <p:nvPr/>
        </p:nvCxnSpPr>
        <p:spPr>
          <a:xfrm>
            <a:off x="1600200" y="4021328"/>
            <a:ext cx="0" cy="109728"/>
          </a:xfrm>
          <a:prstGeom prst="line">
            <a:avLst/>
          </a:prstGeom>
          <a:ln w="1270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arrow"/>
          <p:cNvCxnSpPr/>
          <p:nvPr/>
        </p:nvCxnSpPr>
        <p:spPr>
          <a:xfrm>
            <a:off x="2834640" y="3554984"/>
            <a:ext cx="502920" cy="0"/>
          </a:xfrm>
          <a:prstGeom prst="line">
            <a:avLst/>
          </a:prstGeom>
          <a:ln w="1905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37560" y="3372103"/>
            <a:ext cx="2468880" cy="365760"/>
          </a:xfrm>
          <a:prstGeom prst="roundRect">
            <a:avLst>
              <a:gd name="adj" fmla="val 15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 i="0">
                <a:solidFill>
                  <a:srgbClr val="1F2933"/>
                </a:solidFill>
                <a:latin typeface="Courier New"/>
              </a:rPr>
              <a:t>block ends</a:t>
            </a:r>
          </a:p>
        </p:txBody>
      </p:sp>
      <p:sp>
        <p:nvSpPr>
          <p:cNvPr id="15" name="step note"/>
          <p:cNvSpPr txBox="1"/>
          <p:nvPr/>
        </p:nvSpPr>
        <p:spPr>
          <a:xfrm>
            <a:off x="3337560" y="3783584"/>
            <a:ext cx="24688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 i="0">
                <a:solidFill>
                  <a:srgbClr val="5B6773"/>
                </a:solidFill>
                <a:latin typeface="Calibri"/>
              </a:rPr>
              <a:t>with closes the file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1879" y="4149343"/>
            <a:ext cx="1920240" cy="310896"/>
          </a:xfrm>
          <a:prstGeom prst="roundRect">
            <a:avLst>
              <a:gd name="adj" fmla="val 15000"/>
            </a:avLst>
          </a:prstGeom>
          <a:solidFill>
            <a:srgbClr val="DCF1E4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 i="0">
                <a:solidFill>
                  <a:srgbClr val="1F2933"/>
                </a:solidFill>
                <a:latin typeface="Courier New"/>
              </a:rPr>
              <a:t>closed = True</a:t>
            </a:r>
          </a:p>
        </p:txBody>
      </p:sp>
      <p:cxnSp>
        <p:nvCxnSpPr>
          <p:cNvPr id="17" name="arrow"/>
          <p:cNvCxnSpPr/>
          <p:nvPr/>
        </p:nvCxnSpPr>
        <p:spPr>
          <a:xfrm>
            <a:off x="4572000" y="4021328"/>
            <a:ext cx="0" cy="109728"/>
          </a:xfrm>
          <a:prstGeom prst="line">
            <a:avLst/>
          </a:prstGeom>
          <a:ln w="1270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arrow"/>
          <p:cNvCxnSpPr/>
          <p:nvPr/>
        </p:nvCxnSpPr>
        <p:spPr>
          <a:xfrm>
            <a:off x="5806440" y="3554984"/>
            <a:ext cx="502919" cy="0"/>
          </a:xfrm>
          <a:prstGeom prst="line">
            <a:avLst/>
          </a:prstGeom>
          <a:ln w="1905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09360" y="3372103"/>
            <a:ext cx="2468880" cy="365760"/>
          </a:xfrm>
          <a:prstGeom prst="roundRect">
            <a:avLst>
              <a:gd name="adj" fmla="val 15000"/>
            </a:avLst>
          </a:prstGeom>
          <a:solidFill>
            <a:srgbClr val="F7DAD2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 i="0">
                <a:solidFill>
                  <a:srgbClr val="1F2933"/>
                </a:solidFill>
                <a:latin typeface="Courier New"/>
              </a:rPr>
              <a:t>RuntimeError inside with</a:t>
            </a:r>
          </a:p>
        </p:txBody>
      </p:sp>
      <p:sp>
        <p:nvSpPr>
          <p:cNvPr id="20" name="step note"/>
          <p:cNvSpPr txBox="1"/>
          <p:nvPr/>
        </p:nvSpPr>
        <p:spPr>
          <a:xfrm>
            <a:off x="6309360" y="3783584"/>
            <a:ext cx="24688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 i="0">
                <a:solidFill>
                  <a:srgbClr val="5B6773"/>
                </a:solidFill>
                <a:latin typeface="Calibri"/>
              </a:rPr>
              <a:t>an error leaves the block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4149343"/>
            <a:ext cx="1920240" cy="310896"/>
          </a:xfrm>
          <a:prstGeom prst="roundRect">
            <a:avLst>
              <a:gd name="adj" fmla="val 15000"/>
            </a:avLst>
          </a:prstGeom>
          <a:solidFill>
            <a:srgbClr val="DCF1E4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 i="0">
                <a:solidFill>
                  <a:srgbClr val="1F2933"/>
                </a:solidFill>
                <a:latin typeface="Courier New"/>
              </a:rPr>
              <a:t>closed = True</a:t>
            </a:r>
          </a:p>
        </p:txBody>
      </p:sp>
      <p:cxnSp>
        <p:nvCxnSpPr>
          <p:cNvPr id="22" name="arrow"/>
          <p:cNvCxnSpPr/>
          <p:nvPr/>
        </p:nvCxnSpPr>
        <p:spPr>
          <a:xfrm>
            <a:off x="7543800" y="4021328"/>
            <a:ext cx="0" cy="109728"/>
          </a:xfrm>
          <a:prstGeom prst="line">
            <a:avLst/>
          </a:prstGeom>
          <a:ln w="1270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with closes the file, even after an error.</a:t>
            </a:r>
          </a:p>
        </p:txBody>
      </p:sp>
      <p:sp>
        <p:nvSpPr>
          <p:cNvPr id="25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23 / 41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Write modes: w, a and x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8412480" cy="537210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os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tempfile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;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os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chdir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tempfile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mkdtemp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from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pathlib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Path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log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Path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'log.txt'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365760" y="1387602"/>
            <a:ext cx="8412480" cy="266064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One file, log.txt, to write to four times.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699387"/>
            <a:ext cx="8412480" cy="676656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mode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text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'w'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'A\n'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'a'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'B\n'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'a'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'C\n'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'w'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'D\n'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: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with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open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log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mode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encoding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'utf-8'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as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f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: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      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f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write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text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mode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repr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log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read_text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365760" y="2385186"/>
            <a:ext cx="8412480" cy="266064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Mode w empties the file first. Mode a adds to the end. The printout shows the whole file after every step.</a:t>
            </a:r>
          </a:p>
        </p:txBody>
      </p:sp>
      <p:sp>
        <p:nvSpPr>
          <p:cNvPr id="8" name="code"/>
          <p:cNvSpPr/>
          <p:nvPr/>
        </p:nvSpPr>
        <p:spPr>
          <a:xfrm>
            <a:off x="365760" y="2696972"/>
            <a:ext cx="8412480" cy="397764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try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open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log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'x'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except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FileExistsError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'x refuses: the file exists'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9" name="explanation"/>
          <p:cNvSpPr txBox="1"/>
          <p:nvPr/>
        </p:nvSpPr>
        <p:spPr>
          <a:xfrm>
            <a:off x="365760" y="3103880"/>
            <a:ext cx="8412480" cy="266064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Mode x creates a new file and refuses when the file already exists.</a:t>
            </a:r>
          </a:p>
        </p:txBody>
      </p:sp>
      <p:sp>
        <p:nvSpPr>
          <p:cNvPr id="10" name="result label"/>
          <p:cNvSpPr txBox="1"/>
          <p:nvPr/>
        </p:nvSpPr>
        <p:spPr>
          <a:xfrm>
            <a:off x="365760" y="3360801"/>
            <a:ext cx="548640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11" name="chart"/>
          <p:cNvGraphicFramePr>
            <a:graphicFrameLocks noGrp="1"/>
          </p:cNvGraphicFramePr>
          <p:nvPr/>
        </p:nvGraphicFramePr>
        <p:xfrm>
          <a:off x="4740249" y="3561969"/>
          <a:ext cx="4037990" cy="106489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2" name="table"/>
          <p:cNvGraphicFramePr>
            <a:graphicFrameLocks noGrp="1"/>
          </p:cNvGraphicFramePr>
          <p:nvPr/>
        </p:nvGraphicFramePr>
        <p:xfrm>
          <a:off x="365760" y="3607689"/>
          <a:ext cx="4206240" cy="1064892"/>
        </p:xfrm>
        <a:graphic>
          <a:graphicData uri="http://schemas.openxmlformats.org/drawingml/2006/table">
            <a:tbl>
              <a:tblPr firstRow="0" bandRow="0"/>
              <a:tblGrid>
                <a:gridCol w="560832"/>
                <a:gridCol w="654304"/>
                <a:gridCol w="2991104"/>
              </a:tblGrid>
              <a:tr h="177482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Mode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File now holds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177482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F2933"/>
                          </a:solidFill>
                          <a:latin typeface="Courier New"/>
                        </a:rPr>
                        <a:t>w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F2933"/>
                          </a:solidFill>
                          <a:latin typeface="Courier New"/>
                        </a:rPr>
                        <a:t>'A\n'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7482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F2933"/>
                          </a:solidFill>
                          <a:latin typeface="Courier New"/>
                        </a:rPr>
                        <a:t>a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F2933"/>
                          </a:solidFill>
                          <a:latin typeface="Courier New"/>
                        </a:rPr>
                        <a:t>'A\nB\n'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177482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F2933"/>
                          </a:solidFill>
                          <a:latin typeface="Courier New"/>
                        </a:rPr>
                        <a:t>a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F2933"/>
                          </a:solidFill>
                          <a:latin typeface="Courier New"/>
                        </a:rPr>
                        <a:t>'A\nB\nC\n'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7482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F2933"/>
                          </a:solidFill>
                          <a:latin typeface="Courier New"/>
                        </a:rPr>
                        <a:t>w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F2933"/>
                          </a:solidFill>
                          <a:latin typeface="Courier New"/>
                        </a:rPr>
                        <a:t>'D\n'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177482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F29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F2933"/>
                          </a:solidFill>
                          <a:latin typeface="Courier New"/>
                        </a:rPr>
                        <a:t>x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B83A1B"/>
                          </a:solidFill>
                          <a:latin typeface="Courier New"/>
                        </a:rPr>
                        <a:t>x refuses: the file exists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w clears, a appends, x refuses.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24 / 41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encoding: how bytes become characters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5125212" cy="676656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os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tempfile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;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os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chdir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tempfile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mkdtemp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from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pathlib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Path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Path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'a.txt'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write_text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'café'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encoding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'utf-8'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open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'a.txt'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encoding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'utf-8'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read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5472684" y="841248"/>
            <a:ext cx="3305555" cy="676656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The same encoding that wrote the file reads it back correctly.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572768"/>
            <a:ext cx="5125212" cy="537210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open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'a.txt'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encoding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'ascii'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errors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'replace'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read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try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open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'a.txt'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encoding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'ascii'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read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except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UnicodeDecodeError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'ascii cannot read the byte 0xc3'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472684" y="1572768"/>
            <a:ext cx="3305555" cy="537210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The wrong encoding either garbles the accent or stops with an error.</a:t>
            </a:r>
          </a:p>
        </p:txBody>
      </p:sp>
      <p:sp>
        <p:nvSpPr>
          <p:cNvPr id="8" name="code"/>
          <p:cNvSpPr/>
          <p:nvPr/>
        </p:nvSpPr>
        <p:spPr>
          <a:xfrm>
            <a:off x="365760" y="2164842"/>
            <a:ext cx="5125212" cy="440689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enc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'utf-8'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'utf-16-le'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'latin-1'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: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enc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len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'café'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encode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enc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9" name="explanation"/>
          <p:cNvSpPr txBox="1"/>
          <p:nvPr/>
        </p:nvSpPr>
        <p:spPr>
          <a:xfrm>
            <a:off x="5472684" y="2164842"/>
            <a:ext cx="3305555" cy="440689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The same four letters take a different number of bytes in each encoding.</a:t>
            </a:r>
          </a:p>
        </p:txBody>
      </p:sp>
      <p:sp>
        <p:nvSpPr>
          <p:cNvPr id="10" name="result label"/>
          <p:cNvSpPr txBox="1"/>
          <p:nvPr/>
        </p:nvSpPr>
        <p:spPr>
          <a:xfrm>
            <a:off x="365760" y="2605532"/>
            <a:ext cx="548640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11" name="chart"/>
          <p:cNvGraphicFramePr>
            <a:graphicFrameLocks noGrp="1"/>
          </p:cNvGraphicFramePr>
          <p:nvPr/>
        </p:nvGraphicFramePr>
        <p:xfrm>
          <a:off x="5076748" y="2806700"/>
          <a:ext cx="3701491" cy="1820163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2" name="table"/>
          <p:cNvGraphicFramePr>
            <a:graphicFrameLocks noGrp="1"/>
          </p:cNvGraphicFramePr>
          <p:nvPr/>
        </p:nvGraphicFramePr>
        <p:xfrm>
          <a:off x="365760" y="2852420"/>
          <a:ext cx="4542738" cy="1463040"/>
        </p:xfrm>
        <a:graphic>
          <a:graphicData uri="http://schemas.openxmlformats.org/drawingml/2006/table">
            <a:tbl>
              <a:tblPr firstRow="0" bandRow="0"/>
              <a:tblGrid>
                <a:gridCol w="1817095"/>
                <a:gridCol w="2725643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Reading the file with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What happened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encoding='utf-8'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F855A"/>
                          </a:solidFill>
                          <a:latin typeface="Courier New"/>
                        </a:rPr>
                        <a:t>café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ascii, errors='replace'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caf��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encoding='ascii'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B83A1B"/>
                          </a:solidFill>
                          <a:latin typeface="Courier New"/>
                        </a:rPr>
                        <a:t>ascii cannot read the byte 0xc3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Say the encoding; utf-8 is the safe choice.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25 / 41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Part 4: Saving variables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 i="0">
                <a:solidFill>
                  <a:srgbClr val="5B6773"/>
                </a:solidFill>
                <a:latin typeface="Calibri"/>
              </a:rPr>
              <a:t>Keep Python values in a file between two runs</a:t>
            </a:r>
          </a:p>
        </p:txBody>
      </p:sp>
      <p:sp>
        <p:nvSpPr>
          <p:cNvPr id="4" name="rule"/>
          <p:cNvSpPr/>
          <p:nvPr/>
        </p:nvSpPr>
        <p:spPr>
          <a:xfrm>
            <a:off x="457200" y="1216152"/>
            <a:ext cx="1097280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shelve</a:t>
            </a:r>
          </a:p>
        </p:txBody>
      </p:sp>
      <p:sp>
        <p:nvSpPr>
          <p:cNvPr id="6" name="meaning"/>
          <p:cNvSpPr txBox="1"/>
          <p:nvPr/>
        </p:nvSpPr>
        <p:spPr>
          <a:xfrm>
            <a:off x="2606040" y="1417320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A dictionary that is kept in a file.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75688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Shelf trap</a:t>
            </a:r>
          </a:p>
        </p:txBody>
      </p:sp>
      <p:sp>
        <p:nvSpPr>
          <p:cNvPr id="8" name="meaning"/>
          <p:cNvSpPr txBox="1"/>
          <p:nvPr/>
        </p:nvSpPr>
        <p:spPr>
          <a:xfrm>
            <a:off x="2606040" y="2075688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A list changed in place is not saved.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34056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json</a:t>
            </a:r>
          </a:p>
        </p:txBody>
      </p:sp>
      <p:sp>
        <p:nvSpPr>
          <p:cNvPr id="10" name="meaning"/>
          <p:cNvSpPr txBox="1"/>
          <p:nvPr/>
        </p:nvSpPr>
        <p:spPr>
          <a:xfrm>
            <a:off x="2606040" y="2734056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A plain text format that other programs can read.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92424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pickle warning</a:t>
            </a:r>
          </a:p>
        </p:txBody>
      </p:sp>
      <p:sp>
        <p:nvSpPr>
          <p:cNvPr id="12" name="meaning"/>
          <p:cNvSpPr txBox="1"/>
          <p:nvPr/>
        </p:nvSpPr>
        <p:spPr>
          <a:xfrm>
            <a:off x="2606040" y="3392424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Never open a shelf that came from a stranger.</a:t>
            </a:r>
          </a:p>
        </p:txBody>
      </p:sp>
      <p:graphicFrame>
        <p:nvGraphicFramePr>
          <p:cNvPr id="13" name="table"/>
          <p:cNvGraphicFramePr>
            <a:graphicFrameLocks noGrp="1"/>
          </p:cNvGraphicFramePr>
          <p:nvPr/>
        </p:nvGraphicFramePr>
        <p:xfrm>
          <a:off x="5303520" y="1417320"/>
          <a:ext cx="3474719" cy="2194560"/>
        </p:xfrm>
        <a:graphic>
          <a:graphicData uri="http://schemas.openxmlformats.org/drawingml/2006/table">
            <a:tbl>
              <a:tblPr firstRow="0" bandRow="0"/>
              <a:tblGrid>
                <a:gridCol w="507543"/>
                <a:gridCol w="2967176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Slide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In this part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Everyday pictures: saving variables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shelve: a dictionary that a file can k...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Story: a shelf rests on a 1979 Bell La...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json: a plain format other programs read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Story: JSON was written up in 2001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26 / 41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Everyday pictures: saving variables</a:t>
            </a:r>
          </a:p>
        </p:txBody>
      </p:sp>
      <p:sp>
        <p:nvSpPr>
          <p:cNvPr id="4" name="card"/>
          <p:cNvSpPr/>
          <p:nvPr/>
        </p:nvSpPr>
        <p:spPr>
          <a:xfrm>
            <a:off x="365760" y="749808"/>
            <a:ext cx="8412480" cy="566928"/>
          </a:xfrm>
          <a:prstGeom prst="roundRect">
            <a:avLst>
              <a:gd name="adj" fmla="val 8000"/>
            </a:avLst>
          </a:prstGeom>
          <a:solidFill>
            <a:srgbClr val="F8E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nalogy"/>
          <p:cNvSpPr txBox="1"/>
          <p:nvPr/>
        </p:nvSpPr>
        <p:spPr>
          <a:xfrm>
            <a:off x="502920" y="768096"/>
            <a:ext cx="813816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400" b="1" i="0">
                <a:solidFill>
                  <a:srgbClr val="B7791F"/>
                </a:solidFill>
                <a:latin typeface="Calibri"/>
              </a:rPr>
              <a:t>ANALOGY 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A shelf is a pigeonhole cupboard: every value sits in a slot with a label, and the cupboard stays when you go home.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365760" y="1444752"/>
          <a:ext cx="8412480" cy="2286000"/>
        </p:xfrm>
        <a:graphic>
          <a:graphicData uri="http://schemas.openxmlformats.org/drawingml/2006/table">
            <a:tbl>
              <a:tblPr firstRow="0" bandRow="0"/>
              <a:tblGrid>
                <a:gridCol w="2926080"/>
                <a:gridCol w="54864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Chapter concept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Everyday picture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Saving Variables with the shelve Module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Putting your notes into a labelled cupboard before you leave for the night.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Shelf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The cupboard itself: a dictionary that lives in a file.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shelve.open()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Unlocking the cupboard; if there is none, a new one is built.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json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A letter in plain language that any reader in any country can understand.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27 / 41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shelve: a dictionary that a file can keep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3547871" cy="676656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shelve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store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{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}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shelf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shelve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Shelf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store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shelf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'cats'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'Zophie'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'Pooka'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'Simon'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3895344" y="841248"/>
            <a:ext cx="4882896" cy="676656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A Shelf is a dictionary that stores every value pickled. shelve.open('mydata') puts it in a file; here a plain dict plays the file.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572768"/>
            <a:ext cx="3547871" cy="440689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list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shelf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keys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shelf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'cats'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type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store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b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'cats'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__name__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3895344" y="1572768"/>
            <a:ext cx="4882896" cy="440689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Keys and values come back as you stored them. Underneath, the dict holds bytes, for the key and for the value.</a:t>
            </a:r>
          </a:p>
        </p:txBody>
      </p:sp>
      <p:sp>
        <p:nvSpPr>
          <p:cNvPr id="8" name="code"/>
          <p:cNvSpPr/>
          <p:nvPr/>
        </p:nvSpPr>
        <p:spPr>
          <a:xfrm>
            <a:off x="365760" y="2068322"/>
            <a:ext cx="3547871" cy="955547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shelf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'cats'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append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'Fat-tail'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len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shelf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'cats'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cats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shelf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'cats'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cats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append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'Fat-tail'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shelf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'cats'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cats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len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shelf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'cats'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9" name="explanation"/>
          <p:cNvSpPr txBox="1"/>
          <p:nvPr/>
        </p:nvSpPr>
        <p:spPr>
          <a:xfrm>
            <a:off x="3895344" y="2068322"/>
            <a:ext cx="4882896" cy="955547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Trap: a list changed in place is not saved, so the length stays 3. Assign the list back to its key and the change is kept.</a:t>
            </a:r>
          </a:p>
        </p:txBody>
      </p:sp>
      <p:sp>
        <p:nvSpPr>
          <p:cNvPr id="10" name="result label"/>
          <p:cNvSpPr txBox="1"/>
          <p:nvPr/>
        </p:nvSpPr>
        <p:spPr>
          <a:xfrm>
            <a:off x="365760" y="3023870"/>
            <a:ext cx="548640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362198"/>
            <a:ext cx="2194560" cy="384048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 i="0">
                <a:solidFill>
                  <a:srgbClr val="1F2933"/>
                </a:solidFill>
                <a:latin typeface="Courier New"/>
              </a:rPr>
              <a:t>shelf['cats'] = [...]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3362198"/>
            <a:ext cx="2011680" cy="384048"/>
          </a:xfrm>
          <a:prstGeom prst="roundRect">
            <a:avLst>
              <a:gd name="adj" fmla="val 15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 i="0">
                <a:solidFill>
                  <a:srgbClr val="1F2933"/>
                </a:solidFill>
                <a:latin typeface="Courier New"/>
              </a:rPr>
              <a:t>store[b'cats'] = bytes</a:t>
            </a:r>
          </a:p>
        </p:txBody>
      </p:sp>
      <p:cxnSp>
        <p:nvCxnSpPr>
          <p:cNvPr id="13" name="arrow"/>
          <p:cNvCxnSpPr/>
          <p:nvPr/>
        </p:nvCxnSpPr>
        <p:spPr>
          <a:xfrm>
            <a:off x="2578608" y="3554222"/>
            <a:ext cx="512064" cy="0"/>
          </a:xfrm>
          <a:prstGeom prst="line">
            <a:avLst/>
          </a:prstGeom>
          <a:ln w="19050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514600" y="377367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B6773"/>
                </a:solidFill>
                <a:latin typeface="Calibri"/>
              </a:rPr>
              <a:t>pickled</a:t>
            </a:r>
          </a:p>
        </p:txBody>
      </p:sp>
      <p:sp>
        <p:nvSpPr>
          <p:cNvPr id="15" name="legend"/>
          <p:cNvSpPr txBox="1"/>
          <p:nvPr/>
        </p:nvSpPr>
        <p:spPr>
          <a:xfrm>
            <a:off x="5212080" y="3316478"/>
            <a:ext cx="15087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00" b="0" i="1">
                <a:solidFill>
                  <a:srgbClr val="5B6773"/>
                </a:solidFill>
                <a:latin typeface="Calibri"/>
              </a:rPr>
              <a:t>on disk: shelve.open('mydata') makes it a file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139438"/>
            <a:ext cx="6217920" cy="31089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keys and value: ['cats'] ['Zophie', 'Pooka', 'Simon']</a:t>
            </a:r>
          </a:p>
        </p:txBody>
      </p:sp>
      <p:graphicFrame>
        <p:nvGraphicFramePr>
          <p:cNvPr id="17" name="chart"/>
          <p:cNvGraphicFramePr>
            <a:graphicFrameLocks noGrp="1"/>
          </p:cNvGraphicFramePr>
          <p:nvPr/>
        </p:nvGraphicFramePr>
        <p:xfrm>
          <a:off x="6766560" y="3225038"/>
          <a:ext cx="2011679" cy="14018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8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On your computer shelve.open('mydata') keeps it in a file.</a:t>
            </a:r>
          </a:p>
        </p:txBody>
      </p:sp>
      <p:sp>
        <p:nvSpPr>
          <p:cNvPr id="20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28 / 41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Story: a shelf rests on a 1979 Bell Labs idea</a:t>
            </a:r>
          </a:p>
        </p:txBody>
      </p:sp>
      <p:pic>
        <p:nvPicPr>
          <p:cNvPr id="4" name="photo dbm" descr="Picture for the story: a shelf rests on a 1979 Bell Labs ide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76740"/>
            <a:ext cx="2743200" cy="2909959"/>
          </a:xfrm>
          <a:prstGeom prst="rect">
            <a:avLst/>
          </a:prstGeom>
        </p:spPr>
      </p:pic>
      <p:sp>
        <p:nvSpPr>
          <p:cNvPr id="5" name="credit"/>
          <p:cNvSpPr txBox="1"/>
          <p:nvPr/>
        </p:nvSpPr>
        <p:spPr>
          <a:xfrm>
            <a:off x="365760" y="3840480"/>
            <a:ext cx="2743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0">
                <a:solidFill>
                  <a:srgbClr val="5B6773"/>
                </a:solidFill>
                <a:latin typeface="Calibri"/>
              </a:rPr>
              <a:t>Ken Thompson, 2019. Photo: A.C.Diller, CC BY-SA 4.0, Wikimedia Commons.</a:t>
            </a:r>
          </a:p>
        </p:txBody>
      </p:sp>
      <p:sp>
        <p:nvSpPr>
          <p:cNvPr id="6" name="card"/>
          <p:cNvSpPr/>
          <p:nvPr/>
        </p:nvSpPr>
        <p:spPr>
          <a:xfrm>
            <a:off x="3291840" y="841248"/>
            <a:ext cx="5486400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ho"/>
          <p:cNvSpPr txBox="1"/>
          <p:nvPr/>
        </p:nvSpPr>
        <p:spPr>
          <a:xfrm>
            <a:off x="3337560" y="841248"/>
            <a:ext cx="539496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WHO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Ken Thompson, a programmer at AT&amp;T Bell Laboratories.</a:t>
            </a:r>
          </a:p>
        </p:txBody>
      </p:sp>
      <p:sp>
        <p:nvSpPr>
          <p:cNvPr id="8" name="card"/>
          <p:cNvSpPr/>
          <p:nvPr/>
        </p:nvSpPr>
        <p:spPr>
          <a:xfrm>
            <a:off x="3291840" y="1307592"/>
            <a:ext cx="548640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hat"/>
          <p:cNvSpPr txBox="1"/>
          <p:nvPr/>
        </p:nvSpPr>
        <p:spPr>
          <a:xfrm>
            <a:off x="3337560" y="1307592"/>
            <a:ext cx="539496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WHAT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The first dbm: a simple store that keeps a value under a text key.</a:t>
            </a:r>
          </a:p>
        </p:txBody>
      </p:sp>
      <p:sp>
        <p:nvSpPr>
          <p:cNvPr id="10" name="card"/>
          <p:cNvSpPr/>
          <p:nvPr/>
        </p:nvSpPr>
        <p:spPr>
          <a:xfrm>
            <a:off x="3291840" y="1929384"/>
            <a:ext cx="5486400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hen"/>
          <p:cNvSpPr txBox="1"/>
          <p:nvPr/>
        </p:nvSpPr>
        <p:spPr>
          <a:xfrm>
            <a:off x="3337560" y="1929384"/>
            <a:ext cx="539496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WHEN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1979, released by AT&amp;T as part of Unix.</a:t>
            </a:r>
          </a:p>
        </p:txBody>
      </p:sp>
      <p:sp>
        <p:nvSpPr>
          <p:cNvPr id="12" name="card"/>
          <p:cNvSpPr/>
          <p:nvPr/>
        </p:nvSpPr>
        <p:spPr>
          <a:xfrm>
            <a:off x="3291840" y="2395728"/>
            <a:ext cx="5486400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where"/>
          <p:cNvSpPr txBox="1"/>
          <p:nvPr/>
        </p:nvSpPr>
        <p:spPr>
          <a:xfrm>
            <a:off x="3337560" y="2395728"/>
            <a:ext cx="539496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WHERE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Bell Laboratories, Murray Hill, New Jersey.</a:t>
            </a:r>
          </a:p>
        </p:txBody>
      </p:sp>
      <p:sp>
        <p:nvSpPr>
          <p:cNvPr id="14" name="card"/>
          <p:cNvSpPr/>
          <p:nvPr/>
        </p:nvSpPr>
        <p:spPr>
          <a:xfrm>
            <a:off x="3291840" y="2862072"/>
            <a:ext cx="548640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why"/>
          <p:cNvSpPr txBox="1"/>
          <p:nvPr/>
        </p:nvSpPr>
        <p:spPr>
          <a:xfrm>
            <a:off x="3337560" y="2862072"/>
            <a:ext cx="539496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WHY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A program needed to save a value and get it back by one key, with no server.</a:t>
            </a:r>
          </a:p>
        </p:txBody>
      </p:sp>
      <p:sp>
        <p:nvSpPr>
          <p:cNvPr id="16" name="card"/>
          <p:cNvSpPr/>
          <p:nvPr/>
        </p:nvSpPr>
        <p:spPr>
          <a:xfrm>
            <a:off x="3291840" y="3483863"/>
            <a:ext cx="548640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ow"/>
          <p:cNvSpPr txBox="1"/>
          <p:nvPr/>
        </p:nvSpPr>
        <p:spPr>
          <a:xfrm>
            <a:off x="3337560" y="3483863"/>
            <a:ext cx="539496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HOW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shelve.open() still gives that one-key-one-value shape; Python's dbm package picks the backend file.</a:t>
            </a:r>
          </a:p>
        </p:txBody>
      </p:sp>
      <p:sp>
        <p:nvSpPr>
          <p:cNvPr id="18" name="read"/>
          <p:cNvSpPr txBox="1"/>
          <p:nvPr/>
        </p:nvSpPr>
        <p:spPr>
          <a:xfrm>
            <a:off x="3291840" y="4123943"/>
            <a:ext cx="548640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1" i="0">
                <a:solidFill>
                  <a:srgbClr val="B7791F"/>
                </a:solidFill>
                <a:latin typeface="Calibri"/>
              </a:rPr>
              <a:t>READ  </a:t>
            </a:r>
            <a:r>
              <a:rPr sz="1300" b="0" i="0">
                <a:solidFill>
                  <a:srgbClr val="0E7C86"/>
                </a:solidFill>
                <a:latin typeface="Calibri"/>
                <a:hlinkClick r:id="rId4"/>
              </a:rPr>
              <a:t>DBM (computing) on Wikipedia</a:t>
            </a:r>
          </a:p>
        </p:txBody>
      </p:sp>
      <p:sp>
        <p:nvSpPr>
          <p:cNvPr id="19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29 / 41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json: a plain format other programs read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8412480" cy="986535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4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4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json</a:t>
            </a:r>
          </a:p>
          <a:p>
            <a:pPr algn="l"/>
            <a:r>
              <a:rPr sz="14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data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{</a:t>
            </a:r>
            <a:r>
              <a:rPr sz="1400" b="0" i="0">
                <a:solidFill>
                  <a:srgbClr val="9BE3A8"/>
                </a:solidFill>
                <a:latin typeface="Courier New"/>
              </a:rPr>
              <a:t>'cats'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400" b="0" i="0">
                <a:solidFill>
                  <a:srgbClr val="9BE3A8"/>
                </a:solidFill>
                <a:latin typeface="Courier New"/>
              </a:rPr>
              <a:t>'Zophie'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9BE3A8"/>
                </a:solidFill>
                <a:latin typeface="Courier New"/>
              </a:rPr>
              <a:t>'Pooka'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9BE3A8"/>
                </a:solidFill>
                <a:latin typeface="Courier New"/>
              </a:rPr>
              <a:t>'pair'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7CC4FF"/>
                </a:solidFill>
                <a:latin typeface="Courier New"/>
              </a:rPr>
              <a:t>1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7CC4FF"/>
                </a:solidFill>
                <a:latin typeface="Courier New"/>
              </a:rPr>
              <a:t>2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7CC4FF"/>
                </a:solidFill>
                <a:latin typeface="Courier New"/>
              </a:rPr>
              <a:t>5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9BE3A8"/>
                </a:solidFill>
                <a:latin typeface="Courier New"/>
              </a:rPr>
              <a:t>'five'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}</a:t>
            </a:r>
          </a:p>
          <a:p>
            <a:pPr algn="l"/>
            <a:r>
              <a:rPr sz="14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text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json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dumps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data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4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4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text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365760" y="1836927"/>
            <a:ext cx="8412480" cy="289877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dumps turns a Python value into JSON text. JSON keys are always text, and a tuple becomes a list.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2172525"/>
            <a:ext cx="8412480" cy="335788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4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4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json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loads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text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365760" y="2517457"/>
            <a:ext cx="8412480" cy="289877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loads reads the text back. The tuple is now a list and the key 5 is now the text '5'.</a:t>
            </a:r>
          </a:p>
        </p:txBody>
      </p:sp>
      <p:sp>
        <p:nvSpPr>
          <p:cNvPr id="8" name="result label"/>
          <p:cNvSpPr txBox="1"/>
          <p:nvPr/>
        </p:nvSpPr>
        <p:spPr>
          <a:xfrm>
            <a:off x="365760" y="2816479"/>
            <a:ext cx="548640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9" name="table"/>
          <p:cNvGraphicFramePr>
            <a:graphicFrameLocks noGrp="1"/>
          </p:cNvGraphicFramePr>
          <p:nvPr/>
        </p:nvGraphicFramePr>
        <p:xfrm>
          <a:off x="365760" y="3063367"/>
          <a:ext cx="8412477" cy="1463040"/>
        </p:xfrm>
        <a:graphic>
          <a:graphicData uri="http://schemas.openxmlformats.org/drawingml/2006/table">
            <a:tbl>
              <a:tblPr firstRow="0" bandRow="0"/>
              <a:tblGrid>
                <a:gridCol w="1869439"/>
                <a:gridCol w="1869439"/>
                <a:gridCol w="1869439"/>
                <a:gridCol w="28041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Key in Python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Value in Python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Written as JSON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Back in Python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'cats' (str)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list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array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list, key 'cats'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'pair' (str)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tuple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array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B83A1B"/>
                          </a:solidFill>
                          <a:latin typeface="Courier New"/>
                        </a:rPr>
                        <a:t>list, key 'pair'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5 (int)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str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B83A1B"/>
                          </a:solidFill>
                          <a:latin typeface="Courier New"/>
                        </a:rPr>
                        <a:t>str, key '5'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legend"/>
          <p:cNvSpPr txBox="1"/>
          <p:nvPr/>
        </p:nvSpPr>
        <p:spPr>
          <a:xfrm>
            <a:off x="365760" y="4572127"/>
            <a:ext cx="84124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0" i="1">
                <a:solidFill>
                  <a:srgbClr val="5B6773"/>
                </a:solidFill>
                <a:latin typeface="Calibri"/>
              </a:rPr>
              <a:t>Red: the value comes back as another type. JSON has no tuples, and every key is text.</a:t>
            </a:r>
          </a:p>
        </p:txBody>
      </p:sp>
      <p:sp>
        <p:nvSpPr>
          <p:cNvPr id="11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json is plain text that other programs read.</a:t>
            </a:r>
          </a:p>
        </p:txBody>
      </p:sp>
      <p:sp>
        <p:nvSpPr>
          <p:cNvPr id="13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30 / 41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Story: JSON was written up in 2001</a:t>
            </a:r>
          </a:p>
        </p:txBody>
      </p:sp>
      <p:pic>
        <p:nvPicPr>
          <p:cNvPr id="4" name="photo json" descr="Picture for the story: JSON was written up in 20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23035"/>
            <a:ext cx="2743200" cy="1817370"/>
          </a:xfrm>
          <a:prstGeom prst="rect">
            <a:avLst/>
          </a:prstGeom>
        </p:spPr>
      </p:pic>
      <p:sp>
        <p:nvSpPr>
          <p:cNvPr id="5" name="credit"/>
          <p:cNvSpPr txBox="1"/>
          <p:nvPr/>
        </p:nvSpPr>
        <p:spPr>
          <a:xfrm>
            <a:off x="365760" y="3840480"/>
            <a:ext cx="2743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0">
                <a:solidFill>
                  <a:srgbClr val="5B6773"/>
                </a:solidFill>
                <a:latin typeface="Calibri"/>
              </a:rPr>
              <a:t>Douglas Crockford, 2013. Photo: Robert Claypool, CC0, Wikimedia Commons.</a:t>
            </a:r>
          </a:p>
        </p:txBody>
      </p:sp>
      <p:sp>
        <p:nvSpPr>
          <p:cNvPr id="6" name="card"/>
          <p:cNvSpPr/>
          <p:nvPr/>
        </p:nvSpPr>
        <p:spPr>
          <a:xfrm>
            <a:off x="3291840" y="841248"/>
            <a:ext cx="5486400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ho"/>
          <p:cNvSpPr txBox="1"/>
          <p:nvPr/>
        </p:nvSpPr>
        <p:spPr>
          <a:xfrm>
            <a:off x="3337560" y="841248"/>
            <a:ext cx="539496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WHO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Douglas Crockford and Chip Morningstar.</a:t>
            </a:r>
          </a:p>
        </p:txBody>
      </p:sp>
      <p:sp>
        <p:nvSpPr>
          <p:cNvPr id="8" name="card"/>
          <p:cNvSpPr/>
          <p:nvPr/>
        </p:nvSpPr>
        <p:spPr>
          <a:xfrm>
            <a:off x="3291840" y="1307592"/>
            <a:ext cx="548640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hat"/>
          <p:cNvSpPr txBox="1"/>
          <p:nvPr/>
        </p:nvSpPr>
        <p:spPr>
          <a:xfrm>
            <a:off x="3337560" y="1307592"/>
            <a:ext cx="539496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WHAT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JSON, a minimal text format for data, with every key in quotes.</a:t>
            </a:r>
          </a:p>
        </p:txBody>
      </p:sp>
      <p:sp>
        <p:nvSpPr>
          <p:cNvPr id="10" name="card"/>
          <p:cNvSpPr/>
          <p:nvPr/>
        </p:nvSpPr>
        <p:spPr>
          <a:xfrm>
            <a:off x="3291840" y="1929384"/>
            <a:ext cx="5486400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hen"/>
          <p:cNvSpPr txBox="1"/>
          <p:nvPr/>
        </p:nvSpPr>
        <p:spPr>
          <a:xfrm>
            <a:off x="3337560" y="1929384"/>
            <a:ext cx="539496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WHEN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2001; Crockford opened json.org on 12 November 2002.</a:t>
            </a:r>
          </a:p>
        </p:txBody>
      </p:sp>
      <p:sp>
        <p:nvSpPr>
          <p:cNvPr id="12" name="card"/>
          <p:cNvSpPr/>
          <p:nvPr/>
        </p:nvSpPr>
        <p:spPr>
          <a:xfrm>
            <a:off x="3291840" y="2395728"/>
            <a:ext cx="5486400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where"/>
          <p:cNvSpPr txBox="1"/>
          <p:nvPr/>
        </p:nvSpPr>
        <p:spPr>
          <a:xfrm>
            <a:off x="3337560" y="2395728"/>
            <a:ext cx="539496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WHERE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State Software, a consulting firm in California.</a:t>
            </a:r>
          </a:p>
        </p:txBody>
      </p:sp>
      <p:sp>
        <p:nvSpPr>
          <p:cNvPr id="14" name="card"/>
          <p:cNvSpPr/>
          <p:nvPr/>
        </p:nvSpPr>
        <p:spPr>
          <a:xfrm>
            <a:off x="3291840" y="2862072"/>
            <a:ext cx="548640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why"/>
          <p:cNvSpPr txBox="1"/>
          <p:nvPr/>
        </p:nvSpPr>
        <p:spPr>
          <a:xfrm>
            <a:off x="3337560" y="2862072"/>
            <a:ext cx="539496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WHY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A browser and a server needed to exchange data without reloading the page.</a:t>
            </a:r>
          </a:p>
        </p:txBody>
      </p:sp>
      <p:sp>
        <p:nvSpPr>
          <p:cNvPr id="16" name="card"/>
          <p:cNvSpPr/>
          <p:nvPr/>
        </p:nvSpPr>
        <p:spPr>
          <a:xfrm>
            <a:off x="3291840" y="3483863"/>
            <a:ext cx="548640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ow"/>
          <p:cNvSpPr txBox="1"/>
          <p:nvPr/>
        </p:nvSpPr>
        <p:spPr>
          <a:xfrm>
            <a:off x="3337560" y="3483863"/>
            <a:ext cx="539496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HOW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json.dumps() and json.loads() read and write that format for any program or language.</a:t>
            </a:r>
          </a:p>
        </p:txBody>
      </p:sp>
      <p:sp>
        <p:nvSpPr>
          <p:cNvPr id="18" name="read"/>
          <p:cNvSpPr txBox="1"/>
          <p:nvPr/>
        </p:nvSpPr>
        <p:spPr>
          <a:xfrm>
            <a:off x="3291840" y="4123943"/>
            <a:ext cx="548640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1" i="0">
                <a:solidFill>
                  <a:srgbClr val="B7791F"/>
                </a:solidFill>
                <a:latin typeface="Calibri"/>
              </a:rPr>
              <a:t>READ  </a:t>
            </a:r>
            <a:r>
              <a:rPr sz="1300" b="0" i="0">
                <a:solidFill>
                  <a:srgbClr val="0E7C86"/>
                </a:solidFill>
                <a:latin typeface="Calibri"/>
                <a:hlinkClick r:id="rId4"/>
              </a:rPr>
              <a:t>JSON on Wikipedia</a:t>
            </a:r>
          </a:p>
        </p:txBody>
      </p:sp>
      <p:sp>
        <p:nvSpPr>
          <p:cNvPr id="19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31 / 41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Part 5: Programs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 i="0">
                <a:solidFill>
                  <a:srgbClr val="5B6773"/>
                </a:solidFill>
                <a:latin typeface="Calibri"/>
              </a:rPr>
              <a:t>Two practice programs and Project 4, the quiz maker</a:t>
            </a:r>
          </a:p>
        </p:txBody>
      </p:sp>
      <p:sp>
        <p:nvSpPr>
          <p:cNvPr id="4" name="rule"/>
          <p:cNvSpPr/>
          <p:nvPr/>
        </p:nvSpPr>
        <p:spPr>
          <a:xfrm>
            <a:off x="457200" y="1216152"/>
            <a:ext cx="1097280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Mad Libs</a:t>
            </a:r>
          </a:p>
        </p:txBody>
      </p:sp>
      <p:sp>
        <p:nvSpPr>
          <p:cNvPr id="6" name="meaning"/>
          <p:cNvSpPr txBox="1"/>
          <p:nvPr/>
        </p:nvSpPr>
        <p:spPr>
          <a:xfrm>
            <a:off x="2606040" y="1417320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Fill the blanks of a story file with re.sub.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75688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Regex Search</a:t>
            </a:r>
          </a:p>
        </p:txBody>
      </p:sp>
      <p:sp>
        <p:nvSpPr>
          <p:cNvPr id="8" name="meaning"/>
          <p:cNvSpPr txBox="1"/>
          <p:nvPr/>
        </p:nvSpPr>
        <p:spPr>
          <a:xfrm>
            <a:off x="2606040" y="2075688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Search every text file of a folder for a pattern.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34056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Project 4</a:t>
            </a:r>
          </a:p>
        </p:txBody>
      </p:sp>
      <p:sp>
        <p:nvSpPr>
          <p:cNvPr id="10" name="meaning"/>
          <p:cNvSpPr txBox="1"/>
          <p:nvPr/>
        </p:nvSpPr>
        <p:spPr>
          <a:xfrm>
            <a:off x="2606040" y="2734056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Make quiz files and answer keys at random.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92424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Summary</a:t>
            </a:r>
          </a:p>
        </p:txBody>
      </p:sp>
      <p:sp>
        <p:nvSpPr>
          <p:cNvPr id="12" name="meaning"/>
          <p:cNvSpPr txBox="1"/>
          <p:nvPr/>
        </p:nvSpPr>
        <p:spPr>
          <a:xfrm>
            <a:off x="2606040" y="3392424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Sort every tool: compute, ask or change.</a:t>
            </a:r>
          </a:p>
        </p:txBody>
      </p:sp>
      <p:graphicFrame>
        <p:nvGraphicFramePr>
          <p:cNvPr id="13" name="table"/>
          <p:cNvGraphicFramePr>
            <a:graphicFrameLocks noGrp="1"/>
          </p:cNvGraphicFramePr>
          <p:nvPr/>
        </p:nvGraphicFramePr>
        <p:xfrm>
          <a:off x="5303520" y="1417320"/>
          <a:ext cx="3474719" cy="2194560"/>
        </p:xfrm>
        <a:graphic>
          <a:graphicData uri="http://schemas.openxmlformats.org/drawingml/2006/table">
            <a:tbl>
              <a:tblPr firstRow="0" bandRow="0"/>
              <a:tblGrid>
                <a:gridCol w="507543"/>
                <a:gridCol w="2967176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Slide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In this part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Everyday pictures: programs and review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Practice program: Mad Libs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Practice program: search the text files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Project 4, step 1: one multiple-choice...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Project 4, step 2: write the quiz and 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32 / 41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Everyday pictures: programs and review</a:t>
            </a:r>
          </a:p>
        </p:txBody>
      </p:sp>
      <p:sp>
        <p:nvSpPr>
          <p:cNvPr id="4" name="card"/>
          <p:cNvSpPr/>
          <p:nvPr/>
        </p:nvSpPr>
        <p:spPr>
          <a:xfrm>
            <a:off x="365760" y="749808"/>
            <a:ext cx="8412480" cy="566928"/>
          </a:xfrm>
          <a:prstGeom prst="roundRect">
            <a:avLst>
              <a:gd name="adj" fmla="val 8000"/>
            </a:avLst>
          </a:prstGeom>
          <a:solidFill>
            <a:srgbClr val="F8E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nalogy"/>
          <p:cNvSpPr txBox="1"/>
          <p:nvPr/>
        </p:nvSpPr>
        <p:spPr>
          <a:xfrm>
            <a:off x="502920" y="768096"/>
            <a:ext cx="813816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400" b="1" i="0">
                <a:solidFill>
                  <a:srgbClr val="B7791F"/>
                </a:solidFill>
                <a:latin typeface="Calibri"/>
              </a:rPr>
              <a:t>ANALOGY 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A project is a small workshop job: you read the files, you change them, you write a new one.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365760" y="1444752"/>
          <a:ext cx="8412480" cy="3200400"/>
        </p:xfrm>
        <a:graphic>
          <a:graphicData uri="http://schemas.openxmlformats.org/drawingml/2006/table">
            <a:tbl>
              <a:tblPr firstRow="0" bandRow="0"/>
              <a:tblGrid>
                <a:gridCol w="2926080"/>
                <a:gridCol w="54864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Chapter concept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Everyday picture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Project 4: Generate Random Quiz Files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A teacher who shuffles the question cards and prints a new test for every student.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Practice Programs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Exercises at the piano: short pieces that make one skill automatic.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Practice Questions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Finger scales before the concert.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Summary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A packing list: only what you really need goes into the bag.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Mad Libs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A party game: blanks in a story that the guests fill in.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Regex Search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A detective with a magnifying glass going through every file in the folder.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33 / 41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Practice program: Mad Libs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8412480" cy="676656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os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tempfile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;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os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chdir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tempfile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mkdtemp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from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pathlib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Path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story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'The ADJECTIVE panda walked to the NOUN and then VERB.'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Path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'panda.txt'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write_text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story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encoding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'utf-8'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365760" y="1527048"/>
            <a:ext cx="8412480" cy="266064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A text file holds a story with capital-letter blanks.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838833"/>
            <a:ext cx="8412480" cy="537210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answers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iter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'silly'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'chandelier'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'screamed'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text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Path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'panda.txt'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read_text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encoding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'utf-8'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result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sub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'ADJECTIVE|NOUN|VERB'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lambda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m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next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answers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text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365760" y="2385186"/>
            <a:ext cx="8412480" cy="266064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re.sub replaces every blank with the next answer. The answers come from a list instead of from typing.</a:t>
            </a:r>
          </a:p>
        </p:txBody>
      </p:sp>
      <p:sp>
        <p:nvSpPr>
          <p:cNvPr id="8" name="code"/>
          <p:cNvSpPr/>
          <p:nvPr/>
        </p:nvSpPr>
        <p:spPr>
          <a:xfrm>
            <a:off x="365760" y="2696972"/>
            <a:ext cx="8412480" cy="397764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Path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'panda_filled.txt'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write_text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result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encoding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'utf-8'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result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9" name="explanation"/>
          <p:cNvSpPr txBox="1"/>
          <p:nvPr/>
        </p:nvSpPr>
        <p:spPr>
          <a:xfrm>
            <a:off x="365760" y="3103880"/>
            <a:ext cx="8412480" cy="266064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The finished story is saved to a second file and printed.</a:t>
            </a:r>
          </a:p>
        </p:txBody>
      </p:sp>
      <p:sp>
        <p:nvSpPr>
          <p:cNvPr id="10" name="result label"/>
          <p:cNvSpPr txBox="1"/>
          <p:nvPr/>
        </p:nvSpPr>
        <p:spPr>
          <a:xfrm>
            <a:off x="365760" y="3360801"/>
            <a:ext cx="548640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11" name="table"/>
          <p:cNvGraphicFramePr>
            <a:graphicFrameLocks noGrp="1"/>
          </p:cNvGraphicFramePr>
          <p:nvPr/>
        </p:nvGraphicFramePr>
        <p:xfrm>
          <a:off x="365760" y="3607689"/>
          <a:ext cx="3364991" cy="1064892"/>
        </p:xfrm>
        <a:graphic>
          <a:graphicData uri="http://schemas.openxmlformats.org/drawingml/2006/table">
            <a:tbl>
              <a:tblPr firstRow="0" bandRow="0"/>
              <a:tblGrid>
                <a:gridCol w="1637023"/>
                <a:gridCol w="1727968"/>
              </a:tblGrid>
              <a:tr h="266223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Blank in panda.txt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Answer written in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266223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ADJECTIVE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silly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6223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NOUN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chandelier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266223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VERB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screamed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067251" y="3607689"/>
            <a:ext cx="1188720" cy="329184"/>
          </a:xfrm>
          <a:prstGeom prst="roundRect">
            <a:avLst>
              <a:gd name="adj" fmla="val 15000"/>
            </a:avLst>
          </a:prstGeom>
          <a:solidFill>
            <a:srgbClr val="ECE6D8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5B6773"/>
                </a:solidFill>
                <a:latin typeface="Courier New"/>
              </a:rPr>
              <a:t>panda.txt</a:t>
            </a:r>
          </a:p>
        </p:txBody>
      </p:sp>
      <p:cxnSp>
        <p:nvCxnSpPr>
          <p:cNvPr id="13" name="arrow"/>
          <p:cNvCxnSpPr/>
          <p:nvPr/>
        </p:nvCxnSpPr>
        <p:spPr>
          <a:xfrm>
            <a:off x="5274259" y="3772280"/>
            <a:ext cx="256032" cy="0"/>
          </a:xfrm>
          <a:prstGeom prst="line">
            <a:avLst/>
          </a:prstGeom>
          <a:ln w="19050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548579" y="3607689"/>
            <a:ext cx="914400" cy="329184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re.sub</a:t>
            </a:r>
          </a:p>
        </p:txBody>
      </p:sp>
      <p:cxnSp>
        <p:nvCxnSpPr>
          <p:cNvPr id="15" name="arrow"/>
          <p:cNvCxnSpPr/>
          <p:nvPr/>
        </p:nvCxnSpPr>
        <p:spPr>
          <a:xfrm>
            <a:off x="6481267" y="3772280"/>
            <a:ext cx="256032" cy="0"/>
          </a:xfrm>
          <a:prstGeom prst="line">
            <a:avLst/>
          </a:prstGeom>
          <a:ln w="19050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755587" y="3607689"/>
            <a:ext cx="1600200" cy="329184"/>
          </a:xfrm>
          <a:prstGeom prst="roundRect">
            <a:avLst>
              <a:gd name="adj" fmla="val 15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panda_filled.txt</a:t>
            </a:r>
          </a:p>
        </p:txBody>
      </p:sp>
      <p:sp>
        <p:nvSpPr>
          <p:cNvPr id="17" name="result text"/>
          <p:cNvSpPr txBox="1"/>
          <p:nvPr/>
        </p:nvSpPr>
        <p:spPr>
          <a:xfrm>
            <a:off x="4067251" y="4064889"/>
            <a:ext cx="52120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50" b="1" i="0">
                <a:solidFill>
                  <a:srgbClr val="1F2933"/>
                </a:solidFill>
                <a:latin typeface="Calibri"/>
              </a:rPr>
              <a:t>The silly panda walked to the chandelier and then screamed.</a:t>
            </a:r>
          </a:p>
        </p:txBody>
      </p:sp>
      <p:sp>
        <p:nvSpPr>
          <p:cNvPr id="18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Read a file, substitute, write a file.</a:t>
            </a:r>
          </a:p>
        </p:txBody>
      </p:sp>
      <p:sp>
        <p:nvSpPr>
          <p:cNvPr id="20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34 / 41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Practice program: search the text files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5056631" cy="537210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os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tempfile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;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os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chdir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tempfile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mkdtemp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from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pathlib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Path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put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lambda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f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Path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f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write_text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encoding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'utf-8'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5404104" y="841248"/>
            <a:ext cx="3374136" cy="537210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put is a small helper that writes a text file in a fresh scratch folder.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433322"/>
            <a:ext cx="5056631" cy="537210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put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'a.txt'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'spam and eggs\nbacon alone\nSPAM again\n'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put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'b.txt'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'nothing here\nspam, glorious spam\n'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put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'notes.csv'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'spam,1\n'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404104" y="1433322"/>
            <a:ext cx="3374136" cy="537210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Three small files: two text files and one csv file that the search must skip.</a:t>
            </a:r>
          </a:p>
        </p:txBody>
      </p:sp>
      <p:sp>
        <p:nvSpPr>
          <p:cNvPr id="8" name="code"/>
          <p:cNvSpPr/>
          <p:nvPr/>
        </p:nvSpPr>
        <p:spPr>
          <a:xfrm>
            <a:off x="365760" y="2025395"/>
            <a:ext cx="5056631" cy="676656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p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sorted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Path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'.'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glob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'*.txt'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: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lines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p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read_text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encoding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'utf-8'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splitlines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n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line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enumerate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lines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7CC4FF"/>
                </a:solidFill>
                <a:latin typeface="Courier New"/>
              </a:rPr>
              <a:t>1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: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      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if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search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'spam'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line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f'{p.name}:{n}: {line}'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9" name="explanation"/>
          <p:cNvSpPr txBox="1"/>
          <p:nvPr/>
        </p:nvSpPr>
        <p:spPr>
          <a:xfrm>
            <a:off x="5404104" y="2025395"/>
            <a:ext cx="3374136" cy="676656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glob picks the txt files only. Each line is tested with the pattern; a hit prints file, line number and line.</a:t>
            </a:r>
          </a:p>
        </p:txBody>
      </p:sp>
      <p:sp>
        <p:nvSpPr>
          <p:cNvPr id="10" name="result label"/>
          <p:cNvSpPr txBox="1"/>
          <p:nvPr/>
        </p:nvSpPr>
        <p:spPr>
          <a:xfrm>
            <a:off x="365760" y="2702052"/>
            <a:ext cx="548640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11" name="table"/>
          <p:cNvGraphicFramePr>
            <a:graphicFrameLocks noGrp="1"/>
          </p:cNvGraphicFramePr>
          <p:nvPr/>
        </p:nvGraphicFramePr>
        <p:xfrm>
          <a:off x="365760" y="2948940"/>
          <a:ext cx="5720484" cy="987552"/>
        </p:xfrm>
        <a:graphic>
          <a:graphicData uri="http://schemas.openxmlformats.org/drawingml/2006/table">
            <a:tbl>
              <a:tblPr firstRow="0" bandRow="0"/>
              <a:tblGrid>
                <a:gridCol w="1125341"/>
                <a:gridCol w="656449"/>
                <a:gridCol w="750227"/>
                <a:gridCol w="3188467"/>
              </a:tblGrid>
              <a:tr h="24688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Lines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Printed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a.txt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lines with spam, in small letters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b.txt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lines with spam, in small letters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notes.csv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8A8F98"/>
                          </a:solidFill>
                          <a:latin typeface="Calibri"/>
                        </a:rPr>
                        <a:t>never opened: glob takes *.txt only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chart"/>
          <p:cNvGraphicFramePr>
            <a:graphicFrameLocks noGrp="1"/>
          </p:cNvGraphicFramePr>
          <p:nvPr/>
        </p:nvGraphicFramePr>
        <p:xfrm>
          <a:off x="6338620" y="2857500"/>
          <a:ext cx="2439619" cy="18150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glob + a pattern + enumerate = a file search.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35 / 41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Project 4, step 1: one multiple-choice question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5106162" cy="854836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random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capitals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{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'Alabama'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'Montgomery'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'Alaska'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'Juneau'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           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'Arizona'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'Phoenix'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'Arkansas'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'Little Rock'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           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'California'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'Sacramento'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}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random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seed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10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5453634" y="841248"/>
            <a:ext cx="3324605" cy="854836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Five states stand in for the fifty of the book. The seed makes the random choices repeat.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750949"/>
            <a:ext cx="5106162" cy="707644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state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random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choice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list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capitals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others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c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c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capitals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values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if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c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!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capitals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state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]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options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random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sample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others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3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+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capitals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state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]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random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shuffle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options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453634" y="1750949"/>
            <a:ext cx="3324605" cy="707644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Pick a state, take three wrong capitals, add the right one and shuffle the four.</a:t>
            </a:r>
          </a:p>
        </p:txBody>
      </p:sp>
      <p:sp>
        <p:nvSpPr>
          <p:cNvPr id="8" name="code"/>
          <p:cNvSpPr/>
          <p:nvPr/>
        </p:nvSpPr>
        <p:spPr>
          <a:xfrm>
            <a:off x="365760" y="2513457"/>
            <a:ext cx="5106162" cy="560451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f'What is the capital of {state}?'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letter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option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zip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'ABCD'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options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: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f'  {letter}. {option}'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9" name="explanation"/>
          <p:cNvSpPr txBox="1"/>
          <p:nvPr/>
        </p:nvSpPr>
        <p:spPr>
          <a:xfrm>
            <a:off x="5453634" y="2513457"/>
            <a:ext cx="3324605" cy="560451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Print the question and the four lettered options.</a:t>
            </a:r>
          </a:p>
        </p:txBody>
      </p:sp>
      <p:sp>
        <p:nvSpPr>
          <p:cNvPr id="10" name="result label"/>
          <p:cNvSpPr txBox="1"/>
          <p:nvPr/>
        </p:nvSpPr>
        <p:spPr>
          <a:xfrm>
            <a:off x="365760" y="3073907"/>
            <a:ext cx="548640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0" y="3320795"/>
            <a:ext cx="4754880" cy="274320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 i="0">
                <a:solidFill>
                  <a:srgbClr val="1F2933"/>
                </a:solidFill>
                <a:latin typeface="Calibri"/>
              </a:rPr>
              <a:t>What is the capital of California?   (key: C)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777995"/>
            <a:ext cx="2011680" cy="274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A. Phoenix</a:t>
            </a:r>
          </a:p>
        </p:txBody>
      </p:sp>
      <p:cxnSp>
        <p:nvCxnSpPr>
          <p:cNvPr id="13" name="arrow"/>
          <p:cNvCxnSpPr/>
          <p:nvPr/>
        </p:nvCxnSpPr>
        <p:spPr>
          <a:xfrm flipH="1">
            <a:off x="1371600" y="3595115"/>
            <a:ext cx="3200400" cy="164592"/>
          </a:xfrm>
          <a:prstGeom prst="line">
            <a:avLst/>
          </a:prstGeom>
          <a:ln w="1270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87168" y="3777995"/>
            <a:ext cx="2011680" cy="274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B. Juneau</a:t>
            </a:r>
          </a:p>
        </p:txBody>
      </p:sp>
      <p:cxnSp>
        <p:nvCxnSpPr>
          <p:cNvPr id="15" name="arrow"/>
          <p:cNvCxnSpPr/>
          <p:nvPr/>
        </p:nvCxnSpPr>
        <p:spPr>
          <a:xfrm flipH="1">
            <a:off x="3493008" y="3595115"/>
            <a:ext cx="1078992" cy="164592"/>
          </a:xfrm>
          <a:prstGeom prst="line">
            <a:avLst/>
          </a:prstGeom>
          <a:ln w="1270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608576" y="3777995"/>
            <a:ext cx="2011680" cy="274320"/>
          </a:xfrm>
          <a:prstGeom prst="roundRect">
            <a:avLst>
              <a:gd name="adj" fmla="val 15000"/>
            </a:avLst>
          </a:prstGeom>
          <a:solidFill>
            <a:srgbClr val="DCF1E4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C. Sacramento</a:t>
            </a:r>
          </a:p>
        </p:txBody>
      </p:sp>
      <p:cxnSp>
        <p:nvCxnSpPr>
          <p:cNvPr id="17" name="arrow"/>
          <p:cNvCxnSpPr/>
          <p:nvPr/>
        </p:nvCxnSpPr>
        <p:spPr>
          <a:xfrm>
            <a:off x="4572000" y="3595115"/>
            <a:ext cx="1042416" cy="164592"/>
          </a:xfrm>
          <a:prstGeom prst="line">
            <a:avLst/>
          </a:prstGeom>
          <a:ln w="1270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729983" y="3777995"/>
            <a:ext cx="2011680" cy="274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D. Montgomery</a:t>
            </a:r>
          </a:p>
        </p:txBody>
      </p:sp>
      <p:cxnSp>
        <p:nvCxnSpPr>
          <p:cNvPr id="19" name="arrow"/>
          <p:cNvCxnSpPr/>
          <p:nvPr/>
        </p:nvCxnSpPr>
        <p:spPr>
          <a:xfrm>
            <a:off x="4572000" y="3595115"/>
            <a:ext cx="3163823" cy="164592"/>
          </a:xfrm>
          <a:prstGeom prst="line">
            <a:avLst/>
          </a:prstGeom>
          <a:ln w="1270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Shuffle the options; remember the right one.</a:t>
            </a:r>
          </a:p>
        </p:txBody>
      </p:sp>
      <p:sp>
        <p:nvSpPr>
          <p:cNvPr id="22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36 / 41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Project 4, step 2: write the quiz and its key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4919472" cy="440689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os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random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tempfile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;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os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chdir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tempfile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mkdtemp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from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pathlib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Path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5266944" y="841248"/>
            <a:ext cx="3511295" cy="440689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A fresh scratch folder will hold the two files.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336801"/>
            <a:ext cx="4919472" cy="676656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caps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{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'Ohio'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'Columbus'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'Utah'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'Salt Lake City'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      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'Iowa'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'Des Moines'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'Maine'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'Augusta'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}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random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seed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7CC4FF"/>
                </a:solidFill>
                <a:latin typeface="Courier New"/>
              </a:rPr>
              <a:t>10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quiz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key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266944" y="1336801"/>
            <a:ext cx="3511295" cy="676656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Four states: each question has one right capital and three wrong ones.</a:t>
            </a:r>
          </a:p>
        </p:txBody>
      </p:sp>
      <p:sp>
        <p:nvSpPr>
          <p:cNvPr id="8" name="code"/>
          <p:cNvSpPr/>
          <p:nvPr/>
        </p:nvSpPr>
        <p:spPr>
          <a:xfrm>
            <a:off x="365760" y="2068322"/>
            <a:ext cx="4919472" cy="676656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n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state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enumerate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caps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7CC4FF"/>
                </a:solidFill>
                <a:latin typeface="Courier New"/>
              </a:rPr>
              <a:t>1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: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others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caps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values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if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!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caps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state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options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random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sample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others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7CC4FF"/>
                </a:solidFill>
                <a:latin typeface="Courier New"/>
              </a:rPr>
              <a:t>3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+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caps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state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random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shuffle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options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9" name="explanation"/>
          <p:cNvSpPr txBox="1"/>
          <p:nvPr/>
        </p:nvSpPr>
        <p:spPr>
          <a:xfrm>
            <a:off x="5266944" y="2068322"/>
            <a:ext cx="3511295" cy="676656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One loop makes one question per state, with the options shuffled.</a:t>
            </a:r>
          </a:p>
        </p:txBody>
      </p:sp>
      <p:sp>
        <p:nvSpPr>
          <p:cNvPr id="10" name="code"/>
          <p:cNvSpPr/>
          <p:nvPr/>
        </p:nvSpPr>
        <p:spPr>
          <a:xfrm>
            <a:off x="365760" y="2799842"/>
            <a:ext cx="4919472" cy="440689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quiz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append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f'{n}. {state}: 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+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 / 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join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options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key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append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f'{n}. {"ABCD"[options.index(caps[state])]}'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11" name="explanation"/>
          <p:cNvSpPr txBox="1"/>
          <p:nvPr/>
        </p:nvSpPr>
        <p:spPr>
          <a:xfrm>
            <a:off x="5266944" y="2799842"/>
            <a:ext cx="3511295" cy="440689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A question line holds the options; a key line holds the right letter.</a:t>
            </a:r>
          </a:p>
        </p:txBody>
      </p:sp>
      <p:sp>
        <p:nvSpPr>
          <p:cNvPr id="12" name="code"/>
          <p:cNvSpPr/>
          <p:nvPr/>
        </p:nvSpPr>
        <p:spPr>
          <a:xfrm>
            <a:off x="365760" y="3295396"/>
            <a:ext cx="4919472" cy="537210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f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rows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'quiz1.txt'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quiz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'key1.txt'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key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: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Path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f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write_text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'\n'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join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rows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+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'\n'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encoding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'utf-8'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Path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f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read_text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encoding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'utf-8'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end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13" name="explanation"/>
          <p:cNvSpPr txBox="1"/>
          <p:nvPr/>
        </p:nvSpPr>
        <p:spPr>
          <a:xfrm>
            <a:off x="5266944" y="3295396"/>
            <a:ext cx="3511295" cy="537210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Write both files, then read them back and print them.</a:t>
            </a:r>
          </a:p>
        </p:txBody>
      </p:sp>
      <p:sp>
        <p:nvSpPr>
          <p:cNvPr id="14" name="result label"/>
          <p:cNvSpPr txBox="1"/>
          <p:nvPr/>
        </p:nvSpPr>
        <p:spPr>
          <a:xfrm>
            <a:off x="365760" y="3796029"/>
            <a:ext cx="548640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042917"/>
            <a:ext cx="1691640" cy="274320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alibri"/>
              </a:rPr>
              <a:t>1. Ohio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454397"/>
            <a:ext cx="1691640" cy="274320"/>
          </a:xfrm>
          <a:prstGeom prst="roundRect">
            <a:avLst>
              <a:gd name="adj" fmla="val 15000"/>
            </a:avLst>
          </a:prstGeom>
          <a:solidFill>
            <a:srgbClr val="DCF1E4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alibri"/>
              </a:rPr>
              <a:t>key D = Columbus</a:t>
            </a:r>
          </a:p>
        </p:txBody>
      </p:sp>
      <p:cxnSp>
        <p:nvCxnSpPr>
          <p:cNvPr id="17" name="arrow"/>
          <p:cNvCxnSpPr/>
          <p:nvPr/>
        </p:nvCxnSpPr>
        <p:spPr>
          <a:xfrm>
            <a:off x="1211580" y="4317237"/>
            <a:ext cx="0" cy="137160"/>
          </a:xfrm>
          <a:prstGeom prst="line">
            <a:avLst/>
          </a:prstGeom>
          <a:ln w="1270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167128" y="4042917"/>
            <a:ext cx="1691640" cy="274320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alibri"/>
              </a:rPr>
              <a:t>2. Utah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67128" y="4454397"/>
            <a:ext cx="1691640" cy="274320"/>
          </a:xfrm>
          <a:prstGeom prst="roundRect">
            <a:avLst>
              <a:gd name="adj" fmla="val 15000"/>
            </a:avLst>
          </a:prstGeom>
          <a:solidFill>
            <a:srgbClr val="DCF1E4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alibri"/>
              </a:rPr>
              <a:t>key C = Salt Lake City</a:t>
            </a:r>
          </a:p>
        </p:txBody>
      </p:sp>
      <p:cxnSp>
        <p:nvCxnSpPr>
          <p:cNvPr id="20" name="arrow"/>
          <p:cNvCxnSpPr/>
          <p:nvPr/>
        </p:nvCxnSpPr>
        <p:spPr>
          <a:xfrm>
            <a:off x="3012948" y="4317237"/>
            <a:ext cx="0" cy="137160"/>
          </a:xfrm>
          <a:prstGeom prst="line">
            <a:avLst/>
          </a:prstGeom>
          <a:ln w="1270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968496" y="4042917"/>
            <a:ext cx="1691640" cy="274320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alibri"/>
              </a:rPr>
              <a:t>3. Iowa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68496" y="4454397"/>
            <a:ext cx="1691640" cy="274320"/>
          </a:xfrm>
          <a:prstGeom prst="roundRect">
            <a:avLst>
              <a:gd name="adj" fmla="val 15000"/>
            </a:avLst>
          </a:prstGeom>
          <a:solidFill>
            <a:srgbClr val="DCF1E4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alibri"/>
              </a:rPr>
              <a:t>key C = Des Moines</a:t>
            </a:r>
          </a:p>
        </p:txBody>
      </p:sp>
      <p:cxnSp>
        <p:nvCxnSpPr>
          <p:cNvPr id="23" name="arrow"/>
          <p:cNvCxnSpPr/>
          <p:nvPr/>
        </p:nvCxnSpPr>
        <p:spPr>
          <a:xfrm>
            <a:off x="4814316" y="4317237"/>
            <a:ext cx="0" cy="137160"/>
          </a:xfrm>
          <a:prstGeom prst="line">
            <a:avLst/>
          </a:prstGeom>
          <a:ln w="1270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769864" y="4042917"/>
            <a:ext cx="1691640" cy="274320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alibri"/>
              </a:rPr>
              <a:t>4. Maine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9864" y="4454397"/>
            <a:ext cx="1691640" cy="274320"/>
          </a:xfrm>
          <a:prstGeom prst="roundRect">
            <a:avLst>
              <a:gd name="adj" fmla="val 15000"/>
            </a:avLst>
          </a:prstGeom>
          <a:solidFill>
            <a:srgbClr val="DCF1E4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alibri"/>
              </a:rPr>
              <a:t>key B = Augusta</a:t>
            </a:r>
          </a:p>
        </p:txBody>
      </p:sp>
      <p:cxnSp>
        <p:nvCxnSpPr>
          <p:cNvPr id="26" name="arrow"/>
          <p:cNvCxnSpPr/>
          <p:nvPr/>
        </p:nvCxnSpPr>
        <p:spPr>
          <a:xfrm>
            <a:off x="6615684" y="4317237"/>
            <a:ext cx="0" cy="137160"/>
          </a:xfrm>
          <a:prstGeom prst="line">
            <a:avLst/>
          </a:prstGeom>
          <a:ln w="1270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egend"/>
          <p:cNvSpPr txBox="1"/>
          <p:nvPr/>
        </p:nvSpPr>
        <p:spPr>
          <a:xfrm>
            <a:off x="7479792" y="4042917"/>
            <a:ext cx="118872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1">
                <a:solidFill>
                  <a:srgbClr val="5B6773"/>
                </a:solidFill>
                <a:latin typeface="Calibri"/>
              </a:rPr>
              <a:t>quiz1.txt for the students, key1.txt for the teacher</a:t>
            </a:r>
          </a:p>
        </p:txBody>
      </p:sp>
      <p:sp>
        <p:nvSpPr>
          <p:cNvPr id="28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One loop writes the quiz and its key.</a:t>
            </a:r>
          </a:p>
        </p:txBody>
      </p:sp>
      <p:sp>
        <p:nvSpPr>
          <p:cNvPr id="30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37 / 41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Current Python adds more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051560" y="658368"/>
            <a:ext cx="7680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0">
                <a:solidFill>
                  <a:srgbClr val="5B6773"/>
                </a:solidFill>
                <a:latin typeface="Calibri"/>
              </a:rPr>
              <a:t>Features newer than the book, from the chapter research</a:t>
            </a:r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457200" y="1051560"/>
          <a:ext cx="8229600" cy="3657600"/>
        </p:xfrm>
        <a:graphic>
          <a:graphicData uri="http://schemas.openxmlformats.org/drawingml/2006/table">
            <a:tbl>
              <a:tblPr firstRow="0" bandRow="0"/>
              <a:tblGrid>
                <a:gridCol w="3657600"/>
                <a:gridCol w="640080"/>
                <a:gridCol w="39319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Since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What it gives you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Path.walk() walks a folder tree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3.12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Folders and files of every level, top down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glob(..., case_sensitive=...)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3.12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Choose whether capitals count, on any system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st_ctime is deprecated on Windows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3.12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Use st_birthtime for the creation time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dbm.sqlite3 is the first shelve backend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3.13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A new shelf is one file with the name you gave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exists(), is_file(), is_dir() hide OSError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3.14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They return False instead of raising any OSError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EncodingWarning (PEP 597)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3.10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Run with -X warn_default_encoding to find open() calls without encoding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UTF-8 mode becomes the default (PEP 686)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3.15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open() without encoding will use UTF-8 on every system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Run what the book printed; then check what changed.</a:t>
            </a:r>
          </a:p>
        </p:txBody>
      </p:sp>
      <p:sp>
        <p:nvSpPr>
          <p:cNvPr id="8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38 / 41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Summary</a:t>
            </a:r>
          </a:p>
        </p:txBody>
      </p:sp>
      <p:sp>
        <p:nvSpPr>
          <p:cNvPr id="4" name="card"/>
          <p:cNvSpPr/>
          <p:nvPr/>
        </p:nvSpPr>
        <p:spPr>
          <a:xfrm>
            <a:off x="365760" y="749808"/>
            <a:ext cx="8412480" cy="457200"/>
          </a:xfrm>
          <a:prstGeom prst="roundRect">
            <a:avLst>
              <a:gd name="adj" fmla="val 8000"/>
            </a:avLst>
          </a:prstGeom>
          <a:solidFill>
            <a:srgbClr val="F8E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nalogy"/>
          <p:cNvSpPr txBox="1"/>
          <p:nvPr/>
        </p:nvSpPr>
        <p:spPr>
          <a:xfrm>
            <a:off x="502920" y="758952"/>
            <a:ext cx="8138160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B7791F"/>
                </a:solidFill>
                <a:latin typeface="Calibri"/>
              </a:rPr>
              <a:t>ANALOGY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A summary is a packing list: only what you really need goes into the bag.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08176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point"/>
          <p:cNvSpPr txBox="1"/>
          <p:nvPr/>
        </p:nvSpPr>
        <p:spPr>
          <a:xfrm>
            <a:off x="822960" y="1371600"/>
            <a:ext cx="4206240" cy="47548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50" b="0" i="0">
                <a:solidFill>
                  <a:srgbClr val="1F2933"/>
                </a:solidFill>
                <a:latin typeface="Calibri"/>
              </a:rPr>
              <a:t>A path is an object: join it, take it apart, ask where it starts.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975104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point"/>
          <p:cNvSpPr txBox="1"/>
          <p:nvPr/>
        </p:nvSpPr>
        <p:spPr>
          <a:xfrm>
            <a:off x="822960" y="1938528"/>
            <a:ext cx="4206240" cy="47548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50" b="0" i="0">
                <a:solidFill>
                  <a:srgbClr val="1F2933"/>
                </a:solidFill>
                <a:latin typeface="Calibri"/>
              </a:rPr>
              <a:t>Folders are made with makedirs; files are found with glob.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542032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point"/>
          <p:cNvSpPr txBox="1"/>
          <p:nvPr/>
        </p:nvSpPr>
        <p:spPr>
          <a:xfrm>
            <a:off x="822960" y="2505456"/>
            <a:ext cx="4206240" cy="47548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50" b="0" i="0">
                <a:solidFill>
                  <a:srgbClr val="1F2933"/>
                </a:solidFill>
                <a:latin typeface="Calibri"/>
              </a:rPr>
              <a:t>open, read, write and close; with closes for you.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108960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point"/>
          <p:cNvSpPr txBox="1"/>
          <p:nvPr/>
        </p:nvSpPr>
        <p:spPr>
          <a:xfrm>
            <a:off x="822960" y="3072384"/>
            <a:ext cx="4206240" cy="47548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50" b="0" i="0">
                <a:solidFill>
                  <a:srgbClr val="1F2933"/>
                </a:solidFill>
                <a:latin typeface="Calibri"/>
              </a:rPr>
              <a:t>Modes w, a and x decide what happens to old 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675887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point"/>
          <p:cNvSpPr txBox="1"/>
          <p:nvPr/>
        </p:nvSpPr>
        <p:spPr>
          <a:xfrm>
            <a:off x="822960" y="3639312"/>
            <a:ext cx="4206240" cy="47548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50" b="0" i="0">
                <a:solidFill>
                  <a:srgbClr val="1F2933"/>
                </a:solidFill>
                <a:latin typeface="Calibri"/>
              </a:rPr>
              <a:t>A shelf keeps values in a file; json is the plain alternative.</a:t>
            </a:r>
          </a:p>
        </p:txBody>
      </p:sp>
      <p:sp>
        <p:nvSpPr>
          <p:cNvPr id="16" name="chart label"/>
          <p:cNvSpPr txBox="1"/>
          <p:nvPr/>
        </p:nvSpPr>
        <p:spPr>
          <a:xfrm>
            <a:off x="5212080" y="1280160"/>
            <a:ext cx="35661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1" i="0">
                <a:solidFill>
                  <a:srgbClr val="0E7C86"/>
                </a:solidFill>
                <a:latin typeface="Calibri"/>
              </a:rPr>
              <a:t>tools of this chapter, by what they do</a:t>
            </a:r>
          </a:p>
        </p:txBody>
      </p:sp>
      <p:graphicFrame>
        <p:nvGraphicFramePr>
          <p:cNvPr id="17" name="chart"/>
          <p:cNvGraphicFramePr>
            <a:graphicFrameLocks noGrp="1"/>
          </p:cNvGraphicFramePr>
          <p:nvPr/>
        </p:nvGraphicFramePr>
        <p:xfrm>
          <a:off x="5120640" y="1783080"/>
          <a:ext cx="36576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8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Computing is safe, asking is free, changing needs care.</a:t>
            </a:r>
          </a:p>
        </p:txBody>
      </p:sp>
      <p:sp>
        <p:nvSpPr>
          <p:cNvPr id="20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39 / 41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Practice Questions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051560" y="658368"/>
            <a:ext cx="7680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0">
                <a:solidFill>
                  <a:srgbClr val="5B6773"/>
                </a:solidFill>
                <a:latin typeface="Calibri"/>
              </a:rPr>
              <a:t>Predict first, then run it on the chapter page</a:t>
            </a:r>
          </a:p>
        </p:txBody>
      </p:sp>
      <p:sp>
        <p:nvSpPr>
          <p:cNvPr id="5" name="card"/>
          <p:cNvSpPr/>
          <p:nvPr/>
        </p:nvSpPr>
        <p:spPr>
          <a:xfrm>
            <a:off x="365760" y="960120"/>
            <a:ext cx="8412480" cy="457200"/>
          </a:xfrm>
          <a:prstGeom prst="roundRect">
            <a:avLst>
              <a:gd name="adj" fmla="val 8000"/>
            </a:avLst>
          </a:prstGeom>
          <a:solidFill>
            <a:srgbClr val="F8E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nalogy"/>
          <p:cNvSpPr txBox="1"/>
          <p:nvPr/>
        </p:nvSpPr>
        <p:spPr>
          <a:xfrm>
            <a:off x="502920" y="969264"/>
            <a:ext cx="8138160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B7791F"/>
                </a:solidFill>
                <a:latin typeface="Calibri"/>
              </a:rPr>
              <a:t>ANALOGY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Practice questions are finger scales for a pianist: short drills before the performance.</a:t>
            </a:r>
          </a:p>
        </p:txBody>
      </p:sp>
      <p:sp>
        <p:nvSpPr>
          <p:cNvPr id="7" name="card"/>
          <p:cNvSpPr/>
          <p:nvPr/>
        </p:nvSpPr>
        <p:spPr>
          <a:xfrm>
            <a:off x="365760" y="1645920"/>
            <a:ext cx="84124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773936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question"/>
          <p:cNvSpPr txBox="1"/>
          <p:nvPr/>
        </p:nvSpPr>
        <p:spPr>
          <a:xfrm>
            <a:off x="1005840" y="1682496"/>
            <a:ext cx="768096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0" i="0">
                <a:solidFill>
                  <a:srgbClr val="1F2933"/>
                </a:solidFill>
                <a:latin typeface="Calibri"/>
              </a:rPr>
              <a:t>Why does Path('spam') / 'bacon' work, while 'spam' / 'bacon' raises a TypeError?</a:t>
            </a:r>
          </a:p>
        </p:txBody>
      </p:sp>
      <p:sp>
        <p:nvSpPr>
          <p:cNvPr id="10" name="card"/>
          <p:cNvSpPr/>
          <p:nvPr/>
        </p:nvSpPr>
        <p:spPr>
          <a:xfrm>
            <a:off x="365760" y="2377440"/>
            <a:ext cx="84124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2505456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question"/>
          <p:cNvSpPr txBox="1"/>
          <p:nvPr/>
        </p:nvSpPr>
        <p:spPr>
          <a:xfrm>
            <a:off x="1005840" y="2414016"/>
            <a:ext cx="768096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0" i="0">
                <a:solidFill>
                  <a:srgbClr val="1F2933"/>
                </a:solidFill>
                <a:latin typeface="Calibri"/>
              </a:rPr>
              <a:t>What does the file hold after the modes w, a, a, w, and what does mode x do?</a:t>
            </a:r>
          </a:p>
        </p:txBody>
      </p:sp>
      <p:sp>
        <p:nvSpPr>
          <p:cNvPr id="13" name="card"/>
          <p:cNvSpPr/>
          <p:nvPr/>
        </p:nvSpPr>
        <p:spPr>
          <a:xfrm>
            <a:off x="365760" y="3108960"/>
            <a:ext cx="84124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3236976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question"/>
          <p:cNvSpPr txBox="1"/>
          <p:nvPr/>
        </p:nvSpPr>
        <p:spPr>
          <a:xfrm>
            <a:off x="1005840" y="3145536"/>
            <a:ext cx="768096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0" i="0">
                <a:solidFill>
                  <a:srgbClr val="1F2933"/>
                </a:solidFill>
                <a:latin typeface="Calibri"/>
              </a:rPr>
              <a:t>Why is a list changed inside a shelf lost, and how do you keep the change?</a:t>
            </a:r>
          </a:p>
        </p:txBody>
      </p:sp>
      <p:sp>
        <p:nvSpPr>
          <p:cNvPr id="16" name="card"/>
          <p:cNvSpPr/>
          <p:nvPr/>
        </p:nvSpPr>
        <p:spPr>
          <a:xfrm>
            <a:off x="365760" y="3840480"/>
            <a:ext cx="84124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3968496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question"/>
          <p:cNvSpPr txBox="1"/>
          <p:nvPr/>
        </p:nvSpPr>
        <p:spPr>
          <a:xfrm>
            <a:off x="1005840" y="3877056"/>
            <a:ext cx="768096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0" i="0">
                <a:solidFill>
                  <a:srgbClr val="1F2933"/>
                </a:solidFill>
                <a:latin typeface="Calibri"/>
              </a:rPr>
              <a:t>Change the quiz program so that the key file also names the right capital.</a:t>
            </a:r>
          </a:p>
        </p:txBody>
      </p:sp>
      <p:sp>
        <p:nvSpPr>
          <p:cNvPr id="19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Each answer fits in a few lines you can run.</a:t>
            </a:r>
          </a:p>
        </p:txBody>
      </p:sp>
      <p:sp>
        <p:nvSpPr>
          <p:cNvPr id="21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40 / 41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Resources: where to go next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051560" y="658368"/>
            <a:ext cx="7680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0">
                <a:solidFill>
                  <a:srgbClr val="5B6773"/>
                </a:solidFill>
                <a:latin typeface="Calibri"/>
              </a:rPr>
              <a:t>Reading and watching, chosen for this chapter; every link is live</a:t>
            </a:r>
          </a:p>
        </p:txBody>
      </p:sp>
      <p:sp>
        <p:nvSpPr>
          <p:cNvPr id="5" name="card"/>
          <p:cNvSpPr/>
          <p:nvPr/>
        </p:nvSpPr>
        <p:spPr>
          <a:xfrm>
            <a:off x="365760" y="960120"/>
            <a:ext cx="411480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source"/>
          <p:cNvSpPr txBox="1"/>
          <p:nvPr/>
        </p:nvSpPr>
        <p:spPr>
          <a:xfrm>
            <a:off x="438912" y="960120"/>
            <a:ext cx="3977639" cy="420624"/>
          </a:xfrm>
          <a:prstGeom prst="rect">
            <a:avLst/>
          </a:prstGeom>
          <a:noFill/>
        </p:spPr>
        <p:txBody>
          <a:bodyPr wrap="square" lIns="45720" rIns="45720" tIns="0" bIns="0" anchor="ctr">
            <a:spAutoFit/>
          </a:bodyPr>
          <a:lstStyle/>
          <a:p>
            <a:r>
              <a:rPr sz="1000" b="1" i="0">
                <a:solidFill>
                  <a:srgbClr val="1F2933"/>
                </a:solidFill>
                <a:latin typeface="Calibri"/>
              </a:rPr>
              <a:t>Book: Automate the Boring Stuff 3e, chapter 10</a:t>
            </a:r>
          </a:p>
          <a:p>
            <a:r>
              <a:rPr sz="850" b="0" i="0">
                <a:solidFill>
                  <a:srgbClr val="0E7C86"/>
                </a:solidFill>
                <a:latin typeface="Calibri"/>
                <a:hlinkClick r:id="rId3"/>
              </a:rPr>
              <a:t>https://automatetheboringstuff.com/3e/chapter10.html</a:t>
            </a:r>
          </a:p>
        </p:txBody>
      </p:sp>
      <p:sp>
        <p:nvSpPr>
          <p:cNvPr id="7" name="card"/>
          <p:cNvSpPr/>
          <p:nvPr/>
        </p:nvSpPr>
        <p:spPr>
          <a:xfrm>
            <a:off x="365760" y="1426464"/>
            <a:ext cx="411480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source"/>
          <p:cNvSpPr txBox="1"/>
          <p:nvPr/>
        </p:nvSpPr>
        <p:spPr>
          <a:xfrm>
            <a:off x="438912" y="1426464"/>
            <a:ext cx="3977639" cy="420624"/>
          </a:xfrm>
          <a:prstGeom prst="rect">
            <a:avLst/>
          </a:prstGeom>
          <a:noFill/>
        </p:spPr>
        <p:txBody>
          <a:bodyPr wrap="square" lIns="45720" rIns="45720" tIns="0" bIns="0" anchor="ctr">
            <a:spAutoFit/>
          </a:bodyPr>
          <a:lstStyle/>
          <a:p>
            <a:r>
              <a:rPr sz="1000" b="1" i="0">
                <a:solidFill>
                  <a:srgbClr val="1F2933"/>
                </a:solidFill>
                <a:latin typeface="Calibri"/>
              </a:rPr>
              <a:t>Python documentation: pathlib</a:t>
            </a:r>
          </a:p>
          <a:p>
            <a:r>
              <a:rPr sz="850" b="0" i="0">
                <a:solidFill>
                  <a:srgbClr val="0E7C86"/>
                </a:solidFill>
                <a:latin typeface="Calibri"/>
                <a:hlinkClick r:id="rId4"/>
              </a:rPr>
              <a:t>https://docs.python.org/3/library/pathlib.html</a:t>
            </a:r>
          </a:p>
        </p:txBody>
      </p:sp>
      <p:sp>
        <p:nvSpPr>
          <p:cNvPr id="9" name="card"/>
          <p:cNvSpPr/>
          <p:nvPr/>
        </p:nvSpPr>
        <p:spPr>
          <a:xfrm>
            <a:off x="365760" y="1892808"/>
            <a:ext cx="411480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source"/>
          <p:cNvSpPr txBox="1"/>
          <p:nvPr/>
        </p:nvSpPr>
        <p:spPr>
          <a:xfrm>
            <a:off x="438912" y="1892808"/>
            <a:ext cx="3977639" cy="420624"/>
          </a:xfrm>
          <a:prstGeom prst="rect">
            <a:avLst/>
          </a:prstGeom>
          <a:noFill/>
        </p:spPr>
        <p:txBody>
          <a:bodyPr wrap="square" lIns="45720" rIns="45720" tIns="0" bIns="0" anchor="ctr">
            <a:spAutoFit/>
          </a:bodyPr>
          <a:lstStyle/>
          <a:p>
            <a:r>
              <a:rPr sz="1000" b="1" i="0">
                <a:solidFill>
                  <a:srgbClr val="1F2933"/>
                </a:solidFill>
                <a:latin typeface="Calibri"/>
              </a:rPr>
              <a:t>Python documentation: open()</a:t>
            </a:r>
          </a:p>
          <a:p>
            <a:r>
              <a:rPr sz="850" b="0" i="0">
                <a:solidFill>
                  <a:srgbClr val="0E7C86"/>
                </a:solidFill>
                <a:latin typeface="Calibri"/>
                <a:hlinkClick r:id="rId5"/>
              </a:rPr>
              <a:t>https://docs.python.org/3/library/functions.html</a:t>
            </a:r>
          </a:p>
        </p:txBody>
      </p:sp>
      <p:sp>
        <p:nvSpPr>
          <p:cNvPr id="11" name="card"/>
          <p:cNvSpPr/>
          <p:nvPr/>
        </p:nvSpPr>
        <p:spPr>
          <a:xfrm>
            <a:off x="365760" y="2359152"/>
            <a:ext cx="411480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source"/>
          <p:cNvSpPr txBox="1"/>
          <p:nvPr/>
        </p:nvSpPr>
        <p:spPr>
          <a:xfrm>
            <a:off x="438912" y="2359152"/>
            <a:ext cx="3977639" cy="420624"/>
          </a:xfrm>
          <a:prstGeom prst="rect">
            <a:avLst/>
          </a:prstGeom>
          <a:noFill/>
        </p:spPr>
        <p:txBody>
          <a:bodyPr wrap="square" lIns="45720" rIns="45720" tIns="0" bIns="0" anchor="ctr">
            <a:spAutoFit/>
          </a:bodyPr>
          <a:lstStyle/>
          <a:p>
            <a:r>
              <a:rPr sz="1000" b="1" i="0">
                <a:solidFill>
                  <a:srgbClr val="1F2933"/>
                </a:solidFill>
                <a:latin typeface="Calibri"/>
              </a:rPr>
              <a:t>Python documentation: io and encoding</a:t>
            </a:r>
          </a:p>
          <a:p>
            <a:r>
              <a:rPr sz="850" b="0" i="0">
                <a:solidFill>
                  <a:srgbClr val="0E7C86"/>
                </a:solidFill>
                <a:latin typeface="Calibri"/>
                <a:hlinkClick r:id="rId6"/>
              </a:rPr>
              <a:t>https://docs.python.org/3/library/io.html</a:t>
            </a:r>
          </a:p>
        </p:txBody>
      </p:sp>
      <p:sp>
        <p:nvSpPr>
          <p:cNvPr id="13" name="card"/>
          <p:cNvSpPr/>
          <p:nvPr/>
        </p:nvSpPr>
        <p:spPr>
          <a:xfrm>
            <a:off x="365760" y="2825496"/>
            <a:ext cx="411480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source"/>
          <p:cNvSpPr txBox="1"/>
          <p:nvPr/>
        </p:nvSpPr>
        <p:spPr>
          <a:xfrm>
            <a:off x="438912" y="2825496"/>
            <a:ext cx="3977639" cy="420624"/>
          </a:xfrm>
          <a:prstGeom prst="rect">
            <a:avLst/>
          </a:prstGeom>
          <a:noFill/>
        </p:spPr>
        <p:txBody>
          <a:bodyPr wrap="square" lIns="45720" rIns="45720" tIns="0" bIns="0" anchor="ctr">
            <a:spAutoFit/>
          </a:bodyPr>
          <a:lstStyle/>
          <a:p>
            <a:r>
              <a:rPr sz="1000" b="1" i="0">
                <a:solidFill>
                  <a:srgbClr val="1F2933"/>
                </a:solidFill>
                <a:latin typeface="Calibri"/>
              </a:rPr>
              <a:t>Python tutorial: reading and writing files</a:t>
            </a:r>
          </a:p>
          <a:p>
            <a:r>
              <a:rPr sz="850" b="0" i="0">
                <a:solidFill>
                  <a:srgbClr val="0E7C86"/>
                </a:solidFill>
                <a:latin typeface="Calibri"/>
                <a:hlinkClick r:id="rId7"/>
              </a:rPr>
              <a:t>https://docs.python.org/3/tutorial/inputoutput.html</a:t>
            </a:r>
          </a:p>
        </p:txBody>
      </p:sp>
      <p:sp>
        <p:nvSpPr>
          <p:cNvPr id="15" name="card"/>
          <p:cNvSpPr/>
          <p:nvPr/>
        </p:nvSpPr>
        <p:spPr>
          <a:xfrm>
            <a:off x="365760" y="3291839"/>
            <a:ext cx="411480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source"/>
          <p:cNvSpPr txBox="1"/>
          <p:nvPr/>
        </p:nvSpPr>
        <p:spPr>
          <a:xfrm>
            <a:off x="438912" y="3291839"/>
            <a:ext cx="3977639" cy="420624"/>
          </a:xfrm>
          <a:prstGeom prst="rect">
            <a:avLst/>
          </a:prstGeom>
          <a:noFill/>
        </p:spPr>
        <p:txBody>
          <a:bodyPr wrap="square" lIns="45720" rIns="45720" tIns="0" bIns="0" anchor="ctr">
            <a:spAutoFit/>
          </a:bodyPr>
          <a:lstStyle/>
          <a:p>
            <a:r>
              <a:rPr sz="1000" b="1" i="0">
                <a:solidFill>
                  <a:srgbClr val="1F2933"/>
                </a:solidFill>
                <a:latin typeface="Calibri"/>
              </a:rPr>
              <a:t>Python documentation: shelve</a:t>
            </a:r>
          </a:p>
          <a:p>
            <a:r>
              <a:rPr sz="850" b="0" i="0">
                <a:solidFill>
                  <a:srgbClr val="0E7C86"/>
                </a:solidFill>
                <a:latin typeface="Calibri"/>
                <a:hlinkClick r:id="rId8"/>
              </a:rPr>
              <a:t>https://docs.python.org/3/library/shelve.html</a:t>
            </a:r>
          </a:p>
        </p:txBody>
      </p:sp>
      <p:sp>
        <p:nvSpPr>
          <p:cNvPr id="17" name="card"/>
          <p:cNvSpPr/>
          <p:nvPr/>
        </p:nvSpPr>
        <p:spPr>
          <a:xfrm>
            <a:off x="365760" y="3758184"/>
            <a:ext cx="411480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source"/>
          <p:cNvSpPr txBox="1"/>
          <p:nvPr/>
        </p:nvSpPr>
        <p:spPr>
          <a:xfrm>
            <a:off x="438912" y="3758184"/>
            <a:ext cx="3977639" cy="420624"/>
          </a:xfrm>
          <a:prstGeom prst="rect">
            <a:avLst/>
          </a:prstGeom>
          <a:noFill/>
        </p:spPr>
        <p:txBody>
          <a:bodyPr wrap="square" lIns="45720" rIns="45720" tIns="0" bIns="0" anchor="ctr">
            <a:spAutoFit/>
          </a:bodyPr>
          <a:lstStyle/>
          <a:p>
            <a:r>
              <a:rPr sz="1000" b="1" i="0">
                <a:solidFill>
                  <a:srgbClr val="1F2933"/>
                </a:solidFill>
                <a:latin typeface="Calibri"/>
              </a:rPr>
              <a:t>Python documentation: dbm</a:t>
            </a:r>
          </a:p>
          <a:p>
            <a:r>
              <a:rPr sz="850" b="0" i="0">
                <a:solidFill>
                  <a:srgbClr val="0E7C86"/>
                </a:solidFill>
                <a:latin typeface="Calibri"/>
                <a:hlinkClick r:id="rId9"/>
              </a:rPr>
              <a:t>https://docs.python.org/3/library/dbm.html</a:t>
            </a:r>
          </a:p>
        </p:txBody>
      </p:sp>
      <p:sp>
        <p:nvSpPr>
          <p:cNvPr id="19" name="card"/>
          <p:cNvSpPr/>
          <p:nvPr/>
        </p:nvSpPr>
        <p:spPr>
          <a:xfrm>
            <a:off x="365760" y="4224528"/>
            <a:ext cx="411480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source"/>
          <p:cNvSpPr txBox="1"/>
          <p:nvPr/>
        </p:nvSpPr>
        <p:spPr>
          <a:xfrm>
            <a:off x="438912" y="4224528"/>
            <a:ext cx="3977639" cy="420624"/>
          </a:xfrm>
          <a:prstGeom prst="rect">
            <a:avLst/>
          </a:prstGeom>
          <a:noFill/>
        </p:spPr>
        <p:txBody>
          <a:bodyPr wrap="square" lIns="45720" rIns="45720" tIns="0" bIns="0" anchor="ctr">
            <a:spAutoFit/>
          </a:bodyPr>
          <a:lstStyle/>
          <a:p>
            <a:r>
              <a:rPr sz="1000" b="1" i="0">
                <a:solidFill>
                  <a:srgbClr val="1F2933"/>
                </a:solidFill>
                <a:latin typeface="Calibri"/>
              </a:rPr>
              <a:t>Python documentation: json</a:t>
            </a:r>
          </a:p>
          <a:p>
            <a:r>
              <a:rPr sz="850" b="0" i="0">
                <a:solidFill>
                  <a:srgbClr val="0E7C86"/>
                </a:solidFill>
                <a:latin typeface="Calibri"/>
                <a:hlinkClick r:id="rId10"/>
              </a:rPr>
              <a:t>https://docs.python.org/3/library/json.html</a:t>
            </a:r>
          </a:p>
        </p:txBody>
      </p:sp>
      <p:sp>
        <p:nvSpPr>
          <p:cNvPr id="21" name="card"/>
          <p:cNvSpPr/>
          <p:nvPr/>
        </p:nvSpPr>
        <p:spPr>
          <a:xfrm>
            <a:off x="4663440" y="960120"/>
            <a:ext cx="411480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source"/>
          <p:cNvSpPr txBox="1"/>
          <p:nvPr/>
        </p:nvSpPr>
        <p:spPr>
          <a:xfrm>
            <a:off x="4736592" y="960120"/>
            <a:ext cx="3977639" cy="420624"/>
          </a:xfrm>
          <a:prstGeom prst="rect">
            <a:avLst/>
          </a:prstGeom>
          <a:noFill/>
        </p:spPr>
        <p:txBody>
          <a:bodyPr wrap="square" lIns="45720" rIns="45720" tIns="0" bIns="0" anchor="ctr">
            <a:spAutoFit/>
          </a:bodyPr>
          <a:lstStyle/>
          <a:p>
            <a:r>
              <a:rPr sz="1000" b="1" i="0">
                <a:solidFill>
                  <a:srgbClr val="1F2933"/>
                </a:solidFill>
                <a:latin typeface="Calibri"/>
              </a:rPr>
              <a:t>Python documentation: tempfile</a:t>
            </a:r>
          </a:p>
          <a:p>
            <a:r>
              <a:rPr sz="850" b="0" i="0">
                <a:solidFill>
                  <a:srgbClr val="0E7C86"/>
                </a:solidFill>
                <a:latin typeface="Calibri"/>
                <a:hlinkClick r:id="rId11"/>
              </a:rPr>
              <a:t>https://docs.python.org/3/library/tempfile.html</a:t>
            </a:r>
          </a:p>
        </p:txBody>
      </p:sp>
      <p:sp>
        <p:nvSpPr>
          <p:cNvPr id="23" name="card"/>
          <p:cNvSpPr/>
          <p:nvPr/>
        </p:nvSpPr>
        <p:spPr>
          <a:xfrm>
            <a:off x="4663440" y="1426464"/>
            <a:ext cx="411480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source"/>
          <p:cNvSpPr txBox="1"/>
          <p:nvPr/>
        </p:nvSpPr>
        <p:spPr>
          <a:xfrm>
            <a:off x="4736592" y="1426464"/>
            <a:ext cx="3977639" cy="420624"/>
          </a:xfrm>
          <a:prstGeom prst="rect">
            <a:avLst/>
          </a:prstGeom>
          <a:noFill/>
        </p:spPr>
        <p:txBody>
          <a:bodyPr wrap="square" lIns="45720" rIns="45720" tIns="0" bIns="0" anchor="ctr">
            <a:spAutoFit/>
          </a:bodyPr>
          <a:lstStyle/>
          <a:p>
            <a:r>
              <a:rPr sz="1000" b="1" i="0">
                <a:solidFill>
                  <a:srgbClr val="1F2933"/>
                </a:solidFill>
                <a:latin typeface="Calibri"/>
              </a:rPr>
              <a:t>PEP 428: the pathlib module (Pitrou, 2012)</a:t>
            </a:r>
          </a:p>
          <a:p>
            <a:r>
              <a:rPr sz="850" b="0" i="0">
                <a:solidFill>
                  <a:srgbClr val="0E7C86"/>
                </a:solidFill>
                <a:latin typeface="Calibri"/>
                <a:hlinkClick r:id="rId12"/>
              </a:rPr>
              <a:t>https://peps.python.org/pep-0428/</a:t>
            </a:r>
          </a:p>
        </p:txBody>
      </p:sp>
      <p:sp>
        <p:nvSpPr>
          <p:cNvPr id="25" name="card"/>
          <p:cNvSpPr/>
          <p:nvPr/>
        </p:nvSpPr>
        <p:spPr>
          <a:xfrm>
            <a:off x="4663440" y="1892808"/>
            <a:ext cx="411480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source"/>
          <p:cNvSpPr txBox="1"/>
          <p:nvPr/>
        </p:nvSpPr>
        <p:spPr>
          <a:xfrm>
            <a:off x="4736592" y="1892808"/>
            <a:ext cx="3977639" cy="420624"/>
          </a:xfrm>
          <a:prstGeom prst="rect">
            <a:avLst/>
          </a:prstGeom>
          <a:noFill/>
        </p:spPr>
        <p:txBody>
          <a:bodyPr wrap="square" lIns="45720" rIns="45720" tIns="0" bIns="0" anchor="ctr">
            <a:spAutoFit/>
          </a:bodyPr>
          <a:lstStyle/>
          <a:p>
            <a:r>
              <a:rPr sz="1000" b="1" i="0">
                <a:solidFill>
                  <a:srgbClr val="1F2933"/>
                </a:solidFill>
                <a:latin typeface="Calibri"/>
              </a:rPr>
              <a:t>PEP 686: UTF-8 mode becomes the default</a:t>
            </a:r>
          </a:p>
          <a:p>
            <a:r>
              <a:rPr sz="850" b="0" i="0">
                <a:solidFill>
                  <a:srgbClr val="0E7C86"/>
                </a:solidFill>
                <a:latin typeface="Calibri"/>
                <a:hlinkClick r:id="rId13"/>
              </a:rPr>
              <a:t>https://peps.python.org/pep-0686/</a:t>
            </a:r>
          </a:p>
        </p:txBody>
      </p:sp>
      <p:sp>
        <p:nvSpPr>
          <p:cNvPr id="27" name="card"/>
          <p:cNvSpPr/>
          <p:nvPr/>
        </p:nvSpPr>
        <p:spPr>
          <a:xfrm>
            <a:off x="4663440" y="2359152"/>
            <a:ext cx="411480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source"/>
          <p:cNvSpPr txBox="1"/>
          <p:nvPr/>
        </p:nvSpPr>
        <p:spPr>
          <a:xfrm>
            <a:off x="4736592" y="2359152"/>
            <a:ext cx="3977639" cy="420624"/>
          </a:xfrm>
          <a:prstGeom prst="rect">
            <a:avLst/>
          </a:prstGeom>
          <a:noFill/>
        </p:spPr>
        <p:txBody>
          <a:bodyPr wrap="square" lIns="45720" rIns="45720" tIns="0" bIns="0" anchor="ctr">
            <a:spAutoFit/>
          </a:bodyPr>
          <a:lstStyle/>
          <a:p>
            <a:r>
              <a:rPr sz="1000" b="1" i="0">
                <a:solidFill>
                  <a:srgbClr val="1F2933"/>
                </a:solidFill>
                <a:latin typeface="Calibri"/>
              </a:rPr>
              <a:t>PEP 597: the optional EncodingWarning</a:t>
            </a:r>
          </a:p>
          <a:p>
            <a:r>
              <a:rPr sz="850" b="0" i="0">
                <a:solidFill>
                  <a:srgbClr val="0E7C86"/>
                </a:solidFill>
                <a:latin typeface="Calibri"/>
                <a:hlinkClick r:id="rId14"/>
              </a:rPr>
              <a:t>https://peps.python.org/pep-0597/</a:t>
            </a:r>
          </a:p>
        </p:txBody>
      </p:sp>
      <p:sp>
        <p:nvSpPr>
          <p:cNvPr id="29" name="card"/>
          <p:cNvSpPr/>
          <p:nvPr/>
        </p:nvSpPr>
        <p:spPr>
          <a:xfrm>
            <a:off x="4663440" y="2825496"/>
            <a:ext cx="411480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source"/>
          <p:cNvSpPr txBox="1"/>
          <p:nvPr/>
        </p:nvSpPr>
        <p:spPr>
          <a:xfrm>
            <a:off x="4736592" y="2825496"/>
            <a:ext cx="3977639" cy="420624"/>
          </a:xfrm>
          <a:prstGeom prst="rect">
            <a:avLst/>
          </a:prstGeom>
          <a:noFill/>
        </p:spPr>
        <p:txBody>
          <a:bodyPr wrap="square" lIns="45720" rIns="45720" tIns="0" bIns="0" anchor="ctr">
            <a:spAutoFit/>
          </a:bodyPr>
          <a:lstStyle/>
          <a:p>
            <a:r>
              <a:rPr sz="1000" b="1" i="0">
                <a:solidFill>
                  <a:srgbClr val="1F2933"/>
                </a:solidFill>
                <a:latin typeface="Calibri"/>
              </a:rPr>
              <a:t>UTF-8 history, by Rob Pike</a:t>
            </a:r>
          </a:p>
          <a:p>
            <a:r>
              <a:rPr sz="850" b="0" i="0">
                <a:solidFill>
                  <a:srgbClr val="0E7C86"/>
                </a:solidFill>
                <a:latin typeface="Calibri"/>
                <a:hlinkClick r:id="rId15"/>
              </a:rPr>
              <a:t>https://doc.cat-v.org/bell_labs/utf-8_history</a:t>
            </a:r>
          </a:p>
        </p:txBody>
      </p:sp>
      <p:sp>
        <p:nvSpPr>
          <p:cNvPr id="31" name="card"/>
          <p:cNvSpPr/>
          <p:nvPr/>
        </p:nvSpPr>
        <p:spPr>
          <a:xfrm>
            <a:off x="4663440" y="3291839"/>
            <a:ext cx="411480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source"/>
          <p:cNvSpPr txBox="1"/>
          <p:nvPr/>
        </p:nvSpPr>
        <p:spPr>
          <a:xfrm>
            <a:off x="4736592" y="3291839"/>
            <a:ext cx="3977639" cy="420624"/>
          </a:xfrm>
          <a:prstGeom prst="rect">
            <a:avLst/>
          </a:prstGeom>
          <a:noFill/>
        </p:spPr>
        <p:txBody>
          <a:bodyPr wrap="square" lIns="45720" rIns="45720" tIns="0" bIns="0" anchor="ctr">
            <a:spAutoFit/>
          </a:bodyPr>
          <a:lstStyle/>
          <a:p>
            <a:r>
              <a:rPr sz="1000" b="1" i="0">
                <a:solidFill>
                  <a:srgbClr val="1F2933"/>
                </a:solidFill>
                <a:latin typeface="Calibri"/>
              </a:rPr>
              <a:t>JSON: the format and its home page</a:t>
            </a:r>
          </a:p>
          <a:p>
            <a:r>
              <a:rPr sz="850" b="0" i="0">
                <a:solidFill>
                  <a:srgbClr val="0E7C86"/>
                </a:solidFill>
                <a:latin typeface="Calibri"/>
                <a:hlinkClick r:id="rId16"/>
              </a:rPr>
              <a:t>https://www.json.org/json-en.html</a:t>
            </a:r>
          </a:p>
        </p:txBody>
      </p:sp>
      <p:sp>
        <p:nvSpPr>
          <p:cNvPr id="33" name="card"/>
          <p:cNvSpPr/>
          <p:nvPr/>
        </p:nvSpPr>
        <p:spPr>
          <a:xfrm>
            <a:off x="4663440" y="3758184"/>
            <a:ext cx="411480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source"/>
          <p:cNvSpPr txBox="1"/>
          <p:nvPr/>
        </p:nvSpPr>
        <p:spPr>
          <a:xfrm>
            <a:off x="4736592" y="3758184"/>
            <a:ext cx="3977639" cy="420624"/>
          </a:xfrm>
          <a:prstGeom prst="rect">
            <a:avLst/>
          </a:prstGeom>
          <a:noFill/>
        </p:spPr>
        <p:txBody>
          <a:bodyPr wrap="square" lIns="45720" rIns="45720" tIns="0" bIns="0" anchor="ctr">
            <a:spAutoFit/>
          </a:bodyPr>
          <a:lstStyle/>
          <a:p>
            <a:r>
              <a:rPr sz="1000" b="1" i="0">
                <a:solidFill>
                  <a:srgbClr val="1F2933"/>
                </a:solidFill>
                <a:latin typeface="Calibri"/>
              </a:rPr>
              <a:t>Joel Spolsky: Unicode and character sets</a:t>
            </a:r>
          </a:p>
          <a:p>
            <a:r>
              <a:rPr sz="850" b="0" i="0">
                <a:solidFill>
                  <a:srgbClr val="0E7C86"/>
                </a:solidFill>
                <a:latin typeface="Calibri"/>
                <a:hlinkClick r:id="rId17"/>
              </a:rPr>
              <a:t>joelonsoftware.com</a:t>
            </a:r>
          </a:p>
        </p:txBody>
      </p:sp>
      <p:sp>
        <p:nvSpPr>
          <p:cNvPr id="35" name="card"/>
          <p:cNvSpPr/>
          <p:nvPr/>
        </p:nvSpPr>
        <p:spPr>
          <a:xfrm>
            <a:off x="4663440" y="4224528"/>
            <a:ext cx="411480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source"/>
          <p:cNvSpPr txBox="1"/>
          <p:nvPr/>
        </p:nvSpPr>
        <p:spPr>
          <a:xfrm>
            <a:off x="4736592" y="4224528"/>
            <a:ext cx="3977639" cy="420624"/>
          </a:xfrm>
          <a:prstGeom prst="rect">
            <a:avLst/>
          </a:prstGeom>
          <a:noFill/>
        </p:spPr>
        <p:txBody>
          <a:bodyPr wrap="square" lIns="45720" rIns="45720" tIns="0" bIns="0" anchor="ctr">
            <a:spAutoFit/>
          </a:bodyPr>
          <a:lstStyle/>
          <a:p>
            <a:r>
              <a:rPr sz="1000" b="1" i="0">
                <a:solidFill>
                  <a:srgbClr val="1F2933"/>
                </a:solidFill>
                <a:latin typeface="Calibri"/>
              </a:rPr>
              <a:t>Video: File Objects (Corey Schafer)</a:t>
            </a:r>
          </a:p>
          <a:p>
            <a:r>
              <a:rPr sz="850" b="0" i="0">
                <a:solidFill>
                  <a:srgbClr val="0E7C86"/>
                </a:solidFill>
                <a:latin typeface="Calibri"/>
                <a:hlinkClick r:id="rId18"/>
              </a:rPr>
              <a:t>https://www.youtube.com/watch?v=Uh2ebFW8OYM</a:t>
            </a:r>
          </a:p>
        </p:txBody>
      </p:sp>
      <p:sp>
        <p:nvSpPr>
          <p:cNvPr id="37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Pick one link and read it before the next class.</a:t>
            </a:r>
          </a:p>
        </p:txBody>
      </p:sp>
      <p:sp>
        <p:nvSpPr>
          <p:cNvPr id="39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41 / 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SEN0414 Chapter 10: Reading and Writing Files (lecture deck 2.0.0)</dc:title>
  <dc:subject/>
  <dc:creator>Yusuf Altunel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