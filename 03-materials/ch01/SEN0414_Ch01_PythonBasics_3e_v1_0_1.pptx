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Automate the Boring Stuff with Python, 3rd edition (Sweigart, 2025), renewed for an advanced course. Every code result in this deck was produced by running it under Python 3.14.4, installed with uv; every claim beyond the book comes from the chapter 1 RDODI research record in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3.14 is the current bugfix release, first released 2025-10-07; 3.15 is scheduled for 2026-10-01 (Python Software Foundation, Status of Python versions). uv, a Python package manager built in Rust, was the most admired technology tag in the 2025 Stack Overflow Developer Survey at 74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follow the 3rd edition’s chapter 1 (Sweigart, 2025). The second line of each item is what this course adds, from the RDODI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“A better interactive interpreter” and “Improved error messages” among its major changes (Python Software Foundation). Demonstrate live in the 3.14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table follows the 3rd edition’s chapter 1 (Sweigart, 2025); every result was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Language Reference, section 6, tabulates precedence from most to least binding (Python Software Foundation). The book introduces the same order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results evaluated under Python 3.14.4. // and % together split a division into quotient and remainder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Integer, Floating-Point, and String Data Types (Sweigart, 2025). Precision and representation from the Built-in Types page of the Python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“Integers have unlimited precision.” — Python documentation, Built-in Types, Numeric Types. Result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Arithmetic: Issues and Limitations, The Python Tutorial, section 15 (Python Software Foundation). This links to the chapter’s closing section, How Computers Store Data with Binary Numbers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Concatenation and Replication (Sweigart, 2025). The TypeError message is exactly what Python 3.14.4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Storing Values in Variables (Sweigart, 2025). Naming convention from PEP 8, Style Guide for Python Code (van Rossum, Warsaw and Coghlan,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Program and Dissecting the Program (Sweigart, 2025), written here with f-strings. The transcript on the right is the program’s actual output when run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input, len, str, int and float are all documented on the Built-in Functions page (Python Software Foundation). Input as text is the chapter’s own point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701, Syntactic formalization of f-strings (Galindo Salgado, Taskaya, Nikolaou and Gómez Macías, 2022), Python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free-threaded CPython and an experimental JIT compiler (Python Software Foundation). uv: 2025 Stack Overflow Developer Survey. LO-1 and LO-4 are SEN0414’s approved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20 (multiplication before addition); floats are binary approximations; always a string; str and int do not combine silently, use str(42) or an f-string; f’Hi {name}!’. The book’s own practice questions are at the end of chapter 1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fourteen entries, in 03-materials/ch01/rdodi/sen0414_ch01_research_v1_0_0.ttl.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if-else and flow control; its renewed deck is the next item in this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Chapter 1: Python Basics</a:t>
            </a:r>
            <a:endParaRPr lang="en-US" sz="42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From the book’s first steps to the Python you will actually run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Python, and why now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language students run in 2026 is newer than the one most tutorials show</a:t>
            </a:r>
            <a:endParaRPr lang="en-US" sz="1300" dirty="0"/>
          </a:p>
        </p:txBody>
      </p:sp>
      <p:sp>
        <p:nvSpPr>
          <p:cNvPr id="6" name="Shape 4"/>
          <p:cNvSpPr/>
          <p:nvPr/>
        </p:nvSpPr>
        <p:spPr>
          <a:xfrm>
            <a:off x="457200" y="1417320"/>
            <a:ext cx="2560320" cy="2468880"/>
          </a:xfrm>
          <a:prstGeom prst="roundRect">
            <a:avLst>
              <a:gd name="adj" fmla="val 4444"/>
            </a:avLst>
          </a:prstGeom>
          <a:solidFill>
            <a:srgbClr val="F1F4F8"/>
          </a:solidFill>
          <a:ln w="12700">
            <a:solidFill>
              <a:srgbClr val="F1F4F8"/>
            </a:solidFill>
            <a:prstDash val="solid"/>
          </a:ln>
        </p:spPr>
      </p:sp>
      <p:sp>
        <p:nvSpPr>
          <p:cNvPr id="7" name="Text 5"/>
          <p:cNvSpPr txBox="1"/>
          <p:nvPr/>
        </p:nvSpPr>
        <p:spPr>
          <a:xfrm>
            <a:off x="45720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3.14</a:t>
            </a:r>
            <a:endParaRPr lang="en-US" sz="5400" dirty="0"/>
          </a:p>
        </p:txBody>
      </p:sp>
      <p:sp>
        <p:nvSpPr>
          <p:cNvPr id="8" name="Text 6"/>
          <p:cNvSpPr txBox="1"/>
          <p:nvPr/>
        </p:nvSpPr>
        <p:spPr>
          <a:xfrm>
            <a:off x="64008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current Python release</a:t>
            </a:r>
            <a:endParaRPr lang="en-US" sz="1500" dirty="0"/>
          </a:p>
        </p:txBody>
      </p:sp>
      <p:sp>
        <p:nvSpPr>
          <p:cNvPr id="9" name="Text 7"/>
          <p:cNvSpPr txBox="1"/>
          <p:nvPr/>
        </p:nvSpPr>
        <p:spPr>
          <a:xfrm>
            <a:off x="64008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0" name="Shape 8"/>
          <p:cNvSpPr/>
          <p:nvPr/>
        </p:nvSpPr>
        <p:spPr>
          <a:xfrm>
            <a:off x="3246120" y="1417320"/>
            <a:ext cx="2560320" cy="2468880"/>
          </a:xfrm>
          <a:prstGeom prst="roundRect">
            <a:avLst>
              <a:gd name="adj" fmla="val 4444"/>
            </a:avLst>
          </a:prstGeom>
          <a:solidFill>
            <a:srgbClr val="F1F4F8"/>
          </a:solidFill>
          <a:ln w="12700">
            <a:solidFill>
              <a:srgbClr val="F1F4F8"/>
            </a:solidFill>
            <a:prstDash val="solid"/>
          </a:ln>
        </p:spPr>
      </p:sp>
      <p:sp>
        <p:nvSpPr>
          <p:cNvPr id="11" name="Text 9"/>
          <p:cNvSpPr txBox="1"/>
          <p:nvPr/>
        </p:nvSpPr>
        <p:spPr>
          <a:xfrm>
            <a:off x="324612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1 Oct</a:t>
            </a:r>
            <a:endParaRPr lang="en-US" sz="5400" dirty="0"/>
          </a:p>
        </p:txBody>
      </p:sp>
      <p:sp>
        <p:nvSpPr>
          <p:cNvPr id="12" name="Text 10"/>
          <p:cNvSpPr txBox="1"/>
          <p:nvPr/>
        </p:nvSpPr>
        <p:spPr>
          <a:xfrm>
            <a:off x="342900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Python 3.15 first release, 2026</a:t>
            </a:r>
            <a:endParaRPr lang="en-US" sz="1500" dirty="0"/>
          </a:p>
        </p:txBody>
      </p:sp>
      <p:sp>
        <p:nvSpPr>
          <p:cNvPr id="13" name="Text 11"/>
          <p:cNvSpPr txBox="1"/>
          <p:nvPr/>
        </p:nvSpPr>
        <p:spPr>
          <a:xfrm>
            <a:off x="342900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4" name="Shape 12"/>
          <p:cNvSpPr/>
          <p:nvPr/>
        </p:nvSpPr>
        <p:spPr>
          <a:xfrm>
            <a:off x="6035040" y="1417320"/>
            <a:ext cx="2560320" cy="2468880"/>
          </a:xfrm>
          <a:prstGeom prst="roundRect">
            <a:avLst>
              <a:gd name="adj" fmla="val 4444"/>
            </a:avLst>
          </a:prstGeom>
          <a:solidFill>
            <a:srgbClr val="F1F4F8"/>
          </a:solidFill>
          <a:ln w="12700">
            <a:solidFill>
              <a:srgbClr val="F1F4F8"/>
            </a:solidFill>
            <a:prstDash val="solid"/>
          </a:ln>
        </p:spPr>
      </p:sp>
      <p:sp>
        <p:nvSpPr>
          <p:cNvPr id="15" name="Text 13"/>
          <p:cNvSpPr txBox="1"/>
          <p:nvPr/>
        </p:nvSpPr>
        <p:spPr>
          <a:xfrm>
            <a:off x="603504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74%</a:t>
            </a:r>
            <a:endParaRPr lang="en-US" sz="5400" dirty="0"/>
          </a:p>
        </p:txBody>
      </p:sp>
      <p:sp>
        <p:nvSpPr>
          <p:cNvPr id="16" name="Text 14"/>
          <p:cNvSpPr txBox="1"/>
          <p:nvPr/>
        </p:nvSpPr>
        <p:spPr>
          <a:xfrm>
            <a:off x="621792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admire uv, a Rust-built Python package manager</a:t>
            </a:r>
            <a:endParaRPr lang="en-US" sz="1500" dirty="0"/>
          </a:p>
        </p:txBody>
      </p:sp>
      <p:sp>
        <p:nvSpPr>
          <p:cNvPr id="17" name="Text 15"/>
          <p:cNvSpPr txBox="1"/>
          <p:nvPr/>
        </p:nvSpPr>
        <p:spPr>
          <a:xfrm>
            <a:off x="621792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2025 Stack Overflow survey</a:t>
            </a:r>
            <a:endParaRPr lang="en-US" sz="1000" dirty="0"/>
          </a:p>
        </p:txBody>
      </p:sp>
      <p:sp>
        <p:nvSpPr>
          <p:cNvPr id="18" name="Text 1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advanced course uses Python for its libraries and reach — so we start from the interpreter and tools students will really 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 further</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Expressions in the interactive shell</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the 3.13+ interpreter</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Integer, float and string data types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precision and binary limits</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String concatenation and replication</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f-strings as the modern idiom</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Storing values in variables</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PEP 8 naming</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Your first program, dissected</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print, input, len, str, int, float</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How computers store data</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why 0.1 + 0.2 surprises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interactive shell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Type an expression, get its value immediately</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20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30</a:t>
            </a:r>
            <a:endParaRPr lang="en-US" sz="17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New in Python 3.13</a:t>
            </a:r>
            <a:endParaRPr lang="en-US" sz="1700" dirty="0"/>
          </a:p>
        </p:txBody>
      </p:sp>
      <p:sp>
        <p:nvSpPr>
          <p:cNvPr id="11" name="Text 9"/>
          <p:cNvSpPr txBox="1"/>
          <p:nvPr/>
        </p:nvSpPr>
        <p:spPr>
          <a:xfrm>
            <a:off x="4937760" y="1856232"/>
            <a:ext cx="356616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replaced the interactive interpreter with a better one and improved its error messages — what you see from your very first expression is newer than the book’s screenshots.</a:t>
            </a:r>
            <a:endParaRPr lang="en-US" sz="1300" dirty="0"/>
          </a:p>
        </p:txBody>
      </p:sp>
      <p:sp>
        <p:nvSpPr>
          <p:cNvPr id="12" name="Text 10"/>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expression reduces to a single value. The shell evaluates it and prints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Seven arithmetic operators, from highest to lowest precedence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2743200"/>
                <a:gridCol w="2194560"/>
                <a:gridCol w="219456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Operator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Evaluates to</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exponent</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8</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modulus / remainder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integer (floor) 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3.2857142857142856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multiplication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3 * 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subtraction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5 - 2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addition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 precedence decides the answer</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numbers, different order, different result</a:t>
            </a:r>
            <a:endParaRPr lang="en-US" sz="1300" dirty="0"/>
          </a:p>
        </p:txBody>
      </p:sp>
      <p:sp>
        <p:nvSpPr>
          <p:cNvPr id="6" name="Shape 4"/>
          <p:cNvSpPr/>
          <p:nvPr/>
        </p:nvSpPr>
        <p:spPr>
          <a:xfrm>
            <a:off x="457200" y="1325880"/>
            <a:ext cx="393192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566160" cy="133502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20</a:t>
            </a:r>
            <a:endParaRPr lang="en-US" sz="1800" dirty="0"/>
          </a:p>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30</a:t>
            </a:r>
            <a:endParaRPr lang="en-US" sz="1800" dirty="0"/>
          </a:p>
        </p:txBody>
      </p:sp>
      <p:sp>
        <p:nvSpPr>
          <p:cNvPr id="8" name="Text 6"/>
          <p:cNvSpPr txBox="1"/>
          <p:nvPr/>
        </p:nvSpPr>
        <p:spPr>
          <a:xfrm>
            <a:off x="457200" y="291693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530352"/>
          </a:xfrm>
          <a:prstGeom prst="roundRect">
            <a:avLst>
              <a:gd name="adj" fmla="val 13793"/>
            </a:avLst>
          </a:prstGeom>
          <a:solidFill>
            <a:srgbClr val="FFD43B"/>
          </a:solidFill>
          <a:ln w="12700">
            <a:solidFill>
              <a:srgbClr val="FFD43B"/>
            </a:solidFill>
            <a:prstDash val="solid"/>
          </a:ln>
        </p:spPr>
      </p:sp>
      <p:sp>
        <p:nvSpPr>
          <p:cNvPr id="10" name="Text 8"/>
          <p:cNvSpPr txBox="1"/>
          <p:nvPr/>
        </p:nvSpPr>
        <p:spPr>
          <a:xfrm>
            <a:off x="4937760" y="1325880"/>
            <a:ext cx="36576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parentheses first</a:t>
            </a:r>
            <a:endParaRPr lang="en-US" sz="1400" dirty="0"/>
          </a:p>
        </p:txBody>
      </p:sp>
      <p:sp>
        <p:nvSpPr>
          <p:cNvPr id="11" name="Shape 9"/>
          <p:cNvSpPr/>
          <p:nvPr/>
        </p:nvSpPr>
        <p:spPr>
          <a:xfrm>
            <a:off x="4983480" y="1984248"/>
            <a:ext cx="3703320" cy="530352"/>
          </a:xfrm>
          <a:prstGeom prst="roundRect">
            <a:avLst>
              <a:gd name="adj" fmla="val 13793"/>
            </a:avLst>
          </a:prstGeom>
          <a:solidFill>
            <a:srgbClr val="F1F4F8"/>
          </a:solidFill>
          <a:ln w="12700">
            <a:solidFill>
              <a:srgbClr val="F1F4F8"/>
            </a:solidFill>
            <a:prstDash val="solid"/>
          </a:ln>
        </p:spPr>
      </p:sp>
      <p:sp>
        <p:nvSpPr>
          <p:cNvPr id="12" name="Text 10"/>
          <p:cNvSpPr txBox="1"/>
          <p:nvPr/>
        </p:nvSpPr>
        <p:spPr>
          <a:xfrm>
            <a:off x="5166360" y="1984248"/>
            <a:ext cx="34290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exponent</a:t>
            </a:r>
            <a:endParaRPr lang="en-US" sz="1400" dirty="0"/>
          </a:p>
        </p:txBody>
      </p:sp>
      <p:sp>
        <p:nvSpPr>
          <p:cNvPr id="13" name="Shape 11"/>
          <p:cNvSpPr/>
          <p:nvPr/>
        </p:nvSpPr>
        <p:spPr>
          <a:xfrm>
            <a:off x="5212080" y="2642616"/>
            <a:ext cx="3474720" cy="530352"/>
          </a:xfrm>
          <a:prstGeom prst="roundRect">
            <a:avLst>
              <a:gd name="adj" fmla="val 13793"/>
            </a:avLst>
          </a:prstGeom>
          <a:solidFill>
            <a:srgbClr val="F1F4F8"/>
          </a:solidFill>
          <a:ln w="12700">
            <a:solidFill>
              <a:srgbClr val="F1F4F8"/>
            </a:solidFill>
            <a:prstDash val="solid"/>
          </a:ln>
        </p:spPr>
      </p:sp>
      <p:sp>
        <p:nvSpPr>
          <p:cNvPr id="14" name="Text 12"/>
          <p:cNvSpPr txBox="1"/>
          <p:nvPr/>
        </p:nvSpPr>
        <p:spPr>
          <a:xfrm>
            <a:off x="5394960" y="2642616"/>
            <a:ext cx="32004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  %</a:t>
            </a:r>
            <a:endParaRPr lang="en-US" sz="1400" dirty="0"/>
          </a:p>
        </p:txBody>
      </p:sp>
      <p:sp>
        <p:nvSpPr>
          <p:cNvPr id="15" name="Shape 13"/>
          <p:cNvSpPr/>
          <p:nvPr/>
        </p:nvSpPr>
        <p:spPr>
          <a:xfrm>
            <a:off x="5440680" y="3300984"/>
            <a:ext cx="3246120" cy="530352"/>
          </a:xfrm>
          <a:prstGeom prst="roundRect">
            <a:avLst>
              <a:gd name="adj" fmla="val 13793"/>
            </a:avLst>
          </a:prstGeom>
          <a:solidFill>
            <a:srgbClr val="F1F4F8"/>
          </a:solidFill>
          <a:ln w="12700">
            <a:solidFill>
              <a:srgbClr val="F1F4F8"/>
            </a:solidFill>
            <a:prstDash val="solid"/>
          </a:ln>
        </p:spPr>
      </p:sp>
      <p:sp>
        <p:nvSpPr>
          <p:cNvPr id="16" name="Text 14"/>
          <p:cNvSpPr txBox="1"/>
          <p:nvPr/>
        </p:nvSpPr>
        <p:spPr>
          <a:xfrm>
            <a:off x="5623560" y="3300984"/>
            <a:ext cx="29718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a:t>
            </a:r>
            <a:endParaRPr lang="en-US" sz="1400" dirty="0"/>
          </a:p>
        </p:txBody>
      </p:sp>
      <p:sp>
        <p:nvSpPr>
          <p:cNvPr id="17" name="Text 15"/>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Highest at the top. Equal precedence evaluates left to right.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Dividing: three answers to one question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23 divided by 7</a:t>
            </a:r>
            <a:endParaRPr lang="en-US" sz="1300" dirty="0"/>
          </a:p>
        </p:txBody>
      </p:sp>
      <p:sp>
        <p:nvSpPr>
          <p:cNvPr id="6" name="Shape 4"/>
          <p:cNvSpPr/>
          <p:nvPr/>
        </p:nvSpPr>
        <p:spPr>
          <a:xfrm>
            <a:off x="457200" y="1371600"/>
            <a:ext cx="2560320" cy="2560320"/>
          </a:xfrm>
          <a:prstGeom prst="roundRect">
            <a:avLst>
              <a:gd name="adj" fmla="val 4286"/>
            </a:avLst>
          </a:prstGeom>
          <a:solidFill>
            <a:srgbClr val="F1F4F8"/>
          </a:solidFill>
          <a:ln w="12700">
            <a:solidFill>
              <a:srgbClr val="F1F4F8"/>
            </a:solidFill>
            <a:prstDash val="solid"/>
          </a:ln>
        </p:spPr>
      </p:sp>
      <p:sp>
        <p:nvSpPr>
          <p:cNvPr id="7" name="Text 5"/>
          <p:cNvSpPr txBox="1"/>
          <p:nvPr/>
        </p:nvSpPr>
        <p:spPr>
          <a:xfrm>
            <a:off x="45720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8" name="Text 6"/>
          <p:cNvSpPr txBox="1"/>
          <p:nvPr/>
        </p:nvSpPr>
        <p:spPr>
          <a:xfrm>
            <a:off x="548640" y="2057400"/>
            <a:ext cx="2377440" cy="914400"/>
          </a:xfrm>
          <a:prstGeom prst="rect">
            <a:avLst/>
          </a:prstGeom>
          <a:noFill/>
          <a:ln/>
        </p:spPr>
        <p:txBody>
          <a:bodyPr wrap="square" lIns="0" tIns="0" rIns="0" bIns="0" rtlCol="0" anchor="ctr"/>
          <a:lstStyle/>
          <a:p>
            <a:pPr algn="ctr" indent="0" marL="0">
              <a:buNone/>
            </a:pPr>
            <a:r>
              <a:rPr lang="en-US" sz="1700" b="1" dirty="0">
                <a:solidFill>
                  <a:srgbClr val="1E2A3A"/>
                </a:solidFill>
                <a:latin typeface="Courier New" pitchFamily="34" charset="0"/>
                <a:ea typeface="Courier New" pitchFamily="34" charset="-122"/>
                <a:cs typeface="Courier New" pitchFamily="34" charset="-120"/>
              </a:rPr>
              <a:t>3.2857142857142856</a:t>
            </a:r>
            <a:endParaRPr lang="en-US" sz="1700" dirty="0"/>
          </a:p>
        </p:txBody>
      </p:sp>
      <p:sp>
        <p:nvSpPr>
          <p:cNvPr id="9" name="Text 7"/>
          <p:cNvSpPr txBox="1"/>
          <p:nvPr/>
        </p:nvSpPr>
        <p:spPr>
          <a:xfrm>
            <a:off x="64008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true division, always a float</a:t>
            </a:r>
            <a:endParaRPr lang="en-US" sz="1300" dirty="0"/>
          </a:p>
        </p:txBody>
      </p:sp>
      <p:sp>
        <p:nvSpPr>
          <p:cNvPr id="10" name="Shape 8"/>
          <p:cNvSpPr/>
          <p:nvPr/>
        </p:nvSpPr>
        <p:spPr>
          <a:xfrm>
            <a:off x="3246120" y="1371600"/>
            <a:ext cx="2560320" cy="2560320"/>
          </a:xfrm>
          <a:prstGeom prst="roundRect">
            <a:avLst>
              <a:gd name="adj" fmla="val 4286"/>
            </a:avLst>
          </a:prstGeom>
          <a:solidFill>
            <a:srgbClr val="F1F4F8"/>
          </a:solidFill>
          <a:ln w="12700">
            <a:solidFill>
              <a:srgbClr val="F1F4F8"/>
            </a:solidFill>
            <a:prstDash val="solid"/>
          </a:ln>
        </p:spPr>
      </p:sp>
      <p:sp>
        <p:nvSpPr>
          <p:cNvPr id="11" name="Text 9"/>
          <p:cNvSpPr txBox="1"/>
          <p:nvPr/>
        </p:nvSpPr>
        <p:spPr>
          <a:xfrm>
            <a:off x="324612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2" name="Text 10"/>
          <p:cNvSpPr txBox="1"/>
          <p:nvPr/>
        </p:nvSpPr>
        <p:spPr>
          <a:xfrm>
            <a:off x="333756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3</a:t>
            </a:r>
            <a:endParaRPr lang="en-US" sz="4400" dirty="0"/>
          </a:p>
        </p:txBody>
      </p:sp>
      <p:sp>
        <p:nvSpPr>
          <p:cNvPr id="13" name="Text 11"/>
          <p:cNvSpPr txBox="1"/>
          <p:nvPr/>
        </p:nvSpPr>
        <p:spPr>
          <a:xfrm>
            <a:off x="342900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floor division, the whole part</a:t>
            </a:r>
            <a:endParaRPr lang="en-US" sz="1300" dirty="0"/>
          </a:p>
        </p:txBody>
      </p:sp>
      <p:sp>
        <p:nvSpPr>
          <p:cNvPr id="14" name="Shape 12"/>
          <p:cNvSpPr/>
          <p:nvPr/>
        </p:nvSpPr>
        <p:spPr>
          <a:xfrm>
            <a:off x="6035040" y="1371600"/>
            <a:ext cx="2560320" cy="2560320"/>
          </a:xfrm>
          <a:prstGeom prst="roundRect">
            <a:avLst>
              <a:gd name="adj" fmla="val 4286"/>
            </a:avLst>
          </a:prstGeom>
          <a:solidFill>
            <a:srgbClr val="F1F4F8"/>
          </a:solidFill>
          <a:ln w="12700">
            <a:solidFill>
              <a:srgbClr val="F1F4F8"/>
            </a:solidFill>
            <a:prstDash val="solid"/>
          </a:ln>
        </p:spPr>
      </p:sp>
      <p:sp>
        <p:nvSpPr>
          <p:cNvPr id="15" name="Text 13"/>
          <p:cNvSpPr txBox="1"/>
          <p:nvPr/>
        </p:nvSpPr>
        <p:spPr>
          <a:xfrm>
            <a:off x="603504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6" name="Text 14"/>
          <p:cNvSpPr txBox="1"/>
          <p:nvPr/>
        </p:nvSpPr>
        <p:spPr>
          <a:xfrm>
            <a:off x="612648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2</a:t>
            </a:r>
            <a:endParaRPr lang="en-US" sz="4400" dirty="0"/>
          </a:p>
        </p:txBody>
      </p:sp>
      <p:sp>
        <p:nvSpPr>
          <p:cNvPr id="17" name="Text 15"/>
          <p:cNvSpPr txBox="1"/>
          <p:nvPr/>
        </p:nvSpPr>
        <p:spPr>
          <a:xfrm>
            <a:off x="621792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modulus, the remainder</a:t>
            </a:r>
            <a:endParaRPr lang="en-US" sz="1300" dirty="0"/>
          </a:p>
        </p:txBody>
      </p:sp>
      <p:sp>
        <p:nvSpPr>
          <p:cNvPr id="18" name="Text 16"/>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Check: 7 × 3 + 2 = 23</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data types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value has a type, and the type decides what you can do with it</a:t>
            </a:r>
            <a:endParaRPr lang="en-US" sz="1300" dirty="0"/>
          </a:p>
        </p:txBody>
      </p:sp>
      <p:sp>
        <p:nvSpPr>
          <p:cNvPr id="6" name="Shape 4"/>
          <p:cNvSpPr/>
          <p:nvPr/>
        </p:nvSpPr>
        <p:spPr>
          <a:xfrm>
            <a:off x="457200" y="1325880"/>
            <a:ext cx="2606040" cy="2651760"/>
          </a:xfrm>
          <a:prstGeom prst="roundRect">
            <a:avLst>
              <a:gd name="adj" fmla="val 3509"/>
            </a:avLst>
          </a:prstGeom>
          <a:solidFill>
            <a:srgbClr val="F1F4F8"/>
          </a:solidFill>
          <a:ln w="12700">
            <a:solidFill>
              <a:srgbClr val="F1F4F8"/>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int</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Whole numbers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-2, 0, 30</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Exact, with unlimited precision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1F4F8"/>
          </a:solidFill>
          <a:ln w="12700">
            <a:solidFill>
              <a:srgbClr val="F1F4F8"/>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float</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Numbers with a fractional part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-1.25, 0.5, 3.14</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Stored in binary, so some decimals are approximate</a:t>
            </a:r>
            <a:endParaRPr lang="en-US" sz="1300" dirty="0"/>
          </a:p>
        </p:txBody>
      </p:sp>
      <p:sp>
        <p:nvSpPr>
          <p:cNvPr id="12" name="Shape 10"/>
          <p:cNvSpPr/>
          <p:nvPr/>
        </p:nvSpPr>
        <p:spPr>
          <a:xfrm>
            <a:off x="6080760" y="1325880"/>
            <a:ext cx="2606040" cy="2651760"/>
          </a:xfrm>
          <a:prstGeom prst="roundRect">
            <a:avLst>
              <a:gd name="adj" fmla="val 3509"/>
            </a:avLst>
          </a:prstGeom>
          <a:solidFill>
            <a:srgbClr val="F1F4F8"/>
          </a:solidFill>
          <a:ln w="12700">
            <a:solidFill>
              <a:srgbClr val="F1F4F8"/>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str</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between quotes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'Hello', '42'</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 number in quotes is text, not a number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Integers never overflow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 integers have unlimited precision</a:t>
            </a:r>
            <a:endParaRPr lang="en-US" sz="1300" dirty="0"/>
          </a:p>
        </p:txBody>
      </p:sp>
      <p:sp>
        <p:nvSpPr>
          <p:cNvPr id="6" name="Shape 4"/>
          <p:cNvSpPr/>
          <p:nvPr/>
        </p:nvSpPr>
        <p:spPr>
          <a:xfrm>
            <a:off x="457200" y="1371600"/>
            <a:ext cx="8229600" cy="1188720"/>
          </a:xfrm>
          <a:prstGeom prst="roundRect">
            <a:avLst>
              <a:gd name="adj" fmla="val 7692"/>
            </a:avLst>
          </a:prstGeom>
          <a:solidFill>
            <a:srgbClr val="17202B"/>
          </a:solidFill>
          <a:ln w="12700">
            <a:solidFill>
              <a:srgbClr val="17202B"/>
            </a:solidFill>
            <a:prstDash val="solid"/>
          </a:ln>
        </p:spPr>
      </p:sp>
      <p:sp>
        <p:nvSpPr>
          <p:cNvPr id="7" name="Text 5"/>
          <p:cNvSpPr txBox="1"/>
          <p:nvPr/>
        </p:nvSpPr>
        <p:spPr>
          <a:xfrm>
            <a:off x="640080" y="1481328"/>
            <a:ext cx="7863840" cy="96926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100</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1267650600228229401496703205376</a:t>
            </a:r>
            <a:endParaRPr lang="en-US" sz="18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926080"/>
            <a:ext cx="8229600" cy="1234440"/>
          </a:xfrm>
          <a:prstGeom prst="roundRect">
            <a:avLst>
              <a:gd name="adj" fmla="val 7407"/>
            </a:avLst>
          </a:prstGeom>
          <a:solidFill>
            <a:srgbClr val="F1F4F8"/>
          </a:solidFill>
          <a:ln w="12700">
            <a:solidFill>
              <a:srgbClr val="F1F4F8"/>
            </a:solidFill>
            <a:prstDash val="solid"/>
          </a:ln>
        </p:spPr>
      </p:sp>
      <p:sp>
        <p:nvSpPr>
          <p:cNvPr id="10" name="Text 8"/>
          <p:cNvSpPr txBox="1"/>
          <p:nvPr/>
        </p:nvSpPr>
        <p:spPr>
          <a:xfrm>
            <a:off x="640080" y="3063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Why it matters</a:t>
            </a:r>
            <a:endParaRPr lang="en-US" sz="1700" dirty="0"/>
          </a:p>
        </p:txBody>
      </p:sp>
      <p:sp>
        <p:nvSpPr>
          <p:cNvPr id="11" name="Text 9"/>
          <p:cNvSpPr txBox="1"/>
          <p:nvPr/>
        </p:nvSpPr>
        <p:spPr>
          <a:xfrm>
            <a:off x="640080" y="3456432"/>
            <a:ext cx="786384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Many languages cap integers at a fixed size and silently wrap around. Python computes 2 ** 100 exactly — useful for cryptography, identifiers and exact arithmetic.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Floats live in binary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0.1 + 0.2 is not exactly 0.3</a:t>
            </a:r>
            <a:endParaRPr lang="en-US" sz="1300" dirty="0"/>
          </a:p>
        </p:txBody>
      </p:sp>
      <p:sp>
        <p:nvSpPr>
          <p:cNvPr id="6" name="Shape 4"/>
          <p:cNvSpPr/>
          <p:nvPr/>
        </p:nvSpPr>
        <p:spPr>
          <a:xfrm>
            <a:off x="457200" y="1325880"/>
            <a:ext cx="411480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749040" cy="133502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0.1 + 0.2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0.30000000000000004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round(0.1 + 0.2,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a:t>
            </a:r>
            <a:endParaRPr lang="en-US" sz="1700" dirty="0"/>
          </a:p>
        </p:txBody>
      </p:sp>
      <p:sp>
        <p:nvSpPr>
          <p:cNvPr id="8" name="Text 6"/>
          <p:cNvSpPr txBox="1"/>
          <p:nvPr/>
        </p:nvSpPr>
        <p:spPr>
          <a:xfrm>
            <a:off x="457200" y="2916936"/>
            <a:ext cx="41148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846320" y="1325880"/>
            <a:ext cx="384048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5029200" y="1463040"/>
            <a:ext cx="347472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How computers store data</a:t>
            </a:r>
            <a:endParaRPr lang="en-US" sz="1700" dirty="0"/>
          </a:p>
        </p:txBody>
      </p:sp>
      <p:sp>
        <p:nvSpPr>
          <p:cNvPr id="11" name="Text 9"/>
          <p:cNvSpPr txBox="1"/>
          <p:nvPr/>
        </p:nvSpPr>
        <p:spPr>
          <a:xfrm>
            <a:off x="5029200" y="1856232"/>
            <a:ext cx="347472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float is stored in binary with fixed precision. 0.1 has no exact binary form, so the sum carries a tiny error. Round for display; never compare floats with == when money or precision matters.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Concatenation and replication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same operators mean something different on strings</a:t>
            </a:r>
            <a:endParaRPr lang="en-US" sz="1300" dirty="0"/>
          </a:p>
        </p:txBody>
      </p:sp>
      <p:sp>
        <p:nvSpPr>
          <p:cNvPr id="6" name="Shape 4"/>
          <p:cNvSpPr/>
          <p:nvPr/>
        </p:nvSpPr>
        <p:spPr>
          <a:xfrm>
            <a:off x="457200" y="1325880"/>
            <a:ext cx="5120640" cy="2148840"/>
          </a:xfrm>
          <a:prstGeom prst="roundRect">
            <a:avLst>
              <a:gd name="adj" fmla="val 4255"/>
            </a:avLst>
          </a:prstGeom>
          <a:solidFill>
            <a:srgbClr val="17202B"/>
          </a:solidFill>
          <a:ln w="12700">
            <a:solidFill>
              <a:srgbClr val="17202B"/>
            </a:solidFill>
            <a:prstDash val="solid"/>
          </a:ln>
        </p:spPr>
      </p:sp>
      <p:sp>
        <p:nvSpPr>
          <p:cNvPr id="7" name="Text 5"/>
          <p:cNvSpPr txBox="1"/>
          <p:nvPr/>
        </p:nvSpPr>
        <p:spPr>
          <a:xfrm>
            <a:off x="640080" y="1435608"/>
            <a:ext cx="4754880" cy="19293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'Bob'</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'AliceBob'</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3</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'AliceAliceAlice'</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+ 42</a:t>
            </a:r>
            <a:endParaRPr lang="en-US" sz="1500" dirty="0"/>
          </a:p>
          <a:p>
            <a:pPr indent="0" marL="0">
              <a:spcAft>
                <a:spcPts val="200"/>
              </a:spcAft>
              <a:buNone/>
            </a:pPr>
            <a:r>
              <a:rPr lang="en-US" sz="15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1500" dirty="0"/>
          </a:p>
        </p:txBody>
      </p:sp>
      <p:sp>
        <p:nvSpPr>
          <p:cNvPr id="8" name="Text 6"/>
          <p:cNvSpPr txBox="1"/>
          <p:nvPr/>
        </p:nvSpPr>
        <p:spPr>
          <a:xfrm>
            <a:off x="457200" y="351129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52160" y="1325880"/>
            <a:ext cx="283464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6035040" y="1463040"/>
            <a:ext cx="2468880" cy="365760"/>
          </a:xfrm>
          <a:prstGeom prst="rect">
            <a:avLst/>
          </a:prstGeom>
          <a:noFill/>
          <a:ln/>
        </p:spPr>
        <p:txBody>
          <a:bodyPr wrap="square" lIns="0" tIns="0" rIns="0" bIns="0" rtlCol="0" anchor="ctr"/>
          <a:lstStyle/>
          <a:p>
            <a:pPr indent="0" marL="0">
              <a:buNone/>
            </a:pPr>
            <a:r>
              <a:rPr lang="en-US" sz="1700" b="1" dirty="0">
                <a:solidFill>
                  <a:srgbClr val="FF7B72"/>
                </a:solidFill>
                <a:latin typeface="Cambria" pitchFamily="34" charset="0"/>
                <a:ea typeface="Cambria" pitchFamily="34" charset="-122"/>
                <a:cs typeface="Cambria" pitchFamily="34" charset="-120"/>
              </a:rPr>
              <a:t>The error is a feature</a:t>
            </a:r>
            <a:endParaRPr lang="en-US" sz="1700" dirty="0"/>
          </a:p>
        </p:txBody>
      </p:sp>
      <p:sp>
        <p:nvSpPr>
          <p:cNvPr id="11" name="Text 9"/>
          <p:cNvSpPr txBox="1"/>
          <p:nvPr/>
        </p:nvSpPr>
        <p:spPr>
          <a:xfrm>
            <a:off x="6035040" y="1856232"/>
            <a:ext cx="2468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will not guess whether you meant text or a number. Convert first: 'Alice' + str(42).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Variables and naming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is a name bound to a value</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42</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42</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spam + 1</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43</a:t>
            </a:r>
            <a:endParaRPr lang="en-US" sz="15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8 naming</a:t>
            </a:r>
            <a:endParaRPr lang="en-US" sz="1700" dirty="0"/>
          </a:p>
        </p:txBody>
      </p:sp>
      <p:sp>
        <p:nvSpPr>
          <p:cNvPr id="11" name="Text 9"/>
          <p:cNvSpPr txBox="1"/>
          <p:nvPr/>
        </p:nvSpPr>
        <p:spPr>
          <a:xfrm>
            <a:off x="4937760" y="1856232"/>
            <a:ext cx="356616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lower_case_with_underscores for variables and functions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Meaningful names: user_age, not ua</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are case-sensitive: spam and Spam differ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Your first program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Saved in a file, run top to bottom</a:t>
            </a:r>
            <a:endParaRPr lang="en-US" sz="1300" dirty="0"/>
          </a:p>
        </p:txBody>
      </p:sp>
      <p:sp>
        <p:nvSpPr>
          <p:cNvPr id="6" name="Shape 4"/>
          <p:cNvSpPr/>
          <p:nvPr/>
        </p:nvSpPr>
        <p:spPr>
          <a:xfrm>
            <a:off x="457200" y="1280160"/>
            <a:ext cx="484632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71600"/>
            <a:ext cx="4526280" cy="2834640"/>
          </a:xfrm>
          <a:prstGeom prst="rect">
            <a:avLst/>
          </a:prstGeom>
          <a:noFill/>
          <a:ln/>
        </p:spPr>
        <p:txBody>
          <a:bodyPr wrap="square" lIns="0" tIns="0" rIns="0" bIns="0" rtlCol="0" anchor="t"/>
          <a:lstStyle/>
          <a:p>
            <a:pPr indent="0" marL="0">
              <a:buNone/>
            </a:pPr>
            <a:r>
              <a:rPr lang="en-US" sz="1100" dirty="0">
                <a:solidFill>
                  <a:srgbClr val="8B949E"/>
                </a:solidFill>
                <a:latin typeface="Courier New" pitchFamily="34" charset="0"/>
                <a:ea typeface="Courier New" pitchFamily="34" charset="-122"/>
                <a:cs typeface="Courier New" pitchFamily="34" charset="-120"/>
              </a:rPr>
              <a:t># A first program, in the chapter's spirit: say hello, ask for a name, and use it.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print('Hello, world!')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print('What is your 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my_name = input()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print(f'It is good to meet you, {my_name}.')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print(f'The length of your name is {len(my_name)}.')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my_age = int(input('What is your age?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print(f'You will be {my_age + 1} in a year.')</a:t>
            </a:r>
            <a:endParaRPr lang="en-US" sz="1100" dirty="0"/>
          </a:p>
        </p:txBody>
      </p:sp>
      <p:sp>
        <p:nvSpPr>
          <p:cNvPr id="8" name="Shape 6"/>
          <p:cNvSpPr/>
          <p:nvPr/>
        </p:nvSpPr>
        <p:spPr>
          <a:xfrm>
            <a:off x="5486400" y="1280160"/>
            <a:ext cx="3200400" cy="3017520"/>
          </a:xfrm>
          <a:prstGeom prst="roundRect">
            <a:avLst>
              <a:gd name="adj" fmla="val 3030"/>
            </a:avLst>
          </a:prstGeom>
          <a:solidFill>
            <a:srgbClr val="F1F4F8"/>
          </a:solidFill>
          <a:ln w="12700">
            <a:solidFill>
              <a:srgbClr val="F1F4F8"/>
            </a:solidFill>
            <a:prstDash val="solid"/>
          </a:ln>
        </p:spPr>
      </p:sp>
      <p:sp>
        <p:nvSpPr>
          <p:cNvPr id="9" name="Text 7"/>
          <p:cNvSpPr txBox="1"/>
          <p:nvPr/>
        </p:nvSpPr>
        <p:spPr>
          <a:xfrm>
            <a:off x="5623560" y="1371600"/>
            <a:ext cx="2926080" cy="283464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Hello, world!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name?</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It is good to meet you, 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length of your name is 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age? </a:t>
            </a:r>
            <a:pPr indent="0" marL="0">
              <a:buNone/>
            </a:pPr>
            <a:r>
              <a:rPr lang="en-US" sz="1100" b="1" dirty="0">
                <a:solidFill>
                  <a:srgbClr val="306998"/>
                </a:solidFill>
                <a:latin typeface="Courier New" pitchFamily="34" charset="0"/>
                <a:ea typeface="Courier New" pitchFamily="34" charset="-122"/>
                <a:cs typeface="Courier New" pitchFamily="34" charset="-120"/>
              </a:rPr>
              <a:t>20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You will be 21 in a year.</a:t>
            </a:r>
            <a:endParaRPr lang="en-US" sz="1100" dirty="0"/>
          </a:p>
        </p:txBody>
      </p:sp>
      <p:sp>
        <p:nvSpPr>
          <p:cNvPr id="10" name="Text 8"/>
          <p:cNvSpPr txBox="1"/>
          <p:nvPr/>
        </p:nvSpPr>
        <p:spPr>
          <a:xfrm>
            <a:off x="5486400" y="4343400"/>
            <a:ext cx="3200400" cy="27432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Output from a real run under Python 3.14.4 — typed input in blue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Six built-in functions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Always available, no import needed</a:t>
            </a:r>
            <a:endParaRPr lang="en-US" sz="1300" dirty="0"/>
          </a:p>
        </p:txBody>
      </p:sp>
      <p:sp>
        <p:nvSpPr>
          <p:cNvPr id="6" name="Shape 4"/>
          <p:cNvSpPr/>
          <p:nvPr/>
        </p:nvSpPr>
        <p:spPr>
          <a:xfrm>
            <a:off x="457200" y="1280160"/>
            <a:ext cx="475488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89888"/>
            <a:ext cx="4389120" cy="270662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str(29)</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'29'</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float('3.14')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len('hello')</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p:txBody>
      </p:sp>
      <p:sp>
        <p:nvSpPr>
          <p:cNvPr id="8" name="Text 6"/>
          <p:cNvSpPr txBox="1"/>
          <p:nvPr/>
        </p:nvSpPr>
        <p:spPr>
          <a:xfrm>
            <a:off x="457200" y="4242816"/>
            <a:ext cx="475488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486400" y="1325880"/>
            <a:ext cx="3200400" cy="2743200"/>
          </a:xfrm>
          <a:prstGeom prst="roundRect">
            <a:avLst>
              <a:gd name="adj" fmla="val 3333"/>
            </a:avLst>
          </a:prstGeom>
          <a:solidFill>
            <a:srgbClr val="F1F4F8"/>
          </a:solidFill>
          <a:ln w="12700">
            <a:solidFill>
              <a:srgbClr val="F1F4F8"/>
            </a:solidFill>
            <a:prstDash val="solid"/>
          </a:ln>
        </p:spPr>
      </p:sp>
      <p:sp>
        <p:nvSpPr>
          <p:cNvPr id="10" name="Text 8"/>
          <p:cNvSpPr txBox="1"/>
          <p:nvPr/>
        </p:nvSpPr>
        <p:spPr>
          <a:xfrm>
            <a:off x="5669280" y="1463040"/>
            <a:ext cx="28346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 returns text</a:t>
            </a:r>
            <a:endParaRPr lang="en-US" sz="1700" dirty="0"/>
          </a:p>
        </p:txBody>
      </p:sp>
      <p:sp>
        <p:nvSpPr>
          <p:cNvPr id="11" name="Text 9"/>
          <p:cNvSpPr txBox="1"/>
          <p:nvPr/>
        </p:nvSpPr>
        <p:spPr>
          <a:xfrm>
            <a:off x="5669280" y="1856232"/>
            <a:ext cx="283464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Whatever the user types arrives as a string. Convert it with int() or float() before doing arithmetic — and expect a ValueError when the text is not a number.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Modern idiom: f-strings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strings with values inside, instead of adding them together</a:t>
            </a:r>
            <a:endParaRPr lang="en-US" sz="1300" dirty="0"/>
          </a:p>
        </p:txBody>
      </p:sp>
      <p:sp>
        <p:nvSpPr>
          <p:cNvPr id="6" name="Shape 4"/>
          <p:cNvSpPr/>
          <p:nvPr/>
        </p:nvSpPr>
        <p:spPr>
          <a:xfrm>
            <a:off x="457200" y="1325880"/>
            <a:ext cx="8229600" cy="1234440"/>
          </a:xfrm>
          <a:prstGeom prst="roundRect">
            <a:avLst>
              <a:gd name="adj" fmla="val 7407"/>
            </a:avLst>
          </a:prstGeom>
          <a:solidFill>
            <a:srgbClr val="17202B"/>
          </a:solidFill>
          <a:ln w="12700">
            <a:solidFill>
              <a:srgbClr val="17202B"/>
            </a:solidFill>
            <a:prstDash val="solid"/>
          </a:ln>
        </p:spPr>
      </p:sp>
      <p:sp>
        <p:nvSpPr>
          <p:cNvPr id="7" name="Text 5"/>
          <p:cNvSpPr txBox="1"/>
          <p:nvPr/>
        </p:nvSpPr>
        <p:spPr>
          <a:xfrm>
            <a:off x="640080" y="1435608"/>
            <a:ext cx="7863840" cy="10149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name = 'Alice'</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f'Hello, {name}! 2 ** 8 is {2 ** 8}.'</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'Hello, Alice! 2 ** 8 is 256.'</a:t>
            </a:r>
            <a:endParaRPr lang="en-US" sz="15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880360"/>
            <a:ext cx="3977640" cy="1325880"/>
          </a:xfrm>
          <a:prstGeom prst="roundRect">
            <a:avLst>
              <a:gd name="adj" fmla="val 6897"/>
            </a:avLst>
          </a:prstGeom>
          <a:solidFill>
            <a:srgbClr val="F1F4F8"/>
          </a:solidFill>
          <a:ln w="12700">
            <a:solidFill>
              <a:srgbClr val="F1F4F8"/>
            </a:solidFill>
            <a:prstDash val="solid"/>
          </a:ln>
        </p:spPr>
      </p:sp>
      <p:sp>
        <p:nvSpPr>
          <p:cNvPr id="10" name="Text 8"/>
          <p:cNvSpPr txBox="1"/>
          <p:nvPr/>
        </p:nvSpPr>
        <p:spPr>
          <a:xfrm>
            <a:off x="640080" y="3017520"/>
            <a:ext cx="3611880" cy="365760"/>
          </a:xfrm>
          <a:prstGeom prst="rect">
            <a:avLst/>
          </a:prstGeom>
          <a:noFill/>
          <a:ln/>
        </p:spPr>
        <p:txBody>
          <a:bodyPr wrap="square" lIns="0" tIns="0" rIns="0" bIns="0" rtlCol="0" anchor="ctr"/>
          <a:lstStyle/>
          <a:p>
            <a:pPr indent="0" marL="0">
              <a:buNone/>
            </a:pPr>
            <a:r>
              <a:rPr lang="en-US" sz="1700" b="1" dirty="0">
                <a:solidFill>
                  <a:srgbClr val="5B6B7B"/>
                </a:solidFill>
                <a:latin typeface="Cambria" pitchFamily="34" charset="0"/>
                <a:ea typeface="Cambria" pitchFamily="34" charset="-122"/>
                <a:cs typeface="Cambria" pitchFamily="34" charset="-120"/>
              </a:rPr>
              <a:t>Concatenation</a:t>
            </a:r>
            <a:endParaRPr lang="en-US" sz="1700" dirty="0"/>
          </a:p>
        </p:txBody>
      </p:sp>
      <p:sp>
        <p:nvSpPr>
          <p:cNvPr id="11" name="Text 9"/>
          <p:cNvSpPr txBox="1"/>
          <p:nvPr/>
        </p:nvSpPr>
        <p:spPr>
          <a:xfrm>
            <a:off x="64008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'Hello, ' + name + '!'  — works, but every value must already be a string</a:t>
            </a:r>
            <a:endParaRPr lang="en-US" sz="1300" dirty="0"/>
          </a:p>
        </p:txBody>
      </p:sp>
      <p:sp>
        <p:nvSpPr>
          <p:cNvPr id="12" name="Shape 10"/>
          <p:cNvSpPr/>
          <p:nvPr/>
        </p:nvSpPr>
        <p:spPr>
          <a:xfrm>
            <a:off x="4709160" y="2880360"/>
            <a:ext cx="3977640" cy="1325880"/>
          </a:xfrm>
          <a:prstGeom prst="roundRect">
            <a:avLst>
              <a:gd name="adj" fmla="val 6897"/>
            </a:avLst>
          </a:prstGeom>
          <a:solidFill>
            <a:srgbClr val="F1F4F8"/>
          </a:solidFill>
          <a:ln w="12700">
            <a:solidFill>
              <a:srgbClr val="F1F4F8"/>
            </a:solidFill>
            <a:prstDash val="solid"/>
          </a:ln>
        </p:spPr>
      </p:sp>
      <p:sp>
        <p:nvSpPr>
          <p:cNvPr id="13" name="Text 11"/>
          <p:cNvSpPr txBox="1"/>
          <p:nvPr/>
        </p:nvSpPr>
        <p:spPr>
          <a:xfrm>
            <a:off x="4892040" y="301752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f-string</a:t>
            </a:r>
            <a:endParaRPr lang="en-US" sz="1700" dirty="0"/>
          </a:p>
        </p:txBody>
      </p:sp>
      <p:sp>
        <p:nvSpPr>
          <p:cNvPr id="14" name="Text 12"/>
          <p:cNvSpPr txBox="1"/>
          <p:nvPr/>
        </p:nvSpPr>
        <p:spPr>
          <a:xfrm>
            <a:off x="489204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f'Hello, {name}!'  — any expression inside braces, formatted for you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this course goes next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things from Python 3.13+ we will return to</a:t>
            </a:r>
            <a:endParaRPr lang="en-US" sz="1300" dirty="0"/>
          </a:p>
        </p:txBody>
      </p:sp>
      <p:sp>
        <p:nvSpPr>
          <p:cNvPr id="6" name="Shape 4"/>
          <p:cNvSpPr/>
          <p:nvPr/>
        </p:nvSpPr>
        <p:spPr>
          <a:xfrm>
            <a:off x="457200" y="1325880"/>
            <a:ext cx="3977640" cy="2697480"/>
          </a:xfrm>
          <a:prstGeom prst="roundRect">
            <a:avLst>
              <a:gd name="adj" fmla="val 3390"/>
            </a:avLst>
          </a:prstGeom>
          <a:solidFill>
            <a:srgbClr val="F1F4F8"/>
          </a:solidFill>
          <a:ln w="12700">
            <a:solidFill>
              <a:srgbClr val="F1F4F8"/>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Free-threaded Python</a:t>
            </a:r>
            <a:endParaRPr lang="en-US" sz="1700" dirty="0"/>
          </a:p>
        </p:txBody>
      </p:sp>
      <p:sp>
        <p:nvSpPr>
          <p:cNvPr id="8" name="Text 6"/>
          <p:cNvSpPr txBox="1"/>
          <p:nvPr/>
        </p:nvSpPr>
        <p:spPr>
          <a:xfrm>
            <a:off x="64008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introduced an experimental free-threaded build of CPython, able to run threads truly in parallel — a preview of our multithreading outcome (LO-4).</a:t>
            </a:r>
            <a:endParaRPr lang="en-US" sz="1300" dirty="0"/>
          </a:p>
        </p:txBody>
      </p:sp>
      <p:sp>
        <p:nvSpPr>
          <p:cNvPr id="9" name="Shape 7"/>
          <p:cNvSpPr/>
          <p:nvPr/>
        </p:nvSpPr>
        <p:spPr>
          <a:xfrm>
            <a:off x="4709160" y="1325880"/>
            <a:ext cx="3977640" cy="2697480"/>
          </a:xfrm>
          <a:prstGeom prst="roundRect">
            <a:avLst>
              <a:gd name="adj" fmla="val 3390"/>
            </a:avLst>
          </a:prstGeom>
          <a:solidFill>
            <a:srgbClr val="F1F4F8"/>
          </a:solidFill>
          <a:ln w="12700">
            <a:solidFill>
              <a:srgbClr val="F1F4F8"/>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uv and the ecosystem</a:t>
            </a:r>
            <a:endParaRPr lang="en-US" sz="1700" dirty="0"/>
          </a:p>
        </p:txBody>
      </p:sp>
      <p:sp>
        <p:nvSpPr>
          <p:cNvPr id="11" name="Text 9"/>
          <p:cNvSpPr txBox="1"/>
          <p:nvPr/>
        </p:nvSpPr>
        <p:spPr>
          <a:xfrm>
            <a:off x="489204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uv installs packages and even Python itself — it installed the Python used to check this deck. Choosing and using libraries is our first outcome (LO-1).</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 in the shell</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2 + 3 * 6 evaluate to, and why?</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0.1 + 0.2 not print 0.3?</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type of the value input() returns?</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'Alice' + 42 raise an error, and how do you fix it?</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Rewrite 'Hi ' + name + '!' as an f-string.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1.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Language Reference, Built-in Types, Built-in Functions, What’s New 3.13/3.14. docs.python.org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Status of Python versions. devguide.python.org/versions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Coghlan, A. (2001). PEP 8 – Style Guide for Python Code.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(2022). PEP 701 – Syntactic formalization of f-strings.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Stack Overflow (2025). 2025 Developer Survey. survey.stackoverflow.co/2025</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NOTICE.md.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2 — if-else and flow control</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install Python 3.14 (or run it with uv), and work through the interactive page for chapter 1.</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 Python Basics</dc:title>
  <dc:subject>PptxGenJS Presentation</dc:subject>
  <dc:creator>Yusuf Altunel</dc:creator>
  <cp:lastModifiedBy>Yusuf Altunel</cp:lastModifiedBy>
  <cp:revision>1</cp:revision>
  <dcterms:created xsi:type="dcterms:W3CDTF">2026-09-24T21:00:30Z</dcterms:created>
  <dcterms:modified xsi:type="dcterms:W3CDTF">2026-09-24T21:00:30Z</dcterms:modified>
  <cp:version>1.0.1</cp:version>
</cp:coreProperties>
</file>