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digits in the result</c:v>
                </c:pt>
              </c:strCache>
            </c:strRef>
          </c:tx>
          <c:spPr>
            <a:solidFill>
              <a:srgbClr val="0E7C86"/>
            </a:solidFill>
          </c:spPr>
          <c:cat>
            <c:strRef>
              <c:f>Sheet1!$A$2:$A$5</c:f>
              <c:strCache>
                <c:ptCount val="4"/>
                <c:pt idx="0">
                  <c:v>7 + 1</c:v>
                </c:pt>
                <c:pt idx="1">
                  <c:v>int('42') + 1</c:v>
                </c:pt>
                <c:pt idx="2">
                  <c:v>int(4.7)</c:v>
                </c:pt>
                <c:pt idx="3">
                  <c:v>2 ** 100</c:v>
                </c:pt>
              </c:strCache>
            </c:strRef>
          </c:cat>
          <c:val>
            <c:numRef>
              <c:f>Sheet1!$B$2:$B$5</c:f>
              <c:numCache>
                <c:formatCode>General</c:formatCode>
                <c:ptCount val="4"/>
                <c:pt idx="0">
                  <c:v>1</c:v>
                </c:pt>
                <c:pt idx="1">
                  <c:v>2</c:v>
                </c:pt>
                <c:pt idx="2">
                  <c:v>1</c:v>
                </c:pt>
                <c:pt idx="3">
                  <c:v>31</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40.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digits after the point</c:v>
                </c:pt>
              </c:strCache>
            </c:strRef>
          </c:tx>
          <c:spPr>
            <a:solidFill>
              <a:srgbClr val="0E7C86"/>
            </a:solidFill>
          </c:spPr>
          <c:cat>
            <c:strRef>
              <c:f>Sheet1!$A$2:$A$5</c:f>
              <c:strCache>
                <c:ptCount val="4"/>
                <c:pt idx="0">
                  <c:v>0.1+0.2</c:v>
                </c:pt>
                <c:pt idx="1">
                  <c:v>round</c:v>
                </c:pt>
                <c:pt idx="2">
                  <c:v>6 / 3</c:v>
                </c:pt>
                <c:pt idx="3">
                  <c:v>4*3.75-1</c:v>
                </c:pt>
              </c:strCache>
            </c:strRef>
          </c:cat>
          <c:val>
            <c:numRef>
              <c:f>Sheet1!$B$2:$B$5</c:f>
              <c:numCache>
                <c:formatCode>General</c:formatCode>
                <c:ptCount val="4"/>
                <c:pt idx="0">
                  <c:v>17</c:v>
                </c:pt>
                <c:pt idx="1">
                  <c:v>1</c:v>
                </c:pt>
                <c:pt idx="2">
                  <c:v>1</c:v>
                </c:pt>
                <c:pt idx="3">
                  <c:v>1</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20.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5.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result of 5 op 2</c:v>
                </c:pt>
              </c:strCache>
            </c:strRef>
          </c:tx>
          <c:spPr>
            <a:solidFill>
              <a:srgbClr val="0E7C86"/>
            </a:solidFill>
          </c:spPr>
          <c:cat>
            <c:strRef>
              <c:f>Sheet1!$A$2:$A$8</c:f>
              <c:strCache>
                <c:ptCount val="7"/>
                <c:pt idx="0">
                  <c:v>**</c:v>
                </c:pt>
                <c:pt idx="1">
                  <c:v>%</c:v>
                </c:pt>
                <c:pt idx="2">
                  <c:v>//</c:v>
                </c:pt>
                <c:pt idx="3">
                  <c:v>/</c:v>
                </c:pt>
                <c:pt idx="4">
                  <c:v>*</c:v>
                </c:pt>
                <c:pt idx="5">
                  <c:v>-</c:v>
                </c:pt>
                <c:pt idx="6">
                  <c:v>+</c:v>
                </c:pt>
              </c:strCache>
            </c:strRef>
          </c:cat>
          <c:val>
            <c:numRef>
              <c:f>Sheet1!$B$2:$B$8</c:f>
              <c:numCache>
                <c:formatCode>General</c:formatCode>
                <c:ptCount val="7"/>
                <c:pt idx="0">
                  <c:v>25.0</c:v>
                </c:pt>
                <c:pt idx="1">
                  <c:v>1.0</c:v>
                </c:pt>
                <c:pt idx="2">
                  <c:v>2.0</c:v>
                </c:pt>
                <c:pt idx="3">
                  <c:v>2.5</c:v>
                </c:pt>
                <c:pt idx="4">
                  <c:v>10.0</c:v>
                </c:pt>
                <c:pt idx="5">
                  <c:v>3.0</c:v>
                </c:pt>
                <c:pt idx="6">
                  <c:v>7.0</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l"/>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30.0"/>
          <c:min val="0.0"/>
        </c:scaling>
        <c:delete val="0"/>
        <c:axPos val="b"/>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value</c:v>
                </c:pt>
              </c:strCache>
            </c:strRef>
          </c:tx>
          <c:spPr>
            <a:solidFill>
              <a:srgbClr val="0E7C86"/>
            </a:solidFill>
          </c:spPr>
          <c:cat>
            <c:strRef>
              <c:f>Sheet1!$A$2:$A$6</c:f>
              <c:strCache>
                <c:ptCount val="5"/>
                <c:pt idx="0">
                  <c:v>2 + 3 * 6</c:v>
                </c:pt>
                <c:pt idx="1">
                  <c:v>(2 + 3) * 6</c:v>
                </c:pt>
                <c:pt idx="2">
                  <c:v>-3 ** 2</c:v>
                </c:pt>
                <c:pt idx="3">
                  <c:v>(-3) ** 2</c:v>
                </c:pt>
                <c:pt idx="4">
                  <c:v>8 / 2 * 3</c:v>
                </c:pt>
              </c:strCache>
            </c:strRef>
          </c:cat>
          <c:val>
            <c:numRef>
              <c:f>Sheet1!$B$2:$B$6</c:f>
              <c:numCache>
                <c:formatCode>General</c:formatCode>
                <c:ptCount val="5"/>
                <c:pt idx="0">
                  <c:v>20.0</c:v>
                </c:pt>
                <c:pt idx="1">
                  <c:v>30.0</c:v>
                </c:pt>
                <c:pt idx="2">
                  <c:v>-9.0</c:v>
                </c:pt>
                <c:pt idx="3">
                  <c:v>9.0</c:v>
                </c:pt>
                <c:pt idx="4">
                  <c:v>12.0</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35.0"/>
          <c:min val="-1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characters in the result</c:v>
                </c:pt>
              </c:strCache>
            </c:strRef>
          </c:tx>
          <c:spPr>
            <a:solidFill>
              <a:srgbClr val="0E7C86"/>
            </a:solidFill>
          </c:spPr>
          <c:cat>
            <c:strRef>
              <c:f>Sheet1!$A$2:$A$4</c:f>
              <c:strCache>
                <c:ptCount val="3"/>
                <c:pt idx="0">
                  <c:v>'Alice' * 3</c:v>
                </c:pt>
                <c:pt idx="1">
                  <c:v>3 * 'ab'</c:v>
                </c:pt>
                <c:pt idx="2">
                  <c:v>'ab' * 0</c:v>
                </c:pt>
              </c:strCache>
            </c:strRef>
          </c:cat>
          <c:val>
            <c:numRef>
              <c:f>Sheet1!$B$2:$B$4</c:f>
              <c:numCache>
                <c:formatCode>General</c:formatCode>
                <c:ptCount val="3"/>
                <c:pt idx="0">
                  <c:v>15</c:v>
                </c:pt>
                <c:pt idx="1">
                  <c:v>6</c:v>
                </c:pt>
                <c:pt idx="2">
                  <c:v>0</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20.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5.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value of the place if its digit is 1</c:v>
                </c:pt>
              </c:strCache>
            </c:strRef>
          </c:tx>
          <c:spPr>
            <a:solidFill>
              <a:srgbClr val="0E7C86"/>
            </a:solidFill>
          </c:spPr>
          <c:cat>
            <c:strRef>
              <c:f>Sheet1!$A$2:$A$9</c:f>
              <c:strCache>
                <c:ptCount val="8"/>
                <c:pt idx="0">
                  <c:v>128</c:v>
                </c:pt>
                <c:pt idx="1">
                  <c:v>64</c:v>
                </c:pt>
                <c:pt idx="2">
                  <c:v>32</c:v>
                </c:pt>
                <c:pt idx="3">
                  <c:v>16</c:v>
                </c:pt>
                <c:pt idx="4">
                  <c:v>8</c:v>
                </c:pt>
                <c:pt idx="5">
                  <c:v>4</c:v>
                </c:pt>
                <c:pt idx="6">
                  <c:v>2</c:v>
                </c:pt>
                <c:pt idx="7">
                  <c:v>1</c:v>
                </c:pt>
              </c:strCache>
            </c:strRef>
          </c:cat>
          <c:val>
            <c:numRef>
              <c:f>Sheet1!$B$2:$B$9</c:f>
              <c:numCache>
                <c:formatCode>General</c:formatCode>
                <c:ptCount val="8"/>
                <c:pt idx="0">
                  <c:v>0</c:v>
                </c:pt>
                <c:pt idx="1">
                  <c:v>0</c:v>
                </c:pt>
                <c:pt idx="2">
                  <c:v>0</c:v>
                </c:pt>
                <c:pt idx="3">
                  <c:v>0</c:v>
                </c:pt>
                <c:pt idx="4">
                  <c:v>0</c:v>
                </c:pt>
                <c:pt idx="5">
                  <c:v>4</c:v>
                </c:pt>
                <c:pt idx="6">
                  <c:v>0</c:v>
                </c:pt>
                <c:pt idx="7">
                  <c:v>1</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8.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2.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examples</c:v>
                </c:pt>
              </c:strCache>
            </c:strRef>
          </c:tx>
          <c:spPr>
            <a:solidFill>
              <a:srgbClr val="0E7C86"/>
            </a:solidFill>
          </c:spPr>
          <c:cat>
            <c:strRef>
              <c:f>Sheet1!$A$2:$A$5</c:f>
              <c:strCache>
                <c:ptCount val="4"/>
                <c:pt idx="0">
                  <c:v>Part 1</c:v>
                </c:pt>
                <c:pt idx="1">
                  <c:v>Part 2</c:v>
                </c:pt>
                <c:pt idx="2">
                  <c:v>Part 3</c:v>
                </c:pt>
                <c:pt idx="3">
                  <c:v>Part 4</c:v>
                </c:pt>
              </c:strCache>
            </c:strRef>
          </c:cat>
          <c:val>
            <c:numRef>
              <c:f>Sheet1!$B$2:$B$5</c:f>
              <c:numCache>
                <c:formatCode>General</c:formatCode>
                <c:ptCount val="4"/>
                <c:pt idx="0">
                  <c:v>5</c:v>
                </c:pt>
                <c:pt idx="1">
                  <c:v>5</c:v>
                </c:pt>
                <c:pt idx="2">
                  <c:v>6</c:v>
                </c:pt>
                <c:pt idx="3">
                  <c:v>3</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ax val="6.0"/>
          <c:min val="0.0"/>
        </c:scaling>
        <c:delete val="0"/>
        <c:axPos val="l"/>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majorUnit val="1.0"/>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chapter is the prompt, the values it computes with, the operators that combine them, the names that remember them, and a first program. Every code slide shows the code, a plain explanation, and what the run printed as a table, chart or drawing.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parts: values and types, operations, names and functions, and a first program. Each range is a run of slides you can jump to. The chapter-code tab of the page holds the same examples in the same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questions to carry through the chapter. Which operations can raise an error, and which? Which results can surprise a student? And what has changed in current Python since the book?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The shell evaluates an expression and prints its value. Every value has a data type: integer, float or string. Notice which results surprise you.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calculator with a screen is the shell. An expression is a recipe line that ends in one value. A data type is the label on a container. Ask students to add their own everyday picture.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shell is a calculator that answers. In a program you write print yourself. Ask students to predict 2 + 3 * 6 before the run, and why it is not 30.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Guido van Rossum began Python in the Christmas week of 1989 at CWI in Amsterdam. The name comes from Monty Python. Ask students which of today's examples they would have written in a language without this readability.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 names the data type of any value. A whole number plus a float gives a float. Ask: what type does 7 + 1.0 have, and why?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integers never overflow. 2 to the power 100 has 31 digits and is exact. Int turns text into a number, and cuts a float without rounding.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Zero point one plus zero point two is not exactly zero point three. Floats are binary fractions, so many decimals do not fit. Division with a slash always gives a float.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string is text between quotes. Len counts characters. The text seven and the number seven are different values; Python never converts between them silently.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Operators combine values. Precedence decides who goes first, and parentheses override it. Plus and star also work on strings, with a different meaning.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Operators are verbs between values. Precedence is the order of work: chop before you stir. Go through the eight pictures and ask which one students remember best.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operators: plus, minus, times, divide, floor divide, remainder, power. The slash always gives a float. The double slash and the percent sign work as a pair.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power goes first, then times and divide, then plus and minus. Parentheses override. Minus three to the power two is minus nine, because the power binds tighter. Predict, then run.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Twenty-three candies in boxes of seven: three boxes and two left. Floor division gives the boxes, percent gives the rest. Floor division rounds down, so minus seven by two is minus four.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Concatenation glues strips of text, replication photocopies them. Str is the label maker that turns any value into text. Keep the pictures; the code comes next.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Plus joins strings and adds no space. Joining text to a number is a TypeError, because Python does not convert silently. Str fixes it. Errors are answers: read the message.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 repeats a string. The count must be a whole number; a float raises a TypeError. Zero copies give the empty string. The chart shows how long each result is.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A variable is a name for a value. Print shows, input reads, and str, int, float and len convert and measure. Errors are answers too.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variable is a labelled jar. Print is the loudspeaker, input is the suggestion box. Everything in the box is paper, so even a number arrives as text.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assignment gives a name to a value. Assign again and the name refers to a new value. Names are case-sensitive: Spam was never assigned, so Python raises a NameError.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Print takes any number of items. The options sep and end change the separator and the ending. Print with nothing in the parentheses writes an empty line.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Len is a ruler for text. Int and float are machines with a slot in and a slot out. Ask which machine rejects the input and why.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 int and float convert. Len counts characters; a number has no length, so convert it to text first. The table shows input, function, result and type.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ValueError means the type is right but the content is wrong. A TypeError means the type itself does not fit the operation. Reading the error name tells you where to look.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Input always returns text, even when the person types a number. Plus on text glues, plus on numbers adds. Convert with int before you calculate.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 brings in a toolbox. The dot reaches inside it for a function, sqrt, or a value, pi. Standard library modules are free and always installed.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four. A first program uses everything so far. Then we take it apart line by line, and finish with the binary digits behind every number.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program is a recipe. Dissecting it is taking a clock apart. Binary is a row of light switches. Each picture comes back on the slide that follows.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hello, world was in a 1972 tutorial for the language B. In B the text needed three variables; in Python it is one line. Ask what a first program proves: that writing, running and seeing output all work.</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program greets, asks, measures and calculates. Because the page has no keyboard, the example names the text input would return. Trace it line by line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ways to build the same sentence: join five pieces with plus and str, or fill slots in an f-string. The f-string is shorter and needs no str. Which would you rather read?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Leibniz described binary arithmetic in 1679 and in a paper for the Paris Academy in 1703. Bouvet's letter from Peking showed the I Ching hexagrams as binary numbers. Ask: why do computers prefer two digits?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Bin shows binary digits, int with base 2 reads them. Eight binary digits make a byte and hold 256 values. Each place is a power of two; the chart shows which places are on for the number five.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moves on. The shell and its error messages improved in 3.13. The free-threaded build is experimental. F-strings have a formal grammar. Check each row against its source.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sentences to keep. The chart counts the code examples of each part. Everything is on the chapter page, in the same order.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drills. Predict first, then run on the page. Ask students to explain each answer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book chapter and the Python tutorial. The stories link to first-hand sources. Choose one link and one video and read or watch it before the next class.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hyperlink" Target="https://en.wikipedia.org/wiki/Guido_van_Rossu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chart" Target="../charts/char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chart" Target="../charts/char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chart" Target="../charts/char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chart" Target="../charts/char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jpg"/><Relationship Id="rId4" Type="http://schemas.openxmlformats.org/officeDocument/2006/relationships/hyperlink" Target="https://en.wikipedia.org/wiki/%22Hello,_World!%22_program"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jpg"/><Relationship Id="rId4" Type="http://schemas.openxmlformats.org/officeDocument/2006/relationships/hyperlink" Target="https://historyofinformation.com/detail.php?id=395"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chart" Target="../charts/char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chart" Target="../charts/char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hyperlink" Target="https://automatetheboringstuff.com/3e/chapter1.html" TargetMode="External"/><Relationship Id="rId4" Type="http://schemas.openxmlformats.org/officeDocument/2006/relationships/hyperlink" Target="https://docs.python.org/3/tutorial/introduction.html" TargetMode="External"/><Relationship Id="rId5" Type="http://schemas.openxmlformats.org/officeDocument/2006/relationships/hyperlink" Target="https://docs.python.org/3/tutorial/floatingpoint.html" TargetMode="External"/><Relationship Id="rId6" Type="http://schemas.openxmlformats.org/officeDocument/2006/relationships/hyperlink" Target="https://docs.python.org/3/library/functions.html" TargetMode="External"/><Relationship Id="rId7" Type="http://schemas.openxmlformats.org/officeDocument/2006/relationships/hyperlink" Target="https://docs.python.org/3/library/stdtypes.html" TargetMode="External"/><Relationship Id="rId8" Type="http://schemas.openxmlformats.org/officeDocument/2006/relationships/hyperlink" Target="https://peps.python.org/pep-0008/" TargetMode="External"/><Relationship Id="rId9" Type="http://schemas.openxmlformats.org/officeDocument/2006/relationships/hyperlink" Target="https://peps.python.org/pep-0020/" TargetMode="External"/><Relationship Id="rId10" Type="http://schemas.openxmlformats.org/officeDocument/2006/relationships/hyperlink" Target="https://peps.python.org/pep-0701/" TargetMode="External"/><Relationship Id="rId11" Type="http://schemas.openxmlformats.org/officeDocument/2006/relationships/hyperlink" Target="https://peps.python.org/pep-0703/" TargetMode="External"/><Relationship Id="rId12" Type="http://schemas.openxmlformats.org/officeDocument/2006/relationships/hyperlink" Target="https://docs.python.org/3/whatsnew/3.14.html" TargetMode="External"/><Relationship Id="rId13" Type="http://schemas.openxmlformats.org/officeDocument/2006/relationships/hyperlink" Target="https://devguide.python.org/versions/" TargetMode="External"/><Relationship Id="rId14" Type="http://schemas.openxmlformats.org/officeDocument/2006/relationships/hyperlink" Target="https://docs.astral.sh/uv/" TargetMode="External"/><Relationship Id="rId15" Type="http://schemas.openxmlformats.org/officeDocument/2006/relationships/hyperlink" Target="https://www.youtube.com/watch?v=J0Aq44Pze-w" TargetMode="External"/><Relationship Id="rId16" Type="http://schemas.openxmlformats.org/officeDocument/2006/relationships/hyperlink" Target="https://historyofinformation.com/detail.php?id=395"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548640" y="1554480"/>
            <a:ext cx="8046720" cy="822960"/>
          </a:xfrm>
          <a:prstGeom prst="rect">
            <a:avLst/>
          </a:prstGeom>
          <a:noFill/>
        </p:spPr>
        <p:txBody>
          <a:bodyPr wrap="square" lIns="45720" rIns="45720" tIns="27432" bIns="27432" anchor="ctr">
            <a:spAutoFit/>
          </a:bodyPr>
          <a:lstStyle/>
          <a:p>
            <a:r>
              <a:rPr sz="3800" b="1" i="0">
                <a:solidFill>
                  <a:srgbClr val="1F2933"/>
                </a:solidFill>
                <a:latin typeface="Calibri"/>
              </a:rPr>
              <a:t>Python Basics</a:t>
            </a:r>
          </a:p>
        </p:txBody>
      </p:sp>
      <p:sp>
        <p:nvSpPr>
          <p:cNvPr id="4" name="subtitle"/>
          <p:cNvSpPr txBox="1"/>
          <p:nvPr/>
        </p:nvSpPr>
        <p:spPr>
          <a:xfrm>
            <a:off x="548640" y="2423160"/>
            <a:ext cx="8046720" cy="640080"/>
          </a:xfrm>
          <a:prstGeom prst="rect">
            <a:avLst/>
          </a:prstGeom>
          <a:noFill/>
        </p:spPr>
        <p:txBody>
          <a:bodyPr wrap="square" lIns="45720" rIns="45720" tIns="27432" bIns="27432" anchor="t">
            <a:spAutoFit/>
          </a:bodyPr>
          <a:lstStyle/>
          <a:p>
            <a:r>
              <a:rPr sz="1600" b="0" i="0">
                <a:solidFill>
                  <a:srgbClr val="5B6773"/>
                </a:solidFill>
                <a:latin typeface="Calibri"/>
              </a:rPr>
              <a:t>Chapter 1 of Automate the Boring Stuff with Python, 3rd edition, for an advanced course</a:t>
            </a:r>
          </a:p>
        </p:txBody>
      </p:sp>
      <p:sp>
        <p:nvSpPr>
          <p:cNvPr id="5" name="card"/>
          <p:cNvSpPr/>
          <p:nvPr/>
        </p:nvSpPr>
        <p:spPr>
          <a:xfrm>
            <a:off x="5486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tat"/>
          <p:cNvSpPr txBox="1"/>
          <p:nvPr/>
        </p:nvSpPr>
        <p:spPr>
          <a:xfrm>
            <a:off x="6400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19</a:t>
            </a:r>
          </a:p>
        </p:txBody>
      </p:sp>
      <p:sp>
        <p:nvSpPr>
          <p:cNvPr id="7" name="stat label"/>
          <p:cNvSpPr txBox="1"/>
          <p:nvPr/>
        </p:nvSpPr>
        <p:spPr>
          <a:xfrm>
            <a:off x="6400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code examples that run on the chapter page</a:t>
            </a:r>
          </a:p>
        </p:txBody>
      </p:sp>
      <p:sp>
        <p:nvSpPr>
          <p:cNvPr id="8" name="card"/>
          <p:cNvSpPr/>
          <p:nvPr/>
        </p:nvSpPr>
        <p:spPr>
          <a:xfrm>
            <a:off x="32918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at"/>
          <p:cNvSpPr txBox="1"/>
          <p:nvPr/>
        </p:nvSpPr>
        <p:spPr>
          <a:xfrm>
            <a:off x="33832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3</a:t>
            </a:r>
          </a:p>
        </p:txBody>
      </p:sp>
      <p:sp>
        <p:nvSpPr>
          <p:cNvPr id="10" name="stat label"/>
          <p:cNvSpPr txBox="1"/>
          <p:nvPr/>
        </p:nvSpPr>
        <p:spPr>
          <a:xfrm>
            <a:off x="33832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true stories with who, what, when, where, why and how</a:t>
            </a:r>
          </a:p>
        </p:txBody>
      </p:sp>
      <p:sp>
        <p:nvSpPr>
          <p:cNvPr id="11" name="card"/>
          <p:cNvSpPr/>
          <p:nvPr/>
        </p:nvSpPr>
        <p:spPr>
          <a:xfrm>
            <a:off x="60350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t"/>
          <p:cNvSpPr txBox="1"/>
          <p:nvPr/>
        </p:nvSpPr>
        <p:spPr>
          <a:xfrm>
            <a:off x="6126479"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27</a:t>
            </a:r>
          </a:p>
        </p:txBody>
      </p:sp>
      <p:sp>
        <p:nvSpPr>
          <p:cNvPr id="13" name="stat label"/>
          <p:cNvSpPr txBox="1"/>
          <p:nvPr/>
        </p:nvSpPr>
        <p:spPr>
          <a:xfrm>
            <a:off x="6126479"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distinct chapter concepts, each with an everyday picture</a:t>
            </a:r>
          </a:p>
        </p:txBody>
      </p:sp>
      <p:sp>
        <p:nvSpPr>
          <p:cNvPr id="14" name="author"/>
          <p:cNvSpPr txBox="1"/>
          <p:nvPr/>
        </p:nvSpPr>
        <p:spPr>
          <a:xfrm>
            <a:off x="548640" y="4434840"/>
            <a:ext cx="7315200" cy="274320"/>
          </a:xfrm>
          <a:prstGeom prst="rect">
            <a:avLst/>
          </a:prstGeom>
          <a:noFill/>
        </p:spPr>
        <p:txBody>
          <a:bodyPr wrap="square" lIns="45720" rIns="45720" tIns="27432" bIns="27432" anchor="t">
            <a:spAutoFit/>
          </a:bodyPr>
          <a:lstStyle/>
          <a:p>
            <a:r>
              <a:rPr sz="1100" b="0" i="0">
                <a:solidFill>
                  <a:srgbClr val="5B6773"/>
                </a:solidFill>
                <a:latin typeface="Calibri"/>
              </a:rPr>
              <a:t>SEN0414 Advanced Programming, Fall 2026. Yusuf Altunel, İstanbul Kültür Üniversitesi</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 / 39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Today's route</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Four parts; every range is a run of slides you can jump to</a:t>
            </a:r>
          </a:p>
        </p:txBody>
      </p:sp>
      <p:graphicFrame>
        <p:nvGraphicFramePr>
          <p:cNvPr id="5" name="table"/>
          <p:cNvGraphicFramePr>
            <a:graphicFrameLocks noGrp="1"/>
          </p:cNvGraphicFramePr>
          <p:nvPr/>
        </p:nvGraphicFramePr>
        <p:xfrm>
          <a:off x="457200" y="1097280"/>
          <a:ext cx="8229598" cy="3291840"/>
        </p:xfrm>
        <a:graphic>
          <a:graphicData uri="http://schemas.openxmlformats.org/drawingml/2006/table">
            <a:tbl>
              <a:tblPr firstRow="0" bandRow="0"/>
              <a:tblGrid>
                <a:gridCol w="2683565"/>
                <a:gridCol w="983973"/>
                <a:gridCol w="1162878"/>
                <a:gridCol w="3399182"/>
              </a:tblGrid>
              <a:tr h="548640">
                <a:tc>
                  <a:txBody>
                    <a:bodyPr wrap="square"/>
                    <a:lstStyle/>
                    <a:p>
                      <a:r>
                        <a:rPr sz="1350" b="1" i="0">
                          <a:solidFill>
                            <a:srgbClr val="FFFFFF"/>
                          </a:solidFill>
                          <a:latin typeface="Calibri"/>
                        </a:rPr>
                        <a:t>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50" b="1" i="0">
                          <a:solidFill>
                            <a:srgbClr val="FFFFFF"/>
                          </a:solidFill>
                          <a:latin typeface="Calibri"/>
                        </a:rPr>
                        <a:t>Slides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50" b="1" i="0">
                          <a:solidFill>
                            <a:srgbClr val="FFFFFF"/>
                          </a:solidFill>
                          <a:latin typeface="Calibri"/>
                        </a:rPr>
                        <a:t>Code examples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50" b="1" i="0">
                          <a:solidFill>
                            <a:srgbClr val="FFFFFF"/>
                          </a:solidFill>
                          <a:latin typeface="Calibri"/>
                        </a:rPr>
                        <a:t>You will run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548640">
                <a:tc>
                  <a:txBody>
                    <a:bodyPr wrap="square"/>
                    <a:lstStyle/>
                    <a:p>
                      <a:r>
                        <a:rPr sz="1350" b="1" i="0">
                          <a:solidFill>
                            <a:srgbClr val="1F2933"/>
                          </a:solidFill>
                          <a:latin typeface="Calibri"/>
                        </a:rPr>
                        <a:t>Values and types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4 - 11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type, int, float, str, len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48640">
                <a:tc>
                  <a:txBody>
                    <a:bodyPr wrap="square"/>
                    <a:lstStyle/>
                    <a:p>
                      <a:r>
                        <a:rPr sz="1350" b="1" i="0">
                          <a:solidFill>
                            <a:srgbClr val="1F2933"/>
                          </a:solidFill>
                          <a:latin typeface="Calibri"/>
                        </a:rPr>
                        <a:t>Operations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12 - 19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operators, precedence, plus and star on 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48640">
                <a:tc>
                  <a:txBody>
                    <a:bodyPr wrap="square"/>
                    <a:lstStyle/>
                    <a:p>
                      <a:r>
                        <a:rPr sz="1350" b="1" i="0">
                          <a:solidFill>
                            <a:srgbClr val="1F2933"/>
                          </a:solidFill>
                          <a:latin typeface="Calibri"/>
                        </a:rPr>
                        <a:t>Names and functions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20 - 28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variables, print, conversions, errors, input, import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48640">
                <a:tc>
                  <a:txBody>
                    <a:bodyPr wrap="square"/>
                    <a:lstStyle/>
                    <a:p>
                      <a:r>
                        <a:rPr sz="1350" b="1" i="0">
                          <a:solidFill>
                            <a:srgbClr val="1F2933"/>
                          </a:solidFill>
                          <a:latin typeface="Calibri"/>
                        </a:rPr>
                        <a:t>A first program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29 - 35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a first program, f-strings, binary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48640">
                <a:tc>
                  <a:txBody>
                    <a:bodyPr wrap="square"/>
                    <a:lstStyle/>
                    <a:p>
                      <a:r>
                        <a:rPr sz="1350" b="1" i="0">
                          <a:solidFill>
                            <a:srgbClr val="1F2933"/>
                          </a:solidFill>
                          <a:latin typeface="Calibri"/>
                        </a:rPr>
                        <a:t>Changes, summary, practice, resources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36 - 39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what current Python adds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Open the chapter-code tab of the page: the same 19 examples, in this order.</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 / 39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Three questions this chapter answers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Carry them through every part; the answers come back at the end</a:t>
            </a:r>
          </a:p>
        </p:txBody>
      </p:sp>
      <p:sp>
        <p:nvSpPr>
          <p:cNvPr id="5" name="card"/>
          <p:cNvSpPr/>
          <p:nvPr/>
        </p:nvSpPr>
        <p:spPr>
          <a:xfrm>
            <a:off x="457200" y="1051560"/>
            <a:ext cx="8229600" cy="109728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188719"/>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1</a:t>
            </a:r>
          </a:p>
        </p:txBody>
      </p:sp>
      <p:sp>
        <p:nvSpPr>
          <p:cNvPr id="7" name="question"/>
          <p:cNvSpPr txBox="1"/>
          <p:nvPr/>
        </p:nvSpPr>
        <p:spPr>
          <a:xfrm>
            <a:off x="1280160" y="1106424"/>
            <a:ext cx="7223760" cy="566928"/>
          </a:xfrm>
          <a:prstGeom prst="rect">
            <a:avLst/>
          </a:prstGeom>
          <a:noFill/>
        </p:spPr>
        <p:txBody>
          <a:bodyPr wrap="square" lIns="45720" rIns="45720" tIns="27432" bIns="27432" anchor="ctr">
            <a:spAutoFit/>
          </a:bodyPr>
          <a:lstStyle/>
          <a:p>
            <a:r>
              <a:rPr sz="1500" b="1" i="0">
                <a:solidFill>
                  <a:srgbClr val="1F2933"/>
                </a:solidFill>
                <a:latin typeface="Calibri"/>
              </a:rPr>
              <a:t>Which operations can raise an error, and which error?</a:t>
            </a:r>
          </a:p>
        </p:txBody>
      </p:sp>
      <p:sp>
        <p:nvSpPr>
          <p:cNvPr id="8" name="answer"/>
          <p:cNvSpPr txBox="1"/>
          <p:nvPr/>
        </p:nvSpPr>
        <p:spPr>
          <a:xfrm>
            <a:off x="1280160" y="1709928"/>
            <a:ext cx="7223760" cy="365760"/>
          </a:xfrm>
          <a:prstGeom prst="rect">
            <a:avLst/>
          </a:prstGeom>
          <a:noFill/>
        </p:spPr>
        <p:txBody>
          <a:bodyPr wrap="square" lIns="45720" rIns="45720" tIns="27432" bIns="27432" anchor="ctr">
            <a:spAutoFit/>
          </a:bodyPr>
          <a:lstStyle/>
          <a:p>
            <a:r>
              <a:rPr sz="1200" b="0" i="0">
                <a:solidFill>
                  <a:srgbClr val="0E7C86"/>
                </a:solidFill>
                <a:latin typeface="Calibri"/>
              </a:rPr>
              <a:t>Answer on slides 18, 26 and 22: TypeError, ValueError and NameError.</a:t>
            </a:r>
          </a:p>
        </p:txBody>
      </p:sp>
      <p:sp>
        <p:nvSpPr>
          <p:cNvPr id="9" name="card"/>
          <p:cNvSpPr/>
          <p:nvPr/>
        </p:nvSpPr>
        <p:spPr>
          <a:xfrm>
            <a:off x="457200" y="2267712"/>
            <a:ext cx="8229600" cy="109728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2404872"/>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2</a:t>
            </a:r>
          </a:p>
        </p:txBody>
      </p:sp>
      <p:sp>
        <p:nvSpPr>
          <p:cNvPr id="11" name="question"/>
          <p:cNvSpPr txBox="1"/>
          <p:nvPr/>
        </p:nvSpPr>
        <p:spPr>
          <a:xfrm>
            <a:off x="1280160" y="2322576"/>
            <a:ext cx="7223760" cy="566928"/>
          </a:xfrm>
          <a:prstGeom prst="rect">
            <a:avLst/>
          </a:prstGeom>
          <a:noFill/>
        </p:spPr>
        <p:txBody>
          <a:bodyPr wrap="square" lIns="45720" rIns="45720" tIns="27432" bIns="27432" anchor="ctr">
            <a:spAutoFit/>
          </a:bodyPr>
          <a:lstStyle/>
          <a:p>
            <a:r>
              <a:rPr sz="1500" b="1" i="0">
                <a:solidFill>
                  <a:srgbClr val="1F2933"/>
                </a:solidFill>
                <a:latin typeface="Calibri"/>
              </a:rPr>
              <a:t>Which results can surprise a student in the chapter's own arithmetic?</a:t>
            </a:r>
          </a:p>
        </p:txBody>
      </p:sp>
      <p:sp>
        <p:nvSpPr>
          <p:cNvPr id="12" name="answer"/>
          <p:cNvSpPr txBox="1"/>
          <p:nvPr/>
        </p:nvSpPr>
        <p:spPr>
          <a:xfrm>
            <a:off x="1280160" y="2926080"/>
            <a:ext cx="7223760" cy="365760"/>
          </a:xfrm>
          <a:prstGeom prst="rect">
            <a:avLst/>
          </a:prstGeom>
          <a:noFill/>
        </p:spPr>
        <p:txBody>
          <a:bodyPr wrap="square" lIns="45720" rIns="45720" tIns="27432" bIns="27432" anchor="ctr">
            <a:spAutoFit/>
          </a:bodyPr>
          <a:lstStyle/>
          <a:p>
            <a:r>
              <a:rPr sz="1200" b="0" i="0">
                <a:solidFill>
                  <a:srgbClr val="0E7C86"/>
                </a:solidFill>
                <a:latin typeface="Calibri"/>
              </a:rPr>
              <a:t>Answer on slides 10 and 15: 0.1 + 0.2, and -3 ** 2.</a:t>
            </a:r>
          </a:p>
        </p:txBody>
      </p:sp>
      <p:sp>
        <p:nvSpPr>
          <p:cNvPr id="13" name="card"/>
          <p:cNvSpPr/>
          <p:nvPr/>
        </p:nvSpPr>
        <p:spPr>
          <a:xfrm>
            <a:off x="457200" y="3483864"/>
            <a:ext cx="8229600" cy="109728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0080" y="3621024"/>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3</a:t>
            </a:r>
          </a:p>
        </p:txBody>
      </p:sp>
      <p:sp>
        <p:nvSpPr>
          <p:cNvPr id="15" name="question"/>
          <p:cNvSpPr txBox="1"/>
          <p:nvPr/>
        </p:nvSpPr>
        <p:spPr>
          <a:xfrm>
            <a:off x="1280160" y="3538728"/>
            <a:ext cx="7223760" cy="566928"/>
          </a:xfrm>
          <a:prstGeom prst="rect">
            <a:avLst/>
          </a:prstGeom>
          <a:noFill/>
        </p:spPr>
        <p:txBody>
          <a:bodyPr wrap="square" lIns="45720" rIns="45720" tIns="27432" bIns="27432" anchor="ctr">
            <a:spAutoFit/>
          </a:bodyPr>
          <a:lstStyle/>
          <a:p>
            <a:r>
              <a:rPr sz="1500" b="1" i="0">
                <a:solidFill>
                  <a:srgbClr val="1F2933"/>
                </a:solidFill>
                <a:latin typeface="Calibri"/>
              </a:rPr>
              <a:t>Which concepts reach beyond the 3rd edition into current Python, and on what source?</a:t>
            </a:r>
          </a:p>
        </p:txBody>
      </p:sp>
      <p:sp>
        <p:nvSpPr>
          <p:cNvPr id="16" name="answer"/>
          <p:cNvSpPr txBox="1"/>
          <p:nvPr/>
        </p:nvSpPr>
        <p:spPr>
          <a:xfrm>
            <a:off x="1280160" y="4142232"/>
            <a:ext cx="7223760" cy="365760"/>
          </a:xfrm>
          <a:prstGeom prst="rect">
            <a:avLst/>
          </a:prstGeom>
          <a:noFill/>
        </p:spPr>
        <p:txBody>
          <a:bodyPr wrap="square" lIns="45720" rIns="45720" tIns="27432" bIns="27432" anchor="ctr">
            <a:spAutoFit/>
          </a:bodyPr>
          <a:lstStyle/>
          <a:p>
            <a:r>
              <a:rPr sz="1200" b="0" i="0">
                <a:solidFill>
                  <a:srgbClr val="0E7C86"/>
                </a:solidFill>
                <a:latin typeface="Calibri"/>
              </a:rPr>
              <a:t>Answer on slide 36: the table of changes names each source.</a:t>
            </a:r>
          </a:p>
        </p:txBody>
      </p:sp>
      <p:sp>
        <p:nvSpPr>
          <p:cNvPr id="1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Errors are answers too: read the name of the error first.</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 / 39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1: Values and types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What the prompt computes with, and how Python labels it</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Expression</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piece of code that Python turns into one value.</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Data type</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The label that says what a value is and what it can do.</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Integer</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whole number, exact however large it grows.</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Float and string</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number with a fraction, and text between quotes.</a:t>
            </a:r>
          </a:p>
        </p:txBody>
      </p:sp>
      <p:graphicFrame>
        <p:nvGraphicFramePr>
          <p:cNvPr id="13" name="table"/>
          <p:cNvGraphicFramePr>
            <a:graphicFrameLocks noGrp="1"/>
          </p:cNvGraphicFramePr>
          <p:nvPr/>
        </p:nvGraphicFramePr>
        <p:xfrm>
          <a:off x="5303520" y="1417320"/>
          <a:ext cx="3474719" cy="2926080"/>
        </p:xfrm>
        <a:graphic>
          <a:graphicData uri="http://schemas.openxmlformats.org/drawingml/2006/table">
            <a:tbl>
              <a:tblPr firstRow="0" bandRow="0"/>
              <a:tblGrid>
                <a:gridCol w="507543"/>
                <a:gridCol w="2967176"/>
              </a:tblGrid>
              <a:tr h="365760">
                <a:tc>
                  <a:txBody>
                    <a:bodyPr wrap="square"/>
                    <a:lstStyle/>
                    <a:p>
                      <a:r>
                        <a:rPr sz="100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0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values and types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0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The shell: type an expression, get a 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00" b="0" i="0">
                          <a:solidFill>
                            <a:srgbClr val="1F2933"/>
                          </a:solidFill>
                          <a:latin typeface="Calibri"/>
                        </a:rPr>
                        <a:t>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Story: Guido van Rossum and Python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00" b="0" i="0">
                          <a:solidFill>
                            <a:srgbClr val="1F2933"/>
                          </a:solidFill>
                          <a:latin typeface="Calibri"/>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Data types: int, float and str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00" b="0" i="0">
                          <a:solidFill>
                            <a:srgbClr val="1F2933"/>
                          </a:solidFill>
                          <a:latin typeface="Calibri"/>
                        </a:rPr>
                        <a:t>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Integers never overflow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00" b="0" i="0">
                          <a:solidFill>
                            <a:srgbClr val="1F2933"/>
                          </a:solidFill>
                          <a:latin typeface="Calibri"/>
                        </a:rPr>
                        <a:t>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Floats are honest about being approximate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00" b="0" i="0">
                          <a:solidFill>
                            <a:srgbClr val="1F2933"/>
                          </a:solidFill>
                          <a:latin typeface="Calibri"/>
                        </a:rPr>
                        <a:t>11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Strings: text between quotes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 / 39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values and types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350" b="1" i="0">
                <a:solidFill>
                  <a:srgbClr val="B7791F"/>
                </a:solidFill>
                <a:latin typeface="Calibri"/>
              </a:rPr>
              <a:t>ANALOGY  </a:t>
            </a:r>
            <a:r>
              <a:rPr sz="1350" b="0" i="0">
                <a:solidFill>
                  <a:srgbClr val="1F2933"/>
                </a:solidFill>
                <a:latin typeface="Calibri"/>
              </a:rPr>
              <a:t>The shell is a pocket calculator with a screen: you type a sum and the answer appears at once.</a:t>
            </a:r>
          </a:p>
        </p:txBody>
      </p:sp>
      <p:graphicFrame>
        <p:nvGraphicFramePr>
          <p:cNvPr id="6" name="table"/>
          <p:cNvGraphicFramePr>
            <a:graphicFrameLocks noGrp="1"/>
          </p:cNvGraphicFramePr>
          <p:nvPr/>
        </p:nvGraphicFramePr>
        <p:xfrm>
          <a:off x="365760" y="1463040"/>
          <a:ext cx="8412480" cy="2834640"/>
        </p:xfrm>
        <a:graphic>
          <a:graphicData uri="http://schemas.openxmlformats.org/drawingml/2006/table">
            <a:tbl>
              <a:tblPr firstRow="0" bandRow="0"/>
              <a:tblGrid>
                <a:gridCol w="4206240"/>
                <a:gridCol w="4206240"/>
              </a:tblGrid>
              <a:tr h="566928">
                <a:tc>
                  <a:txBody>
                    <a:bodyPr wrap="square"/>
                    <a:lstStyle/>
                    <a:p>
                      <a:r>
                        <a:rPr sz="14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4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566928">
                <a:tc>
                  <a:txBody>
                    <a:bodyPr wrap="square"/>
                    <a:lstStyle/>
                    <a:p>
                      <a:r>
                        <a:rPr sz="1400" b="1" i="0">
                          <a:solidFill>
                            <a:srgbClr val="1F2933"/>
                          </a:solidFill>
                          <a:latin typeface="Calibri"/>
                        </a:rPr>
                        <a:t>Entering Expressions into the Interactive Shell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400" b="0" i="0">
                          <a:solidFill>
                            <a:srgbClr val="1F2933"/>
                          </a:solidFill>
                          <a:latin typeface="Calibri"/>
                        </a:rPr>
                        <a:t>A pocket calculator with a screen: type a sum, read the answer, type the next 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66928">
                <a:tc>
                  <a:txBody>
                    <a:bodyPr wrap="square"/>
                    <a:lstStyle/>
                    <a:p>
                      <a:r>
                        <a:rPr sz="1400" b="1" i="0">
                          <a:solidFill>
                            <a:srgbClr val="1F2933"/>
                          </a:solidFill>
                          <a:latin typeface="Calibri"/>
                        </a:rPr>
                        <a:t>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400" b="0" i="0">
                          <a:solidFill>
                            <a:srgbClr val="1F2933"/>
                          </a:solidFill>
                          <a:latin typeface="Calibri"/>
                        </a:rPr>
                        <a:t>A recipe line: ingredients and steps that end in one finished dish, the 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66928">
                <a:tc>
                  <a:txBody>
                    <a:bodyPr wrap="square"/>
                    <a:lstStyle/>
                    <a:p>
                      <a:r>
                        <a:rPr sz="1400" b="1" i="0">
                          <a:solidFill>
                            <a:srgbClr val="1F2933"/>
                          </a:solidFill>
                          <a:latin typeface="Calibri"/>
                        </a:rPr>
                        <a:t>The Integer, Floating-Point, and String Data Types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400" b="0" i="0">
                          <a:solidFill>
                            <a:srgbClr val="1F2933"/>
                          </a:solidFill>
                          <a:latin typeface="Calibri"/>
                        </a:rPr>
                        <a:t>Three kinds of container: crates for whole items, jugs for amounts with a fraction, signs for words.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66928">
                <a:tc>
                  <a:txBody>
                    <a:bodyPr wrap="square"/>
                    <a:lstStyle/>
                    <a:p>
                      <a:r>
                        <a:rPr sz="1400" b="1" i="0">
                          <a:solidFill>
                            <a:srgbClr val="1F2933"/>
                          </a:solidFill>
                          <a:latin typeface="Calibri"/>
                        </a:rPr>
                        <a:t>Data 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400" b="0" i="0">
                          <a:solidFill>
                            <a:srgbClr val="1F2933"/>
                          </a:solidFill>
                          <a:latin typeface="Calibri"/>
                        </a:rPr>
                        <a:t>The label on a container: it says what may be put in and what may be done with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 / 39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The shell: type an expression, get a value</a:t>
            </a:r>
          </a:p>
        </p:txBody>
      </p:sp>
      <p:sp>
        <p:nvSpPr>
          <p:cNvPr id="4" name="code"/>
          <p:cNvSpPr/>
          <p:nvPr/>
        </p:nvSpPr>
        <p:spPr>
          <a:xfrm>
            <a:off x="365760" y="841248"/>
            <a:ext cx="2926080"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2</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2</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'Py'</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'thon'</a:t>
            </a:r>
            <a:r>
              <a:rPr sz="1400" b="0" i="0">
                <a:solidFill>
                  <a:srgbClr val="E6EDF3"/>
                </a:solidFill>
                <a:latin typeface="Courier New"/>
              </a:rPr>
              <a:t>)</a:t>
            </a:r>
          </a:p>
        </p:txBody>
      </p:sp>
      <p:sp>
        <p:nvSpPr>
          <p:cNvPr id="5" name="explanation"/>
          <p:cNvSpPr txBox="1"/>
          <p:nvPr/>
        </p:nvSpPr>
        <p:spPr>
          <a:xfrm>
            <a:off x="3273552" y="841248"/>
            <a:ext cx="5504687" cy="616712"/>
          </a:xfrm>
          <a:prstGeom prst="rect">
            <a:avLst/>
          </a:prstGeom>
          <a:noFill/>
        </p:spPr>
        <p:txBody>
          <a:bodyPr wrap="square" lIns="128016" rIns="128016" tIns="18288" bIns="18288" anchor="ctr">
            <a:spAutoFit/>
          </a:bodyPr>
          <a:lstStyle/>
          <a:p>
            <a:r>
              <a:rPr sz="1250" b="0" i="0">
                <a:solidFill>
                  <a:srgbClr val="1F2933"/>
                </a:solidFill>
                <a:latin typeface="Calibri"/>
              </a:rPr>
              <a:t>Python reads an expression, computes its value and shows it. 2 + 2 gives the number 4; 'Py' + 'thon' joins two pieces of text.</a:t>
            </a:r>
          </a:p>
        </p:txBody>
      </p:sp>
      <p:sp>
        <p:nvSpPr>
          <p:cNvPr id="6" name="code"/>
          <p:cNvSpPr/>
          <p:nvPr/>
        </p:nvSpPr>
        <p:spPr>
          <a:xfrm>
            <a:off x="365760" y="1512824"/>
            <a:ext cx="2926080"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2</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3</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6</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3</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t>
            </a:r>
            <a:r>
              <a:rPr sz="1400" b="0" i="0">
                <a:solidFill>
                  <a:srgbClr val="7CC4FF"/>
                </a:solidFill>
                <a:latin typeface="Courier New"/>
              </a:rPr>
              <a:t>2</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4</a:t>
            </a:r>
            <a:r>
              <a:rPr sz="1400" b="0" i="0">
                <a:solidFill>
                  <a:srgbClr val="E6EDF3"/>
                </a:solidFill>
                <a:latin typeface="Courier New"/>
              </a:rPr>
              <a:t>)</a:t>
            </a:r>
            <a:r>
              <a:rPr sz="1400" b="0" i="0">
                <a:solidFill>
                  <a:srgbClr val="E6EDF3"/>
                </a:solidFill>
                <a:latin typeface="Courier New"/>
              </a:rPr>
              <a:t>)</a:t>
            </a:r>
          </a:p>
        </p:txBody>
      </p:sp>
      <p:sp>
        <p:nvSpPr>
          <p:cNvPr id="7" name="explanation"/>
          <p:cNvSpPr txBox="1"/>
          <p:nvPr/>
        </p:nvSpPr>
        <p:spPr>
          <a:xfrm>
            <a:off x="3273552" y="1512824"/>
            <a:ext cx="5504687" cy="616712"/>
          </a:xfrm>
          <a:prstGeom prst="rect">
            <a:avLst/>
          </a:prstGeom>
          <a:noFill/>
        </p:spPr>
        <p:txBody>
          <a:bodyPr wrap="square" lIns="128016" rIns="128016" tIns="18288" bIns="18288" anchor="ctr">
            <a:spAutoFit/>
          </a:bodyPr>
          <a:lstStyle/>
          <a:p>
            <a:r>
              <a:rPr sz="1250" b="0" i="0">
                <a:solidFill>
                  <a:srgbClr val="1F2933"/>
                </a:solidFill>
                <a:latin typeface="Calibri"/>
              </a:rPr>
              <a:t>An expression may hold several operators. Multiplication goes before addition, and parentheses go before everything.</a:t>
            </a:r>
          </a:p>
        </p:txBody>
      </p:sp>
      <p:sp>
        <p:nvSpPr>
          <p:cNvPr id="8" name="result label"/>
          <p:cNvSpPr txBox="1"/>
          <p:nvPr/>
        </p:nvSpPr>
        <p:spPr>
          <a:xfrm>
            <a:off x="365760" y="220268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477008"/>
          <a:ext cx="4206238" cy="1371600"/>
        </p:xfrm>
        <a:graphic>
          <a:graphicData uri="http://schemas.openxmlformats.org/drawingml/2006/table">
            <a:tbl>
              <a:tblPr firstRow="0" bandRow="0"/>
              <a:tblGrid>
                <a:gridCol w="1956390"/>
                <a:gridCol w="1369473"/>
                <a:gridCol w="880375"/>
              </a:tblGrid>
              <a:tr h="274320">
                <a:tc>
                  <a:txBody>
                    <a:bodyPr wrap="square"/>
                    <a:lstStyle/>
                    <a:p>
                      <a:r>
                        <a:rPr sz="1050" b="1" i="0">
                          <a:solidFill>
                            <a:srgbClr val="FFFFFF"/>
                          </a:solidFill>
                          <a:latin typeface="Calibri"/>
                        </a:rPr>
                        <a:t>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50" b="0" i="0">
                          <a:solidFill>
                            <a:srgbClr val="1F2933"/>
                          </a:solidFill>
                          <a:latin typeface="Courier New"/>
                        </a:rPr>
                        <a:t>2 + 2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50" b="0" i="0">
                          <a:solidFill>
                            <a:srgbClr val="1F2933"/>
                          </a:solidFill>
                          <a:latin typeface="Courier New"/>
                        </a:rPr>
                        <a:t>'Py' + 'thon'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'Python'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str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50" b="0" i="0">
                          <a:solidFill>
                            <a:srgbClr val="1F2933"/>
                          </a:solidFill>
                          <a:latin typeface="Courier New"/>
                        </a:rPr>
                        <a:t>2 + 3 * 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50" b="0" i="0">
                          <a:solidFill>
                            <a:srgbClr val="1F2933"/>
                          </a:solidFill>
                          <a:latin typeface="Courier New"/>
                        </a:rPr>
                        <a:t>3 * (2 + 4)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18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0" name="Rounded Rectangle 9"/>
          <p:cNvSpPr/>
          <p:nvPr/>
        </p:nvSpPr>
        <p:spPr>
          <a:xfrm>
            <a:off x="4908499" y="2659888"/>
            <a:ext cx="830275" cy="384048"/>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Read</a:t>
            </a:r>
          </a:p>
        </p:txBody>
      </p:sp>
      <p:sp>
        <p:nvSpPr>
          <p:cNvPr id="11" name="TextBox 10"/>
          <p:cNvSpPr txBox="1"/>
          <p:nvPr/>
        </p:nvSpPr>
        <p:spPr>
          <a:xfrm>
            <a:off x="4817059" y="3098800"/>
            <a:ext cx="1013155" cy="365760"/>
          </a:xfrm>
          <a:prstGeom prst="rect">
            <a:avLst/>
          </a:prstGeom>
          <a:noFill/>
        </p:spPr>
        <p:txBody>
          <a:bodyPr wrap="square" lIns="0" rIns="0" tIns="0" bIns="0" anchor="t">
            <a:spAutoFit/>
          </a:bodyPr>
          <a:lstStyle/>
          <a:p>
            <a:pPr algn="ctr"/>
            <a:r>
              <a:rPr sz="950" b="0" i="0">
                <a:solidFill>
                  <a:srgbClr val="5B6773"/>
                </a:solidFill>
                <a:latin typeface="Calibri"/>
              </a:rPr>
              <a:t>you type</a:t>
            </a:r>
          </a:p>
        </p:txBody>
      </p:sp>
      <p:cxnSp>
        <p:nvCxnSpPr>
          <p:cNvPr id="12" name="arrow"/>
          <p:cNvCxnSpPr/>
          <p:nvPr/>
        </p:nvCxnSpPr>
        <p:spPr>
          <a:xfrm>
            <a:off x="5747918" y="2851912"/>
            <a:ext cx="164592"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921654" y="2659888"/>
            <a:ext cx="830275" cy="384048"/>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Evaluate</a:t>
            </a:r>
          </a:p>
        </p:txBody>
      </p:sp>
      <p:sp>
        <p:nvSpPr>
          <p:cNvPr id="14" name="TextBox 13"/>
          <p:cNvSpPr txBox="1"/>
          <p:nvPr/>
        </p:nvSpPr>
        <p:spPr>
          <a:xfrm>
            <a:off x="5830214" y="3098800"/>
            <a:ext cx="1013155" cy="365760"/>
          </a:xfrm>
          <a:prstGeom prst="rect">
            <a:avLst/>
          </a:prstGeom>
          <a:noFill/>
        </p:spPr>
        <p:txBody>
          <a:bodyPr wrap="square" lIns="0" rIns="0" tIns="0" bIns="0" anchor="t">
            <a:spAutoFit/>
          </a:bodyPr>
          <a:lstStyle/>
          <a:p>
            <a:pPr algn="ctr"/>
            <a:r>
              <a:rPr sz="950" b="0" i="0">
                <a:solidFill>
                  <a:srgbClr val="5B6773"/>
                </a:solidFill>
                <a:latin typeface="Calibri"/>
              </a:rPr>
              <a:t>Python computes</a:t>
            </a:r>
          </a:p>
        </p:txBody>
      </p:sp>
      <p:cxnSp>
        <p:nvCxnSpPr>
          <p:cNvPr id="15" name="arrow"/>
          <p:cNvCxnSpPr/>
          <p:nvPr/>
        </p:nvCxnSpPr>
        <p:spPr>
          <a:xfrm>
            <a:off x="6761073" y="2851912"/>
            <a:ext cx="164592"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934809" y="2659888"/>
            <a:ext cx="830275" cy="384048"/>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Print</a:t>
            </a:r>
          </a:p>
        </p:txBody>
      </p:sp>
      <p:sp>
        <p:nvSpPr>
          <p:cNvPr id="17" name="TextBox 16"/>
          <p:cNvSpPr txBox="1"/>
          <p:nvPr/>
        </p:nvSpPr>
        <p:spPr>
          <a:xfrm>
            <a:off x="6843369" y="3098800"/>
            <a:ext cx="1013155" cy="365760"/>
          </a:xfrm>
          <a:prstGeom prst="rect">
            <a:avLst/>
          </a:prstGeom>
          <a:noFill/>
        </p:spPr>
        <p:txBody>
          <a:bodyPr wrap="square" lIns="0" rIns="0" tIns="0" bIns="0" anchor="t">
            <a:spAutoFit/>
          </a:bodyPr>
          <a:lstStyle/>
          <a:p>
            <a:pPr algn="ctr"/>
            <a:r>
              <a:rPr sz="950" b="0" i="0">
                <a:solidFill>
                  <a:srgbClr val="5B6773"/>
                </a:solidFill>
                <a:latin typeface="Calibri"/>
              </a:rPr>
              <a:t>value appears</a:t>
            </a:r>
          </a:p>
        </p:txBody>
      </p:sp>
      <p:cxnSp>
        <p:nvCxnSpPr>
          <p:cNvPr id="18" name="arrow"/>
          <p:cNvCxnSpPr/>
          <p:nvPr/>
        </p:nvCxnSpPr>
        <p:spPr>
          <a:xfrm>
            <a:off x="7774228" y="2851912"/>
            <a:ext cx="164592"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947964" y="2659888"/>
            <a:ext cx="830275" cy="384048"/>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5B6773"/>
                </a:solidFill>
                <a:latin typeface="Calibri"/>
              </a:rPr>
              <a:t>Loop</a:t>
            </a:r>
          </a:p>
        </p:txBody>
      </p:sp>
      <p:sp>
        <p:nvSpPr>
          <p:cNvPr id="20" name="TextBox 19"/>
          <p:cNvSpPr txBox="1"/>
          <p:nvPr/>
        </p:nvSpPr>
        <p:spPr>
          <a:xfrm>
            <a:off x="7856524" y="3098800"/>
            <a:ext cx="1013155" cy="365760"/>
          </a:xfrm>
          <a:prstGeom prst="rect">
            <a:avLst/>
          </a:prstGeom>
          <a:noFill/>
        </p:spPr>
        <p:txBody>
          <a:bodyPr wrap="square" lIns="0" rIns="0" tIns="0" bIns="0" anchor="t">
            <a:spAutoFit/>
          </a:bodyPr>
          <a:lstStyle/>
          <a:p>
            <a:pPr algn="ctr"/>
            <a:r>
              <a:rPr sz="950" b="0" i="0">
                <a:solidFill>
                  <a:srgbClr val="5B6773"/>
                </a:solidFill>
                <a:latin typeface="Calibri"/>
              </a:rPr>
              <a:t>next prompt</a:t>
            </a:r>
          </a:p>
        </p:txBody>
      </p:sp>
      <p:sp>
        <p:nvSpPr>
          <p:cNvPr id="21" name="TextBox 20"/>
          <p:cNvSpPr txBox="1"/>
          <p:nvPr/>
        </p:nvSpPr>
        <p:spPr>
          <a:xfrm>
            <a:off x="4908499" y="3528567"/>
            <a:ext cx="3869740" cy="274320"/>
          </a:xfrm>
          <a:prstGeom prst="rect">
            <a:avLst/>
          </a:prstGeom>
          <a:noFill/>
        </p:spPr>
        <p:txBody>
          <a:bodyPr wrap="square" lIns="45720" rIns="45720" tIns="27432" bIns="27432" anchor="t">
            <a:spAutoFit/>
          </a:bodyPr>
          <a:lstStyle/>
          <a:p>
            <a:r>
              <a:rPr sz="1000" b="0" i="1">
                <a:solidFill>
                  <a:srgbClr val="5B6773"/>
                </a:solidFill>
                <a:latin typeface="Calibri"/>
              </a:rPr>
              <a:t>the shell repeats these four steps for every line</a:t>
            </a:r>
          </a:p>
        </p:txBody>
      </p:sp>
      <p:sp>
        <p:nvSpPr>
          <p:cNvPr id="2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The shell evaluates an expression and prints its value.</a:t>
            </a:r>
          </a:p>
        </p:txBody>
      </p:sp>
      <p:sp>
        <p:nvSpPr>
          <p:cNvPr id="2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6 / 39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a Christmas hobby named after a comedy troupe</a:t>
            </a:r>
          </a:p>
        </p:txBody>
      </p:sp>
      <p:pic>
        <p:nvPicPr>
          <p:cNvPr id="4" name="photo guido" descr="Picture for the story: a Christmas hobby named after a comedy troupe"/>
          <p:cNvPicPr>
            <a:picLocks noChangeAspect="1"/>
          </p:cNvPicPr>
          <p:nvPr/>
        </p:nvPicPr>
        <p:blipFill>
          <a:blip r:embed="rId3"/>
          <a:stretch>
            <a:fillRect/>
          </a:stretch>
        </p:blipFill>
        <p:spPr>
          <a:xfrm>
            <a:off x="365760" y="1447800"/>
            <a:ext cx="2651760" cy="1767840"/>
          </a:xfrm>
          <a:prstGeom prst="rect">
            <a:avLst/>
          </a:prstGeom>
        </p:spPr>
      </p:pic>
      <p:sp>
        <p:nvSpPr>
          <p:cNvPr id="5" name="credit"/>
          <p:cNvSpPr txBox="1"/>
          <p:nvPr/>
        </p:nvSpPr>
        <p:spPr>
          <a:xfrm>
            <a:off x="365760" y="3840480"/>
            <a:ext cx="2651760" cy="731520"/>
          </a:xfrm>
          <a:prstGeom prst="rect">
            <a:avLst/>
          </a:prstGeom>
          <a:noFill/>
        </p:spPr>
        <p:txBody>
          <a:bodyPr wrap="square" lIns="45720" rIns="45720" tIns="27432" bIns="27432" anchor="t">
            <a:spAutoFit/>
          </a:bodyPr>
          <a:lstStyle/>
          <a:p>
            <a:r>
              <a:rPr sz="900" b="0" i="0">
                <a:solidFill>
                  <a:srgbClr val="5B6773"/>
                </a:solidFill>
                <a:latin typeface="Calibri"/>
              </a:rPr>
              <a:t>Guido van Rossum, 2014. Photo: Daniel Stroud, CC BY-SA 4.0, Wikimedia Commons.</a:t>
            </a:r>
          </a:p>
        </p:txBody>
      </p:sp>
      <p:sp>
        <p:nvSpPr>
          <p:cNvPr id="6" name="card"/>
          <p:cNvSpPr/>
          <p:nvPr/>
        </p:nvSpPr>
        <p:spPr>
          <a:xfrm>
            <a:off x="3200400" y="84124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WHO  </a:t>
            </a:r>
            <a:r>
              <a:rPr sz="1300" b="0" i="0">
                <a:solidFill>
                  <a:srgbClr val="1F2933"/>
                </a:solidFill>
                <a:latin typeface="Calibri"/>
              </a:rPr>
              <a:t>Guido van Rossum, a programmer at the Centrum Wiskunde &amp; Informatica (CWI), working on the Amoeba project.</a:t>
            </a:r>
          </a:p>
        </p:txBody>
      </p:sp>
      <p:sp>
        <p:nvSpPr>
          <p:cNvPr id="8" name="card"/>
          <p:cNvSpPr/>
          <p:nvPr/>
        </p:nvSpPr>
        <p:spPr>
          <a:xfrm>
            <a:off x="3200400" y="1463040"/>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63040"/>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WHAT  </a:t>
            </a:r>
            <a:r>
              <a:rPr sz="1300" b="0" i="0">
                <a:solidFill>
                  <a:srgbClr val="1F2933"/>
                </a:solidFill>
                <a:latin typeface="Calibri"/>
              </a:rPr>
              <a:t>A hobby scripting language, a descendant of ABC, meant to be more readable than shell scripts.</a:t>
            </a:r>
          </a:p>
        </p:txBody>
      </p:sp>
      <p:sp>
        <p:nvSpPr>
          <p:cNvPr id="10" name="card"/>
          <p:cNvSpPr/>
          <p:nvPr/>
        </p:nvSpPr>
        <p:spPr>
          <a:xfrm>
            <a:off x="3200400" y="2084832"/>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2084832"/>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WHEN  </a:t>
            </a:r>
            <a:r>
              <a:rPr sz="1300" b="0" i="0">
                <a:solidFill>
                  <a:srgbClr val="1F2933"/>
                </a:solidFill>
                <a:latin typeface="Calibri"/>
              </a:rPr>
              <a:t>December 1989, in the Christmas week when the office was closed; version 0.9.0 followed in February 1991.</a:t>
            </a:r>
          </a:p>
        </p:txBody>
      </p:sp>
      <p:sp>
        <p:nvSpPr>
          <p:cNvPr id="12" name="card"/>
          <p:cNvSpPr/>
          <p:nvPr/>
        </p:nvSpPr>
        <p:spPr>
          <a:xfrm>
            <a:off x="3200400" y="2706624"/>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706624"/>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WHERE  </a:t>
            </a:r>
            <a:r>
              <a:rPr sz="1300" b="0" i="0">
                <a:solidFill>
                  <a:srgbClr val="1F2933"/>
                </a:solidFill>
                <a:latin typeface="Calibri"/>
              </a:rPr>
              <a:t>At CWI in Amsterdam; the source code was posted to the alt.sources Usenet group.</a:t>
            </a:r>
          </a:p>
        </p:txBody>
      </p:sp>
      <p:sp>
        <p:nvSpPr>
          <p:cNvPr id="14" name="card"/>
          <p:cNvSpPr/>
          <p:nvPr/>
        </p:nvSpPr>
        <p:spPr>
          <a:xfrm>
            <a:off x="3200400" y="3328415"/>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328415"/>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WHY  </a:t>
            </a:r>
            <a:r>
              <a:rPr sz="1300" b="0" i="0">
                <a:solidFill>
                  <a:srgbClr val="1F2933"/>
                </a:solidFill>
                <a:latin typeface="Calibri"/>
              </a:rPr>
              <a:t>He wanted a language that is easy to read and to program, and he had a week without work.</a:t>
            </a:r>
          </a:p>
        </p:txBody>
      </p:sp>
      <p:sp>
        <p:nvSpPr>
          <p:cNvPr id="16" name="card"/>
          <p:cNvSpPr/>
          <p:nvPr/>
        </p:nvSpPr>
        <p:spPr>
          <a:xfrm>
            <a:off x="3200400" y="3950207"/>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950207"/>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HOW  </a:t>
            </a:r>
            <a:r>
              <a:rPr sz="1300" b="0" i="0">
                <a:solidFill>
                  <a:srgbClr val="1F2933"/>
                </a:solidFill>
                <a:latin typeface="Calibri"/>
              </a:rPr>
              <a:t>He named it after the British comedy troupe Monty Python, not after the snake.</a:t>
            </a:r>
          </a:p>
        </p:txBody>
      </p:sp>
      <p:sp>
        <p:nvSpPr>
          <p:cNvPr id="18" name="read"/>
          <p:cNvSpPr txBox="1"/>
          <p:nvPr/>
        </p:nvSpPr>
        <p:spPr>
          <a:xfrm>
            <a:off x="3200400" y="4590287"/>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Guido van Rossum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7 / 39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Data types: int, float and str</a:t>
            </a:r>
          </a:p>
        </p:txBody>
      </p:sp>
      <p:sp>
        <p:nvSpPr>
          <p:cNvPr id="4" name="code"/>
          <p:cNvSpPr/>
          <p:nvPr/>
        </p:nvSpPr>
        <p:spPr>
          <a:xfrm>
            <a:off x="365760" y="841248"/>
            <a:ext cx="2926080" cy="8336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type</a:t>
            </a:r>
            <a:r>
              <a:rPr sz="1400" b="0" i="0">
                <a:solidFill>
                  <a:srgbClr val="E6EDF3"/>
                </a:solidFill>
                <a:latin typeface="Courier New"/>
              </a:rPr>
              <a:t>(</a:t>
            </a:r>
            <a:r>
              <a:rPr sz="1400" b="0" i="0">
                <a:solidFill>
                  <a:srgbClr val="7CC4FF"/>
                </a:solidFill>
                <a:latin typeface="Courier New"/>
              </a:rPr>
              <a:t>7</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type</a:t>
            </a:r>
            <a:r>
              <a:rPr sz="1400" b="0" i="0">
                <a:solidFill>
                  <a:srgbClr val="E6EDF3"/>
                </a:solidFill>
                <a:latin typeface="Courier New"/>
              </a:rPr>
              <a:t>(</a:t>
            </a:r>
            <a:r>
              <a:rPr sz="1400" b="0" i="0">
                <a:solidFill>
                  <a:srgbClr val="7CC4FF"/>
                </a:solidFill>
                <a:latin typeface="Courier New"/>
              </a:rPr>
              <a:t>3.5</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type</a:t>
            </a:r>
            <a:r>
              <a:rPr sz="1400" b="0" i="0">
                <a:solidFill>
                  <a:srgbClr val="E6EDF3"/>
                </a:solidFill>
                <a:latin typeface="Courier New"/>
              </a:rPr>
              <a:t>(</a:t>
            </a:r>
            <a:r>
              <a:rPr sz="1400" b="0" i="0">
                <a:solidFill>
                  <a:srgbClr val="9BE3A8"/>
                </a:solidFill>
                <a:latin typeface="Courier New"/>
              </a:rPr>
              <a:t>'Alice'</a:t>
            </a:r>
            <a:r>
              <a:rPr sz="1400" b="0" i="0">
                <a:solidFill>
                  <a:srgbClr val="E6EDF3"/>
                </a:solidFill>
                <a:latin typeface="Courier New"/>
              </a:rPr>
              <a:t>)</a:t>
            </a:r>
            <a:r>
              <a:rPr sz="1400" b="0" i="0">
                <a:solidFill>
                  <a:srgbClr val="E6EDF3"/>
                </a:solidFill>
                <a:latin typeface="Courier New"/>
              </a:rPr>
              <a:t>)</a:t>
            </a:r>
          </a:p>
        </p:txBody>
      </p:sp>
      <p:sp>
        <p:nvSpPr>
          <p:cNvPr id="5" name="explanation"/>
          <p:cNvSpPr txBox="1"/>
          <p:nvPr/>
        </p:nvSpPr>
        <p:spPr>
          <a:xfrm>
            <a:off x="3273552" y="841248"/>
            <a:ext cx="5504687" cy="833628"/>
          </a:xfrm>
          <a:prstGeom prst="rect">
            <a:avLst/>
          </a:prstGeom>
          <a:noFill/>
        </p:spPr>
        <p:txBody>
          <a:bodyPr wrap="square" lIns="128016" rIns="128016" tIns="18288" bIns="18288" anchor="ctr">
            <a:spAutoFit/>
          </a:bodyPr>
          <a:lstStyle/>
          <a:p>
            <a:r>
              <a:rPr sz="1250" b="0" i="0">
                <a:solidFill>
                  <a:srgbClr val="1F2933"/>
                </a:solidFill>
                <a:latin typeface="Calibri"/>
              </a:rPr>
              <a:t>type names the data type of a value: int for whole numbers, float for numbers with a fraction, str for text.</a:t>
            </a:r>
          </a:p>
        </p:txBody>
      </p:sp>
      <p:sp>
        <p:nvSpPr>
          <p:cNvPr id="6" name="code"/>
          <p:cNvSpPr/>
          <p:nvPr/>
        </p:nvSpPr>
        <p:spPr>
          <a:xfrm>
            <a:off x="365760" y="1729740"/>
            <a:ext cx="2926080"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type</a:t>
            </a:r>
            <a:r>
              <a:rPr sz="1400" b="0" i="0">
                <a:solidFill>
                  <a:srgbClr val="E6EDF3"/>
                </a:solidFill>
                <a:latin typeface="Courier New"/>
              </a:rPr>
              <a:t>(</a:t>
            </a:r>
            <a:r>
              <a:rPr sz="1400" b="0" i="0">
                <a:solidFill>
                  <a:srgbClr val="7CC4FF"/>
                </a:solidFill>
                <a:latin typeface="Courier New"/>
              </a:rPr>
              <a:t>7</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1</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type</a:t>
            </a:r>
            <a:r>
              <a:rPr sz="1400" b="0" i="0">
                <a:solidFill>
                  <a:srgbClr val="E6EDF3"/>
                </a:solidFill>
                <a:latin typeface="Courier New"/>
              </a:rPr>
              <a:t>(</a:t>
            </a:r>
            <a:r>
              <a:rPr sz="1400" b="0" i="0">
                <a:solidFill>
                  <a:srgbClr val="7CC4FF"/>
                </a:solidFill>
                <a:latin typeface="Courier New"/>
              </a:rPr>
              <a:t>7</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1.0</a:t>
            </a:r>
            <a:r>
              <a:rPr sz="1400" b="0" i="0">
                <a:solidFill>
                  <a:srgbClr val="E6EDF3"/>
                </a:solidFill>
                <a:latin typeface="Courier New"/>
              </a:rPr>
              <a:t>)</a:t>
            </a:r>
            <a:r>
              <a:rPr sz="1400" b="0" i="0">
                <a:solidFill>
                  <a:srgbClr val="E6EDF3"/>
                </a:solidFill>
                <a:latin typeface="Courier New"/>
              </a:rPr>
              <a:t>)</a:t>
            </a:r>
          </a:p>
        </p:txBody>
      </p:sp>
      <p:sp>
        <p:nvSpPr>
          <p:cNvPr id="7" name="explanation"/>
          <p:cNvSpPr txBox="1"/>
          <p:nvPr/>
        </p:nvSpPr>
        <p:spPr>
          <a:xfrm>
            <a:off x="3273552" y="1729740"/>
            <a:ext cx="5504687" cy="616712"/>
          </a:xfrm>
          <a:prstGeom prst="rect">
            <a:avLst/>
          </a:prstGeom>
          <a:noFill/>
        </p:spPr>
        <p:txBody>
          <a:bodyPr wrap="square" lIns="128016" rIns="128016" tIns="18288" bIns="18288" anchor="ctr">
            <a:spAutoFit/>
          </a:bodyPr>
          <a:lstStyle/>
          <a:p>
            <a:r>
              <a:rPr sz="1250" b="0" i="0">
                <a:solidFill>
                  <a:srgbClr val="1F2933"/>
                </a:solidFill>
                <a:latin typeface="Calibri"/>
              </a:rPr>
              <a:t>A whole number plus a whole number stays an int. Mix in one float and the whole result becomes a float.</a:t>
            </a:r>
          </a:p>
        </p:txBody>
      </p:sp>
      <p:sp>
        <p:nvSpPr>
          <p:cNvPr id="8" name="result label"/>
          <p:cNvSpPr txBox="1"/>
          <p:nvPr/>
        </p:nvSpPr>
        <p:spPr>
          <a:xfrm>
            <a:off x="365760" y="241960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693924"/>
          <a:ext cx="4879237" cy="1536192"/>
        </p:xfrm>
        <a:graphic>
          <a:graphicData uri="http://schemas.openxmlformats.org/drawingml/2006/table">
            <a:tbl>
              <a:tblPr firstRow="0" bandRow="0"/>
              <a:tblGrid>
                <a:gridCol w="1394068"/>
                <a:gridCol w="1194915"/>
                <a:gridCol w="2290254"/>
              </a:tblGrid>
              <a:tr h="256032">
                <a:tc>
                  <a:txBody>
                    <a:bodyPr wrap="square"/>
                    <a:lstStyle/>
                    <a:p>
                      <a:r>
                        <a:rPr sz="1050" b="1" i="0">
                          <a:solidFill>
                            <a:srgbClr val="FFFFFF"/>
                          </a:solidFill>
                          <a:latin typeface="Calibri"/>
                        </a:rPr>
                        <a:t>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Data 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What type() printed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56032">
                <a:tc>
                  <a:txBody>
                    <a:bodyPr wrap="square"/>
                    <a:lstStyle/>
                    <a:p>
                      <a:r>
                        <a:rPr sz="1050" b="0" i="0">
                          <a:solidFill>
                            <a:srgbClr val="1F2933"/>
                          </a:solidFill>
                          <a:latin typeface="Courier New"/>
                        </a:rPr>
                        <a:t>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7EEF0"/>
                    </a:solidFill>
                  </a:tcPr>
                </a:tc>
                <a:tc>
                  <a:txBody>
                    <a:bodyPr wrap="square"/>
                    <a:lstStyle/>
                    <a:p>
                      <a:r>
                        <a:rPr sz="1050" b="0" i="0">
                          <a:solidFill>
                            <a:srgbClr val="1F2933"/>
                          </a:solidFill>
                          <a:latin typeface="Courier New"/>
                        </a:rPr>
                        <a:t>&lt;class 'int'&gt;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56032">
                <a:tc>
                  <a:txBody>
                    <a:bodyPr wrap="square"/>
                    <a:lstStyle/>
                    <a:p>
                      <a:r>
                        <a:rPr sz="1050" b="0" i="0">
                          <a:solidFill>
                            <a:srgbClr val="1F2933"/>
                          </a:solidFill>
                          <a:latin typeface="Courier New"/>
                        </a:rPr>
                        <a:t>3.5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float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50" b="0" i="0">
                          <a:solidFill>
                            <a:srgbClr val="1F2933"/>
                          </a:solidFill>
                          <a:latin typeface="Courier New"/>
                        </a:rPr>
                        <a:t>&lt;class 'float'&gt;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56032">
                <a:tc>
                  <a:txBody>
                    <a:bodyPr wrap="square"/>
                    <a:lstStyle/>
                    <a:p>
                      <a:r>
                        <a:rPr sz="1050" b="0" i="0">
                          <a:solidFill>
                            <a:srgbClr val="1F2933"/>
                          </a:solidFill>
                          <a:latin typeface="Courier New"/>
                        </a:rPr>
                        <a:t>'Alice'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str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r>
                        <a:rPr sz="1050" b="0" i="0">
                          <a:solidFill>
                            <a:srgbClr val="1F2933"/>
                          </a:solidFill>
                          <a:latin typeface="Courier New"/>
                        </a:rPr>
                        <a:t>&lt;class 'str'&gt;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56032">
                <a:tc>
                  <a:txBody>
                    <a:bodyPr wrap="square"/>
                    <a:lstStyle/>
                    <a:p>
                      <a:r>
                        <a:rPr sz="1050" b="0" i="0">
                          <a:solidFill>
                            <a:srgbClr val="1F2933"/>
                          </a:solidFill>
                          <a:latin typeface="Courier New"/>
                        </a:rPr>
                        <a:t>7 + 1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7EEF0"/>
                    </a:solidFill>
                  </a:tcPr>
                </a:tc>
                <a:tc>
                  <a:txBody>
                    <a:bodyPr wrap="square"/>
                    <a:lstStyle/>
                    <a:p>
                      <a:r>
                        <a:rPr sz="1050" b="0" i="0">
                          <a:solidFill>
                            <a:srgbClr val="1F2933"/>
                          </a:solidFill>
                          <a:latin typeface="Courier New"/>
                        </a:rPr>
                        <a:t>&lt;class 'int'&gt;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56032">
                <a:tc>
                  <a:txBody>
                    <a:bodyPr wrap="square"/>
                    <a:lstStyle/>
                    <a:p>
                      <a:r>
                        <a:rPr sz="1050" b="0" i="0">
                          <a:solidFill>
                            <a:srgbClr val="1F2933"/>
                          </a:solidFill>
                          <a:latin typeface="Courier New"/>
                        </a:rPr>
                        <a:t>7 + 1.0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float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50" b="0" i="0">
                          <a:solidFill>
                            <a:srgbClr val="1F2933"/>
                          </a:solidFill>
                          <a:latin typeface="Courier New"/>
                        </a:rPr>
                        <a:t>&lt;class 'float'&gt;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0" name="Rounded Rectangle 9"/>
          <p:cNvSpPr/>
          <p:nvPr/>
        </p:nvSpPr>
        <p:spPr>
          <a:xfrm>
            <a:off x="5749747" y="2922524"/>
            <a:ext cx="548640" cy="329184"/>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int</a:t>
            </a:r>
          </a:p>
        </p:txBody>
      </p:sp>
      <p:sp>
        <p:nvSpPr>
          <p:cNvPr id="11" name="TextBox 10"/>
          <p:cNvSpPr txBox="1"/>
          <p:nvPr/>
        </p:nvSpPr>
        <p:spPr>
          <a:xfrm>
            <a:off x="6316675" y="2922524"/>
            <a:ext cx="228600" cy="329184"/>
          </a:xfrm>
          <a:prstGeom prst="rect">
            <a:avLst/>
          </a:prstGeom>
          <a:noFill/>
        </p:spPr>
        <p:txBody>
          <a:bodyPr wrap="square" lIns="0" rIns="0" tIns="0" bIns="0" anchor="ctr">
            <a:spAutoFit/>
          </a:bodyPr>
          <a:lstStyle/>
          <a:p>
            <a:pPr algn="ctr"/>
            <a:r>
              <a:rPr sz="1200" b="1" i="0">
                <a:solidFill>
                  <a:srgbClr val="1F2933"/>
                </a:solidFill>
                <a:latin typeface="Calibri"/>
              </a:rPr>
              <a:t>+</a:t>
            </a:r>
          </a:p>
        </p:txBody>
      </p:sp>
      <p:sp>
        <p:nvSpPr>
          <p:cNvPr id="12" name="Rounded Rectangle 11"/>
          <p:cNvSpPr/>
          <p:nvPr/>
        </p:nvSpPr>
        <p:spPr>
          <a:xfrm>
            <a:off x="6572707" y="2922524"/>
            <a:ext cx="548640" cy="329184"/>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int</a:t>
            </a:r>
          </a:p>
        </p:txBody>
      </p:sp>
      <p:cxnSp>
        <p:nvCxnSpPr>
          <p:cNvPr id="13" name="arrow"/>
          <p:cNvCxnSpPr/>
          <p:nvPr/>
        </p:nvCxnSpPr>
        <p:spPr>
          <a:xfrm>
            <a:off x="7167067" y="3087116"/>
            <a:ext cx="365760" cy="0"/>
          </a:xfrm>
          <a:prstGeom prst="line">
            <a:avLst/>
          </a:prstGeom>
          <a:ln w="1651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578547" y="2922524"/>
            <a:ext cx="640080" cy="329184"/>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int</a:t>
            </a:r>
          </a:p>
        </p:txBody>
      </p:sp>
      <p:sp>
        <p:nvSpPr>
          <p:cNvPr id="15" name="Rounded Rectangle 14"/>
          <p:cNvSpPr/>
          <p:nvPr/>
        </p:nvSpPr>
        <p:spPr>
          <a:xfrm>
            <a:off x="5749747" y="3562604"/>
            <a:ext cx="548640" cy="329184"/>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int</a:t>
            </a:r>
          </a:p>
        </p:txBody>
      </p:sp>
      <p:sp>
        <p:nvSpPr>
          <p:cNvPr id="16" name="TextBox 15"/>
          <p:cNvSpPr txBox="1"/>
          <p:nvPr/>
        </p:nvSpPr>
        <p:spPr>
          <a:xfrm>
            <a:off x="6316675" y="3562604"/>
            <a:ext cx="228600" cy="329184"/>
          </a:xfrm>
          <a:prstGeom prst="rect">
            <a:avLst/>
          </a:prstGeom>
          <a:noFill/>
        </p:spPr>
        <p:txBody>
          <a:bodyPr wrap="square" lIns="0" rIns="0" tIns="0" bIns="0" anchor="ctr">
            <a:spAutoFit/>
          </a:bodyPr>
          <a:lstStyle/>
          <a:p>
            <a:pPr algn="ctr"/>
            <a:r>
              <a:rPr sz="1200" b="1" i="0">
                <a:solidFill>
                  <a:srgbClr val="1F2933"/>
                </a:solidFill>
                <a:latin typeface="Calibri"/>
              </a:rPr>
              <a:t>+</a:t>
            </a:r>
          </a:p>
        </p:txBody>
      </p:sp>
      <p:sp>
        <p:nvSpPr>
          <p:cNvPr id="17" name="Rounded Rectangle 16"/>
          <p:cNvSpPr/>
          <p:nvPr/>
        </p:nvSpPr>
        <p:spPr>
          <a:xfrm>
            <a:off x="6572707" y="3562604"/>
            <a:ext cx="548640" cy="329184"/>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float</a:t>
            </a:r>
          </a:p>
        </p:txBody>
      </p:sp>
      <p:cxnSp>
        <p:nvCxnSpPr>
          <p:cNvPr id="18" name="arrow"/>
          <p:cNvCxnSpPr/>
          <p:nvPr/>
        </p:nvCxnSpPr>
        <p:spPr>
          <a:xfrm>
            <a:off x="7167067" y="3727195"/>
            <a:ext cx="365760" cy="0"/>
          </a:xfrm>
          <a:prstGeom prst="line">
            <a:avLst/>
          </a:prstGeom>
          <a:ln w="1651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578547" y="3562604"/>
            <a:ext cx="640080" cy="329184"/>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float</a:t>
            </a:r>
          </a:p>
        </p:txBody>
      </p:sp>
      <p:sp>
        <p:nvSpPr>
          <p:cNvPr id="20" name="TextBox 19"/>
          <p:cNvSpPr txBox="1"/>
          <p:nvPr/>
        </p:nvSpPr>
        <p:spPr>
          <a:xfrm>
            <a:off x="5749747" y="4202684"/>
            <a:ext cx="2560320" cy="274320"/>
          </a:xfrm>
          <a:prstGeom prst="rect">
            <a:avLst/>
          </a:prstGeom>
          <a:noFill/>
        </p:spPr>
        <p:txBody>
          <a:bodyPr wrap="square" lIns="45720" rIns="45720" tIns="27432" bIns="27432" anchor="t">
            <a:spAutoFit/>
          </a:bodyPr>
          <a:lstStyle/>
          <a:p>
            <a:r>
              <a:rPr sz="1000" b="0" i="1">
                <a:solidFill>
                  <a:srgbClr val="5B6773"/>
                </a:solidFill>
                <a:latin typeface="Calibri"/>
              </a:rPr>
              <a:t>one float makes the result a float</a:t>
            </a:r>
          </a:p>
        </p:txBody>
      </p:sp>
      <p:sp>
        <p:nvSpPr>
          <p:cNvPr id="2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type() names the data type: int, float or str.</a:t>
            </a:r>
          </a:p>
        </p:txBody>
      </p:sp>
      <p:sp>
        <p:nvSpPr>
          <p:cNvPr id="2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8 / 39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Integers never overflow</a:t>
            </a:r>
          </a:p>
        </p:txBody>
      </p:sp>
      <p:sp>
        <p:nvSpPr>
          <p:cNvPr id="4" name="code"/>
          <p:cNvSpPr/>
          <p:nvPr/>
        </p:nvSpPr>
        <p:spPr>
          <a:xfrm>
            <a:off x="365760" y="841248"/>
            <a:ext cx="3349751" cy="8336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7</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1</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2</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100</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len</a:t>
            </a:r>
            <a:r>
              <a:rPr sz="1400" b="0" i="0">
                <a:solidFill>
                  <a:srgbClr val="E6EDF3"/>
                </a:solidFill>
                <a:latin typeface="Courier New"/>
              </a:rPr>
              <a:t>(</a:t>
            </a:r>
            <a:r>
              <a:rPr sz="1400" b="0" i="0">
                <a:solidFill>
                  <a:srgbClr val="E6EDF3"/>
                </a:solidFill>
                <a:latin typeface="Courier New"/>
              </a:rPr>
              <a:t>str</a:t>
            </a:r>
            <a:r>
              <a:rPr sz="1400" b="0" i="0">
                <a:solidFill>
                  <a:srgbClr val="E6EDF3"/>
                </a:solidFill>
                <a:latin typeface="Courier New"/>
              </a:rPr>
              <a:t>(</a:t>
            </a:r>
            <a:r>
              <a:rPr sz="1400" b="0" i="0">
                <a:solidFill>
                  <a:srgbClr val="7CC4FF"/>
                </a:solidFill>
                <a:latin typeface="Courier New"/>
              </a:rPr>
              <a:t>2</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100</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a:t>
            </a:r>
          </a:p>
        </p:txBody>
      </p:sp>
      <p:sp>
        <p:nvSpPr>
          <p:cNvPr id="5" name="explanation"/>
          <p:cNvSpPr txBox="1"/>
          <p:nvPr/>
        </p:nvSpPr>
        <p:spPr>
          <a:xfrm>
            <a:off x="3697223" y="841248"/>
            <a:ext cx="5081016" cy="833628"/>
          </a:xfrm>
          <a:prstGeom prst="rect">
            <a:avLst/>
          </a:prstGeom>
          <a:noFill/>
        </p:spPr>
        <p:txBody>
          <a:bodyPr wrap="square" lIns="128016" rIns="128016" tIns="18288" bIns="18288" anchor="ctr">
            <a:spAutoFit/>
          </a:bodyPr>
          <a:lstStyle/>
          <a:p>
            <a:r>
              <a:rPr sz="1250" b="0" i="0">
                <a:solidFill>
                  <a:srgbClr val="1F2933"/>
                </a:solidFill>
                <a:latin typeface="Calibri"/>
              </a:rPr>
              <a:t>A Python integer has no size limit. 2 ** 100 is written out in full, all 31 digits, and it is exact.</a:t>
            </a:r>
          </a:p>
        </p:txBody>
      </p:sp>
      <p:sp>
        <p:nvSpPr>
          <p:cNvPr id="6" name="code"/>
          <p:cNvSpPr/>
          <p:nvPr/>
        </p:nvSpPr>
        <p:spPr>
          <a:xfrm>
            <a:off x="365760" y="1729740"/>
            <a:ext cx="3349751"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int</a:t>
            </a:r>
            <a:r>
              <a:rPr sz="1400" b="0" i="0">
                <a:solidFill>
                  <a:srgbClr val="E6EDF3"/>
                </a:solidFill>
                <a:latin typeface="Courier New"/>
              </a:rPr>
              <a:t>(</a:t>
            </a:r>
            <a:r>
              <a:rPr sz="1400" b="0" i="0">
                <a:solidFill>
                  <a:srgbClr val="9BE3A8"/>
                </a:solidFill>
                <a:latin typeface="Courier New"/>
              </a:rPr>
              <a:t>'42'</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1</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int</a:t>
            </a:r>
            <a:r>
              <a:rPr sz="1400" b="0" i="0">
                <a:solidFill>
                  <a:srgbClr val="E6EDF3"/>
                </a:solidFill>
                <a:latin typeface="Courier New"/>
              </a:rPr>
              <a:t>(</a:t>
            </a:r>
            <a:r>
              <a:rPr sz="1400" b="0" i="0">
                <a:solidFill>
                  <a:srgbClr val="7CC4FF"/>
                </a:solidFill>
                <a:latin typeface="Courier New"/>
              </a:rPr>
              <a:t>4.7</a:t>
            </a:r>
            <a:r>
              <a:rPr sz="1400" b="0" i="0">
                <a:solidFill>
                  <a:srgbClr val="E6EDF3"/>
                </a:solidFill>
                <a:latin typeface="Courier New"/>
              </a:rPr>
              <a:t>)</a:t>
            </a:r>
            <a:r>
              <a:rPr sz="1400" b="0" i="0">
                <a:solidFill>
                  <a:srgbClr val="E6EDF3"/>
                </a:solidFill>
                <a:latin typeface="Courier New"/>
              </a:rPr>
              <a:t>)</a:t>
            </a:r>
          </a:p>
        </p:txBody>
      </p:sp>
      <p:sp>
        <p:nvSpPr>
          <p:cNvPr id="7" name="explanation"/>
          <p:cNvSpPr txBox="1"/>
          <p:nvPr/>
        </p:nvSpPr>
        <p:spPr>
          <a:xfrm>
            <a:off x="3697223" y="1729740"/>
            <a:ext cx="5081016" cy="616712"/>
          </a:xfrm>
          <a:prstGeom prst="rect">
            <a:avLst/>
          </a:prstGeom>
          <a:noFill/>
        </p:spPr>
        <p:txBody>
          <a:bodyPr wrap="square" lIns="128016" rIns="128016" tIns="18288" bIns="18288" anchor="ctr">
            <a:spAutoFit/>
          </a:bodyPr>
          <a:lstStyle/>
          <a:p>
            <a:r>
              <a:rPr sz="1250" b="0" i="0">
                <a:solidFill>
                  <a:srgbClr val="1F2933"/>
                </a:solidFill>
                <a:latin typeface="Calibri"/>
              </a:rPr>
              <a:t>int reads text as a whole number. Given a float it cuts the fraction away; it does not round.</a:t>
            </a:r>
          </a:p>
        </p:txBody>
      </p:sp>
      <p:sp>
        <p:nvSpPr>
          <p:cNvPr id="8" name="result label"/>
          <p:cNvSpPr txBox="1"/>
          <p:nvPr/>
        </p:nvSpPr>
        <p:spPr>
          <a:xfrm>
            <a:off x="365760" y="241960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chart"/>
          <p:cNvGraphicFramePr>
            <a:graphicFrameLocks noGrp="1"/>
          </p:cNvGraphicFramePr>
          <p:nvPr/>
        </p:nvGraphicFramePr>
        <p:xfrm>
          <a:off x="365760" y="2693924"/>
          <a:ext cx="3869740" cy="1914652"/>
        </p:xfrm>
        <a:graphic>
          <a:graphicData uri="http://schemas.openxmlformats.org/drawingml/2006/chart">
            <c:chart xmlns:c="http://schemas.openxmlformats.org/drawingml/2006/chart" r:id="rId3"/>
          </a:graphicData>
        </a:graphic>
      </p:graphicFrame>
      <p:graphicFrame>
        <p:nvGraphicFramePr>
          <p:cNvPr id="10" name="table"/>
          <p:cNvGraphicFramePr>
            <a:graphicFrameLocks noGrp="1"/>
          </p:cNvGraphicFramePr>
          <p:nvPr/>
        </p:nvGraphicFramePr>
        <p:xfrm>
          <a:off x="4572000" y="2785364"/>
          <a:ext cx="4206239" cy="1554480"/>
        </p:xfrm>
        <a:graphic>
          <a:graphicData uri="http://schemas.openxmlformats.org/drawingml/2006/table">
            <a:tbl>
              <a:tblPr firstRow="0" bandRow="0"/>
              <a:tblGrid>
                <a:gridCol w="1720734"/>
                <a:gridCol w="2485505"/>
              </a:tblGrid>
              <a:tr h="310896">
                <a:tc>
                  <a:txBody>
                    <a:bodyPr wrap="square"/>
                    <a:lstStyle/>
                    <a:p>
                      <a:r>
                        <a:rPr sz="1050" b="1" i="0">
                          <a:solidFill>
                            <a:srgbClr val="FFFFFF"/>
                          </a:solidFill>
                          <a:latin typeface="Calibri"/>
                        </a:rPr>
                        <a:t>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0896">
                <a:tc>
                  <a:txBody>
                    <a:bodyPr wrap="square"/>
                    <a:lstStyle/>
                    <a:p>
                      <a:r>
                        <a:rPr sz="1050" b="0" i="0">
                          <a:solidFill>
                            <a:srgbClr val="1F2933"/>
                          </a:solidFill>
                          <a:latin typeface="Courier New"/>
                        </a:rPr>
                        <a:t>7 + 1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1050" b="0" i="0">
                          <a:solidFill>
                            <a:srgbClr val="1F2933"/>
                          </a:solidFill>
                          <a:latin typeface="Courier New"/>
                        </a:rPr>
                        <a:t>int('42') + 1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43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10896">
                <a:tc>
                  <a:txBody>
                    <a:bodyPr wrap="square"/>
                    <a:lstStyle/>
                    <a:p>
                      <a:r>
                        <a:rPr sz="1050" b="0" i="0">
                          <a:solidFill>
                            <a:srgbClr val="1F2933"/>
                          </a:solidFill>
                          <a:latin typeface="Courier New"/>
                        </a:rPr>
                        <a:t>int(4.7)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1050" b="0" i="0">
                          <a:solidFill>
                            <a:srgbClr val="1F2933"/>
                          </a:solidFill>
                          <a:latin typeface="Courier New"/>
                        </a:rPr>
                        <a:t>2 ** 100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1267650600228229401...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Integers are exact, however big.</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9 / 39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Floats are honest about being approximate</a:t>
            </a:r>
          </a:p>
        </p:txBody>
      </p:sp>
      <p:sp>
        <p:nvSpPr>
          <p:cNvPr id="4" name="code"/>
          <p:cNvSpPr/>
          <p:nvPr/>
        </p:nvSpPr>
        <p:spPr>
          <a:xfrm>
            <a:off x="365760" y="841248"/>
            <a:ext cx="3456432" cy="8336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0.1</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0.2</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round</a:t>
            </a:r>
            <a:r>
              <a:rPr sz="1400" b="0" i="0">
                <a:solidFill>
                  <a:srgbClr val="E6EDF3"/>
                </a:solidFill>
                <a:latin typeface="Courier New"/>
              </a:rPr>
              <a:t>(</a:t>
            </a:r>
            <a:r>
              <a:rPr sz="1400" b="0" i="0">
                <a:solidFill>
                  <a:srgbClr val="7CC4FF"/>
                </a:solidFill>
                <a:latin typeface="Courier New"/>
              </a:rPr>
              <a:t>0.1</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0.2</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2</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0.1</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0.2</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0.3</a:t>
            </a:r>
            <a:r>
              <a:rPr sz="1400" b="0" i="0">
                <a:solidFill>
                  <a:srgbClr val="E6EDF3"/>
                </a:solidFill>
                <a:latin typeface="Courier New"/>
              </a:rPr>
              <a:t>)</a:t>
            </a:r>
          </a:p>
        </p:txBody>
      </p:sp>
      <p:sp>
        <p:nvSpPr>
          <p:cNvPr id="5" name="explanation"/>
          <p:cNvSpPr txBox="1"/>
          <p:nvPr/>
        </p:nvSpPr>
        <p:spPr>
          <a:xfrm>
            <a:off x="3803904" y="841248"/>
            <a:ext cx="4974336" cy="833628"/>
          </a:xfrm>
          <a:prstGeom prst="rect">
            <a:avLst/>
          </a:prstGeom>
          <a:noFill/>
        </p:spPr>
        <p:txBody>
          <a:bodyPr wrap="square" lIns="128016" rIns="128016" tIns="18288" bIns="18288" anchor="ctr">
            <a:spAutoFit/>
          </a:bodyPr>
          <a:lstStyle/>
          <a:p>
            <a:r>
              <a:rPr sz="1250" b="0" i="0">
                <a:solidFill>
                  <a:srgbClr val="1F2933"/>
                </a:solidFill>
                <a:latin typeface="Calibri"/>
              </a:rPr>
              <a:t>A float is stored in binary, so 0.1 and 0.2 are only close. round shows a tidy number, but == still says they differ.</a:t>
            </a:r>
          </a:p>
        </p:txBody>
      </p:sp>
      <p:sp>
        <p:nvSpPr>
          <p:cNvPr id="6" name="code"/>
          <p:cNvSpPr/>
          <p:nvPr/>
        </p:nvSpPr>
        <p:spPr>
          <a:xfrm>
            <a:off x="365760" y="1729740"/>
            <a:ext cx="3456432" cy="8336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6</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3</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type</a:t>
            </a:r>
            <a:r>
              <a:rPr sz="1400" b="0" i="0">
                <a:solidFill>
                  <a:srgbClr val="E6EDF3"/>
                </a:solidFill>
                <a:latin typeface="Courier New"/>
              </a:rPr>
              <a:t>(</a:t>
            </a:r>
            <a:r>
              <a:rPr sz="1400" b="0" i="0">
                <a:solidFill>
                  <a:srgbClr val="7CC4FF"/>
                </a:solidFill>
                <a:latin typeface="Courier New"/>
              </a:rPr>
              <a:t>6</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3</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4</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3.75</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1</a:t>
            </a:r>
            <a:r>
              <a:rPr sz="1400" b="0" i="0">
                <a:solidFill>
                  <a:srgbClr val="E6EDF3"/>
                </a:solidFill>
                <a:latin typeface="Courier New"/>
              </a:rPr>
              <a:t>)</a:t>
            </a:r>
          </a:p>
        </p:txBody>
      </p:sp>
      <p:sp>
        <p:nvSpPr>
          <p:cNvPr id="7" name="explanation"/>
          <p:cNvSpPr txBox="1"/>
          <p:nvPr/>
        </p:nvSpPr>
        <p:spPr>
          <a:xfrm>
            <a:off x="3803904" y="1729740"/>
            <a:ext cx="4974336" cy="833628"/>
          </a:xfrm>
          <a:prstGeom prst="rect">
            <a:avLst/>
          </a:prstGeom>
          <a:noFill/>
        </p:spPr>
        <p:txBody>
          <a:bodyPr wrap="square" lIns="128016" rIns="128016" tIns="18288" bIns="18288" anchor="ctr">
            <a:spAutoFit/>
          </a:bodyPr>
          <a:lstStyle/>
          <a:p>
            <a:r>
              <a:rPr sz="1250" b="0" i="0">
                <a:solidFill>
                  <a:srgbClr val="1F2933"/>
                </a:solidFill>
                <a:latin typeface="Calibri"/>
              </a:rPr>
              <a:t>Division with / always gives a float, even when it divides evenly. A float in the mix makes the result a float.</a:t>
            </a:r>
          </a:p>
        </p:txBody>
      </p:sp>
      <p:sp>
        <p:nvSpPr>
          <p:cNvPr id="8" name="result label"/>
          <p:cNvSpPr txBox="1"/>
          <p:nvPr/>
        </p:nvSpPr>
        <p:spPr>
          <a:xfrm>
            <a:off x="365760" y="2636520"/>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910840"/>
          <a:ext cx="5047487" cy="1645920"/>
        </p:xfrm>
        <a:graphic>
          <a:graphicData uri="http://schemas.openxmlformats.org/drawingml/2006/table">
            <a:tbl>
              <a:tblPr firstRow="0" bandRow="0"/>
              <a:tblGrid>
                <a:gridCol w="2276318"/>
                <a:gridCol w="1880436"/>
                <a:gridCol w="890733"/>
              </a:tblGrid>
              <a:tr h="274320">
                <a:tc>
                  <a:txBody>
                    <a:bodyPr wrap="square"/>
                    <a:lstStyle/>
                    <a:p>
                      <a:r>
                        <a:rPr sz="1050" b="1" i="0">
                          <a:solidFill>
                            <a:srgbClr val="FFFFFF"/>
                          </a:solidFill>
                          <a:latin typeface="Calibri"/>
                        </a:rPr>
                        <a:t>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50" b="0" i="0">
                          <a:solidFill>
                            <a:srgbClr val="1F2933"/>
                          </a:solidFill>
                          <a:latin typeface="Courier New"/>
                        </a:rPr>
                        <a:t>0.1 + 0.2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0.30000000000000004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float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50" b="0" i="0">
                          <a:solidFill>
                            <a:srgbClr val="1F2933"/>
                          </a:solidFill>
                          <a:latin typeface="Courier New"/>
                        </a:rPr>
                        <a:t>round(0.1 + 0.2,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0.3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float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50" b="0" i="0">
                          <a:solidFill>
                            <a:srgbClr val="1F2933"/>
                          </a:solidFill>
                          <a:latin typeface="Courier New"/>
                        </a:rPr>
                        <a:t>0.1 + 0.2 == 0.3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bool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50" b="0" i="0">
                          <a:solidFill>
                            <a:srgbClr val="1F2933"/>
                          </a:solidFill>
                          <a:latin typeface="Courier New"/>
                        </a:rPr>
                        <a:t>6 / 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float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50" b="0" i="0">
                          <a:solidFill>
                            <a:srgbClr val="1F2933"/>
                          </a:solidFill>
                          <a:latin typeface="Courier New"/>
                        </a:rPr>
                        <a:t>4 * 3.75 - 1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14.0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float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graphicFrame>
        <p:nvGraphicFramePr>
          <p:cNvPr id="10" name="chart"/>
          <p:cNvGraphicFramePr>
            <a:graphicFrameLocks noGrp="1"/>
          </p:cNvGraphicFramePr>
          <p:nvPr/>
        </p:nvGraphicFramePr>
        <p:xfrm>
          <a:off x="5749747" y="2910840"/>
          <a:ext cx="3028492" cy="1697736"/>
        </p:xfrm>
        <a:graphic>
          <a:graphicData uri="http://schemas.openxmlformats.org/drawingml/2006/chart">
            <c:chart xmlns:c="http://schemas.openxmlformats.org/drawingml/2006/chart" r:id="rId3"/>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Floats are binary fractions; 0.1 + 0.2 is not 0.3.</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10 / 39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Strings: text between quotes</a:t>
            </a:r>
          </a:p>
        </p:txBody>
      </p:sp>
      <p:sp>
        <p:nvSpPr>
          <p:cNvPr id="4" name="code"/>
          <p:cNvSpPr/>
          <p:nvPr/>
        </p:nvSpPr>
        <p:spPr>
          <a:xfrm>
            <a:off x="365760" y="841248"/>
            <a:ext cx="3563111"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'Hello, world!'</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len</a:t>
            </a:r>
            <a:r>
              <a:rPr sz="1400" b="0" i="0">
                <a:solidFill>
                  <a:srgbClr val="E6EDF3"/>
                </a:solidFill>
                <a:latin typeface="Courier New"/>
              </a:rPr>
              <a:t>(</a:t>
            </a:r>
            <a:r>
              <a:rPr sz="1400" b="0" i="0">
                <a:solidFill>
                  <a:srgbClr val="9BE3A8"/>
                </a:solidFill>
                <a:latin typeface="Courier New"/>
              </a:rPr>
              <a:t>'Hello, world!'</a:t>
            </a:r>
            <a:r>
              <a:rPr sz="1400" b="0" i="0">
                <a:solidFill>
                  <a:srgbClr val="E6EDF3"/>
                </a:solidFill>
                <a:latin typeface="Courier New"/>
              </a:rPr>
              <a:t>)</a:t>
            </a:r>
            <a:r>
              <a:rPr sz="1400" b="0" i="0">
                <a:solidFill>
                  <a:srgbClr val="E6EDF3"/>
                </a:solidFill>
                <a:latin typeface="Courier New"/>
              </a:rPr>
              <a:t>)</a:t>
            </a:r>
          </a:p>
        </p:txBody>
      </p:sp>
      <p:sp>
        <p:nvSpPr>
          <p:cNvPr id="5" name="explanation"/>
          <p:cNvSpPr txBox="1"/>
          <p:nvPr/>
        </p:nvSpPr>
        <p:spPr>
          <a:xfrm>
            <a:off x="3910583" y="841248"/>
            <a:ext cx="4867655" cy="616712"/>
          </a:xfrm>
          <a:prstGeom prst="rect">
            <a:avLst/>
          </a:prstGeom>
          <a:noFill/>
        </p:spPr>
        <p:txBody>
          <a:bodyPr wrap="square" lIns="128016" rIns="128016" tIns="18288" bIns="18288" anchor="ctr">
            <a:spAutoFit/>
          </a:bodyPr>
          <a:lstStyle/>
          <a:p>
            <a:r>
              <a:rPr sz="1250" b="0" i="0">
                <a:solidFill>
                  <a:srgbClr val="1F2933"/>
                </a:solidFill>
                <a:latin typeface="Calibri"/>
              </a:rPr>
              <a:t>A string is text between quotes. len counts every character, and spaces and punctuation count too.</a:t>
            </a:r>
          </a:p>
        </p:txBody>
      </p:sp>
      <p:sp>
        <p:nvSpPr>
          <p:cNvPr id="6" name="code"/>
          <p:cNvSpPr/>
          <p:nvPr/>
        </p:nvSpPr>
        <p:spPr>
          <a:xfrm>
            <a:off x="365760" y="1512824"/>
            <a:ext cx="3563111"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'7'</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7</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type</a:t>
            </a:r>
            <a:r>
              <a:rPr sz="1400" b="0" i="0">
                <a:solidFill>
                  <a:srgbClr val="E6EDF3"/>
                </a:solidFill>
                <a:latin typeface="Courier New"/>
              </a:rPr>
              <a:t>(</a:t>
            </a:r>
            <a:r>
              <a:rPr sz="1400" b="0" i="0">
                <a:solidFill>
                  <a:srgbClr val="9BE3A8"/>
                </a:solidFill>
                <a:latin typeface="Courier New"/>
              </a:rPr>
              <a:t>'7'</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type</a:t>
            </a:r>
            <a:r>
              <a:rPr sz="1400" b="0" i="0">
                <a:solidFill>
                  <a:srgbClr val="E6EDF3"/>
                </a:solidFill>
                <a:latin typeface="Courier New"/>
              </a:rPr>
              <a:t>(</a:t>
            </a:r>
            <a:r>
              <a:rPr sz="1400" b="0" i="0">
                <a:solidFill>
                  <a:srgbClr val="7CC4FF"/>
                </a:solidFill>
                <a:latin typeface="Courier New"/>
              </a:rPr>
              <a:t>7</a:t>
            </a:r>
            <a:r>
              <a:rPr sz="1400" b="0" i="0">
                <a:solidFill>
                  <a:srgbClr val="E6EDF3"/>
                </a:solidFill>
                <a:latin typeface="Courier New"/>
              </a:rPr>
              <a:t>)</a:t>
            </a:r>
            <a:r>
              <a:rPr sz="1400" b="0" i="0">
                <a:solidFill>
                  <a:srgbClr val="E6EDF3"/>
                </a:solidFill>
                <a:latin typeface="Courier New"/>
              </a:rPr>
              <a:t>)</a:t>
            </a:r>
          </a:p>
        </p:txBody>
      </p:sp>
      <p:sp>
        <p:nvSpPr>
          <p:cNvPr id="7" name="explanation"/>
          <p:cNvSpPr txBox="1"/>
          <p:nvPr/>
        </p:nvSpPr>
        <p:spPr>
          <a:xfrm>
            <a:off x="3910583" y="1512824"/>
            <a:ext cx="4867655" cy="616712"/>
          </a:xfrm>
          <a:prstGeom prst="rect">
            <a:avLst/>
          </a:prstGeom>
          <a:noFill/>
        </p:spPr>
        <p:txBody>
          <a:bodyPr wrap="square" lIns="128016" rIns="128016" tIns="18288" bIns="18288" anchor="ctr">
            <a:spAutoFit/>
          </a:bodyPr>
          <a:lstStyle/>
          <a:p>
            <a:r>
              <a:rPr sz="1250" b="0" i="0">
                <a:solidFill>
                  <a:srgbClr val="1F2933"/>
                </a:solidFill>
                <a:latin typeface="Calibri"/>
              </a:rPr>
              <a:t>The text '7' and the number 7 look alike but are different values of different types, so they are not equal.</a:t>
            </a:r>
          </a:p>
        </p:txBody>
      </p:sp>
      <p:sp>
        <p:nvSpPr>
          <p:cNvPr id="8" name="result label"/>
          <p:cNvSpPr txBox="1"/>
          <p:nvPr/>
        </p:nvSpPr>
        <p:spPr>
          <a:xfrm>
            <a:off x="365760" y="220268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TextBox 8"/>
          <p:cNvSpPr txBox="1"/>
          <p:nvPr/>
        </p:nvSpPr>
        <p:spPr>
          <a:xfrm>
            <a:off x="365760" y="2477008"/>
            <a:ext cx="4572000" cy="237744"/>
          </a:xfrm>
          <a:prstGeom prst="rect">
            <a:avLst/>
          </a:prstGeom>
          <a:noFill/>
        </p:spPr>
        <p:txBody>
          <a:bodyPr wrap="square" lIns="45720" rIns="45720" tIns="27432" bIns="27432" anchor="t">
            <a:spAutoFit/>
          </a:bodyPr>
          <a:lstStyle/>
          <a:p>
            <a:r>
              <a:rPr sz="1050" b="1" i="0">
                <a:solidFill>
                  <a:srgbClr val="0E7C86"/>
                </a:solidFill>
                <a:latin typeface="Calibri"/>
              </a:rPr>
              <a:t>len('Hello, world!') counts these cells</a:t>
            </a:r>
          </a:p>
        </p:txBody>
      </p:sp>
      <p:sp>
        <p:nvSpPr>
          <p:cNvPr id="10" name="Rounded Rectangle 9"/>
          <p:cNvSpPr/>
          <p:nvPr/>
        </p:nvSpPr>
        <p:spPr>
          <a:xfrm>
            <a:off x="365760" y="2751327"/>
            <a:ext cx="378350"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1F2933"/>
                </a:solidFill>
                <a:latin typeface="Courier New"/>
              </a:rPr>
              <a:t>H</a:t>
            </a:r>
          </a:p>
        </p:txBody>
      </p:sp>
      <p:sp>
        <p:nvSpPr>
          <p:cNvPr id="11" name="TextBox 10"/>
          <p:cNvSpPr txBox="1"/>
          <p:nvPr/>
        </p:nvSpPr>
        <p:spPr>
          <a:xfrm>
            <a:off x="365760" y="3135375"/>
            <a:ext cx="378350" cy="164592"/>
          </a:xfrm>
          <a:prstGeom prst="rect">
            <a:avLst/>
          </a:prstGeom>
          <a:noFill/>
        </p:spPr>
        <p:txBody>
          <a:bodyPr wrap="square" lIns="0" rIns="0" tIns="0" bIns="0" anchor="t">
            <a:spAutoFit/>
          </a:bodyPr>
          <a:lstStyle/>
          <a:p>
            <a:pPr algn="ctr"/>
            <a:r>
              <a:rPr sz="800" b="0" i="0">
                <a:solidFill>
                  <a:srgbClr val="5B6773"/>
                </a:solidFill>
                <a:latin typeface="Calibri"/>
              </a:rPr>
              <a:t>0</a:t>
            </a:r>
          </a:p>
        </p:txBody>
      </p:sp>
      <p:sp>
        <p:nvSpPr>
          <p:cNvPr id="12" name="Rounded Rectangle 11"/>
          <p:cNvSpPr/>
          <p:nvPr/>
        </p:nvSpPr>
        <p:spPr>
          <a:xfrm>
            <a:off x="766970" y="2751327"/>
            <a:ext cx="378350"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1F2933"/>
                </a:solidFill>
                <a:latin typeface="Courier New"/>
              </a:rPr>
              <a:t>e</a:t>
            </a:r>
          </a:p>
        </p:txBody>
      </p:sp>
      <p:sp>
        <p:nvSpPr>
          <p:cNvPr id="13" name="TextBox 12"/>
          <p:cNvSpPr txBox="1"/>
          <p:nvPr/>
        </p:nvSpPr>
        <p:spPr>
          <a:xfrm>
            <a:off x="766970" y="3135375"/>
            <a:ext cx="378350" cy="164592"/>
          </a:xfrm>
          <a:prstGeom prst="rect">
            <a:avLst/>
          </a:prstGeom>
          <a:noFill/>
        </p:spPr>
        <p:txBody>
          <a:bodyPr wrap="square" lIns="0" rIns="0" tIns="0" bIns="0" anchor="t">
            <a:spAutoFit/>
          </a:bodyPr>
          <a:lstStyle/>
          <a:p>
            <a:pPr algn="ctr"/>
            <a:r>
              <a:rPr sz="800" b="0" i="0">
                <a:solidFill>
                  <a:srgbClr val="5B6773"/>
                </a:solidFill>
                <a:latin typeface="Calibri"/>
              </a:rPr>
              <a:t>1</a:t>
            </a:r>
          </a:p>
        </p:txBody>
      </p:sp>
      <p:sp>
        <p:nvSpPr>
          <p:cNvPr id="14" name="Rounded Rectangle 13"/>
          <p:cNvSpPr/>
          <p:nvPr/>
        </p:nvSpPr>
        <p:spPr>
          <a:xfrm>
            <a:off x="1168181" y="2751327"/>
            <a:ext cx="378350"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1F2933"/>
                </a:solidFill>
                <a:latin typeface="Courier New"/>
              </a:rPr>
              <a:t>l</a:t>
            </a:r>
          </a:p>
        </p:txBody>
      </p:sp>
      <p:sp>
        <p:nvSpPr>
          <p:cNvPr id="15" name="TextBox 14"/>
          <p:cNvSpPr txBox="1"/>
          <p:nvPr/>
        </p:nvSpPr>
        <p:spPr>
          <a:xfrm>
            <a:off x="1168181" y="3135375"/>
            <a:ext cx="378350" cy="164592"/>
          </a:xfrm>
          <a:prstGeom prst="rect">
            <a:avLst/>
          </a:prstGeom>
          <a:noFill/>
        </p:spPr>
        <p:txBody>
          <a:bodyPr wrap="square" lIns="0" rIns="0" tIns="0" bIns="0" anchor="t">
            <a:spAutoFit/>
          </a:bodyPr>
          <a:lstStyle/>
          <a:p>
            <a:pPr algn="ctr"/>
            <a:r>
              <a:rPr sz="800" b="0" i="0">
                <a:solidFill>
                  <a:srgbClr val="5B6773"/>
                </a:solidFill>
                <a:latin typeface="Calibri"/>
              </a:rPr>
              <a:t>2</a:t>
            </a:r>
          </a:p>
        </p:txBody>
      </p:sp>
      <p:sp>
        <p:nvSpPr>
          <p:cNvPr id="16" name="Rounded Rectangle 15"/>
          <p:cNvSpPr/>
          <p:nvPr/>
        </p:nvSpPr>
        <p:spPr>
          <a:xfrm>
            <a:off x="1569391" y="2751327"/>
            <a:ext cx="378350"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1F2933"/>
                </a:solidFill>
                <a:latin typeface="Courier New"/>
              </a:rPr>
              <a:t>l</a:t>
            </a:r>
          </a:p>
        </p:txBody>
      </p:sp>
      <p:sp>
        <p:nvSpPr>
          <p:cNvPr id="17" name="TextBox 16"/>
          <p:cNvSpPr txBox="1"/>
          <p:nvPr/>
        </p:nvSpPr>
        <p:spPr>
          <a:xfrm>
            <a:off x="1569391" y="3135375"/>
            <a:ext cx="378350" cy="164592"/>
          </a:xfrm>
          <a:prstGeom prst="rect">
            <a:avLst/>
          </a:prstGeom>
          <a:noFill/>
        </p:spPr>
        <p:txBody>
          <a:bodyPr wrap="square" lIns="0" rIns="0" tIns="0" bIns="0" anchor="t">
            <a:spAutoFit/>
          </a:bodyPr>
          <a:lstStyle/>
          <a:p>
            <a:pPr algn="ctr"/>
            <a:r>
              <a:rPr sz="800" b="0" i="0">
                <a:solidFill>
                  <a:srgbClr val="5B6773"/>
                </a:solidFill>
                <a:latin typeface="Calibri"/>
              </a:rPr>
              <a:t>3</a:t>
            </a:r>
          </a:p>
        </p:txBody>
      </p:sp>
      <p:sp>
        <p:nvSpPr>
          <p:cNvPr id="18" name="Rounded Rectangle 17"/>
          <p:cNvSpPr/>
          <p:nvPr/>
        </p:nvSpPr>
        <p:spPr>
          <a:xfrm>
            <a:off x="1970602" y="2751327"/>
            <a:ext cx="378350"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1F2933"/>
                </a:solidFill>
                <a:latin typeface="Courier New"/>
              </a:rPr>
              <a:t>o</a:t>
            </a:r>
          </a:p>
        </p:txBody>
      </p:sp>
      <p:sp>
        <p:nvSpPr>
          <p:cNvPr id="19" name="TextBox 18"/>
          <p:cNvSpPr txBox="1"/>
          <p:nvPr/>
        </p:nvSpPr>
        <p:spPr>
          <a:xfrm>
            <a:off x="1970602" y="3135375"/>
            <a:ext cx="378350" cy="164592"/>
          </a:xfrm>
          <a:prstGeom prst="rect">
            <a:avLst/>
          </a:prstGeom>
          <a:noFill/>
        </p:spPr>
        <p:txBody>
          <a:bodyPr wrap="square" lIns="0" rIns="0" tIns="0" bIns="0" anchor="t">
            <a:spAutoFit/>
          </a:bodyPr>
          <a:lstStyle/>
          <a:p>
            <a:pPr algn="ctr"/>
            <a:r>
              <a:rPr sz="800" b="0" i="0">
                <a:solidFill>
                  <a:srgbClr val="5B6773"/>
                </a:solidFill>
                <a:latin typeface="Calibri"/>
              </a:rPr>
              <a:t>4</a:t>
            </a:r>
          </a:p>
        </p:txBody>
      </p:sp>
      <p:sp>
        <p:nvSpPr>
          <p:cNvPr id="20" name="Rounded Rectangle 19"/>
          <p:cNvSpPr/>
          <p:nvPr/>
        </p:nvSpPr>
        <p:spPr>
          <a:xfrm>
            <a:off x="2371812" y="2751327"/>
            <a:ext cx="378350" cy="384048"/>
          </a:xfrm>
          <a:prstGeom prst="roundRect">
            <a:avLst>
              <a:gd name="adj" fmla="val 10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5B6773"/>
                </a:solidFill>
                <a:latin typeface="Courier New"/>
              </a:rPr>
              <a:t>,</a:t>
            </a:r>
          </a:p>
        </p:txBody>
      </p:sp>
      <p:sp>
        <p:nvSpPr>
          <p:cNvPr id="21" name="TextBox 20"/>
          <p:cNvSpPr txBox="1"/>
          <p:nvPr/>
        </p:nvSpPr>
        <p:spPr>
          <a:xfrm>
            <a:off x="2371812" y="3135375"/>
            <a:ext cx="378350" cy="164592"/>
          </a:xfrm>
          <a:prstGeom prst="rect">
            <a:avLst/>
          </a:prstGeom>
          <a:noFill/>
        </p:spPr>
        <p:txBody>
          <a:bodyPr wrap="square" lIns="0" rIns="0" tIns="0" bIns="0" anchor="t">
            <a:spAutoFit/>
          </a:bodyPr>
          <a:lstStyle/>
          <a:p>
            <a:pPr algn="ctr"/>
            <a:r>
              <a:rPr sz="800" b="0" i="0">
                <a:solidFill>
                  <a:srgbClr val="5B6773"/>
                </a:solidFill>
                <a:latin typeface="Calibri"/>
              </a:rPr>
              <a:t>5</a:t>
            </a:r>
          </a:p>
        </p:txBody>
      </p:sp>
      <p:sp>
        <p:nvSpPr>
          <p:cNvPr id="22" name="Rounded Rectangle 21"/>
          <p:cNvSpPr/>
          <p:nvPr/>
        </p:nvSpPr>
        <p:spPr>
          <a:xfrm>
            <a:off x="2773023" y="2751327"/>
            <a:ext cx="378350" cy="384048"/>
          </a:xfrm>
          <a:prstGeom prst="roundRect">
            <a:avLst>
              <a:gd name="adj" fmla="val 10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5B6773"/>
                </a:solidFill>
                <a:latin typeface="Courier New"/>
              </a:rPr>
              <a:t>·</a:t>
            </a:r>
          </a:p>
        </p:txBody>
      </p:sp>
      <p:sp>
        <p:nvSpPr>
          <p:cNvPr id="23" name="TextBox 22"/>
          <p:cNvSpPr txBox="1"/>
          <p:nvPr/>
        </p:nvSpPr>
        <p:spPr>
          <a:xfrm>
            <a:off x="2773023" y="3135375"/>
            <a:ext cx="378350" cy="164592"/>
          </a:xfrm>
          <a:prstGeom prst="rect">
            <a:avLst/>
          </a:prstGeom>
          <a:noFill/>
        </p:spPr>
        <p:txBody>
          <a:bodyPr wrap="square" lIns="0" rIns="0" tIns="0" bIns="0" anchor="t">
            <a:spAutoFit/>
          </a:bodyPr>
          <a:lstStyle/>
          <a:p>
            <a:pPr algn="ctr"/>
            <a:r>
              <a:rPr sz="800" b="0" i="0">
                <a:solidFill>
                  <a:srgbClr val="5B6773"/>
                </a:solidFill>
                <a:latin typeface="Calibri"/>
              </a:rPr>
              <a:t>6</a:t>
            </a:r>
          </a:p>
        </p:txBody>
      </p:sp>
      <p:sp>
        <p:nvSpPr>
          <p:cNvPr id="24" name="Rounded Rectangle 23"/>
          <p:cNvSpPr/>
          <p:nvPr/>
        </p:nvSpPr>
        <p:spPr>
          <a:xfrm>
            <a:off x="3174234" y="2751327"/>
            <a:ext cx="378350"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1F2933"/>
                </a:solidFill>
                <a:latin typeface="Courier New"/>
              </a:rPr>
              <a:t>w</a:t>
            </a:r>
          </a:p>
        </p:txBody>
      </p:sp>
      <p:sp>
        <p:nvSpPr>
          <p:cNvPr id="25" name="TextBox 24"/>
          <p:cNvSpPr txBox="1"/>
          <p:nvPr/>
        </p:nvSpPr>
        <p:spPr>
          <a:xfrm>
            <a:off x="3174234" y="3135375"/>
            <a:ext cx="378350" cy="164592"/>
          </a:xfrm>
          <a:prstGeom prst="rect">
            <a:avLst/>
          </a:prstGeom>
          <a:noFill/>
        </p:spPr>
        <p:txBody>
          <a:bodyPr wrap="square" lIns="0" rIns="0" tIns="0" bIns="0" anchor="t">
            <a:spAutoFit/>
          </a:bodyPr>
          <a:lstStyle/>
          <a:p>
            <a:pPr algn="ctr"/>
            <a:r>
              <a:rPr sz="800" b="0" i="0">
                <a:solidFill>
                  <a:srgbClr val="5B6773"/>
                </a:solidFill>
                <a:latin typeface="Calibri"/>
              </a:rPr>
              <a:t>7</a:t>
            </a:r>
          </a:p>
        </p:txBody>
      </p:sp>
      <p:sp>
        <p:nvSpPr>
          <p:cNvPr id="26" name="Rounded Rectangle 25"/>
          <p:cNvSpPr/>
          <p:nvPr/>
        </p:nvSpPr>
        <p:spPr>
          <a:xfrm>
            <a:off x="3575444" y="2751327"/>
            <a:ext cx="378350"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1F2933"/>
                </a:solidFill>
                <a:latin typeface="Courier New"/>
              </a:rPr>
              <a:t>o</a:t>
            </a:r>
          </a:p>
        </p:txBody>
      </p:sp>
      <p:sp>
        <p:nvSpPr>
          <p:cNvPr id="27" name="TextBox 26"/>
          <p:cNvSpPr txBox="1"/>
          <p:nvPr/>
        </p:nvSpPr>
        <p:spPr>
          <a:xfrm>
            <a:off x="3575444" y="3135375"/>
            <a:ext cx="378350" cy="164592"/>
          </a:xfrm>
          <a:prstGeom prst="rect">
            <a:avLst/>
          </a:prstGeom>
          <a:noFill/>
        </p:spPr>
        <p:txBody>
          <a:bodyPr wrap="square" lIns="0" rIns="0" tIns="0" bIns="0" anchor="t">
            <a:spAutoFit/>
          </a:bodyPr>
          <a:lstStyle/>
          <a:p>
            <a:pPr algn="ctr"/>
            <a:r>
              <a:rPr sz="800" b="0" i="0">
                <a:solidFill>
                  <a:srgbClr val="5B6773"/>
                </a:solidFill>
                <a:latin typeface="Calibri"/>
              </a:rPr>
              <a:t>8</a:t>
            </a:r>
          </a:p>
        </p:txBody>
      </p:sp>
      <p:sp>
        <p:nvSpPr>
          <p:cNvPr id="28" name="Rounded Rectangle 27"/>
          <p:cNvSpPr/>
          <p:nvPr/>
        </p:nvSpPr>
        <p:spPr>
          <a:xfrm>
            <a:off x="3976655" y="2751327"/>
            <a:ext cx="378350"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1F2933"/>
                </a:solidFill>
                <a:latin typeface="Courier New"/>
              </a:rPr>
              <a:t>r</a:t>
            </a:r>
          </a:p>
        </p:txBody>
      </p:sp>
      <p:sp>
        <p:nvSpPr>
          <p:cNvPr id="29" name="TextBox 28"/>
          <p:cNvSpPr txBox="1"/>
          <p:nvPr/>
        </p:nvSpPr>
        <p:spPr>
          <a:xfrm>
            <a:off x="3976655" y="3135375"/>
            <a:ext cx="378350" cy="164592"/>
          </a:xfrm>
          <a:prstGeom prst="rect">
            <a:avLst/>
          </a:prstGeom>
          <a:noFill/>
        </p:spPr>
        <p:txBody>
          <a:bodyPr wrap="square" lIns="0" rIns="0" tIns="0" bIns="0" anchor="t">
            <a:spAutoFit/>
          </a:bodyPr>
          <a:lstStyle/>
          <a:p>
            <a:pPr algn="ctr"/>
            <a:r>
              <a:rPr sz="800" b="0" i="0">
                <a:solidFill>
                  <a:srgbClr val="5B6773"/>
                </a:solidFill>
                <a:latin typeface="Calibri"/>
              </a:rPr>
              <a:t>9</a:t>
            </a:r>
          </a:p>
        </p:txBody>
      </p:sp>
      <p:sp>
        <p:nvSpPr>
          <p:cNvPr id="30" name="Rounded Rectangle 29"/>
          <p:cNvSpPr/>
          <p:nvPr/>
        </p:nvSpPr>
        <p:spPr>
          <a:xfrm>
            <a:off x="4377865" y="2751327"/>
            <a:ext cx="378350"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1F2933"/>
                </a:solidFill>
                <a:latin typeface="Courier New"/>
              </a:rPr>
              <a:t>l</a:t>
            </a:r>
          </a:p>
        </p:txBody>
      </p:sp>
      <p:sp>
        <p:nvSpPr>
          <p:cNvPr id="31" name="TextBox 30"/>
          <p:cNvSpPr txBox="1"/>
          <p:nvPr/>
        </p:nvSpPr>
        <p:spPr>
          <a:xfrm>
            <a:off x="4377865" y="3135375"/>
            <a:ext cx="378350" cy="164592"/>
          </a:xfrm>
          <a:prstGeom prst="rect">
            <a:avLst/>
          </a:prstGeom>
          <a:noFill/>
        </p:spPr>
        <p:txBody>
          <a:bodyPr wrap="square" lIns="0" rIns="0" tIns="0" bIns="0" anchor="t">
            <a:spAutoFit/>
          </a:bodyPr>
          <a:lstStyle/>
          <a:p>
            <a:pPr algn="ctr"/>
            <a:r>
              <a:rPr sz="800" b="0" i="0">
                <a:solidFill>
                  <a:srgbClr val="5B6773"/>
                </a:solidFill>
                <a:latin typeface="Calibri"/>
              </a:rPr>
              <a:t>10</a:t>
            </a:r>
          </a:p>
        </p:txBody>
      </p:sp>
      <p:sp>
        <p:nvSpPr>
          <p:cNvPr id="32" name="Rounded Rectangle 31"/>
          <p:cNvSpPr/>
          <p:nvPr/>
        </p:nvSpPr>
        <p:spPr>
          <a:xfrm>
            <a:off x="4779076" y="2751327"/>
            <a:ext cx="378350"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1F2933"/>
                </a:solidFill>
                <a:latin typeface="Courier New"/>
              </a:rPr>
              <a:t>d</a:t>
            </a:r>
          </a:p>
        </p:txBody>
      </p:sp>
      <p:sp>
        <p:nvSpPr>
          <p:cNvPr id="33" name="TextBox 32"/>
          <p:cNvSpPr txBox="1"/>
          <p:nvPr/>
        </p:nvSpPr>
        <p:spPr>
          <a:xfrm>
            <a:off x="4779076" y="3135375"/>
            <a:ext cx="378350" cy="164592"/>
          </a:xfrm>
          <a:prstGeom prst="rect">
            <a:avLst/>
          </a:prstGeom>
          <a:noFill/>
        </p:spPr>
        <p:txBody>
          <a:bodyPr wrap="square" lIns="0" rIns="0" tIns="0" bIns="0" anchor="t">
            <a:spAutoFit/>
          </a:bodyPr>
          <a:lstStyle/>
          <a:p>
            <a:pPr algn="ctr"/>
            <a:r>
              <a:rPr sz="800" b="0" i="0">
                <a:solidFill>
                  <a:srgbClr val="5B6773"/>
                </a:solidFill>
                <a:latin typeface="Calibri"/>
              </a:rPr>
              <a:t>11</a:t>
            </a:r>
          </a:p>
        </p:txBody>
      </p:sp>
      <p:sp>
        <p:nvSpPr>
          <p:cNvPr id="34" name="Rounded Rectangle 33"/>
          <p:cNvSpPr/>
          <p:nvPr/>
        </p:nvSpPr>
        <p:spPr>
          <a:xfrm>
            <a:off x="5180287" y="2751327"/>
            <a:ext cx="378350" cy="384048"/>
          </a:xfrm>
          <a:prstGeom prst="roundRect">
            <a:avLst>
              <a:gd name="adj" fmla="val 10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5B6773"/>
                </a:solidFill>
                <a:latin typeface="Courier New"/>
              </a:rPr>
              <a:t>!</a:t>
            </a:r>
          </a:p>
        </p:txBody>
      </p:sp>
      <p:sp>
        <p:nvSpPr>
          <p:cNvPr id="35" name="TextBox 34"/>
          <p:cNvSpPr txBox="1"/>
          <p:nvPr/>
        </p:nvSpPr>
        <p:spPr>
          <a:xfrm>
            <a:off x="5180287" y="3135375"/>
            <a:ext cx="378350" cy="164592"/>
          </a:xfrm>
          <a:prstGeom prst="rect">
            <a:avLst/>
          </a:prstGeom>
          <a:noFill/>
        </p:spPr>
        <p:txBody>
          <a:bodyPr wrap="square" lIns="0" rIns="0" tIns="0" bIns="0" anchor="t">
            <a:spAutoFit/>
          </a:bodyPr>
          <a:lstStyle/>
          <a:p>
            <a:pPr algn="ctr"/>
            <a:r>
              <a:rPr sz="800" b="0" i="0">
                <a:solidFill>
                  <a:srgbClr val="5B6773"/>
                </a:solidFill>
                <a:latin typeface="Calibri"/>
              </a:rPr>
              <a:t>12</a:t>
            </a:r>
          </a:p>
        </p:txBody>
      </p:sp>
      <p:cxnSp>
        <p:nvCxnSpPr>
          <p:cNvPr id="36" name="arrow"/>
          <p:cNvCxnSpPr/>
          <p:nvPr/>
        </p:nvCxnSpPr>
        <p:spPr>
          <a:xfrm>
            <a:off x="5627217" y="2943351"/>
            <a:ext cx="320040" cy="0"/>
          </a:xfrm>
          <a:prstGeom prst="line">
            <a:avLst/>
          </a:prstGeom>
          <a:ln w="1651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5992977" y="2778760"/>
            <a:ext cx="822960" cy="329184"/>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len = 13</a:t>
            </a:r>
          </a:p>
        </p:txBody>
      </p:sp>
      <p:graphicFrame>
        <p:nvGraphicFramePr>
          <p:cNvPr id="38" name="table"/>
          <p:cNvGraphicFramePr>
            <a:graphicFrameLocks noGrp="1"/>
          </p:cNvGraphicFramePr>
          <p:nvPr/>
        </p:nvGraphicFramePr>
        <p:xfrm>
          <a:off x="365760" y="3528567"/>
          <a:ext cx="5047488" cy="822960"/>
        </p:xfrm>
        <a:graphic>
          <a:graphicData uri="http://schemas.openxmlformats.org/drawingml/2006/table">
            <a:tbl>
              <a:tblPr firstRow="0" bandRow="0"/>
              <a:tblGrid>
                <a:gridCol w="1261872"/>
                <a:gridCol w="1261872"/>
                <a:gridCol w="2523744"/>
              </a:tblGrid>
              <a:tr h="274320">
                <a:tc>
                  <a:txBody>
                    <a:bodyPr wrap="square"/>
                    <a:lstStyle/>
                    <a:p>
                      <a:r>
                        <a:rPr sz="1050" b="1" i="0">
                          <a:solidFill>
                            <a:srgbClr val="FFFFFF"/>
                          </a:solidFill>
                          <a:latin typeface="Calibri"/>
                        </a:rPr>
                        <a:t>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Equal to the other?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50" b="0" i="0">
                          <a:solidFill>
                            <a:srgbClr val="1F2933"/>
                          </a:solidFill>
                          <a:latin typeface="Courier New"/>
                        </a:rPr>
                        <a:t>'7'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str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50" b="0" i="0">
                          <a:solidFill>
                            <a:srgbClr val="1F2933"/>
                          </a:solidFill>
                          <a:latin typeface="Courier New"/>
                        </a:rPr>
                        <a:t>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39" name="TextBox 38"/>
          <p:cNvSpPr txBox="1"/>
          <p:nvPr/>
        </p:nvSpPr>
        <p:spPr>
          <a:xfrm>
            <a:off x="5581497" y="3528567"/>
            <a:ext cx="3196742" cy="822960"/>
          </a:xfrm>
          <a:prstGeom prst="rect">
            <a:avLst/>
          </a:prstGeom>
          <a:noFill/>
        </p:spPr>
        <p:txBody>
          <a:bodyPr wrap="square" lIns="45720" rIns="45720" tIns="27432" bIns="27432" anchor="t">
            <a:spAutoFit/>
          </a:bodyPr>
          <a:lstStyle/>
          <a:p>
            <a:r>
              <a:rPr sz="1000" b="0" i="1">
                <a:solidFill>
                  <a:srgbClr val="5B6773"/>
                </a:solidFill>
                <a:latin typeface="Calibri"/>
              </a:rPr>
              <a:t>teal: letters, grey: comma, space and mark; all 13 count</a:t>
            </a:r>
          </a:p>
        </p:txBody>
      </p:sp>
      <p:sp>
        <p:nvSpPr>
          <p:cNvPr id="4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'7' is text and 7 is a number: different values.</a:t>
            </a:r>
          </a:p>
        </p:txBody>
      </p:sp>
      <p:sp>
        <p:nvSpPr>
          <p:cNvPr id="4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11 / 39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2: Operations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Combining values: arithmetic, the order of work, and two string operators</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Operators</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Symbols such as plus, minus and star that combine values.</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Precedence</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The order in which operators run; parentheses go first.</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Concatenation</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Plus joins two strings into one longer string.</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Replication</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Star repeats a string a whole number of times.</a:t>
            </a:r>
          </a:p>
        </p:txBody>
      </p:sp>
      <p:graphicFrame>
        <p:nvGraphicFramePr>
          <p:cNvPr id="13" name="table"/>
          <p:cNvGraphicFramePr>
            <a:graphicFrameLocks noGrp="1"/>
          </p:cNvGraphicFramePr>
          <p:nvPr/>
        </p:nvGraphicFramePr>
        <p:xfrm>
          <a:off x="5303520" y="1417320"/>
          <a:ext cx="3474719" cy="2926080"/>
        </p:xfrm>
        <a:graphic>
          <a:graphicData uri="http://schemas.openxmlformats.org/drawingml/2006/table">
            <a:tbl>
              <a:tblPr firstRow="0" bandRow="0"/>
              <a:tblGrid>
                <a:gridCol w="507543"/>
                <a:gridCol w="2967176"/>
              </a:tblGrid>
              <a:tr h="365760">
                <a:tc>
                  <a:txBody>
                    <a:bodyPr wrap="square"/>
                    <a:lstStyle/>
                    <a:p>
                      <a:r>
                        <a:rPr sz="100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00" b="0" i="0">
                          <a:solidFill>
                            <a:srgbClr val="1F2933"/>
                          </a:solidFill>
                          <a:latin typeface="Calibri"/>
                        </a:rPr>
                        <a:t>13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operators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00" b="0" i="0">
                          <a:solidFill>
                            <a:srgbClr val="1F2933"/>
                          </a:solidFill>
                          <a:latin typeface="Calibri"/>
                        </a:rPr>
                        <a:t>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Seven operators for numbers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00" b="0" i="0">
                          <a:solidFill>
                            <a:srgbClr val="1F2933"/>
                          </a:solidFill>
                          <a:latin typeface="Calibri"/>
                        </a:rPr>
                        <a:t>15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Who goes first: operator precedence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00" b="0" i="0">
                          <a:solidFill>
                            <a:srgbClr val="1F2933"/>
                          </a:solidFill>
                          <a:latin typeface="Calibri"/>
                        </a:rPr>
                        <a:t>16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Division three ways: quotient and remainder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00" b="0" i="0">
                          <a:solidFill>
                            <a:srgbClr val="1F2933"/>
                          </a:solidFill>
                          <a:latin typeface="Calibri"/>
                        </a:rPr>
                        <a:t>17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operations on 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00" b="0" i="0">
                          <a:solidFill>
                            <a:srgbClr val="1F2933"/>
                          </a:solidFill>
                          <a:latin typeface="Calibri"/>
                        </a:rPr>
                        <a:t>18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String concatenation: + joins 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00" b="0" i="0">
                          <a:solidFill>
                            <a:srgbClr val="1F2933"/>
                          </a:solidFill>
                          <a:latin typeface="Calibri"/>
                        </a:rPr>
                        <a:t>19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String replication: * repeats 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12 / 39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operators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350" b="1" i="0">
                <a:solidFill>
                  <a:srgbClr val="B7791F"/>
                </a:solidFill>
                <a:latin typeface="Calibri"/>
              </a:rPr>
              <a:t>ANALOGY  </a:t>
            </a:r>
            <a:r>
              <a:rPr sz="1350" b="0" i="0">
                <a:solidFill>
                  <a:srgbClr val="1F2933"/>
                </a:solidFill>
                <a:latin typeface="Calibri"/>
              </a:rPr>
              <a:t>An operator is a verb between two values, and precedence is the order of work in a kitchen: chop before you stir.</a:t>
            </a:r>
          </a:p>
        </p:txBody>
      </p:sp>
      <p:graphicFrame>
        <p:nvGraphicFramePr>
          <p:cNvPr id="6" name="table"/>
          <p:cNvGraphicFramePr>
            <a:graphicFrameLocks noGrp="1"/>
          </p:cNvGraphicFramePr>
          <p:nvPr/>
        </p:nvGraphicFramePr>
        <p:xfrm>
          <a:off x="365760" y="1463040"/>
          <a:ext cx="8412480" cy="3108960"/>
        </p:xfrm>
        <a:graphic>
          <a:graphicData uri="http://schemas.openxmlformats.org/drawingml/2006/table">
            <a:tbl>
              <a:tblPr firstRow="0" bandRow="0"/>
              <a:tblGrid>
                <a:gridCol w="1842516"/>
                <a:gridCol w="6569964"/>
              </a:tblGrid>
              <a:tr h="345440">
                <a:tc>
                  <a:txBody>
                    <a:bodyPr wrap="square"/>
                    <a:lstStyle/>
                    <a:p>
                      <a:r>
                        <a:rPr sz="12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45440">
                <a:tc>
                  <a:txBody>
                    <a:bodyPr wrap="square"/>
                    <a:lstStyle/>
                    <a:p>
                      <a:r>
                        <a:rPr sz="1200" b="1" i="0">
                          <a:solidFill>
                            <a:srgbClr val="1F2933"/>
                          </a:solidFill>
                          <a:latin typeface="Calibri"/>
                        </a:rPr>
                        <a:t>Operator precedence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The kitchen rule 'chop first, then stir'; parentheses are a note saying 'do this one first'.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200" b="1"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A scale pan that adds weights, or glue between two paper strips.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200" b="1"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Taking coins out of a purse.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200" b="1"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Stamping the same picture again and again.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200" b="1"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Sharing a pizza fairly: every slice may be a fraction.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200" b="1"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Counting how many full boxes you can fill.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200" b="1"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The crumbs left over after the boxes are full.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200" b="1"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Folding a sheet of paper: each fold doubles the thickness.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13 / 39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Seven operators for numbers</a:t>
            </a:r>
          </a:p>
        </p:txBody>
      </p:sp>
      <p:sp>
        <p:nvSpPr>
          <p:cNvPr id="4" name="code"/>
          <p:cNvSpPr/>
          <p:nvPr/>
        </p:nvSpPr>
        <p:spPr>
          <a:xfrm>
            <a:off x="365760" y="841248"/>
            <a:ext cx="2926080" cy="86461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7CC4FF"/>
                </a:solidFill>
                <a:latin typeface="Courier New"/>
              </a:rPr>
              <a:t>5</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2</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7CC4FF"/>
                </a:solidFill>
                <a:latin typeface="Courier New"/>
              </a:rPr>
              <a:t>5</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2</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7CC4FF"/>
                </a:solidFill>
                <a:latin typeface="Courier New"/>
              </a:rPr>
              <a:t>5</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2</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7CC4FF"/>
                </a:solidFill>
                <a:latin typeface="Courier New"/>
              </a:rPr>
              <a:t>5</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2</a:t>
            </a:r>
            <a:r>
              <a:rPr sz="1100" b="0" i="0">
                <a:solidFill>
                  <a:srgbClr val="E6EDF3"/>
                </a:solidFill>
                <a:latin typeface="Courier New"/>
              </a:rPr>
              <a:t>)</a:t>
            </a:r>
          </a:p>
        </p:txBody>
      </p:sp>
      <p:sp>
        <p:nvSpPr>
          <p:cNvPr id="5" name="explanation"/>
          <p:cNvSpPr txBox="1"/>
          <p:nvPr/>
        </p:nvSpPr>
        <p:spPr>
          <a:xfrm>
            <a:off x="3273552" y="841248"/>
            <a:ext cx="5504687" cy="864615"/>
          </a:xfrm>
          <a:prstGeom prst="rect">
            <a:avLst/>
          </a:prstGeom>
          <a:noFill/>
        </p:spPr>
        <p:txBody>
          <a:bodyPr wrap="square" lIns="128016" rIns="128016" tIns="18288" bIns="18288" anchor="ctr">
            <a:spAutoFit/>
          </a:bodyPr>
          <a:lstStyle/>
          <a:p>
            <a:r>
              <a:rPr sz="1200" b="0" i="0">
                <a:solidFill>
                  <a:srgbClr val="1F2933"/>
                </a:solidFill>
                <a:latin typeface="Calibri"/>
              </a:rPr>
              <a:t>Plus, minus and times work as in school. The slash divides and always gives a float.</a:t>
            </a:r>
          </a:p>
        </p:txBody>
      </p:sp>
      <p:sp>
        <p:nvSpPr>
          <p:cNvPr id="6" name="code"/>
          <p:cNvSpPr/>
          <p:nvPr/>
        </p:nvSpPr>
        <p:spPr>
          <a:xfrm>
            <a:off x="365760" y="1760728"/>
            <a:ext cx="2926080" cy="69418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7CC4FF"/>
                </a:solidFill>
                <a:latin typeface="Courier New"/>
              </a:rPr>
              <a:t>5</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2</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7CC4FF"/>
                </a:solidFill>
                <a:latin typeface="Courier New"/>
              </a:rPr>
              <a:t>5</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2</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7CC4FF"/>
                </a:solidFill>
                <a:latin typeface="Courier New"/>
              </a:rPr>
              <a:t>5</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2</a:t>
            </a:r>
            <a:r>
              <a:rPr sz="1100" b="0" i="0">
                <a:solidFill>
                  <a:srgbClr val="E6EDF3"/>
                </a:solidFill>
                <a:latin typeface="Courier New"/>
              </a:rPr>
              <a:t>)</a:t>
            </a:r>
          </a:p>
        </p:txBody>
      </p:sp>
      <p:sp>
        <p:nvSpPr>
          <p:cNvPr id="7" name="explanation"/>
          <p:cNvSpPr txBox="1"/>
          <p:nvPr/>
        </p:nvSpPr>
        <p:spPr>
          <a:xfrm>
            <a:off x="3273552" y="1760728"/>
            <a:ext cx="5504687" cy="694181"/>
          </a:xfrm>
          <a:prstGeom prst="rect">
            <a:avLst/>
          </a:prstGeom>
          <a:noFill/>
        </p:spPr>
        <p:txBody>
          <a:bodyPr wrap="square" lIns="128016" rIns="128016" tIns="18288" bIns="18288" anchor="ctr">
            <a:spAutoFit/>
          </a:bodyPr>
          <a:lstStyle/>
          <a:p>
            <a:r>
              <a:rPr sz="1200" b="0" i="0">
                <a:solidFill>
                  <a:srgbClr val="1F2933"/>
                </a:solidFill>
                <a:latin typeface="Calibri"/>
              </a:rPr>
              <a:t>Two slashes give the whole part of the division, the percent sign gives the remainder, and two stars raise to a power.</a:t>
            </a:r>
          </a:p>
        </p:txBody>
      </p:sp>
      <p:sp>
        <p:nvSpPr>
          <p:cNvPr id="8" name="result label"/>
          <p:cNvSpPr txBox="1"/>
          <p:nvPr/>
        </p:nvSpPr>
        <p:spPr>
          <a:xfrm>
            <a:off x="365760" y="2528062"/>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802382"/>
          <a:ext cx="5215736" cy="1806192"/>
        </p:xfrm>
        <a:graphic>
          <a:graphicData uri="http://schemas.openxmlformats.org/drawingml/2006/table">
            <a:tbl>
              <a:tblPr firstRow="0" bandRow="0"/>
              <a:tblGrid>
                <a:gridCol w="1020470"/>
                <a:gridCol w="1587398"/>
                <a:gridCol w="1474012"/>
                <a:gridCol w="1133856"/>
              </a:tblGrid>
              <a:tr h="225774">
                <a:tc>
                  <a:txBody>
                    <a:bodyPr wrap="square"/>
                    <a:lstStyle/>
                    <a:p>
                      <a:r>
                        <a:rPr sz="1050" b="1" i="0">
                          <a:solidFill>
                            <a:srgbClr val="FFFFFF"/>
                          </a:solidFill>
                          <a:latin typeface="Calibri"/>
                        </a:rPr>
                        <a:t>Operator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25774">
                <a:tc>
                  <a:txBody>
                    <a:bodyPr wrap="square"/>
                    <a:lstStyle/>
                    <a:p>
                      <a:r>
                        <a:rPr sz="105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add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5 + 2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25774">
                <a:tc>
                  <a:txBody>
                    <a:bodyPr wrap="square"/>
                    <a:lstStyle/>
                    <a:p>
                      <a:r>
                        <a:rPr sz="105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subtract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5 - 2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25774">
                <a:tc>
                  <a:txBody>
                    <a:bodyPr wrap="square"/>
                    <a:lstStyle/>
                    <a:p>
                      <a:r>
                        <a:rPr sz="105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multiply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5 *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25774">
                <a:tc>
                  <a:txBody>
                    <a:bodyPr wrap="square"/>
                    <a:lstStyle/>
                    <a:p>
                      <a:r>
                        <a:rPr sz="105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divide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5 /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2.5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25774">
                <a:tc>
                  <a:txBody>
                    <a:bodyPr wrap="square"/>
                    <a:lstStyle/>
                    <a:p>
                      <a:r>
                        <a:rPr sz="105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floor divide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5 //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25774">
                <a:tc>
                  <a:txBody>
                    <a:bodyPr wrap="square"/>
                    <a:lstStyle/>
                    <a:p>
                      <a:r>
                        <a:rPr sz="105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remainder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5 %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25774">
                <a:tc>
                  <a:txBody>
                    <a:bodyPr wrap="square"/>
                    <a:lstStyle/>
                    <a:p>
                      <a:r>
                        <a:rPr sz="105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power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5 **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25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graphicFrame>
        <p:nvGraphicFramePr>
          <p:cNvPr id="10" name="chart"/>
          <p:cNvGraphicFramePr>
            <a:graphicFrameLocks noGrp="1"/>
          </p:cNvGraphicFramePr>
          <p:nvPr/>
        </p:nvGraphicFramePr>
        <p:xfrm>
          <a:off x="5833872" y="2802382"/>
          <a:ext cx="2944368" cy="1806194"/>
        </p:xfrm>
        <a:graphic>
          <a:graphicData uri="http://schemas.openxmlformats.org/drawingml/2006/chart">
            <c:chart xmlns:c="http://schemas.openxmlformats.org/drawingml/2006/chart" r:id="rId3"/>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Seven operators; / always gives a float.</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14 / 39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Who goes first: operator precedence</a:t>
            </a:r>
          </a:p>
        </p:txBody>
      </p:sp>
      <p:sp>
        <p:nvSpPr>
          <p:cNvPr id="4" name="code"/>
          <p:cNvSpPr/>
          <p:nvPr/>
        </p:nvSpPr>
        <p:spPr>
          <a:xfrm>
            <a:off x="365760" y="841248"/>
            <a:ext cx="2926080"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2</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3</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6</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a:t>
            </a:r>
            <a:r>
              <a:rPr sz="1400" b="0" i="0">
                <a:solidFill>
                  <a:srgbClr val="7CC4FF"/>
                </a:solidFill>
                <a:latin typeface="Courier New"/>
              </a:rPr>
              <a:t>2</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3</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6</a:t>
            </a:r>
            <a:r>
              <a:rPr sz="1400" b="0" i="0">
                <a:solidFill>
                  <a:srgbClr val="E6EDF3"/>
                </a:solidFill>
                <a:latin typeface="Courier New"/>
              </a:rPr>
              <a:t>)</a:t>
            </a:r>
          </a:p>
        </p:txBody>
      </p:sp>
      <p:sp>
        <p:nvSpPr>
          <p:cNvPr id="5" name="explanation"/>
          <p:cNvSpPr txBox="1"/>
          <p:nvPr/>
        </p:nvSpPr>
        <p:spPr>
          <a:xfrm>
            <a:off x="3273552" y="841248"/>
            <a:ext cx="5504687" cy="616712"/>
          </a:xfrm>
          <a:prstGeom prst="rect">
            <a:avLst/>
          </a:prstGeom>
          <a:noFill/>
        </p:spPr>
        <p:txBody>
          <a:bodyPr wrap="square" lIns="128016" rIns="128016" tIns="18288" bIns="18288" anchor="ctr">
            <a:spAutoFit/>
          </a:bodyPr>
          <a:lstStyle/>
          <a:p>
            <a:r>
              <a:rPr sz="1250" b="0" i="0">
                <a:solidFill>
                  <a:srgbClr val="1F2933"/>
                </a:solidFill>
                <a:latin typeface="Calibri"/>
              </a:rPr>
              <a:t>Multiplication binds tighter than addition, so 2 + 3 * 6 is 20. Parentheses override the order and give 30.</a:t>
            </a:r>
          </a:p>
        </p:txBody>
      </p:sp>
      <p:sp>
        <p:nvSpPr>
          <p:cNvPr id="6" name="code"/>
          <p:cNvSpPr/>
          <p:nvPr/>
        </p:nvSpPr>
        <p:spPr>
          <a:xfrm>
            <a:off x="365760" y="1512824"/>
            <a:ext cx="2926080" cy="8336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a:t>
            </a:r>
            <a:r>
              <a:rPr sz="1400" b="0" i="0">
                <a:solidFill>
                  <a:srgbClr val="7CC4FF"/>
                </a:solidFill>
                <a:latin typeface="Courier New"/>
              </a:rPr>
              <a:t>3</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2</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a:t>
            </a:r>
            <a:r>
              <a:rPr sz="1400" b="0" i="0">
                <a:solidFill>
                  <a:srgbClr val="7CC4FF"/>
                </a:solidFill>
                <a:latin typeface="Courier New"/>
              </a:rPr>
              <a:t>3</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2</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8</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2</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3</a:t>
            </a:r>
            <a:r>
              <a:rPr sz="1400" b="0" i="0">
                <a:solidFill>
                  <a:srgbClr val="E6EDF3"/>
                </a:solidFill>
                <a:latin typeface="Courier New"/>
              </a:rPr>
              <a:t>)</a:t>
            </a:r>
          </a:p>
        </p:txBody>
      </p:sp>
      <p:sp>
        <p:nvSpPr>
          <p:cNvPr id="7" name="explanation"/>
          <p:cNvSpPr txBox="1"/>
          <p:nvPr/>
        </p:nvSpPr>
        <p:spPr>
          <a:xfrm>
            <a:off x="3273552" y="1512824"/>
            <a:ext cx="5504687" cy="833628"/>
          </a:xfrm>
          <a:prstGeom prst="rect">
            <a:avLst/>
          </a:prstGeom>
          <a:noFill/>
        </p:spPr>
        <p:txBody>
          <a:bodyPr wrap="square" lIns="128016" rIns="128016" tIns="18288" bIns="18288" anchor="ctr">
            <a:spAutoFit/>
          </a:bodyPr>
          <a:lstStyle/>
          <a:p>
            <a:r>
              <a:rPr sz="1250" b="0" i="0">
                <a:solidFill>
                  <a:srgbClr val="1F2933"/>
                </a:solidFill>
                <a:latin typeface="Calibri"/>
              </a:rPr>
              <a:t>The power binds tighter than the minus sign, so -3 ** 2 is -9. Equal operators run from left to right.</a:t>
            </a:r>
          </a:p>
        </p:txBody>
      </p:sp>
      <p:sp>
        <p:nvSpPr>
          <p:cNvPr id="8" name="result label"/>
          <p:cNvSpPr txBox="1"/>
          <p:nvPr/>
        </p:nvSpPr>
        <p:spPr>
          <a:xfrm>
            <a:off x="365760" y="241960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chart"/>
          <p:cNvGraphicFramePr>
            <a:graphicFrameLocks noGrp="1"/>
          </p:cNvGraphicFramePr>
          <p:nvPr/>
        </p:nvGraphicFramePr>
        <p:xfrm>
          <a:off x="365760" y="2693924"/>
          <a:ext cx="4879238" cy="1914652"/>
        </p:xfrm>
        <a:graphic>
          <a:graphicData uri="http://schemas.openxmlformats.org/drawingml/2006/chart">
            <c:chart xmlns:c="http://schemas.openxmlformats.org/drawingml/2006/chart" r:id="rId3"/>
          </a:graphicData>
        </a:graphic>
      </p:graphicFrame>
      <p:graphicFrame>
        <p:nvGraphicFramePr>
          <p:cNvPr id="10" name="table"/>
          <p:cNvGraphicFramePr>
            <a:graphicFrameLocks noGrp="1"/>
          </p:cNvGraphicFramePr>
          <p:nvPr/>
        </p:nvGraphicFramePr>
        <p:xfrm>
          <a:off x="5581497" y="2785364"/>
          <a:ext cx="3196741" cy="1554480"/>
        </p:xfrm>
        <a:graphic>
          <a:graphicData uri="http://schemas.openxmlformats.org/drawingml/2006/table">
            <a:tbl>
              <a:tblPr firstRow="0" bandRow="0"/>
              <a:tblGrid>
                <a:gridCol w="1259322"/>
                <a:gridCol w="1937419"/>
              </a:tblGrid>
              <a:tr h="310896">
                <a:tc>
                  <a:txBody>
                    <a:bodyPr wrap="square"/>
                    <a:lstStyle/>
                    <a:p>
                      <a:r>
                        <a:rPr sz="1050" b="1" i="0">
                          <a:solidFill>
                            <a:srgbClr val="FFFFFF"/>
                          </a:solidFill>
                          <a:latin typeface="Calibri"/>
                        </a:rPr>
                        <a:t>Order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Operators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0896">
                <a:tc>
                  <a:txBody>
                    <a:bodyPr wrap="square"/>
                    <a:lstStyle/>
                    <a:p>
                      <a:r>
                        <a:rPr sz="1050" b="0" i="0">
                          <a:solidFill>
                            <a:srgbClr val="1F2933"/>
                          </a:solidFill>
                          <a:latin typeface="Calibri"/>
                        </a:rPr>
                        <a:t>1st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1050" b="0" i="0">
                          <a:solidFill>
                            <a:srgbClr val="1F2933"/>
                          </a:solidFill>
                          <a:latin typeface="Calibri"/>
                        </a:rPr>
                        <a:t>2nd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  /  //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10896">
                <a:tc>
                  <a:txBody>
                    <a:bodyPr wrap="square"/>
                    <a:lstStyle/>
                    <a:p>
                      <a:r>
                        <a:rPr sz="1050" b="0" i="0">
                          <a:solidFill>
                            <a:srgbClr val="1F2933"/>
                          </a:solidFill>
                          <a:latin typeface="Calibri"/>
                        </a:rPr>
                        <a:t>3rd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1050" b="0" i="0">
                          <a:solidFill>
                            <a:srgbClr val="1F2933"/>
                          </a:solidFill>
                          <a:latin typeface="Calibri"/>
                        </a:rPr>
                        <a:t>always first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Power first, then * and /, then + and -; parentheses win.</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15 / 39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Division three ways: quotient and remainder</a:t>
            </a:r>
          </a:p>
        </p:txBody>
      </p:sp>
      <p:sp>
        <p:nvSpPr>
          <p:cNvPr id="4" name="code"/>
          <p:cNvSpPr/>
          <p:nvPr/>
        </p:nvSpPr>
        <p:spPr>
          <a:xfrm>
            <a:off x="365760" y="841248"/>
            <a:ext cx="3563111" cy="8336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23</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7</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23</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7</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23</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7</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7</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23</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7</a:t>
            </a:r>
            <a:r>
              <a:rPr sz="1400" b="0" i="0">
                <a:solidFill>
                  <a:srgbClr val="E6EDF3"/>
                </a:solidFill>
                <a:latin typeface="Courier New"/>
              </a:rPr>
              <a:t>)</a:t>
            </a:r>
          </a:p>
        </p:txBody>
      </p:sp>
      <p:sp>
        <p:nvSpPr>
          <p:cNvPr id="5" name="explanation"/>
          <p:cNvSpPr txBox="1"/>
          <p:nvPr/>
        </p:nvSpPr>
        <p:spPr>
          <a:xfrm>
            <a:off x="3910583" y="841248"/>
            <a:ext cx="4867655" cy="833628"/>
          </a:xfrm>
          <a:prstGeom prst="rect">
            <a:avLst/>
          </a:prstGeom>
          <a:noFill/>
        </p:spPr>
        <p:txBody>
          <a:bodyPr wrap="square" lIns="128016" rIns="128016" tIns="18288" bIns="18288" anchor="ctr">
            <a:spAutoFit/>
          </a:bodyPr>
          <a:lstStyle/>
          <a:p>
            <a:r>
              <a:rPr sz="1250" b="0" i="0">
                <a:solidFill>
                  <a:srgbClr val="1F2933"/>
                </a:solidFill>
                <a:latin typeface="Calibri"/>
              </a:rPr>
              <a:t>23 candies in boxes of 7 fill 3 boxes and leave 2 over. Quotient times divisor plus remainder gives 23 back.</a:t>
            </a:r>
          </a:p>
        </p:txBody>
      </p:sp>
      <p:sp>
        <p:nvSpPr>
          <p:cNvPr id="6" name="code"/>
          <p:cNvSpPr/>
          <p:nvPr/>
        </p:nvSpPr>
        <p:spPr>
          <a:xfrm>
            <a:off x="365760" y="1729740"/>
            <a:ext cx="3563111"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a:t>
            </a:r>
            <a:r>
              <a:rPr sz="1400" b="0" i="0">
                <a:solidFill>
                  <a:srgbClr val="7CC4FF"/>
                </a:solidFill>
                <a:latin typeface="Courier New"/>
              </a:rPr>
              <a:t>7</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2</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23</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7</a:t>
            </a:r>
            <a:r>
              <a:rPr sz="1400" b="0" i="0">
                <a:solidFill>
                  <a:srgbClr val="E6EDF3"/>
                </a:solidFill>
                <a:latin typeface="Courier New"/>
              </a:rPr>
              <a:t>)</a:t>
            </a:r>
          </a:p>
        </p:txBody>
      </p:sp>
      <p:sp>
        <p:nvSpPr>
          <p:cNvPr id="7" name="explanation"/>
          <p:cNvSpPr txBox="1"/>
          <p:nvPr/>
        </p:nvSpPr>
        <p:spPr>
          <a:xfrm>
            <a:off x="3910583" y="1729740"/>
            <a:ext cx="4867655" cy="616712"/>
          </a:xfrm>
          <a:prstGeom prst="rect">
            <a:avLst/>
          </a:prstGeom>
          <a:noFill/>
        </p:spPr>
        <p:txBody>
          <a:bodyPr wrap="square" lIns="128016" rIns="128016" tIns="18288" bIns="18288" anchor="ctr">
            <a:spAutoFit/>
          </a:bodyPr>
          <a:lstStyle/>
          <a:p>
            <a:r>
              <a:rPr sz="1250" b="0" i="0">
                <a:solidFill>
                  <a:srgbClr val="1F2933"/>
                </a:solidFill>
                <a:latin typeface="Calibri"/>
              </a:rPr>
              <a:t>Floor division rounds down, so -7 // 2 is -4, not -3. True division keeps the fraction and gives a float.</a:t>
            </a:r>
          </a:p>
        </p:txBody>
      </p:sp>
      <p:sp>
        <p:nvSpPr>
          <p:cNvPr id="8" name="result label"/>
          <p:cNvSpPr txBox="1"/>
          <p:nvPr/>
        </p:nvSpPr>
        <p:spPr>
          <a:xfrm>
            <a:off x="365760" y="241960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3041396"/>
            <a:ext cx="325208" cy="36576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1</a:t>
            </a:r>
          </a:p>
        </p:txBody>
      </p:sp>
      <p:sp>
        <p:nvSpPr>
          <p:cNvPr id="10" name="Rounded Rectangle 9"/>
          <p:cNvSpPr/>
          <p:nvPr/>
        </p:nvSpPr>
        <p:spPr>
          <a:xfrm>
            <a:off x="727544" y="3041396"/>
            <a:ext cx="325208" cy="36576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2</a:t>
            </a:r>
          </a:p>
        </p:txBody>
      </p:sp>
      <p:sp>
        <p:nvSpPr>
          <p:cNvPr id="11" name="Rounded Rectangle 10"/>
          <p:cNvSpPr/>
          <p:nvPr/>
        </p:nvSpPr>
        <p:spPr>
          <a:xfrm>
            <a:off x="1089328" y="3041396"/>
            <a:ext cx="325208" cy="36576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3</a:t>
            </a:r>
          </a:p>
        </p:txBody>
      </p:sp>
      <p:sp>
        <p:nvSpPr>
          <p:cNvPr id="12" name="Rounded Rectangle 11"/>
          <p:cNvSpPr/>
          <p:nvPr/>
        </p:nvSpPr>
        <p:spPr>
          <a:xfrm>
            <a:off x="1451113" y="3041396"/>
            <a:ext cx="325208" cy="36576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4</a:t>
            </a:r>
          </a:p>
        </p:txBody>
      </p:sp>
      <p:sp>
        <p:nvSpPr>
          <p:cNvPr id="13" name="Rounded Rectangle 12"/>
          <p:cNvSpPr/>
          <p:nvPr/>
        </p:nvSpPr>
        <p:spPr>
          <a:xfrm>
            <a:off x="1812897" y="3041396"/>
            <a:ext cx="325208" cy="36576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5</a:t>
            </a:r>
          </a:p>
        </p:txBody>
      </p:sp>
      <p:sp>
        <p:nvSpPr>
          <p:cNvPr id="14" name="Rounded Rectangle 13"/>
          <p:cNvSpPr/>
          <p:nvPr/>
        </p:nvSpPr>
        <p:spPr>
          <a:xfrm>
            <a:off x="2174681" y="3041396"/>
            <a:ext cx="325208" cy="36576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6</a:t>
            </a:r>
          </a:p>
        </p:txBody>
      </p:sp>
      <p:sp>
        <p:nvSpPr>
          <p:cNvPr id="15" name="Rounded Rectangle 14"/>
          <p:cNvSpPr/>
          <p:nvPr/>
        </p:nvSpPr>
        <p:spPr>
          <a:xfrm>
            <a:off x="2536466" y="3041396"/>
            <a:ext cx="325208" cy="36576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7</a:t>
            </a:r>
          </a:p>
        </p:txBody>
      </p:sp>
      <p:sp>
        <p:nvSpPr>
          <p:cNvPr id="16" name="Rounded Rectangle 15"/>
          <p:cNvSpPr/>
          <p:nvPr/>
        </p:nvSpPr>
        <p:spPr>
          <a:xfrm>
            <a:off x="2898250" y="3041396"/>
            <a:ext cx="325208"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8</a:t>
            </a:r>
          </a:p>
        </p:txBody>
      </p:sp>
      <p:sp>
        <p:nvSpPr>
          <p:cNvPr id="17" name="Rounded Rectangle 16"/>
          <p:cNvSpPr/>
          <p:nvPr/>
        </p:nvSpPr>
        <p:spPr>
          <a:xfrm>
            <a:off x="3260034" y="3041396"/>
            <a:ext cx="325208"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9</a:t>
            </a:r>
          </a:p>
        </p:txBody>
      </p:sp>
      <p:sp>
        <p:nvSpPr>
          <p:cNvPr id="18" name="Rounded Rectangle 17"/>
          <p:cNvSpPr/>
          <p:nvPr/>
        </p:nvSpPr>
        <p:spPr>
          <a:xfrm>
            <a:off x="3621819" y="3041396"/>
            <a:ext cx="325208"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10</a:t>
            </a:r>
          </a:p>
        </p:txBody>
      </p:sp>
      <p:sp>
        <p:nvSpPr>
          <p:cNvPr id="19" name="Rounded Rectangle 18"/>
          <p:cNvSpPr/>
          <p:nvPr/>
        </p:nvSpPr>
        <p:spPr>
          <a:xfrm>
            <a:off x="3983603" y="3041396"/>
            <a:ext cx="325208"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11</a:t>
            </a:r>
          </a:p>
        </p:txBody>
      </p:sp>
      <p:sp>
        <p:nvSpPr>
          <p:cNvPr id="20" name="Rounded Rectangle 19"/>
          <p:cNvSpPr/>
          <p:nvPr/>
        </p:nvSpPr>
        <p:spPr>
          <a:xfrm>
            <a:off x="4345387" y="3041396"/>
            <a:ext cx="325208"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12</a:t>
            </a:r>
          </a:p>
        </p:txBody>
      </p:sp>
      <p:sp>
        <p:nvSpPr>
          <p:cNvPr id="21" name="Rounded Rectangle 20"/>
          <p:cNvSpPr/>
          <p:nvPr/>
        </p:nvSpPr>
        <p:spPr>
          <a:xfrm>
            <a:off x="4707172" y="3041396"/>
            <a:ext cx="325208"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13</a:t>
            </a:r>
          </a:p>
        </p:txBody>
      </p:sp>
      <p:sp>
        <p:nvSpPr>
          <p:cNvPr id="22" name="Rounded Rectangle 21"/>
          <p:cNvSpPr/>
          <p:nvPr/>
        </p:nvSpPr>
        <p:spPr>
          <a:xfrm>
            <a:off x="5068956" y="3041396"/>
            <a:ext cx="325208"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14</a:t>
            </a:r>
          </a:p>
        </p:txBody>
      </p:sp>
      <p:sp>
        <p:nvSpPr>
          <p:cNvPr id="23" name="Rounded Rectangle 22"/>
          <p:cNvSpPr/>
          <p:nvPr/>
        </p:nvSpPr>
        <p:spPr>
          <a:xfrm>
            <a:off x="5430740" y="3041396"/>
            <a:ext cx="325208" cy="36576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15</a:t>
            </a:r>
          </a:p>
        </p:txBody>
      </p:sp>
      <p:sp>
        <p:nvSpPr>
          <p:cNvPr id="24" name="Rounded Rectangle 23"/>
          <p:cNvSpPr/>
          <p:nvPr/>
        </p:nvSpPr>
        <p:spPr>
          <a:xfrm>
            <a:off x="5792525" y="3041396"/>
            <a:ext cx="325208" cy="36576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16</a:t>
            </a:r>
          </a:p>
        </p:txBody>
      </p:sp>
      <p:sp>
        <p:nvSpPr>
          <p:cNvPr id="25" name="Rounded Rectangle 24"/>
          <p:cNvSpPr/>
          <p:nvPr/>
        </p:nvSpPr>
        <p:spPr>
          <a:xfrm>
            <a:off x="6154309" y="3041396"/>
            <a:ext cx="325208" cy="36576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17</a:t>
            </a:r>
          </a:p>
        </p:txBody>
      </p:sp>
      <p:sp>
        <p:nvSpPr>
          <p:cNvPr id="26" name="Rounded Rectangle 25"/>
          <p:cNvSpPr/>
          <p:nvPr/>
        </p:nvSpPr>
        <p:spPr>
          <a:xfrm>
            <a:off x="6516093" y="3041396"/>
            <a:ext cx="325208" cy="36576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18</a:t>
            </a:r>
          </a:p>
        </p:txBody>
      </p:sp>
      <p:sp>
        <p:nvSpPr>
          <p:cNvPr id="27" name="Rounded Rectangle 26"/>
          <p:cNvSpPr/>
          <p:nvPr/>
        </p:nvSpPr>
        <p:spPr>
          <a:xfrm>
            <a:off x="6877878" y="3041396"/>
            <a:ext cx="325208" cy="36576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19</a:t>
            </a:r>
          </a:p>
        </p:txBody>
      </p:sp>
      <p:sp>
        <p:nvSpPr>
          <p:cNvPr id="28" name="Rounded Rectangle 27"/>
          <p:cNvSpPr/>
          <p:nvPr/>
        </p:nvSpPr>
        <p:spPr>
          <a:xfrm>
            <a:off x="7239662" y="3041396"/>
            <a:ext cx="325208" cy="36576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20</a:t>
            </a:r>
          </a:p>
        </p:txBody>
      </p:sp>
      <p:sp>
        <p:nvSpPr>
          <p:cNvPr id="29" name="Rounded Rectangle 28"/>
          <p:cNvSpPr/>
          <p:nvPr/>
        </p:nvSpPr>
        <p:spPr>
          <a:xfrm>
            <a:off x="7601446" y="3041396"/>
            <a:ext cx="325208" cy="36576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21</a:t>
            </a:r>
          </a:p>
        </p:txBody>
      </p:sp>
      <p:sp>
        <p:nvSpPr>
          <p:cNvPr id="30" name="Rounded Rectangle 29"/>
          <p:cNvSpPr/>
          <p:nvPr/>
        </p:nvSpPr>
        <p:spPr>
          <a:xfrm>
            <a:off x="7963231" y="3041396"/>
            <a:ext cx="325208" cy="365760"/>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22</a:t>
            </a:r>
          </a:p>
        </p:txBody>
      </p:sp>
      <p:sp>
        <p:nvSpPr>
          <p:cNvPr id="31" name="Rounded Rectangle 30"/>
          <p:cNvSpPr/>
          <p:nvPr/>
        </p:nvSpPr>
        <p:spPr>
          <a:xfrm>
            <a:off x="8325015" y="3041396"/>
            <a:ext cx="325208" cy="365760"/>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23</a:t>
            </a:r>
          </a:p>
        </p:txBody>
      </p:sp>
      <p:sp>
        <p:nvSpPr>
          <p:cNvPr id="32" name="Rounded Rectangle 31"/>
          <p:cNvSpPr/>
          <p:nvPr/>
        </p:nvSpPr>
        <p:spPr>
          <a:xfrm>
            <a:off x="365760" y="2693924"/>
            <a:ext cx="2495914"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box 1 of 7</a:t>
            </a:r>
          </a:p>
        </p:txBody>
      </p:sp>
      <p:sp>
        <p:nvSpPr>
          <p:cNvPr id="33" name="Rounded Rectangle 32"/>
          <p:cNvSpPr/>
          <p:nvPr/>
        </p:nvSpPr>
        <p:spPr>
          <a:xfrm>
            <a:off x="2898250" y="2693924"/>
            <a:ext cx="2495914" cy="2743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box 2 of 7</a:t>
            </a:r>
          </a:p>
        </p:txBody>
      </p:sp>
      <p:sp>
        <p:nvSpPr>
          <p:cNvPr id="34" name="Rounded Rectangle 33"/>
          <p:cNvSpPr/>
          <p:nvPr/>
        </p:nvSpPr>
        <p:spPr>
          <a:xfrm>
            <a:off x="5430740" y="2693924"/>
            <a:ext cx="2495914" cy="27432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box 3 of 7</a:t>
            </a:r>
          </a:p>
        </p:txBody>
      </p:sp>
      <p:sp>
        <p:nvSpPr>
          <p:cNvPr id="35" name="Rounded Rectangle 34"/>
          <p:cNvSpPr/>
          <p:nvPr/>
        </p:nvSpPr>
        <p:spPr>
          <a:xfrm>
            <a:off x="7963231" y="2693924"/>
            <a:ext cx="686992" cy="274320"/>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left</a:t>
            </a:r>
          </a:p>
        </p:txBody>
      </p:sp>
      <p:sp>
        <p:nvSpPr>
          <p:cNvPr id="36" name="Rounded Rectangle 35"/>
          <p:cNvSpPr/>
          <p:nvPr/>
        </p:nvSpPr>
        <p:spPr>
          <a:xfrm>
            <a:off x="365760" y="3535172"/>
            <a:ext cx="2651760" cy="310896"/>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23 // 7 = 3  full boxes</a:t>
            </a:r>
          </a:p>
        </p:txBody>
      </p:sp>
      <p:cxnSp>
        <p:nvCxnSpPr>
          <p:cNvPr id="37" name="arrow"/>
          <p:cNvCxnSpPr/>
          <p:nvPr/>
        </p:nvCxnSpPr>
        <p:spPr>
          <a:xfrm>
            <a:off x="1691640" y="3425444"/>
            <a:ext cx="0" cy="9144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126479" y="3535172"/>
            <a:ext cx="2651760" cy="310896"/>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23 % 7 = 2  left over</a:t>
            </a:r>
          </a:p>
        </p:txBody>
      </p:sp>
      <p:cxnSp>
        <p:nvCxnSpPr>
          <p:cNvPr id="39" name="arrow"/>
          <p:cNvCxnSpPr/>
          <p:nvPr/>
        </p:nvCxnSpPr>
        <p:spPr>
          <a:xfrm flipH="1">
            <a:off x="7452360" y="3425444"/>
            <a:ext cx="872655" cy="9144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40" name="table"/>
          <p:cNvGraphicFramePr>
            <a:graphicFrameLocks noGrp="1"/>
          </p:cNvGraphicFramePr>
          <p:nvPr/>
        </p:nvGraphicFramePr>
        <p:xfrm>
          <a:off x="3200400" y="3516884"/>
          <a:ext cx="2651760" cy="740664"/>
        </p:xfrm>
        <a:graphic>
          <a:graphicData uri="http://schemas.openxmlformats.org/drawingml/2006/table">
            <a:tbl>
              <a:tblPr firstRow="0" bandRow="0"/>
              <a:tblGrid>
                <a:gridCol w="822960"/>
                <a:gridCol w="1828800"/>
              </a:tblGrid>
              <a:tr h="246888">
                <a:tc>
                  <a:txBody>
                    <a:bodyPr wrap="square"/>
                    <a:lstStyle/>
                    <a:p>
                      <a:r>
                        <a:rPr sz="1050" b="1" i="0">
                          <a:solidFill>
                            <a:srgbClr val="FFFFFF"/>
                          </a:solidFill>
                          <a:latin typeface="Calibri"/>
                        </a:rPr>
                        <a:t>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46888">
                <a:tc>
                  <a:txBody>
                    <a:bodyPr wrap="square"/>
                    <a:lstStyle/>
                    <a:p>
                      <a:r>
                        <a:rPr sz="1050" b="0" i="0">
                          <a:solidFill>
                            <a:srgbClr val="1F2933"/>
                          </a:solidFill>
                          <a:latin typeface="Courier New"/>
                        </a:rPr>
                        <a:t>-7 //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1050" b="0" i="0">
                          <a:solidFill>
                            <a:srgbClr val="1F2933"/>
                          </a:solidFill>
                          <a:latin typeface="Courier New"/>
                        </a:rPr>
                        <a:t>23 / 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3.2857142857142856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4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 is the whole part, % is the rest.</a:t>
            </a:r>
          </a:p>
        </p:txBody>
      </p:sp>
      <p:sp>
        <p:nvSpPr>
          <p:cNvPr id="4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16 / 39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operations on text</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350" b="1" i="0">
                <a:solidFill>
                  <a:srgbClr val="B7791F"/>
                </a:solidFill>
                <a:latin typeface="Calibri"/>
              </a:rPr>
              <a:t>ANALOGY  </a:t>
            </a:r>
            <a:r>
              <a:rPr sz="1350" b="0" i="0">
                <a:solidFill>
                  <a:srgbClr val="1F2933"/>
                </a:solidFill>
                <a:latin typeface="Calibri"/>
              </a:rPr>
              <a:t>Concatenation is glue and replication is a photocopier, both working on paper strips of text.</a:t>
            </a:r>
          </a:p>
        </p:txBody>
      </p:sp>
      <p:graphicFrame>
        <p:nvGraphicFramePr>
          <p:cNvPr id="6" name="table"/>
          <p:cNvGraphicFramePr>
            <a:graphicFrameLocks noGrp="1"/>
          </p:cNvGraphicFramePr>
          <p:nvPr/>
        </p:nvGraphicFramePr>
        <p:xfrm>
          <a:off x="365760" y="1463040"/>
          <a:ext cx="8412479" cy="2267712"/>
        </p:xfrm>
        <a:graphic>
          <a:graphicData uri="http://schemas.openxmlformats.org/drawingml/2006/table">
            <a:tbl>
              <a:tblPr firstRow="0" bandRow="0"/>
              <a:tblGrid>
                <a:gridCol w="3163824"/>
                <a:gridCol w="5248655"/>
              </a:tblGrid>
              <a:tr h="566928">
                <a:tc>
                  <a:txBody>
                    <a:bodyPr wrap="square"/>
                    <a:lstStyle/>
                    <a:p>
                      <a:r>
                        <a:rPr sz="14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4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566928">
                <a:tc>
                  <a:txBody>
                    <a:bodyPr wrap="square"/>
                    <a:lstStyle/>
                    <a:p>
                      <a:r>
                        <a:rPr sz="1400" b="1" i="0">
                          <a:solidFill>
                            <a:srgbClr val="1F2933"/>
                          </a:solidFill>
                          <a:latin typeface="Calibri"/>
                        </a:rPr>
                        <a:t>String concatenation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400" b="0" i="0">
                          <a:solidFill>
                            <a:srgbClr val="1F2933"/>
                          </a:solidFill>
                          <a:latin typeface="Calibri"/>
                        </a:rPr>
                        <a:t>Gluing two paper strips end to end to make a longer strip.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66928">
                <a:tc>
                  <a:txBody>
                    <a:bodyPr wrap="square"/>
                    <a:lstStyle/>
                    <a:p>
                      <a:r>
                        <a:rPr sz="1400" b="1" i="0">
                          <a:solidFill>
                            <a:srgbClr val="1F2933"/>
                          </a:solidFill>
                          <a:latin typeface="Calibri"/>
                        </a:rPr>
                        <a:t>String Concatenation and Replication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400" b="0" i="0">
                          <a:solidFill>
                            <a:srgbClr val="1F2933"/>
                          </a:solidFill>
                          <a:latin typeface="Calibri"/>
                        </a:rPr>
                        <a:t>A glue stick and a photocopier: join two strips, or copy one strip several times.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66928">
                <a:tc>
                  <a:txBody>
                    <a:bodyPr wrap="square"/>
                    <a:lstStyle/>
                    <a:p>
                      <a:r>
                        <a:rPr sz="1400" b="1" i="0">
                          <a:solidFill>
                            <a:srgbClr val="1F2933"/>
                          </a:solidFill>
                          <a:latin typeface="Calibri"/>
                        </a:rPr>
                        <a:t>str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400" b="0" i="0">
                          <a:solidFill>
                            <a:srgbClr val="1F2933"/>
                          </a:solidFill>
                          <a:latin typeface="Calibri"/>
                        </a:rPr>
                        <a:t>A label maker that prints any value as a text label.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17 / 39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String concatenation: + joins text</a:t>
            </a:r>
          </a:p>
        </p:txBody>
      </p:sp>
      <p:sp>
        <p:nvSpPr>
          <p:cNvPr id="4" name="code"/>
          <p:cNvSpPr/>
          <p:nvPr/>
        </p:nvSpPr>
        <p:spPr>
          <a:xfrm>
            <a:off x="365760" y="841248"/>
            <a:ext cx="4363212"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'Alice'</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'Bob'</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'Hello'</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 '</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'world'</a:t>
            </a:r>
            <a:r>
              <a:rPr sz="1100" b="0" i="0">
                <a:solidFill>
                  <a:srgbClr val="E6EDF3"/>
                </a:solidFill>
                <a:latin typeface="Courier New"/>
              </a:rPr>
              <a:t>)</a:t>
            </a:r>
          </a:p>
        </p:txBody>
      </p:sp>
      <p:sp>
        <p:nvSpPr>
          <p:cNvPr id="5" name="explanation"/>
          <p:cNvSpPr txBox="1"/>
          <p:nvPr/>
        </p:nvSpPr>
        <p:spPr>
          <a:xfrm>
            <a:off x="4710684" y="841248"/>
            <a:ext cx="4067555" cy="699516"/>
          </a:xfrm>
          <a:prstGeom prst="rect">
            <a:avLst/>
          </a:prstGeom>
          <a:noFill/>
        </p:spPr>
        <p:txBody>
          <a:bodyPr wrap="square" lIns="128016" rIns="128016" tIns="18288" bIns="18288" anchor="ctr">
            <a:spAutoFit/>
          </a:bodyPr>
          <a:lstStyle/>
          <a:p>
            <a:r>
              <a:rPr sz="1200" b="0" i="0">
                <a:solidFill>
                  <a:srgbClr val="1F2933"/>
                </a:solidFill>
                <a:latin typeface="Calibri"/>
              </a:rPr>
              <a:t>Plus between two strings glues them together. No space is added, so a space has to be part of one string.</a:t>
            </a:r>
          </a:p>
        </p:txBody>
      </p:sp>
      <p:sp>
        <p:nvSpPr>
          <p:cNvPr id="6" name="code"/>
          <p:cNvSpPr/>
          <p:nvPr/>
        </p:nvSpPr>
        <p:spPr>
          <a:xfrm>
            <a:off x="365760" y="1595628"/>
            <a:ext cx="4363212" cy="52374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try</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'Alice'</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42</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except</a:t>
            </a:r>
            <a:r>
              <a:rPr sz="1100" b="0" i="0">
                <a:solidFill>
                  <a:srgbClr val="E6EDF3"/>
                </a:solidFill>
                <a:latin typeface="Courier New"/>
              </a:rPr>
              <a:t> </a:t>
            </a:r>
            <a:r>
              <a:rPr sz="1100" b="0" i="0">
                <a:solidFill>
                  <a:srgbClr val="E6EDF3"/>
                </a:solidFill>
                <a:latin typeface="Courier New"/>
              </a:rPr>
              <a:t>TypeError</a:t>
            </a:r>
            <a:r>
              <a:rPr sz="1100" b="0" i="0">
                <a:solidFill>
                  <a:srgbClr val="E6EDF3"/>
                </a:solidFill>
                <a:latin typeface="Courier New"/>
              </a:rPr>
              <a:t> </a:t>
            </a:r>
            <a:r>
              <a:rPr sz="1100" b="0" i="0">
                <a:solidFill>
                  <a:srgbClr val="E6EDF3"/>
                </a:solidFill>
                <a:latin typeface="Courier New"/>
              </a:rPr>
              <a:t>as</a:t>
            </a:r>
            <a:r>
              <a:rPr sz="1100" b="0" i="0">
                <a:solidFill>
                  <a:srgbClr val="E6EDF3"/>
                </a:solidFill>
                <a:latin typeface="Courier New"/>
              </a:rPr>
              <a:t> </a:t>
            </a:r>
            <a:r>
              <a:rPr sz="1100" b="0" i="0">
                <a:solidFill>
                  <a:srgbClr val="E6EDF3"/>
                </a:solidFill>
                <a:latin typeface="Courier New"/>
              </a:rPr>
              <a:t>e</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'TypeError:'</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e</a:t>
            </a:r>
            <a:r>
              <a:rPr sz="1100" b="0" i="0">
                <a:solidFill>
                  <a:srgbClr val="E6EDF3"/>
                </a:solidFill>
                <a:latin typeface="Courier New"/>
              </a:rPr>
              <a:t>)</a:t>
            </a:r>
          </a:p>
        </p:txBody>
      </p:sp>
      <p:sp>
        <p:nvSpPr>
          <p:cNvPr id="7" name="explanation"/>
          <p:cNvSpPr txBox="1"/>
          <p:nvPr/>
        </p:nvSpPr>
        <p:spPr>
          <a:xfrm>
            <a:off x="4710684" y="1595628"/>
            <a:ext cx="4067555" cy="523748"/>
          </a:xfrm>
          <a:prstGeom prst="rect">
            <a:avLst/>
          </a:prstGeom>
          <a:noFill/>
        </p:spPr>
        <p:txBody>
          <a:bodyPr wrap="square" lIns="128016" rIns="128016" tIns="18288" bIns="18288" anchor="ctr">
            <a:spAutoFit/>
          </a:bodyPr>
          <a:lstStyle/>
          <a:p>
            <a:r>
              <a:rPr sz="1200" b="0" i="0">
                <a:solidFill>
                  <a:srgbClr val="1F2933"/>
                </a:solidFill>
                <a:latin typeface="Calibri"/>
              </a:rPr>
              <a:t>Plus does not glue text to a number. Python stops with a TypeError that names both types.</a:t>
            </a:r>
          </a:p>
        </p:txBody>
      </p:sp>
      <p:sp>
        <p:nvSpPr>
          <p:cNvPr id="8" name="code"/>
          <p:cNvSpPr/>
          <p:nvPr/>
        </p:nvSpPr>
        <p:spPr>
          <a:xfrm>
            <a:off x="365760" y="2174240"/>
            <a:ext cx="4363212" cy="509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'Alice'</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str</a:t>
            </a:r>
            <a:r>
              <a:rPr sz="1100" b="0" i="0">
                <a:solidFill>
                  <a:srgbClr val="E6EDF3"/>
                </a:solidFill>
                <a:latin typeface="Courier New"/>
              </a:rPr>
              <a:t>(</a:t>
            </a:r>
            <a:r>
              <a:rPr sz="1100" b="0" i="0">
                <a:solidFill>
                  <a:srgbClr val="7CC4FF"/>
                </a:solidFill>
                <a:latin typeface="Courier New"/>
              </a:rPr>
              <a:t>42</a:t>
            </a:r>
            <a:r>
              <a:rPr sz="1100" b="0" i="0">
                <a:solidFill>
                  <a:srgbClr val="E6EDF3"/>
                </a:solidFill>
                <a:latin typeface="Courier New"/>
              </a:rPr>
              <a:t>)</a:t>
            </a:r>
            <a:r>
              <a:rPr sz="1100" b="0" i="0">
                <a:solidFill>
                  <a:srgbClr val="E6EDF3"/>
                </a:solidFill>
                <a:latin typeface="Courier New"/>
              </a:rPr>
              <a:t>)</a:t>
            </a:r>
          </a:p>
        </p:txBody>
      </p:sp>
      <p:sp>
        <p:nvSpPr>
          <p:cNvPr id="9" name="explanation"/>
          <p:cNvSpPr txBox="1"/>
          <p:nvPr/>
        </p:nvSpPr>
        <p:spPr>
          <a:xfrm>
            <a:off x="4710684" y="2174240"/>
            <a:ext cx="4067555" cy="509016"/>
          </a:xfrm>
          <a:prstGeom prst="rect">
            <a:avLst/>
          </a:prstGeom>
          <a:noFill/>
        </p:spPr>
        <p:txBody>
          <a:bodyPr wrap="square" lIns="128016" rIns="128016" tIns="18288" bIns="18288" anchor="ctr">
            <a:spAutoFit/>
          </a:bodyPr>
          <a:lstStyle/>
          <a:p>
            <a:r>
              <a:rPr sz="1200" b="0" i="0">
                <a:solidFill>
                  <a:srgbClr val="1F2933"/>
                </a:solidFill>
                <a:latin typeface="Calibri"/>
              </a:rPr>
              <a:t>str turns the number into text first, and then the join works.</a:t>
            </a:r>
          </a:p>
        </p:txBody>
      </p:sp>
      <p:sp>
        <p:nvSpPr>
          <p:cNvPr id="10" name="result label"/>
          <p:cNvSpPr txBox="1"/>
          <p:nvPr/>
        </p:nvSpPr>
        <p:spPr>
          <a:xfrm>
            <a:off x="365760" y="275640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030728"/>
          <a:ext cx="5720485" cy="1371600"/>
        </p:xfrm>
        <a:graphic>
          <a:graphicData uri="http://schemas.openxmlformats.org/drawingml/2006/table">
            <a:tbl>
              <a:tblPr firstRow="0" bandRow="0"/>
              <a:tblGrid>
                <a:gridCol w="2214381"/>
                <a:gridCol w="3506104"/>
              </a:tblGrid>
              <a:tr h="274320">
                <a:tc>
                  <a:txBody>
                    <a:bodyPr wrap="square"/>
                    <a:lstStyle/>
                    <a:p>
                      <a:r>
                        <a:rPr sz="1050" b="1" i="0">
                          <a:solidFill>
                            <a:srgbClr val="FFFFFF"/>
                          </a:solidFill>
                          <a:latin typeface="Calibri"/>
                        </a:rPr>
                        <a:t>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50" b="0" i="0">
                          <a:solidFill>
                            <a:srgbClr val="1F2933"/>
                          </a:solidFill>
                          <a:latin typeface="Courier New"/>
                        </a:rPr>
                        <a:t>'Alice' + 'Bob'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'AliceBob'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50" b="0" i="0">
                          <a:solidFill>
                            <a:srgbClr val="1F2933"/>
                          </a:solidFill>
                          <a:latin typeface="Courier New"/>
                        </a:rPr>
                        <a:t>'Hello' + ' ' + 'world'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'Hello world'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50" b="0" i="0">
                          <a:solidFill>
                            <a:srgbClr val="1F2933"/>
                          </a:solidFill>
                          <a:latin typeface="Courier New"/>
                        </a:rPr>
                        <a:t>'Alice' + 42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B83A1B"/>
                          </a:solidFill>
                          <a:latin typeface="Courier New"/>
                        </a:rPr>
                        <a:t>TypeError: can only concatenate str (not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50" b="0" i="0">
                          <a:solidFill>
                            <a:srgbClr val="1F2933"/>
                          </a:solidFill>
                          <a:latin typeface="Courier New"/>
                        </a:rPr>
                        <a:t>'Alice' + str(42)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'Alice42'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2" name="Rounded Rectangle 11"/>
          <p:cNvSpPr/>
          <p:nvPr/>
        </p:nvSpPr>
        <p:spPr>
          <a:xfrm>
            <a:off x="6422745" y="3122168"/>
            <a:ext cx="731520" cy="310896"/>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'Alice'</a:t>
            </a:r>
          </a:p>
        </p:txBody>
      </p:sp>
      <p:sp>
        <p:nvSpPr>
          <p:cNvPr id="13" name="TextBox 12"/>
          <p:cNvSpPr txBox="1"/>
          <p:nvPr/>
        </p:nvSpPr>
        <p:spPr>
          <a:xfrm>
            <a:off x="7172553" y="3122168"/>
            <a:ext cx="182880" cy="310896"/>
          </a:xfrm>
          <a:prstGeom prst="rect">
            <a:avLst/>
          </a:prstGeom>
          <a:noFill/>
        </p:spPr>
        <p:txBody>
          <a:bodyPr wrap="square" lIns="0" rIns="0" tIns="0" bIns="0" anchor="ctr">
            <a:spAutoFit/>
          </a:bodyPr>
          <a:lstStyle/>
          <a:p>
            <a:pPr algn="ctr"/>
            <a:r>
              <a:rPr sz="1200" b="1" i="0">
                <a:solidFill>
                  <a:srgbClr val="1F2933"/>
                </a:solidFill>
                <a:latin typeface="Calibri"/>
              </a:rPr>
              <a:t>+</a:t>
            </a:r>
          </a:p>
        </p:txBody>
      </p:sp>
      <p:sp>
        <p:nvSpPr>
          <p:cNvPr id="14" name="Rounded Rectangle 13"/>
          <p:cNvSpPr/>
          <p:nvPr/>
        </p:nvSpPr>
        <p:spPr>
          <a:xfrm>
            <a:off x="7382865" y="3122168"/>
            <a:ext cx="640080" cy="310896"/>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'Bob'</a:t>
            </a:r>
          </a:p>
        </p:txBody>
      </p:sp>
      <p:cxnSp>
        <p:nvCxnSpPr>
          <p:cNvPr id="15" name="arrow"/>
          <p:cNvCxnSpPr/>
          <p:nvPr/>
        </p:nvCxnSpPr>
        <p:spPr>
          <a:xfrm>
            <a:off x="7245705" y="3469640"/>
            <a:ext cx="0" cy="292608"/>
          </a:xfrm>
          <a:prstGeom prst="line">
            <a:avLst/>
          </a:prstGeom>
          <a:ln w="1651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422745" y="3807968"/>
            <a:ext cx="1600200" cy="347472"/>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'AliceBob'</a:t>
            </a:r>
          </a:p>
        </p:txBody>
      </p:sp>
      <p:sp>
        <p:nvSpPr>
          <p:cNvPr id="17" name="TextBox 16"/>
          <p:cNvSpPr txBox="1"/>
          <p:nvPr/>
        </p:nvSpPr>
        <p:spPr>
          <a:xfrm>
            <a:off x="6422745" y="4219448"/>
            <a:ext cx="2194560" cy="274320"/>
          </a:xfrm>
          <a:prstGeom prst="rect">
            <a:avLst/>
          </a:prstGeom>
          <a:noFill/>
        </p:spPr>
        <p:txBody>
          <a:bodyPr wrap="square" lIns="45720" rIns="45720" tIns="27432" bIns="27432" anchor="t">
            <a:spAutoFit/>
          </a:bodyPr>
          <a:lstStyle/>
          <a:p>
            <a:r>
              <a:rPr sz="1000" b="0" i="1">
                <a:solidFill>
                  <a:srgbClr val="5B6773"/>
                </a:solidFill>
                <a:latin typeface="Calibri"/>
              </a:rPr>
              <a:t>two strips glued, no gap</a:t>
            </a:r>
          </a:p>
        </p:txBody>
      </p:sp>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 joins strings; mixing in a number is a TypeError.</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18 / 39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String replication: * repeats text</a:t>
            </a:r>
          </a:p>
        </p:txBody>
      </p:sp>
      <p:sp>
        <p:nvSpPr>
          <p:cNvPr id="4" name="code"/>
          <p:cNvSpPr/>
          <p:nvPr/>
        </p:nvSpPr>
        <p:spPr>
          <a:xfrm>
            <a:off x="365760" y="841248"/>
            <a:ext cx="5109972" cy="92176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9BE3A8"/>
                </a:solidFill>
                <a:latin typeface="Courier New"/>
              </a:rPr>
              <a:t>'Alice'</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3</a:t>
            </a:r>
            <a:r>
              <a:rPr sz="1300" b="0" i="0">
                <a:solidFill>
                  <a:srgbClr val="E6EDF3"/>
                </a:solidFill>
                <a:latin typeface="Courier New"/>
              </a:rPr>
              <a:t>)</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7CC4FF"/>
                </a:solidFill>
                <a:latin typeface="Courier New"/>
              </a:rPr>
              <a:t>3</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'ab'</a:t>
            </a:r>
            <a:r>
              <a:rPr sz="1300" b="0" i="0">
                <a:solidFill>
                  <a:srgbClr val="E6EDF3"/>
                </a:solidFill>
                <a:latin typeface="Courier New"/>
              </a:rPr>
              <a:t>)</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repr</a:t>
            </a:r>
            <a:r>
              <a:rPr sz="1300" b="0" i="0">
                <a:solidFill>
                  <a:srgbClr val="E6EDF3"/>
                </a:solidFill>
                <a:latin typeface="Courier New"/>
              </a:rPr>
              <a:t>(</a:t>
            </a:r>
            <a:r>
              <a:rPr sz="1300" b="0" i="0">
                <a:solidFill>
                  <a:srgbClr val="9BE3A8"/>
                </a:solidFill>
                <a:latin typeface="Courier New"/>
              </a:rPr>
              <a:t>'ab'</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0</a:t>
            </a:r>
            <a:r>
              <a:rPr sz="1300" b="0" i="0">
                <a:solidFill>
                  <a:srgbClr val="E6EDF3"/>
                </a:solidFill>
                <a:latin typeface="Courier New"/>
              </a:rPr>
              <a:t>)</a:t>
            </a:r>
            <a:r>
              <a:rPr sz="1300" b="0" i="0">
                <a:solidFill>
                  <a:srgbClr val="E6EDF3"/>
                </a:solidFill>
                <a:latin typeface="Courier New"/>
              </a:rPr>
              <a:t>)</a:t>
            </a:r>
          </a:p>
        </p:txBody>
      </p:sp>
      <p:sp>
        <p:nvSpPr>
          <p:cNvPr id="5" name="explanation"/>
          <p:cNvSpPr txBox="1"/>
          <p:nvPr/>
        </p:nvSpPr>
        <p:spPr>
          <a:xfrm>
            <a:off x="5457444" y="841248"/>
            <a:ext cx="3320795" cy="921765"/>
          </a:xfrm>
          <a:prstGeom prst="rect">
            <a:avLst/>
          </a:prstGeom>
          <a:noFill/>
        </p:spPr>
        <p:txBody>
          <a:bodyPr wrap="square" lIns="128016" rIns="128016" tIns="18288" bIns="18288" anchor="ctr">
            <a:spAutoFit/>
          </a:bodyPr>
          <a:lstStyle/>
          <a:p>
            <a:r>
              <a:rPr sz="1250" b="0" i="0">
                <a:solidFill>
                  <a:srgbClr val="1F2933"/>
                </a:solidFill>
                <a:latin typeface="Calibri"/>
              </a:rPr>
              <a:t>Star between a string and a whole number repeats the string. The order does not matter, and zero copies give an empty string.</a:t>
            </a:r>
          </a:p>
        </p:txBody>
      </p:sp>
      <p:sp>
        <p:nvSpPr>
          <p:cNvPr id="6" name="code"/>
          <p:cNvSpPr/>
          <p:nvPr/>
        </p:nvSpPr>
        <p:spPr>
          <a:xfrm>
            <a:off x="365760" y="1817878"/>
            <a:ext cx="5109972" cy="58572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E6EDF3"/>
                </a:solidFill>
                <a:latin typeface="Courier New"/>
              </a:rPr>
              <a:t>try</a:t>
            </a:r>
            <a:r>
              <a:rPr sz="1300" b="0" i="0">
                <a:solidFill>
                  <a:srgbClr val="E6EDF3"/>
                </a:solidFill>
                <a:latin typeface="Courier New"/>
              </a:rPr>
              <a:t>:</a:t>
            </a:r>
            <a:r>
              <a:rPr sz="1300" b="0" i="0">
                <a:solidFill>
                  <a:srgbClr val="E6EDF3"/>
                </a:solidFill>
                <a:latin typeface="Courier New"/>
              </a:rPr>
              <a:t> </a:t>
            </a:r>
            <a:r>
              <a:rPr sz="1300" b="0" i="0">
                <a:solidFill>
                  <a:srgbClr val="C9A0FF"/>
                </a:solidFill>
                <a:latin typeface="Courier New"/>
              </a:rPr>
              <a:t>print</a:t>
            </a:r>
            <a:r>
              <a:rPr sz="1300" b="0" i="0">
                <a:solidFill>
                  <a:srgbClr val="E6EDF3"/>
                </a:solidFill>
                <a:latin typeface="Courier New"/>
              </a:rPr>
              <a:t>(</a:t>
            </a:r>
            <a:r>
              <a:rPr sz="1300" b="0" i="0">
                <a:solidFill>
                  <a:srgbClr val="9BE3A8"/>
                </a:solidFill>
                <a:latin typeface="Courier New"/>
              </a:rPr>
              <a:t>'Alice'</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2.5</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except</a:t>
            </a:r>
            <a:r>
              <a:rPr sz="1300" b="0" i="0">
                <a:solidFill>
                  <a:srgbClr val="E6EDF3"/>
                </a:solidFill>
                <a:latin typeface="Courier New"/>
              </a:rPr>
              <a:t> </a:t>
            </a:r>
            <a:r>
              <a:rPr sz="1300" b="0" i="0">
                <a:solidFill>
                  <a:srgbClr val="E6EDF3"/>
                </a:solidFill>
                <a:latin typeface="Courier New"/>
              </a:rPr>
              <a:t>TypeError</a:t>
            </a:r>
            <a:r>
              <a:rPr sz="1300" b="0" i="0">
                <a:solidFill>
                  <a:srgbClr val="E6EDF3"/>
                </a:solidFill>
                <a:latin typeface="Courier New"/>
              </a:rPr>
              <a:t> </a:t>
            </a:r>
            <a:r>
              <a:rPr sz="1300" b="0" i="0">
                <a:solidFill>
                  <a:srgbClr val="E6EDF3"/>
                </a:solidFill>
                <a:latin typeface="Courier New"/>
              </a:rPr>
              <a:t>as</a:t>
            </a:r>
            <a:r>
              <a:rPr sz="1300" b="0" i="0">
                <a:solidFill>
                  <a:srgbClr val="E6EDF3"/>
                </a:solidFill>
                <a:latin typeface="Courier New"/>
              </a:rPr>
              <a:t> </a:t>
            </a:r>
            <a:r>
              <a:rPr sz="1300" b="0" i="0">
                <a:solidFill>
                  <a:srgbClr val="E6EDF3"/>
                </a:solidFill>
                <a:latin typeface="Courier New"/>
              </a:rPr>
              <a:t>e</a:t>
            </a:r>
            <a:r>
              <a:rPr sz="1300" b="0" i="0">
                <a:solidFill>
                  <a:srgbClr val="E6EDF3"/>
                </a:solidFill>
                <a:latin typeface="Courier New"/>
              </a:rPr>
              <a:t>:</a:t>
            </a:r>
            <a:r>
              <a:rPr sz="1300" b="0" i="0">
                <a:solidFill>
                  <a:srgbClr val="E6EDF3"/>
                </a:solidFill>
                <a:latin typeface="Courier New"/>
              </a:rPr>
              <a:t> </a:t>
            </a:r>
            <a:r>
              <a:rPr sz="1300" b="0" i="0">
                <a:solidFill>
                  <a:srgbClr val="C9A0FF"/>
                </a:solidFill>
                <a:latin typeface="Courier New"/>
              </a:rPr>
              <a:t>print</a:t>
            </a:r>
            <a:r>
              <a:rPr sz="1300" b="0" i="0">
                <a:solidFill>
                  <a:srgbClr val="E6EDF3"/>
                </a:solidFill>
                <a:latin typeface="Courier New"/>
              </a:rPr>
              <a:t>(</a:t>
            </a:r>
            <a:r>
              <a:rPr sz="1300" b="0" i="0">
                <a:solidFill>
                  <a:srgbClr val="9BE3A8"/>
                </a:solidFill>
                <a:latin typeface="Courier New"/>
              </a:rPr>
              <a:t>'TypeError:'</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e</a:t>
            </a:r>
            <a:r>
              <a:rPr sz="1300" b="0" i="0">
                <a:solidFill>
                  <a:srgbClr val="E6EDF3"/>
                </a:solidFill>
                <a:latin typeface="Courier New"/>
              </a:rPr>
              <a:t>)</a:t>
            </a:r>
          </a:p>
        </p:txBody>
      </p:sp>
      <p:sp>
        <p:nvSpPr>
          <p:cNvPr id="7" name="explanation"/>
          <p:cNvSpPr txBox="1"/>
          <p:nvPr/>
        </p:nvSpPr>
        <p:spPr>
          <a:xfrm>
            <a:off x="5457444" y="1817878"/>
            <a:ext cx="3320795" cy="585724"/>
          </a:xfrm>
          <a:prstGeom prst="rect">
            <a:avLst/>
          </a:prstGeom>
          <a:noFill/>
        </p:spPr>
        <p:txBody>
          <a:bodyPr wrap="square" lIns="128016" rIns="128016" tIns="18288" bIns="18288" anchor="ctr">
            <a:spAutoFit/>
          </a:bodyPr>
          <a:lstStyle/>
          <a:p>
            <a:r>
              <a:rPr sz="1250" b="0" i="0">
                <a:solidFill>
                  <a:srgbClr val="1F2933"/>
                </a:solidFill>
                <a:latin typeface="Calibri"/>
              </a:rPr>
              <a:t>The count must be an integer. A float such as 2.5 raises a TypeError.</a:t>
            </a:r>
          </a:p>
        </p:txBody>
      </p:sp>
      <p:sp>
        <p:nvSpPr>
          <p:cNvPr id="8" name="result label"/>
          <p:cNvSpPr txBox="1"/>
          <p:nvPr/>
        </p:nvSpPr>
        <p:spPr>
          <a:xfrm>
            <a:off x="365760" y="247675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751074"/>
          <a:ext cx="5215737" cy="1463040"/>
        </p:xfrm>
        <a:graphic>
          <a:graphicData uri="http://schemas.openxmlformats.org/drawingml/2006/table">
            <a:tbl>
              <a:tblPr firstRow="0" bandRow="0"/>
              <a:tblGrid>
                <a:gridCol w="1830083"/>
                <a:gridCol w="3385654"/>
              </a:tblGrid>
              <a:tr h="292608">
                <a:tc>
                  <a:txBody>
                    <a:bodyPr wrap="square"/>
                    <a:lstStyle/>
                    <a:p>
                      <a:r>
                        <a:rPr sz="1050" b="1" i="0">
                          <a:solidFill>
                            <a:srgbClr val="FFFFFF"/>
                          </a:solidFill>
                          <a:latin typeface="Calibri"/>
                        </a:rPr>
                        <a:t>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92608">
                <a:tc>
                  <a:txBody>
                    <a:bodyPr wrap="square"/>
                    <a:lstStyle/>
                    <a:p>
                      <a:r>
                        <a:rPr sz="1050" b="0" i="0">
                          <a:solidFill>
                            <a:srgbClr val="1F2933"/>
                          </a:solidFill>
                          <a:latin typeface="Courier New"/>
                        </a:rPr>
                        <a:t>'Alice' * 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'AliceAliceAlice'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2608">
                <a:tc>
                  <a:txBody>
                    <a:bodyPr wrap="square"/>
                    <a:lstStyle/>
                    <a:p>
                      <a:r>
                        <a:rPr sz="1050" b="0" i="0">
                          <a:solidFill>
                            <a:srgbClr val="1F2933"/>
                          </a:solidFill>
                          <a:latin typeface="Courier New"/>
                        </a:rPr>
                        <a:t>3 * 'ab'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'ababab'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2608">
                <a:tc>
                  <a:txBody>
                    <a:bodyPr wrap="square"/>
                    <a:lstStyle/>
                    <a:p>
                      <a:r>
                        <a:rPr sz="1050" b="0" i="0">
                          <a:solidFill>
                            <a:srgbClr val="1F2933"/>
                          </a:solidFill>
                          <a:latin typeface="Courier New"/>
                        </a:rPr>
                        <a:t>'ab' * 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2608">
                <a:tc>
                  <a:txBody>
                    <a:bodyPr wrap="square"/>
                    <a:lstStyle/>
                    <a:p>
                      <a:r>
                        <a:rPr sz="1050" b="0" i="0">
                          <a:solidFill>
                            <a:srgbClr val="1F2933"/>
                          </a:solidFill>
                          <a:latin typeface="Courier New"/>
                        </a:rPr>
                        <a:t>'Alice' * 2.5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B83A1B"/>
                          </a:solidFill>
                          <a:latin typeface="Courier New"/>
                        </a:rPr>
                        <a:t>TypeError: can't multiply sequence by...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graphicFrame>
        <p:nvGraphicFramePr>
          <p:cNvPr id="10" name="chart"/>
          <p:cNvGraphicFramePr>
            <a:graphicFrameLocks noGrp="1"/>
          </p:cNvGraphicFramePr>
          <p:nvPr/>
        </p:nvGraphicFramePr>
        <p:xfrm>
          <a:off x="5917996" y="2751074"/>
          <a:ext cx="2860243" cy="1857502"/>
        </p:xfrm>
        <a:graphic>
          <a:graphicData uri="http://schemas.openxmlformats.org/drawingml/2006/chart">
            <c:chart xmlns:c="http://schemas.openxmlformats.org/drawingml/2006/chart" r:id="rId3"/>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 repeats a string; the count is a whole number.</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19 / 39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3: Names and functions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Remembering values, and the toolbox that comes with Python</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Variable</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name that refers to a value and can be reassigned.</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print and input</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One shows text on the screen, the other reads typed text.</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str, int, float</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Built-in functions that convert one kind of value into another.</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len</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Counts the characters of a string.</a:t>
            </a:r>
          </a:p>
        </p:txBody>
      </p:sp>
      <p:graphicFrame>
        <p:nvGraphicFramePr>
          <p:cNvPr id="13" name="table"/>
          <p:cNvGraphicFramePr>
            <a:graphicFrameLocks noGrp="1"/>
          </p:cNvGraphicFramePr>
          <p:nvPr/>
        </p:nvGraphicFramePr>
        <p:xfrm>
          <a:off x="5303520" y="1417320"/>
          <a:ext cx="3474719" cy="3200400"/>
        </p:xfrm>
        <a:graphic>
          <a:graphicData uri="http://schemas.openxmlformats.org/drawingml/2006/table">
            <a:tbl>
              <a:tblPr firstRow="0" bandRow="0"/>
              <a:tblGrid>
                <a:gridCol w="507543"/>
                <a:gridCol w="2967176"/>
              </a:tblGrid>
              <a:tr h="355600">
                <a:tc>
                  <a:txBody>
                    <a:bodyPr wrap="square"/>
                    <a:lstStyle/>
                    <a:p>
                      <a:r>
                        <a:rPr sz="100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55600">
                <a:tc>
                  <a:txBody>
                    <a:bodyPr wrap="square"/>
                    <a:lstStyle/>
                    <a:p>
                      <a:r>
                        <a:rPr sz="1000" b="0" i="0">
                          <a:solidFill>
                            <a:srgbClr val="1F2933"/>
                          </a:solidFill>
                          <a:latin typeface="Calibri"/>
                        </a:rPr>
                        <a:t>21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names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00" b="0" i="0">
                          <a:solidFill>
                            <a:srgbClr val="1F2933"/>
                          </a:solidFill>
                          <a:latin typeface="Calibri"/>
                        </a:rPr>
                        <a:t>22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Variables: names that remember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55600">
                <a:tc>
                  <a:txBody>
                    <a:bodyPr wrap="square"/>
                    <a:lstStyle/>
                    <a:p>
                      <a:r>
                        <a:rPr sz="1000" b="0" i="0">
                          <a:solidFill>
                            <a:srgbClr val="1F2933"/>
                          </a:solidFill>
                          <a:latin typeface="Calibri"/>
                        </a:rPr>
                        <a:t>23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print: the function that shows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00" b="0" i="0">
                          <a:solidFill>
                            <a:srgbClr val="1F2933"/>
                          </a:solidFill>
                          <a:latin typeface="Calibri"/>
                        </a:rPr>
                        <a:t>24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Everyday pictures: functions and modules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55600">
                <a:tc>
                  <a:txBody>
                    <a:bodyPr wrap="square"/>
                    <a:lstStyle/>
                    <a:p>
                      <a:r>
                        <a:rPr sz="1000" b="0" i="0">
                          <a:solidFill>
                            <a:srgbClr val="1F2933"/>
                          </a:solidFill>
                          <a:latin typeface="Calibri"/>
                        </a:rPr>
                        <a:t>25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Conversions and len: built-in functions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00" b="0" i="0">
                          <a:solidFill>
                            <a:srgbClr val="1F2933"/>
                          </a:solidFill>
                          <a:latin typeface="Calibri"/>
                        </a:rPr>
                        <a:t>26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Errors are answers too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55600">
                <a:tc>
                  <a:txBody>
                    <a:bodyPr wrap="square"/>
                    <a:lstStyle/>
                    <a:p>
                      <a:r>
                        <a:rPr sz="1000" b="0" i="0">
                          <a:solidFill>
                            <a:srgbClr val="1F2933"/>
                          </a:solidFill>
                          <a:latin typeface="Calibri"/>
                        </a:rPr>
                        <a:t>27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input always returns 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00" b="0" i="0">
                          <a:solidFill>
                            <a:srgbClr val="1F2933"/>
                          </a:solidFill>
                          <a:latin typeface="Calibri"/>
                        </a:rPr>
                        <a:t>28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Modules: import opens a toolbox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20 / 39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names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350" b="1" i="0">
                <a:solidFill>
                  <a:srgbClr val="B7791F"/>
                </a:solidFill>
                <a:latin typeface="Calibri"/>
              </a:rPr>
              <a:t>ANALOGY  </a:t>
            </a:r>
            <a:r>
              <a:rPr sz="1350" b="0" i="0">
                <a:solidFill>
                  <a:srgbClr val="1F2933"/>
                </a:solidFill>
                <a:latin typeface="Calibri"/>
              </a:rPr>
              <a:t>A variable is a labelled jar: the label is the name, the contents are the value.</a:t>
            </a:r>
          </a:p>
        </p:txBody>
      </p:sp>
      <p:graphicFrame>
        <p:nvGraphicFramePr>
          <p:cNvPr id="6" name="table"/>
          <p:cNvGraphicFramePr>
            <a:graphicFrameLocks noGrp="1"/>
          </p:cNvGraphicFramePr>
          <p:nvPr/>
        </p:nvGraphicFramePr>
        <p:xfrm>
          <a:off x="365760" y="1463040"/>
          <a:ext cx="8412479" cy="3108960"/>
        </p:xfrm>
        <a:graphic>
          <a:graphicData uri="http://schemas.openxmlformats.org/drawingml/2006/table">
            <a:tbl>
              <a:tblPr firstRow="0" bandRow="0"/>
              <a:tblGrid>
                <a:gridCol w="2464308"/>
                <a:gridCol w="5948171"/>
              </a:tblGrid>
              <a:tr h="518160">
                <a:tc>
                  <a:txBody>
                    <a:bodyPr wrap="square"/>
                    <a:lstStyle/>
                    <a:p>
                      <a:r>
                        <a:rPr sz="14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4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518160">
                <a:tc>
                  <a:txBody>
                    <a:bodyPr wrap="square"/>
                    <a:lstStyle/>
                    <a:p>
                      <a:r>
                        <a:rPr sz="1400" b="1" i="0">
                          <a:solidFill>
                            <a:srgbClr val="1F2933"/>
                          </a:solidFill>
                          <a:latin typeface="Calibri"/>
                        </a:rPr>
                        <a:t>Storing Values in Variables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400" b="0" i="0">
                          <a:solidFill>
                            <a:srgbClr val="1F2933"/>
                          </a:solidFill>
                          <a:latin typeface="Calibri"/>
                        </a:rPr>
                        <a:t>Putting something into a jar and writing a label on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18160">
                <a:tc>
                  <a:txBody>
                    <a:bodyPr wrap="square"/>
                    <a:lstStyle/>
                    <a:p>
                      <a:r>
                        <a:rPr sz="1400" b="1" i="0">
                          <a:solidFill>
                            <a:srgbClr val="1F2933"/>
                          </a:solidFill>
                          <a:latin typeface="Calibri"/>
                        </a:rPr>
                        <a:t>Variable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400" b="0" i="0">
                          <a:solidFill>
                            <a:srgbClr val="1F2933"/>
                          </a:solidFill>
                          <a:latin typeface="Calibri"/>
                        </a:rPr>
                        <a:t>The label on the jar: read the jar through its label, or swap the contents.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18160">
                <a:tc>
                  <a:txBody>
                    <a:bodyPr wrap="square"/>
                    <a:lstStyle/>
                    <a:p>
                      <a:r>
                        <a:rPr sz="1400" b="1" i="0">
                          <a:solidFill>
                            <a:srgbClr val="1F2933"/>
                          </a:solidFill>
                          <a:latin typeface="Calibri"/>
                        </a:rPr>
                        <a:t>print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400" b="0" i="0">
                          <a:solidFill>
                            <a:srgbClr val="1F2933"/>
                          </a:solidFill>
                          <a:latin typeface="Calibri"/>
                        </a:rPr>
                        <a:t>A loudspeaker: whatever you hand it is announced to the room.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18160">
                <a:tc>
                  <a:txBody>
                    <a:bodyPr wrap="square"/>
                    <a:lstStyle/>
                    <a:p>
                      <a:r>
                        <a:rPr sz="1400" b="1" i="0">
                          <a:solidFill>
                            <a:srgbClr val="1F2933"/>
                          </a:solidFill>
                          <a:latin typeface="Calibri"/>
                        </a:rPr>
                        <a:t>input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400" b="0" i="0">
                          <a:solidFill>
                            <a:srgbClr val="1F2933"/>
                          </a:solidFill>
                          <a:latin typeface="Calibri"/>
                        </a:rPr>
                        <a:t>A suggestion box: the person writes on paper and drops it 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18160">
                <a:tc>
                  <a:txBody>
                    <a:bodyPr wrap="square"/>
                    <a:lstStyle/>
                    <a:p>
                      <a:r>
                        <a:rPr sz="1400" b="1" i="0">
                          <a:solidFill>
                            <a:srgbClr val="1F2933"/>
                          </a:solidFill>
                          <a:latin typeface="Calibri"/>
                        </a:rPr>
                        <a:t>Input as 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400" b="0" i="0">
                          <a:solidFill>
                            <a:srgbClr val="1F2933"/>
                          </a:solidFill>
                          <a:latin typeface="Calibri"/>
                        </a:rPr>
                        <a:t>Everything in the suggestion box is paper: even a number arrives as written characters.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21 / 39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Variables: names that remember</a:t>
            </a:r>
          </a:p>
        </p:txBody>
      </p:sp>
      <p:sp>
        <p:nvSpPr>
          <p:cNvPr id="4" name="code"/>
          <p:cNvSpPr/>
          <p:nvPr/>
        </p:nvSpPr>
        <p:spPr>
          <a:xfrm>
            <a:off x="365760" y="841248"/>
            <a:ext cx="5109972" cy="98856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E6EDF3"/>
                </a:solidFill>
                <a:latin typeface="Courier New"/>
              </a:rPr>
              <a:t>spam</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42</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spam</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spam</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spam</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1</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spam</a:t>
            </a:r>
            <a:r>
              <a:rPr sz="1300" b="0" i="0">
                <a:solidFill>
                  <a:srgbClr val="E6EDF3"/>
                </a:solidFill>
                <a:latin typeface="Courier New"/>
              </a:rPr>
              <a:t>)</a:t>
            </a:r>
          </a:p>
        </p:txBody>
      </p:sp>
      <p:sp>
        <p:nvSpPr>
          <p:cNvPr id="5" name="explanation"/>
          <p:cNvSpPr txBox="1"/>
          <p:nvPr/>
        </p:nvSpPr>
        <p:spPr>
          <a:xfrm>
            <a:off x="5457444" y="841248"/>
            <a:ext cx="3320795" cy="988568"/>
          </a:xfrm>
          <a:prstGeom prst="rect">
            <a:avLst/>
          </a:prstGeom>
          <a:noFill/>
        </p:spPr>
        <p:txBody>
          <a:bodyPr wrap="square" lIns="128016" rIns="128016" tIns="18288" bIns="18288" anchor="ctr">
            <a:spAutoFit/>
          </a:bodyPr>
          <a:lstStyle/>
          <a:p>
            <a:r>
              <a:rPr sz="1250" b="0" i="0">
                <a:solidFill>
                  <a:srgbClr val="1F2933"/>
                </a:solidFill>
                <a:latin typeface="Calibri"/>
              </a:rPr>
              <a:t>The equals sign stores a value under a name. Assigning again gives the name a new value; the old value is replaced.</a:t>
            </a:r>
          </a:p>
        </p:txBody>
      </p:sp>
      <p:sp>
        <p:nvSpPr>
          <p:cNvPr id="6" name="code"/>
          <p:cNvSpPr/>
          <p:nvPr/>
        </p:nvSpPr>
        <p:spPr>
          <a:xfrm>
            <a:off x="365760" y="1884680"/>
            <a:ext cx="5109972"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E6EDF3"/>
                </a:solidFill>
                <a:latin typeface="Courier New"/>
              </a:rPr>
              <a:t>try</a:t>
            </a:r>
            <a:r>
              <a:rPr sz="1300" b="0" i="0">
                <a:solidFill>
                  <a:srgbClr val="E6EDF3"/>
                </a:solidFill>
                <a:latin typeface="Courier New"/>
              </a:rPr>
              <a:t>:</a:t>
            </a:r>
            <a:r>
              <a:rPr sz="1300" b="0" i="0">
                <a:solidFill>
                  <a:srgbClr val="E6EDF3"/>
                </a:solidFill>
                <a:latin typeface="Courier New"/>
              </a:rPr>
              <a: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Spam</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except</a:t>
            </a:r>
            <a:r>
              <a:rPr sz="1300" b="0" i="0">
                <a:solidFill>
                  <a:srgbClr val="E6EDF3"/>
                </a:solidFill>
                <a:latin typeface="Courier New"/>
              </a:rPr>
              <a:t> </a:t>
            </a:r>
            <a:r>
              <a:rPr sz="1300" b="0" i="0">
                <a:solidFill>
                  <a:srgbClr val="E6EDF3"/>
                </a:solidFill>
                <a:latin typeface="Courier New"/>
              </a:rPr>
              <a:t>NameError</a:t>
            </a:r>
            <a:r>
              <a:rPr sz="1300" b="0" i="0">
                <a:solidFill>
                  <a:srgbClr val="E6EDF3"/>
                </a:solidFill>
                <a:latin typeface="Courier New"/>
              </a:rPr>
              <a:t> </a:t>
            </a:r>
            <a:r>
              <a:rPr sz="1300" b="0" i="0">
                <a:solidFill>
                  <a:srgbClr val="E6EDF3"/>
                </a:solidFill>
                <a:latin typeface="Courier New"/>
              </a:rPr>
              <a:t>as</a:t>
            </a:r>
            <a:r>
              <a:rPr sz="1300" b="0" i="0">
                <a:solidFill>
                  <a:srgbClr val="E6EDF3"/>
                </a:solidFill>
                <a:latin typeface="Courier New"/>
              </a:rPr>
              <a:t> </a:t>
            </a:r>
            <a:r>
              <a:rPr sz="1300" b="0" i="0">
                <a:solidFill>
                  <a:srgbClr val="E6EDF3"/>
                </a:solidFill>
                <a:latin typeface="Courier New"/>
              </a:rPr>
              <a:t>e</a:t>
            </a:r>
            <a:r>
              <a:rPr sz="1300" b="0" i="0">
                <a:solidFill>
                  <a:srgbClr val="E6EDF3"/>
                </a:solidFill>
                <a:latin typeface="Courier New"/>
              </a:rPr>
              <a:t>:</a:t>
            </a:r>
            <a:r>
              <a:rPr sz="1300" b="0" i="0">
                <a:solidFill>
                  <a:srgbClr val="E6EDF3"/>
                </a:solidFill>
                <a:latin typeface="Courier New"/>
              </a:rPr>
              <a:t> </a:t>
            </a:r>
            <a:r>
              <a:rPr sz="1300" b="0" i="0">
                <a:solidFill>
                  <a:srgbClr val="C9A0FF"/>
                </a:solidFill>
                <a:latin typeface="Courier New"/>
              </a:rPr>
              <a:t>print</a:t>
            </a:r>
            <a:r>
              <a:rPr sz="1300" b="0" i="0">
                <a:solidFill>
                  <a:srgbClr val="E6EDF3"/>
                </a:solidFill>
                <a:latin typeface="Courier New"/>
              </a:rPr>
              <a:t>(</a:t>
            </a:r>
            <a:r>
              <a:rPr sz="1300" b="0" i="0">
                <a:solidFill>
                  <a:srgbClr val="9BE3A8"/>
                </a:solidFill>
                <a:latin typeface="Courier New"/>
              </a:rPr>
              <a:t>'NameError:'</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e</a:t>
            </a:r>
            <a:r>
              <a:rPr sz="1300" b="0" i="0">
                <a:solidFill>
                  <a:srgbClr val="E6EDF3"/>
                </a:solidFill>
                <a:latin typeface="Courier New"/>
              </a:rPr>
              <a:t>)</a:t>
            </a:r>
          </a:p>
        </p:txBody>
      </p:sp>
      <p:sp>
        <p:nvSpPr>
          <p:cNvPr id="7" name="explanation"/>
          <p:cNvSpPr txBox="1"/>
          <p:nvPr/>
        </p:nvSpPr>
        <p:spPr>
          <a:xfrm>
            <a:off x="5457444" y="1884680"/>
            <a:ext cx="3320795" cy="723328"/>
          </a:xfrm>
          <a:prstGeom prst="rect">
            <a:avLst/>
          </a:prstGeom>
          <a:noFill/>
        </p:spPr>
        <p:txBody>
          <a:bodyPr wrap="square" lIns="128016" rIns="128016" tIns="18288" bIns="18288" anchor="ctr">
            <a:spAutoFit/>
          </a:bodyPr>
          <a:lstStyle/>
          <a:p>
            <a:r>
              <a:rPr sz="1250" b="0" i="0">
                <a:solidFill>
                  <a:srgbClr val="1F2933"/>
                </a:solidFill>
                <a:latin typeface="Calibri"/>
              </a:rPr>
              <a:t>Names are case-sensitive. Spam was never assigned, so Python reports a NameError.</a:t>
            </a:r>
          </a:p>
        </p:txBody>
      </p:sp>
      <p:sp>
        <p:nvSpPr>
          <p:cNvPr id="8" name="result label"/>
          <p:cNvSpPr txBox="1"/>
          <p:nvPr/>
        </p:nvSpPr>
        <p:spPr>
          <a:xfrm>
            <a:off x="365760" y="2681160"/>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TextBox 8"/>
          <p:cNvSpPr txBox="1"/>
          <p:nvPr/>
        </p:nvSpPr>
        <p:spPr>
          <a:xfrm>
            <a:off x="365760" y="2955480"/>
            <a:ext cx="2286000" cy="256032"/>
          </a:xfrm>
          <a:prstGeom prst="rect">
            <a:avLst/>
          </a:prstGeom>
          <a:noFill/>
        </p:spPr>
        <p:txBody>
          <a:bodyPr wrap="square" lIns="45720" rIns="45720" tIns="27432" bIns="27432" anchor="t">
            <a:spAutoFit/>
          </a:bodyPr>
          <a:lstStyle/>
          <a:p>
            <a:pPr algn="ctr"/>
            <a:r>
              <a:rPr sz="1050" b="0" i="0">
                <a:solidFill>
                  <a:srgbClr val="5B6773"/>
                </a:solidFill>
                <a:latin typeface="Courier New"/>
              </a:rPr>
              <a:t>spam = 42</a:t>
            </a:r>
          </a:p>
        </p:txBody>
      </p:sp>
      <p:sp>
        <p:nvSpPr>
          <p:cNvPr id="10" name="Rounded Rectangle 9"/>
          <p:cNvSpPr/>
          <p:nvPr/>
        </p:nvSpPr>
        <p:spPr>
          <a:xfrm>
            <a:off x="365760" y="3321240"/>
            <a:ext cx="868680" cy="365760"/>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5B6773"/>
                </a:solidFill>
                <a:latin typeface="Courier New"/>
              </a:rPr>
              <a:t>spam</a:t>
            </a:r>
          </a:p>
        </p:txBody>
      </p:sp>
      <p:cxnSp>
        <p:nvCxnSpPr>
          <p:cNvPr id="11" name="arrow"/>
          <p:cNvCxnSpPr/>
          <p:nvPr/>
        </p:nvCxnSpPr>
        <p:spPr>
          <a:xfrm>
            <a:off x="1261872" y="3504120"/>
            <a:ext cx="274320" cy="0"/>
          </a:xfrm>
          <a:prstGeom prst="line">
            <a:avLst/>
          </a:prstGeom>
          <a:ln w="1651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554480" y="3275520"/>
            <a:ext cx="1005840" cy="45720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1F2933"/>
                </a:solidFill>
                <a:latin typeface="Courier New"/>
              </a:rPr>
              <a:t>42</a:t>
            </a:r>
          </a:p>
        </p:txBody>
      </p:sp>
      <p:cxnSp>
        <p:nvCxnSpPr>
          <p:cNvPr id="13" name="arrow"/>
          <p:cNvCxnSpPr/>
          <p:nvPr/>
        </p:nvCxnSpPr>
        <p:spPr>
          <a:xfrm>
            <a:off x="2679191" y="3504120"/>
            <a:ext cx="685800" cy="0"/>
          </a:xfrm>
          <a:prstGeom prst="line">
            <a:avLst/>
          </a:prstGeom>
          <a:ln w="2032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429000" y="2955480"/>
            <a:ext cx="2286000" cy="256032"/>
          </a:xfrm>
          <a:prstGeom prst="rect">
            <a:avLst/>
          </a:prstGeom>
          <a:noFill/>
        </p:spPr>
        <p:txBody>
          <a:bodyPr wrap="square" lIns="45720" rIns="45720" tIns="27432" bIns="27432" anchor="t">
            <a:spAutoFit/>
          </a:bodyPr>
          <a:lstStyle/>
          <a:p>
            <a:pPr algn="ctr"/>
            <a:r>
              <a:rPr sz="1050" b="0" i="0">
                <a:solidFill>
                  <a:srgbClr val="5B6773"/>
                </a:solidFill>
                <a:latin typeface="Courier New"/>
              </a:rPr>
              <a:t>spam = spam + 1</a:t>
            </a:r>
          </a:p>
        </p:txBody>
      </p:sp>
      <p:sp>
        <p:nvSpPr>
          <p:cNvPr id="15" name="Rounded Rectangle 14"/>
          <p:cNvSpPr/>
          <p:nvPr/>
        </p:nvSpPr>
        <p:spPr>
          <a:xfrm>
            <a:off x="3429000" y="3321240"/>
            <a:ext cx="868680" cy="365760"/>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5B6773"/>
                </a:solidFill>
                <a:latin typeface="Courier New"/>
              </a:rPr>
              <a:t>spam</a:t>
            </a:r>
          </a:p>
        </p:txBody>
      </p:sp>
      <p:cxnSp>
        <p:nvCxnSpPr>
          <p:cNvPr id="16" name="arrow"/>
          <p:cNvCxnSpPr/>
          <p:nvPr/>
        </p:nvCxnSpPr>
        <p:spPr>
          <a:xfrm>
            <a:off x="4325112" y="3504120"/>
            <a:ext cx="274320" cy="0"/>
          </a:xfrm>
          <a:prstGeom prst="line">
            <a:avLst/>
          </a:prstGeom>
          <a:ln w="1651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617720" y="3275520"/>
            <a:ext cx="1005840" cy="45720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1F2933"/>
                </a:solidFill>
                <a:latin typeface="Courier New"/>
              </a:rPr>
              <a:t>43</a:t>
            </a:r>
          </a:p>
        </p:txBody>
      </p:sp>
      <p:cxnSp>
        <p:nvCxnSpPr>
          <p:cNvPr id="18" name="arrow"/>
          <p:cNvCxnSpPr/>
          <p:nvPr/>
        </p:nvCxnSpPr>
        <p:spPr>
          <a:xfrm>
            <a:off x="5742432" y="3504120"/>
            <a:ext cx="685800" cy="0"/>
          </a:xfrm>
          <a:prstGeom prst="line">
            <a:avLst/>
          </a:prstGeom>
          <a:ln w="2032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492240" y="2955480"/>
            <a:ext cx="2286000" cy="256032"/>
          </a:xfrm>
          <a:prstGeom prst="rect">
            <a:avLst/>
          </a:prstGeom>
          <a:noFill/>
        </p:spPr>
        <p:txBody>
          <a:bodyPr wrap="square" lIns="45720" rIns="45720" tIns="27432" bIns="27432" anchor="t">
            <a:spAutoFit/>
          </a:bodyPr>
          <a:lstStyle/>
          <a:p>
            <a:pPr algn="ctr"/>
            <a:r>
              <a:rPr sz="1050" b="0" i="0">
                <a:solidFill>
                  <a:srgbClr val="5B6773"/>
                </a:solidFill>
                <a:latin typeface="Courier New"/>
              </a:rPr>
              <a:t>print(Spam)</a:t>
            </a:r>
          </a:p>
        </p:txBody>
      </p:sp>
      <p:sp>
        <p:nvSpPr>
          <p:cNvPr id="20" name="Rounded Rectangle 19"/>
          <p:cNvSpPr/>
          <p:nvPr/>
        </p:nvSpPr>
        <p:spPr>
          <a:xfrm>
            <a:off x="6492240" y="3321240"/>
            <a:ext cx="868680" cy="365760"/>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5B6773"/>
                </a:solidFill>
                <a:latin typeface="Courier New"/>
              </a:rPr>
              <a:t>Spam</a:t>
            </a:r>
          </a:p>
        </p:txBody>
      </p:sp>
      <p:cxnSp>
        <p:nvCxnSpPr>
          <p:cNvPr id="21" name="arrow"/>
          <p:cNvCxnSpPr/>
          <p:nvPr/>
        </p:nvCxnSpPr>
        <p:spPr>
          <a:xfrm>
            <a:off x="7388352" y="3504120"/>
            <a:ext cx="274320" cy="0"/>
          </a:xfrm>
          <a:prstGeom prst="line">
            <a:avLst/>
          </a:prstGeom>
          <a:ln w="1651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680960" y="3275520"/>
            <a:ext cx="1005840" cy="457200"/>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1F2933"/>
                </a:solidFill>
                <a:latin typeface="Courier New"/>
              </a:rPr>
              <a:t>no jar</a:t>
            </a:r>
          </a:p>
        </p:txBody>
      </p:sp>
      <p:sp>
        <p:nvSpPr>
          <p:cNvPr id="23" name="TextBox 22"/>
          <p:cNvSpPr txBox="1"/>
          <p:nvPr/>
        </p:nvSpPr>
        <p:spPr>
          <a:xfrm>
            <a:off x="365760" y="3869880"/>
            <a:ext cx="8412480" cy="457200"/>
          </a:xfrm>
          <a:prstGeom prst="rect">
            <a:avLst/>
          </a:prstGeom>
          <a:noFill/>
        </p:spPr>
        <p:txBody>
          <a:bodyPr wrap="square" lIns="45720" rIns="45720" tIns="27432" bIns="27432" anchor="t">
            <a:spAutoFit/>
          </a:bodyPr>
          <a:lstStyle/>
          <a:p>
            <a:r>
              <a:rPr sz="1050" b="0" i="1">
                <a:solidFill>
                  <a:srgbClr val="5B6773"/>
                </a:solidFill>
                <a:latin typeface="Calibri"/>
              </a:rPr>
              <a:t>the tag (the name) points at a value; assigning again moves the tag to a new value; Spam is a different tag with nothing behind it</a:t>
            </a:r>
          </a:p>
        </p:txBody>
      </p:sp>
      <p:sp>
        <p:nvSpPr>
          <p:cNvPr id="2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name refers to a value; assigning again changes it.</a:t>
            </a:r>
          </a:p>
        </p:txBody>
      </p:sp>
      <p:sp>
        <p:nvSpPr>
          <p:cNvPr id="2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22 / 39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print: the function that shows</a:t>
            </a:r>
          </a:p>
        </p:txBody>
      </p:sp>
      <p:sp>
        <p:nvSpPr>
          <p:cNvPr id="4" name="code"/>
          <p:cNvSpPr/>
          <p:nvPr/>
        </p:nvSpPr>
        <p:spPr>
          <a:xfrm>
            <a:off x="365760" y="841248"/>
            <a:ext cx="5193791" cy="92176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'Hello,'</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'world!'</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'Hello,'</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'world!'</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sep</a:t>
            </a:r>
            <a:r>
              <a:rPr sz="1200" b="0" i="0">
                <a:solidFill>
                  <a:srgbClr val="E6EDF3"/>
                </a:solidFill>
                <a:latin typeface="Courier New"/>
              </a:rPr>
              <a:t>=</a:t>
            </a:r>
            <a:r>
              <a:rPr sz="1200" b="0" i="0">
                <a:solidFill>
                  <a:srgbClr val="9BE3A8"/>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end</a:t>
            </a:r>
            <a:r>
              <a:rPr sz="1200" b="0" i="0">
                <a:solidFill>
                  <a:srgbClr val="E6EDF3"/>
                </a:solidFill>
                <a:latin typeface="Courier New"/>
              </a:rPr>
              <a:t>=</a:t>
            </a:r>
            <a:r>
              <a:rPr sz="1200" b="0" i="0">
                <a:solidFill>
                  <a:srgbClr val="9BE3A8"/>
                </a:solidFill>
                <a:latin typeface="Courier New"/>
              </a:rPr>
              <a:t>' &lt;end&gt;\n'</a:t>
            </a:r>
            <a:r>
              <a:rPr sz="1200" b="0" i="0">
                <a:solidFill>
                  <a:srgbClr val="E6EDF3"/>
                </a:solidFill>
                <a:latin typeface="Courier New"/>
              </a:rPr>
              <a:t>)</a:t>
            </a:r>
          </a:p>
        </p:txBody>
      </p:sp>
      <p:sp>
        <p:nvSpPr>
          <p:cNvPr id="5" name="explanation"/>
          <p:cNvSpPr txBox="1"/>
          <p:nvPr/>
        </p:nvSpPr>
        <p:spPr>
          <a:xfrm>
            <a:off x="5541264" y="841248"/>
            <a:ext cx="3236976" cy="921765"/>
          </a:xfrm>
          <a:prstGeom prst="rect">
            <a:avLst/>
          </a:prstGeom>
          <a:noFill/>
        </p:spPr>
        <p:txBody>
          <a:bodyPr wrap="square" lIns="128016" rIns="128016" tIns="18288" bIns="18288" anchor="ctr">
            <a:spAutoFit/>
          </a:bodyPr>
          <a:lstStyle/>
          <a:p>
            <a:r>
              <a:rPr sz="1250" b="0" i="0">
                <a:solidFill>
                  <a:srgbClr val="1F2933"/>
                </a:solidFill>
                <a:latin typeface="Calibri"/>
              </a:rPr>
              <a:t>print separates its items with a space and ends the line. The options sep and end change the separator and the ending.</a:t>
            </a:r>
          </a:p>
        </p:txBody>
      </p:sp>
      <p:sp>
        <p:nvSpPr>
          <p:cNvPr id="6" name="code"/>
          <p:cNvSpPr/>
          <p:nvPr/>
        </p:nvSpPr>
        <p:spPr>
          <a:xfrm>
            <a:off x="365760" y="1817878"/>
            <a:ext cx="5193791" cy="55473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'the line above is empty'</a:t>
            </a:r>
            <a:r>
              <a:rPr sz="1200" b="0" i="0">
                <a:solidFill>
                  <a:srgbClr val="E6EDF3"/>
                </a:solidFill>
                <a:latin typeface="Courier New"/>
              </a:rPr>
              <a:t>)</a:t>
            </a:r>
          </a:p>
        </p:txBody>
      </p:sp>
      <p:sp>
        <p:nvSpPr>
          <p:cNvPr id="7" name="explanation"/>
          <p:cNvSpPr txBox="1"/>
          <p:nvPr/>
        </p:nvSpPr>
        <p:spPr>
          <a:xfrm>
            <a:off x="5541264" y="1817878"/>
            <a:ext cx="3236976" cy="554736"/>
          </a:xfrm>
          <a:prstGeom prst="rect">
            <a:avLst/>
          </a:prstGeom>
          <a:noFill/>
        </p:spPr>
        <p:txBody>
          <a:bodyPr wrap="square" lIns="128016" rIns="128016" tIns="18288" bIns="18288" anchor="ctr">
            <a:spAutoFit/>
          </a:bodyPr>
          <a:lstStyle/>
          <a:p>
            <a:r>
              <a:rPr sz="1250" b="0" i="0">
                <a:solidFill>
                  <a:srgbClr val="1F2933"/>
                </a:solidFill>
                <a:latin typeface="Calibri"/>
              </a:rPr>
              <a:t>print with nothing in the parentheses writes an empty line.</a:t>
            </a:r>
          </a:p>
        </p:txBody>
      </p:sp>
      <p:sp>
        <p:nvSpPr>
          <p:cNvPr id="8" name="result label"/>
          <p:cNvSpPr txBox="1"/>
          <p:nvPr/>
        </p:nvSpPr>
        <p:spPr>
          <a:xfrm>
            <a:off x="365760" y="2445766"/>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720086"/>
          <a:ext cx="8412480" cy="1143000"/>
        </p:xfrm>
        <a:graphic>
          <a:graphicData uri="http://schemas.openxmlformats.org/drawingml/2006/table">
            <a:tbl>
              <a:tblPr firstRow="0" bandRow="0"/>
              <a:tblGrid>
                <a:gridCol w="4206240"/>
                <a:gridCol w="4206240"/>
              </a:tblGrid>
              <a:tr h="228600">
                <a:tc>
                  <a:txBody>
                    <a:bodyPr wrap="square"/>
                    <a:lstStyle/>
                    <a:p>
                      <a:r>
                        <a:rPr sz="100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Text written (· = space, ⏎ = end of line)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28600">
                <a:tc>
                  <a:txBody>
                    <a:bodyPr wrap="square"/>
                    <a:lstStyle/>
                    <a:p>
                      <a:r>
                        <a:rPr sz="1000" b="0" i="0">
                          <a:solidFill>
                            <a:srgbClr val="1F2933"/>
                          </a:solidFill>
                          <a:latin typeface="Courier New"/>
                        </a:rPr>
                        <a:t>print('Hello,', 'world!')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Hello,·world!⏎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28600">
                <a:tc>
                  <a:txBody>
                    <a:bodyPr wrap="square"/>
                    <a:lstStyle/>
                    <a:p>
                      <a:r>
                        <a:rPr sz="1000" b="0" i="0">
                          <a:solidFill>
                            <a:srgbClr val="1F2933"/>
                          </a:solidFill>
                          <a:latin typeface="Courier New"/>
                        </a:rPr>
                        <a:t>print('Hello,', 'world!', sep='-', end=' &lt;end&gt;\n')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Hello,-world!·&lt;end&gt;⏎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28600">
                <a:tc>
                  <a:txBody>
                    <a:bodyPr wrap="square"/>
                    <a:lstStyle/>
                    <a:p>
                      <a:r>
                        <a:rPr sz="1000" b="0" i="0">
                          <a:solidFill>
                            <a:srgbClr val="1F2933"/>
                          </a:solidFill>
                          <a:latin typeface="Courier New"/>
                        </a:rPr>
                        <a:t>print()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28600">
                <a:tc>
                  <a:txBody>
                    <a:bodyPr wrap="square"/>
                    <a:lstStyle/>
                    <a:p>
                      <a:r>
                        <a:rPr sz="1000" b="0" i="0">
                          <a:solidFill>
                            <a:srgbClr val="1F2933"/>
                          </a:solidFill>
                          <a:latin typeface="Courier New"/>
                        </a:rPr>
                        <a:t>print('the line above is empty')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the·line·above·is·empty⏎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0" name="Rounded Rectangle 9"/>
          <p:cNvSpPr/>
          <p:nvPr/>
        </p:nvSpPr>
        <p:spPr>
          <a:xfrm>
            <a:off x="365760" y="4045966"/>
            <a:ext cx="777240" cy="292608"/>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Hello,</a:t>
            </a:r>
          </a:p>
        </p:txBody>
      </p:sp>
      <p:sp>
        <p:nvSpPr>
          <p:cNvPr id="11" name="Rounded Rectangle 10"/>
          <p:cNvSpPr/>
          <p:nvPr/>
        </p:nvSpPr>
        <p:spPr>
          <a:xfrm>
            <a:off x="1188720" y="4045966"/>
            <a:ext cx="411480" cy="292608"/>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a:t>
            </a:r>
          </a:p>
        </p:txBody>
      </p:sp>
      <p:sp>
        <p:nvSpPr>
          <p:cNvPr id="12" name="Rounded Rectangle 11"/>
          <p:cNvSpPr/>
          <p:nvPr/>
        </p:nvSpPr>
        <p:spPr>
          <a:xfrm>
            <a:off x="1645919" y="4045966"/>
            <a:ext cx="777240" cy="292608"/>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world!</a:t>
            </a:r>
          </a:p>
        </p:txBody>
      </p:sp>
      <p:sp>
        <p:nvSpPr>
          <p:cNvPr id="13" name="Rounded Rectangle 12"/>
          <p:cNvSpPr/>
          <p:nvPr/>
        </p:nvSpPr>
        <p:spPr>
          <a:xfrm>
            <a:off x="2468879" y="4045966"/>
            <a:ext cx="822960" cy="292608"/>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a:t>
            </a:r>
          </a:p>
        </p:txBody>
      </p:sp>
      <p:sp>
        <p:nvSpPr>
          <p:cNvPr id="14" name="TextBox 13"/>
          <p:cNvSpPr txBox="1"/>
          <p:nvPr/>
        </p:nvSpPr>
        <p:spPr>
          <a:xfrm>
            <a:off x="3383279" y="4045966"/>
            <a:ext cx="1188720" cy="310896"/>
          </a:xfrm>
          <a:prstGeom prst="rect">
            <a:avLst/>
          </a:prstGeom>
          <a:noFill/>
        </p:spPr>
        <p:txBody>
          <a:bodyPr wrap="square" lIns="0" rIns="0" tIns="0" bIns="0" anchor="ctr">
            <a:spAutoFit/>
          </a:bodyPr>
          <a:lstStyle/>
          <a:p>
            <a:r>
              <a:rPr sz="850" b="0" i="1">
                <a:solidFill>
                  <a:srgbClr val="5B6773"/>
                </a:solidFill>
                <a:latin typeface="Calibri"/>
              </a:rPr>
              <a:t>amber: separator, green: ending</a:t>
            </a:r>
          </a:p>
        </p:txBody>
      </p:sp>
      <p:sp>
        <p:nvSpPr>
          <p:cNvPr id="15" name="Rounded Rectangle 14"/>
          <p:cNvSpPr/>
          <p:nvPr/>
        </p:nvSpPr>
        <p:spPr>
          <a:xfrm>
            <a:off x="4663440" y="4045966"/>
            <a:ext cx="777240" cy="292608"/>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Hello,</a:t>
            </a:r>
          </a:p>
        </p:txBody>
      </p:sp>
      <p:sp>
        <p:nvSpPr>
          <p:cNvPr id="16" name="Rounded Rectangle 15"/>
          <p:cNvSpPr/>
          <p:nvPr/>
        </p:nvSpPr>
        <p:spPr>
          <a:xfrm>
            <a:off x="5486400" y="4045966"/>
            <a:ext cx="411480" cy="292608"/>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a:t>
            </a:r>
          </a:p>
        </p:txBody>
      </p:sp>
      <p:sp>
        <p:nvSpPr>
          <p:cNvPr id="17" name="Rounded Rectangle 16"/>
          <p:cNvSpPr/>
          <p:nvPr/>
        </p:nvSpPr>
        <p:spPr>
          <a:xfrm>
            <a:off x="5943600" y="4045966"/>
            <a:ext cx="777240" cy="292608"/>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world!</a:t>
            </a:r>
          </a:p>
        </p:txBody>
      </p:sp>
      <p:sp>
        <p:nvSpPr>
          <p:cNvPr id="18" name="Rounded Rectangle 17"/>
          <p:cNvSpPr/>
          <p:nvPr/>
        </p:nvSpPr>
        <p:spPr>
          <a:xfrm>
            <a:off x="6766560" y="4045966"/>
            <a:ext cx="822960" cy="292608"/>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·&lt;end&gt;⏎</a:t>
            </a:r>
          </a:p>
        </p:txBody>
      </p:sp>
      <p:sp>
        <p:nvSpPr>
          <p:cNvPr id="19" name="TextBox 18"/>
          <p:cNvSpPr txBox="1"/>
          <p:nvPr/>
        </p:nvSpPr>
        <p:spPr>
          <a:xfrm>
            <a:off x="7680960" y="4045966"/>
            <a:ext cx="1188720" cy="310896"/>
          </a:xfrm>
          <a:prstGeom prst="rect">
            <a:avLst/>
          </a:prstGeom>
          <a:noFill/>
        </p:spPr>
        <p:txBody>
          <a:bodyPr wrap="square" lIns="0" rIns="0" tIns="0" bIns="0" anchor="ctr">
            <a:spAutoFit/>
          </a:bodyPr>
          <a:lstStyle/>
          <a:p>
            <a:r>
              <a:rPr sz="850" b="0" i="1">
                <a:solidFill>
                  <a:srgbClr val="5B6773"/>
                </a:solidFill>
                <a:latin typeface="Calibri"/>
              </a:rPr>
              <a:t>amber: separator, green: ending</a:t>
            </a:r>
          </a:p>
        </p:txBody>
      </p:sp>
      <p:sp>
        <p:nvSpPr>
          <p:cNvPr id="2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sep and end change what print writes between and after.</a:t>
            </a:r>
          </a:p>
        </p:txBody>
      </p:sp>
      <p:sp>
        <p:nvSpPr>
          <p:cNvPr id="2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23 / 39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functions and modules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350" b="1" i="0">
                <a:solidFill>
                  <a:srgbClr val="B7791F"/>
                </a:solidFill>
                <a:latin typeface="Calibri"/>
              </a:rPr>
              <a:t>ANALOGY  </a:t>
            </a:r>
            <a:r>
              <a:rPr sz="1350" b="0" i="0">
                <a:solidFill>
                  <a:srgbClr val="1F2933"/>
                </a:solidFill>
                <a:latin typeface="Calibri"/>
              </a:rPr>
              <a:t>A built-in function is a machine with a slot for the input and a slot for the result.</a:t>
            </a:r>
          </a:p>
        </p:txBody>
      </p:sp>
      <p:graphicFrame>
        <p:nvGraphicFramePr>
          <p:cNvPr id="6" name="table"/>
          <p:cNvGraphicFramePr>
            <a:graphicFrameLocks noGrp="1"/>
          </p:cNvGraphicFramePr>
          <p:nvPr/>
        </p:nvGraphicFramePr>
        <p:xfrm>
          <a:off x="365760" y="1463040"/>
          <a:ext cx="8412480" cy="2834640"/>
        </p:xfrm>
        <a:graphic>
          <a:graphicData uri="http://schemas.openxmlformats.org/drawingml/2006/table">
            <a:tbl>
              <a:tblPr firstRow="0" bandRow="0"/>
              <a:tblGrid>
                <a:gridCol w="1609344"/>
                <a:gridCol w="6803136"/>
              </a:tblGrid>
              <a:tr h="566928">
                <a:tc>
                  <a:txBody>
                    <a:bodyPr wrap="square"/>
                    <a:lstStyle/>
                    <a:p>
                      <a:r>
                        <a:rPr sz="14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4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566928">
                <a:tc>
                  <a:txBody>
                    <a:bodyPr wrap="square"/>
                    <a:lstStyle/>
                    <a:p>
                      <a:r>
                        <a:rPr sz="1400" b="1" i="0">
                          <a:solidFill>
                            <a:srgbClr val="1F2933"/>
                          </a:solidFill>
                          <a:latin typeface="Calibri"/>
                        </a:rPr>
                        <a:t>len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400" b="0" i="0">
                          <a:solidFill>
                            <a:srgbClr val="1F2933"/>
                          </a:solidFill>
                          <a:latin typeface="Calibri"/>
                        </a:rPr>
                        <a:t>A ruler laid along the text: it tells how many characters, not what they mean.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66928">
                <a:tc>
                  <a:txBody>
                    <a:bodyPr wrap="square"/>
                    <a:lstStyle/>
                    <a:p>
                      <a:r>
                        <a:rPr sz="1400" b="1" i="0">
                          <a:solidFill>
                            <a:srgbClr val="1F2933"/>
                          </a:solidFill>
                          <a:latin typeface="Calibri"/>
                        </a:rPr>
                        <a:t>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400" b="0" i="0">
                          <a:solidFill>
                            <a:srgbClr val="1F2933"/>
                          </a:solidFill>
                          <a:latin typeface="Calibri"/>
                        </a:rPr>
                        <a:t>A machine that reads text as a whole number and trims any fraction away.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66928">
                <a:tc>
                  <a:txBody>
                    <a:bodyPr wrap="square"/>
                    <a:lstStyle/>
                    <a:p>
                      <a:r>
                        <a:rPr sz="1400" b="1" i="0">
                          <a:solidFill>
                            <a:srgbClr val="1F2933"/>
                          </a:solidFill>
                          <a:latin typeface="Calibri"/>
                        </a:rPr>
                        <a:t>float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400" b="0" i="0">
                          <a:solidFill>
                            <a:srgbClr val="1F2933"/>
                          </a:solidFill>
                          <a:latin typeface="Calibri"/>
                        </a:rPr>
                        <a:t>A machine that turns text or a whole number into a number with a decimal point.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66928">
                <a:tc>
                  <a:txBody>
                    <a:bodyPr wrap="square"/>
                    <a:lstStyle/>
                    <a:p>
                      <a:r>
                        <a:rPr sz="1400" b="1" i="0">
                          <a:solidFill>
                            <a:srgbClr val="1F2933"/>
                          </a:solidFill>
                          <a:latin typeface="Calibri"/>
                        </a:rPr>
                        <a:t>Modules (import)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400" b="0" i="0">
                          <a:solidFill>
                            <a:srgbClr val="1F2933"/>
                          </a:solidFill>
                          <a:latin typeface="Calibri"/>
                        </a:rPr>
                        <a:t>A toolbox fetched from the shelf: import carries it to your desk.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24 / 39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Conversions and len: built-in functions</a:t>
            </a:r>
          </a:p>
        </p:txBody>
      </p:sp>
      <p:sp>
        <p:nvSpPr>
          <p:cNvPr id="4" name="code"/>
          <p:cNvSpPr/>
          <p:nvPr/>
        </p:nvSpPr>
        <p:spPr>
          <a:xfrm>
            <a:off x="365760" y="841248"/>
            <a:ext cx="2926080" cy="98856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str</a:t>
            </a:r>
            <a:r>
              <a:rPr sz="1300" b="0" i="0">
                <a:solidFill>
                  <a:srgbClr val="E6EDF3"/>
                </a:solidFill>
                <a:latin typeface="Courier New"/>
              </a:rPr>
              <a:t>(</a:t>
            </a:r>
            <a:r>
              <a:rPr sz="1300" b="0" i="0">
                <a:solidFill>
                  <a:srgbClr val="7CC4FF"/>
                </a:solidFill>
                <a:latin typeface="Courier New"/>
              </a:rPr>
              <a:t>29</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int</a:t>
            </a:r>
            <a:r>
              <a:rPr sz="1300" b="0" i="0">
                <a:solidFill>
                  <a:srgbClr val="E6EDF3"/>
                </a:solidFill>
                <a:latin typeface="Courier New"/>
              </a:rPr>
              <a:t>(</a:t>
            </a:r>
            <a:r>
              <a:rPr sz="1300" b="0" i="0">
                <a:solidFill>
                  <a:srgbClr val="9BE3A8"/>
                </a:solidFill>
                <a:latin typeface="Courier New"/>
              </a:rPr>
              <a:t>'42'</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float</a:t>
            </a:r>
            <a:r>
              <a:rPr sz="1300" b="0" i="0">
                <a:solidFill>
                  <a:srgbClr val="E6EDF3"/>
                </a:solidFill>
                <a:latin typeface="Courier New"/>
              </a:rPr>
              <a:t>(</a:t>
            </a:r>
            <a:r>
              <a:rPr sz="1300" b="0" i="0">
                <a:solidFill>
                  <a:srgbClr val="9BE3A8"/>
                </a:solidFill>
                <a:latin typeface="Courier New"/>
              </a:rPr>
              <a:t>'3.5'</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int</a:t>
            </a:r>
            <a:r>
              <a:rPr sz="1300" b="0" i="0">
                <a:solidFill>
                  <a:srgbClr val="E6EDF3"/>
                </a:solidFill>
                <a:latin typeface="Courier New"/>
              </a:rPr>
              <a:t>(</a:t>
            </a:r>
            <a:r>
              <a:rPr sz="1300" b="0" i="0">
                <a:solidFill>
                  <a:srgbClr val="7CC4FF"/>
                </a:solidFill>
                <a:latin typeface="Courier New"/>
              </a:rPr>
              <a:t>4.7</a:t>
            </a:r>
            <a:r>
              <a:rPr sz="1300" b="0" i="0">
                <a:solidFill>
                  <a:srgbClr val="E6EDF3"/>
                </a:solidFill>
                <a:latin typeface="Courier New"/>
              </a:rPr>
              <a:t>)</a:t>
            </a:r>
            <a:r>
              <a:rPr sz="1300" b="0" i="0">
                <a:solidFill>
                  <a:srgbClr val="E6EDF3"/>
                </a:solidFill>
                <a:latin typeface="Courier New"/>
              </a:rPr>
              <a:t>)</a:t>
            </a:r>
          </a:p>
        </p:txBody>
      </p:sp>
      <p:sp>
        <p:nvSpPr>
          <p:cNvPr id="5" name="explanation"/>
          <p:cNvSpPr txBox="1"/>
          <p:nvPr/>
        </p:nvSpPr>
        <p:spPr>
          <a:xfrm>
            <a:off x="3273552" y="841248"/>
            <a:ext cx="5504687" cy="988568"/>
          </a:xfrm>
          <a:prstGeom prst="rect">
            <a:avLst/>
          </a:prstGeom>
          <a:noFill/>
        </p:spPr>
        <p:txBody>
          <a:bodyPr wrap="square" lIns="128016" rIns="128016" tIns="18288" bIns="18288" anchor="ctr">
            <a:spAutoFit/>
          </a:bodyPr>
          <a:lstStyle/>
          <a:p>
            <a:r>
              <a:rPr sz="1250" b="0" i="0">
                <a:solidFill>
                  <a:srgbClr val="1F2933"/>
                </a:solidFill>
                <a:latin typeface="Calibri"/>
              </a:rPr>
              <a:t>str makes text, int makes a whole number and float makes a number with a fraction. Each one converts its argument.</a:t>
            </a:r>
          </a:p>
        </p:txBody>
      </p:sp>
      <p:sp>
        <p:nvSpPr>
          <p:cNvPr id="6" name="code"/>
          <p:cNvSpPr/>
          <p:nvPr/>
        </p:nvSpPr>
        <p:spPr>
          <a:xfrm>
            <a:off x="365760" y="1884680"/>
            <a:ext cx="2926080" cy="58572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len</a:t>
            </a:r>
            <a:r>
              <a:rPr sz="1300" b="0" i="0">
                <a:solidFill>
                  <a:srgbClr val="E6EDF3"/>
                </a:solidFill>
                <a:latin typeface="Courier New"/>
              </a:rPr>
              <a:t>(</a:t>
            </a:r>
            <a:r>
              <a:rPr sz="1300" b="0" i="0">
                <a:solidFill>
                  <a:srgbClr val="9BE3A8"/>
                </a:solidFill>
                <a:latin typeface="Courier New"/>
              </a:rPr>
              <a:t>'hello'</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len</a:t>
            </a:r>
            <a:r>
              <a:rPr sz="1300" b="0" i="0">
                <a:solidFill>
                  <a:srgbClr val="E6EDF3"/>
                </a:solidFill>
                <a:latin typeface="Courier New"/>
              </a:rPr>
              <a:t>(</a:t>
            </a:r>
            <a:r>
              <a:rPr sz="1300" b="0" i="0">
                <a:solidFill>
                  <a:srgbClr val="E6EDF3"/>
                </a:solidFill>
                <a:latin typeface="Courier New"/>
              </a:rPr>
              <a:t>str</a:t>
            </a:r>
            <a:r>
              <a:rPr sz="1300" b="0" i="0">
                <a:solidFill>
                  <a:srgbClr val="E6EDF3"/>
                </a:solidFill>
                <a:latin typeface="Courier New"/>
              </a:rPr>
              <a:t>(</a:t>
            </a:r>
            <a:r>
              <a:rPr sz="1300" b="0" i="0">
                <a:solidFill>
                  <a:srgbClr val="7CC4FF"/>
                </a:solidFill>
                <a:latin typeface="Courier New"/>
              </a:rPr>
              <a:t>12345</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p>
        </p:txBody>
      </p:sp>
      <p:sp>
        <p:nvSpPr>
          <p:cNvPr id="7" name="explanation"/>
          <p:cNvSpPr txBox="1"/>
          <p:nvPr/>
        </p:nvSpPr>
        <p:spPr>
          <a:xfrm>
            <a:off x="3273552" y="1884680"/>
            <a:ext cx="5504687" cy="585724"/>
          </a:xfrm>
          <a:prstGeom prst="rect">
            <a:avLst/>
          </a:prstGeom>
          <a:noFill/>
        </p:spPr>
        <p:txBody>
          <a:bodyPr wrap="square" lIns="128016" rIns="128016" tIns="18288" bIns="18288" anchor="ctr">
            <a:spAutoFit/>
          </a:bodyPr>
          <a:lstStyle/>
          <a:p>
            <a:r>
              <a:rPr sz="1250" b="0" i="0">
                <a:solidFill>
                  <a:srgbClr val="1F2933"/>
                </a:solidFill>
                <a:latin typeface="Calibri"/>
              </a:rPr>
              <a:t>len counts characters. A number has no length, so str turns 12345 into text first: five characters.</a:t>
            </a:r>
          </a:p>
        </p:txBody>
      </p:sp>
      <p:sp>
        <p:nvSpPr>
          <p:cNvPr id="8" name="result label"/>
          <p:cNvSpPr txBox="1"/>
          <p:nvPr/>
        </p:nvSpPr>
        <p:spPr>
          <a:xfrm>
            <a:off x="365760" y="2543556"/>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817876"/>
          <a:ext cx="5047487" cy="1728216"/>
        </p:xfrm>
        <a:graphic>
          <a:graphicData uri="http://schemas.openxmlformats.org/drawingml/2006/table">
            <a:tbl>
              <a:tblPr firstRow="0" bandRow="0"/>
              <a:tblGrid>
                <a:gridCol w="2163209"/>
                <a:gridCol w="1133109"/>
                <a:gridCol w="1751169"/>
              </a:tblGrid>
              <a:tr h="246888">
                <a:tc>
                  <a:txBody>
                    <a:bodyPr wrap="square"/>
                    <a:lstStyle/>
                    <a:p>
                      <a:r>
                        <a:rPr sz="105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Type of the 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46888">
                <a:tc>
                  <a:txBody>
                    <a:bodyPr wrap="square"/>
                    <a:lstStyle/>
                    <a:p>
                      <a:r>
                        <a:rPr sz="1050" b="0" i="0">
                          <a:solidFill>
                            <a:srgbClr val="1F2933"/>
                          </a:solidFill>
                          <a:latin typeface="Courier New"/>
                        </a:rPr>
                        <a:t>str(29)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'29'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str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1050" b="0" i="0">
                          <a:solidFill>
                            <a:srgbClr val="1F2933"/>
                          </a:solidFill>
                          <a:latin typeface="Courier New"/>
                        </a:rPr>
                        <a:t>int('42')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46888">
                <a:tc>
                  <a:txBody>
                    <a:bodyPr wrap="square"/>
                    <a:lstStyle/>
                    <a:p>
                      <a:r>
                        <a:rPr sz="1050" b="0" i="0">
                          <a:solidFill>
                            <a:srgbClr val="1F2933"/>
                          </a:solidFill>
                          <a:latin typeface="Courier New"/>
                        </a:rPr>
                        <a:t>float('3.5')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3.5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float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1050" b="0" i="0">
                          <a:solidFill>
                            <a:srgbClr val="1F2933"/>
                          </a:solidFill>
                          <a:latin typeface="Courier New"/>
                        </a:rPr>
                        <a:t>int(4.7)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46888">
                <a:tc>
                  <a:txBody>
                    <a:bodyPr wrap="square"/>
                    <a:lstStyle/>
                    <a:p>
                      <a:r>
                        <a:rPr sz="1050" b="0" i="0">
                          <a:solidFill>
                            <a:srgbClr val="1F2933"/>
                          </a:solidFill>
                          <a:latin typeface="Courier New"/>
                        </a:rPr>
                        <a:t>len('hello')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1050" b="0" i="0">
                          <a:solidFill>
                            <a:srgbClr val="1F2933"/>
                          </a:solidFill>
                          <a:latin typeface="Courier New"/>
                        </a:rPr>
                        <a:t>len(str(12345))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0" name="Rounded Rectangle 9"/>
          <p:cNvSpPr/>
          <p:nvPr/>
        </p:nvSpPr>
        <p:spPr>
          <a:xfrm>
            <a:off x="5833872" y="2909316"/>
            <a:ext cx="594360" cy="329184"/>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5B6773"/>
                </a:solidFill>
                <a:latin typeface="Courier New"/>
              </a:rPr>
              <a:t>'42'</a:t>
            </a:r>
          </a:p>
        </p:txBody>
      </p:sp>
      <p:cxnSp>
        <p:nvCxnSpPr>
          <p:cNvPr id="11" name="arrow"/>
          <p:cNvCxnSpPr/>
          <p:nvPr/>
        </p:nvCxnSpPr>
        <p:spPr>
          <a:xfrm>
            <a:off x="6473952" y="3073908"/>
            <a:ext cx="228600"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748272" y="2909316"/>
            <a:ext cx="731520" cy="329184"/>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int()</a:t>
            </a:r>
          </a:p>
        </p:txBody>
      </p:sp>
      <p:cxnSp>
        <p:nvCxnSpPr>
          <p:cNvPr id="13" name="arrow"/>
          <p:cNvCxnSpPr/>
          <p:nvPr/>
        </p:nvCxnSpPr>
        <p:spPr>
          <a:xfrm>
            <a:off x="7525512" y="3073908"/>
            <a:ext cx="228600"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799831" y="2909316"/>
            <a:ext cx="685800" cy="329184"/>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42</a:t>
            </a:r>
          </a:p>
        </p:txBody>
      </p:sp>
      <p:sp>
        <p:nvSpPr>
          <p:cNvPr id="15" name="Rounded Rectangle 14"/>
          <p:cNvSpPr/>
          <p:nvPr/>
        </p:nvSpPr>
        <p:spPr>
          <a:xfrm>
            <a:off x="5833872" y="3476244"/>
            <a:ext cx="594360" cy="329184"/>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5B6773"/>
                </a:solidFill>
                <a:latin typeface="Courier New"/>
              </a:rPr>
              <a:t>29</a:t>
            </a:r>
          </a:p>
        </p:txBody>
      </p:sp>
      <p:cxnSp>
        <p:nvCxnSpPr>
          <p:cNvPr id="16" name="arrow"/>
          <p:cNvCxnSpPr/>
          <p:nvPr/>
        </p:nvCxnSpPr>
        <p:spPr>
          <a:xfrm>
            <a:off x="6473952" y="3640836"/>
            <a:ext cx="228600"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748272" y="3476244"/>
            <a:ext cx="731520" cy="329184"/>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str()</a:t>
            </a:r>
          </a:p>
        </p:txBody>
      </p:sp>
      <p:cxnSp>
        <p:nvCxnSpPr>
          <p:cNvPr id="18" name="arrow"/>
          <p:cNvCxnSpPr/>
          <p:nvPr/>
        </p:nvCxnSpPr>
        <p:spPr>
          <a:xfrm>
            <a:off x="7525512" y="3640836"/>
            <a:ext cx="228600"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99831" y="3476244"/>
            <a:ext cx="685800" cy="329184"/>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'29'</a:t>
            </a:r>
          </a:p>
        </p:txBody>
      </p:sp>
      <p:sp>
        <p:nvSpPr>
          <p:cNvPr id="20" name="Rounded Rectangle 19"/>
          <p:cNvSpPr/>
          <p:nvPr/>
        </p:nvSpPr>
        <p:spPr>
          <a:xfrm>
            <a:off x="5833872" y="4043172"/>
            <a:ext cx="594360" cy="329184"/>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5B6773"/>
                </a:solidFill>
                <a:latin typeface="Courier New"/>
              </a:rPr>
              <a:t>3</a:t>
            </a:r>
          </a:p>
        </p:txBody>
      </p:sp>
      <p:cxnSp>
        <p:nvCxnSpPr>
          <p:cNvPr id="21" name="arrow"/>
          <p:cNvCxnSpPr/>
          <p:nvPr/>
        </p:nvCxnSpPr>
        <p:spPr>
          <a:xfrm>
            <a:off x="6473952" y="4207764"/>
            <a:ext cx="228600"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748272" y="4043172"/>
            <a:ext cx="731520" cy="329184"/>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float()</a:t>
            </a:r>
          </a:p>
        </p:txBody>
      </p:sp>
      <p:cxnSp>
        <p:nvCxnSpPr>
          <p:cNvPr id="23" name="arrow"/>
          <p:cNvCxnSpPr/>
          <p:nvPr/>
        </p:nvCxnSpPr>
        <p:spPr>
          <a:xfrm>
            <a:off x="7525512" y="4207764"/>
            <a:ext cx="228600"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799831" y="4043172"/>
            <a:ext cx="685800" cy="329184"/>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3.0</a:t>
            </a:r>
          </a:p>
        </p:txBody>
      </p:sp>
      <p:sp>
        <p:nvSpPr>
          <p:cNvPr id="2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str, int and float convert; len counts characters.</a:t>
            </a:r>
          </a:p>
        </p:txBody>
      </p:sp>
      <p:sp>
        <p:nvSpPr>
          <p:cNvPr id="2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25 / 39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Errors are answers too</a:t>
            </a:r>
          </a:p>
        </p:txBody>
      </p:sp>
      <p:sp>
        <p:nvSpPr>
          <p:cNvPr id="4" name="code"/>
          <p:cNvSpPr/>
          <p:nvPr/>
        </p:nvSpPr>
        <p:spPr>
          <a:xfrm>
            <a:off x="365760" y="841248"/>
            <a:ext cx="4919472"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E6EDF3"/>
                </a:solidFill>
                <a:latin typeface="Courier New"/>
              </a:rPr>
              <a:t>try</a:t>
            </a:r>
            <a:r>
              <a:rPr sz="1200" b="0" i="0">
                <a:solidFill>
                  <a:srgbClr val="E6EDF3"/>
                </a:solidFill>
                <a:latin typeface="Courier New"/>
              </a:rPr>
              <a:t>:</a:t>
            </a:r>
            <a:r>
              <a:rPr sz="1200" b="0" i="0">
                <a:solidFill>
                  <a:srgbClr val="E6EDF3"/>
                </a:solidFill>
                <a:latin typeface="Courier New"/>
              </a:rPr>
              <a: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int</a:t>
            </a:r>
            <a:r>
              <a:rPr sz="1200" b="0" i="0">
                <a:solidFill>
                  <a:srgbClr val="E6EDF3"/>
                </a:solidFill>
                <a:latin typeface="Courier New"/>
              </a:rPr>
              <a:t>(</a:t>
            </a:r>
            <a:r>
              <a:rPr sz="1200" b="0" i="0">
                <a:solidFill>
                  <a:srgbClr val="9BE3A8"/>
                </a:solidFill>
                <a:latin typeface="Courier New"/>
              </a:rPr>
              <a:t>'4.2'</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except</a:t>
            </a:r>
            <a:r>
              <a:rPr sz="1200" b="0" i="0">
                <a:solidFill>
                  <a:srgbClr val="E6EDF3"/>
                </a:solidFill>
                <a:latin typeface="Courier New"/>
              </a:rPr>
              <a:t> </a:t>
            </a:r>
            <a:r>
              <a:rPr sz="1200" b="0" i="0">
                <a:solidFill>
                  <a:srgbClr val="E6EDF3"/>
                </a:solidFill>
                <a:latin typeface="Courier New"/>
              </a:rPr>
              <a:t>ValueError</a:t>
            </a:r>
            <a:r>
              <a:rPr sz="1200" b="0" i="0">
                <a:solidFill>
                  <a:srgbClr val="E6EDF3"/>
                </a:solidFill>
                <a:latin typeface="Courier New"/>
              </a:rPr>
              <a:t> </a:t>
            </a:r>
            <a:r>
              <a:rPr sz="1200" b="0" i="0">
                <a:solidFill>
                  <a:srgbClr val="E6EDF3"/>
                </a:solidFill>
                <a:latin typeface="Courier New"/>
              </a:rPr>
              <a:t>as</a:t>
            </a:r>
            <a:r>
              <a:rPr sz="1200" b="0" i="0">
                <a:solidFill>
                  <a:srgbClr val="E6EDF3"/>
                </a:solidFill>
                <a:latin typeface="Courier New"/>
              </a:rPr>
              <a:t> </a:t>
            </a:r>
            <a:r>
              <a:rPr sz="1200" b="0" i="0">
                <a:solidFill>
                  <a:srgbClr val="E6EDF3"/>
                </a:solidFill>
                <a:latin typeface="Courier New"/>
              </a:rPr>
              <a:t>e</a:t>
            </a:r>
            <a:r>
              <a:rPr sz="1200" b="0" i="0">
                <a:solidFill>
                  <a:srgbClr val="E6EDF3"/>
                </a:solidFill>
                <a:latin typeface="Courier New"/>
              </a:rPr>
              <a:t>:</a:t>
            </a:r>
            <a:r>
              <a:rPr sz="1200" b="0" i="0">
                <a:solidFill>
                  <a:srgbClr val="E6EDF3"/>
                </a:solidFill>
                <a:latin typeface="Courier New"/>
              </a:rPr>
              <a:t> </a:t>
            </a:r>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'ValueError:'</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e</a:t>
            </a:r>
            <a:r>
              <a:rPr sz="1200" b="0" i="0">
                <a:solidFill>
                  <a:srgbClr val="E6EDF3"/>
                </a:solidFill>
                <a:latin typeface="Courier New"/>
              </a:rPr>
              <a:t>)</a:t>
            </a:r>
          </a:p>
        </p:txBody>
      </p:sp>
      <p:sp>
        <p:nvSpPr>
          <p:cNvPr id="5" name="explanation"/>
          <p:cNvSpPr txBox="1"/>
          <p:nvPr/>
        </p:nvSpPr>
        <p:spPr>
          <a:xfrm>
            <a:off x="5266944" y="841248"/>
            <a:ext cx="3511295" cy="723328"/>
          </a:xfrm>
          <a:prstGeom prst="rect">
            <a:avLst/>
          </a:prstGeom>
          <a:noFill/>
        </p:spPr>
        <p:txBody>
          <a:bodyPr wrap="square" lIns="128016" rIns="128016" tIns="18288" bIns="18288" anchor="ctr">
            <a:spAutoFit/>
          </a:bodyPr>
          <a:lstStyle/>
          <a:p>
            <a:r>
              <a:rPr sz="1250" b="0" i="0">
                <a:solidFill>
                  <a:srgbClr val="1F2933"/>
                </a:solidFill>
                <a:latin typeface="Calibri"/>
              </a:rPr>
              <a:t>The type is right but the content is wrong: int cannot read the text 4.2 as a whole number. That is a ValueError.</a:t>
            </a:r>
          </a:p>
        </p:txBody>
      </p:sp>
      <p:sp>
        <p:nvSpPr>
          <p:cNvPr id="6" name="code"/>
          <p:cNvSpPr/>
          <p:nvPr/>
        </p:nvSpPr>
        <p:spPr>
          <a:xfrm>
            <a:off x="365760" y="1619440"/>
            <a:ext cx="4919472" cy="55473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E6EDF3"/>
                </a:solidFill>
                <a:latin typeface="Courier New"/>
              </a:rPr>
              <a:t>try</a:t>
            </a:r>
            <a:r>
              <a:rPr sz="1200" b="0" i="0">
                <a:solidFill>
                  <a:srgbClr val="E6EDF3"/>
                </a:solidFill>
                <a:latin typeface="Courier New"/>
              </a:rPr>
              <a:t>:</a:t>
            </a:r>
            <a:r>
              <a:rPr sz="1200" b="0" i="0">
                <a:solidFill>
                  <a:srgbClr val="E6EDF3"/>
                </a:solidFill>
                <a:latin typeface="Courier New"/>
              </a:rPr>
              <a: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len</a:t>
            </a:r>
            <a:r>
              <a:rPr sz="1200" b="0" i="0">
                <a:solidFill>
                  <a:srgbClr val="E6EDF3"/>
                </a:solidFill>
                <a:latin typeface="Courier New"/>
              </a:rPr>
              <a:t>(</a:t>
            </a:r>
            <a:r>
              <a:rPr sz="1200" b="0" i="0">
                <a:solidFill>
                  <a:srgbClr val="7CC4FF"/>
                </a:solidFill>
                <a:latin typeface="Courier New"/>
              </a:rPr>
              <a:t>12345</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except</a:t>
            </a:r>
            <a:r>
              <a:rPr sz="1200" b="0" i="0">
                <a:solidFill>
                  <a:srgbClr val="E6EDF3"/>
                </a:solidFill>
                <a:latin typeface="Courier New"/>
              </a:rPr>
              <a:t> </a:t>
            </a:r>
            <a:r>
              <a:rPr sz="1200" b="0" i="0">
                <a:solidFill>
                  <a:srgbClr val="E6EDF3"/>
                </a:solidFill>
                <a:latin typeface="Courier New"/>
              </a:rPr>
              <a:t>TypeError</a:t>
            </a:r>
            <a:r>
              <a:rPr sz="1200" b="0" i="0">
                <a:solidFill>
                  <a:srgbClr val="E6EDF3"/>
                </a:solidFill>
                <a:latin typeface="Courier New"/>
              </a:rPr>
              <a:t> </a:t>
            </a:r>
            <a:r>
              <a:rPr sz="1200" b="0" i="0">
                <a:solidFill>
                  <a:srgbClr val="E6EDF3"/>
                </a:solidFill>
                <a:latin typeface="Courier New"/>
              </a:rPr>
              <a:t>as</a:t>
            </a:r>
            <a:r>
              <a:rPr sz="1200" b="0" i="0">
                <a:solidFill>
                  <a:srgbClr val="E6EDF3"/>
                </a:solidFill>
                <a:latin typeface="Courier New"/>
              </a:rPr>
              <a:t> </a:t>
            </a:r>
            <a:r>
              <a:rPr sz="1200" b="0" i="0">
                <a:solidFill>
                  <a:srgbClr val="E6EDF3"/>
                </a:solidFill>
                <a:latin typeface="Courier New"/>
              </a:rPr>
              <a:t>e</a:t>
            </a:r>
            <a:r>
              <a:rPr sz="1200" b="0" i="0">
                <a:solidFill>
                  <a:srgbClr val="E6EDF3"/>
                </a:solidFill>
                <a:latin typeface="Courier New"/>
              </a:rPr>
              <a:t>:</a:t>
            </a:r>
            <a:r>
              <a:rPr sz="1200" b="0" i="0">
                <a:solidFill>
                  <a:srgbClr val="E6EDF3"/>
                </a:solidFill>
                <a:latin typeface="Courier New"/>
              </a:rPr>
              <a:t> </a:t>
            </a:r>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'TypeError:'</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e</a:t>
            </a:r>
            <a:r>
              <a:rPr sz="1200" b="0" i="0">
                <a:solidFill>
                  <a:srgbClr val="E6EDF3"/>
                </a:solidFill>
                <a:latin typeface="Courier New"/>
              </a:rPr>
              <a:t>)</a:t>
            </a:r>
          </a:p>
        </p:txBody>
      </p:sp>
      <p:sp>
        <p:nvSpPr>
          <p:cNvPr id="7" name="explanation"/>
          <p:cNvSpPr txBox="1"/>
          <p:nvPr/>
        </p:nvSpPr>
        <p:spPr>
          <a:xfrm>
            <a:off x="5266944" y="1619440"/>
            <a:ext cx="3511295" cy="554736"/>
          </a:xfrm>
          <a:prstGeom prst="rect">
            <a:avLst/>
          </a:prstGeom>
          <a:noFill/>
        </p:spPr>
        <p:txBody>
          <a:bodyPr wrap="square" lIns="128016" rIns="128016" tIns="18288" bIns="18288" anchor="ctr">
            <a:spAutoFit/>
          </a:bodyPr>
          <a:lstStyle/>
          <a:p>
            <a:r>
              <a:rPr sz="1250" b="0" i="0">
                <a:solidFill>
                  <a:srgbClr val="1F2933"/>
                </a:solidFill>
                <a:latin typeface="Calibri"/>
              </a:rPr>
              <a:t>The type itself is wrong: a number has no length. That is a TypeError.</a:t>
            </a:r>
          </a:p>
        </p:txBody>
      </p:sp>
      <p:sp>
        <p:nvSpPr>
          <p:cNvPr id="8" name="result label"/>
          <p:cNvSpPr txBox="1"/>
          <p:nvPr/>
        </p:nvSpPr>
        <p:spPr>
          <a:xfrm>
            <a:off x="365760" y="224732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521648"/>
          <a:ext cx="8412480" cy="987552"/>
        </p:xfrm>
        <a:graphic>
          <a:graphicData uri="http://schemas.openxmlformats.org/drawingml/2006/table">
            <a:tbl>
              <a:tblPr firstRow="0" bandRow="0"/>
              <a:tblGrid>
                <a:gridCol w="1554480"/>
                <a:gridCol w="1188720"/>
                <a:gridCol w="5669280"/>
              </a:tblGrid>
              <a:tr h="329184">
                <a:tc>
                  <a:txBody>
                    <a:bodyPr wrap="square"/>
                    <a:lstStyle/>
                    <a:p>
                      <a:r>
                        <a:rPr sz="105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What Python said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29184">
                <a:tc>
                  <a:txBody>
                    <a:bodyPr wrap="square"/>
                    <a:lstStyle/>
                    <a:p>
                      <a:r>
                        <a:rPr sz="1050" b="0" i="0">
                          <a:solidFill>
                            <a:srgbClr val="1F2933"/>
                          </a:solidFill>
                          <a:latin typeface="Courier New"/>
                        </a:rPr>
                        <a:t>int('4.2')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B83A1B"/>
                          </a:solidFill>
                          <a:latin typeface="Courier New"/>
                        </a:rPr>
                        <a:t>ValueError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invalid literal for int() with base 10: '4.2'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9184">
                <a:tc>
                  <a:txBody>
                    <a:bodyPr wrap="square"/>
                    <a:lstStyle/>
                    <a:p>
                      <a:r>
                        <a:rPr sz="1050" b="0" i="0">
                          <a:solidFill>
                            <a:srgbClr val="1F2933"/>
                          </a:solidFill>
                          <a:latin typeface="Courier New"/>
                        </a:rPr>
                        <a:t>len(12345)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B83A1B"/>
                          </a:solidFill>
                          <a:latin typeface="Courier New"/>
                        </a:rPr>
                        <a:t>TypeError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object of type 'int' has no len()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0" name="Rounded Rectangle 9"/>
          <p:cNvSpPr/>
          <p:nvPr/>
        </p:nvSpPr>
        <p:spPr>
          <a:xfrm>
            <a:off x="365760" y="3664648"/>
            <a:ext cx="1188720" cy="329184"/>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5B6773"/>
                </a:solidFill>
                <a:latin typeface="Courier New"/>
              </a:rPr>
              <a:t>int('4.2')</a:t>
            </a:r>
          </a:p>
        </p:txBody>
      </p:sp>
      <p:cxnSp>
        <p:nvCxnSpPr>
          <p:cNvPr id="11" name="arrow"/>
          <p:cNvCxnSpPr/>
          <p:nvPr/>
        </p:nvCxnSpPr>
        <p:spPr>
          <a:xfrm>
            <a:off x="1581912" y="3829240"/>
            <a:ext cx="228600"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828800" y="3664648"/>
            <a:ext cx="1051560" cy="329184"/>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wrong content</a:t>
            </a:r>
          </a:p>
        </p:txBody>
      </p:sp>
      <p:cxnSp>
        <p:nvCxnSpPr>
          <p:cNvPr id="13" name="arrow"/>
          <p:cNvCxnSpPr/>
          <p:nvPr/>
        </p:nvCxnSpPr>
        <p:spPr>
          <a:xfrm>
            <a:off x="2907791" y="3829240"/>
            <a:ext cx="228600"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154679" y="3664648"/>
            <a:ext cx="914400" cy="329184"/>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ValueError</a:t>
            </a:r>
          </a:p>
        </p:txBody>
      </p:sp>
      <p:sp>
        <p:nvSpPr>
          <p:cNvPr id="15" name="Rounded Rectangle 14"/>
          <p:cNvSpPr/>
          <p:nvPr/>
        </p:nvSpPr>
        <p:spPr>
          <a:xfrm>
            <a:off x="4617720" y="3664648"/>
            <a:ext cx="1188720" cy="329184"/>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5B6773"/>
                </a:solidFill>
                <a:latin typeface="Courier New"/>
              </a:rPr>
              <a:t>len(12345)</a:t>
            </a:r>
          </a:p>
        </p:txBody>
      </p:sp>
      <p:cxnSp>
        <p:nvCxnSpPr>
          <p:cNvPr id="16" name="arrow"/>
          <p:cNvCxnSpPr/>
          <p:nvPr/>
        </p:nvCxnSpPr>
        <p:spPr>
          <a:xfrm>
            <a:off x="5833872" y="3829240"/>
            <a:ext cx="228600"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080760" y="3664648"/>
            <a:ext cx="1051560" cy="329184"/>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wrong type</a:t>
            </a:r>
          </a:p>
        </p:txBody>
      </p:sp>
      <p:cxnSp>
        <p:nvCxnSpPr>
          <p:cNvPr id="18" name="arrow"/>
          <p:cNvCxnSpPr/>
          <p:nvPr/>
        </p:nvCxnSpPr>
        <p:spPr>
          <a:xfrm>
            <a:off x="7159752" y="3829240"/>
            <a:ext cx="228600"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406640" y="3664648"/>
            <a:ext cx="914400" cy="329184"/>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TypeError</a:t>
            </a:r>
          </a:p>
        </p:txBody>
      </p:sp>
      <p:sp>
        <p:nvSpPr>
          <p:cNvPr id="2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ValueError: wrong content. TypeError: wrong type.</a:t>
            </a:r>
          </a:p>
        </p:txBody>
      </p:sp>
      <p:sp>
        <p:nvSpPr>
          <p:cNvPr id="2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26 / 39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input always returns text</a:t>
            </a:r>
          </a:p>
        </p:txBody>
      </p:sp>
      <p:sp>
        <p:nvSpPr>
          <p:cNvPr id="4" name="code"/>
          <p:cNvSpPr/>
          <p:nvPr/>
        </p:nvSpPr>
        <p:spPr>
          <a:xfrm>
            <a:off x="365760" y="841248"/>
            <a:ext cx="5109972"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E6EDF3"/>
                </a:solidFill>
                <a:latin typeface="Courier New"/>
              </a:rPr>
              <a:t>typed</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'20'</a:t>
            </a:r>
            <a:r>
              <a:rPr sz="1300" b="0" i="0">
                <a:solidFill>
                  <a:srgbClr val="E6EDF3"/>
                </a:solidFill>
                <a:latin typeface="Courier New"/>
              </a:rPr>
              <a:t>  </a:t>
            </a:r>
            <a:r>
              <a:rPr sz="1300" b="0" i="0">
                <a:solidFill>
                  <a:srgbClr val="8FA3B8"/>
                </a:solidFill>
                <a:latin typeface="Courier New"/>
              </a:rPr>
              <a:t># the text input() would return</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type</a:t>
            </a:r>
            <a:r>
              <a:rPr sz="1300" b="0" i="0">
                <a:solidFill>
                  <a:srgbClr val="E6EDF3"/>
                </a:solidFill>
                <a:latin typeface="Courier New"/>
              </a:rPr>
              <a:t>(</a:t>
            </a:r>
            <a:r>
              <a:rPr sz="1300" b="0" i="0">
                <a:solidFill>
                  <a:srgbClr val="E6EDF3"/>
                </a:solidFill>
                <a:latin typeface="Courier New"/>
              </a:rPr>
              <a:t>typed</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__name__</a:t>
            </a:r>
            <a:r>
              <a:rPr sz="1300" b="0" i="0">
                <a:solidFill>
                  <a:srgbClr val="E6EDF3"/>
                </a:solidFill>
                <a:latin typeface="Courier New"/>
              </a:rPr>
              <a:t>)</a:t>
            </a:r>
          </a:p>
        </p:txBody>
      </p:sp>
      <p:sp>
        <p:nvSpPr>
          <p:cNvPr id="5" name="explanation"/>
          <p:cNvSpPr txBox="1"/>
          <p:nvPr/>
        </p:nvSpPr>
        <p:spPr>
          <a:xfrm>
            <a:off x="5457444" y="841248"/>
            <a:ext cx="3320795" cy="723328"/>
          </a:xfrm>
          <a:prstGeom prst="rect">
            <a:avLst/>
          </a:prstGeom>
          <a:noFill/>
        </p:spPr>
        <p:txBody>
          <a:bodyPr wrap="square" lIns="128016" rIns="128016" tIns="18288" bIns="18288" anchor="ctr">
            <a:spAutoFit/>
          </a:bodyPr>
          <a:lstStyle/>
          <a:p>
            <a:r>
              <a:rPr sz="1250" b="0" i="0">
                <a:solidFill>
                  <a:srgbClr val="1F2933"/>
                </a:solidFill>
                <a:latin typeface="Calibri"/>
              </a:rPr>
              <a:t>Whatever a person types, input hands back a string. This example names the text directly so it needs no keyboard.</a:t>
            </a:r>
          </a:p>
        </p:txBody>
      </p:sp>
      <p:sp>
        <p:nvSpPr>
          <p:cNvPr id="6" name="code"/>
          <p:cNvSpPr/>
          <p:nvPr/>
        </p:nvSpPr>
        <p:spPr>
          <a:xfrm>
            <a:off x="365760" y="1619440"/>
            <a:ext cx="5109972"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typed</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'1'</a:t>
            </a:r>
            <a:r>
              <a:rPr sz="1300" b="0" i="0">
                <a:solidFill>
                  <a:srgbClr val="E6EDF3"/>
                </a:solidFill>
                <a:latin typeface="Courier New"/>
              </a:rPr>
              <a:t>)</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int</a:t>
            </a:r>
            <a:r>
              <a:rPr sz="1300" b="0" i="0">
                <a:solidFill>
                  <a:srgbClr val="E6EDF3"/>
                </a:solidFill>
                <a:latin typeface="Courier New"/>
              </a:rPr>
              <a:t>(</a:t>
            </a:r>
            <a:r>
              <a:rPr sz="1300" b="0" i="0">
                <a:solidFill>
                  <a:srgbClr val="E6EDF3"/>
                </a:solidFill>
                <a:latin typeface="Courier New"/>
              </a:rPr>
              <a:t>typed</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1</a:t>
            </a:r>
            <a:r>
              <a:rPr sz="1300" b="0" i="0">
                <a:solidFill>
                  <a:srgbClr val="E6EDF3"/>
                </a:solidFill>
                <a:latin typeface="Courier New"/>
              </a:rPr>
              <a:t>)</a:t>
            </a:r>
          </a:p>
        </p:txBody>
      </p:sp>
      <p:sp>
        <p:nvSpPr>
          <p:cNvPr id="7" name="explanation"/>
          <p:cNvSpPr txBox="1"/>
          <p:nvPr/>
        </p:nvSpPr>
        <p:spPr>
          <a:xfrm>
            <a:off x="5457444" y="1619440"/>
            <a:ext cx="3320795" cy="723328"/>
          </a:xfrm>
          <a:prstGeom prst="rect">
            <a:avLst/>
          </a:prstGeom>
          <a:noFill/>
        </p:spPr>
        <p:txBody>
          <a:bodyPr wrap="square" lIns="128016" rIns="128016" tIns="18288" bIns="18288" anchor="ctr">
            <a:spAutoFit/>
          </a:bodyPr>
          <a:lstStyle/>
          <a:p>
            <a:r>
              <a:rPr sz="1250" b="0" i="0">
                <a:solidFill>
                  <a:srgbClr val="1F2933"/>
                </a:solidFill>
                <a:latin typeface="Calibri"/>
              </a:rPr>
              <a:t>Plus on the text glues characters: 201. Convert with int first and plus adds: 21.</a:t>
            </a:r>
          </a:p>
        </p:txBody>
      </p:sp>
      <p:sp>
        <p:nvSpPr>
          <p:cNvPr id="8" name="result label"/>
          <p:cNvSpPr txBox="1"/>
          <p:nvPr/>
        </p:nvSpPr>
        <p:spPr>
          <a:xfrm>
            <a:off x="365760" y="2415921"/>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2690241"/>
            <a:ext cx="1325880" cy="384048"/>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5B6773"/>
                </a:solidFill>
                <a:latin typeface="Calibri"/>
              </a:rPr>
              <a:t>person types</a:t>
            </a:r>
          </a:p>
        </p:txBody>
      </p:sp>
      <p:sp>
        <p:nvSpPr>
          <p:cNvPr id="10" name="TextBox 9"/>
          <p:cNvSpPr txBox="1"/>
          <p:nvPr/>
        </p:nvSpPr>
        <p:spPr>
          <a:xfrm>
            <a:off x="365760" y="3101721"/>
            <a:ext cx="1325880" cy="256032"/>
          </a:xfrm>
          <a:prstGeom prst="rect">
            <a:avLst/>
          </a:prstGeom>
          <a:noFill/>
        </p:spPr>
        <p:txBody>
          <a:bodyPr wrap="square" lIns="0" rIns="0" tIns="0" bIns="0" anchor="t">
            <a:spAutoFit/>
          </a:bodyPr>
          <a:lstStyle/>
          <a:p>
            <a:pPr algn="ctr"/>
            <a:r>
              <a:rPr sz="1100" b="0" i="0">
                <a:solidFill>
                  <a:srgbClr val="1F2933"/>
                </a:solidFill>
                <a:latin typeface="Courier New"/>
              </a:rPr>
              <a:t>20</a:t>
            </a:r>
          </a:p>
        </p:txBody>
      </p:sp>
      <p:cxnSp>
        <p:nvCxnSpPr>
          <p:cNvPr id="11" name="arrow"/>
          <p:cNvCxnSpPr/>
          <p:nvPr/>
        </p:nvCxnSpPr>
        <p:spPr>
          <a:xfrm>
            <a:off x="1728216" y="2882265"/>
            <a:ext cx="384048" cy="0"/>
          </a:xfrm>
          <a:prstGeom prst="line">
            <a:avLst/>
          </a:prstGeom>
          <a:ln w="1778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148840" y="2690241"/>
            <a:ext cx="1325880" cy="384048"/>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alibri"/>
              </a:rPr>
              <a:t>input()</a:t>
            </a:r>
          </a:p>
        </p:txBody>
      </p:sp>
      <p:sp>
        <p:nvSpPr>
          <p:cNvPr id="13" name="TextBox 12"/>
          <p:cNvSpPr txBox="1"/>
          <p:nvPr/>
        </p:nvSpPr>
        <p:spPr>
          <a:xfrm>
            <a:off x="2148840" y="3101721"/>
            <a:ext cx="1325880" cy="256032"/>
          </a:xfrm>
          <a:prstGeom prst="rect">
            <a:avLst/>
          </a:prstGeom>
          <a:noFill/>
        </p:spPr>
        <p:txBody>
          <a:bodyPr wrap="square" lIns="0" rIns="0" tIns="0" bIns="0" anchor="t">
            <a:spAutoFit/>
          </a:bodyPr>
          <a:lstStyle/>
          <a:p>
            <a:pPr algn="ctr"/>
            <a:r>
              <a:rPr sz="1100" b="0" i="0">
                <a:solidFill>
                  <a:srgbClr val="1F2933"/>
                </a:solidFill>
                <a:latin typeface="Courier New"/>
              </a:rPr>
              <a:t>returns</a:t>
            </a:r>
          </a:p>
        </p:txBody>
      </p:sp>
      <p:cxnSp>
        <p:nvCxnSpPr>
          <p:cNvPr id="14" name="arrow"/>
          <p:cNvCxnSpPr/>
          <p:nvPr/>
        </p:nvCxnSpPr>
        <p:spPr>
          <a:xfrm>
            <a:off x="3511296" y="2882265"/>
            <a:ext cx="384048" cy="0"/>
          </a:xfrm>
          <a:prstGeom prst="line">
            <a:avLst/>
          </a:prstGeom>
          <a:ln w="1778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931920" y="2690241"/>
            <a:ext cx="1325880" cy="384048"/>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alibri"/>
              </a:rPr>
              <a:t>a string</a:t>
            </a:r>
          </a:p>
        </p:txBody>
      </p:sp>
      <p:sp>
        <p:nvSpPr>
          <p:cNvPr id="16" name="TextBox 15"/>
          <p:cNvSpPr txBox="1"/>
          <p:nvPr/>
        </p:nvSpPr>
        <p:spPr>
          <a:xfrm>
            <a:off x="3931920" y="3101721"/>
            <a:ext cx="1325880" cy="256032"/>
          </a:xfrm>
          <a:prstGeom prst="rect">
            <a:avLst/>
          </a:prstGeom>
          <a:noFill/>
        </p:spPr>
        <p:txBody>
          <a:bodyPr wrap="square" lIns="0" rIns="0" tIns="0" bIns="0" anchor="t">
            <a:spAutoFit/>
          </a:bodyPr>
          <a:lstStyle/>
          <a:p>
            <a:pPr algn="ctr"/>
            <a:r>
              <a:rPr sz="1100" b="0" i="0">
                <a:solidFill>
                  <a:srgbClr val="1F2933"/>
                </a:solidFill>
                <a:latin typeface="Courier New"/>
              </a:rPr>
              <a:t>'20'</a:t>
            </a:r>
          </a:p>
        </p:txBody>
      </p:sp>
      <p:cxnSp>
        <p:nvCxnSpPr>
          <p:cNvPr id="17" name="arrow"/>
          <p:cNvCxnSpPr/>
          <p:nvPr/>
        </p:nvCxnSpPr>
        <p:spPr>
          <a:xfrm>
            <a:off x="5294376" y="2882265"/>
            <a:ext cx="384048" cy="0"/>
          </a:xfrm>
          <a:prstGeom prst="line">
            <a:avLst/>
          </a:prstGeom>
          <a:ln w="1778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715000" y="2690241"/>
            <a:ext cx="1325880" cy="384048"/>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alibri"/>
              </a:rPr>
              <a:t>int()</a:t>
            </a:r>
          </a:p>
        </p:txBody>
      </p:sp>
      <p:sp>
        <p:nvSpPr>
          <p:cNvPr id="19" name="TextBox 18"/>
          <p:cNvSpPr txBox="1"/>
          <p:nvPr/>
        </p:nvSpPr>
        <p:spPr>
          <a:xfrm>
            <a:off x="5715000" y="3101721"/>
            <a:ext cx="1325880" cy="256032"/>
          </a:xfrm>
          <a:prstGeom prst="rect">
            <a:avLst/>
          </a:prstGeom>
          <a:noFill/>
        </p:spPr>
        <p:txBody>
          <a:bodyPr wrap="square" lIns="0" rIns="0" tIns="0" bIns="0" anchor="t">
            <a:spAutoFit/>
          </a:bodyPr>
          <a:lstStyle/>
          <a:p>
            <a:pPr algn="ctr"/>
            <a:r>
              <a:rPr sz="1100" b="0" i="0">
                <a:solidFill>
                  <a:srgbClr val="1F2933"/>
                </a:solidFill>
                <a:latin typeface="Courier New"/>
              </a:rPr>
              <a:t>converts</a:t>
            </a:r>
          </a:p>
        </p:txBody>
      </p:sp>
      <p:cxnSp>
        <p:nvCxnSpPr>
          <p:cNvPr id="20" name="arrow"/>
          <p:cNvCxnSpPr/>
          <p:nvPr/>
        </p:nvCxnSpPr>
        <p:spPr>
          <a:xfrm>
            <a:off x="7077456" y="2882265"/>
            <a:ext cx="384048" cy="0"/>
          </a:xfrm>
          <a:prstGeom prst="line">
            <a:avLst/>
          </a:prstGeom>
          <a:ln w="1778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498079" y="2690241"/>
            <a:ext cx="1325880" cy="384048"/>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alibri"/>
              </a:rPr>
              <a:t>a number</a:t>
            </a:r>
          </a:p>
        </p:txBody>
      </p:sp>
      <p:sp>
        <p:nvSpPr>
          <p:cNvPr id="22" name="TextBox 21"/>
          <p:cNvSpPr txBox="1"/>
          <p:nvPr/>
        </p:nvSpPr>
        <p:spPr>
          <a:xfrm>
            <a:off x="7498079" y="3101721"/>
            <a:ext cx="1325880" cy="256032"/>
          </a:xfrm>
          <a:prstGeom prst="rect">
            <a:avLst/>
          </a:prstGeom>
          <a:noFill/>
        </p:spPr>
        <p:txBody>
          <a:bodyPr wrap="square" lIns="0" rIns="0" tIns="0" bIns="0" anchor="t">
            <a:spAutoFit/>
          </a:bodyPr>
          <a:lstStyle/>
          <a:p>
            <a:pPr algn="ctr"/>
            <a:r>
              <a:rPr sz="1100" b="0" i="0">
                <a:solidFill>
                  <a:srgbClr val="1F2933"/>
                </a:solidFill>
                <a:latin typeface="Courier New"/>
              </a:rPr>
              <a:t>20</a:t>
            </a:r>
          </a:p>
        </p:txBody>
      </p:sp>
      <p:graphicFrame>
        <p:nvGraphicFramePr>
          <p:cNvPr id="23" name="table"/>
          <p:cNvGraphicFramePr>
            <a:graphicFrameLocks noGrp="1"/>
          </p:cNvGraphicFramePr>
          <p:nvPr/>
        </p:nvGraphicFramePr>
        <p:xfrm>
          <a:off x="365760" y="3558920"/>
          <a:ext cx="5215737" cy="822960"/>
        </p:xfrm>
        <a:graphic>
          <a:graphicData uri="http://schemas.openxmlformats.org/drawingml/2006/table">
            <a:tbl>
              <a:tblPr firstRow="0" bandRow="0"/>
              <a:tblGrid>
                <a:gridCol w="2503554"/>
                <a:gridCol w="1460406"/>
                <a:gridCol w="1251777"/>
              </a:tblGrid>
              <a:tr h="274320">
                <a:tc>
                  <a:txBody>
                    <a:bodyPr wrap="square"/>
                    <a:lstStyle/>
                    <a:p>
                      <a:r>
                        <a:rPr sz="1050" b="1" i="0">
                          <a:solidFill>
                            <a:srgbClr val="FFFFFF"/>
                          </a:solidFill>
                          <a:latin typeface="Calibri"/>
                        </a:rPr>
                        <a:t>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50" b="0" i="0">
                          <a:solidFill>
                            <a:srgbClr val="1F2933"/>
                          </a:solidFill>
                          <a:latin typeface="Courier New"/>
                        </a:rPr>
                        <a:t>typed + '1'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'201'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str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50" b="0" i="0">
                          <a:solidFill>
                            <a:srgbClr val="1F2933"/>
                          </a:solidFill>
                          <a:latin typeface="Courier New"/>
                        </a:rPr>
                        <a:t>int(typed) + 1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21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24" name="TextBox 23"/>
          <p:cNvSpPr txBox="1"/>
          <p:nvPr/>
        </p:nvSpPr>
        <p:spPr>
          <a:xfrm>
            <a:off x="5917996" y="3558920"/>
            <a:ext cx="2860243" cy="822960"/>
          </a:xfrm>
          <a:prstGeom prst="rect">
            <a:avLst/>
          </a:prstGeom>
          <a:noFill/>
        </p:spPr>
        <p:txBody>
          <a:bodyPr wrap="square" lIns="45720" rIns="45720" tIns="27432" bIns="27432" anchor="t">
            <a:spAutoFit/>
          </a:bodyPr>
          <a:lstStyle/>
          <a:p>
            <a:r>
              <a:rPr sz="1050" b="0" i="1">
                <a:solidFill>
                  <a:srgbClr val="5B6773"/>
                </a:solidFill>
                <a:latin typeface="Calibri"/>
              </a:rPr>
              <a:t>text plus text glues; number plus number adds</a:t>
            </a:r>
          </a:p>
        </p:txBody>
      </p:sp>
      <p:sp>
        <p:nvSpPr>
          <p:cNvPr id="2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input() returns text; convert before you calculate.</a:t>
            </a:r>
          </a:p>
        </p:txBody>
      </p:sp>
      <p:sp>
        <p:nvSpPr>
          <p:cNvPr id="2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27 / 39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Modules: import opens a toolbox</a:t>
            </a:r>
          </a:p>
        </p:txBody>
      </p:sp>
      <p:sp>
        <p:nvSpPr>
          <p:cNvPr id="4" name="code"/>
          <p:cNvSpPr/>
          <p:nvPr/>
        </p:nvSpPr>
        <p:spPr>
          <a:xfrm>
            <a:off x="365760" y="841248"/>
            <a:ext cx="3456432"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import</a:t>
            </a:r>
            <a:r>
              <a:rPr sz="1400" b="0" i="0">
                <a:solidFill>
                  <a:srgbClr val="E6EDF3"/>
                </a:solidFill>
                <a:latin typeface="Courier New"/>
              </a:rPr>
              <a:t> </a:t>
            </a:r>
            <a:r>
              <a:rPr sz="1400" b="0" i="0">
                <a:solidFill>
                  <a:srgbClr val="E6EDF3"/>
                </a:solidFill>
                <a:latin typeface="Courier New"/>
              </a:rPr>
              <a:t>math</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type</a:t>
            </a:r>
            <a:r>
              <a:rPr sz="1400" b="0" i="0">
                <a:solidFill>
                  <a:srgbClr val="E6EDF3"/>
                </a:solidFill>
                <a:latin typeface="Courier New"/>
              </a:rPr>
              <a:t>(</a:t>
            </a:r>
            <a:r>
              <a:rPr sz="1400" b="0" i="0">
                <a:solidFill>
                  <a:srgbClr val="E6EDF3"/>
                </a:solidFill>
                <a:latin typeface="Courier New"/>
              </a:rPr>
              <a:t>math</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__name__</a:t>
            </a:r>
            <a:r>
              <a:rPr sz="1400" b="0" i="0">
                <a:solidFill>
                  <a:srgbClr val="E6EDF3"/>
                </a:solidFill>
                <a:latin typeface="Courier New"/>
              </a:rPr>
              <a:t>)</a:t>
            </a:r>
          </a:p>
        </p:txBody>
      </p:sp>
      <p:sp>
        <p:nvSpPr>
          <p:cNvPr id="5" name="explanation"/>
          <p:cNvSpPr txBox="1"/>
          <p:nvPr/>
        </p:nvSpPr>
        <p:spPr>
          <a:xfrm>
            <a:off x="3803904" y="841248"/>
            <a:ext cx="4974336" cy="616712"/>
          </a:xfrm>
          <a:prstGeom prst="rect">
            <a:avLst/>
          </a:prstGeom>
          <a:noFill/>
        </p:spPr>
        <p:txBody>
          <a:bodyPr wrap="square" lIns="128016" rIns="128016" tIns="18288" bIns="18288" anchor="ctr">
            <a:spAutoFit/>
          </a:bodyPr>
          <a:lstStyle/>
          <a:p>
            <a:r>
              <a:rPr sz="1250" b="0" i="0">
                <a:solidFill>
                  <a:srgbClr val="1F2933"/>
                </a:solidFill>
                <a:latin typeface="Calibri"/>
              </a:rPr>
              <a:t>import binds a module to a name. A module is a toolbox of ready-made functions and values.</a:t>
            </a:r>
          </a:p>
        </p:txBody>
      </p:sp>
      <p:sp>
        <p:nvSpPr>
          <p:cNvPr id="6" name="code"/>
          <p:cNvSpPr/>
          <p:nvPr/>
        </p:nvSpPr>
        <p:spPr>
          <a:xfrm>
            <a:off x="365760" y="1512824"/>
            <a:ext cx="3456432"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math</a:t>
            </a:r>
            <a:r>
              <a:rPr sz="1400" b="0" i="0">
                <a:solidFill>
                  <a:srgbClr val="E6EDF3"/>
                </a:solidFill>
                <a:latin typeface="Courier New"/>
              </a:rPr>
              <a:t>.</a:t>
            </a:r>
            <a:r>
              <a:rPr sz="1400" b="0" i="0">
                <a:solidFill>
                  <a:srgbClr val="E6EDF3"/>
                </a:solidFill>
                <a:latin typeface="Courier New"/>
              </a:rPr>
              <a:t>sqrt</a:t>
            </a:r>
            <a:r>
              <a:rPr sz="1400" b="0" i="0">
                <a:solidFill>
                  <a:srgbClr val="E6EDF3"/>
                </a:solidFill>
                <a:latin typeface="Courier New"/>
              </a:rPr>
              <a:t>(</a:t>
            </a:r>
            <a:r>
              <a:rPr sz="1400" b="0" i="0">
                <a:solidFill>
                  <a:srgbClr val="7CC4FF"/>
                </a:solidFill>
                <a:latin typeface="Courier New"/>
              </a:rPr>
              <a:t>16</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math</a:t>
            </a:r>
            <a:r>
              <a:rPr sz="1400" b="0" i="0">
                <a:solidFill>
                  <a:srgbClr val="E6EDF3"/>
                </a:solidFill>
                <a:latin typeface="Courier New"/>
              </a:rPr>
              <a:t>.</a:t>
            </a:r>
            <a:r>
              <a:rPr sz="1400" b="0" i="0">
                <a:solidFill>
                  <a:srgbClr val="E6EDF3"/>
                </a:solidFill>
                <a:latin typeface="Courier New"/>
              </a:rPr>
              <a:t>pi</a:t>
            </a:r>
            <a:r>
              <a:rPr sz="1400" b="0" i="0">
                <a:solidFill>
                  <a:srgbClr val="E6EDF3"/>
                </a:solidFill>
                <a:latin typeface="Courier New"/>
              </a:rPr>
              <a:t>)</a:t>
            </a:r>
          </a:p>
        </p:txBody>
      </p:sp>
      <p:sp>
        <p:nvSpPr>
          <p:cNvPr id="7" name="explanation"/>
          <p:cNvSpPr txBox="1"/>
          <p:nvPr/>
        </p:nvSpPr>
        <p:spPr>
          <a:xfrm>
            <a:off x="3803904" y="1512824"/>
            <a:ext cx="4974336" cy="616712"/>
          </a:xfrm>
          <a:prstGeom prst="rect">
            <a:avLst/>
          </a:prstGeom>
          <a:noFill/>
        </p:spPr>
        <p:txBody>
          <a:bodyPr wrap="square" lIns="128016" rIns="128016" tIns="18288" bIns="18288" anchor="ctr">
            <a:spAutoFit/>
          </a:bodyPr>
          <a:lstStyle/>
          <a:p>
            <a:r>
              <a:rPr sz="1250" b="0" i="0">
                <a:solidFill>
                  <a:srgbClr val="1F2933"/>
                </a:solidFill>
                <a:latin typeface="Calibri"/>
              </a:rPr>
              <a:t>A dot reaches inside the module: sqrt is a function, pi is a value. sqrt always returns a float.</a:t>
            </a:r>
          </a:p>
        </p:txBody>
      </p:sp>
      <p:sp>
        <p:nvSpPr>
          <p:cNvPr id="8" name="result label"/>
          <p:cNvSpPr txBox="1"/>
          <p:nvPr/>
        </p:nvSpPr>
        <p:spPr>
          <a:xfrm>
            <a:off x="365760" y="220268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2568448"/>
            <a:ext cx="1371600" cy="36576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import math</a:t>
            </a:r>
          </a:p>
        </p:txBody>
      </p:sp>
      <p:cxnSp>
        <p:nvCxnSpPr>
          <p:cNvPr id="10" name="arrow"/>
          <p:cNvCxnSpPr/>
          <p:nvPr/>
        </p:nvCxnSpPr>
        <p:spPr>
          <a:xfrm>
            <a:off x="1783080" y="2751327"/>
            <a:ext cx="411480" cy="0"/>
          </a:xfrm>
          <a:prstGeom prst="line">
            <a:avLst/>
          </a:prstGeom>
          <a:ln w="1778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240279" y="2568448"/>
            <a:ext cx="1463040"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math: module</a:t>
            </a:r>
          </a:p>
        </p:txBody>
      </p:sp>
      <p:cxnSp>
        <p:nvCxnSpPr>
          <p:cNvPr id="12" name="arrow"/>
          <p:cNvCxnSpPr/>
          <p:nvPr/>
        </p:nvCxnSpPr>
        <p:spPr>
          <a:xfrm>
            <a:off x="3749040" y="2751327"/>
            <a:ext cx="228600" cy="1"/>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023360" y="2568448"/>
            <a:ext cx="1463040" cy="36576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math.sqrt(16)</a:t>
            </a:r>
          </a:p>
        </p:txBody>
      </p:sp>
      <p:cxnSp>
        <p:nvCxnSpPr>
          <p:cNvPr id="14" name="arrow"/>
          <p:cNvCxnSpPr/>
          <p:nvPr/>
        </p:nvCxnSpPr>
        <p:spPr>
          <a:xfrm>
            <a:off x="5532120" y="2751328"/>
            <a:ext cx="365760"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943600" y="2568448"/>
            <a:ext cx="2011680" cy="36576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4.0</a:t>
            </a:r>
          </a:p>
        </p:txBody>
      </p:sp>
      <p:cxnSp>
        <p:nvCxnSpPr>
          <p:cNvPr id="16" name="arrow"/>
          <p:cNvCxnSpPr/>
          <p:nvPr/>
        </p:nvCxnSpPr>
        <p:spPr>
          <a:xfrm>
            <a:off x="3749040" y="2751327"/>
            <a:ext cx="228600" cy="566929"/>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023360" y="3135376"/>
            <a:ext cx="1463040" cy="36576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math.pi</a:t>
            </a:r>
          </a:p>
        </p:txBody>
      </p:sp>
      <p:cxnSp>
        <p:nvCxnSpPr>
          <p:cNvPr id="18" name="arrow"/>
          <p:cNvCxnSpPr/>
          <p:nvPr/>
        </p:nvCxnSpPr>
        <p:spPr>
          <a:xfrm>
            <a:off x="5532120" y="3318256"/>
            <a:ext cx="365760"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943600" y="3135376"/>
            <a:ext cx="2011680" cy="36576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3.141592653589793</a:t>
            </a:r>
          </a:p>
        </p:txBody>
      </p:sp>
      <p:graphicFrame>
        <p:nvGraphicFramePr>
          <p:cNvPr id="20" name="table"/>
          <p:cNvGraphicFramePr>
            <a:graphicFrameLocks noGrp="1"/>
          </p:cNvGraphicFramePr>
          <p:nvPr/>
        </p:nvGraphicFramePr>
        <p:xfrm>
          <a:off x="365760" y="3711448"/>
          <a:ext cx="5888734" cy="987552"/>
        </p:xfrm>
        <a:graphic>
          <a:graphicData uri="http://schemas.openxmlformats.org/drawingml/2006/table">
            <a:tbl>
              <a:tblPr firstRow="0" bandRow="0"/>
              <a:tblGrid>
                <a:gridCol w="2479467"/>
                <a:gridCol w="2376156"/>
                <a:gridCol w="1033111"/>
              </a:tblGrid>
              <a:tr h="246888">
                <a:tc>
                  <a:txBody>
                    <a:bodyPr wrap="square"/>
                    <a:lstStyle/>
                    <a:p>
                      <a:r>
                        <a:rPr sz="1050" b="1" i="0">
                          <a:solidFill>
                            <a:srgbClr val="FFFFFF"/>
                          </a:solidFill>
                          <a:latin typeface="Calibri"/>
                        </a:rPr>
                        <a:t>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46888">
                <a:tc>
                  <a:txBody>
                    <a:bodyPr wrap="square"/>
                    <a:lstStyle/>
                    <a:p>
                      <a:r>
                        <a:rPr sz="1050" b="0" i="0">
                          <a:solidFill>
                            <a:srgbClr val="1F2933"/>
                          </a:solidFill>
                          <a:latin typeface="Courier New"/>
                        </a:rPr>
                        <a:t>type(math).__name__</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'module'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str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1050" b="0" i="0">
                          <a:solidFill>
                            <a:srgbClr val="1F2933"/>
                          </a:solidFill>
                          <a:latin typeface="Courier New"/>
                        </a:rPr>
                        <a:t>math.sqrt(16)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4.0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float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46888">
                <a:tc>
                  <a:txBody>
                    <a:bodyPr wrap="square"/>
                    <a:lstStyle/>
                    <a:p>
                      <a:r>
                        <a:rPr sz="1050" b="0" i="0">
                          <a:solidFill>
                            <a:srgbClr val="1F2933"/>
                          </a:solidFill>
                          <a:latin typeface="Courier New"/>
                        </a:rPr>
                        <a:t>math.pi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3.141592653589793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float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2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import brings a toolbox; a dot reaches inside it.</a:t>
            </a:r>
          </a:p>
        </p:txBody>
      </p:sp>
      <p:sp>
        <p:nvSpPr>
          <p:cNvPr id="2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28 / 39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4: A first program</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Putting the pieces together, taking it apart, and how bits hold numbers</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Hello, world</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The smallest program that shows a visible result.</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Dissecting</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Reading a program line by line and naming each part.</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f-string</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Fills named slots with values instead of joining pieces.</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Binary</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Numbers written with only the digits 0 and 1.</a:t>
            </a:r>
          </a:p>
        </p:txBody>
      </p:sp>
      <p:graphicFrame>
        <p:nvGraphicFramePr>
          <p:cNvPr id="13" name="table"/>
          <p:cNvGraphicFramePr>
            <a:graphicFrameLocks noGrp="1"/>
          </p:cNvGraphicFramePr>
          <p:nvPr/>
        </p:nvGraphicFramePr>
        <p:xfrm>
          <a:off x="5303520" y="1417320"/>
          <a:ext cx="3474719" cy="2560320"/>
        </p:xfrm>
        <a:graphic>
          <a:graphicData uri="http://schemas.openxmlformats.org/drawingml/2006/table">
            <a:tbl>
              <a:tblPr firstRow="0" bandRow="0"/>
              <a:tblGrid>
                <a:gridCol w="507543"/>
                <a:gridCol w="2967176"/>
              </a:tblGrid>
              <a:tr h="365760">
                <a:tc>
                  <a:txBody>
                    <a:bodyPr wrap="square"/>
                    <a:lstStyle/>
                    <a:p>
                      <a:r>
                        <a:rPr sz="100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00" b="0" i="0">
                          <a:solidFill>
                            <a:srgbClr val="1F2933"/>
                          </a:solidFill>
                          <a:latin typeface="Calibri"/>
                        </a:rPr>
                        <a:t>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a program and its bits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00" b="0" i="0">
                          <a:solidFill>
                            <a:srgbClr val="1F2933"/>
                          </a:solidFill>
                          <a:latin typeface="Calibri"/>
                        </a:rPr>
                        <a:t>31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Story: Brian Kernighan, hello, world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00" b="0" i="0">
                          <a:solidFill>
                            <a:srgbClr val="1F2933"/>
                          </a:solidFill>
                          <a:latin typeface="Calibri"/>
                        </a:rPr>
                        <a:t>32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Your first program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00" b="0" i="0">
                          <a:solidFill>
                            <a:srgbClr val="1F2933"/>
                          </a:solidFill>
                          <a:latin typeface="Calibri"/>
                        </a:rPr>
                        <a:t>33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Dissecting the program: join or fill 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00" b="0" i="0">
                          <a:solidFill>
                            <a:srgbClr val="1F2933"/>
                          </a:solidFill>
                          <a:latin typeface="Calibri"/>
                        </a:rPr>
                        <a:t>34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Story: Leibniz and binary numbers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00" b="0" i="0">
                          <a:solidFill>
                            <a:srgbClr val="1F2933"/>
                          </a:solidFill>
                          <a:latin typeface="Calibri"/>
                        </a:rPr>
                        <a:t>35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How computers store numbers: binary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29 / 39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a program and its bits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350" b="1" i="0">
                <a:solidFill>
                  <a:srgbClr val="B7791F"/>
                </a:solidFill>
                <a:latin typeface="Calibri"/>
              </a:rPr>
              <a:t>ANALOGY  </a:t>
            </a:r>
            <a:r>
              <a:rPr sz="1350" b="0" i="0">
                <a:solidFill>
                  <a:srgbClr val="1F2933"/>
                </a:solidFill>
                <a:latin typeface="Calibri"/>
              </a:rPr>
              <a:t>A program is a recipe: steps in order, ingredients kept in labelled jars.</a:t>
            </a:r>
          </a:p>
        </p:txBody>
      </p:sp>
      <p:graphicFrame>
        <p:nvGraphicFramePr>
          <p:cNvPr id="6" name="table"/>
          <p:cNvGraphicFramePr>
            <a:graphicFrameLocks noGrp="1"/>
          </p:cNvGraphicFramePr>
          <p:nvPr/>
        </p:nvGraphicFramePr>
        <p:xfrm>
          <a:off x="365760" y="1463040"/>
          <a:ext cx="8412479" cy="2267712"/>
        </p:xfrm>
        <a:graphic>
          <a:graphicData uri="http://schemas.openxmlformats.org/drawingml/2006/table">
            <a:tbl>
              <a:tblPr firstRow="0" bandRow="0"/>
              <a:tblGrid>
                <a:gridCol w="3785616"/>
                <a:gridCol w="4626863"/>
              </a:tblGrid>
              <a:tr h="566928">
                <a:tc>
                  <a:txBody>
                    <a:bodyPr wrap="square"/>
                    <a:lstStyle/>
                    <a:p>
                      <a:r>
                        <a:rPr sz="14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4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566928">
                <a:tc>
                  <a:txBody>
                    <a:bodyPr wrap="square"/>
                    <a:lstStyle/>
                    <a:p>
                      <a:r>
                        <a:rPr sz="1400" b="1" i="0">
                          <a:solidFill>
                            <a:srgbClr val="1F2933"/>
                          </a:solidFill>
                          <a:latin typeface="Calibri"/>
                        </a:rPr>
                        <a:t>Your First Program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400" b="0" i="0">
                          <a:solidFill>
                            <a:srgbClr val="1F2933"/>
                          </a:solidFill>
                          <a:latin typeface="Calibri"/>
                        </a:rPr>
                        <a:t>A recipe followed line by line: greet, ask, answer.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66928">
                <a:tc>
                  <a:txBody>
                    <a:bodyPr wrap="square"/>
                    <a:lstStyle/>
                    <a:p>
                      <a:r>
                        <a:rPr sz="1400" b="1" i="0">
                          <a:solidFill>
                            <a:srgbClr val="1F2933"/>
                          </a:solidFill>
                          <a:latin typeface="Calibri"/>
                        </a:rPr>
                        <a:t>Dissecting the Program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400" b="0" i="0">
                          <a:solidFill>
                            <a:srgbClr val="1F2933"/>
                          </a:solidFill>
                          <a:latin typeface="Calibri"/>
                        </a:rPr>
                        <a:t>Taking a clock apart: each gear does one small job, and together they tell the time.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66928">
                <a:tc>
                  <a:txBody>
                    <a:bodyPr wrap="square"/>
                    <a:lstStyle/>
                    <a:p>
                      <a:r>
                        <a:rPr sz="1400" b="1" i="0">
                          <a:solidFill>
                            <a:srgbClr val="1F2933"/>
                          </a:solidFill>
                          <a:latin typeface="Calibri"/>
                        </a:rPr>
                        <a:t>How Computers Store Data with Binary Numbers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400" b="0" i="0">
                          <a:solidFill>
                            <a:srgbClr val="1F2933"/>
                          </a:solidFill>
                          <a:latin typeface="Calibri"/>
                        </a:rPr>
                        <a:t>A row of light switches: each is on or off, and the pattern of switches is the number.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30 / 39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where hello, world began, in 1972</a:t>
            </a:r>
          </a:p>
        </p:txBody>
      </p:sp>
      <p:pic>
        <p:nvPicPr>
          <p:cNvPr id="4" name="photo kernighan" descr="Picture for the story: where hello, world began, in 1972"/>
          <p:cNvPicPr>
            <a:picLocks noChangeAspect="1"/>
          </p:cNvPicPr>
          <p:nvPr/>
        </p:nvPicPr>
        <p:blipFill>
          <a:blip r:embed="rId3"/>
          <a:stretch>
            <a:fillRect/>
          </a:stretch>
        </p:blipFill>
        <p:spPr>
          <a:xfrm>
            <a:off x="365760" y="1447800"/>
            <a:ext cx="2651760" cy="1767840"/>
          </a:xfrm>
          <a:prstGeom prst="rect">
            <a:avLst/>
          </a:prstGeom>
        </p:spPr>
      </p:pic>
      <p:sp>
        <p:nvSpPr>
          <p:cNvPr id="5" name="credit"/>
          <p:cNvSpPr txBox="1"/>
          <p:nvPr/>
        </p:nvSpPr>
        <p:spPr>
          <a:xfrm>
            <a:off x="365760" y="3840480"/>
            <a:ext cx="2651760" cy="731520"/>
          </a:xfrm>
          <a:prstGeom prst="rect">
            <a:avLst/>
          </a:prstGeom>
          <a:noFill/>
        </p:spPr>
        <p:txBody>
          <a:bodyPr wrap="square" lIns="45720" rIns="45720" tIns="27432" bIns="27432" anchor="t">
            <a:spAutoFit/>
          </a:bodyPr>
          <a:lstStyle/>
          <a:p>
            <a:r>
              <a:rPr sz="900" b="0" i="0">
                <a:solidFill>
                  <a:srgbClr val="5B6773"/>
                </a:solidFill>
                <a:latin typeface="Calibri"/>
              </a:rPr>
              <a:t>Brian Kernighan, 2012, at Bell Labs. Photo: Ben Lowe, CC BY 2.0, Wikimedia Commons.</a:t>
            </a:r>
          </a:p>
        </p:txBody>
      </p:sp>
      <p:sp>
        <p:nvSpPr>
          <p:cNvPr id="6" name="card"/>
          <p:cNvSpPr/>
          <p:nvPr/>
        </p:nvSpPr>
        <p:spPr>
          <a:xfrm>
            <a:off x="3200400" y="841248"/>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402336"/>
          </a:xfrm>
          <a:prstGeom prst="rect">
            <a:avLst/>
          </a:prstGeom>
          <a:noFill/>
        </p:spPr>
        <p:txBody>
          <a:bodyPr wrap="square" lIns="45720" rIns="45720" tIns="27432" bIns="27432" anchor="ctr">
            <a:spAutoFit/>
          </a:bodyPr>
          <a:lstStyle/>
          <a:p>
            <a:r>
              <a:rPr sz="1300" b="1" i="0">
                <a:solidFill>
                  <a:srgbClr val="0E7C86"/>
                </a:solidFill>
                <a:latin typeface="Calibri"/>
              </a:rPr>
              <a:t>WHO  </a:t>
            </a:r>
            <a:r>
              <a:rPr sz="1300" b="0" i="0">
                <a:solidFill>
                  <a:srgbClr val="1F2933"/>
                </a:solidFill>
                <a:latin typeface="Calibri"/>
              </a:rPr>
              <a:t>Brian Kernighan, a researcher at Bell Laboratories.</a:t>
            </a:r>
          </a:p>
        </p:txBody>
      </p:sp>
      <p:sp>
        <p:nvSpPr>
          <p:cNvPr id="8" name="card"/>
          <p:cNvSpPr/>
          <p:nvPr/>
        </p:nvSpPr>
        <p:spPr>
          <a:xfrm>
            <a:off x="3200400" y="1307592"/>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307592"/>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WHAT  </a:t>
            </a:r>
            <a:r>
              <a:rPr sz="1300" b="0" i="0">
                <a:solidFill>
                  <a:srgbClr val="1F2933"/>
                </a:solidFill>
                <a:latin typeface="Calibri"/>
              </a:rPr>
              <a:t>The first known program to put the words hello and world together, written as a teaching example.</a:t>
            </a:r>
          </a:p>
        </p:txBody>
      </p:sp>
      <p:sp>
        <p:nvSpPr>
          <p:cNvPr id="10" name="card"/>
          <p:cNvSpPr/>
          <p:nvPr/>
        </p:nvSpPr>
        <p:spPr>
          <a:xfrm>
            <a:off x="3200400" y="1929384"/>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29384"/>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WHEN  </a:t>
            </a:r>
            <a:r>
              <a:rPr sz="1300" b="0" i="0">
                <a:solidFill>
                  <a:srgbClr val="1F2933"/>
                </a:solidFill>
                <a:latin typeface="Calibri"/>
              </a:rPr>
              <a:t>1972, in A Tutorial Introduction to the Language B; the 1978 book The C Programming Language made it famous.</a:t>
            </a:r>
          </a:p>
        </p:txBody>
      </p:sp>
      <p:sp>
        <p:nvSpPr>
          <p:cNvPr id="12" name="card"/>
          <p:cNvSpPr/>
          <p:nvPr/>
        </p:nvSpPr>
        <p:spPr>
          <a:xfrm>
            <a:off x="3200400" y="2551176"/>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551176"/>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WHERE  </a:t>
            </a:r>
            <a:r>
              <a:rPr sz="1300" b="0" i="0">
                <a:solidFill>
                  <a:srgbClr val="1F2933"/>
                </a:solidFill>
                <a:latin typeface="Calibri"/>
              </a:rPr>
              <a:t>Bell Laboratories; page 6 of the 1978 book, published by Prentice Hall.</a:t>
            </a:r>
          </a:p>
        </p:txBody>
      </p:sp>
      <p:sp>
        <p:nvSpPr>
          <p:cNvPr id="14" name="card"/>
          <p:cNvSpPr/>
          <p:nvPr/>
        </p:nvSpPr>
        <p:spPr>
          <a:xfrm>
            <a:off x="3200400" y="317296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17296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WHY  </a:t>
            </a:r>
            <a:r>
              <a:rPr sz="1300" b="0" i="0">
                <a:solidFill>
                  <a:srgbClr val="1F2933"/>
                </a:solidFill>
                <a:latin typeface="Calibri"/>
              </a:rPr>
              <a:t>A beginner needs a first program that does one visible thing: print a greeting.</a:t>
            </a:r>
          </a:p>
        </p:txBody>
      </p:sp>
      <p:sp>
        <p:nvSpPr>
          <p:cNvPr id="16" name="card"/>
          <p:cNvSpPr/>
          <p:nvPr/>
        </p:nvSpPr>
        <p:spPr>
          <a:xfrm>
            <a:off x="3200400" y="3794759"/>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794759"/>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HOW  </a:t>
            </a:r>
            <a:r>
              <a:rPr sz="1300" b="0" i="0">
                <a:solidFill>
                  <a:srgbClr val="1F2933"/>
                </a:solidFill>
                <a:latin typeface="Calibri"/>
              </a:rPr>
              <a:t>B held only four characters per constant, so the text sat in three variables; Python needs one line.</a:t>
            </a:r>
          </a:p>
        </p:txBody>
      </p:sp>
      <p:sp>
        <p:nvSpPr>
          <p:cNvPr id="18" name="read"/>
          <p:cNvSpPr txBox="1"/>
          <p:nvPr/>
        </p:nvSpPr>
        <p:spPr>
          <a:xfrm>
            <a:off x="3200400" y="4434839"/>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The Hello, World! program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31 / 39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Your first program</a:t>
            </a:r>
          </a:p>
        </p:txBody>
      </p:sp>
      <p:sp>
        <p:nvSpPr>
          <p:cNvPr id="4" name="code"/>
          <p:cNvSpPr/>
          <p:nvPr/>
        </p:nvSpPr>
        <p:spPr>
          <a:xfrm>
            <a:off x="365760" y="841248"/>
            <a:ext cx="5250941" cy="53924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50" b="0" i="0">
                <a:solidFill>
                  <a:srgbClr val="8FA3B8"/>
                </a:solidFill>
                <a:latin typeface="Courier New"/>
              </a:rPr>
              <a:t>&gt;&gt;&gt; </a:t>
            </a:r>
            <a:r>
              <a:rPr sz="1150" b="0" i="0">
                <a:solidFill>
                  <a:srgbClr val="C9A0FF"/>
                </a:solidFill>
                <a:latin typeface="Courier New"/>
              </a:rPr>
              <a:t>print</a:t>
            </a:r>
            <a:r>
              <a:rPr sz="1150" b="0" i="0">
                <a:solidFill>
                  <a:srgbClr val="E6EDF3"/>
                </a:solidFill>
                <a:latin typeface="Courier New"/>
              </a:rPr>
              <a:t>(</a:t>
            </a:r>
            <a:r>
              <a:rPr sz="1150" b="0" i="0">
                <a:solidFill>
                  <a:srgbClr val="9BE3A8"/>
                </a:solidFill>
                <a:latin typeface="Courier New"/>
              </a:rPr>
              <a:t>'Hello, world!'</a:t>
            </a:r>
            <a:r>
              <a:rPr sz="1150" b="0" i="0">
                <a:solidFill>
                  <a:srgbClr val="E6EDF3"/>
                </a:solidFill>
                <a:latin typeface="Courier New"/>
              </a:rPr>
              <a:t>)</a:t>
            </a:r>
          </a:p>
          <a:p>
            <a:pPr algn="l"/>
            <a:r>
              <a:rPr sz="1150" b="0" i="0">
                <a:solidFill>
                  <a:srgbClr val="8FA3B8"/>
                </a:solidFill>
                <a:latin typeface="Courier New"/>
              </a:rPr>
              <a:t>&gt;&gt;&gt; </a:t>
            </a:r>
            <a:r>
              <a:rPr sz="1150" b="0" i="0">
                <a:solidFill>
                  <a:srgbClr val="C9A0FF"/>
                </a:solidFill>
                <a:latin typeface="Courier New"/>
              </a:rPr>
              <a:t>print</a:t>
            </a:r>
            <a:r>
              <a:rPr sz="1150" b="0" i="0">
                <a:solidFill>
                  <a:srgbClr val="E6EDF3"/>
                </a:solidFill>
                <a:latin typeface="Courier New"/>
              </a:rPr>
              <a:t>(</a:t>
            </a:r>
            <a:r>
              <a:rPr sz="1150" b="0" i="0">
                <a:solidFill>
                  <a:srgbClr val="9BE3A8"/>
                </a:solidFill>
                <a:latin typeface="Courier New"/>
              </a:rPr>
              <a:t>'What is your name?'</a:t>
            </a:r>
            <a:r>
              <a:rPr sz="1150" b="0" i="0">
                <a:solidFill>
                  <a:srgbClr val="E6EDF3"/>
                </a:solidFill>
                <a:latin typeface="Courier New"/>
              </a:rPr>
              <a:t>)</a:t>
            </a:r>
          </a:p>
        </p:txBody>
      </p:sp>
      <p:sp>
        <p:nvSpPr>
          <p:cNvPr id="5" name="explanation"/>
          <p:cNvSpPr txBox="1"/>
          <p:nvPr/>
        </p:nvSpPr>
        <p:spPr>
          <a:xfrm>
            <a:off x="365760" y="1389634"/>
            <a:ext cx="5250941" cy="318516"/>
          </a:xfrm>
          <a:prstGeom prst="rect">
            <a:avLst/>
          </a:prstGeom>
          <a:noFill/>
        </p:spPr>
        <p:txBody>
          <a:bodyPr wrap="square" lIns="109728" rIns="109728" tIns="18288" bIns="18288" anchor="ctr">
            <a:spAutoFit/>
          </a:bodyPr>
          <a:lstStyle/>
          <a:p>
            <a:r>
              <a:rPr sz="1200" b="0" i="0">
                <a:solidFill>
                  <a:srgbClr val="1F2933"/>
                </a:solidFill>
                <a:latin typeface="Calibri"/>
              </a:rPr>
              <a:t>Two print calls greet the user and ask a question.</a:t>
            </a:r>
          </a:p>
        </p:txBody>
      </p:sp>
      <p:sp>
        <p:nvSpPr>
          <p:cNvPr id="6" name="code"/>
          <p:cNvSpPr/>
          <p:nvPr/>
        </p:nvSpPr>
        <p:spPr>
          <a:xfrm>
            <a:off x="365760" y="1772158"/>
            <a:ext cx="5250941" cy="895603"/>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50" b="0" i="0">
                <a:solidFill>
                  <a:srgbClr val="8FA3B8"/>
                </a:solidFill>
                <a:latin typeface="Courier New"/>
              </a:rPr>
              <a:t>&gt;&gt;&gt; </a:t>
            </a:r>
            <a:r>
              <a:rPr sz="1150" b="0" i="0">
                <a:solidFill>
                  <a:srgbClr val="E6EDF3"/>
                </a:solidFill>
                <a:latin typeface="Courier New"/>
              </a:rPr>
              <a:t>my_name</a:t>
            </a:r>
            <a:r>
              <a:rPr sz="1150" b="0" i="0">
                <a:solidFill>
                  <a:srgbClr val="E6EDF3"/>
                </a:solidFill>
                <a:latin typeface="Courier New"/>
              </a:rPr>
              <a:t> </a:t>
            </a:r>
            <a:r>
              <a:rPr sz="1150" b="0" i="0">
                <a:solidFill>
                  <a:srgbClr val="E6EDF3"/>
                </a:solidFill>
                <a:latin typeface="Courier New"/>
              </a:rPr>
              <a:t>=</a:t>
            </a:r>
            <a:r>
              <a:rPr sz="1150" b="0" i="0">
                <a:solidFill>
                  <a:srgbClr val="E6EDF3"/>
                </a:solidFill>
                <a:latin typeface="Courier New"/>
              </a:rPr>
              <a:t> </a:t>
            </a:r>
            <a:r>
              <a:rPr sz="1150" b="0" i="0">
                <a:solidFill>
                  <a:srgbClr val="9BE3A8"/>
                </a:solidFill>
                <a:latin typeface="Courier New"/>
              </a:rPr>
              <a:t>'Ayse'</a:t>
            </a:r>
            <a:r>
              <a:rPr sz="1150" b="0" i="0">
                <a:solidFill>
                  <a:srgbClr val="E6EDF3"/>
                </a:solidFill>
                <a:latin typeface="Courier New"/>
              </a:rPr>
              <a:t>  </a:t>
            </a:r>
            <a:r>
              <a:rPr sz="1150" b="0" i="0">
                <a:solidFill>
                  <a:srgbClr val="8FA3B8"/>
                </a:solidFill>
                <a:latin typeface="Courier New"/>
              </a:rPr>
              <a:t># the text input() would return</a:t>
            </a:r>
          </a:p>
          <a:p>
            <a:pPr algn="l"/>
            <a:r>
              <a:rPr sz="1150" b="0" i="0">
                <a:solidFill>
                  <a:srgbClr val="8FA3B8"/>
                </a:solidFill>
                <a:latin typeface="Courier New"/>
              </a:rPr>
              <a:t>&gt;&gt;&gt; </a:t>
            </a:r>
            <a:r>
              <a:rPr sz="1150" b="0" i="0">
                <a:solidFill>
                  <a:srgbClr val="C9A0FF"/>
                </a:solidFill>
                <a:latin typeface="Courier New"/>
              </a:rPr>
              <a:t>print</a:t>
            </a:r>
            <a:r>
              <a:rPr sz="1150" b="0" i="0">
                <a:solidFill>
                  <a:srgbClr val="E6EDF3"/>
                </a:solidFill>
                <a:latin typeface="Courier New"/>
              </a:rPr>
              <a:t>(</a:t>
            </a:r>
            <a:r>
              <a:rPr sz="1150" b="0" i="0">
                <a:solidFill>
                  <a:srgbClr val="9BE3A8"/>
                </a:solidFill>
                <a:latin typeface="Courier New"/>
              </a:rPr>
              <a:t>'It is good to meet you, '</a:t>
            </a:r>
            <a:r>
              <a:rPr sz="1150" b="0" i="0">
                <a:solidFill>
                  <a:srgbClr val="E6EDF3"/>
                </a:solidFill>
                <a:latin typeface="Courier New"/>
              </a:rPr>
              <a:t> </a:t>
            </a:r>
            <a:r>
              <a:rPr sz="1150" b="0" i="0">
                <a:solidFill>
                  <a:srgbClr val="E6EDF3"/>
                </a:solidFill>
                <a:latin typeface="Courier New"/>
              </a:rPr>
              <a:t>+</a:t>
            </a:r>
            <a:r>
              <a:rPr sz="1150" b="0" i="0">
                <a:solidFill>
                  <a:srgbClr val="E6EDF3"/>
                </a:solidFill>
                <a:latin typeface="Courier New"/>
              </a:rPr>
              <a:t> </a:t>
            </a:r>
            <a:r>
              <a:rPr sz="1150" b="0" i="0">
                <a:solidFill>
                  <a:srgbClr val="E6EDF3"/>
                </a:solidFill>
                <a:latin typeface="Courier New"/>
              </a:rPr>
              <a:t>my_name</a:t>
            </a:r>
            <a:r>
              <a:rPr sz="1150" b="0" i="0">
                <a:solidFill>
                  <a:srgbClr val="E6EDF3"/>
                </a:solidFill>
                <a:latin typeface="Courier New"/>
              </a:rPr>
              <a:t>)</a:t>
            </a:r>
          </a:p>
          <a:p>
            <a:pPr algn="l"/>
            <a:r>
              <a:rPr sz="1150" b="0" i="0">
                <a:solidFill>
                  <a:srgbClr val="8FA3B8"/>
                </a:solidFill>
                <a:latin typeface="Courier New"/>
              </a:rPr>
              <a:t>&gt;&gt;&gt; </a:t>
            </a:r>
            <a:r>
              <a:rPr sz="1150" b="0" i="0">
                <a:solidFill>
                  <a:srgbClr val="C9A0FF"/>
                </a:solidFill>
                <a:latin typeface="Courier New"/>
              </a:rPr>
              <a:t>print</a:t>
            </a:r>
            <a:r>
              <a:rPr sz="1150" b="0" i="0">
                <a:solidFill>
                  <a:srgbClr val="E6EDF3"/>
                </a:solidFill>
                <a:latin typeface="Courier New"/>
              </a:rPr>
              <a:t>(</a:t>
            </a:r>
            <a:r>
              <a:rPr sz="1150" b="0" i="0">
                <a:solidFill>
                  <a:srgbClr val="9BE3A8"/>
                </a:solidFill>
                <a:latin typeface="Courier New"/>
              </a:rPr>
              <a:t>'The length of your name is:'</a:t>
            </a:r>
            <a:r>
              <a:rPr sz="1150" b="0" i="0">
                <a:solidFill>
                  <a:srgbClr val="E6EDF3"/>
                </a:solidFill>
                <a:latin typeface="Courier New"/>
              </a:rPr>
              <a:t>)</a:t>
            </a:r>
          </a:p>
          <a:p>
            <a:pPr algn="l"/>
            <a:r>
              <a:rPr sz="1150" b="0" i="0">
                <a:solidFill>
                  <a:srgbClr val="8FA3B8"/>
                </a:solidFill>
                <a:latin typeface="Courier New"/>
              </a:rPr>
              <a:t>&gt;&gt;&gt; </a:t>
            </a:r>
            <a:r>
              <a:rPr sz="1150" b="0" i="0">
                <a:solidFill>
                  <a:srgbClr val="C9A0FF"/>
                </a:solidFill>
                <a:latin typeface="Courier New"/>
              </a:rPr>
              <a:t>print</a:t>
            </a:r>
            <a:r>
              <a:rPr sz="1150" b="0" i="0">
                <a:solidFill>
                  <a:srgbClr val="E6EDF3"/>
                </a:solidFill>
                <a:latin typeface="Courier New"/>
              </a:rPr>
              <a:t>(</a:t>
            </a:r>
            <a:r>
              <a:rPr sz="1150" b="0" i="0">
                <a:solidFill>
                  <a:srgbClr val="E6EDF3"/>
                </a:solidFill>
                <a:latin typeface="Courier New"/>
              </a:rPr>
              <a:t>len</a:t>
            </a:r>
            <a:r>
              <a:rPr sz="1150" b="0" i="0">
                <a:solidFill>
                  <a:srgbClr val="E6EDF3"/>
                </a:solidFill>
                <a:latin typeface="Courier New"/>
              </a:rPr>
              <a:t>(</a:t>
            </a:r>
            <a:r>
              <a:rPr sz="1150" b="0" i="0">
                <a:solidFill>
                  <a:srgbClr val="E6EDF3"/>
                </a:solidFill>
                <a:latin typeface="Courier New"/>
              </a:rPr>
              <a:t>my_name</a:t>
            </a:r>
            <a:r>
              <a:rPr sz="1150" b="0" i="0">
                <a:solidFill>
                  <a:srgbClr val="E6EDF3"/>
                </a:solidFill>
                <a:latin typeface="Courier New"/>
              </a:rPr>
              <a:t>)</a:t>
            </a:r>
            <a:r>
              <a:rPr sz="1150" b="0" i="0">
                <a:solidFill>
                  <a:srgbClr val="E6EDF3"/>
                </a:solidFill>
                <a:latin typeface="Courier New"/>
              </a:rPr>
              <a:t>)</a:t>
            </a:r>
          </a:p>
        </p:txBody>
      </p:sp>
      <p:sp>
        <p:nvSpPr>
          <p:cNvPr id="7" name="explanation"/>
          <p:cNvSpPr txBox="1"/>
          <p:nvPr/>
        </p:nvSpPr>
        <p:spPr>
          <a:xfrm>
            <a:off x="365760" y="2676906"/>
            <a:ext cx="5250941" cy="509016"/>
          </a:xfrm>
          <a:prstGeom prst="rect">
            <a:avLst/>
          </a:prstGeom>
          <a:noFill/>
        </p:spPr>
        <p:txBody>
          <a:bodyPr wrap="square" lIns="109728" rIns="109728" tIns="18288" bIns="18288" anchor="ctr">
            <a:spAutoFit/>
          </a:bodyPr>
          <a:lstStyle/>
          <a:p>
            <a:r>
              <a:rPr sz="1200" b="0" i="0">
                <a:solidFill>
                  <a:srgbClr val="1F2933"/>
                </a:solidFill>
                <a:latin typeface="Calibri"/>
              </a:rPr>
              <a:t>A variable keeps the name. Concatenation builds the greeting and len measures the name.</a:t>
            </a:r>
          </a:p>
        </p:txBody>
      </p:sp>
      <p:sp>
        <p:nvSpPr>
          <p:cNvPr id="8" name="code"/>
          <p:cNvSpPr/>
          <p:nvPr/>
        </p:nvSpPr>
        <p:spPr>
          <a:xfrm>
            <a:off x="365760" y="3249930"/>
            <a:ext cx="5250941" cy="71742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50" b="0" i="0">
                <a:solidFill>
                  <a:srgbClr val="8FA3B8"/>
                </a:solidFill>
                <a:latin typeface="Courier New"/>
              </a:rPr>
              <a:t>&gt;&gt;&gt; </a:t>
            </a:r>
            <a:r>
              <a:rPr sz="1150" b="0" i="0">
                <a:solidFill>
                  <a:srgbClr val="E6EDF3"/>
                </a:solidFill>
                <a:latin typeface="Courier New"/>
              </a:rPr>
              <a:t>my_age</a:t>
            </a:r>
            <a:r>
              <a:rPr sz="1150" b="0" i="0">
                <a:solidFill>
                  <a:srgbClr val="E6EDF3"/>
                </a:solidFill>
                <a:latin typeface="Courier New"/>
              </a:rPr>
              <a:t> </a:t>
            </a:r>
            <a:r>
              <a:rPr sz="1150" b="0" i="0">
                <a:solidFill>
                  <a:srgbClr val="E6EDF3"/>
                </a:solidFill>
                <a:latin typeface="Courier New"/>
              </a:rPr>
              <a:t>=</a:t>
            </a:r>
            <a:r>
              <a:rPr sz="1150" b="0" i="0">
                <a:solidFill>
                  <a:srgbClr val="E6EDF3"/>
                </a:solidFill>
                <a:latin typeface="Courier New"/>
              </a:rPr>
              <a:t> </a:t>
            </a:r>
            <a:r>
              <a:rPr sz="1150" b="0" i="0">
                <a:solidFill>
                  <a:srgbClr val="9BE3A8"/>
                </a:solidFill>
                <a:latin typeface="Courier New"/>
              </a:rPr>
              <a:t>'20'</a:t>
            </a:r>
            <a:r>
              <a:rPr sz="1150" b="0" i="0">
                <a:solidFill>
                  <a:srgbClr val="E6EDF3"/>
                </a:solidFill>
                <a:latin typeface="Courier New"/>
              </a:rPr>
              <a:t>  </a:t>
            </a:r>
            <a:r>
              <a:rPr sz="1150" b="0" i="0">
                <a:solidFill>
                  <a:srgbClr val="8FA3B8"/>
                </a:solidFill>
                <a:latin typeface="Courier New"/>
              </a:rPr>
              <a:t># input() returns text</a:t>
            </a:r>
          </a:p>
          <a:p>
            <a:pPr algn="l"/>
            <a:r>
              <a:rPr sz="1150" b="0" i="0">
                <a:solidFill>
                  <a:srgbClr val="8FA3B8"/>
                </a:solidFill>
                <a:latin typeface="Courier New"/>
              </a:rPr>
              <a:t>&gt;&gt;&gt; </a:t>
            </a:r>
            <a:r>
              <a:rPr sz="1150" b="0" i="0">
                <a:solidFill>
                  <a:srgbClr val="E6EDF3"/>
                </a:solidFill>
                <a:latin typeface="Courier New"/>
              </a:rPr>
              <a:t>next_age</a:t>
            </a:r>
            <a:r>
              <a:rPr sz="1150" b="0" i="0">
                <a:solidFill>
                  <a:srgbClr val="E6EDF3"/>
                </a:solidFill>
                <a:latin typeface="Courier New"/>
              </a:rPr>
              <a:t> </a:t>
            </a:r>
            <a:r>
              <a:rPr sz="1150" b="0" i="0">
                <a:solidFill>
                  <a:srgbClr val="E6EDF3"/>
                </a:solidFill>
                <a:latin typeface="Courier New"/>
              </a:rPr>
              <a:t>=</a:t>
            </a:r>
            <a:r>
              <a:rPr sz="1150" b="0" i="0">
                <a:solidFill>
                  <a:srgbClr val="E6EDF3"/>
                </a:solidFill>
                <a:latin typeface="Courier New"/>
              </a:rPr>
              <a:t> </a:t>
            </a:r>
            <a:r>
              <a:rPr sz="1150" b="0" i="0">
                <a:solidFill>
                  <a:srgbClr val="E6EDF3"/>
                </a:solidFill>
                <a:latin typeface="Courier New"/>
              </a:rPr>
              <a:t>int</a:t>
            </a:r>
            <a:r>
              <a:rPr sz="1150" b="0" i="0">
                <a:solidFill>
                  <a:srgbClr val="E6EDF3"/>
                </a:solidFill>
                <a:latin typeface="Courier New"/>
              </a:rPr>
              <a:t>(</a:t>
            </a:r>
            <a:r>
              <a:rPr sz="1150" b="0" i="0">
                <a:solidFill>
                  <a:srgbClr val="E6EDF3"/>
                </a:solidFill>
                <a:latin typeface="Courier New"/>
              </a:rPr>
              <a:t>my_age</a:t>
            </a:r>
            <a:r>
              <a:rPr sz="1150" b="0" i="0">
                <a:solidFill>
                  <a:srgbClr val="E6EDF3"/>
                </a:solidFill>
                <a:latin typeface="Courier New"/>
              </a:rPr>
              <a:t>)</a:t>
            </a:r>
            <a:r>
              <a:rPr sz="1150" b="0" i="0">
                <a:solidFill>
                  <a:srgbClr val="E6EDF3"/>
                </a:solidFill>
                <a:latin typeface="Courier New"/>
              </a:rPr>
              <a:t> </a:t>
            </a:r>
            <a:r>
              <a:rPr sz="1150" b="0" i="0">
                <a:solidFill>
                  <a:srgbClr val="E6EDF3"/>
                </a:solidFill>
                <a:latin typeface="Courier New"/>
              </a:rPr>
              <a:t>+</a:t>
            </a:r>
            <a:r>
              <a:rPr sz="1150" b="0" i="0">
                <a:solidFill>
                  <a:srgbClr val="E6EDF3"/>
                </a:solidFill>
                <a:latin typeface="Courier New"/>
              </a:rPr>
              <a:t> </a:t>
            </a:r>
            <a:r>
              <a:rPr sz="1150" b="0" i="0">
                <a:solidFill>
                  <a:srgbClr val="7CC4FF"/>
                </a:solidFill>
                <a:latin typeface="Courier New"/>
              </a:rPr>
              <a:t>1</a:t>
            </a:r>
          </a:p>
          <a:p>
            <a:pPr algn="l"/>
            <a:r>
              <a:rPr sz="1150" b="0" i="0">
                <a:solidFill>
                  <a:srgbClr val="8FA3B8"/>
                </a:solidFill>
                <a:latin typeface="Courier New"/>
              </a:rPr>
              <a:t>&gt;&gt;&gt; </a:t>
            </a:r>
            <a:r>
              <a:rPr sz="1150" b="0" i="0">
                <a:solidFill>
                  <a:srgbClr val="C9A0FF"/>
                </a:solidFill>
                <a:latin typeface="Courier New"/>
              </a:rPr>
              <a:t>print</a:t>
            </a:r>
            <a:r>
              <a:rPr sz="1150" b="0" i="0">
                <a:solidFill>
                  <a:srgbClr val="E6EDF3"/>
                </a:solidFill>
                <a:latin typeface="Courier New"/>
              </a:rPr>
              <a:t>(</a:t>
            </a:r>
            <a:r>
              <a:rPr sz="1150" b="0" i="0">
                <a:solidFill>
                  <a:srgbClr val="9BE3A8"/>
                </a:solidFill>
                <a:latin typeface="Courier New"/>
              </a:rPr>
              <a:t>'You will be '</a:t>
            </a:r>
            <a:r>
              <a:rPr sz="1150" b="0" i="0">
                <a:solidFill>
                  <a:srgbClr val="E6EDF3"/>
                </a:solidFill>
                <a:latin typeface="Courier New"/>
              </a:rPr>
              <a:t> </a:t>
            </a:r>
            <a:r>
              <a:rPr sz="1150" b="0" i="0">
                <a:solidFill>
                  <a:srgbClr val="E6EDF3"/>
                </a:solidFill>
                <a:latin typeface="Courier New"/>
              </a:rPr>
              <a:t>+</a:t>
            </a:r>
            <a:r>
              <a:rPr sz="1150" b="0" i="0">
                <a:solidFill>
                  <a:srgbClr val="E6EDF3"/>
                </a:solidFill>
                <a:latin typeface="Courier New"/>
              </a:rPr>
              <a:t> </a:t>
            </a:r>
            <a:r>
              <a:rPr sz="1150" b="0" i="0">
                <a:solidFill>
                  <a:srgbClr val="E6EDF3"/>
                </a:solidFill>
                <a:latin typeface="Courier New"/>
              </a:rPr>
              <a:t>str</a:t>
            </a:r>
            <a:r>
              <a:rPr sz="1150" b="0" i="0">
                <a:solidFill>
                  <a:srgbClr val="E6EDF3"/>
                </a:solidFill>
                <a:latin typeface="Courier New"/>
              </a:rPr>
              <a:t>(</a:t>
            </a:r>
            <a:r>
              <a:rPr sz="1150" b="0" i="0">
                <a:solidFill>
                  <a:srgbClr val="E6EDF3"/>
                </a:solidFill>
                <a:latin typeface="Courier New"/>
              </a:rPr>
              <a:t>next_age</a:t>
            </a:r>
            <a:r>
              <a:rPr sz="1150" b="0" i="0">
                <a:solidFill>
                  <a:srgbClr val="E6EDF3"/>
                </a:solidFill>
                <a:latin typeface="Courier New"/>
              </a:rPr>
              <a:t>)</a:t>
            </a:r>
            <a:r>
              <a:rPr sz="1150" b="0" i="0">
                <a:solidFill>
                  <a:srgbClr val="E6EDF3"/>
                </a:solidFill>
                <a:latin typeface="Courier New"/>
              </a:rPr>
              <a:t> </a:t>
            </a:r>
            <a:r>
              <a:rPr sz="1150" b="0" i="0">
                <a:solidFill>
                  <a:srgbClr val="E6EDF3"/>
                </a:solidFill>
                <a:latin typeface="Courier New"/>
              </a:rPr>
              <a:t>+</a:t>
            </a:r>
            <a:r>
              <a:rPr sz="1150" b="0" i="0">
                <a:solidFill>
                  <a:srgbClr val="E6EDF3"/>
                </a:solidFill>
                <a:latin typeface="Courier New"/>
              </a:rPr>
              <a:t> </a:t>
            </a:r>
            <a:r>
              <a:rPr sz="1150" b="0" i="0">
                <a:solidFill>
                  <a:srgbClr val="9BE3A8"/>
                </a:solidFill>
                <a:latin typeface="Courier New"/>
              </a:rPr>
              <a:t>' next year.'</a:t>
            </a:r>
            <a:r>
              <a:rPr sz="1150" b="0" i="0">
                <a:solidFill>
                  <a:srgbClr val="E6EDF3"/>
                </a:solidFill>
                <a:latin typeface="Courier New"/>
              </a:rPr>
              <a:t>)</a:t>
            </a:r>
          </a:p>
        </p:txBody>
      </p:sp>
      <p:sp>
        <p:nvSpPr>
          <p:cNvPr id="9" name="explanation"/>
          <p:cNvSpPr txBox="1"/>
          <p:nvPr/>
        </p:nvSpPr>
        <p:spPr>
          <a:xfrm>
            <a:off x="365760" y="3976497"/>
            <a:ext cx="5250941" cy="509016"/>
          </a:xfrm>
          <a:prstGeom prst="rect">
            <a:avLst/>
          </a:prstGeom>
          <a:noFill/>
        </p:spPr>
        <p:txBody>
          <a:bodyPr wrap="square" lIns="109728" rIns="109728" tIns="18288" bIns="18288" anchor="ctr">
            <a:spAutoFit/>
          </a:bodyPr>
          <a:lstStyle/>
          <a:p>
            <a:r>
              <a:rPr sz="1200" b="0" i="0">
                <a:solidFill>
                  <a:srgbClr val="1F2933"/>
                </a:solidFill>
                <a:latin typeface="Calibri"/>
              </a:rPr>
              <a:t>int turns the age text into a number so that plus can add one. str turns the result back into text for the join.</a:t>
            </a:r>
          </a:p>
        </p:txBody>
      </p:sp>
      <p:sp>
        <p:nvSpPr>
          <p:cNvPr id="10" name="result label"/>
          <p:cNvSpPr txBox="1"/>
          <p:nvPr/>
        </p:nvSpPr>
        <p:spPr>
          <a:xfrm>
            <a:off x="5845301" y="841248"/>
            <a:ext cx="2932938"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5845301" y="1143000"/>
          <a:ext cx="2932937" cy="3474720"/>
        </p:xfrm>
        <a:graphic>
          <a:graphicData uri="http://schemas.openxmlformats.org/drawingml/2006/table">
            <a:tbl>
              <a:tblPr firstRow="0" bandRow="0"/>
              <a:tblGrid>
                <a:gridCol w="418991"/>
                <a:gridCol w="2513946"/>
              </a:tblGrid>
              <a:tr h="347472">
                <a:tc>
                  <a:txBody>
                    <a:bodyPr wrap="square"/>
                    <a:lstStyle/>
                    <a:p>
                      <a:pPr algn="ctr"/>
                      <a:r>
                        <a:rPr sz="1000" b="1" i="0">
                          <a:solidFill>
                            <a:srgbClr val="FFFFFF"/>
                          </a:solidFill>
                          <a:latin typeface="Calibri"/>
                        </a:rPr>
                        <a:t>Line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What Python does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47472">
                <a:tc>
                  <a:txBody>
                    <a:bodyPr wrap="square"/>
                    <a:lstStyle/>
                    <a:p>
                      <a:pPr algn="ctr"/>
                      <a:r>
                        <a:rPr sz="10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shows: Hello, world!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347472">
                <a:tc>
                  <a:txBody>
                    <a:bodyPr wrap="square"/>
                    <a:lstStyle/>
                    <a:p>
                      <a:pPr algn="ctr"/>
                      <a:r>
                        <a:rPr sz="100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shows: What is your 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347472">
                <a:tc>
                  <a:txBody>
                    <a:bodyPr wrap="square"/>
                    <a:lstStyle/>
                    <a:p>
                      <a:pPr algn="ctr"/>
                      <a:r>
                        <a:rPr sz="100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stores 'Ayse' in my_name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347472">
                <a:tc>
                  <a:txBody>
                    <a:bodyPr wrap="square"/>
                    <a:lstStyle/>
                    <a:p>
                      <a:pPr algn="ctr"/>
                      <a:r>
                        <a:rPr sz="100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shows: It is good to meet you, Ayse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347472">
                <a:tc>
                  <a:txBody>
                    <a:bodyPr wrap="square"/>
                    <a:lstStyle/>
                    <a:p>
                      <a:pPr algn="ctr"/>
                      <a:r>
                        <a:rPr sz="100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shows: The length of your name is: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347472">
                <a:tc>
                  <a:txBody>
                    <a:bodyPr wrap="square"/>
                    <a:lstStyle/>
                    <a:p>
                      <a:pPr algn="ctr"/>
                      <a:r>
                        <a:rPr sz="100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shows: 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347472">
                <a:tc>
                  <a:txBody>
                    <a:bodyPr wrap="square"/>
                    <a:lstStyle/>
                    <a:p>
                      <a:pPr algn="ctr"/>
                      <a:r>
                        <a:rPr sz="1000" b="0" i="0">
                          <a:solidFill>
                            <a:srgbClr val="1F2933"/>
                          </a:solidFill>
                          <a:latin typeface="Calibri"/>
                        </a:rPr>
                        <a:t>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stores '20' in my_age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347472">
                <a:tc>
                  <a:txBody>
                    <a:bodyPr wrap="square"/>
                    <a:lstStyle/>
                    <a:p>
                      <a:pPr algn="ctr"/>
                      <a:r>
                        <a:rPr sz="1000" b="0" i="0">
                          <a:solidFill>
                            <a:srgbClr val="1F2933"/>
                          </a:solidFill>
                          <a:latin typeface="Calibri"/>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stores 21 in next_age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347472">
                <a:tc>
                  <a:txBody>
                    <a:bodyPr wrap="square"/>
                    <a:lstStyle/>
                    <a:p>
                      <a:pPr algn="ctr"/>
                      <a:r>
                        <a:rPr sz="1000" b="0" i="0">
                          <a:solidFill>
                            <a:srgbClr val="1F2933"/>
                          </a:solidFill>
                          <a:latin typeface="Calibri"/>
                        </a:rPr>
                        <a:t>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shows: You will be 21 next year.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bl>
          </a:graphicData>
        </a:graphic>
      </p:graphicFrame>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Greet, ask, measure, calculate: nine lines, four built-in functions.</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32 / 39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Dissecting the program: join or fill in</a:t>
            </a:r>
          </a:p>
        </p:txBody>
      </p:sp>
      <p:sp>
        <p:nvSpPr>
          <p:cNvPr id="4" name="code"/>
          <p:cNvSpPr/>
          <p:nvPr/>
        </p:nvSpPr>
        <p:spPr>
          <a:xfrm>
            <a:off x="365760" y="841248"/>
            <a:ext cx="8412480"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E6EDF3"/>
                </a:solidFill>
                <a:latin typeface="Courier New"/>
              </a:rPr>
              <a:t>name</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'Alice'</a:t>
            </a:r>
          </a:p>
          <a:p>
            <a:pPr algn="l"/>
            <a:r>
              <a:rPr sz="1400" b="0" i="0">
                <a:solidFill>
                  <a:srgbClr val="8FA3B8"/>
                </a:solidFill>
                <a:latin typeface="Courier New"/>
              </a:rPr>
              <a:t>&gt;&gt;&gt; </a:t>
            </a:r>
            <a:r>
              <a:rPr sz="1400" b="0" i="0">
                <a:solidFill>
                  <a:srgbClr val="E6EDF3"/>
                </a:solidFill>
                <a:latin typeface="Courier New"/>
              </a:rPr>
              <a:t>age</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20</a:t>
            </a:r>
          </a:p>
        </p:txBody>
      </p:sp>
      <p:sp>
        <p:nvSpPr>
          <p:cNvPr id="5" name="explanation"/>
          <p:cNvSpPr txBox="1"/>
          <p:nvPr/>
        </p:nvSpPr>
        <p:spPr>
          <a:xfrm>
            <a:off x="365760" y="1467104"/>
            <a:ext cx="8412480" cy="326453"/>
          </a:xfrm>
          <a:prstGeom prst="rect">
            <a:avLst/>
          </a:prstGeom>
          <a:noFill/>
        </p:spPr>
        <p:txBody>
          <a:bodyPr wrap="square" lIns="109728" rIns="109728" tIns="18288" bIns="18288" anchor="ctr">
            <a:spAutoFit/>
          </a:bodyPr>
          <a:lstStyle/>
          <a:p>
            <a:r>
              <a:rPr sz="1250" b="0" i="0">
                <a:solidFill>
                  <a:srgbClr val="1F2933"/>
                </a:solidFill>
                <a:latin typeface="Calibri"/>
              </a:rPr>
              <a:t>Two variables hold the pieces of the message.</a:t>
            </a:r>
          </a:p>
        </p:txBody>
      </p:sp>
      <p:sp>
        <p:nvSpPr>
          <p:cNvPr id="6" name="code"/>
          <p:cNvSpPr/>
          <p:nvPr/>
        </p:nvSpPr>
        <p:spPr>
          <a:xfrm>
            <a:off x="365760" y="1839277"/>
            <a:ext cx="8412480"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'Hello, '</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name</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 You are '</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str</a:t>
            </a:r>
            <a:r>
              <a:rPr sz="1400" b="0" i="0">
                <a:solidFill>
                  <a:srgbClr val="E6EDF3"/>
                </a:solidFill>
                <a:latin typeface="Courier New"/>
              </a:rPr>
              <a:t>(</a:t>
            </a:r>
            <a:r>
              <a:rPr sz="1400" b="0" i="0">
                <a:solidFill>
                  <a:srgbClr val="E6EDF3"/>
                </a:solidFill>
                <a:latin typeface="Courier New"/>
              </a:rPr>
              <a:t>age</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f'Hello, {name}! You are {age}.'</a:t>
            </a:r>
            <a:r>
              <a:rPr sz="1400" b="0" i="0">
                <a:solidFill>
                  <a:srgbClr val="E6EDF3"/>
                </a:solidFill>
                <a:latin typeface="Courier New"/>
              </a:rPr>
              <a:t>)</a:t>
            </a:r>
          </a:p>
        </p:txBody>
      </p:sp>
      <p:sp>
        <p:nvSpPr>
          <p:cNvPr id="7" name="explanation"/>
          <p:cNvSpPr txBox="1"/>
          <p:nvPr/>
        </p:nvSpPr>
        <p:spPr>
          <a:xfrm>
            <a:off x="365760" y="2465133"/>
            <a:ext cx="8412480" cy="524891"/>
          </a:xfrm>
          <a:prstGeom prst="rect">
            <a:avLst/>
          </a:prstGeom>
          <a:noFill/>
        </p:spPr>
        <p:txBody>
          <a:bodyPr wrap="square" lIns="109728" rIns="109728" tIns="18288" bIns="18288" anchor="ctr">
            <a:spAutoFit/>
          </a:bodyPr>
          <a:lstStyle/>
          <a:p>
            <a:r>
              <a:rPr sz="1250" b="0" i="0">
                <a:solidFill>
                  <a:srgbClr val="1F2933"/>
                </a:solidFill>
                <a:latin typeface="Calibri"/>
              </a:rPr>
              <a:t>Both lines print the same sentence. The first joins five pieces and needs str. The f-string fills named slots with values.</a:t>
            </a:r>
          </a:p>
        </p:txBody>
      </p:sp>
      <p:sp>
        <p:nvSpPr>
          <p:cNvPr id="8" name="result label"/>
          <p:cNvSpPr txBox="1"/>
          <p:nvPr/>
        </p:nvSpPr>
        <p:spPr>
          <a:xfrm>
            <a:off x="365760" y="3054032"/>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TextBox 8"/>
          <p:cNvSpPr txBox="1"/>
          <p:nvPr/>
        </p:nvSpPr>
        <p:spPr>
          <a:xfrm>
            <a:off x="347472" y="3300920"/>
            <a:ext cx="914400" cy="219456"/>
          </a:xfrm>
          <a:prstGeom prst="rect">
            <a:avLst/>
          </a:prstGeom>
          <a:noFill/>
        </p:spPr>
        <p:txBody>
          <a:bodyPr wrap="square" lIns="45720" rIns="45720" tIns="27432" bIns="27432" anchor="t">
            <a:spAutoFit/>
          </a:bodyPr>
          <a:lstStyle/>
          <a:p>
            <a:r>
              <a:rPr sz="950" b="0" i="1">
                <a:solidFill>
                  <a:srgbClr val="5B6773"/>
                </a:solidFill>
                <a:latin typeface="Calibri"/>
              </a:rPr>
              <a:t>join with +</a:t>
            </a:r>
          </a:p>
        </p:txBody>
      </p:sp>
      <p:sp>
        <p:nvSpPr>
          <p:cNvPr id="10" name="Rounded Rectangle 9"/>
          <p:cNvSpPr/>
          <p:nvPr/>
        </p:nvSpPr>
        <p:spPr>
          <a:xfrm>
            <a:off x="365760" y="3511232"/>
            <a:ext cx="960120" cy="292608"/>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'Hello, '</a:t>
            </a:r>
          </a:p>
        </p:txBody>
      </p:sp>
      <p:sp>
        <p:nvSpPr>
          <p:cNvPr id="11" name="Rounded Rectangle 10"/>
          <p:cNvSpPr/>
          <p:nvPr/>
        </p:nvSpPr>
        <p:spPr>
          <a:xfrm>
            <a:off x="1417320" y="3511232"/>
            <a:ext cx="548640" cy="292608"/>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name</a:t>
            </a:r>
          </a:p>
        </p:txBody>
      </p:sp>
      <p:sp>
        <p:nvSpPr>
          <p:cNvPr id="12" name="Rounded Rectangle 11"/>
          <p:cNvSpPr/>
          <p:nvPr/>
        </p:nvSpPr>
        <p:spPr>
          <a:xfrm>
            <a:off x="2057400" y="3511232"/>
            <a:ext cx="1143000" cy="292608"/>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 You are '</a:t>
            </a:r>
          </a:p>
        </p:txBody>
      </p:sp>
      <p:sp>
        <p:nvSpPr>
          <p:cNvPr id="13" name="Rounded Rectangle 12"/>
          <p:cNvSpPr/>
          <p:nvPr/>
        </p:nvSpPr>
        <p:spPr>
          <a:xfrm>
            <a:off x="3291840" y="3511232"/>
            <a:ext cx="822960" cy="292608"/>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str(age)</a:t>
            </a:r>
          </a:p>
        </p:txBody>
      </p:sp>
      <p:sp>
        <p:nvSpPr>
          <p:cNvPr id="14" name="Rounded Rectangle 13"/>
          <p:cNvSpPr/>
          <p:nvPr/>
        </p:nvSpPr>
        <p:spPr>
          <a:xfrm>
            <a:off x="4206240" y="3511232"/>
            <a:ext cx="365760" cy="292608"/>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a:t>
            </a:r>
          </a:p>
        </p:txBody>
      </p:sp>
      <p:cxnSp>
        <p:nvCxnSpPr>
          <p:cNvPr id="15" name="arrow"/>
          <p:cNvCxnSpPr/>
          <p:nvPr/>
        </p:nvCxnSpPr>
        <p:spPr>
          <a:xfrm>
            <a:off x="2560320" y="3840416"/>
            <a:ext cx="0" cy="237744"/>
          </a:xfrm>
          <a:prstGeom prst="line">
            <a:avLst/>
          </a:prstGeom>
          <a:ln w="1651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65760" y="4114736"/>
            <a:ext cx="3657600" cy="310896"/>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Hello, Alice! You are 20.</a:t>
            </a:r>
          </a:p>
        </p:txBody>
      </p:sp>
      <p:sp>
        <p:nvSpPr>
          <p:cNvPr id="17" name="TextBox 16"/>
          <p:cNvSpPr txBox="1"/>
          <p:nvPr/>
        </p:nvSpPr>
        <p:spPr>
          <a:xfrm>
            <a:off x="4919472" y="3300920"/>
            <a:ext cx="2286000" cy="219456"/>
          </a:xfrm>
          <a:prstGeom prst="rect">
            <a:avLst/>
          </a:prstGeom>
          <a:noFill/>
        </p:spPr>
        <p:txBody>
          <a:bodyPr wrap="square" lIns="45720" rIns="45720" tIns="27432" bIns="27432" anchor="t">
            <a:spAutoFit/>
          </a:bodyPr>
          <a:lstStyle/>
          <a:p>
            <a:r>
              <a:rPr sz="950" b="0" i="1">
                <a:solidFill>
                  <a:srgbClr val="5B6773"/>
                </a:solidFill>
                <a:latin typeface="Calibri"/>
              </a:rPr>
              <a:t>fill slots with an f-string</a:t>
            </a:r>
          </a:p>
        </p:txBody>
      </p:sp>
      <p:sp>
        <p:nvSpPr>
          <p:cNvPr id="18" name="Rounded Rectangle 17"/>
          <p:cNvSpPr/>
          <p:nvPr/>
        </p:nvSpPr>
        <p:spPr>
          <a:xfrm>
            <a:off x="4937760" y="3511232"/>
            <a:ext cx="868680" cy="292608"/>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5B6773"/>
                </a:solidFill>
                <a:latin typeface="Courier New"/>
              </a:rPr>
              <a:t>f'Hello, </a:t>
            </a:r>
          </a:p>
        </p:txBody>
      </p:sp>
      <p:sp>
        <p:nvSpPr>
          <p:cNvPr id="19" name="Rounded Rectangle 18"/>
          <p:cNvSpPr/>
          <p:nvPr/>
        </p:nvSpPr>
        <p:spPr>
          <a:xfrm>
            <a:off x="5852160" y="3511232"/>
            <a:ext cx="640080" cy="292608"/>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{name}</a:t>
            </a:r>
          </a:p>
        </p:txBody>
      </p:sp>
      <p:sp>
        <p:nvSpPr>
          <p:cNvPr id="20" name="Rounded Rectangle 19"/>
          <p:cNvSpPr/>
          <p:nvPr/>
        </p:nvSpPr>
        <p:spPr>
          <a:xfrm>
            <a:off x="6537960" y="3511232"/>
            <a:ext cx="868680" cy="292608"/>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5B6773"/>
                </a:solidFill>
                <a:latin typeface="Courier New"/>
              </a:rPr>
              <a:t>! You are </a:t>
            </a:r>
          </a:p>
        </p:txBody>
      </p:sp>
      <p:sp>
        <p:nvSpPr>
          <p:cNvPr id="21" name="Rounded Rectangle 20"/>
          <p:cNvSpPr/>
          <p:nvPr/>
        </p:nvSpPr>
        <p:spPr>
          <a:xfrm>
            <a:off x="7452360" y="3511232"/>
            <a:ext cx="594360" cy="292608"/>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{age}</a:t>
            </a:r>
          </a:p>
        </p:txBody>
      </p:sp>
      <p:sp>
        <p:nvSpPr>
          <p:cNvPr id="22" name="Rounded Rectangle 21"/>
          <p:cNvSpPr/>
          <p:nvPr/>
        </p:nvSpPr>
        <p:spPr>
          <a:xfrm>
            <a:off x="8092440" y="3511232"/>
            <a:ext cx="320040" cy="292608"/>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5B6773"/>
                </a:solidFill>
                <a:latin typeface="Courier New"/>
              </a:rPr>
              <a:t>.'</a:t>
            </a:r>
          </a:p>
        </p:txBody>
      </p:sp>
      <p:cxnSp>
        <p:nvCxnSpPr>
          <p:cNvPr id="23" name="arrow"/>
          <p:cNvCxnSpPr/>
          <p:nvPr/>
        </p:nvCxnSpPr>
        <p:spPr>
          <a:xfrm>
            <a:off x="6583680" y="3840416"/>
            <a:ext cx="0" cy="237744"/>
          </a:xfrm>
          <a:prstGeom prst="line">
            <a:avLst/>
          </a:prstGeom>
          <a:ln w="1651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60" y="4114736"/>
            <a:ext cx="3657600" cy="310896"/>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Hello, Alice! You are 20.</a:t>
            </a:r>
          </a:p>
        </p:txBody>
      </p:sp>
      <p:sp>
        <p:nvSpPr>
          <p:cNvPr id="2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Join pieces with +, or fill slots with an f-string.</a:t>
            </a:r>
          </a:p>
        </p:txBody>
      </p:sp>
      <p:sp>
        <p:nvSpPr>
          <p:cNvPr id="2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33 / 39</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Leibniz wrote every number with only 0 and 1</a:t>
            </a:r>
          </a:p>
        </p:txBody>
      </p:sp>
      <p:pic>
        <p:nvPicPr>
          <p:cNvPr id="4" name="photo leibniz" descr="Picture for the story: Leibniz wrote every number with only 0 and 1"/>
          <p:cNvPicPr>
            <a:picLocks noChangeAspect="1"/>
          </p:cNvPicPr>
          <p:nvPr/>
        </p:nvPicPr>
        <p:blipFill>
          <a:blip r:embed="rId3"/>
          <a:stretch>
            <a:fillRect/>
          </a:stretch>
        </p:blipFill>
        <p:spPr>
          <a:xfrm>
            <a:off x="506392" y="868680"/>
            <a:ext cx="2370495" cy="2926080"/>
          </a:xfrm>
          <a:prstGeom prst="rect">
            <a:avLst/>
          </a:prstGeom>
        </p:spPr>
      </p:pic>
      <p:sp>
        <p:nvSpPr>
          <p:cNvPr id="5" name="credit"/>
          <p:cNvSpPr txBox="1"/>
          <p:nvPr/>
        </p:nvSpPr>
        <p:spPr>
          <a:xfrm>
            <a:off x="365760" y="3840480"/>
            <a:ext cx="2651760" cy="731520"/>
          </a:xfrm>
          <a:prstGeom prst="rect">
            <a:avLst/>
          </a:prstGeom>
          <a:noFill/>
        </p:spPr>
        <p:txBody>
          <a:bodyPr wrap="square" lIns="45720" rIns="45720" tIns="27432" bIns="27432" anchor="t">
            <a:spAutoFit/>
          </a:bodyPr>
          <a:lstStyle/>
          <a:p>
            <a:r>
              <a:rPr sz="900" b="0" i="0">
                <a:solidFill>
                  <a:srgbClr val="5B6773"/>
                </a:solidFill>
                <a:latin typeface="Calibri"/>
              </a:rPr>
              <a:t>Gottfried Wilhelm Leibniz, painting by Christoph Bernhard Francke, before 1729, Herzog Anton Ulrich Museum. Public domain, Wikimedia Commons.</a:t>
            </a:r>
          </a:p>
        </p:txBody>
      </p:sp>
      <p:sp>
        <p:nvSpPr>
          <p:cNvPr id="6" name="card"/>
          <p:cNvSpPr/>
          <p:nvPr/>
        </p:nvSpPr>
        <p:spPr>
          <a:xfrm>
            <a:off x="3200400" y="84124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WHO  </a:t>
            </a:r>
            <a:r>
              <a:rPr sz="1300" b="0" i="0">
                <a:solidFill>
                  <a:srgbClr val="1F2933"/>
                </a:solidFill>
                <a:latin typeface="Calibri"/>
              </a:rPr>
              <a:t>Gottfried Wilhelm Leibniz, philosopher and mathematician; the Jesuit Joachim Bouvet wrote to him from China.</a:t>
            </a:r>
          </a:p>
        </p:txBody>
      </p:sp>
      <p:sp>
        <p:nvSpPr>
          <p:cNvPr id="8" name="card"/>
          <p:cNvSpPr/>
          <p:nvPr/>
        </p:nvSpPr>
        <p:spPr>
          <a:xfrm>
            <a:off x="3200400" y="1463040"/>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63040"/>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WHAT  </a:t>
            </a:r>
            <a:r>
              <a:rPr sz="1300" b="0" i="0">
                <a:solidFill>
                  <a:srgbClr val="1F2933"/>
                </a:solidFill>
                <a:latin typeface="Calibri"/>
              </a:rPr>
              <a:t>Binary arithmetic: every number written with the two digits 0 and 1, described in Explication de l'arithmétique binaire.</a:t>
            </a:r>
          </a:p>
        </p:txBody>
      </p:sp>
      <p:sp>
        <p:nvSpPr>
          <p:cNvPr id="10" name="card"/>
          <p:cNvSpPr/>
          <p:nvPr/>
        </p:nvSpPr>
        <p:spPr>
          <a:xfrm>
            <a:off x="3200400" y="2084832"/>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2084832"/>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WHEN  </a:t>
            </a:r>
            <a:r>
              <a:rPr sz="1300" b="0" i="0">
                <a:solidFill>
                  <a:srgbClr val="1F2933"/>
                </a:solidFill>
                <a:latin typeface="Calibri"/>
              </a:rPr>
              <a:t>First notes on 15 March 1679; Bouvet's letter arrived on 1 April 1703; the paper was printed in 1705.</a:t>
            </a:r>
          </a:p>
        </p:txBody>
      </p:sp>
      <p:sp>
        <p:nvSpPr>
          <p:cNvPr id="12" name="card"/>
          <p:cNvSpPr/>
          <p:nvPr/>
        </p:nvSpPr>
        <p:spPr>
          <a:xfrm>
            <a:off x="3200400" y="2706624"/>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706624"/>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WHERE  </a:t>
            </a:r>
            <a:r>
              <a:rPr sz="1300" b="0" i="0">
                <a:solidFill>
                  <a:srgbClr val="1F2933"/>
                </a:solidFill>
                <a:latin typeface="Calibri"/>
              </a:rPr>
              <a:t>He sent the paper to the Académie Royale des Sciences in Paris; Bouvet's letter came from Peking.</a:t>
            </a:r>
          </a:p>
        </p:txBody>
      </p:sp>
      <p:sp>
        <p:nvSpPr>
          <p:cNvPr id="14" name="card"/>
          <p:cNvSpPr/>
          <p:nvPr/>
        </p:nvSpPr>
        <p:spPr>
          <a:xfrm>
            <a:off x="3200400" y="3328415"/>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328415"/>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WHY  </a:t>
            </a:r>
            <a:r>
              <a:rPr sz="1300" b="0" i="0">
                <a:solidFill>
                  <a:srgbClr val="1F2933"/>
                </a:solidFill>
                <a:latin typeface="Calibri"/>
              </a:rPr>
              <a:t>Bouvet saw that the hexagrams of the Chinese I Ching are binary numbers; Leibniz saw order in them.</a:t>
            </a:r>
          </a:p>
        </p:txBody>
      </p:sp>
      <p:sp>
        <p:nvSpPr>
          <p:cNvPr id="16" name="card"/>
          <p:cNvSpPr/>
          <p:nvPr/>
        </p:nvSpPr>
        <p:spPr>
          <a:xfrm>
            <a:off x="3200400" y="3950207"/>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950207"/>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HOW  </a:t>
            </a:r>
            <a:r>
              <a:rPr sz="1300" b="0" i="0">
                <a:solidFill>
                  <a:srgbClr val="1F2933"/>
                </a:solidFill>
                <a:latin typeface="Calibri"/>
              </a:rPr>
              <a:t>Every number is a sum of powers of two: 5 is 4 plus 1, written 101. Computers store numbers this way.</a:t>
            </a:r>
          </a:p>
        </p:txBody>
      </p:sp>
      <p:sp>
        <p:nvSpPr>
          <p:cNvPr id="18" name="read"/>
          <p:cNvSpPr txBox="1"/>
          <p:nvPr/>
        </p:nvSpPr>
        <p:spPr>
          <a:xfrm>
            <a:off x="3200400" y="4590287"/>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Leibniz and the binary system (historyofinformation.com)</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34 / 39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How computers store numbers: binary</a:t>
            </a:r>
          </a:p>
        </p:txBody>
      </p:sp>
      <p:sp>
        <p:nvSpPr>
          <p:cNvPr id="4" name="code"/>
          <p:cNvSpPr/>
          <p:nvPr/>
        </p:nvSpPr>
        <p:spPr>
          <a:xfrm>
            <a:off x="365760" y="841248"/>
            <a:ext cx="3349751" cy="8336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bin</a:t>
            </a:r>
            <a:r>
              <a:rPr sz="1400" b="0" i="0">
                <a:solidFill>
                  <a:srgbClr val="E6EDF3"/>
                </a:solidFill>
                <a:latin typeface="Courier New"/>
              </a:rPr>
              <a:t>(</a:t>
            </a:r>
            <a:r>
              <a:rPr sz="1400" b="0" i="0">
                <a:solidFill>
                  <a:srgbClr val="7CC4FF"/>
                </a:solidFill>
                <a:latin typeface="Courier New"/>
              </a:rPr>
              <a:t>5</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int</a:t>
            </a:r>
            <a:r>
              <a:rPr sz="1400" b="0" i="0">
                <a:solidFill>
                  <a:srgbClr val="E6EDF3"/>
                </a:solidFill>
                <a:latin typeface="Courier New"/>
              </a:rPr>
              <a:t>(</a:t>
            </a:r>
            <a:r>
              <a:rPr sz="1400" b="0" i="0">
                <a:solidFill>
                  <a:srgbClr val="9BE3A8"/>
                </a:solidFill>
                <a:latin typeface="Courier New"/>
              </a:rPr>
              <a:t>'101'</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2</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2</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8</a:t>
            </a:r>
            <a:r>
              <a:rPr sz="1400" b="0" i="0">
                <a:solidFill>
                  <a:srgbClr val="E6EDF3"/>
                </a:solidFill>
                <a:latin typeface="Courier New"/>
              </a:rPr>
              <a:t>)</a:t>
            </a:r>
          </a:p>
        </p:txBody>
      </p:sp>
      <p:sp>
        <p:nvSpPr>
          <p:cNvPr id="5" name="explanation"/>
          <p:cNvSpPr txBox="1"/>
          <p:nvPr/>
        </p:nvSpPr>
        <p:spPr>
          <a:xfrm>
            <a:off x="3697223" y="841248"/>
            <a:ext cx="5081016" cy="833628"/>
          </a:xfrm>
          <a:prstGeom prst="rect">
            <a:avLst/>
          </a:prstGeom>
          <a:noFill/>
        </p:spPr>
        <p:txBody>
          <a:bodyPr wrap="square" lIns="128016" rIns="128016" tIns="18288" bIns="18288" anchor="ctr">
            <a:spAutoFit/>
          </a:bodyPr>
          <a:lstStyle/>
          <a:p>
            <a:r>
              <a:rPr sz="1250" b="0" i="0">
                <a:solidFill>
                  <a:srgbClr val="1F2933"/>
                </a:solidFill>
                <a:latin typeface="Calibri"/>
              </a:rPr>
              <a:t>bin shows a number as binary digits. int with base 2 reads them back. Eight binary digits, one byte, hold 2 ** 8 = 256 values.</a:t>
            </a:r>
          </a:p>
        </p:txBody>
      </p:sp>
      <p:sp>
        <p:nvSpPr>
          <p:cNvPr id="6" name="code"/>
          <p:cNvSpPr/>
          <p:nvPr/>
        </p:nvSpPr>
        <p:spPr>
          <a:xfrm>
            <a:off x="365760" y="1729740"/>
            <a:ext cx="3349751"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format</a:t>
            </a:r>
            <a:r>
              <a:rPr sz="1400" b="0" i="0">
                <a:solidFill>
                  <a:srgbClr val="E6EDF3"/>
                </a:solidFill>
                <a:latin typeface="Courier New"/>
              </a:rPr>
              <a:t>(</a:t>
            </a:r>
            <a:r>
              <a:rPr sz="1400" b="0" i="0">
                <a:solidFill>
                  <a:srgbClr val="7CC4FF"/>
                </a:solidFill>
                <a:latin typeface="Courier New"/>
              </a:rPr>
              <a:t>5</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'08b'</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format</a:t>
            </a:r>
            <a:r>
              <a:rPr sz="1400" b="0" i="0">
                <a:solidFill>
                  <a:srgbClr val="E6EDF3"/>
                </a:solidFill>
                <a:latin typeface="Courier New"/>
              </a:rPr>
              <a:t>(</a:t>
            </a:r>
            <a:r>
              <a:rPr sz="1400" b="0" i="0">
                <a:solidFill>
                  <a:srgbClr val="7CC4FF"/>
                </a:solidFill>
                <a:latin typeface="Courier New"/>
              </a:rPr>
              <a:t>255</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'08b'</a:t>
            </a:r>
            <a:r>
              <a:rPr sz="1400" b="0" i="0">
                <a:solidFill>
                  <a:srgbClr val="E6EDF3"/>
                </a:solidFill>
                <a:latin typeface="Courier New"/>
              </a:rPr>
              <a:t>)</a:t>
            </a:r>
            <a:r>
              <a:rPr sz="1400" b="0" i="0">
                <a:solidFill>
                  <a:srgbClr val="E6EDF3"/>
                </a:solidFill>
                <a:latin typeface="Courier New"/>
              </a:rPr>
              <a:t>)</a:t>
            </a:r>
          </a:p>
        </p:txBody>
      </p:sp>
      <p:sp>
        <p:nvSpPr>
          <p:cNvPr id="7" name="explanation"/>
          <p:cNvSpPr txBox="1"/>
          <p:nvPr/>
        </p:nvSpPr>
        <p:spPr>
          <a:xfrm>
            <a:off x="3697223" y="1729740"/>
            <a:ext cx="5081016" cy="616712"/>
          </a:xfrm>
          <a:prstGeom prst="rect">
            <a:avLst/>
          </a:prstGeom>
          <a:noFill/>
        </p:spPr>
        <p:txBody>
          <a:bodyPr wrap="square" lIns="128016" rIns="128016" tIns="18288" bIns="18288" anchor="ctr">
            <a:spAutoFit/>
          </a:bodyPr>
          <a:lstStyle/>
          <a:p>
            <a:r>
              <a:rPr sz="1250" b="0" i="0">
                <a:solidFill>
                  <a:srgbClr val="1F2933"/>
                </a:solidFill>
                <a:latin typeface="Calibri"/>
              </a:rPr>
              <a:t>format with 08b writes a number as exactly eight binary digits, padded with zeros on the left.</a:t>
            </a:r>
          </a:p>
        </p:txBody>
      </p:sp>
      <p:sp>
        <p:nvSpPr>
          <p:cNvPr id="8" name="result label"/>
          <p:cNvSpPr txBox="1"/>
          <p:nvPr/>
        </p:nvSpPr>
        <p:spPr>
          <a:xfrm>
            <a:off x="365760" y="241960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TextBox 8"/>
          <p:cNvSpPr txBox="1"/>
          <p:nvPr/>
        </p:nvSpPr>
        <p:spPr>
          <a:xfrm>
            <a:off x="365760" y="2693924"/>
            <a:ext cx="3657600" cy="219456"/>
          </a:xfrm>
          <a:prstGeom prst="rect">
            <a:avLst/>
          </a:prstGeom>
          <a:noFill/>
        </p:spPr>
        <p:txBody>
          <a:bodyPr wrap="square" lIns="45720" rIns="45720" tIns="27432" bIns="27432" anchor="t">
            <a:spAutoFit/>
          </a:bodyPr>
          <a:lstStyle/>
          <a:p>
            <a:r>
              <a:rPr sz="950" b="0" i="1">
                <a:solidFill>
                  <a:srgbClr val="5B6773"/>
                </a:solidFill>
                <a:latin typeface="Calibri"/>
              </a:rPr>
              <a:t>place value of each binary digit</a:t>
            </a:r>
          </a:p>
        </p:txBody>
      </p:sp>
      <p:sp>
        <p:nvSpPr>
          <p:cNvPr id="10" name="TextBox 9"/>
          <p:cNvSpPr txBox="1"/>
          <p:nvPr/>
        </p:nvSpPr>
        <p:spPr>
          <a:xfrm>
            <a:off x="365760" y="2913380"/>
            <a:ext cx="393192" cy="201168"/>
          </a:xfrm>
          <a:prstGeom prst="rect">
            <a:avLst/>
          </a:prstGeom>
          <a:noFill/>
        </p:spPr>
        <p:txBody>
          <a:bodyPr wrap="square" lIns="0" rIns="0" tIns="0" bIns="0" anchor="t">
            <a:spAutoFit/>
          </a:bodyPr>
          <a:lstStyle/>
          <a:p>
            <a:pPr algn="ctr"/>
            <a:r>
              <a:rPr sz="900" b="0" i="0">
                <a:solidFill>
                  <a:srgbClr val="5B6773"/>
                </a:solidFill>
                <a:latin typeface="Calibri"/>
              </a:rPr>
              <a:t>128</a:t>
            </a:r>
          </a:p>
        </p:txBody>
      </p:sp>
      <p:sp>
        <p:nvSpPr>
          <p:cNvPr id="11" name="TextBox 10"/>
          <p:cNvSpPr txBox="1"/>
          <p:nvPr/>
        </p:nvSpPr>
        <p:spPr>
          <a:xfrm>
            <a:off x="786384" y="2913380"/>
            <a:ext cx="393192" cy="201168"/>
          </a:xfrm>
          <a:prstGeom prst="rect">
            <a:avLst/>
          </a:prstGeom>
          <a:noFill/>
        </p:spPr>
        <p:txBody>
          <a:bodyPr wrap="square" lIns="0" rIns="0" tIns="0" bIns="0" anchor="t">
            <a:spAutoFit/>
          </a:bodyPr>
          <a:lstStyle/>
          <a:p>
            <a:pPr algn="ctr"/>
            <a:r>
              <a:rPr sz="900" b="0" i="0">
                <a:solidFill>
                  <a:srgbClr val="5B6773"/>
                </a:solidFill>
                <a:latin typeface="Calibri"/>
              </a:rPr>
              <a:t>64</a:t>
            </a:r>
          </a:p>
        </p:txBody>
      </p:sp>
      <p:sp>
        <p:nvSpPr>
          <p:cNvPr id="12" name="TextBox 11"/>
          <p:cNvSpPr txBox="1"/>
          <p:nvPr/>
        </p:nvSpPr>
        <p:spPr>
          <a:xfrm>
            <a:off x="1207008" y="2913380"/>
            <a:ext cx="393192" cy="201168"/>
          </a:xfrm>
          <a:prstGeom prst="rect">
            <a:avLst/>
          </a:prstGeom>
          <a:noFill/>
        </p:spPr>
        <p:txBody>
          <a:bodyPr wrap="square" lIns="0" rIns="0" tIns="0" bIns="0" anchor="t">
            <a:spAutoFit/>
          </a:bodyPr>
          <a:lstStyle/>
          <a:p>
            <a:pPr algn="ctr"/>
            <a:r>
              <a:rPr sz="900" b="0" i="0">
                <a:solidFill>
                  <a:srgbClr val="5B6773"/>
                </a:solidFill>
                <a:latin typeface="Calibri"/>
              </a:rPr>
              <a:t>32</a:t>
            </a:r>
          </a:p>
        </p:txBody>
      </p:sp>
      <p:sp>
        <p:nvSpPr>
          <p:cNvPr id="13" name="TextBox 12"/>
          <p:cNvSpPr txBox="1"/>
          <p:nvPr/>
        </p:nvSpPr>
        <p:spPr>
          <a:xfrm>
            <a:off x="1627632" y="2913380"/>
            <a:ext cx="393192" cy="201168"/>
          </a:xfrm>
          <a:prstGeom prst="rect">
            <a:avLst/>
          </a:prstGeom>
          <a:noFill/>
        </p:spPr>
        <p:txBody>
          <a:bodyPr wrap="square" lIns="0" rIns="0" tIns="0" bIns="0" anchor="t">
            <a:spAutoFit/>
          </a:bodyPr>
          <a:lstStyle/>
          <a:p>
            <a:pPr algn="ctr"/>
            <a:r>
              <a:rPr sz="900" b="0" i="0">
                <a:solidFill>
                  <a:srgbClr val="5B6773"/>
                </a:solidFill>
                <a:latin typeface="Calibri"/>
              </a:rPr>
              <a:t>16</a:t>
            </a:r>
          </a:p>
        </p:txBody>
      </p:sp>
      <p:sp>
        <p:nvSpPr>
          <p:cNvPr id="14" name="TextBox 13"/>
          <p:cNvSpPr txBox="1"/>
          <p:nvPr/>
        </p:nvSpPr>
        <p:spPr>
          <a:xfrm>
            <a:off x="2048256" y="2913380"/>
            <a:ext cx="393192" cy="201168"/>
          </a:xfrm>
          <a:prstGeom prst="rect">
            <a:avLst/>
          </a:prstGeom>
          <a:noFill/>
        </p:spPr>
        <p:txBody>
          <a:bodyPr wrap="square" lIns="0" rIns="0" tIns="0" bIns="0" anchor="t">
            <a:spAutoFit/>
          </a:bodyPr>
          <a:lstStyle/>
          <a:p>
            <a:pPr algn="ctr"/>
            <a:r>
              <a:rPr sz="900" b="0" i="0">
                <a:solidFill>
                  <a:srgbClr val="5B6773"/>
                </a:solidFill>
                <a:latin typeface="Calibri"/>
              </a:rPr>
              <a:t>8</a:t>
            </a:r>
          </a:p>
        </p:txBody>
      </p:sp>
      <p:sp>
        <p:nvSpPr>
          <p:cNvPr id="15" name="TextBox 14"/>
          <p:cNvSpPr txBox="1"/>
          <p:nvPr/>
        </p:nvSpPr>
        <p:spPr>
          <a:xfrm>
            <a:off x="2468880" y="2913380"/>
            <a:ext cx="393192" cy="201168"/>
          </a:xfrm>
          <a:prstGeom prst="rect">
            <a:avLst/>
          </a:prstGeom>
          <a:noFill/>
        </p:spPr>
        <p:txBody>
          <a:bodyPr wrap="square" lIns="0" rIns="0" tIns="0" bIns="0" anchor="t">
            <a:spAutoFit/>
          </a:bodyPr>
          <a:lstStyle/>
          <a:p>
            <a:pPr algn="ctr"/>
            <a:r>
              <a:rPr sz="900" b="0" i="0">
                <a:solidFill>
                  <a:srgbClr val="5B6773"/>
                </a:solidFill>
                <a:latin typeface="Calibri"/>
              </a:rPr>
              <a:t>4</a:t>
            </a:r>
          </a:p>
        </p:txBody>
      </p:sp>
      <p:sp>
        <p:nvSpPr>
          <p:cNvPr id="16" name="TextBox 15"/>
          <p:cNvSpPr txBox="1"/>
          <p:nvPr/>
        </p:nvSpPr>
        <p:spPr>
          <a:xfrm>
            <a:off x="2889504" y="2913380"/>
            <a:ext cx="393192" cy="201168"/>
          </a:xfrm>
          <a:prstGeom prst="rect">
            <a:avLst/>
          </a:prstGeom>
          <a:noFill/>
        </p:spPr>
        <p:txBody>
          <a:bodyPr wrap="square" lIns="0" rIns="0" tIns="0" bIns="0" anchor="t">
            <a:spAutoFit/>
          </a:bodyPr>
          <a:lstStyle/>
          <a:p>
            <a:pPr algn="ctr"/>
            <a:r>
              <a:rPr sz="900" b="0" i="0">
                <a:solidFill>
                  <a:srgbClr val="5B6773"/>
                </a:solidFill>
                <a:latin typeface="Calibri"/>
              </a:rPr>
              <a:t>2</a:t>
            </a:r>
          </a:p>
        </p:txBody>
      </p:sp>
      <p:sp>
        <p:nvSpPr>
          <p:cNvPr id="17" name="TextBox 16"/>
          <p:cNvSpPr txBox="1"/>
          <p:nvPr/>
        </p:nvSpPr>
        <p:spPr>
          <a:xfrm>
            <a:off x="3310128" y="2913380"/>
            <a:ext cx="393192" cy="201168"/>
          </a:xfrm>
          <a:prstGeom prst="rect">
            <a:avLst/>
          </a:prstGeom>
          <a:noFill/>
        </p:spPr>
        <p:txBody>
          <a:bodyPr wrap="square" lIns="0" rIns="0" tIns="0" bIns="0" anchor="t">
            <a:spAutoFit/>
          </a:bodyPr>
          <a:lstStyle/>
          <a:p>
            <a:pPr algn="ctr"/>
            <a:r>
              <a:rPr sz="900" b="0" i="0">
                <a:solidFill>
                  <a:srgbClr val="5B6773"/>
                </a:solidFill>
                <a:latin typeface="Calibri"/>
              </a:rPr>
              <a:t>1</a:t>
            </a:r>
          </a:p>
        </p:txBody>
      </p:sp>
      <p:sp>
        <p:nvSpPr>
          <p:cNvPr id="18" name="Rounded Rectangle 17"/>
          <p:cNvSpPr/>
          <p:nvPr/>
        </p:nvSpPr>
        <p:spPr>
          <a:xfrm>
            <a:off x="365760" y="3132836"/>
            <a:ext cx="397764" cy="347472"/>
          </a:xfrm>
          <a:prstGeom prst="roundRect">
            <a:avLst>
              <a:gd name="adj" fmla="val 10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5B6773"/>
                </a:solidFill>
                <a:latin typeface="Courier New"/>
              </a:rPr>
              <a:t>0</a:t>
            </a:r>
          </a:p>
        </p:txBody>
      </p:sp>
      <p:sp>
        <p:nvSpPr>
          <p:cNvPr id="19" name="Rounded Rectangle 18"/>
          <p:cNvSpPr/>
          <p:nvPr/>
        </p:nvSpPr>
        <p:spPr>
          <a:xfrm>
            <a:off x="786384" y="3132836"/>
            <a:ext cx="397764" cy="347472"/>
          </a:xfrm>
          <a:prstGeom prst="roundRect">
            <a:avLst>
              <a:gd name="adj" fmla="val 10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5B6773"/>
                </a:solidFill>
                <a:latin typeface="Courier New"/>
              </a:rPr>
              <a:t>0</a:t>
            </a:r>
          </a:p>
        </p:txBody>
      </p:sp>
      <p:sp>
        <p:nvSpPr>
          <p:cNvPr id="20" name="Rounded Rectangle 19"/>
          <p:cNvSpPr/>
          <p:nvPr/>
        </p:nvSpPr>
        <p:spPr>
          <a:xfrm>
            <a:off x="1207008" y="3132836"/>
            <a:ext cx="397764" cy="347472"/>
          </a:xfrm>
          <a:prstGeom prst="roundRect">
            <a:avLst>
              <a:gd name="adj" fmla="val 10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5B6773"/>
                </a:solidFill>
                <a:latin typeface="Courier New"/>
              </a:rPr>
              <a:t>0</a:t>
            </a:r>
          </a:p>
        </p:txBody>
      </p:sp>
      <p:sp>
        <p:nvSpPr>
          <p:cNvPr id="21" name="Rounded Rectangle 20"/>
          <p:cNvSpPr/>
          <p:nvPr/>
        </p:nvSpPr>
        <p:spPr>
          <a:xfrm>
            <a:off x="1627632" y="3132836"/>
            <a:ext cx="397764" cy="347472"/>
          </a:xfrm>
          <a:prstGeom prst="roundRect">
            <a:avLst>
              <a:gd name="adj" fmla="val 10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5B6773"/>
                </a:solidFill>
                <a:latin typeface="Courier New"/>
              </a:rPr>
              <a:t>0</a:t>
            </a:r>
          </a:p>
        </p:txBody>
      </p:sp>
      <p:sp>
        <p:nvSpPr>
          <p:cNvPr id="22" name="Rounded Rectangle 21"/>
          <p:cNvSpPr/>
          <p:nvPr/>
        </p:nvSpPr>
        <p:spPr>
          <a:xfrm>
            <a:off x="2048256" y="3132836"/>
            <a:ext cx="397764" cy="347472"/>
          </a:xfrm>
          <a:prstGeom prst="roundRect">
            <a:avLst>
              <a:gd name="adj" fmla="val 10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5B6773"/>
                </a:solidFill>
                <a:latin typeface="Courier New"/>
              </a:rPr>
              <a:t>0</a:t>
            </a:r>
          </a:p>
        </p:txBody>
      </p:sp>
      <p:sp>
        <p:nvSpPr>
          <p:cNvPr id="23" name="Rounded Rectangle 22"/>
          <p:cNvSpPr/>
          <p:nvPr/>
        </p:nvSpPr>
        <p:spPr>
          <a:xfrm>
            <a:off x="2468880" y="3132836"/>
            <a:ext cx="397764" cy="347472"/>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1F2933"/>
                </a:solidFill>
                <a:latin typeface="Courier New"/>
              </a:rPr>
              <a:t>1</a:t>
            </a:r>
          </a:p>
        </p:txBody>
      </p:sp>
      <p:sp>
        <p:nvSpPr>
          <p:cNvPr id="24" name="Rounded Rectangle 23"/>
          <p:cNvSpPr/>
          <p:nvPr/>
        </p:nvSpPr>
        <p:spPr>
          <a:xfrm>
            <a:off x="2889504" y="3132836"/>
            <a:ext cx="397764" cy="347472"/>
          </a:xfrm>
          <a:prstGeom prst="roundRect">
            <a:avLst>
              <a:gd name="adj" fmla="val 10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5B6773"/>
                </a:solidFill>
                <a:latin typeface="Courier New"/>
              </a:rPr>
              <a:t>0</a:t>
            </a:r>
          </a:p>
        </p:txBody>
      </p:sp>
      <p:sp>
        <p:nvSpPr>
          <p:cNvPr id="25" name="Rounded Rectangle 24"/>
          <p:cNvSpPr/>
          <p:nvPr/>
        </p:nvSpPr>
        <p:spPr>
          <a:xfrm>
            <a:off x="3310128" y="3132836"/>
            <a:ext cx="397764" cy="347472"/>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1F2933"/>
                </a:solidFill>
                <a:latin typeface="Courier New"/>
              </a:rPr>
              <a:t>1</a:t>
            </a:r>
          </a:p>
        </p:txBody>
      </p:sp>
      <p:sp>
        <p:nvSpPr>
          <p:cNvPr id="26" name="Rounded Rectangle 25"/>
          <p:cNvSpPr/>
          <p:nvPr/>
        </p:nvSpPr>
        <p:spPr>
          <a:xfrm>
            <a:off x="365760" y="3654044"/>
            <a:ext cx="3291840" cy="292608"/>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00000101 = 4 + 1 = 5</a:t>
            </a:r>
          </a:p>
        </p:txBody>
      </p:sp>
      <p:sp>
        <p:nvSpPr>
          <p:cNvPr id="27" name="Rounded Rectangle 26"/>
          <p:cNvSpPr/>
          <p:nvPr/>
        </p:nvSpPr>
        <p:spPr>
          <a:xfrm>
            <a:off x="365760" y="4019804"/>
            <a:ext cx="3291840" cy="292608"/>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11111111 = 255, the biggest byte</a:t>
            </a:r>
          </a:p>
        </p:txBody>
      </p:sp>
      <p:graphicFrame>
        <p:nvGraphicFramePr>
          <p:cNvPr id="28" name="chart"/>
          <p:cNvGraphicFramePr>
            <a:graphicFrameLocks noGrp="1"/>
          </p:cNvGraphicFramePr>
          <p:nvPr/>
        </p:nvGraphicFramePr>
        <p:xfrm>
          <a:off x="4114800" y="2693924"/>
          <a:ext cx="4663440" cy="1914652"/>
        </p:xfrm>
        <a:graphic>
          <a:graphicData uri="http://schemas.openxmlformats.org/drawingml/2006/chart">
            <c:chart xmlns:c="http://schemas.openxmlformats.org/drawingml/2006/chart" r:id="rId3"/>
          </a:graphicData>
        </a:graphic>
      </p:graphicFrame>
      <p:sp>
        <p:nvSpPr>
          <p:cNvPr id="2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Every number is a sum of powers of two.</a:t>
            </a:r>
          </a:p>
        </p:txBody>
      </p:sp>
      <p:sp>
        <p:nvSpPr>
          <p:cNvPr id="3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35 / 39</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Current Python adds more</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Features newer than the book, from the chapter research</a:t>
            </a:r>
          </a:p>
        </p:txBody>
      </p:sp>
      <p:graphicFrame>
        <p:nvGraphicFramePr>
          <p:cNvPr id="5" name="table"/>
          <p:cNvGraphicFramePr>
            <a:graphicFrameLocks noGrp="1"/>
          </p:cNvGraphicFramePr>
          <p:nvPr/>
        </p:nvGraphicFramePr>
        <p:xfrm>
          <a:off x="365760" y="1005840"/>
          <a:ext cx="8412480" cy="3657600"/>
        </p:xfrm>
        <a:graphic>
          <a:graphicData uri="http://schemas.openxmlformats.org/drawingml/2006/table">
            <a:tbl>
              <a:tblPr firstRow="0" bandRow="0"/>
              <a:tblGrid>
                <a:gridCol w="3931920"/>
                <a:gridCol w="640080"/>
                <a:gridCol w="3840480"/>
              </a:tblGrid>
              <a:tr h="457200">
                <a:tc>
                  <a:txBody>
                    <a:bodyPr wrap="square"/>
                    <a:lstStyle/>
                    <a:p>
                      <a:r>
                        <a:rPr sz="1150" b="1" i="0">
                          <a:solidFill>
                            <a:srgbClr val="FFFFFF"/>
                          </a:solidFill>
                          <a:latin typeface="Calibri"/>
                        </a:rPr>
                        <a:t>Feature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150" b="1" i="0">
                          <a:solidFill>
                            <a:srgbClr val="FFFFFF"/>
                          </a:solidFill>
                          <a:latin typeface="Calibri"/>
                        </a:rPr>
                        <a:t>Since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50" b="1" i="0">
                          <a:solidFill>
                            <a:srgbClr val="FFFFFF"/>
                          </a:solidFill>
                          <a:latin typeface="Calibri"/>
                        </a:rPr>
                        <a:t>What it gives you</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150" b="1" i="0">
                          <a:solidFill>
                            <a:srgbClr val="1F2933"/>
                          </a:solidFill>
                          <a:latin typeface="Calibri"/>
                        </a:rPr>
                        <a:t>A better interactive interpreter and error messages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150" b="0" i="0">
                          <a:solidFill>
                            <a:srgbClr val="1F2933"/>
                          </a:solidFill>
                          <a:latin typeface="Calibri"/>
                        </a:rPr>
                        <a:t>3.13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50" b="0" i="0">
                          <a:solidFill>
                            <a:srgbClr val="1F2933"/>
                          </a:solidFill>
                          <a:latin typeface="Calibri"/>
                        </a:rPr>
                        <a:t>The shell and its messages help beginners more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150" b="1" i="0">
                          <a:solidFill>
                            <a:srgbClr val="1F2933"/>
                          </a:solidFill>
                          <a:latin typeface="Calibri"/>
                        </a:rPr>
                        <a:t>F-strings get a formal grammar (PEP 701)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150" b="0" i="0">
                          <a:solidFill>
                            <a:srgbClr val="1F2933"/>
                          </a:solidFill>
                          <a:latin typeface="Calibri"/>
                        </a:rPr>
                        <a:t>3.12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50" b="0" i="0">
                          <a:solidFill>
                            <a:srgbClr val="1F2933"/>
                          </a:solidFill>
                          <a:latin typeface="Calibri"/>
                        </a:rPr>
                        <a:t>The natural successor to joining pieces with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150" b="1" i="0">
                          <a:solidFill>
                            <a:srgbClr val="1F2933"/>
                          </a:solidFill>
                          <a:latin typeface="Calibri"/>
                        </a:rPr>
                        <a:t>A free-threaded build, still experimental (PEP 703)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150" b="0" i="0">
                          <a:solidFill>
                            <a:srgbClr val="1F2933"/>
                          </a:solidFill>
                          <a:latin typeface="Calibri"/>
                        </a:rPr>
                        <a:t>3.13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50" b="0" i="0">
                          <a:solidFill>
                            <a:srgbClr val="1F2933"/>
                          </a:solidFill>
                          <a:latin typeface="Calibri"/>
                        </a:rPr>
                        <a:t>The global interpreter lock becomes optional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150" b="1" i="0">
                          <a:solidFill>
                            <a:srgbClr val="1F2933"/>
                          </a:solidFill>
                          <a:latin typeface="Calibri"/>
                        </a:rPr>
                        <a:t>An experimental just-in-time compiler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150" b="0" i="0">
                          <a:solidFill>
                            <a:srgbClr val="1F2933"/>
                          </a:solidFill>
                          <a:latin typeface="Calibri"/>
                        </a:rPr>
                        <a:t>3.13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50" b="0" i="0">
                          <a:solidFill>
                            <a:srgbClr val="1F2933"/>
                          </a:solidFill>
                          <a:latin typeface="Calibri"/>
                        </a:rPr>
                        <a:t>A first step; this course does not need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150" b="1" i="0">
                          <a:solidFill>
                            <a:srgbClr val="1F2933"/>
                          </a:solidFill>
                          <a:latin typeface="Calibri"/>
                        </a:rPr>
                        <a:t>Python 3.14, first released on 2025-10-07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150" b="0" i="0">
                          <a:solidFill>
                            <a:srgbClr val="1F2933"/>
                          </a:solidFill>
                          <a:latin typeface="Calibri"/>
                        </a:rPr>
                        <a:t>3.14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50" b="0" i="0">
                          <a:solidFill>
                            <a:srgbClr val="1F2933"/>
                          </a:solidFill>
                          <a:latin typeface="Calibri"/>
                        </a:rPr>
                        <a:t>Current bugfix release at the time of the research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150" b="1" i="0">
                          <a:solidFill>
                            <a:srgbClr val="1F2933"/>
                          </a:solidFill>
                          <a:latin typeface="Calibri"/>
                        </a:rPr>
                        <a:t>Integers have unlimited precision; floats are C doubles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150" b="0" i="0">
                          <a:solidFill>
                            <a:srgbClr val="1F2933"/>
                          </a:solidFill>
                          <a:latin typeface="Calibri"/>
                        </a:rPr>
                        <a:t>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50" b="0" i="0">
                          <a:solidFill>
                            <a:srgbClr val="1F2933"/>
                          </a:solidFill>
                          <a:latin typeface="Calibri"/>
                        </a:rPr>
                        <a:t>2 ** 100 is exact; 0.1 + 0.2 is not 0.3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150" b="1" i="0">
                          <a:solidFill>
                            <a:srgbClr val="1F2933"/>
                          </a:solidFill>
                          <a:latin typeface="Calibri"/>
                        </a:rPr>
                        <a:t>uv, a package manager written in Rust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150" b="0"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50" b="0" i="0">
                          <a:solidFill>
                            <a:srgbClr val="1F2933"/>
                          </a:solidFill>
                          <a:latin typeface="Calibri"/>
                        </a:rPr>
                        <a:t>Most admired technology in the 2025 Stack Overflow survey, 74 percent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Run what the book printed; then check what changed.</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36 / 39</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Summary</a:t>
            </a:r>
          </a:p>
        </p:txBody>
      </p:sp>
      <p:sp>
        <p:nvSpPr>
          <p:cNvPr id="4" name="card"/>
          <p:cNvSpPr/>
          <p:nvPr/>
        </p:nvSpPr>
        <p:spPr>
          <a:xfrm>
            <a:off x="365760" y="749808"/>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A summary is a packing list: only what you really need goes into the bag.</a:t>
            </a:r>
          </a:p>
        </p:txBody>
      </p:sp>
      <p:sp>
        <p:nvSpPr>
          <p:cNvPr id="6" name="Rounded Rectangle 5"/>
          <p:cNvSpPr/>
          <p:nvPr/>
        </p:nvSpPr>
        <p:spPr>
          <a:xfrm>
            <a:off x="365760" y="14081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7" name="point"/>
          <p:cNvSpPr txBox="1"/>
          <p:nvPr/>
        </p:nvSpPr>
        <p:spPr>
          <a:xfrm>
            <a:off x="822960" y="1371600"/>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The shell evaluates an expression and prints one value.</a:t>
            </a:r>
          </a:p>
        </p:txBody>
      </p:sp>
      <p:sp>
        <p:nvSpPr>
          <p:cNvPr id="8" name="Rounded Rectangle 7"/>
          <p:cNvSpPr/>
          <p:nvPr/>
        </p:nvSpPr>
        <p:spPr>
          <a:xfrm>
            <a:off x="365760" y="1975104"/>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9" name="point"/>
          <p:cNvSpPr txBox="1"/>
          <p:nvPr/>
        </p:nvSpPr>
        <p:spPr>
          <a:xfrm>
            <a:off x="822960" y="1938528"/>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Every value has a data type: int, float or str.</a:t>
            </a:r>
          </a:p>
        </p:txBody>
      </p:sp>
      <p:sp>
        <p:nvSpPr>
          <p:cNvPr id="10" name="Rounded Rectangle 9"/>
          <p:cNvSpPr/>
          <p:nvPr/>
        </p:nvSpPr>
        <p:spPr>
          <a:xfrm>
            <a:off x="365760" y="254203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1" name="point"/>
          <p:cNvSpPr txBox="1"/>
          <p:nvPr/>
        </p:nvSpPr>
        <p:spPr>
          <a:xfrm>
            <a:off x="822960" y="2505456"/>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Operators combine values; precedence decides who goes first.</a:t>
            </a:r>
          </a:p>
        </p:txBody>
      </p:sp>
      <p:sp>
        <p:nvSpPr>
          <p:cNvPr id="12" name="Rounded Rectangle 11"/>
          <p:cNvSpPr/>
          <p:nvPr/>
        </p:nvSpPr>
        <p:spPr>
          <a:xfrm>
            <a:off x="365760" y="3108960"/>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3" name="point"/>
          <p:cNvSpPr txBox="1"/>
          <p:nvPr/>
        </p:nvSpPr>
        <p:spPr>
          <a:xfrm>
            <a:off x="822960" y="3072384"/>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 variable names a value; print, input, len, str, int and float are built in.</a:t>
            </a:r>
          </a:p>
        </p:txBody>
      </p:sp>
      <p:sp>
        <p:nvSpPr>
          <p:cNvPr id="14" name="Rounded Rectangle 13"/>
          <p:cNvSpPr/>
          <p:nvPr/>
        </p:nvSpPr>
        <p:spPr>
          <a:xfrm>
            <a:off x="365760" y="3675887"/>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5</a:t>
            </a:r>
          </a:p>
        </p:txBody>
      </p:sp>
      <p:sp>
        <p:nvSpPr>
          <p:cNvPr id="15" name="point"/>
          <p:cNvSpPr txBox="1"/>
          <p:nvPr/>
        </p:nvSpPr>
        <p:spPr>
          <a:xfrm>
            <a:off x="822960" y="3639312"/>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 program is these pieces in order; computers store numbers in binary.</a:t>
            </a:r>
          </a:p>
        </p:txBody>
      </p:sp>
      <p:sp>
        <p:nvSpPr>
          <p:cNvPr id="16" name="chart label"/>
          <p:cNvSpPr txBox="1"/>
          <p:nvPr/>
        </p:nvSpPr>
        <p:spPr>
          <a:xfrm>
            <a:off x="5212080" y="1280160"/>
            <a:ext cx="3566160" cy="457200"/>
          </a:xfrm>
          <a:prstGeom prst="rect">
            <a:avLst/>
          </a:prstGeom>
          <a:noFill/>
        </p:spPr>
        <p:txBody>
          <a:bodyPr wrap="square" lIns="45720" rIns="45720" tIns="27432" bIns="27432" anchor="t">
            <a:spAutoFit/>
          </a:bodyPr>
          <a:lstStyle/>
          <a:p>
            <a:r>
              <a:rPr sz="1050" b="1" i="0">
                <a:solidFill>
                  <a:srgbClr val="0E7C86"/>
                </a:solidFill>
                <a:latin typeface="Calibri"/>
              </a:rPr>
              <a:t>code examples in each part of this chapter</a:t>
            </a:r>
          </a:p>
        </p:txBody>
      </p:sp>
      <p:graphicFrame>
        <p:nvGraphicFramePr>
          <p:cNvPr id="17" name="chart"/>
          <p:cNvGraphicFramePr>
            <a:graphicFrameLocks noGrp="1"/>
          </p:cNvGraphicFramePr>
          <p:nvPr/>
        </p:nvGraphicFramePr>
        <p:xfrm>
          <a:off x="5120640" y="1783080"/>
          <a:ext cx="3657600" cy="2743200"/>
        </p:xfrm>
        <a:graphic>
          <a:graphicData uri="http://schemas.openxmlformats.org/drawingml/2006/chart">
            <c:chart xmlns:c="http://schemas.openxmlformats.org/drawingml/2006/chart" r:id="rId3"/>
          </a:graphicData>
        </a:graphic>
      </p:graphicFrame>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Five lines to keep; everything runs on the chapter page.</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37 / 39</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Questions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Predict first, then run it on the chapter page</a:t>
            </a:r>
          </a:p>
        </p:txBody>
      </p:sp>
      <p:sp>
        <p:nvSpPr>
          <p:cNvPr id="5" name="card"/>
          <p:cNvSpPr/>
          <p:nvPr/>
        </p:nvSpPr>
        <p:spPr>
          <a:xfrm>
            <a:off x="365760" y="960120"/>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nalogy"/>
          <p:cNvSpPr txBox="1"/>
          <p:nvPr/>
        </p:nvSpPr>
        <p:spPr>
          <a:xfrm>
            <a:off x="502920" y="969264"/>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Practice questions are finger scales for a pianist: short drills before the performance.</a:t>
            </a:r>
          </a:p>
        </p:txBody>
      </p:sp>
      <p:sp>
        <p:nvSpPr>
          <p:cNvPr id="7" name="card"/>
          <p:cNvSpPr/>
          <p:nvPr/>
        </p:nvSpPr>
        <p:spPr>
          <a:xfrm>
            <a:off x="365760" y="164592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77393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9" name="question"/>
          <p:cNvSpPr txBox="1"/>
          <p:nvPr/>
        </p:nvSpPr>
        <p:spPr>
          <a:xfrm>
            <a:off x="1005840" y="168249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Predict print(7 // 2 * 2 + 7 % 2). Which rule does the result show?</a:t>
            </a:r>
          </a:p>
        </p:txBody>
      </p:sp>
      <p:sp>
        <p:nvSpPr>
          <p:cNvPr id="10" name="card"/>
          <p:cNvSpPr/>
          <p:nvPr/>
        </p:nvSpPr>
        <p:spPr>
          <a:xfrm>
            <a:off x="365760" y="237744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25054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12" name="question"/>
          <p:cNvSpPr txBox="1"/>
          <p:nvPr/>
        </p:nvSpPr>
        <p:spPr>
          <a:xfrm>
            <a:off x="1005840" y="241401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Write one line that prints your name five times with a space between the copies.</a:t>
            </a:r>
          </a:p>
        </p:txBody>
      </p:sp>
      <p:sp>
        <p:nvSpPr>
          <p:cNvPr id="13" name="card"/>
          <p:cNvSpPr/>
          <p:nvPr/>
        </p:nvSpPr>
        <p:spPr>
          <a:xfrm>
            <a:off x="365760" y="310896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2920" y="32369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5" name="question"/>
          <p:cNvSpPr txBox="1"/>
          <p:nvPr/>
        </p:nvSpPr>
        <p:spPr>
          <a:xfrm>
            <a:off x="1005840" y="314553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What error does print('Age: ' + 21) raise? Fix it in two different ways.</a:t>
            </a:r>
          </a:p>
        </p:txBody>
      </p:sp>
      <p:sp>
        <p:nvSpPr>
          <p:cNvPr id="16" name="card"/>
          <p:cNvSpPr/>
          <p:nvPr/>
        </p:nvSpPr>
        <p:spPr>
          <a:xfrm>
            <a:off x="365760" y="384048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396849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8" name="question"/>
          <p:cNvSpPr txBox="1"/>
          <p:nvPr/>
        </p:nvSpPr>
        <p:spPr>
          <a:xfrm>
            <a:off x="1005840" y="387705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Change the first program so that it also says how old you will be in ten years.</a:t>
            </a:r>
          </a:p>
        </p:txBody>
      </p:sp>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Each answer fits in one line you can run.</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38 / 39</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Resources: where to go next</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Reading and watching, chosen for this chapter; every link is live</a:t>
            </a:r>
          </a:p>
        </p:txBody>
      </p:sp>
      <p:sp>
        <p:nvSpPr>
          <p:cNvPr id="5" name="card"/>
          <p:cNvSpPr/>
          <p:nvPr/>
        </p:nvSpPr>
        <p:spPr>
          <a:xfrm>
            <a:off x="365760" y="1005840"/>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source"/>
          <p:cNvSpPr txBox="1"/>
          <p:nvPr/>
        </p:nvSpPr>
        <p:spPr>
          <a:xfrm>
            <a:off x="438912" y="1014984"/>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Book: Automate the Boring Stuff, 3rd edition, chapter 1</a:t>
            </a:r>
          </a:p>
          <a:p>
            <a:r>
              <a:rPr sz="900" b="0" i="0">
                <a:solidFill>
                  <a:srgbClr val="0E7C86"/>
                </a:solidFill>
                <a:latin typeface="Calibri"/>
                <a:hlinkClick r:id="rId3"/>
              </a:rPr>
              <a:t>https://automatetheboringstuff.com/3e/chapter1.html</a:t>
            </a:r>
          </a:p>
        </p:txBody>
      </p:sp>
      <p:sp>
        <p:nvSpPr>
          <p:cNvPr id="7" name="card"/>
          <p:cNvSpPr/>
          <p:nvPr/>
        </p:nvSpPr>
        <p:spPr>
          <a:xfrm>
            <a:off x="365760" y="1527048"/>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source"/>
          <p:cNvSpPr txBox="1"/>
          <p:nvPr/>
        </p:nvSpPr>
        <p:spPr>
          <a:xfrm>
            <a:off x="438912" y="1536192"/>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The Python Tutorial: an informal introduction</a:t>
            </a:r>
          </a:p>
          <a:p>
            <a:r>
              <a:rPr sz="900" b="0" i="0">
                <a:solidFill>
                  <a:srgbClr val="0E7C86"/>
                </a:solidFill>
                <a:latin typeface="Calibri"/>
                <a:hlinkClick r:id="rId4"/>
              </a:rPr>
              <a:t>https://docs.python.org/3/tutorial/introduction.html</a:t>
            </a:r>
          </a:p>
        </p:txBody>
      </p:sp>
      <p:sp>
        <p:nvSpPr>
          <p:cNvPr id="9" name="card"/>
          <p:cNvSpPr/>
          <p:nvPr/>
        </p:nvSpPr>
        <p:spPr>
          <a:xfrm>
            <a:off x="365760" y="2048256"/>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source"/>
          <p:cNvSpPr txBox="1"/>
          <p:nvPr/>
        </p:nvSpPr>
        <p:spPr>
          <a:xfrm>
            <a:off x="438912" y="2057400"/>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Floating-point arithmetic: issues and limitations</a:t>
            </a:r>
          </a:p>
          <a:p>
            <a:r>
              <a:rPr sz="900" b="0" i="0">
                <a:solidFill>
                  <a:srgbClr val="0E7C86"/>
                </a:solidFill>
                <a:latin typeface="Calibri"/>
                <a:hlinkClick r:id="rId5"/>
              </a:rPr>
              <a:t>https://docs.python.org/3/tutorial/floatingpoint.html</a:t>
            </a:r>
          </a:p>
        </p:txBody>
      </p:sp>
      <p:sp>
        <p:nvSpPr>
          <p:cNvPr id="11" name="card"/>
          <p:cNvSpPr/>
          <p:nvPr/>
        </p:nvSpPr>
        <p:spPr>
          <a:xfrm>
            <a:off x="365760" y="2569464"/>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ource"/>
          <p:cNvSpPr txBox="1"/>
          <p:nvPr/>
        </p:nvSpPr>
        <p:spPr>
          <a:xfrm>
            <a:off x="438912" y="2578608"/>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Built-in functions, all of them</a:t>
            </a:r>
          </a:p>
          <a:p>
            <a:r>
              <a:rPr sz="900" b="0" i="0">
                <a:solidFill>
                  <a:srgbClr val="0E7C86"/>
                </a:solidFill>
                <a:latin typeface="Calibri"/>
                <a:hlinkClick r:id="rId6"/>
              </a:rPr>
              <a:t>https://docs.python.org/3/library/functions.html</a:t>
            </a:r>
          </a:p>
        </p:txBody>
      </p:sp>
      <p:sp>
        <p:nvSpPr>
          <p:cNvPr id="13" name="card"/>
          <p:cNvSpPr/>
          <p:nvPr/>
        </p:nvSpPr>
        <p:spPr>
          <a:xfrm>
            <a:off x="365760" y="3090672"/>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source"/>
          <p:cNvSpPr txBox="1"/>
          <p:nvPr/>
        </p:nvSpPr>
        <p:spPr>
          <a:xfrm>
            <a:off x="438912" y="3099815"/>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Built-in types</a:t>
            </a:r>
          </a:p>
          <a:p>
            <a:r>
              <a:rPr sz="900" b="0" i="0">
                <a:solidFill>
                  <a:srgbClr val="0E7C86"/>
                </a:solidFill>
                <a:latin typeface="Calibri"/>
                <a:hlinkClick r:id="rId7"/>
              </a:rPr>
              <a:t>https://docs.python.org/3/library/stdtypes.html</a:t>
            </a:r>
          </a:p>
        </p:txBody>
      </p:sp>
      <p:sp>
        <p:nvSpPr>
          <p:cNvPr id="15" name="card"/>
          <p:cNvSpPr/>
          <p:nvPr/>
        </p:nvSpPr>
        <p:spPr>
          <a:xfrm>
            <a:off x="365760" y="3611879"/>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source"/>
          <p:cNvSpPr txBox="1"/>
          <p:nvPr/>
        </p:nvSpPr>
        <p:spPr>
          <a:xfrm>
            <a:off x="438912" y="3621023"/>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PEP 8: the style guide</a:t>
            </a:r>
          </a:p>
          <a:p>
            <a:r>
              <a:rPr sz="900" b="0" i="0">
                <a:solidFill>
                  <a:srgbClr val="0E7C86"/>
                </a:solidFill>
                <a:latin typeface="Calibri"/>
                <a:hlinkClick r:id="rId8"/>
              </a:rPr>
              <a:t>https://peps.python.org/pep-0008/</a:t>
            </a:r>
          </a:p>
        </p:txBody>
      </p:sp>
      <p:sp>
        <p:nvSpPr>
          <p:cNvPr id="17" name="card"/>
          <p:cNvSpPr/>
          <p:nvPr/>
        </p:nvSpPr>
        <p:spPr>
          <a:xfrm>
            <a:off x="365760" y="4133087"/>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source"/>
          <p:cNvSpPr txBox="1"/>
          <p:nvPr/>
        </p:nvSpPr>
        <p:spPr>
          <a:xfrm>
            <a:off x="438912" y="4142231"/>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PEP 20: the Zen of Python</a:t>
            </a:r>
          </a:p>
          <a:p>
            <a:r>
              <a:rPr sz="900" b="0" i="0">
                <a:solidFill>
                  <a:srgbClr val="0E7C86"/>
                </a:solidFill>
                <a:latin typeface="Calibri"/>
                <a:hlinkClick r:id="rId9"/>
              </a:rPr>
              <a:t>https://peps.python.org/pep-0020/</a:t>
            </a:r>
          </a:p>
        </p:txBody>
      </p:sp>
      <p:sp>
        <p:nvSpPr>
          <p:cNvPr id="19" name="card"/>
          <p:cNvSpPr/>
          <p:nvPr/>
        </p:nvSpPr>
        <p:spPr>
          <a:xfrm>
            <a:off x="4663440" y="1005840"/>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source"/>
          <p:cNvSpPr txBox="1"/>
          <p:nvPr/>
        </p:nvSpPr>
        <p:spPr>
          <a:xfrm>
            <a:off x="4736592" y="1014984"/>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PEP 701: f-strings get a formal grammar</a:t>
            </a:r>
          </a:p>
          <a:p>
            <a:r>
              <a:rPr sz="900" b="0" i="0">
                <a:solidFill>
                  <a:srgbClr val="0E7C86"/>
                </a:solidFill>
                <a:latin typeface="Calibri"/>
                <a:hlinkClick r:id="rId10"/>
              </a:rPr>
              <a:t>https://peps.python.org/pep-0701/</a:t>
            </a:r>
          </a:p>
        </p:txBody>
      </p:sp>
      <p:sp>
        <p:nvSpPr>
          <p:cNvPr id="21" name="card"/>
          <p:cNvSpPr/>
          <p:nvPr/>
        </p:nvSpPr>
        <p:spPr>
          <a:xfrm>
            <a:off x="4663440" y="1527048"/>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source"/>
          <p:cNvSpPr txBox="1"/>
          <p:nvPr/>
        </p:nvSpPr>
        <p:spPr>
          <a:xfrm>
            <a:off x="4736592" y="1536192"/>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PEP 703: making the GIL optional</a:t>
            </a:r>
          </a:p>
          <a:p>
            <a:r>
              <a:rPr sz="900" b="0" i="0">
                <a:solidFill>
                  <a:srgbClr val="0E7C86"/>
                </a:solidFill>
                <a:latin typeface="Calibri"/>
                <a:hlinkClick r:id="rId11"/>
              </a:rPr>
              <a:t>https://peps.python.org/pep-0703/</a:t>
            </a:r>
          </a:p>
        </p:txBody>
      </p:sp>
      <p:sp>
        <p:nvSpPr>
          <p:cNvPr id="23" name="card"/>
          <p:cNvSpPr/>
          <p:nvPr/>
        </p:nvSpPr>
        <p:spPr>
          <a:xfrm>
            <a:off x="4663440" y="2048256"/>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source"/>
          <p:cNvSpPr txBox="1"/>
          <p:nvPr/>
        </p:nvSpPr>
        <p:spPr>
          <a:xfrm>
            <a:off x="4736592" y="2057400"/>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What's new in Python 3.14</a:t>
            </a:r>
          </a:p>
          <a:p>
            <a:r>
              <a:rPr sz="900" b="0" i="0">
                <a:solidFill>
                  <a:srgbClr val="0E7C86"/>
                </a:solidFill>
                <a:latin typeface="Calibri"/>
                <a:hlinkClick r:id="rId12"/>
              </a:rPr>
              <a:t>https://docs.python.org/3/whatsnew/3.14.html</a:t>
            </a:r>
          </a:p>
        </p:txBody>
      </p:sp>
      <p:sp>
        <p:nvSpPr>
          <p:cNvPr id="25" name="card"/>
          <p:cNvSpPr/>
          <p:nvPr/>
        </p:nvSpPr>
        <p:spPr>
          <a:xfrm>
            <a:off x="4663440" y="2569464"/>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source"/>
          <p:cNvSpPr txBox="1"/>
          <p:nvPr/>
        </p:nvSpPr>
        <p:spPr>
          <a:xfrm>
            <a:off x="4736592" y="2578608"/>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Status of Python versions</a:t>
            </a:r>
          </a:p>
          <a:p>
            <a:r>
              <a:rPr sz="900" b="0" i="0">
                <a:solidFill>
                  <a:srgbClr val="0E7C86"/>
                </a:solidFill>
                <a:latin typeface="Calibri"/>
                <a:hlinkClick r:id="rId13"/>
              </a:rPr>
              <a:t>https://devguide.python.org/versions/</a:t>
            </a:r>
          </a:p>
        </p:txBody>
      </p:sp>
      <p:sp>
        <p:nvSpPr>
          <p:cNvPr id="27" name="card"/>
          <p:cNvSpPr/>
          <p:nvPr/>
        </p:nvSpPr>
        <p:spPr>
          <a:xfrm>
            <a:off x="4663440" y="3090672"/>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source"/>
          <p:cNvSpPr txBox="1"/>
          <p:nvPr/>
        </p:nvSpPr>
        <p:spPr>
          <a:xfrm>
            <a:off x="4736592" y="3099815"/>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uv: a fast Python package manager</a:t>
            </a:r>
          </a:p>
          <a:p>
            <a:r>
              <a:rPr sz="900" b="0" i="0">
                <a:solidFill>
                  <a:srgbClr val="0E7C86"/>
                </a:solidFill>
                <a:latin typeface="Calibri"/>
                <a:hlinkClick r:id="rId14"/>
              </a:rPr>
              <a:t>https://docs.astral.sh/uv/</a:t>
            </a:r>
          </a:p>
        </p:txBody>
      </p:sp>
      <p:sp>
        <p:nvSpPr>
          <p:cNvPr id="29" name="card"/>
          <p:cNvSpPr/>
          <p:nvPr/>
        </p:nvSpPr>
        <p:spPr>
          <a:xfrm>
            <a:off x="4663440" y="3611879"/>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source"/>
          <p:cNvSpPr txBox="1"/>
          <p:nvPr/>
        </p:nvSpPr>
        <p:spPr>
          <a:xfrm>
            <a:off x="4736592" y="3621023"/>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Video: The Story of Python, by Guido van Rossum</a:t>
            </a:r>
          </a:p>
          <a:p>
            <a:r>
              <a:rPr sz="900" b="0" i="0">
                <a:solidFill>
                  <a:srgbClr val="0E7C86"/>
                </a:solidFill>
                <a:latin typeface="Calibri"/>
                <a:hlinkClick r:id="rId15"/>
              </a:rPr>
              <a:t>https://www.youtube.com/watch?v=J0Aq44Pze-w</a:t>
            </a:r>
          </a:p>
        </p:txBody>
      </p:sp>
      <p:sp>
        <p:nvSpPr>
          <p:cNvPr id="31" name="card"/>
          <p:cNvSpPr/>
          <p:nvPr/>
        </p:nvSpPr>
        <p:spPr>
          <a:xfrm>
            <a:off x="4663440" y="4133087"/>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source"/>
          <p:cNvSpPr txBox="1"/>
          <p:nvPr/>
        </p:nvSpPr>
        <p:spPr>
          <a:xfrm>
            <a:off x="4736592" y="4142231"/>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Leibniz and the binary system</a:t>
            </a:r>
          </a:p>
          <a:p>
            <a:r>
              <a:rPr sz="900" b="0" i="0">
                <a:solidFill>
                  <a:srgbClr val="0E7C86"/>
                </a:solidFill>
                <a:latin typeface="Calibri"/>
                <a:hlinkClick r:id="rId16"/>
              </a:rPr>
              <a:t>https://historyofinformation.com/detail.php?id=395</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Pick one link and read it before the next class.</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39 / 39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1: Python Basics (lecture deck 4.0.0)</dc:title>
  <dc:subject/>
  <dc:creator>Yusuf Altunel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