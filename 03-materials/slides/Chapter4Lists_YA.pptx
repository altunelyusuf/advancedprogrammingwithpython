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media/image5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63"/>
  </p:notesMasterIdLst>
  <p:handoutMasterIdLst>
    <p:handoutMasterId r:id="rId64"/>
  </p:handoutMasterIdLst>
  <p:sldIdLst>
    <p:sldId id="256" r:id="rId5"/>
    <p:sldId id="261" r:id="rId6"/>
    <p:sldId id="342" r:id="rId7"/>
    <p:sldId id="343" r:id="rId8"/>
    <p:sldId id="301" r:id="rId9"/>
    <p:sldId id="357" r:id="rId10"/>
    <p:sldId id="358" r:id="rId11"/>
    <p:sldId id="359" r:id="rId12"/>
    <p:sldId id="360" r:id="rId13"/>
    <p:sldId id="361" r:id="rId14"/>
    <p:sldId id="363" r:id="rId15"/>
    <p:sldId id="362" r:id="rId16"/>
    <p:sldId id="364" r:id="rId17"/>
    <p:sldId id="366" r:id="rId18"/>
    <p:sldId id="367" r:id="rId19"/>
    <p:sldId id="368" r:id="rId20"/>
    <p:sldId id="365" r:id="rId21"/>
    <p:sldId id="369" r:id="rId22"/>
    <p:sldId id="335" r:id="rId23"/>
    <p:sldId id="286" r:id="rId24"/>
    <p:sldId id="370" r:id="rId25"/>
    <p:sldId id="371" r:id="rId26"/>
    <p:sldId id="269" r:id="rId27"/>
    <p:sldId id="372" r:id="rId28"/>
    <p:sldId id="373" r:id="rId29"/>
    <p:sldId id="344" r:id="rId30"/>
    <p:sldId id="374" r:id="rId31"/>
    <p:sldId id="375" r:id="rId32"/>
    <p:sldId id="376" r:id="rId33"/>
    <p:sldId id="377" r:id="rId34"/>
    <p:sldId id="336" r:id="rId35"/>
    <p:sldId id="378" r:id="rId36"/>
    <p:sldId id="379" r:id="rId37"/>
    <p:sldId id="303" r:id="rId38"/>
    <p:sldId id="337" r:id="rId39"/>
    <p:sldId id="380" r:id="rId40"/>
    <p:sldId id="381" r:id="rId41"/>
    <p:sldId id="382" r:id="rId42"/>
    <p:sldId id="288" r:id="rId43"/>
    <p:sldId id="383" r:id="rId44"/>
    <p:sldId id="345" r:id="rId45"/>
    <p:sldId id="384" r:id="rId46"/>
    <p:sldId id="385" r:id="rId47"/>
    <p:sldId id="386" r:id="rId48"/>
    <p:sldId id="387" r:id="rId49"/>
    <p:sldId id="388" r:id="rId50"/>
    <p:sldId id="338" r:id="rId51"/>
    <p:sldId id="284" r:id="rId52"/>
    <p:sldId id="389" r:id="rId53"/>
    <p:sldId id="283" r:id="rId54"/>
    <p:sldId id="306" r:id="rId55"/>
    <p:sldId id="390" r:id="rId56"/>
    <p:sldId id="391" r:id="rId57"/>
    <p:sldId id="267" r:id="rId58"/>
    <p:sldId id="392" r:id="rId59"/>
    <p:sldId id="350" r:id="rId60"/>
    <p:sldId id="299" r:id="rId61"/>
    <p:sldId id="279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71A1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328" autoAdjust="0"/>
  </p:normalViewPr>
  <p:slideViewPr>
    <p:cSldViewPr snapToGrid="0">
      <p:cViewPr varScale="1">
        <p:scale>
          <a:sx n="67" d="100"/>
          <a:sy n="67" d="100"/>
        </p:scale>
        <p:origin x="1482" y="66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341"/>
    </p:cViewPr>
  </p:sorterViewPr>
  <p:notesViewPr>
    <p:cSldViewPr snapToGrid="0">
      <p:cViewPr>
        <p:scale>
          <a:sx n="50" d="100"/>
          <a:sy n="50" d="100"/>
        </p:scale>
        <p:origin x="2640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10/27/2023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6444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2961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35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1863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4908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1942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0609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59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5270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03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9417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49315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1733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83497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0975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68669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182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228415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685810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56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72700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360108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566041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51392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306236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409427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343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3404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37617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59288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89235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 Bullets">
    <p:bg>
      <p:bgPr>
        <a:blipFill dpi="0" rotWithShape="1">
          <a:blip r:embed="rId2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2041BFF2-BC3B-3145-940D-004809E5A80A}"/>
              </a:ext>
            </a:extLst>
          </p:cNvPr>
          <p:cNvSpPr>
            <a:spLocks noChangeAspect="1"/>
          </p:cNvSpPr>
          <p:nvPr userDrawn="1"/>
        </p:nvSpPr>
        <p:spPr>
          <a:xfrm>
            <a:off x="2287944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9906F5C-A183-DF45-AE48-C1D611CDC98D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9CFF2EB-CD95-EA4D-810E-C9F8127071FE}"/>
              </a:ext>
            </a:extLst>
          </p:cNvPr>
          <p:cNvSpPr>
            <a:spLocks noChangeAspect="1"/>
          </p:cNvSpPr>
          <p:nvPr userDrawn="1"/>
        </p:nvSpPr>
        <p:spPr>
          <a:xfrm>
            <a:off x="5729647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E120266-68E0-504A-B1C8-F3369F5AF7C0}"/>
              </a:ext>
            </a:extLst>
          </p:cNvPr>
          <p:cNvSpPr>
            <a:spLocks noChangeAspect="1"/>
          </p:cNvSpPr>
          <p:nvPr userDrawn="1"/>
        </p:nvSpPr>
        <p:spPr>
          <a:xfrm>
            <a:off x="7450499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B4A810-8614-AD44-B362-CE45C8C679CE}"/>
              </a:ext>
            </a:extLst>
          </p:cNvPr>
          <p:cNvSpPr>
            <a:spLocks noChangeAspect="1"/>
          </p:cNvSpPr>
          <p:nvPr userDrawn="1"/>
        </p:nvSpPr>
        <p:spPr>
          <a:xfrm>
            <a:off x="56933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44556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86259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7111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62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4455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26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7111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5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071" y="4683350"/>
            <a:ext cx="162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B1F8F6-73A5-F142-8A28-094DA998B5F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4841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F78A887E-89A6-244C-8AA4-484FE535876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35133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52B18661-99A8-214A-A089-09F11F1EB5C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255424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69D5F0B5-DE10-D646-9244-6B4289E7793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975716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72B87CCD-6D17-844B-87EF-F8BC69D79B0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696006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5" name="Straight Connector 24" descr="First divider line on slide">
            <a:extLst>
              <a:ext uri="{FF2B5EF4-FFF2-40B4-BE49-F238E27FC236}">
                <a16:creationId xmlns:a16="http://schemas.microsoft.com/office/drawing/2014/main" id="{402BCAE3-72EC-4098-A211-3555BFDE9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994285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 descr="Second divider line on slide">
            <a:extLst>
              <a:ext uri="{FF2B5EF4-FFF2-40B4-BE49-F238E27FC236}">
                <a16:creationId xmlns:a16="http://schemas.microsoft.com/office/drawing/2014/main" id="{94A08494-9C0E-4AAF-BE9A-166FE994D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1515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 descr="Third divider line on slide">
            <a:extLst>
              <a:ext uri="{FF2B5EF4-FFF2-40B4-BE49-F238E27FC236}">
                <a16:creationId xmlns:a16="http://schemas.microsoft.com/office/drawing/2014/main" id="{698FE6A1-AEF7-4FD7-A689-908A6B9CC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36026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 descr="Fourth divider line on slide">
            <a:extLst>
              <a:ext uri="{FF2B5EF4-FFF2-40B4-BE49-F238E27FC236}">
                <a16:creationId xmlns:a16="http://schemas.microsoft.com/office/drawing/2014/main" id="{636DD6E3-6313-40D8-B03E-60E2E5A6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6897" y="2052014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0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257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85" r:id="rId8"/>
    <p:sldLayoutId id="2147483683" r:id="rId9"/>
    <p:sldLayoutId id="2147483668" r:id="rId10"/>
    <p:sldLayoutId id="2147483682" r:id="rId11"/>
    <p:sldLayoutId id="2147483670" r:id="rId12"/>
    <p:sldLayoutId id="2147483653" r:id="rId13"/>
    <p:sldLayoutId id="2147483673" r:id="rId14"/>
    <p:sldLayoutId id="2147483674" r:id="rId15"/>
    <p:sldLayoutId id="2147483676" r:id="rId16"/>
    <p:sldLayoutId id="2147483677" r:id="rId17"/>
    <p:sldLayoutId id="2147483654" r:id="rId18"/>
    <p:sldLayoutId id="2147483660" r:id="rId19"/>
    <p:sldLayoutId id="2147483661" r:id="rId20"/>
    <p:sldLayoutId id="2147483678" r:id="rId21"/>
    <p:sldLayoutId id="2147483686" r:id="rId22"/>
    <p:sldLayoutId id="2147483687" r:id="rId23"/>
    <p:sldLayoutId id="2147483689" r:id="rId24"/>
    <p:sldLayoutId id="2147483690" r:id="rId25"/>
    <p:sldLayoutId id="2147483688" r:id="rId2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10" Type="http://schemas.openxmlformats.org/officeDocument/2006/relationships/image" Target="../media/image24.jp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emf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10" Type="http://schemas.openxmlformats.org/officeDocument/2006/relationships/image" Target="../media/image24.jp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10" Type="http://schemas.openxmlformats.org/officeDocument/2006/relationships/image" Target="../media/image24.jp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10" Type="http://schemas.openxmlformats.org/officeDocument/2006/relationships/image" Target="../media/image24.jp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51.jpg"/><Relationship Id="rId7" Type="http://schemas.openxmlformats.org/officeDocument/2006/relationships/image" Target="../media/image55.svg"/><Relationship Id="rId12" Type="http://schemas.openxmlformats.org/officeDocument/2006/relationships/image" Target="../media/image59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4.png"/><Relationship Id="rId11" Type="http://schemas.openxmlformats.org/officeDocument/2006/relationships/image" Target="../media/image58.png"/><Relationship Id="rId5" Type="http://schemas.openxmlformats.org/officeDocument/2006/relationships/image" Target="../media/image53.svg"/><Relationship Id="rId10" Type="http://schemas.openxmlformats.org/officeDocument/2006/relationships/hyperlink" Target="http://cats.iku.edu.tr/portal/site/0181f2bc-77e3-4a85-ade9-77639d9bcfe7" TargetMode="External"/><Relationship Id="rId4" Type="http://schemas.openxmlformats.org/officeDocument/2006/relationships/image" Target="../media/image52.png"/><Relationship Id="rId9" Type="http://schemas.openxmlformats.org/officeDocument/2006/relationships/image" Target="../media/image57.svg"/><Relationship Id="rId1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n old stone building&#10;&#10;Description automatically generated">
            <a:extLst>
              <a:ext uri="{FF2B5EF4-FFF2-40B4-BE49-F238E27FC236}">
                <a16:creationId xmlns:a16="http://schemas.microsoft.com/office/drawing/2014/main" id="{B24E7425-7E63-4F51-B9B1-BC38C11E1C0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29" r="5029"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</a:t>
            </a:r>
            <a:r>
              <a:rPr lang="tr-TR" dirty="0"/>
              <a:t>4</a:t>
            </a:r>
            <a:r>
              <a:rPr lang="en-US" dirty="0"/>
              <a:t>: </a:t>
            </a:r>
            <a:r>
              <a:rPr lang="tr-TR" dirty="0"/>
              <a:t>Lists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72433"/>
            <a:ext cx="5130000" cy="1022734"/>
          </a:xfrm>
        </p:spPr>
        <p:txBody>
          <a:bodyPr/>
          <a:lstStyle/>
          <a:p>
            <a:r>
              <a:rPr lang="en-US" dirty="0"/>
              <a:t>CSE0408 Programming III</a:t>
            </a:r>
            <a:endParaRPr lang="tr-TR" dirty="0"/>
          </a:p>
          <a:p>
            <a:r>
              <a:rPr lang="tr-TR" dirty="0"/>
              <a:t>IKU Department of Computer Engineering</a:t>
            </a:r>
          </a:p>
          <a:p>
            <a:r>
              <a:rPr lang="tr-TR" dirty="0"/>
              <a:t>Yusuf Altunel, PhD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tr-TR" b="1" dirty="0"/>
              <a:t>Automate the Boring Stuff with Python</a:t>
            </a:r>
          </a:p>
          <a:p>
            <a:r>
              <a:rPr lang="tr-TR" b="1" dirty="0"/>
              <a:t>Practical Programming for Total Beginners</a:t>
            </a:r>
          </a:p>
          <a:p>
            <a:r>
              <a:rPr lang="tr-TR" sz="1200" b="1" dirty="0"/>
              <a:t>Chapter 4 Lists</a:t>
            </a:r>
            <a:endParaRPr lang="tr-TR" sz="1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List Data Type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with Lists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Augmented Assignment Operators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Methods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List-like Types: Strings &amp; Tuples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01066-4626-44CB-B482-2CA48BA5A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6" y="890767"/>
            <a:ext cx="4506414" cy="300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64" y="1165839"/>
            <a:ext cx="8505000" cy="324000"/>
          </a:xfrm>
        </p:spPr>
        <p:txBody>
          <a:bodyPr/>
          <a:lstStyle/>
          <a:p>
            <a:r>
              <a:rPr lang="tr-TR" dirty="0"/>
              <a:t>Lists &amp; Tuples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Multiple Values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algn="l"/>
            <a:r>
              <a:rPr lang="tr-TR" b="1" dirty="0"/>
              <a:t>Contains multiple values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Helps to simplify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Programs to handle data</a:t>
            </a:r>
            <a:endParaRPr lang="en-US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Hierarchy Management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688112"/>
            <a:ext cx="1839467" cy="1373054"/>
          </a:xfrm>
        </p:spPr>
        <p:txBody>
          <a:bodyPr/>
          <a:lstStyle/>
          <a:p>
            <a:pPr algn="l"/>
            <a:r>
              <a:rPr lang="tr-TR" b="1" dirty="0"/>
              <a:t>Create and maintain hierarchies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Can contain lists as value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Lists in lists are possible</a:t>
            </a:r>
            <a:endParaRPr lang="en-US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5407" y="4688111"/>
            <a:ext cx="1781953" cy="1371725"/>
          </a:xfrm>
        </p:spPr>
        <p:txBody>
          <a:bodyPr/>
          <a:lstStyle/>
          <a:p>
            <a:pPr algn="l"/>
            <a:r>
              <a:rPr lang="tr-TR" dirty="0"/>
              <a:t>[1, 2, 3]</a:t>
            </a:r>
          </a:p>
          <a:p>
            <a:pPr algn="l"/>
            <a:r>
              <a:rPr lang="en-US" dirty="0"/>
              <a:t>['cat', 'bat', 'rat', 'elephant</a:t>
            </a:r>
            <a:r>
              <a:rPr lang="tr-TR" dirty="0"/>
              <a:t>'</a:t>
            </a:r>
            <a:r>
              <a:rPr lang="en-US" dirty="0"/>
              <a:t>]</a:t>
            </a:r>
            <a:endParaRPr lang="tr-TR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Mixed Values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99908" y="4683646"/>
            <a:ext cx="1446129" cy="1081427"/>
          </a:xfrm>
        </p:spPr>
        <p:txBody>
          <a:bodyPr/>
          <a:lstStyle/>
          <a:p>
            <a:pPr algn="l"/>
            <a:r>
              <a:rPr lang="en-US" dirty="0"/>
              <a:t>['hello', 3.1415, True, None, 42]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List Varible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63247" y="4688111"/>
            <a:ext cx="1364306" cy="1480213"/>
          </a:xfrm>
        </p:spPr>
        <p:txBody>
          <a:bodyPr/>
          <a:lstStyle/>
          <a:p>
            <a:pPr algn="l"/>
            <a:r>
              <a:rPr lang="en-US" dirty="0"/>
              <a:t>spam = ['cat', 'bat', 'rat', 'elephant']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348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64" y="1165839"/>
            <a:ext cx="8505000" cy="324000"/>
          </a:xfrm>
        </p:spPr>
        <p:txBody>
          <a:bodyPr/>
          <a:lstStyle/>
          <a:p>
            <a:r>
              <a:rPr lang="tr-TR" dirty="0"/>
              <a:t>List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Multiple Values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683349"/>
            <a:ext cx="1731152" cy="1673908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contains multiple values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has ordered sequence</a:t>
            </a:r>
            <a:endParaRPr lang="en-US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List Value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688112"/>
            <a:ext cx="1839467" cy="1712688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refers to the list itself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can be stored in a</a:t>
            </a:r>
            <a:r>
              <a:rPr lang="tr-TR" dirty="0"/>
              <a:t> </a:t>
            </a:r>
            <a:r>
              <a:rPr lang="en-US" dirty="0"/>
              <a:t>variable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can be</a:t>
            </a:r>
            <a:r>
              <a:rPr lang="en-US" dirty="0"/>
              <a:t> passed to a function</a:t>
            </a:r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[]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41073" y="4688111"/>
            <a:ext cx="1314995" cy="1371725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Begins with [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Ends with ]</a:t>
            </a:r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30100" y="3917626"/>
            <a:ext cx="1620440" cy="504000"/>
          </a:xfrm>
        </p:spPr>
        <p:txBody>
          <a:bodyPr/>
          <a:lstStyle/>
          <a:p>
            <a:r>
              <a:rPr lang="tr-TR" dirty="0"/>
              <a:t>Item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99908" y="4683646"/>
            <a:ext cx="1446129" cy="1081427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Value in a list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Comma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80663" y="4688111"/>
            <a:ext cx="1346889" cy="1480213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The delimiter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Separates list </a:t>
            </a:r>
            <a:r>
              <a:rPr lang="tr-TR" b="1" dirty="0"/>
              <a:t>item</a:t>
            </a:r>
            <a:r>
              <a:rPr lang="tr-TR" dirty="0"/>
              <a:t>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05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Chapter-4 Lists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List Data Type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028" name="Picture 4" descr="ancient china ile ilgili görsel sonucu">
            <a:extLst>
              <a:ext uri="{FF2B5EF4-FFF2-40B4-BE49-F238E27FC236}">
                <a16:creationId xmlns:a16="http://schemas.microsoft.com/office/drawing/2014/main" id="{5839FE39-9552-4FED-984C-C44672498E11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0" r="1871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237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en-US" dirty="0"/>
              <a:t>Getting Individual Values in a List with Indexes</a:t>
            </a:r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Index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tr-TR" dirty="0"/>
              <a:t>Integer</a:t>
            </a:r>
          </a:p>
          <a:p>
            <a:r>
              <a:rPr lang="tr-TR" b="1" dirty="0"/>
              <a:t>Shows</a:t>
            </a:r>
          </a:p>
          <a:p>
            <a:r>
              <a:rPr lang="tr-TR" dirty="0"/>
              <a:t>The order of the item</a:t>
            </a:r>
            <a:endParaRPr lang="en-US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7589" y="2933764"/>
            <a:ext cx="2690947" cy="432000"/>
          </a:xfrm>
        </p:spPr>
        <p:txBody>
          <a:bodyPr/>
          <a:lstStyle/>
          <a:p>
            <a:r>
              <a:rPr lang="tr-TR" sz="1200" dirty="0"/>
              <a:t>spam = ['cat', 'bat', 'rat', 'elephant’]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1299216"/>
          </a:xfrm>
        </p:spPr>
        <p:txBody>
          <a:bodyPr/>
          <a:lstStyle/>
          <a:p>
            <a:r>
              <a:rPr lang="tr-TR" b="1" dirty="0"/>
              <a:t>spam[0] </a:t>
            </a:r>
          </a:p>
          <a:p>
            <a:r>
              <a:rPr lang="tr-TR" dirty="0"/>
              <a:t>evaluates to 'cat'</a:t>
            </a:r>
          </a:p>
          <a:p>
            <a:r>
              <a:rPr lang="tr-TR" b="1" dirty="0"/>
              <a:t>spam[1]</a:t>
            </a:r>
          </a:p>
          <a:p>
            <a:r>
              <a:rPr lang="tr-TR" dirty="0"/>
              <a:t>evaluate to 'bat'</a:t>
            </a:r>
            <a:endParaRPr lang="en-US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/>
              <a:t>Indexes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r>
              <a:rPr lang="tr-TR" dirty="0"/>
              <a:t>Starts with 0</a:t>
            </a:r>
          </a:p>
          <a:p>
            <a:r>
              <a:rPr lang="tr-TR" dirty="0"/>
              <a:t>Next value is 1</a:t>
            </a:r>
          </a:p>
          <a:p>
            <a:r>
              <a:rPr lang="tr-TR" dirty="0"/>
              <a:t>Then 2, </a:t>
            </a:r>
          </a:p>
          <a:p>
            <a:r>
              <a:rPr lang="tr-TR" dirty="0"/>
              <a:t>and so 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3" name="Picture Placeholder 12" descr="A bench in front of a building&#10;&#10;Description automatically generated">
            <a:extLst>
              <a:ext uri="{FF2B5EF4-FFF2-40B4-BE49-F238E27FC236}">
                <a16:creationId xmlns:a16="http://schemas.microsoft.com/office/drawing/2014/main" id="{C2227F86-A3BC-43DA-A2F2-76CC0576EF83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l="22024" r="220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3481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3829BD5-EF66-493F-8175-A28F943B8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64870"/>
            <a:ext cx="9144000" cy="5128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456" y="432000"/>
            <a:ext cx="7348543" cy="432000"/>
          </a:xfrm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List indexes &amp; their values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9A7ABE-9668-4BD3-AD3F-F81E800852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1868291" y="1638982"/>
            <a:ext cx="5255321" cy="133912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1372" y="3564276"/>
            <a:ext cx="2976549" cy="36000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tr-TR" dirty="0"/>
              <a:t>Index values of a list</a:t>
            </a:r>
          </a:p>
        </p:txBody>
      </p:sp>
    </p:spTree>
    <p:extLst>
      <p:ext uri="{BB962C8B-B14F-4D97-AF65-F5344CB8AC3E}">
        <p14:creationId xmlns:p14="http://schemas.microsoft.com/office/powerpoint/2010/main" val="3858926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Index values of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49532"/>
            <a:ext cx="4104000" cy="339634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spam = ['cat', 'bat', 'rat', 'elephant']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spam[0]</a:t>
            </a:r>
          </a:p>
          <a:p>
            <a:pPr marL="0" indent="0">
              <a:buNone/>
            </a:pPr>
            <a:r>
              <a:rPr lang="en-US" dirty="0"/>
              <a:t>'cat’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&gt;&gt;&gt; spam[1]</a:t>
            </a:r>
          </a:p>
          <a:p>
            <a:pPr marL="0" indent="0">
              <a:buNone/>
            </a:pPr>
            <a:r>
              <a:rPr lang="en-US" dirty="0"/>
              <a:t>'bat'</a:t>
            </a:r>
          </a:p>
          <a:p>
            <a:pPr marL="0" indent="0">
              <a:buNone/>
            </a:pPr>
            <a:r>
              <a:rPr lang="en-US" dirty="0"/>
              <a:t>&gt;&gt;&gt; spam[2]</a:t>
            </a:r>
          </a:p>
          <a:p>
            <a:pPr marL="0" indent="0">
              <a:buNone/>
            </a:pPr>
            <a:r>
              <a:rPr lang="en-US" dirty="0"/>
              <a:t>'rat'</a:t>
            </a:r>
          </a:p>
          <a:p>
            <a:pPr marL="0" indent="0">
              <a:buNone/>
            </a:pPr>
            <a:r>
              <a:rPr lang="en-US" dirty="0"/>
              <a:t>&gt;&gt;&gt; spam[3]</a:t>
            </a:r>
          </a:p>
          <a:p>
            <a:pPr marL="0" indent="0">
              <a:buNone/>
            </a:pPr>
            <a:r>
              <a:rPr lang="en-US" dirty="0"/>
              <a:t>'elephant'</a:t>
            </a:r>
          </a:p>
          <a:p>
            <a:pPr marL="0" indent="0">
              <a:buNone/>
            </a:pPr>
            <a:r>
              <a:rPr lang="en-US" dirty="0"/>
              <a:t>&gt;&gt;&gt; spam[4]</a:t>
            </a:r>
          </a:p>
          <a:p>
            <a:pPr marL="0" indent="0">
              <a:buNone/>
            </a:pPr>
            <a:r>
              <a:rPr lang="en-US" dirty="0" err="1"/>
              <a:t>IndexError</a:t>
            </a:r>
            <a:r>
              <a:rPr lang="en-US" dirty="0"/>
              <a:t>: list index out of range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&gt;&gt;&gt; ['cat', 'bat', 'rat', 'elephant'][3]</a:t>
            </a:r>
          </a:p>
          <a:p>
            <a:pPr marL="0" indent="0">
              <a:buNone/>
            </a:pPr>
            <a:r>
              <a:rPr lang="en-US" dirty="0"/>
              <a:t>'elephant’</a:t>
            </a:r>
            <a:endParaRPr lang="tr-TR" dirty="0"/>
          </a:p>
          <a:p>
            <a:pPr marL="0" indent="0">
              <a:buNone/>
            </a:pPr>
            <a:r>
              <a:rPr lang="it-IT" dirty="0"/>
              <a:t>&gt;&gt;&gt; 'Hello ' + spam[0]</a:t>
            </a:r>
          </a:p>
          <a:p>
            <a:pPr marL="0" indent="0">
              <a:buNone/>
            </a:pPr>
            <a:r>
              <a:rPr lang="it-IT" dirty="0"/>
              <a:t>'Hello cat’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&gt;&gt;&gt; 'The ' + spam[1] + ' ate the ' + spam[0] + '.'</a:t>
            </a:r>
          </a:p>
          <a:p>
            <a:pPr marL="0" indent="0">
              <a:buNone/>
            </a:pPr>
            <a:r>
              <a:rPr lang="en-US" dirty="0"/>
              <a:t>'The bat ate the cat.'</a:t>
            </a:r>
            <a:endParaRPr lang="tr-TR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146" name="Picture 2" descr="aztec ruins ile ilgili görsel sonucu">
            <a:extLst>
              <a:ext uri="{FF2B5EF4-FFF2-40B4-BE49-F238E27FC236}">
                <a16:creationId xmlns:a16="http://schemas.microsoft.com/office/drawing/2014/main" id="{C141F4C4-164A-4064-A672-B87DC3011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61" y="1584961"/>
            <a:ext cx="3497100" cy="463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172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Lists can contain other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5801" y="1272021"/>
            <a:ext cx="4827814" cy="126699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spam = [['</a:t>
            </a:r>
            <a:r>
              <a:rPr lang="tr-TR" dirty="0" err="1"/>
              <a:t>cat</a:t>
            </a:r>
            <a:r>
              <a:rPr lang="tr-TR" dirty="0"/>
              <a:t>', 'bat', '</a:t>
            </a:r>
            <a:r>
              <a:rPr lang="tr-TR" dirty="0" err="1"/>
              <a:t>rat</a:t>
            </a:r>
            <a:r>
              <a:rPr lang="tr-TR" dirty="0"/>
              <a:t>', '</a:t>
            </a:r>
            <a:r>
              <a:rPr lang="tr-TR" dirty="0" err="1"/>
              <a:t>elephant</a:t>
            </a:r>
            <a:r>
              <a:rPr lang="tr-TR" dirty="0"/>
              <a:t>'], [10,20,30,40,50]]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7927" y="1272021"/>
            <a:ext cx="3628350" cy="459312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spam[0]</a:t>
            </a:r>
          </a:p>
          <a:p>
            <a:pPr marL="0" indent="0">
              <a:buNone/>
            </a:pPr>
            <a:r>
              <a:rPr lang="tr-TR" dirty="0"/>
              <a:t>['</a:t>
            </a:r>
            <a:r>
              <a:rPr lang="tr-TR" dirty="0" err="1"/>
              <a:t>cat</a:t>
            </a:r>
            <a:r>
              <a:rPr lang="tr-TR" dirty="0"/>
              <a:t>', 'bat', '</a:t>
            </a:r>
            <a:r>
              <a:rPr lang="tr-TR" dirty="0" err="1"/>
              <a:t>rat</a:t>
            </a:r>
            <a:r>
              <a:rPr lang="tr-TR" dirty="0"/>
              <a:t>', '</a:t>
            </a:r>
            <a:r>
              <a:rPr lang="tr-TR" dirty="0" err="1"/>
              <a:t>elephant</a:t>
            </a:r>
            <a:r>
              <a:rPr lang="tr-TR" dirty="0"/>
              <a:t>’]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&gt;&gt;&gt; spam[1]</a:t>
            </a:r>
          </a:p>
          <a:p>
            <a:pPr marL="0" indent="0">
              <a:buNone/>
            </a:pPr>
            <a:r>
              <a:rPr lang="en-US" dirty="0"/>
              <a:t>[10, 20, 30, 40, 50]</a:t>
            </a:r>
          </a:p>
          <a:p>
            <a:pPr marL="0" indent="0">
              <a:buNone/>
            </a:pPr>
            <a:r>
              <a:rPr lang="en-US" dirty="0"/>
              <a:t>&gt;&gt;&gt; spam[3]</a:t>
            </a:r>
          </a:p>
          <a:p>
            <a:pPr marL="0" indent="0">
              <a:buNone/>
            </a:pPr>
            <a:r>
              <a:rPr lang="en-US" dirty="0" err="1"/>
              <a:t>IndexError</a:t>
            </a:r>
            <a:r>
              <a:rPr lang="en-US" dirty="0"/>
              <a:t>: list index out of range</a:t>
            </a:r>
          </a:p>
          <a:p>
            <a:pPr marL="0" indent="0">
              <a:buNone/>
            </a:pPr>
            <a:r>
              <a:rPr lang="en-US" dirty="0"/>
              <a:t>&gt;&gt;&gt; spam[0][1]</a:t>
            </a:r>
          </a:p>
          <a:p>
            <a:pPr marL="0" indent="0">
              <a:buNone/>
            </a:pPr>
            <a:r>
              <a:rPr lang="en-US" dirty="0"/>
              <a:t>'bat'</a:t>
            </a:r>
          </a:p>
          <a:p>
            <a:pPr marL="0" indent="0">
              <a:buNone/>
            </a:pPr>
            <a:r>
              <a:rPr lang="en-US" dirty="0"/>
              <a:t>&gt;&gt;&gt; spam[1][4]</a:t>
            </a:r>
          </a:p>
          <a:p>
            <a:pPr marL="0" indent="0">
              <a:buNone/>
            </a:pPr>
            <a:r>
              <a:rPr lang="en-US" dirty="0"/>
              <a:t>50</a:t>
            </a:r>
          </a:p>
        </p:txBody>
      </p:sp>
      <p:pic>
        <p:nvPicPr>
          <p:cNvPr id="8194" name="Picture 2" descr="maya ruins ile ilgili görsel sonucu">
            <a:extLst>
              <a:ext uri="{FF2B5EF4-FFF2-40B4-BE49-F238E27FC236}">
                <a16:creationId xmlns:a16="http://schemas.microsoft.com/office/drawing/2014/main" id="{1ACF3EC6-6A44-40BB-8EEE-99ADA373A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001" y="2672741"/>
            <a:ext cx="4788614" cy="319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256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tr-TR" dirty="0"/>
              <a:t>Negative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49531"/>
            <a:ext cx="4104000" cy="2229395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The integer value -1 </a:t>
            </a:r>
            <a:endParaRPr lang="tr-TR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refers to the last index in a list, </a:t>
            </a:r>
            <a:endParaRPr lang="tr-TR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the value -2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refers to the second-to-last index in a list, </a:t>
            </a:r>
            <a:endParaRPr lang="tr-TR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and so on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spam = ['cat', 'bat', 'rat', 'elephant']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spam[-1]</a:t>
            </a:r>
          </a:p>
          <a:p>
            <a:pPr marL="0" indent="0">
              <a:buNone/>
            </a:pPr>
            <a:r>
              <a:rPr lang="en-US" dirty="0"/>
              <a:t>'elephant'</a:t>
            </a:r>
          </a:p>
          <a:p>
            <a:pPr marL="0" indent="0">
              <a:buNone/>
            </a:pPr>
            <a:r>
              <a:rPr lang="en-US" dirty="0"/>
              <a:t>&gt;&gt;&gt; spam[-2]</a:t>
            </a:r>
          </a:p>
          <a:p>
            <a:pPr marL="0" indent="0">
              <a:buNone/>
            </a:pPr>
            <a:r>
              <a:rPr lang="en-US" dirty="0"/>
              <a:t>'rat'</a:t>
            </a:r>
          </a:p>
          <a:p>
            <a:pPr marL="0" indent="0">
              <a:buNone/>
            </a:pPr>
            <a:r>
              <a:rPr lang="en-US" dirty="0"/>
              <a:t>&gt;&gt;&gt; spam[-3]</a:t>
            </a:r>
          </a:p>
          <a:p>
            <a:pPr marL="0" indent="0">
              <a:buNone/>
            </a:pPr>
            <a:r>
              <a:rPr lang="en-US" dirty="0"/>
              <a:t>'bat'</a:t>
            </a:r>
          </a:p>
          <a:p>
            <a:pPr marL="0" indent="0">
              <a:buNone/>
            </a:pPr>
            <a:r>
              <a:rPr lang="en-US" dirty="0"/>
              <a:t>&gt;&gt;&gt; spam[-4]</a:t>
            </a:r>
          </a:p>
          <a:p>
            <a:pPr marL="0" indent="0">
              <a:buNone/>
            </a:pPr>
            <a:r>
              <a:rPr lang="en-US" dirty="0"/>
              <a:t>'cat'</a:t>
            </a:r>
          </a:p>
          <a:p>
            <a:pPr marL="0" indent="0">
              <a:buNone/>
            </a:pPr>
            <a:r>
              <a:rPr lang="en-US" dirty="0"/>
              <a:t>&gt;&gt;&gt; spam[-5]</a:t>
            </a:r>
          </a:p>
          <a:p>
            <a:pPr marL="0" indent="0">
              <a:buNone/>
            </a:pPr>
            <a:r>
              <a:rPr lang="en-US" dirty="0" err="1"/>
              <a:t>IndexError</a:t>
            </a:r>
            <a:r>
              <a:rPr lang="en-US" dirty="0"/>
              <a:t>: list index out of range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2ABDC2-5EFE-4C77-AC6C-5FBA3E468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92" y="3509554"/>
            <a:ext cx="4456776" cy="295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75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64" y="1165839"/>
            <a:ext cx="8505000" cy="324000"/>
          </a:xfrm>
        </p:spPr>
        <p:txBody>
          <a:bodyPr/>
          <a:lstStyle/>
          <a:p>
            <a:r>
              <a:rPr lang="tr-TR" dirty="0"/>
              <a:t>Getting Sublists with Slices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Slice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683349"/>
            <a:ext cx="1731152" cy="1673908"/>
          </a:xfrm>
        </p:spPr>
        <p:txBody>
          <a:bodyPr/>
          <a:lstStyle/>
          <a:p>
            <a:pPr algn="l"/>
            <a:r>
              <a:rPr lang="tr-TR" b="1" dirty="0"/>
              <a:t>Construc a new list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can get several values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from a list</a:t>
            </a:r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Represent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556" y="4688112"/>
            <a:ext cx="1839467" cy="1712688"/>
          </a:xfrm>
        </p:spPr>
        <p:txBody>
          <a:bodyPr/>
          <a:lstStyle/>
          <a:p>
            <a:pPr algn="l"/>
            <a:r>
              <a:rPr lang="en-US" b="1" dirty="0"/>
              <a:t>A slice is typed 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between square brackets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like an index</a:t>
            </a:r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[i:j]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41073" y="4688111"/>
            <a:ext cx="1314995" cy="1371725"/>
          </a:xfrm>
        </p:spPr>
        <p:txBody>
          <a:bodyPr/>
          <a:lstStyle/>
          <a:p>
            <a:pPr algn="l"/>
            <a:r>
              <a:rPr lang="tr-TR" b="1" dirty="0"/>
              <a:t>two integers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it has two integers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separated by a </a:t>
            </a:r>
            <a:r>
              <a:rPr lang="en-US" b="1" dirty="0"/>
              <a:t>colon</a:t>
            </a:r>
            <a:endParaRPr lang="tr-TR" b="1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30100" y="3917626"/>
            <a:ext cx="1620440" cy="504000"/>
          </a:xfrm>
        </p:spPr>
        <p:txBody>
          <a:bodyPr/>
          <a:lstStyle/>
          <a:p>
            <a:r>
              <a:rPr lang="tr-TR" dirty="0"/>
              <a:t>spam[i]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99908" y="4683646"/>
            <a:ext cx="1446129" cy="1081427"/>
          </a:xfrm>
        </p:spPr>
        <p:txBody>
          <a:bodyPr/>
          <a:lstStyle/>
          <a:p>
            <a:pPr algn="l"/>
            <a:r>
              <a:rPr lang="tr-TR" b="1" dirty="0"/>
              <a:t>Value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Value in a list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spam[i:j]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80663" y="4688111"/>
            <a:ext cx="1346889" cy="1480213"/>
          </a:xfrm>
        </p:spPr>
        <p:txBody>
          <a:bodyPr/>
          <a:lstStyle/>
          <a:p>
            <a:pPr algn="l"/>
            <a:r>
              <a:rPr lang="tr-TR" b="1" dirty="0"/>
              <a:t>list of items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is a list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with a slice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887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tr-TR" dirty="0"/>
              <a:t>Getting Sublists with Slices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49532"/>
            <a:ext cx="4104000" cy="53993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spam = ['cat', 'bat', 'rat', 'elephant']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4450056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spam[0:4]</a:t>
            </a:r>
          </a:p>
          <a:p>
            <a:pPr marL="0" indent="0">
              <a:buNone/>
            </a:pPr>
            <a:r>
              <a:rPr lang="en-US" dirty="0"/>
              <a:t>['cat', 'bat', 'rat', 'elephant']</a:t>
            </a:r>
          </a:p>
          <a:p>
            <a:pPr marL="0" indent="0">
              <a:buNone/>
            </a:pPr>
            <a:r>
              <a:rPr lang="en-US" dirty="0"/>
              <a:t>&gt;&gt;&gt; spam[1:3]</a:t>
            </a:r>
          </a:p>
          <a:p>
            <a:pPr marL="0" indent="0">
              <a:buNone/>
            </a:pPr>
            <a:r>
              <a:rPr lang="en-US" dirty="0"/>
              <a:t>['bat', 'rat']</a:t>
            </a:r>
          </a:p>
          <a:p>
            <a:pPr marL="0" indent="0">
              <a:buNone/>
            </a:pPr>
            <a:r>
              <a:rPr lang="en-US" dirty="0"/>
              <a:t>&gt;&gt;&gt; spam[0:-1]</a:t>
            </a:r>
          </a:p>
          <a:p>
            <a:pPr marL="0" indent="0">
              <a:buNone/>
            </a:pPr>
            <a:r>
              <a:rPr lang="en-US" dirty="0"/>
              <a:t>['cat', 'bat', 'rat’]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&gt;&gt;&gt; spam[:2]</a:t>
            </a:r>
          </a:p>
          <a:p>
            <a:pPr marL="0" indent="0">
              <a:buNone/>
            </a:pPr>
            <a:r>
              <a:rPr lang="en-US" dirty="0"/>
              <a:t>['cat', 'bat']</a:t>
            </a:r>
          </a:p>
          <a:p>
            <a:pPr marL="0" indent="0">
              <a:buNone/>
            </a:pPr>
            <a:r>
              <a:rPr lang="en-US" dirty="0"/>
              <a:t>&gt;&gt;&gt; spam[1:]</a:t>
            </a:r>
          </a:p>
          <a:p>
            <a:pPr marL="0" indent="0">
              <a:buNone/>
            </a:pPr>
            <a:r>
              <a:rPr lang="en-US" dirty="0"/>
              <a:t>['bat', 'rat', 'elephant']</a:t>
            </a:r>
          </a:p>
          <a:p>
            <a:pPr marL="0" indent="0">
              <a:buNone/>
            </a:pPr>
            <a:r>
              <a:rPr lang="en-US" dirty="0"/>
              <a:t>&gt;&gt;&gt; spam[:]</a:t>
            </a:r>
          </a:p>
          <a:p>
            <a:pPr marL="0" indent="0">
              <a:buNone/>
            </a:pPr>
            <a:r>
              <a:rPr lang="en-US" dirty="0"/>
              <a:t>['cat', 'bat', 'rat', 'elephant']</a:t>
            </a:r>
          </a:p>
        </p:txBody>
      </p:sp>
      <p:pic>
        <p:nvPicPr>
          <p:cNvPr id="9218" name="Picture 2" descr="göbeklitepe ile ilgili görsel sonucu">
            <a:extLst>
              <a:ext uri="{FF2B5EF4-FFF2-40B4-BE49-F238E27FC236}">
                <a16:creationId xmlns:a16="http://schemas.microsoft.com/office/drawing/2014/main" id="{2A44BBA7-5649-48C2-940C-DD4FADC1D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37" y="2560320"/>
            <a:ext cx="4480560" cy="2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994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en-US" dirty="0"/>
              <a:t>Getting </a:t>
            </a:r>
            <a:r>
              <a:rPr lang="tr-TR" dirty="0"/>
              <a:t>A List’s Lenght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len()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tr-TR" b="1" dirty="0"/>
              <a:t>returns</a:t>
            </a:r>
          </a:p>
          <a:p>
            <a:r>
              <a:rPr lang="en-US" dirty="0"/>
              <a:t>the number of values </a:t>
            </a:r>
            <a:endParaRPr lang="tr-TR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53053" y="2768302"/>
            <a:ext cx="2690947" cy="432000"/>
          </a:xfrm>
        </p:spPr>
        <p:txBody>
          <a:bodyPr/>
          <a:lstStyle/>
          <a:p>
            <a:r>
              <a:rPr lang="tr-TR" sz="1200" dirty="0"/>
              <a:t>count characters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837662"/>
          </a:xfrm>
        </p:spPr>
        <p:txBody>
          <a:bodyPr/>
          <a:lstStyle/>
          <a:p>
            <a:r>
              <a:rPr lang="en-US" b="1" dirty="0"/>
              <a:t>can count </a:t>
            </a:r>
            <a:endParaRPr lang="tr-TR" b="1" dirty="0"/>
          </a:p>
          <a:p>
            <a:r>
              <a:rPr lang="en-US" dirty="0"/>
              <a:t>the number of characters</a:t>
            </a:r>
            <a:endParaRPr lang="tr-TR" dirty="0"/>
          </a:p>
          <a:p>
            <a:r>
              <a:rPr lang="en-US" dirty="0"/>
              <a:t>in a string value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/>
              <a:t>len(spam)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r>
              <a:rPr lang="tr-TR" b="1" dirty="0"/>
              <a:t>spam = ['cat', 'dog', 'moose’]</a:t>
            </a:r>
          </a:p>
          <a:p>
            <a:r>
              <a:rPr lang="tr-TR" dirty="0"/>
              <a:t>&gt;&gt;&gt; len(spam)</a:t>
            </a:r>
          </a:p>
          <a:p>
            <a:r>
              <a:rPr lang="en-US" dirty="0"/>
              <a:t>3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3" name="Picture Placeholder 12" descr="A bench in front of a building&#10;&#10;Description automatically generated">
            <a:extLst>
              <a:ext uri="{FF2B5EF4-FFF2-40B4-BE49-F238E27FC236}">
                <a16:creationId xmlns:a16="http://schemas.microsoft.com/office/drawing/2014/main" id="{C2227F86-A3BC-43DA-A2F2-76CC0576EF83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l="22024" r="220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93004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en-US" dirty="0"/>
              <a:t>Changing Values in a List with Indexes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3818" y="883138"/>
            <a:ext cx="4291096" cy="211417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list[i] = value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buNone/>
            </a:pPr>
            <a:r>
              <a:rPr lang="tr-TR" b="1" dirty="0"/>
              <a:t>assign</a:t>
            </a:r>
          </a:p>
          <a:p>
            <a:r>
              <a:rPr lang="en-US" dirty="0"/>
              <a:t>the </a:t>
            </a:r>
            <a:r>
              <a:rPr lang="tr-TR" dirty="0"/>
              <a:t>value to the list element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spam = ['cat', 'bat', 'rat', 'elephant']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spam[1] = 'aardvark'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7830" y="817290"/>
            <a:ext cx="4103712" cy="517711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spam = ['cat', 'bat', 'rat', 'elephant']</a:t>
            </a:r>
          </a:p>
          <a:p>
            <a:pPr marL="0" indent="0">
              <a:buNone/>
            </a:pPr>
            <a:r>
              <a:rPr lang="en-US" dirty="0"/>
              <a:t>&gt;&gt;&gt; spam</a:t>
            </a:r>
          </a:p>
          <a:p>
            <a:pPr marL="0" indent="0">
              <a:buNone/>
            </a:pPr>
            <a:r>
              <a:rPr lang="en-US" dirty="0"/>
              <a:t>['cat', 'bat', 'rat', 'elephant']</a:t>
            </a:r>
          </a:p>
          <a:p>
            <a:pPr marL="0" indent="0">
              <a:buNone/>
            </a:pPr>
            <a:r>
              <a:rPr lang="en-US" dirty="0"/>
              <a:t>&gt;&gt;&gt; spam[1] = 'aardvark'</a:t>
            </a:r>
          </a:p>
          <a:p>
            <a:pPr marL="0" indent="0">
              <a:buNone/>
            </a:pPr>
            <a:r>
              <a:rPr lang="en-US" dirty="0"/>
              <a:t>&gt;&gt;&gt; spam</a:t>
            </a:r>
          </a:p>
          <a:p>
            <a:pPr marL="0" indent="0">
              <a:buNone/>
            </a:pPr>
            <a:r>
              <a:rPr lang="en-US" dirty="0"/>
              <a:t>['cat', 'aardvark', 'rat', 'elephant']</a:t>
            </a:r>
          </a:p>
          <a:p>
            <a:pPr marL="0" indent="0">
              <a:buNone/>
            </a:pPr>
            <a:r>
              <a:rPr lang="en-US" dirty="0"/>
              <a:t>&gt;&gt;&gt; spam[2] = spam[1]</a:t>
            </a:r>
          </a:p>
          <a:p>
            <a:pPr marL="0" indent="0">
              <a:buNone/>
            </a:pPr>
            <a:r>
              <a:rPr lang="en-US" dirty="0"/>
              <a:t>&gt;&gt;&gt; spam</a:t>
            </a:r>
          </a:p>
          <a:p>
            <a:pPr marL="0" indent="0">
              <a:buNone/>
            </a:pPr>
            <a:r>
              <a:rPr lang="en-US" dirty="0"/>
              <a:t>['cat', 'aardvark', 'aardvark', 'elephant']</a:t>
            </a:r>
          </a:p>
          <a:p>
            <a:pPr marL="0" indent="0">
              <a:buNone/>
            </a:pPr>
            <a:r>
              <a:rPr lang="en-US" dirty="0"/>
              <a:t>&gt;&gt;&gt; spam[-1] = 12345</a:t>
            </a:r>
          </a:p>
          <a:p>
            <a:pPr marL="0" indent="0">
              <a:buNone/>
            </a:pPr>
            <a:r>
              <a:rPr lang="en-US" dirty="0"/>
              <a:t>&gt;&gt;&gt; spam</a:t>
            </a:r>
          </a:p>
          <a:p>
            <a:pPr marL="0" indent="0">
              <a:buNone/>
            </a:pPr>
            <a:r>
              <a:rPr lang="en-US" dirty="0"/>
              <a:t>['cat', 'aardvark', 'aardvark', 12345]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3E7C28-59D2-4E5C-9F7A-EBFCBEE0B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48" y="3105441"/>
            <a:ext cx="4273452" cy="284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58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Concatenation and List Replication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dirty="0"/>
              <a:t>The + operator </a:t>
            </a:r>
            <a:r>
              <a:rPr lang="tr-TR" dirty="0"/>
              <a:t>&amp; </a:t>
            </a:r>
            <a:r>
              <a:rPr lang="en-US" dirty="0"/>
              <a:t>The * operator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The + operator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900000"/>
          </a:xfrm>
        </p:spPr>
        <p:txBody>
          <a:bodyPr/>
          <a:lstStyle/>
          <a:p>
            <a:r>
              <a:rPr lang="en-US" dirty="0"/>
              <a:t>combine two lists </a:t>
            </a:r>
            <a:endParaRPr lang="tr-TR" dirty="0"/>
          </a:p>
          <a:p>
            <a:r>
              <a:rPr lang="en-US" dirty="0"/>
              <a:t>to create a new list value</a:t>
            </a:r>
            <a:endParaRPr lang="en-US" b="1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The * operator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3533" y="4688112"/>
            <a:ext cx="2039816" cy="900000"/>
          </a:xfrm>
        </p:spPr>
        <p:txBody>
          <a:bodyPr vert="horz" lIns="0" tIns="0" rIns="0" bIns="0" rtlCol="0">
            <a:noAutofit/>
          </a:bodyPr>
          <a:lstStyle/>
          <a:p>
            <a:r>
              <a:rPr lang="en-US" dirty="0"/>
              <a:t>used with a list and an integer value </a:t>
            </a:r>
            <a:endParaRPr lang="tr-TR" dirty="0"/>
          </a:p>
          <a:p>
            <a:r>
              <a:rPr lang="en-US" dirty="0"/>
              <a:t>to replicate the list</a:t>
            </a:r>
            <a:endParaRPr lang="en-US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4175" y="3870065"/>
            <a:ext cx="2196102" cy="504000"/>
          </a:xfrm>
        </p:spPr>
        <p:txBody>
          <a:bodyPr/>
          <a:lstStyle/>
          <a:p>
            <a:r>
              <a:rPr lang="tr-TR" dirty="0"/>
              <a:t>[1, 2, 3] + ['A', 'B', 'C']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47566" y="4627376"/>
            <a:ext cx="2210170" cy="1210716"/>
          </a:xfrm>
        </p:spPr>
        <p:txBody>
          <a:bodyPr/>
          <a:lstStyle/>
          <a:p>
            <a:r>
              <a:rPr lang="tr-TR" dirty="0"/>
              <a:t>[1, 2, 3, 'A', 'B', 'C']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846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Concatenation and Replication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93744"/>
            <a:ext cx="3725486" cy="48031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Examples to show the usage of + and *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[1, 2, 3] + ['A', 'B', 'C']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[1, 2, 3, 'A', 'B', 'C’]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['X', 'Y', 'Z'] *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['X', 'Y', 'Z', 'X', 'Y', 'Z', 'X', 'Y', 'Z’]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 = [1, 2, 3]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 = spam + ['A', 'B', 'C']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[1, 2, 3, 'A', 'B', 'C']</a:t>
            </a:r>
            <a:endParaRPr lang="tr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6C6B3A-91E0-4ADF-84DA-BD2CBDE74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44" y="1707829"/>
            <a:ext cx="3720904" cy="496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48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en-US" dirty="0"/>
              <a:t>Removing Values from Lists </a:t>
            </a:r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en-US" dirty="0"/>
              <a:t>del Statement</a:t>
            </a:r>
            <a:endParaRPr lang="tr-TR" dirty="0"/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tr-TR" b="1" dirty="0"/>
              <a:t>del list[i]</a:t>
            </a:r>
          </a:p>
          <a:p>
            <a:r>
              <a:rPr lang="en-US" dirty="0"/>
              <a:t>delete values </a:t>
            </a:r>
            <a:endParaRPr lang="tr-TR" dirty="0"/>
          </a:p>
          <a:p>
            <a:r>
              <a:rPr lang="en-US" dirty="0"/>
              <a:t>at an index in a list</a:t>
            </a:r>
            <a:endParaRPr lang="tr-TR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53053" y="2768302"/>
            <a:ext cx="2690947" cy="432000"/>
          </a:xfrm>
        </p:spPr>
        <p:txBody>
          <a:bodyPr/>
          <a:lstStyle/>
          <a:p>
            <a:r>
              <a:rPr lang="tr-TR" sz="1200" dirty="0"/>
              <a:t>move elements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00800" y="3333744"/>
            <a:ext cx="2545477" cy="1055376"/>
          </a:xfrm>
        </p:spPr>
        <p:txBody>
          <a:bodyPr/>
          <a:lstStyle/>
          <a:p>
            <a:r>
              <a:rPr lang="tr-TR" dirty="0"/>
              <a:t>All of the values </a:t>
            </a:r>
            <a:r>
              <a:rPr lang="en-US" dirty="0"/>
              <a:t>in the list </a:t>
            </a:r>
            <a:endParaRPr lang="tr-TR" dirty="0"/>
          </a:p>
          <a:p>
            <a:r>
              <a:rPr lang="en-US" dirty="0"/>
              <a:t>after the deleted value </a:t>
            </a:r>
            <a:endParaRPr lang="tr-TR" dirty="0"/>
          </a:p>
          <a:p>
            <a:r>
              <a:rPr lang="en-US" dirty="0"/>
              <a:t>will be moved up one index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/>
              <a:t>unassignment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r>
              <a:rPr lang="en-US" b="1" dirty="0"/>
              <a:t>del statement </a:t>
            </a:r>
            <a:endParaRPr lang="tr-TR" b="1" dirty="0"/>
          </a:p>
          <a:p>
            <a:r>
              <a:rPr lang="en-US" dirty="0"/>
              <a:t>can also be used </a:t>
            </a:r>
            <a:endParaRPr lang="tr-TR" dirty="0"/>
          </a:p>
          <a:p>
            <a:r>
              <a:rPr lang="tr-TR" dirty="0" err="1"/>
              <a:t>to</a:t>
            </a:r>
            <a:r>
              <a:rPr lang="tr-TR" dirty="0"/>
              <a:t> </a:t>
            </a:r>
            <a:r>
              <a:rPr lang="en-US" dirty="0"/>
              <a:t>delete a simple variable 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3" name="Picture Placeholder 12" descr="A bench in front of a building&#10;&#10;Description automatically generated">
            <a:extLst>
              <a:ext uri="{FF2B5EF4-FFF2-40B4-BE49-F238E27FC236}">
                <a16:creationId xmlns:a16="http://schemas.microsoft.com/office/drawing/2014/main" id="{C2227F86-A3BC-43DA-A2F2-76CC0576EF83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l="22024" r="220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10980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Deleting element from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93744"/>
            <a:ext cx="3725486" cy="48031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Examples to show the usage of del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 = ['cat', 'bat', 'rat', 'elephant']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del spam[2]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['cat', 'bat', 'elephant’]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del spam[2]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['cat', 'bat’]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del spam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NameError</a:t>
            </a:r>
            <a:r>
              <a:rPr lang="en-US" dirty="0"/>
              <a:t>: name 'spam' is not defined</a:t>
            </a:r>
            <a:endParaRPr lang="tr-T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3FAAA6-AEC0-401E-A546-6766D2FDD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06" y="1756229"/>
            <a:ext cx="2895801" cy="439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24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Chapter-4 Lists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with Lists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2050" name="Picture 2" descr="ancient china ile ilgili görsel sonucu">
            <a:extLst>
              <a:ext uri="{FF2B5EF4-FFF2-40B4-BE49-F238E27FC236}">
                <a16:creationId xmlns:a16="http://schemas.microsoft.com/office/drawing/2014/main" id="{C90FCD2B-2E43-401D-9BA6-58BB3D5DC3C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0" r="1871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049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64" y="1165839"/>
            <a:ext cx="8505000" cy="324000"/>
          </a:xfrm>
        </p:spPr>
        <p:txBody>
          <a:bodyPr/>
          <a:lstStyle/>
          <a:p>
            <a:r>
              <a:rPr lang="tr-TR" dirty="0"/>
              <a:t>Using list to prevent repetition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No repetition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683350"/>
            <a:ext cx="1620000" cy="1070336"/>
          </a:xfrm>
        </p:spPr>
        <p:txBody>
          <a:bodyPr/>
          <a:lstStyle/>
          <a:p>
            <a:pPr algn="l"/>
            <a:r>
              <a:rPr lang="tr-TR" b="1" dirty="0"/>
              <a:t>single list</a:t>
            </a:r>
          </a:p>
          <a:p>
            <a:pPr algn="l"/>
            <a:r>
              <a:rPr lang="en-US" dirty="0"/>
              <a:t>Instead of using multiple, repetitive variables </a:t>
            </a:r>
            <a:endParaRPr lang="tr-TR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List variable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l"/>
            <a:r>
              <a:rPr lang="en-US" dirty="0"/>
              <a:t>use a single</a:t>
            </a:r>
            <a:r>
              <a:rPr lang="tr-TR" dirty="0"/>
              <a:t> </a:t>
            </a:r>
            <a:r>
              <a:rPr lang="en-US" dirty="0"/>
              <a:t>variable </a:t>
            </a:r>
            <a:endParaRPr lang="tr-TR" dirty="0"/>
          </a:p>
          <a:p>
            <a:pPr algn="l"/>
            <a:r>
              <a:rPr lang="en-US" dirty="0"/>
              <a:t>contains a list value</a:t>
            </a:r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Grouping values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5407" y="4688111"/>
            <a:ext cx="1620441" cy="1371725"/>
          </a:xfrm>
        </p:spPr>
        <p:txBody>
          <a:bodyPr/>
          <a:lstStyle/>
          <a:p>
            <a:pPr algn="l"/>
            <a:r>
              <a:rPr lang="tr-TR" dirty="0"/>
              <a:t>help to group values</a:t>
            </a:r>
          </a:p>
          <a:p>
            <a:pPr algn="l"/>
            <a:r>
              <a:rPr lang="tr-TR" dirty="0"/>
              <a:t>similar to each other</a:t>
            </a:r>
            <a:endParaRPr lang="en-US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my cats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40399" y="4683646"/>
            <a:ext cx="1366301" cy="1560399"/>
          </a:xfrm>
        </p:spPr>
        <p:txBody>
          <a:bodyPr/>
          <a:lstStyle/>
          <a:p>
            <a:pPr algn="l"/>
            <a:r>
              <a:rPr lang="tr-TR" dirty="0"/>
              <a:t>Keep all of my cats</a:t>
            </a:r>
          </a:p>
          <a:p>
            <a:pPr algn="l"/>
            <a:r>
              <a:rPr lang="tr-TR" dirty="0"/>
              <a:t>in a single list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Alternative to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61249" y="4688111"/>
            <a:ext cx="1620441" cy="1582060"/>
          </a:xfrm>
        </p:spPr>
        <p:txBody>
          <a:bodyPr/>
          <a:lstStyle/>
          <a:p>
            <a:pPr algn="l"/>
            <a:r>
              <a:rPr lang="tr-TR" dirty="0"/>
              <a:t>creating an individual variable</a:t>
            </a:r>
          </a:p>
          <a:p>
            <a:pPr algn="l"/>
            <a:r>
              <a:rPr lang="tr-TR" dirty="0"/>
              <a:t>for each of my cats</a:t>
            </a:r>
          </a:p>
          <a:p>
            <a:pPr algn="l"/>
            <a:endParaRPr lang="tr-TR" dirty="0"/>
          </a:p>
          <a:p>
            <a:pPr algn="l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87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Get all my cats: </a:t>
            </a:r>
            <a:r>
              <a:rPr lang="tr-TR" i="1" dirty="0"/>
              <a:t>allMyCats1.py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25414"/>
            <a:ext cx="4104000" cy="5078437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print('Enter the name of cat 1:')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catName1 = input()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print('Enter the name of cat 2:')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catName2 = input()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print('Enter the name of cat 3:')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catName3 = input()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print('Enter the name of cat 4:')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catName4 = input()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print('Enter the name of cat 5:')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catName5 = input()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print('Enter the name of cat 6:')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catName6 = input()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print('The cat names are:')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print(catName1 + ' ' + catName2 + ' ' + catName3 + ' ' + catName4 + ' '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catName5 + ' ' + catName6)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Enter the name of cat 1:</a:t>
            </a:r>
          </a:p>
          <a:p>
            <a:pPr marL="0" indent="0">
              <a:buNone/>
            </a:pPr>
            <a:r>
              <a:rPr lang="en-US" dirty="0"/>
              <a:t>'</a:t>
            </a:r>
            <a:r>
              <a:rPr lang="en-US" dirty="0" err="1"/>
              <a:t>Zophie</a:t>
            </a:r>
            <a:r>
              <a:rPr lang="en-US" dirty="0"/>
              <a:t>'</a:t>
            </a:r>
          </a:p>
          <a:p>
            <a:pPr marL="0" indent="0">
              <a:buNone/>
            </a:pPr>
            <a:r>
              <a:rPr lang="en-US" dirty="0"/>
              <a:t>Enter the name of cat 2:</a:t>
            </a:r>
          </a:p>
          <a:p>
            <a:pPr marL="0" indent="0">
              <a:buNone/>
            </a:pPr>
            <a:r>
              <a:rPr lang="en-US" dirty="0"/>
              <a:t>'Pooka'</a:t>
            </a:r>
          </a:p>
          <a:p>
            <a:pPr marL="0" indent="0">
              <a:buNone/>
            </a:pPr>
            <a:r>
              <a:rPr lang="en-US" dirty="0"/>
              <a:t>Enter the name of cat 3:</a:t>
            </a:r>
          </a:p>
          <a:p>
            <a:pPr marL="0" indent="0">
              <a:buNone/>
            </a:pPr>
            <a:r>
              <a:rPr lang="en-US" dirty="0"/>
              <a:t>'Simon'</a:t>
            </a:r>
          </a:p>
          <a:p>
            <a:pPr marL="0" indent="0">
              <a:buNone/>
            </a:pPr>
            <a:r>
              <a:rPr lang="en-US" dirty="0"/>
              <a:t>Enter the name of cat 4:</a:t>
            </a:r>
          </a:p>
          <a:p>
            <a:pPr marL="0" indent="0">
              <a:buNone/>
            </a:pPr>
            <a:r>
              <a:rPr lang="en-US" dirty="0"/>
              <a:t>'Lady Macbeth'</a:t>
            </a:r>
          </a:p>
          <a:p>
            <a:pPr marL="0" indent="0">
              <a:buNone/>
            </a:pPr>
            <a:r>
              <a:rPr lang="en-US" dirty="0"/>
              <a:t>Enter the name of cat 5:</a:t>
            </a:r>
          </a:p>
          <a:p>
            <a:pPr marL="0" indent="0">
              <a:buNone/>
            </a:pPr>
            <a:r>
              <a:rPr lang="en-US" dirty="0"/>
              <a:t>'Fat-tail'</a:t>
            </a:r>
          </a:p>
          <a:p>
            <a:pPr marL="0" indent="0">
              <a:buNone/>
            </a:pPr>
            <a:r>
              <a:rPr lang="en-US" dirty="0"/>
              <a:t>Enter the name of cat 6:</a:t>
            </a:r>
          </a:p>
          <a:p>
            <a:pPr marL="0" indent="0">
              <a:buNone/>
            </a:pPr>
            <a:r>
              <a:rPr lang="en-US" dirty="0"/>
              <a:t>'Miss Cleo'</a:t>
            </a:r>
          </a:p>
          <a:p>
            <a:pPr marL="0" indent="0">
              <a:buNone/>
            </a:pPr>
            <a:r>
              <a:rPr lang="en-US" dirty="0"/>
              <a:t>The cat names are:</a:t>
            </a:r>
          </a:p>
          <a:p>
            <a:pPr marL="0" indent="0">
              <a:buNone/>
            </a:pPr>
            <a:r>
              <a:rPr lang="en-US" dirty="0"/>
              <a:t>'</a:t>
            </a:r>
            <a:r>
              <a:rPr lang="en-US" dirty="0" err="1"/>
              <a:t>Zophie</a:t>
            </a:r>
            <a:r>
              <a:rPr lang="en-US" dirty="0"/>
              <a:t>' 'Pooka' 'Simon' 'Lady Macbeth' 'Fat-tail' 'Miss Cleo'</a:t>
            </a:r>
          </a:p>
        </p:txBody>
      </p:sp>
    </p:spTree>
    <p:extLst>
      <p:ext uri="{BB962C8B-B14F-4D97-AF65-F5344CB8AC3E}">
        <p14:creationId xmlns:p14="http://schemas.microsoft.com/office/powerpoint/2010/main" val="4159866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Get all my cats: </a:t>
            </a:r>
            <a:r>
              <a:rPr lang="tr-TR" i="1" dirty="0"/>
              <a:t>allMyCats2.py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940526"/>
            <a:ext cx="4104000" cy="5263326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catNames</a:t>
            </a:r>
            <a:r>
              <a:rPr lang="en-US" dirty="0"/>
              <a:t> = []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while True: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print('Enter the name of cat ' + str(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catNames</a:t>
            </a:r>
            <a:r>
              <a:rPr lang="en-US" dirty="0"/>
              <a:t>) + 1) + ' (Or enter nothing to stop.):')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name = input()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if name == '':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break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catNames</a:t>
            </a:r>
            <a:r>
              <a:rPr lang="en-US" dirty="0"/>
              <a:t> = </a:t>
            </a:r>
            <a:r>
              <a:rPr lang="en-US" dirty="0" err="1"/>
              <a:t>catNames</a:t>
            </a:r>
            <a:r>
              <a:rPr lang="en-US" dirty="0"/>
              <a:t> + [name] # list concatenation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print('The cat names are:')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for name in </a:t>
            </a:r>
            <a:r>
              <a:rPr lang="en-US" dirty="0" err="1"/>
              <a:t>catNames</a:t>
            </a:r>
            <a:r>
              <a:rPr lang="en-US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print(' ' + name)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365760"/>
            <a:ext cx="4103712" cy="592249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Enter the name of cat 1 (Or enter nothing to stop.):</a:t>
            </a:r>
          </a:p>
          <a:p>
            <a:pPr marL="0" indent="0">
              <a:buNone/>
            </a:pPr>
            <a:r>
              <a:rPr lang="en-US" dirty="0"/>
              <a:t>'</a:t>
            </a:r>
            <a:r>
              <a:rPr lang="en-US" dirty="0" err="1"/>
              <a:t>Zophie</a:t>
            </a:r>
            <a:r>
              <a:rPr lang="en-US" dirty="0"/>
              <a:t>'</a:t>
            </a:r>
          </a:p>
          <a:p>
            <a:pPr marL="0" indent="0">
              <a:buNone/>
            </a:pPr>
            <a:r>
              <a:rPr lang="en-US" dirty="0"/>
              <a:t>Enter the name of cat 2 (Or enter nothing to stop.):</a:t>
            </a:r>
          </a:p>
          <a:p>
            <a:pPr marL="0" indent="0">
              <a:buNone/>
            </a:pPr>
            <a:r>
              <a:rPr lang="en-US" dirty="0"/>
              <a:t>'Pooka'</a:t>
            </a:r>
          </a:p>
          <a:p>
            <a:pPr marL="0" indent="0">
              <a:buNone/>
            </a:pPr>
            <a:r>
              <a:rPr lang="en-US" dirty="0"/>
              <a:t>Enter the name of cat 3 (Or enter nothing to stop.):</a:t>
            </a:r>
          </a:p>
          <a:p>
            <a:pPr marL="0" indent="0">
              <a:buNone/>
            </a:pPr>
            <a:r>
              <a:rPr lang="en-US" dirty="0"/>
              <a:t>'Simon'</a:t>
            </a:r>
          </a:p>
          <a:p>
            <a:pPr marL="0" indent="0">
              <a:buNone/>
            </a:pPr>
            <a:r>
              <a:rPr lang="en-US" dirty="0"/>
              <a:t>Enter the name of cat 4 (Or enter nothing to stop.):</a:t>
            </a:r>
          </a:p>
          <a:p>
            <a:pPr marL="0" indent="0">
              <a:buNone/>
            </a:pPr>
            <a:r>
              <a:rPr lang="en-US" dirty="0"/>
              <a:t>'Lady Macbeth'</a:t>
            </a:r>
          </a:p>
          <a:p>
            <a:pPr marL="0" indent="0">
              <a:buNone/>
            </a:pPr>
            <a:r>
              <a:rPr lang="en-US" dirty="0"/>
              <a:t>Enter the name of cat 5 (Or enter nothing to stop.):</a:t>
            </a:r>
          </a:p>
          <a:p>
            <a:pPr marL="0" indent="0">
              <a:buNone/>
            </a:pPr>
            <a:r>
              <a:rPr lang="en-US" dirty="0"/>
              <a:t>'Fat-tail'</a:t>
            </a:r>
          </a:p>
          <a:p>
            <a:pPr marL="0" indent="0">
              <a:buNone/>
            </a:pPr>
            <a:r>
              <a:rPr lang="en-US" dirty="0"/>
              <a:t>Enter the name of cat 6 (Or enter nothing to stop.):</a:t>
            </a:r>
          </a:p>
          <a:p>
            <a:pPr marL="0" indent="0">
              <a:buNone/>
            </a:pPr>
            <a:r>
              <a:rPr lang="en-US" dirty="0"/>
              <a:t>'Miss Cleo'</a:t>
            </a:r>
          </a:p>
          <a:p>
            <a:pPr marL="0" indent="0">
              <a:buNone/>
            </a:pPr>
            <a:r>
              <a:rPr lang="en-US" dirty="0"/>
              <a:t>Enter the name of cat 7 (Or enter nothing to stop.):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cat names are:</a:t>
            </a:r>
          </a:p>
          <a:p>
            <a:pPr marL="0" indent="0">
              <a:buNone/>
            </a:pPr>
            <a:r>
              <a:rPr lang="en-US" dirty="0"/>
              <a:t> '</a:t>
            </a:r>
            <a:r>
              <a:rPr lang="en-US" dirty="0" err="1"/>
              <a:t>Zophie</a:t>
            </a:r>
            <a:r>
              <a:rPr lang="en-US" dirty="0"/>
              <a:t>'</a:t>
            </a:r>
          </a:p>
          <a:p>
            <a:pPr marL="0" indent="0">
              <a:buNone/>
            </a:pPr>
            <a:r>
              <a:rPr lang="en-US" dirty="0"/>
              <a:t> 'Pooka'</a:t>
            </a:r>
          </a:p>
          <a:p>
            <a:pPr marL="0" indent="0">
              <a:buNone/>
            </a:pPr>
            <a:r>
              <a:rPr lang="en-US" dirty="0"/>
              <a:t> 'Simon'</a:t>
            </a:r>
          </a:p>
          <a:p>
            <a:pPr marL="0" indent="0">
              <a:buNone/>
            </a:pPr>
            <a:r>
              <a:rPr lang="en-US" dirty="0"/>
              <a:t> 'Lady Macbeth'</a:t>
            </a:r>
          </a:p>
          <a:p>
            <a:pPr marL="0" indent="0">
              <a:buNone/>
            </a:pPr>
            <a:r>
              <a:rPr lang="en-US" dirty="0"/>
              <a:t> 'Fat-tail'</a:t>
            </a:r>
          </a:p>
          <a:p>
            <a:pPr marL="0" indent="0">
              <a:buNone/>
            </a:pPr>
            <a:r>
              <a:rPr lang="en-US" dirty="0"/>
              <a:t> 'Miss Cleo'</a:t>
            </a:r>
          </a:p>
        </p:txBody>
      </p:sp>
    </p:spTree>
    <p:extLst>
      <p:ext uri="{BB962C8B-B14F-4D97-AF65-F5344CB8AC3E}">
        <p14:creationId xmlns:p14="http://schemas.microsoft.com/office/powerpoint/2010/main" val="2892277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ncient india ile ilgili görsel sonucu">
            <a:extLst>
              <a:ext uri="{FF2B5EF4-FFF2-40B4-BE49-F238E27FC236}">
                <a16:creationId xmlns:a16="http://schemas.microsoft.com/office/drawing/2014/main" id="{3CD37011-9B9C-4C46-98F6-E23D6C560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8572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258" y="432000"/>
            <a:ext cx="7112741" cy="432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benefit of using a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2686290"/>
            <a:ext cx="3502411" cy="28199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with list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0752B-B871-4B72-8FE1-D34B8BB36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3154150"/>
            <a:ext cx="3525189" cy="938879"/>
          </a:xfrm>
          <a:solidFill>
            <a:schemeClr val="bg1">
              <a:lumMod val="95000"/>
              <a:alpha val="94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data is now in a structure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so</a:t>
            </a:r>
            <a:r>
              <a:rPr lang="tr-TR" dirty="0"/>
              <a:t> </a:t>
            </a:r>
            <a:r>
              <a:rPr lang="en-US" dirty="0"/>
              <a:t>program is much more flexible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in processing the data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02C058-20DE-46C9-BB43-8B24E6B9E82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35642" y="2712810"/>
            <a:ext cx="3400097" cy="269081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tr-TR" sz="1800" b="1" dirty="0">
                <a:solidFill>
                  <a:schemeClr val="tx1"/>
                </a:solidFill>
              </a:rPr>
              <a:t>without a list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F6C154B-5965-4955-8606-EDD5D277E1FC}"/>
              </a:ext>
            </a:extLst>
          </p:cNvPr>
          <p:cNvSpPr txBox="1">
            <a:spLocks/>
          </p:cNvSpPr>
          <p:nvPr/>
        </p:nvSpPr>
        <p:spPr>
          <a:xfrm>
            <a:off x="4970023" y="3132380"/>
            <a:ext cx="3525189" cy="934524"/>
          </a:xfrm>
          <a:prstGeom prst="rect">
            <a:avLst/>
          </a:prstGeom>
          <a:solidFill>
            <a:schemeClr val="bg1">
              <a:lumMod val="95000"/>
              <a:alpha val="94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it would </a:t>
            </a:r>
            <a:r>
              <a:rPr lang="tr-TR" dirty="0"/>
              <a:t>contain</a:t>
            </a:r>
            <a:r>
              <a:rPr lang="en-US" dirty="0"/>
              <a:t> </a:t>
            </a:r>
            <a:r>
              <a:rPr lang="tr-TR" dirty="0"/>
              <a:t>repeating statements</a:t>
            </a:r>
          </a:p>
          <a:p>
            <a:pPr marL="0" indent="0">
              <a:buNone/>
            </a:pPr>
            <a:r>
              <a:rPr lang="en-US" dirty="0"/>
              <a:t>with</a:t>
            </a:r>
            <a:r>
              <a:rPr lang="tr-TR" dirty="0"/>
              <a:t> </a:t>
            </a:r>
            <a:r>
              <a:rPr lang="en-US" dirty="0"/>
              <a:t>several repetitive variables.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88643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64" y="1165839"/>
            <a:ext cx="8505000" cy="324000"/>
          </a:xfrm>
        </p:spPr>
        <p:txBody>
          <a:bodyPr/>
          <a:lstStyle/>
          <a:p>
            <a:r>
              <a:rPr lang="tr-TR" dirty="0"/>
              <a:t>Using loops with Lists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for loop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4071" y="4683350"/>
            <a:ext cx="1620000" cy="1070336"/>
          </a:xfrm>
        </p:spPr>
        <p:txBody>
          <a:bodyPr/>
          <a:lstStyle/>
          <a:p>
            <a:pPr algn="l"/>
            <a:r>
              <a:rPr lang="en-US" dirty="0"/>
              <a:t>a </a:t>
            </a:r>
            <a:r>
              <a:rPr lang="en-US" b="1" dirty="0"/>
              <a:t>for loop </a:t>
            </a:r>
            <a:endParaRPr lang="tr-TR" b="1" dirty="0"/>
          </a:p>
          <a:p>
            <a:pPr algn="l"/>
            <a:r>
              <a:rPr lang="en-US" dirty="0"/>
              <a:t>repeats the code</a:t>
            </a:r>
            <a:r>
              <a:rPr lang="tr-TR" dirty="0"/>
              <a:t> </a:t>
            </a:r>
            <a:r>
              <a:rPr lang="en-US" dirty="0"/>
              <a:t>block</a:t>
            </a:r>
            <a:endParaRPr lang="tr-TR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value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l"/>
            <a:r>
              <a:rPr lang="en-US" dirty="0"/>
              <a:t>once for each value </a:t>
            </a:r>
            <a:endParaRPr lang="tr-TR" dirty="0"/>
          </a:p>
          <a:p>
            <a:pPr algn="l"/>
            <a:r>
              <a:rPr lang="en-US" dirty="0"/>
              <a:t>in a list or list-like value</a:t>
            </a:r>
            <a:endParaRPr lang="tr-TR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value in range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5407" y="4688111"/>
            <a:ext cx="1620441" cy="1371725"/>
          </a:xfrm>
        </p:spPr>
        <p:txBody>
          <a:bodyPr/>
          <a:lstStyle/>
          <a:p>
            <a:pPr algn="l"/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range(4):</a:t>
            </a:r>
          </a:p>
          <a:p>
            <a:pPr algn="l"/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values of a list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68687" y="4683646"/>
            <a:ext cx="1838014" cy="1560399"/>
          </a:xfrm>
        </p:spPr>
        <p:txBody>
          <a:bodyPr/>
          <a:lstStyle/>
          <a:p>
            <a:pPr algn="l"/>
            <a:r>
              <a:rPr lang="tr-TR" dirty="0"/>
              <a:t>for i in [0, 1, 2, 3]:</a:t>
            </a:r>
          </a:p>
          <a:p>
            <a:pPr algn="l"/>
            <a:r>
              <a:rPr lang="tr-TR" dirty="0"/>
              <a:t>    print(i)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equivalent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84571" y="4688111"/>
            <a:ext cx="1642981" cy="1582060"/>
          </a:xfrm>
        </p:spPr>
        <p:txBody>
          <a:bodyPr/>
          <a:lstStyle/>
          <a:p>
            <a:pPr algn="l"/>
            <a:r>
              <a:rPr lang="tr-TR" dirty="0"/>
              <a:t>both loops are equivalent</a:t>
            </a:r>
          </a:p>
          <a:p>
            <a:pPr algn="l"/>
            <a:r>
              <a:rPr lang="tr-TR" dirty="0"/>
              <a:t>return the same output</a:t>
            </a:r>
          </a:p>
          <a:p>
            <a:pPr algn="l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563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For loop with </a:t>
            </a:r>
            <a:r>
              <a:rPr lang="tr-TR" i="1" dirty="0"/>
              <a:t>range(len(someList))</a:t>
            </a:r>
            <a:endParaRPr lang="en-US" i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2"/>
            <a:ext cx="4599842" cy="256430"/>
          </a:xfrm>
        </p:spPr>
        <p:txBody>
          <a:bodyPr/>
          <a:lstStyle/>
          <a:p>
            <a:r>
              <a:rPr lang="tr-TR" i="1" dirty="0"/>
              <a:t>a common technique in Python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>
                <a:latin typeface="+mn-lt"/>
              </a:rPr>
              <a:t>iterate on all values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for </a:t>
            </a:r>
            <a:r>
              <a:rPr lang="en-US" b="1" dirty="0"/>
              <a:t>loop </a:t>
            </a:r>
            <a:endParaRPr lang="tr-TR" b="1" dirty="0"/>
          </a:p>
          <a:p>
            <a:r>
              <a:rPr lang="en-US" dirty="0"/>
              <a:t>to iterate over the indexes of a list</a:t>
            </a:r>
            <a:endParaRPr lang="tr-T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Example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3142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for </a:t>
            </a:r>
            <a:r>
              <a:rPr lang="en-US" b="1" dirty="0" err="1"/>
              <a:t>i</a:t>
            </a:r>
            <a:r>
              <a:rPr lang="en-US" b="1" dirty="0"/>
              <a:t> in range(</a:t>
            </a:r>
            <a:r>
              <a:rPr lang="en-US" b="1" dirty="0" err="1"/>
              <a:t>len</a:t>
            </a:r>
            <a:r>
              <a:rPr lang="en-US" b="1" dirty="0"/>
              <a:t>(supplies)):</a:t>
            </a:r>
            <a:endParaRPr lang="tr-TR" b="1" dirty="0"/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len</a:t>
            </a:r>
            <a:r>
              <a:rPr lang="en-US" dirty="0"/>
              <a:t>(supplies)):</a:t>
            </a:r>
          </a:p>
          <a:p>
            <a:pPr marL="0" indent="0">
              <a:buNone/>
            </a:pPr>
            <a:r>
              <a:rPr lang="en-US" dirty="0"/>
              <a:t>    print('Index ' + str(</a:t>
            </a:r>
            <a:r>
              <a:rPr lang="en-US" dirty="0" err="1"/>
              <a:t>i</a:t>
            </a:r>
            <a:r>
              <a:rPr lang="en-US" dirty="0"/>
              <a:t>) + ' in supplies is: ' + supplies[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Helps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b="1" dirty="0"/>
              <a:t>Prevent ouf of bound</a:t>
            </a:r>
          </a:p>
          <a:p>
            <a:r>
              <a:rPr lang="tr-TR" dirty="0"/>
              <a:t>prevent trying to access</a:t>
            </a:r>
          </a:p>
          <a:p>
            <a:r>
              <a:rPr lang="tr-TR" dirty="0"/>
              <a:t>out of bound elements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0A9789C-B725-4148-B126-6FD70E1337F7}"/>
              </a:ext>
            </a:extLst>
          </p:cNvPr>
          <p:cNvSpPr txBox="1">
            <a:spLocks/>
          </p:cNvSpPr>
          <p:nvPr/>
        </p:nvSpPr>
        <p:spPr>
          <a:xfrm>
            <a:off x="336913" y="5995991"/>
            <a:ext cx="6654729" cy="5963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i="1" dirty="0"/>
              <a:t>No need to know how many elements the list actually contains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309211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Function Example with Return: </a:t>
            </a:r>
            <a:r>
              <a:rPr lang="en-US" i="1" dirty="0"/>
              <a:t>supplies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67618"/>
            <a:ext cx="4104000" cy="228815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supplies = ['pens', 'staplers', 'flame-throwers', 'binders']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len</a:t>
            </a:r>
            <a:r>
              <a:rPr lang="en-US" dirty="0"/>
              <a:t>(supplies)):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print('Index ' + str(</a:t>
            </a:r>
            <a:r>
              <a:rPr lang="en-US" dirty="0" err="1"/>
              <a:t>i</a:t>
            </a:r>
            <a:r>
              <a:rPr lang="en-US" dirty="0"/>
              <a:t>) + ' in supplies is: ' + supplies[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for item in supplies: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print('The supply is: ' + item)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6"/>
            <a:ext cx="4103712" cy="228815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Index 0 in supplies is: pens</a:t>
            </a:r>
          </a:p>
          <a:p>
            <a:pPr marL="0" indent="0">
              <a:buNone/>
            </a:pPr>
            <a:r>
              <a:rPr lang="en-US" dirty="0"/>
              <a:t>Index 1 in supplies is: staplers</a:t>
            </a:r>
          </a:p>
          <a:p>
            <a:pPr marL="0" indent="0">
              <a:buNone/>
            </a:pPr>
            <a:r>
              <a:rPr lang="en-US" dirty="0"/>
              <a:t>Index 2 in supplies is: flame-throwers</a:t>
            </a:r>
          </a:p>
          <a:p>
            <a:pPr marL="0" indent="0">
              <a:buNone/>
            </a:pPr>
            <a:r>
              <a:rPr lang="en-US" dirty="0"/>
              <a:t>Index 3 in supplies is: binders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B345845-7A6F-40E4-BCAF-64B1E8FFA1BF}"/>
              </a:ext>
            </a:extLst>
          </p:cNvPr>
          <p:cNvSpPr txBox="1">
            <a:spLocks/>
          </p:cNvSpPr>
          <p:nvPr/>
        </p:nvSpPr>
        <p:spPr>
          <a:xfrm>
            <a:off x="324000" y="3857869"/>
            <a:ext cx="4104000" cy="22881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/>
              <a:t>supplies = ['pens', 'staplers', 'flame-throwers', 'binders']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/>
              <a:t>for item in supplies: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/>
              <a:t>        print('The supply is: ' + item)</a:t>
            </a:r>
            <a:endParaRPr lang="tr-TR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9ECD78B-AC10-453B-A77D-5C13DC2F877D}"/>
              </a:ext>
            </a:extLst>
          </p:cNvPr>
          <p:cNvSpPr txBox="1">
            <a:spLocks/>
          </p:cNvSpPr>
          <p:nvPr/>
        </p:nvSpPr>
        <p:spPr>
          <a:xfrm>
            <a:off x="4725288" y="3857869"/>
            <a:ext cx="4103712" cy="22881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supply is: pens</a:t>
            </a:r>
          </a:p>
          <a:p>
            <a:pPr marL="0" indent="0">
              <a:buNone/>
            </a:pPr>
            <a:r>
              <a:rPr lang="en-US" dirty="0"/>
              <a:t>The supply is: staplers</a:t>
            </a:r>
          </a:p>
          <a:p>
            <a:pPr marL="0" indent="0">
              <a:buNone/>
            </a:pPr>
            <a:r>
              <a:rPr lang="en-US" dirty="0"/>
              <a:t>The supply is: flame-throwers</a:t>
            </a:r>
          </a:p>
          <a:p>
            <a:pPr marL="0" indent="0">
              <a:buNone/>
            </a:pPr>
            <a:r>
              <a:rPr lang="en-US" dirty="0"/>
              <a:t>The supply is: binders</a:t>
            </a:r>
          </a:p>
        </p:txBody>
      </p:sp>
    </p:spTree>
    <p:extLst>
      <p:ext uri="{BB962C8B-B14F-4D97-AF65-F5344CB8AC3E}">
        <p14:creationId xmlns:p14="http://schemas.microsoft.com/office/powerpoint/2010/main" val="1969663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 and not in Operators</a:t>
            </a:r>
            <a:endParaRPr lang="en-US" i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2"/>
            <a:ext cx="4599842" cy="256430"/>
          </a:xfrm>
        </p:spPr>
        <p:txBody>
          <a:bodyPr/>
          <a:lstStyle/>
          <a:p>
            <a:r>
              <a:rPr lang="en-US" i="1" dirty="0"/>
              <a:t>determine whether a value is or isn’t in a list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>
                <a:latin typeface="+mn-lt"/>
              </a:rPr>
              <a:t>in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check </a:t>
            </a:r>
          </a:p>
          <a:p>
            <a:r>
              <a:rPr lang="tr-TR" dirty="0"/>
              <a:t>to see </a:t>
            </a:r>
          </a:p>
          <a:p>
            <a:r>
              <a:rPr lang="tr-TR" dirty="0"/>
              <a:t>if a value is in the list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Boolean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314200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evaluate</a:t>
            </a:r>
          </a:p>
          <a:p>
            <a:r>
              <a:rPr lang="tr-TR" dirty="0"/>
              <a:t>Boolean values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out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b="1" dirty="0"/>
              <a:t>check </a:t>
            </a:r>
          </a:p>
          <a:p>
            <a:r>
              <a:rPr lang="tr-TR" dirty="0"/>
              <a:t>to see </a:t>
            </a:r>
          </a:p>
          <a:p>
            <a:r>
              <a:rPr lang="tr-TR" dirty="0"/>
              <a:t>if a value is </a:t>
            </a:r>
            <a:r>
              <a:rPr lang="tr-TR" b="1" dirty="0"/>
              <a:t>not</a:t>
            </a:r>
            <a:r>
              <a:rPr lang="tr-TR" dirty="0"/>
              <a:t> in the list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0A9789C-B725-4148-B126-6FD70E1337F7}"/>
              </a:ext>
            </a:extLst>
          </p:cNvPr>
          <p:cNvSpPr txBox="1">
            <a:spLocks/>
          </p:cNvSpPr>
          <p:nvPr/>
        </p:nvSpPr>
        <p:spPr>
          <a:xfrm>
            <a:off x="336913" y="5995991"/>
            <a:ext cx="6654729" cy="5963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i="1" dirty="0"/>
              <a:t>No need to know how many elements the list actually contains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50012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Check for list elements: </a:t>
            </a:r>
            <a:r>
              <a:rPr lang="tr-TR" i="1" dirty="0"/>
              <a:t>in </a:t>
            </a:r>
            <a:r>
              <a:rPr lang="tr-TR" dirty="0"/>
              <a:t>and </a:t>
            </a:r>
            <a:r>
              <a:rPr lang="tr-TR" i="1" dirty="0"/>
              <a:t>not in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67618"/>
            <a:ext cx="4104000" cy="499403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'howdy' in ['hello', 'hi', 'howdy', '</a:t>
            </a:r>
            <a:r>
              <a:rPr lang="en-US" dirty="0" err="1"/>
              <a:t>heyas</a:t>
            </a:r>
            <a:r>
              <a:rPr lang="en-US" dirty="0"/>
              <a:t>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'howdy' not in spam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False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spam = ['hello', 'hi', 'howdy', '</a:t>
            </a:r>
            <a:r>
              <a:rPr lang="en-US" dirty="0" err="1"/>
              <a:t>heyas</a:t>
            </a:r>
            <a:r>
              <a:rPr lang="en-US" dirty="0"/>
              <a:t>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'cat' in spam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False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'cat' not in spam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True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921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Check for list elements: </a:t>
            </a:r>
            <a:r>
              <a:rPr lang="tr-TR" i="1" dirty="0"/>
              <a:t>myPets.py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67618"/>
            <a:ext cx="4104000" cy="499403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myPets</a:t>
            </a:r>
            <a:r>
              <a:rPr lang="en-US" dirty="0"/>
              <a:t> = ['</a:t>
            </a:r>
            <a:r>
              <a:rPr lang="en-US" dirty="0" err="1"/>
              <a:t>Zophie</a:t>
            </a:r>
            <a:r>
              <a:rPr lang="en-US" dirty="0"/>
              <a:t>', 'Pooka', 'Fat-tail']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print('Enter a pet name:')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name = input()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if name not in </a:t>
            </a:r>
            <a:r>
              <a:rPr lang="en-US" dirty="0" err="1"/>
              <a:t>myPets</a:t>
            </a:r>
            <a:r>
              <a:rPr lang="en-US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print('I do not have a pet named ' + name)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else: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print(name + ' is my pet.')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Enter a pet name: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zoey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 do not have a pet named </a:t>
            </a:r>
            <a:r>
              <a:rPr lang="en-US" dirty="0" err="1"/>
              <a:t>zoey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Enter a pet name: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Pooka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Pooka is my pet.</a:t>
            </a:r>
          </a:p>
        </p:txBody>
      </p:sp>
    </p:spTree>
    <p:extLst>
      <p:ext uri="{BB962C8B-B14F-4D97-AF65-F5344CB8AC3E}">
        <p14:creationId xmlns:p14="http://schemas.microsoft.com/office/powerpoint/2010/main" val="1391281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Multiple Assignment Trick</a:t>
            </a:r>
            <a:endParaRPr lang="en-US" i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2"/>
            <a:ext cx="4599842" cy="256430"/>
          </a:xfrm>
        </p:spPr>
        <p:txBody>
          <a:bodyPr/>
          <a:lstStyle/>
          <a:p>
            <a:r>
              <a:rPr lang="en-US" i="1" dirty="0"/>
              <a:t>The multiple assignment trick is a shortcut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>
                <a:latin typeface="+mn-lt"/>
              </a:rPr>
              <a:t>assignment shortcut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assign </a:t>
            </a:r>
          </a:p>
          <a:p>
            <a:r>
              <a:rPr lang="en-US" i="1" dirty="0"/>
              <a:t>multiple variables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Example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314200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what is this?</a:t>
            </a:r>
          </a:p>
          <a:p>
            <a:r>
              <a:rPr lang="en-US" dirty="0"/>
              <a:t>cat = ['fat', 'black', 'loud']</a:t>
            </a:r>
          </a:p>
          <a:p>
            <a:r>
              <a:rPr lang="en-US" dirty="0"/>
              <a:t>size, color, disposition = cat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values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b="1" dirty="0"/>
              <a:t>with </a:t>
            </a:r>
          </a:p>
          <a:p>
            <a:r>
              <a:rPr lang="en-US" i="1" dirty="0"/>
              <a:t>the values in a list </a:t>
            </a:r>
            <a:endParaRPr lang="tr-TR" i="1" dirty="0"/>
          </a:p>
          <a:p>
            <a:r>
              <a:rPr lang="en-US" i="1" dirty="0"/>
              <a:t>in one line of code</a:t>
            </a:r>
            <a:endParaRPr lang="tr-TR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0A9789C-B725-4148-B126-6FD70E1337F7}"/>
              </a:ext>
            </a:extLst>
          </p:cNvPr>
          <p:cNvSpPr txBox="1">
            <a:spLocks/>
          </p:cNvSpPr>
          <p:nvPr/>
        </p:nvSpPr>
        <p:spPr>
          <a:xfrm>
            <a:off x="336913" y="5995991"/>
            <a:ext cx="6654729" cy="5963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The number of variables and the length of the list must be exactly</a:t>
            </a:r>
            <a:r>
              <a:rPr lang="tr-TR" i="1" dirty="0"/>
              <a:t> </a:t>
            </a:r>
            <a:r>
              <a:rPr lang="en-US" i="1" dirty="0"/>
              <a:t>equal,</a:t>
            </a:r>
          </a:p>
        </p:txBody>
      </p:sp>
    </p:spTree>
    <p:extLst>
      <p:ext uri="{BB962C8B-B14F-4D97-AF65-F5344CB8AC3E}">
        <p14:creationId xmlns:p14="http://schemas.microsoft.com/office/powerpoint/2010/main" val="3144921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Chapter-4 Lists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Augmented Assignment Operators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31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01DA9905-4161-4BE5-9445-0C064CE977D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/>
          <a:srcRect l="18710" r="18710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09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64" y="1165839"/>
            <a:ext cx="8505000" cy="324000"/>
          </a:xfrm>
        </p:spPr>
        <p:txBody>
          <a:bodyPr/>
          <a:lstStyle/>
          <a:p>
            <a:r>
              <a:rPr lang="tr-TR" dirty="0"/>
              <a:t>Augmented operator as a shortcut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assign value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5153" y="4646025"/>
            <a:ext cx="1445943" cy="1070336"/>
          </a:xfrm>
        </p:spPr>
        <p:txBody>
          <a:bodyPr/>
          <a:lstStyle/>
          <a:p>
            <a:pPr algn="l"/>
            <a:r>
              <a:rPr lang="tr-TR" b="1" dirty="0"/>
              <a:t>in assignment</a:t>
            </a:r>
          </a:p>
          <a:p>
            <a:pPr algn="l"/>
            <a:r>
              <a:rPr lang="tr-TR" dirty="0"/>
              <a:t>using the value of the variable</a:t>
            </a:r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spam += 1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91008" y="4619371"/>
            <a:ext cx="1620441" cy="900000"/>
          </a:xfrm>
        </p:spPr>
        <p:txBody>
          <a:bodyPr/>
          <a:lstStyle/>
          <a:p>
            <a:pPr algn="l"/>
            <a:r>
              <a:rPr lang="tr-TR" b="1" dirty="0"/>
              <a:t>increment</a:t>
            </a:r>
          </a:p>
          <a:p>
            <a:pPr algn="l"/>
            <a:r>
              <a:rPr lang="tr-TR" dirty="0"/>
              <a:t>the value of the variable</a:t>
            </a:r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shortcut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7901" y="4688111"/>
            <a:ext cx="1321103" cy="1371725"/>
          </a:xfrm>
        </p:spPr>
        <p:txBody>
          <a:bodyPr/>
          <a:lstStyle/>
          <a:p>
            <a:pPr algn="l"/>
            <a:r>
              <a:rPr lang="tr-TR" b="1" dirty="0"/>
              <a:t>instead of</a:t>
            </a:r>
          </a:p>
          <a:p>
            <a:pPr algn="l"/>
            <a:r>
              <a:rPr lang="tr-TR" dirty="0"/>
              <a:t>spam = spam + 1</a:t>
            </a:r>
            <a:endParaRPr lang="en-US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other operators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8828" y="4683646"/>
            <a:ext cx="1619999" cy="1560399"/>
          </a:xfrm>
        </p:spPr>
        <p:txBody>
          <a:bodyPr/>
          <a:lstStyle/>
          <a:p>
            <a:pPr algn="l"/>
            <a:r>
              <a:rPr lang="tr-TR" b="1" dirty="0"/>
              <a:t>has</a:t>
            </a:r>
            <a:r>
              <a:rPr lang="tr-TR" dirty="0"/>
              <a:t> </a:t>
            </a:r>
          </a:p>
          <a:p>
            <a:pPr algn="l"/>
            <a:r>
              <a:rPr lang="tr-TR" dirty="0"/>
              <a:t>the augmented version:</a:t>
            </a:r>
          </a:p>
          <a:p>
            <a:pPr algn="l"/>
            <a:r>
              <a:rPr lang="tr-TR" dirty="0"/>
              <a:t>+, -, *, /, and %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string operations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599680" y="4688111"/>
            <a:ext cx="1442720" cy="1582060"/>
          </a:xfrm>
        </p:spPr>
        <p:txBody>
          <a:bodyPr/>
          <a:lstStyle/>
          <a:p>
            <a:pPr algn="l"/>
            <a:r>
              <a:rPr lang="tr-TR" b="1" dirty="0"/>
              <a:t>+ and *</a:t>
            </a:r>
          </a:p>
          <a:p>
            <a:pPr algn="l"/>
            <a:r>
              <a:rPr lang="tr-TR" dirty="0"/>
              <a:t>can be used in string operations</a:t>
            </a:r>
          </a:p>
          <a:p>
            <a:pPr algn="l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947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Augmented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93744"/>
            <a:ext cx="3725486" cy="48031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Traditional Assignment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67343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Equivalent augmented operators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B5541-AF78-4FFF-9E47-18076D31F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75" y="2627086"/>
            <a:ext cx="8376450" cy="226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558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Augmented string operators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1"/>
            <a:ext cx="7252606" cy="371427"/>
          </a:xfrm>
        </p:spPr>
        <p:txBody>
          <a:bodyPr/>
          <a:lstStyle/>
          <a:p>
            <a:r>
              <a:rPr lang="tr-TR" i="1" dirty="0"/>
              <a:t>Augmented + and * can be used in string concatenation and replication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spam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spam = </a:t>
            </a:r>
            <a:r>
              <a:rPr lang="en-US" dirty="0"/>
              <a:t>'</a:t>
            </a:r>
            <a:r>
              <a:rPr lang="tr-TR" dirty="0" err="1"/>
              <a:t>hello</a:t>
            </a:r>
            <a:r>
              <a:rPr lang="tr-TR" dirty="0"/>
              <a:t>'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replication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314200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*</a:t>
            </a:r>
          </a:p>
          <a:p>
            <a:pPr marL="0" indent="0">
              <a:buNone/>
            </a:pPr>
            <a:r>
              <a:rPr lang="en-US" dirty="0"/>
              <a:t>strong = ['Thor']</a:t>
            </a:r>
          </a:p>
          <a:p>
            <a:pPr marL="0" indent="0">
              <a:buNone/>
            </a:pPr>
            <a:r>
              <a:rPr lang="en-US" dirty="0"/>
              <a:t>&gt;&gt;&gt; strong *= 3</a:t>
            </a:r>
          </a:p>
          <a:p>
            <a:pPr marL="0" indent="0">
              <a:buNone/>
            </a:pPr>
            <a:r>
              <a:rPr lang="en-US" dirty="0"/>
              <a:t>&gt;&gt;&gt; strong</a:t>
            </a:r>
          </a:p>
          <a:p>
            <a:pPr marL="0" indent="0">
              <a:buNone/>
            </a:pPr>
            <a:r>
              <a:rPr lang="en-US" dirty="0"/>
              <a:t>['Thor', 'Thor', 'Thor']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+mn-lt"/>
              </a:rPr>
              <a:t>concatenation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b="1" dirty="0"/>
              <a:t>+</a:t>
            </a:r>
            <a:endParaRPr lang="en-US" b="1" dirty="0"/>
          </a:p>
          <a:p>
            <a:pPr marL="0" indent="0">
              <a:buNone/>
            </a:pPr>
            <a:r>
              <a:rPr lang="tr-TR" dirty="0"/>
              <a:t>spam += ' </a:t>
            </a:r>
            <a:r>
              <a:rPr lang="tr-TR" dirty="0" err="1"/>
              <a:t>world</a:t>
            </a:r>
            <a:r>
              <a:rPr lang="tr-TR" dirty="0"/>
              <a:t>!</a:t>
            </a:r>
            <a:r>
              <a:rPr lang="en-US" dirty="0"/>
              <a:t>'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&gt;&gt;&gt; spam</a:t>
            </a:r>
          </a:p>
          <a:p>
            <a:pPr marL="0" indent="0">
              <a:buNone/>
            </a:pPr>
            <a:r>
              <a:rPr lang="en-US" dirty="0"/>
              <a:t>'hello world'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0A9789C-B725-4148-B126-6FD70E1337F7}"/>
              </a:ext>
            </a:extLst>
          </p:cNvPr>
          <p:cNvSpPr txBox="1">
            <a:spLocks/>
          </p:cNvSpPr>
          <p:nvPr/>
        </p:nvSpPr>
        <p:spPr>
          <a:xfrm>
            <a:off x="336914" y="5995991"/>
            <a:ext cx="6473188" cy="5963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62970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Chapter-4 Lists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35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3076" name="Picture 4" descr="ancient china ile ilgili görsel sonucu">
            <a:extLst>
              <a:ext uri="{FF2B5EF4-FFF2-40B4-BE49-F238E27FC236}">
                <a16:creationId xmlns:a16="http://schemas.microsoft.com/office/drawing/2014/main" id="{749C7D72-1987-496A-8A69-02E7A1B7CDB1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0" r="1871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5430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64" y="1165839"/>
            <a:ext cx="8505000" cy="324000"/>
          </a:xfrm>
        </p:spPr>
        <p:txBody>
          <a:bodyPr/>
          <a:lstStyle/>
          <a:p>
            <a:r>
              <a:rPr lang="tr-TR" dirty="0"/>
              <a:t>Method</a:t>
            </a:r>
            <a:endParaRPr lang="en-US" dirty="0"/>
          </a:p>
        </p:txBody>
      </p:sp>
      <p:pic>
        <p:nvPicPr>
          <p:cNvPr id="67" name="Picture Placeholder 66" descr="Cloud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495" y="3925566"/>
            <a:ext cx="1620000" cy="542228"/>
          </a:xfrm>
        </p:spPr>
        <p:txBody>
          <a:bodyPr/>
          <a:lstStyle/>
          <a:p>
            <a:r>
              <a:rPr lang="tr-TR" dirty="0"/>
              <a:t>function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7153" y="4683350"/>
            <a:ext cx="1366917" cy="1070336"/>
          </a:xfrm>
        </p:spPr>
        <p:txBody>
          <a:bodyPr/>
          <a:lstStyle/>
          <a:p>
            <a:pPr algn="l"/>
            <a:r>
              <a:rPr lang="en-US" b="1" dirty="0"/>
              <a:t>A </a:t>
            </a:r>
            <a:r>
              <a:rPr lang="en-US" b="1" i="1" dirty="0"/>
              <a:t>method </a:t>
            </a:r>
            <a:endParaRPr lang="tr-TR" b="1" i="1" dirty="0"/>
          </a:p>
          <a:p>
            <a:pPr algn="l"/>
            <a:r>
              <a:rPr lang="en-US" dirty="0"/>
              <a:t>is the same thing</a:t>
            </a:r>
            <a:endParaRPr lang="tr-TR" dirty="0"/>
          </a:p>
          <a:p>
            <a:pPr algn="l"/>
            <a:r>
              <a:rPr lang="en-US" dirty="0"/>
              <a:t>as a function, </a:t>
            </a:r>
            <a:endParaRPr lang="tr-TR" dirty="0"/>
          </a:p>
        </p:txBody>
      </p:sp>
      <p:pic>
        <p:nvPicPr>
          <p:cNvPr id="159" name="Picture Placeholder 158" descr="Cactus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called on a value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9032" y="4688112"/>
            <a:ext cx="1475965" cy="900000"/>
          </a:xfrm>
        </p:spPr>
        <p:txBody>
          <a:bodyPr/>
          <a:lstStyle/>
          <a:p>
            <a:pPr algn="l"/>
            <a:r>
              <a:rPr lang="tr-TR" b="1" dirty="0"/>
              <a:t>except</a:t>
            </a:r>
          </a:p>
          <a:p>
            <a:pPr algn="l"/>
            <a:r>
              <a:rPr lang="en-US" dirty="0"/>
              <a:t>it is “called on” a value.</a:t>
            </a:r>
            <a:endParaRPr lang="tr-TR" dirty="0"/>
          </a:p>
        </p:txBody>
      </p:sp>
      <p:pic>
        <p:nvPicPr>
          <p:cNvPr id="161" name="Picture Placeholder 160" descr="Thermometer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Example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03039" y="4688111"/>
            <a:ext cx="1475965" cy="1371725"/>
          </a:xfrm>
        </p:spPr>
        <p:txBody>
          <a:bodyPr/>
          <a:lstStyle/>
          <a:p>
            <a:pPr algn="l"/>
            <a:r>
              <a:rPr lang="tr-TR" b="1" dirty="0"/>
              <a:t>if </a:t>
            </a:r>
          </a:p>
          <a:p>
            <a:pPr algn="l"/>
            <a:r>
              <a:rPr lang="en-US" dirty="0"/>
              <a:t>a list value stored</a:t>
            </a:r>
            <a:endParaRPr lang="tr-TR" dirty="0"/>
          </a:p>
          <a:p>
            <a:pPr algn="l"/>
            <a:r>
              <a:rPr lang="en-US" dirty="0"/>
              <a:t>in spam</a:t>
            </a:r>
            <a:endParaRPr lang="tr-TR" dirty="0"/>
          </a:p>
        </p:txBody>
      </p:sp>
      <p:pic>
        <p:nvPicPr>
          <p:cNvPr id="163" name="Picture Placeholder 162" descr="Palm tree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tr-TR" dirty="0"/>
              <a:t>other operators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28639" y="4683646"/>
            <a:ext cx="1717041" cy="1560399"/>
          </a:xfrm>
        </p:spPr>
        <p:txBody>
          <a:bodyPr/>
          <a:lstStyle/>
          <a:p>
            <a:pPr algn="l"/>
            <a:r>
              <a:rPr lang="en-US" b="1" dirty="0"/>
              <a:t>call</a:t>
            </a:r>
            <a:r>
              <a:rPr lang="en-US" dirty="0"/>
              <a:t> </a:t>
            </a:r>
            <a:endParaRPr lang="tr-TR" dirty="0"/>
          </a:p>
          <a:p>
            <a:pPr algn="l"/>
            <a:r>
              <a:rPr lang="en-US" dirty="0"/>
              <a:t>the index()</a:t>
            </a:r>
            <a:r>
              <a:rPr lang="tr-TR" dirty="0"/>
              <a:t> list method</a:t>
            </a:r>
          </a:p>
          <a:p>
            <a:pPr algn="l"/>
            <a:r>
              <a:rPr lang="tr-TR" dirty="0"/>
              <a:t>on that list</a:t>
            </a:r>
          </a:p>
        </p:txBody>
      </p:sp>
      <p:pic>
        <p:nvPicPr>
          <p:cNvPr id="165" name="Picture Placeholder 164" descr="Factory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tr-TR" dirty="0"/>
              <a:t>call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579359" y="4688111"/>
            <a:ext cx="1366917" cy="1582060"/>
          </a:xfrm>
        </p:spPr>
        <p:txBody>
          <a:bodyPr/>
          <a:lstStyle/>
          <a:p>
            <a:pPr algn="l"/>
            <a:r>
              <a:rPr lang="tr-TR" dirty="0"/>
              <a:t>spam.index('hello')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394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Data types have own methdos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1"/>
            <a:ext cx="7252606" cy="371427"/>
          </a:xfrm>
        </p:spPr>
        <p:txBody>
          <a:bodyPr/>
          <a:lstStyle/>
          <a:p>
            <a:r>
              <a:rPr lang="tr-TR" i="1" dirty="0"/>
              <a:t>methods are available for each data type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methods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r>
              <a:rPr lang="en-US" dirty="0"/>
              <a:t>Each data type </a:t>
            </a:r>
            <a:endParaRPr lang="tr-TR" dirty="0"/>
          </a:p>
          <a:p>
            <a:r>
              <a:rPr lang="en-US" dirty="0"/>
              <a:t>has its own set of methods. </a:t>
            </a:r>
            <a:endParaRPr lang="tr-T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for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314200"/>
          </a:xfrm>
        </p:spPr>
        <p:txBody>
          <a:bodyPr/>
          <a:lstStyle/>
          <a:p>
            <a:r>
              <a:rPr lang="en-US" dirty="0"/>
              <a:t>finding</a:t>
            </a:r>
            <a:endParaRPr lang="tr-TR" dirty="0"/>
          </a:p>
          <a:p>
            <a:r>
              <a:rPr lang="en-US" dirty="0"/>
              <a:t>adding</a:t>
            </a:r>
            <a:endParaRPr lang="tr-TR" dirty="0"/>
          </a:p>
          <a:p>
            <a:r>
              <a:rPr lang="en-US" dirty="0"/>
              <a:t>removing</a:t>
            </a:r>
            <a:endParaRPr lang="tr-TR" dirty="0"/>
          </a:p>
          <a:p>
            <a:r>
              <a:rPr lang="en-US" dirty="0"/>
              <a:t>manipulating values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+mn-lt"/>
              </a:rPr>
              <a:t>list data type 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has </a:t>
            </a:r>
            <a:endParaRPr lang="tr-TR" dirty="0"/>
          </a:p>
          <a:p>
            <a:r>
              <a:rPr lang="en-US" dirty="0"/>
              <a:t>several useful methods</a:t>
            </a:r>
            <a:endParaRPr lang="tr-TR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0A9789C-B725-4148-B126-6FD70E1337F7}"/>
              </a:ext>
            </a:extLst>
          </p:cNvPr>
          <p:cNvSpPr txBox="1">
            <a:spLocks/>
          </p:cNvSpPr>
          <p:nvPr/>
        </p:nvSpPr>
        <p:spPr>
          <a:xfrm>
            <a:off x="336914" y="5995991"/>
            <a:ext cx="6473188" cy="5963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171167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Value in a List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1"/>
            <a:ext cx="7252606" cy="371427"/>
          </a:xfrm>
        </p:spPr>
        <p:txBody>
          <a:bodyPr/>
          <a:lstStyle/>
          <a:p>
            <a:r>
              <a:rPr lang="en-US" dirty="0"/>
              <a:t>the index() Method</a:t>
            </a:r>
            <a:r>
              <a:rPr lang="tr-TR" dirty="0"/>
              <a:t> returnd the first appearance of a value in a list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methods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r>
              <a:rPr lang="en-US" dirty="0"/>
              <a:t>List values have an index() method </a:t>
            </a:r>
            <a:endParaRPr lang="tr-TR" dirty="0"/>
          </a:p>
          <a:p>
            <a:r>
              <a:rPr lang="en-US" dirty="0"/>
              <a:t>can be passed a value</a:t>
            </a:r>
            <a:endParaRPr lang="tr-T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not existing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314200"/>
          </a:xfrm>
        </p:spPr>
        <p:txBody>
          <a:bodyPr/>
          <a:lstStyle/>
          <a:p>
            <a:r>
              <a:rPr lang="en-US" dirty="0"/>
              <a:t>If the value</a:t>
            </a:r>
            <a:r>
              <a:rPr lang="en-US" b="1" dirty="0"/>
              <a:t> isn’t</a:t>
            </a:r>
            <a:r>
              <a:rPr lang="tr-TR" b="1" dirty="0"/>
              <a:t> </a:t>
            </a:r>
            <a:r>
              <a:rPr lang="en-US" dirty="0"/>
              <a:t>in the list, </a:t>
            </a:r>
            <a:endParaRPr lang="tr-TR" dirty="0"/>
          </a:p>
          <a:p>
            <a:r>
              <a:rPr lang="en-US" dirty="0"/>
              <a:t>then Python produces </a:t>
            </a:r>
            <a:endParaRPr lang="tr-TR" dirty="0"/>
          </a:p>
          <a:p>
            <a:r>
              <a:rPr lang="en-US" dirty="0"/>
              <a:t>a </a:t>
            </a:r>
            <a:r>
              <a:rPr lang="en-US" dirty="0" err="1"/>
              <a:t>ValueError</a:t>
            </a:r>
            <a:r>
              <a:rPr lang="en-US" dirty="0"/>
              <a:t> error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+mn-lt"/>
              </a:rPr>
              <a:t>value exist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 that</a:t>
            </a:r>
            <a:r>
              <a:rPr lang="tr-TR" dirty="0"/>
              <a:t> </a:t>
            </a:r>
            <a:r>
              <a:rPr lang="en-US" dirty="0"/>
              <a:t>value exists in the list</a:t>
            </a:r>
            <a:endParaRPr lang="tr-TR" dirty="0"/>
          </a:p>
          <a:p>
            <a:r>
              <a:rPr lang="en-US" dirty="0"/>
              <a:t>the index of the value </a:t>
            </a:r>
            <a:endParaRPr lang="tr-TR" dirty="0"/>
          </a:p>
          <a:p>
            <a:r>
              <a:rPr lang="en-US" dirty="0"/>
              <a:t>is returned. </a:t>
            </a:r>
            <a:endParaRPr lang="tr-TR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0A9789C-B725-4148-B126-6FD70E1337F7}"/>
              </a:ext>
            </a:extLst>
          </p:cNvPr>
          <p:cNvSpPr txBox="1">
            <a:spLocks/>
          </p:cNvSpPr>
          <p:nvPr/>
        </p:nvSpPr>
        <p:spPr>
          <a:xfrm>
            <a:off x="336914" y="5995991"/>
            <a:ext cx="6473188" cy="5963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6452274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for index()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sz="1800" dirty="0"/>
              <a:t>&gt;&gt;&gt; spam = ['hello', 'hi', 'howdy', 'heyas']</a:t>
            </a:r>
          </a:p>
          <a:p>
            <a:pPr marL="0" indent="0">
              <a:buNone/>
            </a:pPr>
            <a:r>
              <a:rPr lang="tr-TR" sz="1800" dirty="0"/>
              <a:t>&gt;&gt;&gt; spam.index('hello')</a:t>
            </a:r>
          </a:p>
          <a:p>
            <a:pPr marL="0" indent="0">
              <a:buNone/>
            </a:pPr>
            <a:r>
              <a:rPr lang="tr-TR" sz="1800" dirty="0"/>
              <a:t>0</a:t>
            </a:r>
          </a:p>
          <a:p>
            <a:pPr marL="0" indent="0">
              <a:buNone/>
            </a:pPr>
            <a:r>
              <a:rPr lang="tr-TR" sz="1800" dirty="0"/>
              <a:t>&gt;&gt;&gt; spam.index('</a:t>
            </a:r>
            <a:r>
              <a:rPr lang="tr-TR" sz="1800" dirty="0" err="1"/>
              <a:t>heyas</a:t>
            </a:r>
            <a:r>
              <a:rPr lang="en-US" sz="1800" dirty="0"/>
              <a:t>'</a:t>
            </a:r>
            <a:r>
              <a:rPr lang="tr-TR" sz="1800" dirty="0"/>
              <a:t>)</a:t>
            </a:r>
          </a:p>
          <a:p>
            <a:pPr marL="0" indent="0">
              <a:buNone/>
            </a:pPr>
            <a:r>
              <a:rPr lang="tr-TR" sz="1800" dirty="0"/>
              <a:t>3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&gt;&gt;&gt; spam = ['Zophie', 'Pooka', 'Fat-tail', 'Pooka']</a:t>
            </a:r>
          </a:p>
          <a:p>
            <a:pPr marL="0" indent="0">
              <a:buNone/>
            </a:pPr>
            <a:r>
              <a:rPr lang="tr-TR" sz="1800" dirty="0"/>
              <a:t>&gt;&gt;&gt; spam.index('Pooka')</a:t>
            </a:r>
          </a:p>
          <a:p>
            <a:pPr marL="0" indent="0">
              <a:buNone/>
            </a:pPr>
            <a:r>
              <a:rPr lang="tr-TR" sz="1800" dirty="0"/>
              <a:t>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sz="1800" dirty="0"/>
              <a:t>&gt;&gt;&gt; spam.index('howdy howdy howdy')</a:t>
            </a:r>
          </a:p>
          <a:p>
            <a:pPr marL="0" indent="0">
              <a:buNone/>
            </a:pPr>
            <a:r>
              <a:rPr lang="tr-TR" sz="1800" dirty="0"/>
              <a:t>ValueError: 'howdy howdy howdy' is not in list</a:t>
            </a:r>
          </a:p>
        </p:txBody>
      </p:sp>
    </p:spTree>
    <p:extLst>
      <p:ext uri="{BB962C8B-B14F-4D97-AF65-F5344CB8AC3E}">
        <p14:creationId xmlns:p14="http://schemas.microsoft.com/office/powerpoint/2010/main" val="35738293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Values to Lists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1"/>
            <a:ext cx="7252606" cy="37142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tr-TR" dirty="0"/>
              <a:t>append() and insert() methods are used in adding values to a list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en-US" dirty="0"/>
              <a:t>append()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r>
              <a:rPr lang="tr-TR" dirty="0"/>
              <a:t>adds a value as a last item</a:t>
            </a:r>
          </a:p>
          <a:p>
            <a:r>
              <a:rPr lang="tr-TR" b="1" dirty="0"/>
              <a:t>Example</a:t>
            </a:r>
          </a:p>
          <a:p>
            <a:r>
              <a:rPr lang="tr-TR" dirty="0"/>
              <a:t>spam.append('moose')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return value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314200"/>
          </a:xfrm>
        </p:spPr>
        <p:txBody>
          <a:bodyPr/>
          <a:lstStyle/>
          <a:p>
            <a:r>
              <a:rPr lang="tr-TR" dirty="0"/>
              <a:t>return </a:t>
            </a:r>
            <a:r>
              <a:rPr lang="en-US" dirty="0"/>
              <a:t>value of append() and insert() </a:t>
            </a:r>
            <a:endParaRPr lang="tr-TR" dirty="0"/>
          </a:p>
          <a:p>
            <a:r>
              <a:rPr lang="en-US" dirty="0"/>
              <a:t>is None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insert()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insert a value </a:t>
            </a:r>
            <a:endParaRPr lang="tr-TR" dirty="0"/>
          </a:p>
          <a:p>
            <a:r>
              <a:rPr lang="en-US" dirty="0"/>
              <a:t>at any index in the list</a:t>
            </a:r>
            <a:endParaRPr lang="tr-TR" dirty="0"/>
          </a:p>
          <a:p>
            <a:endParaRPr lang="tr-TR" dirty="0"/>
          </a:p>
          <a:p>
            <a:r>
              <a:rPr lang="tr-TR" b="1" dirty="0"/>
              <a:t>Example</a:t>
            </a:r>
          </a:p>
          <a:p>
            <a:r>
              <a:rPr lang="tr-TR" dirty="0"/>
              <a:t>spam.insert(1, 'chicken')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0A9789C-B725-4148-B126-6FD70E1337F7}"/>
              </a:ext>
            </a:extLst>
          </p:cNvPr>
          <p:cNvSpPr txBox="1">
            <a:spLocks/>
          </p:cNvSpPr>
          <p:nvPr/>
        </p:nvSpPr>
        <p:spPr>
          <a:xfrm>
            <a:off x="336914" y="5995991"/>
            <a:ext cx="6473188" cy="5963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862278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append() and insert() 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sz="1800" dirty="0"/>
              <a:t>&gt;&gt;&gt; spam = ['cat', 'dog', 'bat']</a:t>
            </a:r>
          </a:p>
          <a:p>
            <a:pPr marL="0" indent="0">
              <a:buNone/>
            </a:pPr>
            <a:r>
              <a:rPr lang="tr-TR" sz="1800" dirty="0"/>
              <a:t>&gt;&gt;&gt; spam.append('moose')</a:t>
            </a:r>
          </a:p>
          <a:p>
            <a:pPr marL="0" indent="0">
              <a:buNone/>
            </a:pPr>
            <a:r>
              <a:rPr lang="tr-TR" sz="1800" dirty="0"/>
              <a:t>&gt;&gt;&gt; spam</a:t>
            </a:r>
          </a:p>
          <a:p>
            <a:pPr marL="0" indent="0">
              <a:buNone/>
            </a:pPr>
            <a:r>
              <a:rPr lang="tr-TR" sz="1800" dirty="0"/>
              <a:t>['cat', 'dog', 'bat', 'moose']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&gt;&gt;&gt; spam.insert(1, 'chicken')</a:t>
            </a:r>
          </a:p>
          <a:p>
            <a:pPr marL="0" indent="0">
              <a:buNone/>
            </a:pPr>
            <a:r>
              <a:rPr lang="tr-TR" sz="1800" dirty="0"/>
              <a:t>&gt;&gt;&gt; spam</a:t>
            </a:r>
          </a:p>
          <a:p>
            <a:pPr marL="0" indent="0">
              <a:buNone/>
            </a:pPr>
            <a:r>
              <a:rPr lang="tr-TR" sz="1800" dirty="0"/>
              <a:t>['cat', 'chicken', 'dog', 'bat', 'moose']</a:t>
            </a:r>
            <a:endParaRPr lang="tr-TR" sz="16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&gt;&gt;&gt; eggs = 'hello'</a:t>
            </a:r>
          </a:p>
          <a:p>
            <a:pPr marL="0" indent="0">
              <a:buNone/>
            </a:pPr>
            <a:r>
              <a:rPr lang="en-US" sz="1800" dirty="0"/>
              <a:t>&gt;&gt;&gt; </a:t>
            </a:r>
            <a:r>
              <a:rPr lang="en-US" sz="1800" dirty="0" err="1"/>
              <a:t>eggs.append</a:t>
            </a:r>
            <a:r>
              <a:rPr lang="en-US" sz="1800" dirty="0"/>
              <a:t>('world')</a:t>
            </a:r>
          </a:p>
          <a:p>
            <a:pPr marL="0" indent="0">
              <a:buNone/>
            </a:pPr>
            <a:r>
              <a:rPr lang="en-US" sz="1800" dirty="0"/>
              <a:t>Traceback (most recent call last):</a:t>
            </a:r>
          </a:p>
          <a:p>
            <a:pPr marL="0" indent="0">
              <a:buNone/>
            </a:pPr>
            <a:r>
              <a:rPr lang="en-US" sz="1800" dirty="0" err="1"/>
              <a:t>AttributeError</a:t>
            </a:r>
            <a:r>
              <a:rPr lang="en-US" sz="1800" dirty="0"/>
              <a:t>: 'str' object has no attribute 'append’</a:t>
            </a: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en-US" sz="1800" dirty="0"/>
              <a:t>steak = 42</a:t>
            </a:r>
          </a:p>
          <a:p>
            <a:pPr marL="0" indent="0">
              <a:buNone/>
            </a:pPr>
            <a:r>
              <a:rPr lang="en-US" sz="1800" dirty="0"/>
              <a:t>&gt;&gt;&gt; </a:t>
            </a:r>
            <a:r>
              <a:rPr lang="en-US" sz="1800" dirty="0" err="1"/>
              <a:t>steak.insert</a:t>
            </a:r>
            <a:r>
              <a:rPr lang="en-US" sz="1800" dirty="0"/>
              <a:t>(1,'world')</a:t>
            </a:r>
          </a:p>
          <a:p>
            <a:pPr marL="0" indent="0">
              <a:buNone/>
            </a:pPr>
            <a:r>
              <a:rPr lang="en-US" sz="1800" dirty="0" err="1"/>
              <a:t>AttributeError</a:t>
            </a:r>
            <a:r>
              <a:rPr lang="en-US" sz="1800" dirty="0"/>
              <a:t>: 'int' object has no attribute 'insert'</a:t>
            </a:r>
            <a:endParaRPr lang="tr-TR" sz="1800" dirty="0"/>
          </a:p>
        </p:txBody>
      </p:sp>
    </p:spTree>
    <p:extLst>
      <p:ext uri="{BB962C8B-B14F-4D97-AF65-F5344CB8AC3E}">
        <p14:creationId xmlns:p14="http://schemas.microsoft.com/office/powerpoint/2010/main" val="25708529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Removing</a:t>
            </a:r>
            <a:r>
              <a:rPr lang="en-US" dirty="0"/>
              <a:t> Values </a:t>
            </a:r>
            <a:r>
              <a:rPr lang="tr-TR" dirty="0"/>
              <a:t>from</a:t>
            </a:r>
            <a:r>
              <a:rPr lang="en-US" dirty="0"/>
              <a:t> Lists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1"/>
            <a:ext cx="7252606" cy="37142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tr-TR" dirty="0"/>
              <a:t>remove() and del() methods are used in deleting values from a list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en-US" dirty="0"/>
              <a:t>remove()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r>
              <a:rPr lang="en-US" dirty="0"/>
              <a:t>passed the value </a:t>
            </a:r>
            <a:endParaRPr lang="tr-TR" dirty="0"/>
          </a:p>
          <a:p>
            <a:r>
              <a:rPr lang="en-US" dirty="0"/>
              <a:t>to be removed from the list</a:t>
            </a:r>
            <a:endParaRPr lang="tr-T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repeating values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314200"/>
          </a:xfrm>
        </p:spPr>
        <p:txBody>
          <a:bodyPr/>
          <a:lstStyle/>
          <a:p>
            <a:r>
              <a:rPr lang="en-US" dirty="0"/>
              <a:t>If the value appears </a:t>
            </a:r>
            <a:r>
              <a:rPr lang="en-US" b="1" dirty="0"/>
              <a:t>multiple</a:t>
            </a:r>
            <a:r>
              <a:rPr lang="en-US" dirty="0"/>
              <a:t> times</a:t>
            </a:r>
            <a:endParaRPr lang="tr-TR" dirty="0"/>
          </a:p>
          <a:p>
            <a:r>
              <a:rPr lang="en-US" dirty="0"/>
              <a:t>only the first instance of</a:t>
            </a:r>
            <a:r>
              <a:rPr lang="tr-TR" dirty="0"/>
              <a:t> </a:t>
            </a:r>
            <a:r>
              <a:rPr lang="en-US" dirty="0"/>
              <a:t>the value </a:t>
            </a:r>
            <a:endParaRPr lang="tr-TR" dirty="0"/>
          </a:p>
          <a:p>
            <a:r>
              <a:rPr lang="en-US" dirty="0"/>
              <a:t>will be removed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+mn-lt"/>
              </a:rPr>
              <a:t>if value not exist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will result in</a:t>
            </a:r>
            <a:r>
              <a:rPr lang="tr-TR" dirty="0"/>
              <a:t> a </a:t>
            </a:r>
            <a:r>
              <a:rPr lang="tr-TR" b="1" dirty="0"/>
              <a:t>ValueError</a:t>
            </a:r>
            <a:r>
              <a:rPr lang="tr-TR" dirty="0"/>
              <a:t> error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0A9789C-B725-4148-B126-6FD70E1337F7}"/>
              </a:ext>
            </a:extLst>
          </p:cNvPr>
          <p:cNvSpPr txBox="1">
            <a:spLocks/>
          </p:cNvSpPr>
          <p:nvPr/>
        </p:nvSpPr>
        <p:spPr>
          <a:xfrm>
            <a:off x="336914" y="5995991"/>
            <a:ext cx="6473188" cy="5963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28511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remove</a:t>
            </a:r>
            <a:r>
              <a:rPr lang="tr-TR" dirty="0"/>
              <a:t>() </a:t>
            </a:r>
            <a:r>
              <a:rPr lang="tr-TR" dirty="0" err="1"/>
              <a:t>and</a:t>
            </a:r>
            <a:r>
              <a:rPr lang="tr-TR"/>
              <a:t> del() </a:t>
            </a:r>
            <a:r>
              <a:rPr lang="tr-TR" dirty="0"/>
              <a:t>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sz="1800" dirty="0"/>
              <a:t>&gt;&gt;&gt; spam = ['cat', 'bat', 'rat', 'elephant']</a:t>
            </a:r>
          </a:p>
          <a:p>
            <a:pPr marL="0" indent="0">
              <a:buNone/>
            </a:pPr>
            <a:r>
              <a:rPr lang="tr-TR" sz="1800" dirty="0"/>
              <a:t>&gt;&gt;&gt; spam.remove('bat')</a:t>
            </a:r>
          </a:p>
          <a:p>
            <a:pPr marL="0" indent="0">
              <a:buNone/>
            </a:pPr>
            <a:r>
              <a:rPr lang="tr-TR" sz="1800" dirty="0"/>
              <a:t>&gt;&gt;&gt; spam</a:t>
            </a:r>
          </a:p>
          <a:p>
            <a:pPr marL="0" indent="0">
              <a:buNone/>
            </a:pPr>
            <a:r>
              <a:rPr lang="tr-TR" sz="1800" dirty="0"/>
              <a:t>['cat', 'rat', 'elephant’]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&gt;&gt;&gt; spam = ['cat', 'bat', 'rat', 'elephant']</a:t>
            </a:r>
          </a:p>
          <a:p>
            <a:pPr marL="0" indent="0">
              <a:buNone/>
            </a:pPr>
            <a:r>
              <a:rPr lang="tr-TR" sz="1800" dirty="0"/>
              <a:t>&gt;&gt;&gt; spam.remove('chicken')</a:t>
            </a:r>
          </a:p>
          <a:p>
            <a:pPr marL="0" indent="0">
              <a:buNone/>
            </a:pPr>
            <a:r>
              <a:rPr lang="tr-TR" sz="1800" dirty="0"/>
              <a:t>ValueError: list.remove(x): x not in list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&gt;&gt;&gt; spam = ['cat', 'bat', 'rat', 'cat', 'hat', 'cat']</a:t>
            </a:r>
          </a:p>
          <a:p>
            <a:pPr marL="0" indent="0">
              <a:buNone/>
            </a:pPr>
            <a:r>
              <a:rPr lang="tr-TR" sz="1800" dirty="0"/>
              <a:t>&gt;&gt;&gt; spam.remove('cat')</a:t>
            </a:r>
          </a:p>
          <a:p>
            <a:pPr marL="0" indent="0">
              <a:buNone/>
            </a:pPr>
            <a:r>
              <a:rPr lang="tr-TR" sz="1800" dirty="0"/>
              <a:t>&gt;&gt;&gt; spam</a:t>
            </a:r>
          </a:p>
          <a:p>
            <a:pPr marL="0" indent="0">
              <a:buNone/>
            </a:pPr>
            <a:r>
              <a:rPr lang="tr-TR" sz="1800" dirty="0"/>
              <a:t>['bat', 'rat', 'cat', 'hat', 'cat']</a:t>
            </a:r>
            <a:endParaRPr lang="tr-TR" sz="16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&gt;&gt;&gt; spam = ['cat', 'bat', 'rat', 'cat', 'hat', 'cat']</a:t>
            </a:r>
          </a:p>
          <a:p>
            <a:pPr marL="0" indent="0">
              <a:buNone/>
            </a:pPr>
            <a:r>
              <a:rPr lang="en-US" sz="1800" dirty="0"/>
              <a:t>&gt;&gt;&gt; del spam[0]</a:t>
            </a:r>
          </a:p>
          <a:p>
            <a:pPr marL="0" indent="0">
              <a:buNone/>
            </a:pPr>
            <a:r>
              <a:rPr lang="en-US" sz="1800" dirty="0"/>
              <a:t>&gt;&gt;&gt; spam</a:t>
            </a:r>
          </a:p>
          <a:p>
            <a:pPr marL="0" indent="0">
              <a:buNone/>
            </a:pPr>
            <a:r>
              <a:rPr lang="en-US" sz="1800" dirty="0"/>
              <a:t>['bat', 'rat', 'cat', 'hat', 'cat']</a:t>
            </a:r>
            <a:endParaRPr lang="tr-TR" sz="1800" dirty="0"/>
          </a:p>
        </p:txBody>
      </p:sp>
    </p:spTree>
    <p:extLst>
      <p:ext uri="{BB962C8B-B14F-4D97-AF65-F5344CB8AC3E}">
        <p14:creationId xmlns:p14="http://schemas.microsoft.com/office/powerpoint/2010/main" val="8426370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the Values in a List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1"/>
            <a:ext cx="7252606" cy="37142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tr-TR" dirty="0"/>
              <a:t>sort() method is used in sorting the values in a list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/>
              <a:t>sort</a:t>
            </a:r>
            <a:r>
              <a:rPr lang="en-US" b="1" dirty="0"/>
              <a:t>()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r>
              <a:rPr lang="tr-TR" dirty="0"/>
              <a:t>sort</a:t>
            </a:r>
          </a:p>
          <a:p>
            <a:r>
              <a:rPr lang="en-US" dirty="0"/>
              <a:t>Lists of number values </a:t>
            </a:r>
            <a:endParaRPr lang="tr-TR" dirty="0"/>
          </a:p>
          <a:p>
            <a:r>
              <a:rPr lang="en-US" dirty="0"/>
              <a:t>lists of strings</a:t>
            </a:r>
            <a:endParaRPr lang="tr-TR" dirty="0"/>
          </a:p>
          <a:p>
            <a:endParaRPr lang="tr-TR" dirty="0"/>
          </a:p>
          <a:p>
            <a:r>
              <a:rPr lang="tr-TR" dirty="0"/>
              <a:t>for strings</a:t>
            </a:r>
          </a:p>
          <a:p>
            <a:r>
              <a:rPr lang="en-US" dirty="0"/>
              <a:t>uses “</a:t>
            </a:r>
            <a:r>
              <a:rPr lang="en-US" dirty="0" err="1"/>
              <a:t>ASCIIbetical</a:t>
            </a:r>
            <a:r>
              <a:rPr lang="en-US" dirty="0"/>
              <a:t> order” </a:t>
            </a:r>
            <a:endParaRPr lang="tr-TR" dirty="0"/>
          </a:p>
          <a:p>
            <a:r>
              <a:rPr lang="en-US" dirty="0"/>
              <a:t>rather than actual alphabetical</a:t>
            </a:r>
            <a:r>
              <a:rPr lang="tr-TR" dirty="0"/>
              <a:t> order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b="1" dirty="0"/>
              <a:t>mixed lists</a:t>
            </a:r>
            <a:endParaRPr lang="en-US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3314200"/>
          </a:xfrm>
        </p:spPr>
        <p:txBody>
          <a:bodyPr/>
          <a:lstStyle/>
          <a:p>
            <a:r>
              <a:rPr lang="tr-TR" dirty="0"/>
              <a:t>not applicable to lists</a:t>
            </a:r>
          </a:p>
          <a:p>
            <a:r>
              <a:rPr lang="en-US" dirty="0"/>
              <a:t>have both </a:t>
            </a:r>
            <a:r>
              <a:rPr lang="en-US" b="1" dirty="0"/>
              <a:t>number</a:t>
            </a:r>
            <a:r>
              <a:rPr lang="en-US" dirty="0"/>
              <a:t> values</a:t>
            </a:r>
            <a:endParaRPr lang="tr-TR" dirty="0"/>
          </a:p>
          <a:p>
            <a:r>
              <a:rPr lang="en-US" i="1" dirty="0"/>
              <a:t>and </a:t>
            </a:r>
            <a:r>
              <a:rPr lang="en-US" b="1" dirty="0"/>
              <a:t>string</a:t>
            </a:r>
            <a:r>
              <a:rPr lang="tr-TR" dirty="0"/>
              <a:t> values in them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b="1" dirty="0">
                <a:latin typeface="+mn-lt"/>
              </a:rPr>
              <a:t>sort order</a:t>
            </a:r>
            <a:endParaRPr lang="en-US" b="1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pass True </a:t>
            </a:r>
            <a:r>
              <a:rPr lang="tr-TR" dirty="0"/>
              <a:t>for the reverse argument</a:t>
            </a:r>
          </a:p>
          <a:p>
            <a:r>
              <a:rPr lang="en-US" dirty="0"/>
              <a:t>to sort the values in </a:t>
            </a:r>
            <a:r>
              <a:rPr lang="en-US" b="1" dirty="0"/>
              <a:t>reverse</a:t>
            </a:r>
            <a:r>
              <a:rPr lang="en-US" dirty="0"/>
              <a:t> order</a:t>
            </a:r>
            <a:endParaRPr lang="tr-TR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0A9789C-B725-4148-B126-6FD70E1337F7}"/>
              </a:ext>
            </a:extLst>
          </p:cNvPr>
          <p:cNvSpPr txBox="1">
            <a:spLocks/>
          </p:cNvSpPr>
          <p:nvPr/>
        </p:nvSpPr>
        <p:spPr>
          <a:xfrm>
            <a:off x="336914" y="5995991"/>
            <a:ext cx="6473188" cy="5963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9496066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sort() 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sz="1800" dirty="0"/>
              <a:t>&gt;&gt;&gt; spam = [2, 5, 3.14, 1, -7]</a:t>
            </a:r>
          </a:p>
          <a:p>
            <a:pPr marL="0" indent="0">
              <a:buNone/>
            </a:pPr>
            <a:r>
              <a:rPr lang="tr-TR" sz="1800" dirty="0"/>
              <a:t>&gt;&gt;&gt; spam.sort()</a:t>
            </a:r>
          </a:p>
          <a:p>
            <a:pPr marL="0" indent="0">
              <a:buNone/>
            </a:pPr>
            <a:r>
              <a:rPr lang="tr-TR" sz="1800" dirty="0"/>
              <a:t>&gt;&gt;&gt; spam</a:t>
            </a:r>
          </a:p>
          <a:p>
            <a:pPr marL="0" indent="0">
              <a:buNone/>
            </a:pPr>
            <a:r>
              <a:rPr lang="tr-TR" sz="1800" dirty="0"/>
              <a:t>[-7, 1, 2, 3.14, 5]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&gt;&gt;&gt; spam = ['ants', 'cats', 'dogs', 'badgers', 'elephants']</a:t>
            </a:r>
          </a:p>
          <a:p>
            <a:pPr marL="0" indent="0">
              <a:buNone/>
            </a:pPr>
            <a:r>
              <a:rPr lang="tr-TR" sz="1800" dirty="0"/>
              <a:t>&gt;&gt;&gt; spam.sort()</a:t>
            </a:r>
          </a:p>
          <a:p>
            <a:pPr marL="0" indent="0">
              <a:buNone/>
            </a:pPr>
            <a:r>
              <a:rPr lang="tr-TR" sz="1800" dirty="0"/>
              <a:t>&gt;&gt;&gt; spam</a:t>
            </a:r>
          </a:p>
          <a:p>
            <a:pPr marL="0" indent="0">
              <a:buNone/>
            </a:pPr>
            <a:r>
              <a:rPr lang="tr-TR" sz="1800" dirty="0"/>
              <a:t>['ants', 'badgers', 'cats', 'dogs', 'elephants’]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&gt;&gt;&gt; spam.sort(reverse=True)</a:t>
            </a:r>
          </a:p>
          <a:p>
            <a:pPr marL="0" indent="0">
              <a:buNone/>
            </a:pPr>
            <a:r>
              <a:rPr lang="tr-TR" sz="1800" dirty="0"/>
              <a:t>&gt;&gt;&gt; spam</a:t>
            </a:r>
          </a:p>
          <a:p>
            <a:pPr marL="0" indent="0">
              <a:buNone/>
            </a:pPr>
            <a:r>
              <a:rPr lang="tr-TR" sz="1800" dirty="0"/>
              <a:t>['elephants', 'dogs', 'cats', 'badgers', 'ants']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45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sz="1800" dirty="0"/>
              <a:t>&gt;&gt;&gt; spam = [1, 3, 2, 4, 'Alice', 'Bob']</a:t>
            </a:r>
          </a:p>
          <a:p>
            <a:pPr marL="0" indent="0">
              <a:buNone/>
            </a:pPr>
            <a:r>
              <a:rPr lang="tr-TR" sz="1800" dirty="0"/>
              <a:t>&gt;&gt;&gt; spam.sort()</a:t>
            </a:r>
          </a:p>
          <a:p>
            <a:pPr marL="0" indent="0">
              <a:buNone/>
            </a:pPr>
            <a:r>
              <a:rPr lang="tr-TR" sz="1800" dirty="0"/>
              <a:t>TypeError: '&lt;' not supported between instances of 'str' and 'int'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&gt;&gt;&gt; spam = ['Alice', 'ants', 'Bob', 'badgers', 'Carol', 'cats']</a:t>
            </a:r>
          </a:p>
          <a:p>
            <a:pPr marL="0" indent="0">
              <a:buNone/>
            </a:pPr>
            <a:r>
              <a:rPr lang="tr-TR" sz="1800" dirty="0"/>
              <a:t>&gt;&gt;&gt; spam.sort()</a:t>
            </a:r>
          </a:p>
          <a:p>
            <a:pPr marL="0" indent="0">
              <a:buNone/>
            </a:pPr>
            <a:r>
              <a:rPr lang="tr-TR" sz="1800" dirty="0"/>
              <a:t>&gt;&gt;&gt; spam</a:t>
            </a:r>
          </a:p>
          <a:p>
            <a:pPr marL="0" indent="0">
              <a:buNone/>
            </a:pPr>
            <a:r>
              <a:rPr lang="tr-TR" sz="1800" dirty="0"/>
              <a:t>['Alice', 'Bob', 'Carol', 'ants', 'badgers', 'cats']</a:t>
            </a:r>
            <a:endParaRPr lang="tr-TR" sz="1650" dirty="0"/>
          </a:p>
        </p:txBody>
      </p:sp>
    </p:spTree>
    <p:extLst>
      <p:ext uri="{BB962C8B-B14F-4D97-AF65-F5344CB8AC3E}">
        <p14:creationId xmlns:p14="http://schemas.microsoft.com/office/powerpoint/2010/main" val="32668063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Program: Magic 8 Ball with a List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import random</a:t>
            </a:r>
          </a:p>
          <a:p>
            <a:pPr marL="0" indent="0">
              <a:buNone/>
            </a:pPr>
            <a:r>
              <a:rPr lang="en-US" sz="1800" dirty="0"/>
              <a:t>messages = [</a:t>
            </a:r>
            <a:r>
              <a:rPr lang="en-US" sz="1800" dirty="0" err="1"/>
              <a:t>'It</a:t>
            </a:r>
            <a:r>
              <a:rPr lang="en-US" sz="1800" dirty="0"/>
              <a:t> is certain',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'It</a:t>
            </a:r>
            <a:r>
              <a:rPr lang="en-US" sz="1800" dirty="0"/>
              <a:t> is decidedly so',</a:t>
            </a:r>
          </a:p>
          <a:p>
            <a:pPr marL="0" indent="0">
              <a:buNone/>
            </a:pPr>
            <a:r>
              <a:rPr lang="en-US" sz="1800" dirty="0"/>
              <a:t>    'Yes definitely',</a:t>
            </a:r>
          </a:p>
          <a:p>
            <a:pPr marL="0" indent="0">
              <a:buNone/>
            </a:pPr>
            <a:r>
              <a:rPr lang="en-US" sz="1800" dirty="0"/>
              <a:t>    'Reply hazy try again',</a:t>
            </a:r>
          </a:p>
          <a:p>
            <a:pPr marL="0" indent="0">
              <a:buNone/>
            </a:pPr>
            <a:r>
              <a:rPr lang="en-US" sz="1800" dirty="0"/>
              <a:t>    'Ask again later',</a:t>
            </a:r>
          </a:p>
          <a:p>
            <a:pPr marL="0" indent="0">
              <a:buNone/>
            </a:pPr>
            <a:r>
              <a:rPr lang="en-US" sz="1800" dirty="0"/>
              <a:t>    'Concentrate and ask again',</a:t>
            </a:r>
          </a:p>
          <a:p>
            <a:pPr marL="0" indent="0">
              <a:buNone/>
            </a:pPr>
            <a:r>
              <a:rPr lang="en-US" sz="1800" dirty="0"/>
              <a:t>    'My reply is no',</a:t>
            </a:r>
          </a:p>
          <a:p>
            <a:pPr marL="0" indent="0">
              <a:buNone/>
            </a:pPr>
            <a:r>
              <a:rPr lang="en-US" sz="1800" dirty="0"/>
              <a:t>    'Outlook not so good',</a:t>
            </a:r>
          </a:p>
          <a:p>
            <a:pPr marL="0" indent="0">
              <a:buNone/>
            </a:pPr>
            <a:r>
              <a:rPr lang="en-US" sz="1800" dirty="0"/>
              <a:t>    'Very doubtful']</a:t>
            </a:r>
          </a:p>
          <a:p>
            <a:pPr marL="0" indent="0">
              <a:buNone/>
            </a:pPr>
            <a:r>
              <a:rPr lang="en-US" sz="1800" dirty="0"/>
              <a:t>print(messages[</a:t>
            </a:r>
            <a:r>
              <a:rPr lang="en-US" sz="1800" dirty="0" err="1"/>
              <a:t>random.randint</a:t>
            </a:r>
            <a:r>
              <a:rPr lang="en-US" sz="1800" dirty="0"/>
              <a:t>(0, </a:t>
            </a:r>
            <a:r>
              <a:rPr lang="en-US" sz="1800" dirty="0" err="1"/>
              <a:t>len</a:t>
            </a:r>
            <a:r>
              <a:rPr lang="en-US" sz="1800" dirty="0"/>
              <a:t>(messages) - 1)])</a:t>
            </a:r>
            <a:endParaRPr lang="tr-TR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tr-TR" sz="1800" dirty="0"/>
              <a:t>It is certain</a:t>
            </a:r>
            <a:endParaRPr lang="tr-TR" sz="1650" dirty="0"/>
          </a:p>
        </p:txBody>
      </p:sp>
    </p:spTree>
    <p:extLst>
      <p:ext uri="{BB962C8B-B14F-4D97-AF65-F5344CB8AC3E}">
        <p14:creationId xmlns:p14="http://schemas.microsoft.com/office/powerpoint/2010/main" val="2947180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4068402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/>
              <a:t>Chapter-4 Lists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List-like Types: Strings &amp; Tuples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47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4098" name="Picture 2" descr="ancient china ile ilgili görsel sonucu">
            <a:extLst>
              <a:ext uri="{FF2B5EF4-FFF2-40B4-BE49-F238E27FC236}">
                <a16:creationId xmlns:a16="http://schemas.microsoft.com/office/drawing/2014/main" id="{33452FB1-171B-463C-8B05-949F5A5C473D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0" r="1871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8385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Strings can be used as list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Strings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en-US" dirty="0"/>
              <a:t>indexing</a:t>
            </a:r>
            <a:endParaRPr lang="tr-TR" dirty="0"/>
          </a:p>
          <a:p>
            <a:r>
              <a:rPr lang="en-US" dirty="0"/>
              <a:t>slicing;</a:t>
            </a:r>
            <a:endParaRPr lang="tr-TR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For loops</a:t>
            </a:r>
            <a:endParaRPr lang="en-US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5"/>
            <a:ext cx="2370064" cy="745886"/>
          </a:xfrm>
        </p:spPr>
        <p:txBody>
          <a:bodyPr/>
          <a:lstStyle/>
          <a:p>
            <a:r>
              <a:rPr lang="en-US" dirty="0"/>
              <a:t>using them with for</a:t>
            </a:r>
            <a:r>
              <a:rPr lang="tr-TR" dirty="0"/>
              <a:t> </a:t>
            </a:r>
            <a:r>
              <a:rPr lang="en-US" dirty="0"/>
              <a:t>loops</a:t>
            </a:r>
            <a:endParaRPr lang="tr-TR" dirty="0"/>
          </a:p>
          <a:p>
            <a:r>
              <a:rPr lang="tr-TR" b="1" dirty="0"/>
              <a:t>Length</a:t>
            </a:r>
          </a:p>
          <a:p>
            <a:r>
              <a:rPr lang="en-US" dirty="0"/>
              <a:t>with </a:t>
            </a:r>
            <a:r>
              <a:rPr lang="en-US" dirty="0" err="1"/>
              <a:t>len</a:t>
            </a:r>
            <a:r>
              <a:rPr lang="en-US" dirty="0"/>
              <a:t>()</a:t>
            </a:r>
            <a:endParaRPr lang="tr-TR" dirty="0"/>
          </a:p>
          <a:p>
            <a:endParaRPr lang="en-US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membership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6211" y="5097494"/>
            <a:ext cx="2251799" cy="788865"/>
          </a:xfrm>
        </p:spPr>
        <p:txBody>
          <a:bodyPr/>
          <a:lstStyle/>
          <a:p>
            <a:r>
              <a:rPr lang="en-US" dirty="0"/>
              <a:t>in</a:t>
            </a:r>
            <a:endParaRPr lang="tr-TR" dirty="0"/>
          </a:p>
          <a:p>
            <a:r>
              <a:rPr lang="en-US" dirty="0"/>
              <a:t>not in operators</a:t>
            </a:r>
            <a:endParaRPr lang="tr-TR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13" name="Picture Placeholder 12" descr="A bench in front of a building&#10;&#10;Description automatically generated">
            <a:extLst>
              <a:ext uri="{FF2B5EF4-FFF2-40B4-BE49-F238E27FC236}">
                <a16:creationId xmlns:a16="http://schemas.microsoft.com/office/drawing/2014/main" id="{C2227F86-A3BC-43DA-A2F2-76CC0576EF83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l="22024" r="220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226966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Strings as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1999"/>
            <a:ext cx="4104000" cy="555828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&gt;&gt;&gt; name = '</a:t>
            </a:r>
            <a:r>
              <a:rPr lang="en-US" sz="1600" dirty="0" err="1"/>
              <a:t>Zophie</a:t>
            </a:r>
            <a:r>
              <a:rPr lang="en-US" sz="1600" dirty="0"/>
              <a:t>'</a:t>
            </a:r>
          </a:p>
          <a:p>
            <a:pPr marL="0" indent="0">
              <a:buNone/>
            </a:pPr>
            <a:r>
              <a:rPr lang="en-US" sz="1600" dirty="0"/>
              <a:t>&gt;&gt;&gt; name[0]</a:t>
            </a:r>
          </a:p>
          <a:p>
            <a:pPr marL="0" indent="0">
              <a:buNone/>
            </a:pPr>
            <a:r>
              <a:rPr lang="en-US" sz="1600" dirty="0"/>
              <a:t>'Z’</a:t>
            </a:r>
            <a:endParaRPr lang="tr-TR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&gt;&gt;&gt; name[-2]</a:t>
            </a:r>
          </a:p>
          <a:p>
            <a:pPr marL="0" indent="0">
              <a:buNone/>
            </a:pPr>
            <a:r>
              <a:rPr lang="en-US" sz="1600" dirty="0"/>
              <a:t>'</a:t>
            </a:r>
            <a:r>
              <a:rPr lang="en-US" sz="1600" dirty="0" err="1"/>
              <a:t>i</a:t>
            </a:r>
            <a:r>
              <a:rPr lang="en-US" sz="1600" dirty="0"/>
              <a:t>'</a:t>
            </a:r>
          </a:p>
          <a:p>
            <a:pPr marL="0" indent="0">
              <a:buNone/>
            </a:pPr>
            <a:r>
              <a:rPr lang="en-US" sz="1600" dirty="0"/>
              <a:t>&gt;&gt;&gt; name[0:4]</a:t>
            </a:r>
          </a:p>
          <a:p>
            <a:pPr marL="0" indent="0">
              <a:buNone/>
            </a:pPr>
            <a:r>
              <a:rPr lang="en-US" sz="1600" dirty="0"/>
              <a:t>'</a:t>
            </a:r>
            <a:r>
              <a:rPr lang="en-US" sz="1600" dirty="0" err="1"/>
              <a:t>Zoph</a:t>
            </a:r>
            <a:r>
              <a:rPr lang="en-US" sz="1600" dirty="0"/>
              <a:t>’</a:t>
            </a:r>
          </a:p>
          <a:p>
            <a:pPr marL="0" indent="0">
              <a:buNone/>
            </a:pPr>
            <a:endParaRPr lang="tr-TR" sz="1600" dirty="0"/>
          </a:p>
          <a:p>
            <a:pPr marL="0" indent="0">
              <a:buNone/>
            </a:pPr>
            <a:r>
              <a:rPr lang="en-US" sz="1600" dirty="0"/>
              <a:t>&gt;&gt;&gt; 'Zo' in name</a:t>
            </a:r>
          </a:p>
          <a:p>
            <a:pPr marL="0" indent="0">
              <a:buNone/>
            </a:pPr>
            <a:r>
              <a:rPr lang="en-US" sz="1600" dirty="0"/>
              <a:t>True</a:t>
            </a:r>
          </a:p>
          <a:p>
            <a:pPr marL="0" indent="0">
              <a:buNone/>
            </a:pPr>
            <a:endParaRPr lang="tr-TR" sz="1600" dirty="0"/>
          </a:p>
          <a:p>
            <a:pPr marL="0" indent="0">
              <a:buNone/>
            </a:pPr>
            <a:r>
              <a:rPr lang="en-US" sz="1600" dirty="0"/>
              <a:t>&gt;&gt;&gt; 'z' in name</a:t>
            </a:r>
          </a:p>
          <a:p>
            <a:pPr marL="0" indent="0">
              <a:buNone/>
            </a:pPr>
            <a:r>
              <a:rPr lang="en-US" sz="1600" dirty="0"/>
              <a:t>False</a:t>
            </a:r>
            <a:endParaRPr lang="tr-TR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&gt;&gt;&gt; 'p' not in name</a:t>
            </a:r>
          </a:p>
          <a:p>
            <a:pPr marL="0" indent="0">
              <a:buNone/>
            </a:pPr>
            <a:r>
              <a:rPr lang="en-US" sz="1600" dirty="0"/>
              <a:t>False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&gt;&gt;&gt; for </a:t>
            </a:r>
            <a:r>
              <a:rPr lang="en-US" sz="1600" dirty="0" err="1"/>
              <a:t>i</a:t>
            </a:r>
            <a:r>
              <a:rPr lang="en-US" sz="1600" dirty="0"/>
              <a:t> in name:</a:t>
            </a:r>
          </a:p>
          <a:p>
            <a:pPr marL="0" indent="0">
              <a:buNone/>
            </a:pPr>
            <a:r>
              <a:rPr lang="en-US" sz="1600" dirty="0"/>
              <a:t>	print('* * * ' + </a:t>
            </a:r>
            <a:r>
              <a:rPr lang="en-US" sz="1600" dirty="0" err="1"/>
              <a:t>i</a:t>
            </a:r>
            <a:r>
              <a:rPr lang="en-US" sz="1600" dirty="0"/>
              <a:t> + ' * * *')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* * * Z * * *</a:t>
            </a:r>
          </a:p>
          <a:p>
            <a:pPr marL="0" indent="0">
              <a:buNone/>
            </a:pPr>
            <a:r>
              <a:rPr lang="en-US" sz="1600" dirty="0"/>
              <a:t>* * * o * * *</a:t>
            </a:r>
          </a:p>
          <a:p>
            <a:pPr marL="0" indent="0">
              <a:buNone/>
            </a:pPr>
            <a:r>
              <a:rPr lang="en-US" sz="1600" dirty="0"/>
              <a:t>* * * p * * *</a:t>
            </a:r>
          </a:p>
          <a:p>
            <a:pPr marL="0" indent="0">
              <a:buNone/>
            </a:pPr>
            <a:r>
              <a:rPr lang="en-US" sz="1600" dirty="0"/>
              <a:t>* * * h * * *</a:t>
            </a:r>
          </a:p>
          <a:p>
            <a:pPr marL="0" indent="0">
              <a:buNone/>
            </a:pPr>
            <a:r>
              <a:rPr lang="en-US" sz="1600" dirty="0"/>
              <a:t>* * * </a:t>
            </a:r>
            <a:r>
              <a:rPr lang="en-US" sz="1600" dirty="0" err="1"/>
              <a:t>i</a:t>
            </a:r>
            <a:r>
              <a:rPr lang="en-US" sz="1600" dirty="0"/>
              <a:t> * * *</a:t>
            </a:r>
          </a:p>
          <a:p>
            <a:pPr marL="0" indent="0">
              <a:buNone/>
            </a:pPr>
            <a:r>
              <a:rPr lang="en-US" sz="1600" dirty="0"/>
              <a:t>* * * e * * *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15799090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and Immutable Data Types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900000"/>
          </a:xfrm>
        </p:spPr>
        <p:txBody>
          <a:bodyPr/>
          <a:lstStyle/>
          <a:p>
            <a:r>
              <a:rPr lang="tr-TR" dirty="0"/>
              <a:t>A big difference between strings and lists is about the mutability</a:t>
            </a:r>
            <a:endParaRPr lang="en-US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List: mutable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6"/>
            <a:ext cx="2067951" cy="1614215"/>
          </a:xfrm>
        </p:spPr>
        <p:txBody>
          <a:bodyPr/>
          <a:lstStyle/>
          <a:p>
            <a:pPr algn="l"/>
            <a:r>
              <a:rPr lang="en-US" b="1" dirty="0"/>
              <a:t>list value</a:t>
            </a:r>
            <a:endParaRPr lang="tr-TR" b="1" dirty="0"/>
          </a:p>
          <a:p>
            <a:pPr algn="l"/>
            <a:r>
              <a:rPr lang="en-US" dirty="0"/>
              <a:t> is a </a:t>
            </a:r>
            <a:r>
              <a:rPr lang="en-US" i="1" dirty="0"/>
              <a:t>mutable</a:t>
            </a:r>
            <a:r>
              <a:rPr lang="tr-TR" i="1" dirty="0"/>
              <a:t> </a:t>
            </a:r>
            <a:r>
              <a:rPr lang="en-US" dirty="0"/>
              <a:t>data type</a:t>
            </a:r>
            <a:endParaRPr lang="tr-TR" dirty="0"/>
          </a:p>
          <a:p>
            <a:pPr algn="l"/>
            <a:r>
              <a:rPr lang="en-US" dirty="0"/>
              <a:t>It can have values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added,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removed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changed. </a:t>
            </a:r>
            <a:endParaRPr lang="en-US" b="1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String: immutable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3533" y="4688112"/>
            <a:ext cx="2039816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b="1" dirty="0"/>
              <a:t>a string</a:t>
            </a:r>
          </a:p>
          <a:p>
            <a:pPr algn="l"/>
            <a:r>
              <a:rPr lang="en-US" dirty="0"/>
              <a:t>is </a:t>
            </a:r>
            <a:r>
              <a:rPr lang="en-US" i="1" dirty="0"/>
              <a:t>immutable</a:t>
            </a:r>
            <a:endParaRPr lang="tr-TR" dirty="0"/>
          </a:p>
          <a:p>
            <a:pPr algn="l"/>
            <a:r>
              <a:rPr lang="en-US" dirty="0"/>
              <a:t>It cannot be changed.</a:t>
            </a:r>
            <a:endParaRPr lang="en-US" b="1" dirty="0"/>
          </a:p>
          <a:p>
            <a:pPr algn="l"/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4175" y="3870065"/>
            <a:ext cx="1620440" cy="504000"/>
          </a:xfrm>
        </p:spPr>
        <p:txBody>
          <a:bodyPr/>
          <a:lstStyle/>
          <a:p>
            <a:r>
              <a:rPr lang="tr-TR" dirty="0"/>
              <a:t>String cannot be changed!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47566" y="4627376"/>
            <a:ext cx="2210170" cy="1210716"/>
          </a:xfrm>
        </p:spPr>
        <p:txBody>
          <a:bodyPr/>
          <a:lstStyle/>
          <a:p>
            <a:pPr algn="l"/>
            <a:r>
              <a:rPr lang="en-US" b="1" dirty="0" err="1"/>
              <a:t>TypeError</a:t>
            </a:r>
            <a:endParaRPr lang="tr-TR" b="1" dirty="0"/>
          </a:p>
          <a:p>
            <a:pPr algn="l"/>
            <a:r>
              <a:rPr lang="en-US" dirty="0"/>
              <a:t>to reassign a single character</a:t>
            </a:r>
            <a:endParaRPr lang="tr-TR" dirty="0"/>
          </a:p>
          <a:p>
            <a:pPr algn="l"/>
            <a:r>
              <a:rPr lang="en-US" dirty="0"/>
              <a:t>in</a:t>
            </a:r>
            <a:r>
              <a:rPr lang="tr-TR" dirty="0"/>
              <a:t> </a:t>
            </a:r>
            <a:r>
              <a:rPr lang="en-US" dirty="0"/>
              <a:t>a string </a:t>
            </a:r>
            <a:endParaRPr lang="tr-TR" dirty="0"/>
          </a:p>
          <a:p>
            <a:pPr algn="l"/>
            <a:r>
              <a:rPr lang="en-US" dirty="0"/>
              <a:t>results in a </a:t>
            </a:r>
            <a:r>
              <a:rPr lang="en-US" dirty="0" err="1"/>
              <a:t>TypeError</a:t>
            </a:r>
            <a:r>
              <a:rPr lang="en-US" dirty="0"/>
              <a:t> error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4453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Variables Cannot Be Used in the Global Scope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name = '</a:t>
            </a:r>
            <a:r>
              <a:rPr lang="en-US" dirty="0" err="1"/>
              <a:t>Zophie</a:t>
            </a:r>
            <a:r>
              <a:rPr lang="en-US" dirty="0"/>
              <a:t> a cat'</a:t>
            </a:r>
          </a:p>
          <a:p>
            <a:pPr marL="0" indent="0">
              <a:buNone/>
            </a:pPr>
            <a:r>
              <a:rPr lang="en-US" dirty="0"/>
              <a:t>&gt;&gt;&gt; name[7] = 'the'</a:t>
            </a:r>
          </a:p>
          <a:p>
            <a:pPr marL="0" indent="0">
              <a:buNone/>
            </a:pPr>
            <a:r>
              <a:rPr lang="en-US" dirty="0" err="1"/>
              <a:t>TypeError</a:t>
            </a:r>
            <a:r>
              <a:rPr lang="en-US" dirty="0"/>
              <a:t>: 'str' object does not support item assignment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name = '</a:t>
            </a:r>
            <a:r>
              <a:rPr lang="en-US" dirty="0" err="1"/>
              <a:t>Zophie</a:t>
            </a:r>
            <a:r>
              <a:rPr lang="en-US" dirty="0"/>
              <a:t> a cat'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newName</a:t>
            </a:r>
            <a:r>
              <a:rPr lang="en-US" dirty="0"/>
              <a:t> = name[0:7] + 'the' + name[8:12]</a:t>
            </a:r>
          </a:p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newName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'</a:t>
            </a:r>
            <a:r>
              <a:rPr lang="en-US" dirty="0" err="1"/>
              <a:t>Zophie</a:t>
            </a:r>
            <a:r>
              <a:rPr lang="en-US" dirty="0"/>
              <a:t> the cat'</a:t>
            </a:r>
          </a:p>
          <a:p>
            <a:pPr marL="0" indent="0">
              <a:buNone/>
            </a:pPr>
            <a:r>
              <a:rPr lang="en-US" dirty="0"/>
              <a:t>&gt;&gt;&gt; name</a:t>
            </a:r>
          </a:p>
          <a:p>
            <a:pPr marL="0" indent="0">
              <a:buNone/>
            </a:pPr>
            <a:r>
              <a:rPr lang="en-US" dirty="0"/>
              <a:t>'</a:t>
            </a:r>
            <a:r>
              <a:rPr lang="en-US" dirty="0" err="1"/>
              <a:t>Zophie</a:t>
            </a:r>
            <a:r>
              <a:rPr lang="en-US" dirty="0"/>
              <a:t> a cat'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809617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 new list is created rather than modification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52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3829" y="1140847"/>
            <a:ext cx="8495171" cy="125401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nb-NO" dirty="0"/>
              <a:t>&gt;&gt;&gt; eggs = [1, 2, 3]</a:t>
            </a:r>
          </a:p>
          <a:p>
            <a:pPr marL="0" indent="0">
              <a:buNone/>
            </a:pPr>
            <a:r>
              <a:rPr lang="nb-NO" dirty="0"/>
              <a:t>&gt;&gt;&gt; eggs = [4, 5, 6]</a:t>
            </a:r>
          </a:p>
          <a:p>
            <a:pPr marL="0" indent="0">
              <a:buNone/>
            </a:pPr>
            <a:r>
              <a:rPr lang="nb-NO" dirty="0"/>
              <a:t>&gt;&gt;&gt; eggs</a:t>
            </a:r>
          </a:p>
          <a:p>
            <a:pPr marL="0" indent="0">
              <a:buNone/>
            </a:pPr>
            <a:r>
              <a:rPr lang="nb-NO" dirty="0"/>
              <a:t>[4, 5, 6]</a:t>
            </a:r>
            <a:endParaRPr lang="tr-TR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47045D-739A-4608-BC6F-109F7DEBCB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81907" y="2556229"/>
            <a:ext cx="8225064" cy="313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328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To change the values of a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1200" y="865076"/>
            <a:ext cx="3541485" cy="1776524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nb-NO" dirty="0"/>
              <a:t>&gt;&gt;&gt; eggs = [1, 2, 3]</a:t>
            </a:r>
          </a:p>
          <a:p>
            <a:pPr marL="0" indent="0">
              <a:buNone/>
            </a:pPr>
            <a:r>
              <a:rPr lang="nb-NO" dirty="0"/>
              <a:t>&gt;&gt;&gt; del eggs[2]</a:t>
            </a:r>
          </a:p>
          <a:p>
            <a:pPr marL="0" indent="0">
              <a:buNone/>
            </a:pPr>
            <a:r>
              <a:rPr lang="nb-NO" dirty="0"/>
              <a:t>&gt;&gt;&gt; del eggs[1]</a:t>
            </a:r>
          </a:p>
          <a:p>
            <a:pPr marL="0" indent="0">
              <a:buNone/>
            </a:pPr>
            <a:r>
              <a:rPr lang="nb-NO" dirty="0"/>
              <a:t>&gt;&gt;&gt; del eggs[0]</a:t>
            </a:r>
          </a:p>
          <a:p>
            <a:pPr marL="0" indent="0">
              <a:buNone/>
            </a:pPr>
            <a:r>
              <a:rPr lang="nb-NO" dirty="0"/>
              <a:t>&gt;&gt;&gt; eggs.append(4)</a:t>
            </a:r>
          </a:p>
          <a:p>
            <a:pPr marL="0" indent="0">
              <a:buNone/>
            </a:pPr>
            <a:r>
              <a:rPr lang="nb-NO" dirty="0"/>
              <a:t>&gt;&gt;&gt; eggs.append(5)</a:t>
            </a:r>
            <a:endParaRPr lang="tr-TR" dirty="0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1FFEEBEF-8C1B-4047-B1B7-4CA5E7D5F3E3}"/>
              </a:ext>
            </a:extLst>
          </p:cNvPr>
          <p:cNvSpPr txBox="1">
            <a:spLocks/>
          </p:cNvSpPr>
          <p:nvPr/>
        </p:nvSpPr>
        <p:spPr>
          <a:xfrm>
            <a:off x="4630057" y="843304"/>
            <a:ext cx="3708402" cy="17837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&gt;&gt;&gt; eggs.append(6)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&gt;&gt;&gt; eggs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[4, 5, 6]</a:t>
            </a:r>
            <a:endParaRPr lang="tr-TR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3256D39-AE2B-4FD3-840E-271915844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43" y="2775443"/>
            <a:ext cx="7890558" cy="388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500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0B8C-152D-4041-AC3C-8B85647A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tuple data type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DD47F-D181-45CD-A525-14A14AF484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677" y="2666283"/>
            <a:ext cx="2278523" cy="885825"/>
          </a:xfrm>
        </p:spPr>
        <p:txBody>
          <a:bodyPr/>
          <a:lstStyle/>
          <a:p>
            <a:r>
              <a:rPr lang="tr-TR" sz="2800" b="0" dirty="0"/>
              <a:t>similar to list</a:t>
            </a:r>
            <a:r>
              <a:rPr lang="en-US" sz="3600" b="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C6F7-3678-4EB1-9653-A3E4DAC47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049" y="3711564"/>
            <a:ext cx="2752385" cy="125550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</a:t>
            </a:r>
            <a:r>
              <a:rPr lang="en-US" b="1" i="1" dirty="0"/>
              <a:t>tuple </a:t>
            </a:r>
            <a:r>
              <a:rPr lang="en-US" b="1" dirty="0"/>
              <a:t>data type</a:t>
            </a:r>
            <a:endParaRPr lang="tr-TR" b="1" dirty="0"/>
          </a:p>
          <a:p>
            <a:r>
              <a:rPr lang="en-US" dirty="0"/>
              <a:t>is almost identical</a:t>
            </a:r>
            <a:endParaRPr lang="tr-TR" dirty="0"/>
          </a:p>
          <a:p>
            <a:r>
              <a:rPr lang="en-US" dirty="0"/>
              <a:t>to the list data type</a:t>
            </a:r>
            <a:endParaRPr lang="tr-TR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976196-87DB-406C-9904-8B1F6B13B4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19977" y="2757538"/>
            <a:ext cx="2180490" cy="885825"/>
          </a:xfrm>
        </p:spPr>
        <p:txBody>
          <a:bodyPr/>
          <a:lstStyle/>
          <a:p>
            <a:r>
              <a:rPr lang="tr-TR" sz="2800" b="0" dirty="0"/>
              <a:t>exception 1</a:t>
            </a:r>
            <a:endParaRPr lang="en-US" sz="2800" b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A641-190C-4E8A-B694-3EA9C4DCD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0731" y="3669324"/>
            <a:ext cx="2628040" cy="207168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tuples are typed </a:t>
            </a:r>
            <a:endParaRPr lang="tr-TR" b="1" dirty="0"/>
          </a:p>
          <a:p>
            <a:r>
              <a:rPr lang="en-US" dirty="0"/>
              <a:t>with parentheses, ( and ) </a:t>
            </a:r>
            <a:endParaRPr lang="tr-TR" dirty="0"/>
          </a:p>
          <a:p>
            <a:r>
              <a:rPr lang="en-US" dirty="0"/>
              <a:t>instead of square</a:t>
            </a:r>
            <a:r>
              <a:rPr lang="tr-TR" dirty="0"/>
              <a:t> brackets, [ and 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C72F-9055-4E36-A7BE-257454033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F5F208-929D-4DF0-B259-760C4694AA3C}"/>
              </a:ext>
            </a:extLst>
          </p:cNvPr>
          <p:cNvSpPr txBox="1">
            <a:spLocks/>
          </p:cNvSpPr>
          <p:nvPr/>
        </p:nvSpPr>
        <p:spPr>
          <a:xfrm>
            <a:off x="6541477" y="2642652"/>
            <a:ext cx="2361223" cy="8858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60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0" dirty="0"/>
              <a:t>exception 2</a:t>
            </a:r>
            <a:endParaRPr lang="en-US" sz="2800" b="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7352DBC-7497-40D0-952C-FD020A431DA4}"/>
              </a:ext>
            </a:extLst>
          </p:cNvPr>
          <p:cNvSpPr txBox="1">
            <a:spLocks/>
          </p:cNvSpPr>
          <p:nvPr/>
        </p:nvSpPr>
        <p:spPr>
          <a:xfrm>
            <a:off x="6513618" y="3652909"/>
            <a:ext cx="2503774" cy="24384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b="1" dirty="0"/>
              <a:t>immutable</a:t>
            </a:r>
          </a:p>
          <a:p>
            <a:r>
              <a:rPr lang="tr-TR" dirty="0"/>
              <a:t>tuples are immutable</a:t>
            </a:r>
          </a:p>
          <a:p>
            <a:pPr lvl="1"/>
            <a:r>
              <a:rPr lang="tr-TR" dirty="0"/>
              <a:t>like strings</a:t>
            </a:r>
          </a:p>
          <a:p>
            <a:r>
              <a:rPr lang="en-US" dirty="0"/>
              <a:t>cannot </a:t>
            </a:r>
            <a:r>
              <a:rPr lang="tr-TR" dirty="0"/>
              <a:t>be</a:t>
            </a:r>
          </a:p>
          <a:p>
            <a:pPr lvl="1"/>
            <a:r>
              <a:rPr lang="en-US" dirty="0"/>
              <a:t>modified</a:t>
            </a:r>
          </a:p>
          <a:p>
            <a:pPr lvl="1"/>
            <a:r>
              <a:rPr lang="tr-TR" dirty="0"/>
              <a:t>appended</a:t>
            </a:r>
          </a:p>
          <a:p>
            <a:pPr lvl="1"/>
            <a:r>
              <a:rPr lang="tr-TR" dirty="0"/>
              <a:t>removed</a:t>
            </a:r>
          </a:p>
        </p:txBody>
      </p:sp>
      <p:pic>
        <p:nvPicPr>
          <p:cNvPr id="3074" name="Picture 2" descr="flow icon ile ilgili görsel sonucu">
            <a:extLst>
              <a:ext uri="{FF2B5EF4-FFF2-40B4-BE49-F238E27FC236}">
                <a16:creationId xmlns:a16="http://schemas.microsoft.com/office/drawing/2014/main" id="{78E4D8C8-FD92-4BA2-A9C2-0056BD636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71" y="161119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3B6B83-AAFD-4A41-9F4C-73A36BB195C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4000"/>
          </a:blip>
          <a:stretch>
            <a:fillRect/>
          </a:stretch>
        </p:blipFill>
        <p:spPr>
          <a:xfrm>
            <a:off x="3933148" y="1618957"/>
            <a:ext cx="1146844" cy="1202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CAC02-7D9C-4FA0-A736-1BD5CE01361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6876220" y="1638300"/>
            <a:ext cx="133208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842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Tupples similar to lists but they are immutable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eggs = ('hello', 42, 0.5)</a:t>
            </a:r>
          </a:p>
          <a:p>
            <a:pPr marL="0" indent="0">
              <a:buNone/>
            </a:pPr>
            <a:r>
              <a:rPr lang="en-US" dirty="0"/>
              <a:t>&gt;&gt;&gt; eggs[0]</a:t>
            </a:r>
          </a:p>
          <a:p>
            <a:pPr marL="0" indent="0">
              <a:buNone/>
            </a:pPr>
            <a:r>
              <a:rPr lang="en-US" dirty="0"/>
              <a:t>'hello’</a:t>
            </a:r>
            <a:endParaRPr lang="tr-T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&gt;&gt;&gt; eggs[1:3]</a:t>
            </a:r>
          </a:p>
          <a:p>
            <a:pPr marL="0" indent="0">
              <a:buNone/>
            </a:pPr>
            <a:r>
              <a:rPr lang="en-US" dirty="0"/>
              <a:t>(42, 0.5)</a:t>
            </a:r>
            <a:endParaRPr lang="tr-T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&gt;&gt;&gt; eggs = ('hello', 42, 0.5)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55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&gt;&gt;&gt; eggs[1] = 99</a:t>
            </a:r>
          </a:p>
          <a:p>
            <a:pPr marL="0" indent="0">
              <a:buNone/>
            </a:pPr>
            <a:r>
              <a:rPr lang="en-US" dirty="0" err="1"/>
              <a:t>TypeError</a:t>
            </a:r>
            <a:r>
              <a:rPr lang="en-US" dirty="0"/>
              <a:t>: 'tuple' object does not support item assignment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029529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Types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1" y="1080002"/>
            <a:ext cx="4599842" cy="256430"/>
          </a:xfrm>
        </p:spPr>
        <p:txBody>
          <a:bodyPr/>
          <a:lstStyle/>
          <a:p>
            <a:r>
              <a:rPr lang="en-US" dirty="0"/>
              <a:t>list() and tuple() Functions</a:t>
            </a:r>
            <a:endParaRPr lang="en-US" i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0" y="1695141"/>
            <a:ext cx="1772236" cy="648000"/>
          </a:xfrm>
        </p:spPr>
        <p:txBody>
          <a:bodyPr/>
          <a:lstStyle/>
          <a:p>
            <a:r>
              <a:rPr lang="tr-TR" dirty="0"/>
              <a:t>list()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" y="2511838"/>
            <a:ext cx="2208214" cy="3314545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returns a </a:t>
            </a:r>
            <a:r>
              <a:rPr lang="tr-TR" b="1" dirty="0"/>
              <a:t>list</a:t>
            </a:r>
            <a:r>
              <a:rPr lang="tr-TR" dirty="0"/>
              <a:t> version </a:t>
            </a:r>
          </a:p>
          <a:p>
            <a:pPr marL="0" indent="0">
              <a:buNone/>
            </a:pPr>
            <a:r>
              <a:rPr lang="tr-TR" dirty="0"/>
              <a:t>of the passed value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it-IT" dirty="0"/>
              <a:t>&gt;&gt;&gt; list('hello')</a:t>
            </a:r>
          </a:p>
          <a:p>
            <a:pPr marL="0" indent="0">
              <a:buNone/>
            </a:pPr>
            <a:r>
              <a:rPr lang="it-IT" dirty="0"/>
              <a:t>['h', 'e', 'l', 'l', 'o']</a:t>
            </a:r>
            <a:endParaRPr lang="tr-T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619469" y="1710302"/>
            <a:ext cx="1766048" cy="648000"/>
          </a:xfrm>
        </p:spPr>
        <p:txBody>
          <a:bodyPr/>
          <a:lstStyle/>
          <a:p>
            <a:r>
              <a:rPr lang="tr-TR" dirty="0"/>
              <a:t>List to tuple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67435" y="2541131"/>
            <a:ext cx="2255396" cy="3314200"/>
          </a:xfrm>
          <a:prstGeom prst="rightArrowCallout">
            <a:avLst>
              <a:gd name="adj1" fmla="val 47425"/>
              <a:gd name="adj2" fmla="val 25000"/>
              <a:gd name="adj3" fmla="val 16186"/>
              <a:gd name="adj4" fmla="val 80493"/>
            </a:avLst>
          </a:prstGeom>
        </p:spPr>
        <p:txBody>
          <a:bodyPr/>
          <a:lstStyle/>
          <a:p>
            <a:pPr marL="0" indent="0">
              <a:buNone/>
            </a:pPr>
            <a:r>
              <a:rPr lang="en-US" dirty="0"/>
              <a:t>tuple(['cat', 'dog', 5])</a:t>
            </a:r>
          </a:p>
          <a:p>
            <a:pPr marL="0" indent="0">
              <a:buNone/>
            </a:pPr>
            <a:r>
              <a:rPr lang="en-US" dirty="0"/>
              <a:t>('cat', 'dog', 5)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2227213" y="1724088"/>
            <a:ext cx="1995287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tuple()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2171064" y="2526717"/>
            <a:ext cx="2372801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dirty="0"/>
              <a:t>returns a </a:t>
            </a:r>
            <a:r>
              <a:rPr lang="tr-TR" b="1" dirty="0"/>
              <a:t>tuple</a:t>
            </a:r>
            <a:r>
              <a:rPr lang="tr-TR" dirty="0"/>
              <a:t> version </a:t>
            </a:r>
          </a:p>
          <a:p>
            <a:pPr marL="0" indent="0">
              <a:buNone/>
            </a:pPr>
            <a:r>
              <a:rPr lang="tr-TR" dirty="0"/>
              <a:t>of the passed value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0A9789C-B725-4148-B126-6FD70E1337F7}"/>
              </a:ext>
            </a:extLst>
          </p:cNvPr>
          <p:cNvSpPr txBox="1">
            <a:spLocks/>
          </p:cNvSpPr>
          <p:nvPr/>
        </p:nvSpPr>
        <p:spPr>
          <a:xfrm>
            <a:off x="336914" y="5995991"/>
            <a:ext cx="6473188" cy="5963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0025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return list and tuple versions</a:t>
            </a:r>
            <a:r>
              <a:rPr lang="tr-TR"/>
              <a:t> </a:t>
            </a:r>
            <a:r>
              <a:rPr lang="en-US"/>
              <a:t>of </a:t>
            </a:r>
            <a:r>
              <a:rPr lang="en-US" dirty="0"/>
              <a:t>the values passed to them</a:t>
            </a:r>
            <a:endParaRPr lang="en-US" i="1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FFB0EEF-5D49-459B-A30F-19224BCB54BD}"/>
              </a:ext>
            </a:extLst>
          </p:cNvPr>
          <p:cNvSpPr txBox="1">
            <a:spLocks/>
          </p:cNvSpPr>
          <p:nvPr/>
        </p:nvSpPr>
        <p:spPr>
          <a:xfrm>
            <a:off x="6814320" y="1722025"/>
            <a:ext cx="1777183" cy="64800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tuple to a list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8E92632E-8844-41E1-9AF5-41F85478BF92}"/>
              </a:ext>
            </a:extLst>
          </p:cNvPr>
          <p:cNvSpPr txBox="1">
            <a:spLocks/>
          </p:cNvSpPr>
          <p:nvPr/>
        </p:nvSpPr>
        <p:spPr>
          <a:xfrm>
            <a:off x="6738425" y="2538786"/>
            <a:ext cx="2405575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&gt;&gt;&gt; list(('cat', 'dog', 5))</a:t>
            </a:r>
          </a:p>
          <a:p>
            <a:pPr marL="0" indent="0">
              <a:buNone/>
            </a:pPr>
            <a:r>
              <a:rPr lang="en-US" dirty="0"/>
              <a:t>['cat', 'dog', 5]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358928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Self Assessment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dirty="0" err="1"/>
              <a:t>Creation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modification</a:t>
            </a:r>
            <a:r>
              <a:rPr lang="tr-TR" dirty="0"/>
              <a:t> of </a:t>
            </a:r>
            <a:r>
              <a:rPr lang="tr-TR" dirty="0" err="1"/>
              <a:t>lists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List</a:t>
            </a:r>
            <a:r>
              <a:rPr lang="tr-TR" dirty="0"/>
              <a:t> </a:t>
            </a:r>
            <a:r>
              <a:rPr lang="tr-TR" dirty="0" err="1"/>
              <a:t>methods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Loops</a:t>
            </a:r>
            <a:r>
              <a:rPr lang="tr-TR" dirty="0"/>
              <a:t> &amp; </a:t>
            </a:r>
            <a:r>
              <a:rPr lang="tr-TR" dirty="0" err="1"/>
              <a:t>lists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Multiple</a:t>
            </a:r>
            <a:r>
              <a:rPr lang="tr-TR" dirty="0"/>
              <a:t> </a:t>
            </a:r>
            <a:r>
              <a:rPr lang="tr-TR" dirty="0" err="1"/>
              <a:t>assignment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differences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, </a:t>
            </a:r>
            <a:r>
              <a:rPr lang="tr-TR" dirty="0" err="1"/>
              <a:t>string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tuples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</p:spPr>
        <p:txBody>
          <a:bodyPr/>
          <a:lstStyle/>
          <a:p>
            <a:r>
              <a:rPr lang="tr-TR" dirty="0" err="1"/>
              <a:t>Unclarified</a:t>
            </a:r>
            <a:r>
              <a:rPr lang="tr-TR" dirty="0"/>
              <a:t> </a:t>
            </a:r>
            <a:r>
              <a:rPr lang="tr-TR" dirty="0" err="1"/>
              <a:t>issues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3314200"/>
          </a:xfrm>
        </p:spPr>
        <p:txBody>
          <a:bodyPr/>
          <a:lstStyle/>
          <a:p>
            <a:r>
              <a:rPr lang="tr-TR" dirty="0"/>
              <a:t>What are the points need further explanations?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Interesting Details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What is the most interesting details in this chapter?</a:t>
            </a:r>
            <a:endParaRPr lang="en-US" dirty="0"/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07" y="5320199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300" y="5320199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0735" y="5237740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large stone building&#10;&#10;Description automatically generated">
            <a:extLst>
              <a:ext uri="{FF2B5EF4-FFF2-40B4-BE49-F238E27FC236}">
                <a16:creationId xmlns:a16="http://schemas.microsoft.com/office/drawing/2014/main" id="{CE99160C-4B35-42C2-A893-91CA90DEA65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12068" r="12068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tx1">
              <a:alpha val="46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32835" y="2666345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tx1">
              <a:alpha val="6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3469" y="3772268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3469" y="4004833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3469" y="4255474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tr-TR" dirty="0">
                <a:hlinkClick r:id="rId10"/>
              </a:rPr>
              <a:t>http://cats.iku.edu.tr/portal/site/0181f2bc-77e3-4a85-ade9-77639d9bcfe7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59249" y="4489961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/>
          <a:srcRect t="15039" b="150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490261-1200-4EC7-95B0-2241EE54AA3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3935</Words>
  <Application>Microsoft Office PowerPoint</Application>
  <PresentationFormat>On-screen Show (4:3)</PresentationFormat>
  <Paragraphs>866</Paragraphs>
  <Slides>58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Calibri</vt:lpstr>
      <vt:lpstr>Calibri Light</vt:lpstr>
      <vt:lpstr>Rockwell</vt:lpstr>
      <vt:lpstr>Times New Roman</vt:lpstr>
      <vt:lpstr>Office Theme</vt:lpstr>
      <vt:lpstr>Chapter 4: Lists</vt:lpstr>
      <vt:lpstr>Content</vt:lpstr>
      <vt:lpstr>Lists &amp; Tuples</vt:lpstr>
      <vt:lpstr>List</vt:lpstr>
      <vt:lpstr>Chapter-4 Lists</vt:lpstr>
      <vt:lpstr>Getting Individual Values in a List with Indexes</vt:lpstr>
      <vt:lpstr>List indexes &amp; their values</vt:lpstr>
      <vt:lpstr>Index values of a list</vt:lpstr>
      <vt:lpstr>Lists can contain other lists</vt:lpstr>
      <vt:lpstr>Negative Indexes</vt:lpstr>
      <vt:lpstr>Getting Sublists with Slices</vt:lpstr>
      <vt:lpstr>Getting Sublists with Slices</vt:lpstr>
      <vt:lpstr>Getting A List’s Lenght</vt:lpstr>
      <vt:lpstr>Changing Values in a List with Indexes</vt:lpstr>
      <vt:lpstr>List Concatenation and List Replication</vt:lpstr>
      <vt:lpstr>Concatenation and Replication</vt:lpstr>
      <vt:lpstr>Removing Values from Lists </vt:lpstr>
      <vt:lpstr>Deleting element from a list</vt:lpstr>
      <vt:lpstr>Chapter-4 Lists</vt:lpstr>
      <vt:lpstr>Using list to prevent repetition</vt:lpstr>
      <vt:lpstr>Get all my cats: allMyCats1.py</vt:lpstr>
      <vt:lpstr>Get all my cats: allMyCats2.py</vt:lpstr>
      <vt:lpstr>benefit of using a list</vt:lpstr>
      <vt:lpstr>Using loops with Lists</vt:lpstr>
      <vt:lpstr>For loop with range(len(someList))</vt:lpstr>
      <vt:lpstr>Function Example with Return: supplies</vt:lpstr>
      <vt:lpstr>The in and not in Operators</vt:lpstr>
      <vt:lpstr>Check for list elements: in and not in</vt:lpstr>
      <vt:lpstr>Check for list elements: myPets.py</vt:lpstr>
      <vt:lpstr>The Multiple Assignment Trick</vt:lpstr>
      <vt:lpstr>Chapter-4 Lists</vt:lpstr>
      <vt:lpstr>Augmented operator as a shortcut</vt:lpstr>
      <vt:lpstr>Augmented operators</vt:lpstr>
      <vt:lpstr>Augmented string operators</vt:lpstr>
      <vt:lpstr>Chapter-4 Lists</vt:lpstr>
      <vt:lpstr>Method</vt:lpstr>
      <vt:lpstr>Data types have own methdos</vt:lpstr>
      <vt:lpstr>Finding a Value in a List</vt:lpstr>
      <vt:lpstr>Example for index() method</vt:lpstr>
      <vt:lpstr>Adding Values to Lists</vt:lpstr>
      <vt:lpstr>append() and insert() methods </vt:lpstr>
      <vt:lpstr>Removing Values from Lists</vt:lpstr>
      <vt:lpstr>remove() and del() methods </vt:lpstr>
      <vt:lpstr>Sorting the Values in a List</vt:lpstr>
      <vt:lpstr>sort() methods </vt:lpstr>
      <vt:lpstr>Example Program: Magic 8 Ball with a List</vt:lpstr>
      <vt:lpstr>Chapter-4 Lists</vt:lpstr>
      <vt:lpstr>Strings can be used as list</vt:lpstr>
      <vt:lpstr>Strings as lists</vt:lpstr>
      <vt:lpstr>Mutable and Immutable Data Types</vt:lpstr>
      <vt:lpstr>Local Variables Cannot Be Used in the Global Scope</vt:lpstr>
      <vt:lpstr>A new list is created rather than modification</vt:lpstr>
      <vt:lpstr>To change the values of a list</vt:lpstr>
      <vt:lpstr>tuple data type</vt:lpstr>
      <vt:lpstr>Tupples similar to lists but they are immutable</vt:lpstr>
      <vt:lpstr>Converting Types</vt:lpstr>
      <vt:lpstr>Self Assessment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2020-02-12T16:15:01Z</dcterms:created>
  <dcterms:modified xsi:type="dcterms:W3CDTF">2023-10-27T12:14:17Z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c66f6488-6f7b-4340-b880-828136ff7811_Enabled">
    <vt:lpwstr>true</vt:lpwstr>
  </property>
  <property fmtid="{D5CDD505-2E9C-101B-9397-08002B2CF9AE}" pid="4" name="MSIP_Label_c66f6488-6f7b-4340-b880-828136ff7811_SetDate">
    <vt:lpwstr>2021-03-12T11:04:39Z</vt:lpwstr>
  </property>
  <property fmtid="{D5CDD505-2E9C-101B-9397-08002B2CF9AE}" pid="5" name="MSIP_Label_c66f6488-6f7b-4340-b880-828136ff7811_Method">
    <vt:lpwstr>Privileged</vt:lpwstr>
  </property>
  <property fmtid="{D5CDD505-2E9C-101B-9397-08002B2CF9AE}" pid="6" name="MSIP_Label_c66f6488-6f7b-4340-b880-828136ff7811_Name">
    <vt:lpwstr>c66f6488-6f7b-4340-b880-828136ff7811</vt:lpwstr>
  </property>
  <property fmtid="{D5CDD505-2E9C-101B-9397-08002B2CF9AE}" pid="7" name="MSIP_Label_c66f6488-6f7b-4340-b880-828136ff7811_SiteId">
    <vt:lpwstr>832c1bc9-1e43-4f93-a086-708d36b0c95d</vt:lpwstr>
  </property>
  <property fmtid="{D5CDD505-2E9C-101B-9397-08002B2CF9AE}" pid="8" name="MSIP_Label_c66f6488-6f7b-4340-b880-828136ff7811_ActionId">
    <vt:lpwstr>0cb72041-6a39-4b5d-aed0-22a1ecd5113c</vt:lpwstr>
  </property>
  <property fmtid="{D5CDD505-2E9C-101B-9397-08002B2CF9AE}" pid="9" name="MSIP_Label_c66f6488-6f7b-4340-b880-828136ff7811_ContentBits">
    <vt:lpwstr>0</vt:lpwstr>
  </property>
</Properties>
</file>