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261" r:id="rId6"/>
    <p:sldId id="517" r:id="rId7"/>
    <p:sldId id="405" r:id="rId8"/>
    <p:sldId id="518" r:id="rId9"/>
    <p:sldId id="442" r:id="rId10"/>
    <p:sldId id="443" r:id="rId11"/>
    <p:sldId id="494" r:id="rId12"/>
    <p:sldId id="520" r:id="rId13"/>
    <p:sldId id="522" r:id="rId14"/>
    <p:sldId id="523" r:id="rId15"/>
    <p:sldId id="524" r:id="rId16"/>
    <p:sldId id="525" r:id="rId17"/>
    <p:sldId id="526" r:id="rId18"/>
    <p:sldId id="527" r:id="rId19"/>
    <p:sldId id="528" r:id="rId20"/>
    <p:sldId id="279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CB2"/>
    <a:srgbClr val="3471A1"/>
    <a:srgbClr val="FFD542"/>
    <a:srgbClr val="FFD74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07" autoAdjust="0"/>
  </p:normalViewPr>
  <p:slideViewPr>
    <p:cSldViewPr snapToGrid="0">
      <p:cViewPr varScale="1">
        <p:scale>
          <a:sx n="77" d="100"/>
          <a:sy n="77" d="100"/>
        </p:scale>
        <p:origin x="754" y="62"/>
      </p:cViewPr>
      <p:guideLst/>
    </p:cSldViewPr>
  </p:slideViewPr>
  <p:outlineViewPr>
    <p:cViewPr>
      <p:scale>
        <a:sx n="33" d="100"/>
        <a:sy n="33" d="100"/>
      </p:scale>
      <p:origin x="0" y="-1739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50" d="100"/>
          <a:sy n="50" d="100"/>
        </p:scale>
        <p:origin x="2640" y="3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10/29/2020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F815A-5A10-42A8-9FEC-3938D2D9BA48}" type="datetimeFigureOut">
              <a:rPr lang="en-US" noProof="0" smtClean="0"/>
              <a:t>10/29/2020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49DAF-093F-4482-AA38-346E9A2DEE9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6813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21393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9264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096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239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723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416514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936826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554809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come back to make corrections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521528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49DAF-093F-4482-AA38-346E9A2DEE94}" type="slidenum">
              <a:rPr lang="en-US" noProof="0" smtClean="0"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309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Half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4506964" cy="6684572"/>
          </a:xfrm>
          <a:solidFill>
            <a:schemeClr val="bg1">
              <a:lumMod val="85000"/>
            </a:schemeClr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4743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00" y="3517901"/>
            <a:ext cx="4509000" cy="1409700"/>
          </a:xfrm>
          <a:solidFill>
            <a:schemeClr val="tx1"/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927601"/>
            <a:ext cx="4509000" cy="1845743"/>
          </a:xfrm>
          <a:solidFill>
            <a:schemeClr val="tx1">
              <a:lumMod val="85000"/>
              <a:lumOff val="15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00" y="86715"/>
            <a:ext cx="4506964" cy="3431187"/>
          </a:xfrm>
          <a:solidFill>
            <a:srgbClr val="333333"/>
          </a:solidFill>
        </p:spPr>
        <p:txBody>
          <a:bodyPr lIns="0" tIns="0" anchor="ctr"/>
          <a:lstStyle>
            <a:lvl1pPr marL="0" indent="0" algn="ctr">
              <a:buNone/>
              <a:defRPr sz="825" i="1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D5F0C9D-A08F-4539-BA26-61D24BBE6E9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1152000"/>
            <a:ext cx="3980775" cy="4680000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7283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8505000" cy="468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E0A84F6-FEAA-4BDD-9282-20006CFE8BD1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CD00A51-7C86-40CE-9A85-9305A72856F5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2581C84-47AA-4227-BB97-9D73745C635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3D0208D-7363-46C1-93C0-34D5C7CC03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BF00BA4-FF52-480A-802E-02DFDD8C7441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8FC3C8E-D2F9-46FE-B29F-17C02B89FFCC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AC53E23-4CA7-479D-B22A-A5FCB3E5B5F6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6F0F1DB-0C5F-4895-B71A-86B7D122DD4B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34BF4B3-A394-4B33-84E8-433CB3F4D710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6E11BA4-7EBA-47E5-8E07-57E665A74955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A178943-1EAE-4532-95FB-DFD1B8A936ED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1603A2C-1F9D-4BAB-BF6C-C411F8898F5A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019487C-9065-4D0C-8A4F-0BEC960FF5E1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2E39A85-934A-4BF2-93E3-761989F1B981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4000" y="1152000"/>
            <a:ext cx="4104000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94AA1D0D-4A88-48E6-9F92-152A70F62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5288" y="1140847"/>
            <a:ext cx="4103712" cy="50361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BAF7-A9F4-4666-A96D-E0820914D8A4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210B130-61BF-42BB-A9D3-54F0E9975E1E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ED4637A-B150-47D5-91AA-5443ECDF24E5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345A228-3ACD-436B-BAEA-C19CFB995DFF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808980A-AE2C-4B9A-923B-70728FF4B383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90E16CE-7F71-45E1-88F3-0F2422E4E14F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024FFFC-3734-4C7F-8BB4-1D72D8764C19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5E243F7-C034-42A6-94F7-39C26EF11897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F7416F4-3283-4DFF-BF8E-0F1B10C57C7B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E43006F-FE7C-4D9C-9803-C7A1705E2E29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0B601BE-5173-46B7-B727-24C354628A9A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840A278-AE7C-4997-AAEA-F758452843B7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3AE5DE6-4BFB-4DB3-8207-ABE7B804220D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6BC0376-95EB-4B85-AD13-AB07742066DC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270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261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8662" y="1152001"/>
            <a:ext cx="2700338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152000"/>
            <a:ext cx="1620000" cy="503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4480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60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87309" y="1148060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08559" y="1152526"/>
            <a:ext cx="1620441" cy="503872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al Product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725BC56-C7B6-400F-80F9-3F968E2CAE0E}"/>
              </a:ext>
            </a:extLst>
          </p:cNvPr>
          <p:cNvGrpSpPr/>
          <p:nvPr userDrawn="1"/>
        </p:nvGrpSpPr>
        <p:grpSpPr>
          <a:xfrm>
            <a:off x="2537703" y="1013722"/>
            <a:ext cx="5812474" cy="5100743"/>
            <a:chOff x="510812" y="938373"/>
            <a:chExt cx="8073393" cy="5313612"/>
          </a:xfrm>
        </p:grpSpPr>
        <p:sp>
          <p:nvSpPr>
            <p:cNvPr id="44" name="Rounded Rectangle 15">
              <a:extLst>
                <a:ext uri="{FF2B5EF4-FFF2-40B4-BE49-F238E27FC236}">
                  <a16:creationId xmlns:a16="http://schemas.microsoft.com/office/drawing/2014/main" id="{1EC806EC-A1B2-4893-9504-1D7FFE8E238F}"/>
                </a:ext>
              </a:extLst>
            </p:cNvPr>
            <p:cNvSpPr/>
            <p:nvPr/>
          </p:nvSpPr>
          <p:spPr>
            <a:xfrm>
              <a:off x="877709" y="938373"/>
              <a:ext cx="7339600" cy="5234482"/>
            </a:xfrm>
            <a:prstGeom prst="round2SameRect">
              <a:avLst>
                <a:gd name="adj1" fmla="val 5601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5" name="Rounded Rectangle 15">
              <a:extLst>
                <a:ext uri="{FF2B5EF4-FFF2-40B4-BE49-F238E27FC236}">
                  <a16:creationId xmlns:a16="http://schemas.microsoft.com/office/drawing/2014/main" id="{535A1B12-6F16-41A0-A6B1-4AD0CCB5A081}"/>
                </a:ext>
              </a:extLst>
            </p:cNvPr>
            <p:cNvSpPr/>
            <p:nvPr/>
          </p:nvSpPr>
          <p:spPr>
            <a:xfrm>
              <a:off x="930758" y="995668"/>
              <a:ext cx="7233502" cy="5177187"/>
            </a:xfrm>
            <a:prstGeom prst="round2SameRect">
              <a:avLst>
                <a:gd name="adj1" fmla="val 4499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379B244F-CF81-4500-A78E-495ABA6828BA}"/>
                </a:ext>
              </a:extLst>
            </p:cNvPr>
            <p:cNvSpPr/>
            <p:nvPr/>
          </p:nvSpPr>
          <p:spPr>
            <a:xfrm rot="16200000">
              <a:off x="2264894" y="295974"/>
              <a:ext cx="4565229" cy="6599909"/>
            </a:xfrm>
            <a:prstGeom prst="roundRect">
              <a:avLst>
                <a:gd name="adj" fmla="val 1476"/>
              </a:avLst>
            </a:prstGeom>
            <a:solidFill>
              <a:schemeClr val="bg1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7" name="Rounded Rectangle 15">
              <a:extLst>
                <a:ext uri="{FF2B5EF4-FFF2-40B4-BE49-F238E27FC236}">
                  <a16:creationId xmlns:a16="http://schemas.microsoft.com/office/drawing/2014/main" id="{EE88F157-E260-486F-937E-C18428699861}"/>
                </a:ext>
              </a:extLst>
            </p:cNvPr>
            <p:cNvSpPr/>
            <p:nvPr/>
          </p:nvSpPr>
          <p:spPr>
            <a:xfrm rot="10800000">
              <a:off x="510812" y="5998253"/>
              <a:ext cx="8073393" cy="2489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noProof="0" dirty="0"/>
            </a:p>
          </p:txBody>
        </p:sp>
        <p:sp>
          <p:nvSpPr>
            <p:cNvPr id="48" name="Rounded Rectangle 15">
              <a:extLst>
                <a:ext uri="{FF2B5EF4-FFF2-40B4-BE49-F238E27FC236}">
                  <a16:creationId xmlns:a16="http://schemas.microsoft.com/office/drawing/2014/main" id="{F736AFAF-44AD-47CE-A63B-210102A4BF0B}"/>
                </a:ext>
              </a:extLst>
            </p:cNvPr>
            <p:cNvSpPr/>
            <p:nvPr userDrawn="1"/>
          </p:nvSpPr>
          <p:spPr>
            <a:xfrm>
              <a:off x="3668019" y="6206338"/>
              <a:ext cx="1758981" cy="4564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1000"/>
                  </a:schemeClr>
                </a:gs>
              </a:gsLst>
              <a:lin ang="16200000" scaled="0"/>
            </a:gra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4F6457E-3660-4E80-82BC-8894D701DEE9}"/>
                </a:ext>
              </a:extLst>
            </p:cNvPr>
            <p:cNvSpPr/>
            <p:nvPr/>
          </p:nvSpPr>
          <p:spPr>
            <a:xfrm rot="16200000">
              <a:off x="4660498" y="1119143"/>
              <a:ext cx="48680" cy="486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8230416-7E55-4CB0-9548-491BA471E9E8}"/>
                </a:ext>
              </a:extLst>
            </p:cNvPr>
            <p:cNvSpPr/>
            <p:nvPr/>
          </p:nvSpPr>
          <p:spPr>
            <a:xfrm rot="16200000">
              <a:off x="4505961" y="1106017"/>
              <a:ext cx="83096" cy="8309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E3C1810-AD4F-4393-928E-CFA8053A2CC2}"/>
                </a:ext>
              </a:extLst>
            </p:cNvPr>
            <p:cNvSpPr/>
            <p:nvPr/>
          </p:nvSpPr>
          <p:spPr>
            <a:xfrm rot="16200000">
              <a:off x="4524686" y="1124741"/>
              <a:ext cx="45647" cy="4564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 noProof="0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4001" y="1152001"/>
            <a:ext cx="2213702" cy="2196235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00025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40719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607219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807244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Emphasized text can go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C1EA41E-F6C4-484F-95E9-42978FF2162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69597" y="1376358"/>
            <a:ext cx="4750159" cy="4379625"/>
          </a:xfrm>
          <a:prstGeom prst="roundRect">
            <a:avLst>
              <a:gd name="adj" fmla="val 135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Insert or Drag and Drop Image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FD3B7C-17C6-4327-986C-A8A6D6EC1B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509767"/>
            <a:ext cx="2213372" cy="232270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6286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Numbers Option 1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0F7266-25A0-4B3A-A8CE-F083ECC9D4C6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 userDrawn="1">
            <p:ph sz="half" idx="1"/>
          </p:nvPr>
        </p:nvSpPr>
        <p:spPr>
          <a:xfrm>
            <a:off x="680132" y="3429051"/>
            <a:ext cx="3391736" cy="2762949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5081056" y="3429000"/>
            <a:ext cx="3391805" cy="2762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EF984BB-176D-4924-ADAD-52FBC95B0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9848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>
                <a:latin typeface="+mj-lt"/>
              </a:defRPr>
            </a:lvl1pPr>
            <a:lvl2pPr marL="200025" indent="0">
              <a:buNone/>
              <a:defRPr sz="6000">
                <a:latin typeface="+mj-lt"/>
              </a:defRPr>
            </a:lvl2pPr>
            <a:lvl3pPr marL="407194" indent="0">
              <a:buNone/>
              <a:defRPr sz="6000">
                <a:latin typeface="+mj-lt"/>
              </a:defRPr>
            </a:lvl3pPr>
            <a:lvl4pPr marL="607219" indent="0">
              <a:buNone/>
              <a:defRPr sz="6000">
                <a:latin typeface="+mj-lt"/>
              </a:defRPr>
            </a:lvl4pPr>
            <a:lvl5pPr marL="807244" indent="0">
              <a:buNone/>
              <a:defRPr sz="6000">
                <a:latin typeface="+mj-lt"/>
              </a:defRPr>
            </a:lvl5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59BE1D7-885A-4749-99BA-6909D64AFA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72063" y="2278064"/>
            <a:ext cx="3392090" cy="885825"/>
          </a:xfrm>
        </p:spPr>
        <p:txBody>
          <a:bodyPr anchor="ctr"/>
          <a:lstStyle>
            <a:lvl1pPr marL="0" indent="0">
              <a:buNone/>
              <a:defRPr sz="6000" b="1" i="0"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cxnSp>
        <p:nvCxnSpPr>
          <p:cNvPr id="10" name="Straight Connector 9" descr="Middle divider line">
            <a:extLst>
              <a:ext uri="{FF2B5EF4-FFF2-40B4-BE49-F238E27FC236}">
                <a16:creationId xmlns:a16="http://schemas.microsoft.com/office/drawing/2014/main" id="{2B940646-DE40-4E0F-AE42-6530784C9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1391764"/>
            <a:ext cx="0" cy="4588123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449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AAF5B5B-E896-400A-9E43-EAF605A0AC8B}"/>
              </a:ext>
            </a:extLst>
          </p:cNvPr>
          <p:cNvSpPr/>
          <p:nvPr userDrawn="1"/>
        </p:nvSpPr>
        <p:spPr>
          <a:xfrm rot="19260823">
            <a:off x="7662319" y="538864"/>
            <a:ext cx="35052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A2F5A3D-36C4-4B97-A62C-2AEA3B6FC1CF}"/>
              </a:ext>
            </a:extLst>
          </p:cNvPr>
          <p:cNvSpPr/>
          <p:nvPr userDrawn="1"/>
        </p:nvSpPr>
        <p:spPr>
          <a:xfrm rot="20377627">
            <a:off x="8008606" y="849218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B474E17-6556-4551-AD1B-351EE2DA98E0}"/>
              </a:ext>
            </a:extLst>
          </p:cNvPr>
          <p:cNvSpPr/>
          <p:nvPr userDrawn="1"/>
        </p:nvSpPr>
        <p:spPr>
          <a:xfrm rot="19260823">
            <a:off x="8038026" y="620572"/>
            <a:ext cx="188017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860E6D1-2C9F-477C-AE22-BFF5ADE85C60}"/>
              </a:ext>
            </a:extLst>
          </p:cNvPr>
          <p:cNvSpPr/>
          <p:nvPr userDrawn="1"/>
        </p:nvSpPr>
        <p:spPr>
          <a:xfrm rot="19810388">
            <a:off x="8298695" y="781602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5EC6C60-C605-4022-9718-ED56F34D6448}"/>
              </a:ext>
            </a:extLst>
          </p:cNvPr>
          <p:cNvSpPr/>
          <p:nvPr userDrawn="1"/>
        </p:nvSpPr>
        <p:spPr>
          <a:xfrm rot="18277851">
            <a:off x="8337271" y="4020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47BB28-400F-4C54-ADDA-0055CEB6593B}"/>
              </a:ext>
            </a:extLst>
          </p:cNvPr>
          <p:cNvSpPr/>
          <p:nvPr userDrawn="1"/>
        </p:nvSpPr>
        <p:spPr>
          <a:xfrm rot="20761418">
            <a:off x="8659089" y="1030690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86F148-99E1-4ED6-B4DA-151A6DB27D67}"/>
              </a:ext>
            </a:extLst>
          </p:cNvPr>
          <p:cNvSpPr/>
          <p:nvPr userDrawn="1"/>
        </p:nvSpPr>
        <p:spPr>
          <a:xfrm rot="17315293">
            <a:off x="8790062" y="267544"/>
            <a:ext cx="216995" cy="11994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A0565DA-6430-4984-ACB6-E7FACACC71AF}"/>
              </a:ext>
            </a:extLst>
          </p:cNvPr>
          <p:cNvSpPr/>
          <p:nvPr userDrawn="1"/>
        </p:nvSpPr>
        <p:spPr>
          <a:xfrm rot="20082236">
            <a:off x="8586082" y="631128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DE18DFF-F9E6-4839-817B-4DD871CEAE6F}"/>
              </a:ext>
            </a:extLst>
          </p:cNvPr>
          <p:cNvSpPr/>
          <p:nvPr userDrawn="1"/>
        </p:nvSpPr>
        <p:spPr>
          <a:xfrm rot="19879732">
            <a:off x="8751660" y="824433"/>
            <a:ext cx="162746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0038A3A-7324-4606-9C92-00C9AB1759F4}"/>
              </a:ext>
            </a:extLst>
          </p:cNvPr>
          <p:cNvSpPr/>
          <p:nvPr userDrawn="1"/>
        </p:nvSpPr>
        <p:spPr>
          <a:xfrm rot="328041">
            <a:off x="7570877" y="901549"/>
            <a:ext cx="434774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C0291BA-50C5-406F-B24E-14C9CAF652D7}"/>
              </a:ext>
            </a:extLst>
          </p:cNvPr>
          <p:cNvSpPr/>
          <p:nvPr userDrawn="1"/>
        </p:nvSpPr>
        <p:spPr>
          <a:xfrm>
            <a:off x="8153828" y="1202556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52EBA81-38BC-4DF6-93C3-4A1A02FD2789}"/>
              </a:ext>
            </a:extLst>
          </p:cNvPr>
          <p:cNvSpPr/>
          <p:nvPr userDrawn="1"/>
        </p:nvSpPr>
        <p:spPr>
          <a:xfrm rot="20761418">
            <a:off x="8634453" y="1484836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F80622-5597-45AD-92C3-2C4C3797720A}"/>
              </a:ext>
            </a:extLst>
          </p:cNvPr>
          <p:cNvSpPr/>
          <p:nvPr userDrawn="1"/>
        </p:nvSpPr>
        <p:spPr>
          <a:xfrm rot="1160487">
            <a:off x="7718747" y="1614015"/>
            <a:ext cx="237665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833793E-EB91-43B4-8444-36ADD2A48E55}"/>
              </a:ext>
            </a:extLst>
          </p:cNvPr>
          <p:cNvSpPr/>
          <p:nvPr userDrawn="1"/>
        </p:nvSpPr>
        <p:spPr>
          <a:xfrm rot="803026">
            <a:off x="8689580" y="2015429"/>
            <a:ext cx="121692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4104000" cy="3600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4000" y="1584000"/>
            <a:ext cx="4104000" cy="4608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337FD81-6DFD-43B7-A7D9-59E45ECDF3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7B7460-0559-435A-9C2F-1B12BC6CE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EA7B8348-A00A-4AAE-B1F6-924515577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25000" y="1581663"/>
            <a:ext cx="4104000" cy="460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521CFCD-C079-4019-942D-035558CAF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16001" y="1151785"/>
            <a:ext cx="4112999" cy="354868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lang="en-US" sz="1800" b="1"/>
            </a:lvl1pPr>
          </a:lstStyle>
          <a:p>
            <a:pPr marL="200025" lvl="0" indent="-200025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 descr="Center divider line">
            <a:extLst>
              <a:ext uri="{FF2B5EF4-FFF2-40B4-BE49-F238E27FC236}">
                <a16:creationId xmlns:a16="http://schemas.microsoft.com/office/drawing/2014/main" id="{AEACA101-2521-41AA-8F51-FF0BF783E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2438720"/>
            <a:ext cx="0" cy="252516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098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 Boxed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98" y="2463937"/>
            <a:ext cx="2794502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60489" y="2463801"/>
            <a:ext cx="2794852" cy="3314200"/>
          </a:xfrm>
          <a:prstGeom prst="rightArrowCallout">
            <a:avLst>
              <a:gd name="adj1" fmla="val 50000"/>
              <a:gd name="adj2" fmla="val 25000"/>
              <a:gd name="adj3" fmla="val 16186"/>
              <a:gd name="adj4" fmla="val 80493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62989" y="2463801"/>
            <a:ext cx="2222714" cy="3314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180000" rIns="18000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8E9D1B9-1C3A-4397-B3B4-9A921D6415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4F049D-3C57-44BB-ACE2-1363AF36D9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8177" y="1647240"/>
            <a:ext cx="2231684" cy="648000"/>
          </a:xfrm>
          <a:ln>
            <a:solidFill>
              <a:schemeClr val="accent1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Section 1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9B793F-A64B-475C-96F3-FB40100E01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56252" y="1647040"/>
            <a:ext cx="2231684" cy="648000"/>
          </a:xfrm>
          <a:ln>
            <a:solidFill>
              <a:schemeClr val="accent2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2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F53567-5287-43FB-B07E-A12F3AEEDB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62989" y="1647240"/>
            <a:ext cx="2231684" cy="648000"/>
          </a:xfrm>
          <a:ln>
            <a:solidFill>
              <a:schemeClr val="accent3"/>
            </a:solidFill>
          </a:ln>
        </p:spPr>
        <p:txBody>
          <a:bodyPr tIns="10800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US" noProof="0"/>
              <a:t>Section 3 Title</a:t>
            </a:r>
          </a:p>
        </p:txBody>
      </p:sp>
    </p:spTree>
    <p:extLst>
      <p:ext uri="{BB962C8B-B14F-4D97-AF65-F5344CB8AC3E}">
        <p14:creationId xmlns:p14="http://schemas.microsoft.com/office/powerpoint/2010/main" val="3755733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158F80-0C1A-4B9E-9335-A5A0015187F7}"/>
              </a:ext>
            </a:extLst>
          </p:cNvPr>
          <p:cNvCxnSpPr/>
          <p:nvPr userDrawn="1"/>
        </p:nvCxnSpPr>
        <p:spPr>
          <a:xfrm>
            <a:off x="323850" y="3866682"/>
            <a:ext cx="8504635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23DA611-B88C-4D7E-82A4-5E4CA9DC2E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968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180A0FA4-75CD-4A61-AA79-9C3C5F97ED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385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EBB89A53-1B07-4560-B98E-03BECDB832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7786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2D34AD8-D83D-4409-A418-C00840A085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3187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3EAA6A46-63F3-49A5-8E0B-758176E4429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8588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BB051A6E-4868-4F3F-93DB-AD07020E93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57831" y="3973125"/>
            <a:ext cx="311706" cy="201776"/>
          </a:xfrm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Year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61519886-189E-4C69-AEED-FD9BDD3E56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3990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F084DDF-04EE-46A9-9F77-D5FD94D1B5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09391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43DE8AB-BF74-4CC9-AD19-8BBBF44867A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44792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2ECC5C24-2CE5-491E-89DC-F9C5AE98B06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0996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DB0F187-5781-4076-B761-264B1C683A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0193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B2E776B2-D388-4243-80AE-BD8AF47C8AA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15595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79F3A104-EDC0-4A25-9585-3F9F8C1022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6397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23DA3E7C-9F0E-4A57-B6EA-C01C72788E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1799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A8ABC110-DC97-4A71-9A16-67581EAC989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57200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81058125-332B-41A7-BCD5-72CAE3F9F97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2600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32DE8FD-6391-4094-BAEC-CC0836CC67E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280022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C53C0F3-9308-422B-BC6E-1ACA5029027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34035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06DFFA03-9EA6-4F70-9519-AB1361BAF7C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88048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49CD8693-3557-4241-BB88-518160D989C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42060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884DF69-4936-4F90-BFB8-ED04A228DA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73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00804F61-8052-4AD8-8370-ED72B261BC2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758111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313F370F-A9EC-477E-BED7-BF4E875274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050086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9E687ADD-FE6C-441E-991F-E71EA0572C3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404099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5E0252B4-80AE-40E9-BA32-6EDAAC62521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112124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A807DF0-23B6-4B83-B3F6-8D0BE9A851F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466137" y="3597398"/>
            <a:ext cx="283369" cy="201776"/>
          </a:xfrm>
        </p:spPr>
        <p:txBody>
          <a:bodyPr/>
          <a:lstStyle>
            <a:lvl1pPr marL="0" indent="0"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noProof="0"/>
              <a:t>MM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F3591345-36C8-481A-AD5B-5F69B03D171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020742" y="2190751"/>
            <a:ext cx="1345406" cy="561975"/>
          </a:xfrm>
          <a:noFill/>
          <a:ln>
            <a:noFill/>
          </a:ln>
        </p:spPr>
        <p:txBody>
          <a:bodyPr tIns="36000" anchor="t"/>
          <a:lstStyle>
            <a:lvl1pPr marL="0" indent="0" algn="ctr"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Title</a:t>
            </a:r>
          </a:p>
        </p:txBody>
      </p:sp>
      <p:sp>
        <p:nvSpPr>
          <p:cNvPr id="50" name="Text Placeholder 36">
            <a:extLst>
              <a:ext uri="{FF2B5EF4-FFF2-40B4-BE49-F238E27FC236}">
                <a16:creationId xmlns:a16="http://schemas.microsoft.com/office/drawing/2014/main" id="{954C0732-1924-4A1B-9272-95C51D0B36F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046796" y="2531196"/>
            <a:ext cx="1293296" cy="1858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/>
              <a:t>Month, Year</a:t>
            </a:r>
          </a:p>
        </p:txBody>
      </p:sp>
    </p:spTree>
    <p:extLst>
      <p:ext uri="{BB962C8B-B14F-4D97-AF65-F5344CB8AC3E}">
        <p14:creationId xmlns:p14="http://schemas.microsoft.com/office/powerpoint/2010/main" val="906707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3 Member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77959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66916" y="3995705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5872" y="3991240"/>
            <a:ext cx="1473128" cy="216000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77959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6916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55872" y="3424428"/>
            <a:ext cx="1473128" cy="504000"/>
          </a:xfrm>
        </p:spPr>
        <p:txBody>
          <a:bodyPr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3850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212806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01762" y="2808242"/>
            <a:ext cx="1129475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CA876-2153-4136-850D-EE098BDC24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77959" y="4311393"/>
            <a:ext cx="1473129" cy="113030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9B21C2-C689-49C2-B45F-14C5C53A587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66916" y="4311393"/>
            <a:ext cx="1472803" cy="1130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33D8E11-F7FD-4AD9-BEC6-78C6500F817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55872" y="4311393"/>
            <a:ext cx="1485900" cy="11382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noProof="0"/>
              <a:t>Short Bio</a:t>
            </a:r>
          </a:p>
        </p:txBody>
      </p:sp>
    </p:spTree>
    <p:extLst>
      <p:ext uri="{BB962C8B-B14F-4D97-AF65-F5344CB8AC3E}">
        <p14:creationId xmlns:p14="http://schemas.microsoft.com/office/powerpoint/2010/main" val="3624119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6 Members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5085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8632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7554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48789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0" y="3926334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55085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86320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17554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01E9EA3-8BD6-4531-812C-663C75428B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8789" y="3926335"/>
            <a:ext cx="1350000" cy="504000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850" y="4505325"/>
            <a:ext cx="1350000" cy="900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089E01F-0C47-4C6A-A9A8-A1A7E470F31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781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96905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400286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831521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Picture Placeholder 22">
            <a:extLst>
              <a:ext uri="{FF2B5EF4-FFF2-40B4-BE49-F238E27FC236}">
                <a16:creationId xmlns:a16="http://schemas.microsoft.com/office/drawing/2014/main" id="{B765F5D3-7CB7-4E55-8217-E9EEA9F2945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62755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Picture Placeholder 22">
            <a:extLst>
              <a:ext uri="{FF2B5EF4-FFF2-40B4-BE49-F238E27FC236}">
                <a16:creationId xmlns:a16="http://schemas.microsoft.com/office/drawing/2014/main" id="{8CB2CA38-4C7F-4D6B-9B34-606F1A007A1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693989" y="2160705"/>
            <a:ext cx="922069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A42CA-D117-4AF7-9FEC-03EB2BBB756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80022" y="3925889"/>
            <a:ext cx="1350000" cy="504825"/>
          </a:xfrm>
        </p:spPr>
        <p:txBody>
          <a:bodyPr/>
          <a:lstStyle>
            <a:lvl1pPr marL="0" indent="0" algn="ctr">
              <a:buNone/>
              <a:defRPr b="1">
                <a:latin typeface="+mj-lt"/>
              </a:defRPr>
            </a:lvl1pPr>
            <a:lvl2pPr marL="200025" indent="0" algn="ctr">
              <a:buNone/>
              <a:defRPr/>
            </a:lvl2pPr>
            <a:lvl3pPr marL="407194" indent="0" algn="ctr">
              <a:buNone/>
              <a:defRPr/>
            </a:lvl3pPr>
            <a:lvl4pPr marL="607219" indent="0" algn="ctr">
              <a:buNone/>
              <a:defRPr/>
            </a:lvl4pPr>
            <a:lvl5pPr marL="807244" indent="0" algn="ctr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F9CEF5A-8DCE-4156-9138-C113C0D3A7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80022" y="4505326"/>
            <a:ext cx="1350000" cy="9001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noProof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5035105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3850" y="1080001"/>
            <a:ext cx="8504635" cy="276561"/>
          </a:xfrm>
        </p:spPr>
        <p:txBody>
          <a:bodyPr/>
          <a:lstStyle>
            <a:lvl1pPr marL="0" indent="0">
              <a:buNone/>
              <a:defRPr/>
            </a:lvl1pPr>
            <a:lvl2pPr marL="200025" indent="0">
              <a:buNone/>
              <a:defRPr/>
            </a:lvl2pPr>
            <a:lvl3pPr marL="407194" indent="0">
              <a:buNone/>
              <a:defRPr/>
            </a:lvl3pPr>
            <a:lvl4pPr marL="607219" indent="0">
              <a:buNone/>
              <a:defRPr/>
            </a:lvl4pPr>
            <a:lvl5pPr marL="807244" indent="0">
              <a:buNone/>
              <a:defRPr/>
            </a:lvl5pPr>
          </a:lstStyle>
          <a:p>
            <a:pPr lvl="0"/>
            <a:r>
              <a:rPr lang="en-US" noProof="0"/>
              <a:t>Sub Header</a:t>
            </a:r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29137C9-7B18-454C-AB56-2B4631DFE59D}"/>
              </a:ext>
            </a:extLst>
          </p:cNvPr>
          <p:cNvSpPr/>
          <p:nvPr userDrawn="1"/>
        </p:nvSpPr>
        <p:spPr>
          <a:xfrm rot="14199158">
            <a:off x="7376604" y="-61426"/>
            <a:ext cx="1957093" cy="1049858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57093" h="1399810">
                <a:moveTo>
                  <a:pt x="0" y="318772"/>
                </a:moveTo>
                <a:lnTo>
                  <a:pt x="858544" y="36067"/>
                </a:lnTo>
                <a:lnTo>
                  <a:pt x="1957093" y="0"/>
                </a:lnTo>
                <a:lnTo>
                  <a:pt x="1012700" y="1399810"/>
                </a:lnTo>
                <a:lnTo>
                  <a:pt x="172487" y="1221089"/>
                </a:lnTo>
                <a:lnTo>
                  <a:pt x="0" y="318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6973557">
            <a:off x="7256349" y="295800"/>
            <a:ext cx="748251" cy="585502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5483574">
            <a:off x="7360250" y="85941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ACAC53-33A6-4BBC-8C68-0C56D0B39F57}"/>
              </a:ext>
            </a:extLst>
          </p:cNvPr>
          <p:cNvSpPr/>
          <p:nvPr userDrawn="1"/>
        </p:nvSpPr>
        <p:spPr>
          <a:xfrm rot="14235708">
            <a:off x="8773368" y="143009"/>
            <a:ext cx="332291" cy="185912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  <a:gd name="connsiteX0" fmla="*/ 0 w 1449157"/>
              <a:gd name="connsiteY0" fmla="*/ 282705 h 1363743"/>
              <a:gd name="connsiteX1" fmla="*/ 858544 w 1449157"/>
              <a:gd name="connsiteY1" fmla="*/ 0 h 1363743"/>
              <a:gd name="connsiteX2" fmla="*/ 1449157 w 1449157"/>
              <a:gd name="connsiteY2" fmla="*/ 715834 h 1363743"/>
              <a:gd name="connsiteX3" fmla="*/ 1012700 w 1449157"/>
              <a:gd name="connsiteY3" fmla="*/ 1363743 h 1363743"/>
              <a:gd name="connsiteX4" fmla="*/ 172487 w 1449157"/>
              <a:gd name="connsiteY4" fmla="*/ 1185022 h 1363743"/>
              <a:gd name="connsiteX5" fmla="*/ 0 w 1449157"/>
              <a:gd name="connsiteY5" fmla="*/ 282705 h 1363743"/>
              <a:gd name="connsiteX0" fmla="*/ 0 w 1449157"/>
              <a:gd name="connsiteY0" fmla="*/ 0 h 1081038"/>
              <a:gd name="connsiteX1" fmla="*/ 1449157 w 1449157"/>
              <a:gd name="connsiteY1" fmla="*/ 433129 h 1081038"/>
              <a:gd name="connsiteX2" fmla="*/ 1012700 w 1449157"/>
              <a:gd name="connsiteY2" fmla="*/ 1081038 h 1081038"/>
              <a:gd name="connsiteX3" fmla="*/ 172487 w 1449157"/>
              <a:gd name="connsiteY3" fmla="*/ 902317 h 1081038"/>
              <a:gd name="connsiteX4" fmla="*/ 0 w 1449157"/>
              <a:gd name="connsiteY4" fmla="*/ 0 h 10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157" h="1081038">
                <a:moveTo>
                  <a:pt x="0" y="0"/>
                </a:moveTo>
                <a:lnTo>
                  <a:pt x="1449157" y="433129"/>
                </a:lnTo>
                <a:lnTo>
                  <a:pt x="1012700" y="1081038"/>
                </a:lnTo>
                <a:lnTo>
                  <a:pt x="172487" y="9023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D86A7C4-9F1E-4F96-8AD9-5B75BEE364BE}"/>
              </a:ext>
            </a:extLst>
          </p:cNvPr>
          <p:cNvSpPr/>
          <p:nvPr userDrawn="1"/>
        </p:nvSpPr>
        <p:spPr>
          <a:xfrm rot="13336516">
            <a:off x="7734927" y="1084300"/>
            <a:ext cx="486493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63BFE72-A1DE-4CFE-9B52-553C99D52699}"/>
              </a:ext>
            </a:extLst>
          </p:cNvPr>
          <p:cNvSpPr/>
          <p:nvPr userDrawn="1"/>
        </p:nvSpPr>
        <p:spPr>
          <a:xfrm rot="5738060">
            <a:off x="7296620" y="1096127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C266CD9-D77B-4B4D-8673-531E2784C610}"/>
              </a:ext>
            </a:extLst>
          </p:cNvPr>
          <p:cNvSpPr/>
          <p:nvPr userDrawn="1"/>
        </p:nvSpPr>
        <p:spPr>
          <a:xfrm rot="8291645">
            <a:off x="7561349" y="798094"/>
            <a:ext cx="278520" cy="273702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1989658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No Graphic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03350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036" y="86714"/>
            <a:ext cx="9013929" cy="6684572"/>
          </a:xfrm>
          <a:solidFill>
            <a:schemeClr val="bg1">
              <a:lumMod val="85000"/>
            </a:schemeClr>
          </a:solidFill>
        </p:spPr>
        <p:txBody>
          <a:bodyPr lIns="360000" tIns="360000"/>
          <a:lstStyle>
            <a:lvl1pPr marL="0" indent="0">
              <a:buNone/>
              <a:defRPr sz="825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70955" y="2237328"/>
            <a:ext cx="5402090" cy="1449788"/>
          </a:xfrm>
          <a:solidFill>
            <a:schemeClr val="tx1">
              <a:alpha val="80000"/>
            </a:schemeClr>
          </a:solidFill>
        </p:spPr>
        <p:txBody>
          <a:bodyPr lIns="288000" rIns="2160000" bIns="144000" anchor="b" anchorCtr="0"/>
          <a:lstStyle>
            <a:lvl1pPr algn="r">
              <a:defRPr sz="49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0956" y="3684672"/>
            <a:ext cx="3961877" cy="1604172"/>
          </a:xfrm>
          <a:solidFill>
            <a:schemeClr val="tx1">
              <a:alpha val="90000"/>
            </a:schemeClr>
          </a:solidFill>
        </p:spPr>
        <p:txBody>
          <a:bodyPr lIns="216000" tIns="144000" rIns="576000"/>
          <a:lstStyle>
            <a:lvl1pPr marL="0" indent="0" algn="r">
              <a:buNone/>
              <a:defRPr sz="1575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5832835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122267-81F5-4D7C-8854-830FD491A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00250" y="4142258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Contact Number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1624B9A-AB57-40B6-89A6-D34ED60BB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00250" y="4448040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61EA5FFD-797F-43FF-B13A-5DA8C820EE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48756" y="2587752"/>
            <a:ext cx="1008126" cy="70408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Logo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436EF9B-F86C-114A-BB87-C439E5F12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00250" y="4753821"/>
            <a:ext cx="3381375" cy="277342"/>
          </a:xfr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  <a:lvl2pPr marL="200025" indent="0" algn="r">
              <a:buNone/>
              <a:defRPr>
                <a:solidFill>
                  <a:schemeClr val="bg1"/>
                </a:solidFill>
              </a:defRPr>
            </a:lvl2pPr>
            <a:lvl3pPr marL="407194" indent="0" algn="r">
              <a:buNone/>
              <a:defRPr>
                <a:solidFill>
                  <a:schemeClr val="bg1"/>
                </a:solidFill>
              </a:defRPr>
            </a:lvl3pPr>
            <a:lvl4pPr marL="607219" indent="0" algn="r">
              <a:buNone/>
              <a:defRPr>
                <a:solidFill>
                  <a:schemeClr val="bg1"/>
                </a:solidFill>
              </a:defRPr>
            </a:lvl4pPr>
            <a:lvl5pPr marL="807244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Website Address</a:t>
            </a:r>
          </a:p>
        </p:txBody>
      </p:sp>
    </p:spTree>
    <p:extLst>
      <p:ext uri="{BB962C8B-B14F-4D97-AF65-F5344CB8AC3E}">
        <p14:creationId xmlns:p14="http://schemas.microsoft.com/office/powerpoint/2010/main" val="3475950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513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anchor="b"/>
          <a:lstStyle>
            <a:lvl1pPr algn="l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solidFill>
            <a:schemeClr val="tx1">
              <a:alpha val="90000"/>
            </a:schemeClr>
          </a:solidFill>
        </p:spPr>
        <p:txBody>
          <a:bodyPr lIns="432000" tIns="144000"/>
          <a:lstStyle>
            <a:lvl1pPr marL="0" indent="0" algn="l">
              <a:buNone/>
              <a:defRPr sz="1575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3A733F0-30A3-4125-9B9B-2A07E1461F1B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E236A80-227E-4FE4-AA47-7802636969A0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AF58058-47D7-451D-B2D5-713873CFA06B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6D9AC51-13A8-43F2-B0AE-A475CD84575E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BA8CC4C-FA3C-45FB-A5CE-C0F41063A4AA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20D0EA4-6C0E-4F3B-B209-84132CF9DCEE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637900-ABE5-44BB-8955-B59B20FACF68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878CEF9-0D4E-43CF-A1AC-B8A752A7EDD3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15157165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0" y="86714"/>
            <a:ext cx="4506965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anchor="b"/>
          <a:lstStyle>
            <a:lvl1pPr algn="r">
              <a:defRPr sz="3150" spc="-113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4152672"/>
            <a:ext cx="4506965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/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4396468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900" noProof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0052C3A-3942-4B16-A466-441F8E3C2260}"/>
              </a:ext>
            </a:extLst>
          </p:cNvPr>
          <p:cNvSpPr/>
          <p:nvPr userDrawn="1"/>
        </p:nvSpPr>
        <p:spPr>
          <a:xfrm>
            <a:off x="0" y="2539992"/>
            <a:ext cx="4029807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3500252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73E47D5-BDE7-46E7-8C4E-6111A41AF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D90A547-C01D-42BC-98ED-831FDD76F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EBF3BE3-47D8-4511-B598-743DF88DF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23311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1434632-BEE5-428E-872A-794325BA8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CB95FD3-7DAC-4417-8633-7EFA4852E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4CDAD6C-9665-443F-B344-147513A6C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947631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>
          <a:blip r:embed="rId2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6023251" y="44791"/>
            <a:ext cx="648657" cy="583165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6212493" y="-65425"/>
            <a:ext cx="3571215" cy="280282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6645807" y="1909964"/>
            <a:ext cx="1980696" cy="1549883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7049735" y="4003664"/>
            <a:ext cx="346713" cy="154593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7146462" y="3713860"/>
            <a:ext cx="533002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6433305" y="1273403"/>
            <a:ext cx="1246227" cy="118514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8500696" y="2897245"/>
            <a:ext cx="243160" cy="304915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8072689" y="2691180"/>
            <a:ext cx="692798" cy="3829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764878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5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ctagon 6">
            <a:extLst>
              <a:ext uri="{FF2B5EF4-FFF2-40B4-BE49-F238E27FC236}">
                <a16:creationId xmlns:a16="http://schemas.microsoft.com/office/drawing/2014/main" id="{12B87281-2FCA-44C5-BFC9-FD653787EFC4}"/>
              </a:ext>
            </a:extLst>
          </p:cNvPr>
          <p:cNvSpPr/>
          <p:nvPr userDrawn="1"/>
        </p:nvSpPr>
        <p:spPr>
          <a:xfrm rot="1361022">
            <a:off x="8546230" y="6053794"/>
            <a:ext cx="476096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4000" y="1152000"/>
            <a:ext cx="8505000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000" y="6188629"/>
            <a:ext cx="6588706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2277" y="6155190"/>
            <a:ext cx="324000" cy="432000"/>
          </a:xfrm>
          <a:prstGeom prst="ellipse">
            <a:avLst/>
          </a:prstGeom>
          <a:noFill/>
          <a:ln w="3175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900" b="1" i="1">
                <a:solidFill>
                  <a:schemeClr val="tx1"/>
                </a:solidFill>
                <a:latin typeface="+mj-lt"/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6BF03E-F48E-4C0A-9078-07AC4DDF896A}"/>
              </a:ext>
            </a:extLst>
          </p:cNvPr>
          <p:cNvSpPr/>
          <p:nvPr userDrawn="1"/>
        </p:nvSpPr>
        <p:spPr>
          <a:xfrm>
            <a:off x="8650404" y="6185903"/>
            <a:ext cx="55136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F827500-FC74-463C-9312-BC59104AEBD6}"/>
              </a:ext>
            </a:extLst>
          </p:cNvPr>
          <p:cNvSpPr/>
          <p:nvPr userDrawn="1"/>
        </p:nvSpPr>
        <p:spPr>
          <a:xfrm>
            <a:off x="8919064" y="6561526"/>
            <a:ext cx="7532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0EE18F-610D-4230-BA82-4E5007401ADD}"/>
              </a:ext>
            </a:extLst>
          </p:cNvPr>
          <p:cNvSpPr txBox="1"/>
          <p:nvPr userDrawn="1"/>
        </p:nvSpPr>
        <p:spPr>
          <a:xfrm>
            <a:off x="6550928" y="6278857"/>
            <a:ext cx="1882918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US" sz="900" noProof="0" dirty="0">
                <a:solidFill>
                  <a:schemeClr val="tx2"/>
                </a:solidFill>
                <a:latin typeface="+mj-lt"/>
              </a:rPr>
              <a:t>Your Logo or Name Here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F375EA-F235-4EAA-A52F-D6BF0D6EDDCA}"/>
              </a:ext>
            </a:extLst>
          </p:cNvPr>
          <p:cNvSpPr/>
          <p:nvPr userDrawn="1"/>
        </p:nvSpPr>
        <p:spPr>
          <a:xfrm>
            <a:off x="8507156" y="5990144"/>
            <a:ext cx="195384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>
              <a:solidFill>
                <a:schemeClr val="accent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3C8C5B-6356-4B7C-887C-A436D7DB4059}"/>
              </a:ext>
            </a:extLst>
          </p:cNvPr>
          <p:cNvSpPr/>
          <p:nvPr userDrawn="1"/>
        </p:nvSpPr>
        <p:spPr>
          <a:xfrm>
            <a:off x="0" y="6771286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120C00-0FF6-411F-B2D6-C625ED6BD241}"/>
              </a:ext>
            </a:extLst>
          </p:cNvPr>
          <p:cNvSpPr/>
          <p:nvPr userDrawn="1"/>
        </p:nvSpPr>
        <p:spPr>
          <a:xfrm>
            <a:off x="0" y="0"/>
            <a:ext cx="9144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142C1D-78E5-4AD5-BEF3-C015D6E3FEBD}"/>
              </a:ext>
            </a:extLst>
          </p:cNvPr>
          <p:cNvSpPr/>
          <p:nvPr userDrawn="1"/>
        </p:nvSpPr>
        <p:spPr>
          <a:xfrm rot="5400000">
            <a:off x="-3396482" y="3396481"/>
            <a:ext cx="6858001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0D9306-2240-47FF-AA2F-DC7C26A008A4}"/>
              </a:ext>
            </a:extLst>
          </p:cNvPr>
          <p:cNvSpPr/>
          <p:nvPr userDrawn="1"/>
        </p:nvSpPr>
        <p:spPr>
          <a:xfrm rot="5400000">
            <a:off x="5682482" y="3396482"/>
            <a:ext cx="6858000" cy="650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4" r:id="rId3"/>
    <p:sldLayoutId id="2147483650" r:id="rId4"/>
    <p:sldLayoutId id="2147483652" r:id="rId5"/>
    <p:sldLayoutId id="2147483656" r:id="rId6"/>
    <p:sldLayoutId id="2147483657" r:id="rId7"/>
    <p:sldLayoutId id="2147483668" r:id="rId8"/>
    <p:sldLayoutId id="2147483670" r:id="rId9"/>
    <p:sldLayoutId id="2147483653" r:id="rId10"/>
    <p:sldLayoutId id="2147483673" r:id="rId11"/>
    <p:sldLayoutId id="2147483674" r:id="rId12"/>
    <p:sldLayoutId id="2147483676" r:id="rId13"/>
    <p:sldLayoutId id="2147483677" r:id="rId14"/>
    <p:sldLayoutId id="2147483654" r:id="rId15"/>
    <p:sldLayoutId id="2147483660" r:id="rId16"/>
    <p:sldLayoutId id="2147483661" r:id="rId17"/>
    <p:sldLayoutId id="2147483678" r:id="rId18"/>
    <p:sldLayoutId id="2147483686" r:id="rId19"/>
    <p:sldLayoutId id="2147483687" r:id="rId20"/>
    <p:sldLayoutId id="2147483689" r:id="rId21"/>
    <p:sldLayoutId id="2147483690" r:id="rId22"/>
    <p:sldLayoutId id="2147483688" r:id="rId2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7194" indent="-207169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21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7244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07269" indent="-20002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s://realpython.com/pysimplegui-python/" TargetMode="External"/><Relationship Id="rId4" Type="http://schemas.openxmlformats.org/officeDocument/2006/relationships/hyperlink" Target="https://realpython.com/pysimplegui-python/#autho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hyperlink" Target="https://pypi.org/project/remi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wxpython.org/pages/overview/" TargetMode="External"/><Relationship Id="rId5" Type="http://schemas.openxmlformats.org/officeDocument/2006/relationships/hyperlink" Target="https://riverbankcomputing.com/software/pyqt/intro" TargetMode="External"/><Relationship Id="rId4" Type="http://schemas.openxmlformats.org/officeDocument/2006/relationships/hyperlink" Target="https://docs.python.org/3/library/tkinter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hyperlink" Target="https://www.linkedin.com/in/yusuf-altunel-2070a31b/" TargetMode="External"/><Relationship Id="rId3" Type="http://schemas.openxmlformats.org/officeDocument/2006/relationships/image" Target="../media/image11.jpeg"/><Relationship Id="rId7" Type="http://schemas.openxmlformats.org/officeDocument/2006/relationships/image" Target="../media/image15.sv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4.png"/><Relationship Id="rId11" Type="http://schemas.openxmlformats.org/officeDocument/2006/relationships/image" Target="../media/image18.png"/><Relationship Id="rId5" Type="http://schemas.openxmlformats.org/officeDocument/2006/relationships/image" Target="../media/image13.svg"/><Relationship Id="rId10" Type="http://schemas.openxmlformats.org/officeDocument/2006/relationships/hyperlink" Target="http://cats.iku.edu.tr/portal/site/0181f2bc-77e3-4a85-ade9-77639d9bcfe7" TargetMode="External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Resim Yer Tutucusu 9" descr="gök, açık hava, renkli, resim içeren bir resim&#10;&#10;Açıklama otomatik olarak oluşturuldu">
            <a:extLst>
              <a:ext uri="{FF2B5EF4-FFF2-40B4-BE49-F238E27FC236}">
                <a16:creationId xmlns:a16="http://schemas.microsoft.com/office/drawing/2014/main" id="{5AC82762-ADF2-4F12-86DB-A56D74788803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t="569" b="569"/>
          <a:stretch>
            <a:fillRect/>
          </a:stretch>
        </p:blipFill>
        <p:spPr/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768422"/>
            <a:ext cx="5546361" cy="2387600"/>
          </a:xfrm>
          <a:prstGeom prst="rect">
            <a:avLst/>
          </a:prstGeom>
          <a:solidFill>
            <a:schemeClr val="tx1">
              <a:alpha val="18000"/>
            </a:schemeClr>
          </a:solidFill>
        </p:spPr>
        <p:txBody>
          <a:bodyPr anchor="b">
            <a:normAutofit/>
          </a:bodyPr>
          <a:lstStyle/>
          <a:p>
            <a:r>
              <a:rPr lang="tr-TR" dirty="0" err="1"/>
              <a:t>Chapter</a:t>
            </a:r>
            <a:r>
              <a:rPr lang="tr-TR" dirty="0"/>
              <a:t> 3</a:t>
            </a:r>
            <a:r>
              <a:rPr lang="tr-TR" baseline="30000" dirty="0"/>
              <a:t>0</a:t>
            </a:r>
            <a:br>
              <a:rPr lang="tr-TR" dirty="0"/>
            </a:br>
            <a:r>
              <a:rPr lang="en-US" dirty="0"/>
              <a:t>Python</a:t>
            </a:r>
            <a:r>
              <a:rPr lang="tr-TR" dirty="0"/>
              <a:t> </a:t>
            </a:r>
            <a:r>
              <a:rPr lang="en-US" dirty="0"/>
              <a:t>GUI</a:t>
            </a:r>
            <a:r>
              <a:rPr lang="tr-TR" dirty="0"/>
              <a:t> </a:t>
            </a:r>
            <a:r>
              <a:rPr lang="en-US" dirty="0"/>
              <a:t>Programming</a:t>
            </a:r>
            <a:r>
              <a:rPr lang="tr-TR" dirty="0"/>
              <a:t>: </a:t>
            </a:r>
            <a:r>
              <a:rPr lang="en-US" dirty="0" err="1"/>
              <a:t>PySimpleGUI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5130000" cy="936000"/>
          </a:xfrm>
          <a:prstGeom prst="rect">
            <a:avLst/>
          </a:prstGeom>
          <a:solidFill>
            <a:schemeClr val="tx1">
              <a:alpha val="18000"/>
            </a:schemeClr>
          </a:solidFill>
        </p:spPr>
        <p:txBody>
          <a:bodyPr>
            <a:normAutofit fontScale="85000" lnSpcReduction="10000"/>
          </a:bodyPr>
          <a:lstStyle/>
          <a:p>
            <a:r>
              <a:rPr lang="tr-TR" sz="1300" dirty="0"/>
              <a:t>Yusuf Altunel, </a:t>
            </a:r>
            <a:r>
              <a:rPr lang="tr-TR" sz="1300" dirty="0" err="1"/>
              <a:t>PhD</a:t>
            </a:r>
            <a:endParaRPr lang="tr-TR" sz="1300" dirty="0"/>
          </a:p>
          <a:p>
            <a:r>
              <a:rPr lang="tr-TR" sz="1300" dirty="0" err="1"/>
              <a:t>From</a:t>
            </a:r>
            <a:r>
              <a:rPr lang="tr-TR" sz="1300" dirty="0"/>
              <a:t>: </a:t>
            </a:r>
            <a:r>
              <a:rPr lang="en-US" b="1" dirty="0" err="1"/>
              <a:t>PySimpleGUI</a:t>
            </a:r>
            <a:r>
              <a:rPr lang="en-US" b="1" dirty="0"/>
              <a:t>: The Simple Way to Create a GUI With Python</a:t>
            </a:r>
          </a:p>
          <a:p>
            <a:r>
              <a:rPr lang="en-US" dirty="0"/>
              <a:t>by </a:t>
            </a:r>
            <a:r>
              <a:rPr lang="en-US" dirty="0">
                <a:hlinkClick r:id="rId4"/>
              </a:rPr>
              <a:t>Mike Driscoll</a:t>
            </a:r>
            <a:r>
              <a:rPr lang="en-US" dirty="0"/>
              <a:t>  Jun 17, 2020 </a:t>
            </a:r>
          </a:p>
          <a:p>
            <a:endParaRPr lang="en-US" sz="1300" dirty="0"/>
          </a:p>
        </p:txBody>
      </p:sp>
      <p:pic>
        <p:nvPicPr>
          <p:cNvPr id="12" name="Grafik 11" descr="Bağlantı">
            <a:hlinkClick r:id="rId5"/>
            <a:extLst>
              <a:ext uri="{FF2B5EF4-FFF2-40B4-BE49-F238E27FC236}">
                <a16:creationId xmlns:a16="http://schemas.microsoft.com/office/drawing/2014/main" id="{94F8F836-4197-4691-AD9F-AA0D8E9DC7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73001" y="4424399"/>
            <a:ext cx="665179" cy="66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234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D87D-E475-451A-B36C-E4A4F6360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00" y="3905250"/>
            <a:ext cx="4509000" cy="647701"/>
          </a:xfrm>
        </p:spPr>
        <p:txBody>
          <a:bodyPr/>
          <a:lstStyle/>
          <a:p>
            <a:r>
              <a:rPr lang="tr-TR" dirty="0"/>
              <a:t>Content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BE522-961D-4737-9715-127DB8A86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0" y="4552951"/>
            <a:ext cx="4509000" cy="1384307"/>
          </a:xfrm>
        </p:spPr>
        <p:txBody>
          <a:bodyPr/>
          <a:lstStyle/>
          <a:p>
            <a:r>
              <a:rPr lang="en-US" b="1" dirty="0" err="1"/>
              <a:t>PySimpleGUI</a:t>
            </a:r>
            <a:r>
              <a:rPr lang="en-US" b="1" dirty="0"/>
              <a:t>: The Simple Way to Create a GUI With Python</a:t>
            </a:r>
            <a:endParaRPr lang="tr-TR" b="1" dirty="0"/>
          </a:p>
          <a:p>
            <a:r>
              <a:rPr lang="tr-TR" sz="1200" dirty="0" err="1"/>
              <a:t>Chapter</a:t>
            </a:r>
            <a:r>
              <a:rPr lang="tr-TR" sz="1200" dirty="0"/>
              <a:t> 3</a:t>
            </a:r>
            <a:r>
              <a:rPr lang="tr-TR" sz="1200" baseline="30000" dirty="0"/>
              <a:t>0</a:t>
            </a:r>
            <a:br>
              <a:rPr lang="tr-TR" sz="1200" dirty="0"/>
            </a:br>
            <a:r>
              <a:rPr lang="en-US" sz="1200" dirty="0"/>
              <a:t>Python</a:t>
            </a:r>
            <a:r>
              <a:rPr lang="tr-TR" sz="1200" dirty="0"/>
              <a:t> </a:t>
            </a:r>
            <a:r>
              <a:rPr lang="en-US" sz="1200" dirty="0"/>
              <a:t>GUI</a:t>
            </a:r>
            <a:r>
              <a:rPr lang="tr-TR" sz="1200" dirty="0"/>
              <a:t> </a:t>
            </a:r>
            <a:r>
              <a:rPr lang="en-US" sz="1200" dirty="0"/>
              <a:t>Programming</a:t>
            </a:r>
            <a:r>
              <a:rPr lang="tr-TR" sz="1200" dirty="0"/>
              <a:t>: </a:t>
            </a:r>
            <a:r>
              <a:rPr lang="en-US" sz="1200" dirty="0" err="1"/>
              <a:t>PySimpleGUI</a:t>
            </a:r>
            <a:endParaRPr lang="tr-TR" sz="1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45A1B7-8B88-4D90-983D-BAA2E9AAFFD3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848225" y="418454"/>
            <a:ext cx="3980775" cy="5413546"/>
          </a:xfrm>
        </p:spPr>
        <p:txBody>
          <a:bodyPr/>
          <a:lstStyle/>
          <a:p>
            <a:pPr marL="0" indent="0">
              <a:buNone/>
            </a:pPr>
            <a:r>
              <a:rPr lang="tr-TR" sz="3300" dirty="0"/>
              <a:t>Headlines</a:t>
            </a:r>
            <a:endParaRPr lang="en-US" sz="3300" dirty="0"/>
          </a:p>
          <a:p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Installing</a:t>
            </a:r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PySimpleGUI</a:t>
            </a:r>
            <a:endParaRPr lang="tr-T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Creating Basic UI Elements in </a:t>
            </a: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PySimpleGUI</a:t>
            </a:r>
            <a:endParaRPr lang="tr-T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Creating</a:t>
            </a:r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Simple Applications</a:t>
            </a:r>
          </a:p>
          <a:p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Creating</a:t>
            </a:r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 </a:t>
            </a:r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PySimpleGUI</a:t>
            </a:r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Image Viewer</a:t>
            </a:r>
          </a:p>
          <a:p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Integrating</a:t>
            </a:r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Matplotlib</a:t>
            </a:r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With</a:t>
            </a:r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PySimpleGUI</a:t>
            </a:r>
            <a:endParaRPr lang="tr-T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Integrating</a:t>
            </a:r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OpenCV</a:t>
            </a:r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With</a:t>
            </a:r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PySimpleGUI</a:t>
            </a:r>
            <a:endParaRPr lang="tr-T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Packaging</a:t>
            </a:r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Your</a:t>
            </a:r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PySimpleGUI</a:t>
            </a:r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Application </a:t>
            </a:r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for</a:t>
            </a:r>
            <a:r>
              <a:rPr lang="tr-T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Windows</a:t>
            </a:r>
          </a:p>
          <a:p>
            <a:r>
              <a:rPr lang="tr-TR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  <a:endParaRPr lang="tr-T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tr-T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2DF6AE8-6133-4C1E-91DD-755705ACF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96620" y="1480600"/>
            <a:ext cx="1387657" cy="1436996"/>
            <a:chOff x="9862160" y="831132"/>
            <a:chExt cx="1850209" cy="1915995"/>
          </a:xfrm>
        </p:grpSpPr>
        <p:sp>
          <p:nvSpPr>
            <p:cNvPr id="16" name="Freeform: Shape 15" title="triangles">
              <a:extLst>
                <a:ext uri="{FF2B5EF4-FFF2-40B4-BE49-F238E27FC236}">
                  <a16:creationId xmlns:a16="http://schemas.microsoft.com/office/drawing/2014/main" id="{156942E6-31A5-42F5-A00C-A90D409A08BC}"/>
                </a:ext>
              </a:extLst>
            </p:cNvPr>
            <p:cNvSpPr/>
            <p:nvPr/>
          </p:nvSpPr>
          <p:spPr>
            <a:xfrm rot="19260823">
              <a:off x="9984083" y="1150976"/>
              <a:ext cx="467362" cy="344458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7" name="Freeform: Shape 16" title="triangles">
              <a:extLst>
                <a:ext uri="{FF2B5EF4-FFF2-40B4-BE49-F238E27FC236}">
                  <a16:creationId xmlns:a16="http://schemas.microsoft.com/office/drawing/2014/main" id="{055D27E0-4C92-4640-A2B8-86540741DCE6}"/>
                </a:ext>
              </a:extLst>
            </p:cNvPr>
            <p:cNvSpPr/>
            <p:nvPr/>
          </p:nvSpPr>
          <p:spPr>
            <a:xfrm rot="20377627">
              <a:off x="10445799" y="1461330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8" name="Freeform: Shape 17" title="triangles">
              <a:extLst>
                <a:ext uri="{FF2B5EF4-FFF2-40B4-BE49-F238E27FC236}">
                  <a16:creationId xmlns:a16="http://schemas.microsoft.com/office/drawing/2014/main" id="{E760DC62-191E-4D60-AAAC-37DDF411BF9D}"/>
                </a:ext>
              </a:extLst>
            </p:cNvPr>
            <p:cNvSpPr/>
            <p:nvPr/>
          </p:nvSpPr>
          <p:spPr>
            <a:xfrm rot="19260823">
              <a:off x="10485025" y="1232684"/>
              <a:ext cx="250689" cy="18476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9" name="Freeform: Shape 18" title="triangles">
              <a:extLst>
                <a:ext uri="{FF2B5EF4-FFF2-40B4-BE49-F238E27FC236}">
                  <a16:creationId xmlns:a16="http://schemas.microsoft.com/office/drawing/2014/main" id="{B21F5D55-03CC-4A29-B8D0-2B1C7DE7C79D}"/>
                </a:ext>
              </a:extLst>
            </p:cNvPr>
            <p:cNvSpPr/>
            <p:nvPr/>
          </p:nvSpPr>
          <p:spPr>
            <a:xfrm rot="19810388">
              <a:off x="10832584" y="139371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0" name="Freeform: Shape 19" title="triangles">
              <a:extLst>
                <a:ext uri="{FF2B5EF4-FFF2-40B4-BE49-F238E27FC236}">
                  <a16:creationId xmlns:a16="http://schemas.microsoft.com/office/drawing/2014/main" id="{6A692EA0-8FB5-4D6A-B1B1-20463392DEDE}"/>
                </a:ext>
              </a:extLst>
            </p:cNvPr>
            <p:cNvSpPr/>
            <p:nvPr/>
          </p:nvSpPr>
          <p:spPr>
            <a:xfrm rot="18277851">
              <a:off x="10920185" y="9941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1" name="Freeform: Shape 20" title="triangles">
              <a:extLst>
                <a:ext uri="{FF2B5EF4-FFF2-40B4-BE49-F238E27FC236}">
                  <a16:creationId xmlns:a16="http://schemas.microsoft.com/office/drawing/2014/main" id="{46FB2BA9-5E08-4A8F-BC47-8EFA61E4E6CE}"/>
                </a:ext>
              </a:extLst>
            </p:cNvPr>
            <p:cNvSpPr/>
            <p:nvPr/>
          </p:nvSpPr>
          <p:spPr>
            <a:xfrm rot="20761418">
              <a:off x="11313110" y="1642801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Freeform: Shape 21" title="triangles">
              <a:extLst>
                <a:ext uri="{FF2B5EF4-FFF2-40B4-BE49-F238E27FC236}">
                  <a16:creationId xmlns:a16="http://schemas.microsoft.com/office/drawing/2014/main" id="{5B0A2587-D640-4AEE-9456-860CD02427C8}"/>
                </a:ext>
              </a:extLst>
            </p:cNvPr>
            <p:cNvSpPr/>
            <p:nvPr/>
          </p:nvSpPr>
          <p:spPr>
            <a:xfrm rot="17315293">
              <a:off x="11523906" y="8596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3" name="Freeform: Shape 22" title="triangles">
              <a:extLst>
                <a:ext uri="{FF2B5EF4-FFF2-40B4-BE49-F238E27FC236}">
                  <a16:creationId xmlns:a16="http://schemas.microsoft.com/office/drawing/2014/main" id="{373F2649-8DA3-441F-9BDD-77A942FA3DBE}"/>
                </a:ext>
              </a:extLst>
            </p:cNvPr>
            <p:cNvSpPr/>
            <p:nvPr/>
          </p:nvSpPr>
          <p:spPr>
            <a:xfrm rot="20082236">
              <a:off x="11215766" y="1243239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4" name="Freeform: Shape 23" title="triangles">
              <a:extLst>
                <a:ext uri="{FF2B5EF4-FFF2-40B4-BE49-F238E27FC236}">
                  <a16:creationId xmlns:a16="http://schemas.microsoft.com/office/drawing/2014/main" id="{95933F98-3B9B-4270-9281-570AD41C3F19}"/>
                </a:ext>
              </a:extLst>
            </p:cNvPr>
            <p:cNvSpPr/>
            <p:nvPr/>
          </p:nvSpPr>
          <p:spPr>
            <a:xfrm rot="19879732">
              <a:off x="11436537" y="1436545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5" name="Freeform: Shape 24" title="triangles">
              <a:extLst>
                <a:ext uri="{FF2B5EF4-FFF2-40B4-BE49-F238E27FC236}">
                  <a16:creationId xmlns:a16="http://schemas.microsoft.com/office/drawing/2014/main" id="{3DAB5C84-F2AD-47FD-ABEC-6D6626D2B7FF}"/>
                </a:ext>
              </a:extLst>
            </p:cNvPr>
            <p:cNvSpPr/>
            <p:nvPr/>
          </p:nvSpPr>
          <p:spPr>
            <a:xfrm rot="328041">
              <a:off x="9862160" y="1513660"/>
              <a:ext cx="579699" cy="606799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  <a:gd name="connsiteX0" fmla="*/ 487806 w 487806"/>
                <a:gd name="connsiteY0" fmla="*/ 171848 h 510610"/>
                <a:gd name="connsiteX1" fmla="*/ 308036 w 487806"/>
                <a:gd name="connsiteY1" fmla="*/ 510610 h 510610"/>
                <a:gd name="connsiteX2" fmla="*/ 0 w 487806"/>
                <a:gd name="connsiteY2" fmla="*/ 0 h 510610"/>
                <a:gd name="connsiteX3" fmla="*/ 487806 w 487806"/>
                <a:gd name="connsiteY3" fmla="*/ 171848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7806" h="510610">
                  <a:moveTo>
                    <a:pt x="487806" y="171848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487806" y="171848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6" name="Freeform: Shape 25" title="triangles">
              <a:extLst>
                <a:ext uri="{FF2B5EF4-FFF2-40B4-BE49-F238E27FC236}">
                  <a16:creationId xmlns:a16="http://schemas.microsoft.com/office/drawing/2014/main" id="{A4E2ACF8-4066-4DB9-B5D5-E8AA3B152710}"/>
                </a:ext>
              </a:extLst>
            </p:cNvPr>
            <p:cNvSpPr/>
            <p:nvPr/>
          </p:nvSpPr>
          <p:spPr>
            <a:xfrm>
              <a:off x="10639428" y="1814668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7" name="Freeform: Shape 26" title="triangles">
              <a:extLst>
                <a:ext uri="{FF2B5EF4-FFF2-40B4-BE49-F238E27FC236}">
                  <a16:creationId xmlns:a16="http://schemas.microsoft.com/office/drawing/2014/main" id="{74FCCA2A-37FF-4031-AF2F-A894DBE6EE0E}"/>
                </a:ext>
              </a:extLst>
            </p:cNvPr>
            <p:cNvSpPr/>
            <p:nvPr/>
          </p:nvSpPr>
          <p:spPr>
            <a:xfrm rot="20761418">
              <a:off x="11280262" y="2096947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8" name="Freeform: Shape 27" title="triangles">
              <a:extLst>
                <a:ext uri="{FF2B5EF4-FFF2-40B4-BE49-F238E27FC236}">
                  <a16:creationId xmlns:a16="http://schemas.microsoft.com/office/drawing/2014/main" id="{5C7D7734-820D-40CE-BBBA-6E6D9452D308}"/>
                </a:ext>
              </a:extLst>
            </p:cNvPr>
            <p:cNvSpPr/>
            <p:nvPr/>
          </p:nvSpPr>
          <p:spPr>
            <a:xfrm rot="1160487">
              <a:off x="10059320" y="2226127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9" name="Freeform: Shape 28" title="triangles">
              <a:extLst>
                <a:ext uri="{FF2B5EF4-FFF2-40B4-BE49-F238E27FC236}">
                  <a16:creationId xmlns:a16="http://schemas.microsoft.com/office/drawing/2014/main" id="{5BCE508A-E107-4075-9976-73D3ED8272C2}"/>
                </a:ext>
              </a:extLst>
            </p:cNvPr>
            <p:cNvSpPr/>
            <p:nvPr/>
          </p:nvSpPr>
          <p:spPr>
            <a:xfrm rot="803026">
              <a:off x="11353765" y="2627540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F16E1-87DB-4920-A90B-23E1C72DDC7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Resim 6" descr="dağ, açık hava, gök, kar içeren bir resim&#10;&#10;Açıklama otomatik olarak oluşturuldu">
            <a:extLst>
              <a:ext uri="{FF2B5EF4-FFF2-40B4-BE49-F238E27FC236}">
                <a16:creationId xmlns:a16="http://schemas.microsoft.com/office/drawing/2014/main" id="{0EC1B08E-0767-4C85-BE0C-FC36D19CCC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46" y="920742"/>
            <a:ext cx="4492913" cy="29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5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tr-TR" sz="2800" dirty="0" err="1"/>
              <a:t>Chapter</a:t>
            </a:r>
            <a:r>
              <a:rPr lang="tr-TR" sz="2800" dirty="0"/>
              <a:t> 3</a:t>
            </a:r>
            <a:r>
              <a:rPr lang="tr-TR" sz="2800" baseline="30000" dirty="0"/>
              <a:t>0</a:t>
            </a:r>
            <a:br>
              <a:rPr lang="tr-TR" sz="2800" dirty="0"/>
            </a:br>
            <a:r>
              <a:rPr lang="en-US" sz="2800" dirty="0"/>
              <a:t>Python</a:t>
            </a:r>
            <a:r>
              <a:rPr lang="tr-TR" sz="2800" dirty="0"/>
              <a:t> </a:t>
            </a:r>
            <a:r>
              <a:rPr lang="en-US" sz="2800" dirty="0"/>
              <a:t>GUI</a:t>
            </a:r>
            <a:r>
              <a:rPr lang="tr-TR" sz="2800" dirty="0"/>
              <a:t> </a:t>
            </a:r>
            <a:r>
              <a:rPr lang="en-US" sz="2800" dirty="0"/>
              <a:t>Programming</a:t>
            </a:r>
            <a:r>
              <a:rPr lang="tr-TR" sz="2800" dirty="0"/>
              <a:t>: </a:t>
            </a:r>
            <a:r>
              <a:rPr lang="en-US" sz="2800" dirty="0" err="1"/>
              <a:t>PySimpleGUI</a:t>
            </a:r>
            <a:endParaRPr lang="en-US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Installing</a:t>
            </a:r>
            <a:r>
              <a:rPr lang="tr-T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PySimpleGUI</a:t>
            </a:r>
            <a:endParaRPr lang="tr-T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Creating Basic UI Elements in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</a:rPr>
              <a:t>PySimpleGUI</a:t>
            </a:r>
            <a:endParaRPr lang="tr-TR" sz="1600" b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Creating</a:t>
            </a:r>
            <a:r>
              <a:rPr lang="tr-TR" sz="1600" b="1" dirty="0">
                <a:solidFill>
                  <a:schemeClr val="bg1">
                    <a:lumMod val="50000"/>
                  </a:schemeClr>
                </a:solidFill>
              </a:rPr>
              <a:t> Simple Applications</a:t>
            </a:r>
          </a:p>
          <a:p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Creating</a:t>
            </a:r>
            <a:r>
              <a:rPr lang="tr-TR" sz="1600" b="1" dirty="0">
                <a:solidFill>
                  <a:schemeClr val="bg1">
                    <a:lumMod val="50000"/>
                  </a:schemeClr>
                </a:solidFill>
              </a:rPr>
              <a:t> a </a:t>
            </a:r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PySimpleGUI</a:t>
            </a:r>
            <a:r>
              <a:rPr lang="tr-TR" sz="1600" b="1" dirty="0">
                <a:solidFill>
                  <a:schemeClr val="bg1">
                    <a:lumMod val="50000"/>
                  </a:schemeClr>
                </a:solidFill>
              </a:rPr>
              <a:t> Image Viewer</a:t>
            </a:r>
          </a:p>
          <a:p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Integrating</a:t>
            </a:r>
            <a:r>
              <a:rPr lang="tr-TR" sz="16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Matplotlib</a:t>
            </a:r>
            <a:r>
              <a:rPr lang="tr-TR" sz="16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With</a:t>
            </a:r>
            <a:r>
              <a:rPr lang="tr-TR" sz="16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PySimpleGUI</a:t>
            </a:r>
            <a:endParaRPr lang="tr-TR" sz="1600" b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Integrating</a:t>
            </a:r>
            <a:r>
              <a:rPr lang="tr-TR" sz="16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OpenCV</a:t>
            </a:r>
            <a:r>
              <a:rPr lang="tr-TR" sz="16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With</a:t>
            </a:r>
            <a:r>
              <a:rPr lang="tr-TR" sz="16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PySimpleGUI</a:t>
            </a:r>
            <a:endParaRPr lang="tr-TR" sz="1600" b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Packaging</a:t>
            </a:r>
            <a:r>
              <a:rPr lang="tr-TR" sz="16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Your</a:t>
            </a:r>
            <a:r>
              <a:rPr lang="tr-TR" sz="16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PySimpleGUI</a:t>
            </a:r>
            <a:r>
              <a:rPr lang="tr-TR" sz="1600" b="1" dirty="0">
                <a:solidFill>
                  <a:schemeClr val="bg1">
                    <a:lumMod val="50000"/>
                  </a:schemeClr>
                </a:solidFill>
              </a:rPr>
              <a:t> Application </a:t>
            </a:r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tr-TR" sz="1600" b="1" dirty="0">
                <a:solidFill>
                  <a:schemeClr val="bg1">
                    <a:lumMod val="50000"/>
                  </a:schemeClr>
                </a:solidFill>
              </a:rPr>
              <a:t> Windows</a:t>
            </a:r>
          </a:p>
          <a:p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Conclusion</a:t>
            </a:r>
            <a:endParaRPr lang="tr-TR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8" name="Resim Yer Tutucusu 7" descr="doğa, ağaç, kapalı içeren bir resim&#10;&#10;Açıklama otomatik olarak oluşturuldu">
            <a:extLst>
              <a:ext uri="{FF2B5EF4-FFF2-40B4-BE49-F238E27FC236}">
                <a16:creationId xmlns:a16="http://schemas.microsoft.com/office/drawing/2014/main" id="{CCC795C7-F07B-413D-98BB-46C1B810BC9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/>
          <a:srcRect l="1711" r="171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077521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r>
              <a:rPr lang="tr-TR" dirty="0" err="1"/>
              <a:t>Installing</a:t>
            </a:r>
            <a:r>
              <a:rPr lang="tr-TR" dirty="0"/>
              <a:t> </a:t>
            </a:r>
            <a:r>
              <a:rPr lang="tr-TR" dirty="0" err="1"/>
              <a:t>PySimpleGUI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900513"/>
            <a:ext cx="7921247" cy="711311"/>
          </a:xfrm>
        </p:spPr>
        <p:txBody>
          <a:bodyPr/>
          <a:lstStyle/>
          <a:p>
            <a:r>
              <a:rPr lang="en-US" i="1" dirty="0"/>
              <a:t> python -m pip install </a:t>
            </a:r>
            <a:r>
              <a:rPr lang="en-US" i="1" dirty="0" err="1"/>
              <a:t>pysimplegui</a:t>
            </a:r>
            <a:endParaRPr lang="tr-TR" i="1" dirty="0"/>
          </a:p>
          <a:p>
            <a:r>
              <a:rPr lang="en-US" dirty="0"/>
              <a:t>pip install </a:t>
            </a:r>
            <a:r>
              <a:rPr lang="en-US" dirty="0" err="1"/>
              <a:t>pysimplegui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1709209"/>
            <a:ext cx="2231684" cy="648000"/>
          </a:xfrm>
        </p:spPr>
        <p:txBody>
          <a:bodyPr/>
          <a:lstStyle/>
          <a:p>
            <a:r>
              <a:rPr lang="tr-TR" b="1" dirty="0" err="1">
                <a:latin typeface="+mn-lt"/>
              </a:rPr>
              <a:t>Package</a:t>
            </a:r>
            <a:r>
              <a:rPr lang="tr-TR" b="1" dirty="0">
                <a:latin typeface="+mn-lt"/>
              </a:rPr>
              <a:t> Content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71" y="2525906"/>
            <a:ext cx="2794502" cy="1968602"/>
          </a:xfrm>
        </p:spPr>
        <p:txBody>
          <a:bodyPr/>
          <a:lstStyle/>
          <a:p>
            <a:r>
              <a:rPr lang="tr-TR" dirty="0" err="1">
                <a:hlinkClick r:id="rId4"/>
              </a:rPr>
              <a:t>Tkinter</a:t>
            </a:r>
            <a:endParaRPr lang="tr-TR" dirty="0"/>
          </a:p>
          <a:p>
            <a:r>
              <a:rPr lang="tr-TR" dirty="0" err="1">
                <a:hlinkClick r:id="rId5"/>
              </a:rPr>
              <a:t>PyQt</a:t>
            </a:r>
            <a:endParaRPr lang="tr-TR" dirty="0"/>
          </a:p>
          <a:p>
            <a:r>
              <a:rPr lang="tr-TR" dirty="0" err="1">
                <a:hlinkClick r:id="rId6"/>
              </a:rPr>
              <a:t>wxPython</a:t>
            </a:r>
            <a:endParaRPr lang="tr-TR" dirty="0"/>
          </a:p>
          <a:p>
            <a:r>
              <a:rPr lang="tr-TR" dirty="0">
                <a:hlinkClick r:id="rId7"/>
              </a:rPr>
              <a:t>Remi</a:t>
            </a:r>
            <a:endParaRPr lang="tr-TR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9410" y="1752505"/>
            <a:ext cx="2231684" cy="648000"/>
          </a:xfrm>
        </p:spPr>
        <p:txBody>
          <a:bodyPr/>
          <a:lstStyle/>
          <a:p>
            <a:r>
              <a:rPr lang="en-US" dirty="0" err="1"/>
              <a:t>Tkinter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3647" y="2569266"/>
            <a:ext cx="2794852" cy="1960531"/>
          </a:xfrm>
        </p:spPr>
        <p:txBody>
          <a:bodyPr/>
          <a:lstStyle/>
          <a:p>
            <a:pPr marL="0" indent="0">
              <a:buNone/>
            </a:pPr>
            <a:r>
              <a:rPr lang="tr-TR" dirty="0" err="1"/>
              <a:t>Default</a:t>
            </a:r>
            <a:r>
              <a:rPr lang="tr-TR" dirty="0"/>
              <a:t> GUI</a:t>
            </a:r>
          </a:p>
          <a:p>
            <a:r>
              <a:rPr lang="en-US" dirty="0"/>
              <a:t>comes with Python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When you install </a:t>
            </a:r>
            <a:r>
              <a:rPr lang="en-US" dirty="0" err="1"/>
              <a:t>PySimpleGUI</a:t>
            </a:r>
            <a:endParaRPr lang="tr-TR" dirty="0"/>
          </a:p>
          <a:p>
            <a:r>
              <a:rPr lang="en-US" dirty="0"/>
              <a:t>you get the </a:t>
            </a:r>
            <a:r>
              <a:rPr lang="en-US" dirty="0" err="1"/>
              <a:t>Tkinter</a:t>
            </a:r>
            <a:r>
              <a:rPr lang="en-US" dirty="0"/>
              <a:t> variant </a:t>
            </a:r>
            <a:endParaRPr lang="tr-TR" dirty="0"/>
          </a:p>
          <a:p>
            <a:r>
              <a:rPr lang="en-US" dirty="0"/>
              <a:t>by default</a:t>
            </a:r>
            <a:endParaRPr lang="tr-TR" dirty="0"/>
          </a:p>
          <a:p>
            <a:endParaRPr lang="tr-T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352921" y="1752224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PySimpleGUI</a:t>
            </a:r>
            <a:endParaRPr lang="en-US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3353042" y="2568921"/>
            <a:ext cx="2794502" cy="2452530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wraps </a:t>
            </a:r>
            <a:endParaRPr lang="tr-TR" dirty="0"/>
          </a:p>
          <a:p>
            <a:r>
              <a:rPr lang="en-US" dirty="0"/>
              <a:t>the entirety of </a:t>
            </a:r>
            <a:r>
              <a:rPr lang="en-US" dirty="0" err="1"/>
              <a:t>Tkinter</a:t>
            </a:r>
            <a:endParaRPr lang="tr-TR" dirty="0"/>
          </a:p>
          <a:p>
            <a:r>
              <a:rPr lang="en-US" dirty="0"/>
              <a:t>most of PySide2</a:t>
            </a:r>
            <a:endParaRPr lang="tr-TR" dirty="0"/>
          </a:p>
          <a:p>
            <a:r>
              <a:rPr lang="en-US" dirty="0"/>
              <a:t>only a small portion of </a:t>
            </a:r>
            <a:r>
              <a:rPr lang="en-US" dirty="0" err="1"/>
              <a:t>wxPython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02304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0" y="86714"/>
            <a:ext cx="4506965" cy="3105665"/>
          </a:xfrm>
          <a:blipFill>
            <a:blip r:embed="rId3"/>
            <a:tile tx="0" ty="0" sx="100000" sy="100000" flip="none" algn="tl"/>
          </a:blipFill>
        </p:spPr>
        <p:txBody>
          <a:bodyPr/>
          <a:lstStyle/>
          <a:p>
            <a:r>
              <a:rPr lang="tr-TR" sz="2800" dirty="0" err="1"/>
              <a:t>Chapter</a:t>
            </a:r>
            <a:r>
              <a:rPr lang="tr-TR" sz="2800" dirty="0"/>
              <a:t> 3</a:t>
            </a:r>
            <a:r>
              <a:rPr lang="tr-TR" sz="2800" baseline="30000" dirty="0"/>
              <a:t>0</a:t>
            </a:r>
            <a:br>
              <a:rPr lang="tr-TR" sz="2800" dirty="0"/>
            </a:br>
            <a:r>
              <a:rPr lang="en-US" sz="2800" dirty="0"/>
              <a:t>Python</a:t>
            </a:r>
            <a:r>
              <a:rPr lang="tr-TR" sz="2800" dirty="0"/>
              <a:t> </a:t>
            </a:r>
            <a:r>
              <a:rPr lang="en-US" sz="2800" dirty="0"/>
              <a:t>GUI</a:t>
            </a:r>
            <a:r>
              <a:rPr lang="tr-TR" sz="2800" dirty="0"/>
              <a:t> </a:t>
            </a:r>
            <a:r>
              <a:rPr lang="en-US" sz="2800" dirty="0"/>
              <a:t>Programming</a:t>
            </a:r>
            <a:r>
              <a:rPr lang="tr-TR" sz="2800" dirty="0"/>
              <a:t>: </a:t>
            </a:r>
            <a:r>
              <a:rPr lang="en-US" sz="2800" dirty="0" err="1"/>
              <a:t>PySimpleGUI</a:t>
            </a:r>
            <a:endParaRPr lang="en-US" sz="28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3192379"/>
            <a:ext cx="4506965" cy="3047999"/>
          </a:xfrm>
          <a:blipFill>
            <a:blip r:embed="rId4"/>
            <a:tile tx="0" ty="0" sx="100000" sy="100000" flip="none" algn="tl"/>
          </a:blipFill>
        </p:spPr>
        <p:txBody>
          <a:bodyPr/>
          <a:lstStyle/>
          <a:p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Installing</a:t>
            </a:r>
            <a:r>
              <a:rPr lang="tr-TR" sz="16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PySimpleGUI</a:t>
            </a:r>
            <a:endParaRPr lang="tr-TR" sz="1600" b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Creating Basic UI Elements in </a:t>
            </a:r>
            <a:r>
              <a:rPr 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PySimpleGUI</a:t>
            </a:r>
            <a:endParaRPr lang="tr-T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Creating</a:t>
            </a:r>
            <a:r>
              <a:rPr lang="tr-TR" sz="1600" b="1" dirty="0">
                <a:solidFill>
                  <a:schemeClr val="bg1">
                    <a:lumMod val="50000"/>
                  </a:schemeClr>
                </a:solidFill>
              </a:rPr>
              <a:t> Simple Applications</a:t>
            </a:r>
          </a:p>
          <a:p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Creating</a:t>
            </a:r>
            <a:r>
              <a:rPr lang="tr-TR" sz="1600" b="1" dirty="0">
                <a:solidFill>
                  <a:schemeClr val="bg1">
                    <a:lumMod val="50000"/>
                  </a:schemeClr>
                </a:solidFill>
              </a:rPr>
              <a:t> a </a:t>
            </a:r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PySimpleGUI</a:t>
            </a:r>
            <a:r>
              <a:rPr lang="tr-TR" sz="1600" b="1" dirty="0">
                <a:solidFill>
                  <a:schemeClr val="bg1">
                    <a:lumMod val="50000"/>
                  </a:schemeClr>
                </a:solidFill>
              </a:rPr>
              <a:t> Image Viewer</a:t>
            </a:r>
          </a:p>
          <a:p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Integrating</a:t>
            </a:r>
            <a:r>
              <a:rPr lang="tr-TR" sz="16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Matplotlib</a:t>
            </a:r>
            <a:r>
              <a:rPr lang="tr-TR" sz="16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With</a:t>
            </a:r>
            <a:r>
              <a:rPr lang="tr-TR" sz="16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PySimpleGUI</a:t>
            </a:r>
            <a:endParaRPr lang="tr-TR" sz="1600" b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Integrating</a:t>
            </a:r>
            <a:r>
              <a:rPr lang="tr-TR" sz="16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OpenCV</a:t>
            </a:r>
            <a:r>
              <a:rPr lang="tr-TR" sz="16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With</a:t>
            </a:r>
            <a:r>
              <a:rPr lang="tr-TR" sz="16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PySimpleGUI</a:t>
            </a:r>
            <a:endParaRPr lang="tr-TR" sz="1600" b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Packaging</a:t>
            </a:r>
            <a:r>
              <a:rPr lang="tr-TR" sz="16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Your</a:t>
            </a:r>
            <a:r>
              <a:rPr lang="tr-TR" sz="16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PySimpleGUI</a:t>
            </a:r>
            <a:r>
              <a:rPr lang="tr-TR" sz="1600" b="1" dirty="0">
                <a:solidFill>
                  <a:schemeClr val="bg1">
                    <a:lumMod val="50000"/>
                  </a:schemeClr>
                </a:solidFill>
              </a:rPr>
              <a:t> Application </a:t>
            </a:r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tr-TR" sz="1600" b="1" dirty="0">
                <a:solidFill>
                  <a:schemeClr val="bg1">
                    <a:lumMod val="50000"/>
                  </a:schemeClr>
                </a:solidFill>
              </a:rPr>
              <a:t> Windows</a:t>
            </a:r>
          </a:p>
          <a:p>
            <a:r>
              <a:rPr lang="tr-TR" sz="1600" b="1" dirty="0" err="1">
                <a:solidFill>
                  <a:schemeClr val="bg1">
                    <a:lumMod val="50000"/>
                  </a:schemeClr>
                </a:solidFill>
              </a:rPr>
              <a:t>Conclusion</a:t>
            </a:r>
            <a:endParaRPr lang="tr-TR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5</a:t>
            </a:fld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2418" y="857169"/>
            <a:ext cx="2310885" cy="2258593"/>
            <a:chOff x="8203224" y="-109"/>
            <a:chExt cx="3081180" cy="3011457"/>
          </a:xfrm>
        </p:grpSpPr>
        <p:sp>
          <p:nvSpPr>
            <p:cNvPr id="50" name="Freeform: Shape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2" name="Freeform: Shape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4" name="Freeform: Shape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</p:grpSp>
      <p:pic>
        <p:nvPicPr>
          <p:cNvPr id="8" name="Resim Yer Tutucusu 7" descr="doğa, ağaç, kapalı içeren bir resim&#10;&#10;Açıklama otomatik olarak oluşturuldu">
            <a:extLst>
              <a:ext uri="{FF2B5EF4-FFF2-40B4-BE49-F238E27FC236}">
                <a16:creationId xmlns:a16="http://schemas.microsoft.com/office/drawing/2014/main" id="{CCC795C7-F07B-413D-98BB-46C1B810BC9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/>
          <a:srcRect l="1711" r="171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518526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49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0" y="432000"/>
            <a:ext cx="8505000" cy="432000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Creating Basic UI Elements in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PySimpleGUI</a:t>
            </a:r>
            <a:endParaRPr lang="tr-TR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1080002"/>
            <a:ext cx="7921247" cy="531822"/>
          </a:xfrm>
        </p:spPr>
        <p:txBody>
          <a:bodyPr/>
          <a:lstStyle/>
          <a:p>
            <a:r>
              <a:rPr lang="en-US" b="1" dirty="0"/>
              <a:t>Creating a </a:t>
            </a:r>
            <a:r>
              <a:rPr lang="en-US" b="1" dirty="0" err="1"/>
              <a:t>PySimpleGUI</a:t>
            </a:r>
            <a:r>
              <a:rPr lang="en-US" b="1" dirty="0"/>
              <a:t> Image Viewer</a:t>
            </a:r>
            <a:r>
              <a:rPr lang="tr-TR" b="1" dirty="0"/>
              <a:t>:</a:t>
            </a:r>
          </a:p>
          <a:p>
            <a:r>
              <a:rPr lang="en-US" dirty="0"/>
              <a:t>to view your own photos or incorporate it to view photos that you download or read from a database</a:t>
            </a:r>
            <a:endParaRPr lang="en-US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9626" y="1934061"/>
            <a:ext cx="2231684" cy="648000"/>
          </a:xfrm>
        </p:spPr>
        <p:txBody>
          <a:bodyPr/>
          <a:lstStyle/>
          <a:p>
            <a:r>
              <a:rPr lang="tr-TR" dirty="0"/>
              <a:t>Image()</a:t>
            </a:r>
            <a:endParaRPr lang="en-US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46" y="2750758"/>
            <a:ext cx="2928305" cy="2225976"/>
          </a:xfrm>
        </p:spPr>
        <p:txBody>
          <a:bodyPr/>
          <a:lstStyle/>
          <a:p>
            <a:pPr marL="0" indent="0">
              <a:buNone/>
            </a:pP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viewing</a:t>
            </a:r>
            <a:r>
              <a:rPr lang="tr-TR" dirty="0"/>
              <a:t> </a:t>
            </a:r>
            <a:r>
              <a:rPr lang="tr-TR" dirty="0" err="1"/>
              <a:t>images</a:t>
            </a:r>
            <a:endParaRPr lang="tr-TR" dirty="0"/>
          </a:p>
          <a:p>
            <a:r>
              <a:rPr lang="tr-TR" dirty="0"/>
              <a:t>PNG</a:t>
            </a:r>
          </a:p>
          <a:p>
            <a:r>
              <a:rPr lang="tr-TR" dirty="0"/>
              <a:t>GIF </a:t>
            </a:r>
            <a:r>
              <a:rPr lang="tr-TR" dirty="0" err="1"/>
              <a:t>formats</a:t>
            </a:r>
            <a:r>
              <a:rPr lang="tr-TR" dirty="0"/>
              <a:t> 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90077" y="1962367"/>
            <a:ext cx="2231684" cy="648000"/>
          </a:xfrm>
        </p:spPr>
        <p:txBody>
          <a:bodyPr/>
          <a:lstStyle/>
          <a:p>
            <a:r>
              <a:rPr lang="tr-TR" b="1" dirty="0" err="1"/>
              <a:t>PySimpleGUIQt</a:t>
            </a:r>
            <a:endParaRPr lang="en-US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40839" y="2809108"/>
            <a:ext cx="2803161" cy="19605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Qt supports</a:t>
            </a:r>
            <a:endParaRPr lang="tr-TR" dirty="0">
              <a:latin typeface="NewBaskerville-Roman"/>
            </a:endParaRPr>
          </a:p>
          <a:p>
            <a:r>
              <a:rPr lang="en-US" dirty="0"/>
              <a:t>more image formats </a:t>
            </a:r>
            <a:endParaRPr lang="tr-TR" dirty="0"/>
          </a:p>
          <a:p>
            <a:r>
              <a:rPr lang="en-US" dirty="0"/>
              <a:t>out of the box</a:t>
            </a:r>
            <a:endParaRPr lang="tr-TR" dirty="0"/>
          </a:p>
          <a:p>
            <a:r>
              <a:rPr lang="en-US" dirty="0"/>
              <a:t>than </a:t>
            </a:r>
            <a:r>
              <a:rPr lang="en-US" dirty="0" err="1"/>
              <a:t>Tkinter</a:t>
            </a:r>
            <a:endParaRPr lang="tr-TR" dirty="0">
              <a:latin typeface="NewBaskerville-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327A844-1A59-4217-BC8E-ABA5FBBEA9DE}"/>
              </a:ext>
            </a:extLst>
          </p:cNvPr>
          <p:cNvSpPr txBox="1">
            <a:spLocks/>
          </p:cNvSpPr>
          <p:nvPr/>
        </p:nvSpPr>
        <p:spPr>
          <a:xfrm>
            <a:off x="3068697" y="1977076"/>
            <a:ext cx="2231684" cy="648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0" tIns="108000" rIns="0" bIns="0" rtlCol="0" anchor="t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200025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0719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07219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7244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b="1" dirty="0" err="1"/>
              <a:t>Pillow</a:t>
            </a:r>
            <a:endParaRPr lang="en-US" b="1" dirty="0">
              <a:latin typeface="+mn-lt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556DF9F-5118-400A-8336-75F3A3B68986}"/>
              </a:ext>
            </a:extLst>
          </p:cNvPr>
          <p:cNvSpPr txBox="1">
            <a:spLocks/>
          </p:cNvSpPr>
          <p:nvPr/>
        </p:nvSpPr>
        <p:spPr>
          <a:xfrm>
            <a:off x="2948896" y="2838743"/>
            <a:ext cx="3421923" cy="2003079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vert="horz" lIns="180000" tIns="180000" rIns="18000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r-TR" dirty="0" err="1"/>
              <a:t>Supported</a:t>
            </a:r>
            <a:r>
              <a:rPr lang="tr-TR" dirty="0"/>
              <a:t> </a:t>
            </a:r>
            <a:r>
              <a:rPr lang="tr-TR" dirty="0" err="1"/>
              <a:t>formats</a:t>
            </a:r>
            <a:r>
              <a:rPr lang="en-US" dirty="0"/>
              <a:t> </a:t>
            </a:r>
            <a:endParaRPr lang="tr-TR" dirty="0"/>
          </a:p>
          <a:p>
            <a:r>
              <a:rPr lang="tr-TR" dirty="0"/>
              <a:t>TIFF</a:t>
            </a:r>
          </a:p>
          <a:p>
            <a:r>
              <a:rPr lang="tr-TR" dirty="0"/>
              <a:t>JPG</a:t>
            </a:r>
          </a:p>
          <a:p>
            <a:r>
              <a:rPr lang="tr-TR" dirty="0"/>
              <a:t>BMP</a:t>
            </a:r>
            <a:endParaRPr lang="tr-TR" dirty="0">
              <a:latin typeface="NewBaskerville-Roman"/>
            </a:endParaRPr>
          </a:p>
        </p:txBody>
      </p:sp>
    </p:spTree>
    <p:extLst>
      <p:ext uri="{BB962C8B-B14F-4D97-AF65-F5344CB8AC3E}">
        <p14:creationId xmlns:p14="http://schemas.microsoft.com/office/powerpoint/2010/main" val="1837277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30" y="172170"/>
            <a:ext cx="8505000" cy="432000"/>
          </a:xfrm>
        </p:spPr>
        <p:txBody>
          <a:bodyPr/>
          <a:lstStyle/>
          <a:p>
            <a:pPr algn="ctr"/>
            <a:r>
              <a:rPr lang="en-US" dirty="0">
                <a:highlight>
                  <a:srgbClr val="FFFF00"/>
                </a:highlight>
              </a:rPr>
              <a:t>mock-up of the image viewer</a:t>
            </a:r>
            <a:endParaRPr lang="tr-TR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7</a:t>
            </a:fld>
            <a:endParaRPr lang="en-US" noProof="0" dirty="0"/>
          </a:p>
        </p:txBody>
      </p:sp>
      <p:pic>
        <p:nvPicPr>
          <p:cNvPr id="3074" name="Picture 2" descr="Image Viewer Mockup">
            <a:extLst>
              <a:ext uri="{FF2B5EF4-FFF2-40B4-BE49-F238E27FC236}">
                <a16:creationId xmlns:a16="http://schemas.microsoft.com/office/drawing/2014/main" id="{BB8C31BF-9ED7-4774-A3A7-1725B83500F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626" y="1133061"/>
            <a:ext cx="8667604" cy="4903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1839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221" y="576904"/>
            <a:ext cx="8505000" cy="432000"/>
          </a:xfrm>
        </p:spPr>
        <p:txBody>
          <a:bodyPr/>
          <a:lstStyle/>
          <a:p>
            <a:pPr algn="ctr"/>
            <a:r>
              <a:rPr lang="tr-TR" dirty="0">
                <a:highlight>
                  <a:srgbClr val="FFFF00"/>
                </a:highlight>
              </a:rPr>
              <a:t>img_viewer.py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950" y="1253932"/>
            <a:ext cx="4500436" cy="4901258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# img_viewer.py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 err="1"/>
              <a:t>import</a:t>
            </a:r>
            <a:r>
              <a:rPr lang="tr-TR" sz="1400" dirty="0"/>
              <a:t> </a:t>
            </a:r>
            <a:r>
              <a:rPr lang="tr-TR" sz="1400" dirty="0" err="1"/>
              <a:t>PySimpleGUI</a:t>
            </a:r>
            <a:r>
              <a:rPr lang="tr-TR" sz="1400" dirty="0"/>
              <a:t> as </a:t>
            </a:r>
            <a:r>
              <a:rPr lang="tr-TR" sz="1400" dirty="0" err="1"/>
              <a:t>sg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 err="1"/>
              <a:t>import</a:t>
            </a:r>
            <a:r>
              <a:rPr lang="tr-TR" sz="1400" dirty="0"/>
              <a:t> </a:t>
            </a:r>
            <a:r>
              <a:rPr lang="tr-TR" sz="1400" dirty="0" err="1"/>
              <a:t>os.path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# First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window</a:t>
            </a:r>
            <a:r>
              <a:rPr lang="tr-TR" sz="1400" dirty="0"/>
              <a:t> </a:t>
            </a:r>
            <a:r>
              <a:rPr lang="tr-TR" sz="1400" dirty="0" err="1"/>
              <a:t>layout</a:t>
            </a:r>
            <a:r>
              <a:rPr lang="tr-TR" sz="1400" dirty="0"/>
              <a:t> in 2 </a:t>
            </a:r>
            <a:r>
              <a:rPr lang="tr-TR" sz="1400" dirty="0" err="1"/>
              <a:t>columns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 err="1"/>
              <a:t>file_list_column</a:t>
            </a:r>
            <a:r>
              <a:rPr lang="tr-TR" sz="1400" dirty="0"/>
              <a:t> = [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[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sg.Text</a:t>
            </a:r>
            <a:r>
              <a:rPr lang="tr-TR" sz="1400" dirty="0"/>
              <a:t>("Image </a:t>
            </a:r>
            <a:r>
              <a:rPr lang="tr-TR" sz="1400" dirty="0" err="1"/>
              <a:t>Folder</a:t>
            </a:r>
            <a:r>
              <a:rPr lang="tr-TR" sz="1400" dirty="0"/>
              <a:t>"),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sg.In</a:t>
            </a:r>
            <a:r>
              <a:rPr lang="tr-TR" sz="1400" dirty="0"/>
              <a:t>(size=(25, 1), </a:t>
            </a:r>
            <a:r>
              <a:rPr lang="tr-TR" sz="1400" dirty="0" err="1"/>
              <a:t>enable_events</a:t>
            </a:r>
            <a:r>
              <a:rPr lang="tr-TR" sz="1400" dirty="0"/>
              <a:t>=True, </a:t>
            </a:r>
            <a:r>
              <a:rPr lang="tr-TR" sz="1400" dirty="0" err="1"/>
              <a:t>key</a:t>
            </a:r>
            <a:r>
              <a:rPr lang="tr-TR" sz="1400" dirty="0"/>
              <a:t>="-FOLDER-"),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sg.FolderBrowse</a:t>
            </a:r>
            <a:r>
              <a:rPr lang="tr-TR" sz="1400" dirty="0"/>
              <a:t>(),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],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[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sg.Listbox</a:t>
            </a:r>
            <a:r>
              <a:rPr lang="tr-TR" sz="1400" dirty="0"/>
              <a:t>(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    </a:t>
            </a:r>
            <a:r>
              <a:rPr lang="tr-TR" sz="1400" dirty="0" err="1"/>
              <a:t>values</a:t>
            </a:r>
            <a:r>
              <a:rPr lang="tr-TR" sz="1400" dirty="0"/>
              <a:t>=[], </a:t>
            </a:r>
            <a:r>
              <a:rPr lang="tr-TR" sz="1400" dirty="0" err="1"/>
              <a:t>enable_events</a:t>
            </a:r>
            <a:r>
              <a:rPr lang="tr-TR" sz="1400" dirty="0"/>
              <a:t>=True, size=(40, 20), </a:t>
            </a:r>
            <a:r>
              <a:rPr lang="tr-TR" sz="1400" dirty="0" err="1"/>
              <a:t>key</a:t>
            </a:r>
            <a:r>
              <a:rPr lang="tr-TR" sz="1400" dirty="0"/>
              <a:t>="-FILE LIST-"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],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]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F097602-930C-4C2C-B2E6-1AAF718EB677}"/>
              </a:ext>
            </a:extLst>
          </p:cNvPr>
          <p:cNvSpPr txBox="1">
            <a:spLocks/>
          </p:cNvSpPr>
          <p:nvPr/>
        </p:nvSpPr>
        <p:spPr>
          <a:xfrm>
            <a:off x="4596081" y="1253932"/>
            <a:ext cx="4500436" cy="4901258"/>
          </a:xfrm>
          <a:prstGeom prst="rect">
            <a:avLst/>
          </a:prstGeo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# Show </a:t>
            </a:r>
            <a:r>
              <a:rPr lang="tr-TR" sz="1400" dirty="0" err="1"/>
              <a:t>only</a:t>
            </a:r>
            <a:r>
              <a:rPr lang="tr-TR" sz="1400" dirty="0"/>
              <a:t> </a:t>
            </a:r>
            <a:r>
              <a:rPr lang="tr-TR" sz="1400" dirty="0" err="1"/>
              <a:t>the</a:t>
            </a:r>
            <a:r>
              <a:rPr lang="tr-TR" sz="1400" dirty="0"/>
              <a:t> name of </a:t>
            </a:r>
            <a:r>
              <a:rPr lang="tr-TR" sz="1400" dirty="0" err="1"/>
              <a:t>the</a:t>
            </a:r>
            <a:r>
              <a:rPr lang="tr-TR" sz="1400" dirty="0"/>
              <a:t> file </a:t>
            </a:r>
            <a:r>
              <a:rPr lang="tr-TR" sz="1400" dirty="0" err="1"/>
              <a:t>that</a:t>
            </a:r>
            <a:r>
              <a:rPr lang="tr-TR" sz="1400" dirty="0"/>
              <a:t> </a:t>
            </a:r>
            <a:r>
              <a:rPr lang="tr-TR" sz="1400" dirty="0" err="1"/>
              <a:t>was</a:t>
            </a:r>
            <a:r>
              <a:rPr lang="tr-TR" sz="1400" dirty="0"/>
              <a:t> </a:t>
            </a:r>
            <a:r>
              <a:rPr lang="tr-TR" sz="1400" dirty="0" err="1"/>
              <a:t>chosen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 err="1"/>
              <a:t>image_viewer_column</a:t>
            </a:r>
            <a:r>
              <a:rPr lang="tr-TR" sz="1400" dirty="0"/>
              <a:t> = [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[</a:t>
            </a:r>
            <a:r>
              <a:rPr lang="tr-TR" sz="1400" dirty="0" err="1"/>
              <a:t>sg.Text</a:t>
            </a:r>
            <a:r>
              <a:rPr lang="tr-TR" sz="1400" dirty="0"/>
              <a:t>("</a:t>
            </a:r>
            <a:r>
              <a:rPr lang="tr-TR" sz="1400" dirty="0" err="1"/>
              <a:t>Choose</a:t>
            </a:r>
            <a:r>
              <a:rPr lang="tr-TR" sz="1400" dirty="0"/>
              <a:t> an </a:t>
            </a:r>
            <a:r>
              <a:rPr lang="tr-TR" sz="1400" dirty="0" err="1"/>
              <a:t>image</a:t>
            </a:r>
            <a:r>
              <a:rPr lang="tr-TR" sz="1400" dirty="0"/>
              <a:t> </a:t>
            </a:r>
            <a:r>
              <a:rPr lang="tr-TR" sz="1400" dirty="0" err="1"/>
              <a:t>from</a:t>
            </a:r>
            <a:r>
              <a:rPr lang="tr-TR" sz="1400" dirty="0"/>
              <a:t> </a:t>
            </a:r>
            <a:r>
              <a:rPr lang="tr-TR" sz="1400" dirty="0" err="1"/>
              <a:t>list</a:t>
            </a:r>
            <a:r>
              <a:rPr lang="tr-TR" sz="1400" dirty="0"/>
              <a:t> on </a:t>
            </a:r>
            <a:r>
              <a:rPr lang="tr-TR" sz="1400" dirty="0" err="1"/>
              <a:t>left</a:t>
            </a:r>
            <a:r>
              <a:rPr lang="tr-TR" sz="1400" dirty="0"/>
              <a:t>:")],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[</a:t>
            </a:r>
            <a:r>
              <a:rPr lang="tr-TR" sz="1400" dirty="0" err="1"/>
              <a:t>sg.Text</a:t>
            </a:r>
            <a:r>
              <a:rPr lang="tr-TR" sz="1400" dirty="0"/>
              <a:t>(size=(40, 1), </a:t>
            </a:r>
            <a:r>
              <a:rPr lang="tr-TR" sz="1400" dirty="0" err="1"/>
              <a:t>key</a:t>
            </a:r>
            <a:r>
              <a:rPr lang="tr-TR" sz="1400" dirty="0"/>
              <a:t>="-TOUT-")],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[</a:t>
            </a:r>
            <a:r>
              <a:rPr lang="tr-TR" sz="1400" dirty="0" err="1"/>
              <a:t>sg.Image</a:t>
            </a:r>
            <a:r>
              <a:rPr lang="tr-TR" sz="1400" dirty="0"/>
              <a:t>(</a:t>
            </a:r>
            <a:r>
              <a:rPr lang="tr-TR" sz="1400" dirty="0" err="1"/>
              <a:t>key</a:t>
            </a:r>
            <a:r>
              <a:rPr lang="tr-TR" sz="1400" dirty="0"/>
              <a:t>="-IMAGE-")],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]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# ----- Full </a:t>
            </a:r>
            <a:r>
              <a:rPr lang="tr-TR" sz="1400" dirty="0" err="1"/>
              <a:t>layout</a:t>
            </a:r>
            <a:r>
              <a:rPr lang="tr-TR" sz="1400" dirty="0"/>
              <a:t> -----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 err="1"/>
              <a:t>layout</a:t>
            </a:r>
            <a:r>
              <a:rPr lang="tr-TR" sz="1400" dirty="0"/>
              <a:t> = [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[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sg.Column</a:t>
            </a:r>
            <a:r>
              <a:rPr lang="tr-TR" sz="1400" dirty="0"/>
              <a:t>(</a:t>
            </a:r>
            <a:r>
              <a:rPr lang="tr-TR" sz="1400" dirty="0" err="1"/>
              <a:t>file_list_column</a:t>
            </a:r>
            <a:r>
              <a:rPr lang="tr-TR" sz="1400" dirty="0"/>
              <a:t>),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sg.VSeperator</a:t>
            </a:r>
            <a:r>
              <a:rPr lang="tr-TR" sz="1400" dirty="0"/>
              <a:t>(),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sg.Column</a:t>
            </a:r>
            <a:r>
              <a:rPr lang="tr-TR" sz="1400" dirty="0"/>
              <a:t>(</a:t>
            </a:r>
            <a:r>
              <a:rPr lang="tr-TR" sz="1400" dirty="0" err="1"/>
              <a:t>image_viewer_column</a:t>
            </a:r>
            <a:r>
              <a:rPr lang="tr-TR" sz="1400" dirty="0"/>
              <a:t>),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]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]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 err="1"/>
              <a:t>window</a:t>
            </a:r>
            <a:r>
              <a:rPr lang="tr-TR" sz="1400" dirty="0"/>
              <a:t> = </a:t>
            </a:r>
            <a:r>
              <a:rPr lang="tr-TR" sz="1400" dirty="0" err="1"/>
              <a:t>sg.Window</a:t>
            </a:r>
            <a:r>
              <a:rPr lang="tr-TR" sz="1400" dirty="0"/>
              <a:t>("Image Viewer", </a:t>
            </a:r>
            <a:r>
              <a:rPr lang="tr-TR" sz="1400" dirty="0" err="1"/>
              <a:t>layout</a:t>
            </a:r>
            <a:r>
              <a:rPr lang="tr-TR" sz="1400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1873264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2940-0B81-46EB-9731-E4072E66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221" y="576904"/>
            <a:ext cx="8505000" cy="432000"/>
          </a:xfrm>
        </p:spPr>
        <p:txBody>
          <a:bodyPr/>
          <a:lstStyle/>
          <a:p>
            <a:pPr algn="ctr"/>
            <a:r>
              <a:rPr lang="tr-TR" dirty="0">
                <a:highlight>
                  <a:srgbClr val="FFFF00"/>
                </a:highlight>
              </a:rPr>
              <a:t>img_viewer.py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F006-3AE7-40AF-AACF-CF4237B8A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950" y="1253932"/>
            <a:ext cx="4500436" cy="4901258"/>
          </a:xfr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/>
          <a:lstStyle/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# Run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Event</a:t>
            </a:r>
            <a:r>
              <a:rPr lang="tr-TR" sz="1400" dirty="0"/>
              <a:t> </a:t>
            </a:r>
            <a:r>
              <a:rPr lang="tr-TR" sz="1400" dirty="0" err="1"/>
              <a:t>Loop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 err="1"/>
              <a:t>while</a:t>
            </a:r>
            <a:r>
              <a:rPr lang="tr-TR" sz="1400" dirty="0"/>
              <a:t> True: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event</a:t>
            </a:r>
            <a:r>
              <a:rPr lang="tr-TR" sz="1400" dirty="0"/>
              <a:t>, </a:t>
            </a:r>
            <a:r>
              <a:rPr lang="tr-TR" sz="1400" dirty="0" err="1"/>
              <a:t>values</a:t>
            </a:r>
            <a:r>
              <a:rPr lang="tr-TR" sz="1400" dirty="0"/>
              <a:t> = </a:t>
            </a:r>
            <a:r>
              <a:rPr lang="tr-TR" sz="1400" dirty="0" err="1"/>
              <a:t>window.read</a:t>
            </a:r>
            <a:r>
              <a:rPr lang="tr-TR" sz="1400" dirty="0"/>
              <a:t>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if</a:t>
            </a:r>
            <a:r>
              <a:rPr lang="tr-TR" sz="1400" dirty="0"/>
              <a:t> </a:t>
            </a:r>
            <a:r>
              <a:rPr lang="tr-TR" sz="1400" dirty="0" err="1"/>
              <a:t>event</a:t>
            </a:r>
            <a:r>
              <a:rPr lang="tr-TR" sz="1400" dirty="0"/>
              <a:t> == "</a:t>
            </a:r>
            <a:r>
              <a:rPr lang="tr-TR" sz="1400" dirty="0" err="1"/>
              <a:t>Exit</a:t>
            </a:r>
            <a:r>
              <a:rPr lang="tr-TR" sz="1400" dirty="0"/>
              <a:t>" </a:t>
            </a:r>
            <a:r>
              <a:rPr lang="tr-TR" sz="1400" dirty="0" err="1"/>
              <a:t>or</a:t>
            </a:r>
            <a:r>
              <a:rPr lang="tr-TR" sz="1400" dirty="0"/>
              <a:t> </a:t>
            </a:r>
            <a:r>
              <a:rPr lang="tr-TR" sz="1400" dirty="0" err="1"/>
              <a:t>event</a:t>
            </a:r>
            <a:r>
              <a:rPr lang="tr-TR" sz="1400" dirty="0"/>
              <a:t> == </a:t>
            </a:r>
            <a:r>
              <a:rPr lang="tr-TR" sz="1400" dirty="0" err="1"/>
              <a:t>sg.WIN_CLOSED</a:t>
            </a:r>
            <a:r>
              <a:rPr lang="tr-TR" sz="1400" dirty="0"/>
              <a:t>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break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# </a:t>
            </a:r>
            <a:r>
              <a:rPr lang="tr-TR" sz="1400" dirty="0" err="1"/>
              <a:t>Folder</a:t>
            </a:r>
            <a:r>
              <a:rPr lang="tr-TR" sz="1400" dirty="0"/>
              <a:t> name </a:t>
            </a:r>
            <a:r>
              <a:rPr lang="tr-TR" sz="1400" dirty="0" err="1"/>
              <a:t>was</a:t>
            </a:r>
            <a:r>
              <a:rPr lang="tr-TR" sz="1400" dirty="0"/>
              <a:t> </a:t>
            </a:r>
            <a:r>
              <a:rPr lang="tr-TR" sz="1400" dirty="0" err="1"/>
              <a:t>filled</a:t>
            </a:r>
            <a:r>
              <a:rPr lang="tr-TR" sz="1400" dirty="0"/>
              <a:t> in, </a:t>
            </a:r>
            <a:r>
              <a:rPr lang="tr-TR" sz="1400" dirty="0" err="1"/>
              <a:t>make</a:t>
            </a:r>
            <a:r>
              <a:rPr lang="tr-TR" sz="1400" dirty="0"/>
              <a:t> a </a:t>
            </a:r>
            <a:r>
              <a:rPr lang="tr-TR" sz="1400" dirty="0" err="1"/>
              <a:t>list</a:t>
            </a:r>
            <a:r>
              <a:rPr lang="tr-TR" sz="1400" dirty="0"/>
              <a:t> of </a:t>
            </a:r>
            <a:r>
              <a:rPr lang="tr-TR" sz="1400" dirty="0" err="1"/>
              <a:t>files</a:t>
            </a:r>
            <a:r>
              <a:rPr lang="tr-TR" sz="1400" dirty="0"/>
              <a:t> in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folder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</a:t>
            </a:r>
            <a:r>
              <a:rPr lang="tr-TR" sz="1400" dirty="0" err="1"/>
              <a:t>if</a:t>
            </a:r>
            <a:r>
              <a:rPr lang="tr-TR" sz="1400" dirty="0"/>
              <a:t> </a:t>
            </a:r>
            <a:r>
              <a:rPr lang="tr-TR" sz="1400" dirty="0" err="1"/>
              <a:t>event</a:t>
            </a:r>
            <a:r>
              <a:rPr lang="tr-TR" sz="1400" dirty="0"/>
              <a:t> == "-FOLDER-":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folder</a:t>
            </a:r>
            <a:r>
              <a:rPr lang="tr-TR" sz="1400" dirty="0"/>
              <a:t> = </a:t>
            </a:r>
            <a:r>
              <a:rPr lang="tr-TR" sz="1400" dirty="0" err="1"/>
              <a:t>values</a:t>
            </a:r>
            <a:r>
              <a:rPr lang="tr-TR" sz="1400" dirty="0"/>
              <a:t>["-FOLDER-"]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try</a:t>
            </a:r>
            <a:r>
              <a:rPr lang="tr-TR" sz="1400" dirty="0"/>
              <a:t>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    # </a:t>
            </a:r>
            <a:r>
              <a:rPr lang="tr-TR" sz="1400" dirty="0" err="1"/>
              <a:t>Get</a:t>
            </a:r>
            <a:r>
              <a:rPr lang="tr-TR" sz="1400" dirty="0"/>
              <a:t> </a:t>
            </a:r>
            <a:r>
              <a:rPr lang="tr-TR" sz="1400" dirty="0" err="1"/>
              <a:t>list</a:t>
            </a:r>
            <a:r>
              <a:rPr lang="tr-TR" sz="1400" dirty="0"/>
              <a:t> of </a:t>
            </a:r>
            <a:r>
              <a:rPr lang="tr-TR" sz="1400" dirty="0" err="1"/>
              <a:t>files</a:t>
            </a:r>
            <a:r>
              <a:rPr lang="tr-TR" sz="1400" dirty="0"/>
              <a:t> in </a:t>
            </a:r>
            <a:r>
              <a:rPr lang="tr-TR" sz="1400" dirty="0" err="1"/>
              <a:t>folder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    </a:t>
            </a:r>
            <a:r>
              <a:rPr lang="tr-TR" sz="1400" dirty="0" err="1"/>
              <a:t>file_list</a:t>
            </a:r>
            <a:r>
              <a:rPr lang="tr-TR" sz="1400" dirty="0"/>
              <a:t> = </a:t>
            </a:r>
            <a:r>
              <a:rPr lang="tr-TR" sz="1400" dirty="0" err="1"/>
              <a:t>os.listdir</a:t>
            </a:r>
            <a:r>
              <a:rPr lang="tr-TR" sz="1400" dirty="0"/>
              <a:t>(</a:t>
            </a:r>
            <a:r>
              <a:rPr lang="tr-TR" sz="1400" dirty="0" err="1"/>
              <a:t>folder</a:t>
            </a:r>
            <a:r>
              <a:rPr lang="tr-TR" sz="1400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except</a:t>
            </a:r>
            <a:r>
              <a:rPr lang="tr-TR" sz="1400" dirty="0"/>
              <a:t>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    </a:t>
            </a:r>
            <a:r>
              <a:rPr lang="tr-TR" sz="1400" dirty="0" err="1"/>
              <a:t>file_list</a:t>
            </a:r>
            <a:r>
              <a:rPr lang="tr-TR" sz="1400" dirty="0"/>
              <a:t> = []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fnames</a:t>
            </a:r>
            <a:r>
              <a:rPr lang="tr-TR" sz="1400" dirty="0"/>
              <a:t> = [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    f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    </a:t>
            </a:r>
            <a:r>
              <a:rPr lang="tr-TR" sz="1400" dirty="0" err="1"/>
              <a:t>for</a:t>
            </a:r>
            <a:r>
              <a:rPr lang="tr-TR" sz="1400" dirty="0"/>
              <a:t> f in </a:t>
            </a:r>
            <a:r>
              <a:rPr lang="tr-TR" sz="1400" dirty="0" err="1"/>
              <a:t>file_list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    </a:t>
            </a:r>
            <a:r>
              <a:rPr lang="tr-TR" sz="1400" dirty="0" err="1"/>
              <a:t>if</a:t>
            </a:r>
            <a:r>
              <a:rPr lang="tr-TR" sz="1400" dirty="0"/>
              <a:t> </a:t>
            </a:r>
            <a:r>
              <a:rPr lang="tr-TR" sz="1400" dirty="0" err="1"/>
              <a:t>os.path.isfile</a:t>
            </a:r>
            <a:r>
              <a:rPr lang="tr-TR" sz="1400" dirty="0"/>
              <a:t>(</a:t>
            </a:r>
            <a:r>
              <a:rPr lang="tr-TR" sz="1400" dirty="0" err="1"/>
              <a:t>os.path.join</a:t>
            </a:r>
            <a:r>
              <a:rPr lang="tr-TR" sz="1400" dirty="0"/>
              <a:t>(</a:t>
            </a:r>
            <a:r>
              <a:rPr lang="tr-TR" sz="1400" dirty="0" err="1"/>
              <a:t>folder</a:t>
            </a:r>
            <a:r>
              <a:rPr lang="tr-TR" sz="1400" dirty="0"/>
              <a:t>, f))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    </a:t>
            </a:r>
            <a:r>
              <a:rPr lang="tr-TR" sz="1400" dirty="0" err="1"/>
              <a:t>and</a:t>
            </a:r>
            <a:r>
              <a:rPr lang="tr-TR" sz="1400" dirty="0"/>
              <a:t> </a:t>
            </a:r>
            <a:r>
              <a:rPr lang="tr-TR" sz="1400" dirty="0" err="1"/>
              <a:t>f.lower</a:t>
            </a:r>
            <a:r>
              <a:rPr lang="tr-TR" sz="1400" dirty="0"/>
              <a:t>().</a:t>
            </a:r>
            <a:r>
              <a:rPr lang="tr-TR" sz="1400" dirty="0" err="1"/>
              <a:t>endswith</a:t>
            </a:r>
            <a:r>
              <a:rPr lang="tr-TR" sz="1400" dirty="0"/>
              <a:t>((".</a:t>
            </a:r>
            <a:r>
              <a:rPr lang="tr-TR" sz="1400" dirty="0" err="1"/>
              <a:t>png</a:t>
            </a:r>
            <a:r>
              <a:rPr lang="tr-TR" sz="1400" dirty="0"/>
              <a:t>", ".</a:t>
            </a:r>
            <a:r>
              <a:rPr lang="tr-TR" sz="1400" dirty="0" err="1"/>
              <a:t>gif</a:t>
            </a:r>
            <a:r>
              <a:rPr lang="tr-TR" sz="1400" dirty="0"/>
              <a:t>"))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]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window</a:t>
            </a:r>
            <a:r>
              <a:rPr lang="tr-TR" sz="1400" dirty="0"/>
              <a:t>["-FILE LIST-"].</a:t>
            </a:r>
            <a:r>
              <a:rPr lang="tr-TR" sz="1400" dirty="0" err="1"/>
              <a:t>update</a:t>
            </a:r>
            <a:r>
              <a:rPr lang="tr-TR" sz="1400" dirty="0"/>
              <a:t>(</a:t>
            </a:r>
            <a:r>
              <a:rPr lang="tr-TR" sz="1400" dirty="0" err="1"/>
              <a:t>fnames</a:t>
            </a:r>
            <a:r>
              <a:rPr lang="tr-TR" sz="1400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A2764-DC80-4EC1-9141-7951B471E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F097602-930C-4C2C-B2E6-1AAF718EB677}"/>
              </a:ext>
            </a:extLst>
          </p:cNvPr>
          <p:cNvSpPr txBox="1">
            <a:spLocks/>
          </p:cNvSpPr>
          <p:nvPr/>
        </p:nvSpPr>
        <p:spPr>
          <a:xfrm>
            <a:off x="4596081" y="1253932"/>
            <a:ext cx="4500436" cy="4901258"/>
          </a:xfrm>
          <a:prstGeom prst="rect">
            <a:avLst/>
          </a:prstGeom>
          <a:solidFill>
            <a:schemeClr val="accent4">
              <a:lumMod val="40000"/>
              <a:lumOff val="60000"/>
              <a:alpha val="80000"/>
            </a:schemeClr>
          </a:solidFill>
        </p:spPr>
        <p:txBody>
          <a:bodyPr vert="horz" lIns="0" tIns="0" rIns="0" bIns="0" rtlCol="0">
            <a:noAutofit/>
          </a:bodyPr>
          <a:lstStyle>
            <a:lvl1pPr marL="200025" indent="-200025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7194" indent="-207169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0721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7244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07269" indent="-20002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elif </a:t>
            </a:r>
            <a:r>
              <a:rPr lang="tr-TR" sz="1400" dirty="0" err="1"/>
              <a:t>event</a:t>
            </a:r>
            <a:r>
              <a:rPr lang="tr-TR" sz="1400" dirty="0"/>
              <a:t> == "-FILE LIST-":  # A file </a:t>
            </a:r>
            <a:r>
              <a:rPr lang="tr-TR" sz="1400" dirty="0" err="1"/>
              <a:t>was</a:t>
            </a:r>
            <a:r>
              <a:rPr lang="tr-TR" sz="1400" dirty="0"/>
              <a:t> </a:t>
            </a:r>
            <a:r>
              <a:rPr lang="tr-TR" sz="1400" dirty="0" err="1"/>
              <a:t>chosen</a:t>
            </a:r>
            <a:r>
              <a:rPr lang="tr-TR" sz="1400" dirty="0"/>
              <a:t> </a:t>
            </a:r>
            <a:r>
              <a:rPr lang="tr-TR" sz="1400" dirty="0" err="1"/>
              <a:t>from</a:t>
            </a:r>
            <a:r>
              <a:rPr lang="tr-TR" sz="1400" dirty="0"/>
              <a:t> </a:t>
            </a:r>
            <a:r>
              <a:rPr lang="tr-TR" sz="1400" dirty="0" err="1"/>
              <a:t>the</a:t>
            </a:r>
            <a:r>
              <a:rPr lang="tr-TR" sz="1400" dirty="0"/>
              <a:t> </a:t>
            </a:r>
            <a:r>
              <a:rPr lang="tr-TR" sz="1400" dirty="0" err="1"/>
              <a:t>listbox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try</a:t>
            </a:r>
            <a:r>
              <a:rPr lang="tr-TR" sz="1400" dirty="0"/>
              <a:t>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    </a:t>
            </a:r>
            <a:r>
              <a:rPr lang="tr-TR" sz="1400" dirty="0" err="1"/>
              <a:t>filename</a:t>
            </a:r>
            <a:r>
              <a:rPr lang="tr-TR" sz="1400" dirty="0"/>
              <a:t> = </a:t>
            </a:r>
            <a:r>
              <a:rPr lang="tr-TR" sz="1400" dirty="0" err="1"/>
              <a:t>os.path.join</a:t>
            </a:r>
            <a:r>
              <a:rPr lang="tr-TR" sz="1400" dirty="0"/>
              <a:t>(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        </a:t>
            </a:r>
            <a:r>
              <a:rPr lang="tr-TR" sz="1400" dirty="0" err="1"/>
              <a:t>values</a:t>
            </a:r>
            <a:r>
              <a:rPr lang="tr-TR" sz="1400" dirty="0"/>
              <a:t>["-FOLDER-"], </a:t>
            </a:r>
            <a:r>
              <a:rPr lang="tr-TR" sz="1400" dirty="0" err="1"/>
              <a:t>values</a:t>
            </a:r>
            <a:r>
              <a:rPr lang="tr-TR" sz="1400" dirty="0"/>
              <a:t>["-FILE LIST-"][0]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    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    </a:t>
            </a:r>
            <a:r>
              <a:rPr lang="tr-TR" sz="1400" dirty="0" err="1"/>
              <a:t>window</a:t>
            </a:r>
            <a:r>
              <a:rPr lang="tr-TR" sz="1400" dirty="0"/>
              <a:t>["-TOUT-"].</a:t>
            </a:r>
            <a:r>
              <a:rPr lang="tr-TR" sz="1400" dirty="0" err="1"/>
              <a:t>update</a:t>
            </a:r>
            <a:r>
              <a:rPr lang="tr-TR" sz="1400" dirty="0"/>
              <a:t>(</a:t>
            </a:r>
            <a:r>
              <a:rPr lang="tr-TR" sz="1400" dirty="0" err="1"/>
              <a:t>filename</a:t>
            </a:r>
            <a:r>
              <a:rPr lang="tr-TR" sz="1400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    </a:t>
            </a:r>
            <a:r>
              <a:rPr lang="tr-TR" sz="1400" dirty="0" err="1"/>
              <a:t>window</a:t>
            </a:r>
            <a:r>
              <a:rPr lang="tr-TR" sz="1400" dirty="0"/>
              <a:t>["-IMAGE-"].</a:t>
            </a:r>
            <a:r>
              <a:rPr lang="tr-TR" sz="1400" dirty="0" err="1"/>
              <a:t>update</a:t>
            </a:r>
            <a:r>
              <a:rPr lang="tr-TR" sz="1400" dirty="0"/>
              <a:t>(</a:t>
            </a:r>
            <a:r>
              <a:rPr lang="tr-TR" sz="1400" dirty="0" err="1"/>
              <a:t>filename</a:t>
            </a:r>
            <a:r>
              <a:rPr lang="tr-TR" sz="1400" dirty="0"/>
              <a:t>=</a:t>
            </a:r>
            <a:r>
              <a:rPr lang="tr-TR" sz="1400" dirty="0" err="1"/>
              <a:t>filename</a:t>
            </a:r>
            <a:r>
              <a:rPr lang="tr-TR" sz="1400" dirty="0"/>
              <a:t>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</a:t>
            </a:r>
            <a:r>
              <a:rPr lang="tr-TR" sz="1400" dirty="0" err="1"/>
              <a:t>except</a:t>
            </a:r>
            <a:r>
              <a:rPr lang="tr-TR" sz="1400" dirty="0"/>
              <a:t>: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/>
              <a:t>            </a:t>
            </a:r>
            <a:r>
              <a:rPr lang="tr-TR" sz="1400" dirty="0" err="1"/>
              <a:t>pass</a:t>
            </a: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endParaRPr lang="tr-TR" sz="1400" dirty="0"/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tr-TR" sz="1400" dirty="0" err="1"/>
              <a:t>window.close</a:t>
            </a:r>
            <a:r>
              <a:rPr lang="tr-TR" sz="1400" dirty="0"/>
              <a:t>()</a:t>
            </a:r>
          </a:p>
          <a:p>
            <a:pPr marL="207169" lvl="1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2668911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736BC779-D20C-4B80-8531-536B2650B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21" y="1534937"/>
            <a:ext cx="4562062" cy="3949315"/>
          </a:xfrm>
        </p:spPr>
        <p:txBody>
          <a:bodyPr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import </a:t>
            </a:r>
            <a:r>
              <a:rPr lang="en-US" sz="1400" dirty="0" err="1"/>
              <a:t>PySimpleGUI</a:t>
            </a:r>
            <a:r>
              <a:rPr lang="en-US" sz="1400" dirty="0"/>
              <a:t> as sg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import </a:t>
            </a:r>
            <a:r>
              <a:rPr lang="en-US" sz="1400" dirty="0" err="1"/>
              <a:t>os.path</a:t>
            </a:r>
            <a:endParaRPr lang="en-US" sz="1400" dirty="0"/>
          </a:p>
        </p:txBody>
      </p:sp>
      <p:sp>
        <p:nvSpPr>
          <p:cNvPr id="3" name="Başlık 2">
            <a:extLst>
              <a:ext uri="{FF2B5EF4-FFF2-40B4-BE49-F238E27FC236}">
                <a16:creationId xmlns:a16="http://schemas.microsoft.com/office/drawing/2014/main" id="{86FDDBE8-CEF5-4AF3-8F66-AB6BBEFA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Source </a:t>
            </a:r>
            <a:r>
              <a:rPr lang="tr-TR" dirty="0" err="1"/>
              <a:t>code</a:t>
            </a:r>
            <a:r>
              <a:rPr lang="tr-TR" dirty="0"/>
              <a:t> part-1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8FF4592-97B3-47C9-97A4-BC7649A1F6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6" name="Metin Yer Tutucusu 5">
            <a:extLst>
              <a:ext uri="{FF2B5EF4-FFF2-40B4-BE49-F238E27FC236}">
                <a16:creationId xmlns:a16="http://schemas.microsoft.com/office/drawing/2014/main" id="{BB26A319-21AB-48E6-A11A-A3EE10109D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1292087"/>
            <a:ext cx="2213372" cy="4540389"/>
          </a:xfrm>
        </p:spPr>
        <p:txBody>
          <a:bodyPr/>
          <a:lstStyle/>
          <a:p>
            <a:endParaRPr lang="tr-TR" dirty="0"/>
          </a:p>
          <a:p>
            <a:r>
              <a:rPr lang="en-US" dirty="0"/>
              <a:t>import module</a:t>
            </a:r>
            <a:r>
              <a:rPr lang="tr-TR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97136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736BC779-D20C-4B80-8531-536B2650B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1191" y="1480931"/>
            <a:ext cx="5108711" cy="4008950"/>
          </a:xfrm>
        </p:spPr>
        <p:txBody>
          <a:bodyPr lIns="72000" tIns="72000" anchor="t" anchorCtr="0"/>
          <a:lstStyle/>
          <a:p>
            <a:r>
              <a:rPr lang="tr-TR" sz="1400" dirty="0" err="1"/>
              <a:t>file_list_column</a:t>
            </a:r>
            <a:r>
              <a:rPr lang="tr-TR" sz="1400" dirty="0"/>
              <a:t> = [</a:t>
            </a:r>
          </a:p>
          <a:p>
            <a:r>
              <a:rPr lang="tr-TR" sz="1400" dirty="0"/>
              <a:t>    [</a:t>
            </a:r>
          </a:p>
          <a:p>
            <a:r>
              <a:rPr lang="tr-TR" sz="1400" dirty="0"/>
              <a:t>        </a:t>
            </a:r>
            <a:r>
              <a:rPr lang="tr-TR" sz="1400" dirty="0" err="1"/>
              <a:t>sg.Text</a:t>
            </a:r>
            <a:r>
              <a:rPr lang="tr-TR" sz="1400" dirty="0"/>
              <a:t>("Image </a:t>
            </a:r>
            <a:r>
              <a:rPr lang="tr-TR" sz="1400" dirty="0" err="1"/>
              <a:t>Folder</a:t>
            </a:r>
            <a:r>
              <a:rPr lang="tr-TR" sz="1400" dirty="0"/>
              <a:t>"),</a:t>
            </a:r>
          </a:p>
          <a:p>
            <a:r>
              <a:rPr lang="tr-TR" sz="1400" dirty="0"/>
              <a:t>        </a:t>
            </a:r>
            <a:r>
              <a:rPr lang="tr-TR" sz="1400" dirty="0" err="1"/>
              <a:t>sg.In</a:t>
            </a:r>
            <a:r>
              <a:rPr lang="tr-TR" sz="1400" dirty="0"/>
              <a:t>(size=(25, 1), </a:t>
            </a:r>
            <a:r>
              <a:rPr lang="tr-TR" sz="1400" dirty="0" err="1"/>
              <a:t>enable_events</a:t>
            </a:r>
            <a:r>
              <a:rPr lang="tr-TR" sz="1400" dirty="0"/>
              <a:t>=True, </a:t>
            </a:r>
            <a:r>
              <a:rPr lang="tr-TR" sz="1400" dirty="0" err="1"/>
              <a:t>key</a:t>
            </a:r>
            <a:r>
              <a:rPr lang="tr-TR" sz="1400" dirty="0"/>
              <a:t>="-FOLDER-"),</a:t>
            </a:r>
          </a:p>
          <a:p>
            <a:r>
              <a:rPr lang="tr-TR" sz="1400" dirty="0"/>
              <a:t>        </a:t>
            </a:r>
            <a:r>
              <a:rPr lang="tr-TR" sz="1400" dirty="0" err="1"/>
              <a:t>sg.FolderBrowse</a:t>
            </a:r>
            <a:r>
              <a:rPr lang="tr-TR" sz="1400" dirty="0"/>
              <a:t>(),</a:t>
            </a:r>
          </a:p>
          <a:p>
            <a:r>
              <a:rPr lang="tr-TR" sz="1400" dirty="0"/>
              <a:t>    ],</a:t>
            </a:r>
          </a:p>
          <a:p>
            <a:r>
              <a:rPr lang="tr-TR" sz="1400" dirty="0"/>
              <a:t>    [</a:t>
            </a:r>
          </a:p>
          <a:p>
            <a:r>
              <a:rPr lang="tr-TR" sz="1400" dirty="0"/>
              <a:t>        </a:t>
            </a:r>
            <a:r>
              <a:rPr lang="tr-TR" sz="1400" dirty="0" err="1"/>
              <a:t>sg.Listbox</a:t>
            </a:r>
            <a:r>
              <a:rPr lang="tr-TR" sz="1400" dirty="0"/>
              <a:t>(</a:t>
            </a:r>
          </a:p>
          <a:p>
            <a:r>
              <a:rPr lang="tr-TR" sz="1400" dirty="0"/>
              <a:t>            </a:t>
            </a:r>
            <a:r>
              <a:rPr lang="tr-TR" sz="1400" dirty="0" err="1"/>
              <a:t>values</a:t>
            </a:r>
            <a:r>
              <a:rPr lang="tr-TR" sz="1400" dirty="0"/>
              <a:t>=[], </a:t>
            </a:r>
            <a:r>
              <a:rPr lang="tr-TR" sz="1400" dirty="0" err="1"/>
              <a:t>enable_events</a:t>
            </a:r>
            <a:r>
              <a:rPr lang="tr-TR" sz="1400" dirty="0"/>
              <a:t>=True, size=(40, 20), </a:t>
            </a:r>
            <a:r>
              <a:rPr lang="tr-TR" sz="1400" dirty="0" err="1"/>
              <a:t>key</a:t>
            </a:r>
            <a:r>
              <a:rPr lang="tr-TR" sz="1400" dirty="0"/>
              <a:t>="-FILE LIST-"</a:t>
            </a:r>
          </a:p>
          <a:p>
            <a:r>
              <a:rPr lang="tr-TR" sz="1400" dirty="0"/>
              <a:t>        )</a:t>
            </a:r>
          </a:p>
          <a:p>
            <a:r>
              <a:rPr lang="tr-TR" sz="1400" dirty="0"/>
              <a:t>    ],</a:t>
            </a:r>
          </a:p>
          <a:p>
            <a:r>
              <a:rPr lang="tr-TR" sz="1400" dirty="0"/>
              <a:t>]</a:t>
            </a:r>
          </a:p>
        </p:txBody>
      </p:sp>
      <p:sp>
        <p:nvSpPr>
          <p:cNvPr id="3" name="Başlık 2">
            <a:extLst>
              <a:ext uri="{FF2B5EF4-FFF2-40B4-BE49-F238E27FC236}">
                <a16:creationId xmlns:a16="http://schemas.microsoft.com/office/drawing/2014/main" id="{86FDDBE8-CEF5-4AF3-8F66-AB6BBEFA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Source </a:t>
            </a:r>
            <a:r>
              <a:rPr lang="tr-TR" dirty="0" err="1"/>
              <a:t>code</a:t>
            </a:r>
            <a:r>
              <a:rPr lang="tr-TR" dirty="0"/>
              <a:t> part-2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8FF4592-97B3-47C9-97A4-BC7649A1F6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6" name="Metin Yer Tutucusu 5">
            <a:extLst>
              <a:ext uri="{FF2B5EF4-FFF2-40B4-BE49-F238E27FC236}">
                <a16:creationId xmlns:a16="http://schemas.microsoft.com/office/drawing/2014/main" id="{BB26A319-21AB-48E6-A11A-A3EE10109D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4000" y="858622"/>
            <a:ext cx="2213372" cy="1341783"/>
          </a:xfrm>
        </p:spPr>
        <p:txBody>
          <a:bodyPr/>
          <a:lstStyle/>
          <a:p>
            <a:endParaRPr lang="tr-TR" dirty="0"/>
          </a:p>
          <a:p>
            <a:r>
              <a:rPr lang="en-US" dirty="0"/>
              <a:t>create </a:t>
            </a:r>
            <a:endParaRPr lang="tr-TR" dirty="0"/>
          </a:p>
          <a:p>
            <a:r>
              <a:rPr lang="en-US" dirty="0"/>
              <a:t>a nested list of elements that </a:t>
            </a:r>
            <a:endParaRPr lang="tr-TR" dirty="0"/>
          </a:p>
          <a:p>
            <a:r>
              <a:rPr lang="en-US" dirty="0"/>
              <a:t>represent a vertical column of the user interface</a:t>
            </a:r>
            <a:endParaRPr lang="tr-TR" dirty="0"/>
          </a:p>
        </p:txBody>
      </p:sp>
      <p:sp>
        <p:nvSpPr>
          <p:cNvPr id="8" name="Açıklama Balonu: Vurgu Çubuğuyla Çizgi 7">
            <a:extLst>
              <a:ext uri="{FF2B5EF4-FFF2-40B4-BE49-F238E27FC236}">
                <a16:creationId xmlns:a16="http://schemas.microsoft.com/office/drawing/2014/main" id="{F08E55FD-979A-40B7-A910-CD53ADB1B145}"/>
              </a:ext>
            </a:extLst>
          </p:cNvPr>
          <p:cNvSpPr/>
          <p:nvPr/>
        </p:nvSpPr>
        <p:spPr>
          <a:xfrm>
            <a:off x="7727370" y="2765242"/>
            <a:ext cx="1416630" cy="829417"/>
          </a:xfrm>
          <a:prstGeom prst="accentCallout1">
            <a:avLst>
              <a:gd name="adj1" fmla="val 18750"/>
              <a:gd name="adj2" fmla="val -8333"/>
              <a:gd name="adj3" fmla="val 101174"/>
              <a:gd name="adj4" fmla="val -254152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</a:t>
            </a:r>
            <a:r>
              <a:rPr lang="en-US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Listbox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() element will display a list of paths to the images that you can then choose from to display. </a:t>
            </a:r>
          </a:p>
        </p:txBody>
      </p:sp>
      <p:sp>
        <p:nvSpPr>
          <p:cNvPr id="9" name="Açıklama Balonu: Vurgu Çubuğuyla Çizgi 8">
            <a:extLst>
              <a:ext uri="{FF2B5EF4-FFF2-40B4-BE49-F238E27FC236}">
                <a16:creationId xmlns:a16="http://schemas.microsoft.com/office/drawing/2014/main" id="{48ECBE42-F918-4839-8EE9-CF51A9E0FE80}"/>
              </a:ext>
            </a:extLst>
          </p:cNvPr>
          <p:cNvSpPr/>
          <p:nvPr/>
        </p:nvSpPr>
        <p:spPr>
          <a:xfrm>
            <a:off x="5599136" y="229226"/>
            <a:ext cx="1416630" cy="740466"/>
          </a:xfrm>
          <a:prstGeom prst="accentCallout1">
            <a:avLst>
              <a:gd name="adj1" fmla="val 18750"/>
              <a:gd name="adj2" fmla="val -8333"/>
              <a:gd name="adj3" fmla="val 288043"/>
              <a:gd name="adj4" fmla="val 55255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key parameter to identify a specific element in </a:t>
            </a:r>
            <a:r>
              <a:rPr lang="tr-TR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GUI</a:t>
            </a:r>
          </a:p>
        </p:txBody>
      </p:sp>
      <p:sp>
        <p:nvSpPr>
          <p:cNvPr id="10" name="Açıklama Balonu: Vurgu Çubuğuyla Çizgi 9">
            <a:extLst>
              <a:ext uri="{FF2B5EF4-FFF2-40B4-BE49-F238E27FC236}">
                <a16:creationId xmlns:a16="http://schemas.microsoft.com/office/drawing/2014/main" id="{1E72744E-D4CF-4830-949A-E880C77D21DA}"/>
              </a:ext>
            </a:extLst>
          </p:cNvPr>
          <p:cNvSpPr/>
          <p:nvPr/>
        </p:nvSpPr>
        <p:spPr>
          <a:xfrm>
            <a:off x="7727370" y="293550"/>
            <a:ext cx="1416630" cy="1152939"/>
          </a:xfrm>
          <a:prstGeom prst="accentCallout1">
            <a:avLst>
              <a:gd name="adj1" fmla="val 18750"/>
              <a:gd name="adj2" fmla="val -8333"/>
              <a:gd name="adj3" fmla="val 188230"/>
              <a:gd name="adj4" fmla="val -54194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 the In() input text control, you give it an identity of "-FOLDER-". You’ll use this later to access the contents of the element. </a:t>
            </a:r>
          </a:p>
        </p:txBody>
      </p:sp>
      <p:sp>
        <p:nvSpPr>
          <p:cNvPr id="11" name="Açıklama Balonu: Vurgu Çubuğuyla Çizgi 10">
            <a:extLst>
              <a:ext uri="{FF2B5EF4-FFF2-40B4-BE49-F238E27FC236}">
                <a16:creationId xmlns:a16="http://schemas.microsoft.com/office/drawing/2014/main" id="{44742D81-B08B-4166-B739-E9253A2C51A3}"/>
              </a:ext>
            </a:extLst>
          </p:cNvPr>
          <p:cNvSpPr/>
          <p:nvPr/>
        </p:nvSpPr>
        <p:spPr>
          <a:xfrm>
            <a:off x="440075" y="2912165"/>
            <a:ext cx="1981221" cy="816122"/>
          </a:xfrm>
          <a:prstGeom prst="accentCallout1">
            <a:avLst>
              <a:gd name="adj1" fmla="val 18750"/>
              <a:gd name="adj2" fmla="val -8333"/>
              <a:gd name="adj3" fmla="val 124464"/>
              <a:gd name="adj4" fmla="val 160948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When </a:t>
            </a:r>
            <a:r>
              <a:rPr lang="tr-TR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</a:t>
            </a:r>
            <a:r>
              <a:rPr lang="tr-T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first load up </a:t>
            </a:r>
            <a:r>
              <a:rPr lang="tr-TR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user interface, </a:t>
            </a:r>
            <a:r>
              <a:rPr lang="tr-T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set 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</a:t>
            </a:r>
            <a:r>
              <a:rPr lang="en-US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Listbox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() to be empty, so pass it an empty list. </a:t>
            </a:r>
          </a:p>
        </p:txBody>
      </p:sp>
      <p:sp>
        <p:nvSpPr>
          <p:cNvPr id="12" name="Açıklama Balonu: Vurgu Çubuğuyla Çizgi 11">
            <a:extLst>
              <a:ext uri="{FF2B5EF4-FFF2-40B4-BE49-F238E27FC236}">
                <a16:creationId xmlns:a16="http://schemas.microsoft.com/office/drawing/2014/main" id="{41152CC8-9A51-4F74-8752-9DB589907807}"/>
              </a:ext>
            </a:extLst>
          </p:cNvPr>
          <p:cNvSpPr/>
          <p:nvPr/>
        </p:nvSpPr>
        <p:spPr>
          <a:xfrm>
            <a:off x="3385764" y="126196"/>
            <a:ext cx="1416630" cy="1043608"/>
          </a:xfrm>
          <a:prstGeom prst="accentCallout1">
            <a:avLst>
              <a:gd name="adj1" fmla="val 18750"/>
              <a:gd name="adj2" fmla="val -8333"/>
              <a:gd name="adj3" fmla="val 220316"/>
              <a:gd name="adj4" fmla="val 164004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turn events on or off for each element via the </a:t>
            </a:r>
            <a:r>
              <a:rPr lang="en-US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enable_events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parameter.</a:t>
            </a:r>
          </a:p>
        </p:txBody>
      </p:sp>
      <p:sp>
        <p:nvSpPr>
          <p:cNvPr id="13" name="Açıklama Balonu: Vurgu Çubuğuyla Çizgi 12">
            <a:extLst>
              <a:ext uri="{FF2B5EF4-FFF2-40B4-BE49-F238E27FC236}">
                <a16:creationId xmlns:a16="http://schemas.microsoft.com/office/drawing/2014/main" id="{993432CF-9842-418F-86F7-307F35BD82D4}"/>
              </a:ext>
            </a:extLst>
          </p:cNvPr>
          <p:cNvSpPr/>
          <p:nvPr/>
        </p:nvSpPr>
        <p:spPr>
          <a:xfrm>
            <a:off x="6150593" y="4874959"/>
            <a:ext cx="989300" cy="719473"/>
          </a:xfrm>
          <a:prstGeom prst="accentCallout1">
            <a:avLst>
              <a:gd name="adj1" fmla="val 18750"/>
              <a:gd name="adj2" fmla="val -8333"/>
              <a:gd name="adj3" fmla="val -111619"/>
              <a:gd name="adj4" fmla="val -5648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set size</a:t>
            </a:r>
            <a:r>
              <a:rPr lang="tr-T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of 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this element</a:t>
            </a:r>
          </a:p>
        </p:txBody>
      </p:sp>
      <p:sp>
        <p:nvSpPr>
          <p:cNvPr id="14" name="Açıklama Balonu: Vurgu Çubuğuyla Çizgi 13">
            <a:extLst>
              <a:ext uri="{FF2B5EF4-FFF2-40B4-BE49-F238E27FC236}">
                <a16:creationId xmlns:a16="http://schemas.microsoft.com/office/drawing/2014/main" id="{7B4E1F23-B371-4506-815A-723025E4BFAA}"/>
              </a:ext>
            </a:extLst>
          </p:cNvPr>
          <p:cNvSpPr/>
          <p:nvPr/>
        </p:nvSpPr>
        <p:spPr>
          <a:xfrm>
            <a:off x="440075" y="4553001"/>
            <a:ext cx="1564032" cy="936880"/>
          </a:xfrm>
          <a:prstGeom prst="accentCallout1">
            <a:avLst>
              <a:gd name="adj1" fmla="val 18750"/>
              <a:gd name="adj2" fmla="val -8333"/>
              <a:gd name="adj3" fmla="val -48558"/>
              <a:gd name="adj4" fmla="val 199563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prefill the </a:t>
            </a:r>
            <a:r>
              <a:rPr lang="en-US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Listbox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() with values by passing in a list of strings.</a:t>
            </a:r>
          </a:p>
        </p:txBody>
      </p:sp>
      <p:sp>
        <p:nvSpPr>
          <p:cNvPr id="15" name="Açıklama Balonu: Vurgu Çubuğuyla Çizgi 14">
            <a:extLst>
              <a:ext uri="{FF2B5EF4-FFF2-40B4-BE49-F238E27FC236}">
                <a16:creationId xmlns:a16="http://schemas.microsoft.com/office/drawing/2014/main" id="{E5DAA2B1-0F40-440A-9920-361D92F92E89}"/>
              </a:ext>
            </a:extLst>
          </p:cNvPr>
          <p:cNvSpPr/>
          <p:nvPr/>
        </p:nvSpPr>
        <p:spPr>
          <a:xfrm>
            <a:off x="4572000" y="4874959"/>
            <a:ext cx="1139541" cy="719473"/>
          </a:xfrm>
          <a:prstGeom prst="accentCallout1">
            <a:avLst>
              <a:gd name="adj1" fmla="val 18750"/>
              <a:gd name="adj2" fmla="val -8333"/>
              <a:gd name="adj3" fmla="val -108856"/>
              <a:gd name="adj4" fmla="val 58340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You turn on events for this element</a:t>
            </a:r>
          </a:p>
        </p:txBody>
      </p:sp>
      <p:sp>
        <p:nvSpPr>
          <p:cNvPr id="16" name="Açıklama Balonu: Vurgu Çubuğuyla Çizgi 15">
            <a:extLst>
              <a:ext uri="{FF2B5EF4-FFF2-40B4-BE49-F238E27FC236}">
                <a16:creationId xmlns:a16="http://schemas.microsoft.com/office/drawing/2014/main" id="{1598D83C-0099-4CC6-8A40-2EADFE5EBD2C}"/>
              </a:ext>
            </a:extLst>
          </p:cNvPr>
          <p:cNvSpPr/>
          <p:nvPr/>
        </p:nvSpPr>
        <p:spPr>
          <a:xfrm>
            <a:off x="7687635" y="4945069"/>
            <a:ext cx="1416630" cy="579254"/>
          </a:xfrm>
          <a:prstGeom prst="accentCallout1">
            <a:avLst>
              <a:gd name="adj1" fmla="val 18750"/>
              <a:gd name="adj2" fmla="val -8333"/>
              <a:gd name="adj3" fmla="val -100567"/>
              <a:gd name="adj4" fmla="val 26501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give a unique identifier </a:t>
            </a:r>
            <a:r>
              <a:rPr lang="tr-TR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</a:t>
            </a:r>
            <a:r>
              <a:rPr lang="tr-T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this element,</a:t>
            </a:r>
          </a:p>
        </p:txBody>
      </p:sp>
    </p:spTree>
    <p:extLst>
      <p:ext uri="{BB962C8B-B14F-4D97-AF65-F5344CB8AC3E}">
        <p14:creationId xmlns:p14="http://schemas.microsoft.com/office/powerpoint/2010/main" val="2742265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736BC779-D20C-4B80-8531-536B2650B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1191" y="1480931"/>
            <a:ext cx="5108711" cy="4008950"/>
          </a:xfrm>
        </p:spPr>
        <p:txBody>
          <a:bodyPr lIns="72000" tIns="72000" anchor="t" anchorCtr="0"/>
          <a:lstStyle/>
          <a:p>
            <a:r>
              <a:rPr lang="en-US" sz="1400" dirty="0"/>
              <a:t># For now will only show the name of the file that was chosen</a:t>
            </a:r>
          </a:p>
          <a:p>
            <a:r>
              <a:rPr lang="en-US" sz="1400" dirty="0" err="1"/>
              <a:t>image_viewer_column</a:t>
            </a:r>
            <a:r>
              <a:rPr lang="en-US" sz="1400" dirty="0"/>
              <a:t> = [</a:t>
            </a:r>
          </a:p>
          <a:p>
            <a:r>
              <a:rPr lang="en-US" sz="1400" dirty="0"/>
              <a:t>    [</a:t>
            </a:r>
            <a:r>
              <a:rPr lang="en-US" sz="1400" dirty="0" err="1"/>
              <a:t>sg.Text</a:t>
            </a:r>
            <a:r>
              <a:rPr lang="en-US" sz="1400" dirty="0"/>
              <a:t>("Choose an image from list on left:")],</a:t>
            </a:r>
          </a:p>
          <a:p>
            <a:r>
              <a:rPr lang="en-US" sz="1400" dirty="0"/>
              <a:t>    [</a:t>
            </a:r>
            <a:r>
              <a:rPr lang="en-US" sz="1400" dirty="0" err="1"/>
              <a:t>sg.Text</a:t>
            </a:r>
            <a:r>
              <a:rPr lang="en-US" sz="1400" dirty="0"/>
              <a:t>(size=(40, 1), key="-TOUT-")],</a:t>
            </a:r>
          </a:p>
          <a:p>
            <a:r>
              <a:rPr lang="en-US" sz="1400" dirty="0"/>
              <a:t>    [</a:t>
            </a:r>
            <a:r>
              <a:rPr lang="en-US" sz="1400" dirty="0" err="1"/>
              <a:t>sg.Image</a:t>
            </a:r>
            <a:r>
              <a:rPr lang="en-US" sz="1400" dirty="0"/>
              <a:t>(key="-IMAGE-")],</a:t>
            </a:r>
          </a:p>
          <a:p>
            <a:r>
              <a:rPr lang="en-US" sz="1400" dirty="0"/>
              <a:t>]</a:t>
            </a:r>
            <a:endParaRPr lang="tr-TR" sz="1400" dirty="0"/>
          </a:p>
        </p:txBody>
      </p:sp>
      <p:sp>
        <p:nvSpPr>
          <p:cNvPr id="3" name="Başlık 2">
            <a:extLst>
              <a:ext uri="{FF2B5EF4-FFF2-40B4-BE49-F238E27FC236}">
                <a16:creationId xmlns:a16="http://schemas.microsoft.com/office/drawing/2014/main" id="{86FDDBE8-CEF5-4AF3-8F66-AB6BBEFA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Source </a:t>
            </a:r>
            <a:r>
              <a:rPr lang="tr-TR" dirty="0" err="1"/>
              <a:t>code</a:t>
            </a:r>
            <a:r>
              <a:rPr lang="tr-TR" dirty="0"/>
              <a:t> part-3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8FF4592-97B3-47C9-97A4-BC7649A1F6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6" name="Metin Yer Tutucusu 5">
            <a:extLst>
              <a:ext uri="{FF2B5EF4-FFF2-40B4-BE49-F238E27FC236}">
                <a16:creationId xmlns:a16="http://schemas.microsoft.com/office/drawing/2014/main" id="{BB26A319-21AB-48E6-A11A-A3EE10109D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4000" y="858622"/>
            <a:ext cx="2213372" cy="1341783"/>
          </a:xfrm>
        </p:spPr>
        <p:txBody>
          <a:bodyPr/>
          <a:lstStyle/>
          <a:p>
            <a:endParaRPr lang="tr-TR" dirty="0"/>
          </a:p>
          <a:p>
            <a:r>
              <a:rPr lang="en-US" dirty="0"/>
              <a:t>creates three elements. </a:t>
            </a:r>
            <a:endParaRPr lang="tr-TR" dirty="0"/>
          </a:p>
        </p:txBody>
      </p:sp>
      <p:sp>
        <p:nvSpPr>
          <p:cNvPr id="9" name="Açıklama Balonu: Vurgu Çubuğuyla Çizgi 8">
            <a:extLst>
              <a:ext uri="{FF2B5EF4-FFF2-40B4-BE49-F238E27FC236}">
                <a16:creationId xmlns:a16="http://schemas.microsoft.com/office/drawing/2014/main" id="{48ECBE42-F918-4839-8EE9-CF51A9E0FE80}"/>
              </a:ext>
            </a:extLst>
          </p:cNvPr>
          <p:cNvSpPr/>
          <p:nvPr/>
        </p:nvSpPr>
        <p:spPr>
          <a:xfrm>
            <a:off x="722371" y="3664420"/>
            <a:ext cx="1416630" cy="540354"/>
          </a:xfrm>
          <a:prstGeom prst="accentCallout1">
            <a:avLst>
              <a:gd name="adj1" fmla="val 18750"/>
              <a:gd name="adj2" fmla="val -8333"/>
              <a:gd name="adj3" fmla="val -203070"/>
              <a:gd name="adj4" fmla="val 180842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displays the name of the selected file. </a:t>
            </a:r>
          </a:p>
        </p:txBody>
      </p:sp>
      <p:sp>
        <p:nvSpPr>
          <p:cNvPr id="10" name="Açıklama Balonu: Vurgu Çubuğuyla Çizgi 9">
            <a:extLst>
              <a:ext uri="{FF2B5EF4-FFF2-40B4-BE49-F238E27FC236}">
                <a16:creationId xmlns:a16="http://schemas.microsoft.com/office/drawing/2014/main" id="{1E72744E-D4CF-4830-949A-E880C77D21DA}"/>
              </a:ext>
            </a:extLst>
          </p:cNvPr>
          <p:cNvSpPr/>
          <p:nvPr/>
        </p:nvSpPr>
        <p:spPr>
          <a:xfrm>
            <a:off x="722371" y="4527619"/>
            <a:ext cx="1218907" cy="735261"/>
          </a:xfrm>
          <a:prstGeom prst="accentCallout1">
            <a:avLst>
              <a:gd name="adj1" fmla="val 18750"/>
              <a:gd name="adj2" fmla="val -8333"/>
              <a:gd name="adj3" fmla="val -222740"/>
              <a:gd name="adj4" fmla="val 233737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displays the Image()</a:t>
            </a:r>
          </a:p>
        </p:txBody>
      </p:sp>
      <p:sp>
        <p:nvSpPr>
          <p:cNvPr id="12" name="Açıklama Balonu: Vurgu Çubuğuyla Çizgi 11">
            <a:extLst>
              <a:ext uri="{FF2B5EF4-FFF2-40B4-BE49-F238E27FC236}">
                <a16:creationId xmlns:a16="http://schemas.microsoft.com/office/drawing/2014/main" id="{41152CC8-9A51-4F74-8752-9DB589907807}"/>
              </a:ext>
            </a:extLst>
          </p:cNvPr>
          <p:cNvSpPr/>
          <p:nvPr/>
        </p:nvSpPr>
        <p:spPr>
          <a:xfrm>
            <a:off x="722371" y="2474658"/>
            <a:ext cx="1416630" cy="740466"/>
          </a:xfrm>
          <a:prstGeom prst="accentCallout1">
            <a:avLst>
              <a:gd name="adj1" fmla="val 18750"/>
              <a:gd name="adj2" fmla="val -8333"/>
              <a:gd name="adj3" fmla="val -32851"/>
              <a:gd name="adj4" fmla="val 180842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tells the user that they should choose an image to display. </a:t>
            </a:r>
          </a:p>
        </p:txBody>
      </p:sp>
      <p:sp>
        <p:nvSpPr>
          <p:cNvPr id="15" name="Açıklama Balonu: Vurgu Çubuğuyla Çizgi 14">
            <a:extLst>
              <a:ext uri="{FF2B5EF4-FFF2-40B4-BE49-F238E27FC236}">
                <a16:creationId xmlns:a16="http://schemas.microsoft.com/office/drawing/2014/main" id="{E5DAA2B1-0F40-440A-9920-361D92F92E89}"/>
              </a:ext>
            </a:extLst>
          </p:cNvPr>
          <p:cNvSpPr/>
          <p:nvPr/>
        </p:nvSpPr>
        <p:spPr>
          <a:xfrm>
            <a:off x="6642796" y="3215124"/>
            <a:ext cx="1537106" cy="719473"/>
          </a:xfrm>
          <a:prstGeom prst="accentCallout1">
            <a:avLst>
              <a:gd name="adj1" fmla="val 18750"/>
              <a:gd name="adj2" fmla="val -8333"/>
              <a:gd name="adj3" fmla="val -38157"/>
              <a:gd name="adj4" fmla="val -101992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Image() element also has a key set </a:t>
            </a:r>
            <a:endParaRPr lang="tr-TR" sz="1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refer back to the element later.</a:t>
            </a:r>
          </a:p>
        </p:txBody>
      </p:sp>
    </p:spTree>
    <p:extLst>
      <p:ext uri="{BB962C8B-B14F-4D97-AF65-F5344CB8AC3E}">
        <p14:creationId xmlns:p14="http://schemas.microsoft.com/office/powerpoint/2010/main" val="4205276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736BC779-D20C-4B80-8531-536B2650B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1191" y="1480931"/>
            <a:ext cx="5108711" cy="4008950"/>
          </a:xfrm>
        </p:spPr>
        <p:txBody>
          <a:bodyPr lIns="72000" tIns="72000" anchor="t" anchorCtr="0"/>
          <a:lstStyle/>
          <a:p>
            <a:r>
              <a:rPr lang="en-US" sz="1400" dirty="0"/>
              <a:t># ----- Full layout -----</a:t>
            </a:r>
          </a:p>
          <a:p>
            <a:r>
              <a:rPr lang="en-US" sz="1400" dirty="0"/>
              <a:t>layout = [</a:t>
            </a:r>
          </a:p>
          <a:p>
            <a:r>
              <a:rPr lang="en-US" sz="1400" dirty="0"/>
              <a:t>    [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sg.Column</a:t>
            </a:r>
            <a:r>
              <a:rPr lang="en-US" sz="1400" dirty="0"/>
              <a:t>(</a:t>
            </a:r>
            <a:r>
              <a:rPr lang="en-US" sz="1400" dirty="0" err="1"/>
              <a:t>file_list_column</a:t>
            </a:r>
            <a:r>
              <a:rPr lang="en-US" sz="1400" dirty="0"/>
              <a:t>),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sg.VSeperator</a:t>
            </a:r>
            <a:r>
              <a:rPr lang="en-US" sz="1400" dirty="0"/>
              <a:t>(),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sg.Column</a:t>
            </a:r>
            <a:r>
              <a:rPr lang="en-US" sz="1400" dirty="0"/>
              <a:t>(</a:t>
            </a:r>
            <a:r>
              <a:rPr lang="en-US" sz="1400" dirty="0" err="1"/>
              <a:t>image_viewer_column</a:t>
            </a:r>
            <a:r>
              <a:rPr lang="en-US" sz="1400" dirty="0"/>
              <a:t>),</a:t>
            </a:r>
          </a:p>
          <a:p>
            <a:r>
              <a:rPr lang="en-US" sz="1400" dirty="0"/>
              <a:t>    ]</a:t>
            </a:r>
          </a:p>
          <a:p>
            <a:r>
              <a:rPr lang="en-US" sz="1400" dirty="0"/>
              <a:t>]</a:t>
            </a:r>
            <a:endParaRPr lang="tr-TR" sz="1400" dirty="0"/>
          </a:p>
          <a:p>
            <a:endParaRPr lang="tr-TR" sz="1400" dirty="0"/>
          </a:p>
          <a:p>
            <a:r>
              <a:rPr lang="en-US" sz="1400" dirty="0"/>
              <a:t>window = </a:t>
            </a:r>
            <a:r>
              <a:rPr lang="en-US" sz="1400" dirty="0" err="1"/>
              <a:t>sg.Window</a:t>
            </a:r>
            <a:r>
              <a:rPr lang="en-US" sz="1400" dirty="0"/>
              <a:t>("Image Viewer", layout)</a:t>
            </a:r>
            <a:endParaRPr lang="tr-TR" sz="1400" dirty="0"/>
          </a:p>
        </p:txBody>
      </p:sp>
      <p:sp>
        <p:nvSpPr>
          <p:cNvPr id="3" name="Başlık 2">
            <a:extLst>
              <a:ext uri="{FF2B5EF4-FFF2-40B4-BE49-F238E27FC236}">
                <a16:creationId xmlns:a16="http://schemas.microsoft.com/office/drawing/2014/main" id="{86FDDBE8-CEF5-4AF3-8F66-AB6BBEFA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Source </a:t>
            </a:r>
            <a:r>
              <a:rPr lang="tr-TR" dirty="0" err="1"/>
              <a:t>code</a:t>
            </a:r>
            <a:r>
              <a:rPr lang="tr-TR" dirty="0"/>
              <a:t> part-4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8FF4592-97B3-47C9-97A4-BC7649A1F6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6" name="Metin Yer Tutucusu 5">
            <a:extLst>
              <a:ext uri="{FF2B5EF4-FFF2-40B4-BE49-F238E27FC236}">
                <a16:creationId xmlns:a16="http://schemas.microsoft.com/office/drawing/2014/main" id="{BB26A319-21AB-48E6-A11A-A3EE10109D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4000" y="858622"/>
            <a:ext cx="2213372" cy="1341783"/>
          </a:xfrm>
        </p:spPr>
        <p:txBody>
          <a:bodyPr/>
          <a:lstStyle/>
          <a:p>
            <a:endParaRPr lang="tr-TR" dirty="0"/>
          </a:p>
          <a:p>
            <a:r>
              <a:rPr lang="en-US" dirty="0"/>
              <a:t> controls how the elements </a:t>
            </a:r>
            <a:endParaRPr lang="tr-TR" dirty="0"/>
          </a:p>
          <a:p>
            <a:r>
              <a:rPr lang="en-US" dirty="0"/>
              <a:t>are laid out on the screen. </a:t>
            </a:r>
            <a:endParaRPr lang="tr-TR" dirty="0"/>
          </a:p>
        </p:txBody>
      </p:sp>
      <p:sp>
        <p:nvSpPr>
          <p:cNvPr id="9" name="Açıklama Balonu: Vurgu Çubuğuyla Çizgi 8">
            <a:extLst>
              <a:ext uri="{FF2B5EF4-FFF2-40B4-BE49-F238E27FC236}">
                <a16:creationId xmlns:a16="http://schemas.microsoft.com/office/drawing/2014/main" id="{48ECBE42-F918-4839-8EE9-CF51A9E0FE80}"/>
              </a:ext>
            </a:extLst>
          </p:cNvPr>
          <p:cNvSpPr/>
          <p:nvPr/>
        </p:nvSpPr>
        <p:spPr>
          <a:xfrm>
            <a:off x="7529647" y="2574714"/>
            <a:ext cx="1416630" cy="540354"/>
          </a:xfrm>
          <a:prstGeom prst="accentCallout1">
            <a:avLst>
              <a:gd name="adj1" fmla="val 18750"/>
              <a:gd name="adj2" fmla="val -8333"/>
              <a:gd name="adj3" fmla="val 37602"/>
              <a:gd name="adj4" fmla="val -202857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VSeperator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() is an alias for </a:t>
            </a:r>
            <a:r>
              <a:rPr lang="en-US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VerticalSeparator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().</a:t>
            </a:r>
          </a:p>
        </p:txBody>
      </p:sp>
      <p:sp>
        <p:nvSpPr>
          <p:cNvPr id="12" name="Açıklama Balonu: Vurgu Çubuğuyla Çizgi 11">
            <a:extLst>
              <a:ext uri="{FF2B5EF4-FFF2-40B4-BE49-F238E27FC236}">
                <a16:creationId xmlns:a16="http://schemas.microsoft.com/office/drawing/2014/main" id="{41152CC8-9A51-4F74-8752-9DB589907807}"/>
              </a:ext>
            </a:extLst>
          </p:cNvPr>
          <p:cNvSpPr/>
          <p:nvPr/>
        </p:nvSpPr>
        <p:spPr>
          <a:xfrm>
            <a:off x="817066" y="2844891"/>
            <a:ext cx="1416630" cy="954342"/>
          </a:xfrm>
          <a:prstGeom prst="accentCallout1">
            <a:avLst>
              <a:gd name="adj1" fmla="val 18750"/>
              <a:gd name="adj2" fmla="val -8333"/>
              <a:gd name="adj3" fmla="val -32851"/>
              <a:gd name="adj4" fmla="val 180842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contains two Column() elements </a:t>
            </a:r>
            <a:endParaRPr lang="tr-TR" sz="1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with a </a:t>
            </a:r>
            <a:r>
              <a:rPr lang="en-US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VSeperator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() between them. </a:t>
            </a:r>
          </a:p>
        </p:txBody>
      </p:sp>
      <p:sp>
        <p:nvSpPr>
          <p:cNvPr id="11" name="Açıklama Balonu: Vurgu Çubuğuyla Çizgi 10">
            <a:extLst>
              <a:ext uri="{FF2B5EF4-FFF2-40B4-BE49-F238E27FC236}">
                <a16:creationId xmlns:a16="http://schemas.microsoft.com/office/drawing/2014/main" id="{44434941-57BC-4705-BE6A-0B0A455A0DE9}"/>
              </a:ext>
            </a:extLst>
          </p:cNvPr>
          <p:cNvSpPr/>
          <p:nvPr/>
        </p:nvSpPr>
        <p:spPr>
          <a:xfrm>
            <a:off x="817066" y="4443719"/>
            <a:ext cx="1416630" cy="954342"/>
          </a:xfrm>
          <a:prstGeom prst="accentCallout1">
            <a:avLst>
              <a:gd name="adj1" fmla="val 18750"/>
              <a:gd name="adj2" fmla="val -8333"/>
              <a:gd name="adj3" fmla="val -18270"/>
              <a:gd name="adj4" fmla="val 158391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add the layout </a:t>
            </a:r>
            <a:endParaRPr lang="tr-TR" sz="1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</a:t>
            </a:r>
            <a:r>
              <a:rPr lang="tr-TR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window</a:t>
            </a:r>
          </a:p>
        </p:txBody>
      </p:sp>
    </p:spTree>
    <p:extLst>
      <p:ext uri="{BB962C8B-B14F-4D97-AF65-F5344CB8AC3E}">
        <p14:creationId xmlns:p14="http://schemas.microsoft.com/office/powerpoint/2010/main" val="3059936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736BC779-D20C-4B80-8531-536B2650B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1191" y="1480931"/>
            <a:ext cx="5108711" cy="4008950"/>
          </a:xfrm>
        </p:spPr>
        <p:txBody>
          <a:bodyPr lIns="72000" tIns="72000" anchor="t" anchorCtr="0"/>
          <a:lstStyle/>
          <a:p>
            <a:r>
              <a:rPr lang="en-US" sz="1400" dirty="0"/>
              <a:t># Run the Event Loop</a:t>
            </a:r>
          </a:p>
          <a:p>
            <a:r>
              <a:rPr lang="en-US" sz="1400" dirty="0"/>
              <a:t>while True:</a:t>
            </a:r>
          </a:p>
          <a:p>
            <a:r>
              <a:rPr lang="en-US" sz="1400" dirty="0"/>
              <a:t>    event, values = </a:t>
            </a:r>
            <a:r>
              <a:rPr lang="en-US" sz="1400" dirty="0" err="1"/>
              <a:t>window.read</a:t>
            </a:r>
            <a:r>
              <a:rPr lang="en-US" sz="1400" dirty="0"/>
              <a:t>()</a:t>
            </a:r>
          </a:p>
          <a:p>
            <a:r>
              <a:rPr lang="en-US" sz="1400" dirty="0"/>
              <a:t>    if event == "Exit" or event == </a:t>
            </a:r>
            <a:r>
              <a:rPr lang="en-US" sz="1400" dirty="0" err="1"/>
              <a:t>sg.WIN_CLOSED</a:t>
            </a:r>
            <a:r>
              <a:rPr lang="en-US" sz="1400" dirty="0"/>
              <a:t>:</a:t>
            </a:r>
          </a:p>
          <a:p>
            <a:r>
              <a:rPr lang="en-US" sz="1400" dirty="0"/>
              <a:t>        break</a:t>
            </a:r>
            <a:endParaRPr lang="tr-TR" sz="1400" dirty="0"/>
          </a:p>
        </p:txBody>
      </p:sp>
      <p:sp>
        <p:nvSpPr>
          <p:cNvPr id="3" name="Başlık 2">
            <a:extLst>
              <a:ext uri="{FF2B5EF4-FFF2-40B4-BE49-F238E27FC236}">
                <a16:creationId xmlns:a16="http://schemas.microsoft.com/office/drawing/2014/main" id="{86FDDBE8-CEF5-4AF3-8F66-AB6BBEFA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Source </a:t>
            </a:r>
            <a:r>
              <a:rPr lang="tr-TR" dirty="0" err="1"/>
              <a:t>code</a:t>
            </a:r>
            <a:r>
              <a:rPr lang="tr-TR" dirty="0"/>
              <a:t> part-5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8FF4592-97B3-47C9-97A4-BC7649A1F6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6" name="Metin Yer Tutucusu 5">
            <a:extLst>
              <a:ext uri="{FF2B5EF4-FFF2-40B4-BE49-F238E27FC236}">
                <a16:creationId xmlns:a16="http://schemas.microsoft.com/office/drawing/2014/main" id="{BB26A319-21AB-48E6-A11A-A3EE10109D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4000" y="858622"/>
            <a:ext cx="2213372" cy="2152935"/>
          </a:xfrm>
        </p:spPr>
        <p:txBody>
          <a:bodyPr/>
          <a:lstStyle/>
          <a:p>
            <a:endParaRPr lang="tr-TR" dirty="0"/>
          </a:p>
          <a:p>
            <a:r>
              <a:rPr lang="en-US" dirty="0"/>
              <a:t>the event loop</a:t>
            </a:r>
            <a:endParaRPr lang="tr-TR" dirty="0"/>
          </a:p>
          <a:p>
            <a:pPr marL="0" indent="0">
              <a:buNone/>
            </a:pPr>
            <a:endParaRPr lang="tr-TR" dirty="0"/>
          </a:p>
        </p:txBody>
      </p:sp>
      <p:sp>
        <p:nvSpPr>
          <p:cNvPr id="9" name="Açıklama Balonu: Vurgu Çubuğuyla Çizgi 8">
            <a:extLst>
              <a:ext uri="{FF2B5EF4-FFF2-40B4-BE49-F238E27FC236}">
                <a16:creationId xmlns:a16="http://schemas.microsoft.com/office/drawing/2014/main" id="{48ECBE42-F918-4839-8EE9-CF51A9E0FE80}"/>
              </a:ext>
            </a:extLst>
          </p:cNvPr>
          <p:cNvSpPr/>
          <p:nvPr/>
        </p:nvSpPr>
        <p:spPr>
          <a:xfrm>
            <a:off x="7408421" y="2543282"/>
            <a:ext cx="1416630" cy="746570"/>
          </a:xfrm>
          <a:prstGeom prst="accentCallout1">
            <a:avLst>
              <a:gd name="adj1" fmla="val 18750"/>
              <a:gd name="adj2" fmla="val -8333"/>
              <a:gd name="adj3" fmla="val -96672"/>
              <a:gd name="adj4" fmla="val 34987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tr-T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Dictionary:</a:t>
            </a: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that maps the element key to a value.</a:t>
            </a:r>
          </a:p>
        </p:txBody>
      </p:sp>
      <p:sp>
        <p:nvSpPr>
          <p:cNvPr id="12" name="Açıklama Balonu: Vurgu Çubuğuyla Çizgi 11">
            <a:extLst>
              <a:ext uri="{FF2B5EF4-FFF2-40B4-BE49-F238E27FC236}">
                <a16:creationId xmlns:a16="http://schemas.microsoft.com/office/drawing/2014/main" id="{41152CC8-9A51-4F74-8752-9DB589907807}"/>
              </a:ext>
            </a:extLst>
          </p:cNvPr>
          <p:cNvSpPr/>
          <p:nvPr/>
        </p:nvSpPr>
        <p:spPr>
          <a:xfrm>
            <a:off x="5975475" y="381451"/>
            <a:ext cx="1416630" cy="954342"/>
          </a:xfrm>
          <a:prstGeom prst="accentCallout1">
            <a:avLst>
              <a:gd name="adj1" fmla="val 18750"/>
              <a:gd name="adj2" fmla="val -8333"/>
              <a:gd name="adj3" fmla="val 182732"/>
              <a:gd name="adj4" fmla="val -129968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extract the events and values from the window. </a:t>
            </a:r>
          </a:p>
        </p:txBody>
      </p:sp>
      <p:sp>
        <p:nvSpPr>
          <p:cNvPr id="11" name="Açıklama Balonu: Vurgu Çubuğuyla Çizgi 10">
            <a:extLst>
              <a:ext uri="{FF2B5EF4-FFF2-40B4-BE49-F238E27FC236}">
                <a16:creationId xmlns:a16="http://schemas.microsoft.com/office/drawing/2014/main" id="{44434941-57BC-4705-BE6A-0B0A455A0DE9}"/>
              </a:ext>
            </a:extLst>
          </p:cNvPr>
          <p:cNvSpPr/>
          <p:nvPr/>
        </p:nvSpPr>
        <p:spPr>
          <a:xfrm>
            <a:off x="1120742" y="2563140"/>
            <a:ext cx="1416630" cy="954342"/>
          </a:xfrm>
          <a:prstGeom prst="accentCallout1">
            <a:avLst>
              <a:gd name="adj1" fmla="val 18750"/>
              <a:gd name="adj2" fmla="val -8333"/>
              <a:gd name="adj3" fmla="val -35975"/>
              <a:gd name="adj4" fmla="val 149971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event will be the key string of whichever element the user interacts with. </a:t>
            </a:r>
          </a:p>
        </p:txBody>
      </p:sp>
      <p:sp>
        <p:nvSpPr>
          <p:cNvPr id="10" name="Açıklama Balonu: Vurgu Çubuğuyla Çizgi 9">
            <a:extLst>
              <a:ext uri="{FF2B5EF4-FFF2-40B4-BE49-F238E27FC236}">
                <a16:creationId xmlns:a16="http://schemas.microsoft.com/office/drawing/2014/main" id="{9F089BA6-2D63-4384-AC93-EEFD4ED0E24F}"/>
              </a:ext>
            </a:extLst>
          </p:cNvPr>
          <p:cNvSpPr/>
          <p:nvPr/>
        </p:nvSpPr>
        <p:spPr>
          <a:xfrm>
            <a:off x="7412370" y="1242186"/>
            <a:ext cx="1416630" cy="954342"/>
          </a:xfrm>
          <a:prstGeom prst="accentCallout1">
            <a:avLst>
              <a:gd name="adj1" fmla="val 18750"/>
              <a:gd name="adj2" fmla="val -8333"/>
              <a:gd name="adj3" fmla="val 83794"/>
              <a:gd name="adj4" fmla="val -181185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values variable contains a Python dictionary</a:t>
            </a:r>
          </a:p>
        </p:txBody>
      </p:sp>
      <p:sp>
        <p:nvSpPr>
          <p:cNvPr id="13" name="Açıklama Balonu: Vurgu Çubuğuyla Çizgi 12">
            <a:extLst>
              <a:ext uri="{FF2B5EF4-FFF2-40B4-BE49-F238E27FC236}">
                <a16:creationId xmlns:a16="http://schemas.microsoft.com/office/drawing/2014/main" id="{CA3E206A-34C3-47CA-9D0D-AECDD5C1AC78}"/>
              </a:ext>
            </a:extLst>
          </p:cNvPr>
          <p:cNvSpPr/>
          <p:nvPr/>
        </p:nvSpPr>
        <p:spPr>
          <a:xfrm>
            <a:off x="7408421" y="3802574"/>
            <a:ext cx="1416630" cy="878756"/>
          </a:xfrm>
          <a:prstGeom prst="accentCallout1">
            <a:avLst>
              <a:gd name="adj1" fmla="val 18750"/>
              <a:gd name="adj2" fmla="val -8333"/>
              <a:gd name="adj3" fmla="val -96672"/>
              <a:gd name="adj4" fmla="val 34987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if the user picks a folder, </a:t>
            </a:r>
            <a:endParaRPr lang="tr-TR" sz="1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then "-FOLDER-" will map to the folder path</a:t>
            </a:r>
          </a:p>
        </p:txBody>
      </p:sp>
      <p:sp>
        <p:nvSpPr>
          <p:cNvPr id="14" name="Açıklama Balonu: Vurgu Çubuğuyla Çizgi 13">
            <a:extLst>
              <a:ext uri="{FF2B5EF4-FFF2-40B4-BE49-F238E27FC236}">
                <a16:creationId xmlns:a16="http://schemas.microsoft.com/office/drawing/2014/main" id="{FA737B7A-2F5F-4CE1-B421-BC78170102BD}"/>
              </a:ext>
            </a:extLst>
          </p:cNvPr>
          <p:cNvSpPr/>
          <p:nvPr/>
        </p:nvSpPr>
        <p:spPr>
          <a:xfrm>
            <a:off x="1518308" y="4086993"/>
            <a:ext cx="1416630" cy="725743"/>
          </a:xfrm>
          <a:prstGeom prst="accentCallout1">
            <a:avLst>
              <a:gd name="adj1" fmla="val 18750"/>
              <a:gd name="adj2" fmla="val -8333"/>
              <a:gd name="adj3" fmla="val -206071"/>
              <a:gd name="adj4" fmla="val 119802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If the event equals "Exit" or the user closes the window, </a:t>
            </a:r>
            <a:endParaRPr lang="tr-TR" sz="1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Açıklama Balonu: Vurgu Çubuğuyla Çizgi 14">
            <a:extLst>
              <a:ext uri="{FF2B5EF4-FFF2-40B4-BE49-F238E27FC236}">
                <a16:creationId xmlns:a16="http://schemas.microsoft.com/office/drawing/2014/main" id="{5B25E3BE-2FBA-4639-92A7-9E20251895F9}"/>
              </a:ext>
            </a:extLst>
          </p:cNvPr>
          <p:cNvSpPr/>
          <p:nvPr/>
        </p:nvSpPr>
        <p:spPr>
          <a:xfrm>
            <a:off x="2537372" y="5318661"/>
            <a:ext cx="1416630" cy="632716"/>
          </a:xfrm>
          <a:prstGeom prst="accentCallout1">
            <a:avLst>
              <a:gd name="adj1" fmla="val 18750"/>
              <a:gd name="adj2" fmla="val -8333"/>
              <a:gd name="adj3" fmla="val -375283"/>
              <a:gd name="adj4" fmla="val 79811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then break out of the loop.</a:t>
            </a:r>
          </a:p>
        </p:txBody>
      </p:sp>
    </p:spTree>
    <p:extLst>
      <p:ext uri="{BB962C8B-B14F-4D97-AF65-F5344CB8AC3E}">
        <p14:creationId xmlns:p14="http://schemas.microsoft.com/office/powerpoint/2010/main" val="3767307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736BC779-D20C-4B80-8531-536B2650B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1191" y="1113183"/>
            <a:ext cx="5108711" cy="4949687"/>
          </a:xfrm>
        </p:spPr>
        <p:txBody>
          <a:bodyPr lIns="72000" tIns="72000" anchor="t" anchorCtr="0"/>
          <a:lstStyle/>
          <a:p>
            <a:r>
              <a:rPr lang="en-US" sz="1400" dirty="0"/>
              <a:t> # Folder name was filled in, make a list of files in the folder</a:t>
            </a:r>
          </a:p>
          <a:p>
            <a:r>
              <a:rPr lang="en-US" sz="1400" dirty="0"/>
              <a:t>    if event == "-FOLDER-":</a:t>
            </a:r>
          </a:p>
          <a:p>
            <a:r>
              <a:rPr lang="en-US" sz="1400" dirty="0"/>
              <a:t>        folder = values["-FOLDER-"]</a:t>
            </a:r>
          </a:p>
          <a:p>
            <a:r>
              <a:rPr lang="en-US" sz="1400" dirty="0"/>
              <a:t>        try:</a:t>
            </a:r>
          </a:p>
          <a:p>
            <a:r>
              <a:rPr lang="en-US" sz="1400" dirty="0"/>
              <a:t>            # Get list of files in folder</a:t>
            </a:r>
          </a:p>
          <a:p>
            <a:r>
              <a:rPr lang="en-US" sz="1400" dirty="0"/>
              <a:t>            </a:t>
            </a:r>
            <a:r>
              <a:rPr lang="en-US" sz="1400" dirty="0" err="1"/>
              <a:t>file_list</a:t>
            </a:r>
            <a:r>
              <a:rPr lang="en-US" sz="1400" dirty="0"/>
              <a:t> = </a:t>
            </a:r>
            <a:r>
              <a:rPr lang="en-US" sz="1400" dirty="0" err="1"/>
              <a:t>os.listdir</a:t>
            </a:r>
            <a:r>
              <a:rPr lang="en-US" sz="1400" dirty="0"/>
              <a:t>(folder)</a:t>
            </a:r>
          </a:p>
          <a:p>
            <a:r>
              <a:rPr lang="en-US" sz="1400" dirty="0"/>
              <a:t>        except:</a:t>
            </a:r>
          </a:p>
          <a:p>
            <a:r>
              <a:rPr lang="en-US" sz="1400" dirty="0"/>
              <a:t>            </a:t>
            </a:r>
            <a:r>
              <a:rPr lang="en-US" sz="1400" dirty="0" err="1"/>
              <a:t>file_list</a:t>
            </a:r>
            <a:r>
              <a:rPr lang="en-US" sz="1400" dirty="0"/>
              <a:t> = []</a:t>
            </a:r>
          </a:p>
          <a:p>
            <a:endParaRPr lang="en-US" sz="1400" dirty="0"/>
          </a:p>
          <a:p>
            <a:r>
              <a:rPr lang="en-US" sz="1400" dirty="0"/>
              <a:t>        </a:t>
            </a:r>
            <a:r>
              <a:rPr lang="en-US" sz="1400" dirty="0" err="1"/>
              <a:t>fnames</a:t>
            </a:r>
            <a:r>
              <a:rPr lang="en-US" sz="1400" dirty="0"/>
              <a:t> = [</a:t>
            </a:r>
          </a:p>
          <a:p>
            <a:r>
              <a:rPr lang="en-US" sz="1400" dirty="0"/>
              <a:t>            f</a:t>
            </a:r>
          </a:p>
          <a:p>
            <a:r>
              <a:rPr lang="en-US" sz="1400" dirty="0"/>
              <a:t>            for f in </a:t>
            </a:r>
            <a:r>
              <a:rPr lang="en-US" sz="1400" dirty="0" err="1"/>
              <a:t>file_list</a:t>
            </a:r>
            <a:endParaRPr lang="en-US" sz="1400" dirty="0"/>
          </a:p>
          <a:p>
            <a:r>
              <a:rPr lang="en-US" sz="1400" dirty="0"/>
              <a:t>            if </a:t>
            </a:r>
            <a:r>
              <a:rPr lang="en-US" sz="1400" dirty="0" err="1"/>
              <a:t>os.path.isfile</a:t>
            </a:r>
            <a:r>
              <a:rPr lang="en-US" sz="1400" dirty="0"/>
              <a:t>(</a:t>
            </a:r>
            <a:r>
              <a:rPr lang="en-US" sz="1400" dirty="0" err="1"/>
              <a:t>os.path.join</a:t>
            </a:r>
            <a:r>
              <a:rPr lang="en-US" sz="1400" dirty="0"/>
              <a:t>(folder, f))</a:t>
            </a:r>
          </a:p>
          <a:p>
            <a:r>
              <a:rPr lang="en-US" sz="1400" dirty="0"/>
              <a:t>            and </a:t>
            </a:r>
            <a:r>
              <a:rPr lang="en-US" sz="1400" dirty="0" err="1"/>
              <a:t>f.lower</a:t>
            </a:r>
            <a:r>
              <a:rPr lang="en-US" sz="1400" dirty="0"/>
              <a:t>().</a:t>
            </a:r>
            <a:r>
              <a:rPr lang="en-US" sz="1400" dirty="0" err="1"/>
              <a:t>endswith</a:t>
            </a:r>
            <a:r>
              <a:rPr lang="en-US" sz="1400" dirty="0"/>
              <a:t>((".</a:t>
            </a:r>
            <a:r>
              <a:rPr lang="en-US" sz="1400" dirty="0" err="1"/>
              <a:t>png</a:t>
            </a:r>
            <a:r>
              <a:rPr lang="en-US" sz="1400" dirty="0"/>
              <a:t>", ".gif"))</a:t>
            </a:r>
          </a:p>
          <a:p>
            <a:r>
              <a:rPr lang="en-US" sz="1400" dirty="0"/>
              <a:t>        ]</a:t>
            </a:r>
          </a:p>
          <a:p>
            <a:r>
              <a:rPr lang="en-US" sz="1400" dirty="0"/>
              <a:t>        window["-FILE LIST-"].update(</a:t>
            </a:r>
            <a:r>
              <a:rPr lang="en-US" sz="1400" dirty="0" err="1"/>
              <a:t>fnames</a:t>
            </a:r>
            <a:r>
              <a:rPr lang="en-US" sz="1400" dirty="0"/>
              <a:t>)</a:t>
            </a:r>
            <a:endParaRPr lang="tr-TR" sz="1400" dirty="0"/>
          </a:p>
        </p:txBody>
      </p:sp>
      <p:sp>
        <p:nvSpPr>
          <p:cNvPr id="3" name="Başlık 2">
            <a:extLst>
              <a:ext uri="{FF2B5EF4-FFF2-40B4-BE49-F238E27FC236}">
                <a16:creationId xmlns:a16="http://schemas.microsoft.com/office/drawing/2014/main" id="{86FDDBE8-CEF5-4AF3-8F66-AB6BBEFA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Source </a:t>
            </a:r>
            <a:r>
              <a:rPr lang="tr-TR" dirty="0" err="1"/>
              <a:t>code</a:t>
            </a:r>
            <a:r>
              <a:rPr lang="tr-TR" dirty="0"/>
              <a:t> part-6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8FF4592-97B3-47C9-97A4-BC7649A1F6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6" name="Metin Yer Tutucusu 5">
            <a:extLst>
              <a:ext uri="{FF2B5EF4-FFF2-40B4-BE49-F238E27FC236}">
                <a16:creationId xmlns:a16="http://schemas.microsoft.com/office/drawing/2014/main" id="{BB26A319-21AB-48E6-A11A-A3EE10109D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218" y="872408"/>
            <a:ext cx="2213372" cy="632717"/>
          </a:xfrm>
        </p:spPr>
        <p:txBody>
          <a:bodyPr/>
          <a:lstStyle/>
          <a:p>
            <a:r>
              <a:rPr lang="tr-TR" dirty="0" err="1"/>
              <a:t>Get</a:t>
            </a:r>
            <a:r>
              <a:rPr lang="tr-TR" dirty="0"/>
              <a:t> </a:t>
            </a:r>
            <a:r>
              <a:rPr lang="tr-TR" dirty="0" err="1"/>
              <a:t>png</a:t>
            </a:r>
            <a:r>
              <a:rPr lang="tr-TR" dirty="0"/>
              <a:t> &amp; </a:t>
            </a:r>
            <a:r>
              <a:rPr lang="tr-TR" dirty="0" err="1"/>
              <a:t>gif</a:t>
            </a:r>
            <a:r>
              <a:rPr lang="tr-TR" dirty="0"/>
              <a:t> file </a:t>
            </a:r>
            <a:r>
              <a:rPr lang="tr-TR" dirty="0" err="1"/>
              <a:t>listing</a:t>
            </a:r>
            <a:endParaRPr lang="tr-TR" dirty="0"/>
          </a:p>
        </p:txBody>
      </p:sp>
      <p:sp>
        <p:nvSpPr>
          <p:cNvPr id="12" name="Açıklama Balonu: Vurgu Çubuğuyla Çizgi 11">
            <a:extLst>
              <a:ext uri="{FF2B5EF4-FFF2-40B4-BE49-F238E27FC236}">
                <a16:creationId xmlns:a16="http://schemas.microsoft.com/office/drawing/2014/main" id="{41152CC8-9A51-4F74-8752-9DB589907807}"/>
              </a:ext>
            </a:extLst>
          </p:cNvPr>
          <p:cNvSpPr/>
          <p:nvPr/>
        </p:nvSpPr>
        <p:spPr>
          <a:xfrm>
            <a:off x="5975475" y="381451"/>
            <a:ext cx="1416630" cy="482549"/>
          </a:xfrm>
          <a:prstGeom prst="accentCallout1">
            <a:avLst>
              <a:gd name="adj1" fmla="val 18750"/>
              <a:gd name="adj2" fmla="val -8333"/>
              <a:gd name="adj3" fmla="val 236285"/>
              <a:gd name="adj4" fmla="val -96291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refers to the In() element </a:t>
            </a:r>
            <a:endParaRPr lang="tr-TR" sz="1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created earlier</a:t>
            </a:r>
          </a:p>
        </p:txBody>
      </p:sp>
      <p:sp>
        <p:nvSpPr>
          <p:cNvPr id="11" name="Açıklama Balonu: Vurgu Çubuğuyla Çizgi 10">
            <a:extLst>
              <a:ext uri="{FF2B5EF4-FFF2-40B4-BE49-F238E27FC236}">
                <a16:creationId xmlns:a16="http://schemas.microsoft.com/office/drawing/2014/main" id="{44434941-57BC-4705-BE6A-0B0A455A0DE9}"/>
              </a:ext>
            </a:extLst>
          </p:cNvPr>
          <p:cNvSpPr/>
          <p:nvPr/>
        </p:nvSpPr>
        <p:spPr>
          <a:xfrm>
            <a:off x="1120742" y="1719357"/>
            <a:ext cx="1416630" cy="954342"/>
          </a:xfrm>
          <a:prstGeom prst="accentCallout1">
            <a:avLst>
              <a:gd name="adj1" fmla="val 18750"/>
              <a:gd name="adj2" fmla="val -8333"/>
              <a:gd name="adj3" fmla="val 1518"/>
              <a:gd name="adj4" fmla="val 147165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check the event against the "-FOLDER-" key</a:t>
            </a:r>
          </a:p>
        </p:txBody>
      </p:sp>
      <p:sp>
        <p:nvSpPr>
          <p:cNvPr id="10" name="Açıklama Balonu: Vurgu Çubuğuyla Çizgi 9">
            <a:extLst>
              <a:ext uri="{FF2B5EF4-FFF2-40B4-BE49-F238E27FC236}">
                <a16:creationId xmlns:a16="http://schemas.microsoft.com/office/drawing/2014/main" id="{9F089BA6-2D63-4384-AC93-EEFD4ED0E24F}"/>
              </a:ext>
            </a:extLst>
          </p:cNvPr>
          <p:cNvSpPr/>
          <p:nvPr/>
        </p:nvSpPr>
        <p:spPr>
          <a:xfrm>
            <a:off x="7471587" y="2657984"/>
            <a:ext cx="1416630" cy="954342"/>
          </a:xfrm>
          <a:prstGeom prst="accentCallout1">
            <a:avLst>
              <a:gd name="adj1" fmla="val 18750"/>
              <a:gd name="adj2" fmla="val -8333"/>
              <a:gd name="adj3" fmla="val 22348"/>
              <a:gd name="adj4" fmla="val -136983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 </a:t>
            </a:r>
            <a:r>
              <a:rPr lang="en-US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os.listdir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() to get a file listing. </a:t>
            </a:r>
          </a:p>
        </p:txBody>
      </p:sp>
      <p:sp>
        <p:nvSpPr>
          <p:cNvPr id="14" name="Açıklama Balonu: Vurgu Çubuğuyla Çizgi 13">
            <a:extLst>
              <a:ext uri="{FF2B5EF4-FFF2-40B4-BE49-F238E27FC236}">
                <a16:creationId xmlns:a16="http://schemas.microsoft.com/office/drawing/2014/main" id="{FA737B7A-2F5F-4CE1-B421-BC78170102BD}"/>
              </a:ext>
            </a:extLst>
          </p:cNvPr>
          <p:cNvSpPr/>
          <p:nvPr/>
        </p:nvSpPr>
        <p:spPr>
          <a:xfrm>
            <a:off x="1120742" y="3044051"/>
            <a:ext cx="1416630" cy="725743"/>
          </a:xfrm>
          <a:prstGeom prst="accentCallout1">
            <a:avLst>
              <a:gd name="adj1" fmla="val 18750"/>
              <a:gd name="adj2" fmla="val -8333"/>
              <a:gd name="adj3" fmla="val -133487"/>
              <a:gd name="adj4" fmla="val 155584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If the event exists, then </a:t>
            </a:r>
            <a:r>
              <a:rPr lang="tr-TR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this</a:t>
            </a:r>
            <a:r>
              <a:rPr lang="tr-T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tr-TR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means</a:t>
            </a:r>
            <a:endParaRPr lang="tr-TR" sz="1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user has chosen a folder</a:t>
            </a:r>
            <a:endParaRPr lang="tr-TR" sz="1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Açıklama Balonu: Vurgu Çubuğuyla Çizgi 14">
            <a:extLst>
              <a:ext uri="{FF2B5EF4-FFF2-40B4-BE49-F238E27FC236}">
                <a16:creationId xmlns:a16="http://schemas.microsoft.com/office/drawing/2014/main" id="{5B25E3BE-2FBA-4639-92A7-9E20251895F9}"/>
              </a:ext>
            </a:extLst>
          </p:cNvPr>
          <p:cNvSpPr/>
          <p:nvPr/>
        </p:nvSpPr>
        <p:spPr>
          <a:xfrm>
            <a:off x="7471587" y="4969565"/>
            <a:ext cx="1416630" cy="632716"/>
          </a:xfrm>
          <a:prstGeom prst="accentCallout1">
            <a:avLst>
              <a:gd name="adj1" fmla="val 18750"/>
              <a:gd name="adj2" fmla="val -8333"/>
              <a:gd name="adj3" fmla="val 20575"/>
              <a:gd name="adj4" fmla="val -78049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filter list down to only the files with the extension ".</a:t>
            </a:r>
            <a:r>
              <a:rPr lang="en-US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png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" or ".gif".</a:t>
            </a:r>
          </a:p>
        </p:txBody>
      </p:sp>
    </p:spTree>
    <p:extLst>
      <p:ext uri="{BB962C8B-B14F-4D97-AF65-F5344CB8AC3E}">
        <p14:creationId xmlns:p14="http://schemas.microsoft.com/office/powerpoint/2010/main" val="341332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İçerik Yer Tutucusu 1">
            <a:extLst>
              <a:ext uri="{FF2B5EF4-FFF2-40B4-BE49-F238E27FC236}">
                <a16:creationId xmlns:a16="http://schemas.microsoft.com/office/drawing/2014/main" id="{736BC779-D20C-4B80-8531-536B2650B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1191" y="1505126"/>
            <a:ext cx="5108711" cy="3941518"/>
          </a:xfrm>
        </p:spPr>
        <p:txBody>
          <a:bodyPr lIns="72000" tIns="72000" anchor="t" anchorCtr="0"/>
          <a:lstStyle/>
          <a:p>
            <a:r>
              <a:rPr lang="en-US" sz="1400" dirty="0"/>
              <a:t>  </a:t>
            </a:r>
            <a:r>
              <a:rPr lang="en-US" sz="1400" dirty="0" err="1"/>
              <a:t>elif</a:t>
            </a:r>
            <a:r>
              <a:rPr lang="en-US" sz="1400" dirty="0"/>
              <a:t> event == "-FILE LIST-":  # A file was chosen from the </a:t>
            </a:r>
            <a:r>
              <a:rPr lang="en-US" sz="1400" dirty="0" err="1"/>
              <a:t>listbox</a:t>
            </a:r>
            <a:endParaRPr lang="en-US" sz="1400" dirty="0"/>
          </a:p>
          <a:p>
            <a:r>
              <a:rPr lang="en-US" sz="1400" dirty="0"/>
              <a:t>        try:</a:t>
            </a:r>
          </a:p>
          <a:p>
            <a:r>
              <a:rPr lang="en-US" sz="1400" dirty="0"/>
              <a:t>            filename = </a:t>
            </a:r>
            <a:r>
              <a:rPr lang="en-US" sz="1400" dirty="0" err="1"/>
              <a:t>os.path.join</a:t>
            </a:r>
            <a:r>
              <a:rPr lang="en-US" sz="1400" dirty="0"/>
              <a:t>(</a:t>
            </a:r>
          </a:p>
          <a:p>
            <a:r>
              <a:rPr lang="en-US" sz="1400" dirty="0"/>
              <a:t>                values["-FOLDER-"], values["-FILE LIST-"][0]</a:t>
            </a:r>
          </a:p>
          <a:p>
            <a:r>
              <a:rPr lang="en-US" sz="1400" dirty="0"/>
              <a:t>            )</a:t>
            </a:r>
          </a:p>
          <a:p>
            <a:r>
              <a:rPr lang="en-US" sz="1400" dirty="0"/>
              <a:t>            window["-TOUT-"].update(filename)</a:t>
            </a:r>
          </a:p>
          <a:p>
            <a:r>
              <a:rPr lang="en-US" sz="1400" dirty="0"/>
              <a:t>            window["-IMAGE-"].update(filename=filename)</a:t>
            </a:r>
          </a:p>
          <a:p>
            <a:endParaRPr lang="en-US" sz="1400" dirty="0"/>
          </a:p>
          <a:p>
            <a:r>
              <a:rPr lang="en-US" sz="1400" dirty="0"/>
              <a:t>        except:</a:t>
            </a:r>
          </a:p>
          <a:p>
            <a:r>
              <a:rPr lang="en-US" sz="1400" dirty="0"/>
              <a:t>            pass</a:t>
            </a:r>
          </a:p>
          <a:p>
            <a:endParaRPr lang="en-US" sz="1400" dirty="0"/>
          </a:p>
          <a:p>
            <a:r>
              <a:rPr lang="en-US" sz="1400" dirty="0" err="1"/>
              <a:t>window.close</a:t>
            </a:r>
            <a:r>
              <a:rPr lang="en-US" sz="1400" dirty="0"/>
              <a:t>()</a:t>
            </a:r>
            <a:endParaRPr lang="tr-TR" sz="1400" dirty="0"/>
          </a:p>
        </p:txBody>
      </p:sp>
      <p:sp>
        <p:nvSpPr>
          <p:cNvPr id="3" name="Başlık 2">
            <a:extLst>
              <a:ext uri="{FF2B5EF4-FFF2-40B4-BE49-F238E27FC236}">
                <a16:creationId xmlns:a16="http://schemas.microsoft.com/office/drawing/2014/main" id="{86FDDBE8-CEF5-4AF3-8F66-AB6BBEFA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Source </a:t>
            </a:r>
            <a:r>
              <a:rPr lang="tr-TR" dirty="0" err="1"/>
              <a:t>code</a:t>
            </a:r>
            <a:r>
              <a:rPr lang="tr-TR" dirty="0"/>
              <a:t> part-7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8FF4592-97B3-47C9-97A4-BC7649A1F6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6" name="Metin Yer Tutucusu 5">
            <a:extLst>
              <a:ext uri="{FF2B5EF4-FFF2-40B4-BE49-F238E27FC236}">
                <a16:creationId xmlns:a16="http://schemas.microsoft.com/office/drawing/2014/main" id="{BB26A319-21AB-48E6-A11A-A3EE10109D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7321" y="1030421"/>
            <a:ext cx="2213372" cy="718866"/>
          </a:xfrm>
        </p:spPr>
        <p:txBody>
          <a:bodyPr/>
          <a:lstStyle/>
          <a:p>
            <a:r>
              <a:rPr lang="en-US" dirty="0"/>
              <a:t>user has chosen a file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update</a:t>
            </a:r>
            <a:endParaRPr lang="tr-TR" dirty="0"/>
          </a:p>
        </p:txBody>
      </p:sp>
      <p:sp>
        <p:nvSpPr>
          <p:cNvPr id="11" name="Açıklama Balonu: Vurgu Çubuğuyla Çizgi 10">
            <a:extLst>
              <a:ext uri="{FF2B5EF4-FFF2-40B4-BE49-F238E27FC236}">
                <a16:creationId xmlns:a16="http://schemas.microsoft.com/office/drawing/2014/main" id="{44434941-57BC-4705-BE6A-0B0A455A0DE9}"/>
              </a:ext>
            </a:extLst>
          </p:cNvPr>
          <p:cNvSpPr/>
          <p:nvPr/>
        </p:nvSpPr>
        <p:spPr>
          <a:xfrm>
            <a:off x="3725933" y="276007"/>
            <a:ext cx="1416630" cy="527919"/>
          </a:xfrm>
          <a:prstGeom prst="accentCallout1">
            <a:avLst>
              <a:gd name="adj1" fmla="val 18750"/>
              <a:gd name="adj2" fmla="val -8333"/>
              <a:gd name="adj3" fmla="val 226441"/>
              <a:gd name="adj4" fmla="val -2978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If the event equals "-FILE LIST-", </a:t>
            </a:r>
            <a:endParaRPr lang="tr-TR" sz="1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Açıklama Balonu: Vurgu Çubuğuyla Çizgi 13">
            <a:extLst>
              <a:ext uri="{FF2B5EF4-FFF2-40B4-BE49-F238E27FC236}">
                <a16:creationId xmlns:a16="http://schemas.microsoft.com/office/drawing/2014/main" id="{FA737B7A-2F5F-4CE1-B421-BC78170102BD}"/>
              </a:ext>
            </a:extLst>
          </p:cNvPr>
          <p:cNvSpPr/>
          <p:nvPr/>
        </p:nvSpPr>
        <p:spPr>
          <a:xfrm>
            <a:off x="7529647" y="2963230"/>
            <a:ext cx="1416630" cy="711569"/>
          </a:xfrm>
          <a:prstGeom prst="accentCallout1">
            <a:avLst>
              <a:gd name="adj1" fmla="val 18750"/>
              <a:gd name="adj2" fmla="val -8333"/>
              <a:gd name="adj3" fmla="val 21898"/>
              <a:gd name="adj4" fmla="val -51389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update the Image() element as well as the Text() element </a:t>
            </a:r>
            <a:endParaRPr lang="tr-TR" sz="1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Dikdörtgen 6">
            <a:extLst>
              <a:ext uri="{FF2B5EF4-FFF2-40B4-BE49-F238E27FC236}">
                <a16:creationId xmlns:a16="http://schemas.microsoft.com/office/drawing/2014/main" id="{40C58FB9-E9BE-42F0-8D08-3E7AD3169E88}"/>
              </a:ext>
            </a:extLst>
          </p:cNvPr>
          <p:cNvSpPr/>
          <p:nvPr/>
        </p:nvSpPr>
        <p:spPr>
          <a:xfrm>
            <a:off x="613737" y="6241334"/>
            <a:ext cx="39582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shows the selected filename on the right</a:t>
            </a:r>
            <a:endParaRPr lang="tr-TR" dirty="0"/>
          </a:p>
        </p:txBody>
      </p:sp>
      <p:sp>
        <p:nvSpPr>
          <p:cNvPr id="13" name="Açıklama Balonu: Vurgu Çubuğuyla Çizgi 12">
            <a:extLst>
              <a:ext uri="{FF2B5EF4-FFF2-40B4-BE49-F238E27FC236}">
                <a16:creationId xmlns:a16="http://schemas.microsoft.com/office/drawing/2014/main" id="{DB0734E3-1798-4B74-B3F2-6FA114A5EEC0}"/>
              </a:ext>
            </a:extLst>
          </p:cNvPr>
          <p:cNvSpPr/>
          <p:nvPr/>
        </p:nvSpPr>
        <p:spPr>
          <a:xfrm>
            <a:off x="7529647" y="2066367"/>
            <a:ext cx="1416630" cy="511474"/>
          </a:xfrm>
          <a:prstGeom prst="accentCallout1">
            <a:avLst>
              <a:gd name="adj1" fmla="val 18750"/>
              <a:gd name="adj2" fmla="val -8333"/>
              <a:gd name="adj3" fmla="val 32099"/>
              <a:gd name="adj4" fmla="val -122250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shows the selected filename on the right</a:t>
            </a:r>
          </a:p>
        </p:txBody>
      </p:sp>
      <p:sp>
        <p:nvSpPr>
          <p:cNvPr id="16" name="Açıklama Balonu: Vurgu Çubuğuyla Çizgi 15">
            <a:extLst>
              <a:ext uri="{FF2B5EF4-FFF2-40B4-BE49-F238E27FC236}">
                <a16:creationId xmlns:a16="http://schemas.microsoft.com/office/drawing/2014/main" id="{709423B7-1D30-4E6F-A7F4-7597E72304F6}"/>
              </a:ext>
            </a:extLst>
          </p:cNvPr>
          <p:cNvSpPr/>
          <p:nvPr/>
        </p:nvSpPr>
        <p:spPr>
          <a:xfrm>
            <a:off x="6000932" y="140801"/>
            <a:ext cx="1416630" cy="798330"/>
          </a:xfrm>
          <a:prstGeom prst="accentCallout1">
            <a:avLst>
              <a:gd name="adj1" fmla="val 18750"/>
              <a:gd name="adj2" fmla="val -8333"/>
              <a:gd name="adj3" fmla="val 177618"/>
              <a:gd name="adj4" fmla="val -37356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tr-TR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means</a:t>
            </a:r>
            <a:endParaRPr lang="tr-TR" sz="1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user has chosen a file in the </a:t>
            </a:r>
            <a:r>
              <a:rPr lang="en-US" sz="12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Listbox</a:t>
            </a:r>
            <a:r>
              <a:rPr 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026385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Resim Yer Tutucusu 8" descr="dağ, gök, doğa, açık hava içeren bir resim&#10;&#10;Açıklama otomatik olarak oluşturuldu">
            <a:extLst>
              <a:ext uri="{FF2B5EF4-FFF2-40B4-BE49-F238E27FC236}">
                <a16:creationId xmlns:a16="http://schemas.microsoft.com/office/drawing/2014/main" id="{1A945890-B857-4519-A949-D7D3CC41DF0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4954" r="4954"/>
          <a:stretch>
            <a:fillRect/>
          </a:stretch>
        </p:blipFill>
        <p:spPr>
          <a:xfrm>
            <a:off x="0" y="-1272"/>
            <a:ext cx="9144000" cy="6859272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BDC24D3-EEF0-4B69-A174-E4DFF7884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32" y="3123593"/>
            <a:ext cx="5402090" cy="1449788"/>
          </a:xfrm>
          <a:solidFill>
            <a:schemeClr val="tx1">
              <a:alpha val="32000"/>
            </a:schemeClr>
          </a:solidFill>
        </p:spPr>
        <p:txBody>
          <a:bodyPr/>
          <a:lstStyle/>
          <a:p>
            <a:r>
              <a:rPr lang="en-US" dirty="0"/>
              <a:t>Thank You</a:t>
            </a:r>
          </a:p>
        </p:txBody>
      </p:sp>
      <p:cxnSp>
        <p:nvCxnSpPr>
          <p:cNvPr id="5" name="Straight Connector 4" descr="Divider line">
            <a:extLst>
              <a:ext uri="{FF2B5EF4-FFF2-40B4-BE49-F238E27FC236}">
                <a16:creationId xmlns:a16="http://schemas.microsoft.com/office/drawing/2014/main" id="{FE07C9EC-5158-440C-995A-EAC50D3E0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059112" y="3552610"/>
            <a:ext cx="0" cy="825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6">
            <a:extLst>
              <a:ext uri="{FF2B5EF4-FFF2-40B4-BE49-F238E27FC236}">
                <a16:creationId xmlns:a16="http://schemas.microsoft.com/office/drawing/2014/main" id="{ACCCCDAD-0E0B-437F-8CAA-0536470B2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33" y="4570937"/>
            <a:ext cx="3961877" cy="1604172"/>
          </a:xfrm>
          <a:solidFill>
            <a:schemeClr val="tx1">
              <a:alpha val="32000"/>
            </a:schemeClr>
          </a:solidFill>
        </p:spPr>
        <p:txBody>
          <a:bodyPr/>
          <a:lstStyle/>
          <a:p>
            <a:r>
              <a:rPr lang="tr-TR" dirty="0"/>
              <a:t>Yusuf Altunel, PhD</a:t>
            </a:r>
            <a:endParaRPr lang="en-US" dirty="0"/>
          </a:p>
        </p:txBody>
      </p:sp>
      <p:pic>
        <p:nvPicPr>
          <p:cNvPr id="13" name="Graphic 12" descr="Person icon">
            <a:extLst>
              <a:ext uri="{FF2B5EF4-FFF2-40B4-BE49-F238E27FC236}">
                <a16:creationId xmlns:a16="http://schemas.microsoft.com/office/drawing/2014/main" id="{708AF784-88DE-4E89-A28B-BECD54FC11C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9746" y="4658533"/>
            <a:ext cx="123347" cy="123347"/>
          </a:xfrm>
          <a:prstGeom prst="rect">
            <a:avLst/>
          </a:prstGeom>
        </p:spPr>
      </p:pic>
      <p:pic>
        <p:nvPicPr>
          <p:cNvPr id="15" name="Graphic 14" descr="Phone icon">
            <a:extLst>
              <a:ext uri="{FF2B5EF4-FFF2-40B4-BE49-F238E27FC236}">
                <a16:creationId xmlns:a16="http://schemas.microsoft.com/office/drawing/2014/main" id="{E276E47B-4C08-4FEC-AAE8-3DCCBA7EE72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9746" y="4891098"/>
            <a:ext cx="123347" cy="123347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F9E03C-A81E-4083-9F20-EF8FFAF591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6527" y="5334305"/>
            <a:ext cx="3381375" cy="277342"/>
          </a:xfrm>
        </p:spPr>
        <p:txBody>
          <a:bodyPr/>
          <a:lstStyle/>
          <a:p>
            <a:r>
              <a:rPr lang="tr-TR" dirty="0"/>
              <a:t>y.altunel@iku.edu.tr</a:t>
            </a:r>
            <a:endParaRPr lang="en-US" dirty="0"/>
          </a:p>
        </p:txBody>
      </p:sp>
      <p:pic>
        <p:nvPicPr>
          <p:cNvPr id="14" name="Graphic 13" descr="Email icon">
            <a:extLst>
              <a:ext uri="{FF2B5EF4-FFF2-40B4-BE49-F238E27FC236}">
                <a16:creationId xmlns:a16="http://schemas.microsoft.com/office/drawing/2014/main" id="{4F2D4997-93AD-4A62-8488-4572923DB817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89746" y="5141739"/>
            <a:ext cx="123347" cy="123347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88557579-7DEF-FF4C-AD37-0E81A6BB3B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6527" y="5640086"/>
            <a:ext cx="3381375" cy="277342"/>
          </a:xfrm>
        </p:spPr>
        <p:txBody>
          <a:bodyPr/>
          <a:lstStyle/>
          <a:p>
            <a:r>
              <a:rPr lang="tr-TR" dirty="0">
                <a:hlinkClick r:id="rId10"/>
              </a:rPr>
              <a:t>http://cats.iku.edu.tr/portal/site/0181f2bc-77e3-4a85-ade9-77639d9bcfe7</a:t>
            </a:r>
            <a:endParaRPr lang="en-US" dirty="0"/>
          </a:p>
        </p:txBody>
      </p:sp>
      <p:pic>
        <p:nvPicPr>
          <p:cNvPr id="30" name="Graphic 29" descr="World web icon">
            <a:extLst>
              <a:ext uri="{FF2B5EF4-FFF2-40B4-BE49-F238E27FC236}">
                <a16:creationId xmlns:a16="http://schemas.microsoft.com/office/drawing/2014/main" id="{07973E30-0C12-8442-90B5-47D1C45545A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85526" y="5376226"/>
            <a:ext cx="127566" cy="12756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0C4AF-7F4E-4FFB-988E-1941A3B9B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6527" y="5028523"/>
            <a:ext cx="3381375" cy="277342"/>
          </a:xfrm>
        </p:spPr>
        <p:txBody>
          <a:bodyPr/>
          <a:lstStyle/>
          <a:p>
            <a:r>
              <a:rPr lang="tr-TR" dirty="0">
                <a:hlinkClick r:id="rId13"/>
              </a:rPr>
              <a:t>https://www.linkedin.com/in/yusuf-altunel-2070a31b/</a:t>
            </a:r>
            <a:endParaRPr lang="tr-TR" dirty="0"/>
          </a:p>
        </p:txBody>
      </p:sp>
      <p:pic>
        <p:nvPicPr>
          <p:cNvPr id="12" name="Picture Placeholder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C3937880-A386-4C54-8FE0-A3BD1320D92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14"/>
          <a:srcRect t="15039" b="15039"/>
          <a:stretch>
            <a:fillRect/>
          </a:stretch>
        </p:blipFill>
        <p:spPr>
          <a:xfrm>
            <a:off x="5275033" y="3474017"/>
            <a:ext cx="1008126" cy="704088"/>
          </a:xfrm>
        </p:spPr>
      </p:pic>
    </p:spTree>
    <p:extLst>
      <p:ext uri="{BB962C8B-B14F-4D97-AF65-F5344CB8AC3E}">
        <p14:creationId xmlns:p14="http://schemas.microsoft.com/office/powerpoint/2010/main" val="2201429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at Pitch Decks - Environment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Custom 143">
      <a:majorFont>
        <a:latin typeface="Rockwel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A6FDF942-F0F2-481F-89A6-3C843685D4D6}" vid="{7F86F4AB-42EE-4332-B4F8-CEECA269CCE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E1961DD-CF27-443B-BFF6-660110ED05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BF51BA-BD97-4518-9266-AD3D615498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490261-1200-4EC7-95B0-2241EE54AA34}">
  <ds:schemaRefs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http://schemas.microsoft.com/office/infopath/2007/PartnerControls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1677</Words>
  <Application>Microsoft Office PowerPoint</Application>
  <PresentationFormat>Ekran Gösterisi (4:3)</PresentationFormat>
  <Paragraphs>301</Paragraphs>
  <Slides>17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NewBaskerville-Roman</vt:lpstr>
      <vt:lpstr>Rockwell</vt:lpstr>
      <vt:lpstr>Times New Roman</vt:lpstr>
      <vt:lpstr>Office Theme</vt:lpstr>
      <vt:lpstr>Chapter 30 Python GUI Programming: PySimpleGUI</vt:lpstr>
      <vt:lpstr>Content</vt:lpstr>
      <vt:lpstr>Chapter 30 Python GUI Programming: PySimpleGUI</vt:lpstr>
      <vt:lpstr>Installing PySimpleGUI</vt:lpstr>
      <vt:lpstr>Chapter 30 Python GUI Programming: PySimpleGUI</vt:lpstr>
      <vt:lpstr>Creating Basic UI Elements in PySimpleGUI</vt:lpstr>
      <vt:lpstr>mock-up of the image viewer</vt:lpstr>
      <vt:lpstr>img_viewer.py</vt:lpstr>
      <vt:lpstr>img_viewer.py</vt:lpstr>
      <vt:lpstr>Source code part-1</vt:lpstr>
      <vt:lpstr>Source code part-2</vt:lpstr>
      <vt:lpstr>Source code part-3</vt:lpstr>
      <vt:lpstr>Source code part-4</vt:lpstr>
      <vt:lpstr>Source code part-5</vt:lpstr>
      <vt:lpstr>Source code part-6</vt:lpstr>
      <vt:lpstr>Source code part-7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2020-03-08T12:56:30Z</dcterms:created>
  <dcterms:modified xsi:type="dcterms:W3CDTF">2020-10-29T17:28:43Z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6f6488-6f7b-4340-b880-828136ff7811_Enabled">
    <vt:lpwstr>True</vt:lpwstr>
  </property>
  <property fmtid="{D5CDD505-2E9C-101B-9397-08002B2CF9AE}" pid="3" name="MSIP_Label_c66f6488-6f7b-4340-b880-828136ff7811_SiteId">
    <vt:lpwstr>832c1bc9-1e43-4f93-a086-708d36b0c95d</vt:lpwstr>
  </property>
  <property fmtid="{D5CDD505-2E9C-101B-9397-08002B2CF9AE}" pid="4" name="MSIP_Label_c66f6488-6f7b-4340-b880-828136ff7811_Owner">
    <vt:lpwstr>YUSUF.ALTUNEL@lcwaikiki.com</vt:lpwstr>
  </property>
  <property fmtid="{D5CDD505-2E9C-101B-9397-08002B2CF9AE}" pid="5" name="MSIP_Label_c66f6488-6f7b-4340-b880-828136ff7811_SetDate">
    <vt:lpwstr>2020-03-08T12:58:36.1892785Z</vt:lpwstr>
  </property>
  <property fmtid="{D5CDD505-2E9C-101B-9397-08002B2CF9AE}" pid="6" name="MSIP_Label_c66f6488-6f7b-4340-b880-828136ff7811_Name">
    <vt:lpwstr>Genel - General</vt:lpwstr>
  </property>
  <property fmtid="{D5CDD505-2E9C-101B-9397-08002B2CF9AE}" pid="7" name="MSIP_Label_c66f6488-6f7b-4340-b880-828136ff7811_Application">
    <vt:lpwstr>Microsoft Azure Information Protection</vt:lpwstr>
  </property>
  <property fmtid="{D5CDD505-2E9C-101B-9397-08002B2CF9AE}" pid="8" name="MSIP_Label_c66f6488-6f7b-4340-b880-828136ff7811_ActionId">
    <vt:lpwstr>3001c4db-7da2-4d88-83ca-a30e68fe79b1</vt:lpwstr>
  </property>
  <property fmtid="{D5CDD505-2E9C-101B-9397-08002B2CF9AE}" pid="9" name="MSIP_Label_c66f6488-6f7b-4340-b880-828136ff7811_Extended_MSFT_Method">
    <vt:lpwstr>Manual</vt:lpwstr>
  </property>
  <property fmtid="{D5CDD505-2E9C-101B-9397-08002B2CF9AE}" pid="10" name="Sensitivity">
    <vt:lpwstr>Genel - General</vt:lpwstr>
  </property>
</Properties>
</file>