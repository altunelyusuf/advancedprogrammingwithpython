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48"/>
  </p:notesMasterIdLst>
  <p:handoutMasterIdLst>
    <p:handoutMasterId r:id="rId49"/>
  </p:handoutMasterIdLst>
  <p:sldIdLst>
    <p:sldId id="256" r:id="rId5"/>
    <p:sldId id="261" r:id="rId6"/>
    <p:sldId id="517" r:id="rId7"/>
    <p:sldId id="405" r:id="rId8"/>
    <p:sldId id="531" r:id="rId9"/>
    <p:sldId id="533" r:id="rId10"/>
    <p:sldId id="532" r:id="rId11"/>
    <p:sldId id="534" r:id="rId12"/>
    <p:sldId id="535" r:id="rId13"/>
    <p:sldId id="536" r:id="rId14"/>
    <p:sldId id="537" r:id="rId15"/>
    <p:sldId id="538" r:id="rId16"/>
    <p:sldId id="539" r:id="rId17"/>
    <p:sldId id="540" r:id="rId18"/>
    <p:sldId id="541" r:id="rId19"/>
    <p:sldId id="542" r:id="rId20"/>
    <p:sldId id="543" r:id="rId21"/>
    <p:sldId id="544" r:id="rId22"/>
    <p:sldId id="545" r:id="rId23"/>
    <p:sldId id="546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554" r:id="rId32"/>
    <p:sldId id="555" r:id="rId33"/>
    <p:sldId id="556" r:id="rId34"/>
    <p:sldId id="557" r:id="rId35"/>
    <p:sldId id="558" r:id="rId36"/>
    <p:sldId id="559" r:id="rId37"/>
    <p:sldId id="560" r:id="rId38"/>
    <p:sldId id="561" r:id="rId39"/>
    <p:sldId id="562" r:id="rId40"/>
    <p:sldId id="563" r:id="rId41"/>
    <p:sldId id="564" r:id="rId42"/>
    <p:sldId id="565" r:id="rId43"/>
    <p:sldId id="566" r:id="rId44"/>
    <p:sldId id="567" r:id="rId45"/>
    <p:sldId id="568" r:id="rId46"/>
    <p:sldId id="279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B2"/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07" autoAdjust="0"/>
  </p:normalViewPr>
  <p:slideViewPr>
    <p:cSldViewPr snapToGrid="0">
      <p:cViewPr varScale="1">
        <p:scale>
          <a:sx n="77" d="100"/>
          <a:sy n="77" d="100"/>
        </p:scale>
        <p:origin x="1646" y="6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083152-343C-4D9E-AB41-197C3BC2B524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22DE7918-B707-4895-9534-ABE3EF61D33E}">
      <dgm:prSet/>
      <dgm:spPr/>
      <dgm:t>
        <a:bodyPr/>
        <a:lstStyle/>
        <a:p>
          <a:r>
            <a:rPr lang="en-US" dirty="0"/>
            <a:t>Importing the module – </a:t>
          </a:r>
          <a:r>
            <a:rPr lang="en-US" dirty="0" err="1"/>
            <a:t>tkinter</a:t>
          </a:r>
          <a:endParaRPr lang="tr-TR" dirty="0"/>
        </a:p>
      </dgm:t>
    </dgm:pt>
    <dgm:pt modelId="{D4A95BDD-1A63-48AF-8731-61ECCC07689F}" type="parTrans" cxnId="{39E79285-049A-484E-B3C9-686BDBC1D6B2}">
      <dgm:prSet/>
      <dgm:spPr/>
      <dgm:t>
        <a:bodyPr/>
        <a:lstStyle/>
        <a:p>
          <a:endParaRPr lang="tr-TR"/>
        </a:p>
      </dgm:t>
    </dgm:pt>
    <dgm:pt modelId="{B9D474D6-4B8D-4627-A31A-B7500653C660}" type="sibTrans" cxnId="{39E79285-049A-484E-B3C9-686BDBC1D6B2}">
      <dgm:prSet/>
      <dgm:spPr/>
      <dgm:t>
        <a:bodyPr/>
        <a:lstStyle/>
        <a:p>
          <a:endParaRPr lang="tr-TR"/>
        </a:p>
      </dgm:t>
    </dgm:pt>
    <dgm:pt modelId="{C1F46C89-1ECE-4F02-8254-2F2C79514E3D}">
      <dgm:prSet/>
      <dgm:spPr/>
      <dgm:t>
        <a:bodyPr/>
        <a:lstStyle/>
        <a:p>
          <a:r>
            <a:rPr lang="en-US" dirty="0"/>
            <a:t>Create the main window (container)</a:t>
          </a:r>
          <a:endParaRPr lang="tr-TR" dirty="0"/>
        </a:p>
      </dgm:t>
    </dgm:pt>
    <dgm:pt modelId="{ACC03270-7BAB-47FB-9FE3-D5D4B183740D}" type="parTrans" cxnId="{E527F697-2FB9-4F73-AF2E-A399B20FE9FE}">
      <dgm:prSet/>
      <dgm:spPr/>
      <dgm:t>
        <a:bodyPr/>
        <a:lstStyle/>
        <a:p>
          <a:endParaRPr lang="tr-TR"/>
        </a:p>
      </dgm:t>
    </dgm:pt>
    <dgm:pt modelId="{9DAF0FEE-2147-498D-8B17-3445069286B3}" type="sibTrans" cxnId="{E527F697-2FB9-4F73-AF2E-A399B20FE9FE}">
      <dgm:prSet/>
      <dgm:spPr/>
      <dgm:t>
        <a:bodyPr/>
        <a:lstStyle/>
        <a:p>
          <a:endParaRPr lang="tr-TR"/>
        </a:p>
      </dgm:t>
    </dgm:pt>
    <dgm:pt modelId="{2F27C566-24E0-40EF-8D15-69B41ADFFEDF}">
      <dgm:prSet/>
      <dgm:spPr/>
      <dgm:t>
        <a:bodyPr/>
        <a:lstStyle/>
        <a:p>
          <a:r>
            <a:rPr lang="en-US" dirty="0"/>
            <a:t>Add any number of widgets to the main window</a:t>
          </a:r>
          <a:endParaRPr lang="tr-TR" dirty="0"/>
        </a:p>
      </dgm:t>
    </dgm:pt>
    <dgm:pt modelId="{C85EBD56-FBCA-41B5-A7B2-5C6E2E259AA5}" type="parTrans" cxnId="{F8F9866D-A8CD-4E9F-8FD0-9819CC8D98C0}">
      <dgm:prSet/>
      <dgm:spPr/>
      <dgm:t>
        <a:bodyPr/>
        <a:lstStyle/>
        <a:p>
          <a:endParaRPr lang="tr-TR"/>
        </a:p>
      </dgm:t>
    </dgm:pt>
    <dgm:pt modelId="{3F2913F7-8254-4A83-8572-8F066DA384E3}" type="sibTrans" cxnId="{F8F9866D-A8CD-4E9F-8FD0-9819CC8D98C0}">
      <dgm:prSet/>
      <dgm:spPr/>
      <dgm:t>
        <a:bodyPr/>
        <a:lstStyle/>
        <a:p>
          <a:endParaRPr lang="tr-TR"/>
        </a:p>
      </dgm:t>
    </dgm:pt>
    <dgm:pt modelId="{07F12B6C-0E69-4ACD-9E78-38751EC76E9D}">
      <dgm:prSet/>
      <dgm:spPr/>
      <dgm:t>
        <a:bodyPr/>
        <a:lstStyle/>
        <a:p>
          <a:r>
            <a:rPr lang="en-US" dirty="0"/>
            <a:t>Apply the event Trigger on the widgets.</a:t>
          </a:r>
          <a:endParaRPr lang="tr-TR" dirty="0"/>
        </a:p>
      </dgm:t>
    </dgm:pt>
    <dgm:pt modelId="{0C84E375-5645-4E5F-845A-698F4518AD1F}" type="parTrans" cxnId="{07E2DD8B-BED5-4B54-952E-76972614D6DA}">
      <dgm:prSet/>
      <dgm:spPr/>
      <dgm:t>
        <a:bodyPr/>
        <a:lstStyle/>
        <a:p>
          <a:endParaRPr lang="tr-TR"/>
        </a:p>
      </dgm:t>
    </dgm:pt>
    <dgm:pt modelId="{3CEAB059-A518-4C6E-ACC6-F0C798C55406}" type="sibTrans" cxnId="{07E2DD8B-BED5-4B54-952E-76972614D6DA}">
      <dgm:prSet/>
      <dgm:spPr/>
      <dgm:t>
        <a:bodyPr/>
        <a:lstStyle/>
        <a:p>
          <a:endParaRPr lang="tr-TR"/>
        </a:p>
      </dgm:t>
    </dgm:pt>
    <dgm:pt modelId="{3E735AD6-8202-44C2-B2E2-FD9B5DBF06AA}" type="pres">
      <dgm:prSet presAssocID="{5E083152-343C-4D9E-AB41-197C3BC2B524}" presName="Name0" presStyleCnt="0">
        <dgm:presLayoutVars>
          <dgm:dir/>
          <dgm:resizeHandles val="exact"/>
        </dgm:presLayoutVars>
      </dgm:prSet>
      <dgm:spPr/>
    </dgm:pt>
    <dgm:pt modelId="{00A3D47A-89DE-4926-87E1-3F066CC64E4B}" type="pres">
      <dgm:prSet presAssocID="{5E083152-343C-4D9E-AB41-197C3BC2B524}" presName="arrow" presStyleLbl="bgShp" presStyleIdx="0" presStyleCnt="1"/>
      <dgm:spPr/>
    </dgm:pt>
    <dgm:pt modelId="{1B6EFFEB-6152-4882-8580-DC7A5DC55D1D}" type="pres">
      <dgm:prSet presAssocID="{5E083152-343C-4D9E-AB41-197C3BC2B524}" presName="points" presStyleCnt="0"/>
      <dgm:spPr/>
    </dgm:pt>
    <dgm:pt modelId="{B5E5194E-A2F6-4709-8C12-A06415F17DD9}" type="pres">
      <dgm:prSet presAssocID="{22DE7918-B707-4895-9534-ABE3EF61D33E}" presName="compositeA" presStyleCnt="0"/>
      <dgm:spPr/>
    </dgm:pt>
    <dgm:pt modelId="{8763C8D8-EC8C-4376-975D-F205AFEF1F01}" type="pres">
      <dgm:prSet presAssocID="{22DE7918-B707-4895-9534-ABE3EF61D33E}" presName="textA" presStyleLbl="revTx" presStyleIdx="0" presStyleCnt="4">
        <dgm:presLayoutVars>
          <dgm:bulletEnabled val="1"/>
        </dgm:presLayoutVars>
      </dgm:prSet>
      <dgm:spPr/>
    </dgm:pt>
    <dgm:pt modelId="{C13709BE-6CA4-4629-9AD3-95AE65678C96}" type="pres">
      <dgm:prSet presAssocID="{22DE7918-B707-4895-9534-ABE3EF61D33E}" presName="circleA" presStyleLbl="node1" presStyleIdx="0" presStyleCnt="4"/>
      <dgm:spPr/>
    </dgm:pt>
    <dgm:pt modelId="{FBB233FD-1917-4E63-8D29-57BF5BB99450}" type="pres">
      <dgm:prSet presAssocID="{22DE7918-B707-4895-9534-ABE3EF61D33E}" presName="spaceA" presStyleCnt="0"/>
      <dgm:spPr/>
    </dgm:pt>
    <dgm:pt modelId="{69552350-1980-4865-98C1-EDAD55272812}" type="pres">
      <dgm:prSet presAssocID="{B9D474D6-4B8D-4627-A31A-B7500653C660}" presName="space" presStyleCnt="0"/>
      <dgm:spPr/>
    </dgm:pt>
    <dgm:pt modelId="{14260050-73BE-4260-84B2-40181C41BD5D}" type="pres">
      <dgm:prSet presAssocID="{C1F46C89-1ECE-4F02-8254-2F2C79514E3D}" presName="compositeB" presStyleCnt="0"/>
      <dgm:spPr/>
    </dgm:pt>
    <dgm:pt modelId="{7F5BA76E-4059-428E-AD16-B3F9EC170E56}" type="pres">
      <dgm:prSet presAssocID="{C1F46C89-1ECE-4F02-8254-2F2C79514E3D}" presName="textB" presStyleLbl="revTx" presStyleIdx="1" presStyleCnt="4">
        <dgm:presLayoutVars>
          <dgm:bulletEnabled val="1"/>
        </dgm:presLayoutVars>
      </dgm:prSet>
      <dgm:spPr/>
    </dgm:pt>
    <dgm:pt modelId="{337D3FE6-3210-4FAD-83D8-BCF20B1EC175}" type="pres">
      <dgm:prSet presAssocID="{C1F46C89-1ECE-4F02-8254-2F2C79514E3D}" presName="circleB" presStyleLbl="node1" presStyleIdx="1" presStyleCnt="4"/>
      <dgm:spPr/>
    </dgm:pt>
    <dgm:pt modelId="{AA6B6814-210B-49A2-AFF2-75EB59731091}" type="pres">
      <dgm:prSet presAssocID="{C1F46C89-1ECE-4F02-8254-2F2C79514E3D}" presName="spaceB" presStyleCnt="0"/>
      <dgm:spPr/>
    </dgm:pt>
    <dgm:pt modelId="{23A34996-6B9C-49CE-9539-9F3719DA7E56}" type="pres">
      <dgm:prSet presAssocID="{9DAF0FEE-2147-498D-8B17-3445069286B3}" presName="space" presStyleCnt="0"/>
      <dgm:spPr/>
    </dgm:pt>
    <dgm:pt modelId="{994CBF0B-E121-4577-8D4B-2EDBF4DB04A7}" type="pres">
      <dgm:prSet presAssocID="{2F27C566-24E0-40EF-8D15-69B41ADFFEDF}" presName="compositeA" presStyleCnt="0"/>
      <dgm:spPr/>
    </dgm:pt>
    <dgm:pt modelId="{615D28F8-1815-4C01-8E31-47D65148C55F}" type="pres">
      <dgm:prSet presAssocID="{2F27C566-24E0-40EF-8D15-69B41ADFFEDF}" presName="textA" presStyleLbl="revTx" presStyleIdx="2" presStyleCnt="4">
        <dgm:presLayoutVars>
          <dgm:bulletEnabled val="1"/>
        </dgm:presLayoutVars>
      </dgm:prSet>
      <dgm:spPr/>
    </dgm:pt>
    <dgm:pt modelId="{5469AC17-7698-4E30-8A77-337370440AEB}" type="pres">
      <dgm:prSet presAssocID="{2F27C566-24E0-40EF-8D15-69B41ADFFEDF}" presName="circleA" presStyleLbl="node1" presStyleIdx="2" presStyleCnt="4"/>
      <dgm:spPr/>
    </dgm:pt>
    <dgm:pt modelId="{1D1C4BD0-5BB3-45F8-80B2-C9EE9EA29D2C}" type="pres">
      <dgm:prSet presAssocID="{2F27C566-24E0-40EF-8D15-69B41ADFFEDF}" presName="spaceA" presStyleCnt="0"/>
      <dgm:spPr/>
    </dgm:pt>
    <dgm:pt modelId="{97E01F84-3873-4ADA-BA59-FF3A18D679AF}" type="pres">
      <dgm:prSet presAssocID="{3F2913F7-8254-4A83-8572-8F066DA384E3}" presName="space" presStyleCnt="0"/>
      <dgm:spPr/>
    </dgm:pt>
    <dgm:pt modelId="{326F8D06-8214-40A4-AA4C-422A52D93C64}" type="pres">
      <dgm:prSet presAssocID="{07F12B6C-0E69-4ACD-9E78-38751EC76E9D}" presName="compositeB" presStyleCnt="0"/>
      <dgm:spPr/>
    </dgm:pt>
    <dgm:pt modelId="{9D53EEEF-87A6-45A9-8DDC-67833AA6BBB6}" type="pres">
      <dgm:prSet presAssocID="{07F12B6C-0E69-4ACD-9E78-38751EC76E9D}" presName="textB" presStyleLbl="revTx" presStyleIdx="3" presStyleCnt="4">
        <dgm:presLayoutVars>
          <dgm:bulletEnabled val="1"/>
        </dgm:presLayoutVars>
      </dgm:prSet>
      <dgm:spPr/>
    </dgm:pt>
    <dgm:pt modelId="{C584F9D1-40E1-41EC-B0CC-1CF72389902D}" type="pres">
      <dgm:prSet presAssocID="{07F12B6C-0E69-4ACD-9E78-38751EC76E9D}" presName="circleB" presStyleLbl="node1" presStyleIdx="3" presStyleCnt="4"/>
      <dgm:spPr/>
    </dgm:pt>
    <dgm:pt modelId="{AC81D62C-B686-40FE-B951-45A2606A7733}" type="pres">
      <dgm:prSet presAssocID="{07F12B6C-0E69-4ACD-9E78-38751EC76E9D}" presName="spaceB" presStyleCnt="0"/>
      <dgm:spPr/>
    </dgm:pt>
  </dgm:ptLst>
  <dgm:cxnLst>
    <dgm:cxn modelId="{1BB9772F-AFDB-4054-AEA9-24A4F7A41EFC}" type="presOf" srcId="{2F27C566-24E0-40EF-8D15-69B41ADFFEDF}" destId="{615D28F8-1815-4C01-8E31-47D65148C55F}" srcOrd="0" destOrd="0" presId="urn:microsoft.com/office/officeart/2005/8/layout/hProcess11"/>
    <dgm:cxn modelId="{F8F9866D-A8CD-4E9F-8FD0-9819CC8D98C0}" srcId="{5E083152-343C-4D9E-AB41-197C3BC2B524}" destId="{2F27C566-24E0-40EF-8D15-69B41ADFFEDF}" srcOrd="2" destOrd="0" parTransId="{C85EBD56-FBCA-41B5-A7B2-5C6E2E259AA5}" sibTransId="{3F2913F7-8254-4A83-8572-8F066DA384E3}"/>
    <dgm:cxn modelId="{39E79285-049A-484E-B3C9-686BDBC1D6B2}" srcId="{5E083152-343C-4D9E-AB41-197C3BC2B524}" destId="{22DE7918-B707-4895-9534-ABE3EF61D33E}" srcOrd="0" destOrd="0" parTransId="{D4A95BDD-1A63-48AF-8731-61ECCC07689F}" sibTransId="{B9D474D6-4B8D-4627-A31A-B7500653C660}"/>
    <dgm:cxn modelId="{07E2DD8B-BED5-4B54-952E-76972614D6DA}" srcId="{5E083152-343C-4D9E-AB41-197C3BC2B524}" destId="{07F12B6C-0E69-4ACD-9E78-38751EC76E9D}" srcOrd="3" destOrd="0" parTransId="{0C84E375-5645-4E5F-845A-698F4518AD1F}" sibTransId="{3CEAB059-A518-4C6E-ACC6-F0C798C55406}"/>
    <dgm:cxn modelId="{5CCCDA8E-74A4-4635-829A-1A15A79C82E0}" type="presOf" srcId="{5E083152-343C-4D9E-AB41-197C3BC2B524}" destId="{3E735AD6-8202-44C2-B2E2-FD9B5DBF06AA}" srcOrd="0" destOrd="0" presId="urn:microsoft.com/office/officeart/2005/8/layout/hProcess11"/>
    <dgm:cxn modelId="{E527F697-2FB9-4F73-AF2E-A399B20FE9FE}" srcId="{5E083152-343C-4D9E-AB41-197C3BC2B524}" destId="{C1F46C89-1ECE-4F02-8254-2F2C79514E3D}" srcOrd="1" destOrd="0" parTransId="{ACC03270-7BAB-47FB-9FE3-D5D4B183740D}" sibTransId="{9DAF0FEE-2147-498D-8B17-3445069286B3}"/>
    <dgm:cxn modelId="{0865C8AC-DB71-48BE-98C2-9995F81D74B0}" type="presOf" srcId="{C1F46C89-1ECE-4F02-8254-2F2C79514E3D}" destId="{7F5BA76E-4059-428E-AD16-B3F9EC170E56}" srcOrd="0" destOrd="0" presId="urn:microsoft.com/office/officeart/2005/8/layout/hProcess11"/>
    <dgm:cxn modelId="{E2328ABA-683A-49D7-A2AE-4037ABF2276B}" type="presOf" srcId="{22DE7918-B707-4895-9534-ABE3EF61D33E}" destId="{8763C8D8-EC8C-4376-975D-F205AFEF1F01}" srcOrd="0" destOrd="0" presId="urn:microsoft.com/office/officeart/2005/8/layout/hProcess11"/>
    <dgm:cxn modelId="{1A6C51CF-8346-47B2-83DB-763ECFF20CF7}" type="presOf" srcId="{07F12B6C-0E69-4ACD-9E78-38751EC76E9D}" destId="{9D53EEEF-87A6-45A9-8DDC-67833AA6BBB6}" srcOrd="0" destOrd="0" presId="urn:microsoft.com/office/officeart/2005/8/layout/hProcess11"/>
    <dgm:cxn modelId="{1A62FA1A-2F42-4A44-AA00-9A9B93EA48F6}" type="presParOf" srcId="{3E735AD6-8202-44C2-B2E2-FD9B5DBF06AA}" destId="{00A3D47A-89DE-4926-87E1-3F066CC64E4B}" srcOrd="0" destOrd="0" presId="urn:microsoft.com/office/officeart/2005/8/layout/hProcess11"/>
    <dgm:cxn modelId="{5838B559-CF8D-40F1-98B7-DC227E697E6D}" type="presParOf" srcId="{3E735AD6-8202-44C2-B2E2-FD9B5DBF06AA}" destId="{1B6EFFEB-6152-4882-8580-DC7A5DC55D1D}" srcOrd="1" destOrd="0" presId="urn:microsoft.com/office/officeart/2005/8/layout/hProcess11"/>
    <dgm:cxn modelId="{61E06D41-EC0C-4B7A-89B5-B21D2894AA92}" type="presParOf" srcId="{1B6EFFEB-6152-4882-8580-DC7A5DC55D1D}" destId="{B5E5194E-A2F6-4709-8C12-A06415F17DD9}" srcOrd="0" destOrd="0" presId="urn:microsoft.com/office/officeart/2005/8/layout/hProcess11"/>
    <dgm:cxn modelId="{E8304ED0-6FF7-42CC-B403-97AE08C7E31C}" type="presParOf" srcId="{B5E5194E-A2F6-4709-8C12-A06415F17DD9}" destId="{8763C8D8-EC8C-4376-975D-F205AFEF1F01}" srcOrd="0" destOrd="0" presId="urn:microsoft.com/office/officeart/2005/8/layout/hProcess11"/>
    <dgm:cxn modelId="{4BE9FE99-63DC-4805-95AD-460476211E2A}" type="presParOf" srcId="{B5E5194E-A2F6-4709-8C12-A06415F17DD9}" destId="{C13709BE-6CA4-4629-9AD3-95AE65678C96}" srcOrd="1" destOrd="0" presId="urn:microsoft.com/office/officeart/2005/8/layout/hProcess11"/>
    <dgm:cxn modelId="{D20858B3-87DF-41EB-9E9D-2D7BCF31A4D6}" type="presParOf" srcId="{B5E5194E-A2F6-4709-8C12-A06415F17DD9}" destId="{FBB233FD-1917-4E63-8D29-57BF5BB99450}" srcOrd="2" destOrd="0" presId="urn:microsoft.com/office/officeart/2005/8/layout/hProcess11"/>
    <dgm:cxn modelId="{BD6D7C2B-AB37-45F0-9896-9A7353070E88}" type="presParOf" srcId="{1B6EFFEB-6152-4882-8580-DC7A5DC55D1D}" destId="{69552350-1980-4865-98C1-EDAD55272812}" srcOrd="1" destOrd="0" presId="urn:microsoft.com/office/officeart/2005/8/layout/hProcess11"/>
    <dgm:cxn modelId="{5834194D-A2A8-4EA5-B009-C3D13E72FDC9}" type="presParOf" srcId="{1B6EFFEB-6152-4882-8580-DC7A5DC55D1D}" destId="{14260050-73BE-4260-84B2-40181C41BD5D}" srcOrd="2" destOrd="0" presId="urn:microsoft.com/office/officeart/2005/8/layout/hProcess11"/>
    <dgm:cxn modelId="{85BC276B-5CFF-4DAD-BA05-94815A9022E3}" type="presParOf" srcId="{14260050-73BE-4260-84B2-40181C41BD5D}" destId="{7F5BA76E-4059-428E-AD16-B3F9EC170E56}" srcOrd="0" destOrd="0" presId="urn:microsoft.com/office/officeart/2005/8/layout/hProcess11"/>
    <dgm:cxn modelId="{2AC0A473-81F2-440E-AD89-4F858656D509}" type="presParOf" srcId="{14260050-73BE-4260-84B2-40181C41BD5D}" destId="{337D3FE6-3210-4FAD-83D8-BCF20B1EC175}" srcOrd="1" destOrd="0" presId="urn:microsoft.com/office/officeart/2005/8/layout/hProcess11"/>
    <dgm:cxn modelId="{915F5403-ACCA-4362-AEA2-8844051D17D8}" type="presParOf" srcId="{14260050-73BE-4260-84B2-40181C41BD5D}" destId="{AA6B6814-210B-49A2-AFF2-75EB59731091}" srcOrd="2" destOrd="0" presId="urn:microsoft.com/office/officeart/2005/8/layout/hProcess11"/>
    <dgm:cxn modelId="{A4BF2D19-6D48-48EA-8E1D-9E01AFC7ACC5}" type="presParOf" srcId="{1B6EFFEB-6152-4882-8580-DC7A5DC55D1D}" destId="{23A34996-6B9C-49CE-9539-9F3719DA7E56}" srcOrd="3" destOrd="0" presId="urn:microsoft.com/office/officeart/2005/8/layout/hProcess11"/>
    <dgm:cxn modelId="{099A3D70-5F27-4F1E-9E8B-9D7960F4BE62}" type="presParOf" srcId="{1B6EFFEB-6152-4882-8580-DC7A5DC55D1D}" destId="{994CBF0B-E121-4577-8D4B-2EDBF4DB04A7}" srcOrd="4" destOrd="0" presId="urn:microsoft.com/office/officeart/2005/8/layout/hProcess11"/>
    <dgm:cxn modelId="{B63A9A15-FC97-4091-9BA6-96B7AC02220C}" type="presParOf" srcId="{994CBF0B-E121-4577-8D4B-2EDBF4DB04A7}" destId="{615D28F8-1815-4C01-8E31-47D65148C55F}" srcOrd="0" destOrd="0" presId="urn:microsoft.com/office/officeart/2005/8/layout/hProcess11"/>
    <dgm:cxn modelId="{702BD27C-3F32-4B35-BC18-0337B92816FC}" type="presParOf" srcId="{994CBF0B-E121-4577-8D4B-2EDBF4DB04A7}" destId="{5469AC17-7698-4E30-8A77-337370440AEB}" srcOrd="1" destOrd="0" presId="urn:microsoft.com/office/officeart/2005/8/layout/hProcess11"/>
    <dgm:cxn modelId="{CE895A1D-E49D-4C01-8A2E-840B54B2935A}" type="presParOf" srcId="{994CBF0B-E121-4577-8D4B-2EDBF4DB04A7}" destId="{1D1C4BD0-5BB3-45F8-80B2-C9EE9EA29D2C}" srcOrd="2" destOrd="0" presId="urn:microsoft.com/office/officeart/2005/8/layout/hProcess11"/>
    <dgm:cxn modelId="{6AE263DA-7550-4430-B964-B38CD66513FE}" type="presParOf" srcId="{1B6EFFEB-6152-4882-8580-DC7A5DC55D1D}" destId="{97E01F84-3873-4ADA-BA59-FF3A18D679AF}" srcOrd="5" destOrd="0" presId="urn:microsoft.com/office/officeart/2005/8/layout/hProcess11"/>
    <dgm:cxn modelId="{0D512307-7FF4-432E-96B7-7A5600138F11}" type="presParOf" srcId="{1B6EFFEB-6152-4882-8580-DC7A5DC55D1D}" destId="{326F8D06-8214-40A4-AA4C-422A52D93C64}" srcOrd="6" destOrd="0" presId="urn:microsoft.com/office/officeart/2005/8/layout/hProcess11"/>
    <dgm:cxn modelId="{3ACC4512-F816-4D8D-A871-651B50C30F7F}" type="presParOf" srcId="{326F8D06-8214-40A4-AA4C-422A52D93C64}" destId="{9D53EEEF-87A6-45A9-8DDC-67833AA6BBB6}" srcOrd="0" destOrd="0" presId="urn:microsoft.com/office/officeart/2005/8/layout/hProcess11"/>
    <dgm:cxn modelId="{1676D864-FCE7-4184-807B-8F630AFB1DF0}" type="presParOf" srcId="{326F8D06-8214-40A4-AA4C-422A52D93C64}" destId="{C584F9D1-40E1-41EC-B0CC-1CF72389902D}" srcOrd="1" destOrd="0" presId="urn:microsoft.com/office/officeart/2005/8/layout/hProcess11"/>
    <dgm:cxn modelId="{DE1195CE-49F1-4753-96F6-1E6394D497FD}" type="presParOf" srcId="{326F8D06-8214-40A4-AA4C-422A52D93C64}" destId="{AC81D62C-B686-40FE-B951-45A2606A773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3D47A-89DE-4926-87E1-3F066CC64E4B}">
      <dsp:nvSpPr>
        <dsp:cNvPr id="0" name=""/>
        <dsp:cNvSpPr/>
      </dsp:nvSpPr>
      <dsp:spPr>
        <a:xfrm>
          <a:off x="0" y="1404000"/>
          <a:ext cx="8505000" cy="187200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3C8D8-EC8C-4376-975D-F205AFEF1F01}">
      <dsp:nvSpPr>
        <dsp:cNvPr id="0" name=""/>
        <dsp:cNvSpPr/>
      </dsp:nvSpPr>
      <dsp:spPr>
        <a:xfrm>
          <a:off x="3830" y="0"/>
          <a:ext cx="1842611" cy="187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Importing the module – </a:t>
          </a:r>
          <a:r>
            <a:rPr lang="en-US" sz="2200" kern="1200" dirty="0" err="1"/>
            <a:t>tkinter</a:t>
          </a:r>
          <a:endParaRPr lang="tr-TR" sz="2200" kern="1200" dirty="0"/>
        </a:p>
      </dsp:txBody>
      <dsp:txXfrm>
        <a:off x="3830" y="0"/>
        <a:ext cx="1842611" cy="1872000"/>
      </dsp:txXfrm>
    </dsp:sp>
    <dsp:sp modelId="{C13709BE-6CA4-4629-9AD3-95AE65678C96}">
      <dsp:nvSpPr>
        <dsp:cNvPr id="0" name=""/>
        <dsp:cNvSpPr/>
      </dsp:nvSpPr>
      <dsp:spPr>
        <a:xfrm>
          <a:off x="691136" y="2106000"/>
          <a:ext cx="468000" cy="46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5BA76E-4059-428E-AD16-B3F9EC170E56}">
      <dsp:nvSpPr>
        <dsp:cNvPr id="0" name=""/>
        <dsp:cNvSpPr/>
      </dsp:nvSpPr>
      <dsp:spPr>
        <a:xfrm>
          <a:off x="1938573" y="2808000"/>
          <a:ext cx="1842611" cy="187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Create the main window (container)</a:t>
          </a:r>
          <a:endParaRPr lang="tr-TR" sz="2200" kern="1200" dirty="0"/>
        </a:p>
      </dsp:txBody>
      <dsp:txXfrm>
        <a:off x="1938573" y="2808000"/>
        <a:ext cx="1842611" cy="1872000"/>
      </dsp:txXfrm>
    </dsp:sp>
    <dsp:sp modelId="{337D3FE6-3210-4FAD-83D8-BCF20B1EC175}">
      <dsp:nvSpPr>
        <dsp:cNvPr id="0" name=""/>
        <dsp:cNvSpPr/>
      </dsp:nvSpPr>
      <dsp:spPr>
        <a:xfrm>
          <a:off x="2625878" y="2106000"/>
          <a:ext cx="468000" cy="46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D28F8-1815-4C01-8E31-47D65148C55F}">
      <dsp:nvSpPr>
        <dsp:cNvPr id="0" name=""/>
        <dsp:cNvSpPr/>
      </dsp:nvSpPr>
      <dsp:spPr>
        <a:xfrm>
          <a:off x="3873315" y="0"/>
          <a:ext cx="1842611" cy="187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Add any number of widgets to the main window</a:t>
          </a:r>
          <a:endParaRPr lang="tr-TR" sz="2200" kern="1200" dirty="0"/>
        </a:p>
      </dsp:txBody>
      <dsp:txXfrm>
        <a:off x="3873315" y="0"/>
        <a:ext cx="1842611" cy="1872000"/>
      </dsp:txXfrm>
    </dsp:sp>
    <dsp:sp modelId="{5469AC17-7698-4E30-8A77-337370440AEB}">
      <dsp:nvSpPr>
        <dsp:cNvPr id="0" name=""/>
        <dsp:cNvSpPr/>
      </dsp:nvSpPr>
      <dsp:spPr>
        <a:xfrm>
          <a:off x="4560621" y="2106000"/>
          <a:ext cx="468000" cy="46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3EEEF-87A6-45A9-8DDC-67833AA6BBB6}">
      <dsp:nvSpPr>
        <dsp:cNvPr id="0" name=""/>
        <dsp:cNvSpPr/>
      </dsp:nvSpPr>
      <dsp:spPr>
        <a:xfrm>
          <a:off x="5808057" y="2808000"/>
          <a:ext cx="1842611" cy="187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Apply the event Trigger on the widgets.</a:t>
          </a:r>
          <a:endParaRPr lang="tr-TR" sz="2200" kern="1200" dirty="0"/>
        </a:p>
      </dsp:txBody>
      <dsp:txXfrm>
        <a:off x="5808057" y="2808000"/>
        <a:ext cx="1842611" cy="1872000"/>
      </dsp:txXfrm>
    </dsp:sp>
    <dsp:sp modelId="{C584F9D1-40E1-41EC-B0CC-1CF72389902D}">
      <dsp:nvSpPr>
        <dsp:cNvPr id="0" name=""/>
        <dsp:cNvSpPr/>
      </dsp:nvSpPr>
      <dsp:spPr>
        <a:xfrm>
          <a:off x="6495363" y="2106000"/>
          <a:ext cx="468000" cy="46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10/29/2020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10/29/2020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9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5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68" r:id="rId8"/>
    <p:sldLayoutId id="2147483670" r:id="rId9"/>
    <p:sldLayoutId id="2147483653" r:id="rId10"/>
    <p:sldLayoutId id="2147483673" r:id="rId11"/>
    <p:sldLayoutId id="2147483674" r:id="rId12"/>
    <p:sldLayoutId id="2147483676" r:id="rId13"/>
    <p:sldLayoutId id="2147483677" r:id="rId14"/>
    <p:sldLayoutId id="2147483654" r:id="rId15"/>
    <p:sldLayoutId id="2147483660" r:id="rId16"/>
    <p:sldLayoutId id="2147483661" r:id="rId17"/>
    <p:sldLayoutId id="2147483678" r:id="rId18"/>
    <p:sldLayoutId id="2147483686" r:id="rId19"/>
    <p:sldLayoutId id="2147483687" r:id="rId20"/>
    <p:sldLayoutId id="2147483689" r:id="rId21"/>
    <p:sldLayoutId id="2147483690" r:id="rId22"/>
    <p:sldLayoutId id="2147483688" r:id="rId2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realpython.com/pysimplegui-python/" TargetMode="External"/><Relationship Id="rId4" Type="http://schemas.openxmlformats.org/officeDocument/2006/relationships/hyperlink" Target="https://realpython.com/pysimplegui-python/#autho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27.jpeg"/><Relationship Id="rId7" Type="http://schemas.openxmlformats.org/officeDocument/2006/relationships/image" Target="../media/image31.svg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28.png"/><Relationship Id="rId9" Type="http://schemas.openxmlformats.org/officeDocument/2006/relationships/image" Target="../media/image33.svg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Resim Yer Tutucusu 9" descr="gök, açık hava, renkli, resim içeren bir resim&#10;&#10;Açıklama otomatik olarak oluşturuldu">
            <a:extLst>
              <a:ext uri="{FF2B5EF4-FFF2-40B4-BE49-F238E27FC236}">
                <a16:creationId xmlns:a16="http://schemas.microsoft.com/office/drawing/2014/main" id="{5AC82762-ADF2-4F12-86DB-A56D7478880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569" b="569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5546361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tr-TR" dirty="0" err="1"/>
              <a:t>Chapter</a:t>
            </a:r>
            <a:r>
              <a:rPr lang="tr-TR" dirty="0"/>
              <a:t> 3</a:t>
            </a:r>
            <a:r>
              <a:rPr lang="tr-TR" baseline="30000" dirty="0"/>
              <a:t>0</a:t>
            </a:r>
            <a:br>
              <a:rPr lang="tr-TR" dirty="0"/>
            </a:br>
            <a:r>
              <a:rPr lang="en-US" dirty="0"/>
              <a:t>Python</a:t>
            </a:r>
            <a:r>
              <a:rPr lang="tr-TR" dirty="0"/>
              <a:t> </a:t>
            </a:r>
            <a:r>
              <a:rPr lang="en-US" dirty="0"/>
              <a:t>GUI</a:t>
            </a:r>
            <a:r>
              <a:rPr lang="tr-TR" dirty="0"/>
              <a:t> </a:t>
            </a:r>
            <a:r>
              <a:rPr lang="en-US" dirty="0"/>
              <a:t>Programming</a:t>
            </a:r>
            <a:r>
              <a:rPr lang="tr-TR" dirty="0"/>
              <a:t>: </a:t>
            </a:r>
            <a:r>
              <a:rPr lang="en-US" dirty="0" err="1"/>
              <a:t>PySimpleGUI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tr-TR" sz="1300" dirty="0"/>
              <a:t>Yusuf Altunel, </a:t>
            </a:r>
            <a:r>
              <a:rPr lang="tr-TR" sz="1300" dirty="0" err="1"/>
              <a:t>PhD</a:t>
            </a:r>
            <a:endParaRPr lang="tr-TR" sz="1300" dirty="0"/>
          </a:p>
          <a:p>
            <a:r>
              <a:rPr lang="tr-TR" sz="1300" dirty="0" err="1"/>
              <a:t>From</a:t>
            </a:r>
            <a:r>
              <a:rPr lang="tr-TR" sz="1300" dirty="0"/>
              <a:t>: </a:t>
            </a:r>
            <a:r>
              <a:rPr lang="en-US" b="1" dirty="0" err="1"/>
              <a:t>PySimpleGUI</a:t>
            </a:r>
            <a:r>
              <a:rPr lang="en-US" b="1" dirty="0"/>
              <a:t>: The Simple Way to Create a GUI With Python</a:t>
            </a:r>
          </a:p>
          <a:p>
            <a:r>
              <a:rPr lang="en-US" dirty="0"/>
              <a:t>by </a:t>
            </a:r>
            <a:r>
              <a:rPr lang="en-US" dirty="0">
                <a:hlinkClick r:id="rId4"/>
              </a:rPr>
              <a:t>Mike Driscoll</a:t>
            </a:r>
            <a:r>
              <a:rPr lang="en-US" dirty="0"/>
              <a:t>  Jun 17, 2020 </a:t>
            </a:r>
          </a:p>
          <a:p>
            <a:endParaRPr lang="en-US" sz="1300" dirty="0"/>
          </a:p>
        </p:txBody>
      </p:sp>
      <p:pic>
        <p:nvPicPr>
          <p:cNvPr id="12" name="Grafik 11" descr="Bağlantı">
            <a:hlinkClick r:id="rId5"/>
            <a:extLst>
              <a:ext uri="{FF2B5EF4-FFF2-40B4-BE49-F238E27FC236}">
                <a16:creationId xmlns:a16="http://schemas.microsoft.com/office/drawing/2014/main" id="{94F8F836-4197-4691-AD9F-AA0D8E9DC7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3001" y="4424399"/>
            <a:ext cx="665179" cy="66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en-US" b="1" dirty="0"/>
              <a:t>Python GUI – </a:t>
            </a:r>
            <a:r>
              <a:rPr lang="en-US" b="1" dirty="0" err="1"/>
              <a:t>tkinter</a:t>
            </a:r>
            <a:endParaRPr lang="tr-TR" b="1" dirty="0"/>
          </a:p>
          <a:p>
            <a:r>
              <a:rPr lang="tr-TR" sz="1200" dirty="0" err="1"/>
              <a:t>Chapter</a:t>
            </a:r>
            <a:r>
              <a:rPr lang="tr-TR" sz="1200" dirty="0"/>
              <a:t> 3</a:t>
            </a:r>
            <a:r>
              <a:rPr lang="tr-TR" sz="1200" baseline="30000" dirty="0"/>
              <a:t>0</a:t>
            </a:r>
            <a:br>
              <a:rPr lang="tr-TR" sz="1200" dirty="0"/>
            </a:br>
            <a:r>
              <a:rPr lang="en-US" sz="1200" dirty="0"/>
              <a:t>Python</a:t>
            </a:r>
            <a:r>
              <a:rPr lang="tr-TR" sz="1200" dirty="0"/>
              <a:t> </a:t>
            </a:r>
            <a:r>
              <a:rPr lang="en-US" sz="1200" dirty="0"/>
              <a:t>GUI</a:t>
            </a:r>
            <a:r>
              <a:rPr lang="tr-TR" sz="1200" dirty="0"/>
              <a:t> </a:t>
            </a:r>
            <a:r>
              <a:rPr lang="en-US" sz="1200" dirty="0"/>
              <a:t>Programming </a:t>
            </a:r>
            <a:r>
              <a:rPr lang="en-US" sz="1200" dirty="0" err="1"/>
              <a:t>tkinter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823320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create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tkinter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app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Button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b="1" dirty="0" err="1"/>
              <a:t>Canvas</a:t>
            </a:r>
            <a:endParaRPr lang="tr-TR" b="1" dirty="0"/>
          </a:p>
          <a:p>
            <a:r>
              <a:rPr lang="tr-TR" b="1" dirty="0" err="1"/>
              <a:t>CheckButton</a:t>
            </a:r>
            <a:endParaRPr lang="tr-TR" b="1" dirty="0"/>
          </a:p>
          <a:p>
            <a:r>
              <a:rPr lang="tr-TR" b="1" dirty="0" err="1"/>
              <a:t>Entry</a:t>
            </a:r>
            <a:endParaRPr lang="tr-TR" b="1" dirty="0"/>
          </a:p>
          <a:p>
            <a:r>
              <a:rPr lang="tr-TR" b="1" dirty="0" err="1"/>
              <a:t>Frame</a:t>
            </a:r>
            <a:endParaRPr lang="tr-TR" b="1" dirty="0"/>
          </a:p>
          <a:p>
            <a:r>
              <a:rPr lang="tr-TR" b="1" dirty="0" err="1"/>
              <a:t>Label</a:t>
            </a:r>
            <a:endParaRPr lang="tr-TR" b="1" dirty="0"/>
          </a:p>
          <a:p>
            <a:r>
              <a:rPr lang="tr-TR" b="1" dirty="0" err="1"/>
              <a:t>Listbox</a:t>
            </a:r>
            <a:endParaRPr lang="tr-TR" b="1" dirty="0"/>
          </a:p>
          <a:p>
            <a:r>
              <a:rPr lang="tr-TR" b="1" dirty="0" err="1"/>
              <a:t>MenuButton</a:t>
            </a:r>
            <a:endParaRPr lang="tr-TR" b="1" dirty="0"/>
          </a:p>
          <a:p>
            <a:r>
              <a:rPr lang="tr-TR" b="1" dirty="0"/>
              <a:t>Menu</a:t>
            </a:r>
          </a:p>
          <a:p>
            <a:r>
              <a:rPr lang="tr-TR" b="1" dirty="0"/>
              <a:t>Message</a:t>
            </a:r>
          </a:p>
          <a:p>
            <a:r>
              <a:rPr lang="tr-TR" b="1" dirty="0" err="1"/>
              <a:t>RadioButton</a:t>
            </a:r>
            <a:endParaRPr lang="tr-TR" b="1" dirty="0"/>
          </a:p>
          <a:p>
            <a:r>
              <a:rPr lang="tr-TR" b="1" dirty="0" err="1"/>
              <a:t>Scale</a:t>
            </a:r>
            <a:endParaRPr lang="tr-TR" b="1" dirty="0"/>
          </a:p>
          <a:p>
            <a:r>
              <a:rPr lang="tr-TR" b="1" dirty="0" err="1"/>
              <a:t>Scrollbar</a:t>
            </a:r>
            <a:endParaRPr lang="tr-TR" b="1" dirty="0"/>
          </a:p>
          <a:p>
            <a:r>
              <a:rPr lang="tr-TR" b="1" dirty="0" err="1"/>
              <a:t>Text</a:t>
            </a:r>
            <a:endParaRPr lang="tr-TR" b="1" dirty="0"/>
          </a:p>
          <a:p>
            <a:r>
              <a:rPr lang="tr-TR" b="1" dirty="0" err="1"/>
              <a:t>TopLevel</a:t>
            </a:r>
            <a:endParaRPr lang="tr-TR" b="1" dirty="0"/>
          </a:p>
          <a:p>
            <a:r>
              <a:rPr lang="tr-TR" b="1" dirty="0" err="1"/>
              <a:t>SpinBox</a:t>
            </a:r>
            <a:endParaRPr lang="tr-TR" b="1" dirty="0"/>
          </a:p>
          <a:p>
            <a:r>
              <a:rPr lang="tr-TR" b="1" dirty="0" err="1"/>
              <a:t>PannedWindow</a:t>
            </a:r>
            <a:endParaRPr lang="tr-TR" b="1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Resim 6" descr="dağ, açık hava, gök, kar içeren bir resim&#10;&#10;Açıklama otomatik olarak oluşturuldu">
            <a:extLst>
              <a:ext uri="{FF2B5EF4-FFF2-40B4-BE49-F238E27FC236}">
                <a16:creationId xmlns:a16="http://schemas.microsoft.com/office/drawing/2014/main" id="{0EC1B08E-0767-4C85-BE0C-FC36D19CC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6" y="920742"/>
            <a:ext cx="4492913" cy="29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en-US" sz="2800" b="1" dirty="0"/>
              <a:t>Python GUI – </a:t>
            </a:r>
            <a:r>
              <a:rPr lang="en-US" sz="2800" b="1" dirty="0" err="1"/>
              <a:t>tkinter</a:t>
            </a:r>
            <a:br>
              <a:rPr lang="tr-TR" sz="2800" b="1" dirty="0"/>
            </a:br>
            <a:r>
              <a:rPr lang="tr-TR" sz="2800" dirty="0" err="1"/>
              <a:t>Chapter</a:t>
            </a:r>
            <a:r>
              <a:rPr lang="tr-TR" sz="2800" dirty="0"/>
              <a:t> 3</a:t>
            </a:r>
            <a:r>
              <a:rPr lang="tr-TR" sz="2800" baseline="30000" dirty="0"/>
              <a:t>0</a:t>
            </a:r>
            <a:br>
              <a:rPr lang="tr-TR" sz="2800" dirty="0"/>
            </a:br>
            <a:r>
              <a:rPr lang="en-US" sz="2800" dirty="0"/>
              <a:t>Python</a:t>
            </a:r>
            <a:r>
              <a:rPr lang="tr-TR" sz="2800" dirty="0"/>
              <a:t> </a:t>
            </a:r>
            <a:r>
              <a:rPr lang="en-US" sz="2800" dirty="0"/>
              <a:t>GUI</a:t>
            </a:r>
            <a:r>
              <a:rPr lang="tr-TR" sz="2800" dirty="0"/>
              <a:t> </a:t>
            </a:r>
            <a:r>
              <a:rPr lang="en-US" sz="2800" dirty="0"/>
              <a:t>Programming </a:t>
            </a:r>
            <a:r>
              <a:rPr lang="en-US" sz="2800" dirty="0" err="1"/>
              <a:t>tkinter</a:t>
            </a:r>
            <a:endParaRPr lang="tr-TR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create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tkinter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app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 Components</a:t>
            </a:r>
            <a:endParaRPr lang="tr-TR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 descr="doğa, ağaç, kapalı içeren bir resim&#10;&#10;Açıklama otomatik olarak oluşturuldu">
            <a:extLst>
              <a:ext uri="{FF2B5EF4-FFF2-40B4-BE49-F238E27FC236}">
                <a16:creationId xmlns:a16="http://schemas.microsoft.com/office/drawing/2014/main" id="{CCC795C7-F07B-413D-98BB-46C1B810BC9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711" r="171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7752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Python</a:t>
            </a:r>
            <a:r>
              <a:rPr lang="tr-TR" dirty="0"/>
              <a:t> </a:t>
            </a:r>
            <a:r>
              <a:rPr lang="tr-TR" dirty="0" err="1"/>
              <a:t>Options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GUI Development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900513"/>
            <a:ext cx="7921247" cy="711311"/>
          </a:xfrm>
        </p:spPr>
        <p:txBody>
          <a:bodyPr/>
          <a:lstStyle/>
          <a:p>
            <a:r>
              <a:rPr lang="en-US" i="1" dirty="0"/>
              <a:t> Python offers multiple options for developing GUI (Graphical User Interface)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dirty="0" err="1"/>
              <a:t>tkinter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dirty="0"/>
              <a:t>is the most commonly used method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Access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dirty="0"/>
              <a:t>shipped with Python</a:t>
            </a:r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Standard of </a:t>
            </a:r>
            <a:r>
              <a:rPr lang="en-US" dirty="0"/>
              <a:t>Python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is a standard Python interface </a:t>
            </a:r>
            <a:endParaRPr lang="tr-TR" dirty="0"/>
          </a:p>
          <a:p>
            <a:r>
              <a:rPr lang="en-US" dirty="0"/>
              <a:t>to the Tk GUI toolkit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F0645E9C-86AD-4FDB-9A2B-4C3023888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323028"/>
              </p:ext>
            </p:extLst>
          </p:nvPr>
        </p:nvGraphicFramePr>
        <p:xfrm>
          <a:off x="324000" y="1152000"/>
          <a:ext cx="8505000" cy="46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tkinter</a:t>
            </a:r>
            <a:r>
              <a:rPr lang="en-US" dirty="0"/>
              <a:t> app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579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534937"/>
            <a:ext cx="4562062" cy="3949315"/>
          </a:xfrm>
        </p:spPr>
        <p:txBody>
          <a:bodyPr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import </a:t>
            </a:r>
            <a:r>
              <a:rPr lang="en-US" sz="1400" dirty="0" err="1"/>
              <a:t>tkinter</a:t>
            </a:r>
            <a:r>
              <a:rPr lang="en-US" sz="14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m = </a:t>
            </a:r>
            <a:r>
              <a:rPr lang="en-US" sz="1400" dirty="0" err="1"/>
              <a:t>tkinter.Tk</a:t>
            </a:r>
            <a:r>
              <a:rPr lang="en-US" sz="1400" dirty="0"/>
              <a:t>()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'''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widgets are added here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'''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m.mainloop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General </a:t>
            </a:r>
            <a:r>
              <a:rPr lang="tr-TR" dirty="0" err="1"/>
              <a:t>Structure</a:t>
            </a:r>
            <a:r>
              <a:rPr lang="tr-TR" dirty="0"/>
              <a:t> of </a:t>
            </a:r>
            <a:r>
              <a:rPr lang="tr-TR" dirty="0" err="1"/>
              <a:t>Python</a:t>
            </a:r>
            <a:r>
              <a:rPr lang="tr-TR" dirty="0"/>
              <a:t> GUI Application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endParaRPr lang="tr-TR" dirty="0"/>
          </a:p>
          <a:p>
            <a:r>
              <a:rPr lang="en-US" dirty="0"/>
              <a:t>Importing </a:t>
            </a:r>
            <a:r>
              <a:rPr lang="en-US" dirty="0" err="1"/>
              <a:t>tkinter</a:t>
            </a:r>
            <a:endParaRPr lang="en-US" dirty="0"/>
          </a:p>
          <a:p>
            <a:r>
              <a:rPr lang="en-US" dirty="0"/>
              <a:t>Create the main window </a:t>
            </a:r>
            <a:endParaRPr lang="tr-TR" dirty="0"/>
          </a:p>
          <a:p>
            <a:r>
              <a:rPr lang="en-US" dirty="0"/>
              <a:t>Add</a:t>
            </a:r>
            <a:r>
              <a:rPr lang="tr-TR" dirty="0" err="1"/>
              <a:t>ing</a:t>
            </a:r>
            <a:r>
              <a:rPr lang="en-US" dirty="0"/>
              <a:t> widgets</a:t>
            </a:r>
            <a:endParaRPr lang="tr-TR" dirty="0"/>
          </a:p>
          <a:p>
            <a:r>
              <a:rPr lang="en-US" dirty="0"/>
              <a:t>Apply</a:t>
            </a:r>
            <a:r>
              <a:rPr lang="tr-TR" dirty="0" err="1"/>
              <a:t>ing</a:t>
            </a:r>
            <a:r>
              <a:rPr lang="en-US" dirty="0"/>
              <a:t> </a:t>
            </a:r>
            <a:r>
              <a:rPr lang="tr-TR" dirty="0" err="1"/>
              <a:t>widget’s</a:t>
            </a:r>
            <a:r>
              <a:rPr lang="tr-TR" dirty="0"/>
              <a:t> </a:t>
            </a:r>
            <a:r>
              <a:rPr lang="en-US" dirty="0"/>
              <a:t>event Trigger</a:t>
            </a:r>
            <a:endParaRPr lang="tr-TR" dirty="0"/>
          </a:p>
          <a:p>
            <a:r>
              <a:rPr lang="tr-TR" dirty="0"/>
              <a:t>mainloop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5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dirty="0" err="1"/>
              <a:t>Steps</a:t>
            </a:r>
            <a:r>
              <a:rPr lang="tr-TR" dirty="0"/>
              <a:t> </a:t>
            </a:r>
            <a:r>
              <a:rPr lang="tr-TR" dirty="0" err="1"/>
              <a:t>Creating</a:t>
            </a:r>
            <a:r>
              <a:rPr lang="tr-TR" dirty="0"/>
              <a:t> </a:t>
            </a:r>
            <a:r>
              <a:rPr lang="tr-TR" dirty="0" err="1"/>
              <a:t>Python</a:t>
            </a:r>
            <a:r>
              <a:rPr lang="tr-TR" dirty="0"/>
              <a:t> GUI Application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import </a:t>
            </a:r>
            <a:r>
              <a:rPr lang="en-US" dirty="0" err="1"/>
              <a:t>tkinter</a:t>
            </a:r>
            <a:endParaRPr lang="tr-TR" dirty="0"/>
          </a:p>
          <a:p>
            <a:pPr lvl="0"/>
            <a:r>
              <a:rPr lang="en-US" dirty="0"/>
              <a:t>two main methods to remember while creating the Python application with GUI</a:t>
            </a:r>
            <a:endParaRPr lang="tr-TR" dirty="0"/>
          </a:p>
          <a:p>
            <a:pPr lvl="1"/>
            <a:r>
              <a:rPr lang="tr-TR" b="1" dirty="0"/>
              <a:t>1-Tk(</a:t>
            </a:r>
            <a:r>
              <a:rPr lang="tr-TR" b="1" dirty="0" err="1"/>
              <a:t>screenName</a:t>
            </a:r>
            <a:r>
              <a:rPr lang="tr-TR" b="1" dirty="0"/>
              <a:t>=</a:t>
            </a:r>
            <a:r>
              <a:rPr lang="tr-TR" b="1" dirty="0" err="1"/>
              <a:t>None</a:t>
            </a:r>
            <a:r>
              <a:rPr lang="tr-TR" b="1" dirty="0"/>
              <a:t>,  </a:t>
            </a:r>
            <a:r>
              <a:rPr lang="tr-TR" b="1" dirty="0" err="1"/>
              <a:t>baseName</a:t>
            </a:r>
            <a:r>
              <a:rPr lang="tr-TR" b="1" dirty="0"/>
              <a:t>=</a:t>
            </a:r>
            <a:r>
              <a:rPr lang="tr-TR" b="1" dirty="0" err="1"/>
              <a:t>None</a:t>
            </a:r>
            <a:r>
              <a:rPr lang="tr-TR" b="1" dirty="0"/>
              <a:t>,  </a:t>
            </a:r>
            <a:r>
              <a:rPr lang="tr-TR" b="1" dirty="0" err="1"/>
              <a:t>className</a:t>
            </a:r>
            <a:r>
              <a:rPr lang="tr-TR" b="1" dirty="0"/>
              <a:t>=’</a:t>
            </a:r>
            <a:r>
              <a:rPr lang="tr-TR" b="1" dirty="0" err="1"/>
              <a:t>Tk</a:t>
            </a:r>
            <a:r>
              <a:rPr lang="tr-TR" b="1" dirty="0"/>
              <a:t>’,  </a:t>
            </a:r>
            <a:r>
              <a:rPr lang="tr-TR" b="1" dirty="0" err="1"/>
              <a:t>useTk</a:t>
            </a:r>
            <a:r>
              <a:rPr lang="tr-TR" b="1" dirty="0"/>
              <a:t>=1)</a:t>
            </a:r>
          </a:p>
          <a:p>
            <a:pPr lvl="1"/>
            <a:r>
              <a:rPr lang="en-US" dirty="0"/>
              <a:t>To change the name of the window, you can change the </a:t>
            </a:r>
            <a:r>
              <a:rPr lang="en-US" dirty="0" err="1"/>
              <a:t>className</a:t>
            </a:r>
            <a:r>
              <a:rPr lang="en-US" dirty="0"/>
              <a:t> to the desired one. </a:t>
            </a:r>
            <a:endParaRPr lang="tr-TR" dirty="0"/>
          </a:p>
          <a:p>
            <a:pPr lvl="1"/>
            <a:r>
              <a:rPr lang="en-US" dirty="0"/>
              <a:t>The basic code used to create the main window of the application</a:t>
            </a:r>
            <a:endParaRPr lang="tr-TR" dirty="0"/>
          </a:p>
          <a:p>
            <a:pPr lvl="2"/>
            <a:r>
              <a:rPr lang="en-US" dirty="0"/>
              <a:t>m=</a:t>
            </a:r>
            <a:r>
              <a:rPr lang="en-US" dirty="0" err="1"/>
              <a:t>tkinter.Tk</a:t>
            </a:r>
            <a:r>
              <a:rPr lang="en-US" dirty="0"/>
              <a:t>() </a:t>
            </a:r>
            <a:endParaRPr lang="tr-TR" dirty="0"/>
          </a:p>
          <a:p>
            <a:pPr lvl="2"/>
            <a:r>
              <a:rPr lang="en-US" dirty="0"/>
              <a:t>m is the name of the main window object</a:t>
            </a:r>
            <a:endParaRPr lang="tr-TR" b="1" dirty="0"/>
          </a:p>
          <a:p>
            <a:pPr lvl="1"/>
            <a:r>
              <a:rPr lang="tr-TR" b="1" dirty="0"/>
              <a:t>2-mainloop()</a:t>
            </a:r>
          </a:p>
          <a:p>
            <a:pPr lvl="1"/>
            <a:r>
              <a:rPr lang="en-US" dirty="0"/>
              <a:t>here is a method known by the name </a:t>
            </a:r>
            <a:r>
              <a:rPr lang="en-US" dirty="0" err="1"/>
              <a:t>mainloop</a:t>
            </a:r>
            <a:r>
              <a:rPr lang="en-US" dirty="0"/>
              <a:t>() is used when your application is ready to run. </a:t>
            </a:r>
            <a:endParaRPr lang="tr-TR" dirty="0"/>
          </a:p>
          <a:p>
            <a:pPr lvl="1"/>
            <a:r>
              <a:rPr lang="en-US" dirty="0" err="1"/>
              <a:t>mainloop</a:t>
            </a:r>
            <a:r>
              <a:rPr lang="en-US" dirty="0"/>
              <a:t>() is an infinite loop used to run the application, wait for an event to occur and process the event as long as the window is not closed.</a:t>
            </a:r>
            <a:endParaRPr lang="tr-TR" dirty="0"/>
          </a:p>
          <a:p>
            <a:pPr lvl="2"/>
            <a:r>
              <a:rPr lang="tr-TR" dirty="0" err="1"/>
              <a:t>m.mainloop</a:t>
            </a:r>
            <a:r>
              <a:rPr lang="tr-TR" dirty="0"/>
              <a:t>()</a:t>
            </a:r>
          </a:p>
          <a:p>
            <a:pPr marL="428625" lvl="1" indent="-228600">
              <a:buFont typeface="+mj-lt"/>
              <a:buAutoNum type="arabicPeriod"/>
            </a:pP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200389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access</a:t>
            </a:r>
            <a:r>
              <a:rPr lang="tr-TR" dirty="0" err="1"/>
              <a:t>ing</a:t>
            </a:r>
            <a:r>
              <a:rPr lang="en-US" dirty="0"/>
              <a:t> widgets</a:t>
            </a:r>
            <a:r>
              <a:rPr lang="tr-TR" dirty="0"/>
              <a:t>’</a:t>
            </a:r>
            <a:r>
              <a:rPr lang="en-US" dirty="0"/>
              <a:t> geometric configuration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err="1"/>
              <a:t>tkinter</a:t>
            </a:r>
            <a:r>
              <a:rPr lang="en-US" dirty="0"/>
              <a:t> also offers access to the geometric configuration of the widgets </a:t>
            </a:r>
            <a:endParaRPr lang="tr-TR" dirty="0"/>
          </a:p>
          <a:p>
            <a:pPr lvl="1" fontAlgn="base"/>
            <a:r>
              <a:rPr lang="tr-TR" dirty="0" err="1"/>
              <a:t>to</a:t>
            </a:r>
            <a:r>
              <a:rPr lang="en-US" dirty="0"/>
              <a:t> organize the widgets in the parent windows. </a:t>
            </a:r>
            <a:endParaRPr lang="tr-TR" dirty="0"/>
          </a:p>
          <a:p>
            <a:pPr fontAlgn="base"/>
            <a:r>
              <a:rPr lang="en-US" dirty="0"/>
              <a:t>There are mainly three geometry manager classes class.</a:t>
            </a:r>
          </a:p>
          <a:p>
            <a:pPr lvl="1" fontAlgn="base"/>
            <a:r>
              <a:rPr lang="en-US" b="1" dirty="0"/>
              <a:t>pack() method:</a:t>
            </a:r>
            <a:endParaRPr lang="tr-TR" b="1" dirty="0"/>
          </a:p>
          <a:p>
            <a:pPr lvl="1" fontAlgn="base"/>
            <a:r>
              <a:rPr lang="en-US" dirty="0"/>
              <a:t>organizes the widgets in blocks before placing in the parent widget.</a:t>
            </a:r>
          </a:p>
          <a:p>
            <a:pPr lvl="1" fontAlgn="base"/>
            <a:r>
              <a:rPr lang="en-US" b="1" dirty="0"/>
              <a:t>grid() method:</a:t>
            </a:r>
            <a:endParaRPr lang="tr-TR" b="1" dirty="0"/>
          </a:p>
          <a:p>
            <a:pPr lvl="1" fontAlgn="base"/>
            <a:r>
              <a:rPr lang="en-US" dirty="0"/>
              <a:t>organizes the widgets in grid (table-like structure) before placing in the parent widget.</a:t>
            </a:r>
          </a:p>
          <a:p>
            <a:pPr lvl="1" fontAlgn="base"/>
            <a:r>
              <a:rPr lang="en-US" b="1" dirty="0"/>
              <a:t>place() method:</a:t>
            </a:r>
            <a:endParaRPr lang="tr-TR" b="1" dirty="0"/>
          </a:p>
          <a:p>
            <a:pPr lvl="1" fontAlgn="base"/>
            <a:r>
              <a:rPr lang="en-US" dirty="0"/>
              <a:t>organizes the widgets by placing them on specific positions directed by the programmer.</a:t>
            </a:r>
          </a:p>
        </p:txBody>
      </p:sp>
    </p:spTree>
    <p:extLst>
      <p:ext uri="{BB962C8B-B14F-4D97-AF65-F5344CB8AC3E}">
        <p14:creationId xmlns:p14="http://schemas.microsoft.com/office/powerpoint/2010/main" val="96488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Button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To add a button in </a:t>
            </a:r>
            <a:r>
              <a:rPr lang="tr-TR" dirty="0" err="1"/>
              <a:t>the</a:t>
            </a:r>
            <a:r>
              <a:rPr lang="en-US" dirty="0"/>
              <a:t> application</a:t>
            </a:r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lvl="1" fontAlgn="base"/>
            <a:r>
              <a:rPr lang="en-US" dirty="0"/>
              <a:t>w=Button(master, option=value)</a:t>
            </a:r>
            <a:endParaRPr lang="tr-TR" dirty="0"/>
          </a:p>
          <a:p>
            <a:pPr fontAlgn="base"/>
            <a:r>
              <a:rPr lang="en-US" dirty="0"/>
              <a:t>Master</a:t>
            </a:r>
            <a:endParaRPr lang="tr-TR" dirty="0"/>
          </a:p>
          <a:p>
            <a:pPr lvl="1" fontAlgn="base"/>
            <a:r>
              <a:rPr lang="en-US" dirty="0"/>
              <a:t>is the parameter used to represent the parent window.</a:t>
            </a:r>
            <a:endParaRPr lang="tr-TR" dirty="0"/>
          </a:p>
          <a:p>
            <a:pPr fontAlgn="base"/>
            <a:r>
              <a:rPr lang="en-US" dirty="0"/>
              <a:t>options are used to change the format of the Buttons. </a:t>
            </a:r>
            <a:endParaRPr lang="tr-TR" dirty="0"/>
          </a:p>
          <a:p>
            <a:pPr lvl="1" fontAlgn="base"/>
            <a:r>
              <a:rPr lang="en-US" dirty="0"/>
              <a:t>Number of options can be passed as parameters separated by commas.</a:t>
            </a:r>
            <a:endParaRPr lang="tr-TR" dirty="0"/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color when button is under the cursor.</a:t>
            </a:r>
          </a:p>
          <a:p>
            <a:pPr fontAlgn="base"/>
            <a:r>
              <a:rPr lang="en-US" b="1" dirty="0" err="1"/>
              <a:t>activeforeground</a:t>
            </a:r>
            <a:r>
              <a:rPr lang="en-US" dirty="0"/>
              <a:t>: to set the foreground color when button is under the cursor.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</a:t>
            </a:r>
            <a:r>
              <a:rPr lang="tr-TR" dirty="0"/>
              <a:t>t</a:t>
            </a:r>
            <a:r>
              <a:rPr lang="en-US" dirty="0"/>
              <a:t>he normal background color.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button.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button.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button.</a:t>
            </a:r>
          </a:p>
        </p:txBody>
      </p:sp>
    </p:spTree>
    <p:extLst>
      <p:ext uri="{BB962C8B-B14F-4D97-AF65-F5344CB8AC3E}">
        <p14:creationId xmlns:p14="http://schemas.microsoft.com/office/powerpoint/2010/main" val="312801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534937"/>
            <a:ext cx="4562062" cy="3949315"/>
          </a:xfrm>
        </p:spPr>
        <p:txBody>
          <a:bodyPr anchor="t" anchorCtr="0"/>
          <a:lstStyle/>
          <a:p>
            <a:r>
              <a:rPr lang="en-US" sz="1400" dirty="0"/>
              <a:t>import </a:t>
            </a:r>
            <a:r>
              <a:rPr lang="en-US" sz="1400" dirty="0" err="1"/>
              <a:t>tkinter</a:t>
            </a:r>
            <a:r>
              <a:rPr lang="en-US" sz="1400" dirty="0"/>
              <a:t> as </a:t>
            </a:r>
            <a:r>
              <a:rPr lang="en-US" sz="1400" dirty="0" err="1"/>
              <a:t>tk</a:t>
            </a:r>
            <a:r>
              <a:rPr lang="en-US" sz="1400" dirty="0"/>
              <a:t> </a:t>
            </a:r>
          </a:p>
          <a:p>
            <a:r>
              <a:rPr lang="en-US" sz="1400" dirty="0"/>
              <a:t>r = </a:t>
            </a:r>
            <a:r>
              <a:rPr lang="en-US" sz="1400" dirty="0" err="1"/>
              <a:t>tk.Tk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r.title</a:t>
            </a:r>
            <a:r>
              <a:rPr lang="en-US" sz="1400" dirty="0"/>
              <a:t>('Counting Seconds') </a:t>
            </a:r>
          </a:p>
          <a:p>
            <a:r>
              <a:rPr lang="en-US" sz="1400" dirty="0"/>
              <a:t>button = </a:t>
            </a:r>
            <a:r>
              <a:rPr lang="en-US" sz="1400" dirty="0" err="1"/>
              <a:t>tk.Button</a:t>
            </a:r>
            <a:r>
              <a:rPr lang="en-US" sz="1400" dirty="0"/>
              <a:t>(r, text='Stop', width=25, command=</a:t>
            </a:r>
            <a:r>
              <a:rPr lang="en-US" sz="1400" dirty="0" err="1"/>
              <a:t>r.destroy</a:t>
            </a:r>
            <a:r>
              <a:rPr lang="en-US" sz="1400" dirty="0"/>
              <a:t>) </a:t>
            </a:r>
          </a:p>
          <a:p>
            <a:r>
              <a:rPr lang="en-US" sz="1400" dirty="0" err="1"/>
              <a:t>button.pack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r.mainloop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dirty="0" err="1"/>
              <a:t>Button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Counting</a:t>
            </a:r>
            <a:r>
              <a:rPr lang="tr-TR" dirty="0"/>
              <a:t> </a:t>
            </a:r>
            <a:r>
              <a:rPr lang="tr-TR" dirty="0" err="1"/>
              <a:t>seconds</a:t>
            </a:r>
            <a:r>
              <a:rPr lang="tr-TR" dirty="0"/>
              <a:t> </a:t>
            </a:r>
            <a:endParaRPr lang="en-US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93D3D87A-E77F-4DAA-8D08-7218A17A4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" y="1888435"/>
            <a:ext cx="2581205" cy="57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268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Canvas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to draw pictures and other complex layout like graphics, text and widgets.</a:t>
            </a:r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Canvas(master, option=value)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border width in pixels.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the normal background color.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set the cursor used in the canvas.</a:t>
            </a:r>
          </a:p>
          <a:p>
            <a:pPr fontAlgn="base"/>
            <a:r>
              <a:rPr lang="en-US" b="1" dirty="0" err="1"/>
              <a:t>highlightcolor</a:t>
            </a:r>
            <a:r>
              <a:rPr lang="en-US" dirty="0"/>
              <a:t>: to set the color shown in the focus highlight.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</p:txBody>
      </p:sp>
    </p:spTree>
    <p:extLst>
      <p:ext uri="{BB962C8B-B14F-4D97-AF65-F5344CB8AC3E}">
        <p14:creationId xmlns:p14="http://schemas.microsoft.com/office/powerpoint/2010/main" val="367006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534937"/>
            <a:ext cx="4562062" cy="3949315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master = Tk() </a:t>
            </a:r>
          </a:p>
          <a:p>
            <a:r>
              <a:rPr lang="en-US" sz="1400" dirty="0"/>
              <a:t>w = Canvas(master, width=40, height=60) </a:t>
            </a:r>
          </a:p>
          <a:p>
            <a:r>
              <a:rPr lang="en-US" sz="1400" dirty="0" err="1"/>
              <a:t>w.pack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canvas_height</a:t>
            </a:r>
            <a:r>
              <a:rPr lang="en-US" sz="1400" dirty="0"/>
              <a:t>=</a:t>
            </a:r>
            <a:r>
              <a:rPr lang="tr-TR" sz="1400" dirty="0"/>
              <a:t>10</a:t>
            </a:r>
            <a:r>
              <a:rPr lang="en-US" sz="1400" dirty="0"/>
              <a:t>0</a:t>
            </a:r>
          </a:p>
          <a:p>
            <a:r>
              <a:rPr lang="en-US" sz="1400" dirty="0" err="1"/>
              <a:t>canvas_width</a:t>
            </a:r>
            <a:r>
              <a:rPr lang="en-US" sz="1400" dirty="0"/>
              <a:t>=200</a:t>
            </a:r>
          </a:p>
          <a:p>
            <a:r>
              <a:rPr lang="en-US" sz="1400" dirty="0"/>
              <a:t>y = int(</a:t>
            </a:r>
            <a:r>
              <a:rPr lang="en-US" sz="1400" dirty="0" err="1"/>
              <a:t>canvas_height</a:t>
            </a:r>
            <a:r>
              <a:rPr lang="en-US" sz="1400" dirty="0"/>
              <a:t> / 2) </a:t>
            </a:r>
          </a:p>
          <a:p>
            <a:r>
              <a:rPr lang="en-US" sz="1400" dirty="0" err="1"/>
              <a:t>w.create_line</a:t>
            </a:r>
            <a:r>
              <a:rPr lang="en-US" sz="1400" dirty="0"/>
              <a:t>(0, y, </a:t>
            </a:r>
            <a:r>
              <a:rPr lang="en-US" sz="1400" dirty="0" err="1"/>
              <a:t>canvas_width</a:t>
            </a:r>
            <a:r>
              <a:rPr lang="en-US" sz="1400" dirty="0"/>
              <a:t>, y 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Canvas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Canvas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line</a:t>
            </a:r>
            <a:endParaRPr lang="en-US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0873CF4-7DCE-4ADC-A998-D4D17FB07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6" y="1943307"/>
            <a:ext cx="11525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7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CheckButton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To select any number of options by displaying a number of options to a user as toggle buttons.</a:t>
            </a:r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</a:t>
            </a:r>
            <a:r>
              <a:rPr lang="en-US" dirty="0" err="1"/>
              <a:t>CheckButton</a:t>
            </a:r>
            <a:r>
              <a:rPr lang="en-US" dirty="0"/>
              <a:t>(master, option=value) </a:t>
            </a:r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/>
              <a:t>Title</a:t>
            </a:r>
            <a:r>
              <a:rPr lang="en-US" dirty="0"/>
              <a:t>: To set the title of the widget.</a:t>
            </a:r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color when widget is under the cursor.</a:t>
            </a:r>
          </a:p>
          <a:p>
            <a:pPr fontAlgn="base"/>
            <a:r>
              <a:rPr lang="en-US" b="1" dirty="0" err="1"/>
              <a:t>activeforeground</a:t>
            </a:r>
            <a:r>
              <a:rPr lang="en-US" dirty="0"/>
              <a:t>: to set the foreground color when widget is under the cursor.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</a:t>
            </a:r>
            <a:r>
              <a:rPr lang="en-US" dirty="0" err="1"/>
              <a:t>backgrouSteganographyBreak</a:t>
            </a:r>
            <a:endParaRPr lang="en-US" dirty="0"/>
          </a:p>
          <a:p>
            <a:pPr lvl="1" fontAlgn="base"/>
            <a:r>
              <a:rPr lang="en-US" dirty="0"/>
              <a:t>Secret Code:</a:t>
            </a:r>
          </a:p>
          <a:p>
            <a:pPr lvl="1" fontAlgn="base"/>
            <a:r>
              <a:rPr lang="en-US" dirty="0"/>
              <a:t>Attach a File:nd color.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</p:txBody>
      </p:sp>
    </p:spTree>
    <p:extLst>
      <p:ext uri="{BB962C8B-B14F-4D97-AF65-F5344CB8AC3E}">
        <p14:creationId xmlns:p14="http://schemas.microsoft.com/office/powerpoint/2010/main" val="4081169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534937"/>
            <a:ext cx="4562062" cy="3949315"/>
          </a:xfrm>
        </p:spPr>
        <p:txBody>
          <a:bodyPr anchor="t" anchorCtr="0"/>
          <a:lstStyle/>
          <a:p>
            <a:r>
              <a:rPr lang="en-US" sz="1400" dirty="0"/>
              <a:t>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master = Tk() </a:t>
            </a:r>
          </a:p>
          <a:p>
            <a:r>
              <a:rPr lang="en-US" sz="1400" dirty="0"/>
              <a:t>var1 = </a:t>
            </a:r>
            <a:r>
              <a:rPr lang="en-US" sz="1400" dirty="0" err="1"/>
              <a:t>IntVar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Checkbutton</a:t>
            </a:r>
            <a:r>
              <a:rPr lang="en-US" sz="1400" dirty="0"/>
              <a:t>(master, text='male', variable=var1).grid(row=0, sticky=W) </a:t>
            </a:r>
          </a:p>
          <a:p>
            <a:r>
              <a:rPr lang="en-US" sz="1400" dirty="0"/>
              <a:t>var2 = </a:t>
            </a:r>
            <a:r>
              <a:rPr lang="en-US" sz="1400" dirty="0" err="1"/>
              <a:t>IntVar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Checkbutton</a:t>
            </a:r>
            <a:r>
              <a:rPr lang="en-US" sz="1400" dirty="0"/>
              <a:t>(master, text='female', variable=var2).grid(row=1, sticky=W)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CheckButton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/>
              <a:t>Male &amp; </a:t>
            </a:r>
            <a:r>
              <a:rPr lang="tr-TR" dirty="0" err="1"/>
              <a:t>Female</a:t>
            </a:r>
            <a:r>
              <a:rPr lang="tr-TR" dirty="0"/>
              <a:t> </a:t>
            </a:r>
            <a:r>
              <a:rPr lang="tr-TR" dirty="0" err="1"/>
              <a:t>check</a:t>
            </a:r>
            <a:r>
              <a:rPr lang="tr-TR" dirty="0"/>
              <a:t> </a:t>
            </a:r>
            <a:r>
              <a:rPr lang="tr-TR" dirty="0" err="1"/>
              <a:t>buttons</a:t>
            </a:r>
            <a:endParaRPr lang="en-US" dirty="0"/>
          </a:p>
        </p:txBody>
      </p:sp>
      <p:pic>
        <p:nvPicPr>
          <p:cNvPr id="23557" name="Picture 5">
            <a:extLst>
              <a:ext uri="{FF2B5EF4-FFF2-40B4-BE49-F238E27FC236}">
                <a16:creationId xmlns:a16="http://schemas.microsoft.com/office/drawing/2014/main" id="{A8EA30B7-ACEE-40D1-B33C-9A4DF452B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90" y="2263222"/>
            <a:ext cx="115252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964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Entry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to input the single line text entry from the user.. For multi-line text input, Text widget is used.</a:t>
            </a:r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w=Entry(master, option=value)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border width in pixels.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the normal background color.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set the cursor used.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 err="1"/>
              <a:t>highlightcolor</a:t>
            </a:r>
            <a:r>
              <a:rPr lang="en-US" dirty="0"/>
              <a:t>: to set the color shown in the focus highlight.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button.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button.</a:t>
            </a:r>
          </a:p>
        </p:txBody>
      </p:sp>
    </p:spTree>
    <p:extLst>
      <p:ext uri="{BB962C8B-B14F-4D97-AF65-F5344CB8AC3E}">
        <p14:creationId xmlns:p14="http://schemas.microsoft.com/office/powerpoint/2010/main" val="4079384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534937"/>
            <a:ext cx="4562062" cy="3949315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master = Tk() </a:t>
            </a:r>
          </a:p>
          <a:p>
            <a:r>
              <a:rPr lang="en-US" sz="1400" dirty="0"/>
              <a:t>Label(master, text='First Name').grid(row=0) </a:t>
            </a:r>
          </a:p>
          <a:p>
            <a:r>
              <a:rPr lang="en-US" sz="1400" dirty="0"/>
              <a:t>Label(master, text='Last Name').grid(row=1) </a:t>
            </a:r>
          </a:p>
          <a:p>
            <a:r>
              <a:rPr lang="en-US" sz="1400" dirty="0"/>
              <a:t>e1 = Entry(master) </a:t>
            </a:r>
          </a:p>
          <a:p>
            <a:r>
              <a:rPr lang="en-US" sz="1400" dirty="0"/>
              <a:t>e2 = Entry(master) </a:t>
            </a:r>
          </a:p>
          <a:p>
            <a:r>
              <a:rPr lang="en-US" sz="1400" dirty="0"/>
              <a:t>e1.grid(row=0, column=1) </a:t>
            </a:r>
          </a:p>
          <a:p>
            <a:r>
              <a:rPr lang="en-US" sz="1400" dirty="0"/>
              <a:t>e2.grid(row=1, column=1)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Entry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/>
              <a:t>First Name &amp; </a:t>
            </a:r>
            <a:r>
              <a:rPr lang="tr-TR" dirty="0" err="1"/>
              <a:t>Last</a:t>
            </a:r>
            <a:r>
              <a:rPr lang="tr-TR" dirty="0"/>
              <a:t> Name </a:t>
            </a:r>
            <a:r>
              <a:rPr lang="tr-TR" dirty="0" err="1"/>
              <a:t>Entries</a:t>
            </a:r>
            <a:endParaRPr lang="en-US" dirty="0"/>
          </a:p>
        </p:txBody>
      </p:sp>
      <p:pic>
        <p:nvPicPr>
          <p:cNvPr id="25603" name="Picture 3">
            <a:extLst>
              <a:ext uri="{FF2B5EF4-FFF2-40B4-BE49-F238E27FC236}">
                <a16:creationId xmlns:a16="http://schemas.microsoft.com/office/drawing/2014/main" id="{1BE562F2-9F0F-41D1-9E4A-0617CA19B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24" y="2814269"/>
            <a:ext cx="18002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495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Frame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acts as a container to hold the widgets. It is used for grouping and organizing the widgets.</a:t>
            </a:r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Frame(master, option=value)</a:t>
            </a:r>
          </a:p>
          <a:p>
            <a:pPr fontAlgn="base"/>
            <a:r>
              <a:rPr lang="en-US" dirty="0"/>
              <a:t>master is the parameter used to represent the parent window.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highlightcolor</a:t>
            </a:r>
            <a:r>
              <a:rPr lang="en-US" dirty="0"/>
              <a:t>: To set the color of the focus highlight when widget has to be focused.</a:t>
            </a:r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border width in pixels.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the normal background color.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set the cursor used.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106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  root = Tk() </a:t>
            </a:r>
          </a:p>
          <a:p>
            <a:r>
              <a:rPr lang="en-US" sz="1400" dirty="0"/>
              <a:t>frame = Frame(root) </a:t>
            </a:r>
          </a:p>
          <a:p>
            <a:r>
              <a:rPr lang="en-US" sz="1400" dirty="0" err="1"/>
              <a:t>frame.pack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bottomframe</a:t>
            </a:r>
            <a:r>
              <a:rPr lang="en-US" sz="1400" dirty="0"/>
              <a:t> = Frame(root) </a:t>
            </a:r>
          </a:p>
          <a:p>
            <a:r>
              <a:rPr lang="en-US" sz="1400" dirty="0" err="1"/>
              <a:t>bottomframe.pack</a:t>
            </a:r>
            <a:r>
              <a:rPr lang="en-US" sz="1400" dirty="0"/>
              <a:t>( side = BOTTOM ) </a:t>
            </a:r>
          </a:p>
          <a:p>
            <a:r>
              <a:rPr lang="en-US" sz="1400" dirty="0" err="1"/>
              <a:t>redbutton</a:t>
            </a:r>
            <a:r>
              <a:rPr lang="en-US" sz="1400" dirty="0"/>
              <a:t> = Button(frame, text = 'Red', </a:t>
            </a:r>
            <a:r>
              <a:rPr lang="en-US" sz="1400" dirty="0" err="1"/>
              <a:t>fg</a:t>
            </a:r>
            <a:r>
              <a:rPr lang="en-US" sz="1400" dirty="0"/>
              <a:t> ='red') </a:t>
            </a:r>
          </a:p>
          <a:p>
            <a:r>
              <a:rPr lang="en-US" sz="1400" dirty="0" err="1"/>
              <a:t>redbutton.pack</a:t>
            </a:r>
            <a:r>
              <a:rPr lang="en-US" sz="1400" dirty="0"/>
              <a:t>( side = LEFT) </a:t>
            </a:r>
          </a:p>
          <a:p>
            <a:r>
              <a:rPr lang="en-US" sz="1400" dirty="0" err="1"/>
              <a:t>greenbutton</a:t>
            </a:r>
            <a:r>
              <a:rPr lang="en-US" sz="1400" dirty="0"/>
              <a:t> = Button(frame, text = 'Brown', </a:t>
            </a:r>
            <a:r>
              <a:rPr lang="en-US" sz="1400" dirty="0" err="1"/>
              <a:t>fg</a:t>
            </a:r>
            <a:r>
              <a:rPr lang="en-US" sz="1400" dirty="0"/>
              <a:t>='brown') </a:t>
            </a:r>
          </a:p>
          <a:p>
            <a:r>
              <a:rPr lang="en-US" sz="1400" dirty="0" err="1"/>
              <a:t>greenbutton.pack</a:t>
            </a:r>
            <a:r>
              <a:rPr lang="en-US" sz="1400" dirty="0"/>
              <a:t>( side = LEFT ) </a:t>
            </a:r>
          </a:p>
          <a:p>
            <a:r>
              <a:rPr lang="en-US" sz="1400" dirty="0" err="1"/>
              <a:t>bluebutton</a:t>
            </a:r>
            <a:r>
              <a:rPr lang="en-US" sz="1400" dirty="0"/>
              <a:t> = Button(frame, text ='Blue', </a:t>
            </a:r>
            <a:r>
              <a:rPr lang="en-US" sz="1400" dirty="0" err="1"/>
              <a:t>fg</a:t>
            </a:r>
            <a:r>
              <a:rPr lang="en-US" sz="1400" dirty="0"/>
              <a:t> ='blue') </a:t>
            </a:r>
          </a:p>
          <a:p>
            <a:r>
              <a:rPr lang="en-US" sz="1400" dirty="0" err="1"/>
              <a:t>bluebutton.pack</a:t>
            </a:r>
            <a:r>
              <a:rPr lang="en-US" sz="1400" dirty="0"/>
              <a:t>( side = LEFT ) </a:t>
            </a:r>
          </a:p>
          <a:p>
            <a:r>
              <a:rPr lang="en-US" sz="1400" dirty="0" err="1"/>
              <a:t>blackbutton</a:t>
            </a:r>
            <a:r>
              <a:rPr lang="en-US" sz="1400" dirty="0"/>
              <a:t> = Button(</a:t>
            </a:r>
            <a:r>
              <a:rPr lang="en-US" sz="1400" dirty="0" err="1"/>
              <a:t>bottomframe</a:t>
            </a:r>
            <a:r>
              <a:rPr lang="en-US" sz="1400" dirty="0"/>
              <a:t>, text ='Black', </a:t>
            </a:r>
            <a:r>
              <a:rPr lang="en-US" sz="1400" dirty="0" err="1"/>
              <a:t>fg</a:t>
            </a:r>
            <a:r>
              <a:rPr lang="en-US" sz="1400" dirty="0"/>
              <a:t> ='black') </a:t>
            </a:r>
          </a:p>
          <a:p>
            <a:r>
              <a:rPr lang="en-US" sz="1400" dirty="0" err="1"/>
              <a:t>blackbutton.pack</a:t>
            </a:r>
            <a:r>
              <a:rPr lang="en-US" sz="1400" dirty="0"/>
              <a:t>( side = BOTTOM) </a:t>
            </a:r>
          </a:p>
          <a:p>
            <a:r>
              <a:rPr lang="en-US" sz="1400" dirty="0" err="1"/>
              <a:t>root.mainloop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Frame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Frame</a:t>
            </a:r>
            <a:r>
              <a:rPr lang="tr-TR" dirty="0"/>
              <a:t> of 3 </a:t>
            </a:r>
            <a:r>
              <a:rPr lang="tr-TR" dirty="0" err="1"/>
              <a:t>Buttons</a:t>
            </a:r>
            <a:endParaRPr lang="en-US" dirty="0"/>
          </a:p>
        </p:txBody>
      </p:sp>
      <p:pic>
        <p:nvPicPr>
          <p:cNvPr id="27651" name="Picture 3">
            <a:extLst>
              <a:ext uri="{FF2B5EF4-FFF2-40B4-BE49-F238E27FC236}">
                <a16:creationId xmlns:a16="http://schemas.microsoft.com/office/drawing/2014/main" id="{B23299CA-A02D-4DB0-AD3C-C89D4DF10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9" y="2069618"/>
            <a:ext cx="1162050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596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Label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to the display box where you can put any text or image which can be updated any time as per the code.</a:t>
            </a:r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w=Label(master, option=value)</a:t>
            </a:r>
          </a:p>
          <a:p>
            <a:pPr fontAlgn="base"/>
            <a:r>
              <a:rPr lang="en-US" dirty="0"/>
              <a:t>master is the parameter used to represent the parent window.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 to set he normal background color.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button.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button.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” to set the height of the button.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668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root = Tk() </a:t>
            </a:r>
          </a:p>
          <a:p>
            <a:r>
              <a:rPr lang="en-US" sz="1400" dirty="0"/>
              <a:t>w = Label(root, text="It's fun to play with GUI widgets!") </a:t>
            </a:r>
          </a:p>
          <a:p>
            <a:r>
              <a:rPr lang="en-US" sz="1400" dirty="0" err="1"/>
              <a:t>w.pack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root.mainloop</a:t>
            </a:r>
            <a:r>
              <a:rPr lang="en-US" sz="1400" dirty="0"/>
              <a:t>()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Label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Label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say it is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play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GUI </a:t>
            </a:r>
            <a:r>
              <a:rPr lang="tr-TR" dirty="0" err="1"/>
              <a:t>widgets</a:t>
            </a:r>
            <a:endParaRPr lang="en-US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F1312DBE-9F0F-4449-8A4F-24726444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42" y="2190336"/>
            <a:ext cx="21145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58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Listbox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offers a list to the user from which the user can accept any number of options..</a:t>
            </a:r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</a:t>
            </a:r>
            <a:r>
              <a:rPr lang="en-US" dirty="0" err="1"/>
              <a:t>Listbox</a:t>
            </a:r>
            <a:r>
              <a:rPr lang="en-US" dirty="0"/>
              <a:t>(master, option=value)</a:t>
            </a:r>
          </a:p>
          <a:p>
            <a:pPr fontAlgn="base"/>
            <a:r>
              <a:rPr lang="en-US" dirty="0"/>
              <a:t>master is the parameter used to represent the parent window..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highlightcolor</a:t>
            </a:r>
            <a:r>
              <a:rPr lang="en-US" dirty="0"/>
              <a:t>: To set the color of the focus highlight when widget has to be focused.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border width in pixels.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97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  </a:t>
            </a:r>
          </a:p>
          <a:p>
            <a:r>
              <a:rPr lang="en-US" sz="1400" dirty="0"/>
              <a:t>top = Tk() </a:t>
            </a:r>
          </a:p>
          <a:p>
            <a:r>
              <a:rPr lang="en-US" sz="1400" dirty="0" err="1"/>
              <a:t>Lb</a:t>
            </a:r>
            <a:r>
              <a:rPr lang="en-US" sz="1400" dirty="0"/>
              <a:t> = </a:t>
            </a:r>
            <a:r>
              <a:rPr lang="en-US" sz="1400" dirty="0" err="1"/>
              <a:t>Listbox</a:t>
            </a:r>
            <a:r>
              <a:rPr lang="en-US" sz="1400" dirty="0"/>
              <a:t>(top) </a:t>
            </a:r>
          </a:p>
          <a:p>
            <a:r>
              <a:rPr lang="en-US" sz="1400" dirty="0" err="1"/>
              <a:t>Lb.insert</a:t>
            </a:r>
            <a:r>
              <a:rPr lang="en-US" sz="1400" dirty="0"/>
              <a:t>(1, 'Python') </a:t>
            </a:r>
          </a:p>
          <a:p>
            <a:r>
              <a:rPr lang="en-US" sz="1400" dirty="0" err="1"/>
              <a:t>Lb.insert</a:t>
            </a:r>
            <a:r>
              <a:rPr lang="en-US" sz="1400" dirty="0"/>
              <a:t>(2, 'Java') </a:t>
            </a:r>
          </a:p>
          <a:p>
            <a:r>
              <a:rPr lang="en-US" sz="1400" dirty="0" err="1"/>
              <a:t>Lb.insert</a:t>
            </a:r>
            <a:r>
              <a:rPr lang="en-US" sz="1400" dirty="0"/>
              <a:t>(3, 'C++') </a:t>
            </a:r>
          </a:p>
          <a:p>
            <a:r>
              <a:rPr lang="en-US" sz="1400" dirty="0" err="1"/>
              <a:t>Lb.insert</a:t>
            </a:r>
            <a:r>
              <a:rPr lang="en-US" sz="1400" dirty="0"/>
              <a:t>(4, 'Any other') </a:t>
            </a:r>
          </a:p>
          <a:p>
            <a:r>
              <a:rPr lang="en-US" sz="1400" dirty="0" err="1"/>
              <a:t>Lb.pack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top.mainloop</a:t>
            </a:r>
            <a:r>
              <a:rPr lang="en-US" sz="1400" dirty="0"/>
              <a:t>()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Listbox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Listbox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3 </a:t>
            </a:r>
            <a:r>
              <a:rPr lang="tr-TR" dirty="0" err="1"/>
              <a:t>programming</a:t>
            </a:r>
            <a:r>
              <a:rPr lang="tr-TR" dirty="0"/>
              <a:t> </a:t>
            </a:r>
            <a:r>
              <a:rPr lang="tr-TR" dirty="0" err="1"/>
              <a:t>languages</a:t>
            </a:r>
            <a:endParaRPr lang="en-US" dirty="0"/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id="{D563EA9A-DAC9-4720-AA7D-4D2B83764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19" y="2087632"/>
            <a:ext cx="119062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461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MenuButton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a part of top-down menu which stays on the window all the time. Every </a:t>
            </a:r>
            <a:r>
              <a:rPr lang="en-US" dirty="0" err="1"/>
              <a:t>menubutton</a:t>
            </a:r>
            <a:r>
              <a:rPr lang="en-US" dirty="0"/>
              <a:t> has its own functionality.</a:t>
            </a:r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</a:t>
            </a:r>
            <a:r>
              <a:rPr lang="en-US" dirty="0" err="1"/>
              <a:t>MenuButton</a:t>
            </a:r>
            <a:r>
              <a:rPr lang="en-US" dirty="0"/>
              <a:t>(master, option=value)</a:t>
            </a:r>
          </a:p>
          <a:p>
            <a:pPr fontAlgn="base"/>
            <a:r>
              <a:rPr lang="en-US" dirty="0"/>
              <a:t>master is the parameter used to represent the parent window.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when mouse is over the widget.</a:t>
            </a:r>
          </a:p>
          <a:p>
            <a:pPr fontAlgn="base"/>
            <a:r>
              <a:rPr lang="en-US" b="1" dirty="0" err="1"/>
              <a:t>activeforeground</a:t>
            </a:r>
            <a:r>
              <a:rPr lang="en-US" dirty="0"/>
              <a:t>: To set the foreground when mouse is over the widget.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size of border around the indicator.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appear the cursor when the mouse over the </a:t>
            </a:r>
            <a:r>
              <a:rPr lang="en-US" dirty="0" err="1"/>
              <a:t>menubutton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  <a:p>
            <a:pPr fontAlgn="base"/>
            <a:r>
              <a:rPr lang="en-US" b="1" dirty="0" err="1"/>
              <a:t>highlightcolor</a:t>
            </a:r>
            <a:r>
              <a:rPr lang="en-US" dirty="0"/>
              <a:t>: To set the color of the focus highlight when widget has to be focused.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63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endParaRPr lang="en-US" sz="1400" dirty="0"/>
          </a:p>
          <a:p>
            <a:r>
              <a:rPr lang="en-US" sz="1400" dirty="0"/>
              <a:t>top = Tk() </a:t>
            </a:r>
          </a:p>
          <a:p>
            <a:r>
              <a:rPr lang="en-US" sz="1400" dirty="0"/>
              <a:t>mb = </a:t>
            </a:r>
            <a:r>
              <a:rPr lang="en-US" sz="1400" dirty="0" err="1"/>
              <a:t>Menubutton</a:t>
            </a:r>
            <a:r>
              <a:rPr lang="en-US" sz="1400" dirty="0"/>
              <a:t> ( top, text = &amp;</a:t>
            </a:r>
            <a:r>
              <a:rPr lang="en-US" sz="1400" dirty="0" err="1"/>
              <a:t>quot;GfG&amp;quot</a:t>
            </a:r>
            <a:r>
              <a:rPr lang="en-US" sz="1400" dirty="0"/>
              <a:t>;) </a:t>
            </a:r>
          </a:p>
          <a:p>
            <a:r>
              <a:rPr lang="en-US" sz="1400" dirty="0" err="1"/>
              <a:t>mb.grid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mb.menu</a:t>
            </a:r>
            <a:r>
              <a:rPr lang="en-US" sz="1400" dirty="0"/>
              <a:t> = Menu ( mb, </a:t>
            </a:r>
            <a:r>
              <a:rPr lang="en-US" sz="1400" dirty="0" err="1"/>
              <a:t>tearoff</a:t>
            </a:r>
            <a:r>
              <a:rPr lang="en-US" sz="1400" dirty="0"/>
              <a:t> = 0 ) </a:t>
            </a:r>
          </a:p>
          <a:p>
            <a:r>
              <a:rPr lang="en-US" sz="1400" dirty="0"/>
              <a:t>mb[&amp;</a:t>
            </a:r>
            <a:r>
              <a:rPr lang="en-US" sz="1400" dirty="0" err="1"/>
              <a:t>quot;menu&amp;quot</a:t>
            </a:r>
            <a:r>
              <a:rPr lang="en-US" sz="1400" dirty="0"/>
              <a:t>;] = </a:t>
            </a:r>
            <a:r>
              <a:rPr lang="en-US" sz="1400" dirty="0" err="1"/>
              <a:t>mb.menu</a:t>
            </a:r>
            <a:r>
              <a:rPr lang="en-US" sz="1400" dirty="0"/>
              <a:t> </a:t>
            </a:r>
          </a:p>
          <a:p>
            <a:r>
              <a:rPr lang="en-US" sz="1400" dirty="0" err="1"/>
              <a:t>cVar</a:t>
            </a:r>
            <a:r>
              <a:rPr lang="en-US" sz="1400" dirty="0"/>
              <a:t> = </a:t>
            </a:r>
            <a:r>
              <a:rPr lang="en-US" sz="1400" dirty="0" err="1"/>
              <a:t>IntVar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aVar</a:t>
            </a:r>
            <a:r>
              <a:rPr lang="en-US" sz="1400" dirty="0"/>
              <a:t> = </a:t>
            </a:r>
            <a:r>
              <a:rPr lang="en-US" sz="1400" dirty="0" err="1"/>
              <a:t>IntVar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mb.menu.add_checkbutton</a:t>
            </a:r>
            <a:r>
              <a:rPr lang="en-US" sz="1400" dirty="0"/>
              <a:t> ( label ='Contact', variable = </a:t>
            </a:r>
            <a:r>
              <a:rPr lang="en-US" sz="1400" dirty="0" err="1"/>
              <a:t>cVar</a:t>
            </a:r>
            <a:r>
              <a:rPr lang="en-US" sz="1400" dirty="0"/>
              <a:t> ) </a:t>
            </a:r>
          </a:p>
          <a:p>
            <a:r>
              <a:rPr lang="en-US" sz="1400" dirty="0" err="1"/>
              <a:t>mb.menu.add_checkbutton</a:t>
            </a:r>
            <a:r>
              <a:rPr lang="en-US" sz="1400" dirty="0"/>
              <a:t> ( label = 'About', variable = </a:t>
            </a:r>
            <a:r>
              <a:rPr lang="en-US" sz="1400" dirty="0" err="1"/>
              <a:t>aVar</a:t>
            </a:r>
            <a:r>
              <a:rPr lang="en-US" sz="1400" dirty="0"/>
              <a:t> ) </a:t>
            </a:r>
          </a:p>
          <a:p>
            <a:r>
              <a:rPr lang="en-US" sz="1400" dirty="0" err="1"/>
              <a:t>mb.pack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top.mainloop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MenuButton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Menubuttons</a:t>
            </a:r>
            <a:r>
              <a:rPr lang="tr-TR" dirty="0"/>
              <a:t> </a:t>
            </a:r>
            <a:r>
              <a:rPr lang="tr-TR" dirty="0" err="1"/>
              <a:t>contact</a:t>
            </a:r>
            <a:r>
              <a:rPr lang="tr-TR" dirty="0"/>
              <a:t> &amp; </a:t>
            </a:r>
            <a:r>
              <a:rPr lang="tr-TR" dirty="0" err="1"/>
              <a:t>about</a:t>
            </a:r>
            <a:endParaRPr lang="en-US" dirty="0"/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5DF9B086-A79C-49A4-BD1D-1B8E45CD8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77" y="2256597"/>
            <a:ext cx="1228725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21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/>
              <a:t>Menu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to create all kinds of menus used by the application</a:t>
            </a:r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Menu(master, option=value)</a:t>
            </a:r>
          </a:p>
          <a:p>
            <a:pPr fontAlgn="base"/>
            <a:r>
              <a:rPr lang="en-US" dirty="0"/>
              <a:t>master is the parameter used to represent the parent window.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/>
              <a:t>title</a:t>
            </a:r>
            <a:r>
              <a:rPr lang="en-US" dirty="0"/>
              <a:t>: To set the title of the widget.</a:t>
            </a:r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color when widget is under the cursor.</a:t>
            </a:r>
          </a:p>
          <a:p>
            <a:pPr fontAlgn="base"/>
            <a:r>
              <a:rPr lang="en-US" b="1" dirty="0" err="1"/>
              <a:t>activeforeground</a:t>
            </a:r>
            <a:r>
              <a:rPr lang="en-US" dirty="0"/>
              <a:t>: to set the foreground color when widget is under the cursor.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99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	</a:t>
            </a:r>
          </a:p>
          <a:p>
            <a:r>
              <a:rPr lang="en-US" sz="1400" dirty="0"/>
              <a:t>root = Tk() </a:t>
            </a:r>
          </a:p>
          <a:p>
            <a:r>
              <a:rPr lang="en-US" sz="1400" dirty="0"/>
              <a:t>menu = Menu(root) </a:t>
            </a:r>
          </a:p>
          <a:p>
            <a:r>
              <a:rPr lang="en-US" sz="1400" dirty="0" err="1"/>
              <a:t>root.config</a:t>
            </a:r>
            <a:r>
              <a:rPr lang="en-US" sz="1400" dirty="0"/>
              <a:t>(menu=menu) </a:t>
            </a:r>
          </a:p>
          <a:p>
            <a:r>
              <a:rPr lang="en-US" sz="1400" dirty="0" err="1"/>
              <a:t>filemenu</a:t>
            </a:r>
            <a:r>
              <a:rPr lang="en-US" sz="1400" dirty="0"/>
              <a:t> = Menu(menu) </a:t>
            </a:r>
          </a:p>
          <a:p>
            <a:r>
              <a:rPr lang="en-US" sz="1400" dirty="0" err="1"/>
              <a:t>menu.add_cascade</a:t>
            </a:r>
            <a:r>
              <a:rPr lang="en-US" sz="1400" dirty="0"/>
              <a:t>(label='File', menu=</a:t>
            </a:r>
            <a:r>
              <a:rPr lang="en-US" sz="1400" dirty="0" err="1"/>
              <a:t>filemenu</a:t>
            </a:r>
            <a:r>
              <a:rPr lang="en-US" sz="1400" dirty="0"/>
              <a:t>) </a:t>
            </a:r>
          </a:p>
          <a:p>
            <a:r>
              <a:rPr lang="en-US" sz="1400" dirty="0" err="1"/>
              <a:t>filemenu.add_command</a:t>
            </a:r>
            <a:r>
              <a:rPr lang="en-US" sz="1400" dirty="0"/>
              <a:t>(label='New') </a:t>
            </a:r>
          </a:p>
          <a:p>
            <a:r>
              <a:rPr lang="en-US" sz="1400" dirty="0" err="1"/>
              <a:t>filemenu.add_command</a:t>
            </a:r>
            <a:r>
              <a:rPr lang="en-US" sz="1400" dirty="0"/>
              <a:t>(label='Open...') </a:t>
            </a:r>
          </a:p>
          <a:p>
            <a:r>
              <a:rPr lang="en-US" sz="1400" dirty="0" err="1"/>
              <a:t>filemenu.add_separator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filemenu.add_command</a:t>
            </a:r>
            <a:r>
              <a:rPr lang="en-US" sz="1400" dirty="0"/>
              <a:t>(label='Exit', command=</a:t>
            </a:r>
            <a:r>
              <a:rPr lang="en-US" sz="1400" dirty="0" err="1"/>
              <a:t>root.quit</a:t>
            </a:r>
            <a:r>
              <a:rPr lang="en-US" sz="1400" dirty="0"/>
              <a:t>) </a:t>
            </a:r>
          </a:p>
          <a:p>
            <a:r>
              <a:rPr lang="en-US" sz="1400" dirty="0" err="1"/>
              <a:t>helpmenu</a:t>
            </a:r>
            <a:r>
              <a:rPr lang="en-US" sz="1400" dirty="0"/>
              <a:t> = Menu(menu) </a:t>
            </a:r>
          </a:p>
          <a:p>
            <a:r>
              <a:rPr lang="en-US" sz="1400" dirty="0" err="1"/>
              <a:t>menu.add_cascade</a:t>
            </a:r>
            <a:r>
              <a:rPr lang="en-US" sz="1400" dirty="0"/>
              <a:t>(label='Help', menu=</a:t>
            </a:r>
            <a:r>
              <a:rPr lang="en-US" sz="1400" dirty="0" err="1"/>
              <a:t>helpmenu</a:t>
            </a:r>
            <a:r>
              <a:rPr lang="en-US" sz="1400" dirty="0"/>
              <a:t>) </a:t>
            </a:r>
          </a:p>
          <a:p>
            <a:r>
              <a:rPr lang="en-US" sz="1400" dirty="0" err="1"/>
              <a:t>helpmenu.add_command</a:t>
            </a:r>
            <a:r>
              <a:rPr lang="en-US" sz="1400" dirty="0"/>
              <a:t>(label='About')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/>
              <a:t>Menu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/>
              <a:t>Menu  </a:t>
            </a:r>
            <a:r>
              <a:rPr lang="tr-TR" dirty="0" err="1"/>
              <a:t>with</a:t>
            </a:r>
            <a:r>
              <a:rPr lang="tr-TR" dirty="0"/>
              <a:t> File &amp; Help</a:t>
            </a:r>
            <a:endParaRPr lang="en-US" dirty="0"/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A8BF8F23-92FA-4CFB-999F-FA9338D4C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37" y="2243137"/>
            <a:ext cx="190500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246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/>
              <a:t>Message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multi-line and non-editable text. It works same as that of Label</a:t>
            </a:r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Message(master, option=value)</a:t>
            </a:r>
          </a:p>
          <a:p>
            <a:pPr fontAlgn="base"/>
            <a:r>
              <a:rPr lang="en-US" dirty="0"/>
              <a:t>master is the parameter used to represent the parent window.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border around the indicator.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</p:txBody>
      </p:sp>
    </p:spTree>
    <p:extLst>
      <p:ext uri="{BB962C8B-B14F-4D97-AF65-F5344CB8AC3E}">
        <p14:creationId xmlns:p14="http://schemas.microsoft.com/office/powerpoint/2010/main" val="193990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main = Tk() </a:t>
            </a:r>
          </a:p>
          <a:p>
            <a:r>
              <a:rPr lang="en-US" sz="1400" dirty="0" err="1"/>
              <a:t>ourMessage</a:t>
            </a:r>
            <a:r>
              <a:rPr lang="en-US" sz="1400" dirty="0"/>
              <a:t> ='Love Python but the best part is to play with GUI widgets'</a:t>
            </a:r>
          </a:p>
          <a:p>
            <a:r>
              <a:rPr lang="en-US" sz="1400" dirty="0" err="1"/>
              <a:t>messageVar</a:t>
            </a:r>
            <a:r>
              <a:rPr lang="en-US" sz="1400" dirty="0"/>
              <a:t> = Message(main, text = </a:t>
            </a:r>
            <a:r>
              <a:rPr lang="en-US" sz="1400" dirty="0" err="1"/>
              <a:t>ourMessage</a:t>
            </a:r>
            <a:r>
              <a:rPr lang="en-US" sz="1400" dirty="0"/>
              <a:t>) </a:t>
            </a:r>
          </a:p>
          <a:p>
            <a:r>
              <a:rPr lang="en-US" sz="1400" dirty="0" err="1"/>
              <a:t>messageVar.config</a:t>
            </a:r>
            <a:r>
              <a:rPr lang="en-US" sz="1400" dirty="0"/>
              <a:t>(</a:t>
            </a:r>
            <a:r>
              <a:rPr lang="en-US" sz="1400" dirty="0" err="1"/>
              <a:t>bg</a:t>
            </a:r>
            <a:r>
              <a:rPr lang="en-US" sz="1400" dirty="0"/>
              <a:t>='</a:t>
            </a:r>
            <a:r>
              <a:rPr lang="en-US" sz="1400" dirty="0" err="1"/>
              <a:t>lightgreen</a:t>
            </a:r>
            <a:r>
              <a:rPr lang="en-US" sz="1400" dirty="0"/>
              <a:t>') </a:t>
            </a:r>
          </a:p>
          <a:p>
            <a:r>
              <a:rPr lang="en-US" sz="1400" dirty="0" err="1"/>
              <a:t>messageVar.pack</a:t>
            </a:r>
            <a:r>
              <a:rPr lang="en-US" sz="1400" dirty="0"/>
              <a:t>( ) </a:t>
            </a:r>
          </a:p>
          <a:p>
            <a:r>
              <a:rPr lang="en-US" sz="1400" dirty="0" err="1"/>
              <a:t>main.mainloop</a:t>
            </a:r>
            <a:r>
              <a:rPr lang="en-US" sz="1400" dirty="0"/>
              <a:t>( )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/>
              <a:t>Message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/>
              <a:t>Message </a:t>
            </a:r>
            <a:r>
              <a:rPr lang="tr-TR" dirty="0" err="1"/>
              <a:t>to</a:t>
            </a:r>
            <a:r>
              <a:rPr lang="tr-TR" dirty="0"/>
              <a:t> say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en-US" sz="1200" dirty="0"/>
              <a:t>best part is to play with GUI widgets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016ADD5-5E33-4289-93E9-3BFF9EDF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08" y="2238375"/>
            <a:ext cx="14478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34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RadioButton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to offer multi-choice option to the user. It offers several options to the user and the user has to choose one option.</a:t>
            </a:r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</a:t>
            </a:r>
            <a:r>
              <a:rPr lang="en-US" dirty="0" err="1"/>
              <a:t>RadioButton</a:t>
            </a:r>
            <a:r>
              <a:rPr lang="en-US" dirty="0"/>
              <a:t>(master, option=value).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color when widget is under the cursor.</a:t>
            </a:r>
          </a:p>
          <a:p>
            <a:pPr fontAlgn="base"/>
            <a:r>
              <a:rPr lang="en-US" b="1" dirty="0" err="1"/>
              <a:t>activeforeground</a:t>
            </a:r>
            <a:r>
              <a:rPr lang="en-US" dirty="0"/>
              <a:t>: to set the foreground color when widget is under the cursor.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label in characters.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label in characters.</a:t>
            </a:r>
          </a:p>
        </p:txBody>
      </p:sp>
    </p:spTree>
    <p:extLst>
      <p:ext uri="{BB962C8B-B14F-4D97-AF65-F5344CB8AC3E}">
        <p14:creationId xmlns:p14="http://schemas.microsoft.com/office/powerpoint/2010/main" val="397729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root = Tk() </a:t>
            </a:r>
          </a:p>
          <a:p>
            <a:r>
              <a:rPr lang="en-US" sz="1400" dirty="0"/>
              <a:t>v = </a:t>
            </a:r>
            <a:r>
              <a:rPr lang="en-US" sz="1400" dirty="0" err="1"/>
              <a:t>IntVar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Radiobutton</a:t>
            </a:r>
            <a:r>
              <a:rPr lang="en-US" sz="1400" dirty="0"/>
              <a:t>(root, text='</a:t>
            </a:r>
            <a:r>
              <a:rPr lang="en-US" sz="1400" dirty="0" err="1"/>
              <a:t>GfG</a:t>
            </a:r>
            <a:r>
              <a:rPr lang="en-US" sz="1400" dirty="0"/>
              <a:t>', variable=v, value=1).pack(anchor=W) </a:t>
            </a:r>
          </a:p>
          <a:p>
            <a:r>
              <a:rPr lang="en-US" sz="1400" dirty="0" err="1"/>
              <a:t>Radiobutton</a:t>
            </a:r>
            <a:r>
              <a:rPr lang="en-US" sz="1400" dirty="0"/>
              <a:t>(root, text='MIT', variable=v, value=2).pack(anchor=W)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RadioButton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Radio</a:t>
            </a:r>
            <a:r>
              <a:rPr lang="tr-TR" dirty="0"/>
              <a:t> </a:t>
            </a:r>
            <a:r>
              <a:rPr lang="tr-TR" dirty="0" err="1"/>
              <a:t>button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make</a:t>
            </a:r>
            <a:r>
              <a:rPr lang="tr-TR" dirty="0"/>
              <a:t> a </a:t>
            </a:r>
            <a:r>
              <a:rPr lang="tr-TR" dirty="0" err="1"/>
              <a:t>selection</a:t>
            </a:r>
            <a:endParaRPr lang="en-US" dirty="0"/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0D2BEB53-825E-4836-A784-E2742218B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20" y="2366595"/>
            <a:ext cx="1152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044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Scale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to provide a graphical slider that allows to select any value from that scale.</a:t>
            </a:r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Scale(master, option=value)</a:t>
            </a:r>
          </a:p>
          <a:p>
            <a:pPr fontAlgn="base"/>
            <a:r>
              <a:rPr lang="en-US" dirty="0"/>
              <a:t>master is the parameter used to represent the parent window.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change the cursor pattern when the mouse is over the widget.</a:t>
            </a:r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of the widget when mouse is over the widget.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orient</a:t>
            </a:r>
            <a:r>
              <a:rPr lang="en-US" dirty="0"/>
              <a:t>: Set it to HORIZONTAL or VERTICAL according to the requirement.</a:t>
            </a:r>
          </a:p>
          <a:p>
            <a:pPr fontAlgn="base"/>
            <a:r>
              <a:rPr lang="en-US" b="1" dirty="0"/>
              <a:t>from_</a:t>
            </a:r>
            <a:r>
              <a:rPr lang="en-US" dirty="0"/>
              <a:t>: To set the value of one end of the scale range.</a:t>
            </a:r>
          </a:p>
          <a:p>
            <a:pPr fontAlgn="base"/>
            <a:r>
              <a:rPr lang="en-US" b="1" dirty="0"/>
              <a:t>to</a:t>
            </a:r>
            <a:r>
              <a:rPr lang="en-US" dirty="0"/>
              <a:t>: To set the value of the other end of the scale range.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0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master = Tk() </a:t>
            </a:r>
          </a:p>
          <a:p>
            <a:r>
              <a:rPr lang="en-US" sz="1400" dirty="0"/>
              <a:t>w = Scale(master, from_=0, to=42) </a:t>
            </a:r>
          </a:p>
          <a:p>
            <a:r>
              <a:rPr lang="en-US" sz="1400" dirty="0" err="1"/>
              <a:t>w.pack</a:t>
            </a:r>
            <a:r>
              <a:rPr lang="en-US" sz="1400" dirty="0"/>
              <a:t>() </a:t>
            </a:r>
          </a:p>
          <a:p>
            <a:r>
              <a:rPr lang="en-US" sz="1400" dirty="0"/>
              <a:t>w = Scale(master, from_=0, to=200, orient=HORIZONTAL) </a:t>
            </a:r>
          </a:p>
          <a:p>
            <a:r>
              <a:rPr lang="en-US" sz="1400" dirty="0" err="1"/>
              <a:t>w.pack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Scale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Scale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up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42 X 200</a:t>
            </a:r>
            <a:endParaRPr lang="en-US" dirty="0"/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064FF769-1602-4203-B0B9-4BD043EF6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14" y="2194063"/>
            <a:ext cx="11620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675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Scrollbar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slide controller which will be used to implement listed widgets.</a:t>
            </a:r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Scrollbar(master, option=value)</a:t>
            </a:r>
          </a:p>
          <a:p>
            <a:pPr fontAlgn="base"/>
            <a:r>
              <a:rPr lang="en-US" dirty="0"/>
              <a:t>master is the parameter used to represent the parent window.</a:t>
            </a:r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when mouse is over the widget.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size of border around the indicator.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appear the cursor when the mouse over the </a:t>
            </a:r>
            <a:r>
              <a:rPr lang="en-US" dirty="0" err="1"/>
              <a:t>menubutton</a:t>
            </a:r>
            <a:r>
              <a:rPr lang="en-US" dirty="0"/>
              <a:t>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13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root = Tk() </a:t>
            </a:r>
          </a:p>
          <a:p>
            <a:r>
              <a:rPr lang="en-US" sz="1400" dirty="0"/>
              <a:t>scrollbar = Scrollbar(root) </a:t>
            </a:r>
          </a:p>
          <a:p>
            <a:r>
              <a:rPr lang="en-US" sz="1400" dirty="0" err="1"/>
              <a:t>scrollbar.pack</a:t>
            </a:r>
            <a:r>
              <a:rPr lang="en-US" sz="1400" dirty="0"/>
              <a:t>( side = RIGHT, fill = Y ) </a:t>
            </a:r>
          </a:p>
          <a:p>
            <a:r>
              <a:rPr lang="en-US" sz="1400" dirty="0" err="1"/>
              <a:t>mylist</a:t>
            </a:r>
            <a:r>
              <a:rPr lang="en-US" sz="1400" dirty="0"/>
              <a:t> = </a:t>
            </a:r>
            <a:r>
              <a:rPr lang="en-US" sz="1400" dirty="0" err="1"/>
              <a:t>Listbox</a:t>
            </a:r>
            <a:r>
              <a:rPr lang="en-US" sz="1400" dirty="0"/>
              <a:t>(root, </a:t>
            </a:r>
            <a:r>
              <a:rPr lang="en-US" sz="1400" dirty="0" err="1"/>
              <a:t>yscrollcommand</a:t>
            </a:r>
            <a:r>
              <a:rPr lang="en-US" sz="1400" dirty="0"/>
              <a:t> = </a:t>
            </a:r>
            <a:r>
              <a:rPr lang="en-US" sz="1400" dirty="0" err="1"/>
              <a:t>scrollbar.set</a:t>
            </a:r>
            <a:r>
              <a:rPr lang="en-US" sz="1400" dirty="0"/>
              <a:t> ) </a:t>
            </a:r>
          </a:p>
          <a:p>
            <a:r>
              <a:rPr lang="en-US" sz="1400" dirty="0"/>
              <a:t>for line in range(100): </a:t>
            </a:r>
          </a:p>
          <a:p>
            <a:r>
              <a:rPr lang="en-US" sz="1400" dirty="0" err="1"/>
              <a:t>mylist.insert</a:t>
            </a:r>
            <a:r>
              <a:rPr lang="en-US" sz="1400" dirty="0"/>
              <a:t>(END, 'This is line number' + str(line)) </a:t>
            </a:r>
          </a:p>
          <a:p>
            <a:r>
              <a:rPr lang="en-US" sz="1400" dirty="0" err="1"/>
              <a:t>mylist.pack</a:t>
            </a:r>
            <a:r>
              <a:rPr lang="en-US" sz="1400" dirty="0"/>
              <a:t>( side = LEFT, fill = BOTH ) </a:t>
            </a:r>
          </a:p>
          <a:p>
            <a:r>
              <a:rPr lang="en-US" sz="1400" dirty="0" err="1"/>
              <a:t>scrollbar.config</a:t>
            </a:r>
            <a:r>
              <a:rPr lang="en-US" sz="1400" dirty="0"/>
              <a:t>( command = </a:t>
            </a:r>
            <a:r>
              <a:rPr lang="en-US" sz="1400" dirty="0" err="1"/>
              <a:t>mylist.yview</a:t>
            </a:r>
            <a:r>
              <a:rPr lang="en-US" sz="1400" dirty="0"/>
              <a:t> 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Scrollbar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Scrollbar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scroll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200 </a:t>
            </a:r>
            <a:r>
              <a:rPr lang="tr-TR" dirty="0" err="1"/>
              <a:t>lines</a:t>
            </a:r>
            <a:endParaRPr lang="en-US" dirty="0"/>
          </a:p>
        </p:txBody>
      </p:sp>
      <p:pic>
        <p:nvPicPr>
          <p:cNvPr id="44034" name="Picture 2">
            <a:extLst>
              <a:ext uri="{FF2B5EF4-FFF2-40B4-BE49-F238E27FC236}">
                <a16:creationId xmlns:a16="http://schemas.microsoft.com/office/drawing/2014/main" id="{D95A4789-348C-409D-8521-4E7577825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30" y="2072931"/>
            <a:ext cx="135255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9322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Text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To edit a multi-line text and format the way it has to be displayed.</a:t>
            </a:r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 =Text(master, option=value)</a:t>
            </a:r>
            <a:endParaRPr lang="tr-TR" dirty="0"/>
          </a:p>
          <a:p>
            <a:pPr fontAlgn="base"/>
            <a:endParaRPr lang="tr-TR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highlightcolor</a:t>
            </a:r>
            <a:r>
              <a:rPr lang="en-US" dirty="0"/>
              <a:t>: To set the color of the focus highlight when widget has to be focused.</a:t>
            </a:r>
          </a:p>
          <a:p>
            <a:pPr fontAlgn="base"/>
            <a:r>
              <a:rPr lang="en-US" b="1" dirty="0" err="1"/>
              <a:t>insertbackground</a:t>
            </a:r>
            <a:r>
              <a:rPr lang="en-US" dirty="0"/>
              <a:t>: To set the background of the widget.</a:t>
            </a:r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font</a:t>
            </a:r>
            <a:r>
              <a:rPr lang="en-US" dirty="0"/>
              <a:t>: to set the font on the button label.</a:t>
            </a:r>
          </a:p>
          <a:p>
            <a:pPr fontAlgn="base"/>
            <a:r>
              <a:rPr lang="en-US" b="1" dirty="0"/>
              <a:t>image</a:t>
            </a:r>
            <a:r>
              <a:rPr lang="en-US" dirty="0"/>
              <a:t>: to set the image on the widget.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630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root = Tk() </a:t>
            </a:r>
          </a:p>
          <a:p>
            <a:r>
              <a:rPr lang="en-US" sz="1400" dirty="0"/>
              <a:t>T = Text(root, height=4, width=</a:t>
            </a:r>
            <a:r>
              <a:rPr lang="tr-TR" sz="1400" dirty="0"/>
              <a:t>15</a:t>
            </a:r>
            <a:r>
              <a:rPr lang="en-US" sz="1400" dirty="0"/>
              <a:t>) </a:t>
            </a:r>
          </a:p>
          <a:p>
            <a:r>
              <a:rPr lang="en-US" sz="1400" dirty="0" err="1"/>
              <a:t>T.pack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T.insert</a:t>
            </a:r>
            <a:r>
              <a:rPr lang="en-US" sz="1400" dirty="0"/>
              <a:t>(END, 'Hey\</a:t>
            </a:r>
            <a:r>
              <a:rPr lang="en-US" sz="1400" dirty="0" err="1"/>
              <a:t>nHow</a:t>
            </a:r>
            <a:r>
              <a:rPr lang="en-US" sz="1400" dirty="0"/>
              <a:t>\</a:t>
            </a:r>
            <a:r>
              <a:rPr lang="en-US" sz="1400" dirty="0" err="1"/>
              <a:t>nPython</a:t>
            </a:r>
            <a:r>
              <a:rPr lang="en-US" sz="1400" dirty="0"/>
              <a:t> is\</a:t>
            </a:r>
            <a:r>
              <a:rPr lang="en-US" sz="1400" dirty="0" err="1"/>
              <a:t>nThe</a:t>
            </a:r>
            <a:r>
              <a:rPr lang="en-US" sz="1400" dirty="0"/>
              <a:t> best love')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Text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say </a:t>
            </a:r>
            <a:r>
              <a:rPr lang="tr-TR" dirty="0" err="1"/>
              <a:t>Python</a:t>
            </a:r>
            <a:r>
              <a:rPr lang="tr-TR" dirty="0"/>
              <a:t>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best</a:t>
            </a:r>
            <a:r>
              <a:rPr lang="tr-TR" dirty="0"/>
              <a:t> </a:t>
            </a:r>
            <a:r>
              <a:rPr lang="tr-TR" dirty="0" err="1"/>
              <a:t>love</a:t>
            </a:r>
            <a:r>
              <a:rPr lang="tr-TR" dirty="0"/>
              <a:t>!</a:t>
            </a:r>
            <a:endParaRPr lang="en-US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32B1AAD-B8CC-4715-8CAD-5D1E3462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83" y="2412310"/>
            <a:ext cx="14954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66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TopLevel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This widget is directly controlled by the window manager. </a:t>
            </a:r>
            <a:endParaRPr lang="tr-TR" dirty="0"/>
          </a:p>
          <a:p>
            <a:pPr fontAlgn="base"/>
            <a:r>
              <a:rPr lang="en-US" dirty="0"/>
              <a:t>It don’t need any parent window to work on.</a:t>
            </a:r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</a:t>
            </a:r>
            <a:r>
              <a:rPr lang="en-US" dirty="0" err="1"/>
              <a:t>TopLevel</a:t>
            </a:r>
            <a:r>
              <a:rPr lang="en-US" dirty="0"/>
              <a:t>(master, option=value)</a:t>
            </a:r>
          </a:p>
          <a:p>
            <a:pPr fontAlgn="base"/>
            <a:endParaRPr lang="tr-TR" b="1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size of border around the indicator.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appear the cursor when the mouse over the </a:t>
            </a:r>
            <a:r>
              <a:rPr lang="en-US" dirty="0" err="1"/>
              <a:t>menubutton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829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root = Tk() </a:t>
            </a:r>
          </a:p>
          <a:p>
            <a:r>
              <a:rPr lang="en-US" sz="1400" dirty="0" err="1"/>
              <a:t>root.title</a:t>
            </a:r>
            <a:r>
              <a:rPr lang="en-US" sz="1400" dirty="0"/>
              <a:t>('</a:t>
            </a:r>
            <a:r>
              <a:rPr lang="en-US" sz="1400" dirty="0" err="1"/>
              <a:t>GfG</a:t>
            </a:r>
            <a:r>
              <a:rPr lang="en-US" sz="1400" dirty="0"/>
              <a:t>') </a:t>
            </a:r>
          </a:p>
          <a:p>
            <a:r>
              <a:rPr lang="en-US" sz="1400" dirty="0"/>
              <a:t>top = </a:t>
            </a:r>
            <a:r>
              <a:rPr lang="en-US" sz="1400" dirty="0" err="1"/>
              <a:t>Toplevel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top.title</a:t>
            </a:r>
            <a:r>
              <a:rPr lang="en-US" sz="1400" dirty="0"/>
              <a:t>('Python') </a:t>
            </a:r>
          </a:p>
          <a:p>
            <a:r>
              <a:rPr lang="en-US" sz="1400" dirty="0" err="1"/>
              <a:t>top.mainloop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TopLevel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38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TopLevel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Python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GfG</a:t>
            </a:r>
            <a:endParaRPr lang="en-US" dirty="0"/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7027CCC2-7491-4522-B2E2-9C70A9865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2" y="2205037"/>
            <a:ext cx="21526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2316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SpinBox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an entry of ‘Entry’ widget. Here, value can be input by selecting a fixed value of numbers. </a:t>
            </a:r>
            <a:endParaRPr lang="tr-TR" dirty="0"/>
          </a:p>
          <a:p>
            <a:pPr fontAlgn="base"/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</a:t>
            </a:r>
            <a:r>
              <a:rPr lang="en-US" dirty="0" err="1"/>
              <a:t>SpinBox</a:t>
            </a:r>
            <a:r>
              <a:rPr lang="en-US" dirty="0"/>
              <a:t>(master, option=value)</a:t>
            </a:r>
          </a:p>
          <a:p>
            <a:pPr fontAlgn="base"/>
            <a:endParaRPr lang="tr-TR" b="1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size of border around the indicator.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appear the cursor when the mouse over the </a:t>
            </a:r>
            <a:r>
              <a:rPr lang="en-US" dirty="0" err="1"/>
              <a:t>menubutton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command</a:t>
            </a:r>
            <a:r>
              <a:rPr lang="en-US" dirty="0"/>
              <a:t>: To call a function.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 err="1"/>
              <a:t>activebackground</a:t>
            </a:r>
            <a:r>
              <a:rPr lang="en-US" dirty="0"/>
              <a:t>: To set the background when mouse is over the widget.</a:t>
            </a:r>
          </a:p>
          <a:p>
            <a:pPr fontAlgn="base"/>
            <a:r>
              <a:rPr lang="en-US" b="1" dirty="0" err="1"/>
              <a:t>disabledbackground</a:t>
            </a:r>
            <a:r>
              <a:rPr lang="en-US" dirty="0"/>
              <a:t>: To disable the background when mouse is over the widget.</a:t>
            </a:r>
          </a:p>
          <a:p>
            <a:pPr fontAlgn="base"/>
            <a:r>
              <a:rPr lang="en-US" b="1" dirty="0"/>
              <a:t>from_</a:t>
            </a:r>
            <a:r>
              <a:rPr lang="en-US" dirty="0"/>
              <a:t>: To set the value of one end of the range.</a:t>
            </a:r>
          </a:p>
          <a:p>
            <a:pPr fontAlgn="base"/>
            <a:r>
              <a:rPr lang="en-US" b="1" dirty="0"/>
              <a:t>to</a:t>
            </a:r>
            <a:r>
              <a:rPr lang="en-US" dirty="0"/>
              <a:t>: To set the value of the other end of the range.</a:t>
            </a:r>
          </a:p>
        </p:txBody>
      </p:sp>
    </p:spTree>
    <p:extLst>
      <p:ext uri="{BB962C8B-B14F-4D97-AF65-F5344CB8AC3E}">
        <p14:creationId xmlns:p14="http://schemas.microsoft.com/office/powerpoint/2010/main" val="4242283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master = Tk() </a:t>
            </a:r>
          </a:p>
          <a:p>
            <a:r>
              <a:rPr lang="en-US" sz="1400" dirty="0"/>
              <a:t>w = </a:t>
            </a:r>
            <a:r>
              <a:rPr lang="en-US" sz="1400" dirty="0" err="1"/>
              <a:t>Spinbox</a:t>
            </a:r>
            <a:r>
              <a:rPr lang="en-US" sz="1400" dirty="0"/>
              <a:t>(master, from_ = 0, to = 10) </a:t>
            </a:r>
          </a:p>
          <a:p>
            <a:r>
              <a:rPr lang="en-US" sz="1400" dirty="0" err="1"/>
              <a:t>w.pack</a:t>
            </a:r>
            <a:r>
              <a:rPr lang="en-US" sz="1400" dirty="0"/>
              <a:t>()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 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SpinBox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SpinBox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0 </a:t>
            </a:r>
            <a:r>
              <a:rPr lang="tr-TR" dirty="0" err="1"/>
              <a:t>to</a:t>
            </a:r>
            <a:r>
              <a:rPr lang="tr-TR" dirty="0"/>
              <a:t> 10</a:t>
            </a:r>
            <a:endParaRPr lang="en-US" dirty="0"/>
          </a:p>
        </p:txBody>
      </p:sp>
      <p:pic>
        <p:nvPicPr>
          <p:cNvPr id="50178" name="Picture 2">
            <a:extLst>
              <a:ext uri="{FF2B5EF4-FFF2-40B4-BE49-F238E27FC236}">
                <a16:creationId xmlns:a16="http://schemas.microsoft.com/office/drawing/2014/main" id="{520B1364-E1DB-4CC6-B81F-1CED5D558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83" y="2305878"/>
            <a:ext cx="1295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341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5339F14B-3A56-4245-B943-76D2AEB0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tr-TR" b="1" dirty="0" err="1"/>
              <a:t>PannedWindow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BFD0E1-93F4-4BC7-8D81-57CDE6687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3EE89CD3-03FC-4BB9-A06C-560F165D0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 a container widget which is used to handle number of panes arranged in it. </a:t>
            </a:r>
            <a:endParaRPr lang="tr-TR" dirty="0"/>
          </a:p>
          <a:p>
            <a:pPr fontAlgn="base"/>
            <a:endParaRPr lang="tr-TR" dirty="0"/>
          </a:p>
          <a:p>
            <a:pPr fontAlgn="base"/>
            <a:r>
              <a:rPr lang="en-US" dirty="0"/>
              <a:t>The general syntax is:</a:t>
            </a:r>
          </a:p>
          <a:p>
            <a:pPr fontAlgn="base"/>
            <a:r>
              <a:rPr lang="en-US" dirty="0"/>
              <a:t>w = </a:t>
            </a:r>
            <a:r>
              <a:rPr lang="en-US" dirty="0" err="1"/>
              <a:t>PannedWindow</a:t>
            </a:r>
            <a:r>
              <a:rPr lang="en-US" dirty="0"/>
              <a:t>(master, option=value)</a:t>
            </a:r>
          </a:p>
          <a:p>
            <a:pPr fontAlgn="base"/>
            <a:endParaRPr lang="tr-TR" b="1" dirty="0"/>
          </a:p>
          <a:p>
            <a:pPr fontAlgn="base"/>
            <a:r>
              <a:rPr lang="tr-TR" dirty="0" err="1"/>
              <a:t>Options</a:t>
            </a:r>
            <a:r>
              <a:rPr lang="tr-TR" dirty="0"/>
              <a:t> (can be </a:t>
            </a:r>
            <a:r>
              <a:rPr lang="tr-TR" dirty="0" err="1"/>
              <a:t>separated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comas</a:t>
            </a:r>
            <a:endParaRPr lang="tr-TR" dirty="0"/>
          </a:p>
          <a:p>
            <a:pPr fontAlgn="base"/>
            <a:r>
              <a:rPr lang="en-US" b="1" dirty="0" err="1"/>
              <a:t>bg</a:t>
            </a:r>
            <a:r>
              <a:rPr lang="en-US" dirty="0"/>
              <a:t>: to set he normal background color.</a:t>
            </a:r>
          </a:p>
          <a:p>
            <a:pPr fontAlgn="base"/>
            <a:r>
              <a:rPr lang="en-US" b="1" dirty="0"/>
              <a:t>bd</a:t>
            </a:r>
            <a:r>
              <a:rPr lang="en-US" dirty="0"/>
              <a:t>: to set the size of border around the indicator.</a:t>
            </a:r>
          </a:p>
          <a:p>
            <a:pPr fontAlgn="base"/>
            <a:r>
              <a:rPr lang="en-US" b="1" dirty="0"/>
              <a:t>cursor</a:t>
            </a:r>
            <a:r>
              <a:rPr lang="en-US" dirty="0"/>
              <a:t>: To appear the cursor when the mouse over the </a:t>
            </a:r>
            <a:r>
              <a:rPr lang="en-US" dirty="0" err="1"/>
              <a:t>menubutton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width</a:t>
            </a:r>
            <a:r>
              <a:rPr lang="en-US" dirty="0"/>
              <a:t>: to set the width of the widget.</a:t>
            </a:r>
          </a:p>
          <a:p>
            <a:pPr fontAlgn="base"/>
            <a:r>
              <a:rPr lang="en-US" b="1" dirty="0"/>
              <a:t>height</a:t>
            </a:r>
            <a:r>
              <a:rPr lang="en-US" dirty="0"/>
              <a:t>: to set the height of the widget.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7516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451113"/>
            <a:ext cx="4562062" cy="4303644"/>
          </a:xfrm>
        </p:spPr>
        <p:txBody>
          <a:bodyPr anchor="t" anchorCtr="0"/>
          <a:lstStyle/>
          <a:p>
            <a:r>
              <a:rPr lang="en-US" sz="1400" dirty="0"/>
              <a:t>from </a:t>
            </a:r>
            <a:r>
              <a:rPr lang="en-US" sz="1400" dirty="0" err="1"/>
              <a:t>tkinter</a:t>
            </a:r>
            <a:r>
              <a:rPr lang="en-US" sz="1400" dirty="0"/>
              <a:t> import *</a:t>
            </a:r>
          </a:p>
          <a:p>
            <a:r>
              <a:rPr lang="en-US" sz="1400" dirty="0"/>
              <a:t>m1 = </a:t>
            </a:r>
            <a:r>
              <a:rPr lang="en-US" sz="1400" dirty="0" err="1"/>
              <a:t>PanedWindow</a:t>
            </a:r>
            <a:r>
              <a:rPr lang="en-US" sz="1400" dirty="0"/>
              <a:t>() </a:t>
            </a:r>
          </a:p>
          <a:p>
            <a:r>
              <a:rPr lang="en-US" sz="1400" dirty="0"/>
              <a:t>m1.pack(fill = BOTH, expand = 1) </a:t>
            </a:r>
          </a:p>
          <a:p>
            <a:r>
              <a:rPr lang="en-US" sz="1400" dirty="0"/>
              <a:t>left = Entry(m1, bd = 5) </a:t>
            </a:r>
          </a:p>
          <a:p>
            <a:r>
              <a:rPr lang="en-US" sz="1400" dirty="0"/>
              <a:t>m1.add(left) </a:t>
            </a:r>
          </a:p>
          <a:p>
            <a:r>
              <a:rPr lang="en-US" sz="1400" dirty="0"/>
              <a:t>m2 = </a:t>
            </a:r>
            <a:r>
              <a:rPr lang="en-US" sz="1400" dirty="0" err="1"/>
              <a:t>PanedWindow</a:t>
            </a:r>
            <a:r>
              <a:rPr lang="en-US" sz="1400" dirty="0"/>
              <a:t>(m1, orient = VERTICAL) </a:t>
            </a:r>
          </a:p>
          <a:p>
            <a:r>
              <a:rPr lang="en-US" sz="1400" dirty="0"/>
              <a:t>m1.add(m2) </a:t>
            </a:r>
          </a:p>
          <a:p>
            <a:r>
              <a:rPr lang="en-US" sz="1400" dirty="0"/>
              <a:t>top = Scale( m2, orient = HORIZONTAL) </a:t>
            </a:r>
          </a:p>
          <a:p>
            <a:r>
              <a:rPr lang="en-US" sz="1400" dirty="0"/>
              <a:t>m2.add(top) </a:t>
            </a:r>
          </a:p>
          <a:p>
            <a:r>
              <a:rPr lang="en-US" sz="1400" dirty="0" err="1"/>
              <a:t>mainloop</a:t>
            </a:r>
            <a:r>
              <a:rPr lang="en-US" sz="1400" dirty="0"/>
              <a:t>()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Code</a:t>
            </a:r>
            <a:r>
              <a:rPr lang="tr-TR" dirty="0"/>
              <a:t> as </a:t>
            </a:r>
            <a:r>
              <a:rPr lang="tr-TR" dirty="0" err="1"/>
              <a:t>Example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: </a:t>
            </a:r>
            <a:r>
              <a:rPr lang="tr-TR" b="1" dirty="0" err="1"/>
              <a:t>PannedWindow</a:t>
            </a:r>
            <a:endParaRPr lang="tr-TR" b="1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r>
              <a:rPr lang="tr-TR" dirty="0" err="1"/>
              <a:t>PannedWindow</a:t>
            </a:r>
            <a:r>
              <a:rPr lang="tr-TR" dirty="0"/>
              <a:t> </a:t>
            </a:r>
            <a:r>
              <a:rPr lang="tr-TR" dirty="0" err="1"/>
              <a:t>widget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enter</a:t>
            </a:r>
            <a:r>
              <a:rPr lang="tr-TR" dirty="0"/>
              <a:t> 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a </a:t>
            </a:r>
            <a:r>
              <a:rPr lang="tr-TR" dirty="0" err="1"/>
              <a:t>number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ED68AE8-EBED-4257-9F41-A0EAC75BD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34" y="2268307"/>
            <a:ext cx="2627605" cy="827525"/>
          </a:xfrm>
          <a:prstGeom prst="rect">
            <a:avLst/>
          </a:prstGeom>
        </p:spPr>
      </p:pic>
      <p:sp>
        <p:nvSpPr>
          <p:cNvPr id="9" name="Açıklama Balonu: Vurgu Çubuğuyla Çizgi 8">
            <a:extLst>
              <a:ext uri="{FF2B5EF4-FFF2-40B4-BE49-F238E27FC236}">
                <a16:creationId xmlns:a16="http://schemas.microsoft.com/office/drawing/2014/main" id="{0DB379A4-D39F-4838-8139-9E7E01B17FCE}"/>
              </a:ext>
            </a:extLst>
          </p:cNvPr>
          <p:cNvSpPr/>
          <p:nvPr/>
        </p:nvSpPr>
        <p:spPr>
          <a:xfrm>
            <a:off x="2472206" y="6170263"/>
            <a:ext cx="1416630" cy="511474"/>
          </a:xfrm>
          <a:prstGeom prst="accentCallout1">
            <a:avLst>
              <a:gd name="adj1" fmla="val 18750"/>
              <a:gd name="adj2" fmla="val -8333"/>
              <a:gd name="adj3" fmla="val 32099"/>
              <a:gd name="adj4" fmla="val -12225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shows the selected filename on the right</a:t>
            </a:r>
          </a:p>
        </p:txBody>
      </p:sp>
    </p:spTree>
    <p:extLst>
      <p:ext uri="{BB962C8B-B14F-4D97-AF65-F5344CB8AC3E}">
        <p14:creationId xmlns:p14="http://schemas.microsoft.com/office/powerpoint/2010/main" val="1106478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Yer Tutucusu 8" descr="dağ, gök, doğa, açık hava içeren bir resim&#10;&#10;Açıklama otomatik olarak oluşturuldu">
            <a:extLst>
              <a:ext uri="{FF2B5EF4-FFF2-40B4-BE49-F238E27FC236}">
                <a16:creationId xmlns:a16="http://schemas.microsoft.com/office/drawing/2014/main" id="{1A945890-B857-4519-A949-D7D3CC41DF0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4954" r="4954"/>
          <a:stretch>
            <a:fillRect/>
          </a:stretch>
        </p:blipFill>
        <p:spPr>
          <a:xfrm>
            <a:off x="0" y="-1272"/>
            <a:ext cx="9144000" cy="685927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3923</Words>
  <Application>Microsoft Office PowerPoint</Application>
  <PresentationFormat>Ekran Gösterisi (4:3)</PresentationFormat>
  <Paragraphs>532</Paragraphs>
  <Slides>43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Rockwell</vt:lpstr>
      <vt:lpstr>Times New Roman</vt:lpstr>
      <vt:lpstr>Office Theme</vt:lpstr>
      <vt:lpstr>Chapter 30 Python GUI Programming: PySimpleGUI</vt:lpstr>
      <vt:lpstr>Content</vt:lpstr>
      <vt:lpstr>Python GUI – tkinter Chapter 30 Python GUI Programming tkinter</vt:lpstr>
      <vt:lpstr>Python Options for GUI Development</vt:lpstr>
      <vt:lpstr>create a tkinter app</vt:lpstr>
      <vt:lpstr>General Structure of Python GUI Application</vt:lpstr>
      <vt:lpstr>Steps Creating Python GUI Application</vt:lpstr>
      <vt:lpstr>accessing widgets’ geometric configuration</vt:lpstr>
      <vt:lpstr>Button</vt:lpstr>
      <vt:lpstr>Code as Example for Widget: Button</vt:lpstr>
      <vt:lpstr>Canvas</vt:lpstr>
      <vt:lpstr>Code as Example for Widget: Canvas</vt:lpstr>
      <vt:lpstr>CheckButton</vt:lpstr>
      <vt:lpstr>Code as Example for Widget: CheckButton</vt:lpstr>
      <vt:lpstr>Entry</vt:lpstr>
      <vt:lpstr>Code as Example for Widget: Entry</vt:lpstr>
      <vt:lpstr>Frame</vt:lpstr>
      <vt:lpstr>Code as Example for Widget: Frame</vt:lpstr>
      <vt:lpstr>Label</vt:lpstr>
      <vt:lpstr>Code as Example for Widget: Label</vt:lpstr>
      <vt:lpstr>Listbox</vt:lpstr>
      <vt:lpstr>Code as Example for Widget: Listbox</vt:lpstr>
      <vt:lpstr>MenuButton</vt:lpstr>
      <vt:lpstr>Code as Example for Widget: MenuButton</vt:lpstr>
      <vt:lpstr>Menu</vt:lpstr>
      <vt:lpstr>Code as Example for Widget: Menu</vt:lpstr>
      <vt:lpstr>Message</vt:lpstr>
      <vt:lpstr>Code as Example for Widget: Message</vt:lpstr>
      <vt:lpstr>RadioButton</vt:lpstr>
      <vt:lpstr>Code as Example for Widget: RadioButton</vt:lpstr>
      <vt:lpstr>Scale</vt:lpstr>
      <vt:lpstr>Code as Example for Widget: Scale</vt:lpstr>
      <vt:lpstr>Scrollbar</vt:lpstr>
      <vt:lpstr>Code as Example for Widget: Scrollbar</vt:lpstr>
      <vt:lpstr>Text</vt:lpstr>
      <vt:lpstr>Code as Example for Widget: Text</vt:lpstr>
      <vt:lpstr>TopLevel</vt:lpstr>
      <vt:lpstr>Code as Example for Widget: TopLevel</vt:lpstr>
      <vt:lpstr>SpinBox</vt:lpstr>
      <vt:lpstr>Code as Example for Widget: SpinBox</vt:lpstr>
      <vt:lpstr>PannedWindow</vt:lpstr>
      <vt:lpstr>Code as Example for Widget: PannedWindow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2020-10-30T12:31:58Z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iteId">
    <vt:lpwstr>832c1bc9-1e43-4f93-a086-708d36b0c95d</vt:lpwstr>
  </property>
  <property fmtid="{D5CDD505-2E9C-101B-9397-08002B2CF9AE}" pid="4" name="MSIP_Label_c66f6488-6f7b-4340-b880-828136ff7811_Owner">
    <vt:lpwstr>YUSUF.ALTUNEL@lcwaikiki.com</vt:lpwstr>
  </property>
  <property fmtid="{D5CDD505-2E9C-101B-9397-08002B2CF9AE}" pid="5" name="MSIP_Label_c66f6488-6f7b-4340-b880-828136ff7811_SetDate">
    <vt:lpwstr>2020-03-08T12:58:36.1892785Z</vt:lpwstr>
  </property>
  <property fmtid="{D5CDD505-2E9C-101B-9397-08002B2CF9AE}" pid="6" name="MSIP_Label_c66f6488-6f7b-4340-b880-828136ff7811_Name">
    <vt:lpwstr>Genel - General</vt:lpwstr>
  </property>
  <property fmtid="{D5CDD505-2E9C-101B-9397-08002B2CF9AE}" pid="7" name="MSIP_Label_c66f6488-6f7b-4340-b880-828136ff7811_Application">
    <vt:lpwstr>Microsoft Azure Information Protection</vt:lpwstr>
  </property>
  <property fmtid="{D5CDD505-2E9C-101B-9397-08002B2CF9AE}" pid="8" name="MSIP_Label_c66f6488-6f7b-4340-b880-828136ff7811_ActionId">
    <vt:lpwstr>3001c4db-7da2-4d88-83ca-a30e68fe79b1</vt:lpwstr>
  </property>
  <property fmtid="{D5CDD505-2E9C-101B-9397-08002B2CF9AE}" pid="9" name="MSIP_Label_c66f6488-6f7b-4340-b880-828136ff7811_Extended_MSFT_Method">
    <vt:lpwstr>Manual</vt:lpwstr>
  </property>
  <property fmtid="{D5CDD505-2E9C-101B-9397-08002B2CF9AE}" pid="10" name="Sensitivity">
    <vt:lpwstr>Genel - General</vt:lpwstr>
  </property>
</Properties>
</file>