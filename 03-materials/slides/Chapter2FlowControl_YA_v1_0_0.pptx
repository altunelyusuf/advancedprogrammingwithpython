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52"/>
  </p:notesMasterIdLst>
  <p:handoutMasterIdLst>
    <p:handoutMasterId r:id="rId53"/>
  </p:handoutMasterIdLst>
  <p:sldIdLst>
    <p:sldId id="256" r:id="rId5"/>
    <p:sldId id="261" r:id="rId6"/>
    <p:sldId id="301" r:id="rId7"/>
    <p:sldId id="286" r:id="rId8"/>
    <p:sldId id="300" r:id="rId9"/>
    <p:sldId id="269" r:id="rId10"/>
    <p:sldId id="285" r:id="rId11"/>
    <p:sldId id="302" r:id="rId12"/>
    <p:sldId id="303" r:id="rId13"/>
    <p:sldId id="304" r:id="rId14"/>
    <p:sldId id="288" r:id="rId15"/>
    <p:sldId id="305" r:id="rId16"/>
    <p:sldId id="284" r:id="rId17"/>
    <p:sldId id="283" r:id="rId18"/>
    <p:sldId id="306" r:id="rId19"/>
    <p:sldId id="307" r:id="rId20"/>
    <p:sldId id="267" r:id="rId21"/>
    <p:sldId id="278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324" r:id="rId39"/>
    <p:sldId id="325" r:id="rId40"/>
    <p:sldId id="326" r:id="rId41"/>
    <p:sldId id="327" r:id="rId42"/>
    <p:sldId id="291" r:id="rId43"/>
    <p:sldId id="328" r:id="rId44"/>
    <p:sldId id="330" r:id="rId45"/>
    <p:sldId id="331" r:id="rId46"/>
    <p:sldId id="332" r:id="rId47"/>
    <p:sldId id="333" r:id="rId48"/>
    <p:sldId id="334" r:id="rId49"/>
    <p:sldId id="299" r:id="rId50"/>
    <p:sldId id="279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71A1"/>
    <a:srgbClr val="FFD542"/>
    <a:srgbClr val="FFD74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07" autoAdjust="0"/>
  </p:normalViewPr>
  <p:slideViewPr>
    <p:cSldViewPr snapToGrid="0">
      <p:cViewPr varScale="1">
        <p:scale>
          <a:sx n="81" d="100"/>
          <a:sy n="81" d="100"/>
        </p:scale>
        <p:origin x="634" y="67"/>
      </p:cViewPr>
      <p:guideLst/>
    </p:cSldViewPr>
  </p:slideViewPr>
  <p:outlineViewPr>
    <p:cViewPr>
      <p:scale>
        <a:sx n="33" d="100"/>
        <a:sy n="33" d="100"/>
      </p:scale>
      <p:origin x="0" y="-173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341"/>
    </p:cViewPr>
  </p:sorterViewPr>
  <p:notesViewPr>
    <p:cSldViewPr snapToGrid="0">
      <p:cViewPr>
        <p:scale>
          <a:sx n="50" d="100"/>
          <a:sy n="50" d="100"/>
        </p:scale>
        <p:origin x="2640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2/24/2022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F815A-5A10-42A8-9FEC-3938D2D9BA48}" type="datetimeFigureOut">
              <a:rPr lang="en-US" noProof="0" smtClean="0"/>
              <a:t>2/24/2022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9DAF-093F-4482-AA38-346E9A2DEE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1393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26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35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39417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78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64931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9275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33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68581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580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73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93404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37617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64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59288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24184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706952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636943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248229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01751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70037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787225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44257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5255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172485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01230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690014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492073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10997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503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47546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44332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005020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96077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967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756480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40985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mage Bullets">
    <p:bg>
      <p:bgPr>
        <a:blipFill dpi="0" rotWithShape="1">
          <a:blip r:embed="rId2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id="{2041BFF2-BC3B-3145-940D-004809E5A80A}"/>
              </a:ext>
            </a:extLst>
          </p:cNvPr>
          <p:cNvSpPr>
            <a:spLocks noChangeAspect="1"/>
          </p:cNvSpPr>
          <p:nvPr userDrawn="1"/>
        </p:nvSpPr>
        <p:spPr>
          <a:xfrm>
            <a:off x="2287944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9906F5C-A183-DF45-AE48-C1D611CDC98D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9CFF2EB-CD95-EA4D-810E-C9F8127071FE}"/>
              </a:ext>
            </a:extLst>
          </p:cNvPr>
          <p:cNvSpPr>
            <a:spLocks noChangeAspect="1"/>
          </p:cNvSpPr>
          <p:nvPr userDrawn="1"/>
        </p:nvSpPr>
        <p:spPr>
          <a:xfrm>
            <a:off x="5729647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E120266-68E0-504A-B1C8-F3369F5AF7C0}"/>
              </a:ext>
            </a:extLst>
          </p:cNvPr>
          <p:cNvSpPr>
            <a:spLocks noChangeAspect="1"/>
          </p:cNvSpPr>
          <p:nvPr userDrawn="1"/>
        </p:nvSpPr>
        <p:spPr>
          <a:xfrm>
            <a:off x="7450499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B4A810-8614-AD44-B362-CE45C8C679CE}"/>
              </a:ext>
            </a:extLst>
          </p:cNvPr>
          <p:cNvSpPr>
            <a:spLocks noChangeAspect="1"/>
          </p:cNvSpPr>
          <p:nvPr userDrawn="1"/>
        </p:nvSpPr>
        <p:spPr>
          <a:xfrm>
            <a:off x="56933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44556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86259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7111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62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4455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26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7111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5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4071" y="4683350"/>
            <a:ext cx="162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0B1F8F6-73A5-F142-8A28-094DA998B5F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4841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F78A887E-89A6-244C-8AA4-484FE535876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535133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52B18661-99A8-214A-A089-09F11F1EB5C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255424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69D5F0B5-DE10-D646-9244-6B4289E7793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975716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72B87CCD-6D17-844B-87EF-F8BC69D79B0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696006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5" name="Straight Connector 24" descr="First divider line on slide">
            <a:extLst>
              <a:ext uri="{FF2B5EF4-FFF2-40B4-BE49-F238E27FC236}">
                <a16:creationId xmlns:a16="http://schemas.microsoft.com/office/drawing/2014/main" id="{402BCAE3-72EC-4098-A211-3555BFDE9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994285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 descr="Second divider line on slide">
            <a:extLst>
              <a:ext uri="{FF2B5EF4-FFF2-40B4-BE49-F238E27FC236}">
                <a16:creationId xmlns:a16="http://schemas.microsoft.com/office/drawing/2014/main" id="{94A08494-9C0E-4AAF-BE9A-166FE994D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15156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 descr="Third divider line on slide">
            <a:extLst>
              <a:ext uri="{FF2B5EF4-FFF2-40B4-BE49-F238E27FC236}">
                <a16:creationId xmlns:a16="http://schemas.microsoft.com/office/drawing/2014/main" id="{698FE6A1-AEF7-4FD7-A689-908A6B9CC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36026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 descr="Fourth divider line on slide">
            <a:extLst>
              <a:ext uri="{FF2B5EF4-FFF2-40B4-BE49-F238E27FC236}">
                <a16:creationId xmlns:a16="http://schemas.microsoft.com/office/drawing/2014/main" id="{636DD6E3-6313-40D8-B03E-60E2E5A6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6897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0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x Image Bullet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019D3C0C-316D-A045-BC1B-D508718E47A9}"/>
              </a:ext>
            </a:extLst>
          </p:cNvPr>
          <p:cNvSpPr>
            <a:spLocks noChangeAspect="1"/>
          </p:cNvSpPr>
          <p:nvPr userDrawn="1"/>
        </p:nvSpPr>
        <p:spPr>
          <a:xfrm>
            <a:off x="2287944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6D90BAC-4672-454F-9B98-7A6F31D7B3F7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1146660-9CB0-D241-ACBC-5C0A9FC8AD1A}"/>
              </a:ext>
            </a:extLst>
          </p:cNvPr>
          <p:cNvSpPr>
            <a:spLocks noChangeAspect="1"/>
          </p:cNvSpPr>
          <p:nvPr userDrawn="1"/>
        </p:nvSpPr>
        <p:spPr>
          <a:xfrm>
            <a:off x="56933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831AC394-0DDA-6F4A-B2D3-6D95CD86648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4841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B1A58D5B-A4BA-F446-90DA-1B6B207869A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535133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7912C149-C249-1940-AF83-360853E78C2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255424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5724488" y="86714"/>
            <a:ext cx="3354476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BDD2BB3-B6A3-404C-846E-13E06B2F166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724488" y="86714"/>
            <a:ext cx="3354476" cy="6478538"/>
          </a:xfrm>
          <a:custGeom>
            <a:avLst/>
            <a:gdLst>
              <a:gd name="connsiteX0" fmla="*/ 376782 w 4559351"/>
              <a:gd name="connsiteY0" fmla="*/ 5927210 h 6604145"/>
              <a:gd name="connsiteX1" fmla="*/ 1519837 w 4559351"/>
              <a:gd name="connsiteY1" fmla="*/ 6224579 h 6604145"/>
              <a:gd name="connsiteX2" fmla="*/ 1067656 w 4559351"/>
              <a:gd name="connsiteY2" fmla="*/ 6604145 h 6604145"/>
              <a:gd name="connsiteX3" fmla="*/ 567431 w 4559351"/>
              <a:gd name="connsiteY3" fmla="*/ 6347235 h 6604145"/>
              <a:gd name="connsiteX4" fmla="*/ 3770030 w 4559351"/>
              <a:gd name="connsiteY4" fmla="*/ 4729122 h 6604145"/>
              <a:gd name="connsiteX5" fmla="*/ 3830234 w 4559351"/>
              <a:gd name="connsiteY5" fmla="*/ 4893659 h 6604145"/>
              <a:gd name="connsiteX6" fmla="*/ 3125854 w 4559351"/>
              <a:gd name="connsiteY6" fmla="*/ 4949110 h 6604145"/>
              <a:gd name="connsiteX7" fmla="*/ 3170574 w 4559351"/>
              <a:gd name="connsiteY7" fmla="*/ 4030224 h 6604145"/>
              <a:gd name="connsiteX8" fmla="*/ 3437863 w 4559351"/>
              <a:gd name="connsiteY8" fmla="*/ 4760691 h 6604145"/>
              <a:gd name="connsiteX9" fmla="*/ 2793688 w 4559351"/>
              <a:gd name="connsiteY9" fmla="*/ 4980680 h 6604145"/>
              <a:gd name="connsiteX10" fmla="*/ 2501683 w 4559351"/>
              <a:gd name="connsiteY10" fmla="*/ 5003670 h 6604145"/>
              <a:gd name="connsiteX11" fmla="*/ 0 w 4559351"/>
              <a:gd name="connsiteY11" fmla="*/ 3396395 h 6604145"/>
              <a:gd name="connsiteX12" fmla="*/ 3032435 w 4559351"/>
              <a:gd name="connsiteY12" fmla="*/ 3966867 h 6604145"/>
              <a:gd name="connsiteX13" fmla="*/ 1101460 w 4559351"/>
              <a:gd name="connsiteY13" fmla="*/ 6039845 h 6604145"/>
              <a:gd name="connsiteX14" fmla="*/ 10881 w 4559351"/>
              <a:gd name="connsiteY14" fmla="*/ 5508230 h 6604145"/>
              <a:gd name="connsiteX15" fmla="*/ 0 w 4559351"/>
              <a:gd name="connsiteY15" fmla="*/ 5475113 h 6604145"/>
              <a:gd name="connsiteX16" fmla="*/ 0 w 4559351"/>
              <a:gd name="connsiteY16" fmla="*/ 2843941 h 6604145"/>
              <a:gd name="connsiteX17" fmla="*/ 1605508 w 4559351"/>
              <a:gd name="connsiteY17" fmla="*/ 3374908 h 6604145"/>
              <a:gd name="connsiteX18" fmla="*/ 1482045 w 4559351"/>
              <a:gd name="connsiteY18" fmla="*/ 3547687 h 6604145"/>
              <a:gd name="connsiteX19" fmla="*/ 0 w 4559351"/>
              <a:gd name="connsiteY19" fmla="*/ 3206607 h 6604145"/>
              <a:gd name="connsiteX20" fmla="*/ 0 w 4559351"/>
              <a:gd name="connsiteY20" fmla="*/ 0 h 6604145"/>
              <a:gd name="connsiteX21" fmla="*/ 4559351 w 4559351"/>
              <a:gd name="connsiteY21" fmla="*/ 0 h 6604145"/>
              <a:gd name="connsiteX22" fmla="*/ 4559351 w 4559351"/>
              <a:gd name="connsiteY22" fmla="*/ 4284646 h 6604145"/>
              <a:gd name="connsiteX23" fmla="*/ 0 w 4559351"/>
              <a:gd name="connsiteY23" fmla="*/ 2645102 h 6604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559351" h="6604145">
                <a:moveTo>
                  <a:pt x="376782" y="5927210"/>
                </a:moveTo>
                <a:lnTo>
                  <a:pt x="1519837" y="6224579"/>
                </a:lnTo>
                <a:lnTo>
                  <a:pt x="1067656" y="6604145"/>
                </a:lnTo>
                <a:lnTo>
                  <a:pt x="567431" y="6347235"/>
                </a:lnTo>
                <a:close/>
                <a:moveTo>
                  <a:pt x="3770030" y="4729122"/>
                </a:moveTo>
                <a:lnTo>
                  <a:pt x="3830234" y="4893659"/>
                </a:lnTo>
                <a:lnTo>
                  <a:pt x="3125854" y="4949110"/>
                </a:lnTo>
                <a:close/>
                <a:moveTo>
                  <a:pt x="3170574" y="4030224"/>
                </a:moveTo>
                <a:lnTo>
                  <a:pt x="3437863" y="4760691"/>
                </a:lnTo>
                <a:lnTo>
                  <a:pt x="2793688" y="4980680"/>
                </a:lnTo>
                <a:lnTo>
                  <a:pt x="2501683" y="5003670"/>
                </a:lnTo>
                <a:close/>
                <a:moveTo>
                  <a:pt x="0" y="3396395"/>
                </a:moveTo>
                <a:lnTo>
                  <a:pt x="3032435" y="3966867"/>
                </a:lnTo>
                <a:lnTo>
                  <a:pt x="1101460" y="6039845"/>
                </a:lnTo>
                <a:lnTo>
                  <a:pt x="10881" y="5508230"/>
                </a:lnTo>
                <a:lnTo>
                  <a:pt x="0" y="5475113"/>
                </a:lnTo>
                <a:close/>
                <a:moveTo>
                  <a:pt x="0" y="2843941"/>
                </a:moveTo>
                <a:lnTo>
                  <a:pt x="1605508" y="3374908"/>
                </a:lnTo>
                <a:lnTo>
                  <a:pt x="1482045" y="3547687"/>
                </a:lnTo>
                <a:lnTo>
                  <a:pt x="0" y="3206607"/>
                </a:lnTo>
                <a:close/>
                <a:moveTo>
                  <a:pt x="0" y="0"/>
                </a:moveTo>
                <a:lnTo>
                  <a:pt x="4559351" y="0"/>
                </a:lnTo>
                <a:lnTo>
                  <a:pt x="4559351" y="4284646"/>
                </a:lnTo>
                <a:lnTo>
                  <a:pt x="0" y="264510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44556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62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4455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4071" y="4683350"/>
            <a:ext cx="162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1" name="Octagon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23" name="Straight Connector 22" descr="First divider line on slide">
            <a:extLst>
              <a:ext uri="{FF2B5EF4-FFF2-40B4-BE49-F238E27FC236}">
                <a16:creationId xmlns:a16="http://schemas.microsoft.com/office/drawing/2014/main" id="{7FE1F4E8-B411-4807-9D24-A045EE06C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994285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 descr="Second divider line on slide">
            <a:extLst>
              <a:ext uri="{FF2B5EF4-FFF2-40B4-BE49-F238E27FC236}">
                <a16:creationId xmlns:a16="http://schemas.microsoft.com/office/drawing/2014/main" id="{8C3F648E-45E5-403C-973E-2BEED634B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15156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313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x Image Bulle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22F44C7F-FA9B-CB41-B5C2-6A40A969176A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1366589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ACFECE1-DAAF-5642-BD0B-7A8FE9D241D9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2931225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294551-87F8-DE4F-B54E-8231A9CAF5BF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4495861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79014" y="86714"/>
            <a:ext cx="4656272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DDC1CFF-7E89-421D-9524-BB3AECAFE00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013" y="496139"/>
            <a:ext cx="4656273" cy="6275148"/>
          </a:xfrm>
          <a:custGeom>
            <a:avLst/>
            <a:gdLst>
              <a:gd name="connsiteX0" fmla="*/ 0 w 4441248"/>
              <a:gd name="connsiteY0" fmla="*/ 5980106 h 6321393"/>
              <a:gd name="connsiteX1" fmla="*/ 1034410 w 4441248"/>
              <a:gd name="connsiteY1" fmla="*/ 6048613 h 6321393"/>
              <a:gd name="connsiteX2" fmla="*/ 1778431 w 4441248"/>
              <a:gd name="connsiteY2" fmla="*/ 6321393 h 6321393"/>
              <a:gd name="connsiteX3" fmla="*/ 0 w 4441248"/>
              <a:gd name="connsiteY3" fmla="*/ 6321393 h 6321393"/>
              <a:gd name="connsiteX4" fmla="*/ 2269200 w 4441248"/>
              <a:gd name="connsiteY4" fmla="*/ 5443908 h 6321393"/>
              <a:gd name="connsiteX5" fmla="*/ 2395460 w 4441248"/>
              <a:gd name="connsiteY5" fmla="*/ 5885070 h 6321393"/>
              <a:gd name="connsiteX6" fmla="*/ 1997461 w 4441248"/>
              <a:gd name="connsiteY6" fmla="*/ 6195222 h 6321393"/>
              <a:gd name="connsiteX7" fmla="*/ 1526609 w 4441248"/>
              <a:gd name="connsiteY7" fmla="*/ 5931629 h 6321393"/>
              <a:gd name="connsiteX8" fmla="*/ 4441248 w 4441248"/>
              <a:gd name="connsiteY8" fmla="*/ 4283292 h 6321393"/>
              <a:gd name="connsiteX9" fmla="*/ 4441248 w 4441248"/>
              <a:gd name="connsiteY9" fmla="*/ 6321393 h 6321393"/>
              <a:gd name="connsiteX10" fmla="*/ 2296366 w 4441248"/>
              <a:gd name="connsiteY10" fmla="*/ 6321393 h 6321393"/>
              <a:gd name="connsiteX11" fmla="*/ 2056375 w 4441248"/>
              <a:gd name="connsiteY11" fmla="*/ 6224358 h 6321393"/>
              <a:gd name="connsiteX12" fmla="*/ 0 w 4441248"/>
              <a:gd name="connsiteY12" fmla="*/ 2359561 h 6321393"/>
              <a:gd name="connsiteX13" fmla="*/ 828613 w 4441248"/>
              <a:gd name="connsiteY13" fmla="*/ 2588947 h 6321393"/>
              <a:gd name="connsiteX14" fmla="*/ 0 w 4441248"/>
              <a:gd name="connsiteY14" fmla="*/ 3479506 h 6321393"/>
              <a:gd name="connsiteX15" fmla="*/ 3025930 w 4441248"/>
              <a:gd name="connsiteY15" fmla="*/ 144202 h 6321393"/>
              <a:gd name="connsiteX16" fmla="*/ 4441248 w 4441248"/>
              <a:gd name="connsiteY16" fmla="*/ 1340385 h 6321393"/>
              <a:gd name="connsiteX17" fmla="*/ 4441248 w 4441248"/>
              <a:gd name="connsiteY17" fmla="*/ 4098899 h 6321393"/>
              <a:gd name="connsiteX18" fmla="*/ 1417099 w 4441248"/>
              <a:gd name="connsiteY18" fmla="*/ 5846153 h 6321393"/>
              <a:gd name="connsiteX19" fmla="*/ 0 w 4441248"/>
              <a:gd name="connsiteY19" fmla="*/ 5428711 h 6321393"/>
              <a:gd name="connsiteX20" fmla="*/ 0 w 4441248"/>
              <a:gd name="connsiteY20" fmla="*/ 3724470 h 6321393"/>
              <a:gd name="connsiteX21" fmla="*/ 2684090 w 4441248"/>
              <a:gd name="connsiteY21" fmla="*/ 0 h 6321393"/>
              <a:gd name="connsiteX22" fmla="*/ 2784132 w 4441248"/>
              <a:gd name="connsiteY22" fmla="*/ 186781 h 6321393"/>
              <a:gd name="connsiteX23" fmla="*/ 1027256 w 4441248"/>
              <a:gd name="connsiteY23" fmla="*/ 2337985 h 6321393"/>
              <a:gd name="connsiteX24" fmla="*/ 451581 w 4441248"/>
              <a:gd name="connsiteY24" fmla="*/ 2265656 h 632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343" y="432000"/>
            <a:ext cx="3527657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6212" y="3582825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6212" y="5147461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6212" y="1369128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6212" y="2933764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6212" y="4498400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76212" y="1975094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1" name="Octagon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89FAF0-BF60-4AB9-A62E-595008DC4646}"/>
              </a:ext>
            </a:extLst>
          </p:cNvPr>
          <p:cNvGrpSpPr/>
          <p:nvPr userDrawn="1"/>
        </p:nvGrpSpPr>
        <p:grpSpPr>
          <a:xfrm>
            <a:off x="1419000" y="2269753"/>
            <a:ext cx="2310885" cy="3011457"/>
            <a:chOff x="1892000" y="2269752"/>
            <a:chExt cx="3081180" cy="3011457"/>
          </a:xfrm>
        </p:grpSpPr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ED7DCD52-0637-49D9-AD21-2DF94DD3E348}"/>
                </a:ext>
              </a:extLst>
            </p:cNvPr>
            <p:cNvSpPr/>
            <p:nvPr/>
          </p:nvSpPr>
          <p:spPr>
            <a:xfrm rot="4308689">
              <a:off x="2464728" y="2678543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863CC2-FBFD-47D7-AB8F-DB2367EABF92}"/>
                </a:ext>
              </a:extLst>
            </p:cNvPr>
            <p:cNvSpPr/>
            <p:nvPr/>
          </p:nvSpPr>
          <p:spPr>
            <a:xfrm rot="13830869">
              <a:off x="2730967" y="5004791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8" name="Freeform: Shape 17">
              <a:extLst>
                <a:ext uri="{FF2B5EF4-FFF2-40B4-BE49-F238E27FC236}">
                  <a16:creationId xmlns:a16="http://schemas.microsoft.com/office/drawing/2014/main" id="{09ADFC5E-3BBA-404B-A496-A4035DF5E859}"/>
                </a:ext>
              </a:extLst>
            </p:cNvPr>
            <p:cNvSpPr/>
            <p:nvPr/>
          </p:nvSpPr>
          <p:spPr>
            <a:xfrm rot="12431080">
              <a:off x="2802151" y="4740752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9" name="Freeform: Shape 19">
              <a:extLst>
                <a:ext uri="{FF2B5EF4-FFF2-40B4-BE49-F238E27FC236}">
                  <a16:creationId xmlns:a16="http://schemas.microsoft.com/office/drawing/2014/main" id="{56E90DCD-03FB-4E9A-BD40-5269E9ACF1B1}"/>
                </a:ext>
              </a:extLst>
            </p:cNvPr>
            <p:cNvSpPr/>
            <p:nvPr/>
          </p:nvSpPr>
          <p:spPr>
            <a:xfrm rot="4308689">
              <a:off x="2058980" y="2102772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0" name="Freeform: Shape 23">
              <a:extLst>
                <a:ext uri="{FF2B5EF4-FFF2-40B4-BE49-F238E27FC236}">
                  <a16:creationId xmlns:a16="http://schemas.microsoft.com/office/drawing/2014/main" id="{529D90B1-BC17-4168-A297-1DF303FB3C48}"/>
                </a:ext>
              </a:extLst>
            </p:cNvPr>
            <p:cNvSpPr/>
            <p:nvPr/>
          </p:nvSpPr>
          <p:spPr>
            <a:xfrm rot="17193105">
              <a:off x="4648324" y="3873318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C5DEA8E-5C03-42CC-987D-490297890048}"/>
                </a:ext>
              </a:extLst>
            </p:cNvPr>
            <p:cNvSpPr/>
            <p:nvPr/>
          </p:nvSpPr>
          <p:spPr>
            <a:xfrm rot="17193105">
              <a:off x="4152588" y="3654247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404E048B-9C67-4EC0-82E9-DC9D4AEE9703}"/>
                </a:ext>
              </a:extLst>
            </p:cNvPr>
            <p:cNvSpPr/>
            <p:nvPr/>
          </p:nvSpPr>
          <p:spPr>
            <a:xfrm rot="4308689">
              <a:off x="3831248" y="2441608"/>
              <a:ext cx="648657" cy="777553"/>
            </a:xfrm>
            <a:custGeom>
              <a:avLst/>
              <a:gdLst>
                <a:gd name="connsiteX0" fmla="*/ 0 w 648657"/>
                <a:gd name="connsiteY0" fmla="*/ 777553 h 777553"/>
                <a:gd name="connsiteX1" fmla="*/ 255474 w 648657"/>
                <a:gd name="connsiteY1" fmla="*/ 0 h 777553"/>
                <a:gd name="connsiteX2" fmla="*/ 648657 w 648657"/>
                <a:gd name="connsiteY2" fmla="*/ 713937 h 777553"/>
                <a:gd name="connsiteX3" fmla="*/ 0 w 648657"/>
                <a:gd name="connsiteY3" fmla="*/ 777553 h 77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EC82E52C-5E33-5942-8474-7ED4354EC9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54406" y="4835817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07EC0147-5BE6-9248-BF42-BD99608F45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554406" y="3271181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2B8E1942-1472-BC49-A624-3A31190A69E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554406" y="1706545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36" name="Straight Connector 35" descr="First divider line on slide">
            <a:extLst>
              <a:ext uri="{FF2B5EF4-FFF2-40B4-BE49-F238E27FC236}">
                <a16:creationId xmlns:a16="http://schemas.microsoft.com/office/drawing/2014/main" id="{A140998F-B877-4BDC-843C-0071F5066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2616579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 descr="Second divider line on slide">
            <a:extLst>
              <a:ext uri="{FF2B5EF4-FFF2-40B4-BE49-F238E27FC236}">
                <a16:creationId xmlns:a16="http://schemas.microsoft.com/office/drawing/2014/main" id="{2084D353-BE8A-4AAA-8BEC-B71CEE9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4109914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915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Column Imag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139FC94F-AE30-1048-843A-295FA302AC56}"/>
              </a:ext>
            </a:extLst>
          </p:cNvPr>
          <p:cNvSpPr>
            <a:spLocks noChangeAspect="1"/>
          </p:cNvSpPr>
          <p:nvPr userDrawn="1"/>
        </p:nvSpPr>
        <p:spPr>
          <a:xfrm>
            <a:off x="622061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37F3B8-BD34-EA4F-A1C0-4006B373159E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F33D-645D-E940-8FF4-6178A32A19A2}"/>
              </a:ext>
            </a:extLst>
          </p:cNvPr>
          <p:cNvSpPr>
            <a:spLocks noChangeAspect="1"/>
          </p:cNvSpPr>
          <p:nvPr userDrawn="1"/>
        </p:nvSpPr>
        <p:spPr>
          <a:xfrm>
            <a:off x="1799072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3589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7226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5359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722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6B6D0B6-0884-CD46-A1B0-9FED03C2262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4353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BAAC12A0-90C3-984B-A8FC-7EB4AA432E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5430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1565942-8816-734B-BEEE-1258F13B66D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66120" y="2358091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3" name="Straight Connector 22" descr="First divider line on slide">
            <a:extLst>
              <a:ext uri="{FF2B5EF4-FFF2-40B4-BE49-F238E27FC236}">
                <a16:creationId xmlns:a16="http://schemas.microsoft.com/office/drawing/2014/main" id="{82D5D2B4-7BAC-4C27-8D68-12365C7E7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69719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 descr="Second divider line on slide">
            <a:extLst>
              <a:ext uri="{FF2B5EF4-FFF2-40B4-BE49-F238E27FC236}">
                <a16:creationId xmlns:a16="http://schemas.microsoft.com/office/drawing/2014/main" id="{7D9203C1-910E-4AFC-95E0-13BF40D08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81538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257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4496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36241199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34759506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5157165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500252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23311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47631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764878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0" r:id="rId4"/>
    <p:sldLayoutId id="2147483652" r:id="rId5"/>
    <p:sldLayoutId id="2147483656" r:id="rId6"/>
    <p:sldLayoutId id="2147483657" r:id="rId7"/>
    <p:sldLayoutId id="2147483685" r:id="rId8"/>
    <p:sldLayoutId id="2147483684" r:id="rId9"/>
    <p:sldLayoutId id="2147483683" r:id="rId10"/>
    <p:sldLayoutId id="2147483668" r:id="rId11"/>
    <p:sldLayoutId id="2147483682" r:id="rId12"/>
    <p:sldLayoutId id="2147483670" r:id="rId13"/>
    <p:sldLayoutId id="2147483653" r:id="rId14"/>
    <p:sldLayoutId id="2147483673" r:id="rId15"/>
    <p:sldLayoutId id="2147483674" r:id="rId16"/>
    <p:sldLayoutId id="2147483676" r:id="rId17"/>
    <p:sldLayoutId id="2147483677" r:id="rId18"/>
    <p:sldLayoutId id="2147483654" r:id="rId19"/>
    <p:sldLayoutId id="2147483660" r:id="rId20"/>
    <p:sldLayoutId id="2147483661" r:id="rId21"/>
    <p:sldLayoutId id="2147483678" r:id="rId22"/>
    <p:sldLayoutId id="2147483686" r:id="rId23"/>
    <p:sldLayoutId id="2147483687" r:id="rId24"/>
    <p:sldLayoutId id="2147483689" r:id="rId25"/>
    <p:sldLayoutId id="2147483690" r:id="rId26"/>
    <p:sldLayoutId id="2147483688" r:id="rId2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4.jpe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1.emf"/><Relationship Id="rId4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10" Type="http://schemas.openxmlformats.org/officeDocument/2006/relationships/image" Target="../media/image31.jp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4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10" Type="http://schemas.openxmlformats.org/officeDocument/2006/relationships/image" Target="../media/image31.jp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10" Type="http://schemas.openxmlformats.org/officeDocument/2006/relationships/image" Target="../media/image31.jp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hyperlink" Target="https://www.linkedin.com/in/yusuf-altunel-2070a31b/" TargetMode="External"/><Relationship Id="rId3" Type="http://schemas.openxmlformats.org/officeDocument/2006/relationships/image" Target="../media/image51.jpeg"/><Relationship Id="rId7" Type="http://schemas.openxmlformats.org/officeDocument/2006/relationships/image" Target="../media/image55.svg"/><Relationship Id="rId12" Type="http://schemas.openxmlformats.org/officeDocument/2006/relationships/image" Target="../media/image59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54.png"/><Relationship Id="rId11" Type="http://schemas.openxmlformats.org/officeDocument/2006/relationships/image" Target="../media/image58.png"/><Relationship Id="rId5" Type="http://schemas.openxmlformats.org/officeDocument/2006/relationships/image" Target="../media/image53.svg"/><Relationship Id="rId10" Type="http://schemas.openxmlformats.org/officeDocument/2006/relationships/hyperlink" Target="http://cats.iku.edu.tr/portal/site/0181f2bc-77e3-4a85-ade9-77639d9bcfe7" TargetMode="External"/><Relationship Id="rId4" Type="http://schemas.openxmlformats.org/officeDocument/2006/relationships/image" Target="../media/image52.png"/><Relationship Id="rId9" Type="http://schemas.openxmlformats.org/officeDocument/2006/relationships/image" Target="../media/image57.svg"/><Relationship Id="rId1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star filled sky&#10;&#10;Description automatically generated">
            <a:extLst>
              <a:ext uri="{FF2B5EF4-FFF2-40B4-BE49-F238E27FC236}">
                <a16:creationId xmlns:a16="http://schemas.microsoft.com/office/drawing/2014/main" id="{B65DEC6E-CF6A-43EC-BE6A-56993418D00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853" r="7853"/>
          <a:stretch>
            <a:fillRect/>
          </a:stretch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</a:t>
            </a:r>
            <a:r>
              <a:rPr lang="tr-TR" dirty="0"/>
              <a:t>2</a:t>
            </a:r>
            <a:r>
              <a:rPr lang="en-US" dirty="0"/>
              <a:t>: </a:t>
            </a:r>
            <a:r>
              <a:rPr lang="tr-TR" dirty="0"/>
              <a:t>Flow Control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72433"/>
            <a:ext cx="5130000" cy="1022734"/>
          </a:xfrm>
        </p:spPr>
        <p:txBody>
          <a:bodyPr/>
          <a:lstStyle/>
          <a:p>
            <a:r>
              <a:rPr lang="en-US" dirty="0"/>
              <a:t>CSE0408 Programming III</a:t>
            </a:r>
            <a:endParaRPr lang="tr-TR" dirty="0"/>
          </a:p>
          <a:p>
            <a:r>
              <a:rPr lang="tr-TR" dirty="0"/>
              <a:t>IKU Department of Computer Engineering</a:t>
            </a:r>
          </a:p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47832F89-DC91-4678-AE56-D4FA14480E4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8499" y="1213730"/>
            <a:ext cx="3499652" cy="463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D87D-E475-451A-B36C-E4A4F636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3905250"/>
            <a:ext cx="4509000" cy="647701"/>
          </a:xfrm>
        </p:spPr>
        <p:txBody>
          <a:bodyPr/>
          <a:lstStyle/>
          <a:p>
            <a:r>
              <a:rPr lang="tr-TR" dirty="0"/>
              <a:t>Content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BE522-961D-4737-9715-127DB8A86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552951"/>
            <a:ext cx="4509000" cy="1384307"/>
          </a:xfrm>
        </p:spPr>
        <p:txBody>
          <a:bodyPr/>
          <a:lstStyle/>
          <a:p>
            <a:r>
              <a:rPr lang="tr-TR" b="1" dirty="0"/>
              <a:t>Automate the Boring Stuff with Python</a:t>
            </a:r>
          </a:p>
          <a:p>
            <a:r>
              <a:rPr lang="tr-TR" b="1" dirty="0"/>
              <a:t>Practical Programming for Total Beginners</a:t>
            </a:r>
            <a:endParaRPr lang="tr-TR" sz="900" dirty="0"/>
          </a:p>
          <a:p>
            <a:r>
              <a:rPr lang="tr-TR" sz="1400" dirty="0"/>
              <a:t>Chapter-1 Python Basics</a:t>
            </a:r>
            <a:endParaRPr lang="en-US" sz="1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5A1B7-8B88-4D90-983D-BAA2E9AAFFD3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sz="3300" dirty="0"/>
              <a:t>Headlines</a:t>
            </a:r>
            <a:endParaRPr lang="en-US" sz="3300" dirty="0"/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Boolean Values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Comparison Operators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Boolean Operators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Mixing Boolean and Comparison Operators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Elements of Flow Control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Flow Control Statements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Importing Modules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Ending Program and sys.exit()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2DF6AE8-6133-4C1E-91DD-755705ACF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96620" y="1480600"/>
            <a:ext cx="1387657" cy="1436996"/>
            <a:chOff x="9862160" y="831132"/>
            <a:chExt cx="1850209" cy="1915995"/>
          </a:xfrm>
        </p:grpSpPr>
        <p:sp>
          <p:nvSpPr>
            <p:cNvPr id="16" name="Freeform: Shape 15" title="triangles">
              <a:extLst>
                <a:ext uri="{FF2B5EF4-FFF2-40B4-BE49-F238E27FC236}">
                  <a16:creationId xmlns:a16="http://schemas.microsoft.com/office/drawing/2014/main" id="{156942E6-31A5-42F5-A00C-A90D409A08BC}"/>
                </a:ext>
              </a:extLst>
            </p:cNvPr>
            <p:cNvSpPr/>
            <p:nvPr/>
          </p:nvSpPr>
          <p:spPr>
            <a:xfrm rot="19260823">
              <a:off x="9984083" y="1150976"/>
              <a:ext cx="467362" cy="344458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" name="Freeform: Shape 16" title="triangles">
              <a:extLst>
                <a:ext uri="{FF2B5EF4-FFF2-40B4-BE49-F238E27FC236}">
                  <a16:creationId xmlns:a16="http://schemas.microsoft.com/office/drawing/2014/main" id="{055D27E0-4C92-4640-A2B8-86540741DCE6}"/>
                </a:ext>
              </a:extLst>
            </p:cNvPr>
            <p:cNvSpPr/>
            <p:nvPr/>
          </p:nvSpPr>
          <p:spPr>
            <a:xfrm rot="20377627">
              <a:off x="10445799" y="1461330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Freeform: Shape 17" title="triangles">
              <a:extLst>
                <a:ext uri="{FF2B5EF4-FFF2-40B4-BE49-F238E27FC236}">
                  <a16:creationId xmlns:a16="http://schemas.microsoft.com/office/drawing/2014/main" id="{E760DC62-191E-4D60-AAAC-37DDF411BF9D}"/>
                </a:ext>
              </a:extLst>
            </p:cNvPr>
            <p:cNvSpPr/>
            <p:nvPr/>
          </p:nvSpPr>
          <p:spPr>
            <a:xfrm rot="19260823">
              <a:off x="10485025" y="1232684"/>
              <a:ext cx="250689" cy="18476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Freeform: Shape 18" title="triangles">
              <a:extLst>
                <a:ext uri="{FF2B5EF4-FFF2-40B4-BE49-F238E27FC236}">
                  <a16:creationId xmlns:a16="http://schemas.microsoft.com/office/drawing/2014/main" id="{B21F5D55-03CC-4A29-B8D0-2B1C7DE7C79D}"/>
                </a:ext>
              </a:extLst>
            </p:cNvPr>
            <p:cNvSpPr/>
            <p:nvPr/>
          </p:nvSpPr>
          <p:spPr>
            <a:xfrm rot="19810388">
              <a:off x="10832584" y="139371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Freeform: Shape 19" title="triangles">
              <a:extLst>
                <a:ext uri="{FF2B5EF4-FFF2-40B4-BE49-F238E27FC236}">
                  <a16:creationId xmlns:a16="http://schemas.microsoft.com/office/drawing/2014/main" id="{6A692EA0-8FB5-4D6A-B1B1-20463392DEDE}"/>
                </a:ext>
              </a:extLst>
            </p:cNvPr>
            <p:cNvSpPr/>
            <p:nvPr/>
          </p:nvSpPr>
          <p:spPr>
            <a:xfrm rot="18277851">
              <a:off x="10920185" y="9941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Freeform: Shape 20" title="triangles">
              <a:extLst>
                <a:ext uri="{FF2B5EF4-FFF2-40B4-BE49-F238E27FC236}">
                  <a16:creationId xmlns:a16="http://schemas.microsoft.com/office/drawing/2014/main" id="{46FB2BA9-5E08-4A8F-BC47-8EFA61E4E6CE}"/>
                </a:ext>
              </a:extLst>
            </p:cNvPr>
            <p:cNvSpPr/>
            <p:nvPr/>
          </p:nvSpPr>
          <p:spPr>
            <a:xfrm rot="20761418">
              <a:off x="11313110" y="1642801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Freeform: Shape 21" title="triangles">
              <a:extLst>
                <a:ext uri="{FF2B5EF4-FFF2-40B4-BE49-F238E27FC236}">
                  <a16:creationId xmlns:a16="http://schemas.microsoft.com/office/drawing/2014/main" id="{5B0A2587-D640-4AEE-9456-860CD02427C8}"/>
                </a:ext>
              </a:extLst>
            </p:cNvPr>
            <p:cNvSpPr/>
            <p:nvPr/>
          </p:nvSpPr>
          <p:spPr>
            <a:xfrm rot="17315293">
              <a:off x="11523906" y="8596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Freeform: Shape 22" title="triangles">
              <a:extLst>
                <a:ext uri="{FF2B5EF4-FFF2-40B4-BE49-F238E27FC236}">
                  <a16:creationId xmlns:a16="http://schemas.microsoft.com/office/drawing/2014/main" id="{373F2649-8DA3-441F-9BDD-77A942FA3DBE}"/>
                </a:ext>
              </a:extLst>
            </p:cNvPr>
            <p:cNvSpPr/>
            <p:nvPr/>
          </p:nvSpPr>
          <p:spPr>
            <a:xfrm rot="20082236">
              <a:off x="11215766" y="1243239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Freeform: Shape 23" title="triangles">
              <a:extLst>
                <a:ext uri="{FF2B5EF4-FFF2-40B4-BE49-F238E27FC236}">
                  <a16:creationId xmlns:a16="http://schemas.microsoft.com/office/drawing/2014/main" id="{95933F98-3B9B-4270-9281-570AD41C3F19}"/>
                </a:ext>
              </a:extLst>
            </p:cNvPr>
            <p:cNvSpPr/>
            <p:nvPr/>
          </p:nvSpPr>
          <p:spPr>
            <a:xfrm rot="19879732">
              <a:off x="11436537" y="1436545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Freeform: Shape 24" title="triangles">
              <a:extLst>
                <a:ext uri="{FF2B5EF4-FFF2-40B4-BE49-F238E27FC236}">
                  <a16:creationId xmlns:a16="http://schemas.microsoft.com/office/drawing/2014/main" id="{3DAB5C84-F2AD-47FD-ABEC-6D6626D2B7FF}"/>
                </a:ext>
              </a:extLst>
            </p:cNvPr>
            <p:cNvSpPr/>
            <p:nvPr/>
          </p:nvSpPr>
          <p:spPr>
            <a:xfrm rot="328041">
              <a:off x="9862160" y="1513660"/>
              <a:ext cx="579699" cy="606799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  <a:gd name="connsiteX0" fmla="*/ 487806 w 487806"/>
                <a:gd name="connsiteY0" fmla="*/ 171848 h 510610"/>
                <a:gd name="connsiteX1" fmla="*/ 308036 w 487806"/>
                <a:gd name="connsiteY1" fmla="*/ 510610 h 510610"/>
                <a:gd name="connsiteX2" fmla="*/ 0 w 487806"/>
                <a:gd name="connsiteY2" fmla="*/ 0 h 510610"/>
                <a:gd name="connsiteX3" fmla="*/ 487806 w 487806"/>
                <a:gd name="connsiteY3" fmla="*/ 171848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806" h="510610">
                  <a:moveTo>
                    <a:pt x="487806" y="171848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487806" y="171848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Freeform: Shape 25" title="triangles">
              <a:extLst>
                <a:ext uri="{FF2B5EF4-FFF2-40B4-BE49-F238E27FC236}">
                  <a16:creationId xmlns:a16="http://schemas.microsoft.com/office/drawing/2014/main" id="{A4E2ACF8-4066-4DB9-B5D5-E8AA3B152710}"/>
                </a:ext>
              </a:extLst>
            </p:cNvPr>
            <p:cNvSpPr/>
            <p:nvPr/>
          </p:nvSpPr>
          <p:spPr>
            <a:xfrm>
              <a:off x="10639428" y="1814668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7" name="Freeform: Shape 26" title="triangles">
              <a:extLst>
                <a:ext uri="{FF2B5EF4-FFF2-40B4-BE49-F238E27FC236}">
                  <a16:creationId xmlns:a16="http://schemas.microsoft.com/office/drawing/2014/main" id="{74FCCA2A-37FF-4031-AF2F-A894DBE6EE0E}"/>
                </a:ext>
              </a:extLst>
            </p:cNvPr>
            <p:cNvSpPr/>
            <p:nvPr/>
          </p:nvSpPr>
          <p:spPr>
            <a:xfrm rot="20761418">
              <a:off x="11280262" y="2096947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Freeform: Shape 27" title="triangles">
              <a:extLst>
                <a:ext uri="{FF2B5EF4-FFF2-40B4-BE49-F238E27FC236}">
                  <a16:creationId xmlns:a16="http://schemas.microsoft.com/office/drawing/2014/main" id="{5C7D7734-820D-40CE-BBBA-6E6D9452D308}"/>
                </a:ext>
              </a:extLst>
            </p:cNvPr>
            <p:cNvSpPr/>
            <p:nvPr/>
          </p:nvSpPr>
          <p:spPr>
            <a:xfrm rot="1160487">
              <a:off x="10059320" y="2226127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Freeform: Shape 28" title="triangles">
              <a:extLst>
                <a:ext uri="{FF2B5EF4-FFF2-40B4-BE49-F238E27FC236}">
                  <a16:creationId xmlns:a16="http://schemas.microsoft.com/office/drawing/2014/main" id="{5BCE508A-E107-4075-9976-73D3ED8272C2}"/>
                </a:ext>
              </a:extLst>
            </p:cNvPr>
            <p:cNvSpPr/>
            <p:nvPr/>
          </p:nvSpPr>
          <p:spPr>
            <a:xfrm rot="803026">
              <a:off x="11353765" y="2627540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F16E1-87DB-4920-A90B-23E1C72DDC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9" name="Picture 8" descr="A star filled sky&#10;&#10;Description automatically generated">
            <a:extLst>
              <a:ext uri="{FF2B5EF4-FFF2-40B4-BE49-F238E27FC236}">
                <a16:creationId xmlns:a16="http://schemas.microsoft.com/office/drawing/2014/main" id="{3F88D5C3-1A75-4C89-BB27-6A1B5659AF1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80" y="1000816"/>
            <a:ext cx="4507020" cy="290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5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Chapter-2 Flow Control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b="1" dirty="0"/>
              <a:t>Boolean Values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3" name="Picture Placeholder 12" descr="A star filled sky&#10;&#10;Description automatically generated">
            <a:extLst>
              <a:ext uri="{FF2B5EF4-FFF2-40B4-BE49-F238E27FC236}">
                <a16:creationId xmlns:a16="http://schemas.microsoft.com/office/drawing/2014/main" id="{B0195F47-1047-4A42-B03D-EBD881DEE7D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27507" r="2750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8323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64" y="1165839"/>
            <a:ext cx="8505000" cy="324000"/>
          </a:xfrm>
        </p:spPr>
        <p:txBody>
          <a:bodyPr/>
          <a:lstStyle/>
          <a:p>
            <a:r>
              <a:rPr lang="tr-TR" dirty="0"/>
              <a:t>Boolean Data Type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Only two Values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tr-TR" dirty="0"/>
              <a:t>True</a:t>
            </a:r>
          </a:p>
          <a:p>
            <a:r>
              <a:rPr lang="tr-TR" dirty="0"/>
              <a:t>False</a:t>
            </a:r>
            <a:endParaRPr lang="en-US" dirty="0"/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Capitalized Starting Letter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start with a </a:t>
            </a:r>
            <a:r>
              <a:rPr lang="en-US" b="1" dirty="0"/>
              <a:t>capital</a:t>
            </a:r>
            <a:r>
              <a:rPr lang="en-US" dirty="0"/>
              <a:t> </a:t>
            </a:r>
            <a:r>
              <a:rPr lang="en-US" i="1" dirty="0">
                <a:solidFill>
                  <a:srgbClr val="0070C0"/>
                </a:solidFill>
              </a:rPr>
              <a:t>T </a:t>
            </a:r>
            <a:r>
              <a:rPr lang="en-US" dirty="0"/>
              <a:t>or </a:t>
            </a:r>
            <a:r>
              <a:rPr lang="en-US" i="1" dirty="0">
                <a:solidFill>
                  <a:srgbClr val="0070C0"/>
                </a:solidFill>
              </a:rPr>
              <a:t>F</a:t>
            </a:r>
            <a:r>
              <a:rPr lang="en-US" dirty="0"/>
              <a:t>, </a:t>
            </a:r>
            <a:endParaRPr lang="tr-TR" dirty="0"/>
          </a:p>
          <a:p>
            <a:r>
              <a:rPr lang="en-US" dirty="0"/>
              <a:t>the rest of the word in </a:t>
            </a:r>
            <a:r>
              <a:rPr lang="en-US" b="1" dirty="0"/>
              <a:t>lowercase</a:t>
            </a:r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Examples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5407" y="4688111"/>
            <a:ext cx="1620441" cy="1371725"/>
          </a:xfrm>
        </p:spPr>
        <p:txBody>
          <a:bodyPr/>
          <a:lstStyle/>
          <a:p>
            <a:r>
              <a:rPr lang="en-US" dirty="0"/>
              <a:t>&gt;&gt;&gt; spam = True</a:t>
            </a:r>
          </a:p>
          <a:p>
            <a:r>
              <a:rPr lang="en-US" dirty="0"/>
              <a:t>&gt;&gt;&gt; spam</a:t>
            </a:r>
          </a:p>
          <a:p>
            <a:r>
              <a:rPr lang="en-US" dirty="0"/>
              <a:t>True</a:t>
            </a:r>
            <a:endParaRPr lang="tr-TR" dirty="0"/>
          </a:p>
          <a:p>
            <a:r>
              <a:rPr lang="en-US" dirty="0"/>
              <a:t>&gt;&gt;&gt; True</a:t>
            </a:r>
          </a:p>
          <a:p>
            <a:r>
              <a:rPr lang="en-US" dirty="0"/>
              <a:t>True</a:t>
            </a:r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tr-TR" dirty="0"/>
              <a:t>Boolean Variable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Boolean values are used in expressions</a:t>
            </a:r>
            <a:endParaRPr lang="tr-TR" dirty="0"/>
          </a:p>
          <a:p>
            <a:r>
              <a:rPr lang="en-US" dirty="0"/>
              <a:t>can</a:t>
            </a:r>
          </a:p>
          <a:p>
            <a:r>
              <a:rPr lang="tr-TR" dirty="0"/>
              <a:t>be stored in variables</a:t>
            </a:r>
            <a:endParaRPr lang="en-US" dirty="0"/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Incorrect Syntax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43241" y="4688111"/>
            <a:ext cx="1884311" cy="1480213"/>
          </a:xfrm>
        </p:spPr>
        <p:txBody>
          <a:bodyPr/>
          <a:lstStyle/>
          <a:p>
            <a:r>
              <a:rPr lang="en-US" dirty="0"/>
              <a:t>&gt;&gt;&gt; true</a:t>
            </a:r>
          </a:p>
          <a:p>
            <a:r>
              <a:rPr lang="en-US" dirty="0" err="1"/>
              <a:t>NameError</a:t>
            </a:r>
            <a:r>
              <a:rPr lang="en-US" dirty="0"/>
              <a:t>: name 'true' is not defined</a:t>
            </a:r>
            <a:endParaRPr lang="tr-TR" dirty="0"/>
          </a:p>
          <a:p>
            <a:r>
              <a:rPr lang="en-US" dirty="0"/>
              <a:t>True = 2 + 2</a:t>
            </a:r>
          </a:p>
          <a:p>
            <a:r>
              <a:rPr lang="en-US" dirty="0" err="1"/>
              <a:t>SyntaxError</a:t>
            </a:r>
            <a:r>
              <a:rPr lang="en-US" dirty="0"/>
              <a:t>: cannot assign to True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687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Chapter-2 Flow Control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b="1" dirty="0"/>
              <a:t>Comparison Operators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3" name="Picture Placeholder 12" descr="A star filled sky&#10;&#10;Description automatically generated">
            <a:extLst>
              <a:ext uri="{FF2B5EF4-FFF2-40B4-BE49-F238E27FC236}">
                <a16:creationId xmlns:a16="http://schemas.microsoft.com/office/drawing/2014/main" id="{B0195F47-1047-4A42-B03D-EBD881DEE7D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27507" r="2750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04022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star filled sky&#10;&#10;Description automatically generated">
            <a:extLst>
              <a:ext uri="{FF2B5EF4-FFF2-40B4-BE49-F238E27FC236}">
                <a16:creationId xmlns:a16="http://schemas.microsoft.com/office/drawing/2014/main" id="{DCDB9E8C-7A2A-4863-B389-73F7B3A8AA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98483"/>
            <a:ext cx="9104467" cy="51183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Comparison Operators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3219-73B6-4A50-8412-77850D56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2686290"/>
            <a:ext cx="3533897" cy="270000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tr-TR" dirty="0"/>
              <a:t>Precedence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0752B-B871-4B72-8FE1-D34B8BB36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3154150"/>
            <a:ext cx="3525189" cy="2131953"/>
          </a:xfrm>
          <a:solidFill>
            <a:schemeClr val="bg1">
              <a:lumMod val="95000"/>
              <a:alpha val="7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Comparison operators </a:t>
            </a:r>
            <a:endParaRPr lang="tr-TR" dirty="0"/>
          </a:p>
          <a:p>
            <a:r>
              <a:rPr lang="en-US" dirty="0"/>
              <a:t>compare two values</a:t>
            </a:r>
            <a:endParaRPr lang="tr-TR" dirty="0"/>
          </a:p>
          <a:p>
            <a:r>
              <a:rPr lang="en-US" dirty="0"/>
              <a:t>evaluate down to a </a:t>
            </a:r>
            <a:r>
              <a:rPr lang="en-US" u="sng" dirty="0"/>
              <a:t>single</a:t>
            </a:r>
            <a:r>
              <a:rPr lang="tr-TR" dirty="0"/>
              <a:t> </a:t>
            </a:r>
            <a:r>
              <a:rPr lang="en-US" dirty="0"/>
              <a:t>Boolean value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02C058-20DE-46C9-BB43-8B24E6B9E82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994965" y="2712810"/>
            <a:ext cx="3400097" cy="269081"/>
          </a:xfrm>
          <a:solidFill>
            <a:schemeClr val="accent4">
              <a:lumMod val="20000"/>
              <a:lumOff val="80000"/>
            </a:schemeClr>
          </a:solidFill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tr-TR" sz="1800" b="1" dirty="0"/>
              <a:t>Comparison Operators and Meaning</a:t>
            </a:r>
            <a:endParaRPr lang="en-US" sz="1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C8FA17-BF26-4654-8479-60FA8E16D51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alphaModFix amt="8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4938" y="3054387"/>
            <a:ext cx="3118665" cy="223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43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5246806" cy="432000"/>
          </a:xfrm>
          <a:blipFill>
            <a:blip r:embed="rId4">
              <a:alphaModFix amt="49000"/>
            </a:blip>
            <a:tile tx="0" ty="0" sx="100000" sy="100000" flip="none" algn="tl"/>
          </a:blipFill>
        </p:spPr>
        <p:txBody>
          <a:bodyPr/>
          <a:lstStyle/>
          <a:p>
            <a:r>
              <a:rPr lang="tr-TR" dirty="0"/>
              <a:t>Comparison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solidFill>
            <a:schemeClr val="accent5">
              <a:lumMod val="50000"/>
            </a:schemeClr>
          </a:solidFill>
        </p:spPr>
        <p:txBody>
          <a:bodyPr anchor="ctr"/>
          <a:lstStyle/>
          <a:p>
            <a:r>
              <a:rPr lang="tr-T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Equal</a:t>
            </a:r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4071" y="4683349"/>
            <a:ext cx="1620000" cy="310681"/>
          </a:xfrm>
          <a:solidFill>
            <a:schemeClr val="accent5">
              <a:lumMod val="50000"/>
            </a:schemeClr>
          </a:solidFill>
        </p:spPr>
        <p:txBody>
          <a:bodyPr anchor="ctr"/>
          <a:lstStyle/>
          <a:p>
            <a:r>
              <a:rPr lang="tr-T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42 ==42</a:t>
            </a:r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solidFill>
            <a:schemeClr val="accent5">
              <a:lumMod val="50000"/>
            </a:schemeClr>
          </a:solidFill>
        </p:spPr>
        <p:txBody>
          <a:bodyPr anchor="ctr"/>
          <a:lstStyle/>
          <a:p>
            <a:r>
              <a:rPr lang="tr-T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Not equal</a:t>
            </a:r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556" y="4688112"/>
            <a:ext cx="1620441" cy="319986"/>
          </a:xfrm>
          <a:solidFill>
            <a:schemeClr val="accent5">
              <a:lumMod val="50000"/>
            </a:schemeClr>
          </a:solidFill>
        </p:spPr>
        <p:txBody>
          <a:bodyPr anchor="ctr"/>
          <a:lstStyle/>
          <a:p>
            <a:r>
              <a:rPr lang="tr-T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 != 3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solidFill>
            <a:schemeClr val="accent5">
              <a:lumMod val="50000"/>
            </a:schemeClr>
          </a:solidFill>
        </p:spPr>
        <p:txBody>
          <a:bodyPr anchor="ctr"/>
          <a:lstStyle/>
          <a:p>
            <a:r>
              <a:rPr lang="tr-T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Less than</a:t>
            </a:r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5407" y="4688112"/>
            <a:ext cx="1620441" cy="334054"/>
          </a:xfrm>
          <a:solidFill>
            <a:schemeClr val="accent5">
              <a:lumMod val="50000"/>
            </a:schemeClr>
          </a:solidFill>
        </p:spPr>
        <p:txBody>
          <a:bodyPr anchor="ctr"/>
          <a:lstStyle/>
          <a:p>
            <a:r>
              <a:rPr lang="tr-T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42 &lt; 100</a:t>
            </a:r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B0D1FA-EF1F-400E-B0BF-92A65913D285}"/>
              </a:ext>
            </a:extLst>
          </p:cNvPr>
          <p:cNvSpPr txBox="1"/>
          <p:nvPr/>
        </p:nvSpPr>
        <p:spPr>
          <a:xfrm>
            <a:off x="5809957" y="168812"/>
            <a:ext cx="3221501" cy="630232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a-DK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42 ==42</a:t>
            </a:r>
          </a:p>
          <a:p>
            <a:r>
              <a:rPr lang="da-DK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True</a:t>
            </a:r>
          </a:p>
          <a:p>
            <a:r>
              <a:rPr lang="da-DK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42 == 99</a:t>
            </a:r>
          </a:p>
          <a:p>
            <a:r>
              <a:rPr lang="da-DK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False</a:t>
            </a:r>
          </a:p>
          <a:p>
            <a:r>
              <a:rPr lang="da-DK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2 != 3</a:t>
            </a:r>
          </a:p>
          <a:p>
            <a:r>
              <a:rPr lang="da-DK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True</a:t>
            </a:r>
          </a:p>
          <a:p>
            <a:r>
              <a:rPr lang="da-DK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2 != 2</a:t>
            </a:r>
          </a:p>
          <a:p>
            <a:r>
              <a:rPr lang="da-DK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False</a:t>
            </a:r>
            <a:endParaRPr lang="tr-T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'hello' == 'hello'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True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'hello' == 'Hello'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False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'dog' != 'cat'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True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True == True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True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True != False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True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42 == 42.0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True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42 == '42'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False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42 &lt; 100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True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42 &gt; 100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False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42 &lt; 42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False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eggCount = 42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eggCount &lt;= 42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True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myAge = 29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myAge &gt;= 10</a:t>
            </a:r>
          </a:p>
          <a:p>
            <a:r>
              <a:rPr lang="tr-T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True</a:t>
            </a:r>
            <a:endParaRPr lang="tr-TR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pic>
        <p:nvPicPr>
          <p:cNvPr id="22" name="Picture Placeholder 21" descr="A picture containing animal, shellfish&#10;&#10;Description automatically generated">
            <a:extLst>
              <a:ext uri="{FF2B5EF4-FFF2-40B4-BE49-F238E27FC236}">
                <a16:creationId xmlns:a16="http://schemas.microsoft.com/office/drawing/2014/main" id="{D9EE8155-1B72-465E-B77C-F01890E8D245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54" r="12454"/>
          <a:stretch>
            <a:fillRect/>
          </a:stretch>
        </p:blipFill>
        <p:spPr/>
      </p:pic>
      <p:pic>
        <p:nvPicPr>
          <p:cNvPr id="24" name="Picture Placeholder 23" descr="A picture containing animal, shellfish, white, sitting&#10;&#10;Description automatically generated">
            <a:extLst>
              <a:ext uri="{FF2B5EF4-FFF2-40B4-BE49-F238E27FC236}">
                <a16:creationId xmlns:a16="http://schemas.microsoft.com/office/drawing/2014/main" id="{AE3E5C69-EDB7-43A1-9B9B-91CEF312E4A4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93" r="2893"/>
          <a:stretch>
            <a:fillRect/>
          </a:stretch>
        </p:blipFill>
        <p:spPr/>
      </p:pic>
      <p:pic>
        <p:nvPicPr>
          <p:cNvPr id="26" name="Picture Placeholder 25" descr="A close up of food&#10;&#10;Description automatically generated">
            <a:extLst>
              <a:ext uri="{FF2B5EF4-FFF2-40B4-BE49-F238E27FC236}">
                <a16:creationId xmlns:a16="http://schemas.microsoft.com/office/drawing/2014/main" id="{08ED65DE-E443-470A-B0C3-0B0C6B324208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076" r="25076"/>
          <a:stretch>
            <a:fillRect/>
          </a:stretch>
        </p:blipFill>
        <p:spPr>
          <a:xfrm>
            <a:off x="4255424" y="2358092"/>
            <a:ext cx="621000" cy="828000"/>
          </a:xfrm>
        </p:spPr>
      </p:pic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45BE73C-4453-4A4A-8202-24C8E6E26880}"/>
              </a:ext>
            </a:extLst>
          </p:cNvPr>
          <p:cNvSpPr txBox="1">
            <a:spLocks/>
          </p:cNvSpPr>
          <p:nvPr/>
        </p:nvSpPr>
        <p:spPr>
          <a:xfrm>
            <a:off x="349640" y="5387029"/>
            <a:ext cx="1620000" cy="504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Greater than</a:t>
            </a:r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054CB2EB-3217-46A2-807A-4DD3F4596F05}"/>
              </a:ext>
            </a:extLst>
          </p:cNvPr>
          <p:cNvSpPr txBox="1">
            <a:spLocks/>
          </p:cNvSpPr>
          <p:nvPr/>
        </p:nvSpPr>
        <p:spPr>
          <a:xfrm>
            <a:off x="349861" y="6144045"/>
            <a:ext cx="1620000" cy="3270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42 &gt; 100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0D9411ED-B48E-4B55-8E13-EAB087059980}"/>
              </a:ext>
            </a:extLst>
          </p:cNvPr>
          <p:cNvSpPr txBox="1">
            <a:spLocks/>
          </p:cNvSpPr>
          <p:nvPr/>
        </p:nvSpPr>
        <p:spPr>
          <a:xfrm>
            <a:off x="2070347" y="5387030"/>
            <a:ext cx="1620440" cy="504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Less than or equal to</a:t>
            </a:r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96FA2677-6FD3-4CC4-834F-A56A0DE8DEC4}"/>
              </a:ext>
            </a:extLst>
          </p:cNvPr>
          <p:cNvSpPr txBox="1">
            <a:spLocks/>
          </p:cNvSpPr>
          <p:nvPr/>
        </p:nvSpPr>
        <p:spPr>
          <a:xfrm>
            <a:off x="2070346" y="6148807"/>
            <a:ext cx="1620441" cy="31998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eggCount &lt;= 42</a:t>
            </a: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41F6EC5B-981D-434E-906B-C13B8191AA14}"/>
              </a:ext>
            </a:extLst>
          </p:cNvPr>
          <p:cNvSpPr txBox="1">
            <a:spLocks/>
          </p:cNvSpPr>
          <p:nvPr/>
        </p:nvSpPr>
        <p:spPr>
          <a:xfrm>
            <a:off x="3791197" y="5387030"/>
            <a:ext cx="1620441" cy="504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Greater than or equal to</a:t>
            </a:r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63CAE98E-5A6F-439F-9290-E69C0628ED95}"/>
              </a:ext>
            </a:extLst>
          </p:cNvPr>
          <p:cNvSpPr txBox="1">
            <a:spLocks/>
          </p:cNvSpPr>
          <p:nvPr/>
        </p:nvSpPr>
        <p:spPr>
          <a:xfrm>
            <a:off x="3791197" y="6148807"/>
            <a:ext cx="1620441" cy="334054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myAge &gt;= 10</a:t>
            </a:r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368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Chapter-2 Flow Control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b="1" dirty="0"/>
              <a:t>Boolean Operators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3" name="Picture Placeholder 12" descr="A star filled sky&#10;&#10;Description automatically generated">
            <a:extLst>
              <a:ext uri="{FF2B5EF4-FFF2-40B4-BE49-F238E27FC236}">
                <a16:creationId xmlns:a16="http://schemas.microsoft.com/office/drawing/2014/main" id="{B0195F47-1047-4A42-B03D-EBD881DEE7D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27507" r="2750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75807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Boolean Operators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1" y="1080002"/>
            <a:ext cx="4599842" cy="256430"/>
          </a:xfrm>
        </p:spPr>
        <p:txBody>
          <a:bodyPr/>
          <a:lstStyle/>
          <a:p>
            <a:r>
              <a:rPr lang="tr-TR" i="1" dirty="0"/>
              <a:t>There are three boolean operators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and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True</a:t>
            </a:r>
          </a:p>
          <a:p>
            <a:r>
              <a:rPr lang="tr-TR" dirty="0"/>
              <a:t>True and True</a:t>
            </a:r>
          </a:p>
          <a:p>
            <a:pPr marL="0" indent="0">
              <a:buNone/>
            </a:pPr>
            <a:r>
              <a:rPr lang="tr-TR" b="1" dirty="0"/>
              <a:t>False</a:t>
            </a:r>
          </a:p>
          <a:p>
            <a:r>
              <a:rPr lang="tr-TR" dirty="0"/>
              <a:t>True and False</a:t>
            </a:r>
          </a:p>
          <a:p>
            <a:r>
              <a:rPr lang="tr-TR" dirty="0"/>
              <a:t>False and True</a:t>
            </a:r>
          </a:p>
          <a:p>
            <a:r>
              <a:rPr lang="tr-TR" dirty="0"/>
              <a:t>False and False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not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3314200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True</a:t>
            </a:r>
          </a:p>
          <a:p>
            <a:r>
              <a:rPr lang="tr-TR" dirty="0"/>
              <a:t>not False</a:t>
            </a:r>
          </a:p>
          <a:p>
            <a:pPr marL="0" indent="0">
              <a:buNone/>
            </a:pPr>
            <a:r>
              <a:rPr lang="tr-TR" b="1" dirty="0"/>
              <a:t>False</a:t>
            </a:r>
            <a:endParaRPr lang="tr-TR" dirty="0"/>
          </a:p>
          <a:p>
            <a:r>
              <a:rPr lang="tr-TR" dirty="0"/>
              <a:t>Not True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or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b="1" dirty="0"/>
              <a:t>True</a:t>
            </a:r>
          </a:p>
          <a:p>
            <a:r>
              <a:rPr lang="tr-TR" dirty="0"/>
              <a:t>True or True</a:t>
            </a:r>
          </a:p>
          <a:p>
            <a:r>
              <a:rPr lang="tr-TR" dirty="0"/>
              <a:t>True or False</a:t>
            </a:r>
          </a:p>
          <a:p>
            <a:r>
              <a:rPr lang="tr-TR" dirty="0"/>
              <a:t>False or True</a:t>
            </a:r>
          </a:p>
          <a:p>
            <a:pPr marL="0" indent="0">
              <a:buNone/>
            </a:pPr>
            <a:r>
              <a:rPr lang="tr-TR" b="1" dirty="0"/>
              <a:t>False</a:t>
            </a:r>
            <a:endParaRPr lang="tr-TR" dirty="0"/>
          </a:p>
          <a:p>
            <a:r>
              <a:rPr lang="tr-TR" dirty="0"/>
              <a:t>False or False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70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Chapter-2 Flow Control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b="1" dirty="0"/>
              <a:t>Mixing Boolean and Comparison Operators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3" name="Picture Placeholder 12" descr="A star filled sky&#10;&#10;Description automatically generated">
            <a:extLst>
              <a:ext uri="{FF2B5EF4-FFF2-40B4-BE49-F238E27FC236}">
                <a16:creationId xmlns:a16="http://schemas.microsoft.com/office/drawing/2014/main" id="{B0195F47-1047-4A42-B03D-EBD881DEE7D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27507" r="2750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85703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Expressions on </a:t>
            </a:r>
            <a:r>
              <a:rPr lang="en-US" dirty="0"/>
              <a:t>Python 3.8.0 </a:t>
            </a:r>
            <a:r>
              <a:rPr lang="tr-TR" dirty="0"/>
              <a:t>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comparison operators </a:t>
            </a:r>
            <a:endParaRPr lang="tr-TR" dirty="0"/>
          </a:p>
          <a:p>
            <a:r>
              <a:rPr lang="en-US" dirty="0"/>
              <a:t>evaluate to Boolean values</a:t>
            </a:r>
            <a:endParaRPr lang="tr-TR" dirty="0"/>
          </a:p>
          <a:p>
            <a:r>
              <a:rPr lang="en-US" dirty="0"/>
              <a:t>you can use</a:t>
            </a:r>
            <a:r>
              <a:rPr lang="tr-TR" dirty="0"/>
              <a:t> </a:t>
            </a:r>
            <a:r>
              <a:rPr lang="en-US" dirty="0"/>
              <a:t>them in expressions </a:t>
            </a:r>
            <a:endParaRPr lang="tr-TR" dirty="0"/>
          </a:p>
          <a:p>
            <a:r>
              <a:rPr lang="en-US" dirty="0"/>
              <a:t>with the Boolean operators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Operator precedence: </a:t>
            </a:r>
            <a:r>
              <a:rPr lang="en-US" dirty="0"/>
              <a:t>Python evaluates </a:t>
            </a:r>
            <a:endParaRPr lang="tr-TR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not</a:t>
            </a:r>
            <a:r>
              <a:rPr lang="en-US" dirty="0"/>
              <a:t> operators first, </a:t>
            </a:r>
            <a:endParaRPr lang="tr-TR" dirty="0"/>
          </a:p>
          <a:p>
            <a:r>
              <a:rPr lang="en-US" dirty="0"/>
              <a:t>then the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operators,</a:t>
            </a:r>
            <a:endParaRPr lang="tr-TR" dirty="0"/>
          </a:p>
          <a:p>
            <a:r>
              <a:rPr lang="en-US" dirty="0"/>
              <a:t>then</a:t>
            </a:r>
            <a:r>
              <a:rPr lang="tr-TR" dirty="0"/>
              <a:t> the </a:t>
            </a:r>
            <a:r>
              <a:rPr lang="tr-TR" dirty="0">
                <a:solidFill>
                  <a:srgbClr val="0070C0"/>
                </a:solidFill>
              </a:rPr>
              <a:t>or</a:t>
            </a:r>
            <a:r>
              <a:rPr lang="tr-TR" dirty="0"/>
              <a:t> operators.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(4 &lt; 5) and (5 &lt; 6)</a:t>
            </a:r>
          </a:p>
          <a:p>
            <a:pPr marL="0" indent="0">
              <a:buNone/>
            </a:pPr>
            <a:r>
              <a:rPr lang="en-US" dirty="0"/>
              <a:t>True</a:t>
            </a:r>
          </a:p>
          <a:p>
            <a:pPr marL="0" indent="0">
              <a:buNone/>
            </a:pPr>
            <a:r>
              <a:rPr lang="en-US" dirty="0"/>
              <a:t>&gt;&gt;&gt; (4 &lt; 5) and (9 &lt; 6)</a:t>
            </a:r>
          </a:p>
          <a:p>
            <a:pPr marL="0" indent="0">
              <a:buNone/>
            </a:pPr>
            <a:r>
              <a:rPr lang="en-US" dirty="0"/>
              <a:t>False</a:t>
            </a:r>
          </a:p>
          <a:p>
            <a:pPr marL="0" indent="0">
              <a:buNone/>
            </a:pPr>
            <a:r>
              <a:rPr lang="en-US" dirty="0"/>
              <a:t>&gt;&gt;&gt; (1 == 2) or (2 == 2)</a:t>
            </a:r>
          </a:p>
          <a:p>
            <a:pPr marL="0" indent="0">
              <a:buNone/>
            </a:pPr>
            <a:r>
              <a:rPr lang="en-US" dirty="0"/>
              <a:t>True</a:t>
            </a:r>
          </a:p>
          <a:p>
            <a:pPr marL="0" indent="0">
              <a:buNone/>
            </a:pPr>
            <a:r>
              <a:rPr lang="en-US" dirty="0"/>
              <a:t>&gt;&gt;&gt; 2 + 2 == 4 and not 2 + 2 == 5 and 2 * 2 == 2 + 2</a:t>
            </a:r>
          </a:p>
          <a:p>
            <a:pPr marL="0" indent="0">
              <a:buNone/>
            </a:pPr>
            <a:r>
              <a:rPr lang="en-US" dirty="0"/>
              <a:t>True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73829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Chapter-2 Flow Control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b="1" dirty="0"/>
              <a:t>Elements of Flow Control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3" name="Picture Placeholder 12" descr="A star filled sky&#10;&#10;Description automatically generated">
            <a:extLst>
              <a:ext uri="{FF2B5EF4-FFF2-40B4-BE49-F238E27FC236}">
                <a16:creationId xmlns:a16="http://schemas.microsoft.com/office/drawing/2014/main" id="{B0195F47-1047-4A42-B03D-EBD881DEE7D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27507" r="2750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3622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Expressions vs Data Types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en-US" dirty="0"/>
              <a:t>Flow control statements </a:t>
            </a:r>
            <a:endParaRPr lang="tr-TR" dirty="0"/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en-US" dirty="0"/>
              <a:t>start with the </a:t>
            </a:r>
            <a:r>
              <a:rPr lang="en-US" b="1" dirty="0"/>
              <a:t>condition</a:t>
            </a:r>
            <a:endParaRPr lang="tr-TR" b="1" dirty="0"/>
          </a:p>
          <a:p>
            <a:r>
              <a:rPr lang="en-US" dirty="0"/>
              <a:t>are followed by a </a:t>
            </a:r>
            <a:r>
              <a:rPr lang="en-US" b="1" dirty="0"/>
              <a:t>block of code </a:t>
            </a:r>
            <a:r>
              <a:rPr lang="en-US" dirty="0"/>
              <a:t>called the </a:t>
            </a:r>
            <a:r>
              <a:rPr lang="en-US" b="1" dirty="0"/>
              <a:t>clause</a:t>
            </a:r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i="1" dirty="0"/>
              <a:t>Conditions</a:t>
            </a:r>
            <a:endParaRPr lang="en-US" dirty="0"/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5"/>
            <a:ext cx="2370064" cy="745886"/>
          </a:xfrm>
        </p:spPr>
        <p:txBody>
          <a:bodyPr/>
          <a:lstStyle/>
          <a:p>
            <a:r>
              <a:rPr lang="en-US" dirty="0"/>
              <a:t>A flow control statement</a:t>
            </a:r>
            <a:r>
              <a:rPr lang="tr-TR" dirty="0"/>
              <a:t> </a:t>
            </a:r>
            <a:r>
              <a:rPr lang="en-US" dirty="0"/>
              <a:t>decides what to do based on</a:t>
            </a:r>
            <a:endParaRPr lang="tr-TR" dirty="0"/>
          </a:p>
          <a:p>
            <a:r>
              <a:rPr lang="en-US" dirty="0"/>
              <a:t>whether its </a:t>
            </a:r>
            <a:r>
              <a:rPr lang="en-US" b="1" dirty="0"/>
              <a:t>condition</a:t>
            </a:r>
            <a:r>
              <a:rPr lang="en-US" dirty="0"/>
              <a:t> is </a:t>
            </a:r>
            <a:r>
              <a:rPr lang="en-US" dirty="0">
                <a:solidFill>
                  <a:srgbClr val="0070C0"/>
                </a:solidFill>
              </a:rPr>
              <a:t>True</a:t>
            </a:r>
            <a:r>
              <a:rPr lang="en-US" dirty="0"/>
              <a:t> or </a:t>
            </a:r>
            <a:r>
              <a:rPr lang="en-US" dirty="0">
                <a:solidFill>
                  <a:srgbClr val="0070C0"/>
                </a:solidFill>
              </a:rPr>
              <a:t>False</a:t>
            </a:r>
            <a:endParaRPr lang="en-US" sz="800" dirty="0">
              <a:solidFill>
                <a:srgbClr val="0070C0"/>
              </a:solidFill>
            </a:endParaRP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Blocks of Code</a:t>
            </a:r>
            <a:endParaRPr lang="en-US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76211" y="4858343"/>
            <a:ext cx="2251799" cy="788865"/>
          </a:xfrm>
        </p:spPr>
        <p:txBody>
          <a:bodyPr/>
          <a:lstStyle/>
          <a:p>
            <a:r>
              <a:rPr lang="en-US" dirty="0"/>
              <a:t>Python code can be grouped</a:t>
            </a:r>
            <a:r>
              <a:rPr lang="tr-TR" dirty="0"/>
              <a:t> </a:t>
            </a:r>
            <a:r>
              <a:rPr lang="en-US" dirty="0"/>
              <a:t>together in </a:t>
            </a:r>
            <a:r>
              <a:rPr lang="en-US" i="1" dirty="0"/>
              <a:t>blocks</a:t>
            </a:r>
            <a:endParaRPr lang="tr-TR" i="1" dirty="0"/>
          </a:p>
          <a:p>
            <a:r>
              <a:rPr lang="en-US" dirty="0"/>
              <a:t>block </a:t>
            </a:r>
            <a:r>
              <a:rPr lang="en-US" b="1" dirty="0"/>
              <a:t>begins</a:t>
            </a:r>
            <a:r>
              <a:rPr lang="en-US" dirty="0"/>
              <a:t> and </a:t>
            </a:r>
            <a:r>
              <a:rPr lang="en-US" b="1" dirty="0"/>
              <a:t>ends</a:t>
            </a:r>
            <a:r>
              <a:rPr lang="en-US" dirty="0"/>
              <a:t> from the </a:t>
            </a:r>
            <a:r>
              <a:rPr lang="en-US" b="1" dirty="0"/>
              <a:t>indentation</a:t>
            </a:r>
            <a:r>
              <a:rPr lang="en-US" dirty="0"/>
              <a:t> of the lines of code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1" name="Picture Placeholder 10" descr="M104 ngc4594 sombrero galaxy&#10;https://tr.wikipedia.org/wiki/Dosya:M104_ngc4594_sombrero_galaxy_hi-res.jpg">
            <a:extLst>
              <a:ext uri="{FF2B5EF4-FFF2-40B4-BE49-F238E27FC236}">
                <a16:creationId xmlns:a16="http://schemas.microsoft.com/office/drawing/2014/main" id="{95AACB08-126E-4573-8DB8-9BC83A5FAC3E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l="29199" r="2919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22696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Clauses: Blocks of Code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900000"/>
          </a:xfrm>
        </p:spPr>
        <p:txBody>
          <a:bodyPr/>
          <a:lstStyle/>
          <a:p>
            <a:r>
              <a:rPr lang="tr-TR" dirty="0"/>
              <a:t>Python uses </a:t>
            </a:r>
            <a:r>
              <a:rPr lang="tr-TR" b="1" dirty="0"/>
              <a:t>Indentation</a:t>
            </a:r>
            <a:r>
              <a:rPr lang="tr-TR" dirty="0"/>
              <a:t> for blocks</a:t>
            </a:r>
          </a:p>
          <a:p>
            <a:r>
              <a:rPr lang="tr-TR" dirty="0"/>
              <a:t>Rather than Curly Brackets { }</a:t>
            </a:r>
            <a:endParaRPr lang="en-US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Begin with Indentation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4401" y="4688112"/>
            <a:ext cx="2259630" cy="900000"/>
          </a:xfrm>
        </p:spPr>
        <p:txBody>
          <a:bodyPr/>
          <a:lstStyle/>
          <a:p>
            <a:r>
              <a:rPr lang="en-US" dirty="0"/>
              <a:t>Blocks begin when the indentation increases.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Blocks inside of Blocks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4030" y="4688112"/>
            <a:ext cx="2795941" cy="900000"/>
          </a:xfrm>
        </p:spPr>
        <p:txBody>
          <a:bodyPr vert="horz" lIns="0" tIns="0" rIns="0" bIns="0" rtlCol="0">
            <a:noAutofit/>
          </a:bodyPr>
          <a:lstStyle/>
          <a:p>
            <a:r>
              <a:rPr lang="en-US" dirty="0"/>
              <a:t>Blocks can contain other blocks.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tr-TR" dirty="0"/>
              <a:t>End with Decreasing Indentation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3670" y="4669579"/>
            <a:ext cx="2533728" cy="1210716"/>
          </a:xfrm>
        </p:spPr>
        <p:txBody>
          <a:bodyPr/>
          <a:lstStyle/>
          <a:p>
            <a:r>
              <a:rPr lang="en-US" dirty="0"/>
              <a:t>Blocks end when </a:t>
            </a:r>
            <a:endParaRPr lang="tr-TR" dirty="0"/>
          </a:p>
          <a:p>
            <a:r>
              <a:rPr lang="en-US" dirty="0"/>
              <a:t>the indentation decreases to zero</a:t>
            </a:r>
            <a:endParaRPr lang="tr-TR" dirty="0"/>
          </a:p>
          <a:p>
            <a:r>
              <a:rPr lang="en-US" dirty="0"/>
              <a:t>or to a containing</a:t>
            </a:r>
          </a:p>
          <a:p>
            <a:r>
              <a:rPr lang="tr-TR" dirty="0"/>
              <a:t>block’s indentation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445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Indentation is for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dirty="0"/>
              <a:t>&gt;&gt;&gt; name = 'Mary'</a:t>
            </a:r>
          </a:p>
          <a:p>
            <a:pPr marL="0" indent="0">
              <a:buNone/>
            </a:pPr>
            <a:r>
              <a:rPr lang="tr-TR" dirty="0"/>
              <a:t>&gt;&gt;&gt; </a:t>
            </a:r>
            <a:r>
              <a:rPr lang="en-US" dirty="0"/>
              <a:t>if name == 'Mary’: 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	</a:t>
            </a:r>
            <a:r>
              <a:rPr lang="en-US" dirty="0"/>
              <a:t>print('Hello Mary’)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Hello 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dirty="0"/>
              <a:t>&gt;&gt;&gt; password = 'Python’</a:t>
            </a:r>
          </a:p>
          <a:p>
            <a:pPr marL="0" indent="0">
              <a:buNone/>
            </a:pPr>
            <a:r>
              <a:rPr lang="tr-TR" dirty="0"/>
              <a:t>&gt;&gt;&gt; if password == 'swordfish':</a:t>
            </a:r>
          </a:p>
          <a:p>
            <a:pPr marL="0" indent="0">
              <a:buNone/>
            </a:pPr>
            <a:r>
              <a:rPr lang="tr-TR" dirty="0"/>
              <a:t>	print('Access granted.')</a:t>
            </a:r>
          </a:p>
          <a:p>
            <a:pPr marL="0" indent="0">
              <a:buNone/>
            </a:pPr>
            <a:r>
              <a:rPr lang="tr-TR" dirty="0"/>
              <a:t>else:</a:t>
            </a:r>
          </a:p>
          <a:p>
            <a:pPr marL="0" indent="0">
              <a:buNone/>
            </a:pPr>
            <a:r>
              <a:rPr lang="tr-TR" dirty="0"/>
              <a:t>	print('Wrong password.')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Wrong password.</a:t>
            </a:r>
          </a:p>
        </p:txBody>
      </p:sp>
    </p:spTree>
    <p:extLst>
      <p:ext uri="{BB962C8B-B14F-4D97-AF65-F5344CB8AC3E}">
        <p14:creationId xmlns:p14="http://schemas.microsoft.com/office/powerpoint/2010/main" val="880961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Chapter-2 Flow Control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b="1" dirty="0"/>
              <a:t>Flow Control Statements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3" name="Picture Placeholder 12" descr="A star filled sky&#10;&#10;Description automatically generated">
            <a:extLst>
              <a:ext uri="{FF2B5EF4-FFF2-40B4-BE49-F238E27FC236}">
                <a16:creationId xmlns:a16="http://schemas.microsoft.com/office/drawing/2014/main" id="{B0195F47-1047-4A42-B03D-EBD881DEE7D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27507" r="2750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9821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0B8C-152D-4041-AC3C-8B85647A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if Statements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6DD47F-D181-45CD-A525-14A14AF484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4677" y="2666283"/>
            <a:ext cx="2278523" cy="885825"/>
          </a:xfrm>
        </p:spPr>
        <p:txBody>
          <a:bodyPr/>
          <a:lstStyle/>
          <a:p>
            <a:r>
              <a:rPr lang="tr-TR" sz="3200" b="0" i="1" dirty="0"/>
              <a:t>Flow</a:t>
            </a:r>
            <a:r>
              <a:rPr lang="en-US" sz="4000" b="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FC6F7-3678-4EB1-9653-A3E4DAC47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5049" y="3711564"/>
            <a:ext cx="2752385" cy="125550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clause </a:t>
            </a:r>
            <a:r>
              <a:rPr lang="tr-TR" dirty="0"/>
              <a:t>will execute</a:t>
            </a:r>
          </a:p>
          <a:p>
            <a:r>
              <a:rPr lang="en-US" dirty="0"/>
              <a:t>if the statement’s condition is </a:t>
            </a:r>
            <a:r>
              <a:rPr lang="en-US" dirty="0">
                <a:solidFill>
                  <a:srgbClr val="0070C0"/>
                </a:solidFill>
              </a:rPr>
              <a:t>True</a:t>
            </a:r>
            <a:r>
              <a:rPr lang="en-US" dirty="0"/>
              <a:t>. 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The clause is skipped</a:t>
            </a:r>
          </a:p>
          <a:p>
            <a:r>
              <a:rPr lang="en-US" dirty="0"/>
              <a:t>if the condition is </a:t>
            </a:r>
            <a:r>
              <a:rPr lang="tr-TR" dirty="0">
                <a:solidFill>
                  <a:srgbClr val="0070C0"/>
                </a:solidFill>
              </a:rPr>
              <a:t>False</a:t>
            </a:r>
            <a:r>
              <a:rPr lang="tr-TR" dirty="0"/>
              <a:t>.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976196-87DB-406C-9904-8B1F6B13B4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3707" y="2644997"/>
            <a:ext cx="3108960" cy="885825"/>
          </a:xfrm>
        </p:spPr>
        <p:txBody>
          <a:bodyPr/>
          <a:lstStyle/>
          <a:p>
            <a:r>
              <a:rPr lang="tr-TR" sz="4000" b="0" dirty="0"/>
              <a:t>Consists of</a:t>
            </a:r>
            <a:endParaRPr 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CA641-190C-4E8A-B694-3EA9C4DCD9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0731" y="3669324"/>
            <a:ext cx="2628040" cy="2071688"/>
          </a:xfrm>
        </p:spPr>
        <p:txBody>
          <a:bodyPr/>
          <a:lstStyle/>
          <a:p>
            <a:r>
              <a:rPr lang="en-US" dirty="0"/>
              <a:t>The if keyword</a:t>
            </a:r>
          </a:p>
          <a:p>
            <a:r>
              <a:rPr lang="en-US" dirty="0"/>
              <a:t>A condition</a:t>
            </a:r>
            <a:endParaRPr lang="tr-TR" dirty="0"/>
          </a:p>
          <a:p>
            <a:pPr lvl="1"/>
            <a:r>
              <a:rPr lang="en-US" dirty="0"/>
              <a:t>an expression</a:t>
            </a:r>
            <a:endParaRPr lang="tr-TR" dirty="0"/>
          </a:p>
          <a:p>
            <a:pPr lvl="1"/>
            <a:r>
              <a:rPr lang="en-US" dirty="0"/>
              <a:t>evaluates to </a:t>
            </a:r>
            <a:r>
              <a:rPr lang="en-US" dirty="0">
                <a:solidFill>
                  <a:srgbClr val="0070C0"/>
                </a:solidFill>
              </a:rPr>
              <a:t>True</a:t>
            </a:r>
            <a:r>
              <a:rPr lang="en-US" dirty="0"/>
              <a:t> or </a:t>
            </a:r>
            <a:r>
              <a:rPr lang="en-US" dirty="0">
                <a:solidFill>
                  <a:srgbClr val="0070C0"/>
                </a:solidFill>
              </a:rPr>
              <a:t>False</a:t>
            </a:r>
          </a:p>
          <a:p>
            <a:r>
              <a:rPr lang="en-US" dirty="0"/>
              <a:t>A colon</a:t>
            </a:r>
            <a:r>
              <a:rPr lang="tr-TR" dirty="0"/>
              <a:t> :</a:t>
            </a:r>
            <a:endParaRPr lang="en-US" dirty="0"/>
          </a:p>
          <a:p>
            <a:r>
              <a:rPr lang="en-US" dirty="0"/>
              <a:t>an indented block of code</a:t>
            </a:r>
            <a:endParaRPr lang="tr-TR" dirty="0"/>
          </a:p>
          <a:p>
            <a:pPr lvl="1"/>
            <a:r>
              <a:rPr lang="en-US" dirty="0"/>
              <a:t>called the if clause</a:t>
            </a:r>
            <a:endParaRPr lang="tr-TR" dirty="0"/>
          </a:p>
          <a:p>
            <a:pPr lvl="1"/>
            <a:r>
              <a:rPr lang="tr-TR" dirty="0"/>
              <a:t>starts</a:t>
            </a:r>
            <a:r>
              <a:rPr lang="en-US" dirty="0"/>
              <a:t> on the next line,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FC72F-9055-4E36-A7BE-2574540334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AF5F208-929D-4DF0-B259-760C4694AA3C}"/>
              </a:ext>
            </a:extLst>
          </p:cNvPr>
          <p:cNvSpPr txBox="1">
            <a:spLocks/>
          </p:cNvSpPr>
          <p:nvPr/>
        </p:nvSpPr>
        <p:spPr>
          <a:xfrm>
            <a:off x="6541477" y="2642652"/>
            <a:ext cx="2361223" cy="8858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60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4000" b="0" dirty="0"/>
              <a:t>Example</a:t>
            </a:r>
            <a:endParaRPr lang="en-US" sz="3200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7352DBC-7497-40D0-952C-FD020A431DA4}"/>
              </a:ext>
            </a:extLst>
          </p:cNvPr>
          <p:cNvSpPr txBox="1">
            <a:spLocks/>
          </p:cNvSpPr>
          <p:nvPr/>
        </p:nvSpPr>
        <p:spPr>
          <a:xfrm>
            <a:off x="6513618" y="3652911"/>
            <a:ext cx="2503774" cy="207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&gt;&gt;&gt; name = 'Alice'</a:t>
            </a:r>
          </a:p>
          <a:p>
            <a:pPr marL="0" indent="0">
              <a:buNone/>
            </a:pPr>
            <a:r>
              <a:rPr lang="en-US" dirty="0"/>
              <a:t>&gt;&gt;&gt; if name == 'Alice':</a:t>
            </a:r>
          </a:p>
          <a:p>
            <a:pPr marL="0" indent="0">
              <a:buNone/>
            </a:pPr>
            <a:r>
              <a:rPr lang="en-US" dirty="0"/>
              <a:t>	print('Hi, Alice.')</a:t>
            </a:r>
          </a:p>
          <a:p>
            <a:pPr marL="0" indent="0">
              <a:buNone/>
            </a:pPr>
            <a:r>
              <a:rPr lang="en-US" dirty="0"/>
              <a:t>Hi, Alice.</a:t>
            </a:r>
            <a:endParaRPr lang="tr-TR" dirty="0"/>
          </a:p>
        </p:txBody>
      </p:sp>
      <p:pic>
        <p:nvPicPr>
          <p:cNvPr id="3074" name="Picture 2" descr="flow icon ile ilgili görsel sonucu">
            <a:extLst>
              <a:ext uri="{FF2B5EF4-FFF2-40B4-BE49-F238E27FC236}">
                <a16:creationId xmlns:a16="http://schemas.microsoft.com/office/drawing/2014/main" id="{78E4D8C8-FD92-4BA2-A9C2-0056BD636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271" y="1611190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3B6B83-AAFD-4A41-9F4C-73A36BB195C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33148" y="1618957"/>
            <a:ext cx="1146844" cy="12027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6CAC02-7D9C-4FA0-A736-1BD5CE01361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20" y="1638300"/>
            <a:ext cx="133208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84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3CBA-6B58-475A-BAF2-04998BA4A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4521199"/>
            <a:ext cx="4509000" cy="660401"/>
          </a:xfrm>
        </p:spPr>
        <p:txBody>
          <a:bodyPr/>
          <a:lstStyle/>
          <a:p>
            <a:r>
              <a:rPr lang="tr-TR" dirty="0"/>
              <a:t>Flow of If Statement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42706-50AC-4B17-A704-143D94A79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5105400"/>
            <a:ext cx="4509000" cy="1667944"/>
          </a:xfrm>
        </p:spPr>
        <p:txBody>
          <a:bodyPr/>
          <a:lstStyle/>
          <a:p>
            <a:r>
              <a:rPr lang="tr-TR" dirty="0"/>
              <a:t>Condition</a:t>
            </a:r>
          </a:p>
          <a:p>
            <a:r>
              <a:rPr lang="tr-TR" dirty="0"/>
              <a:t>Clause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3A50-2819-40D9-A42F-D84F47928C9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270811"/>
            <a:ext cx="3980775" cy="5799790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Start</a:t>
            </a:r>
          </a:p>
          <a:p>
            <a:r>
              <a:rPr lang="tr-TR" dirty="0"/>
              <a:t>Where the flow begins</a:t>
            </a:r>
          </a:p>
          <a:p>
            <a:pPr marL="0" indent="0">
              <a:buNone/>
            </a:pPr>
            <a:r>
              <a:rPr lang="tr-TR" b="1" i="1" dirty="0"/>
              <a:t>Condition</a:t>
            </a:r>
            <a:endParaRPr lang="tr-TR" dirty="0"/>
          </a:p>
          <a:p>
            <a:r>
              <a:rPr lang="tr-TR" dirty="0">
                <a:solidFill>
                  <a:srgbClr val="0070C0"/>
                </a:solidFill>
              </a:rPr>
              <a:t>name == 'Alice’</a:t>
            </a:r>
          </a:p>
          <a:p>
            <a:r>
              <a:rPr lang="tr-TR" i="1" dirty="0"/>
              <a:t>name variable has the value ‘Alice’ or not?</a:t>
            </a:r>
          </a:p>
          <a:p>
            <a:pPr marL="0" indent="0">
              <a:buNone/>
            </a:pPr>
            <a:r>
              <a:rPr lang="tr-TR" b="1" i="1" dirty="0"/>
              <a:t>True Flow</a:t>
            </a:r>
            <a:endParaRPr lang="tr-TR" i="1" dirty="0"/>
          </a:p>
          <a:p>
            <a:r>
              <a:rPr lang="tr-TR" dirty="0">
                <a:solidFill>
                  <a:srgbClr val="0070C0"/>
                </a:solidFill>
              </a:rPr>
              <a:t>name == 'Alice’</a:t>
            </a:r>
          </a:p>
          <a:p>
            <a:r>
              <a:rPr lang="tr-TR" i="1" dirty="0"/>
              <a:t>name variable has the value ‘Alice’</a:t>
            </a:r>
          </a:p>
          <a:p>
            <a:r>
              <a:rPr lang="tr-TR" i="1" dirty="0"/>
              <a:t>Evaluates to </a:t>
            </a:r>
            <a:r>
              <a:rPr lang="tr-TR" i="1" dirty="0">
                <a:solidFill>
                  <a:srgbClr val="0070C0"/>
                </a:solidFill>
              </a:rPr>
              <a:t>True</a:t>
            </a:r>
          </a:p>
          <a:p>
            <a:r>
              <a:rPr lang="tr-TR" i="1" dirty="0"/>
              <a:t>next, print('Hi, Alice.’)</a:t>
            </a:r>
          </a:p>
          <a:p>
            <a:r>
              <a:rPr lang="tr-TR" i="1" dirty="0"/>
              <a:t>moves to the next statement</a:t>
            </a:r>
          </a:p>
          <a:p>
            <a:pPr marL="0" indent="0">
              <a:buNone/>
            </a:pPr>
            <a:r>
              <a:rPr lang="tr-TR" b="1" i="1" dirty="0"/>
              <a:t>False Flow</a:t>
            </a:r>
            <a:endParaRPr lang="tr-TR" dirty="0"/>
          </a:p>
          <a:p>
            <a:r>
              <a:rPr lang="tr-TR" dirty="0">
                <a:solidFill>
                  <a:srgbClr val="0070C0"/>
                </a:solidFill>
              </a:rPr>
              <a:t>name == 'Alice’</a:t>
            </a:r>
          </a:p>
          <a:p>
            <a:r>
              <a:rPr lang="tr-TR" i="1" dirty="0"/>
              <a:t>name variable value is not ‘Alice’</a:t>
            </a:r>
          </a:p>
          <a:p>
            <a:r>
              <a:rPr lang="tr-TR" i="1" dirty="0"/>
              <a:t>Evaluates to </a:t>
            </a:r>
            <a:r>
              <a:rPr lang="tr-TR" i="1" dirty="0">
                <a:solidFill>
                  <a:srgbClr val="0070C0"/>
                </a:solidFill>
              </a:rPr>
              <a:t>False</a:t>
            </a:r>
          </a:p>
          <a:p>
            <a:r>
              <a:rPr lang="tr-TR" i="1" dirty="0"/>
              <a:t>moves to the next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249B8-A654-41FD-9724-45A3A5EE13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FE75A8-685B-493B-B9E9-1D2116E2080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455" y="234262"/>
            <a:ext cx="4387889" cy="425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15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0B8C-152D-4041-AC3C-8B85647A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else Statements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6DD47F-D181-45CD-A525-14A14AF484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4677" y="2666283"/>
            <a:ext cx="2278523" cy="885825"/>
          </a:xfrm>
        </p:spPr>
        <p:txBody>
          <a:bodyPr/>
          <a:lstStyle/>
          <a:p>
            <a:r>
              <a:rPr lang="tr-TR" sz="3200" b="0" i="1" dirty="0"/>
              <a:t>Flow</a:t>
            </a:r>
            <a:r>
              <a:rPr lang="en-US" sz="4000" b="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FC6F7-3678-4EB1-9653-A3E4DAC47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5049" y="3711564"/>
            <a:ext cx="2752385" cy="1255504"/>
          </a:xfrm>
        </p:spPr>
        <p:txBody>
          <a:bodyPr/>
          <a:lstStyle/>
          <a:p>
            <a:r>
              <a:rPr lang="en-US" dirty="0"/>
              <a:t>An if clause can optionally be followed by an else statement. </a:t>
            </a:r>
            <a:endParaRPr lang="tr-TR" dirty="0"/>
          </a:p>
          <a:p>
            <a:r>
              <a:rPr lang="en-US" dirty="0"/>
              <a:t>The else clause</a:t>
            </a:r>
            <a:r>
              <a:rPr lang="tr-TR" dirty="0"/>
              <a:t> </a:t>
            </a:r>
            <a:r>
              <a:rPr lang="en-US" dirty="0"/>
              <a:t>is executed</a:t>
            </a:r>
            <a:endParaRPr lang="tr-TR" dirty="0"/>
          </a:p>
          <a:p>
            <a:pPr lvl="1"/>
            <a:r>
              <a:rPr lang="en-US" dirty="0"/>
              <a:t>only when the if statement’s condition is </a:t>
            </a:r>
            <a:r>
              <a:rPr lang="en-US" dirty="0">
                <a:solidFill>
                  <a:srgbClr val="0070C0"/>
                </a:solidFill>
              </a:rPr>
              <a:t>False</a:t>
            </a:r>
            <a:r>
              <a:rPr lang="en-US" dirty="0"/>
              <a:t>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976196-87DB-406C-9904-8B1F6B13B4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3707" y="2644997"/>
            <a:ext cx="3108960" cy="885825"/>
          </a:xfrm>
        </p:spPr>
        <p:txBody>
          <a:bodyPr/>
          <a:lstStyle/>
          <a:p>
            <a:r>
              <a:rPr lang="tr-TR" sz="4000" b="0" dirty="0"/>
              <a:t>Consists of</a:t>
            </a:r>
            <a:endParaRPr 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CA641-190C-4E8A-B694-3EA9C4DCD9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0731" y="3669324"/>
            <a:ext cx="2628040" cy="2071688"/>
          </a:xfrm>
        </p:spPr>
        <p:txBody>
          <a:bodyPr/>
          <a:lstStyle/>
          <a:p>
            <a:r>
              <a:rPr lang="tr-TR" dirty="0"/>
              <a:t>The else keyword</a:t>
            </a:r>
          </a:p>
          <a:p>
            <a:r>
              <a:rPr lang="tr-TR" dirty="0"/>
              <a:t>A colon</a:t>
            </a:r>
          </a:p>
          <a:p>
            <a:r>
              <a:rPr lang="en-US" dirty="0"/>
              <a:t>Starting on the next line</a:t>
            </a:r>
            <a:endParaRPr lang="tr-TR" dirty="0"/>
          </a:p>
          <a:p>
            <a:pPr lvl="1"/>
            <a:r>
              <a:rPr lang="en-US" dirty="0"/>
              <a:t>an indented block of code</a:t>
            </a:r>
          </a:p>
          <a:p>
            <a:pPr lvl="1"/>
            <a:r>
              <a:rPr lang="en-US" dirty="0"/>
              <a:t>called the else </a:t>
            </a:r>
            <a:r>
              <a:rPr lang="tr-TR" dirty="0"/>
              <a:t>clause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FC72F-9055-4E36-A7BE-2574540334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AF5F208-929D-4DF0-B259-760C4694AA3C}"/>
              </a:ext>
            </a:extLst>
          </p:cNvPr>
          <p:cNvSpPr txBox="1">
            <a:spLocks/>
          </p:cNvSpPr>
          <p:nvPr/>
        </p:nvSpPr>
        <p:spPr>
          <a:xfrm>
            <a:off x="6541477" y="2642652"/>
            <a:ext cx="2361223" cy="8858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60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4000" b="0" dirty="0"/>
              <a:t>Example</a:t>
            </a:r>
            <a:endParaRPr lang="en-US" sz="3200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7352DBC-7497-40D0-952C-FD020A431DA4}"/>
              </a:ext>
            </a:extLst>
          </p:cNvPr>
          <p:cNvSpPr txBox="1">
            <a:spLocks/>
          </p:cNvSpPr>
          <p:nvPr/>
        </p:nvSpPr>
        <p:spPr>
          <a:xfrm>
            <a:off x="6513618" y="3652911"/>
            <a:ext cx="2503774" cy="207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&gt;&gt;&gt; name = 'Alice'</a:t>
            </a:r>
          </a:p>
          <a:p>
            <a:pPr marL="0" indent="0">
              <a:buNone/>
            </a:pPr>
            <a:r>
              <a:rPr lang="en-US" dirty="0"/>
              <a:t>&gt;&gt;&gt; if name == 'Alice':</a:t>
            </a:r>
          </a:p>
          <a:p>
            <a:pPr marL="0" indent="0">
              <a:buNone/>
            </a:pPr>
            <a:r>
              <a:rPr lang="en-US" dirty="0"/>
              <a:t>	print('Hi, Alice.')</a:t>
            </a:r>
          </a:p>
          <a:p>
            <a:pPr marL="0" indent="0">
              <a:buNone/>
            </a:pPr>
            <a:r>
              <a:rPr lang="en-US" dirty="0"/>
              <a:t>else:</a:t>
            </a:r>
          </a:p>
          <a:p>
            <a:pPr marL="0" indent="0">
              <a:buNone/>
            </a:pPr>
            <a:r>
              <a:rPr lang="en-US" dirty="0"/>
              <a:t>	print('Hello, stranger.')</a:t>
            </a:r>
          </a:p>
          <a:p>
            <a:pPr marL="0" indent="0">
              <a:buNone/>
            </a:pPr>
            <a:r>
              <a:rPr lang="en-US" dirty="0"/>
              <a:t>Hi, Alice.</a:t>
            </a:r>
            <a:endParaRPr lang="tr-TR" dirty="0"/>
          </a:p>
        </p:txBody>
      </p:sp>
      <p:pic>
        <p:nvPicPr>
          <p:cNvPr id="3074" name="Picture 2" descr="flow icon ile ilgili görsel sonucu">
            <a:extLst>
              <a:ext uri="{FF2B5EF4-FFF2-40B4-BE49-F238E27FC236}">
                <a16:creationId xmlns:a16="http://schemas.microsoft.com/office/drawing/2014/main" id="{78E4D8C8-FD92-4BA2-A9C2-0056BD636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271" y="1611190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3B6B83-AAFD-4A41-9F4C-73A36BB195C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33148" y="1618957"/>
            <a:ext cx="1146844" cy="12027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6CAC02-7D9C-4FA0-A736-1BD5CE01361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20" y="1638300"/>
            <a:ext cx="133208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383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3CBA-6B58-475A-BAF2-04998BA4A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4521199"/>
            <a:ext cx="4509000" cy="660401"/>
          </a:xfrm>
        </p:spPr>
        <p:txBody>
          <a:bodyPr/>
          <a:lstStyle/>
          <a:p>
            <a:r>
              <a:rPr lang="tr-TR" dirty="0"/>
              <a:t>Flow of else Statement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42706-50AC-4B17-A704-143D94A79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5105400"/>
            <a:ext cx="4509000" cy="1667944"/>
          </a:xfrm>
        </p:spPr>
        <p:txBody>
          <a:bodyPr/>
          <a:lstStyle/>
          <a:p>
            <a:r>
              <a:rPr lang="tr-TR" dirty="0"/>
              <a:t>Condition</a:t>
            </a:r>
          </a:p>
          <a:p>
            <a:r>
              <a:rPr lang="tr-TR" dirty="0"/>
              <a:t>True Clause</a:t>
            </a:r>
          </a:p>
          <a:p>
            <a:r>
              <a:rPr lang="tr-TR" dirty="0"/>
              <a:t>False (Else) Clause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3A50-2819-40D9-A42F-D84F47928C9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270811"/>
            <a:ext cx="3980775" cy="5799790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Start</a:t>
            </a:r>
          </a:p>
          <a:p>
            <a:r>
              <a:rPr lang="tr-TR" dirty="0"/>
              <a:t>Where the flow begins</a:t>
            </a:r>
          </a:p>
          <a:p>
            <a:pPr marL="0" indent="0">
              <a:buNone/>
            </a:pPr>
            <a:r>
              <a:rPr lang="tr-TR" b="1" i="1" dirty="0"/>
              <a:t>Condition</a:t>
            </a:r>
            <a:endParaRPr lang="tr-TR" dirty="0"/>
          </a:p>
          <a:p>
            <a:r>
              <a:rPr lang="tr-TR" dirty="0">
                <a:solidFill>
                  <a:srgbClr val="0070C0"/>
                </a:solidFill>
              </a:rPr>
              <a:t>name == 'Alice’</a:t>
            </a:r>
          </a:p>
          <a:p>
            <a:r>
              <a:rPr lang="tr-TR" i="1" dirty="0"/>
              <a:t>name variable has the value ‘Alice’ or not?</a:t>
            </a:r>
          </a:p>
          <a:p>
            <a:pPr marL="0" indent="0">
              <a:buNone/>
            </a:pPr>
            <a:r>
              <a:rPr lang="tr-TR" b="1" i="1" dirty="0"/>
              <a:t>True Flow</a:t>
            </a:r>
            <a:endParaRPr lang="tr-TR" i="1" dirty="0"/>
          </a:p>
          <a:p>
            <a:r>
              <a:rPr lang="tr-TR" dirty="0">
                <a:solidFill>
                  <a:srgbClr val="0070C0"/>
                </a:solidFill>
              </a:rPr>
              <a:t>name == 'Alice’</a:t>
            </a:r>
          </a:p>
          <a:p>
            <a:r>
              <a:rPr lang="tr-TR" i="1" dirty="0"/>
              <a:t>name variable has the value ‘Alice’</a:t>
            </a:r>
          </a:p>
          <a:p>
            <a:r>
              <a:rPr lang="tr-TR" i="1" dirty="0"/>
              <a:t>Evaluates to </a:t>
            </a:r>
            <a:r>
              <a:rPr lang="tr-TR" i="1" dirty="0">
                <a:solidFill>
                  <a:srgbClr val="0070C0"/>
                </a:solidFill>
              </a:rPr>
              <a:t>True</a:t>
            </a:r>
          </a:p>
          <a:p>
            <a:r>
              <a:rPr lang="tr-TR" i="1" dirty="0"/>
              <a:t>next, print('Hi, Alice.’)</a:t>
            </a:r>
          </a:p>
          <a:p>
            <a:r>
              <a:rPr lang="tr-TR" i="1" dirty="0"/>
              <a:t>moves to the next statement</a:t>
            </a:r>
          </a:p>
          <a:p>
            <a:pPr marL="0" indent="0">
              <a:buNone/>
            </a:pPr>
            <a:r>
              <a:rPr lang="tr-TR" b="1" i="1" dirty="0"/>
              <a:t>False Flow</a:t>
            </a:r>
            <a:endParaRPr lang="tr-TR" dirty="0"/>
          </a:p>
          <a:p>
            <a:r>
              <a:rPr lang="tr-TR" dirty="0">
                <a:solidFill>
                  <a:srgbClr val="0070C0"/>
                </a:solidFill>
              </a:rPr>
              <a:t>name == 'Alice’</a:t>
            </a:r>
          </a:p>
          <a:p>
            <a:r>
              <a:rPr lang="tr-TR" i="1" dirty="0"/>
              <a:t>name variable value is not ‘Alice’</a:t>
            </a:r>
          </a:p>
          <a:p>
            <a:r>
              <a:rPr lang="tr-TR" i="1" dirty="0"/>
              <a:t>Evaluates to </a:t>
            </a:r>
            <a:r>
              <a:rPr lang="tr-TR" i="1" dirty="0">
                <a:solidFill>
                  <a:srgbClr val="0070C0"/>
                </a:solidFill>
              </a:rPr>
              <a:t>False</a:t>
            </a:r>
          </a:p>
          <a:p>
            <a:r>
              <a:rPr lang="tr-TR" i="1" dirty="0"/>
              <a:t>next, print('Hello, stranger.’)</a:t>
            </a:r>
          </a:p>
          <a:p>
            <a:r>
              <a:rPr lang="tr-TR" i="1" dirty="0"/>
              <a:t>moves to the next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249B8-A654-41FD-9724-45A3A5EE13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9ABF9-C520-4121-AF0C-B50A27554FB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0247" y="492653"/>
            <a:ext cx="4489085" cy="395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6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0B8C-152D-4041-AC3C-8B85647A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elif Statements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6DD47F-D181-45CD-A525-14A14AF484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4677" y="2666283"/>
            <a:ext cx="2278523" cy="885825"/>
          </a:xfrm>
        </p:spPr>
        <p:txBody>
          <a:bodyPr/>
          <a:lstStyle/>
          <a:p>
            <a:r>
              <a:rPr lang="tr-TR" sz="3200" b="0" i="1" dirty="0"/>
              <a:t>Flow</a:t>
            </a:r>
            <a:r>
              <a:rPr lang="en-US" sz="4000" b="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FC6F7-3678-4EB1-9653-A3E4DAC47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5049" y="3711564"/>
            <a:ext cx="2752385" cy="2168536"/>
          </a:xfrm>
        </p:spPr>
        <p:txBody>
          <a:bodyPr/>
          <a:lstStyle/>
          <a:p>
            <a:r>
              <a:rPr lang="en-US" dirty="0"/>
              <a:t>only one of the if or else clauses will execute, </a:t>
            </a:r>
            <a:endParaRPr lang="tr-TR" dirty="0"/>
          </a:p>
          <a:p>
            <a:r>
              <a:rPr lang="en-US" dirty="0"/>
              <a:t>you may have a case</a:t>
            </a:r>
            <a:r>
              <a:rPr lang="tr-TR" dirty="0"/>
              <a:t> </a:t>
            </a:r>
          </a:p>
          <a:p>
            <a:pPr lvl="1"/>
            <a:r>
              <a:rPr lang="en-US" dirty="0"/>
              <a:t>you want one of many possible clauses to execute. </a:t>
            </a:r>
            <a:endParaRPr lang="tr-TR" dirty="0"/>
          </a:p>
          <a:p>
            <a:r>
              <a:rPr lang="en-US" dirty="0"/>
              <a:t>The </a:t>
            </a:r>
            <a:r>
              <a:rPr lang="en-US" dirty="0" err="1"/>
              <a:t>elif</a:t>
            </a:r>
            <a:r>
              <a:rPr lang="en-US" dirty="0"/>
              <a:t> statement</a:t>
            </a:r>
          </a:p>
          <a:p>
            <a:pPr lvl="1"/>
            <a:r>
              <a:rPr lang="en-US" dirty="0"/>
              <a:t>is an “else if” statement</a:t>
            </a:r>
            <a:endParaRPr lang="tr-TR" dirty="0"/>
          </a:p>
          <a:p>
            <a:pPr lvl="1"/>
            <a:r>
              <a:rPr lang="en-US" dirty="0"/>
              <a:t>always follows an if </a:t>
            </a:r>
            <a:endParaRPr lang="tr-TR" dirty="0"/>
          </a:p>
          <a:p>
            <a:pPr lvl="1"/>
            <a:r>
              <a:rPr lang="en-US" dirty="0"/>
              <a:t>or another </a:t>
            </a:r>
            <a:r>
              <a:rPr lang="en-US" dirty="0" err="1"/>
              <a:t>elif</a:t>
            </a:r>
            <a:r>
              <a:rPr lang="en-US" dirty="0"/>
              <a:t> statement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976196-87DB-406C-9904-8B1F6B13B4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3707" y="2644997"/>
            <a:ext cx="3108960" cy="885825"/>
          </a:xfrm>
        </p:spPr>
        <p:txBody>
          <a:bodyPr/>
          <a:lstStyle/>
          <a:p>
            <a:r>
              <a:rPr lang="tr-TR" sz="4000" b="0" dirty="0"/>
              <a:t>Consists of</a:t>
            </a:r>
            <a:endParaRPr 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CA641-190C-4E8A-B694-3EA9C4DCD9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0731" y="3669324"/>
            <a:ext cx="2628040" cy="2071688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elif</a:t>
            </a:r>
            <a:r>
              <a:rPr lang="en-US" dirty="0"/>
              <a:t> keyword</a:t>
            </a:r>
          </a:p>
          <a:p>
            <a:r>
              <a:rPr lang="en-US" dirty="0"/>
              <a:t>A condition</a:t>
            </a:r>
            <a:endParaRPr lang="tr-TR" dirty="0"/>
          </a:p>
          <a:p>
            <a:pPr lvl="1"/>
            <a:r>
              <a:rPr lang="en-US" dirty="0"/>
              <a:t>an expression</a:t>
            </a:r>
            <a:endParaRPr lang="tr-TR" dirty="0"/>
          </a:p>
          <a:p>
            <a:pPr lvl="1"/>
            <a:r>
              <a:rPr lang="en-US" dirty="0"/>
              <a:t>evaluates to True or False</a:t>
            </a:r>
          </a:p>
          <a:p>
            <a:r>
              <a:rPr lang="en-US" dirty="0"/>
              <a:t>A colon</a:t>
            </a:r>
          </a:p>
          <a:p>
            <a:r>
              <a:rPr lang="en-US" dirty="0" err="1"/>
              <a:t>elif</a:t>
            </a:r>
            <a:r>
              <a:rPr lang="tr-TR" dirty="0"/>
              <a:t> </a:t>
            </a:r>
            <a:r>
              <a:rPr lang="en-US" dirty="0"/>
              <a:t>clause </a:t>
            </a:r>
            <a:endParaRPr lang="tr-TR" dirty="0"/>
          </a:p>
          <a:p>
            <a:pPr lvl="1"/>
            <a:r>
              <a:rPr lang="en-US" dirty="0"/>
              <a:t>an indented block of code</a:t>
            </a:r>
          </a:p>
          <a:p>
            <a:pPr lvl="1"/>
            <a:r>
              <a:rPr lang="en-US" dirty="0"/>
              <a:t>Starting on the next line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FC72F-9055-4E36-A7BE-2574540334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AF5F208-929D-4DF0-B259-760C4694AA3C}"/>
              </a:ext>
            </a:extLst>
          </p:cNvPr>
          <p:cNvSpPr txBox="1">
            <a:spLocks/>
          </p:cNvSpPr>
          <p:nvPr/>
        </p:nvSpPr>
        <p:spPr>
          <a:xfrm>
            <a:off x="6541477" y="2642652"/>
            <a:ext cx="2361223" cy="8858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60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4000" b="0" dirty="0"/>
              <a:t>Example</a:t>
            </a:r>
            <a:endParaRPr lang="en-US" sz="3200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7352DBC-7497-40D0-952C-FD020A431DA4}"/>
              </a:ext>
            </a:extLst>
          </p:cNvPr>
          <p:cNvSpPr txBox="1">
            <a:spLocks/>
          </p:cNvSpPr>
          <p:nvPr/>
        </p:nvSpPr>
        <p:spPr>
          <a:xfrm>
            <a:off x="5994400" y="3652911"/>
            <a:ext cx="3022992" cy="207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&gt;&gt;&gt; name = 'Alice'</a:t>
            </a:r>
          </a:p>
          <a:p>
            <a:pPr marL="0" indent="0">
              <a:buNone/>
            </a:pPr>
            <a:r>
              <a:rPr lang="en-US" dirty="0"/>
              <a:t>&gt;&gt;&gt; age = 11</a:t>
            </a:r>
          </a:p>
          <a:p>
            <a:pPr marL="0" indent="0">
              <a:buNone/>
            </a:pPr>
            <a:r>
              <a:rPr lang="en-US" dirty="0"/>
              <a:t>&gt;&gt;&gt; if name == 'Alice':</a:t>
            </a:r>
          </a:p>
          <a:p>
            <a:pPr marL="0" indent="0">
              <a:buNone/>
            </a:pPr>
            <a:r>
              <a:rPr lang="en-US" dirty="0"/>
              <a:t>	print('Hi, Alice.')</a:t>
            </a:r>
          </a:p>
          <a:p>
            <a:pPr marL="0" indent="0">
              <a:buNone/>
            </a:pPr>
            <a:r>
              <a:rPr lang="en-US" dirty="0" err="1"/>
              <a:t>elif</a:t>
            </a:r>
            <a:r>
              <a:rPr lang="en-US" dirty="0"/>
              <a:t> age &lt; 12:</a:t>
            </a:r>
          </a:p>
          <a:p>
            <a:pPr marL="0" indent="0">
              <a:buNone/>
            </a:pPr>
            <a:r>
              <a:rPr lang="en-US" dirty="0"/>
              <a:t>	print('You are not Alice, kiddo.')</a:t>
            </a:r>
          </a:p>
          <a:p>
            <a:pPr marL="0" indent="0">
              <a:buNone/>
            </a:pPr>
            <a:r>
              <a:rPr lang="en-US" dirty="0"/>
              <a:t>Hi, Alice.</a:t>
            </a:r>
            <a:endParaRPr lang="tr-TR" dirty="0"/>
          </a:p>
        </p:txBody>
      </p:sp>
      <p:pic>
        <p:nvPicPr>
          <p:cNvPr id="3074" name="Picture 2" descr="flow icon ile ilgili görsel sonucu">
            <a:extLst>
              <a:ext uri="{FF2B5EF4-FFF2-40B4-BE49-F238E27FC236}">
                <a16:creationId xmlns:a16="http://schemas.microsoft.com/office/drawing/2014/main" id="{78E4D8C8-FD92-4BA2-A9C2-0056BD636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271" y="1611190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3B6B83-AAFD-4A41-9F4C-73A36BB195C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33148" y="1618957"/>
            <a:ext cx="1146844" cy="12027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6CAC02-7D9C-4FA0-A736-1BD5CE01361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20" y="1638300"/>
            <a:ext cx="133208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156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3CBA-6B58-475A-BAF2-04998BA4A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4521199"/>
            <a:ext cx="4509000" cy="660401"/>
          </a:xfrm>
        </p:spPr>
        <p:txBody>
          <a:bodyPr/>
          <a:lstStyle/>
          <a:p>
            <a:r>
              <a:rPr lang="tr-TR" dirty="0"/>
              <a:t>Flow of elif Statement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42706-50AC-4B17-A704-143D94A79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5105400"/>
            <a:ext cx="4509000" cy="1667944"/>
          </a:xfrm>
        </p:spPr>
        <p:txBody>
          <a:bodyPr/>
          <a:lstStyle/>
          <a:p>
            <a:r>
              <a:rPr lang="tr-TR" dirty="0"/>
              <a:t>Condition</a:t>
            </a:r>
          </a:p>
          <a:p>
            <a:r>
              <a:rPr lang="tr-TR" dirty="0"/>
              <a:t>True Clause</a:t>
            </a:r>
          </a:p>
          <a:p>
            <a:r>
              <a:rPr lang="tr-TR" dirty="0"/>
              <a:t>False (Else) Clause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3A50-2819-40D9-A42F-D84F47928C9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673599" y="158259"/>
            <a:ext cx="3939501" cy="6509825"/>
          </a:xfrm>
        </p:spPr>
        <p:txBody>
          <a:bodyPr/>
          <a:lstStyle/>
          <a:p>
            <a:pPr marL="0" indent="0">
              <a:buNone/>
            </a:pPr>
            <a:r>
              <a:rPr lang="tr-TR" sz="1200" b="1" dirty="0"/>
              <a:t>Start</a:t>
            </a:r>
          </a:p>
          <a:p>
            <a:r>
              <a:rPr lang="tr-TR" sz="1200" dirty="0"/>
              <a:t>Where the flow begins</a:t>
            </a:r>
          </a:p>
          <a:p>
            <a:pPr marL="0" indent="0">
              <a:buNone/>
            </a:pPr>
            <a:r>
              <a:rPr lang="tr-TR" sz="1200" b="1" i="1" dirty="0"/>
              <a:t>Condition</a:t>
            </a:r>
            <a:endParaRPr lang="tr-TR" sz="1200" dirty="0"/>
          </a:p>
          <a:p>
            <a:r>
              <a:rPr lang="tr-TR" sz="1200" dirty="0">
                <a:solidFill>
                  <a:srgbClr val="0070C0"/>
                </a:solidFill>
              </a:rPr>
              <a:t>name == 'Alice’</a:t>
            </a:r>
          </a:p>
          <a:p>
            <a:r>
              <a:rPr lang="tr-TR" sz="1200" i="1" dirty="0"/>
              <a:t>name variable has the value ‘Alice’ or not?</a:t>
            </a:r>
          </a:p>
          <a:p>
            <a:pPr marL="0" indent="0">
              <a:buNone/>
            </a:pPr>
            <a:r>
              <a:rPr lang="tr-TR" sz="1200" b="1" i="1" dirty="0"/>
              <a:t>True Flow</a:t>
            </a:r>
            <a:endParaRPr lang="tr-TR" sz="1200" i="1" dirty="0"/>
          </a:p>
          <a:p>
            <a:r>
              <a:rPr lang="tr-TR" sz="1200" dirty="0">
                <a:solidFill>
                  <a:srgbClr val="0070C0"/>
                </a:solidFill>
              </a:rPr>
              <a:t>name == 'Alice’</a:t>
            </a:r>
          </a:p>
          <a:p>
            <a:r>
              <a:rPr lang="tr-TR" sz="1200" i="1" dirty="0"/>
              <a:t>name variable has the value ‘Alice’</a:t>
            </a:r>
          </a:p>
          <a:p>
            <a:r>
              <a:rPr lang="tr-TR" sz="1200" i="1" dirty="0"/>
              <a:t>Evaluates to </a:t>
            </a:r>
            <a:r>
              <a:rPr lang="tr-TR" sz="1200" i="1" dirty="0">
                <a:solidFill>
                  <a:srgbClr val="0070C0"/>
                </a:solidFill>
              </a:rPr>
              <a:t>True</a:t>
            </a:r>
          </a:p>
          <a:p>
            <a:r>
              <a:rPr lang="tr-TR" sz="1200" i="1" dirty="0"/>
              <a:t>next, print('Hi, Alice.’)</a:t>
            </a:r>
          </a:p>
          <a:p>
            <a:r>
              <a:rPr lang="tr-TR" sz="1200" i="1" dirty="0"/>
              <a:t>moves to the next statement</a:t>
            </a:r>
          </a:p>
          <a:p>
            <a:pPr marL="0" indent="0">
              <a:buNone/>
            </a:pPr>
            <a:r>
              <a:rPr lang="tr-TR" sz="1200" b="1" i="1" dirty="0"/>
              <a:t>False Flow </a:t>
            </a:r>
          </a:p>
          <a:p>
            <a:r>
              <a:rPr lang="tr-TR" sz="1200" dirty="0">
                <a:solidFill>
                  <a:srgbClr val="0070C0"/>
                </a:solidFill>
              </a:rPr>
              <a:t>name != 'Alice’</a:t>
            </a:r>
          </a:p>
          <a:p>
            <a:r>
              <a:rPr lang="tr-TR" sz="1200" i="1" dirty="0"/>
              <a:t>name variable has the value other than ‘Alice’</a:t>
            </a:r>
          </a:p>
          <a:p>
            <a:pPr marL="0" indent="0">
              <a:buNone/>
            </a:pPr>
            <a:r>
              <a:rPr lang="tr-TR" sz="1200" b="1" i="1" dirty="0"/>
              <a:t>Condition</a:t>
            </a:r>
            <a:endParaRPr lang="tr-TR" sz="1200" dirty="0"/>
          </a:p>
          <a:p>
            <a:r>
              <a:rPr lang="tr-TR" sz="1200" dirty="0">
                <a:solidFill>
                  <a:srgbClr val="0070C0"/>
                </a:solidFill>
              </a:rPr>
              <a:t>age &lt; 12</a:t>
            </a:r>
          </a:p>
          <a:p>
            <a:r>
              <a:rPr lang="tr-TR" sz="1200" i="1" dirty="0"/>
              <a:t>age is less than 12 or not?</a:t>
            </a:r>
            <a:endParaRPr lang="tr-TR" sz="1200" dirty="0"/>
          </a:p>
          <a:p>
            <a:pPr marL="0" indent="0">
              <a:buNone/>
            </a:pPr>
            <a:r>
              <a:rPr lang="tr-TR" sz="1200" b="1" i="1" dirty="0"/>
              <a:t>True Flow</a:t>
            </a:r>
            <a:endParaRPr lang="tr-TR" sz="1200" i="1" dirty="0"/>
          </a:p>
          <a:p>
            <a:r>
              <a:rPr lang="tr-TR" sz="1200" dirty="0">
                <a:solidFill>
                  <a:srgbClr val="0070C0"/>
                </a:solidFill>
              </a:rPr>
              <a:t>age &lt; 12</a:t>
            </a:r>
          </a:p>
          <a:p>
            <a:r>
              <a:rPr lang="tr-TR" sz="1200" i="1" dirty="0"/>
              <a:t>age variable has the value less than 11</a:t>
            </a:r>
          </a:p>
          <a:p>
            <a:r>
              <a:rPr lang="tr-TR" sz="1200" i="1" dirty="0"/>
              <a:t>Evaluates to </a:t>
            </a:r>
            <a:r>
              <a:rPr lang="tr-TR" sz="1200" i="1" dirty="0">
                <a:solidFill>
                  <a:srgbClr val="0070C0"/>
                </a:solidFill>
              </a:rPr>
              <a:t>True</a:t>
            </a:r>
          </a:p>
          <a:p>
            <a:r>
              <a:rPr lang="tr-TR" sz="1200" i="1" dirty="0"/>
              <a:t>next, print(</a:t>
            </a:r>
            <a:r>
              <a:rPr lang="en-US" sz="1200" i="1" dirty="0"/>
              <a:t>'You are not Alice, kiddo.'</a:t>
            </a:r>
            <a:r>
              <a:rPr lang="tr-TR" sz="1200" i="1" dirty="0"/>
              <a:t>)</a:t>
            </a:r>
          </a:p>
          <a:p>
            <a:r>
              <a:rPr lang="tr-TR" sz="1200" i="1" dirty="0"/>
              <a:t>moves to the next statement </a:t>
            </a:r>
          </a:p>
          <a:p>
            <a:r>
              <a:rPr lang="tr-TR" sz="1200" b="1" i="1" dirty="0"/>
              <a:t>False Flow</a:t>
            </a:r>
          </a:p>
          <a:p>
            <a:r>
              <a:rPr lang="tr-TR" sz="1200" i="1" dirty="0"/>
              <a:t>moves to the next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249B8-A654-41FD-9724-45A3A5EE13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748F4A-0C6D-4F06-A717-7032F2FBD18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00" y="127000"/>
            <a:ext cx="4208444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25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elif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age = 11</a:t>
            </a:r>
          </a:p>
          <a:p>
            <a:pPr marL="0" indent="0">
              <a:buNone/>
            </a:pPr>
            <a:r>
              <a:rPr lang="en-US" dirty="0"/>
              <a:t>&gt;&gt;&gt; name = 'Alicia'</a:t>
            </a:r>
          </a:p>
          <a:p>
            <a:pPr marL="0" indent="0">
              <a:buNone/>
            </a:pPr>
            <a:r>
              <a:rPr lang="en-US" dirty="0"/>
              <a:t>&gt;&gt;&gt; if name == 'Alice':</a:t>
            </a:r>
          </a:p>
          <a:p>
            <a:pPr marL="0" indent="0">
              <a:buNone/>
            </a:pPr>
            <a:r>
              <a:rPr lang="en-US" dirty="0"/>
              <a:t>	print('Hi, Alice.')</a:t>
            </a:r>
          </a:p>
          <a:p>
            <a:pPr marL="0" indent="0">
              <a:buNone/>
            </a:pPr>
            <a:r>
              <a:rPr lang="en-US" dirty="0" err="1"/>
              <a:t>elif</a:t>
            </a:r>
            <a:r>
              <a:rPr lang="en-US" dirty="0"/>
              <a:t> age &lt; 12:</a:t>
            </a:r>
          </a:p>
          <a:p>
            <a:pPr marL="0" indent="0">
              <a:buNone/>
            </a:pPr>
            <a:r>
              <a:rPr lang="en-US" dirty="0"/>
              <a:t>	print('You are not Alice, kiddo.')</a:t>
            </a:r>
          </a:p>
          <a:p>
            <a:pPr marL="0" indent="0">
              <a:buNone/>
            </a:pPr>
            <a:r>
              <a:rPr lang="en-US" dirty="0" err="1"/>
              <a:t>elif</a:t>
            </a:r>
            <a:r>
              <a:rPr lang="en-US" dirty="0"/>
              <a:t> age &gt; 2000:</a:t>
            </a:r>
          </a:p>
          <a:p>
            <a:pPr marL="0" indent="0">
              <a:buNone/>
            </a:pPr>
            <a:r>
              <a:rPr lang="en-US" dirty="0"/>
              <a:t>	print('Unlike you, Alice is not an undead, immortal vampire.')</a:t>
            </a:r>
          </a:p>
          <a:p>
            <a:pPr marL="0" indent="0">
              <a:buNone/>
            </a:pPr>
            <a:r>
              <a:rPr lang="en-US" dirty="0" err="1"/>
              <a:t>elif</a:t>
            </a:r>
            <a:r>
              <a:rPr lang="en-US" dirty="0"/>
              <a:t> age &gt; 70:</a:t>
            </a:r>
          </a:p>
          <a:p>
            <a:pPr marL="0" indent="0">
              <a:buNone/>
            </a:pPr>
            <a:r>
              <a:rPr lang="en-US" dirty="0"/>
              <a:t>	print('You are not Alice, grannie.')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You are not Alice, kiddo.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age = 2200</a:t>
            </a:r>
          </a:p>
          <a:p>
            <a:pPr marL="0" indent="0">
              <a:buNone/>
            </a:pPr>
            <a:r>
              <a:rPr lang="en-US" dirty="0"/>
              <a:t>&gt;&gt;&gt; name = 'Alicia'</a:t>
            </a:r>
          </a:p>
          <a:p>
            <a:pPr marL="0" indent="0">
              <a:buNone/>
            </a:pPr>
            <a:r>
              <a:rPr lang="en-US" dirty="0"/>
              <a:t>&gt;&gt;&gt; if name == 'Alice':</a:t>
            </a:r>
          </a:p>
          <a:p>
            <a:pPr marL="0" indent="0">
              <a:buNone/>
            </a:pPr>
            <a:r>
              <a:rPr lang="en-US" dirty="0"/>
              <a:t>	print('Hi, Alice.')</a:t>
            </a:r>
          </a:p>
          <a:p>
            <a:pPr marL="0" indent="0">
              <a:buNone/>
            </a:pPr>
            <a:r>
              <a:rPr lang="en-US" dirty="0" err="1"/>
              <a:t>elif</a:t>
            </a:r>
            <a:r>
              <a:rPr lang="en-US" dirty="0"/>
              <a:t> age &lt; 12:</a:t>
            </a:r>
          </a:p>
          <a:p>
            <a:pPr marL="0" indent="0">
              <a:buNone/>
            </a:pPr>
            <a:r>
              <a:rPr lang="en-US" dirty="0"/>
              <a:t>	print('You are not Alice, kiddo.')</a:t>
            </a:r>
          </a:p>
          <a:p>
            <a:pPr marL="0" indent="0">
              <a:buNone/>
            </a:pPr>
            <a:r>
              <a:rPr lang="en-US" dirty="0" err="1"/>
              <a:t>elif</a:t>
            </a:r>
            <a:r>
              <a:rPr lang="en-US" dirty="0"/>
              <a:t> age &gt; 2000:</a:t>
            </a:r>
          </a:p>
          <a:p>
            <a:pPr marL="0" indent="0">
              <a:buNone/>
            </a:pPr>
            <a:r>
              <a:rPr lang="en-US" dirty="0"/>
              <a:t>	print('Unlike you, Alice is not an undead, immortal vampire.')</a:t>
            </a:r>
          </a:p>
          <a:p>
            <a:pPr marL="0" indent="0">
              <a:buNone/>
            </a:pPr>
            <a:r>
              <a:rPr lang="en-US" dirty="0" err="1"/>
              <a:t>elif</a:t>
            </a:r>
            <a:r>
              <a:rPr lang="en-US" dirty="0"/>
              <a:t> age &gt; 100:</a:t>
            </a:r>
          </a:p>
          <a:p>
            <a:pPr marL="0" indent="0">
              <a:buNone/>
            </a:pPr>
            <a:r>
              <a:rPr lang="en-US" dirty="0"/>
              <a:t>	print('You are not Alice, grannie.')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Unlike you, Alice is not an undead, immortal vampire.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113102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elif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age = 110</a:t>
            </a:r>
          </a:p>
          <a:p>
            <a:pPr marL="0" indent="0">
              <a:buNone/>
            </a:pPr>
            <a:r>
              <a:rPr lang="en-US" dirty="0"/>
              <a:t>&gt;&gt;&gt; name = 'Alicia'</a:t>
            </a:r>
          </a:p>
          <a:p>
            <a:pPr marL="0" indent="0">
              <a:buNone/>
            </a:pPr>
            <a:r>
              <a:rPr lang="en-US" dirty="0"/>
              <a:t>&gt;&gt;&gt; if name == 'Alice':</a:t>
            </a:r>
          </a:p>
          <a:p>
            <a:pPr marL="0" indent="0">
              <a:buNone/>
            </a:pPr>
            <a:r>
              <a:rPr lang="en-US" dirty="0"/>
              <a:t>	print('Hi, Alice.')</a:t>
            </a:r>
          </a:p>
          <a:p>
            <a:pPr marL="0" indent="0">
              <a:buNone/>
            </a:pPr>
            <a:r>
              <a:rPr lang="en-US" dirty="0" err="1"/>
              <a:t>elif</a:t>
            </a:r>
            <a:r>
              <a:rPr lang="en-US" dirty="0"/>
              <a:t> age &lt; 12:</a:t>
            </a:r>
          </a:p>
          <a:p>
            <a:pPr marL="0" indent="0">
              <a:buNone/>
            </a:pPr>
            <a:r>
              <a:rPr lang="en-US" dirty="0"/>
              <a:t>	print('You are not Alice, kiddo.')</a:t>
            </a:r>
          </a:p>
          <a:p>
            <a:pPr marL="0" indent="0">
              <a:buNone/>
            </a:pPr>
            <a:r>
              <a:rPr lang="en-US" dirty="0" err="1"/>
              <a:t>elif</a:t>
            </a:r>
            <a:r>
              <a:rPr lang="en-US" dirty="0"/>
              <a:t> age &gt; 2000:</a:t>
            </a:r>
          </a:p>
          <a:p>
            <a:pPr marL="0" indent="0">
              <a:buNone/>
            </a:pPr>
            <a:r>
              <a:rPr lang="en-US" dirty="0"/>
              <a:t>	print('Unlike you, Alice is not an undead, immortal vampire.')</a:t>
            </a:r>
          </a:p>
          <a:p>
            <a:pPr marL="0" indent="0">
              <a:buNone/>
            </a:pPr>
            <a:r>
              <a:rPr lang="en-US" dirty="0" err="1"/>
              <a:t>elif</a:t>
            </a:r>
            <a:r>
              <a:rPr lang="en-US" dirty="0"/>
              <a:t> age &gt; 100:</a:t>
            </a:r>
          </a:p>
          <a:p>
            <a:pPr marL="0" indent="0">
              <a:buNone/>
            </a:pPr>
            <a:r>
              <a:rPr lang="en-US" dirty="0"/>
              <a:t>	print('You are not Alice, grannie.')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You are not Alice, grannie.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age = 45</a:t>
            </a:r>
          </a:p>
          <a:p>
            <a:pPr marL="0" indent="0">
              <a:buNone/>
            </a:pPr>
            <a:r>
              <a:rPr lang="en-US" dirty="0"/>
              <a:t>&gt;&gt;&gt; name = 'Felicia'</a:t>
            </a:r>
          </a:p>
          <a:p>
            <a:pPr marL="0" indent="0">
              <a:buNone/>
            </a:pPr>
            <a:r>
              <a:rPr lang="en-US" dirty="0"/>
              <a:t>&gt;&gt;&gt; if name == 'Alice':</a:t>
            </a:r>
          </a:p>
          <a:p>
            <a:pPr marL="0" indent="0">
              <a:buNone/>
            </a:pPr>
            <a:r>
              <a:rPr lang="en-US" dirty="0"/>
              <a:t>	print('Hi, Alice.')</a:t>
            </a:r>
          </a:p>
          <a:p>
            <a:pPr marL="0" indent="0">
              <a:buNone/>
            </a:pPr>
            <a:r>
              <a:rPr lang="en-US" dirty="0" err="1"/>
              <a:t>elif</a:t>
            </a:r>
            <a:r>
              <a:rPr lang="en-US" dirty="0"/>
              <a:t> age &lt; 12:</a:t>
            </a:r>
          </a:p>
          <a:p>
            <a:pPr marL="0" indent="0">
              <a:buNone/>
            </a:pPr>
            <a:r>
              <a:rPr lang="en-US" dirty="0"/>
              <a:t>	print('You are not Alice, kiddo.')</a:t>
            </a:r>
          </a:p>
          <a:p>
            <a:pPr marL="0" indent="0">
              <a:buNone/>
            </a:pPr>
            <a:r>
              <a:rPr lang="en-US" dirty="0"/>
              <a:t>else:</a:t>
            </a:r>
          </a:p>
          <a:p>
            <a:pPr marL="0" indent="0">
              <a:buNone/>
            </a:pPr>
            <a:r>
              <a:rPr lang="en-US" dirty="0"/>
              <a:t>	print('You are neither Alice nor a little kid.')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are neither Alice nor a little kid.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82758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0B8C-152D-4041-AC3C-8B85647A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while Loop Statements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6DD47F-D181-45CD-A525-14A14AF484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4677" y="2666283"/>
            <a:ext cx="2278523" cy="885825"/>
          </a:xfrm>
        </p:spPr>
        <p:txBody>
          <a:bodyPr/>
          <a:lstStyle/>
          <a:p>
            <a:r>
              <a:rPr lang="tr-TR" sz="3200" b="0" i="1" dirty="0"/>
              <a:t>Flow</a:t>
            </a:r>
            <a:r>
              <a:rPr lang="en-US" sz="4000" b="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FC6F7-3678-4EB1-9653-A3E4DAC47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5049" y="3711564"/>
            <a:ext cx="2752385" cy="2168536"/>
          </a:xfrm>
        </p:spPr>
        <p:txBody>
          <a:bodyPr/>
          <a:lstStyle/>
          <a:p>
            <a:r>
              <a:rPr lang="en-US" dirty="0"/>
              <a:t>a block of code </a:t>
            </a:r>
            <a:endParaRPr lang="tr-TR" dirty="0"/>
          </a:p>
          <a:p>
            <a:pPr lvl="1"/>
            <a:r>
              <a:rPr lang="en-US" dirty="0"/>
              <a:t>execute over and over again </a:t>
            </a:r>
            <a:endParaRPr lang="tr-TR" dirty="0"/>
          </a:p>
          <a:p>
            <a:r>
              <a:rPr lang="en-US" dirty="0"/>
              <a:t>The code in a while clause </a:t>
            </a:r>
            <a:endParaRPr lang="tr-TR" dirty="0"/>
          </a:p>
          <a:p>
            <a:pPr lvl="1"/>
            <a:r>
              <a:rPr lang="en-US" dirty="0"/>
              <a:t>will be executed </a:t>
            </a:r>
            <a:endParaRPr lang="tr-TR" dirty="0"/>
          </a:p>
          <a:p>
            <a:pPr lvl="1"/>
            <a:r>
              <a:rPr lang="en-US" dirty="0"/>
              <a:t>as long as the while statement’s</a:t>
            </a:r>
            <a:r>
              <a:rPr lang="tr-TR" dirty="0"/>
              <a:t> condition is </a:t>
            </a:r>
            <a:r>
              <a:rPr lang="tr-TR" dirty="0">
                <a:solidFill>
                  <a:srgbClr val="00B0F0"/>
                </a:solidFill>
              </a:rPr>
              <a:t>True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976196-87DB-406C-9904-8B1F6B13B4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70217" y="2644997"/>
            <a:ext cx="3002450" cy="885825"/>
          </a:xfrm>
        </p:spPr>
        <p:txBody>
          <a:bodyPr/>
          <a:lstStyle/>
          <a:p>
            <a:r>
              <a:rPr lang="tr-TR" sz="4000" b="0" dirty="0"/>
              <a:t>Consists of</a:t>
            </a:r>
            <a:endParaRPr 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CA641-190C-4E8A-B694-3EA9C4DCD9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35679" y="3669324"/>
            <a:ext cx="2443091" cy="2071688"/>
          </a:xfrm>
        </p:spPr>
        <p:txBody>
          <a:bodyPr/>
          <a:lstStyle/>
          <a:p>
            <a:r>
              <a:rPr lang="en-US" dirty="0"/>
              <a:t>The while keyword</a:t>
            </a:r>
          </a:p>
          <a:p>
            <a:r>
              <a:rPr lang="en-US" dirty="0"/>
              <a:t>A condition</a:t>
            </a:r>
            <a:endParaRPr lang="tr-TR" dirty="0"/>
          </a:p>
          <a:p>
            <a:pPr lvl="1"/>
            <a:r>
              <a:rPr lang="en-US" dirty="0"/>
              <a:t>an expression</a:t>
            </a:r>
            <a:endParaRPr lang="tr-TR" dirty="0"/>
          </a:p>
          <a:p>
            <a:pPr lvl="1"/>
            <a:r>
              <a:rPr lang="en-US" dirty="0"/>
              <a:t>evaluates to </a:t>
            </a:r>
            <a:r>
              <a:rPr lang="en-US" dirty="0">
                <a:solidFill>
                  <a:srgbClr val="00B0F0"/>
                </a:solidFill>
              </a:rPr>
              <a:t>True</a:t>
            </a:r>
            <a:r>
              <a:rPr lang="en-US" dirty="0"/>
              <a:t> or </a:t>
            </a:r>
            <a:r>
              <a:rPr lang="en-US" dirty="0">
                <a:solidFill>
                  <a:srgbClr val="00B0F0"/>
                </a:solidFill>
              </a:rPr>
              <a:t>False</a:t>
            </a:r>
          </a:p>
          <a:p>
            <a:r>
              <a:rPr lang="en-US" dirty="0"/>
              <a:t>A colon</a:t>
            </a:r>
          </a:p>
          <a:p>
            <a:r>
              <a:rPr lang="en-US" dirty="0"/>
              <a:t>indented block of code </a:t>
            </a:r>
            <a:endParaRPr lang="tr-TR" dirty="0"/>
          </a:p>
          <a:p>
            <a:pPr lvl="1"/>
            <a:r>
              <a:rPr lang="tr-TR" dirty="0"/>
              <a:t>starting</a:t>
            </a:r>
            <a:r>
              <a:rPr lang="en-US" dirty="0"/>
              <a:t> on the next line</a:t>
            </a:r>
            <a:endParaRPr lang="tr-TR" dirty="0"/>
          </a:p>
          <a:p>
            <a:pPr lvl="1"/>
            <a:r>
              <a:rPr lang="en-US" dirty="0"/>
              <a:t>called the while</a:t>
            </a:r>
            <a:r>
              <a:rPr lang="tr-TR" dirty="0"/>
              <a:t> </a:t>
            </a:r>
            <a:r>
              <a:rPr lang="en-US" dirty="0"/>
              <a:t>clause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FC72F-9055-4E36-A7BE-2574540334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AF5F208-929D-4DF0-B259-760C4694AA3C}"/>
              </a:ext>
            </a:extLst>
          </p:cNvPr>
          <p:cNvSpPr txBox="1">
            <a:spLocks/>
          </p:cNvSpPr>
          <p:nvPr/>
        </p:nvSpPr>
        <p:spPr>
          <a:xfrm>
            <a:off x="6541477" y="2642652"/>
            <a:ext cx="2361223" cy="8858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60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4000" b="0" dirty="0"/>
              <a:t>Example</a:t>
            </a:r>
            <a:endParaRPr lang="en-US" sz="3200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7352DBC-7497-40D0-952C-FD020A431DA4}"/>
              </a:ext>
            </a:extLst>
          </p:cNvPr>
          <p:cNvSpPr txBox="1">
            <a:spLocks/>
          </p:cNvSpPr>
          <p:nvPr/>
        </p:nvSpPr>
        <p:spPr>
          <a:xfrm>
            <a:off x="6365966" y="3652910"/>
            <a:ext cx="2651426" cy="27478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&gt;&gt;&gt; spam = 0</a:t>
            </a:r>
          </a:p>
          <a:p>
            <a:pPr marL="0" indent="0">
              <a:buNone/>
            </a:pPr>
            <a:r>
              <a:rPr lang="en-US" dirty="0"/>
              <a:t>&gt;&gt;&gt; while spam &lt; 5:</a:t>
            </a:r>
          </a:p>
          <a:p>
            <a:pPr marL="0" indent="0">
              <a:buNone/>
            </a:pPr>
            <a:r>
              <a:rPr lang="en-US" dirty="0"/>
              <a:t>	print('Hello, world.')</a:t>
            </a:r>
          </a:p>
          <a:p>
            <a:pPr marL="0" indent="0">
              <a:buNone/>
            </a:pPr>
            <a:r>
              <a:rPr lang="en-US" dirty="0"/>
              <a:t>	spam = spam + 1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dirty="0"/>
              <a:t>Hello, world.</a:t>
            </a:r>
          </a:p>
          <a:p>
            <a:pPr marL="0" indent="0">
              <a:buNone/>
            </a:pPr>
            <a:r>
              <a:rPr lang="en-US" dirty="0"/>
              <a:t>Hello, world.</a:t>
            </a:r>
          </a:p>
          <a:p>
            <a:pPr marL="0" indent="0">
              <a:buNone/>
            </a:pPr>
            <a:r>
              <a:rPr lang="en-US" dirty="0"/>
              <a:t>Hello, world.</a:t>
            </a:r>
          </a:p>
          <a:p>
            <a:pPr marL="0" indent="0">
              <a:buNone/>
            </a:pPr>
            <a:r>
              <a:rPr lang="en-US" dirty="0"/>
              <a:t>Hello, world.</a:t>
            </a:r>
          </a:p>
          <a:p>
            <a:pPr marL="0" indent="0">
              <a:buNone/>
            </a:pPr>
            <a:r>
              <a:rPr lang="en-US" dirty="0"/>
              <a:t>Hello, world.</a:t>
            </a:r>
            <a:endParaRPr lang="tr-TR" dirty="0"/>
          </a:p>
        </p:txBody>
      </p:sp>
      <p:pic>
        <p:nvPicPr>
          <p:cNvPr id="3074" name="Picture 2" descr="flow icon ile ilgili görsel sonucu">
            <a:extLst>
              <a:ext uri="{FF2B5EF4-FFF2-40B4-BE49-F238E27FC236}">
                <a16:creationId xmlns:a16="http://schemas.microsoft.com/office/drawing/2014/main" id="{78E4D8C8-FD92-4BA2-A9C2-0056BD636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271" y="1611190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3B6B83-AAFD-4A41-9F4C-73A36BB195C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33148" y="1618957"/>
            <a:ext cx="1146844" cy="12027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6CAC02-7D9C-4FA0-A736-1BD5CE01361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20" y="1638300"/>
            <a:ext cx="133208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351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3CBA-6B58-475A-BAF2-04998BA4A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4521199"/>
            <a:ext cx="4509000" cy="660401"/>
          </a:xfrm>
        </p:spPr>
        <p:txBody>
          <a:bodyPr/>
          <a:lstStyle/>
          <a:p>
            <a:r>
              <a:rPr lang="tr-TR" sz="2800" dirty="0"/>
              <a:t>Flow of while Statement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42706-50AC-4B17-A704-143D94A79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5105400"/>
            <a:ext cx="4509000" cy="1667944"/>
          </a:xfrm>
        </p:spPr>
        <p:txBody>
          <a:bodyPr/>
          <a:lstStyle/>
          <a:p>
            <a:r>
              <a:rPr lang="tr-TR" dirty="0"/>
              <a:t>while</a:t>
            </a:r>
          </a:p>
          <a:p>
            <a:r>
              <a:rPr lang="tr-TR" dirty="0"/>
              <a:t>condition</a:t>
            </a:r>
          </a:p>
          <a:p>
            <a:r>
              <a:rPr lang="tr-TR" dirty="0"/>
              <a:t>while clause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3A50-2819-40D9-A42F-D84F47928C9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15840" y="158260"/>
            <a:ext cx="3797260" cy="5650358"/>
          </a:xfrm>
        </p:spPr>
        <p:txBody>
          <a:bodyPr/>
          <a:lstStyle/>
          <a:p>
            <a:pPr marL="0" indent="0">
              <a:buNone/>
            </a:pPr>
            <a:r>
              <a:rPr lang="tr-TR" sz="1200" b="1" dirty="0"/>
              <a:t>Start</a:t>
            </a:r>
          </a:p>
          <a:p>
            <a:r>
              <a:rPr lang="tr-TR" sz="1200" dirty="0"/>
              <a:t>Where the flow begins</a:t>
            </a:r>
          </a:p>
          <a:p>
            <a:pPr marL="0" indent="0">
              <a:buNone/>
            </a:pPr>
            <a:r>
              <a:rPr lang="tr-TR" sz="1200" b="1" i="1" dirty="0"/>
              <a:t>Condition</a:t>
            </a:r>
            <a:endParaRPr lang="tr-TR" sz="1200" dirty="0"/>
          </a:p>
          <a:p>
            <a:r>
              <a:rPr lang="tr-TR" sz="1200" dirty="0">
                <a:solidFill>
                  <a:srgbClr val="0070C0"/>
                </a:solidFill>
              </a:rPr>
              <a:t>spam &lt;  5</a:t>
            </a:r>
          </a:p>
          <a:p>
            <a:r>
              <a:rPr lang="tr-TR" sz="1200" i="1" dirty="0"/>
              <a:t>spam variable has the value less than 5 or not?</a:t>
            </a:r>
          </a:p>
          <a:p>
            <a:pPr marL="0" indent="0">
              <a:buNone/>
            </a:pPr>
            <a:r>
              <a:rPr lang="tr-TR" sz="1200" b="1" i="1" dirty="0"/>
              <a:t>True Flow</a:t>
            </a:r>
            <a:endParaRPr lang="tr-TR" sz="1200" i="1" dirty="0"/>
          </a:p>
          <a:p>
            <a:r>
              <a:rPr lang="tr-TR" sz="1200" i="1" dirty="0"/>
              <a:t>print('Hello, world.’) # Display string Hello, world.</a:t>
            </a:r>
          </a:p>
          <a:p>
            <a:r>
              <a:rPr lang="tr-TR" sz="1200" dirty="0">
                <a:solidFill>
                  <a:srgbClr val="0070C0"/>
                </a:solidFill>
              </a:rPr>
              <a:t>spam = spam +1 #Increment</a:t>
            </a:r>
          </a:p>
          <a:p>
            <a:r>
              <a:rPr lang="tr-TR" sz="1200" i="1" dirty="0"/>
              <a:t>Check the condition again</a:t>
            </a:r>
          </a:p>
          <a:p>
            <a:pPr marL="0" indent="0">
              <a:buNone/>
            </a:pPr>
            <a:r>
              <a:rPr lang="tr-TR" sz="1200" b="1" i="1" dirty="0"/>
              <a:t>False Flow </a:t>
            </a:r>
          </a:p>
          <a:p>
            <a:r>
              <a:rPr lang="tr-TR" sz="1200" dirty="0">
                <a:solidFill>
                  <a:srgbClr val="0070C0"/>
                </a:solidFill>
              </a:rPr>
              <a:t>spam &gt;= 5</a:t>
            </a:r>
          </a:p>
          <a:p>
            <a:r>
              <a:rPr lang="tr-TR" sz="1200" i="1" dirty="0"/>
              <a:t>name variable has the value other than ‘Alice’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249B8-A654-41FD-9724-45A3A5EE13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0B7F6C-339D-4886-8FEA-E260FEB87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4" y="0"/>
            <a:ext cx="4492126" cy="447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564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while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name = ''</a:t>
            </a:r>
          </a:p>
          <a:p>
            <a:pPr marL="0" indent="0">
              <a:buNone/>
            </a:pPr>
            <a:r>
              <a:rPr lang="en-US" dirty="0"/>
              <a:t>&gt;&gt;&gt; while name != 'your name':</a:t>
            </a:r>
          </a:p>
          <a:p>
            <a:pPr marL="0" indent="0">
              <a:buNone/>
            </a:pPr>
            <a:r>
              <a:rPr lang="en-US" dirty="0"/>
              <a:t>	print('Please type your name.')</a:t>
            </a:r>
          </a:p>
          <a:p>
            <a:pPr marL="0" indent="0">
              <a:buNone/>
            </a:pPr>
            <a:r>
              <a:rPr lang="en-US" dirty="0"/>
              <a:t>	name = input()</a:t>
            </a:r>
          </a:p>
          <a:p>
            <a:pPr marL="0" indent="0">
              <a:buNone/>
            </a:pPr>
            <a:r>
              <a:rPr lang="en-US" dirty="0"/>
              <a:t>print('Thank you!')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'Please type your name.</a:t>
            </a:r>
          </a:p>
          <a:p>
            <a:pPr marL="0" indent="0">
              <a:buNone/>
            </a:pPr>
            <a:r>
              <a:rPr lang="en-US" dirty="0" err="1"/>
              <a:t>yusuf</a:t>
            </a:r>
            <a:r>
              <a:rPr lang="en-US" dirty="0"/>
              <a:t> altunel</a:t>
            </a:r>
          </a:p>
          <a:p>
            <a:pPr marL="0" indent="0">
              <a:buNone/>
            </a:pPr>
            <a:r>
              <a:rPr lang="en-US" dirty="0"/>
              <a:t>Please type your name.</a:t>
            </a:r>
          </a:p>
          <a:p>
            <a:pPr marL="0" indent="0">
              <a:buNone/>
            </a:pPr>
            <a:r>
              <a:rPr lang="en-US" dirty="0"/>
              <a:t>your name</a:t>
            </a:r>
          </a:p>
          <a:p>
            <a:pPr marL="0" indent="0">
              <a:buNone/>
            </a:pPr>
            <a:r>
              <a:rPr lang="en-US" dirty="0"/>
              <a:t>Thank you!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779246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0B8C-152D-4041-AC3C-8B85647A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break Loop Statements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6DD47F-D181-45CD-A525-14A14AF484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4677" y="2666283"/>
            <a:ext cx="2278523" cy="885825"/>
          </a:xfrm>
        </p:spPr>
        <p:txBody>
          <a:bodyPr/>
          <a:lstStyle/>
          <a:p>
            <a:r>
              <a:rPr lang="tr-TR" sz="3200" b="0" i="1" dirty="0"/>
              <a:t>Flow</a:t>
            </a:r>
            <a:r>
              <a:rPr lang="en-US" sz="4000" b="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FC6F7-3678-4EB1-9653-A3E4DAC47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5049" y="3711564"/>
            <a:ext cx="2752385" cy="2168536"/>
          </a:xfrm>
        </p:spPr>
        <p:txBody>
          <a:bodyPr/>
          <a:lstStyle/>
          <a:p>
            <a:r>
              <a:rPr lang="en-US" dirty="0"/>
              <a:t>to break out </a:t>
            </a:r>
            <a:endParaRPr lang="tr-TR" dirty="0"/>
          </a:p>
          <a:p>
            <a:pPr lvl="1"/>
            <a:r>
              <a:rPr lang="en-US" dirty="0"/>
              <a:t>a</a:t>
            </a:r>
            <a:r>
              <a:rPr lang="tr-TR" dirty="0"/>
              <a:t> </a:t>
            </a:r>
            <a:r>
              <a:rPr lang="en-US" dirty="0"/>
              <a:t>loop’s clause early. </a:t>
            </a:r>
            <a:endParaRPr lang="tr-TR" dirty="0"/>
          </a:p>
          <a:p>
            <a:r>
              <a:rPr lang="en-US" dirty="0"/>
              <a:t>it immediately</a:t>
            </a:r>
            <a:r>
              <a:rPr lang="tr-TR" dirty="0"/>
              <a:t> </a:t>
            </a:r>
            <a:r>
              <a:rPr lang="en-US" dirty="0"/>
              <a:t>exits the loop’s clause</a:t>
            </a:r>
            <a:endParaRPr lang="tr-TR" dirty="0"/>
          </a:p>
          <a:p>
            <a:pPr lvl="1"/>
            <a:r>
              <a:rPr lang="en-US" dirty="0"/>
              <a:t>If the execution reaches a break statement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976196-87DB-406C-9904-8B1F6B13B4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70217" y="2644997"/>
            <a:ext cx="3002450" cy="885825"/>
          </a:xfrm>
        </p:spPr>
        <p:txBody>
          <a:bodyPr/>
          <a:lstStyle/>
          <a:p>
            <a:r>
              <a:rPr lang="tr-TR" sz="4000" b="0" dirty="0"/>
              <a:t>Consists of</a:t>
            </a:r>
            <a:endParaRPr 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CA641-190C-4E8A-B694-3EA9C4DCD9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35679" y="3669324"/>
            <a:ext cx="2443091" cy="2071688"/>
          </a:xfrm>
        </p:spPr>
        <p:txBody>
          <a:bodyPr/>
          <a:lstStyle/>
          <a:p>
            <a:r>
              <a:rPr lang="en-US" dirty="0"/>
              <a:t>In code a break statement simply contains</a:t>
            </a:r>
          </a:p>
          <a:p>
            <a:r>
              <a:rPr lang="en-US" dirty="0"/>
              <a:t>the </a:t>
            </a:r>
            <a:r>
              <a:rPr lang="en-US" b="1" dirty="0"/>
              <a:t>break</a:t>
            </a:r>
            <a:r>
              <a:rPr lang="en-US" dirty="0"/>
              <a:t> keyword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FC72F-9055-4E36-A7BE-2574540334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AF5F208-929D-4DF0-B259-760C4694AA3C}"/>
              </a:ext>
            </a:extLst>
          </p:cNvPr>
          <p:cNvSpPr txBox="1">
            <a:spLocks/>
          </p:cNvSpPr>
          <p:nvPr/>
        </p:nvSpPr>
        <p:spPr>
          <a:xfrm>
            <a:off x="6541477" y="2642652"/>
            <a:ext cx="2361223" cy="8858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60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4000" b="0" dirty="0"/>
              <a:t>Example</a:t>
            </a:r>
            <a:endParaRPr lang="en-US" sz="3200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7352DBC-7497-40D0-952C-FD020A431DA4}"/>
              </a:ext>
            </a:extLst>
          </p:cNvPr>
          <p:cNvSpPr txBox="1">
            <a:spLocks/>
          </p:cNvSpPr>
          <p:nvPr/>
        </p:nvSpPr>
        <p:spPr>
          <a:xfrm>
            <a:off x="6104709" y="3652910"/>
            <a:ext cx="2912683" cy="22515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while True:</a:t>
            </a:r>
          </a:p>
          <a:p>
            <a:pPr marL="0" indent="0">
              <a:buNone/>
            </a:pPr>
            <a:r>
              <a:rPr lang="tr-TR" dirty="0"/>
              <a:t>	</a:t>
            </a:r>
            <a:r>
              <a:rPr lang="en-US" dirty="0"/>
              <a:t>print('Please type your name.’)</a:t>
            </a:r>
          </a:p>
          <a:p>
            <a:pPr marL="0" indent="0">
              <a:buNone/>
            </a:pPr>
            <a:r>
              <a:rPr lang="tr-TR" dirty="0"/>
              <a:t>	</a:t>
            </a:r>
            <a:r>
              <a:rPr lang="en-US" dirty="0"/>
              <a:t>name = input()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	</a:t>
            </a:r>
            <a:r>
              <a:rPr lang="en-US" dirty="0"/>
              <a:t>if name == 'your name</a:t>
            </a:r>
            <a:r>
              <a:rPr lang="tr-TR" dirty="0"/>
              <a:t>'</a:t>
            </a:r>
            <a:r>
              <a:rPr lang="en-US" dirty="0"/>
              <a:t>:</a:t>
            </a:r>
          </a:p>
          <a:p>
            <a:pPr marL="200025" lvl="1" indent="0">
              <a:buNone/>
            </a:pPr>
            <a:r>
              <a:rPr lang="tr-TR" dirty="0"/>
              <a:t>		</a:t>
            </a:r>
            <a:r>
              <a:rPr lang="en-US" dirty="0"/>
              <a:t>break</a:t>
            </a:r>
          </a:p>
          <a:p>
            <a:pPr marL="0" indent="0">
              <a:buNone/>
            </a:pPr>
            <a:r>
              <a:rPr lang="en-US" dirty="0"/>
              <a:t>print('Thank you!’)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flow icon ile ilgili görsel sonucu">
            <a:extLst>
              <a:ext uri="{FF2B5EF4-FFF2-40B4-BE49-F238E27FC236}">
                <a16:creationId xmlns:a16="http://schemas.microsoft.com/office/drawing/2014/main" id="{78E4D8C8-FD92-4BA2-A9C2-0056BD636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271" y="1611190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3B6B83-AAFD-4A41-9F4C-73A36BB195C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33148" y="1618957"/>
            <a:ext cx="1146844" cy="12027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6CAC02-7D9C-4FA0-A736-1BD5CE01361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20" y="1638300"/>
            <a:ext cx="133208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13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3CBA-6B58-475A-BAF2-04998BA4A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4521199"/>
            <a:ext cx="4509000" cy="660401"/>
          </a:xfrm>
        </p:spPr>
        <p:txBody>
          <a:bodyPr/>
          <a:lstStyle/>
          <a:p>
            <a:r>
              <a:rPr lang="tr-TR" sz="2800" dirty="0"/>
              <a:t>Flow of break Statement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42706-50AC-4B17-A704-143D94A79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5105400"/>
            <a:ext cx="4509000" cy="1667944"/>
          </a:xfrm>
        </p:spPr>
        <p:txBody>
          <a:bodyPr/>
          <a:lstStyle/>
          <a:p>
            <a:r>
              <a:rPr lang="tr-TR" dirty="0"/>
              <a:t>while</a:t>
            </a:r>
          </a:p>
          <a:p>
            <a:r>
              <a:rPr lang="tr-TR" dirty="0"/>
              <a:t>True</a:t>
            </a:r>
          </a:p>
          <a:p>
            <a:r>
              <a:rPr lang="tr-TR" dirty="0"/>
              <a:t>while clause</a:t>
            </a:r>
          </a:p>
          <a:p>
            <a:r>
              <a:rPr lang="tr-TR" dirty="0"/>
              <a:t>if statement</a:t>
            </a:r>
          </a:p>
          <a:p>
            <a:r>
              <a:rPr lang="tr-TR" dirty="0"/>
              <a:t>Break</a:t>
            </a:r>
          </a:p>
          <a:p>
            <a:endParaRPr lang="tr-T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3A50-2819-40D9-A42F-D84F47928C9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15840" y="158260"/>
            <a:ext cx="3797260" cy="5650358"/>
          </a:xfrm>
        </p:spPr>
        <p:txBody>
          <a:bodyPr/>
          <a:lstStyle/>
          <a:p>
            <a:pPr marL="0" indent="0">
              <a:buNone/>
            </a:pPr>
            <a:r>
              <a:rPr lang="tr-TR" sz="1200" b="1" dirty="0"/>
              <a:t>Start</a:t>
            </a:r>
          </a:p>
          <a:p>
            <a:r>
              <a:rPr lang="tr-TR" sz="1200" dirty="0"/>
              <a:t>Where the flow begins</a:t>
            </a:r>
          </a:p>
          <a:p>
            <a:r>
              <a:rPr lang="tr-TR" sz="1200" dirty="0">
                <a:solidFill>
                  <a:srgbClr val="0070C0"/>
                </a:solidFill>
              </a:rPr>
              <a:t>name = ''</a:t>
            </a:r>
          </a:p>
          <a:p>
            <a:pPr marL="0" indent="0">
              <a:buNone/>
            </a:pPr>
            <a:r>
              <a:rPr lang="tr-TR" sz="1200" b="1" i="1" dirty="0"/>
              <a:t>Condition</a:t>
            </a:r>
            <a:endParaRPr lang="tr-TR" sz="1200" dirty="0"/>
          </a:p>
          <a:p>
            <a:r>
              <a:rPr lang="tr-TR" sz="1200" dirty="0">
                <a:solidFill>
                  <a:srgbClr val="0070C0"/>
                </a:solidFill>
              </a:rPr>
              <a:t>True</a:t>
            </a:r>
          </a:p>
          <a:p>
            <a:r>
              <a:rPr lang="tr-TR" sz="1200" i="1" dirty="0"/>
              <a:t>always True</a:t>
            </a:r>
          </a:p>
          <a:p>
            <a:pPr marL="0" indent="0">
              <a:buNone/>
            </a:pPr>
            <a:r>
              <a:rPr lang="tr-TR" sz="1200" b="1" i="1" dirty="0"/>
              <a:t>True Flow</a:t>
            </a:r>
            <a:endParaRPr lang="tr-TR" sz="1200" i="1" dirty="0"/>
          </a:p>
          <a:p>
            <a:r>
              <a:rPr lang="tr-TR" sz="1200" i="1" dirty="0"/>
              <a:t>print('Please type your name.’) # Display message</a:t>
            </a:r>
          </a:p>
          <a:p>
            <a:r>
              <a:rPr lang="tr-TR" sz="1200" dirty="0">
                <a:solidFill>
                  <a:srgbClr val="0070C0"/>
                </a:solidFill>
              </a:rPr>
              <a:t>name = input()</a:t>
            </a:r>
          </a:p>
          <a:p>
            <a:pPr marL="0" indent="0">
              <a:buNone/>
            </a:pPr>
            <a:r>
              <a:rPr lang="tr-TR" sz="1200" b="1" i="1" dirty="0"/>
              <a:t>Condition</a:t>
            </a:r>
            <a:endParaRPr lang="tr-TR" sz="1200" i="1" dirty="0"/>
          </a:p>
          <a:p>
            <a:r>
              <a:rPr lang="tr-TR" sz="1200" dirty="0">
                <a:solidFill>
                  <a:srgbClr val="0070C0"/>
                </a:solidFill>
              </a:rPr>
              <a:t>name == 'your name'</a:t>
            </a:r>
          </a:p>
          <a:p>
            <a:r>
              <a:rPr lang="tr-TR" sz="1200" i="1" dirty="0"/>
              <a:t>Check the condition again</a:t>
            </a:r>
          </a:p>
          <a:p>
            <a:pPr marL="0" indent="0">
              <a:buNone/>
            </a:pPr>
            <a:r>
              <a:rPr lang="tr-TR" sz="1200" b="1" i="1" dirty="0"/>
              <a:t>True Flow</a:t>
            </a:r>
          </a:p>
          <a:p>
            <a:r>
              <a:rPr lang="tr-TR" sz="1200" dirty="0">
                <a:solidFill>
                  <a:srgbClr val="0070C0"/>
                </a:solidFill>
              </a:rPr>
              <a:t>Break</a:t>
            </a:r>
          </a:p>
          <a:p>
            <a:r>
              <a:rPr lang="tr-TR" sz="1200" i="1" dirty="0"/>
              <a:t>print(‘Thank you!') # Display message</a:t>
            </a:r>
          </a:p>
          <a:p>
            <a:pPr marL="0" indent="0">
              <a:buNone/>
            </a:pPr>
            <a:r>
              <a:rPr lang="tr-TR" sz="1200" b="1" dirty="0"/>
              <a:t>End</a:t>
            </a:r>
          </a:p>
          <a:p>
            <a:pPr marL="0" indent="0">
              <a:buNone/>
            </a:pPr>
            <a:r>
              <a:rPr lang="tr-TR" sz="1200" b="1" i="1" dirty="0"/>
              <a:t>False Flow </a:t>
            </a:r>
          </a:p>
          <a:p>
            <a:r>
              <a:rPr lang="tr-TR" sz="1200" i="1" dirty="0"/>
              <a:t>move to True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249B8-A654-41FD-9724-45A3A5EE13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24BA0-0350-4040-98AF-2A6D449F2B4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366" y="139336"/>
            <a:ext cx="4451800" cy="434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4490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break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dirty="0"/>
              <a:t>count</a:t>
            </a:r>
            <a:r>
              <a:rPr lang="en-US" dirty="0"/>
              <a:t> = </a:t>
            </a:r>
            <a:r>
              <a:rPr lang="tr-TR" dirty="0"/>
              <a:t>0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while count &lt; 5:</a:t>
            </a:r>
          </a:p>
          <a:p>
            <a:pPr marL="0" indent="0">
              <a:buNone/>
            </a:pPr>
            <a:r>
              <a:rPr lang="en-US" dirty="0"/>
              <a:t>	if count == 4:</a:t>
            </a:r>
          </a:p>
          <a:p>
            <a:pPr marL="0" indent="0">
              <a:buNone/>
            </a:pPr>
            <a:r>
              <a:rPr lang="en-US" dirty="0"/>
              <a:t>	    break</a:t>
            </a:r>
          </a:p>
          <a:p>
            <a:pPr marL="0" indent="0">
              <a:buNone/>
            </a:pPr>
            <a:r>
              <a:rPr lang="en-US" dirty="0"/>
              <a:t>	count = count + 1</a:t>
            </a:r>
          </a:p>
          <a:p>
            <a:pPr marL="0" indent="0">
              <a:buNone/>
            </a:pPr>
            <a:r>
              <a:rPr lang="en-US" dirty="0"/>
              <a:t>	if (count % 2) == 0:</a:t>
            </a:r>
          </a:p>
          <a:p>
            <a:pPr marL="0" indent="0">
              <a:buNone/>
            </a:pPr>
            <a:r>
              <a:rPr lang="en-US" dirty="0"/>
              <a:t>		 print('An even number:', count)</a:t>
            </a:r>
          </a:p>
          <a:p>
            <a:pPr marL="0" indent="0">
              <a:buNone/>
            </a:pPr>
            <a:r>
              <a:rPr lang="en-US" dirty="0"/>
              <a:t>	else:</a:t>
            </a:r>
          </a:p>
          <a:p>
            <a:pPr marL="0" indent="0">
              <a:buNone/>
            </a:pPr>
            <a:r>
              <a:rPr lang="en-US" dirty="0"/>
              <a:t>		print('An odd number:', count)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An odd number: 1</a:t>
            </a:r>
          </a:p>
          <a:p>
            <a:pPr marL="0" indent="0">
              <a:buNone/>
            </a:pPr>
            <a:r>
              <a:rPr lang="en-US" dirty="0"/>
              <a:t>An even number: 2</a:t>
            </a:r>
          </a:p>
          <a:p>
            <a:pPr marL="0" indent="0">
              <a:buNone/>
            </a:pPr>
            <a:r>
              <a:rPr lang="en-US" dirty="0"/>
              <a:t>An odd number: 3</a:t>
            </a:r>
          </a:p>
          <a:p>
            <a:pPr marL="0" indent="0">
              <a:buNone/>
            </a:pPr>
            <a:r>
              <a:rPr lang="en-US" dirty="0"/>
              <a:t>An even number: 4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700580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0B8C-152D-4041-AC3C-8B85647A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continue Statement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6DD47F-D181-45CD-A525-14A14AF484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4677" y="2666283"/>
            <a:ext cx="2278523" cy="885825"/>
          </a:xfrm>
        </p:spPr>
        <p:txBody>
          <a:bodyPr/>
          <a:lstStyle/>
          <a:p>
            <a:r>
              <a:rPr lang="tr-TR" sz="3200" b="0" i="1" dirty="0"/>
              <a:t>Flow</a:t>
            </a:r>
            <a:r>
              <a:rPr lang="en-US" sz="4000" b="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FC6F7-3678-4EB1-9653-A3E4DAC47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5049" y="3711564"/>
            <a:ext cx="2752385" cy="2168536"/>
          </a:xfrm>
        </p:spPr>
        <p:txBody>
          <a:bodyPr/>
          <a:lstStyle/>
          <a:p>
            <a:r>
              <a:rPr lang="en-US" dirty="0"/>
              <a:t>used inside loops</a:t>
            </a:r>
            <a:endParaRPr lang="tr-TR" dirty="0"/>
          </a:p>
          <a:p>
            <a:r>
              <a:rPr lang="en-US" dirty="0"/>
              <a:t>jumps back to the start of the loop </a:t>
            </a:r>
            <a:endParaRPr lang="tr-TR" dirty="0"/>
          </a:p>
          <a:p>
            <a:pPr lvl="1"/>
            <a:r>
              <a:rPr lang="en-US" dirty="0"/>
              <a:t>When the</a:t>
            </a:r>
            <a:r>
              <a:rPr lang="tr-TR" dirty="0"/>
              <a:t> </a:t>
            </a:r>
            <a:r>
              <a:rPr lang="en-US" dirty="0"/>
              <a:t>program execution reaches a continue statement, </a:t>
            </a:r>
            <a:endParaRPr lang="tr-TR" dirty="0"/>
          </a:p>
          <a:p>
            <a:pPr lvl="1"/>
            <a:r>
              <a:rPr lang="en-US" dirty="0"/>
              <a:t>reevaluates the loop’s</a:t>
            </a:r>
            <a:r>
              <a:rPr lang="tr-TR" dirty="0"/>
              <a:t> condition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976196-87DB-406C-9904-8B1F6B13B4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70217" y="2644997"/>
            <a:ext cx="3002450" cy="885825"/>
          </a:xfrm>
        </p:spPr>
        <p:txBody>
          <a:bodyPr/>
          <a:lstStyle/>
          <a:p>
            <a:r>
              <a:rPr lang="tr-TR" sz="4000" b="0" dirty="0"/>
              <a:t>Consists of</a:t>
            </a:r>
            <a:endParaRPr 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CA641-190C-4E8A-B694-3EA9C4DCD9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35679" y="3669324"/>
            <a:ext cx="2443091" cy="2071688"/>
          </a:xfrm>
        </p:spPr>
        <p:txBody>
          <a:bodyPr/>
          <a:lstStyle/>
          <a:p>
            <a:r>
              <a:rPr lang="en-US" dirty="0"/>
              <a:t>In code a </a:t>
            </a:r>
            <a:r>
              <a:rPr lang="tr-TR" dirty="0"/>
              <a:t>continue</a:t>
            </a:r>
            <a:r>
              <a:rPr lang="en-US" dirty="0"/>
              <a:t> statement simply contains</a:t>
            </a:r>
          </a:p>
          <a:p>
            <a:r>
              <a:rPr lang="en-US" dirty="0"/>
              <a:t>the </a:t>
            </a:r>
            <a:r>
              <a:rPr lang="tr-TR" b="1" dirty="0"/>
              <a:t>continue</a:t>
            </a:r>
            <a:r>
              <a:rPr lang="en-US" dirty="0"/>
              <a:t> keyword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FC72F-9055-4E36-A7BE-2574540334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AF5F208-929D-4DF0-B259-760C4694AA3C}"/>
              </a:ext>
            </a:extLst>
          </p:cNvPr>
          <p:cNvSpPr txBox="1">
            <a:spLocks/>
          </p:cNvSpPr>
          <p:nvPr/>
        </p:nvSpPr>
        <p:spPr>
          <a:xfrm>
            <a:off x="6541477" y="2642652"/>
            <a:ext cx="2361223" cy="8858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60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4000" b="0" dirty="0"/>
              <a:t>Example</a:t>
            </a:r>
            <a:endParaRPr lang="en-US" sz="3200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7352DBC-7497-40D0-952C-FD020A431DA4}"/>
              </a:ext>
            </a:extLst>
          </p:cNvPr>
          <p:cNvSpPr txBox="1">
            <a:spLocks/>
          </p:cNvSpPr>
          <p:nvPr/>
        </p:nvSpPr>
        <p:spPr>
          <a:xfrm>
            <a:off x="5852161" y="3652910"/>
            <a:ext cx="3165232" cy="2599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while True:</a:t>
            </a:r>
          </a:p>
          <a:p>
            <a:pPr marL="0" indent="0">
              <a:buNone/>
            </a:pPr>
            <a:r>
              <a:rPr lang="en-US" dirty="0"/>
              <a:t>	print('Please type your name.')</a:t>
            </a:r>
          </a:p>
          <a:p>
            <a:pPr marL="0" indent="0">
              <a:buNone/>
            </a:pPr>
            <a:r>
              <a:rPr lang="en-US" dirty="0"/>
              <a:t>	name = input()</a:t>
            </a:r>
          </a:p>
          <a:p>
            <a:pPr marL="0" indent="0">
              <a:buNone/>
            </a:pPr>
            <a:r>
              <a:rPr lang="en-US" dirty="0"/>
              <a:t>	if name == 'I cannot remember':</a:t>
            </a:r>
          </a:p>
          <a:p>
            <a:pPr marL="0" indent="0">
              <a:buNone/>
            </a:pPr>
            <a:r>
              <a:rPr lang="en-US" dirty="0"/>
              <a:t>		print(</a:t>
            </a:r>
            <a:r>
              <a:rPr lang="en-US" dirty="0" err="1"/>
              <a:t>'it</a:t>
            </a:r>
            <a:r>
              <a:rPr lang="en-US" dirty="0"/>
              <a:t> is your name')</a:t>
            </a:r>
          </a:p>
          <a:p>
            <a:pPr marL="0" indent="0">
              <a:buNone/>
            </a:pPr>
            <a:r>
              <a:rPr lang="en-US" dirty="0"/>
              <a:t>		continue</a:t>
            </a:r>
          </a:p>
          <a:p>
            <a:pPr marL="0" indent="0">
              <a:buNone/>
            </a:pPr>
            <a:r>
              <a:rPr lang="en-US" dirty="0"/>
              <a:t>	if name == 'your name':</a:t>
            </a:r>
          </a:p>
          <a:p>
            <a:pPr marL="0" indent="0">
              <a:buNone/>
            </a:pPr>
            <a:r>
              <a:rPr lang="en-US" dirty="0"/>
              <a:t>		break</a:t>
            </a:r>
          </a:p>
          <a:p>
            <a:pPr marL="0" indent="0">
              <a:buNone/>
            </a:pPr>
            <a:r>
              <a:rPr lang="en-US" dirty="0"/>
              <a:t>print('Thank you!')</a:t>
            </a:r>
          </a:p>
        </p:txBody>
      </p:sp>
      <p:pic>
        <p:nvPicPr>
          <p:cNvPr id="3074" name="Picture 2" descr="flow icon ile ilgili görsel sonucu">
            <a:extLst>
              <a:ext uri="{FF2B5EF4-FFF2-40B4-BE49-F238E27FC236}">
                <a16:creationId xmlns:a16="http://schemas.microsoft.com/office/drawing/2014/main" id="{78E4D8C8-FD92-4BA2-A9C2-0056BD636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271" y="1611190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3B6B83-AAFD-4A41-9F4C-73A36BB195C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33148" y="1618957"/>
            <a:ext cx="1146844" cy="12027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6CAC02-7D9C-4FA0-A736-1BD5CE01361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20" y="1638300"/>
            <a:ext cx="133208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1831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3CBA-6B58-475A-BAF2-04998BA4A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17" y="2474685"/>
            <a:ext cx="4509000" cy="660401"/>
          </a:xfrm>
        </p:spPr>
        <p:txBody>
          <a:bodyPr/>
          <a:lstStyle/>
          <a:p>
            <a:r>
              <a:rPr lang="tr-TR" sz="2400" dirty="0"/>
              <a:t>Flow of continue Statement</a:t>
            </a: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42706-50AC-4B17-A704-143D94A79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086" y="3126378"/>
            <a:ext cx="4334829" cy="3629550"/>
          </a:xfrm>
        </p:spPr>
        <p:txBody>
          <a:bodyPr/>
          <a:lstStyle/>
          <a:p>
            <a:r>
              <a:rPr lang="tr-TR" dirty="0"/>
              <a:t>while</a:t>
            </a:r>
          </a:p>
          <a:p>
            <a:r>
              <a:rPr lang="tr-TR" dirty="0"/>
              <a:t>True</a:t>
            </a:r>
          </a:p>
          <a:p>
            <a:r>
              <a:rPr lang="tr-TR" dirty="0"/>
              <a:t>while clause</a:t>
            </a:r>
          </a:p>
          <a:p>
            <a:r>
              <a:rPr lang="tr-TR" dirty="0"/>
              <a:t>if statement</a:t>
            </a:r>
          </a:p>
          <a:p>
            <a:r>
              <a:rPr lang="tr-TR" dirty="0"/>
              <a:t>continue</a:t>
            </a:r>
          </a:p>
          <a:p>
            <a:r>
              <a:rPr lang="tr-TR" dirty="0"/>
              <a:t>break</a:t>
            </a:r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249B8-A654-41FD-9724-45A3A5EE13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CD085E-208E-48FD-899B-67744737DBE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3405" y="147425"/>
            <a:ext cx="4508046" cy="625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9306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continue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999" y="1152000"/>
            <a:ext cx="4361211" cy="5040000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while True:</a:t>
            </a:r>
          </a:p>
          <a:p>
            <a:pPr marL="0" indent="0">
              <a:buNone/>
            </a:pPr>
            <a:r>
              <a:rPr lang="en-US" dirty="0"/>
              <a:t>	print('Please type your name.')</a:t>
            </a:r>
          </a:p>
          <a:p>
            <a:pPr marL="0" indent="0">
              <a:buNone/>
            </a:pPr>
            <a:r>
              <a:rPr lang="en-US" dirty="0"/>
              <a:t>	name = input()</a:t>
            </a:r>
          </a:p>
          <a:p>
            <a:pPr marL="0" indent="0">
              <a:buNone/>
            </a:pPr>
            <a:r>
              <a:rPr lang="en-US" dirty="0"/>
              <a:t>	if name == 'I cannot remember':</a:t>
            </a:r>
          </a:p>
          <a:p>
            <a:pPr marL="0" indent="0">
              <a:buNone/>
            </a:pPr>
            <a:r>
              <a:rPr lang="en-US" dirty="0"/>
              <a:t>		print(</a:t>
            </a:r>
            <a:r>
              <a:rPr lang="en-US" dirty="0" err="1"/>
              <a:t>'it</a:t>
            </a:r>
            <a:r>
              <a:rPr lang="en-US" dirty="0"/>
              <a:t> is your name')</a:t>
            </a:r>
          </a:p>
          <a:p>
            <a:pPr marL="0" indent="0">
              <a:buNone/>
            </a:pPr>
            <a:r>
              <a:rPr lang="en-US" dirty="0"/>
              <a:t>		continue</a:t>
            </a:r>
          </a:p>
          <a:p>
            <a:pPr marL="0" indent="0">
              <a:buNone/>
            </a:pPr>
            <a:r>
              <a:rPr lang="en-US" dirty="0"/>
              <a:t>	if name == 'your name':</a:t>
            </a:r>
          </a:p>
          <a:p>
            <a:pPr marL="0" indent="0">
              <a:buNone/>
            </a:pPr>
            <a:r>
              <a:rPr lang="en-US" dirty="0"/>
              <a:t>		break</a:t>
            </a:r>
          </a:p>
          <a:p>
            <a:pPr marL="0" indent="0">
              <a:buNone/>
            </a:pPr>
            <a:r>
              <a:rPr lang="en-US" dirty="0"/>
              <a:t>print('Thank you!')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Please type your name.</a:t>
            </a:r>
          </a:p>
          <a:p>
            <a:pPr marL="0" indent="0">
              <a:buNone/>
            </a:pPr>
            <a:r>
              <a:rPr lang="en-US" dirty="0"/>
              <a:t>I cannot remember</a:t>
            </a:r>
          </a:p>
          <a:p>
            <a:pPr marL="0" indent="0">
              <a:buNone/>
            </a:pPr>
            <a:r>
              <a:rPr lang="en-US" dirty="0"/>
              <a:t>it is your name</a:t>
            </a:r>
          </a:p>
          <a:p>
            <a:pPr marL="0" indent="0">
              <a:buNone/>
            </a:pPr>
            <a:r>
              <a:rPr lang="en-US" dirty="0"/>
              <a:t>Please type your name.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ali?</a:t>
            </a:r>
          </a:p>
          <a:p>
            <a:pPr marL="0" indent="0">
              <a:buNone/>
            </a:pPr>
            <a:r>
              <a:rPr lang="en-US" dirty="0"/>
              <a:t>Please type your name.</a:t>
            </a:r>
          </a:p>
          <a:p>
            <a:pPr marL="0" indent="0">
              <a:buNone/>
            </a:pPr>
            <a:r>
              <a:rPr lang="en-US" dirty="0"/>
              <a:t>your name</a:t>
            </a:r>
          </a:p>
          <a:p>
            <a:pPr marL="0" indent="0">
              <a:buNone/>
            </a:pPr>
            <a:r>
              <a:rPr lang="en-US" dirty="0"/>
              <a:t>Thank you!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759861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0B8C-152D-4041-AC3C-8B85647A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 and the range() Function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6DD47F-D181-45CD-A525-14A14AF484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4677" y="2666283"/>
            <a:ext cx="2278523" cy="885825"/>
          </a:xfrm>
        </p:spPr>
        <p:txBody>
          <a:bodyPr/>
          <a:lstStyle/>
          <a:p>
            <a:r>
              <a:rPr lang="tr-TR" sz="3200" b="0" i="1" dirty="0"/>
              <a:t>Flow</a:t>
            </a:r>
            <a:r>
              <a:rPr lang="en-US" sz="4000" b="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FC6F7-3678-4EB1-9653-A3E4DAC47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5049" y="3711564"/>
            <a:ext cx="2752385" cy="2168536"/>
          </a:xfrm>
        </p:spPr>
        <p:txBody>
          <a:bodyPr/>
          <a:lstStyle/>
          <a:p>
            <a:r>
              <a:rPr lang="en-US" dirty="0"/>
              <a:t>to execute a block of code </a:t>
            </a:r>
            <a:endParaRPr lang="tr-TR" dirty="0"/>
          </a:p>
          <a:p>
            <a:pPr lvl="1"/>
            <a:r>
              <a:rPr lang="en-US" dirty="0"/>
              <a:t>only a certain</a:t>
            </a:r>
            <a:r>
              <a:rPr lang="tr-TR" dirty="0"/>
              <a:t> number of times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976196-87DB-406C-9904-8B1F6B13B4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73531" y="2566620"/>
            <a:ext cx="3002450" cy="885825"/>
          </a:xfrm>
        </p:spPr>
        <p:txBody>
          <a:bodyPr/>
          <a:lstStyle/>
          <a:p>
            <a:r>
              <a:rPr lang="tr-TR" sz="4000" b="0" dirty="0"/>
              <a:t>Consists of</a:t>
            </a:r>
            <a:endParaRPr 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CA641-190C-4E8A-B694-3EA9C4DCD9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30582" y="3503861"/>
            <a:ext cx="2443091" cy="249634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for</a:t>
            </a:r>
            <a:r>
              <a:rPr lang="en-US" dirty="0"/>
              <a:t> keyword</a:t>
            </a:r>
          </a:p>
          <a:p>
            <a:r>
              <a:rPr lang="en-US" dirty="0"/>
              <a:t>A variable name</a:t>
            </a:r>
          </a:p>
          <a:p>
            <a:r>
              <a:rPr lang="en-US" dirty="0"/>
              <a:t>The </a:t>
            </a:r>
            <a:r>
              <a:rPr lang="en-US" b="1" dirty="0"/>
              <a:t>in</a:t>
            </a:r>
            <a:r>
              <a:rPr lang="en-US" dirty="0"/>
              <a:t> keyword</a:t>
            </a:r>
          </a:p>
          <a:p>
            <a:r>
              <a:rPr lang="en-US" dirty="0"/>
              <a:t>A call to the </a:t>
            </a:r>
            <a:r>
              <a:rPr lang="en-US" i="1" dirty="0"/>
              <a:t>range() </a:t>
            </a:r>
            <a:r>
              <a:rPr lang="en-US" dirty="0"/>
              <a:t>method </a:t>
            </a:r>
            <a:endParaRPr lang="tr-TR" dirty="0"/>
          </a:p>
          <a:p>
            <a:pPr lvl="1"/>
            <a:r>
              <a:rPr lang="en-US" dirty="0"/>
              <a:t>with up to three integers </a:t>
            </a:r>
            <a:endParaRPr lang="tr-TR" dirty="0"/>
          </a:p>
          <a:p>
            <a:pPr lvl="1"/>
            <a:r>
              <a:rPr lang="en-US" dirty="0"/>
              <a:t>passed to it</a:t>
            </a:r>
          </a:p>
          <a:p>
            <a:r>
              <a:rPr lang="en-US" dirty="0"/>
              <a:t>A colon</a:t>
            </a:r>
          </a:p>
          <a:p>
            <a:r>
              <a:rPr lang="en-US" dirty="0"/>
              <a:t>an indented block of code </a:t>
            </a:r>
            <a:endParaRPr lang="tr-TR" dirty="0"/>
          </a:p>
          <a:p>
            <a:pPr lvl="1"/>
            <a:r>
              <a:rPr lang="en-US" dirty="0"/>
              <a:t>Starting on the next line </a:t>
            </a:r>
            <a:endParaRPr lang="tr-TR" dirty="0"/>
          </a:p>
          <a:p>
            <a:pPr lvl="1"/>
            <a:r>
              <a:rPr lang="en-US" dirty="0"/>
              <a:t>called the for</a:t>
            </a:r>
            <a:r>
              <a:rPr lang="tr-TR" dirty="0"/>
              <a:t> </a:t>
            </a:r>
            <a:r>
              <a:rPr lang="en-US" dirty="0"/>
              <a:t>clause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FC72F-9055-4E36-A7BE-2574540334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AF5F208-929D-4DF0-B259-760C4694AA3C}"/>
              </a:ext>
            </a:extLst>
          </p:cNvPr>
          <p:cNvSpPr txBox="1">
            <a:spLocks/>
          </p:cNvSpPr>
          <p:nvPr/>
        </p:nvSpPr>
        <p:spPr>
          <a:xfrm>
            <a:off x="6541477" y="2642652"/>
            <a:ext cx="2361223" cy="8858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60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4000" b="0" dirty="0"/>
              <a:t>Example</a:t>
            </a:r>
            <a:endParaRPr lang="en-US" sz="3200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7352DBC-7497-40D0-952C-FD020A431DA4}"/>
              </a:ext>
            </a:extLst>
          </p:cNvPr>
          <p:cNvSpPr txBox="1">
            <a:spLocks/>
          </p:cNvSpPr>
          <p:nvPr/>
        </p:nvSpPr>
        <p:spPr>
          <a:xfrm>
            <a:off x="5721531" y="3652910"/>
            <a:ext cx="3295861" cy="2599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print('My name is')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range(5):</a:t>
            </a:r>
          </a:p>
          <a:p>
            <a:pPr marL="0" indent="0">
              <a:buNone/>
            </a:pPr>
            <a:r>
              <a:rPr lang="en-US" dirty="0"/>
              <a:t>	print('Jimmy Five Times (' + str(</a:t>
            </a:r>
            <a:r>
              <a:rPr lang="en-US" dirty="0" err="1"/>
              <a:t>i</a:t>
            </a:r>
            <a:r>
              <a:rPr lang="en-US" dirty="0"/>
              <a:t>) + ')')</a:t>
            </a:r>
          </a:p>
        </p:txBody>
      </p:sp>
      <p:pic>
        <p:nvPicPr>
          <p:cNvPr id="3074" name="Picture 2" descr="flow icon ile ilgili görsel sonucu">
            <a:extLst>
              <a:ext uri="{FF2B5EF4-FFF2-40B4-BE49-F238E27FC236}">
                <a16:creationId xmlns:a16="http://schemas.microsoft.com/office/drawing/2014/main" id="{78E4D8C8-FD92-4BA2-A9C2-0056BD636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271" y="1611190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3B6B83-AAFD-4A41-9F4C-73A36BB195C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1925" y="1505745"/>
            <a:ext cx="1146844" cy="12027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6CAC02-7D9C-4FA0-A736-1BD5CE01361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20" y="1638300"/>
            <a:ext cx="133208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846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3CBA-6B58-475A-BAF2-04998BA4A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17" y="2474685"/>
            <a:ext cx="4352246" cy="660401"/>
          </a:xfrm>
        </p:spPr>
        <p:txBody>
          <a:bodyPr/>
          <a:lstStyle/>
          <a:p>
            <a:r>
              <a:rPr lang="tr-TR" sz="2400" dirty="0"/>
              <a:t>Flow of for Statement</a:t>
            </a: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42706-50AC-4B17-A704-143D94A79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086" y="3126378"/>
            <a:ext cx="4334829" cy="3629550"/>
          </a:xfrm>
        </p:spPr>
        <p:txBody>
          <a:bodyPr/>
          <a:lstStyle/>
          <a:p>
            <a:r>
              <a:rPr lang="tr-TR" dirty="0"/>
              <a:t>For</a:t>
            </a:r>
          </a:p>
          <a:p>
            <a:r>
              <a:rPr lang="tr-TR" dirty="0"/>
              <a:t>Looping</a:t>
            </a:r>
          </a:p>
          <a:p>
            <a:r>
              <a:rPr lang="tr-TR" dirty="0"/>
              <a:t>Done Looping</a:t>
            </a:r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249B8-A654-41FD-9724-45A3A5EE13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09FBA9-A60D-49A9-BA95-418EBC8147D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8108" y="2028721"/>
            <a:ext cx="4206571" cy="341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1606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for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999" y="1152000"/>
            <a:ext cx="4361211" cy="5040000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total = 0</a:t>
            </a:r>
          </a:p>
          <a:p>
            <a:pPr marL="0" indent="0">
              <a:buNone/>
            </a:pPr>
            <a:r>
              <a:rPr lang="en-US" dirty="0"/>
              <a:t>for num in range(10):</a:t>
            </a:r>
          </a:p>
          <a:p>
            <a:pPr marL="0" indent="0">
              <a:buNone/>
            </a:pPr>
            <a:r>
              <a:rPr lang="en-US" dirty="0"/>
              <a:t>    total = total + num</a:t>
            </a:r>
          </a:p>
          <a:p>
            <a:pPr marL="0" indent="0">
              <a:buNone/>
            </a:pPr>
            <a:r>
              <a:rPr lang="en-US" dirty="0"/>
              <a:t>    print('Now Total is:', total, 'Current num is:', num)</a:t>
            </a:r>
          </a:p>
          <a:p>
            <a:pPr marL="0" indent="0">
              <a:buNone/>
            </a:pPr>
            <a:r>
              <a:rPr lang="en-US" dirty="0"/>
              <a:t>print('Total of numbers 0 to 9:', total)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36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Now Total is: 0 Current num is: 0</a:t>
            </a:r>
          </a:p>
          <a:p>
            <a:pPr marL="0" indent="0">
              <a:buNone/>
            </a:pPr>
            <a:r>
              <a:rPr lang="en-US" dirty="0"/>
              <a:t>Now Total is: 1 Current num is: 1</a:t>
            </a:r>
          </a:p>
          <a:p>
            <a:pPr marL="0" indent="0">
              <a:buNone/>
            </a:pPr>
            <a:r>
              <a:rPr lang="en-US" dirty="0"/>
              <a:t>Now Total is: 3 Current num is: 2</a:t>
            </a:r>
          </a:p>
          <a:p>
            <a:pPr marL="0" indent="0">
              <a:buNone/>
            </a:pPr>
            <a:r>
              <a:rPr lang="en-US" dirty="0"/>
              <a:t>Now Total is: 6 Current num is: 3</a:t>
            </a:r>
          </a:p>
          <a:p>
            <a:pPr marL="0" indent="0">
              <a:buNone/>
            </a:pPr>
            <a:r>
              <a:rPr lang="en-US" dirty="0"/>
              <a:t>Now Total is: 10 Current num is: 4</a:t>
            </a:r>
          </a:p>
          <a:p>
            <a:pPr marL="0" indent="0">
              <a:buNone/>
            </a:pPr>
            <a:r>
              <a:rPr lang="en-US" dirty="0"/>
              <a:t>Now Total is: 15 Current num is: 5</a:t>
            </a:r>
          </a:p>
          <a:p>
            <a:pPr marL="0" indent="0">
              <a:buNone/>
            </a:pPr>
            <a:r>
              <a:rPr lang="en-US" dirty="0"/>
              <a:t>Now Total is: 21 Current num is: 6</a:t>
            </a:r>
          </a:p>
          <a:p>
            <a:pPr marL="0" indent="0">
              <a:buNone/>
            </a:pPr>
            <a:r>
              <a:rPr lang="en-US" dirty="0"/>
              <a:t>Now Total is: 28 Current num is: 7</a:t>
            </a:r>
          </a:p>
          <a:p>
            <a:pPr marL="0" indent="0">
              <a:buNone/>
            </a:pPr>
            <a:r>
              <a:rPr lang="en-US" dirty="0"/>
              <a:t>Now Total is: 36 Current num is: 8</a:t>
            </a:r>
          </a:p>
          <a:p>
            <a:pPr marL="0" indent="0">
              <a:buNone/>
            </a:pPr>
            <a:r>
              <a:rPr lang="en-US" dirty="0"/>
              <a:t>Now Total is: 45 Current num is: 9</a:t>
            </a:r>
          </a:p>
          <a:p>
            <a:pPr marL="0" indent="0">
              <a:buNone/>
            </a:pPr>
            <a:r>
              <a:rPr lang="en-US" dirty="0"/>
              <a:t>Total of numbers 0 to 9: 45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275943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0B8C-152D-4041-AC3C-8B85647A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 and the range(</a:t>
            </a:r>
            <a:r>
              <a:rPr lang="tr-TR" dirty="0"/>
              <a:t>Starting, Stopping, Intervals</a:t>
            </a:r>
            <a:r>
              <a:rPr lang="en-US" dirty="0"/>
              <a:t>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6DD47F-D181-45CD-A525-14A14AF484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4677" y="2666283"/>
            <a:ext cx="2278523" cy="885825"/>
          </a:xfrm>
        </p:spPr>
        <p:txBody>
          <a:bodyPr/>
          <a:lstStyle/>
          <a:p>
            <a:r>
              <a:rPr lang="tr-TR" sz="3200" b="0" i="1" dirty="0"/>
              <a:t>Flow</a:t>
            </a:r>
            <a:r>
              <a:rPr lang="en-US" sz="4000" b="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FC6F7-3678-4EB1-9653-A3E4DAC47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5049" y="3711564"/>
            <a:ext cx="2752385" cy="2168536"/>
          </a:xfrm>
        </p:spPr>
        <p:txBody>
          <a:bodyPr/>
          <a:lstStyle/>
          <a:p>
            <a:r>
              <a:rPr lang="en-US" dirty="0"/>
              <a:t>to execute a block of code </a:t>
            </a:r>
            <a:endParaRPr lang="tr-TR" dirty="0"/>
          </a:p>
          <a:p>
            <a:pPr lvl="1"/>
            <a:r>
              <a:rPr lang="tr-TR" dirty="0"/>
              <a:t>Starting from Starting value</a:t>
            </a:r>
          </a:p>
          <a:p>
            <a:pPr lvl="1"/>
            <a:r>
              <a:rPr lang="tr-TR" dirty="0"/>
              <a:t>Ending until Stopping value</a:t>
            </a:r>
          </a:p>
          <a:p>
            <a:pPr lvl="1"/>
            <a:r>
              <a:rPr lang="tr-TR" dirty="0"/>
              <a:t>By Intervals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976196-87DB-406C-9904-8B1F6B13B4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73531" y="2566620"/>
            <a:ext cx="3002450" cy="885825"/>
          </a:xfrm>
        </p:spPr>
        <p:txBody>
          <a:bodyPr/>
          <a:lstStyle/>
          <a:p>
            <a:r>
              <a:rPr lang="tr-TR" sz="4000" b="0" dirty="0"/>
              <a:t>Consists of</a:t>
            </a:r>
            <a:endParaRPr 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CA641-190C-4E8A-B694-3EA9C4DCD9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30582" y="3503861"/>
            <a:ext cx="2443091" cy="2496345"/>
          </a:xfrm>
        </p:spPr>
        <p:txBody>
          <a:bodyPr/>
          <a:lstStyle/>
          <a:p>
            <a:r>
              <a:rPr lang="tr-TR" dirty="0"/>
              <a:t>range function takes two arguments</a:t>
            </a:r>
          </a:p>
          <a:p>
            <a:pPr lvl="1"/>
            <a:r>
              <a:rPr lang="tr-TR" dirty="0"/>
              <a:t>Starting</a:t>
            </a:r>
          </a:p>
          <a:p>
            <a:pPr lvl="1"/>
            <a:r>
              <a:rPr lang="tr-TR" dirty="0"/>
              <a:t>Ending</a:t>
            </a:r>
          </a:p>
          <a:p>
            <a:pPr lvl="1"/>
            <a:r>
              <a:rPr lang="tr-TR" dirty="0"/>
              <a:t>Intervals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FC72F-9055-4E36-A7BE-2574540334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AF5F208-929D-4DF0-B259-760C4694AA3C}"/>
              </a:ext>
            </a:extLst>
          </p:cNvPr>
          <p:cNvSpPr txBox="1">
            <a:spLocks/>
          </p:cNvSpPr>
          <p:nvPr/>
        </p:nvSpPr>
        <p:spPr>
          <a:xfrm>
            <a:off x="6541477" y="2642652"/>
            <a:ext cx="2361223" cy="8858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60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4000" b="0" dirty="0"/>
              <a:t>Example</a:t>
            </a:r>
            <a:endParaRPr lang="en-US" sz="3200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7352DBC-7497-40D0-952C-FD020A431DA4}"/>
              </a:ext>
            </a:extLst>
          </p:cNvPr>
          <p:cNvSpPr txBox="1">
            <a:spLocks/>
          </p:cNvSpPr>
          <p:nvPr/>
        </p:nvSpPr>
        <p:spPr>
          <a:xfrm>
            <a:off x="5721531" y="3652910"/>
            <a:ext cx="3295861" cy="2599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range(12, 16):</a:t>
            </a:r>
          </a:p>
          <a:p>
            <a:pPr marL="0" indent="0">
              <a:buNone/>
            </a:pPr>
            <a:r>
              <a:rPr lang="en-US" dirty="0"/>
              <a:t>	print(</a:t>
            </a:r>
            <a:r>
              <a:rPr lang="en-US" dirty="0" err="1"/>
              <a:t>i</a:t>
            </a:r>
            <a:r>
              <a:rPr lang="en-US" dirty="0"/>
              <a:t>)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for i in range(0, 10, 2):</a:t>
            </a:r>
          </a:p>
          <a:p>
            <a:pPr marL="0" indent="0">
              <a:buNone/>
            </a:pPr>
            <a:r>
              <a:rPr lang="tr-TR" dirty="0"/>
              <a:t>	print(i)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flow icon ile ilgili görsel sonucu">
            <a:extLst>
              <a:ext uri="{FF2B5EF4-FFF2-40B4-BE49-F238E27FC236}">
                <a16:creationId xmlns:a16="http://schemas.microsoft.com/office/drawing/2014/main" id="{78E4D8C8-FD92-4BA2-A9C2-0056BD636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271" y="1611190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3B6B83-AAFD-4A41-9F4C-73A36BB195C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1925" y="1505745"/>
            <a:ext cx="1146844" cy="12027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6CAC02-7D9C-4FA0-A736-1BD5CE01361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20" y="1638300"/>
            <a:ext cx="133208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3280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Chapter-2 Flow Control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b="1" dirty="0"/>
              <a:t>Importing Modules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38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3" name="Picture Placeholder 12" descr="A star filled sky&#10;&#10;Description automatically generated">
            <a:extLst>
              <a:ext uri="{FF2B5EF4-FFF2-40B4-BE49-F238E27FC236}">
                <a16:creationId xmlns:a16="http://schemas.microsoft.com/office/drawing/2014/main" id="{B0195F47-1047-4A42-B03D-EBD881DEE7D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27507" r="2750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85089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Importing Modules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8123463" cy="256430"/>
          </a:xfrm>
        </p:spPr>
        <p:txBody>
          <a:bodyPr/>
          <a:lstStyle/>
          <a:p>
            <a:r>
              <a:rPr lang="en-US" i="1" dirty="0"/>
              <a:t>All Python programs can call a basic set of functions called built-in functions,</a:t>
            </a:r>
            <a:r>
              <a:rPr lang="tr-TR" i="1" dirty="0"/>
              <a:t> </a:t>
            </a:r>
            <a:r>
              <a:rPr lang="en-US" i="1" dirty="0"/>
              <a:t>including the print(), input(), and </a:t>
            </a:r>
            <a:r>
              <a:rPr lang="en-US" i="1" dirty="0" err="1"/>
              <a:t>len</a:t>
            </a:r>
            <a:r>
              <a:rPr lang="en-US" i="1" dirty="0"/>
              <a:t>()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standard library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r>
              <a:rPr lang="tr-TR" dirty="0"/>
              <a:t>a set of modules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examples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3314200"/>
          </a:xfrm>
        </p:spPr>
        <p:txBody>
          <a:bodyPr/>
          <a:lstStyle/>
          <a:p>
            <a:r>
              <a:rPr lang="tr-TR" dirty="0"/>
              <a:t>math module</a:t>
            </a:r>
          </a:p>
          <a:p>
            <a:pPr lvl="1"/>
            <a:r>
              <a:rPr lang="tr-TR" dirty="0"/>
              <a:t>Mathematics related functions</a:t>
            </a:r>
          </a:p>
          <a:p>
            <a:r>
              <a:rPr lang="en-US" dirty="0"/>
              <a:t>random module</a:t>
            </a:r>
            <a:endParaRPr lang="tr-TR" dirty="0"/>
          </a:p>
          <a:p>
            <a:pPr lvl="1"/>
            <a:r>
              <a:rPr lang="en-US" dirty="0"/>
              <a:t>random number</a:t>
            </a:r>
            <a:r>
              <a:rPr lang="tr-TR" dirty="0"/>
              <a:t> </a:t>
            </a:r>
            <a:r>
              <a:rPr lang="en-US" dirty="0"/>
              <a:t>related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module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Python program</a:t>
            </a:r>
            <a:endParaRPr lang="tr-TR" dirty="0"/>
          </a:p>
          <a:p>
            <a:r>
              <a:rPr lang="en-US" dirty="0"/>
              <a:t>contains a related group of functions</a:t>
            </a:r>
            <a:endParaRPr lang="tr-TR" dirty="0"/>
          </a:p>
          <a:p>
            <a:r>
              <a:rPr lang="en-US" dirty="0"/>
              <a:t>can be</a:t>
            </a:r>
            <a:r>
              <a:rPr lang="tr-TR" dirty="0"/>
              <a:t> embedded in programs.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1234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0B8C-152D-4041-AC3C-8B85647A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import statement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6DD47F-D181-45CD-A525-14A14AF484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4677" y="2666283"/>
            <a:ext cx="2278523" cy="885825"/>
          </a:xfrm>
        </p:spPr>
        <p:txBody>
          <a:bodyPr/>
          <a:lstStyle/>
          <a:p>
            <a:r>
              <a:rPr lang="tr-TR" sz="3200" b="0" i="1" dirty="0"/>
              <a:t>Flow</a:t>
            </a:r>
            <a:r>
              <a:rPr lang="en-US" sz="4000" b="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FC6F7-3678-4EB1-9653-A3E4DAC47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5049" y="3711564"/>
            <a:ext cx="2752385" cy="1255504"/>
          </a:xfrm>
        </p:spPr>
        <p:txBody>
          <a:bodyPr/>
          <a:lstStyle/>
          <a:p>
            <a:r>
              <a:rPr lang="en-US" dirty="0"/>
              <a:t>import the</a:t>
            </a:r>
            <a:r>
              <a:rPr lang="tr-TR" dirty="0"/>
              <a:t> </a:t>
            </a:r>
            <a:r>
              <a:rPr lang="en-US" dirty="0"/>
              <a:t>module </a:t>
            </a:r>
            <a:endParaRPr lang="tr-TR" dirty="0"/>
          </a:p>
          <a:p>
            <a:pPr lvl="1"/>
            <a:r>
              <a:rPr lang="en-US" dirty="0"/>
              <a:t>before you can use the functions</a:t>
            </a:r>
            <a:endParaRPr lang="tr-TR" dirty="0"/>
          </a:p>
          <a:p>
            <a:pPr lvl="1"/>
            <a:r>
              <a:rPr lang="en-US" dirty="0"/>
              <a:t>with an import statement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976196-87DB-406C-9904-8B1F6B13B4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3707" y="2644997"/>
            <a:ext cx="3108960" cy="885825"/>
          </a:xfrm>
        </p:spPr>
        <p:txBody>
          <a:bodyPr/>
          <a:lstStyle/>
          <a:p>
            <a:r>
              <a:rPr lang="tr-TR" sz="4000" b="0" dirty="0"/>
              <a:t>Consists of</a:t>
            </a:r>
            <a:endParaRPr 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CA641-190C-4E8A-B694-3EA9C4DCD9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0731" y="3669324"/>
            <a:ext cx="2628040" cy="2071688"/>
          </a:xfrm>
        </p:spPr>
        <p:txBody>
          <a:bodyPr/>
          <a:lstStyle/>
          <a:p>
            <a:r>
              <a:rPr lang="en-US" dirty="0"/>
              <a:t>The import keyword</a:t>
            </a:r>
          </a:p>
          <a:p>
            <a:r>
              <a:rPr lang="en-US" dirty="0"/>
              <a:t>The name of the module</a:t>
            </a:r>
          </a:p>
          <a:p>
            <a:r>
              <a:rPr lang="en-US" dirty="0"/>
              <a:t>Optionally, </a:t>
            </a:r>
            <a:endParaRPr lang="tr-TR" dirty="0"/>
          </a:p>
          <a:p>
            <a:pPr lvl="1"/>
            <a:r>
              <a:rPr lang="en-US" dirty="0"/>
              <a:t>more module names</a:t>
            </a:r>
            <a:endParaRPr lang="tr-TR" dirty="0"/>
          </a:p>
          <a:p>
            <a:pPr lvl="1"/>
            <a:r>
              <a:rPr lang="en-US" dirty="0"/>
              <a:t>separated by</a:t>
            </a:r>
            <a:r>
              <a:rPr lang="tr-TR" dirty="0"/>
              <a:t> </a:t>
            </a:r>
            <a:r>
              <a:rPr lang="en-US" dirty="0"/>
              <a:t>commas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FC72F-9055-4E36-A7BE-2574540334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AF5F208-929D-4DF0-B259-760C4694AA3C}"/>
              </a:ext>
            </a:extLst>
          </p:cNvPr>
          <p:cNvSpPr txBox="1">
            <a:spLocks/>
          </p:cNvSpPr>
          <p:nvPr/>
        </p:nvSpPr>
        <p:spPr>
          <a:xfrm>
            <a:off x="6541477" y="2642652"/>
            <a:ext cx="2361223" cy="8858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60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4000" b="0" dirty="0"/>
              <a:t>Example</a:t>
            </a:r>
            <a:endParaRPr lang="en-US" sz="3200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7352DBC-7497-40D0-952C-FD020A431DA4}"/>
              </a:ext>
            </a:extLst>
          </p:cNvPr>
          <p:cNvSpPr txBox="1">
            <a:spLocks/>
          </p:cNvSpPr>
          <p:nvPr/>
        </p:nvSpPr>
        <p:spPr>
          <a:xfrm>
            <a:off x="6305006" y="3652911"/>
            <a:ext cx="2712386" cy="207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import random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range(5):</a:t>
            </a:r>
          </a:p>
          <a:p>
            <a:pPr marL="0" indent="0">
              <a:buNone/>
            </a:pPr>
            <a:r>
              <a:rPr lang="en-US" dirty="0"/>
              <a:t>	print(</a:t>
            </a:r>
            <a:r>
              <a:rPr lang="en-US" dirty="0" err="1"/>
              <a:t>random.randint</a:t>
            </a:r>
            <a:r>
              <a:rPr lang="en-US" dirty="0"/>
              <a:t>(1, 10))</a:t>
            </a:r>
            <a:endParaRPr lang="tr-TR" dirty="0"/>
          </a:p>
        </p:txBody>
      </p:sp>
      <p:pic>
        <p:nvPicPr>
          <p:cNvPr id="3074" name="Picture 2" descr="flow icon ile ilgili görsel sonucu">
            <a:extLst>
              <a:ext uri="{FF2B5EF4-FFF2-40B4-BE49-F238E27FC236}">
                <a16:creationId xmlns:a16="http://schemas.microsoft.com/office/drawing/2014/main" id="{78E4D8C8-FD92-4BA2-A9C2-0056BD636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271" y="1611190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3B6B83-AAFD-4A41-9F4C-73A36BB195C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33148" y="1618957"/>
            <a:ext cx="1146844" cy="12027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6CAC02-7D9C-4FA0-A736-1BD5CE01361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20" y="1638300"/>
            <a:ext cx="133208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543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Function Call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en-US" dirty="0" err="1"/>
              <a:t>random.randint</a:t>
            </a:r>
            <a:r>
              <a:rPr lang="en-US" dirty="0"/>
              <a:t>(</a:t>
            </a:r>
            <a:r>
              <a:rPr lang="tr-TR" dirty="0"/>
              <a:t>i,j</a:t>
            </a:r>
            <a:r>
              <a:rPr lang="en-US" dirty="0"/>
              <a:t>)</a:t>
            </a:r>
            <a:endParaRPr lang="tr-TR" dirty="0"/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tr-TR" dirty="0"/>
              <a:t>Call of function in random module</a:t>
            </a:r>
            <a:endParaRPr lang="en-US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i="1" dirty="0"/>
              <a:t>random</a:t>
            </a:r>
            <a:endParaRPr lang="en-US" dirty="0"/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5"/>
            <a:ext cx="2370064" cy="924746"/>
          </a:xfrm>
        </p:spPr>
        <p:txBody>
          <a:bodyPr/>
          <a:lstStyle/>
          <a:p>
            <a:r>
              <a:rPr lang="en-US" dirty="0"/>
              <a:t>type </a:t>
            </a:r>
            <a:r>
              <a:rPr lang="en-US" b="1" dirty="0"/>
              <a:t>random. </a:t>
            </a:r>
            <a:r>
              <a:rPr lang="en-US" dirty="0"/>
              <a:t>in front of the function name </a:t>
            </a:r>
            <a:endParaRPr lang="tr-TR" dirty="0"/>
          </a:p>
          <a:p>
            <a:r>
              <a:rPr lang="en-US" dirty="0"/>
              <a:t>tell</a:t>
            </a:r>
            <a:r>
              <a:rPr lang="tr-TR" dirty="0"/>
              <a:t> </a:t>
            </a:r>
            <a:r>
              <a:rPr lang="en-US" dirty="0"/>
              <a:t>Python to look for this function inside the random module</a:t>
            </a:r>
            <a:endParaRPr lang="en-US" b="1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 err="1"/>
              <a:t>randint</a:t>
            </a:r>
            <a:r>
              <a:rPr lang="en-US" dirty="0"/>
              <a:t>(</a:t>
            </a:r>
            <a:r>
              <a:rPr lang="tr-TR" dirty="0"/>
              <a:t>i,j</a:t>
            </a:r>
            <a:r>
              <a:rPr lang="en-US" dirty="0"/>
              <a:t>)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76211" y="4858343"/>
            <a:ext cx="2251799" cy="788865"/>
          </a:xfrm>
        </p:spPr>
        <p:txBody>
          <a:bodyPr/>
          <a:lstStyle/>
          <a:p>
            <a:r>
              <a:rPr lang="en-US" dirty="0"/>
              <a:t>evaluates to a random integer value</a:t>
            </a:r>
            <a:r>
              <a:rPr lang="tr-TR" dirty="0"/>
              <a:t> </a:t>
            </a:r>
          </a:p>
          <a:p>
            <a:r>
              <a:rPr lang="en-US" dirty="0"/>
              <a:t>between the pass</a:t>
            </a:r>
            <a:r>
              <a:rPr lang="tr-TR" dirty="0"/>
              <a:t>ed</a:t>
            </a:r>
            <a:r>
              <a:rPr lang="en-US" dirty="0"/>
              <a:t> integers </a:t>
            </a:r>
            <a:r>
              <a:rPr lang="tr-TR" dirty="0">
                <a:solidFill>
                  <a:srgbClr val="0070C0"/>
                </a:solidFill>
              </a:rPr>
              <a:t>i</a:t>
            </a:r>
            <a:r>
              <a:rPr lang="tr-TR" dirty="0"/>
              <a:t>,</a:t>
            </a:r>
            <a:r>
              <a:rPr lang="tr-TR" dirty="0">
                <a:solidFill>
                  <a:srgbClr val="0070C0"/>
                </a:solidFill>
              </a:rPr>
              <a:t>j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11" name="Picture Placeholder 10" descr="M104 ngc4594 sombrero galaxy&#10;https://tr.wikipedia.org/wiki/Dosya:M104_ngc4594_sombrero_galaxy_hi-res.jpg">
            <a:extLst>
              <a:ext uri="{FF2B5EF4-FFF2-40B4-BE49-F238E27FC236}">
                <a16:creationId xmlns:a16="http://schemas.microsoft.com/office/drawing/2014/main" id="{95AACB08-126E-4573-8DB8-9BC83A5FAC3E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l="29199" r="2919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599673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from import Statements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/>
              <a:t>Alternative to import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44343" y="1603717"/>
            <a:ext cx="2501934" cy="1064230"/>
          </a:xfrm>
        </p:spPr>
        <p:txBody>
          <a:bodyPr/>
          <a:lstStyle/>
          <a:p>
            <a:r>
              <a:rPr lang="en-US" dirty="0"/>
              <a:t>With this form of import statement,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calls to functions in random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will not</a:t>
            </a:r>
            <a:r>
              <a:rPr lang="tr-TR" dirty="0"/>
              <a:t> need the random. prefix</a:t>
            </a:r>
            <a:endParaRPr lang="en-US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i="1" dirty="0"/>
              <a:t>random</a:t>
            </a:r>
            <a:endParaRPr lang="en-US" dirty="0"/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5"/>
            <a:ext cx="2370064" cy="924746"/>
          </a:xfrm>
        </p:spPr>
        <p:txBody>
          <a:bodyPr/>
          <a:lstStyle/>
          <a:p>
            <a:r>
              <a:rPr lang="en-US" dirty="0"/>
              <a:t>composed of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from keyword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module name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import keyword, and a star</a:t>
            </a:r>
            <a:endParaRPr lang="en-US" b="1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498400"/>
            <a:ext cx="2251800" cy="326150"/>
          </a:xfrm>
        </p:spPr>
        <p:txBody>
          <a:bodyPr/>
          <a:lstStyle/>
          <a:p>
            <a:r>
              <a:rPr lang="tr-TR" dirty="0"/>
              <a:t>example</a:t>
            </a:r>
            <a:endParaRPr lang="en-US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76211" y="4858343"/>
            <a:ext cx="2251799" cy="788865"/>
          </a:xfrm>
        </p:spPr>
        <p:txBody>
          <a:bodyPr/>
          <a:lstStyle/>
          <a:p>
            <a:r>
              <a:rPr lang="en-US" dirty="0"/>
              <a:t>from random import *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11" name="Picture Placeholder 10" descr="M104 ngc4594 sombrero galaxy&#10;https://tr.wikipedia.org/wiki/Dosya:M104_ngc4594_sombrero_galaxy_hi-res.jpg">
            <a:extLst>
              <a:ext uri="{FF2B5EF4-FFF2-40B4-BE49-F238E27FC236}">
                <a16:creationId xmlns:a16="http://schemas.microsoft.com/office/drawing/2014/main" id="{95AACB08-126E-4573-8DB8-9BC83A5FAC3E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l="29199" r="2919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729250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import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999" y="1152000"/>
            <a:ext cx="4361211" cy="5040000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from random import *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range(5):</a:t>
            </a:r>
          </a:p>
          <a:p>
            <a:pPr marL="0" indent="0">
              <a:buNone/>
            </a:pPr>
            <a:r>
              <a:rPr lang="en-US" dirty="0"/>
              <a:t>	print(</a:t>
            </a:r>
            <a:r>
              <a:rPr lang="en-US" dirty="0" err="1"/>
              <a:t>randint</a:t>
            </a:r>
            <a:r>
              <a:rPr lang="en-US" dirty="0"/>
              <a:t>(1, 10))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import random</a:t>
            </a:r>
          </a:p>
          <a:p>
            <a:pPr marL="0" indent="0">
              <a:buNone/>
            </a:pPr>
            <a:r>
              <a:rPr lang="tr-TR" dirty="0"/>
              <a:t>for i in range(5):</a:t>
            </a:r>
          </a:p>
          <a:p>
            <a:pPr marL="0" indent="0">
              <a:buNone/>
            </a:pPr>
            <a:r>
              <a:rPr lang="tr-TR" dirty="0"/>
              <a:t>	print(random.randint(1, 10))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43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dirty="0"/>
              <a:t>8</a:t>
            </a:r>
          </a:p>
          <a:p>
            <a:pPr marL="0" indent="0">
              <a:buNone/>
            </a:pPr>
            <a:r>
              <a:rPr lang="tr-TR" dirty="0"/>
              <a:t>6</a:t>
            </a:r>
          </a:p>
          <a:p>
            <a:pPr marL="0" indent="0">
              <a:buNone/>
            </a:pPr>
            <a:r>
              <a:rPr lang="tr-TR" dirty="0"/>
              <a:t>3</a:t>
            </a:r>
          </a:p>
          <a:p>
            <a:pPr marL="0" indent="0">
              <a:buNone/>
            </a:pPr>
            <a:r>
              <a:rPr lang="tr-TR" dirty="0"/>
              <a:t>6</a:t>
            </a:r>
          </a:p>
          <a:p>
            <a:pPr marL="0" indent="0">
              <a:buNone/>
            </a:pPr>
            <a:r>
              <a:rPr lang="tr-TR" dirty="0"/>
              <a:t>7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859733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Chapter-2 Flow Control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b="1" dirty="0"/>
              <a:t>Ending a Program Early with </a:t>
            </a:r>
            <a:r>
              <a:rPr lang="en-US" b="1" dirty="0" err="1"/>
              <a:t>sys.exit</a:t>
            </a:r>
            <a:r>
              <a:rPr lang="en-US" b="1" dirty="0"/>
              <a:t>()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44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3" name="Picture Placeholder 12" descr="A star filled sky&#10;&#10;Description automatically generated">
            <a:extLst>
              <a:ext uri="{FF2B5EF4-FFF2-40B4-BE49-F238E27FC236}">
                <a16:creationId xmlns:a16="http://schemas.microsoft.com/office/drawing/2014/main" id="{B0195F47-1047-4A42-B03D-EBD881DEE7D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27507" r="2750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506108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sys.exit() Function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8123463" cy="256430"/>
          </a:xfrm>
        </p:spPr>
        <p:txBody>
          <a:bodyPr/>
          <a:lstStyle/>
          <a:p>
            <a:r>
              <a:rPr lang="tr-TR" i="1" dirty="0"/>
              <a:t>Program exits early using sys.exit()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import sys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r>
              <a:rPr lang="tr-TR" dirty="0"/>
              <a:t>import sys before using exit</a:t>
            </a:r>
          </a:p>
          <a:p>
            <a:r>
              <a:rPr lang="tr-TR" dirty="0"/>
              <a:t>useful writing infinite loops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216633" y="1691545"/>
            <a:ext cx="2231684" cy="648000"/>
          </a:xfrm>
        </p:spPr>
        <p:txBody>
          <a:bodyPr/>
          <a:lstStyle/>
          <a:p>
            <a:r>
              <a:rPr lang="tr-TR" dirty="0"/>
              <a:t>example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59086" y="2569266"/>
            <a:ext cx="4349413" cy="3314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import sys</a:t>
            </a:r>
          </a:p>
          <a:p>
            <a:pPr marL="0" indent="0">
              <a:buNone/>
            </a:pPr>
            <a:r>
              <a:rPr lang="en-US" dirty="0"/>
              <a:t>while True:</a:t>
            </a:r>
          </a:p>
          <a:p>
            <a:pPr marL="0" indent="0">
              <a:buNone/>
            </a:pPr>
            <a:r>
              <a:rPr lang="en-US" dirty="0"/>
              <a:t>	print('Type exit to exit.')</a:t>
            </a:r>
          </a:p>
          <a:p>
            <a:pPr marL="0" indent="0">
              <a:buNone/>
            </a:pPr>
            <a:r>
              <a:rPr lang="en-US" dirty="0"/>
              <a:t>	response = input()</a:t>
            </a:r>
          </a:p>
          <a:p>
            <a:pPr marL="0" indent="0">
              <a:buNone/>
            </a:pPr>
            <a:r>
              <a:rPr lang="en-US" dirty="0"/>
              <a:t>	if response == 'exit':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sys.exit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	print('You typed ' + response + '.')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222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Self Assessment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6561"/>
          </a:xfrm>
        </p:spPr>
        <p:txBody>
          <a:bodyPr/>
          <a:lstStyle/>
          <a:p>
            <a:r>
              <a:rPr lang="tr-TR" dirty="0"/>
              <a:t>Asses what you got so far!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Noticible issues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How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control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flow</a:t>
            </a:r>
            <a:r>
              <a:rPr lang="tr-TR" dirty="0"/>
              <a:t>?</a:t>
            </a:r>
          </a:p>
          <a:p>
            <a:pPr marL="0" indent="0">
              <a:buNone/>
            </a:pPr>
            <a:r>
              <a:rPr lang="en-US" dirty="0"/>
              <a:t>Boolean Values</a:t>
            </a:r>
            <a:r>
              <a:rPr lang="tr-TR" dirty="0"/>
              <a:t> &amp; </a:t>
            </a:r>
            <a:r>
              <a:rPr lang="tr-TR" dirty="0" err="1"/>
              <a:t>Operators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Comparison Operators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Indentation</a:t>
            </a:r>
            <a:endParaRPr lang="en-US" dirty="0"/>
          </a:p>
          <a:p>
            <a:pPr marL="0" indent="0">
              <a:buNone/>
            </a:pPr>
            <a:r>
              <a:rPr lang="tr-TR" dirty="0" err="1"/>
              <a:t>If</a:t>
            </a:r>
            <a:r>
              <a:rPr lang="tr-TR" dirty="0"/>
              <a:t>, Else, Elif</a:t>
            </a:r>
          </a:p>
          <a:p>
            <a:pPr marL="0" indent="0">
              <a:buNone/>
            </a:pPr>
            <a:r>
              <a:rPr lang="tr-TR" dirty="0" err="1"/>
              <a:t>While</a:t>
            </a:r>
            <a:r>
              <a:rPr lang="tr-TR" dirty="0"/>
              <a:t>, </a:t>
            </a:r>
            <a:r>
              <a:rPr lang="tr-TR" dirty="0" err="1"/>
              <a:t>For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Break, </a:t>
            </a:r>
            <a:r>
              <a:rPr lang="tr-TR" dirty="0" err="1"/>
              <a:t>Continue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Importing Modules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47544" y="1752505"/>
            <a:ext cx="2231684" cy="648000"/>
          </a:xfrm>
        </p:spPr>
        <p:txBody>
          <a:bodyPr/>
          <a:lstStyle/>
          <a:p>
            <a:r>
              <a:rPr lang="tr-TR" dirty="0" err="1"/>
              <a:t>Unclarified</a:t>
            </a:r>
            <a:r>
              <a:rPr lang="tr-TR" dirty="0"/>
              <a:t> </a:t>
            </a:r>
            <a:r>
              <a:rPr lang="tr-TR" dirty="0" err="1"/>
              <a:t>issues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51781" y="2569266"/>
            <a:ext cx="2794852" cy="3314200"/>
          </a:xfrm>
        </p:spPr>
        <p:txBody>
          <a:bodyPr/>
          <a:lstStyle/>
          <a:p>
            <a:r>
              <a:rPr lang="tr-TR" dirty="0"/>
              <a:t>What are the points need further explanations?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Interesting Details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What is the most interesting details in this chapter?</a:t>
            </a:r>
            <a:endParaRPr lang="en-US" dirty="0"/>
          </a:p>
        </p:txBody>
      </p:sp>
      <p:pic>
        <p:nvPicPr>
          <p:cNvPr id="12" name="Picture 11" descr="A picture containing table, drawing, computer&#10;&#10;Description automatically generated">
            <a:extLst>
              <a:ext uri="{FF2B5EF4-FFF2-40B4-BE49-F238E27FC236}">
                <a16:creationId xmlns:a16="http://schemas.microsoft.com/office/drawing/2014/main" id="{A88D320D-EB5F-4EB0-BF4F-7C3E09D98E4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607" y="5320199"/>
            <a:ext cx="1242170" cy="1247715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4D0C9B3-64E8-46BC-96D3-913B781B294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2300" y="5320199"/>
            <a:ext cx="1247715" cy="1247715"/>
          </a:xfrm>
          <a:prstGeom prst="rect">
            <a:avLst/>
          </a:prstGeom>
        </p:spPr>
      </p:pic>
      <p:pic>
        <p:nvPicPr>
          <p:cNvPr id="16" name="Picture 15" descr="A close up of graphics&#10;&#10;Description automatically generated">
            <a:extLst>
              <a:ext uri="{FF2B5EF4-FFF2-40B4-BE49-F238E27FC236}">
                <a16:creationId xmlns:a16="http://schemas.microsoft.com/office/drawing/2014/main" id="{40CE2CAF-FB88-45FA-BD9E-61287814D3E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0735" y="5237740"/>
            <a:ext cx="1412631" cy="14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707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picture containing object, star, wave, water&#10;&#10;Description automatically generated">
            <a:extLst>
              <a:ext uri="{FF2B5EF4-FFF2-40B4-BE49-F238E27FC236}">
                <a16:creationId xmlns:a16="http://schemas.microsoft.com/office/drawing/2014/main" id="{3AD4BEFA-B173-4A32-B6AE-E3BE114B68E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927" b="12927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tx1">
              <a:alpha val="46000"/>
            </a:schemeClr>
          </a:solidFill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32835" y="2666345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chemeClr val="tx1">
              <a:alpha val="62000"/>
            </a:schemeClr>
          </a:solidFill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3469" y="3772268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3469" y="4004833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63469" y="4255474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tr-TR" dirty="0">
                <a:hlinkClick r:id="rId10"/>
              </a:rPr>
              <a:t>http://cats.iku.edu.tr/portal/site/0181f2bc-77e3-4a85-ade9-77639d9bcfe7</a:t>
            </a:r>
            <a:endParaRPr lang="en-US" dirty="0"/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59249" y="4489961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tr-TR" dirty="0">
                <a:hlinkClick r:id="rId13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039" b="150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490261-1200-4EC7-95B0-2241EE54AA3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E1961DD-CF27-443B-BFF6-660110ED0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BF51BA-BD97-4518-9266-AD3D615498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2991</Words>
  <Application>Microsoft Office PowerPoint</Application>
  <PresentationFormat>Ekran Gösterisi (4:3)</PresentationFormat>
  <Paragraphs>748</Paragraphs>
  <Slides>47</Slides>
  <Notes>38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47</vt:i4>
      </vt:variant>
    </vt:vector>
  </HeadingPairs>
  <TitlesOfParts>
    <vt:vector size="53" baseType="lpstr">
      <vt:lpstr>Arial</vt:lpstr>
      <vt:lpstr>Calibri</vt:lpstr>
      <vt:lpstr>Calibri Light</vt:lpstr>
      <vt:lpstr>Rockwell</vt:lpstr>
      <vt:lpstr>Times New Roman</vt:lpstr>
      <vt:lpstr>Office Theme</vt:lpstr>
      <vt:lpstr>Chapter 2: Flow Control</vt:lpstr>
      <vt:lpstr>Content</vt:lpstr>
      <vt:lpstr>Chapter-2 Flow Control</vt:lpstr>
      <vt:lpstr>Boolean Data Type</vt:lpstr>
      <vt:lpstr>Chapter-2 Flow Control</vt:lpstr>
      <vt:lpstr>Comparison Operators</vt:lpstr>
      <vt:lpstr>Comparison</vt:lpstr>
      <vt:lpstr>Chapter-2 Flow Control</vt:lpstr>
      <vt:lpstr>Boolean Operators</vt:lpstr>
      <vt:lpstr>Chapter-2 Flow Control</vt:lpstr>
      <vt:lpstr>Expressions on Python 3.8.0 Shell</vt:lpstr>
      <vt:lpstr>Chapter-2 Flow Control</vt:lpstr>
      <vt:lpstr>Expressions vs Data Types</vt:lpstr>
      <vt:lpstr>Clauses: Blocks of Code</vt:lpstr>
      <vt:lpstr>Indentation is for Blocks</vt:lpstr>
      <vt:lpstr>Chapter-2 Flow Control</vt:lpstr>
      <vt:lpstr>if Statements</vt:lpstr>
      <vt:lpstr>Flow of If Statement</vt:lpstr>
      <vt:lpstr>else Statements</vt:lpstr>
      <vt:lpstr>Flow of else Statement</vt:lpstr>
      <vt:lpstr>elif Statements</vt:lpstr>
      <vt:lpstr>Flow of elif Statement</vt:lpstr>
      <vt:lpstr>elif Statements</vt:lpstr>
      <vt:lpstr>elif Statements</vt:lpstr>
      <vt:lpstr>while Loop Statements</vt:lpstr>
      <vt:lpstr>Flow of while Statement</vt:lpstr>
      <vt:lpstr>while Statement</vt:lpstr>
      <vt:lpstr>break Loop Statements</vt:lpstr>
      <vt:lpstr>Flow of break Statement</vt:lpstr>
      <vt:lpstr>break Statement</vt:lpstr>
      <vt:lpstr>continue Statement</vt:lpstr>
      <vt:lpstr>Flow of continue Statement</vt:lpstr>
      <vt:lpstr>continue Statement</vt:lpstr>
      <vt:lpstr>for Loops and the range() Function</vt:lpstr>
      <vt:lpstr>Flow of for Statement</vt:lpstr>
      <vt:lpstr>for Statement</vt:lpstr>
      <vt:lpstr>for Loops and the range(Starting, Stopping, Intervals)</vt:lpstr>
      <vt:lpstr>Chapter-2 Flow Control</vt:lpstr>
      <vt:lpstr>Importing Modules</vt:lpstr>
      <vt:lpstr>import statement</vt:lpstr>
      <vt:lpstr>Function Call</vt:lpstr>
      <vt:lpstr>from import Statements</vt:lpstr>
      <vt:lpstr>import</vt:lpstr>
      <vt:lpstr>Chapter-2 Flow Control</vt:lpstr>
      <vt:lpstr>sys.exit() Function</vt:lpstr>
      <vt:lpstr>Self Assessment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2020-02-12T16:15:01Z</dcterms:created>
  <dcterms:modified xsi:type="dcterms:W3CDTF">2022-02-24T17:48:07Z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c66f6488-6f7b-4340-b880-828136ff7811_Enabled">
    <vt:lpwstr>true</vt:lpwstr>
  </property>
  <property fmtid="{D5CDD505-2E9C-101B-9397-08002B2CF9AE}" pid="4" name="MSIP_Label_c66f6488-6f7b-4340-b880-828136ff7811_SetDate">
    <vt:lpwstr>2021-02-19T12:57:13Z</vt:lpwstr>
  </property>
  <property fmtid="{D5CDD505-2E9C-101B-9397-08002B2CF9AE}" pid="5" name="MSIP_Label_c66f6488-6f7b-4340-b880-828136ff7811_Method">
    <vt:lpwstr>Privileged</vt:lpwstr>
  </property>
  <property fmtid="{D5CDD505-2E9C-101B-9397-08002B2CF9AE}" pid="6" name="MSIP_Label_c66f6488-6f7b-4340-b880-828136ff7811_Name">
    <vt:lpwstr>c66f6488-6f7b-4340-b880-828136ff7811</vt:lpwstr>
  </property>
  <property fmtid="{D5CDD505-2E9C-101B-9397-08002B2CF9AE}" pid="7" name="MSIP_Label_c66f6488-6f7b-4340-b880-828136ff7811_SiteId">
    <vt:lpwstr>832c1bc9-1e43-4f93-a086-708d36b0c95d</vt:lpwstr>
  </property>
  <property fmtid="{D5CDD505-2E9C-101B-9397-08002B2CF9AE}" pid="8" name="MSIP_Label_c66f6488-6f7b-4340-b880-828136ff7811_ActionId">
    <vt:lpwstr>0cb72041-6a39-4b5d-aed0-22a1ecd5113c</vt:lpwstr>
  </property>
  <property fmtid="{D5CDD505-2E9C-101B-9397-08002B2CF9AE}" pid="9" name="MSIP_Label_c66f6488-6f7b-4340-b880-828136ff7811_ContentBits">
    <vt:lpwstr>0</vt:lpwstr>
  </property>
</Properties>
</file>