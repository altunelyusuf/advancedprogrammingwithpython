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92"/>
  </p:notesMasterIdLst>
  <p:handoutMasterIdLst>
    <p:handoutMasterId r:id="rId93"/>
  </p:handoutMasterIdLst>
  <p:sldIdLst>
    <p:sldId id="256" r:id="rId5"/>
    <p:sldId id="261" r:id="rId6"/>
    <p:sldId id="405" r:id="rId7"/>
    <p:sldId id="442" r:id="rId8"/>
    <p:sldId id="443" r:id="rId9"/>
    <p:sldId id="444" r:id="rId10"/>
    <p:sldId id="411" r:id="rId11"/>
    <p:sldId id="342" r:id="rId12"/>
    <p:sldId id="343" r:id="rId13"/>
    <p:sldId id="357" r:id="rId14"/>
    <p:sldId id="445" r:id="rId15"/>
    <p:sldId id="269" r:id="rId16"/>
    <p:sldId id="406" r:id="rId17"/>
    <p:sldId id="358" r:id="rId18"/>
    <p:sldId id="408" r:id="rId19"/>
    <p:sldId id="429" r:id="rId20"/>
    <p:sldId id="367" r:id="rId21"/>
    <p:sldId id="407" r:id="rId22"/>
    <p:sldId id="359" r:id="rId23"/>
    <p:sldId id="393" r:id="rId24"/>
    <p:sldId id="394" r:id="rId25"/>
    <p:sldId id="360" r:id="rId26"/>
    <p:sldId id="446" r:id="rId27"/>
    <p:sldId id="409" r:id="rId28"/>
    <p:sldId id="447" r:id="rId29"/>
    <p:sldId id="410" r:id="rId30"/>
    <p:sldId id="448" r:id="rId31"/>
    <p:sldId id="414" r:id="rId32"/>
    <p:sldId id="449" r:id="rId33"/>
    <p:sldId id="450" r:id="rId34"/>
    <p:sldId id="451" r:id="rId35"/>
    <p:sldId id="452" r:id="rId36"/>
    <p:sldId id="453" r:id="rId37"/>
    <p:sldId id="454" r:id="rId38"/>
    <p:sldId id="456" r:id="rId39"/>
    <p:sldId id="457" r:id="rId40"/>
    <p:sldId id="455" r:id="rId41"/>
    <p:sldId id="430" r:id="rId42"/>
    <p:sldId id="395" r:id="rId43"/>
    <p:sldId id="361" r:id="rId44"/>
    <p:sldId id="431" r:id="rId45"/>
    <p:sldId id="458" r:id="rId46"/>
    <p:sldId id="415" r:id="rId47"/>
    <p:sldId id="459" r:id="rId48"/>
    <p:sldId id="413" r:id="rId49"/>
    <p:sldId id="432" r:id="rId50"/>
    <p:sldId id="363" r:id="rId51"/>
    <p:sldId id="460" r:id="rId52"/>
    <p:sldId id="412" r:id="rId53"/>
    <p:sldId id="416" r:id="rId54"/>
    <p:sldId id="433" r:id="rId55"/>
    <p:sldId id="418" r:id="rId56"/>
    <p:sldId id="417" r:id="rId57"/>
    <p:sldId id="364" r:id="rId58"/>
    <p:sldId id="419" r:id="rId59"/>
    <p:sldId id="434" r:id="rId60"/>
    <p:sldId id="420" r:id="rId61"/>
    <p:sldId id="421" r:id="rId62"/>
    <p:sldId id="423" r:id="rId63"/>
    <p:sldId id="435" r:id="rId64"/>
    <p:sldId id="422" r:id="rId65"/>
    <p:sldId id="362" r:id="rId66"/>
    <p:sldId id="424" r:id="rId67"/>
    <p:sldId id="396" r:id="rId68"/>
    <p:sldId id="425" r:id="rId69"/>
    <p:sldId id="366" r:id="rId70"/>
    <p:sldId id="436" r:id="rId71"/>
    <p:sldId id="368" r:id="rId72"/>
    <p:sldId id="437" r:id="rId73"/>
    <p:sldId id="426" r:id="rId74"/>
    <p:sldId id="397" r:id="rId75"/>
    <p:sldId id="438" r:id="rId76"/>
    <p:sldId id="428" r:id="rId77"/>
    <p:sldId id="369" r:id="rId78"/>
    <p:sldId id="365" r:id="rId79"/>
    <p:sldId id="399" r:id="rId80"/>
    <p:sldId id="439" r:id="rId81"/>
    <p:sldId id="462" r:id="rId82"/>
    <p:sldId id="461" r:id="rId83"/>
    <p:sldId id="440" r:id="rId84"/>
    <p:sldId id="463" r:id="rId85"/>
    <p:sldId id="427" r:id="rId86"/>
    <p:sldId id="464" r:id="rId87"/>
    <p:sldId id="441" r:id="rId88"/>
    <p:sldId id="465" r:id="rId89"/>
    <p:sldId id="299" r:id="rId90"/>
    <p:sldId id="279" r:id="rId9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71A1"/>
    <a:srgbClr val="FFECB2"/>
    <a:srgbClr val="FFD542"/>
    <a:srgbClr val="FFD74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07" autoAdjust="0"/>
  </p:normalViewPr>
  <p:slideViewPr>
    <p:cSldViewPr snapToGrid="0">
      <p:cViewPr varScale="1">
        <p:scale>
          <a:sx n="77" d="100"/>
          <a:sy n="77" d="100"/>
        </p:scale>
        <p:origin x="1646" y="62"/>
      </p:cViewPr>
      <p:guideLst/>
    </p:cSldViewPr>
  </p:slideViewPr>
  <p:outlineViewPr>
    <p:cViewPr>
      <p:scale>
        <a:sx n="33" d="100"/>
        <a:sy n="33" d="100"/>
      </p:scale>
      <p:origin x="0" y="-1739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0" d="100"/>
          <a:sy n="50" d="100"/>
        </p:scale>
        <p:origin x="2640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viewProps" Target="viewProp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3/25/2022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F815A-5A10-42A8-9FEC-3938D2D9BA48}" type="datetimeFigureOut">
              <a:rPr lang="en-US" noProof="0" smtClean="0"/>
              <a:t>3/25/2022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49DAF-093F-4482-AA38-346E9A2DEE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681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21393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9264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239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1651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695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16444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529612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18637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515378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649315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049088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509025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3044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9597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733642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026139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63610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33674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56749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46012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96369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02502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17820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69832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62523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/>
              <a:t>16.04.2021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16145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4131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89984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186703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/>
              <a:t>03.04.2020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942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119423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341285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460262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3842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52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9805456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54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8060911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10701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57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7994827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6994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61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732743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63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678512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65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2071380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25250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9512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70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8162913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2576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73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709848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75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7527086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3454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531377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8792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805347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82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4295359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107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86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2409852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87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309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Half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4506964" cy="6684572"/>
          </a:xfr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4743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00" y="3517901"/>
            <a:ext cx="4509000" cy="1409700"/>
          </a:xfrm>
          <a:solidFill>
            <a:schemeClr val="tx1"/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927601"/>
            <a:ext cx="4509000" cy="1845743"/>
          </a:xfrm>
          <a:solidFill>
            <a:schemeClr val="tx1">
              <a:lumMod val="85000"/>
              <a:lumOff val="15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00" y="86715"/>
            <a:ext cx="4506964" cy="3431187"/>
          </a:xfrm>
          <a:solidFill>
            <a:srgbClr val="333333"/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D5F0C9D-A08F-4539-BA26-61D24BBE6E9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1152000"/>
            <a:ext cx="3980775" cy="4680000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7283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8505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E0A84F6-FEAA-4BDD-9282-20006CFE8BD1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CD00A51-7C86-40CE-9A85-9305A72856F5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2581C84-47AA-4227-BB97-9D73745C635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3D0208D-7363-46C1-93C0-34D5C7CC03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BF00BA4-FF52-480A-802E-02DFDD8C7441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8FC3C8E-D2F9-46FE-B29F-17C02B89FFCC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C53E23-4CA7-479D-B22A-A5FCB3E5B5F6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6F0F1DB-0C5F-4895-B71A-86B7D122DD4B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34BF4B3-A394-4B33-84E8-433CB3F4D710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6E11BA4-7EBA-47E5-8E07-57E665A74955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A178943-1EAE-4532-95FB-DFD1B8A936ED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1603A2C-1F9D-4BAB-BF6C-C411F8898F5A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019487C-9065-4D0C-8A4F-0BEC960FF5E1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2E39A85-934A-4BF2-93E3-761989F1B981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52000"/>
            <a:ext cx="4104000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94AA1D0D-4A88-48E6-9F92-152A70F62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7"/>
            <a:ext cx="4103712" cy="50361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BAF7-A9F4-4666-A96D-E0820914D8A4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210B130-61BF-42BB-A9D3-54F0E9975E1E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ED4637A-B150-47D5-91AA-5443ECDF24E5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345A228-3ACD-436B-BAEA-C19CFB995DFF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808980A-AE2C-4B9A-923B-70728FF4B383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90E16CE-7F71-45E1-88F3-0F2422E4E14F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024FFFC-3734-4C7F-8BB4-1D72D8764C19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5E243F7-C034-42A6-94F7-39C26EF11897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F7416F4-3283-4DFF-BF8E-0F1B10C57C7B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E43006F-FE7C-4D9C-9803-C7A1705E2E29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0B601BE-5173-46B7-B727-24C354628A9A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840A278-AE7C-4997-AAEA-F758452843B7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3AE5DE6-4BFB-4DB3-8207-ABE7B804220D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6BC0376-95EB-4B85-AD13-AB07742066DC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270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261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86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162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80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60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7309" y="1148060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085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mage Bullets">
    <p:bg>
      <p:bgPr>
        <a:blipFill dpi="0" rotWithShape="1">
          <a:blip r:embed="rId2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val 27">
            <a:extLst>
              <a:ext uri="{FF2B5EF4-FFF2-40B4-BE49-F238E27FC236}">
                <a16:creationId xmlns:a16="http://schemas.microsoft.com/office/drawing/2014/main" id="{2041BFF2-BC3B-3145-940D-004809E5A80A}"/>
              </a:ext>
            </a:extLst>
          </p:cNvPr>
          <p:cNvSpPr>
            <a:spLocks noChangeAspect="1"/>
          </p:cNvSpPr>
          <p:nvPr userDrawn="1"/>
        </p:nvSpPr>
        <p:spPr>
          <a:xfrm>
            <a:off x="2287944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9906F5C-A183-DF45-AE48-C1D611CDC98D}"/>
              </a:ext>
            </a:extLst>
          </p:cNvPr>
          <p:cNvSpPr>
            <a:spLocks noChangeAspect="1"/>
          </p:cNvSpPr>
          <p:nvPr userDrawn="1"/>
        </p:nvSpPr>
        <p:spPr>
          <a:xfrm>
            <a:off x="4008795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9CFF2EB-CD95-EA4D-810E-C9F8127071FE}"/>
              </a:ext>
            </a:extLst>
          </p:cNvPr>
          <p:cNvSpPr>
            <a:spLocks noChangeAspect="1"/>
          </p:cNvSpPr>
          <p:nvPr userDrawn="1"/>
        </p:nvSpPr>
        <p:spPr>
          <a:xfrm>
            <a:off x="5729647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E120266-68E0-504A-B1C8-F3369F5AF7C0}"/>
              </a:ext>
            </a:extLst>
          </p:cNvPr>
          <p:cNvSpPr>
            <a:spLocks noChangeAspect="1"/>
          </p:cNvSpPr>
          <p:nvPr userDrawn="1"/>
        </p:nvSpPr>
        <p:spPr>
          <a:xfrm>
            <a:off x="7450499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FB4A810-8614-AD44-B362-CE45C8C679CE}"/>
              </a:ext>
            </a:extLst>
          </p:cNvPr>
          <p:cNvSpPr>
            <a:spLocks noChangeAspect="1"/>
          </p:cNvSpPr>
          <p:nvPr userDrawn="1"/>
        </p:nvSpPr>
        <p:spPr>
          <a:xfrm>
            <a:off x="569333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44556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407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86259" y="4683647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7111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62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44557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5407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86260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4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07111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5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4071" y="4683350"/>
            <a:ext cx="162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0B1F8F6-73A5-F142-8A28-094DA998B5F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4841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F78A887E-89A6-244C-8AA4-484FE535876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535133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52B18661-99A8-214A-A089-09F11F1EB5C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255424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69D5F0B5-DE10-D646-9244-6B4289E7793E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975716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72B87CCD-6D17-844B-87EF-F8BC69D79B0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696006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25" name="Straight Connector 24" descr="First divider line on slide">
            <a:extLst>
              <a:ext uri="{FF2B5EF4-FFF2-40B4-BE49-F238E27FC236}">
                <a16:creationId xmlns:a16="http://schemas.microsoft.com/office/drawing/2014/main" id="{402BCAE3-72EC-4098-A211-3555BFDE93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994285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 descr="Second divider line on slide">
            <a:extLst>
              <a:ext uri="{FF2B5EF4-FFF2-40B4-BE49-F238E27FC236}">
                <a16:creationId xmlns:a16="http://schemas.microsoft.com/office/drawing/2014/main" id="{94A08494-9C0E-4AAF-BE9A-166FE994D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15156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 descr="Third divider line on slide">
            <a:extLst>
              <a:ext uri="{FF2B5EF4-FFF2-40B4-BE49-F238E27FC236}">
                <a16:creationId xmlns:a16="http://schemas.microsoft.com/office/drawing/2014/main" id="{698FE6A1-AEF7-4FD7-A689-908A6B9CC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36026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 descr="Fourth divider line on slide">
            <a:extLst>
              <a:ext uri="{FF2B5EF4-FFF2-40B4-BE49-F238E27FC236}">
                <a16:creationId xmlns:a16="http://schemas.microsoft.com/office/drawing/2014/main" id="{636DD6E3-6313-40D8-B03E-60E2E5A6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6897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0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 x Image Bulle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id="{22F44C7F-FA9B-CB41-B5C2-6A40A969176A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1366589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ACFECE1-DAAF-5642-BD0B-7A8FE9D241D9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2931225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0294551-87F8-DE4F-B54E-8231A9CAF5BF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4495861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4854E3-04DE-4154-AD8A-9F8AC3E4EE33}"/>
              </a:ext>
            </a:extLst>
          </p:cNvPr>
          <p:cNvSpPr/>
          <p:nvPr userDrawn="1"/>
        </p:nvSpPr>
        <p:spPr>
          <a:xfrm>
            <a:off x="79014" y="86714"/>
            <a:ext cx="4656272" cy="6684572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1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DDC1CFF-7E89-421D-9524-BB3AECAFE00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9013" y="496139"/>
            <a:ext cx="4656273" cy="6275148"/>
          </a:xfrm>
          <a:custGeom>
            <a:avLst/>
            <a:gdLst>
              <a:gd name="connsiteX0" fmla="*/ 0 w 4441248"/>
              <a:gd name="connsiteY0" fmla="*/ 5980106 h 6321393"/>
              <a:gd name="connsiteX1" fmla="*/ 1034410 w 4441248"/>
              <a:gd name="connsiteY1" fmla="*/ 6048613 h 6321393"/>
              <a:gd name="connsiteX2" fmla="*/ 1778431 w 4441248"/>
              <a:gd name="connsiteY2" fmla="*/ 6321393 h 6321393"/>
              <a:gd name="connsiteX3" fmla="*/ 0 w 4441248"/>
              <a:gd name="connsiteY3" fmla="*/ 6321393 h 6321393"/>
              <a:gd name="connsiteX4" fmla="*/ 2269200 w 4441248"/>
              <a:gd name="connsiteY4" fmla="*/ 5443908 h 6321393"/>
              <a:gd name="connsiteX5" fmla="*/ 2395460 w 4441248"/>
              <a:gd name="connsiteY5" fmla="*/ 5885070 h 6321393"/>
              <a:gd name="connsiteX6" fmla="*/ 1997461 w 4441248"/>
              <a:gd name="connsiteY6" fmla="*/ 6195222 h 6321393"/>
              <a:gd name="connsiteX7" fmla="*/ 1526609 w 4441248"/>
              <a:gd name="connsiteY7" fmla="*/ 5931629 h 6321393"/>
              <a:gd name="connsiteX8" fmla="*/ 4441248 w 4441248"/>
              <a:gd name="connsiteY8" fmla="*/ 4283292 h 6321393"/>
              <a:gd name="connsiteX9" fmla="*/ 4441248 w 4441248"/>
              <a:gd name="connsiteY9" fmla="*/ 6321393 h 6321393"/>
              <a:gd name="connsiteX10" fmla="*/ 2296366 w 4441248"/>
              <a:gd name="connsiteY10" fmla="*/ 6321393 h 6321393"/>
              <a:gd name="connsiteX11" fmla="*/ 2056375 w 4441248"/>
              <a:gd name="connsiteY11" fmla="*/ 6224358 h 6321393"/>
              <a:gd name="connsiteX12" fmla="*/ 0 w 4441248"/>
              <a:gd name="connsiteY12" fmla="*/ 2359561 h 6321393"/>
              <a:gd name="connsiteX13" fmla="*/ 828613 w 4441248"/>
              <a:gd name="connsiteY13" fmla="*/ 2588947 h 6321393"/>
              <a:gd name="connsiteX14" fmla="*/ 0 w 4441248"/>
              <a:gd name="connsiteY14" fmla="*/ 3479506 h 6321393"/>
              <a:gd name="connsiteX15" fmla="*/ 3025930 w 4441248"/>
              <a:gd name="connsiteY15" fmla="*/ 144202 h 6321393"/>
              <a:gd name="connsiteX16" fmla="*/ 4441248 w 4441248"/>
              <a:gd name="connsiteY16" fmla="*/ 1340385 h 6321393"/>
              <a:gd name="connsiteX17" fmla="*/ 4441248 w 4441248"/>
              <a:gd name="connsiteY17" fmla="*/ 4098899 h 6321393"/>
              <a:gd name="connsiteX18" fmla="*/ 1417099 w 4441248"/>
              <a:gd name="connsiteY18" fmla="*/ 5846153 h 6321393"/>
              <a:gd name="connsiteX19" fmla="*/ 0 w 4441248"/>
              <a:gd name="connsiteY19" fmla="*/ 5428711 h 6321393"/>
              <a:gd name="connsiteX20" fmla="*/ 0 w 4441248"/>
              <a:gd name="connsiteY20" fmla="*/ 3724470 h 6321393"/>
              <a:gd name="connsiteX21" fmla="*/ 2684090 w 4441248"/>
              <a:gd name="connsiteY21" fmla="*/ 0 h 6321393"/>
              <a:gd name="connsiteX22" fmla="*/ 2784132 w 4441248"/>
              <a:gd name="connsiteY22" fmla="*/ 186781 h 6321393"/>
              <a:gd name="connsiteX23" fmla="*/ 1027256 w 4441248"/>
              <a:gd name="connsiteY23" fmla="*/ 2337985 h 6321393"/>
              <a:gd name="connsiteX24" fmla="*/ 451581 w 4441248"/>
              <a:gd name="connsiteY24" fmla="*/ 2265656 h 632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441248" h="6321393">
                <a:moveTo>
                  <a:pt x="0" y="5980106"/>
                </a:moveTo>
                <a:lnTo>
                  <a:pt x="1034410" y="6048613"/>
                </a:lnTo>
                <a:lnTo>
                  <a:pt x="1778431" y="6321393"/>
                </a:lnTo>
                <a:lnTo>
                  <a:pt x="0" y="6321393"/>
                </a:lnTo>
                <a:close/>
                <a:moveTo>
                  <a:pt x="2269200" y="5443908"/>
                </a:moveTo>
                <a:lnTo>
                  <a:pt x="2395460" y="5885070"/>
                </a:lnTo>
                <a:lnTo>
                  <a:pt x="1997461" y="6195222"/>
                </a:lnTo>
                <a:lnTo>
                  <a:pt x="1526609" y="5931629"/>
                </a:lnTo>
                <a:close/>
                <a:moveTo>
                  <a:pt x="4441248" y="4283292"/>
                </a:moveTo>
                <a:lnTo>
                  <a:pt x="4441248" y="6321393"/>
                </a:lnTo>
                <a:lnTo>
                  <a:pt x="2296366" y="6321393"/>
                </a:lnTo>
                <a:lnTo>
                  <a:pt x="2056375" y="6224358"/>
                </a:lnTo>
                <a:close/>
                <a:moveTo>
                  <a:pt x="0" y="2359561"/>
                </a:moveTo>
                <a:lnTo>
                  <a:pt x="828613" y="2588947"/>
                </a:lnTo>
                <a:lnTo>
                  <a:pt x="0" y="3479506"/>
                </a:lnTo>
                <a:close/>
                <a:moveTo>
                  <a:pt x="3025930" y="144202"/>
                </a:moveTo>
                <a:lnTo>
                  <a:pt x="4441248" y="1340385"/>
                </a:lnTo>
                <a:lnTo>
                  <a:pt x="4441248" y="4098899"/>
                </a:lnTo>
                <a:lnTo>
                  <a:pt x="1417099" y="5846153"/>
                </a:lnTo>
                <a:lnTo>
                  <a:pt x="0" y="5428711"/>
                </a:lnTo>
                <a:lnTo>
                  <a:pt x="0" y="3724470"/>
                </a:lnTo>
                <a:close/>
                <a:moveTo>
                  <a:pt x="2684090" y="0"/>
                </a:moveTo>
                <a:lnTo>
                  <a:pt x="2784132" y="186781"/>
                </a:lnTo>
                <a:lnTo>
                  <a:pt x="1027256" y="2337985"/>
                </a:lnTo>
                <a:lnTo>
                  <a:pt x="451581" y="22656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1343" y="432000"/>
            <a:ext cx="3527657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76212" y="3582825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6212" y="5147461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76212" y="1369128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6212" y="2933764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76212" y="4498400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76212" y="1975094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51" name="Octagon 50">
            <a:extLst>
              <a:ext uri="{FF2B5EF4-FFF2-40B4-BE49-F238E27FC236}">
                <a16:creationId xmlns:a16="http://schemas.microsoft.com/office/drawing/2014/main" id="{758B0359-60B9-4D73-825D-ACE303A61C50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9921541-DECE-43BB-BF92-A4B5D5EE5469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3095B3B-1284-4E49-BE50-9C84BE7E58B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491DD10-64CD-40CA-A0BB-397696C0C168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5" name="Slide Number Placeholder 54">
            <a:extLst>
              <a:ext uri="{FF2B5EF4-FFF2-40B4-BE49-F238E27FC236}">
                <a16:creationId xmlns:a16="http://schemas.microsoft.com/office/drawing/2014/main" id="{8702E81C-40F0-489E-8339-0139157E632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089FAF0-BF60-4AB9-A62E-595008DC4646}"/>
              </a:ext>
            </a:extLst>
          </p:cNvPr>
          <p:cNvGrpSpPr/>
          <p:nvPr userDrawn="1"/>
        </p:nvGrpSpPr>
        <p:grpSpPr>
          <a:xfrm>
            <a:off x="1419000" y="2269753"/>
            <a:ext cx="2310885" cy="3011457"/>
            <a:chOff x="1892000" y="2269752"/>
            <a:chExt cx="3081180" cy="3011457"/>
          </a:xfrm>
        </p:grpSpPr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ED7DCD52-0637-49D9-AD21-2DF94DD3E348}"/>
                </a:ext>
              </a:extLst>
            </p:cNvPr>
            <p:cNvSpPr/>
            <p:nvPr/>
          </p:nvSpPr>
          <p:spPr>
            <a:xfrm rot="4308689">
              <a:off x="2464728" y="2678543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863CC2-FBFD-47D7-AB8F-DB2367EABF92}"/>
                </a:ext>
              </a:extLst>
            </p:cNvPr>
            <p:cNvSpPr/>
            <p:nvPr/>
          </p:nvSpPr>
          <p:spPr>
            <a:xfrm rot="13830869">
              <a:off x="2730967" y="5004791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8" name="Freeform: Shape 17">
              <a:extLst>
                <a:ext uri="{FF2B5EF4-FFF2-40B4-BE49-F238E27FC236}">
                  <a16:creationId xmlns:a16="http://schemas.microsoft.com/office/drawing/2014/main" id="{09ADFC5E-3BBA-404B-A496-A4035DF5E859}"/>
                </a:ext>
              </a:extLst>
            </p:cNvPr>
            <p:cNvSpPr/>
            <p:nvPr/>
          </p:nvSpPr>
          <p:spPr>
            <a:xfrm rot="12431080">
              <a:off x="2802151" y="4740752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9" name="Freeform: Shape 19">
              <a:extLst>
                <a:ext uri="{FF2B5EF4-FFF2-40B4-BE49-F238E27FC236}">
                  <a16:creationId xmlns:a16="http://schemas.microsoft.com/office/drawing/2014/main" id="{56E90DCD-03FB-4E9A-BD40-5269E9ACF1B1}"/>
                </a:ext>
              </a:extLst>
            </p:cNvPr>
            <p:cNvSpPr/>
            <p:nvPr/>
          </p:nvSpPr>
          <p:spPr>
            <a:xfrm rot="4308689">
              <a:off x="2058980" y="2102772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0" name="Freeform: Shape 23">
              <a:extLst>
                <a:ext uri="{FF2B5EF4-FFF2-40B4-BE49-F238E27FC236}">
                  <a16:creationId xmlns:a16="http://schemas.microsoft.com/office/drawing/2014/main" id="{529D90B1-BC17-4168-A297-1DF303FB3C48}"/>
                </a:ext>
              </a:extLst>
            </p:cNvPr>
            <p:cNvSpPr/>
            <p:nvPr/>
          </p:nvSpPr>
          <p:spPr>
            <a:xfrm rot="17193105">
              <a:off x="4648324" y="3873318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C5DEA8E-5C03-42CC-987D-490297890048}"/>
                </a:ext>
              </a:extLst>
            </p:cNvPr>
            <p:cNvSpPr/>
            <p:nvPr/>
          </p:nvSpPr>
          <p:spPr>
            <a:xfrm rot="17193105">
              <a:off x="4152588" y="3654247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2" name="Freeform: Shape 28">
              <a:extLst>
                <a:ext uri="{FF2B5EF4-FFF2-40B4-BE49-F238E27FC236}">
                  <a16:creationId xmlns:a16="http://schemas.microsoft.com/office/drawing/2014/main" id="{404E048B-9C67-4EC0-82E9-DC9D4AEE9703}"/>
                </a:ext>
              </a:extLst>
            </p:cNvPr>
            <p:cNvSpPr/>
            <p:nvPr/>
          </p:nvSpPr>
          <p:spPr>
            <a:xfrm rot="4308689">
              <a:off x="3831248" y="2441608"/>
              <a:ext cx="648657" cy="777553"/>
            </a:xfrm>
            <a:custGeom>
              <a:avLst/>
              <a:gdLst>
                <a:gd name="connsiteX0" fmla="*/ 0 w 648657"/>
                <a:gd name="connsiteY0" fmla="*/ 777553 h 777553"/>
                <a:gd name="connsiteX1" fmla="*/ 255474 w 648657"/>
                <a:gd name="connsiteY1" fmla="*/ 0 h 777553"/>
                <a:gd name="connsiteX2" fmla="*/ 648657 w 648657"/>
                <a:gd name="connsiteY2" fmla="*/ 713937 h 777553"/>
                <a:gd name="connsiteX3" fmla="*/ 0 w 648657"/>
                <a:gd name="connsiteY3" fmla="*/ 777553 h 777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8657" h="777553">
                  <a:moveTo>
                    <a:pt x="0" y="777553"/>
                  </a:moveTo>
                  <a:lnTo>
                    <a:pt x="255474" y="0"/>
                  </a:lnTo>
                  <a:lnTo>
                    <a:pt x="648657" y="713937"/>
                  </a:lnTo>
                  <a:lnTo>
                    <a:pt x="0" y="777553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EC82E52C-5E33-5942-8474-7ED4354EC95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554406" y="4835817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9" name="Picture Placeholder 3">
            <a:extLst>
              <a:ext uri="{FF2B5EF4-FFF2-40B4-BE49-F238E27FC236}">
                <a16:creationId xmlns:a16="http://schemas.microsoft.com/office/drawing/2014/main" id="{07EC0147-5BE6-9248-BF42-BD99608F459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554406" y="3271181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2B8E1942-1472-BC49-A624-3A31190A69E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554406" y="1706545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36" name="Straight Connector 35" descr="First divider line on slide">
            <a:extLst>
              <a:ext uri="{FF2B5EF4-FFF2-40B4-BE49-F238E27FC236}">
                <a16:creationId xmlns:a16="http://schemas.microsoft.com/office/drawing/2014/main" id="{A140998F-B877-4BDC-843C-0071F5066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2616579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 descr="Second divider line on slide">
            <a:extLst>
              <a:ext uri="{FF2B5EF4-FFF2-40B4-BE49-F238E27FC236}">
                <a16:creationId xmlns:a16="http://schemas.microsoft.com/office/drawing/2014/main" id="{2084D353-BE8A-4AAA-8BEC-B71CEE9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4109914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915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725BC56-C7B6-400F-80F9-3F968E2CAE0E}"/>
              </a:ext>
            </a:extLst>
          </p:cNvPr>
          <p:cNvGrpSpPr/>
          <p:nvPr userDrawn="1"/>
        </p:nvGrpSpPr>
        <p:grpSpPr>
          <a:xfrm>
            <a:off x="2537703" y="1013722"/>
            <a:ext cx="5812474" cy="5100743"/>
            <a:chOff x="510812" y="938373"/>
            <a:chExt cx="8073393" cy="5313612"/>
          </a:xfrm>
        </p:grpSpPr>
        <p:sp>
          <p:nvSpPr>
            <p:cNvPr id="44" name="Rounded Rectangle 15">
              <a:extLst>
                <a:ext uri="{FF2B5EF4-FFF2-40B4-BE49-F238E27FC236}">
                  <a16:creationId xmlns:a16="http://schemas.microsoft.com/office/drawing/2014/main" id="{1EC806EC-A1B2-4893-9504-1D7FFE8E238F}"/>
                </a:ext>
              </a:extLst>
            </p:cNvPr>
            <p:cNvSpPr/>
            <p:nvPr/>
          </p:nvSpPr>
          <p:spPr>
            <a:xfrm>
              <a:off x="877709" y="938373"/>
              <a:ext cx="7339600" cy="5234482"/>
            </a:xfrm>
            <a:prstGeom prst="round2SameRect">
              <a:avLst>
                <a:gd name="adj1" fmla="val 5601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5" name="Rounded Rectangle 15">
              <a:extLst>
                <a:ext uri="{FF2B5EF4-FFF2-40B4-BE49-F238E27FC236}">
                  <a16:creationId xmlns:a16="http://schemas.microsoft.com/office/drawing/2014/main" id="{535A1B12-6F16-41A0-A6B1-4AD0CCB5A081}"/>
                </a:ext>
              </a:extLst>
            </p:cNvPr>
            <p:cNvSpPr/>
            <p:nvPr/>
          </p:nvSpPr>
          <p:spPr>
            <a:xfrm>
              <a:off x="930758" y="995668"/>
              <a:ext cx="7233502" cy="5177187"/>
            </a:xfrm>
            <a:prstGeom prst="round2SameRect">
              <a:avLst>
                <a:gd name="adj1" fmla="val 4499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379B244F-CF81-4500-A78E-495ABA6828BA}"/>
                </a:ext>
              </a:extLst>
            </p:cNvPr>
            <p:cNvSpPr/>
            <p:nvPr/>
          </p:nvSpPr>
          <p:spPr>
            <a:xfrm rot="16200000">
              <a:off x="2264894" y="295974"/>
              <a:ext cx="4565229" cy="6599909"/>
            </a:xfrm>
            <a:prstGeom prst="roundRect">
              <a:avLst>
                <a:gd name="adj" fmla="val 1476"/>
              </a:avLst>
            </a:prstGeom>
            <a:solidFill>
              <a:schemeClr val="bg1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7" name="Rounded Rectangle 15">
              <a:extLst>
                <a:ext uri="{FF2B5EF4-FFF2-40B4-BE49-F238E27FC236}">
                  <a16:creationId xmlns:a16="http://schemas.microsoft.com/office/drawing/2014/main" id="{EE88F157-E260-486F-937E-C18428699861}"/>
                </a:ext>
              </a:extLst>
            </p:cNvPr>
            <p:cNvSpPr/>
            <p:nvPr/>
          </p:nvSpPr>
          <p:spPr>
            <a:xfrm rot="10800000">
              <a:off x="510812" y="5998253"/>
              <a:ext cx="8073393" cy="2489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8" name="Rounded Rectangle 15">
              <a:extLst>
                <a:ext uri="{FF2B5EF4-FFF2-40B4-BE49-F238E27FC236}">
                  <a16:creationId xmlns:a16="http://schemas.microsoft.com/office/drawing/2014/main" id="{F736AFAF-44AD-47CE-A63B-210102A4BF0B}"/>
                </a:ext>
              </a:extLst>
            </p:cNvPr>
            <p:cNvSpPr/>
            <p:nvPr userDrawn="1"/>
          </p:nvSpPr>
          <p:spPr>
            <a:xfrm>
              <a:off x="3668019" y="6206338"/>
              <a:ext cx="1758981" cy="4564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1000"/>
                  </a:schemeClr>
                </a:gs>
              </a:gsLst>
              <a:lin ang="16200000" scaled="0"/>
            </a:gra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4F6457E-3660-4E80-82BC-8894D701DEE9}"/>
                </a:ext>
              </a:extLst>
            </p:cNvPr>
            <p:cNvSpPr/>
            <p:nvPr/>
          </p:nvSpPr>
          <p:spPr>
            <a:xfrm rot="16200000">
              <a:off x="4660498" y="1119143"/>
              <a:ext cx="48680" cy="486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8230416-7E55-4CB0-9548-491BA471E9E8}"/>
                </a:ext>
              </a:extLst>
            </p:cNvPr>
            <p:cNvSpPr/>
            <p:nvPr/>
          </p:nvSpPr>
          <p:spPr>
            <a:xfrm rot="16200000">
              <a:off x="4505961" y="1106017"/>
              <a:ext cx="83096" cy="8309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E3C1810-AD4F-4393-928E-CFA8053A2CC2}"/>
                </a:ext>
              </a:extLst>
            </p:cNvPr>
            <p:cNvSpPr/>
            <p:nvPr/>
          </p:nvSpPr>
          <p:spPr>
            <a:xfrm rot="16200000">
              <a:off x="4524686" y="1124741"/>
              <a:ext cx="45647" cy="4564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4001" y="1152001"/>
            <a:ext cx="2213702" cy="2196235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00025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719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07219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0724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Emphasized text can go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C1EA41E-F6C4-484F-95E9-42978FF216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69597" y="1376358"/>
            <a:ext cx="4750159" cy="4379625"/>
          </a:xfrm>
          <a:prstGeom prst="roundRect">
            <a:avLst>
              <a:gd name="adj" fmla="val 13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FD3B7C-17C6-4327-986C-A8A6D6EC1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509767"/>
            <a:ext cx="2213372" cy="23227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6286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 Column Image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139FC94F-AE30-1048-843A-295FA302AC56}"/>
              </a:ext>
            </a:extLst>
          </p:cNvPr>
          <p:cNvSpPr>
            <a:spLocks noChangeAspect="1"/>
          </p:cNvSpPr>
          <p:nvPr userDrawn="1"/>
        </p:nvSpPr>
        <p:spPr>
          <a:xfrm>
            <a:off x="6220613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037F3B8-BD34-EA4F-A1C0-4006B373159E}"/>
              </a:ext>
            </a:extLst>
          </p:cNvPr>
          <p:cNvSpPr>
            <a:spLocks noChangeAspect="1"/>
          </p:cNvSpPr>
          <p:nvPr userDrawn="1"/>
        </p:nvSpPr>
        <p:spPr>
          <a:xfrm>
            <a:off x="4008795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A1CF33D-645D-E940-8FF4-6178A32A19A2}"/>
              </a:ext>
            </a:extLst>
          </p:cNvPr>
          <p:cNvSpPr>
            <a:spLocks noChangeAspect="1"/>
          </p:cNvSpPr>
          <p:nvPr userDrawn="1"/>
        </p:nvSpPr>
        <p:spPr>
          <a:xfrm>
            <a:off x="1799072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53589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407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7226" y="4683647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53590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5407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7227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4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6B6D0B6-0884-CD46-A1B0-9FED03C2262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04353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BAAC12A0-90C3-984B-A8FC-7EB4AA432E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5430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51565942-8816-734B-BEEE-1258F13B66D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466120" y="2358091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23" name="Straight Connector 22" descr="First divider line on slide">
            <a:extLst>
              <a:ext uri="{FF2B5EF4-FFF2-40B4-BE49-F238E27FC236}">
                <a16:creationId xmlns:a16="http://schemas.microsoft.com/office/drawing/2014/main" id="{82D5D2B4-7BAC-4C27-8D68-12365C7E7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69719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 descr="Second divider line on slide">
            <a:extLst>
              <a:ext uri="{FF2B5EF4-FFF2-40B4-BE49-F238E27FC236}">
                <a16:creationId xmlns:a16="http://schemas.microsoft.com/office/drawing/2014/main" id="{7D9203C1-910E-4AFC-95E0-13BF40D08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81538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257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Numbers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0F7266-25A0-4B3A-A8CE-F083ECC9D4C6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 userDrawn="1">
            <p:ph sz="half" idx="1"/>
          </p:nvPr>
        </p:nvSpPr>
        <p:spPr>
          <a:xfrm>
            <a:off x="680132" y="3429051"/>
            <a:ext cx="3391736" cy="2762949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5081056" y="3429000"/>
            <a:ext cx="3391805" cy="2762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EF984BB-176D-4924-ADAD-52FBC95B0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9848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>
                <a:latin typeface="+mj-lt"/>
              </a:defRPr>
            </a:lvl1pPr>
            <a:lvl2pPr marL="200025" indent="0">
              <a:buNone/>
              <a:defRPr sz="6000">
                <a:latin typeface="+mj-lt"/>
              </a:defRPr>
            </a:lvl2pPr>
            <a:lvl3pPr marL="407194" indent="0">
              <a:buNone/>
              <a:defRPr sz="6000">
                <a:latin typeface="+mj-lt"/>
              </a:defRPr>
            </a:lvl3pPr>
            <a:lvl4pPr marL="607219" indent="0">
              <a:buNone/>
              <a:defRPr sz="6000">
                <a:latin typeface="+mj-lt"/>
              </a:defRPr>
            </a:lvl4pPr>
            <a:lvl5pPr marL="807244" indent="0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59BE1D7-885A-4749-99BA-6909D64AFA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72063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 i="0"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cxnSp>
        <p:nvCxnSpPr>
          <p:cNvPr id="10" name="Straight Connector 9" descr="Middle divider line">
            <a:extLst>
              <a:ext uri="{FF2B5EF4-FFF2-40B4-BE49-F238E27FC236}">
                <a16:creationId xmlns:a16="http://schemas.microsoft.com/office/drawing/2014/main" id="{2B940646-DE40-4E0F-AE42-6530784C9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1391764"/>
            <a:ext cx="0" cy="4588123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449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AAF5B5B-E896-400A-9E43-EAF605A0AC8B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A2F5A3D-36C4-4B97-A62C-2AEA3B6FC1CF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B474E17-6556-4551-AD1B-351EE2DA98E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860E6D1-2C9F-477C-AE22-BFF5ADE85C60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5EC6C60-C605-4022-9718-ED56F34D6448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47BB28-400F-4C54-ADDA-0055CEB6593B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86F148-99E1-4ED6-B4DA-151A6DB27D67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A0565DA-6430-4984-ACB6-E7FACACC71AF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DE18DFF-F9E6-4839-817B-4DD871CEAE6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0038A3A-7324-4606-9C92-00C9AB1759F4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C0291BA-50C5-406F-B24E-14C9CAF652D7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52EBA81-38BC-4DF6-93C3-4A1A02FD2789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F80622-5597-45AD-92C3-2C4C3797720A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833793E-EB91-43B4-8444-36ADD2A48E55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4104000" cy="3600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4000" y="1584000"/>
            <a:ext cx="4104000" cy="4608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337FD81-6DFD-43B7-A7D9-59E45ECDF3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7B7460-0559-435A-9C2F-1B12BC6CE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EA7B8348-A00A-4AAE-B1F6-924515577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25000" y="1581663"/>
            <a:ext cx="4104000" cy="460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521CFCD-C079-4019-942D-035558CAF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6001" y="1151785"/>
            <a:ext cx="4112999" cy="354868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800" b="1"/>
            </a:lvl1pPr>
          </a:lstStyle>
          <a:p>
            <a:pPr marL="200025" lvl="0" indent="-200025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 descr="Center divider line">
            <a:extLst>
              <a:ext uri="{FF2B5EF4-FFF2-40B4-BE49-F238E27FC236}">
                <a16:creationId xmlns:a16="http://schemas.microsoft.com/office/drawing/2014/main" id="{AEACA101-2521-41AA-8F51-FF0BF783E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2438720"/>
            <a:ext cx="0" cy="252516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0986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98" y="2463937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60489" y="2463801"/>
            <a:ext cx="2794852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2989" y="2463801"/>
            <a:ext cx="2222714" cy="3314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E9D1B9-1C3A-4397-B3B4-9A921D6415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4F049D-3C57-44BB-ACE2-1363AF36D9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8177" y="1647240"/>
            <a:ext cx="2231684" cy="648000"/>
          </a:xfrm>
          <a:ln>
            <a:solidFill>
              <a:schemeClr val="accent1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9B793F-A64B-475C-96F3-FB40100E01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56252" y="1647040"/>
            <a:ext cx="2231684" cy="648000"/>
          </a:xfrm>
          <a:ln>
            <a:solidFill>
              <a:schemeClr val="accent2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F53567-5287-43FB-B07E-A12F3AEEDB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62989" y="1647240"/>
            <a:ext cx="2231684" cy="648000"/>
          </a:xfrm>
          <a:ln>
            <a:solidFill>
              <a:schemeClr val="accent3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3 Title</a:t>
            </a:r>
          </a:p>
        </p:txBody>
      </p:sp>
    </p:spTree>
    <p:extLst>
      <p:ext uri="{BB962C8B-B14F-4D97-AF65-F5344CB8AC3E}">
        <p14:creationId xmlns:p14="http://schemas.microsoft.com/office/powerpoint/2010/main" val="3755733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158F80-0C1A-4B9E-9335-A5A0015187F7}"/>
              </a:ext>
            </a:extLst>
          </p:cNvPr>
          <p:cNvCxnSpPr/>
          <p:nvPr userDrawn="1"/>
        </p:nvCxnSpPr>
        <p:spPr>
          <a:xfrm>
            <a:off x="323850" y="3866682"/>
            <a:ext cx="8504635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3DA611-B88C-4D7E-82A4-5E4CA9DC2E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968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180A0FA4-75CD-4A61-AA79-9C3C5F97ED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385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BB89A53-1B07-4560-B98E-03BECDB832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786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2D34AD8-D83D-4409-A418-C00840A085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3187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EAA6A46-63F3-49A5-8E0B-758176E4429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8588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B051A6E-4868-4F3F-93DB-AD07020E93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5783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61519886-189E-4C69-AEED-FD9BDD3E56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3990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F084DDF-04EE-46A9-9F77-D5FD94D1B5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09391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43DE8AB-BF74-4CC9-AD19-8BBBF44867A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44792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2ECC5C24-2CE5-491E-89DC-F9C5AE98B06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996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DB0F187-5781-4076-B761-264B1C683A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0193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B2E776B2-D388-4243-80AE-BD8AF47C8AA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15595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79F3A104-EDC0-4A25-9585-3F9F8C1022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6397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23DA3E7C-9F0E-4A57-B6EA-C01C72788E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799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A8ABC110-DC97-4A71-9A16-67581EAC989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7200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81058125-332B-41A7-BCD5-72CAE3F9F97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2600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32DE8FD-6391-4094-BAEC-CC0836CC67E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28002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C53C0F3-9308-422B-BC6E-1ACA5029027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3403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06DFFA03-9EA6-4F70-9519-AB1361BAF7C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8804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49CD8693-3557-4241-BB88-518160D989C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4206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884DF69-4936-4F90-BFB8-ED04A228DA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7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0804F61-8052-4AD8-8370-ED72B261BC2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5811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313F370F-A9EC-477E-BED7-BF4E875274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05008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E687ADD-FE6C-441E-991F-E71EA0572C3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40409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5E0252B4-80AE-40E9-BA32-6EDAAC62521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1212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A807DF0-23B6-4B83-B3F6-8D0BE9A851F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46613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F3591345-36C8-481A-AD5B-5F69B03D171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020742" y="2190751"/>
            <a:ext cx="1345406" cy="561975"/>
          </a:xfrm>
          <a:noFill/>
          <a:ln>
            <a:noFill/>
          </a:ln>
        </p:spPr>
        <p:txBody>
          <a:bodyPr tIns="36000" anchor="t"/>
          <a:lstStyle>
            <a:lvl1pPr marL="0" indent="0" algn="ctr"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50" name="Text Placeholder 36">
            <a:extLst>
              <a:ext uri="{FF2B5EF4-FFF2-40B4-BE49-F238E27FC236}">
                <a16:creationId xmlns:a16="http://schemas.microsoft.com/office/drawing/2014/main" id="{954C0732-1924-4A1B-9272-95C51D0B36F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046796" y="2531196"/>
            <a:ext cx="1293296" cy="1858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Month, Year</a:t>
            </a:r>
          </a:p>
        </p:txBody>
      </p:sp>
    </p:spTree>
    <p:extLst>
      <p:ext uri="{BB962C8B-B14F-4D97-AF65-F5344CB8AC3E}">
        <p14:creationId xmlns:p14="http://schemas.microsoft.com/office/powerpoint/2010/main" val="906707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77959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6916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5872" y="3991240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959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6916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5872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3850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12806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01762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CA876-2153-4136-850D-EE098BDC24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77959" y="4311393"/>
            <a:ext cx="1473129" cy="11303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B21C2-C689-49C2-B45F-14C5C53A58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66916" y="4311393"/>
            <a:ext cx="1472803" cy="1130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33D8E11-F7FD-4AD9-BEC6-78C6500F817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55872" y="4311393"/>
            <a:ext cx="1485900" cy="11382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</p:spTree>
    <p:extLst>
      <p:ext uri="{BB962C8B-B14F-4D97-AF65-F5344CB8AC3E}">
        <p14:creationId xmlns:p14="http://schemas.microsoft.com/office/powerpoint/2010/main" val="36241199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5085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8632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554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8789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55085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86320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17554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8789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85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089E01F-0C47-4C6A-A9A8-A1A7E470F31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781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96905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40028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3152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id="{B765F5D3-7CB7-4E55-8217-E9EEA9F2945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62755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Picture Placeholder 22">
            <a:extLst>
              <a:ext uri="{FF2B5EF4-FFF2-40B4-BE49-F238E27FC236}">
                <a16:creationId xmlns:a16="http://schemas.microsoft.com/office/drawing/2014/main" id="{8CB2CA38-4C7F-4D6B-9B34-606F1A007A1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693989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A42CA-D117-4AF7-9FEC-03EB2BBB75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80022" y="3925889"/>
            <a:ext cx="1350000" cy="504825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F9CEF5A-8DCE-4156-9138-C113C0D3A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80022" y="4505326"/>
            <a:ext cx="1350000" cy="9001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035105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29137C9-7B18-454C-AB56-2B4631DFE59D}"/>
              </a:ext>
            </a:extLst>
          </p:cNvPr>
          <p:cNvSpPr/>
          <p:nvPr userDrawn="1"/>
        </p:nvSpPr>
        <p:spPr>
          <a:xfrm rot="14199158">
            <a:off x="7376604" y="-61426"/>
            <a:ext cx="1957093" cy="1049858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6973557">
            <a:off x="7256349" y="295800"/>
            <a:ext cx="748251" cy="585502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5483574">
            <a:off x="7360250" y="85941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ACAC53-33A6-4BBC-8C68-0C56D0B39F57}"/>
              </a:ext>
            </a:extLst>
          </p:cNvPr>
          <p:cNvSpPr/>
          <p:nvPr userDrawn="1"/>
        </p:nvSpPr>
        <p:spPr>
          <a:xfrm rot="14235708">
            <a:off x="8773368" y="143009"/>
            <a:ext cx="332291" cy="185912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  <a:gd name="connsiteX0" fmla="*/ 0 w 1449157"/>
              <a:gd name="connsiteY0" fmla="*/ 282705 h 1363743"/>
              <a:gd name="connsiteX1" fmla="*/ 858544 w 1449157"/>
              <a:gd name="connsiteY1" fmla="*/ 0 h 1363743"/>
              <a:gd name="connsiteX2" fmla="*/ 1449157 w 1449157"/>
              <a:gd name="connsiteY2" fmla="*/ 715834 h 1363743"/>
              <a:gd name="connsiteX3" fmla="*/ 1012700 w 1449157"/>
              <a:gd name="connsiteY3" fmla="*/ 1363743 h 1363743"/>
              <a:gd name="connsiteX4" fmla="*/ 172487 w 1449157"/>
              <a:gd name="connsiteY4" fmla="*/ 1185022 h 1363743"/>
              <a:gd name="connsiteX5" fmla="*/ 0 w 1449157"/>
              <a:gd name="connsiteY5" fmla="*/ 282705 h 1363743"/>
              <a:gd name="connsiteX0" fmla="*/ 0 w 1449157"/>
              <a:gd name="connsiteY0" fmla="*/ 0 h 1081038"/>
              <a:gd name="connsiteX1" fmla="*/ 1449157 w 1449157"/>
              <a:gd name="connsiteY1" fmla="*/ 433129 h 1081038"/>
              <a:gd name="connsiteX2" fmla="*/ 1012700 w 1449157"/>
              <a:gd name="connsiteY2" fmla="*/ 1081038 h 1081038"/>
              <a:gd name="connsiteX3" fmla="*/ 172487 w 1449157"/>
              <a:gd name="connsiteY3" fmla="*/ 902317 h 1081038"/>
              <a:gd name="connsiteX4" fmla="*/ 0 w 1449157"/>
              <a:gd name="connsiteY4" fmla="*/ 0 h 10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D86A7C4-9F1E-4F96-8AD9-5B75BEE364BE}"/>
              </a:ext>
            </a:extLst>
          </p:cNvPr>
          <p:cNvSpPr/>
          <p:nvPr userDrawn="1"/>
        </p:nvSpPr>
        <p:spPr>
          <a:xfrm rot="13336516">
            <a:off x="7734927" y="1084300"/>
            <a:ext cx="486493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3BFE72-A1DE-4CFE-9B52-553C99D52699}"/>
              </a:ext>
            </a:extLst>
          </p:cNvPr>
          <p:cNvSpPr/>
          <p:nvPr userDrawn="1"/>
        </p:nvSpPr>
        <p:spPr>
          <a:xfrm rot="5738060">
            <a:off x="7296620" y="1096127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C266CD9-D77B-4B4D-8673-531E2784C610}"/>
              </a:ext>
            </a:extLst>
          </p:cNvPr>
          <p:cNvSpPr/>
          <p:nvPr userDrawn="1"/>
        </p:nvSpPr>
        <p:spPr>
          <a:xfrm rot="8291645">
            <a:off x="7561349" y="798094"/>
            <a:ext cx="278520" cy="273702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1989658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No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03350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70955" y="2237328"/>
            <a:ext cx="5402090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anchor="b" anchorCtr="0"/>
          <a:lstStyle>
            <a:lvl1pPr algn="r">
              <a:defRPr sz="49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0956" y="3684672"/>
            <a:ext cx="3961877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/>
          <a:lstStyle>
            <a:lvl1pPr marL="0" indent="0" algn="r">
              <a:buNone/>
              <a:defRPr sz="1575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5832835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00250" y="4142258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Contact Number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0250" y="4448040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48756" y="2587752"/>
            <a:ext cx="1008126" cy="70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Logo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00250" y="4753821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Website Address</a:t>
            </a:r>
          </a:p>
        </p:txBody>
      </p:sp>
    </p:spTree>
    <p:extLst>
      <p:ext uri="{BB962C8B-B14F-4D97-AF65-F5344CB8AC3E}">
        <p14:creationId xmlns:p14="http://schemas.microsoft.com/office/powerpoint/2010/main" val="34759506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3A733F0-30A3-4125-9B9B-2A07E1461F1B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E236A80-227E-4FE4-AA47-7802636969A0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AF58058-47D7-451D-B2D5-713873CFA06B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6D9AC51-13A8-43F2-B0AE-A475CD84575E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BA8CC4C-FA3C-45FB-A5CE-C0F41063A4AA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20D0EA4-6C0E-4F3B-B209-84132CF9DCEE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637900-ABE5-44BB-8955-B59B20FACF68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78CEF9-0D4E-43CF-A1AC-B8A752A7EDD3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5157165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0052C3A-3942-4B16-A466-441F8E3C2260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3500252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73E47D5-BDE7-46E7-8C4E-6111A41AF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D90A547-C01D-42BC-98ED-831FDD76F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BF3BE3-47D8-4511-B598-743DF88DF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23311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1434632-BEE5-428E-872A-794325BA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CB95FD3-7DAC-4417-8633-7EFA4852E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4CDAD6C-9665-443F-B344-147513A6C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947631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764878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ctagon 6">
            <a:extLst>
              <a:ext uri="{FF2B5EF4-FFF2-40B4-BE49-F238E27FC236}">
                <a16:creationId xmlns:a16="http://schemas.microsoft.com/office/drawing/2014/main" id="{12B87281-2FCA-44C5-BFC9-FD653787EFC4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8505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000" y="6188629"/>
            <a:ext cx="658870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2277" y="6155190"/>
            <a:ext cx="324000" cy="432000"/>
          </a:xfrm>
          <a:prstGeom prst="ellipse">
            <a:avLst/>
          </a:prstGeom>
          <a:noFill/>
          <a:ln w="3175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900" b="1" i="1">
                <a:solidFill>
                  <a:schemeClr val="tx1"/>
                </a:solidFill>
                <a:latin typeface="+mj-lt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6BF03E-F48E-4C0A-9078-07AC4DDF896A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827500-FC74-463C-9312-BC59104AEBD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EE18F-610D-4230-BA82-4E5007401ADD}"/>
              </a:ext>
            </a:extLst>
          </p:cNvPr>
          <p:cNvSpPr txBox="1"/>
          <p:nvPr userDrawn="1"/>
        </p:nvSpPr>
        <p:spPr>
          <a:xfrm>
            <a:off x="6550928" y="6278857"/>
            <a:ext cx="1882918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900" noProof="0" dirty="0">
                <a:solidFill>
                  <a:schemeClr val="tx2"/>
                </a:solidFill>
                <a:latin typeface="+mj-lt"/>
              </a:rPr>
              <a:t>Your Logo or Name Here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F375EA-F235-4EAA-A52F-D6BF0D6EDDCA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3C8C5B-6356-4B7C-887C-A436D7DB4059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20C00-0FF6-411F-B2D6-C625ED6BD241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142C1D-78E5-4AD5-BEF3-C015D6E3FEBD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0D9306-2240-47FF-AA2F-DC7C26A008A4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50" r:id="rId4"/>
    <p:sldLayoutId id="2147483652" r:id="rId5"/>
    <p:sldLayoutId id="2147483656" r:id="rId6"/>
    <p:sldLayoutId id="2147483657" r:id="rId7"/>
    <p:sldLayoutId id="2147483685" r:id="rId8"/>
    <p:sldLayoutId id="2147483683" r:id="rId9"/>
    <p:sldLayoutId id="2147483668" r:id="rId10"/>
    <p:sldLayoutId id="2147483682" r:id="rId11"/>
    <p:sldLayoutId id="2147483670" r:id="rId12"/>
    <p:sldLayoutId id="2147483653" r:id="rId13"/>
    <p:sldLayoutId id="2147483673" r:id="rId14"/>
    <p:sldLayoutId id="2147483674" r:id="rId15"/>
    <p:sldLayoutId id="2147483676" r:id="rId16"/>
    <p:sldLayoutId id="2147483677" r:id="rId17"/>
    <p:sldLayoutId id="2147483654" r:id="rId18"/>
    <p:sldLayoutId id="2147483660" r:id="rId19"/>
    <p:sldLayoutId id="2147483661" r:id="rId20"/>
    <p:sldLayoutId id="2147483678" r:id="rId21"/>
    <p:sldLayoutId id="2147483686" r:id="rId22"/>
    <p:sldLayoutId id="2147483687" r:id="rId23"/>
    <p:sldLayoutId id="2147483689" r:id="rId24"/>
    <p:sldLayoutId id="2147483690" r:id="rId25"/>
    <p:sldLayoutId id="2147483688" r:id="rId2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7194" indent="-207169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21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7244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0726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3.jpe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3.jpe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jpe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10" Type="http://schemas.openxmlformats.org/officeDocument/2006/relationships/image" Target="../media/image25.jpe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jpe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10" Type="http://schemas.openxmlformats.org/officeDocument/2006/relationships/image" Target="../media/image25.jpe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3.jpe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6.jpeg"/><Relationship Id="rId4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jpe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10" Type="http://schemas.openxmlformats.org/officeDocument/2006/relationships/image" Target="../media/image25.jpe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6.jpeg"/><Relationship Id="rId4" Type="http://schemas.openxmlformats.org/officeDocument/2006/relationships/image" Target="../media/image7.jpe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6.jpeg"/><Relationship Id="rId4" Type="http://schemas.openxmlformats.org/officeDocument/2006/relationships/image" Target="../media/image7.jpe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jpe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10" Type="http://schemas.openxmlformats.org/officeDocument/2006/relationships/image" Target="../media/image25.jpe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6.jpeg"/><Relationship Id="rId4" Type="http://schemas.openxmlformats.org/officeDocument/2006/relationships/image" Target="../media/image7.jpe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3.jpe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9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6.jpeg"/><Relationship Id="rId4" Type="http://schemas.openxmlformats.org/officeDocument/2006/relationships/image" Target="../media/image7.jpe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3.jpe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jpe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10" Type="http://schemas.openxmlformats.org/officeDocument/2006/relationships/image" Target="../media/image25.jpe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6.jpe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6.jpeg"/><Relationship Id="rId4" Type="http://schemas.openxmlformats.org/officeDocument/2006/relationships/image" Target="../media/image7.jpe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3.jpe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6.jpeg"/><Relationship Id="rId4" Type="http://schemas.openxmlformats.org/officeDocument/2006/relationships/image" Target="../media/image7.jpe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6.jpe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6.jpe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jpe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10" Type="http://schemas.openxmlformats.org/officeDocument/2006/relationships/image" Target="../media/image25.jpe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6.jpeg"/><Relationship Id="rId4" Type="http://schemas.openxmlformats.org/officeDocument/2006/relationships/image" Target="../media/image7.jpe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6.jpeg"/><Relationship Id="rId4" Type="http://schemas.openxmlformats.org/officeDocument/2006/relationships/image" Target="../media/image7.jpe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3.jpe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6.jpeg"/><Relationship Id="rId4" Type="http://schemas.openxmlformats.org/officeDocument/2006/relationships/image" Target="../media/image7.jpe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hyperlink" Target="https://www.linkedin.com/in/yusuf-altunel-2070a31b/" TargetMode="External"/><Relationship Id="rId3" Type="http://schemas.openxmlformats.org/officeDocument/2006/relationships/image" Target="../media/image68.png"/><Relationship Id="rId7" Type="http://schemas.openxmlformats.org/officeDocument/2006/relationships/image" Target="../media/image72.svg"/><Relationship Id="rId12" Type="http://schemas.openxmlformats.org/officeDocument/2006/relationships/image" Target="../media/image76.sv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1.png"/><Relationship Id="rId11" Type="http://schemas.openxmlformats.org/officeDocument/2006/relationships/image" Target="../media/image75.png"/><Relationship Id="rId5" Type="http://schemas.openxmlformats.org/officeDocument/2006/relationships/image" Target="../media/image70.svg"/><Relationship Id="rId10" Type="http://schemas.openxmlformats.org/officeDocument/2006/relationships/hyperlink" Target="http://cats.iku.edu.tr/portal/site/0181f2bc-77e3-4a85-ade9-77639d9bcfe7" TargetMode="External"/><Relationship Id="rId4" Type="http://schemas.openxmlformats.org/officeDocument/2006/relationships/image" Target="../media/image69.png"/><Relationship Id="rId9" Type="http://schemas.openxmlformats.org/officeDocument/2006/relationships/image" Target="../media/image74.svg"/><Relationship Id="rId14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orld's Most Beautiful Butterflies - Best documentaries - YouTube">
            <a:extLst>
              <a:ext uri="{FF2B5EF4-FFF2-40B4-BE49-F238E27FC236}">
                <a16:creationId xmlns:a16="http://schemas.microsoft.com/office/drawing/2014/main" id="{42088624-5D78-4EFE-A907-50FC7522A85C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068" r="12068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68422"/>
            <a:ext cx="5130000" cy="2387600"/>
          </a:xfrm>
          <a:prstGeom prst="rect">
            <a:avLst/>
          </a:prstGeom>
          <a:solidFill>
            <a:schemeClr val="tx1">
              <a:alpha val="18000"/>
            </a:schemeClr>
          </a:solidFill>
        </p:spPr>
        <p:txBody>
          <a:bodyPr anchor="b">
            <a:normAutofit/>
          </a:bodyPr>
          <a:lstStyle/>
          <a:p>
            <a:r>
              <a:rPr lang="en-US" dirty="0"/>
              <a:t>Chapter </a:t>
            </a:r>
            <a:r>
              <a:rPr lang="tr-TR" dirty="0"/>
              <a:t>7</a:t>
            </a:r>
            <a:r>
              <a:rPr lang="en-US" dirty="0"/>
              <a:t>: </a:t>
            </a:r>
            <a:r>
              <a:rPr lang="tr-TR" dirty="0"/>
              <a:t>Pattern Matching with Regular Expressions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prstGeom prst="rect">
            <a:avLst/>
          </a:prstGeom>
          <a:solidFill>
            <a:schemeClr val="tx1">
              <a:alpha val="18000"/>
            </a:schemeClr>
          </a:solidFill>
        </p:spPr>
        <p:txBody>
          <a:bodyPr>
            <a:normAutofit/>
          </a:bodyPr>
          <a:lstStyle/>
          <a:p>
            <a:r>
              <a:rPr lang="en-US" sz="1300"/>
              <a:t>CSE0408 Programming III</a:t>
            </a:r>
            <a:endParaRPr lang="tr-TR" sz="1300"/>
          </a:p>
          <a:p>
            <a:r>
              <a:rPr lang="tr-TR" sz="1300"/>
              <a:t>IKU Department of Computer Engineering</a:t>
            </a:r>
          </a:p>
          <a:p>
            <a:r>
              <a:rPr lang="tr-TR" sz="1300"/>
              <a:t>Yusuf Altunel, PhD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48523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D87D-E475-451A-B36C-E4A4F6360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00" y="3905250"/>
            <a:ext cx="4509000" cy="647701"/>
          </a:xfrm>
        </p:spPr>
        <p:txBody>
          <a:bodyPr/>
          <a:lstStyle/>
          <a:p>
            <a:r>
              <a:rPr lang="tr-TR" dirty="0"/>
              <a:t>Content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BE522-961D-4737-9715-127DB8A86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552951"/>
            <a:ext cx="4509000" cy="1384307"/>
          </a:xfrm>
        </p:spPr>
        <p:txBody>
          <a:bodyPr/>
          <a:lstStyle/>
          <a:p>
            <a:r>
              <a:rPr lang="tr-TR" b="1" dirty="0"/>
              <a:t>Automate the Boring Stuff with Python</a:t>
            </a:r>
          </a:p>
          <a:p>
            <a:r>
              <a:rPr lang="tr-TR" b="1" dirty="0"/>
              <a:t>Practical Programming for Total Beginners</a:t>
            </a:r>
          </a:p>
          <a:p>
            <a:r>
              <a:rPr lang="en-US" sz="1200" dirty="0"/>
              <a:t>Chapter </a:t>
            </a:r>
            <a:r>
              <a:rPr lang="tr-TR" sz="1200" dirty="0"/>
              <a:t>7</a:t>
            </a:r>
            <a:r>
              <a:rPr lang="en-US" sz="1200" dirty="0"/>
              <a:t>: </a:t>
            </a:r>
            <a:r>
              <a:rPr lang="tr-TR" sz="1200" dirty="0"/>
              <a:t>Pattern Matching with Regular Expressions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45A1B7-8B88-4D90-983D-BAA2E9AAFFD3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418454"/>
            <a:ext cx="3980775" cy="5413546"/>
          </a:xfrm>
        </p:spPr>
        <p:txBody>
          <a:bodyPr/>
          <a:lstStyle/>
          <a:p>
            <a:pPr marL="0" indent="0">
              <a:buNone/>
            </a:pPr>
            <a:r>
              <a:rPr lang="tr-TR" sz="3300" dirty="0"/>
              <a:t>Headlines</a:t>
            </a:r>
            <a:endParaRPr lang="en-US" sz="3300" dirty="0"/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Finding Patterns of Text Without Regular Expressions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Finding Patterns of Text with Regular Expressions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More Pattern Matching with Regular Expressions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Greedy and Nongreedy Matching</a:t>
            </a: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findall() Method</a:t>
            </a: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Character Classes</a:t>
            </a: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Making Your Own Character Classes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Caret and Dollar Sign Characters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Wildcard Character</a:t>
            </a: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Review of Regex Symbols</a:t>
            </a: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Case-Insensitive Matching</a:t>
            </a: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Substituting Strings with the sub() Method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Managing Complex Regexes</a:t>
            </a: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Combining </a:t>
            </a: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re.IGNOREC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ASE, re.DOT ALL , and </a:t>
            </a: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re.VERBOSE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Project: Phone Number and Email Address Extractor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2DF6AE8-6133-4C1E-91DD-755705ACF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96620" y="1480600"/>
            <a:ext cx="1387657" cy="1436996"/>
            <a:chOff x="9862160" y="831132"/>
            <a:chExt cx="1850209" cy="1915995"/>
          </a:xfrm>
        </p:grpSpPr>
        <p:sp>
          <p:nvSpPr>
            <p:cNvPr id="16" name="Freeform: Shape 15" title="triangles">
              <a:extLst>
                <a:ext uri="{FF2B5EF4-FFF2-40B4-BE49-F238E27FC236}">
                  <a16:creationId xmlns:a16="http://schemas.microsoft.com/office/drawing/2014/main" id="{156942E6-31A5-42F5-A00C-A90D409A08BC}"/>
                </a:ext>
              </a:extLst>
            </p:cNvPr>
            <p:cNvSpPr/>
            <p:nvPr/>
          </p:nvSpPr>
          <p:spPr>
            <a:xfrm rot="19260823">
              <a:off x="9984083" y="1150976"/>
              <a:ext cx="467362" cy="344458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7" name="Freeform: Shape 16" title="triangles">
              <a:extLst>
                <a:ext uri="{FF2B5EF4-FFF2-40B4-BE49-F238E27FC236}">
                  <a16:creationId xmlns:a16="http://schemas.microsoft.com/office/drawing/2014/main" id="{055D27E0-4C92-4640-A2B8-86540741DCE6}"/>
                </a:ext>
              </a:extLst>
            </p:cNvPr>
            <p:cNvSpPr/>
            <p:nvPr/>
          </p:nvSpPr>
          <p:spPr>
            <a:xfrm rot="20377627">
              <a:off x="10445799" y="1461330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" name="Freeform: Shape 17" title="triangles">
              <a:extLst>
                <a:ext uri="{FF2B5EF4-FFF2-40B4-BE49-F238E27FC236}">
                  <a16:creationId xmlns:a16="http://schemas.microsoft.com/office/drawing/2014/main" id="{E760DC62-191E-4D60-AAAC-37DDF411BF9D}"/>
                </a:ext>
              </a:extLst>
            </p:cNvPr>
            <p:cNvSpPr/>
            <p:nvPr/>
          </p:nvSpPr>
          <p:spPr>
            <a:xfrm rot="19260823">
              <a:off x="10485025" y="1232684"/>
              <a:ext cx="250689" cy="18476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9" name="Freeform: Shape 18" title="triangles">
              <a:extLst>
                <a:ext uri="{FF2B5EF4-FFF2-40B4-BE49-F238E27FC236}">
                  <a16:creationId xmlns:a16="http://schemas.microsoft.com/office/drawing/2014/main" id="{B21F5D55-03CC-4A29-B8D0-2B1C7DE7C79D}"/>
                </a:ext>
              </a:extLst>
            </p:cNvPr>
            <p:cNvSpPr/>
            <p:nvPr/>
          </p:nvSpPr>
          <p:spPr>
            <a:xfrm rot="19810388">
              <a:off x="10832584" y="139371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" name="Freeform: Shape 19" title="triangles">
              <a:extLst>
                <a:ext uri="{FF2B5EF4-FFF2-40B4-BE49-F238E27FC236}">
                  <a16:creationId xmlns:a16="http://schemas.microsoft.com/office/drawing/2014/main" id="{6A692EA0-8FB5-4D6A-B1B1-20463392DEDE}"/>
                </a:ext>
              </a:extLst>
            </p:cNvPr>
            <p:cNvSpPr/>
            <p:nvPr/>
          </p:nvSpPr>
          <p:spPr>
            <a:xfrm rot="18277851">
              <a:off x="10920185" y="9941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Freeform: Shape 20" title="triangles">
              <a:extLst>
                <a:ext uri="{FF2B5EF4-FFF2-40B4-BE49-F238E27FC236}">
                  <a16:creationId xmlns:a16="http://schemas.microsoft.com/office/drawing/2014/main" id="{46FB2BA9-5E08-4A8F-BC47-8EFA61E4E6CE}"/>
                </a:ext>
              </a:extLst>
            </p:cNvPr>
            <p:cNvSpPr/>
            <p:nvPr/>
          </p:nvSpPr>
          <p:spPr>
            <a:xfrm rot="20761418">
              <a:off x="11313110" y="1642801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Freeform: Shape 21" title="triangles">
              <a:extLst>
                <a:ext uri="{FF2B5EF4-FFF2-40B4-BE49-F238E27FC236}">
                  <a16:creationId xmlns:a16="http://schemas.microsoft.com/office/drawing/2014/main" id="{5B0A2587-D640-4AEE-9456-860CD02427C8}"/>
                </a:ext>
              </a:extLst>
            </p:cNvPr>
            <p:cNvSpPr/>
            <p:nvPr/>
          </p:nvSpPr>
          <p:spPr>
            <a:xfrm rot="17315293">
              <a:off x="11523906" y="8596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3" name="Freeform: Shape 22" title="triangles">
              <a:extLst>
                <a:ext uri="{FF2B5EF4-FFF2-40B4-BE49-F238E27FC236}">
                  <a16:creationId xmlns:a16="http://schemas.microsoft.com/office/drawing/2014/main" id="{373F2649-8DA3-441F-9BDD-77A942FA3DBE}"/>
                </a:ext>
              </a:extLst>
            </p:cNvPr>
            <p:cNvSpPr/>
            <p:nvPr/>
          </p:nvSpPr>
          <p:spPr>
            <a:xfrm rot="20082236">
              <a:off x="11215766" y="1243239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4" name="Freeform: Shape 23" title="triangles">
              <a:extLst>
                <a:ext uri="{FF2B5EF4-FFF2-40B4-BE49-F238E27FC236}">
                  <a16:creationId xmlns:a16="http://schemas.microsoft.com/office/drawing/2014/main" id="{95933F98-3B9B-4270-9281-570AD41C3F19}"/>
                </a:ext>
              </a:extLst>
            </p:cNvPr>
            <p:cNvSpPr/>
            <p:nvPr/>
          </p:nvSpPr>
          <p:spPr>
            <a:xfrm rot="19879732">
              <a:off x="11436537" y="1436545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5" name="Freeform: Shape 24" title="triangles">
              <a:extLst>
                <a:ext uri="{FF2B5EF4-FFF2-40B4-BE49-F238E27FC236}">
                  <a16:creationId xmlns:a16="http://schemas.microsoft.com/office/drawing/2014/main" id="{3DAB5C84-F2AD-47FD-ABEC-6D6626D2B7FF}"/>
                </a:ext>
              </a:extLst>
            </p:cNvPr>
            <p:cNvSpPr/>
            <p:nvPr/>
          </p:nvSpPr>
          <p:spPr>
            <a:xfrm rot="328041">
              <a:off x="9862160" y="1513660"/>
              <a:ext cx="579699" cy="606799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  <a:gd name="connsiteX0" fmla="*/ 487806 w 487806"/>
                <a:gd name="connsiteY0" fmla="*/ 171848 h 510610"/>
                <a:gd name="connsiteX1" fmla="*/ 308036 w 487806"/>
                <a:gd name="connsiteY1" fmla="*/ 510610 h 510610"/>
                <a:gd name="connsiteX2" fmla="*/ 0 w 487806"/>
                <a:gd name="connsiteY2" fmla="*/ 0 h 510610"/>
                <a:gd name="connsiteX3" fmla="*/ 487806 w 487806"/>
                <a:gd name="connsiteY3" fmla="*/ 171848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806" h="510610">
                  <a:moveTo>
                    <a:pt x="487806" y="171848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487806" y="171848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6" name="Freeform: Shape 25" title="triangles">
              <a:extLst>
                <a:ext uri="{FF2B5EF4-FFF2-40B4-BE49-F238E27FC236}">
                  <a16:creationId xmlns:a16="http://schemas.microsoft.com/office/drawing/2014/main" id="{A4E2ACF8-4066-4DB9-B5D5-E8AA3B152710}"/>
                </a:ext>
              </a:extLst>
            </p:cNvPr>
            <p:cNvSpPr/>
            <p:nvPr/>
          </p:nvSpPr>
          <p:spPr>
            <a:xfrm>
              <a:off x="10639428" y="1814668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7" name="Freeform: Shape 26" title="triangles">
              <a:extLst>
                <a:ext uri="{FF2B5EF4-FFF2-40B4-BE49-F238E27FC236}">
                  <a16:creationId xmlns:a16="http://schemas.microsoft.com/office/drawing/2014/main" id="{74FCCA2A-37FF-4031-AF2F-A894DBE6EE0E}"/>
                </a:ext>
              </a:extLst>
            </p:cNvPr>
            <p:cNvSpPr/>
            <p:nvPr/>
          </p:nvSpPr>
          <p:spPr>
            <a:xfrm rot="20761418">
              <a:off x="11280262" y="2096947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8" name="Freeform: Shape 27" title="triangles">
              <a:extLst>
                <a:ext uri="{FF2B5EF4-FFF2-40B4-BE49-F238E27FC236}">
                  <a16:creationId xmlns:a16="http://schemas.microsoft.com/office/drawing/2014/main" id="{5C7D7734-820D-40CE-BBBA-6E6D9452D308}"/>
                </a:ext>
              </a:extLst>
            </p:cNvPr>
            <p:cNvSpPr/>
            <p:nvPr/>
          </p:nvSpPr>
          <p:spPr>
            <a:xfrm rot="1160487">
              <a:off x="10059320" y="2226127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9" name="Freeform: Shape 28" title="triangles">
              <a:extLst>
                <a:ext uri="{FF2B5EF4-FFF2-40B4-BE49-F238E27FC236}">
                  <a16:creationId xmlns:a16="http://schemas.microsoft.com/office/drawing/2014/main" id="{5BCE508A-E107-4075-9976-73D3ED8272C2}"/>
                </a:ext>
              </a:extLst>
            </p:cNvPr>
            <p:cNvSpPr/>
            <p:nvPr/>
          </p:nvSpPr>
          <p:spPr>
            <a:xfrm rot="803026">
              <a:off x="11353765" y="2627540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F16E1-87DB-4920-A90B-23E1C72DDC7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B9E92A-C7B5-4694-B833-1064D5C9802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40" y="901527"/>
            <a:ext cx="4501660" cy="300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5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332178"/>
            <a:ext cx="8505000" cy="531822"/>
          </a:xfrm>
        </p:spPr>
        <p:txBody>
          <a:bodyPr/>
          <a:lstStyle/>
          <a:p>
            <a:pPr algn="ctr"/>
            <a:r>
              <a:rPr lang="tr-TR" dirty="0"/>
              <a:t>Regular expressions 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tr-TR" i="1" dirty="0"/>
              <a:t>let </a:t>
            </a:r>
            <a:r>
              <a:rPr lang="en-US" i="1" dirty="0"/>
              <a:t>you to specify a pattern</a:t>
            </a:r>
            <a:r>
              <a:rPr lang="tr-TR" i="1" dirty="0"/>
              <a:t> </a:t>
            </a:r>
            <a:r>
              <a:rPr lang="en-US" i="1" dirty="0"/>
              <a:t>of text to search for.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b="1" dirty="0">
                <a:latin typeface="+mn-lt"/>
              </a:rPr>
              <a:t>Regular Expressions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1968602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Modern Editors provide</a:t>
            </a:r>
            <a:endParaRPr lang="en-US" dirty="0"/>
          </a:p>
          <a:p>
            <a:r>
              <a:rPr lang="tr-TR" dirty="0"/>
              <a:t>MS Word</a:t>
            </a:r>
          </a:p>
          <a:p>
            <a:r>
              <a:rPr lang="tr-TR" dirty="0"/>
              <a:t>Open Office</a:t>
            </a:r>
          </a:p>
          <a:p>
            <a:r>
              <a:rPr lang="tr-TR" dirty="0"/>
              <a:t>…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/>
              <a:t>Telephone Numbers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19605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415-555-1234</a:t>
            </a:r>
            <a:endParaRPr lang="tr-TR" dirty="0"/>
          </a:p>
          <a:p>
            <a:r>
              <a:rPr lang="en-US" dirty="0"/>
              <a:t>is a phone number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4,155,551,234</a:t>
            </a:r>
          </a:p>
          <a:p>
            <a:r>
              <a:rPr lang="tr-TR" dirty="0"/>
              <a:t>Not a phone number: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Features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452530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Provide features of regular expressions</a:t>
            </a:r>
          </a:p>
          <a:p>
            <a:r>
              <a:rPr lang="tr-TR" dirty="0"/>
              <a:t>Find</a:t>
            </a:r>
            <a:endParaRPr lang="en-US" dirty="0"/>
          </a:p>
          <a:p>
            <a:r>
              <a:rPr lang="tr-TR" dirty="0"/>
              <a:t>Find</a:t>
            </a:r>
            <a:r>
              <a:rPr lang="en-US" dirty="0"/>
              <a:t> &amp; replace</a:t>
            </a:r>
          </a:p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02304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332178"/>
            <a:ext cx="8505000" cy="531822"/>
          </a:xfrm>
        </p:spPr>
        <p:txBody>
          <a:bodyPr/>
          <a:lstStyle/>
          <a:p>
            <a:pPr algn="ctr"/>
            <a:r>
              <a:rPr lang="tr-TR" dirty="0"/>
              <a:t>Regular expressions in programming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en-US" dirty="0"/>
              <a:t>can mean solving a problem in 3 steps </a:t>
            </a:r>
            <a:r>
              <a:rPr lang="tr-TR" dirty="0"/>
              <a:t>rather than </a:t>
            </a:r>
            <a:r>
              <a:rPr lang="en-US" dirty="0"/>
              <a:t>3,000 steps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b="1" dirty="0">
                <a:latin typeface="+mn-lt"/>
              </a:rPr>
              <a:t>Finding text patterns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1968602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Difference between</a:t>
            </a:r>
          </a:p>
          <a:p>
            <a:r>
              <a:rPr lang="tr-TR" dirty="0"/>
              <a:t>With and without</a:t>
            </a:r>
          </a:p>
          <a:p>
            <a:r>
              <a:rPr lang="tr-TR" dirty="0"/>
              <a:t>using regular expressions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b="1" dirty="0"/>
              <a:t>Extract text</a:t>
            </a:r>
            <a:endParaRPr lang="en-US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196053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NewBaskerville-Roman"/>
              </a:rPr>
              <a:t>extract </a:t>
            </a:r>
            <a:endParaRPr lang="tr-TR" dirty="0">
              <a:latin typeface="NewBaskerville-Roman"/>
            </a:endParaRPr>
          </a:p>
          <a:p>
            <a:r>
              <a:rPr lang="en-US" dirty="0">
                <a:latin typeface="NewBaskerville-Roman"/>
              </a:rPr>
              <a:t>phone numbers </a:t>
            </a:r>
            <a:endParaRPr lang="tr-TR" dirty="0">
              <a:latin typeface="NewBaskerville-Roman"/>
            </a:endParaRPr>
          </a:p>
          <a:p>
            <a:r>
              <a:rPr lang="en-US" dirty="0">
                <a:latin typeface="NewBaskerville-Roman"/>
              </a:rPr>
              <a:t>email addresses</a:t>
            </a:r>
            <a:endParaRPr lang="tr-TR" dirty="0">
              <a:latin typeface="NewBaskerville-Roman"/>
            </a:endParaRPr>
          </a:p>
          <a:p>
            <a:r>
              <a:rPr lang="en-US" dirty="0">
                <a:latin typeface="NewBaskerville-Roman"/>
              </a:rPr>
              <a:t>from a block of text</a:t>
            </a:r>
            <a:endParaRPr lang="tr-TR" dirty="0"/>
          </a:p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b="1" dirty="0"/>
              <a:t>Regular expressions</a:t>
            </a:r>
            <a:endParaRPr lang="en-US" b="1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452530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basic matching</a:t>
            </a:r>
          </a:p>
          <a:p>
            <a:r>
              <a:rPr lang="en-US" dirty="0"/>
              <a:t>more powerful features</a:t>
            </a:r>
            <a:endParaRPr lang="tr-TR" dirty="0"/>
          </a:p>
          <a:p>
            <a:endParaRPr lang="tr-TR" dirty="0"/>
          </a:p>
          <a:p>
            <a:r>
              <a:rPr lang="en-US" dirty="0"/>
              <a:t>string substitution</a:t>
            </a:r>
            <a:endParaRPr lang="tr-TR" dirty="0"/>
          </a:p>
          <a:p>
            <a:r>
              <a:rPr lang="en-US" dirty="0"/>
              <a:t>creating character classes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37277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5AF9F13-D0B7-4375-BCE1-CA6C30B4FBC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95" y="0"/>
            <a:ext cx="906140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083" y="301796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Extract Phone Numbers Without 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6083" y="1141510"/>
            <a:ext cx="4989639" cy="5069376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def </a:t>
            </a:r>
            <a:r>
              <a:rPr lang="en-US" dirty="0" err="1"/>
              <a:t>isPhoneNumber</a:t>
            </a:r>
            <a:r>
              <a:rPr lang="en-US" dirty="0"/>
              <a:t>(text):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if </a:t>
            </a:r>
            <a:r>
              <a:rPr lang="en-US" dirty="0" err="1"/>
              <a:t>len</a:t>
            </a:r>
            <a:r>
              <a:rPr lang="en-US" dirty="0"/>
              <a:t>(text) != 12: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return False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in range(0, 3):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if not text[</a:t>
            </a:r>
            <a:r>
              <a:rPr lang="en-US" dirty="0" err="1"/>
              <a:t>i</a:t>
            </a:r>
            <a:r>
              <a:rPr lang="en-US" dirty="0"/>
              <a:t>].</a:t>
            </a:r>
            <a:r>
              <a:rPr lang="en-US" dirty="0" err="1"/>
              <a:t>isdecimal</a:t>
            </a:r>
            <a:r>
              <a:rPr lang="en-US" dirty="0"/>
              <a:t>():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    return False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if text[3] != '-':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return False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in range(4, 7):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if not text[</a:t>
            </a:r>
            <a:r>
              <a:rPr lang="en-US" dirty="0" err="1"/>
              <a:t>i</a:t>
            </a:r>
            <a:r>
              <a:rPr lang="en-US" dirty="0"/>
              <a:t>].</a:t>
            </a:r>
            <a:r>
              <a:rPr lang="en-US" dirty="0" err="1"/>
              <a:t>isdecimal</a:t>
            </a:r>
            <a:r>
              <a:rPr lang="en-US" dirty="0"/>
              <a:t>():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    return False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if text[7] != '-':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return False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in range(8, 12):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if not text[</a:t>
            </a:r>
            <a:r>
              <a:rPr lang="en-US" dirty="0" err="1"/>
              <a:t>i</a:t>
            </a:r>
            <a:r>
              <a:rPr lang="en-US" dirty="0"/>
              <a:t>].</a:t>
            </a:r>
            <a:r>
              <a:rPr lang="en-US" dirty="0" err="1"/>
              <a:t>isdecimal</a:t>
            </a:r>
            <a:r>
              <a:rPr lang="en-US" dirty="0"/>
              <a:t>():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    return False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return True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print('415-555-4242 is a phone number:')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print(</a:t>
            </a:r>
            <a:r>
              <a:rPr lang="en-US" dirty="0" err="1"/>
              <a:t>isPhoneNumber</a:t>
            </a:r>
            <a:r>
              <a:rPr lang="en-US" dirty="0"/>
              <a:t>('415-555-4242'))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print('Moshi </a:t>
            </a:r>
            <a:r>
              <a:rPr lang="en-US" dirty="0" err="1"/>
              <a:t>moshi</a:t>
            </a:r>
            <a:r>
              <a:rPr lang="en-US" dirty="0"/>
              <a:t> is a phone number:')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print(</a:t>
            </a:r>
            <a:r>
              <a:rPr lang="en-US" dirty="0" err="1"/>
              <a:t>isPhoneNumber</a:t>
            </a:r>
            <a:r>
              <a:rPr lang="en-US" dirty="0"/>
              <a:t>('Moshi </a:t>
            </a:r>
            <a:r>
              <a:rPr lang="en-US" dirty="0" err="1"/>
              <a:t>moshi</a:t>
            </a:r>
            <a:r>
              <a:rPr lang="en-US" dirty="0"/>
              <a:t>'))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72331" y="1164910"/>
            <a:ext cx="3132079" cy="5045976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415-555-4242 is a phone number: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True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Moshi </a:t>
            </a:r>
            <a:r>
              <a:rPr lang="en-US" dirty="0" err="1"/>
              <a:t>moshi</a:t>
            </a:r>
            <a:r>
              <a:rPr lang="en-US" dirty="0"/>
              <a:t> is a phone number: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False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11839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5AF9F13-D0B7-4375-BCE1-CA6C30B4FBC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95" y="0"/>
            <a:ext cx="906140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083" y="220035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Extract Phone Numbers Without 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6083" y="922845"/>
            <a:ext cx="5192309" cy="5251541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def </a:t>
            </a:r>
            <a:r>
              <a:rPr lang="en-US" dirty="0" err="1"/>
              <a:t>isPhoneNumber</a:t>
            </a:r>
            <a:r>
              <a:rPr lang="en-US" dirty="0"/>
              <a:t>(text):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if </a:t>
            </a:r>
            <a:r>
              <a:rPr lang="en-US" dirty="0" err="1"/>
              <a:t>len</a:t>
            </a:r>
            <a:r>
              <a:rPr lang="en-US" dirty="0"/>
              <a:t>(text) != 12: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return False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in range(0, 3):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if not text[</a:t>
            </a:r>
            <a:r>
              <a:rPr lang="en-US" dirty="0" err="1"/>
              <a:t>i</a:t>
            </a:r>
            <a:r>
              <a:rPr lang="en-US" dirty="0"/>
              <a:t>].</a:t>
            </a:r>
            <a:r>
              <a:rPr lang="en-US" dirty="0" err="1"/>
              <a:t>isdecimal</a:t>
            </a:r>
            <a:r>
              <a:rPr lang="en-US" dirty="0"/>
              <a:t>():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    return False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if text[3] != '-':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return False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in range(4, 7):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if not text[</a:t>
            </a:r>
            <a:r>
              <a:rPr lang="en-US" dirty="0" err="1"/>
              <a:t>i</a:t>
            </a:r>
            <a:r>
              <a:rPr lang="en-US" dirty="0"/>
              <a:t>].</a:t>
            </a:r>
            <a:r>
              <a:rPr lang="en-US" dirty="0" err="1"/>
              <a:t>isdecimal</a:t>
            </a:r>
            <a:r>
              <a:rPr lang="en-US" dirty="0"/>
              <a:t>():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    return False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if text[7] != '-':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return False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in range(8, 12):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if not text[</a:t>
            </a:r>
            <a:r>
              <a:rPr lang="en-US" dirty="0" err="1"/>
              <a:t>i</a:t>
            </a:r>
            <a:r>
              <a:rPr lang="en-US" dirty="0"/>
              <a:t>].</a:t>
            </a:r>
            <a:r>
              <a:rPr lang="en-US" dirty="0" err="1"/>
              <a:t>isdecimal</a:t>
            </a:r>
            <a:r>
              <a:rPr lang="en-US" dirty="0"/>
              <a:t>():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    return False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return True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message = 'Call me at 415-555-1011 tomorrow. 415-555-9999 is my office.'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</a:t>
            </a:r>
            <a:r>
              <a:rPr lang="en-US" dirty="0" err="1"/>
              <a:t>len</a:t>
            </a:r>
            <a:r>
              <a:rPr lang="en-US" dirty="0"/>
              <a:t>(message)):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chunk = message[i:i+12]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if </a:t>
            </a:r>
            <a:r>
              <a:rPr lang="en-US" dirty="0" err="1"/>
              <a:t>isPhoneNumber</a:t>
            </a:r>
            <a:r>
              <a:rPr lang="en-US" dirty="0"/>
              <a:t>(chunk):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print('Phone number found: ' + chunk)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print('Done'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5885" y="946245"/>
            <a:ext cx="2978526" cy="5212643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Phone number found: 415-555-1011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Phone number found: 415-555-9999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Done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38004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7: Pattern Matching with Regular Expressions</a:t>
            </a:r>
            <a:endParaRPr lang="tr-TR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Finding Patterns of Text with Regular Expressions</a:t>
            </a:r>
          </a:p>
          <a:p>
            <a:r>
              <a:rPr lang="tr-T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Creating Regex Objects</a:t>
            </a:r>
          </a:p>
          <a:p>
            <a:r>
              <a:rPr lang="tr-T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Matching Regex Objects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Review of Regular Expression Matching</a:t>
            </a:r>
            <a:endParaRPr lang="tr-T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3074" name="Picture 2" descr="Wheeler Farms">
            <a:extLst>
              <a:ext uri="{FF2B5EF4-FFF2-40B4-BE49-F238E27FC236}">
                <a16:creationId xmlns:a16="http://schemas.microsoft.com/office/drawing/2014/main" id="{F532D717-642C-4B22-A386-147D1271261F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712" r="24712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6186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032" y="455415"/>
            <a:ext cx="8505000" cy="504000"/>
          </a:xfrm>
        </p:spPr>
        <p:txBody>
          <a:bodyPr/>
          <a:lstStyle/>
          <a:p>
            <a:pPr algn="ctr"/>
            <a:r>
              <a:rPr lang="tr-TR" dirty="0"/>
              <a:t>Pattern in a text</a:t>
            </a:r>
            <a:endParaRPr lang="en-US" dirty="0"/>
          </a:p>
        </p:txBody>
      </p:sp>
      <p:pic>
        <p:nvPicPr>
          <p:cNvPr id="67" name="Picture Placeholder 66" descr="Cloud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495" y="3925566"/>
            <a:ext cx="1620000" cy="542228"/>
          </a:xfrm>
        </p:spPr>
        <p:txBody>
          <a:bodyPr/>
          <a:lstStyle/>
          <a:p>
            <a:r>
              <a:rPr lang="tr-TR" dirty="0"/>
              <a:t>isPhoneNumber() 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4071" y="4683349"/>
            <a:ext cx="1620000" cy="1345491"/>
          </a:xfrm>
        </p:spPr>
        <p:txBody>
          <a:bodyPr/>
          <a:lstStyle/>
          <a:p>
            <a:pPr algn="l"/>
            <a:r>
              <a:rPr lang="tr-TR" b="1" dirty="0"/>
              <a:t>is 17 lines 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can find </a:t>
            </a:r>
            <a:r>
              <a:rPr lang="en-US" u="sng" dirty="0"/>
              <a:t>only one </a:t>
            </a:r>
            <a:r>
              <a:rPr lang="en-US" dirty="0"/>
              <a:t>pattern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of phone numbers</a:t>
            </a:r>
          </a:p>
        </p:txBody>
      </p:sp>
      <p:pic>
        <p:nvPicPr>
          <p:cNvPr id="159" name="Picture Placeholder 158" descr="Cactus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Other formats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557" y="4688111"/>
            <a:ext cx="1627112" cy="1759183"/>
          </a:xfrm>
        </p:spPr>
        <p:txBody>
          <a:bodyPr/>
          <a:lstStyle/>
          <a:p>
            <a:pPr algn="l"/>
            <a:r>
              <a:rPr lang="tr-TR" b="1" dirty="0"/>
              <a:t>Phone number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415.555.4242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(415) 555-4242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415-555-4242 x99</a:t>
            </a:r>
          </a:p>
        </p:txBody>
      </p:sp>
      <p:pic>
        <p:nvPicPr>
          <p:cNvPr id="161" name="Picture Placeholder 160" descr="Thermometer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Fail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5407" y="4688111"/>
            <a:ext cx="1781953" cy="1371725"/>
          </a:xfrm>
        </p:spPr>
        <p:txBody>
          <a:bodyPr/>
          <a:lstStyle/>
          <a:p>
            <a:pPr algn="l"/>
            <a:r>
              <a:rPr lang="tr-TR" b="1" dirty="0"/>
              <a:t>isPhoneNumber()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fail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to validate them</a:t>
            </a:r>
            <a:endParaRPr lang="en-US" dirty="0"/>
          </a:p>
        </p:txBody>
      </p:sp>
      <p:pic>
        <p:nvPicPr>
          <p:cNvPr id="163" name="Picture Placeholder 162" descr="Palm tree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tr-TR" dirty="0"/>
              <a:t>More code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88892" y="4627376"/>
            <a:ext cx="1446129" cy="1571946"/>
          </a:xfrm>
        </p:spPr>
        <p:txBody>
          <a:bodyPr/>
          <a:lstStyle/>
          <a:p>
            <a:pPr algn="l"/>
            <a:r>
              <a:rPr lang="tr-TR" b="1" dirty="0"/>
              <a:t>add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for additional patterns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more source code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more complexity</a:t>
            </a:r>
          </a:p>
        </p:txBody>
      </p:sp>
      <p:pic>
        <p:nvPicPr>
          <p:cNvPr id="165" name="Picture Placeholder 164" descr="Factory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tr-TR" dirty="0"/>
              <a:t>regexes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01132" y="4688111"/>
            <a:ext cx="1526421" cy="1480213"/>
          </a:xfrm>
        </p:spPr>
        <p:txBody>
          <a:bodyPr/>
          <a:lstStyle/>
          <a:p>
            <a:pPr algn="l"/>
            <a:r>
              <a:rPr lang="tr-TR" b="1" dirty="0"/>
              <a:t>Regular expressions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descriptions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for a</a:t>
            </a:r>
            <a:r>
              <a:rPr lang="tr-TR" dirty="0"/>
              <a:t> </a:t>
            </a:r>
            <a:r>
              <a:rPr lang="en-US" dirty="0"/>
              <a:t>pattern</a:t>
            </a:r>
            <a:r>
              <a:rPr lang="tr-TR" dirty="0"/>
              <a:t> </a:t>
            </a:r>
            <a:r>
              <a:rPr lang="en-US" dirty="0"/>
              <a:t>of text</a:t>
            </a:r>
            <a:endParaRPr lang="tr-T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348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95" y="415073"/>
            <a:ext cx="8505000" cy="504000"/>
          </a:xfrm>
        </p:spPr>
        <p:txBody>
          <a:bodyPr/>
          <a:lstStyle/>
          <a:p>
            <a:pPr algn="ctr"/>
            <a:r>
              <a:rPr lang="tr-TR" dirty="0"/>
              <a:t>Regular Expression symbols</a:t>
            </a:r>
            <a:endParaRPr lang="en-US" dirty="0"/>
          </a:p>
        </p:txBody>
      </p:sp>
      <p:pic>
        <p:nvPicPr>
          <p:cNvPr id="67" name="Picture Placeholder 66" descr="Cloud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495" y="3925566"/>
            <a:ext cx="1620000" cy="542228"/>
          </a:xfrm>
        </p:spPr>
        <p:txBody>
          <a:bodyPr/>
          <a:lstStyle/>
          <a:p>
            <a:r>
              <a:rPr lang="tr-TR" dirty="0"/>
              <a:t>\d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4071" y="4683349"/>
            <a:ext cx="1731152" cy="831186"/>
          </a:xfrm>
        </p:spPr>
        <p:txBody>
          <a:bodyPr/>
          <a:lstStyle/>
          <a:p>
            <a:pPr algn="l"/>
            <a:r>
              <a:rPr lang="tr-TR" b="1" dirty="0"/>
              <a:t>stands for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 digit character</a:t>
            </a:r>
          </a:p>
        </p:txBody>
      </p:sp>
      <p:pic>
        <p:nvPicPr>
          <p:cNvPr id="159" name="Picture Placeholder 158" descr="Cactus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Phone # Pattern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556" y="4688112"/>
            <a:ext cx="1839467" cy="953033"/>
          </a:xfrm>
        </p:spPr>
        <p:txBody>
          <a:bodyPr/>
          <a:lstStyle/>
          <a:p>
            <a:pPr algn="l"/>
            <a:r>
              <a:rPr lang="tr-TR" b="1" dirty="0"/>
              <a:t>\d\d\d-\d\d\d-\d\d\d\d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Matches phone numbers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Like </a:t>
            </a:r>
            <a:r>
              <a:rPr lang="en-US" dirty="0"/>
              <a:t>415-555-4242</a:t>
            </a:r>
          </a:p>
        </p:txBody>
      </p:sp>
      <p:pic>
        <p:nvPicPr>
          <p:cNvPr id="161" name="Picture Placeholder 160" descr="Thermometer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{}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41073" y="4688111"/>
            <a:ext cx="1314995" cy="981169"/>
          </a:xfrm>
        </p:spPr>
        <p:txBody>
          <a:bodyPr/>
          <a:lstStyle/>
          <a:p>
            <a:pPr algn="l"/>
            <a:r>
              <a:rPr lang="tr-TR" b="1" dirty="0"/>
              <a:t>Repetition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Tells how many times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to match</a:t>
            </a:r>
          </a:p>
        </p:txBody>
      </p:sp>
      <p:pic>
        <p:nvPicPr>
          <p:cNvPr id="163" name="Picture Placeholder 162" descr="Palm tree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30100" y="3917626"/>
            <a:ext cx="1620440" cy="504000"/>
          </a:xfrm>
        </p:spPr>
        <p:txBody>
          <a:bodyPr/>
          <a:lstStyle/>
          <a:p>
            <a:r>
              <a:rPr lang="tr-TR" b="0" dirty="0"/>
              <a:t>{3}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99908" y="4683646"/>
            <a:ext cx="1446129" cy="1081427"/>
          </a:xfrm>
        </p:spPr>
        <p:txBody>
          <a:bodyPr/>
          <a:lstStyle/>
          <a:p>
            <a:pPr algn="l"/>
            <a:r>
              <a:rPr lang="tr-TR" b="1" dirty="0"/>
              <a:t>Same regexes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\d{3}-\d{3}-\d{4}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\d\d\d-\d\d\d-\d\d\d\d</a:t>
            </a:r>
          </a:p>
        </p:txBody>
      </p:sp>
      <p:pic>
        <p:nvPicPr>
          <p:cNvPr id="165" name="Picture Placeholder 164" descr="Factory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tr-TR" dirty="0"/>
              <a:t>Various formats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82853" y="4688111"/>
            <a:ext cx="1820470" cy="1473538"/>
          </a:xfrm>
        </p:spPr>
        <p:txBody>
          <a:bodyPr/>
          <a:lstStyle/>
          <a:p>
            <a:pPr algn="l"/>
            <a:r>
              <a:rPr lang="tr-TR" b="1" dirty="0"/>
              <a:t>Less code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Just use regexes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Instead of adding new code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500210-58E5-4829-84F1-437F2BD10A62}"/>
              </a:ext>
            </a:extLst>
          </p:cNvPr>
          <p:cNvSpPr/>
          <p:nvPr/>
        </p:nvSpPr>
        <p:spPr>
          <a:xfrm>
            <a:off x="626011" y="1530252"/>
            <a:ext cx="61264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Less code with regex patterns</a:t>
            </a:r>
          </a:p>
        </p:txBody>
      </p:sp>
    </p:spTree>
    <p:extLst>
      <p:ext uri="{BB962C8B-B14F-4D97-AF65-F5344CB8AC3E}">
        <p14:creationId xmlns:p14="http://schemas.microsoft.com/office/powerpoint/2010/main" val="73905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r>
              <a:rPr lang="tr-TR" dirty="0"/>
              <a:t>Creating Regex Objects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tr-TR" dirty="0"/>
              <a:t>re module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603717"/>
            <a:ext cx="2601748" cy="1064230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the regex functions in Python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are in the </a:t>
            </a:r>
            <a:r>
              <a:rPr lang="en-US" b="1" dirty="0"/>
              <a:t>re</a:t>
            </a:r>
            <a:r>
              <a:rPr lang="en-US" dirty="0"/>
              <a:t> module</a:t>
            </a:r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87589" y="2933764"/>
            <a:ext cx="2690947" cy="432000"/>
          </a:xfrm>
        </p:spPr>
        <p:txBody>
          <a:bodyPr/>
          <a:lstStyle/>
          <a:p>
            <a:r>
              <a:rPr lang="en-US" sz="1200" dirty="0"/>
              <a:t>import re</a:t>
            </a:r>
            <a:endParaRPr lang="tr-TR" sz="1200" dirty="0"/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333744"/>
            <a:ext cx="2370064" cy="1299216"/>
          </a:xfrm>
        </p:spPr>
        <p:txBody>
          <a:bodyPr/>
          <a:lstStyle/>
          <a:p>
            <a:r>
              <a:rPr lang="tr-TR" dirty="0"/>
              <a:t>import re module</a:t>
            </a:r>
            <a:endParaRPr lang="en-US" dirty="0"/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76212" y="4698697"/>
            <a:ext cx="2251800" cy="432000"/>
          </a:xfrm>
        </p:spPr>
        <p:txBody>
          <a:bodyPr/>
          <a:lstStyle/>
          <a:p>
            <a:r>
              <a:rPr lang="en-US" dirty="0" err="1"/>
              <a:t>re.compile</a:t>
            </a:r>
            <a:r>
              <a:rPr lang="en-US" dirty="0"/>
              <a:t>()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2337" y="5189268"/>
            <a:ext cx="2251799" cy="1089612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Passing a string value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representing regular expression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returns a Regex pattern object</a:t>
            </a:r>
            <a:endParaRPr lang="tr-T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9" name="Picture Placeholder 18" descr="A insect on the ground&#10;&#10;Description automatically generated">
            <a:extLst>
              <a:ext uri="{FF2B5EF4-FFF2-40B4-BE49-F238E27FC236}">
                <a16:creationId xmlns:a16="http://schemas.microsoft.com/office/drawing/2014/main" id="{47D7336B-80A8-43D8-80CF-74DFBA0CC698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044" b="1204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3481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r>
              <a:rPr lang="tr-TR" dirty="0"/>
              <a:t>Matching Regex Objects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tr-TR" dirty="0"/>
              <a:t>search() method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603717"/>
            <a:ext cx="2601748" cy="1064230"/>
          </a:xfrm>
        </p:spPr>
        <p:txBody>
          <a:bodyPr/>
          <a:lstStyle/>
          <a:p>
            <a:r>
              <a:rPr lang="en-US" dirty="0"/>
              <a:t>searches the string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is passed for any</a:t>
            </a:r>
            <a:r>
              <a:rPr lang="tr-TR" dirty="0"/>
              <a:t> </a:t>
            </a:r>
            <a:r>
              <a:rPr lang="en-US" dirty="0"/>
              <a:t>matches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 the regex.</a:t>
            </a:r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87589" y="2905628"/>
            <a:ext cx="2690947" cy="432000"/>
          </a:xfrm>
        </p:spPr>
        <p:txBody>
          <a:bodyPr/>
          <a:lstStyle/>
          <a:p>
            <a:r>
              <a:rPr lang="en-US" sz="1200" dirty="0"/>
              <a:t>The search() method 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333744"/>
            <a:ext cx="2370064" cy="1299216"/>
          </a:xfrm>
        </p:spPr>
        <p:txBody>
          <a:bodyPr/>
          <a:lstStyle/>
          <a:p>
            <a:r>
              <a:rPr lang="en-US" dirty="0"/>
              <a:t>will return </a:t>
            </a:r>
            <a:r>
              <a:rPr lang="en-US" dirty="0">
                <a:solidFill>
                  <a:srgbClr val="0070C0"/>
                </a:solidFill>
              </a:rPr>
              <a:t>None</a:t>
            </a:r>
            <a:r>
              <a:rPr lang="en-US" dirty="0"/>
              <a:t>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if the regex pattern</a:t>
            </a:r>
            <a:r>
              <a:rPr lang="tr-TR" dirty="0"/>
              <a:t> </a:t>
            </a:r>
            <a:r>
              <a:rPr lang="en-US" dirty="0"/>
              <a:t>is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u="sng" dirty="0"/>
              <a:t>not</a:t>
            </a:r>
            <a:r>
              <a:rPr lang="en-US" dirty="0"/>
              <a:t> found in the string</a:t>
            </a:r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76212" y="4698697"/>
            <a:ext cx="2251800" cy="432000"/>
          </a:xfrm>
        </p:spPr>
        <p:txBody>
          <a:bodyPr/>
          <a:lstStyle/>
          <a:p>
            <a:r>
              <a:rPr lang="en-US" dirty="0"/>
              <a:t>Match object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2337" y="5189268"/>
            <a:ext cx="2251799" cy="1089612"/>
          </a:xfrm>
        </p:spPr>
        <p:txBody>
          <a:bodyPr/>
          <a:lstStyle/>
          <a:p>
            <a:r>
              <a:rPr lang="en-US" dirty="0"/>
              <a:t>If the pattern is found,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search() method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returns a </a:t>
            </a:r>
            <a:r>
              <a:rPr lang="en-US" dirty="0">
                <a:solidFill>
                  <a:srgbClr val="0070C0"/>
                </a:solidFill>
              </a:rPr>
              <a:t>Match</a:t>
            </a:r>
            <a:r>
              <a:rPr lang="en-US" dirty="0"/>
              <a:t> object.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9" name="Picture Placeholder 18" descr="A insect on the ground&#10;&#10;Description automatically generated">
            <a:extLst>
              <a:ext uri="{FF2B5EF4-FFF2-40B4-BE49-F238E27FC236}">
                <a16:creationId xmlns:a16="http://schemas.microsoft.com/office/drawing/2014/main" id="{47D7336B-80A8-43D8-80CF-74DFBA0CC698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044" b="1204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613478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3DA232-2371-4116-8D5E-B5BDBB352D1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8454" y="1613685"/>
            <a:ext cx="4178105" cy="432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/>
          <a:lstStyle/>
          <a:p>
            <a:pPr algn="ctr"/>
            <a:r>
              <a:rPr lang="en-US" dirty="0">
                <a:latin typeface="TheSansMonoCondensed-Plain"/>
              </a:rPr>
              <a:t>group() </a:t>
            </a:r>
            <a:r>
              <a:rPr lang="en-US" dirty="0">
                <a:latin typeface="NewBaskerville-Roman"/>
              </a:rPr>
              <a:t>method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73219-73B6-4A50-8412-77850D562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04357" y="4785339"/>
            <a:ext cx="3502411" cy="281993"/>
          </a:xfrm>
          <a:solidFill>
            <a:schemeClr val="bg1">
              <a:lumMod val="85000"/>
              <a:alpha val="86000"/>
            </a:schemeClr>
          </a:solidFill>
        </p:spPr>
        <p:txBody>
          <a:bodyPr/>
          <a:lstStyle/>
          <a:p>
            <a:r>
              <a:rPr lang="tr-TR" dirty="0">
                <a:latin typeface="NewBaskerville-Roman"/>
              </a:rPr>
              <a:t>Match Object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73F52C3-E381-4B04-B9A7-B6D338DCC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35681" y="3305908"/>
            <a:ext cx="4501218" cy="1111348"/>
          </a:xfrm>
          <a:gradFill flip="none" rotWithShape="1">
            <a:gsLst>
              <a:gs pos="0">
                <a:schemeClr val="accent1">
                  <a:tint val="66000"/>
                  <a:satMod val="160000"/>
                  <a:alpha val="33000"/>
                </a:schemeClr>
              </a:gs>
              <a:gs pos="22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/>
          <a:lstStyle/>
          <a:p>
            <a:r>
              <a:rPr lang="en-US" sz="1600" dirty="0">
                <a:solidFill>
                  <a:srgbClr val="7030A0"/>
                </a:solidFill>
                <a:latin typeface="NewBaskerville-Roman"/>
              </a:rPr>
              <a:t>will return</a:t>
            </a:r>
            <a:r>
              <a:rPr lang="tr-TR" sz="1600" dirty="0">
                <a:solidFill>
                  <a:srgbClr val="7030A0"/>
                </a:solidFill>
                <a:latin typeface="NewBaskerville-Roman"/>
              </a:rPr>
              <a:t> </a:t>
            </a:r>
            <a:r>
              <a:rPr lang="en-US" sz="1600" dirty="0">
                <a:solidFill>
                  <a:srgbClr val="7030A0"/>
                </a:solidFill>
                <a:latin typeface="NewBaskerville-Roman"/>
              </a:rPr>
              <a:t>the actual </a:t>
            </a:r>
            <a:r>
              <a:rPr lang="en-US" sz="1600" b="1" dirty="0">
                <a:solidFill>
                  <a:srgbClr val="7030A0"/>
                </a:solidFill>
                <a:latin typeface="NewBaskerville-Roman"/>
              </a:rPr>
              <a:t>matched text </a:t>
            </a:r>
            <a:endParaRPr lang="tr-TR" sz="1600" b="1" dirty="0">
              <a:solidFill>
                <a:srgbClr val="7030A0"/>
              </a:solidFill>
              <a:latin typeface="NewBaskerville-Roman"/>
            </a:endParaRPr>
          </a:p>
          <a:p>
            <a:r>
              <a:rPr lang="en-US" sz="1600" dirty="0">
                <a:solidFill>
                  <a:srgbClr val="7030A0"/>
                </a:solidFill>
                <a:latin typeface="NewBaskerville-Roman"/>
              </a:rPr>
              <a:t>from the searched string</a:t>
            </a:r>
            <a:endParaRPr lang="tr-TR" sz="1600" dirty="0">
              <a:solidFill>
                <a:srgbClr val="7030A0"/>
              </a:solidFill>
            </a:endParaRPr>
          </a:p>
          <a:p>
            <a:endParaRPr lang="tr-TR" sz="16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643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E337B1F-0BDC-4776-9D5A-50453B177ED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911304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542" y="966572"/>
            <a:ext cx="8505000" cy="432000"/>
          </a:xfrm>
          <a:solidFill>
            <a:schemeClr val="bg1">
              <a:lumMod val="75000"/>
            </a:schemeClr>
          </a:solidFill>
        </p:spPr>
        <p:txBody>
          <a:bodyPr/>
          <a:lstStyle/>
          <a:p>
            <a:r>
              <a:rPr lang="tr-TR" dirty="0"/>
              <a:t>re module, compile(), search() &amp; group()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7390" y="2331217"/>
            <a:ext cx="4726302" cy="1888349"/>
          </a:xfrm>
          <a:solidFill>
            <a:srgbClr val="FFECB2">
              <a:alpha val="85098"/>
            </a:srgb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import re</a:t>
            </a:r>
          </a:p>
          <a:p>
            <a:pPr marL="0" indent="0">
              <a:buNone/>
            </a:pPr>
            <a:r>
              <a:rPr lang="en-US" dirty="0" err="1"/>
              <a:t>phoneNumRegex</a:t>
            </a:r>
            <a:r>
              <a:rPr lang="en-US" dirty="0"/>
              <a:t> = </a:t>
            </a:r>
            <a:r>
              <a:rPr lang="en-US" dirty="0" err="1"/>
              <a:t>re.compile</a:t>
            </a:r>
            <a:r>
              <a:rPr lang="en-US" dirty="0"/>
              <a:t>(r'\d\d\d-\d\d\d-\d\d\d\d')</a:t>
            </a:r>
          </a:p>
          <a:p>
            <a:pPr marL="0" indent="0">
              <a:buNone/>
            </a:pPr>
            <a:r>
              <a:rPr lang="en-US" dirty="0" err="1"/>
              <a:t>mo</a:t>
            </a:r>
            <a:r>
              <a:rPr lang="en-US" dirty="0"/>
              <a:t> = </a:t>
            </a:r>
            <a:r>
              <a:rPr lang="en-US" dirty="0" err="1"/>
              <a:t>phoneNumRegex.search</a:t>
            </a:r>
            <a:r>
              <a:rPr lang="en-US" dirty="0"/>
              <a:t>('My number is 415-555-4242.')</a:t>
            </a:r>
          </a:p>
          <a:p>
            <a:pPr marL="0" indent="0">
              <a:buNone/>
            </a:pPr>
            <a:r>
              <a:rPr lang="en-US" dirty="0"/>
              <a:t>print('Phone number found: ' + </a:t>
            </a:r>
            <a:r>
              <a:rPr lang="en-US" dirty="0" err="1"/>
              <a:t>mo.group</a:t>
            </a:r>
            <a:r>
              <a:rPr lang="en-US" dirty="0"/>
              <a:t>())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06572" y="2349305"/>
            <a:ext cx="3882683" cy="1899138"/>
          </a:xfrm>
          <a:solidFill>
            <a:srgbClr val="FFECB2">
              <a:alpha val="85098"/>
            </a:srgbClr>
          </a:solidFill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Phone number found: 415-555-4242</a:t>
            </a:r>
          </a:p>
        </p:txBody>
      </p:sp>
    </p:spTree>
    <p:extLst>
      <p:ext uri="{BB962C8B-B14F-4D97-AF65-F5344CB8AC3E}">
        <p14:creationId xmlns:p14="http://schemas.microsoft.com/office/powerpoint/2010/main" val="2465182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264D94-BD78-41DE-B090-0716765A2E1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026" y="1438605"/>
            <a:ext cx="4934411" cy="43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tr-TR" dirty="0">
                <a:solidFill>
                  <a:srgbClr val="00B0F0"/>
                </a:solidFill>
              </a:rPr>
              <a:t>mo</a:t>
            </a:r>
            <a:r>
              <a:rPr lang="tr-TR" dirty="0">
                <a:solidFill>
                  <a:schemeClr val="tx1"/>
                </a:solidFill>
              </a:rPr>
              <a:t> variable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1DF7F-F183-420F-8BAA-AF8BF9726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21473" y="2112304"/>
            <a:ext cx="5120641" cy="55521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is just a generic name to use for </a:t>
            </a:r>
            <a:r>
              <a:rPr lang="en-US" b="1" dirty="0">
                <a:solidFill>
                  <a:srgbClr val="00B0F0"/>
                </a:solidFill>
              </a:rPr>
              <a:t>Match</a:t>
            </a:r>
            <a:r>
              <a:rPr lang="en-US" dirty="0"/>
              <a:t> objects</a:t>
            </a:r>
            <a:endParaRPr lang="tr-TR" sz="1600" dirty="0">
              <a:solidFill>
                <a:srgbClr val="00B0F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5A6FA0-00FC-4248-991F-721E3A3F3C19}"/>
              </a:ext>
            </a:extLst>
          </p:cNvPr>
          <p:cNvSpPr/>
          <p:nvPr/>
        </p:nvSpPr>
        <p:spPr>
          <a:xfrm>
            <a:off x="1996390" y="3375562"/>
            <a:ext cx="5380892" cy="11079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tr-TR" sz="1600" dirty="0"/>
              <a:t>import re</a:t>
            </a:r>
          </a:p>
          <a:p>
            <a:r>
              <a:rPr lang="tr-TR" sz="1600" dirty="0">
                <a:solidFill>
                  <a:srgbClr val="3471A1"/>
                </a:solidFill>
              </a:rPr>
              <a:t>phoneNumRegex</a:t>
            </a:r>
            <a:r>
              <a:rPr lang="tr-TR" sz="1600" dirty="0"/>
              <a:t> = re.compile(r</a:t>
            </a:r>
            <a:r>
              <a:rPr lang="tr-TR" sz="1600" dirty="0">
                <a:solidFill>
                  <a:srgbClr val="3471A1"/>
                </a:solidFill>
              </a:rPr>
              <a:t>'\d\d\d-\d\d\d-\d\d\d\d'</a:t>
            </a:r>
            <a:r>
              <a:rPr lang="tr-TR" sz="1600" dirty="0"/>
              <a:t>)</a:t>
            </a:r>
          </a:p>
          <a:p>
            <a:r>
              <a:rPr lang="tr-TR" sz="1600" dirty="0"/>
              <a:t>mo = phoneNumRegex.</a:t>
            </a:r>
            <a:r>
              <a:rPr lang="tr-TR" sz="1600" dirty="0">
                <a:solidFill>
                  <a:srgbClr val="3471A1"/>
                </a:solidFill>
              </a:rPr>
              <a:t>search</a:t>
            </a:r>
            <a:r>
              <a:rPr lang="tr-TR" sz="1600" dirty="0"/>
              <a:t>('My number is 415-555-4242.')</a:t>
            </a:r>
          </a:p>
          <a:p>
            <a:r>
              <a:rPr lang="tr-TR" sz="1600" dirty="0"/>
              <a:t>print('Phone number found: ' + </a:t>
            </a:r>
            <a:r>
              <a:rPr lang="tr-TR" sz="1600" dirty="0">
                <a:solidFill>
                  <a:srgbClr val="3471A1"/>
                </a:solidFill>
              </a:rPr>
              <a:t>mo.group()</a:t>
            </a:r>
            <a:r>
              <a:rPr lang="tr-TR" sz="1600" dirty="0"/>
              <a:t>)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D98EBAA7-567F-494E-B37C-5C0731AF2518}"/>
              </a:ext>
            </a:extLst>
          </p:cNvPr>
          <p:cNvSpPr/>
          <p:nvPr/>
        </p:nvSpPr>
        <p:spPr>
          <a:xfrm>
            <a:off x="906406" y="2836874"/>
            <a:ext cx="4142673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tr-TR" dirty="0" err="1"/>
              <a:t>variable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en-US" dirty="0"/>
              <a:t>store the resulting</a:t>
            </a:r>
            <a:r>
              <a:rPr lang="tr-TR" dirty="0"/>
              <a:t> </a:t>
            </a:r>
            <a:r>
              <a:rPr lang="en-US" dirty="0">
                <a:solidFill>
                  <a:srgbClr val="00B0F0"/>
                </a:solidFill>
              </a:rPr>
              <a:t>Regex</a:t>
            </a:r>
            <a:r>
              <a:rPr lang="en-US" dirty="0"/>
              <a:t> object</a:t>
            </a:r>
            <a:endParaRPr lang="tr-TR" dirty="0"/>
          </a:p>
        </p:txBody>
      </p:sp>
      <p:cxnSp>
        <p:nvCxnSpPr>
          <p:cNvPr id="8" name="Bağlayıcı: Eğri 7">
            <a:extLst>
              <a:ext uri="{FF2B5EF4-FFF2-40B4-BE49-F238E27FC236}">
                <a16:creationId xmlns:a16="http://schemas.microsoft.com/office/drawing/2014/main" id="{2159341D-3C9A-43C8-BB8F-1C408CB75A98}"/>
              </a:ext>
            </a:extLst>
          </p:cNvPr>
          <p:cNvCxnSpPr>
            <a:cxnSpLocks/>
          </p:cNvCxnSpPr>
          <p:nvPr/>
        </p:nvCxnSpPr>
        <p:spPr>
          <a:xfrm rot="10800000">
            <a:off x="1401418" y="3240156"/>
            <a:ext cx="594972" cy="576470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Dikdörtgen 11">
            <a:extLst>
              <a:ext uri="{FF2B5EF4-FFF2-40B4-BE49-F238E27FC236}">
                <a16:creationId xmlns:a16="http://schemas.microsoft.com/office/drawing/2014/main" id="{E4BEC724-3F4F-401B-8777-0A9048DF5A42}"/>
              </a:ext>
            </a:extLst>
          </p:cNvPr>
          <p:cNvSpPr/>
          <p:nvPr/>
        </p:nvSpPr>
        <p:spPr>
          <a:xfrm>
            <a:off x="5668189" y="2870824"/>
            <a:ext cx="1609671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it-IT" dirty="0"/>
              <a:t>desired pattern</a:t>
            </a:r>
            <a:endParaRPr lang="en-US" dirty="0"/>
          </a:p>
        </p:txBody>
      </p:sp>
      <p:cxnSp>
        <p:nvCxnSpPr>
          <p:cNvPr id="13" name="Bağlayıcı: Eğri 12">
            <a:extLst>
              <a:ext uri="{FF2B5EF4-FFF2-40B4-BE49-F238E27FC236}">
                <a16:creationId xmlns:a16="http://schemas.microsoft.com/office/drawing/2014/main" id="{89B6FAD8-F1FA-4198-8EF2-11DF4567A10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193566" y="3209178"/>
            <a:ext cx="604173" cy="296800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Dikdörtgen 15">
            <a:extLst>
              <a:ext uri="{FF2B5EF4-FFF2-40B4-BE49-F238E27FC236}">
                <a16:creationId xmlns:a16="http://schemas.microsoft.com/office/drawing/2014/main" id="{CD6EE01A-19AA-4749-B877-D5DD57BB8261}"/>
              </a:ext>
            </a:extLst>
          </p:cNvPr>
          <p:cNvSpPr/>
          <p:nvPr/>
        </p:nvSpPr>
        <p:spPr>
          <a:xfrm>
            <a:off x="903409" y="4932100"/>
            <a:ext cx="3583738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dirty="0"/>
              <a:t>search for a match pass</a:t>
            </a:r>
            <a:r>
              <a:rPr lang="tr-TR" dirty="0" err="1"/>
              <a:t>ing</a:t>
            </a:r>
            <a:r>
              <a:rPr lang="tr-TR" dirty="0"/>
              <a:t> </a:t>
            </a:r>
            <a:r>
              <a:rPr lang="en-US" dirty="0"/>
              <a:t>the string</a:t>
            </a:r>
          </a:p>
        </p:txBody>
      </p:sp>
      <p:cxnSp>
        <p:nvCxnSpPr>
          <p:cNvPr id="17" name="Bağlayıcı: Eğri 16">
            <a:extLst>
              <a:ext uri="{FF2B5EF4-FFF2-40B4-BE49-F238E27FC236}">
                <a16:creationId xmlns:a16="http://schemas.microsoft.com/office/drawing/2014/main" id="{8A1C6FAB-C527-4132-8025-665A6DC32006}"/>
              </a:ext>
            </a:extLst>
          </p:cNvPr>
          <p:cNvCxnSpPr>
            <a:cxnSpLocks/>
            <a:endCxn id="16" idx="0"/>
          </p:cNvCxnSpPr>
          <p:nvPr/>
        </p:nvCxnSpPr>
        <p:spPr>
          <a:xfrm rot="10800000" flipV="1">
            <a:off x="2695278" y="4122718"/>
            <a:ext cx="1459278" cy="809382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Dikdörtgen 21">
            <a:extLst>
              <a:ext uri="{FF2B5EF4-FFF2-40B4-BE49-F238E27FC236}">
                <a16:creationId xmlns:a16="http://schemas.microsoft.com/office/drawing/2014/main" id="{E2B98A9A-E51B-4ED8-85F5-F6D4F3DE9083}"/>
              </a:ext>
            </a:extLst>
          </p:cNvPr>
          <p:cNvSpPr/>
          <p:nvPr/>
        </p:nvSpPr>
        <p:spPr>
          <a:xfrm>
            <a:off x="4736379" y="4932100"/>
            <a:ext cx="2011448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dirty="0"/>
              <a:t>to return the match</a:t>
            </a:r>
          </a:p>
        </p:txBody>
      </p:sp>
      <p:cxnSp>
        <p:nvCxnSpPr>
          <p:cNvPr id="23" name="Bağlayıcı: Eğri 22">
            <a:extLst>
              <a:ext uri="{FF2B5EF4-FFF2-40B4-BE49-F238E27FC236}">
                <a16:creationId xmlns:a16="http://schemas.microsoft.com/office/drawing/2014/main" id="{097568E4-17F0-4D2F-853C-8CD7939E8189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5082119" y="4483558"/>
            <a:ext cx="659984" cy="448542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8926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399" y="511513"/>
            <a:ext cx="8505000" cy="542228"/>
          </a:xfrm>
        </p:spPr>
        <p:txBody>
          <a:bodyPr/>
          <a:lstStyle/>
          <a:p>
            <a:pPr algn="ctr"/>
            <a:r>
              <a:rPr lang="en-US" dirty="0"/>
              <a:t>Review of Regular Expression Matching</a:t>
            </a:r>
            <a:endParaRPr lang="tr-TR" dirty="0"/>
          </a:p>
        </p:txBody>
      </p:sp>
      <p:pic>
        <p:nvPicPr>
          <p:cNvPr id="67" name="Picture Placeholder 66" descr="Cloud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495" y="3925566"/>
            <a:ext cx="1620000" cy="542228"/>
          </a:xfrm>
        </p:spPr>
        <p:txBody>
          <a:bodyPr/>
          <a:lstStyle/>
          <a:p>
            <a:r>
              <a:rPr lang="tr-TR" dirty="0"/>
              <a:t>import 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4071" y="4683348"/>
            <a:ext cx="1661140" cy="1056269"/>
          </a:xfrm>
        </p:spPr>
        <p:txBody>
          <a:bodyPr/>
          <a:lstStyle/>
          <a:p>
            <a:pPr algn="l"/>
            <a:r>
              <a:rPr lang="tr-TR" b="1" dirty="0"/>
              <a:t>Import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regex module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with import re</a:t>
            </a:r>
          </a:p>
        </p:txBody>
      </p:sp>
      <p:pic>
        <p:nvPicPr>
          <p:cNvPr id="159" name="Picture Placeholder 158" descr="Cactus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re.compile()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556" y="4688112"/>
            <a:ext cx="1613044" cy="953033"/>
          </a:xfrm>
        </p:spPr>
        <p:txBody>
          <a:bodyPr/>
          <a:lstStyle/>
          <a:p>
            <a:pPr algn="l"/>
            <a:r>
              <a:rPr lang="tr-TR" b="1" dirty="0"/>
              <a:t>Create 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Regex object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with the </a:t>
            </a:r>
            <a:r>
              <a:rPr lang="en-US" dirty="0" err="1"/>
              <a:t>re.compile</a:t>
            </a:r>
            <a:r>
              <a:rPr lang="en-US" dirty="0"/>
              <a:t>() function</a:t>
            </a:r>
            <a:endParaRPr lang="en-US" b="1" dirty="0"/>
          </a:p>
        </p:txBody>
      </p:sp>
      <p:pic>
        <p:nvPicPr>
          <p:cNvPr id="161" name="Picture Placeholder 160" descr="Thermometer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search() 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07936" y="4688111"/>
            <a:ext cx="1314995" cy="1423931"/>
          </a:xfrm>
        </p:spPr>
        <p:txBody>
          <a:bodyPr/>
          <a:lstStyle/>
          <a:p>
            <a:pPr algn="l"/>
            <a:r>
              <a:rPr lang="tr-TR" b="1" dirty="0"/>
              <a:t>Pass the string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to search into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Regex object’s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search() method.</a:t>
            </a:r>
            <a:endParaRPr lang="tr-TR" dirty="0"/>
          </a:p>
        </p:txBody>
      </p:sp>
      <p:pic>
        <p:nvPicPr>
          <p:cNvPr id="163" name="Picture Placeholder 162" descr="Palm tree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98432" y="3917626"/>
            <a:ext cx="1624263" cy="504000"/>
          </a:xfrm>
        </p:spPr>
        <p:txBody>
          <a:bodyPr/>
          <a:lstStyle/>
          <a:p>
            <a:r>
              <a:rPr lang="tr-TR" dirty="0"/>
              <a:t>Match object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99908" y="4683646"/>
            <a:ext cx="1446129" cy="1271986"/>
          </a:xfrm>
        </p:spPr>
        <p:txBody>
          <a:bodyPr/>
          <a:lstStyle/>
          <a:p>
            <a:pPr algn="l"/>
            <a:r>
              <a:rPr lang="tr-TR" b="1" dirty="0"/>
              <a:t>search()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returns a Match object</a:t>
            </a:r>
            <a:endParaRPr lang="tr-TR" dirty="0"/>
          </a:p>
        </p:txBody>
      </p:sp>
      <p:pic>
        <p:nvPicPr>
          <p:cNvPr id="165" name="Picture Placeholder 164" descr="Factory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tr-TR" dirty="0"/>
              <a:t>Match.group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82853" y="4688111"/>
            <a:ext cx="1820470" cy="1107778"/>
          </a:xfrm>
        </p:spPr>
        <p:txBody>
          <a:bodyPr/>
          <a:lstStyle/>
          <a:p>
            <a:pPr algn="l"/>
            <a:r>
              <a:rPr lang="tr-TR" b="1" dirty="0"/>
              <a:t>Call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Match object’s group() method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to return a string of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actual</a:t>
            </a:r>
            <a:r>
              <a:rPr lang="tr-TR" dirty="0"/>
              <a:t> </a:t>
            </a:r>
            <a:r>
              <a:rPr lang="en-US" dirty="0"/>
              <a:t>matched text.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500210-58E5-4829-84F1-437F2BD10A62}"/>
              </a:ext>
            </a:extLst>
          </p:cNvPr>
          <p:cNvSpPr/>
          <p:nvPr/>
        </p:nvSpPr>
        <p:spPr>
          <a:xfrm>
            <a:off x="803432" y="1079876"/>
            <a:ext cx="78765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steps to us</a:t>
            </a:r>
            <a:r>
              <a:rPr lang="tr-TR" dirty="0"/>
              <a:t>e</a:t>
            </a:r>
            <a:r>
              <a:rPr lang="en-US" dirty="0"/>
              <a:t> regular expressions in Python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770455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7: Pattern Matching with Regular Expressions</a:t>
            </a:r>
            <a:endParaRPr lang="tr-TR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More Pattern Matching with Regular Expressions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Grouping with Parentheses</a:t>
            </a:r>
            <a:endParaRPr lang="tr-T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Matching Multiple Groups with the Pipe</a:t>
            </a:r>
            <a:endParaRPr lang="tr-T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Optional Matching with the Question Mark</a:t>
            </a:r>
            <a:endParaRPr lang="tr-T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Matching Zero or More with the Star</a:t>
            </a:r>
            <a:endParaRPr lang="tr-T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Matching One or More with the Plus</a:t>
            </a:r>
            <a:endParaRPr lang="tr-T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Matching Specific Repetitions with Curly Brackets</a:t>
            </a:r>
            <a:endParaRPr lang="tr-T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4098" name="Picture 2" descr="Wheeler Farms">
            <a:extLst>
              <a:ext uri="{FF2B5EF4-FFF2-40B4-BE49-F238E27FC236}">
                <a16:creationId xmlns:a16="http://schemas.microsoft.com/office/drawing/2014/main" id="{43607C10-D62D-4064-B127-FC5FDC4D4331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712" r="24712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0133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More Pattern Matching with Regular Expressions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585026"/>
          </a:xfrm>
        </p:spPr>
        <p:txBody>
          <a:bodyPr/>
          <a:lstStyle/>
          <a:p>
            <a:r>
              <a:rPr lang="tr-TR" dirty="0"/>
              <a:t>trying </a:t>
            </a:r>
            <a:r>
              <a:rPr lang="en-US" dirty="0"/>
              <a:t>more powerful</a:t>
            </a:r>
            <a:r>
              <a:rPr lang="tr-TR" dirty="0"/>
              <a:t> </a:t>
            </a:r>
            <a:r>
              <a:rPr lang="en-US" dirty="0"/>
              <a:t>pattern-matching capabilities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()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305135"/>
            <a:ext cx="2067951" cy="900000"/>
          </a:xfrm>
        </p:spPr>
        <p:txBody>
          <a:bodyPr/>
          <a:lstStyle/>
          <a:p>
            <a:pPr algn="l"/>
            <a:r>
              <a:rPr lang="en-US" dirty="0"/>
              <a:t>create groups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Adding parentheses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in the regex</a:t>
            </a:r>
            <a:endParaRPr lang="tr-TR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regex group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75963" y="4333270"/>
            <a:ext cx="1807385" cy="90000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dirty="0"/>
              <a:t>parenthesis set a group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(\d\d\d)-(\d\d\d-\d\d\d\d)</a:t>
            </a:r>
            <a:endParaRPr lang="en-US" b="1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19584" y="3842769"/>
            <a:ext cx="1577753" cy="504000"/>
          </a:xfrm>
        </p:spPr>
        <p:txBody>
          <a:bodyPr/>
          <a:lstStyle/>
          <a:p>
            <a:r>
              <a:rPr lang="en-US" dirty="0"/>
              <a:t>group() 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97342" y="4334949"/>
            <a:ext cx="2138289" cy="1178747"/>
          </a:xfrm>
        </p:spPr>
        <p:txBody>
          <a:bodyPr/>
          <a:lstStyle/>
          <a:p>
            <a:pPr algn="l"/>
            <a:r>
              <a:rPr lang="tr-TR" dirty="0"/>
              <a:t>is </a:t>
            </a:r>
            <a:r>
              <a:rPr lang="en-US" dirty="0"/>
              <a:t>match object method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to grab the matching</a:t>
            </a:r>
            <a:r>
              <a:rPr lang="tr-TR" dirty="0"/>
              <a:t> </a:t>
            </a:r>
            <a:r>
              <a:rPr lang="en-US" dirty="0"/>
              <a:t>text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from </a:t>
            </a:r>
            <a:r>
              <a:rPr lang="en-US" b="1" dirty="0"/>
              <a:t>just one group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8E439A-1833-47B9-91BD-F8CDFD9173FC}"/>
              </a:ext>
            </a:extLst>
          </p:cNvPr>
          <p:cNvSpPr/>
          <p:nvPr/>
        </p:nvSpPr>
        <p:spPr>
          <a:xfrm>
            <a:off x="4414520" y="993503"/>
            <a:ext cx="31566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1" i="1" dirty="0">
                <a:latin typeface="Futura-CondensedBoldOblique"/>
              </a:rPr>
              <a:t>Grouping with Parentheses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56846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r>
              <a:rPr lang="tr-TR" dirty="0"/>
              <a:t>Grouping with Parentheses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en-US" dirty="0"/>
              <a:t>group 1</a:t>
            </a:r>
            <a:endParaRPr lang="tr-TR" dirty="0"/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603717"/>
            <a:ext cx="2601748" cy="1064230"/>
          </a:xfrm>
        </p:spPr>
        <p:txBody>
          <a:bodyPr/>
          <a:lstStyle/>
          <a:p>
            <a:r>
              <a:rPr lang="en-US" dirty="0"/>
              <a:t>The first set of parentheses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a regex string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will be group 1.</a:t>
            </a:r>
            <a:endParaRPr lang="tr-TR" dirty="0"/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83010" y="2891561"/>
            <a:ext cx="2124891" cy="432000"/>
          </a:xfrm>
        </p:spPr>
        <p:txBody>
          <a:bodyPr/>
          <a:lstStyle/>
          <a:p>
            <a:r>
              <a:rPr lang="tr-TR" sz="1200" dirty="0"/>
              <a:t>group 2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446584"/>
            <a:ext cx="2370064" cy="886265"/>
          </a:xfrm>
        </p:spPr>
        <p:txBody>
          <a:bodyPr/>
          <a:lstStyle/>
          <a:p>
            <a:r>
              <a:rPr lang="en-US" dirty="0"/>
              <a:t>The second set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will be group 2</a:t>
            </a:r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76212" y="4698697"/>
            <a:ext cx="2251800" cy="432000"/>
          </a:xfrm>
        </p:spPr>
        <p:txBody>
          <a:bodyPr/>
          <a:lstStyle/>
          <a:p>
            <a:r>
              <a:rPr lang="en-US" dirty="0"/>
              <a:t>passing the integer 1 or 2 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2337" y="5189268"/>
            <a:ext cx="2251799" cy="789501"/>
          </a:xfrm>
        </p:spPr>
        <p:txBody>
          <a:bodyPr/>
          <a:lstStyle/>
          <a:p>
            <a:r>
              <a:rPr lang="en-US" dirty="0"/>
              <a:t>to the group() match</a:t>
            </a:r>
            <a:r>
              <a:rPr lang="tr-TR" dirty="0"/>
              <a:t> </a:t>
            </a:r>
            <a:r>
              <a:rPr lang="en-US" dirty="0"/>
              <a:t>object method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to </a:t>
            </a:r>
            <a:r>
              <a:rPr lang="en-US" dirty="0"/>
              <a:t>grab different parts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of the matched text. </a:t>
            </a:r>
            <a:endParaRPr lang="tr-T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15" name="Picture Placeholder 14" descr="A insect on the ground&#10;&#10;Description automatically generated">
            <a:extLst>
              <a:ext uri="{FF2B5EF4-FFF2-40B4-BE49-F238E27FC236}">
                <a16:creationId xmlns:a16="http://schemas.microsoft.com/office/drawing/2014/main" id="{2E6F94E7-2D46-4B57-B812-4DFFDBF7DEB7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044" b="12044"/>
          <a:stretch>
            <a:fillRect/>
          </a:stretch>
        </p:blipFill>
        <p:spPr/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81E1B44-EDEF-4747-B88D-D2A7ECB33EA0}"/>
              </a:ext>
            </a:extLst>
          </p:cNvPr>
          <p:cNvSpPr/>
          <p:nvPr/>
        </p:nvSpPr>
        <p:spPr>
          <a:xfrm>
            <a:off x="4846319" y="6005958"/>
            <a:ext cx="283464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Passing 0</a:t>
            </a:r>
            <a:r>
              <a:rPr lang="tr-TR" sz="1400" dirty="0"/>
              <a:t> </a:t>
            </a:r>
            <a:r>
              <a:rPr lang="en-US" sz="1400" dirty="0"/>
              <a:t>or nothing </a:t>
            </a:r>
            <a:endParaRPr lang="tr-TR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to the group() method </a:t>
            </a:r>
            <a:endParaRPr lang="tr-TR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will return the entire matched text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153543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1E338C7-075D-4066-B475-D33665883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0672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994" y="0"/>
            <a:ext cx="7160455" cy="432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US" dirty="0"/>
              <a:t>Grouping with Parentheses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75914" y="450836"/>
            <a:ext cx="4722107" cy="1012204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&gt;&gt;&gt; import re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phoneNumRegex</a:t>
            </a:r>
            <a:r>
              <a:rPr lang="en-US" dirty="0"/>
              <a:t> = </a:t>
            </a:r>
            <a:r>
              <a:rPr lang="en-US" dirty="0" err="1"/>
              <a:t>re.compile</a:t>
            </a:r>
            <a:r>
              <a:rPr lang="en-US" dirty="0"/>
              <a:t>(r'(\d\d\d)-(\d\d\d-\d\d\d\d)')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mo</a:t>
            </a:r>
            <a:r>
              <a:rPr lang="en-US" dirty="0"/>
              <a:t> = </a:t>
            </a:r>
            <a:r>
              <a:rPr lang="en-US" dirty="0" err="1"/>
              <a:t>phoneNumRegex.search</a:t>
            </a:r>
            <a:r>
              <a:rPr lang="en-US" dirty="0"/>
              <a:t>('My number is 415-555-4242.')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42066" y="5850390"/>
            <a:ext cx="324000" cy="432000"/>
          </a:xfrm>
        </p:spPr>
        <p:txBody>
          <a:bodyPr/>
          <a:lstStyle/>
          <a:p>
            <a:fld id="{19B51A1E-902D-48AF-9020-955120F399B6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75914" y="1505245"/>
            <a:ext cx="4726743" cy="5303519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fr-FR" dirty="0"/>
              <a:t>&gt;&gt;&gt; </a:t>
            </a:r>
            <a:r>
              <a:rPr lang="fr-FR" dirty="0" err="1"/>
              <a:t>mo.group</a:t>
            </a:r>
            <a:r>
              <a:rPr lang="fr-FR" dirty="0"/>
              <a:t>(1)</a:t>
            </a:r>
          </a:p>
          <a:p>
            <a:pPr marL="0" indent="0">
              <a:buNone/>
            </a:pPr>
            <a:r>
              <a:rPr lang="fr-FR" dirty="0"/>
              <a:t>'415’</a:t>
            </a:r>
            <a:endParaRPr lang="tr-TR" dirty="0"/>
          </a:p>
          <a:p>
            <a:pPr marL="0" indent="0">
              <a:buNone/>
            </a:pPr>
            <a:r>
              <a:rPr lang="fr-FR" dirty="0"/>
              <a:t>&gt;&gt;&gt; </a:t>
            </a:r>
            <a:r>
              <a:rPr lang="fr-FR" dirty="0" err="1"/>
              <a:t>mo.group</a:t>
            </a:r>
            <a:r>
              <a:rPr lang="fr-FR" dirty="0"/>
              <a:t>(2)</a:t>
            </a:r>
          </a:p>
          <a:p>
            <a:pPr marL="0" indent="0">
              <a:buNone/>
            </a:pPr>
            <a:r>
              <a:rPr lang="fr-FR" dirty="0"/>
              <a:t>'555-4242</a:t>
            </a:r>
            <a:r>
              <a:rPr lang="tr-TR" dirty="0"/>
              <a:t>'</a:t>
            </a:r>
          </a:p>
          <a:p>
            <a:pPr marL="0" indent="0">
              <a:buNone/>
            </a:pPr>
            <a:r>
              <a:rPr lang="fr-FR" dirty="0"/>
              <a:t>&gt;&gt;&gt; </a:t>
            </a:r>
            <a:r>
              <a:rPr lang="fr-FR" dirty="0" err="1"/>
              <a:t>mo.group</a:t>
            </a:r>
            <a:r>
              <a:rPr lang="fr-FR" dirty="0"/>
              <a:t>(0)</a:t>
            </a:r>
          </a:p>
          <a:p>
            <a:pPr marL="0" indent="0">
              <a:buNone/>
            </a:pPr>
            <a:r>
              <a:rPr lang="fr-FR" dirty="0"/>
              <a:t>'415-555-4242'</a:t>
            </a:r>
            <a:endParaRPr lang="tr-T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&gt;&gt;&gt; </a:t>
            </a:r>
            <a:r>
              <a:rPr lang="fr-FR" dirty="0" err="1"/>
              <a:t>mo.group</a:t>
            </a:r>
            <a:r>
              <a:rPr lang="fr-FR" dirty="0"/>
              <a:t>()</a:t>
            </a:r>
          </a:p>
          <a:p>
            <a:pPr marL="0" indent="0">
              <a:buNone/>
            </a:pPr>
            <a:r>
              <a:rPr lang="fr-FR" dirty="0"/>
              <a:t>'415-555-4242</a:t>
            </a:r>
            <a:r>
              <a:rPr lang="tr-TR" dirty="0"/>
              <a:t>’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mo.groups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('415', '555-4242’)</a:t>
            </a:r>
            <a:endParaRPr lang="tr-TR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areaCode</a:t>
            </a:r>
            <a:r>
              <a:rPr lang="en-US" dirty="0"/>
              <a:t>, </a:t>
            </a:r>
            <a:r>
              <a:rPr lang="en-US" dirty="0" err="1"/>
              <a:t>mainNumber</a:t>
            </a:r>
            <a:r>
              <a:rPr lang="en-US" dirty="0"/>
              <a:t> = </a:t>
            </a:r>
            <a:r>
              <a:rPr lang="en-US" dirty="0" err="1"/>
              <a:t>mo.groups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&gt;&gt;&gt; print(</a:t>
            </a:r>
            <a:r>
              <a:rPr lang="en-US" dirty="0" err="1"/>
              <a:t>areaCode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415</a:t>
            </a:r>
          </a:p>
          <a:p>
            <a:pPr marL="0" indent="0">
              <a:buNone/>
            </a:pPr>
            <a:r>
              <a:rPr lang="en-US" dirty="0"/>
              <a:t>&gt;&gt;&gt; print(</a:t>
            </a:r>
            <a:r>
              <a:rPr lang="en-US" dirty="0" err="1"/>
              <a:t>mainNumber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555-4242</a:t>
            </a:r>
          </a:p>
        </p:txBody>
      </p:sp>
    </p:spTree>
    <p:extLst>
      <p:ext uri="{BB962C8B-B14F-4D97-AF65-F5344CB8AC3E}">
        <p14:creationId xmlns:p14="http://schemas.microsoft.com/office/powerpoint/2010/main" val="1978172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multiple-assignment trick </a:t>
            </a:r>
            <a:r>
              <a:rPr lang="tr-TR" dirty="0"/>
              <a:t>with </a:t>
            </a:r>
            <a:r>
              <a:rPr lang="en-US" dirty="0" err="1"/>
              <a:t>mo.groups</a:t>
            </a:r>
            <a:r>
              <a:rPr lang="en-US" dirty="0"/>
              <a:t>() 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0497"/>
          </a:xfrm>
        </p:spPr>
        <p:txBody>
          <a:bodyPr/>
          <a:lstStyle/>
          <a:p>
            <a:r>
              <a:rPr lang="en-US" dirty="0" err="1"/>
              <a:t>mo.groups</a:t>
            </a:r>
            <a:r>
              <a:rPr lang="en-US" dirty="0"/>
              <a:t>() returns a tuple of multiple values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448972" y="3926335"/>
            <a:ext cx="1865734" cy="504000"/>
          </a:xfrm>
        </p:spPr>
        <p:txBody>
          <a:bodyPr/>
          <a:lstStyle/>
          <a:p>
            <a:r>
              <a:rPr lang="tr-TR" dirty="0"/>
              <a:t>multiple-assignment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05243" y="4491164"/>
            <a:ext cx="1955409" cy="1895568"/>
          </a:xfrm>
        </p:spPr>
        <p:txBody>
          <a:bodyPr/>
          <a:lstStyle/>
          <a:p>
            <a:pPr algn="l"/>
            <a:r>
              <a:rPr lang="en-US" dirty="0"/>
              <a:t>you can use the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multiple-assignment trick</a:t>
            </a:r>
            <a:endParaRPr lang="tr-TR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values to variables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89611" y="4688112"/>
            <a:ext cx="1793737" cy="90000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to assign each value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to a separate variable </a:t>
            </a:r>
            <a:endParaRPr lang="tr-TR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08415" y="3912267"/>
            <a:ext cx="2196102" cy="504000"/>
          </a:xfrm>
        </p:spPr>
        <p:txBody>
          <a:bodyPr/>
          <a:lstStyle/>
          <a:p>
            <a:r>
              <a:rPr lang="tr-TR" dirty="0"/>
              <a:t>Examples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32310" y="4667533"/>
            <a:ext cx="2830336" cy="777923"/>
          </a:xfrm>
        </p:spPr>
        <p:txBody>
          <a:bodyPr/>
          <a:lstStyle/>
          <a:p>
            <a:pPr algn="l"/>
            <a:r>
              <a:rPr lang="en-US" dirty="0"/>
              <a:t>as in</a:t>
            </a:r>
            <a:r>
              <a:rPr lang="tr-TR" dirty="0"/>
              <a:t> </a:t>
            </a:r>
            <a:r>
              <a:rPr lang="en-US" dirty="0"/>
              <a:t>the previous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 err="1"/>
              <a:t>areaCode</a:t>
            </a:r>
            <a:r>
              <a:rPr lang="en-US" dirty="0"/>
              <a:t>, </a:t>
            </a:r>
            <a:r>
              <a:rPr lang="en-US" dirty="0" err="1"/>
              <a:t>mainNumber</a:t>
            </a:r>
            <a:r>
              <a:rPr lang="en-US" dirty="0"/>
              <a:t> = </a:t>
            </a:r>
            <a:r>
              <a:rPr lang="en-US" dirty="0" err="1"/>
              <a:t>mo.groups</a:t>
            </a:r>
            <a:r>
              <a:rPr lang="en-US" dirty="0"/>
              <a:t>()</a:t>
            </a:r>
            <a:endParaRPr lang="tr-T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351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match parenthesis in text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0497"/>
          </a:xfrm>
        </p:spPr>
        <p:txBody>
          <a:bodyPr/>
          <a:lstStyle/>
          <a:p>
            <a:r>
              <a:rPr lang="en-US" dirty="0"/>
              <a:t>escape the ( and ) characters with a backslash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parenthesis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88125" y="4477096"/>
            <a:ext cx="1730326" cy="1121845"/>
          </a:xfrm>
        </p:spPr>
        <p:txBody>
          <a:bodyPr/>
          <a:lstStyle/>
          <a:p>
            <a:pPr algn="l"/>
            <a:r>
              <a:rPr lang="tr-TR" dirty="0"/>
              <a:t>have meaning</a:t>
            </a:r>
            <a:endParaRPr lang="tr-TR" b="1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in the text to match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area code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07767" y="4434894"/>
            <a:ext cx="1702190" cy="90000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in parentheses</a:t>
            </a:r>
            <a:endParaRPr lang="tr-TR" b="1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area code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in </a:t>
            </a:r>
            <a:r>
              <a:rPr lang="en-US" dirty="0"/>
              <a:t>the phone numbers</a:t>
            </a:r>
            <a:endParaRPr lang="tr-TR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33877" y="3872374"/>
            <a:ext cx="2196102" cy="504000"/>
          </a:xfrm>
        </p:spPr>
        <p:txBody>
          <a:bodyPr/>
          <a:lstStyle/>
          <a:p>
            <a:r>
              <a:rPr lang="tr-TR" dirty="0"/>
              <a:t>phone #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1" y="4429645"/>
            <a:ext cx="1463039" cy="789470"/>
          </a:xfrm>
        </p:spPr>
        <p:txBody>
          <a:bodyPr/>
          <a:lstStyle/>
          <a:p>
            <a:pPr algn="l"/>
            <a:r>
              <a:rPr lang="tr-TR" dirty="0"/>
              <a:t>with area code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(415) 555-4242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199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66C8805-8FA1-47A2-B6B0-40C8303DE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6184" y="516407"/>
            <a:ext cx="4740369" cy="432000"/>
          </a:xfrm>
        </p:spPr>
        <p:txBody>
          <a:bodyPr/>
          <a:lstStyle/>
          <a:p>
            <a:r>
              <a:rPr lang="tr-TR" dirty="0">
                <a:highlight>
                  <a:srgbClr val="FFFF00"/>
                </a:highlight>
              </a:rPr>
              <a:t>Parenthesis in matching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95003" y="1613764"/>
            <a:ext cx="5415618" cy="918421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phoneNumRegex</a:t>
            </a:r>
            <a:r>
              <a:rPr lang="en-US" dirty="0"/>
              <a:t> = </a:t>
            </a:r>
            <a:r>
              <a:rPr lang="en-US" dirty="0" err="1"/>
              <a:t>re.compile</a:t>
            </a:r>
            <a:r>
              <a:rPr lang="en-US" dirty="0"/>
              <a:t>(r'(\(\d\d\d\)) (\d\d\d-\d\d\d\d)')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mo</a:t>
            </a:r>
            <a:r>
              <a:rPr lang="en-US" dirty="0"/>
              <a:t> = </a:t>
            </a:r>
            <a:r>
              <a:rPr lang="en-US" dirty="0" err="1"/>
              <a:t>phoneNumRegex.search</a:t>
            </a:r>
            <a:r>
              <a:rPr lang="en-US" dirty="0"/>
              <a:t>('My phone number is (415) 555-4242.')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35569" y="3560490"/>
            <a:ext cx="3404382" cy="14476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mo.group</a:t>
            </a:r>
            <a:r>
              <a:rPr lang="en-US" dirty="0"/>
              <a:t>(1)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'(415)’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mo.group</a:t>
            </a:r>
            <a:r>
              <a:rPr lang="en-US" dirty="0"/>
              <a:t>(2)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'555-4242'</a:t>
            </a:r>
            <a:endParaRPr lang="tr-T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264CB3-1B24-44C3-B344-6C53139AA864}"/>
              </a:ext>
            </a:extLst>
          </p:cNvPr>
          <p:cNvSpPr/>
          <p:nvPr/>
        </p:nvSpPr>
        <p:spPr>
          <a:xfrm>
            <a:off x="3263705" y="5386977"/>
            <a:ext cx="3784209" cy="11545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defTabSz="685800">
              <a:lnSpc>
                <a:spcPct val="90000"/>
              </a:lnSpc>
              <a:spcBef>
                <a:spcPct val="0"/>
              </a:spcBef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00FFFF"/>
                </a:highlight>
                <a:latin typeface="+mj-lt"/>
                <a:ea typeface="+mj-ea"/>
                <a:cs typeface="+mj-cs"/>
              </a:rPr>
              <a:t>The \( and \) escape characters</a:t>
            </a:r>
            <a:endParaRPr lang="tr-TR" sz="140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00FFFF"/>
              </a:highlight>
              <a:latin typeface="+mj-lt"/>
              <a:ea typeface="+mj-ea"/>
              <a:cs typeface="+mj-cs"/>
            </a:endParaRPr>
          </a:p>
          <a:p>
            <a:pPr defTabSz="685800">
              <a:lnSpc>
                <a:spcPct val="90000"/>
              </a:lnSpc>
              <a:spcBef>
                <a:spcPct val="0"/>
              </a:spcBef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00FFFF"/>
                </a:highlight>
                <a:latin typeface="+mj-lt"/>
                <a:ea typeface="+mj-ea"/>
                <a:cs typeface="+mj-cs"/>
              </a:rPr>
              <a:t>in the raw string </a:t>
            </a:r>
            <a:endParaRPr lang="tr-TR" sz="140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00FFFF"/>
              </a:highlight>
              <a:latin typeface="+mj-lt"/>
              <a:ea typeface="+mj-ea"/>
              <a:cs typeface="+mj-cs"/>
            </a:endParaRPr>
          </a:p>
          <a:p>
            <a:pPr defTabSz="685800">
              <a:lnSpc>
                <a:spcPct val="90000"/>
              </a:lnSpc>
              <a:spcBef>
                <a:spcPct val="0"/>
              </a:spcBef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00FFFF"/>
                </a:highlight>
                <a:latin typeface="+mj-lt"/>
                <a:ea typeface="+mj-ea"/>
                <a:cs typeface="+mj-cs"/>
              </a:rPr>
              <a:t>passed to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00FFFF"/>
                </a:highlight>
                <a:latin typeface="+mj-lt"/>
                <a:ea typeface="+mj-ea"/>
                <a:cs typeface="+mj-cs"/>
              </a:rPr>
              <a:t>re.compile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00FFFF"/>
                </a:highlight>
                <a:latin typeface="+mj-lt"/>
                <a:ea typeface="+mj-ea"/>
                <a:cs typeface="+mj-cs"/>
              </a:rPr>
              <a:t>()</a:t>
            </a:r>
          </a:p>
          <a:p>
            <a:pPr defTabSz="685800">
              <a:lnSpc>
                <a:spcPct val="90000"/>
              </a:lnSpc>
              <a:spcBef>
                <a:spcPct val="0"/>
              </a:spcBef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00FFFF"/>
                </a:highlight>
                <a:latin typeface="+mj-lt"/>
                <a:ea typeface="+mj-ea"/>
                <a:cs typeface="+mj-cs"/>
              </a:rPr>
              <a:t>will match actual parenthesis characters.</a:t>
            </a:r>
            <a:endParaRPr lang="tr-TR" sz="140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00FFFF"/>
              </a:highlight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052568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377590"/>
            <a:ext cx="8505000" cy="486410"/>
          </a:xfrm>
        </p:spPr>
        <p:txBody>
          <a:bodyPr/>
          <a:lstStyle/>
          <a:p>
            <a:pPr algn="ctr"/>
            <a:r>
              <a:rPr lang="en-US" dirty="0"/>
              <a:t>Matching Multiple Groups with the Pipe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0497"/>
          </a:xfrm>
        </p:spPr>
        <p:txBody>
          <a:bodyPr/>
          <a:lstStyle/>
          <a:p>
            <a:r>
              <a:rPr lang="en-US" dirty="0"/>
              <a:t>The | character is called a pipe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09861" y="3870064"/>
            <a:ext cx="1620440" cy="504000"/>
          </a:xfrm>
        </p:spPr>
        <p:txBody>
          <a:bodyPr/>
          <a:lstStyle/>
          <a:p>
            <a:r>
              <a:rPr lang="tr-TR" dirty="0"/>
              <a:t>Pipe |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88125" y="4477096"/>
            <a:ext cx="1730326" cy="1121845"/>
          </a:xfrm>
        </p:spPr>
        <p:txBody>
          <a:bodyPr/>
          <a:lstStyle/>
          <a:p>
            <a:pPr algn="l"/>
            <a:r>
              <a:rPr lang="tr-TR" dirty="0"/>
              <a:t>to use it</a:t>
            </a:r>
            <a:endParaRPr lang="tr-TR" b="1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anywhere to match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one</a:t>
            </a:r>
            <a:r>
              <a:rPr lang="tr-TR" dirty="0"/>
              <a:t> </a:t>
            </a:r>
            <a:r>
              <a:rPr lang="en-US" dirty="0"/>
              <a:t>of many expressions</a:t>
            </a:r>
            <a:endParaRPr lang="tr-TR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2030482" cy="504000"/>
          </a:xfrm>
        </p:spPr>
        <p:txBody>
          <a:bodyPr/>
          <a:lstStyle/>
          <a:p>
            <a:r>
              <a:rPr lang="tr-TR" dirty="0"/>
              <a:t>r'Batman|Tina Fey'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07767" y="4434893"/>
            <a:ext cx="1702190" cy="1107777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will match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either 'Batman’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or 'Tina Fey'.</a:t>
            </a:r>
            <a:endParaRPr lang="tr-TR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04216" y="3914577"/>
            <a:ext cx="2196102" cy="504000"/>
          </a:xfrm>
        </p:spPr>
        <p:txBody>
          <a:bodyPr/>
          <a:lstStyle/>
          <a:p>
            <a:r>
              <a:rPr lang="tr-TR" dirty="0"/>
              <a:t>return first match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1" y="4429644"/>
            <a:ext cx="1659987" cy="1309973"/>
          </a:xfrm>
        </p:spPr>
        <p:txBody>
          <a:bodyPr/>
          <a:lstStyle/>
          <a:p>
            <a:pPr algn="l"/>
            <a:r>
              <a:rPr lang="en-US" dirty="0"/>
              <a:t>When both </a:t>
            </a:r>
            <a:r>
              <a:rPr lang="tr-TR" dirty="0"/>
              <a:t>strings</a:t>
            </a:r>
            <a:r>
              <a:rPr lang="en-US" dirty="0"/>
              <a:t> occur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first</a:t>
            </a:r>
            <a:r>
              <a:rPr lang="tr-TR" dirty="0"/>
              <a:t> </a:t>
            </a:r>
            <a:r>
              <a:rPr lang="en-US" dirty="0"/>
              <a:t>occurrence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will be returned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76649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A9C13B3-CCAD-4845-9738-B1B328C99AE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tr-TR" dirty="0"/>
              <a:t>Pipe |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66535" y="1318343"/>
            <a:ext cx="6456628" cy="1551466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heroRegex</a:t>
            </a:r>
            <a:r>
              <a:rPr lang="en-US" dirty="0"/>
              <a:t> = </a:t>
            </a:r>
            <a:r>
              <a:rPr lang="en-US" dirty="0" err="1"/>
              <a:t>re.compile</a:t>
            </a:r>
            <a:r>
              <a:rPr lang="en-US" dirty="0"/>
              <a:t> (</a:t>
            </a:r>
            <a:r>
              <a:rPr lang="en-US" dirty="0" err="1"/>
              <a:t>r'Batman|Tina</a:t>
            </a:r>
            <a:r>
              <a:rPr lang="en-US" dirty="0"/>
              <a:t> Fey')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mo1 = </a:t>
            </a:r>
            <a:r>
              <a:rPr lang="en-US" dirty="0" err="1"/>
              <a:t>heroRegex.search</a:t>
            </a:r>
            <a:r>
              <a:rPr lang="en-US" dirty="0"/>
              <a:t>('Batman and Tina Fey.')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mo1.group()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'Batman'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2771" y="3293204"/>
            <a:ext cx="6444460" cy="1616421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mo2 = </a:t>
            </a:r>
            <a:r>
              <a:rPr lang="en-US" dirty="0" err="1"/>
              <a:t>heroRegex.search</a:t>
            </a:r>
            <a:r>
              <a:rPr lang="en-US" dirty="0"/>
              <a:t>('Tina Fey and Batman.')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mo2.group()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'Tina Fey'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0A7101-C557-4434-85E6-937822C93112}"/>
              </a:ext>
            </a:extLst>
          </p:cNvPr>
          <p:cNvSpPr/>
          <p:nvPr/>
        </p:nvSpPr>
        <p:spPr>
          <a:xfrm>
            <a:off x="1244992" y="5907483"/>
            <a:ext cx="6506308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tr-TR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find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all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matching occurrences with the </a:t>
            </a:r>
            <a:r>
              <a:rPr lang="en-US" dirty="0" err="1">
                <a:solidFill>
                  <a:srgbClr val="00B0F0"/>
                </a:solidFill>
              </a:rPr>
              <a:t>findall</a:t>
            </a:r>
            <a:r>
              <a:rPr lang="en-US" dirty="0">
                <a:solidFill>
                  <a:srgbClr val="00B0F0"/>
                </a:solidFill>
              </a:rPr>
              <a:t>()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method</a:t>
            </a:r>
            <a:endParaRPr lang="tr-T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7203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Matching Multiple Groups with the Pipe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0497"/>
          </a:xfrm>
        </p:spPr>
        <p:txBody>
          <a:bodyPr/>
          <a:lstStyle/>
          <a:p>
            <a:r>
              <a:rPr lang="en-US" dirty="0"/>
              <a:t>match </a:t>
            </a:r>
            <a:r>
              <a:rPr lang="en-US" b="1" dirty="0"/>
              <a:t>one of </a:t>
            </a:r>
            <a:r>
              <a:rPr lang="en-US" dirty="0"/>
              <a:t>several patterns as </a:t>
            </a:r>
            <a:r>
              <a:rPr lang="en-US" b="1" dirty="0"/>
              <a:t>part of</a:t>
            </a:r>
            <a:r>
              <a:rPr lang="tr-TR" b="1" dirty="0"/>
              <a:t> </a:t>
            </a:r>
            <a:r>
              <a:rPr lang="en-US" dirty="0"/>
              <a:t>regex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23929" y="3898199"/>
            <a:ext cx="1620440" cy="504000"/>
          </a:xfrm>
        </p:spPr>
        <p:txBody>
          <a:bodyPr/>
          <a:lstStyle/>
          <a:p>
            <a:r>
              <a:rPr lang="tr-TR" dirty="0"/>
              <a:t>start with Bat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88125" y="4477096"/>
            <a:ext cx="1730326" cy="1121845"/>
          </a:xfrm>
        </p:spPr>
        <p:txBody>
          <a:bodyPr/>
          <a:lstStyle/>
          <a:p>
            <a:pPr algn="l"/>
            <a:r>
              <a:rPr lang="tr-TR" dirty="0"/>
              <a:t>find string</a:t>
            </a:r>
            <a:endParaRPr lang="tr-TR" b="1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in any of pattern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starting with a substring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791331" cy="504000"/>
          </a:xfrm>
        </p:spPr>
        <p:txBody>
          <a:bodyPr/>
          <a:lstStyle/>
          <a:p>
            <a:r>
              <a:rPr lang="tr-TR" dirty="0"/>
              <a:t>bat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60986" y="4519299"/>
            <a:ext cx="1111346" cy="1360996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dirty="0"/>
              <a:t>in any of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'Batman'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'Batmobile’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'</a:t>
            </a:r>
            <a:r>
              <a:rPr lang="en-US" dirty="0" err="1"/>
              <a:t>Batcopter</a:t>
            </a:r>
            <a:r>
              <a:rPr lang="en-US" dirty="0"/>
              <a:t>'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'</a:t>
            </a:r>
            <a:r>
              <a:rPr lang="en-US" dirty="0" err="1"/>
              <a:t>Batbat</a:t>
            </a:r>
            <a:r>
              <a:rPr lang="en-US" dirty="0"/>
              <a:t>'.</a:t>
            </a:r>
            <a:endParaRPr lang="tr-TR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04216" y="3914577"/>
            <a:ext cx="2196102" cy="504000"/>
          </a:xfrm>
        </p:spPr>
        <p:txBody>
          <a:bodyPr/>
          <a:lstStyle/>
          <a:p>
            <a:r>
              <a:rPr lang="tr-TR" dirty="0"/>
              <a:t>specify once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1" y="4429644"/>
            <a:ext cx="1659987" cy="1309973"/>
          </a:xfrm>
        </p:spPr>
        <p:txBody>
          <a:bodyPr/>
          <a:lstStyle/>
          <a:p>
            <a:pPr algn="l"/>
            <a:r>
              <a:rPr lang="en-US" dirty="0"/>
              <a:t>would be nice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to </a:t>
            </a:r>
            <a:r>
              <a:rPr lang="en-US" dirty="0"/>
              <a:t>specify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the</a:t>
            </a:r>
            <a:r>
              <a:rPr lang="en-US" dirty="0"/>
              <a:t> prefix only once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17502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EC34E7D-F06E-478E-9E1A-053F2CC7F25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match </a:t>
            </a:r>
            <a:r>
              <a:rPr lang="en-US" b="1" dirty="0">
                <a:highlight>
                  <a:srgbClr val="FFFF00"/>
                </a:highlight>
              </a:rPr>
              <a:t>one of </a:t>
            </a:r>
            <a:r>
              <a:rPr lang="en-US" dirty="0">
                <a:highlight>
                  <a:srgbClr val="FFFF00"/>
                </a:highlight>
              </a:rPr>
              <a:t>several patterns as </a:t>
            </a:r>
            <a:r>
              <a:rPr lang="en-US" b="1" dirty="0">
                <a:highlight>
                  <a:srgbClr val="FFFF00"/>
                </a:highlight>
              </a:rPr>
              <a:t>part of</a:t>
            </a:r>
            <a:r>
              <a:rPr lang="tr-TR" b="1" dirty="0">
                <a:highlight>
                  <a:srgbClr val="FFFF00"/>
                </a:highlight>
              </a:rPr>
              <a:t> </a:t>
            </a:r>
            <a:r>
              <a:rPr lang="en-US" dirty="0">
                <a:highlight>
                  <a:srgbClr val="FFFF00"/>
                </a:highlight>
              </a:rPr>
              <a:t>regex</a:t>
            </a:r>
            <a:endParaRPr lang="tr-TR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49530"/>
            <a:ext cx="4149526" cy="1396721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batRegex</a:t>
            </a:r>
            <a:r>
              <a:rPr lang="en-US" dirty="0"/>
              <a:t> = </a:t>
            </a:r>
            <a:r>
              <a:rPr lang="en-US" dirty="0" err="1"/>
              <a:t>re.compile</a:t>
            </a:r>
            <a:r>
              <a:rPr lang="en-US" dirty="0"/>
              <a:t>(</a:t>
            </a:r>
            <a:r>
              <a:rPr lang="en-US" dirty="0" err="1"/>
              <a:t>r'Bat</a:t>
            </a:r>
            <a:r>
              <a:rPr lang="en-US" dirty="0"/>
              <a:t>(</a:t>
            </a:r>
            <a:r>
              <a:rPr lang="en-US" dirty="0" err="1"/>
              <a:t>man|mobile|copter|bat</a:t>
            </a:r>
            <a:r>
              <a:rPr lang="en-US" dirty="0"/>
              <a:t>)')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mo</a:t>
            </a:r>
            <a:r>
              <a:rPr lang="en-US" dirty="0"/>
              <a:t> = </a:t>
            </a:r>
            <a:r>
              <a:rPr lang="en-US" dirty="0" err="1"/>
              <a:t>batRegex.search</a:t>
            </a:r>
            <a:r>
              <a:rPr lang="en-US" dirty="0"/>
              <a:t>('Batmobile lost a wheel')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7"/>
            <a:ext cx="4103712" cy="139133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mo.group</a:t>
            </a:r>
            <a:r>
              <a:rPr lang="en-US" dirty="0"/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'Batmobile'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mo.group</a:t>
            </a:r>
            <a:r>
              <a:rPr lang="en-US" dirty="0"/>
              <a:t>(1)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'mobile'</a:t>
            </a:r>
          </a:p>
        </p:txBody>
      </p:sp>
    </p:spTree>
    <p:extLst>
      <p:ext uri="{BB962C8B-B14F-4D97-AF65-F5344CB8AC3E}">
        <p14:creationId xmlns:p14="http://schemas.microsoft.com/office/powerpoint/2010/main" val="38701289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365833"/>
            <a:ext cx="8505000" cy="498167"/>
          </a:xfrm>
        </p:spPr>
        <p:txBody>
          <a:bodyPr/>
          <a:lstStyle/>
          <a:p>
            <a:pPr algn="ctr"/>
            <a:r>
              <a:rPr lang="en-US" dirty="0"/>
              <a:t>Optional Matching with the Question Mark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0497"/>
          </a:xfrm>
        </p:spPr>
        <p:txBody>
          <a:bodyPr/>
          <a:lstStyle/>
          <a:p>
            <a:r>
              <a:rPr lang="tr-TR" dirty="0"/>
              <a:t>to match a pattern only optionally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23929" y="3898199"/>
            <a:ext cx="1620440" cy="504000"/>
          </a:xfrm>
        </p:spPr>
        <p:txBody>
          <a:bodyPr/>
          <a:lstStyle/>
          <a:p>
            <a:r>
              <a:rPr lang="tr-TR" dirty="0"/>
              <a:t>find text match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88125" y="4477096"/>
            <a:ext cx="1730326" cy="1121845"/>
          </a:xfrm>
        </p:spPr>
        <p:txBody>
          <a:bodyPr/>
          <a:lstStyle/>
          <a:p>
            <a:pPr algn="l"/>
            <a:r>
              <a:rPr lang="en-US" dirty="0"/>
              <a:t>regex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to</a:t>
            </a:r>
            <a:r>
              <a:rPr lang="en-US" dirty="0"/>
              <a:t> find a match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bit of text is there</a:t>
            </a:r>
            <a:endParaRPr lang="tr-TR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791331" cy="504000"/>
          </a:xfrm>
        </p:spPr>
        <p:txBody>
          <a:bodyPr/>
          <a:lstStyle/>
          <a:p>
            <a:r>
              <a:rPr lang="tr-TR" dirty="0"/>
              <a:t>? character 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35902" y="4519299"/>
            <a:ext cx="1336430" cy="1360996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flags</a:t>
            </a:r>
            <a:r>
              <a:rPr lang="tr-TR" dirty="0"/>
              <a:t> </a:t>
            </a:r>
            <a:r>
              <a:rPr lang="en-US" dirty="0"/>
              <a:t>the group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as optional part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of the</a:t>
            </a:r>
            <a:r>
              <a:rPr lang="tr-TR" dirty="0"/>
              <a:t> </a:t>
            </a:r>
            <a:r>
              <a:rPr lang="en-US" dirty="0"/>
              <a:t>pattern</a:t>
            </a:r>
            <a:endParaRPr lang="tr-TR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04216" y="3914577"/>
            <a:ext cx="2196102" cy="504000"/>
          </a:xfrm>
        </p:spPr>
        <p:txBody>
          <a:bodyPr/>
          <a:lstStyle/>
          <a:p>
            <a:r>
              <a:rPr lang="tr-TR" dirty="0"/>
              <a:t>specify once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1" y="4429644"/>
            <a:ext cx="1659987" cy="1309973"/>
          </a:xfrm>
        </p:spPr>
        <p:txBody>
          <a:bodyPr/>
          <a:lstStyle/>
          <a:p>
            <a:pPr algn="l"/>
            <a:r>
              <a:rPr lang="en-US" dirty="0"/>
              <a:t>would be nice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to </a:t>
            </a:r>
            <a:r>
              <a:rPr lang="en-US" dirty="0"/>
              <a:t>specify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the</a:t>
            </a:r>
            <a:r>
              <a:rPr lang="en-US" dirty="0"/>
              <a:t> prefix only once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44036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C38568-7279-470A-AF05-4987C22D071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optional group with ()?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5865" y="1880287"/>
            <a:ext cx="4104000" cy="1787332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batRegex = re.compile(r'Bat</a:t>
            </a:r>
            <a:r>
              <a:rPr lang="tr-TR" dirty="0">
                <a:solidFill>
                  <a:srgbClr val="00B0F0"/>
                </a:solidFill>
              </a:rPr>
              <a:t>(wo)?</a:t>
            </a:r>
            <a:r>
              <a:rPr lang="tr-TR" dirty="0"/>
              <a:t>man')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28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7153" y="1871602"/>
            <a:ext cx="4103712" cy="1787333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mo1 = batRegex.search('The Adventures of </a:t>
            </a:r>
            <a:r>
              <a:rPr lang="tr-TR" dirty="0">
                <a:solidFill>
                  <a:srgbClr val="00B0F0"/>
                </a:solidFill>
              </a:rPr>
              <a:t>Batman</a:t>
            </a:r>
            <a:r>
              <a:rPr lang="tr-TR" dirty="0"/>
              <a:t>’)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mo1.group()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'Batman'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mo2 = </a:t>
            </a:r>
            <a:r>
              <a:rPr lang="en-US" dirty="0" err="1"/>
              <a:t>batRegex.search</a:t>
            </a:r>
            <a:r>
              <a:rPr lang="en-US" dirty="0"/>
              <a:t>('The Adventures of </a:t>
            </a:r>
            <a:r>
              <a:rPr lang="en-US" dirty="0" err="1">
                <a:solidFill>
                  <a:srgbClr val="00B0F0"/>
                </a:solidFill>
              </a:rPr>
              <a:t>Batwoman</a:t>
            </a:r>
            <a:r>
              <a:rPr lang="en-US" dirty="0"/>
              <a:t>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mo2.group()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</a:t>
            </a:r>
            <a:r>
              <a:rPr lang="en-US" dirty="0" err="1"/>
              <a:t>Batwoman</a:t>
            </a:r>
            <a:r>
              <a:rPr lang="en-US" dirty="0"/>
              <a:t>'</a:t>
            </a:r>
            <a:endParaRPr lang="tr-T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91F890-8211-4461-9860-8E12E2EB7921}"/>
              </a:ext>
            </a:extLst>
          </p:cNvPr>
          <p:cNvSpPr/>
          <p:nvPr/>
        </p:nvSpPr>
        <p:spPr>
          <a:xfrm>
            <a:off x="2805435" y="4620632"/>
            <a:ext cx="42625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(wo)? </a:t>
            </a:r>
            <a:r>
              <a:rPr lang="tr-TR" dirty="0">
                <a:highlight>
                  <a:srgbClr val="FFFF00"/>
                </a:highlight>
              </a:rPr>
              <a:t>: </a:t>
            </a:r>
            <a:r>
              <a:rPr lang="en-US" dirty="0">
                <a:highlight>
                  <a:srgbClr val="FFFF00"/>
                </a:highlight>
              </a:rPr>
              <a:t>the pattern wo is</a:t>
            </a:r>
            <a:r>
              <a:rPr lang="tr-TR" dirty="0">
                <a:highlight>
                  <a:srgbClr val="FFFF00"/>
                </a:highlight>
              </a:rPr>
              <a:t> </a:t>
            </a:r>
            <a:r>
              <a:rPr lang="en-US" dirty="0">
                <a:highlight>
                  <a:srgbClr val="FFFF00"/>
                </a:highlight>
              </a:rPr>
              <a:t>an optional group.</a:t>
            </a:r>
            <a:endParaRPr lang="tr-TR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545481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693D62C-3474-4AAC-A042-605CC5FA6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2456"/>
            <a:ext cx="9144001" cy="68455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387626"/>
            <a:ext cx="8505000" cy="476374"/>
          </a:xfrm>
        </p:spPr>
        <p:txBody>
          <a:bodyPr/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phone numbers </a:t>
            </a:r>
            <a:r>
              <a:rPr lang="tr-TR" dirty="0">
                <a:highlight>
                  <a:srgbClr val="FFFF00"/>
                </a:highlight>
              </a:rPr>
              <a:t>with &amp; without </a:t>
            </a:r>
            <a:r>
              <a:rPr lang="en-US" dirty="0">
                <a:highlight>
                  <a:srgbClr val="FFFF00"/>
                </a:highlight>
              </a:rPr>
              <a:t>area code</a:t>
            </a:r>
            <a:endParaRPr lang="tr-TR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6542" y="1557495"/>
            <a:ext cx="4104000" cy="172405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phoneRegex = re.compile(r</a:t>
            </a:r>
            <a:r>
              <a:rPr lang="tr-TR" dirty="0">
                <a:solidFill>
                  <a:srgbClr val="00B0F0"/>
                </a:solidFill>
              </a:rPr>
              <a:t>'(\d\d\d-)?\</a:t>
            </a:r>
            <a:r>
              <a:rPr lang="tr-TR" dirty="0"/>
              <a:t>d\d\d-\d\d\d\d')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29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2339" y="1548810"/>
            <a:ext cx="4299203" cy="1787333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mo1 = phoneRegex.search('My number is 415-555-4242')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mo1.group()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'415-555-4242’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mo2 = phoneRegex.search('My number is 555-4242')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mo2.group()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'555-4242'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24989F-12C2-4966-B44C-46DDAD8411BF}"/>
              </a:ext>
            </a:extLst>
          </p:cNvPr>
          <p:cNvSpPr/>
          <p:nvPr/>
        </p:nvSpPr>
        <p:spPr>
          <a:xfrm>
            <a:off x="1463040" y="4289699"/>
            <a:ext cx="64148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TheSansMonoCondensed-Plain"/>
              </a:rPr>
              <a:t>?</a:t>
            </a:r>
            <a:r>
              <a:rPr lang="tr-TR" sz="1400" dirty="0">
                <a:highlight>
                  <a:srgbClr val="FFFF00"/>
                </a:highlight>
                <a:latin typeface="TheSansMonoCondensed-Plain"/>
              </a:rPr>
              <a:t> :</a:t>
            </a:r>
            <a:r>
              <a:rPr lang="en-US" dirty="0">
                <a:highlight>
                  <a:srgbClr val="FFFF00"/>
                </a:highlight>
                <a:latin typeface="NewBaskerville-Roman"/>
              </a:rPr>
              <a:t> “Match zero or one of the group preceding</a:t>
            </a:r>
            <a:r>
              <a:rPr lang="tr-TR" dirty="0">
                <a:highlight>
                  <a:srgbClr val="FFFF00"/>
                </a:highlight>
                <a:latin typeface="NewBaskerville-Roman"/>
              </a:rPr>
              <a:t> this question mark.”</a:t>
            </a:r>
            <a:endParaRPr lang="tr-TR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438704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365833"/>
            <a:ext cx="8505000" cy="498167"/>
          </a:xfrm>
        </p:spPr>
        <p:txBody>
          <a:bodyPr/>
          <a:lstStyle/>
          <a:p>
            <a:pPr algn="ctr"/>
            <a:r>
              <a:rPr lang="en-US" dirty="0"/>
              <a:t>Matching Zero or More with the Star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0497"/>
          </a:xfrm>
        </p:spPr>
        <p:txBody>
          <a:bodyPr/>
          <a:lstStyle/>
          <a:p>
            <a:r>
              <a:rPr lang="en-US" b="1" dirty="0"/>
              <a:t>*</a:t>
            </a:r>
            <a:r>
              <a:rPr lang="tr-TR" dirty="0"/>
              <a:t>: </a:t>
            </a:r>
            <a:r>
              <a:rPr lang="en-US" dirty="0"/>
              <a:t>match zero or more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23929" y="3898199"/>
            <a:ext cx="1620440" cy="504000"/>
          </a:xfrm>
        </p:spPr>
        <p:txBody>
          <a:bodyPr/>
          <a:lstStyle/>
          <a:p>
            <a:r>
              <a:rPr lang="tr-TR" dirty="0"/>
              <a:t>many occurrences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88125" y="4477096"/>
            <a:ext cx="1730326" cy="1543876"/>
          </a:xfrm>
        </p:spPr>
        <p:txBody>
          <a:bodyPr/>
          <a:lstStyle/>
          <a:p>
            <a:pPr algn="l"/>
            <a:r>
              <a:rPr lang="en-US" dirty="0"/>
              <a:t>the group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precedes the star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can occur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b="1" dirty="0"/>
              <a:t>any number of times </a:t>
            </a:r>
            <a:endParaRPr lang="tr-TR" b="1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in the text</a:t>
            </a:r>
            <a:endParaRPr lang="tr-TR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791331" cy="504000"/>
          </a:xfrm>
        </p:spPr>
        <p:txBody>
          <a:bodyPr/>
          <a:lstStyle/>
          <a:p>
            <a:r>
              <a:rPr lang="tr-TR" dirty="0"/>
              <a:t>can be absent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35902" y="4519299"/>
            <a:ext cx="1336430" cy="1360996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It can be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completely absent</a:t>
            </a:r>
            <a:endParaRPr lang="tr-TR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04216" y="3914577"/>
            <a:ext cx="2196102" cy="504000"/>
          </a:xfrm>
        </p:spPr>
        <p:txBody>
          <a:bodyPr/>
          <a:lstStyle/>
          <a:p>
            <a:r>
              <a:rPr lang="tr-TR" dirty="0"/>
              <a:t>or repeated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1" y="4429644"/>
            <a:ext cx="1659987" cy="1309973"/>
          </a:xfrm>
        </p:spPr>
        <p:txBody>
          <a:bodyPr/>
          <a:lstStyle/>
          <a:p>
            <a:pPr algn="l"/>
            <a:r>
              <a:rPr lang="en-US" dirty="0"/>
              <a:t>repeated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over and over again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40288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E5505B-8150-4E33-9C2D-38AE2D690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914002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star (*) to repeat zero, one, or more times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7051" y="1571563"/>
            <a:ext cx="4104000" cy="2520752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batRegex = re.compile(r'Bat</a:t>
            </a:r>
            <a:r>
              <a:rPr lang="tr-TR" dirty="0">
                <a:solidFill>
                  <a:srgbClr val="00B0F0"/>
                </a:solidFill>
              </a:rPr>
              <a:t>(wo)*</a:t>
            </a:r>
            <a:r>
              <a:rPr lang="tr-TR" dirty="0"/>
              <a:t>man')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8781" y="1576945"/>
            <a:ext cx="4712677" cy="230550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mo1 = batRegex.search('The Adventures of Batman')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mo1.group()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'Batman’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mo2 = batRegex.search('The Adventures of Bat</a:t>
            </a:r>
            <a:r>
              <a:rPr lang="tr-TR" dirty="0">
                <a:solidFill>
                  <a:srgbClr val="00B0F0"/>
                </a:solidFill>
              </a:rPr>
              <a:t>wo</a:t>
            </a:r>
            <a:r>
              <a:rPr lang="tr-TR" dirty="0"/>
              <a:t>man')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mo2.group()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'Batwoman’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mo3 = batRegex.search('The Adventures of Bat</a:t>
            </a:r>
            <a:r>
              <a:rPr lang="tr-TR" dirty="0">
                <a:solidFill>
                  <a:srgbClr val="00B0F0"/>
                </a:solidFill>
              </a:rPr>
              <a:t>wowowowo</a:t>
            </a:r>
            <a:r>
              <a:rPr lang="tr-TR" dirty="0"/>
              <a:t>man')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mo3.group()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'Batwowowowoman'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24989F-12C2-4966-B44C-46DDAD8411BF}"/>
              </a:ext>
            </a:extLst>
          </p:cNvPr>
          <p:cNvSpPr/>
          <p:nvPr/>
        </p:nvSpPr>
        <p:spPr>
          <a:xfrm>
            <a:off x="1463040" y="4289699"/>
            <a:ext cx="64148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rgbClr val="00B0F0"/>
                </a:solidFill>
                <a:highlight>
                  <a:srgbClr val="FFFF00"/>
                </a:highlight>
              </a:rPr>
              <a:t>(wo)* </a:t>
            </a:r>
            <a:r>
              <a:rPr lang="en-US" dirty="0">
                <a:highlight>
                  <a:srgbClr val="FFFF00"/>
                </a:highlight>
              </a:rPr>
              <a:t>part of the regex matches zero</a:t>
            </a:r>
            <a:r>
              <a:rPr lang="tr-TR" dirty="0">
                <a:highlight>
                  <a:srgbClr val="FFFF00"/>
                </a:highlight>
              </a:rPr>
              <a:t>, one or more</a:t>
            </a:r>
            <a:r>
              <a:rPr lang="en-US" dirty="0">
                <a:highlight>
                  <a:srgbClr val="FFFF00"/>
                </a:highlight>
              </a:rPr>
              <a:t> instances</a:t>
            </a:r>
            <a:endParaRPr kumimoji="0" lang="tr-T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05866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Matching One or More with the Plus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0497"/>
          </a:xfrm>
        </p:spPr>
        <p:txBody>
          <a:bodyPr/>
          <a:lstStyle/>
          <a:p>
            <a:r>
              <a:rPr lang="tr-TR" b="1" dirty="0"/>
              <a:t>+ : </a:t>
            </a:r>
            <a:r>
              <a:rPr lang="en-US" dirty="0"/>
              <a:t>match one or</a:t>
            </a:r>
            <a:r>
              <a:rPr lang="tr-TR" dirty="0"/>
              <a:t> </a:t>
            </a:r>
            <a:r>
              <a:rPr lang="en-US" dirty="0"/>
              <a:t>more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23929" y="3898199"/>
            <a:ext cx="1620440" cy="504000"/>
          </a:xfrm>
        </p:spPr>
        <p:txBody>
          <a:bodyPr/>
          <a:lstStyle/>
          <a:p>
            <a:r>
              <a:rPr lang="tr-TR" dirty="0"/>
              <a:t>at least once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88125" y="4477096"/>
            <a:ext cx="1730326" cy="1543876"/>
          </a:xfrm>
        </p:spPr>
        <p:txBody>
          <a:bodyPr/>
          <a:lstStyle/>
          <a:p>
            <a:pPr algn="l"/>
            <a:r>
              <a:rPr lang="en-US" dirty="0"/>
              <a:t>a plus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must appear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b="1" dirty="0"/>
              <a:t>at least once</a:t>
            </a:r>
            <a:endParaRPr lang="tr-TR" b="1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791331" cy="504000"/>
          </a:xfrm>
        </p:spPr>
        <p:txBody>
          <a:bodyPr/>
          <a:lstStyle/>
          <a:p>
            <a:r>
              <a:rPr lang="tr-TR" dirty="0"/>
              <a:t>not optional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35902" y="4529797"/>
            <a:ext cx="1336430" cy="1350498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It is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b="1" dirty="0"/>
              <a:t>not</a:t>
            </a:r>
            <a:r>
              <a:rPr lang="en-US" dirty="0"/>
              <a:t> optional</a:t>
            </a:r>
            <a:endParaRPr lang="tr-TR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04216" y="3914577"/>
            <a:ext cx="2196102" cy="504000"/>
          </a:xfrm>
        </p:spPr>
        <p:txBody>
          <a:bodyPr/>
          <a:lstStyle/>
          <a:p>
            <a:r>
              <a:rPr lang="tr-TR" dirty="0"/>
              <a:t>repeated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1" y="4429644"/>
            <a:ext cx="1659987" cy="1309973"/>
          </a:xfrm>
        </p:spPr>
        <p:txBody>
          <a:bodyPr/>
          <a:lstStyle/>
          <a:p>
            <a:pPr algn="l"/>
            <a:r>
              <a:rPr lang="tr-TR" dirty="0"/>
              <a:t>can repeat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one or more times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23250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117CA84-7DBD-4840-89F4-2FFD6C8AE80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plus (+) to repeat one, or more times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7051" y="1571562"/>
            <a:ext cx="4104000" cy="2381459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batRegex = re.compile(r'Bat</a:t>
            </a:r>
            <a:r>
              <a:rPr lang="tr-TR" dirty="0">
                <a:solidFill>
                  <a:srgbClr val="00B0F0"/>
                </a:solidFill>
              </a:rPr>
              <a:t>(wo)+</a:t>
            </a:r>
            <a:r>
              <a:rPr lang="tr-TR" dirty="0"/>
              <a:t>man')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8781" y="1576944"/>
            <a:ext cx="4712677" cy="2390145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mo1 = batRegex.search('The Adventures of Bat</a:t>
            </a:r>
            <a:r>
              <a:rPr lang="tr-TR" dirty="0">
                <a:solidFill>
                  <a:srgbClr val="00B0F0"/>
                </a:solidFill>
              </a:rPr>
              <a:t>wo</a:t>
            </a:r>
            <a:r>
              <a:rPr lang="tr-TR" dirty="0"/>
              <a:t>man')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mo1.group()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'Batwoman’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mo2 = batRegex.search('The Adventures of Bat</a:t>
            </a:r>
            <a:r>
              <a:rPr lang="tr-TR" dirty="0">
                <a:solidFill>
                  <a:srgbClr val="00B0F0"/>
                </a:solidFill>
              </a:rPr>
              <a:t>wowowowo</a:t>
            </a:r>
            <a:r>
              <a:rPr lang="tr-TR" dirty="0"/>
              <a:t>man')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mo2.group()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'Batwowowowoman’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mo3 = </a:t>
            </a:r>
            <a:r>
              <a:rPr lang="en-US" dirty="0" err="1"/>
              <a:t>batRegex.search</a:t>
            </a:r>
            <a:r>
              <a:rPr lang="en-US" dirty="0"/>
              <a:t>('The Adventures of Batman')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mo3 == None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True</a:t>
            </a:r>
            <a:endParaRPr lang="tr-T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24989F-12C2-4966-B44C-46DDAD8411BF}"/>
              </a:ext>
            </a:extLst>
          </p:cNvPr>
          <p:cNvSpPr/>
          <p:nvPr/>
        </p:nvSpPr>
        <p:spPr>
          <a:xfrm>
            <a:off x="1463040" y="4289699"/>
            <a:ext cx="64148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Calibri Light"/>
                <a:ea typeface="+mn-ea"/>
                <a:cs typeface="+mn-cs"/>
              </a:rPr>
              <a:t>(wo)</a:t>
            </a:r>
            <a:r>
              <a:rPr kumimoji="0" lang="tr-TR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Calibri Light"/>
                <a:ea typeface="+mn-ea"/>
                <a:cs typeface="+mn-cs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 Light"/>
                <a:ea typeface="+mn-ea"/>
                <a:cs typeface="+mn-cs"/>
              </a:rPr>
              <a:t>part of the regex matches </a:t>
            </a:r>
            <a:r>
              <a:rPr kumimoji="0" lang="tr-T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 Light"/>
                <a:ea typeface="+mn-ea"/>
                <a:cs typeface="+mn-cs"/>
              </a:rPr>
              <a:t>one or more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 Light"/>
                <a:ea typeface="+mn-ea"/>
                <a:cs typeface="+mn-cs"/>
              </a:rPr>
              <a:t> instances</a:t>
            </a:r>
            <a:endParaRPr kumimoji="0" lang="tr-T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23082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Matching Specific Repetitions with Curly Brackets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0497"/>
          </a:xfrm>
        </p:spPr>
        <p:txBody>
          <a:bodyPr/>
          <a:lstStyle/>
          <a:p>
            <a:r>
              <a:rPr lang="tr-TR" b="1" dirty="0"/>
              <a:t>{} : </a:t>
            </a:r>
            <a:r>
              <a:rPr lang="en-US" dirty="0"/>
              <a:t>repeat a specific number of times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23929" y="3898199"/>
            <a:ext cx="1620440" cy="504000"/>
          </a:xfrm>
        </p:spPr>
        <p:txBody>
          <a:bodyPr/>
          <a:lstStyle/>
          <a:p>
            <a:r>
              <a:rPr lang="tr-TR" dirty="0"/>
              <a:t>(text){n}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88125" y="4477096"/>
            <a:ext cx="1730326" cy="1543876"/>
          </a:xfrm>
        </p:spPr>
        <p:txBody>
          <a:bodyPr/>
          <a:lstStyle/>
          <a:p>
            <a:pPr algn="l"/>
            <a:r>
              <a:rPr lang="tr-TR" dirty="0"/>
              <a:t>repeat</a:t>
            </a:r>
            <a:endParaRPr lang="en-US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text in group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b="1" dirty="0"/>
              <a:t>n times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791331" cy="504000"/>
          </a:xfrm>
        </p:spPr>
        <p:txBody>
          <a:bodyPr/>
          <a:lstStyle/>
          <a:p>
            <a:r>
              <a:rPr lang="tr-TR" dirty="0"/>
              <a:t>(Ha){3}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35902" y="4529797"/>
            <a:ext cx="1336430" cy="1350498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dirty="0"/>
              <a:t>match</a:t>
            </a:r>
            <a:endParaRPr lang="en-US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b="1" dirty="0"/>
              <a:t>HaHaHa</a:t>
            </a:r>
            <a:endParaRPr lang="tr-TR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04216" y="3914577"/>
            <a:ext cx="2196102" cy="504000"/>
          </a:xfrm>
        </p:spPr>
        <p:txBody>
          <a:bodyPr/>
          <a:lstStyle/>
          <a:p>
            <a:r>
              <a:rPr lang="tr-TR" dirty="0"/>
              <a:t>not accepted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1" y="4429644"/>
            <a:ext cx="1659987" cy="1309973"/>
          </a:xfrm>
        </p:spPr>
        <p:txBody>
          <a:bodyPr/>
          <a:lstStyle/>
          <a:p>
            <a:pPr algn="l"/>
            <a:r>
              <a:rPr lang="tr-TR" dirty="0"/>
              <a:t>doesn’t match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HaHa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HaHaHaHa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….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56705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Matching Specific Repetitions with Curly Brackets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0497"/>
          </a:xfrm>
        </p:spPr>
        <p:txBody>
          <a:bodyPr/>
          <a:lstStyle/>
          <a:p>
            <a:r>
              <a:rPr lang="tr-TR" b="1" dirty="0"/>
              <a:t>{range} : </a:t>
            </a:r>
            <a:r>
              <a:rPr lang="en-US" dirty="0"/>
              <a:t>repeat </a:t>
            </a:r>
            <a:r>
              <a:rPr lang="tr-TR" dirty="0"/>
              <a:t>in the that range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23929" y="3898199"/>
            <a:ext cx="1620440" cy="504000"/>
          </a:xfrm>
        </p:spPr>
        <p:txBody>
          <a:bodyPr/>
          <a:lstStyle/>
          <a:p>
            <a:r>
              <a:rPr lang="tr-TR" dirty="0"/>
              <a:t>(text){b,e}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88125" y="4477096"/>
            <a:ext cx="1730326" cy="1543876"/>
          </a:xfrm>
        </p:spPr>
        <p:txBody>
          <a:bodyPr/>
          <a:lstStyle/>
          <a:p>
            <a:pPr algn="l"/>
            <a:r>
              <a:rPr lang="en-US" dirty="0"/>
              <a:t>specify a range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 minimum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 comma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 maximum</a:t>
            </a:r>
            <a:endParaRPr lang="tr-TR" b="1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791331" cy="504000"/>
          </a:xfrm>
        </p:spPr>
        <p:txBody>
          <a:bodyPr/>
          <a:lstStyle/>
          <a:p>
            <a:r>
              <a:rPr lang="tr-TR" dirty="0"/>
              <a:t>regex (Ha){3,5}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35902" y="4529797"/>
            <a:ext cx="1336430" cy="1350498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dirty="0"/>
              <a:t>match</a:t>
            </a:r>
            <a:endParaRPr lang="en-US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b="1" dirty="0"/>
              <a:t>HaHaHa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b="1" dirty="0"/>
              <a:t>HaHaHaHa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b="1" dirty="0"/>
              <a:t>HaHaHaHaHa</a:t>
            </a:r>
            <a:endParaRPr lang="tr-TR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04216" y="3914577"/>
            <a:ext cx="2196102" cy="504000"/>
          </a:xfrm>
        </p:spPr>
        <p:txBody>
          <a:bodyPr/>
          <a:lstStyle/>
          <a:p>
            <a:r>
              <a:rPr lang="tr-TR" dirty="0"/>
              <a:t>not accepted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1" y="4429644"/>
            <a:ext cx="1659987" cy="1309973"/>
          </a:xfrm>
        </p:spPr>
        <p:txBody>
          <a:bodyPr/>
          <a:lstStyle/>
          <a:p>
            <a:pPr algn="l"/>
            <a:r>
              <a:rPr lang="tr-TR" dirty="0"/>
              <a:t>doesn’t match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Ha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HaHa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HaHaHaHaHaHa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….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22968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Matching Specific Repetitions with Curly Brackets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579987"/>
          </a:xfrm>
        </p:spPr>
        <p:txBody>
          <a:bodyPr/>
          <a:lstStyle/>
          <a:p>
            <a:r>
              <a:rPr lang="tr-TR" b="1" dirty="0"/>
              <a:t>{b,} : </a:t>
            </a:r>
            <a:r>
              <a:rPr lang="en-US" dirty="0"/>
              <a:t>repeat </a:t>
            </a:r>
            <a:r>
              <a:rPr lang="tr-TR" dirty="0"/>
              <a:t>at least </a:t>
            </a:r>
            <a:r>
              <a:rPr lang="tr-TR" b="1" dirty="0"/>
              <a:t>b</a:t>
            </a:r>
            <a:r>
              <a:rPr lang="tr-TR" dirty="0"/>
              <a:t> and more times</a:t>
            </a:r>
          </a:p>
          <a:p>
            <a:r>
              <a:rPr lang="tr-TR" b="1" dirty="0"/>
              <a:t>{,e} : </a:t>
            </a:r>
            <a:r>
              <a:rPr lang="en-US" dirty="0"/>
              <a:t>repeat </a:t>
            </a:r>
            <a:r>
              <a:rPr lang="tr-TR" dirty="0"/>
              <a:t>up to </a:t>
            </a:r>
            <a:r>
              <a:rPr lang="tr-TR" b="1" dirty="0"/>
              <a:t>e</a:t>
            </a:r>
            <a:r>
              <a:rPr lang="tr-TR" dirty="0"/>
              <a:t> but no more times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23929" y="3898199"/>
            <a:ext cx="1620440" cy="504000"/>
          </a:xfrm>
        </p:spPr>
        <p:txBody>
          <a:bodyPr/>
          <a:lstStyle/>
          <a:p>
            <a:r>
              <a:rPr lang="tr-TR" dirty="0"/>
              <a:t>(text){,e}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88125" y="4477096"/>
            <a:ext cx="1730326" cy="1543876"/>
          </a:xfrm>
        </p:spPr>
        <p:txBody>
          <a:bodyPr/>
          <a:lstStyle/>
          <a:p>
            <a:pPr algn="l"/>
            <a:r>
              <a:rPr lang="en-US" dirty="0"/>
              <a:t>leave out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first number in the curly brackets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to leave the minimum </a:t>
            </a:r>
            <a:endParaRPr lang="tr-TR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791331" cy="504000"/>
          </a:xfrm>
        </p:spPr>
        <p:txBody>
          <a:bodyPr/>
          <a:lstStyle/>
          <a:p>
            <a:r>
              <a:rPr lang="tr-TR" dirty="0"/>
              <a:t>(text){b,}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35902" y="4529796"/>
            <a:ext cx="1336430" cy="1589649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dirty="0"/>
              <a:t>leave out</a:t>
            </a:r>
            <a:endParaRPr lang="en-US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the </a:t>
            </a:r>
            <a:r>
              <a:rPr lang="en-US" dirty="0"/>
              <a:t>second </a:t>
            </a:r>
            <a:r>
              <a:rPr lang="tr-TR" dirty="0"/>
              <a:t> number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to leave the</a:t>
            </a:r>
            <a:r>
              <a:rPr lang="en-US" dirty="0"/>
              <a:t> maximum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 and make unbounded</a:t>
            </a:r>
            <a:endParaRPr lang="tr-TR" b="1" dirty="0"/>
          </a:p>
          <a:p>
            <a:pPr algn="l"/>
            <a:endParaRPr lang="tr-TR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04216" y="3914577"/>
            <a:ext cx="2196102" cy="504000"/>
          </a:xfrm>
        </p:spPr>
        <p:txBody>
          <a:bodyPr/>
          <a:lstStyle/>
          <a:p>
            <a:r>
              <a:rPr lang="tr-TR" dirty="0"/>
              <a:t>examples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1" y="4429644"/>
            <a:ext cx="1659987" cy="1309974"/>
          </a:xfrm>
        </p:spPr>
        <p:txBody>
          <a:bodyPr/>
          <a:lstStyle/>
          <a:p>
            <a:pPr algn="l"/>
            <a:r>
              <a:rPr lang="tr-TR" dirty="0"/>
              <a:t>(Ha){3,}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HaHaHa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HaHaHaHa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HaHaHaHaHa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….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97481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F86B8A4-40F5-48C3-ABA9-649B245118A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{} to repeat a specific # of times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7051" y="1571562"/>
            <a:ext cx="4104000" cy="2381459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haRegex = re.compile(r</a:t>
            </a:r>
            <a:r>
              <a:rPr lang="tr-TR" dirty="0">
                <a:solidFill>
                  <a:srgbClr val="00B0F0"/>
                </a:solidFill>
              </a:rPr>
              <a:t>'(Ha){3}'</a:t>
            </a:r>
            <a:r>
              <a:rPr lang="tr-TR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8781" y="1576944"/>
            <a:ext cx="4712677" cy="2390145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mo1 = haRegex.search('HaHaHa')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mo1.group()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'HaHaHa’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mo2 = haRegex.search('Ha')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mo2 == None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True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24989F-12C2-4966-B44C-46DDAD8411BF}"/>
              </a:ext>
            </a:extLst>
          </p:cNvPr>
          <p:cNvSpPr/>
          <p:nvPr/>
        </p:nvSpPr>
        <p:spPr>
          <a:xfrm>
            <a:off x="1463040" y="4289699"/>
            <a:ext cx="64148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rgbClr val="00B0F0"/>
                </a:solidFill>
                <a:highlight>
                  <a:srgbClr val="FFFF00"/>
                </a:highlight>
              </a:rPr>
              <a:t>(Ha){3}</a:t>
            </a:r>
            <a:r>
              <a:rPr lang="tr-TR" dirty="0">
                <a:solidFill>
                  <a:srgbClr val="00B0F0"/>
                </a:solidFill>
                <a:highlight>
                  <a:srgbClr val="FFFF00"/>
                </a:highlight>
              </a:rPr>
              <a:t> </a:t>
            </a:r>
            <a:r>
              <a:rPr lang="en-US" dirty="0">
                <a:solidFill>
                  <a:prstClr val="black"/>
                </a:solidFill>
                <a:highlight>
                  <a:srgbClr val="FFFF00"/>
                </a:highlight>
              </a:rPr>
              <a:t>part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 Light"/>
                <a:ea typeface="+mn-ea"/>
                <a:cs typeface="+mn-cs"/>
              </a:rPr>
              <a:t>of the regex matches </a:t>
            </a:r>
            <a:r>
              <a:rPr kumimoji="0" lang="tr-T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 Light"/>
                <a:ea typeface="+mn-ea"/>
                <a:cs typeface="+mn-cs"/>
              </a:rPr>
              <a:t>exactly three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 Light"/>
                <a:ea typeface="+mn-ea"/>
                <a:cs typeface="+mn-cs"/>
              </a:rPr>
              <a:t>instances</a:t>
            </a:r>
            <a:endParaRPr kumimoji="0" lang="tr-T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11694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7: Pattern Matching with Regular Expressions</a:t>
            </a:r>
            <a:endParaRPr lang="tr-TR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Greedy and Nongreedy Matching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38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5122" name="Picture 2" descr="Wheeler Farms">
            <a:extLst>
              <a:ext uri="{FF2B5EF4-FFF2-40B4-BE49-F238E27FC236}">
                <a16:creationId xmlns:a16="http://schemas.microsoft.com/office/drawing/2014/main" id="{C7E255E5-C263-4D03-B2B9-A362576B153F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712" r="24712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06657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Greedy vs Nongreedy Matching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en-US" dirty="0"/>
              <a:t>Python’s regular expressions are greedy by default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Greedy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659977"/>
            <a:ext cx="2067951" cy="1208560"/>
          </a:xfrm>
        </p:spPr>
        <p:txBody>
          <a:bodyPr/>
          <a:lstStyle/>
          <a:p>
            <a:pPr algn="l"/>
            <a:r>
              <a:rPr lang="en-US" dirty="0"/>
              <a:t>means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in</a:t>
            </a:r>
            <a:r>
              <a:rPr lang="tr-TR" dirty="0"/>
              <a:t> </a:t>
            </a:r>
            <a:r>
              <a:rPr lang="en-US" dirty="0"/>
              <a:t>ambiguous situations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match the longest string possible</a:t>
            </a:r>
            <a:endParaRPr lang="tr-TR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720993" cy="504000"/>
          </a:xfrm>
        </p:spPr>
        <p:txBody>
          <a:bodyPr/>
          <a:lstStyle/>
          <a:p>
            <a:r>
              <a:rPr lang="tr-TR" dirty="0"/>
              <a:t>nongreedy version 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6657" y="4688112"/>
            <a:ext cx="2066692" cy="90000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matches the shortest string possible,</a:t>
            </a:r>
            <a:r>
              <a:rPr lang="tr-TR" dirty="0"/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closing curly bracket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followed by a question mark</a:t>
            </a:r>
            <a:endParaRPr lang="tr-TR" b="1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2196102" cy="504000"/>
          </a:xfrm>
        </p:spPr>
        <p:txBody>
          <a:bodyPr/>
          <a:lstStyle/>
          <a:p>
            <a:r>
              <a:rPr lang="tr-TR" dirty="0"/>
              <a:t>Examples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97415" y="4612943"/>
            <a:ext cx="2841673" cy="1647180"/>
          </a:xfrm>
        </p:spPr>
        <p:txBody>
          <a:bodyPr/>
          <a:lstStyle/>
          <a:p>
            <a:pPr algn="l"/>
            <a:r>
              <a:rPr lang="tr-TR" dirty="0"/>
              <a:t>Greedy version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b="1" dirty="0"/>
              <a:t>(Ha){3,5}</a:t>
            </a:r>
            <a:endParaRPr lang="tr-TR" dirty="0"/>
          </a:p>
          <a:p>
            <a:pPr algn="l"/>
            <a:r>
              <a:rPr lang="tr-TR" dirty="0"/>
              <a:t>Non-Greedy version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b="1" dirty="0"/>
              <a:t>(Ha){3,5}?'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3552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AFE93E4-0F6D-45B9-817B-09CDE2913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2212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347870"/>
            <a:ext cx="8505000" cy="51613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greedy and nongreedy forms of {}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5865" y="1621870"/>
            <a:ext cx="4104000" cy="209254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greedyHaRegex</a:t>
            </a:r>
            <a:r>
              <a:rPr lang="en-US" dirty="0"/>
              <a:t> = </a:t>
            </a:r>
            <a:r>
              <a:rPr lang="en-US" dirty="0" err="1"/>
              <a:t>re.compile</a:t>
            </a:r>
            <a:r>
              <a:rPr lang="en-US" dirty="0"/>
              <a:t>(r'(Ha){3,5}')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mo1 = </a:t>
            </a:r>
            <a:r>
              <a:rPr lang="en-US" dirty="0" err="1"/>
              <a:t>greedyHaRegex.search</a:t>
            </a:r>
            <a:r>
              <a:rPr lang="en-US" dirty="0"/>
              <a:t>('</a:t>
            </a:r>
            <a:r>
              <a:rPr lang="en-US" dirty="0" err="1"/>
              <a:t>HaHaHaHaHa</a:t>
            </a:r>
            <a:r>
              <a:rPr lang="en-US" dirty="0"/>
              <a:t>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mo1.group()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</a:t>
            </a:r>
            <a:r>
              <a:rPr lang="en-US" dirty="0" err="1"/>
              <a:t>HaHaHaHaHa</a:t>
            </a:r>
            <a:r>
              <a:rPr lang="en-US" dirty="0"/>
              <a:t>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40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7153" y="1613185"/>
            <a:ext cx="4103712" cy="2114879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nongreedyHaRegex</a:t>
            </a:r>
            <a:r>
              <a:rPr lang="en-US" dirty="0"/>
              <a:t> = </a:t>
            </a:r>
            <a:r>
              <a:rPr lang="en-US" dirty="0" err="1"/>
              <a:t>re.compile</a:t>
            </a:r>
            <a:r>
              <a:rPr lang="en-US" dirty="0"/>
              <a:t>(r'(Ha){3,5}?')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mo2 = </a:t>
            </a:r>
            <a:r>
              <a:rPr lang="en-US" dirty="0" err="1"/>
              <a:t>nongreedyHaRegex.search</a:t>
            </a:r>
            <a:r>
              <a:rPr lang="en-US" dirty="0"/>
              <a:t>('</a:t>
            </a:r>
            <a:r>
              <a:rPr lang="en-US" dirty="0" err="1"/>
              <a:t>HaHaHaHaHa</a:t>
            </a:r>
            <a:r>
              <a:rPr lang="en-US" dirty="0"/>
              <a:t>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mo2.group()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</a:t>
            </a:r>
            <a:r>
              <a:rPr lang="en-US" dirty="0" err="1"/>
              <a:t>HaHaHa</a:t>
            </a:r>
            <a:r>
              <a:rPr lang="en-US" dirty="0"/>
              <a:t>'</a:t>
            </a:r>
            <a:endParaRPr lang="tr-T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D95144-C754-4DFF-8327-94B4927BFCD3}"/>
              </a:ext>
            </a:extLst>
          </p:cNvPr>
          <p:cNvSpPr/>
          <p:nvPr/>
        </p:nvSpPr>
        <p:spPr>
          <a:xfrm>
            <a:off x="520504" y="4237782"/>
            <a:ext cx="7990450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NewBaskerville-Roman"/>
              </a:rPr>
              <a:t>question mark </a:t>
            </a:r>
            <a:r>
              <a:rPr lang="tr-TR" dirty="0">
                <a:latin typeface="NewBaskerville-Roman"/>
              </a:rPr>
              <a:t>(?) </a:t>
            </a:r>
            <a:r>
              <a:rPr lang="en-US" dirty="0">
                <a:latin typeface="NewBaskerville-Roman"/>
              </a:rPr>
              <a:t>can have two </a:t>
            </a:r>
            <a:r>
              <a:rPr lang="tr-TR" dirty="0">
                <a:latin typeface="NewBaskerville-Roman"/>
              </a:rPr>
              <a:t>unrelated </a:t>
            </a:r>
            <a:r>
              <a:rPr lang="en-US" dirty="0">
                <a:latin typeface="NewBaskerville-Roman"/>
              </a:rPr>
              <a:t>meanings in regular expressions: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NewBaskerville-Roman"/>
              </a:rPr>
              <a:t>declaring a nongreedy match</a:t>
            </a:r>
            <a:r>
              <a:rPr lang="tr-TR" dirty="0">
                <a:latin typeface="NewBaskerville-Roman"/>
              </a:rPr>
              <a:t>: </a:t>
            </a:r>
            <a:r>
              <a:rPr lang="en-US" b="1" dirty="0" err="1">
                <a:solidFill>
                  <a:srgbClr val="00B0F0"/>
                </a:solidFill>
              </a:rPr>
              <a:t>nongreedyHaRegex</a:t>
            </a:r>
            <a:r>
              <a:rPr lang="en-US" b="1" dirty="0">
                <a:solidFill>
                  <a:srgbClr val="00B0F0"/>
                </a:solidFill>
              </a:rPr>
              <a:t> = </a:t>
            </a:r>
            <a:r>
              <a:rPr lang="en-US" b="1" dirty="0" err="1">
                <a:solidFill>
                  <a:srgbClr val="00B0F0"/>
                </a:solidFill>
              </a:rPr>
              <a:t>re.compile</a:t>
            </a:r>
            <a:r>
              <a:rPr lang="en-US" b="1" dirty="0">
                <a:solidFill>
                  <a:srgbClr val="00B0F0"/>
                </a:solidFill>
              </a:rPr>
              <a:t>(r'(Ha){3,5}?')</a:t>
            </a:r>
            <a:endParaRPr lang="tr-TR" b="1" dirty="0">
              <a:solidFill>
                <a:srgbClr val="00B0F0"/>
              </a:solidFill>
              <a:latin typeface="NewBaskerville-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NewBaskerville-Roman"/>
              </a:rPr>
              <a:t>flagging an optional group </a:t>
            </a:r>
            <a:r>
              <a:rPr lang="tr-TR" dirty="0">
                <a:latin typeface="NewBaskerville-Roman"/>
              </a:rPr>
              <a:t>: </a:t>
            </a:r>
            <a:r>
              <a:rPr lang="en-US" b="1" dirty="0" err="1">
                <a:solidFill>
                  <a:srgbClr val="00B0F0"/>
                </a:solidFill>
              </a:rPr>
              <a:t>batRegex</a:t>
            </a:r>
            <a:r>
              <a:rPr lang="en-US" b="1" dirty="0">
                <a:solidFill>
                  <a:srgbClr val="00B0F0"/>
                </a:solidFill>
              </a:rPr>
              <a:t> = </a:t>
            </a:r>
            <a:r>
              <a:rPr lang="en-US" b="1" dirty="0" err="1">
                <a:solidFill>
                  <a:srgbClr val="00B0F0"/>
                </a:solidFill>
              </a:rPr>
              <a:t>re.compile</a:t>
            </a:r>
            <a:r>
              <a:rPr lang="en-US" b="1" dirty="0">
                <a:solidFill>
                  <a:srgbClr val="00B0F0"/>
                </a:solidFill>
              </a:rPr>
              <a:t>(</a:t>
            </a:r>
            <a:r>
              <a:rPr lang="en-US" b="1" dirty="0" err="1">
                <a:solidFill>
                  <a:srgbClr val="00B0F0"/>
                </a:solidFill>
              </a:rPr>
              <a:t>r'Bat</a:t>
            </a:r>
            <a:r>
              <a:rPr lang="en-US" b="1" dirty="0">
                <a:solidFill>
                  <a:srgbClr val="00B0F0"/>
                </a:solidFill>
              </a:rPr>
              <a:t>(wo)?man')</a:t>
            </a:r>
            <a:endParaRPr lang="tr-TR" dirty="0">
              <a:solidFill>
                <a:srgbClr val="00B0F0"/>
              </a:solidFill>
              <a:latin typeface="NewBaskerville-Roman"/>
            </a:endParaRPr>
          </a:p>
        </p:txBody>
      </p:sp>
    </p:spTree>
    <p:extLst>
      <p:ext uri="{BB962C8B-B14F-4D97-AF65-F5344CB8AC3E}">
        <p14:creationId xmlns:p14="http://schemas.microsoft.com/office/powerpoint/2010/main" val="36116751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7: Pattern Matching with Regular Expressions</a:t>
            </a:r>
            <a:endParaRPr lang="tr-TR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findall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 Method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41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6146" name="Picture 2" descr="Wheeler Farms">
            <a:extLst>
              <a:ext uri="{FF2B5EF4-FFF2-40B4-BE49-F238E27FC236}">
                <a16:creationId xmlns:a16="http://schemas.microsoft.com/office/drawing/2014/main" id="{11274791-A907-4DD4-AF42-B9DF218BB3E0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712" r="24712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3777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The findall() Method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the </a:t>
            </a:r>
            <a:r>
              <a:rPr lang="en-US" b="1" dirty="0" err="1">
                <a:solidFill>
                  <a:srgbClr val="00B0F0"/>
                </a:solidFill>
              </a:rPr>
              <a:t>findall</a:t>
            </a:r>
            <a:r>
              <a:rPr lang="en-US" b="1" dirty="0">
                <a:solidFill>
                  <a:srgbClr val="00B0F0"/>
                </a:solidFill>
              </a:rPr>
              <a:t>() </a:t>
            </a:r>
            <a:r>
              <a:rPr lang="en-US" dirty="0"/>
              <a:t>method will return the strings of </a:t>
            </a:r>
            <a:r>
              <a:rPr lang="en-US" b="1" dirty="0"/>
              <a:t>every</a:t>
            </a:r>
            <a:r>
              <a:rPr lang="tr-TR" b="1" dirty="0"/>
              <a:t> </a:t>
            </a:r>
            <a:r>
              <a:rPr lang="en-US" b="1" dirty="0"/>
              <a:t>match </a:t>
            </a:r>
            <a:r>
              <a:rPr lang="en-US" dirty="0"/>
              <a:t>in the searched string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Groups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659977"/>
            <a:ext cx="2067951" cy="1208560"/>
          </a:xfrm>
        </p:spPr>
        <p:txBody>
          <a:bodyPr/>
          <a:lstStyle/>
          <a:p>
            <a:pPr algn="l"/>
            <a:r>
              <a:rPr lang="en-US" dirty="0"/>
              <a:t>If there are groups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in the regular expression,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will return</a:t>
            </a:r>
            <a:r>
              <a:rPr lang="tr-TR" dirty="0"/>
              <a:t> </a:t>
            </a:r>
            <a:r>
              <a:rPr lang="en-US" dirty="0"/>
              <a:t>a list of </a:t>
            </a:r>
            <a:r>
              <a:rPr lang="en-US" b="1" dirty="0"/>
              <a:t>tuples</a:t>
            </a:r>
            <a:endParaRPr lang="tr-TR" b="1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720993" cy="504000"/>
          </a:xfrm>
        </p:spPr>
        <p:txBody>
          <a:bodyPr/>
          <a:lstStyle/>
          <a:p>
            <a:r>
              <a:rPr lang="tr-TR" dirty="0"/>
              <a:t>Tuples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6657" y="4688112"/>
            <a:ext cx="2066692" cy="90000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Each tuple</a:t>
            </a:r>
            <a:r>
              <a:rPr lang="tr-TR" dirty="0"/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represents a found match</a:t>
            </a:r>
            <a:endParaRPr lang="tr-TR" b="1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2196102" cy="504000"/>
          </a:xfrm>
        </p:spPr>
        <p:txBody>
          <a:bodyPr/>
          <a:lstStyle/>
          <a:p>
            <a:r>
              <a:rPr lang="tr-TR" dirty="0"/>
              <a:t>Tuple items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60122" y="4655147"/>
            <a:ext cx="1730327" cy="887525"/>
          </a:xfrm>
        </p:spPr>
        <p:txBody>
          <a:bodyPr/>
          <a:lstStyle/>
          <a:p>
            <a:pPr algn="l"/>
            <a:r>
              <a:rPr lang="tr-TR" dirty="0"/>
              <a:t>are the </a:t>
            </a:r>
            <a:r>
              <a:rPr lang="en-US" dirty="0"/>
              <a:t>matched strings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for each group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in the regex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52957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A3E2C11-400D-4166-9022-5AFBC8588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11" y="127200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findall()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61327" y="796851"/>
            <a:ext cx="5538280" cy="736527"/>
          </a:xfrm>
          <a:solidFill>
            <a:srgbClr val="FFECB2">
              <a:alpha val="74902"/>
            </a:srgb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phoneNumRegex = re.compile(r'\d\d\d-\d\d\d-\d\d\d\d’)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mo = phoneNumRegex.search('Cell: 415-555-9999 Work: 212-555-0000')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43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71002" y="1720583"/>
            <a:ext cx="5556739" cy="1191429"/>
          </a:xfrm>
          <a:solidFill>
            <a:srgbClr val="FFECB2">
              <a:alpha val="74902"/>
            </a:srgb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mo.group()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'415-555-9999’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phoneNumRegex.findall('Cell: 415-555-9999 Work: 212-555-0000')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['415-555-9999', '212-555-0000']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96844BE-4E88-46FF-AB22-5F6F0B14E44D}"/>
              </a:ext>
            </a:extLst>
          </p:cNvPr>
          <p:cNvSpPr txBox="1">
            <a:spLocks/>
          </p:cNvSpPr>
          <p:nvPr/>
        </p:nvSpPr>
        <p:spPr>
          <a:xfrm>
            <a:off x="1903530" y="3779202"/>
            <a:ext cx="5538280" cy="736527"/>
          </a:xfrm>
          <a:prstGeom prst="rect">
            <a:avLst/>
          </a:prstGeom>
          <a:solidFill>
            <a:srgbClr val="FFECB2">
              <a:alpha val="74902"/>
            </a:srgbClr>
          </a:soli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tr-TR" dirty="0"/>
              <a:t>&gt;&gt;&gt; phoneNumRegex = re.compile(r'(\d\d\d)-(\d\d\d)-(\d\d\d\d)') # has groups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08EB7837-D9AD-46F3-AC5B-C6951C15CE7D}"/>
              </a:ext>
            </a:extLst>
          </p:cNvPr>
          <p:cNvSpPr txBox="1">
            <a:spLocks/>
          </p:cNvSpPr>
          <p:nvPr/>
        </p:nvSpPr>
        <p:spPr>
          <a:xfrm>
            <a:off x="1899138" y="4717001"/>
            <a:ext cx="5556739" cy="1191429"/>
          </a:xfrm>
          <a:prstGeom prst="rect">
            <a:avLst/>
          </a:prstGeom>
          <a:solidFill>
            <a:srgbClr val="FFECB2">
              <a:alpha val="74902"/>
            </a:srgbClr>
          </a:soli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tr-TR" dirty="0"/>
              <a:t>&gt;&gt;&gt; phoneNumRegex.findall('Cell: 415-555-9999 Work: 212-555-0000')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tr-TR" dirty="0"/>
              <a:t>[('415', '555', '9999'), ('212', '555', '0000')]</a:t>
            </a:r>
          </a:p>
        </p:txBody>
      </p:sp>
    </p:spTree>
    <p:extLst>
      <p:ext uri="{BB962C8B-B14F-4D97-AF65-F5344CB8AC3E}">
        <p14:creationId xmlns:p14="http://schemas.microsoft.com/office/powerpoint/2010/main" val="26840775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3BC5622-68D1-4EE2-B1F6-27ACEF94A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86" y="0"/>
            <a:ext cx="91816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11" y="127200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findall()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33191" y="1908199"/>
            <a:ext cx="5538280" cy="736527"/>
          </a:xfrm>
          <a:solidFill>
            <a:srgbClr val="FFECB2">
              <a:alpha val="85000"/>
            </a:srgb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phoneNumRegex = re.compile(r'(\d\d\d)-(\d\d\d)-(\d\d\d\d)') # has groups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44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71002" y="3310232"/>
            <a:ext cx="5556739" cy="1191429"/>
          </a:xfrm>
          <a:solidFill>
            <a:srgbClr val="FFECB2">
              <a:alpha val="85000"/>
            </a:srgb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phoneNumRegex.findall('Cell: 415-555-9999 Work: 212-555-0000')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[('415', '555', '9999'), ('212', '555', '0000')]</a:t>
            </a:r>
          </a:p>
        </p:txBody>
      </p:sp>
    </p:spTree>
    <p:extLst>
      <p:ext uri="{BB962C8B-B14F-4D97-AF65-F5344CB8AC3E}">
        <p14:creationId xmlns:p14="http://schemas.microsoft.com/office/powerpoint/2010/main" val="11552572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6838" y="432000"/>
            <a:ext cx="3863105" cy="432000"/>
          </a:xfrm>
        </p:spPr>
        <p:txBody>
          <a:bodyPr/>
          <a:lstStyle/>
          <a:p>
            <a:r>
              <a:rPr lang="en-US" dirty="0" err="1"/>
              <a:t>findall</a:t>
            </a:r>
            <a:r>
              <a:rPr lang="en-US" dirty="0"/>
              <a:t>() method returns</a:t>
            </a:r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18913" y="1121900"/>
            <a:ext cx="2509099" cy="432000"/>
          </a:xfrm>
        </p:spPr>
        <p:txBody>
          <a:bodyPr/>
          <a:lstStyle/>
          <a:p>
            <a:r>
              <a:rPr lang="en-US" dirty="0"/>
              <a:t>regex with no groups</a:t>
            </a:r>
            <a:endParaRPr lang="tr-TR" dirty="0"/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378634"/>
            <a:ext cx="2601748" cy="1336431"/>
          </a:xfrm>
        </p:spPr>
        <p:txBody>
          <a:bodyPr/>
          <a:lstStyle/>
          <a:p>
            <a:r>
              <a:rPr lang="en-US" dirty="0"/>
              <a:t>returns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 a list of string matches</a:t>
            </a:r>
            <a:endParaRPr lang="tr-TR" dirty="0"/>
          </a:p>
          <a:p>
            <a:r>
              <a:rPr lang="tr-TR" dirty="0"/>
              <a:t>for instance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\d\d\d-\d\d\d-\d\d\d\d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['415-555-</a:t>
            </a:r>
            <a:r>
              <a:rPr lang="tr-TR" dirty="0"/>
              <a:t>9999', '212-555-0000']</a:t>
            </a:r>
          </a:p>
          <a:p>
            <a:endParaRPr lang="tr-TR" dirty="0"/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99665" y="2838640"/>
            <a:ext cx="1687731" cy="432000"/>
          </a:xfrm>
        </p:spPr>
        <p:txBody>
          <a:bodyPr/>
          <a:lstStyle/>
          <a:p>
            <a:r>
              <a:rPr lang="en-US" sz="1200" dirty="0"/>
              <a:t>regex with groups</a:t>
            </a:r>
            <a:endParaRPr lang="tr-TR" sz="1200" dirty="0"/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58598" y="3151163"/>
            <a:ext cx="2785402" cy="1420837"/>
          </a:xfrm>
        </p:spPr>
        <p:txBody>
          <a:bodyPr/>
          <a:lstStyle/>
          <a:p>
            <a:r>
              <a:rPr lang="en-US" dirty="0"/>
              <a:t>returns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  a list of tuples of strings</a:t>
            </a:r>
            <a:endParaRPr lang="tr-TR" dirty="0"/>
          </a:p>
          <a:p>
            <a:r>
              <a:rPr lang="tr-TR" dirty="0"/>
              <a:t>for instance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(\d\d\d)-(\d\d\d)-(\d\d\d\d)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[('415', '555', '1122'), ('212', '555', '0000')]</a:t>
            </a:r>
            <a:endParaRPr lang="tr-TR" dirty="0"/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05873" y="4769035"/>
            <a:ext cx="2251800" cy="432000"/>
          </a:xfrm>
        </p:spPr>
        <p:txBody>
          <a:bodyPr/>
          <a:lstStyle/>
          <a:p>
            <a:r>
              <a:rPr lang="tr-TR" dirty="0"/>
              <a:t>group: ()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2337" y="5117910"/>
            <a:ext cx="2251799" cy="1160970"/>
          </a:xfrm>
        </p:spPr>
        <p:txBody>
          <a:bodyPr/>
          <a:lstStyle/>
          <a:p>
            <a:r>
              <a:rPr lang="tr-TR" dirty="0"/>
              <a:t>remember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group is set using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Parenthesis </a:t>
            </a:r>
            <a:r>
              <a:rPr lang="tr-TR" b="1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45</a:t>
            </a:fld>
            <a:endParaRPr lang="en-US" dirty="0"/>
          </a:p>
        </p:txBody>
      </p:sp>
      <p:pic>
        <p:nvPicPr>
          <p:cNvPr id="11" name="Picture Placeholder 10" descr="A insect on the ground&#10;&#10;Description automatically generated">
            <a:extLst>
              <a:ext uri="{FF2B5EF4-FFF2-40B4-BE49-F238E27FC236}">
                <a16:creationId xmlns:a16="http://schemas.microsoft.com/office/drawing/2014/main" id="{484DA5C5-4A2F-437F-B6E7-E88A536D2E7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044" b="1204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2353085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7: Pattern Matching with Regular Expressions</a:t>
            </a:r>
            <a:endParaRPr lang="tr-TR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Character Classes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46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6146" name="Picture 2" descr="Wheeler Farms">
            <a:extLst>
              <a:ext uri="{FF2B5EF4-FFF2-40B4-BE49-F238E27FC236}">
                <a16:creationId xmlns:a16="http://schemas.microsoft.com/office/drawing/2014/main" id="{11274791-A907-4DD4-AF42-B9DF218BB3E0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712" r="24712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91437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377" y="134848"/>
            <a:ext cx="8505000" cy="495182"/>
          </a:xfrm>
        </p:spPr>
        <p:txBody>
          <a:bodyPr/>
          <a:lstStyle/>
          <a:p>
            <a:pPr algn="ctr"/>
            <a:r>
              <a:rPr lang="tr-TR" dirty="0"/>
              <a:t>Character Classes</a:t>
            </a:r>
            <a:endParaRPr lang="en-US" dirty="0"/>
          </a:p>
        </p:txBody>
      </p:sp>
      <p:pic>
        <p:nvPicPr>
          <p:cNvPr id="67" name="Picture Placeholder 66" descr="Cloud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495" y="3925566"/>
            <a:ext cx="1620000" cy="542228"/>
          </a:xfrm>
        </p:spPr>
        <p:txBody>
          <a:bodyPr/>
          <a:lstStyle/>
          <a:p>
            <a:r>
              <a:rPr lang="tr-TR" dirty="0"/>
              <a:t>character classes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4071" y="4206240"/>
            <a:ext cx="1731152" cy="1837118"/>
          </a:xfrm>
        </p:spPr>
        <p:txBody>
          <a:bodyPr/>
          <a:lstStyle/>
          <a:p>
            <a:pPr algn="l"/>
            <a:r>
              <a:rPr lang="tr-TR" dirty="0"/>
              <a:t>other than </a:t>
            </a:r>
            <a:r>
              <a:rPr lang="tr-TR" b="1" dirty="0"/>
              <a:t>\d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many such shorthand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character classes</a:t>
            </a:r>
            <a:endParaRPr lang="en-US" b="1" dirty="0"/>
          </a:p>
        </p:txBody>
      </p:sp>
      <p:pic>
        <p:nvPicPr>
          <p:cNvPr id="159" name="Picture Placeholder 158" descr="Cactus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\D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08628" y="4164037"/>
            <a:ext cx="1675395" cy="1922864"/>
          </a:xfrm>
        </p:spPr>
        <p:txBody>
          <a:bodyPr/>
          <a:lstStyle/>
          <a:p>
            <a:pPr algn="l"/>
            <a:r>
              <a:rPr lang="tr-TR" b="1" dirty="0"/>
              <a:t>not numeric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not a numeric digit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from 0 to 9</a:t>
            </a:r>
            <a:endParaRPr lang="en-US" b="1" dirty="0"/>
          </a:p>
        </p:txBody>
      </p:sp>
      <p:pic>
        <p:nvPicPr>
          <p:cNvPr id="161" name="Picture Placeholder 160" descr="Thermometer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\w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85146" y="4164038"/>
            <a:ext cx="1719617" cy="1581900"/>
          </a:xfrm>
        </p:spPr>
        <p:txBody>
          <a:bodyPr/>
          <a:lstStyle/>
          <a:p>
            <a:pPr algn="l"/>
            <a:r>
              <a:rPr lang="tr-TR" b="1" dirty="0"/>
              <a:t>word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letter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numeric digit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underscore character</a:t>
            </a:r>
            <a:endParaRPr lang="en-US" b="1" dirty="0"/>
          </a:p>
        </p:txBody>
      </p:sp>
      <p:pic>
        <p:nvPicPr>
          <p:cNvPr id="163" name="Picture Placeholder 162" descr="Palm tree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30100" y="3917626"/>
            <a:ext cx="1230258" cy="504000"/>
          </a:xfrm>
        </p:spPr>
        <p:txBody>
          <a:bodyPr/>
          <a:lstStyle/>
          <a:p>
            <a:r>
              <a:rPr lang="tr-TR" dirty="0"/>
              <a:t>\W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99908" y="4192172"/>
            <a:ext cx="1446129" cy="1894729"/>
          </a:xfrm>
        </p:spPr>
        <p:txBody>
          <a:bodyPr/>
          <a:lstStyle/>
          <a:p>
            <a:pPr algn="l"/>
            <a:r>
              <a:rPr lang="en-US" b="1" dirty="0"/>
              <a:t>not a</a:t>
            </a:r>
            <a:r>
              <a:rPr lang="tr-TR" b="1" dirty="0"/>
              <a:t> word</a:t>
            </a:r>
            <a:endParaRPr lang="en-US" b="1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not a letter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numeric digit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or</a:t>
            </a:r>
            <a:r>
              <a:rPr lang="tr-TR" dirty="0"/>
              <a:t> </a:t>
            </a:r>
            <a:r>
              <a:rPr lang="en-US" dirty="0"/>
              <a:t>underscore character</a:t>
            </a:r>
          </a:p>
        </p:txBody>
      </p:sp>
      <p:pic>
        <p:nvPicPr>
          <p:cNvPr id="165" name="Picture Placeholder 164" descr="Factory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tr-TR" dirty="0"/>
              <a:t>\s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80663" y="4220308"/>
            <a:ext cx="1663337" cy="2016719"/>
          </a:xfrm>
        </p:spPr>
        <p:txBody>
          <a:bodyPr/>
          <a:lstStyle/>
          <a:p>
            <a:pPr algn="l"/>
            <a:r>
              <a:rPr lang="tr-TR" b="1" dirty="0"/>
              <a:t>Space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Any space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tab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newline character</a:t>
            </a:r>
            <a:endParaRPr lang="tr-TR" dirty="0"/>
          </a:p>
          <a:p>
            <a:pPr algn="l"/>
            <a:r>
              <a:rPr lang="en-US" b="1" dirty="0"/>
              <a:t>\S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not a space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tab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or</a:t>
            </a:r>
            <a:r>
              <a:rPr lang="en-US" dirty="0"/>
              <a:t> newline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6E24E9-F30C-4379-B292-03FAD4D0DCBF}"/>
              </a:ext>
            </a:extLst>
          </p:cNvPr>
          <p:cNvSpPr/>
          <p:nvPr/>
        </p:nvSpPr>
        <p:spPr>
          <a:xfrm>
            <a:off x="184245" y="840307"/>
            <a:ext cx="78343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NewBaskerville-Roman"/>
              </a:rPr>
              <a:t>\d </a:t>
            </a:r>
            <a:r>
              <a:rPr lang="en-US" dirty="0">
                <a:latin typeface="NewBaskerville-Roman"/>
              </a:rPr>
              <a:t>is shorthand for the regular expression</a:t>
            </a:r>
            <a:r>
              <a:rPr lang="tr-TR" dirty="0">
                <a:latin typeface="NewBaskerville-Roman"/>
              </a:rPr>
              <a:t> </a:t>
            </a:r>
            <a:r>
              <a:rPr lang="en-US" dirty="0">
                <a:latin typeface="NewBaskerville-Roman"/>
              </a:rPr>
              <a:t>(0|1|2|3|4|5|6|7|8|9)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778872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1A3D7586-08E1-44AE-B730-6441FA9D08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12"/>
            <a:ext cx="9144000" cy="68554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C3B2B7-8BB8-4FED-8CF0-EF3D36755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2196" y="4985113"/>
            <a:ext cx="7624690" cy="360000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tr-TR" dirty="0"/>
              <a:t>some of shorthand character classes</a:t>
            </a: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DC9195A-8052-4EA5-B4AF-B2A336C3270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900625" y="1537499"/>
            <a:ext cx="7631715" cy="30907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156" y="748656"/>
            <a:ext cx="5978769" cy="43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Other Character Classes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6539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F7D9D5-1E4F-4F87-97E5-98E27975D17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8123" y="586745"/>
            <a:ext cx="5978769" cy="43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Character classes usage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C3B2B7-8BB8-4FED-8CF0-EF3D36755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316" y="4633421"/>
            <a:ext cx="7624690" cy="360000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/>
              <a:t>this is much shorter than (0|1|2|3|4|5)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1DF7F-F183-420F-8BAA-AF8BF9726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66425" y="2526535"/>
            <a:ext cx="5120641" cy="128580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dirty="0">
                <a:solidFill>
                  <a:schemeClr val="tx1"/>
                </a:solidFill>
              </a:rPr>
              <a:t>Character classes good for shortening regular expressions</a:t>
            </a:r>
          </a:p>
          <a:p>
            <a:pPr marL="0" indent="0">
              <a:buNone/>
            </a:pPr>
            <a:r>
              <a:rPr lang="tr-TR"/>
              <a:t>Call</a:t>
            </a:r>
            <a:endParaRPr lang="tr-TR" dirty="0"/>
          </a:p>
          <a:p>
            <a:r>
              <a:rPr lang="en-US" dirty="0"/>
              <a:t>character</a:t>
            </a:r>
            <a:r>
              <a:rPr lang="tr-TR" dirty="0"/>
              <a:t> </a:t>
            </a:r>
            <a:r>
              <a:rPr lang="en-US" dirty="0"/>
              <a:t>class [0-5] will match </a:t>
            </a:r>
            <a:endParaRPr lang="tr-TR" dirty="0"/>
          </a:p>
          <a:p>
            <a:r>
              <a:rPr lang="en-US" dirty="0"/>
              <a:t>only the numbers 0 to 5;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906407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A2F427-B92E-49C4-9188-C4B034D35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422" y="460136"/>
            <a:ext cx="8637563" cy="432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tr-TR" dirty="0"/>
              <a:t>specialization of regex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5865" y="1675783"/>
            <a:ext cx="8623052" cy="786063"/>
          </a:xfrm>
          <a:solidFill>
            <a:srgbClr val="FFECB2">
              <a:alpha val="85098"/>
            </a:srgb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xmasRegex = re.compile(r'\d+\s\w+')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50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7286" y="2764801"/>
            <a:ext cx="8620452" cy="1469573"/>
          </a:xfrm>
          <a:solidFill>
            <a:srgbClr val="FFECB2">
              <a:alpha val="85098"/>
            </a:srgb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xmasRegex.findall('12 drummers, 11 pipers, 10 lords, 9 ladies, 8 maids, 7 swans, 6 geese, 5 rings, 4 birds, 3 hens, 2 doves, 1 partridge’)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['12 drummers', '11 pipers', '10 lords', '9 ladies', '8 maids', '7 swans', '6 geese', '5 rings', '4 birds', '3 hens', '2 doves', '1 partridge']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4BD647-227C-4936-B39B-8B8B7AC5409D}"/>
              </a:ext>
            </a:extLst>
          </p:cNvPr>
          <p:cNvSpPr/>
          <p:nvPr/>
        </p:nvSpPr>
        <p:spPr>
          <a:xfrm>
            <a:off x="766689" y="4887301"/>
            <a:ext cx="7533250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The regular expression \d+\s\w+ will match text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(\d+)</a:t>
            </a:r>
            <a:r>
              <a:rPr lang="tr-TR" dirty="0"/>
              <a:t>:</a:t>
            </a:r>
            <a:r>
              <a:rPr lang="en-US" dirty="0"/>
              <a:t> one or more</a:t>
            </a:r>
            <a:r>
              <a:rPr lang="tr-TR" dirty="0"/>
              <a:t> </a:t>
            </a:r>
            <a:r>
              <a:rPr lang="en-US" dirty="0"/>
              <a:t>numeric digits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(\s)</a:t>
            </a:r>
            <a:r>
              <a:rPr lang="tr-TR" dirty="0"/>
              <a:t>:</a:t>
            </a:r>
            <a:r>
              <a:rPr lang="en-US" dirty="0"/>
              <a:t> a whitespace character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(\w+)</a:t>
            </a:r>
            <a:r>
              <a:rPr lang="tr-TR" dirty="0"/>
              <a:t>: </a:t>
            </a:r>
            <a:r>
              <a:rPr lang="en-US" dirty="0"/>
              <a:t>one or more letter/digit/underscore characters </a:t>
            </a:r>
            <a:endParaRPr lang="tr-TR" dirty="0"/>
          </a:p>
          <a:p>
            <a:r>
              <a:rPr lang="en-US" dirty="0" err="1"/>
              <a:t>findall</a:t>
            </a:r>
            <a:r>
              <a:rPr lang="en-US" dirty="0"/>
              <a:t>() method</a:t>
            </a:r>
            <a:r>
              <a:rPr lang="tr-TR" dirty="0"/>
              <a:t>: </a:t>
            </a:r>
            <a:r>
              <a:rPr lang="en-US" dirty="0"/>
              <a:t>returns all matching strings of the regex pattern in a list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374701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7: Pattern Matching with Regular Expressions</a:t>
            </a:r>
            <a:endParaRPr lang="tr-TR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Making Your Own Character Classes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upper(), lower(),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isupper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(), and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islower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 String Methods</a:t>
            </a:r>
            <a:endParaRPr lang="tr-T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tr-T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isX String Methods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startswith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 and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endswith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 String Methods</a:t>
            </a:r>
            <a:endParaRPr lang="tr-T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join() and split() String Methods</a:t>
            </a:r>
            <a:endParaRPr lang="tr-T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Justifying Text with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rjust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(),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ljust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(), and center()</a:t>
            </a:r>
            <a:endParaRPr lang="tr-T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Removing Whitespace with strip(),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rstrip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(), and</a:t>
            </a:r>
            <a:r>
              <a:rPr lang="tr-T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lstrip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</a:t>
            </a:r>
            <a:endParaRPr lang="tr-T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Copying and Pasting Strings with the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pyperclip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Module</a:t>
            </a:r>
            <a:endParaRPr lang="tr-T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51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6146" name="Picture 2" descr="Wheeler Farms">
            <a:extLst>
              <a:ext uri="{FF2B5EF4-FFF2-40B4-BE49-F238E27FC236}">
                <a16:creationId xmlns:a16="http://schemas.microsoft.com/office/drawing/2014/main" id="{11274791-A907-4DD4-AF42-B9DF218BB3E0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712" r="24712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32607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377" y="306030"/>
            <a:ext cx="8505000" cy="406160"/>
          </a:xfrm>
        </p:spPr>
        <p:txBody>
          <a:bodyPr/>
          <a:lstStyle/>
          <a:p>
            <a:pPr algn="ctr"/>
            <a:r>
              <a:rPr lang="tr-TR" dirty="0"/>
              <a:t>Define own Character Class</a:t>
            </a:r>
            <a:endParaRPr lang="en-US" dirty="0"/>
          </a:p>
        </p:txBody>
      </p:sp>
      <p:pic>
        <p:nvPicPr>
          <p:cNvPr id="67" name="Picture Placeholder 66" descr="Cloud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1172" y="3855228"/>
            <a:ext cx="1458305" cy="542228"/>
          </a:xfrm>
        </p:spPr>
        <p:txBody>
          <a:bodyPr/>
          <a:lstStyle/>
          <a:p>
            <a:r>
              <a:rPr lang="tr-TR" dirty="0"/>
              <a:t>usage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4071" y="4369450"/>
            <a:ext cx="1731152" cy="1673908"/>
          </a:xfrm>
        </p:spPr>
        <p:txBody>
          <a:bodyPr/>
          <a:lstStyle/>
          <a:p>
            <a:pPr algn="l"/>
            <a:r>
              <a:rPr lang="tr-TR" b="1" dirty="0"/>
              <a:t>useful when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shorthand</a:t>
            </a:r>
            <a:r>
              <a:rPr lang="tr-TR" dirty="0"/>
              <a:t> </a:t>
            </a:r>
            <a:r>
              <a:rPr lang="en-US" dirty="0"/>
              <a:t>character classes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(\d, \w, \s, and so on)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are too broad</a:t>
            </a:r>
            <a:endParaRPr lang="en-US" b="1" dirty="0"/>
          </a:p>
        </p:txBody>
      </p:sp>
      <p:pic>
        <p:nvPicPr>
          <p:cNvPr id="159" name="Picture Placeholder 158" descr="Cactus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character class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556" y="4374213"/>
            <a:ext cx="1839467" cy="1712688"/>
          </a:xfrm>
        </p:spPr>
        <p:txBody>
          <a:bodyPr/>
          <a:lstStyle/>
          <a:p>
            <a:pPr algn="l"/>
            <a:r>
              <a:rPr lang="en-US" dirty="0"/>
              <a:t>[</a:t>
            </a:r>
            <a:r>
              <a:rPr lang="en-US" b="1" dirty="0" err="1"/>
              <a:t>aeiouAEIOU</a:t>
            </a:r>
            <a:r>
              <a:rPr lang="en-US" b="1" dirty="0"/>
              <a:t>] </a:t>
            </a:r>
            <a:endParaRPr lang="tr-TR" b="1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will match any vowel,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both lowercase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and uppercase</a:t>
            </a:r>
          </a:p>
        </p:txBody>
      </p:sp>
      <p:pic>
        <p:nvPicPr>
          <p:cNvPr id="161" name="Picture Placeholder 160" descr="Thermometer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ranges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8536" y="4388281"/>
            <a:ext cx="1684135" cy="1098120"/>
          </a:xfrm>
        </p:spPr>
        <p:txBody>
          <a:bodyPr/>
          <a:lstStyle/>
          <a:p>
            <a:pPr algn="l"/>
            <a:r>
              <a:rPr lang="en-US" b="1" dirty="0"/>
              <a:t>include ranges </a:t>
            </a:r>
            <a:endParaRPr lang="tr-TR" b="1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of letters or numbers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by using a hyphen</a:t>
            </a:r>
            <a:endParaRPr lang="en-US" b="1" dirty="0"/>
          </a:p>
        </p:txBody>
      </p:sp>
      <p:pic>
        <p:nvPicPr>
          <p:cNvPr id="163" name="Picture Placeholder 162" descr="Palm tree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30100" y="3917626"/>
            <a:ext cx="1230258" cy="504000"/>
          </a:xfrm>
        </p:spPr>
        <p:txBody>
          <a:bodyPr/>
          <a:lstStyle/>
          <a:p>
            <a:r>
              <a:rPr lang="tr-TR" dirty="0"/>
              <a:t>[a-zA-Z0-9] 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6975" y="4399142"/>
            <a:ext cx="1515292" cy="1199799"/>
          </a:xfrm>
        </p:spPr>
        <p:txBody>
          <a:bodyPr/>
          <a:lstStyle/>
          <a:p>
            <a:pPr algn="l"/>
            <a:r>
              <a:rPr lang="en-US" b="1" dirty="0"/>
              <a:t>will match</a:t>
            </a:r>
            <a:endParaRPr lang="tr-TR" b="1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all lowercase letters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uppercase letters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numbers</a:t>
            </a:r>
          </a:p>
        </p:txBody>
      </p:sp>
      <p:pic>
        <p:nvPicPr>
          <p:cNvPr id="165" name="Picture Placeholder 164" descr="Factory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tr-TR" dirty="0"/>
              <a:t>[] is different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33313" y="4374212"/>
            <a:ext cx="1910687" cy="1862815"/>
          </a:xfrm>
        </p:spPr>
        <p:txBody>
          <a:bodyPr/>
          <a:lstStyle/>
          <a:p>
            <a:pPr algn="l"/>
            <a:r>
              <a:rPr lang="tr-TR" b="1" dirty="0"/>
              <a:t>no </a:t>
            </a:r>
            <a:r>
              <a:rPr lang="en-US" b="1" dirty="0"/>
              <a:t>need to escape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., *, ?, or () characters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with a preceding backslash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6E24E9-F30C-4379-B292-03FAD4D0DCBF}"/>
              </a:ext>
            </a:extLst>
          </p:cNvPr>
          <p:cNvSpPr/>
          <p:nvPr/>
        </p:nvSpPr>
        <p:spPr>
          <a:xfrm>
            <a:off x="184246" y="840307"/>
            <a:ext cx="80999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NewBaskerville-Roman"/>
              </a:rPr>
              <a:t>define</a:t>
            </a:r>
            <a:r>
              <a:rPr lang="tr-TR" dirty="0">
                <a:latin typeface="NewBaskerville-Roman"/>
              </a:rPr>
              <a:t> </a:t>
            </a:r>
            <a:r>
              <a:rPr lang="en-US" dirty="0">
                <a:latin typeface="NewBaskerville-Roman"/>
              </a:rPr>
              <a:t>own character class using square brackets</a:t>
            </a:r>
            <a:r>
              <a:rPr lang="tr-TR" dirty="0">
                <a:latin typeface="NewBaskerville-Roman"/>
              </a:rPr>
              <a:t> </a:t>
            </a:r>
            <a:r>
              <a:rPr lang="tr-TR" b="1" dirty="0">
                <a:latin typeface="NewBaskerville-Roman"/>
              </a:rPr>
              <a:t>[]</a:t>
            </a:r>
            <a:endParaRPr lang="tr-TR" b="1" dirty="0"/>
          </a:p>
        </p:txBody>
      </p:sp>
    </p:spTree>
    <p:extLst>
      <p:ext uri="{BB962C8B-B14F-4D97-AF65-F5344CB8AC3E}">
        <p14:creationId xmlns:p14="http://schemas.microsoft.com/office/powerpoint/2010/main" val="7855103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06D89B-8FDD-4FDD-8B2B-9FA46954A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94" y="0"/>
            <a:ext cx="915578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178782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String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93028" y="1729021"/>
            <a:ext cx="5051833" cy="549945"/>
          </a:xfrm>
          <a:solidFill>
            <a:srgbClr val="FFECB2">
              <a:alpha val="85098"/>
            </a:srgb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vowelRegex</a:t>
            </a:r>
            <a:r>
              <a:rPr lang="en-US" dirty="0"/>
              <a:t> = </a:t>
            </a:r>
            <a:r>
              <a:rPr lang="en-US" dirty="0" err="1"/>
              <a:t>re.compile</a:t>
            </a:r>
            <a:r>
              <a:rPr lang="en-US" dirty="0"/>
              <a:t>(r'[</a:t>
            </a:r>
            <a:r>
              <a:rPr lang="en-US" dirty="0" err="1"/>
              <a:t>aeiouAEIOU</a:t>
            </a:r>
            <a:r>
              <a:rPr lang="en-US" dirty="0"/>
              <a:t>]')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53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93350" y="2907945"/>
            <a:ext cx="5051512" cy="791858"/>
          </a:xfrm>
          <a:solidFill>
            <a:srgbClr val="FFECB2">
              <a:alpha val="85098"/>
            </a:srgb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vowelRegex.findall</a:t>
            </a:r>
            <a:r>
              <a:rPr lang="en-US" dirty="0"/>
              <a:t>('</a:t>
            </a:r>
            <a:r>
              <a:rPr lang="en-US" dirty="0" err="1"/>
              <a:t>RoboCop</a:t>
            </a:r>
            <a:r>
              <a:rPr lang="en-US" dirty="0"/>
              <a:t> eats baby food. BABY FOOD.')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['o', 'o', 'o', 'e', 'a', 'a', 'o', 'o', 'A', 'O', 'O']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846109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r>
              <a:rPr lang="tr-TR" dirty="0"/>
              <a:t>negative character class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tr-TR" dirty="0"/>
              <a:t>[^pattern]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603717"/>
            <a:ext cx="2601748" cy="858129"/>
          </a:xfrm>
        </p:spPr>
        <p:txBody>
          <a:bodyPr/>
          <a:lstStyle/>
          <a:p>
            <a:r>
              <a:rPr lang="en-US" b="1" dirty="0"/>
              <a:t>will match </a:t>
            </a:r>
            <a:endParaRPr lang="tr-TR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the characters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not in the character class</a:t>
            </a:r>
            <a:endParaRPr lang="tr-TR" dirty="0"/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53054" y="2768302"/>
            <a:ext cx="2465864" cy="432000"/>
          </a:xfrm>
        </p:spPr>
        <p:txBody>
          <a:bodyPr/>
          <a:lstStyle/>
          <a:p>
            <a:r>
              <a:rPr lang="tr-TR" sz="1200" dirty="0"/>
              <a:t>making negative character class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333743"/>
            <a:ext cx="2370064" cy="1364865"/>
          </a:xfrm>
        </p:spPr>
        <p:txBody>
          <a:bodyPr/>
          <a:lstStyle/>
          <a:p>
            <a:r>
              <a:rPr lang="en-US" b="1" dirty="0"/>
              <a:t>placing a caret character (^)</a:t>
            </a:r>
            <a:endParaRPr lang="tr-TR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just after the character class’s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opening</a:t>
            </a:r>
            <a:r>
              <a:rPr lang="tr-TR" dirty="0"/>
              <a:t> </a:t>
            </a:r>
            <a:r>
              <a:rPr lang="en-US" dirty="0"/>
              <a:t>bracket</a:t>
            </a:r>
            <a:endParaRPr lang="tr-TR" dirty="0"/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76212" y="4698697"/>
            <a:ext cx="2251800" cy="432000"/>
          </a:xfrm>
        </p:spPr>
        <p:txBody>
          <a:bodyPr/>
          <a:lstStyle/>
          <a:p>
            <a:r>
              <a:rPr lang="tr-TR" dirty="0"/>
              <a:t>[^aeiouAEIOU]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2337" y="5022166"/>
            <a:ext cx="2251799" cy="1256714"/>
          </a:xfrm>
        </p:spPr>
        <p:txBody>
          <a:bodyPr/>
          <a:lstStyle/>
          <a:p>
            <a:r>
              <a:rPr lang="en-US" b="1" dirty="0"/>
              <a:t>matching</a:t>
            </a:r>
            <a:r>
              <a:rPr lang="en-US" dirty="0"/>
              <a:t>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every character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sn’t</a:t>
            </a:r>
            <a:r>
              <a:rPr lang="en-US" dirty="0"/>
              <a:t> a vowel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54</a:t>
            </a:fld>
            <a:endParaRPr lang="en-US" dirty="0"/>
          </a:p>
        </p:txBody>
      </p:sp>
      <p:pic>
        <p:nvPicPr>
          <p:cNvPr id="11" name="Picture Placeholder 10" descr="A insect on the ground&#10;&#10;Description automatically generated">
            <a:extLst>
              <a:ext uri="{FF2B5EF4-FFF2-40B4-BE49-F238E27FC236}">
                <a16:creationId xmlns:a16="http://schemas.microsoft.com/office/drawing/2014/main" id="{43FE8428-F3EE-478B-8B17-A491A4A7637E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044" b="1204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930044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26C6260-415A-4653-BDCF-C49CDEE9B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tr-TR" dirty="0"/>
              <a:t>negative character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55852" y="1810712"/>
            <a:ext cx="5739176" cy="721472"/>
          </a:xfrm>
          <a:solidFill>
            <a:srgbClr val="FFECB2">
              <a:alpha val="85098"/>
            </a:srgb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consonantRegex</a:t>
            </a:r>
            <a:r>
              <a:rPr lang="en-US" dirty="0"/>
              <a:t> = </a:t>
            </a:r>
            <a:r>
              <a:rPr lang="en-US" dirty="0" err="1"/>
              <a:t>re.compile</a:t>
            </a:r>
            <a:r>
              <a:rPr lang="en-US" dirty="0"/>
              <a:t>(r'[^</a:t>
            </a:r>
            <a:r>
              <a:rPr lang="en-US" dirty="0" err="1"/>
              <a:t>aeiouAEIOU</a:t>
            </a:r>
            <a:r>
              <a:rPr lang="en-US" dirty="0"/>
              <a:t>]')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55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13206" y="3024554"/>
            <a:ext cx="5795889" cy="1855947"/>
          </a:xfrm>
          <a:solidFill>
            <a:srgbClr val="FFECB2">
              <a:alpha val="85098"/>
            </a:srgb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consonantRegex.findall</a:t>
            </a:r>
            <a:r>
              <a:rPr lang="en-US" dirty="0"/>
              <a:t>('</a:t>
            </a:r>
            <a:r>
              <a:rPr lang="en-US" dirty="0" err="1"/>
              <a:t>RoboCop</a:t>
            </a:r>
            <a:r>
              <a:rPr lang="en-US" dirty="0"/>
              <a:t> eats baby food. BABY FOOD.')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['R', 'b', 'C', 'p', ' ', 't', 's', ' ', 'b', 'b', 'y', ' ', 'f', 'd', '.', ' ', 'B', 'B', 'Y', ' ', 'F', 'D', '.']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455768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7: Pattern Matching with Regular Expressions</a:t>
            </a:r>
            <a:endParaRPr lang="tr-TR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Caret and Dollar Sign Characters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56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6146" name="Picture 2" descr="Wheeler Farms">
            <a:extLst>
              <a:ext uri="{FF2B5EF4-FFF2-40B4-BE49-F238E27FC236}">
                <a16:creationId xmlns:a16="http://schemas.microsoft.com/office/drawing/2014/main" id="{11274791-A907-4DD4-AF42-B9DF218BB3E0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712" r="24712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73788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The Caret (^) and Dollar ($) Sign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en-US" dirty="0"/>
              <a:t>to </a:t>
            </a:r>
            <a:r>
              <a:rPr lang="tr-TR" dirty="0"/>
              <a:t>join strings</a:t>
            </a:r>
            <a:r>
              <a:rPr lang="en-US" dirty="0"/>
              <a:t> together into a single string value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Caret (^)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659977"/>
            <a:ext cx="2067951" cy="1208560"/>
          </a:xfrm>
        </p:spPr>
        <p:txBody>
          <a:bodyPr/>
          <a:lstStyle/>
          <a:p>
            <a:pPr algn="l"/>
            <a:r>
              <a:rPr lang="en-US" dirty="0"/>
              <a:t>at the start of a regex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 match must occur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at the beginning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of the searched text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dollar sign ($)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6657" y="4688112"/>
            <a:ext cx="2066692" cy="90000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at the end of the regex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string must end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with this regex pattern</a:t>
            </a:r>
            <a:endParaRPr lang="tr-TR" b="1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2196102" cy="504000"/>
          </a:xfrm>
        </p:spPr>
        <p:txBody>
          <a:bodyPr/>
          <a:lstStyle/>
          <a:p>
            <a:r>
              <a:rPr lang="tr-TR" dirty="0"/>
              <a:t>^ and $ together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97415" y="4670473"/>
            <a:ext cx="2841673" cy="1589649"/>
          </a:xfrm>
        </p:spPr>
        <p:txBody>
          <a:bodyPr/>
          <a:lstStyle/>
          <a:p>
            <a:pPr algn="l"/>
            <a:r>
              <a:rPr lang="tr-TR" b="1" dirty="0"/>
              <a:t>indicate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entire string must match the regex</a:t>
            </a:r>
            <a:endParaRPr lang="tr-TR" dirty="0"/>
          </a:p>
          <a:p>
            <a:pPr algn="l"/>
            <a:r>
              <a:rPr lang="en-US" dirty="0"/>
              <a:t>it’s not enough for a</a:t>
            </a:r>
            <a:r>
              <a:rPr lang="tr-TR" dirty="0"/>
              <a:t> </a:t>
            </a:r>
            <a:r>
              <a:rPr lang="en-US" dirty="0"/>
              <a:t>match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to be made on some subset of the string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324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735D814-1F69-456F-B515-2342D29E1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tr-TR" dirty="0"/>
              <a:t>The Caret ^ and Dollar Sign $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6371" y="2287181"/>
            <a:ext cx="7160013" cy="823648"/>
          </a:xfrm>
          <a:solidFill>
            <a:srgbClr val="FFECB2">
              <a:alpha val="85098"/>
            </a:srgb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beginsWithHello = re.compile(r'^Hello')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58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9997" y="3305436"/>
            <a:ext cx="7132319" cy="1855572"/>
          </a:xfrm>
          <a:solidFill>
            <a:srgbClr val="FFECB2">
              <a:alpha val="85098"/>
            </a:srgb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beginsWithHello.search('Hello world!')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&lt;re.Match object; span=(0, 5), match='Hello’&gt;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beginsWithHello.search('He said hello.') == None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36880466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88DCE1B-EC39-4B77-81A9-C01867764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US" dirty="0"/>
              <a:t>begin</a:t>
            </a:r>
            <a:r>
              <a:rPr lang="tr-TR" dirty="0"/>
              <a:t> </a:t>
            </a:r>
            <a:r>
              <a:rPr lang="en-US" dirty="0"/>
              <a:t>and end with one or more numeric characters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34905" y="1881052"/>
            <a:ext cx="6175718" cy="707404"/>
          </a:xfrm>
          <a:solidFill>
            <a:srgbClr val="FFECB2">
              <a:alpha val="85098"/>
            </a:srgb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wholeStringIsNum</a:t>
            </a:r>
            <a:r>
              <a:rPr lang="en-US" dirty="0"/>
              <a:t> = </a:t>
            </a:r>
            <a:r>
              <a:rPr lang="en-US" dirty="0" err="1"/>
              <a:t>re.compile</a:t>
            </a:r>
            <a:r>
              <a:rPr lang="en-US" dirty="0"/>
              <a:t>(r'^\d+$’)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59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19380" y="3405743"/>
            <a:ext cx="6219378" cy="1771168"/>
          </a:xfrm>
          <a:solidFill>
            <a:srgbClr val="FFECB2">
              <a:alpha val="85098"/>
            </a:srgb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wholeStringIsNum.search</a:t>
            </a:r>
            <a:r>
              <a:rPr lang="en-US" dirty="0"/>
              <a:t>('1234567890')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&lt;</a:t>
            </a:r>
            <a:r>
              <a:rPr lang="en-US" dirty="0" err="1"/>
              <a:t>re.Match</a:t>
            </a:r>
            <a:r>
              <a:rPr lang="en-US" dirty="0"/>
              <a:t> object; span=(0, 10), match='1234567890’&gt;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wholeStringIsNum.search</a:t>
            </a:r>
            <a:r>
              <a:rPr lang="en-US" dirty="0"/>
              <a:t>('12345xyz67890') == None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True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wholeStringIsNum.search</a:t>
            </a:r>
            <a:r>
              <a:rPr lang="en-US" dirty="0"/>
              <a:t>('12 34567890') == None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True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841684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7: Pattern Matching with Regular Expressions</a:t>
            </a:r>
            <a:endParaRPr lang="tr-TR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Wildcard Character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Matching Everything with Dot-Star</a:t>
            </a:r>
            <a:endParaRPr lang="tr-T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Matching Newlines with the Dot Character</a:t>
            </a:r>
            <a:endParaRPr lang="tr-T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60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6146" name="Picture 2" descr="Wheeler Farms">
            <a:extLst>
              <a:ext uri="{FF2B5EF4-FFF2-40B4-BE49-F238E27FC236}">
                <a16:creationId xmlns:a16="http://schemas.microsoft.com/office/drawing/2014/main" id="{11274791-A907-4DD4-AF42-B9DF218BB3E0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712" r="24712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58264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Wild character dot (.)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en-US" dirty="0"/>
              <a:t>will</a:t>
            </a:r>
            <a:r>
              <a:rPr lang="tr-TR" dirty="0"/>
              <a:t> </a:t>
            </a:r>
            <a:r>
              <a:rPr lang="en-US" dirty="0"/>
              <a:t>match any character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Wildcard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75582" y="4617774"/>
            <a:ext cx="1744393" cy="1208560"/>
          </a:xfrm>
        </p:spPr>
        <p:txBody>
          <a:bodyPr/>
          <a:lstStyle/>
          <a:p>
            <a:pPr algn="l"/>
            <a:r>
              <a:rPr lang="en-US" b="1" dirty="0"/>
              <a:t>The . (dot)</a:t>
            </a:r>
            <a:r>
              <a:rPr lang="tr-TR" b="1" dirty="0"/>
              <a:t> </a:t>
            </a:r>
            <a:r>
              <a:rPr lang="en-US" b="1" dirty="0"/>
              <a:t>character</a:t>
            </a:r>
            <a:endParaRPr lang="tr-TR" b="1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in a regular expression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is called a wildcard 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Matches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52755" y="4645908"/>
            <a:ext cx="2066692" cy="1194073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b="1" dirty="0"/>
              <a:t>any character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except for a newline</a:t>
            </a:r>
            <a:endParaRPr lang="tr-TR" b="1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2196102" cy="504000"/>
          </a:xfrm>
        </p:spPr>
        <p:txBody>
          <a:bodyPr/>
          <a:lstStyle/>
          <a:p>
            <a:r>
              <a:rPr lang="en-US" dirty="0"/>
              <a:t>dot character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92838" y="4570740"/>
            <a:ext cx="2138290" cy="1281420"/>
          </a:xfrm>
        </p:spPr>
        <p:txBody>
          <a:bodyPr/>
          <a:lstStyle/>
          <a:p>
            <a:pPr algn="l"/>
            <a:r>
              <a:rPr lang="en-US" b="1" dirty="0"/>
              <a:t>will match </a:t>
            </a:r>
            <a:endParaRPr lang="tr-TR" b="1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just one character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00986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1821B59-0AB0-47AA-A077-DEB2E897CBE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tr-TR" dirty="0"/>
              <a:t>Wild character dot (.)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96529" y="1895119"/>
            <a:ext cx="5373415" cy="1227908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atRegex</a:t>
            </a:r>
            <a:r>
              <a:rPr lang="en-US" dirty="0"/>
              <a:t> = </a:t>
            </a:r>
            <a:r>
              <a:rPr lang="en-US" dirty="0" err="1"/>
              <a:t>re.compile</a:t>
            </a:r>
            <a:r>
              <a:rPr lang="en-US" dirty="0"/>
              <a:t>(</a:t>
            </a:r>
            <a:r>
              <a:rPr lang="en-US" dirty="0" err="1"/>
              <a:t>r'.at</a:t>
            </a:r>
            <a:r>
              <a:rPr lang="en-US" dirty="0"/>
              <a:t>')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62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96086" y="3319482"/>
            <a:ext cx="5387926" cy="2005264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atRegex.findall</a:t>
            </a:r>
            <a:r>
              <a:rPr lang="en-US" dirty="0"/>
              <a:t>('The cat in the hat sat on the flat mat.')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['cat', 'hat', 'sat', '</a:t>
            </a:r>
            <a:r>
              <a:rPr lang="en-US" dirty="0" err="1"/>
              <a:t>lat</a:t>
            </a:r>
            <a:r>
              <a:rPr lang="en-US" dirty="0"/>
              <a:t>', 'mat']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A89A8A-DE3B-4E8C-AA96-7CAAE3F78399}"/>
              </a:ext>
            </a:extLst>
          </p:cNvPr>
          <p:cNvSpPr/>
          <p:nvPr/>
        </p:nvSpPr>
        <p:spPr>
          <a:xfrm>
            <a:off x="1941343" y="5539546"/>
            <a:ext cx="5795888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NewBaskerville-Roman"/>
              </a:rPr>
              <a:t>To match an actual dot, escape the dot with a backslash: </a:t>
            </a:r>
            <a:r>
              <a:rPr lang="en-US" sz="1400" dirty="0">
                <a:latin typeface="TheSansMonoCondensed-Plain"/>
              </a:rPr>
              <a:t>\.</a:t>
            </a:r>
            <a:r>
              <a:rPr lang="en-US" dirty="0">
                <a:latin typeface="NewBaskerville-Roman"/>
              </a:rPr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069945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377" y="306030"/>
            <a:ext cx="8505000" cy="529090"/>
          </a:xfrm>
        </p:spPr>
        <p:txBody>
          <a:bodyPr/>
          <a:lstStyle/>
          <a:p>
            <a:pPr algn="ctr"/>
            <a:r>
              <a:rPr lang="en-US" dirty="0"/>
              <a:t>Matching Everything with Dot-Star</a:t>
            </a:r>
            <a:r>
              <a:rPr lang="tr-TR" dirty="0"/>
              <a:t> (.*)</a:t>
            </a:r>
            <a:endParaRPr lang="en-US" dirty="0"/>
          </a:p>
        </p:txBody>
      </p:sp>
      <p:pic>
        <p:nvPicPr>
          <p:cNvPr id="67" name="Picture Placeholder 66" descr="Cloud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495" y="3734497"/>
            <a:ext cx="1620000" cy="542228"/>
          </a:xfrm>
        </p:spPr>
        <p:txBody>
          <a:bodyPr/>
          <a:lstStyle/>
          <a:p>
            <a:r>
              <a:rPr lang="tr-TR" dirty="0">
                <a:latin typeface="NewBaskerville-Roman"/>
              </a:rPr>
              <a:t>how to use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7797" y="4435522"/>
            <a:ext cx="1427426" cy="1607836"/>
          </a:xfrm>
        </p:spPr>
        <p:txBody>
          <a:bodyPr/>
          <a:lstStyle/>
          <a:p>
            <a:pPr algn="l"/>
            <a:r>
              <a:rPr lang="tr-TR" b="1" dirty="0"/>
              <a:t>Pattern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'First Name:’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any and all text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'Last Name:’,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anything</a:t>
            </a:r>
          </a:p>
        </p:txBody>
      </p:sp>
      <p:pic>
        <p:nvPicPr>
          <p:cNvPr id="159" name="Picture Placeholder 158" descr="Cactus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dot character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61064" y="4374213"/>
            <a:ext cx="1501254" cy="1712688"/>
          </a:xfrm>
        </p:spPr>
        <p:txBody>
          <a:bodyPr/>
          <a:lstStyle/>
          <a:p>
            <a:pPr algn="l"/>
            <a:r>
              <a:rPr lang="tr-TR" b="1" dirty="0"/>
              <a:t>means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any single character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except the newline</a:t>
            </a:r>
          </a:p>
        </p:txBody>
      </p:sp>
      <p:pic>
        <p:nvPicPr>
          <p:cNvPr id="161" name="Picture Placeholder 160" descr="Thermometer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161192" y="3871744"/>
            <a:ext cx="1283005" cy="504000"/>
          </a:xfrm>
        </p:spPr>
        <p:txBody>
          <a:bodyPr/>
          <a:lstStyle/>
          <a:p>
            <a:pPr algn="l"/>
            <a:r>
              <a:rPr lang="tr-TR" dirty="0"/>
              <a:t>star character 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07976" y="4333269"/>
            <a:ext cx="1490965" cy="1371725"/>
          </a:xfrm>
        </p:spPr>
        <p:txBody>
          <a:bodyPr/>
          <a:lstStyle/>
          <a:p>
            <a:pPr algn="l"/>
            <a:r>
              <a:rPr lang="en-US" b="1" dirty="0"/>
              <a:t>means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zero or more of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preceding character</a:t>
            </a:r>
          </a:p>
          <a:p>
            <a:pPr algn="l"/>
            <a:r>
              <a:rPr lang="tr-TR" dirty="0"/>
              <a:t>'</a:t>
            </a:r>
            <a:endParaRPr lang="en-US" dirty="0"/>
          </a:p>
        </p:txBody>
      </p:sp>
      <p:pic>
        <p:nvPicPr>
          <p:cNvPr id="163" name="Picture Placeholder 162" descr="Palm tree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73254" y="3917626"/>
            <a:ext cx="887104" cy="504000"/>
          </a:xfrm>
        </p:spPr>
        <p:txBody>
          <a:bodyPr/>
          <a:lstStyle/>
          <a:p>
            <a:pPr algn="l"/>
            <a:r>
              <a:rPr lang="tr-TR" dirty="0"/>
              <a:t>greedy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32059" y="4328804"/>
            <a:ext cx="1709750" cy="1717154"/>
          </a:xfrm>
        </p:spPr>
        <p:txBody>
          <a:bodyPr/>
          <a:lstStyle/>
          <a:p>
            <a:pPr algn="l"/>
            <a:r>
              <a:rPr lang="en-US" b="1" dirty="0"/>
              <a:t>The dot-star </a:t>
            </a:r>
            <a:endParaRPr lang="tr-TR" b="1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i="1" dirty="0"/>
              <a:t>greedy </a:t>
            </a:r>
            <a:r>
              <a:rPr lang="en-US" dirty="0"/>
              <a:t>mode</a:t>
            </a:r>
            <a:endParaRPr lang="tr-TR" dirty="0"/>
          </a:p>
          <a:p>
            <a:pPr algn="l"/>
            <a:r>
              <a:rPr lang="en-US" dirty="0"/>
              <a:t>try to match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as much text as</a:t>
            </a:r>
            <a:r>
              <a:rPr lang="tr-TR" dirty="0"/>
              <a:t> </a:t>
            </a:r>
            <a:r>
              <a:rPr lang="en-US" dirty="0"/>
              <a:t>possible.</a:t>
            </a:r>
          </a:p>
        </p:txBody>
      </p:sp>
      <p:pic>
        <p:nvPicPr>
          <p:cNvPr id="165" name="Picture Placeholder 164" descr="Factory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tr-TR" dirty="0"/>
              <a:t>nongreedy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582486" y="4374212"/>
            <a:ext cx="1561514" cy="1266933"/>
          </a:xfrm>
        </p:spPr>
        <p:txBody>
          <a:bodyPr/>
          <a:lstStyle/>
          <a:p>
            <a:pPr algn="l"/>
            <a:r>
              <a:rPr lang="tr-TR" dirty="0"/>
              <a:t>use (</a:t>
            </a:r>
            <a:r>
              <a:rPr lang="tr-TR" b="1" dirty="0"/>
              <a:t>.*?</a:t>
            </a:r>
            <a:r>
              <a:rPr lang="tr-TR" dirty="0"/>
              <a:t>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question mark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tells</a:t>
            </a:r>
            <a:r>
              <a:rPr lang="tr-TR" dirty="0"/>
              <a:t> </a:t>
            </a:r>
            <a:r>
              <a:rPr lang="en-US" dirty="0"/>
              <a:t>Python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to match in a nongreedy way</a:t>
            </a:r>
            <a:endParaRPr lang="tr-T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6E24E9-F30C-4379-B292-03FAD4D0DCBF}"/>
              </a:ext>
            </a:extLst>
          </p:cNvPr>
          <p:cNvSpPr/>
          <p:nvPr/>
        </p:nvSpPr>
        <p:spPr>
          <a:xfrm>
            <a:off x="184246" y="840307"/>
            <a:ext cx="80999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to match everything and anything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5487748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F7FB834-8B81-44D3-9C20-5FBA814DC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8" y="-39948"/>
            <a:ext cx="9144000" cy="68979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277" y="440597"/>
            <a:ext cx="8505000" cy="432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US" dirty="0"/>
              <a:t>Matching Everything with Dot-Star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93029" y="1353141"/>
            <a:ext cx="5347256" cy="2332840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nameRegex = re.compile(r'First Name: (.*) Last Name: (.*)')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mo = nameRegex.search('First Name: Al Last Name: Sweigart')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mo.group(1)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'Al’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mo.group(2)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'Sweigart' 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64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66425" y="3839738"/>
            <a:ext cx="5359791" cy="2459132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nongreedyRegex</a:t>
            </a:r>
            <a:r>
              <a:rPr lang="en-US" dirty="0"/>
              <a:t> = </a:t>
            </a:r>
            <a:r>
              <a:rPr lang="en-US" dirty="0" err="1"/>
              <a:t>re.compile</a:t>
            </a:r>
            <a:r>
              <a:rPr lang="en-US" dirty="0"/>
              <a:t>(r'&lt;.*?&gt;')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mo</a:t>
            </a:r>
            <a:r>
              <a:rPr lang="en-US" dirty="0"/>
              <a:t> = </a:t>
            </a:r>
            <a:r>
              <a:rPr lang="en-US" dirty="0" err="1"/>
              <a:t>nongreedyRegex.search</a:t>
            </a:r>
            <a:r>
              <a:rPr lang="en-US" dirty="0"/>
              <a:t>('&lt;To serve man&gt; for dinner.&gt;')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mo.group</a:t>
            </a:r>
            <a:r>
              <a:rPr lang="en-US" dirty="0"/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'&lt;To serve man&gt;'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greedyRegex</a:t>
            </a:r>
            <a:r>
              <a:rPr lang="en-US" dirty="0"/>
              <a:t> = </a:t>
            </a:r>
            <a:r>
              <a:rPr lang="en-US" dirty="0" err="1"/>
              <a:t>re.compile</a:t>
            </a:r>
            <a:r>
              <a:rPr lang="en-US" dirty="0"/>
              <a:t>(r'&lt;.*&gt;')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mo</a:t>
            </a:r>
            <a:r>
              <a:rPr lang="en-US" dirty="0"/>
              <a:t> = </a:t>
            </a:r>
            <a:r>
              <a:rPr lang="en-US" dirty="0" err="1"/>
              <a:t>greedyRegex.search</a:t>
            </a:r>
            <a:r>
              <a:rPr lang="en-US" dirty="0"/>
              <a:t>('&lt;To serve man&gt; for dinner.&gt;')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mo.group</a:t>
            </a:r>
            <a:r>
              <a:rPr lang="en-US" dirty="0"/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'&lt;To serve man&gt; for dinner.&gt;'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719015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Matching Newlines with the Dot Character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en-US" dirty="0"/>
              <a:t>passing </a:t>
            </a:r>
            <a:r>
              <a:rPr lang="en-US" dirty="0" err="1"/>
              <a:t>re.DOTALL</a:t>
            </a:r>
            <a:r>
              <a:rPr lang="tr-TR" dirty="0"/>
              <a:t> as second argument to re.compile()</a:t>
            </a:r>
            <a:endParaRPr lang="en-US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The dot-star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659976"/>
            <a:ext cx="2067951" cy="1628281"/>
          </a:xfrm>
        </p:spPr>
        <p:txBody>
          <a:bodyPr/>
          <a:lstStyle/>
          <a:p>
            <a:pPr algn="l"/>
            <a:r>
              <a:rPr lang="en-US" b="1" dirty="0"/>
              <a:t>match</a:t>
            </a:r>
            <a:r>
              <a:rPr lang="en-US" dirty="0"/>
              <a:t>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everything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except a newline</a:t>
            </a:r>
            <a:endParaRPr lang="tr-TR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875738" cy="504000"/>
          </a:xfrm>
        </p:spPr>
        <p:txBody>
          <a:bodyPr/>
          <a:lstStyle/>
          <a:p>
            <a:r>
              <a:rPr lang="en-US" dirty="0"/>
              <a:t>passing </a:t>
            </a:r>
            <a:r>
              <a:rPr lang="en-US" dirty="0" err="1"/>
              <a:t>re.DOTALL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81157" y="4688111"/>
            <a:ext cx="1702192" cy="1194073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b="1" dirty="0"/>
              <a:t>second argument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to </a:t>
            </a:r>
            <a:r>
              <a:rPr lang="en-US" dirty="0" err="1"/>
              <a:t>re.compile</a:t>
            </a:r>
            <a:r>
              <a:rPr lang="en-US" dirty="0"/>
              <a:t>()</a:t>
            </a:r>
            <a:endParaRPr lang="tr-TR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2196102" cy="504000"/>
          </a:xfrm>
        </p:spPr>
        <p:txBody>
          <a:bodyPr/>
          <a:lstStyle/>
          <a:p>
            <a:r>
              <a:rPr lang="tr-TR" dirty="0"/>
              <a:t>match all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74190" y="4612943"/>
            <a:ext cx="2264897" cy="901592"/>
          </a:xfrm>
        </p:spPr>
        <p:txBody>
          <a:bodyPr/>
          <a:lstStyle/>
          <a:p>
            <a:pPr algn="l"/>
            <a:r>
              <a:rPr lang="tr-TR" b="1" dirty="0"/>
              <a:t>match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all characters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including the newline character</a:t>
            </a:r>
            <a:endParaRPr lang="tr-TR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34312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4A704F2-F036-4337-A411-939D65C3A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US" dirty="0"/>
              <a:t>Matching Newlines with the Dot Character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6187" y="1784078"/>
            <a:ext cx="7909173" cy="1170137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noNewlineRegex = re.compile('.*')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noNewlineRegex.search('Serve the public trust.\nProtect the innocent. \nUphold the law.').group()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'Serve the public trust.'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66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7926" y="3235570"/>
            <a:ext cx="7883365" cy="1763891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newlineRegex = re.compile('.*', re.DOTALL)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newlineRegex.search('Serve the public trust.\nProtect the innocent.\nUphold the law.').group()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'Serve the public trust.\nProtect the innocent.\nUphold the law.'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05848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7: Pattern Matching with Regular Expressions</a:t>
            </a:r>
            <a:endParaRPr lang="tr-TR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Review of Regex Symbols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67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6146" name="Picture 2" descr="Wheeler Farms">
            <a:extLst>
              <a:ext uri="{FF2B5EF4-FFF2-40B4-BE49-F238E27FC236}">
                <a16:creationId xmlns:a16="http://schemas.microsoft.com/office/drawing/2014/main" id="{11274791-A907-4DD4-AF42-B9DF218BB3E0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712" r="24712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544364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D5F2AAD-6226-41D8-9CD3-F04049BC4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617" y="389797"/>
            <a:ext cx="7028335" cy="43200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pPr algn="ctr"/>
            <a:r>
              <a:rPr lang="en-US" dirty="0"/>
              <a:t>a quick review</a:t>
            </a:r>
            <a:r>
              <a:rPr lang="tr-TR" dirty="0"/>
              <a:t> of </a:t>
            </a:r>
            <a:r>
              <a:rPr lang="en-US" dirty="0"/>
              <a:t>notation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16698" y="956604"/>
            <a:ext cx="6076803" cy="3151162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r>
              <a:rPr lang="en-US" dirty="0"/>
              <a:t>The ? matches zero or one of the preceding group.</a:t>
            </a:r>
          </a:p>
          <a:p>
            <a:r>
              <a:rPr lang="en-US" dirty="0"/>
              <a:t>The * matches zero or more of the preceding group.</a:t>
            </a:r>
          </a:p>
          <a:p>
            <a:r>
              <a:rPr lang="en-US" dirty="0"/>
              <a:t>The + matches one or more of the preceding group.</a:t>
            </a:r>
          </a:p>
          <a:p>
            <a:r>
              <a:rPr lang="en-US" dirty="0"/>
              <a:t>The {n} matches exactly </a:t>
            </a:r>
            <a:r>
              <a:rPr lang="en-US" i="1" dirty="0"/>
              <a:t>n </a:t>
            </a:r>
            <a:r>
              <a:rPr lang="en-US" dirty="0"/>
              <a:t>of the preceding group.</a:t>
            </a:r>
          </a:p>
          <a:p>
            <a:r>
              <a:rPr lang="en-US" dirty="0"/>
              <a:t>The {n,} matches </a:t>
            </a:r>
            <a:r>
              <a:rPr lang="en-US" i="1" dirty="0"/>
              <a:t>n </a:t>
            </a:r>
            <a:r>
              <a:rPr lang="en-US" dirty="0"/>
              <a:t>or more of the preceding group.</a:t>
            </a:r>
          </a:p>
          <a:p>
            <a:r>
              <a:rPr lang="en-US" dirty="0"/>
              <a:t>The {,m} matches 0 to </a:t>
            </a:r>
            <a:r>
              <a:rPr lang="en-US" i="1" dirty="0"/>
              <a:t>m </a:t>
            </a:r>
            <a:r>
              <a:rPr lang="en-US" dirty="0"/>
              <a:t>of the preceding group.</a:t>
            </a:r>
          </a:p>
          <a:p>
            <a:r>
              <a:rPr lang="en-US" dirty="0"/>
              <a:t>The {</a:t>
            </a:r>
            <a:r>
              <a:rPr lang="en-US" dirty="0" err="1"/>
              <a:t>n,m</a:t>
            </a:r>
            <a:r>
              <a:rPr lang="en-US" dirty="0"/>
              <a:t>} matches at least </a:t>
            </a:r>
            <a:r>
              <a:rPr lang="en-US" i="1" dirty="0"/>
              <a:t>n </a:t>
            </a:r>
            <a:r>
              <a:rPr lang="en-US" dirty="0"/>
              <a:t>and at most </a:t>
            </a:r>
            <a:r>
              <a:rPr lang="en-US" i="1" dirty="0"/>
              <a:t>m </a:t>
            </a:r>
            <a:r>
              <a:rPr lang="en-US" dirty="0"/>
              <a:t>of the preceding group.</a:t>
            </a:r>
          </a:p>
          <a:p>
            <a:r>
              <a:rPr lang="en-US" dirty="0"/>
              <a:t>{</a:t>
            </a:r>
            <a:r>
              <a:rPr lang="en-US" dirty="0" err="1"/>
              <a:t>n,m</a:t>
            </a:r>
            <a:r>
              <a:rPr lang="en-US" dirty="0"/>
              <a:t>}? or *? or +? performs a nongreedy match of the preceding group.</a:t>
            </a:r>
          </a:p>
          <a:p>
            <a:r>
              <a:rPr lang="en-US" dirty="0"/>
              <a:t>^spam means the string must begin with </a:t>
            </a:r>
            <a:r>
              <a:rPr lang="en-US" i="1" dirty="0"/>
              <a:t>spam</a:t>
            </a:r>
            <a:r>
              <a:rPr lang="en-US" dirty="0"/>
              <a:t>.</a:t>
            </a:r>
          </a:p>
          <a:p>
            <a:r>
              <a:rPr lang="en-US" dirty="0"/>
              <a:t>spam$ means the string must end with </a:t>
            </a:r>
            <a:r>
              <a:rPr lang="en-US" i="1" dirty="0"/>
              <a:t>spam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68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41186" y="4261652"/>
            <a:ext cx="6052316" cy="1548305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r>
              <a:rPr lang="en-US" dirty="0"/>
              <a:t>The . matches any character, except newline characters.</a:t>
            </a:r>
          </a:p>
          <a:p>
            <a:r>
              <a:rPr lang="en-US" dirty="0"/>
              <a:t>\d, \w, and \s match a digit, word, or space character, respectively.</a:t>
            </a:r>
          </a:p>
          <a:p>
            <a:r>
              <a:rPr lang="en-US" dirty="0"/>
              <a:t>\D, \W, and \S match anything except a digit, word, or space character,</a:t>
            </a:r>
            <a:r>
              <a:rPr lang="tr-TR" dirty="0"/>
              <a:t> respectively.</a:t>
            </a:r>
          </a:p>
          <a:p>
            <a:r>
              <a:rPr lang="en-US" dirty="0"/>
              <a:t>[</a:t>
            </a:r>
            <a:r>
              <a:rPr lang="en-US" dirty="0" err="1"/>
              <a:t>abc</a:t>
            </a:r>
            <a:r>
              <a:rPr lang="en-US" dirty="0"/>
              <a:t>] matches any character between the brackets (such as 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, or </a:t>
            </a:r>
            <a:r>
              <a:rPr lang="en-US" i="1" dirty="0"/>
              <a:t>c</a:t>
            </a:r>
            <a:r>
              <a:rPr lang="en-US" dirty="0"/>
              <a:t>).</a:t>
            </a:r>
          </a:p>
          <a:p>
            <a:r>
              <a:rPr lang="en-US" dirty="0"/>
              <a:t>[^</a:t>
            </a:r>
            <a:r>
              <a:rPr lang="en-US" dirty="0" err="1"/>
              <a:t>abc</a:t>
            </a:r>
            <a:r>
              <a:rPr lang="en-US" dirty="0"/>
              <a:t>] matches any character that isn’t between the brackets.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225483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7: Pattern Matching with Regular Expressions</a:t>
            </a:r>
            <a:endParaRPr lang="tr-TR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560113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Case-Insensitive Matching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69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6146" name="Picture 2" descr="Wheeler Farms">
            <a:extLst>
              <a:ext uri="{FF2B5EF4-FFF2-40B4-BE49-F238E27FC236}">
                <a16:creationId xmlns:a16="http://schemas.microsoft.com/office/drawing/2014/main" id="{11274791-A907-4DD4-AF42-B9DF218BB3E0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712" r="24712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585977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Case-Insensitive Matching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en-US" dirty="0"/>
              <a:t>regular expressions match text with the exact casing you specify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case insensitive matching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69493" y="4659977"/>
            <a:ext cx="1891160" cy="1208560"/>
          </a:xfrm>
        </p:spPr>
        <p:txBody>
          <a:bodyPr/>
          <a:lstStyle/>
          <a:p>
            <a:pPr algn="l"/>
            <a:r>
              <a:rPr lang="en-US" dirty="0"/>
              <a:t>matching the letters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without worrying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whether they’re uppercase or lowercase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method-1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43951" y="4688111"/>
            <a:ext cx="2039397" cy="1642351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To make regex case-insensitive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pass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 err="1"/>
              <a:t>re.IGNORECASE</a:t>
            </a:r>
            <a:r>
              <a:rPr lang="en-US" dirty="0"/>
              <a:t> </a:t>
            </a:r>
            <a:endParaRPr lang="tr-TR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2196102" cy="504000"/>
          </a:xfrm>
        </p:spPr>
        <p:txBody>
          <a:bodyPr/>
          <a:lstStyle/>
          <a:p>
            <a:r>
              <a:rPr lang="tr-TR" dirty="0"/>
              <a:t>method-2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55140" y="4612943"/>
            <a:ext cx="2383948" cy="1009935"/>
          </a:xfrm>
        </p:spPr>
        <p:txBody>
          <a:bodyPr/>
          <a:lstStyle/>
          <a:p>
            <a:pPr algn="l"/>
            <a:r>
              <a:rPr lang="tr-TR" dirty="0"/>
              <a:t>pass</a:t>
            </a:r>
            <a:r>
              <a:rPr lang="en-US" dirty="0"/>
              <a:t>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 err="1"/>
              <a:t>re.I</a:t>
            </a:r>
            <a:r>
              <a:rPr lang="en-US" dirty="0"/>
              <a:t> as a second argument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to </a:t>
            </a:r>
            <a:r>
              <a:rPr lang="en-US" dirty="0" err="1"/>
              <a:t>re.compile</a:t>
            </a:r>
            <a:r>
              <a:rPr lang="en-US" dirty="0"/>
              <a:t>()</a:t>
            </a:r>
            <a:endParaRPr lang="tr-T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34205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D4474BF-6D39-4E1B-974E-B0EA514E9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690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tr-TR" dirty="0"/>
              <a:t>Case-Insensitive Matching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25858" y="1533379"/>
            <a:ext cx="7064840" cy="1491175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dirty="0"/>
              <a:t>&gt;&gt;&gt; regex1 = re.compile('RoboCop')</a:t>
            </a:r>
          </a:p>
          <a:p>
            <a:pPr marL="0" indent="0">
              <a:buNone/>
            </a:pPr>
            <a:r>
              <a:rPr lang="tr-TR" dirty="0"/>
              <a:t>&gt;&gt;&gt; regex2 = re.compile('ROBOCOP')</a:t>
            </a:r>
          </a:p>
          <a:p>
            <a:pPr marL="0" indent="0">
              <a:buNone/>
            </a:pPr>
            <a:r>
              <a:rPr lang="tr-TR" dirty="0"/>
              <a:t>&gt;&gt;&gt; regex3 = re.compile('robOcop')</a:t>
            </a:r>
          </a:p>
          <a:p>
            <a:pPr marL="0" indent="0">
              <a:buNone/>
            </a:pPr>
            <a:r>
              <a:rPr lang="tr-TR" dirty="0"/>
              <a:t>&gt;&gt;&gt; regex4 = re.compile('RobocOp')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71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5416" y="3221500"/>
            <a:ext cx="7090116" cy="2700997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dirty="0"/>
              <a:t>&gt;&gt;&gt; robocop = re.compile(r'robocop', re.I)</a:t>
            </a:r>
          </a:p>
          <a:p>
            <a:pPr marL="0" indent="0">
              <a:buNone/>
            </a:pPr>
            <a:r>
              <a:rPr lang="tr-TR" dirty="0"/>
              <a:t>&gt;&gt;&gt; robocop.search('RoboCop is part man, part machine, all cop.').group()</a:t>
            </a:r>
          </a:p>
          <a:p>
            <a:pPr marL="0" indent="0">
              <a:buNone/>
            </a:pPr>
            <a:r>
              <a:rPr lang="tr-TR" dirty="0"/>
              <a:t>'RoboCop’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&gt;&gt;&gt; robocop.search('ROBOCOP protects the innocent.').group()</a:t>
            </a:r>
          </a:p>
          <a:p>
            <a:pPr marL="0" indent="0">
              <a:buNone/>
            </a:pPr>
            <a:r>
              <a:rPr lang="tr-TR" dirty="0"/>
              <a:t>'ROBOCOP’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&gt;&gt;&gt; robocop.search('Al, why does your programming book talk about robocop so much?').group()</a:t>
            </a:r>
          </a:p>
          <a:p>
            <a:pPr marL="0" indent="0">
              <a:buNone/>
            </a:pPr>
            <a:r>
              <a:rPr lang="tr-TR" dirty="0"/>
              <a:t>'robocop'</a:t>
            </a:r>
          </a:p>
        </p:txBody>
      </p:sp>
    </p:spTree>
    <p:extLst>
      <p:ext uri="{BB962C8B-B14F-4D97-AF65-F5344CB8AC3E}">
        <p14:creationId xmlns:p14="http://schemas.microsoft.com/office/powerpoint/2010/main" val="26651541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7: Pattern Matching with Regular Expressions</a:t>
            </a:r>
            <a:endParaRPr lang="tr-TR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560113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Substituting Strings with the sub() Method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72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6146" name="Picture 2" descr="Wheeler Farms">
            <a:extLst>
              <a:ext uri="{FF2B5EF4-FFF2-40B4-BE49-F238E27FC236}">
                <a16:creationId xmlns:a16="http://schemas.microsoft.com/office/drawing/2014/main" id="{11274791-A907-4DD4-AF42-B9DF218BB3E0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712" r="24712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565423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Substituting Strings with the sub() Method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1127"/>
          </a:xfrm>
        </p:spPr>
        <p:txBody>
          <a:bodyPr/>
          <a:lstStyle/>
          <a:p>
            <a:r>
              <a:rPr lang="en-US" dirty="0"/>
              <a:t>Regular expressions</a:t>
            </a:r>
            <a:r>
              <a:rPr lang="tr-TR" dirty="0"/>
              <a:t> </a:t>
            </a:r>
            <a:r>
              <a:rPr lang="en-US" dirty="0"/>
              <a:t>can substitute</a:t>
            </a:r>
            <a:r>
              <a:rPr lang="tr-TR" dirty="0"/>
              <a:t> </a:t>
            </a:r>
            <a:r>
              <a:rPr lang="en-US" dirty="0"/>
              <a:t>new text in place of those patterns.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sub() method 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55594" y="4659977"/>
            <a:ext cx="2205059" cy="1403198"/>
          </a:xfrm>
        </p:spPr>
        <p:txBody>
          <a:bodyPr/>
          <a:lstStyle/>
          <a:p>
            <a:pPr algn="l"/>
            <a:r>
              <a:rPr lang="en-US" dirty="0"/>
              <a:t>Regex objects is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passed two arguments</a:t>
            </a:r>
            <a:endParaRPr lang="tr-TR" dirty="0"/>
          </a:p>
          <a:p>
            <a:pPr algn="l"/>
            <a:r>
              <a:rPr lang="tr-TR" dirty="0"/>
              <a:t>returns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 string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with the substitutions applied.</a:t>
            </a:r>
            <a:endParaRPr lang="tr-TR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first argument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07725" y="4688111"/>
            <a:ext cx="1875623" cy="1194073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is a string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 to replace any matches</a:t>
            </a:r>
            <a:endParaRPr lang="tr-TR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2196102" cy="504000"/>
          </a:xfrm>
        </p:spPr>
        <p:txBody>
          <a:bodyPr/>
          <a:lstStyle/>
          <a:p>
            <a:r>
              <a:rPr lang="tr-TR" dirty="0"/>
              <a:t>second argument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55140" y="4612943"/>
            <a:ext cx="2383948" cy="1009935"/>
          </a:xfrm>
        </p:spPr>
        <p:txBody>
          <a:bodyPr/>
          <a:lstStyle/>
          <a:p>
            <a:pPr algn="l"/>
            <a:r>
              <a:rPr lang="en-US" dirty="0"/>
              <a:t>the string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for the regular expression</a:t>
            </a:r>
            <a:endParaRPr lang="tr-T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10977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9787D6-EF0A-4239-A240-F17AF4CC4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tr-TR" dirty="0"/>
              <a:t>replace string in Regex</a:t>
            </a:r>
            <a:endParaRPr lang="tr-TR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963" y="1463040"/>
            <a:ext cx="8271803" cy="984738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namesRegex</a:t>
            </a:r>
            <a:r>
              <a:rPr lang="en-US" dirty="0"/>
              <a:t> = </a:t>
            </a:r>
            <a:r>
              <a:rPr lang="en-US" dirty="0" err="1"/>
              <a:t>re.compile</a:t>
            </a:r>
            <a:r>
              <a:rPr lang="en-US" dirty="0"/>
              <a:t>(</a:t>
            </a:r>
            <a:r>
              <a:rPr lang="en-US" dirty="0" err="1"/>
              <a:t>r'Agent</a:t>
            </a:r>
            <a:r>
              <a:rPr lang="en-US" dirty="0"/>
              <a:t> \w+')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74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9828" y="2715065"/>
            <a:ext cx="8266291" cy="1519311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namesRegex.sub</a:t>
            </a:r>
            <a:r>
              <a:rPr lang="en-US" dirty="0"/>
              <a:t>('CENSORED', 'Agent Alice gave the secret documents to Agent Bob.')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'CENSORED gave the secret documents to CENSORED.'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6ADB92-D17F-4BA9-8F28-DC591829CF99}"/>
              </a:ext>
            </a:extLst>
          </p:cNvPr>
          <p:cNvSpPr/>
          <p:nvPr/>
        </p:nvSpPr>
        <p:spPr>
          <a:xfrm>
            <a:off x="1136328" y="4763645"/>
            <a:ext cx="6516495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/>
              <a:t>r'Agent</a:t>
            </a:r>
            <a:r>
              <a:rPr lang="en-US" dirty="0"/>
              <a:t> \w+</a:t>
            </a:r>
            <a:r>
              <a:rPr lang="tr-TR" dirty="0"/>
              <a:t>: Replace 1 or more occurrences of Agent</a:t>
            </a:r>
          </a:p>
        </p:txBody>
      </p:sp>
    </p:spTree>
    <p:extLst>
      <p:ext uri="{BB962C8B-B14F-4D97-AF65-F5344CB8AC3E}">
        <p14:creationId xmlns:p14="http://schemas.microsoft.com/office/powerpoint/2010/main" val="372372471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r>
              <a:rPr lang="en-US" dirty="0"/>
              <a:t>use the matched text itself</a:t>
            </a:r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16394" y="1121900"/>
            <a:ext cx="2511618" cy="432000"/>
          </a:xfrm>
        </p:spPr>
        <p:txBody>
          <a:bodyPr/>
          <a:lstStyle/>
          <a:p>
            <a:r>
              <a:rPr lang="en-US" dirty="0"/>
              <a:t>as part of the</a:t>
            </a:r>
            <a:r>
              <a:rPr lang="tr-TR" dirty="0"/>
              <a:t> substitution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603717"/>
            <a:ext cx="2601748" cy="1064230"/>
          </a:xfrm>
        </p:spPr>
        <p:txBody>
          <a:bodyPr/>
          <a:lstStyle/>
          <a:p>
            <a:r>
              <a:rPr lang="en-US" dirty="0"/>
              <a:t>In the first argument to sub(),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type </a:t>
            </a:r>
            <a:r>
              <a:rPr lang="en-US" dirty="0">
                <a:solidFill>
                  <a:srgbClr val="00B0F0"/>
                </a:solidFill>
              </a:rPr>
              <a:t>\1, \2, \3</a:t>
            </a:r>
            <a:endParaRPr lang="tr-TR" dirty="0">
              <a:solidFill>
                <a:srgbClr val="00B0F0"/>
              </a:solidFill>
            </a:endParaRPr>
          </a:p>
          <a:p>
            <a:r>
              <a:rPr lang="tr-TR" dirty="0"/>
              <a:t>mean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text of group 1, 2, 3,</a:t>
            </a:r>
            <a:endParaRPr lang="tr-TR" dirty="0"/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68647" y="2923047"/>
            <a:ext cx="2071969" cy="312523"/>
          </a:xfrm>
        </p:spPr>
        <p:txBody>
          <a:bodyPr/>
          <a:lstStyle/>
          <a:p>
            <a:r>
              <a:rPr lang="tr-TR" sz="1200" dirty="0"/>
              <a:t>censor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00800" y="3333744"/>
            <a:ext cx="2545477" cy="1055376"/>
          </a:xfrm>
        </p:spPr>
        <p:txBody>
          <a:bodyPr/>
          <a:lstStyle/>
          <a:p>
            <a:r>
              <a:rPr lang="tr-TR" dirty="0"/>
              <a:t>the names </a:t>
            </a:r>
            <a:r>
              <a:rPr lang="en-US" dirty="0"/>
              <a:t>of the secret agents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by</a:t>
            </a:r>
            <a:r>
              <a:rPr lang="tr-TR" dirty="0"/>
              <a:t> </a:t>
            </a:r>
            <a:r>
              <a:rPr lang="en-US" u="sng" dirty="0"/>
              <a:t>showing</a:t>
            </a:r>
            <a:r>
              <a:rPr lang="en-US" dirty="0"/>
              <a:t> just the </a:t>
            </a:r>
            <a:r>
              <a:rPr lang="en-US" b="1" dirty="0"/>
              <a:t>first letters </a:t>
            </a:r>
            <a:endParaRPr lang="tr-TR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of their names</a:t>
            </a:r>
            <a:endParaRPr lang="tr-TR" dirty="0"/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16394" y="4698697"/>
            <a:ext cx="2433711" cy="432000"/>
          </a:xfrm>
        </p:spPr>
        <p:txBody>
          <a:bodyPr/>
          <a:lstStyle/>
          <a:p>
            <a:r>
              <a:rPr lang="tr-TR" dirty="0"/>
              <a:t>method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17921" y="5189268"/>
            <a:ext cx="2636216" cy="1089612"/>
          </a:xfrm>
        </p:spPr>
        <p:txBody>
          <a:bodyPr/>
          <a:lstStyle/>
          <a:p>
            <a:r>
              <a:rPr lang="tr-TR" dirty="0"/>
              <a:t>use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regex Agent (\w)\w*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pass </a:t>
            </a:r>
            <a:r>
              <a:rPr lang="en-US" dirty="0">
                <a:solidFill>
                  <a:srgbClr val="00B0F0"/>
                </a:solidFill>
              </a:rPr>
              <a:t>r'\1****</a:t>
            </a:r>
            <a:r>
              <a:rPr lang="tr-TR" dirty="0">
                <a:solidFill>
                  <a:srgbClr val="00B0F0"/>
                </a:solidFill>
              </a:rPr>
              <a:t>'</a:t>
            </a:r>
            <a:r>
              <a:rPr lang="en-US" dirty="0"/>
              <a:t> to sub()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as the first argument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75</a:t>
            </a:fld>
            <a:endParaRPr lang="en-US" dirty="0"/>
          </a:p>
        </p:txBody>
      </p:sp>
      <p:pic>
        <p:nvPicPr>
          <p:cNvPr id="11" name="Picture Placeholder 10" descr="A insect on the ground&#10;&#10;Description automatically generated">
            <a:extLst>
              <a:ext uri="{FF2B5EF4-FFF2-40B4-BE49-F238E27FC236}">
                <a16:creationId xmlns:a16="http://schemas.microsoft.com/office/drawing/2014/main" id="{C2458F92-54CA-49DA-B14D-529F64460EC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044" b="1204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01098063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6179BEA-46A2-4D91-B5FF-7DE64B173F0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matched text itself as part of the</a:t>
            </a:r>
            <a:r>
              <a:rPr lang="tr-TR" dirty="0"/>
              <a:t> </a:t>
            </a:r>
            <a:r>
              <a:rPr lang="en-US" dirty="0"/>
              <a:t>substitution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3237" y="1926531"/>
            <a:ext cx="8705679" cy="692279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agentNamesRegex</a:t>
            </a:r>
            <a:r>
              <a:rPr lang="en-US" dirty="0"/>
              <a:t> = </a:t>
            </a:r>
            <a:r>
              <a:rPr lang="en-US" dirty="0" err="1"/>
              <a:t>re.compile</a:t>
            </a:r>
            <a:r>
              <a:rPr lang="en-US" dirty="0"/>
              <a:t>(</a:t>
            </a:r>
            <a:r>
              <a:rPr lang="en-US" dirty="0" err="1"/>
              <a:t>r'Agent</a:t>
            </a:r>
            <a:r>
              <a:rPr lang="en-US" dirty="0"/>
              <a:t> (\w)\w*')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76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3237" y="2790531"/>
            <a:ext cx="8665698" cy="1387024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agentNamesRegex.sub</a:t>
            </a:r>
            <a:r>
              <a:rPr lang="en-US" dirty="0"/>
              <a:t>(r'\1****', 'Agent Alice told Agent Carol that Agent Eve knew Agent Bob was a double agent.')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'A**** told C**** that E**** knew B**** was a double agent.'</a:t>
            </a:r>
            <a:endParaRPr lang="tr-T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7C9802-F3DF-4CD6-A7F3-54AF8FF71A04}"/>
              </a:ext>
            </a:extLst>
          </p:cNvPr>
          <p:cNvSpPr/>
          <p:nvPr/>
        </p:nvSpPr>
        <p:spPr>
          <a:xfrm>
            <a:off x="386861" y="4924922"/>
            <a:ext cx="8264770" cy="646331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</p:spPr>
        <p:txBody>
          <a:bodyPr wrap="square">
            <a:spAutoFit/>
          </a:bodyPr>
          <a:lstStyle/>
          <a:p>
            <a:r>
              <a:rPr lang="tr-TR" dirty="0">
                <a:latin typeface="NewBaskerville-Roman"/>
              </a:rPr>
              <a:t>The </a:t>
            </a:r>
            <a:r>
              <a:rPr lang="tr-TR" sz="1400" dirty="0">
                <a:solidFill>
                  <a:srgbClr val="00B0F0"/>
                </a:solidFill>
                <a:latin typeface="TheSansMonoCondensed-Plain"/>
              </a:rPr>
              <a:t>\1 </a:t>
            </a:r>
            <a:r>
              <a:rPr lang="tr-TR" sz="1400" dirty="0">
                <a:latin typeface="TheSansMonoCondensed-Plain"/>
              </a:rPr>
              <a:t>: </a:t>
            </a:r>
            <a:r>
              <a:rPr lang="en-US" dirty="0">
                <a:latin typeface="NewBaskerville-Roman"/>
              </a:rPr>
              <a:t>will be replaced by whatever text was matched by group </a:t>
            </a:r>
            <a:r>
              <a:rPr lang="en-US" sz="1400" dirty="0">
                <a:latin typeface="TheSansMonoCondensed-Plain"/>
              </a:rPr>
              <a:t>1</a:t>
            </a:r>
            <a:r>
              <a:rPr lang="en-US" dirty="0">
                <a:latin typeface="NewBaskerville-Roman"/>
              </a:rPr>
              <a:t>—</a:t>
            </a:r>
          </a:p>
          <a:p>
            <a:r>
              <a:rPr lang="tr-TR" dirty="0">
                <a:latin typeface="NewBaskerville-Roman"/>
              </a:rPr>
              <a:t>=&gt;</a:t>
            </a:r>
            <a:r>
              <a:rPr lang="en-US" dirty="0">
                <a:latin typeface="NewBaskerville-Roman"/>
              </a:rPr>
              <a:t>the </a:t>
            </a:r>
            <a:r>
              <a:rPr lang="en-US" sz="1400" dirty="0">
                <a:latin typeface="TheSansMonoCondensed-Plain"/>
              </a:rPr>
              <a:t>(</a:t>
            </a:r>
            <a:r>
              <a:rPr lang="en-US" sz="1400" dirty="0">
                <a:solidFill>
                  <a:srgbClr val="00B0F0"/>
                </a:solidFill>
                <a:latin typeface="TheSansMonoCondensed-Plain"/>
              </a:rPr>
              <a:t>\w</a:t>
            </a:r>
            <a:r>
              <a:rPr lang="en-US" sz="1400" dirty="0">
                <a:latin typeface="TheSansMonoCondensed-Plain"/>
              </a:rPr>
              <a:t>) </a:t>
            </a:r>
            <a:r>
              <a:rPr lang="en-US" dirty="0">
                <a:latin typeface="NewBaskerville-Roman"/>
              </a:rPr>
              <a:t>group of the regular expression.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7867954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7: Pattern Matching with Regular Expressions</a:t>
            </a:r>
            <a:endParaRPr lang="tr-TR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Managing Complex Regexes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77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6146" name="Picture 2" descr="Wheeler Farms">
            <a:extLst>
              <a:ext uri="{FF2B5EF4-FFF2-40B4-BE49-F238E27FC236}">
                <a16:creationId xmlns:a16="http://schemas.microsoft.com/office/drawing/2014/main" id="{11274791-A907-4DD4-AF42-B9DF218BB3E0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712" r="24712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953394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matching complicated text patterns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1127"/>
          </a:xfrm>
        </p:spPr>
        <p:txBody>
          <a:bodyPr/>
          <a:lstStyle/>
          <a:p>
            <a:r>
              <a:rPr lang="en-US" dirty="0"/>
              <a:t>might require long, convoluted regular</a:t>
            </a:r>
            <a:r>
              <a:rPr lang="tr-TR" dirty="0"/>
              <a:t> </a:t>
            </a:r>
            <a:r>
              <a:rPr lang="en-US" dirty="0"/>
              <a:t>expressions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mitigate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55594" y="4659977"/>
            <a:ext cx="2205059" cy="1403198"/>
          </a:xfrm>
        </p:spPr>
        <p:txBody>
          <a:bodyPr/>
          <a:lstStyle/>
          <a:p>
            <a:pPr algn="l"/>
            <a:r>
              <a:rPr lang="tr-TR" dirty="0"/>
              <a:t>tell re.compile() function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to </a:t>
            </a:r>
            <a:r>
              <a:rPr lang="en-US" dirty="0"/>
              <a:t>ignore whitespace and comments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inside the regular expression string.</a:t>
            </a:r>
            <a:endParaRPr lang="tr-TR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“verbose mode” 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07725" y="4688111"/>
            <a:ext cx="1875623" cy="1318794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can be enabled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by passing the variable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B0F0"/>
                </a:solidFill>
              </a:rPr>
              <a:t>re.VERBOSE</a:t>
            </a:r>
            <a:r>
              <a:rPr lang="en-US" dirty="0">
                <a:solidFill>
                  <a:srgbClr val="00B0F0"/>
                </a:solidFill>
              </a:rPr>
              <a:t> </a:t>
            </a:r>
            <a:endParaRPr lang="tr-TR" dirty="0">
              <a:solidFill>
                <a:srgbClr val="00B0F0"/>
              </a:solidFill>
            </a:endParaRPr>
          </a:p>
          <a:p>
            <a:pPr algn="l"/>
            <a:r>
              <a:rPr lang="en-US" dirty="0"/>
              <a:t>as</a:t>
            </a:r>
            <a:r>
              <a:rPr lang="tr-TR" dirty="0"/>
              <a:t> </a:t>
            </a:r>
            <a:r>
              <a:rPr lang="en-US" dirty="0"/>
              <a:t>the second argument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to </a:t>
            </a:r>
            <a:r>
              <a:rPr lang="en-US" dirty="0" err="1">
                <a:solidFill>
                  <a:srgbClr val="00B0F0"/>
                </a:solidFill>
              </a:rPr>
              <a:t>re.compile</a:t>
            </a:r>
            <a:r>
              <a:rPr lang="en-US" dirty="0">
                <a:solidFill>
                  <a:srgbClr val="00B0F0"/>
                </a:solidFill>
              </a:rPr>
              <a:t>()</a:t>
            </a:r>
            <a:endParaRPr lang="tr-TR" dirty="0">
              <a:solidFill>
                <a:srgbClr val="00B0F0"/>
              </a:solidFill>
            </a:endParaRP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2196102" cy="504000"/>
          </a:xfrm>
        </p:spPr>
        <p:txBody>
          <a:bodyPr/>
          <a:lstStyle/>
          <a:p>
            <a:r>
              <a:rPr lang="tr-TR" dirty="0"/>
              <a:t>use comments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55140" y="4612943"/>
            <a:ext cx="2383948" cy="1009935"/>
          </a:xfrm>
        </p:spPr>
        <p:txBody>
          <a:bodyPr/>
          <a:lstStyle/>
          <a:p>
            <a:pPr algn="l"/>
            <a:r>
              <a:rPr lang="tr-TR" dirty="0"/>
              <a:t>spread the regular expression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over multiple lines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with comments</a:t>
            </a:r>
            <a:endParaRPr lang="tr-T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827912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F4B01AA-C776-4286-B0C4-C17ED6F5E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3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US" dirty="0"/>
              <a:t>triple-quote syntax (''') to</a:t>
            </a:r>
            <a:r>
              <a:rPr lang="tr-TR" dirty="0"/>
              <a:t> </a:t>
            </a:r>
            <a:r>
              <a:rPr lang="en-US" dirty="0"/>
              <a:t>create a multiline string</a:t>
            </a:r>
            <a:endParaRPr lang="tr-TR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963" y="1463040"/>
            <a:ext cx="8271803" cy="984738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phoneRegex</a:t>
            </a:r>
            <a:r>
              <a:rPr lang="en-US" dirty="0"/>
              <a:t> = </a:t>
            </a:r>
            <a:r>
              <a:rPr lang="en-US" dirty="0" err="1"/>
              <a:t>re.compile</a:t>
            </a:r>
            <a:r>
              <a:rPr lang="en-US" dirty="0"/>
              <a:t>(r'((\d{3}|\(\d{3}\))?(\s|-|\.)?\d{3}(\s|-|\.)\d{4}(\s*(</a:t>
            </a:r>
            <a:r>
              <a:rPr lang="en-US" dirty="0" err="1"/>
              <a:t>ext|x|ext</a:t>
            </a:r>
            <a:r>
              <a:rPr lang="en-US" dirty="0"/>
              <a:t>.)\s*\d{2,5})?)')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79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7963" y="2539787"/>
            <a:ext cx="8266291" cy="1899138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phoneRegex</a:t>
            </a:r>
            <a:r>
              <a:rPr lang="en-US" dirty="0"/>
              <a:t> = </a:t>
            </a:r>
            <a:r>
              <a:rPr lang="en-US" dirty="0" err="1"/>
              <a:t>re.compile</a:t>
            </a:r>
            <a:r>
              <a:rPr lang="en-US" dirty="0"/>
              <a:t>(r'''(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(\d{3}|\(\d{3}\))? # area code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(\s|-|\.)? # separator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\d{3} # first 3 digits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(\s|-|\.) # separator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\d{4} # last 4 digits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(\s*(</a:t>
            </a:r>
            <a:r>
              <a:rPr lang="en-US" dirty="0" err="1"/>
              <a:t>ext|x|ext</a:t>
            </a:r>
            <a:r>
              <a:rPr lang="en-US" dirty="0"/>
              <a:t>.)\s*\d{2,5})? # extension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)''', </a:t>
            </a:r>
            <a:r>
              <a:rPr lang="en-US" dirty="0" err="1"/>
              <a:t>re.VERBOSE</a:t>
            </a:r>
            <a:r>
              <a:rPr lang="en-US" dirty="0"/>
              <a:t>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6ADB92-D17F-4BA9-8F28-DC591829CF99}"/>
              </a:ext>
            </a:extLst>
          </p:cNvPr>
          <p:cNvSpPr/>
          <p:nvPr/>
        </p:nvSpPr>
        <p:spPr>
          <a:xfrm>
            <a:off x="576776" y="5073134"/>
            <a:ext cx="7835705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tr-TR"/>
              <a:t>''': </a:t>
            </a:r>
            <a:r>
              <a:rPr lang="en-US" dirty="0"/>
              <a:t>spread the regular expression definition</a:t>
            </a:r>
            <a:r>
              <a:rPr lang="tr-TR" dirty="0"/>
              <a:t> </a:t>
            </a:r>
            <a:r>
              <a:rPr lang="en-US" dirty="0"/>
              <a:t>over many lines</a:t>
            </a:r>
            <a:r>
              <a:rPr lang="tr-TR" dirty="0"/>
              <a:t> with multiline string</a:t>
            </a:r>
          </a:p>
          <a:p>
            <a:r>
              <a:rPr lang="tr-TR" dirty="0"/>
              <a:t>=&gt;</a:t>
            </a:r>
            <a:r>
              <a:rPr lang="en-US" dirty="0"/>
              <a:t> making it much more legible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6002583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7: Pattern Matching with Regular Expressions</a:t>
            </a:r>
            <a:endParaRPr lang="tr-TR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Combining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re.IGNOREC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ASE, re.DOT ALL , and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re.VERBOSE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80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6146" name="Picture 2" descr="Wheeler Farms">
            <a:extLst>
              <a:ext uri="{FF2B5EF4-FFF2-40B4-BE49-F238E27FC236}">
                <a16:creationId xmlns:a16="http://schemas.microsoft.com/office/drawing/2014/main" id="{11274791-A907-4DD4-AF42-B9DF218BB3E0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712" r="24712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387174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Comments and ignoring capitalization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1127"/>
          </a:xfrm>
        </p:spPr>
        <p:txBody>
          <a:bodyPr/>
          <a:lstStyle/>
          <a:p>
            <a:r>
              <a:rPr lang="en-US" dirty="0" err="1"/>
              <a:t>re.IGNORECASE</a:t>
            </a:r>
            <a:r>
              <a:rPr lang="en-US" dirty="0"/>
              <a:t>, </a:t>
            </a:r>
            <a:r>
              <a:rPr lang="en-US" dirty="0" err="1"/>
              <a:t>re.DOTALL</a:t>
            </a:r>
            <a:r>
              <a:rPr lang="en-US" dirty="0"/>
              <a:t>, and</a:t>
            </a:r>
            <a:r>
              <a:rPr lang="tr-TR" dirty="0"/>
              <a:t> </a:t>
            </a:r>
            <a:r>
              <a:rPr lang="en-US" dirty="0" err="1"/>
              <a:t>re.VERBOSE</a:t>
            </a:r>
            <a:r>
              <a:rPr lang="en-US" dirty="0"/>
              <a:t> variables using the pipe character (|),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7957" y="3926335"/>
            <a:ext cx="1936073" cy="504000"/>
          </a:xfrm>
        </p:spPr>
        <p:txBody>
          <a:bodyPr/>
          <a:lstStyle/>
          <a:p>
            <a:r>
              <a:rPr lang="tr-TR" dirty="0"/>
              <a:t>comments and ignor case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55594" y="4659977"/>
            <a:ext cx="2205059" cy="1403198"/>
          </a:xfrm>
        </p:spPr>
        <p:txBody>
          <a:bodyPr/>
          <a:lstStyle/>
          <a:p>
            <a:pPr algn="l"/>
            <a:r>
              <a:rPr lang="tr-TR" dirty="0"/>
              <a:t>wanted both </a:t>
            </a:r>
            <a:r>
              <a:rPr lang="en-US" dirty="0"/>
              <a:t>in regular expression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ignore capitalization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write comments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2nd argumnet to re.compile()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07725" y="4688111"/>
            <a:ext cx="1875623" cy="1318794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dirty="0"/>
              <a:t>ignore capitalization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B0F0"/>
                </a:solidFill>
              </a:rPr>
              <a:t>re.IGNORECASE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tr-TR" dirty="0">
                <a:solidFill>
                  <a:srgbClr val="00B0F0"/>
                </a:solidFill>
              </a:rPr>
              <a:t> </a:t>
            </a:r>
          </a:p>
          <a:p>
            <a:pPr algn="l"/>
            <a:r>
              <a:rPr lang="en-US" dirty="0"/>
              <a:t>write comments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B0F0"/>
                </a:solidFill>
              </a:rPr>
              <a:t>re.VERBOSE</a:t>
            </a:r>
            <a:endParaRPr lang="tr-TR" dirty="0">
              <a:solidFill>
                <a:srgbClr val="00B0F0"/>
              </a:solidFill>
            </a:endParaRP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2196102" cy="504000"/>
          </a:xfrm>
        </p:spPr>
        <p:txBody>
          <a:bodyPr/>
          <a:lstStyle/>
          <a:p>
            <a:r>
              <a:rPr lang="tr-TR" dirty="0"/>
              <a:t>re.compile() function 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55140" y="4612943"/>
            <a:ext cx="2383948" cy="1009935"/>
          </a:xfrm>
        </p:spPr>
        <p:txBody>
          <a:bodyPr/>
          <a:lstStyle/>
          <a:p>
            <a:pPr algn="l"/>
            <a:r>
              <a:rPr lang="tr-TR" dirty="0"/>
              <a:t>takes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only a </a:t>
            </a:r>
            <a:r>
              <a:rPr lang="tr-TR" dirty="0"/>
              <a:t>single value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as its second argument</a:t>
            </a:r>
            <a:endParaRPr lang="tr-TR" dirty="0">
              <a:solidFill>
                <a:srgbClr val="00B0F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962676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AC9E87C-3B53-42E9-B19B-1134F007153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1392" y="344049"/>
            <a:ext cx="5320537" cy="43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tr-TR" dirty="0">
                <a:solidFill>
                  <a:schemeClr val="tx1"/>
                </a:solidFill>
              </a:rPr>
              <a:t>Using bitwise or operator to combine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82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C3B2B7-8BB8-4FED-8CF0-EF3D36755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7587" y="4250933"/>
            <a:ext cx="7624690" cy="360000"/>
          </a:xfrm>
          <a:solidFill>
            <a:schemeClr val="bg1">
              <a:alpha val="88000"/>
            </a:schemeClr>
          </a:solidFill>
        </p:spPr>
        <p:txBody>
          <a:bodyPr/>
          <a:lstStyle/>
          <a:p>
            <a:pPr algn="ctr"/>
            <a:r>
              <a:rPr lang="en-US" dirty="0" err="1"/>
              <a:t>someRegexValue</a:t>
            </a:r>
            <a:r>
              <a:rPr lang="en-US" dirty="0"/>
              <a:t> = </a:t>
            </a:r>
            <a:r>
              <a:rPr lang="en-US" dirty="0" err="1"/>
              <a:t>re.compile</a:t>
            </a:r>
            <a:r>
              <a:rPr lang="en-US" dirty="0"/>
              <a:t>('foo', </a:t>
            </a:r>
            <a:r>
              <a:rPr lang="en-US" dirty="0" err="1"/>
              <a:t>re.IGNORECASE</a:t>
            </a:r>
            <a:r>
              <a:rPr lang="en-US" dirty="0"/>
              <a:t> | </a:t>
            </a:r>
            <a:r>
              <a:rPr lang="en-US" dirty="0" err="1"/>
              <a:t>re.DOTALL</a:t>
            </a:r>
            <a:r>
              <a:rPr lang="en-US" dirty="0"/>
              <a:t>)</a:t>
            </a:r>
            <a:endParaRPr lang="tr-T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1DF7F-F183-420F-8BAA-AF8BF9726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41339" y="1592402"/>
            <a:ext cx="5120641" cy="2022178"/>
          </a:xfrm>
          <a:solidFill>
            <a:schemeClr val="bg1">
              <a:lumMod val="95000"/>
              <a:alpha val="88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b="1" dirty="0"/>
              <a:t>get around this limitation </a:t>
            </a:r>
          </a:p>
          <a:p>
            <a:r>
              <a:rPr lang="en-US" dirty="0"/>
              <a:t>by combining </a:t>
            </a:r>
            <a:endParaRPr lang="tr-TR" dirty="0"/>
          </a:p>
          <a:p>
            <a:r>
              <a:rPr lang="en-US" dirty="0"/>
              <a:t>the </a:t>
            </a:r>
            <a:r>
              <a:rPr lang="en-US" dirty="0" err="1"/>
              <a:t>re.IGNORECASE</a:t>
            </a:r>
            <a:r>
              <a:rPr lang="en-US" dirty="0"/>
              <a:t>, </a:t>
            </a:r>
            <a:endParaRPr lang="tr-TR" dirty="0"/>
          </a:p>
          <a:p>
            <a:r>
              <a:rPr lang="en-US" dirty="0" err="1"/>
              <a:t>re.DOTALL</a:t>
            </a:r>
            <a:r>
              <a:rPr lang="en-US" dirty="0"/>
              <a:t>, </a:t>
            </a:r>
          </a:p>
          <a:p>
            <a:pPr marL="171450" indent="-171450"/>
            <a:r>
              <a:rPr lang="en-US" dirty="0" err="1"/>
              <a:t>re.VERBOSE</a:t>
            </a:r>
            <a:r>
              <a:rPr lang="en-US" dirty="0"/>
              <a:t> variables </a:t>
            </a:r>
            <a:endParaRPr lang="tr-TR" dirty="0"/>
          </a:p>
          <a:p>
            <a:pPr marL="171450" indent="-171450"/>
            <a:r>
              <a:rPr lang="en-US" dirty="0"/>
              <a:t>using the pipe character (|),</a:t>
            </a:r>
            <a:endParaRPr lang="tr-TR" sz="1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89163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810BA9B-5A9B-41A1-B2AE-E520E733B2A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2340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US" dirty="0"/>
              <a:t>comments and </a:t>
            </a:r>
            <a:r>
              <a:rPr lang="en-US" dirty="0" err="1"/>
              <a:t>ignor</a:t>
            </a:r>
            <a:r>
              <a:rPr lang="en-US" dirty="0"/>
              <a:t> case</a:t>
            </a:r>
            <a:r>
              <a:rPr lang="tr-TR" dirty="0"/>
              <a:t> in regex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963" y="1463040"/>
            <a:ext cx="8271803" cy="984738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someRegexValue = re.compile('foo', re.IGNORECASE | re.DOTALL)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6845" y="2585226"/>
            <a:ext cx="8266291" cy="984738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someRegexValue</a:t>
            </a:r>
            <a:r>
              <a:rPr lang="en-US" dirty="0"/>
              <a:t> = </a:t>
            </a:r>
            <a:r>
              <a:rPr lang="en-US" dirty="0" err="1"/>
              <a:t>re.compile</a:t>
            </a:r>
            <a:r>
              <a:rPr lang="en-US" dirty="0"/>
              <a:t>('foo', </a:t>
            </a:r>
            <a:r>
              <a:rPr lang="en-US" dirty="0" err="1"/>
              <a:t>re.IGNORECASE</a:t>
            </a:r>
            <a:r>
              <a:rPr lang="en-US" dirty="0"/>
              <a:t> | </a:t>
            </a:r>
            <a:r>
              <a:rPr lang="en-US" dirty="0" err="1"/>
              <a:t>re.DOTALL</a:t>
            </a:r>
            <a:r>
              <a:rPr lang="en-US" dirty="0"/>
              <a:t> | </a:t>
            </a:r>
            <a:r>
              <a:rPr lang="en-US" dirty="0" err="1"/>
              <a:t>re.VERBOSE</a:t>
            </a:r>
            <a:r>
              <a:rPr lang="en-US" dirty="0"/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6ADB92-D17F-4BA9-8F28-DC591829CF99}"/>
              </a:ext>
            </a:extLst>
          </p:cNvPr>
          <p:cNvSpPr/>
          <p:nvPr/>
        </p:nvSpPr>
        <p:spPr>
          <a:xfrm>
            <a:off x="196948" y="5073134"/>
            <a:ext cx="8510954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prstClr val="black"/>
                </a:solidFill>
              </a:rPr>
              <a:t>This syntax is a little old-fashioned and originates from early versions</a:t>
            </a:r>
            <a:r>
              <a:rPr lang="tr-TR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of Python. </a:t>
            </a:r>
            <a:endParaRPr lang="tr-TR" dirty="0">
              <a:solidFill>
                <a:prstClr val="black"/>
              </a:solidFill>
            </a:endParaRPr>
          </a:p>
          <a:p>
            <a:pPr lvl="0"/>
            <a:r>
              <a:rPr lang="en-US" dirty="0">
                <a:solidFill>
                  <a:prstClr val="black"/>
                </a:solidFill>
              </a:rPr>
              <a:t>check out the resources at http://nostarch.com/automatestuff/ for</a:t>
            </a:r>
            <a:r>
              <a:rPr lang="tr-TR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more information. </a:t>
            </a:r>
            <a:endParaRPr kumimoji="0" lang="tr-T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450010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7: Pattern Matching with Regular Expressions</a:t>
            </a:r>
            <a:endParaRPr lang="tr-TR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Project: Phone Number and Email Address Extractor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84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6146" name="Picture 2" descr="Wheeler Farms">
            <a:extLst>
              <a:ext uri="{FF2B5EF4-FFF2-40B4-BE49-F238E27FC236}">
                <a16:creationId xmlns:a16="http://schemas.microsoft.com/office/drawing/2014/main" id="{11274791-A907-4DD4-AF42-B9DF218BB3E0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712" r="24712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006946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810BA9B-5A9B-41A1-B2AE-E520E733B2A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2340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178782"/>
            <a:ext cx="8505000" cy="432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US" dirty="0" err="1"/>
              <a:t>phoneAndEmailExtractor</a:t>
            </a:r>
            <a:r>
              <a:rPr lang="tr-TR" dirty="0"/>
              <a:t>.py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745" y="731519"/>
            <a:ext cx="4403187" cy="4614203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#! python3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# phoneAndEmail.py - Finds phone numbers and email addresses on the clipboard.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import pyperclip, re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phoneRegex = re.compile(r'''(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(\d{3}|\(\d{3}\))? # area code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(\s|-|\.)?         # separator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(\d{3})              # first 3 digits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(\s|-|\.)          # separator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(\d{4})              # last 4 digits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(\s*(ext|x|ext.)\s*(\d{2,5}))?  # extension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)''', re.VERBOSE)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# Create email regex.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emailRegex = re.compile(r'''(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[a-zA-Z0-9._%+-]+      # username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@                      # @ symbol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[a-zA-Z0-9.-]+         # domain name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(\.[a-zA-Z]{2,4}){1,2} # dot-something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)''', re.VERBOSE)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2338" y="738554"/>
            <a:ext cx="4375052" cy="4593101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# Find matches in clipboard text.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text = str(pyperclip.paste())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matches = []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for groups in phoneRegex.findall(text):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phoneNum = '-'.join([groups[1], groups[3], groups[5]])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if groups[8] != '':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    phoneNum += ' x' + groups[8]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matches.append(phoneNum)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for groups in emailRegex.findall(text):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matches.append(groups[0])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# Copy results to the clipboard.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if len(matches) &gt; 0: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pyperclip.copy('\n'.join(matches))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print('Copied to clipboard:')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print('\n'.join(matches))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else: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print('No phone numbers or email addresses found.')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8428D0-22A3-4459-8CF3-2F44C74EFDB6}"/>
              </a:ext>
            </a:extLst>
          </p:cNvPr>
          <p:cNvSpPr/>
          <p:nvPr/>
        </p:nvSpPr>
        <p:spPr>
          <a:xfrm>
            <a:off x="1413804" y="5411450"/>
            <a:ext cx="2989384" cy="14465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tr-TR" sz="1100" dirty="0">
                <a:latin typeface="TheSansMonoCondensed-Plain"/>
              </a:rPr>
              <a:t># </a:t>
            </a:r>
            <a:r>
              <a:rPr lang="tr-TR" sz="1100" dirty="0">
                <a:solidFill>
                  <a:srgbClr val="C00000"/>
                </a:solidFill>
                <a:latin typeface="TheSansMonoCondensed-Plain"/>
              </a:rPr>
              <a:t>Copy to Clipboard</a:t>
            </a:r>
          </a:p>
          <a:p>
            <a:r>
              <a:rPr lang="tr-TR" sz="1100" dirty="0">
                <a:latin typeface="TheSansMonoCondensed-Plain"/>
              </a:rPr>
              <a:t>800-420-7240</a:t>
            </a:r>
          </a:p>
          <a:p>
            <a:r>
              <a:rPr lang="tr-TR" sz="1100" dirty="0">
                <a:latin typeface="TheSansMonoCondensed-Plain"/>
              </a:rPr>
              <a:t>415-863-9900</a:t>
            </a:r>
          </a:p>
          <a:p>
            <a:r>
              <a:rPr lang="tr-TR" sz="1100" dirty="0">
                <a:latin typeface="TheSansMonoCondensed-Plain"/>
              </a:rPr>
              <a:t>415-863-9950</a:t>
            </a:r>
          </a:p>
          <a:p>
            <a:r>
              <a:rPr lang="tr-TR" sz="1100" dirty="0">
                <a:latin typeface="TheSansMonoCondensed-Plain"/>
              </a:rPr>
              <a:t>info@nostarch.com</a:t>
            </a:r>
          </a:p>
          <a:p>
            <a:r>
              <a:rPr lang="tr-TR" sz="1100" dirty="0">
                <a:latin typeface="TheSansMonoCondensed-Plain"/>
              </a:rPr>
              <a:t>media@nostarch.com</a:t>
            </a:r>
          </a:p>
          <a:p>
            <a:r>
              <a:rPr lang="tr-TR" sz="1100" dirty="0">
                <a:latin typeface="TheSansMonoCondensed-Plain"/>
              </a:rPr>
              <a:t>academic@nostarch.com</a:t>
            </a:r>
          </a:p>
          <a:p>
            <a:r>
              <a:rPr lang="tr-TR" sz="1100" dirty="0">
                <a:latin typeface="TheSansMonoCondensed-Plain"/>
              </a:rPr>
              <a:t>help@nostarch.com</a:t>
            </a:r>
            <a:endParaRPr lang="tr-TR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2C4AA7-8712-4E6C-A628-FD368AAB4C5A}"/>
              </a:ext>
            </a:extLst>
          </p:cNvPr>
          <p:cNvSpPr/>
          <p:nvPr/>
        </p:nvSpPr>
        <p:spPr>
          <a:xfrm>
            <a:off x="4818184" y="5411450"/>
            <a:ext cx="3270739" cy="14465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tr-TR" sz="1100" dirty="0"/>
              <a:t># </a:t>
            </a:r>
            <a:r>
              <a:rPr lang="tr-TR" sz="1100" dirty="0">
                <a:solidFill>
                  <a:srgbClr val="C00000"/>
                </a:solidFill>
              </a:rPr>
              <a:t>Output</a:t>
            </a:r>
          </a:p>
          <a:p>
            <a:r>
              <a:rPr lang="tr-TR" sz="1100" dirty="0"/>
              <a:t>800-420-7240</a:t>
            </a:r>
          </a:p>
          <a:p>
            <a:r>
              <a:rPr lang="tr-TR" sz="1100" dirty="0"/>
              <a:t>415-863-9900</a:t>
            </a:r>
          </a:p>
          <a:p>
            <a:r>
              <a:rPr lang="tr-TR" sz="1100" dirty="0"/>
              <a:t>415-863-9950</a:t>
            </a:r>
          </a:p>
          <a:p>
            <a:r>
              <a:rPr lang="tr-TR" sz="1100" dirty="0"/>
              <a:t>info@nostarch.com</a:t>
            </a:r>
          </a:p>
          <a:p>
            <a:r>
              <a:rPr lang="tr-TR" sz="1100" dirty="0"/>
              <a:t>media@nostarch.com</a:t>
            </a:r>
          </a:p>
          <a:p>
            <a:r>
              <a:rPr lang="tr-TR" sz="1100" dirty="0"/>
              <a:t>academic@nostarch.com</a:t>
            </a:r>
          </a:p>
          <a:p>
            <a:r>
              <a:rPr lang="tr-TR" sz="1100" dirty="0"/>
              <a:t>help@nostarch.com</a:t>
            </a:r>
          </a:p>
        </p:txBody>
      </p:sp>
    </p:spTree>
    <p:extLst>
      <p:ext uri="{BB962C8B-B14F-4D97-AF65-F5344CB8AC3E}">
        <p14:creationId xmlns:p14="http://schemas.microsoft.com/office/powerpoint/2010/main" val="333017921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Self Assessment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6561"/>
          </a:xfrm>
        </p:spPr>
        <p:txBody>
          <a:bodyPr/>
          <a:lstStyle/>
          <a:p>
            <a:r>
              <a:rPr lang="tr-TR" dirty="0"/>
              <a:t>Asses what you got so far!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dirty="0"/>
              <a:t>Noticible issues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3314545"/>
          </a:xfrm>
        </p:spPr>
        <p:txBody>
          <a:bodyPr/>
          <a:lstStyle/>
          <a:p>
            <a:pPr marL="0" indent="0">
              <a:buNone/>
            </a:pPr>
            <a:r>
              <a:rPr lang="tr-TR" dirty="0" err="1"/>
              <a:t>Text</a:t>
            </a:r>
            <a:r>
              <a:rPr lang="en-US" dirty="0"/>
              <a:t> Patterns </a:t>
            </a:r>
            <a:r>
              <a:rPr lang="tr-TR" dirty="0" err="1"/>
              <a:t>With</a:t>
            </a:r>
            <a:r>
              <a:rPr lang="tr-TR" dirty="0"/>
              <a:t> &amp; </a:t>
            </a:r>
            <a:r>
              <a:rPr lang="en-US" dirty="0"/>
              <a:t>Without Regular Expressions</a:t>
            </a:r>
          </a:p>
          <a:p>
            <a:pPr marL="0" indent="0">
              <a:buNone/>
            </a:pPr>
            <a:r>
              <a:rPr lang="en-US" dirty="0"/>
              <a:t>Character Classes</a:t>
            </a:r>
          </a:p>
          <a:p>
            <a:pPr marL="0" indent="0">
              <a:buNone/>
            </a:pPr>
            <a:r>
              <a:rPr lang="en-US" dirty="0"/>
              <a:t>The Caret and Dollar Sign</a:t>
            </a:r>
            <a:r>
              <a:rPr lang="tr-TR" dirty="0"/>
              <a:t>, </a:t>
            </a:r>
            <a:r>
              <a:rPr lang="en-US" dirty="0"/>
              <a:t>Wildcard Characters</a:t>
            </a:r>
          </a:p>
          <a:p>
            <a:pPr marL="0" indent="0">
              <a:buNone/>
            </a:pPr>
            <a:r>
              <a:rPr lang="en-US" dirty="0"/>
              <a:t>Case-Insensitive Matching</a:t>
            </a:r>
          </a:p>
          <a:p>
            <a:pPr marL="0" indent="0">
              <a:buNone/>
            </a:pPr>
            <a:r>
              <a:rPr lang="en-US" dirty="0"/>
              <a:t>Substituting Strings with the sub() Method</a:t>
            </a:r>
          </a:p>
          <a:p>
            <a:pPr marL="0" indent="0">
              <a:buNone/>
            </a:pPr>
            <a:r>
              <a:rPr lang="en-US" dirty="0"/>
              <a:t>Managing Complex Regexes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47544" y="1752505"/>
            <a:ext cx="2231684" cy="648000"/>
          </a:xfrm>
        </p:spPr>
        <p:txBody>
          <a:bodyPr/>
          <a:lstStyle/>
          <a:p>
            <a:r>
              <a:rPr lang="tr-TR" dirty="0" err="1"/>
              <a:t>Unclarified</a:t>
            </a:r>
            <a:r>
              <a:rPr lang="tr-TR" dirty="0"/>
              <a:t> </a:t>
            </a:r>
            <a:r>
              <a:rPr lang="tr-TR" dirty="0" err="1"/>
              <a:t>issues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51781" y="2569266"/>
            <a:ext cx="2794852" cy="3314200"/>
          </a:xfrm>
        </p:spPr>
        <p:txBody>
          <a:bodyPr/>
          <a:lstStyle/>
          <a:p>
            <a:r>
              <a:rPr lang="tr-TR" dirty="0"/>
              <a:t>What are the points need further explanations?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86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Interesting Details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What is the most interesting details in this chapter?</a:t>
            </a:r>
            <a:endParaRPr lang="en-US" dirty="0"/>
          </a:p>
        </p:txBody>
      </p:sp>
      <p:pic>
        <p:nvPicPr>
          <p:cNvPr id="12" name="Picture 11" descr="A picture containing table, drawing, computer&#10;&#10;Description automatically generated">
            <a:extLst>
              <a:ext uri="{FF2B5EF4-FFF2-40B4-BE49-F238E27FC236}">
                <a16:creationId xmlns:a16="http://schemas.microsoft.com/office/drawing/2014/main" id="{A88D320D-EB5F-4EB0-BF4F-7C3E09D98E4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607" y="5320199"/>
            <a:ext cx="1242170" cy="1247715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4D0C9B3-64E8-46BC-96D3-913B781B294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42300" y="5320199"/>
            <a:ext cx="1247715" cy="1247715"/>
          </a:xfrm>
          <a:prstGeom prst="rect">
            <a:avLst/>
          </a:prstGeom>
        </p:spPr>
      </p:pic>
      <p:pic>
        <p:nvPicPr>
          <p:cNvPr id="16" name="Picture 15" descr="A close up of graphics&#10;&#10;Description automatically generated">
            <a:extLst>
              <a:ext uri="{FF2B5EF4-FFF2-40B4-BE49-F238E27FC236}">
                <a16:creationId xmlns:a16="http://schemas.microsoft.com/office/drawing/2014/main" id="{40CE2CAF-FB88-45FA-BD9E-61287814D3E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0735" y="5237740"/>
            <a:ext cx="1412631" cy="141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17074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96E65F2-76DC-41D8-B6D1-D724BBD92EE6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t="1503" b="1503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BDC24D3-EEF0-4B69-A174-E4DFF7884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32" y="3123593"/>
            <a:ext cx="5402090" cy="1449788"/>
          </a:xfrm>
          <a:solidFill>
            <a:schemeClr val="tx1">
              <a:alpha val="32000"/>
            </a:schemeClr>
          </a:solidFill>
        </p:spPr>
        <p:txBody>
          <a:bodyPr/>
          <a:lstStyle/>
          <a:p>
            <a:r>
              <a:rPr lang="en-US" dirty="0"/>
              <a:t>Thank You</a:t>
            </a:r>
          </a:p>
        </p:txBody>
      </p:sp>
      <p:cxnSp>
        <p:nvCxnSpPr>
          <p:cNvPr id="5" name="Straight Connector 4" descr="Divider line">
            <a:extLst>
              <a:ext uri="{FF2B5EF4-FFF2-40B4-BE49-F238E27FC236}">
                <a16:creationId xmlns:a16="http://schemas.microsoft.com/office/drawing/2014/main" id="{FE07C9EC-5158-440C-995A-EAC50D3E0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059112" y="3552610"/>
            <a:ext cx="0" cy="825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6">
            <a:extLst>
              <a:ext uri="{FF2B5EF4-FFF2-40B4-BE49-F238E27FC236}">
                <a16:creationId xmlns:a16="http://schemas.microsoft.com/office/drawing/2014/main" id="{ACCCCDAD-0E0B-437F-8CAA-0536470B2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33" y="4570937"/>
            <a:ext cx="3961877" cy="1604172"/>
          </a:xfrm>
          <a:solidFill>
            <a:schemeClr val="tx1">
              <a:alpha val="32000"/>
            </a:schemeClr>
          </a:solidFill>
        </p:spPr>
        <p:txBody>
          <a:bodyPr/>
          <a:lstStyle/>
          <a:p>
            <a:r>
              <a:rPr lang="tr-TR" dirty="0"/>
              <a:t>Yusuf Altunel, PhD</a:t>
            </a:r>
            <a:endParaRPr lang="en-US" dirty="0"/>
          </a:p>
        </p:txBody>
      </p:sp>
      <p:pic>
        <p:nvPicPr>
          <p:cNvPr id="13" name="Graphic 12" descr="Person icon">
            <a:extLst>
              <a:ext uri="{FF2B5EF4-FFF2-40B4-BE49-F238E27FC236}">
                <a16:creationId xmlns:a16="http://schemas.microsoft.com/office/drawing/2014/main" id="{708AF784-88DE-4E89-A28B-BECD54FC11C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9746" y="4658533"/>
            <a:ext cx="123347" cy="123347"/>
          </a:xfrm>
          <a:prstGeom prst="rect">
            <a:avLst/>
          </a:prstGeom>
        </p:spPr>
      </p:pic>
      <p:pic>
        <p:nvPicPr>
          <p:cNvPr id="15" name="Graphic 14" descr="Phone icon">
            <a:extLst>
              <a:ext uri="{FF2B5EF4-FFF2-40B4-BE49-F238E27FC236}">
                <a16:creationId xmlns:a16="http://schemas.microsoft.com/office/drawing/2014/main" id="{E276E47B-4C08-4FEC-AAE8-3DCCBA7EE72D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9746" y="4891098"/>
            <a:ext cx="123347" cy="12334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F9E03C-A81E-4083-9F20-EF8FFAF591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6527" y="5334305"/>
            <a:ext cx="3381375" cy="277342"/>
          </a:xfrm>
        </p:spPr>
        <p:txBody>
          <a:bodyPr/>
          <a:lstStyle/>
          <a:p>
            <a:r>
              <a:rPr lang="tr-TR" dirty="0"/>
              <a:t>y.altunel@iku.edu.tr</a:t>
            </a:r>
            <a:endParaRPr lang="en-US" dirty="0"/>
          </a:p>
        </p:txBody>
      </p:sp>
      <p:pic>
        <p:nvPicPr>
          <p:cNvPr id="14" name="Graphic 13" descr="Email icon">
            <a:extLst>
              <a:ext uri="{FF2B5EF4-FFF2-40B4-BE49-F238E27FC236}">
                <a16:creationId xmlns:a16="http://schemas.microsoft.com/office/drawing/2014/main" id="{4F2D4997-93AD-4A62-8488-4572923DB817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89746" y="5141739"/>
            <a:ext cx="123347" cy="123347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8557579-7DEF-FF4C-AD37-0E81A6BB3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6527" y="5640086"/>
            <a:ext cx="3381375" cy="277342"/>
          </a:xfrm>
        </p:spPr>
        <p:txBody>
          <a:bodyPr/>
          <a:lstStyle/>
          <a:p>
            <a:r>
              <a:rPr lang="tr-TR" dirty="0">
                <a:hlinkClick r:id="rId10"/>
              </a:rPr>
              <a:t>http://cats.iku.edu.tr/portal/site/0181f2bc-77e3-4a85-ade9-77639d9bcfe7</a:t>
            </a:r>
            <a:endParaRPr lang="en-US" dirty="0"/>
          </a:p>
        </p:txBody>
      </p:sp>
      <p:pic>
        <p:nvPicPr>
          <p:cNvPr id="30" name="Graphic 29" descr="World web icon">
            <a:extLst>
              <a:ext uri="{FF2B5EF4-FFF2-40B4-BE49-F238E27FC236}">
                <a16:creationId xmlns:a16="http://schemas.microsoft.com/office/drawing/2014/main" id="{07973E30-0C12-8442-90B5-47D1C45545AE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85526" y="5376226"/>
            <a:ext cx="127566" cy="12756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0C4AF-7F4E-4FFB-988E-1941A3B9B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6527" y="5028523"/>
            <a:ext cx="3381375" cy="277342"/>
          </a:xfrm>
        </p:spPr>
        <p:txBody>
          <a:bodyPr/>
          <a:lstStyle/>
          <a:p>
            <a:r>
              <a:rPr lang="tr-TR" dirty="0">
                <a:hlinkClick r:id="rId13"/>
              </a:rPr>
              <a:t>https://www.linkedin.com/in/yusuf-altunel-2070a31b/</a:t>
            </a:r>
            <a:endParaRPr lang="tr-TR" dirty="0"/>
          </a:p>
        </p:txBody>
      </p:sp>
      <p:pic>
        <p:nvPicPr>
          <p:cNvPr id="12" name="Picture Placeholder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C3937880-A386-4C54-8FE0-A3BD1320D92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039" b="15039"/>
          <a:stretch>
            <a:fillRect/>
          </a:stretch>
        </p:blipFill>
        <p:spPr>
          <a:xfrm>
            <a:off x="5275033" y="3474017"/>
            <a:ext cx="1008126" cy="704088"/>
          </a:xfrm>
        </p:spPr>
      </p:pic>
    </p:spTree>
    <p:extLst>
      <p:ext uri="{BB962C8B-B14F-4D97-AF65-F5344CB8AC3E}">
        <p14:creationId xmlns:p14="http://schemas.microsoft.com/office/powerpoint/2010/main" val="220142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at Pitch Decks - Environment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Custom 143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6FDF942-F0F2-481F-89A6-3C843685D4D6}" vid="{7F86F4AB-42EE-4332-B4F8-CEECA269CCE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BF51BA-BD97-4518-9266-AD3D6154983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F490261-1200-4EC7-95B0-2241EE54AA34}">
  <ds:schemaRefs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infopath/2007/PartnerControls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BE1961DD-CF27-443B-BFF6-660110ED05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5967</Words>
  <Application>Microsoft Office PowerPoint</Application>
  <PresentationFormat>Ekran Gösterisi (4:3)</PresentationFormat>
  <Paragraphs>1190</Paragraphs>
  <Slides>87</Slides>
  <Notes>57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8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87</vt:i4>
      </vt:variant>
    </vt:vector>
  </HeadingPairs>
  <TitlesOfParts>
    <vt:vector size="96" baseType="lpstr">
      <vt:lpstr>Arial</vt:lpstr>
      <vt:lpstr>Calibri</vt:lpstr>
      <vt:lpstr>Calibri Light</vt:lpstr>
      <vt:lpstr>Futura-CondensedBoldOblique</vt:lpstr>
      <vt:lpstr>NewBaskerville-Roman</vt:lpstr>
      <vt:lpstr>Rockwell</vt:lpstr>
      <vt:lpstr>TheSansMonoCondensed-Plain</vt:lpstr>
      <vt:lpstr>Times New Roman</vt:lpstr>
      <vt:lpstr>Office Theme</vt:lpstr>
      <vt:lpstr>Chapter 7: Pattern Matching with Regular Expressions</vt:lpstr>
      <vt:lpstr>Content</vt:lpstr>
      <vt:lpstr>Regular expressions </vt:lpstr>
      <vt:lpstr>Regular expressions in programming</vt:lpstr>
      <vt:lpstr>Extract Phone Numbers Without Regular Expressions</vt:lpstr>
      <vt:lpstr>Extract Phone Numbers Without Regular Expressions</vt:lpstr>
      <vt:lpstr>Chapter 7: Pattern Matching with Regular Expressions</vt:lpstr>
      <vt:lpstr>Pattern in a text</vt:lpstr>
      <vt:lpstr>Regular Expression symbols</vt:lpstr>
      <vt:lpstr>Creating Regex Objects</vt:lpstr>
      <vt:lpstr>Matching Regex Objects</vt:lpstr>
      <vt:lpstr>group() method</vt:lpstr>
      <vt:lpstr>re module, compile(), search() &amp; group() methods</vt:lpstr>
      <vt:lpstr>mo variable </vt:lpstr>
      <vt:lpstr>Review of Regular Expression Matching</vt:lpstr>
      <vt:lpstr>Chapter 7: Pattern Matching with Regular Expressions</vt:lpstr>
      <vt:lpstr>More Pattern Matching with Regular Expressions</vt:lpstr>
      <vt:lpstr>Grouping with Parentheses</vt:lpstr>
      <vt:lpstr>Grouping with Parentheses</vt:lpstr>
      <vt:lpstr>multiple-assignment trick with mo.groups() </vt:lpstr>
      <vt:lpstr>match parenthesis in text</vt:lpstr>
      <vt:lpstr>Parenthesis in matching text</vt:lpstr>
      <vt:lpstr>Matching Multiple Groups with the Pipe</vt:lpstr>
      <vt:lpstr>Pipe |</vt:lpstr>
      <vt:lpstr>Matching Multiple Groups with the Pipe</vt:lpstr>
      <vt:lpstr>match one of several patterns as part of regex</vt:lpstr>
      <vt:lpstr>Optional Matching with the Question Mark</vt:lpstr>
      <vt:lpstr>optional group with ()?</vt:lpstr>
      <vt:lpstr>phone numbers with &amp; without area code</vt:lpstr>
      <vt:lpstr>Matching Zero or More with the Star</vt:lpstr>
      <vt:lpstr>star (*) to repeat zero, one, or more times</vt:lpstr>
      <vt:lpstr>Matching One or More with the Plus</vt:lpstr>
      <vt:lpstr>plus (+) to repeat one, or more times</vt:lpstr>
      <vt:lpstr>Matching Specific Repetitions with Curly Brackets</vt:lpstr>
      <vt:lpstr>Matching Specific Repetitions with Curly Brackets</vt:lpstr>
      <vt:lpstr>Matching Specific Repetitions with Curly Brackets</vt:lpstr>
      <vt:lpstr>{} to repeat a specific # of times</vt:lpstr>
      <vt:lpstr>Chapter 7: Pattern Matching with Regular Expressions</vt:lpstr>
      <vt:lpstr>Greedy vs Nongreedy Matching</vt:lpstr>
      <vt:lpstr>greedy and nongreedy forms of {}</vt:lpstr>
      <vt:lpstr>Chapter 7: Pattern Matching with Regular Expressions</vt:lpstr>
      <vt:lpstr>The findall() Method</vt:lpstr>
      <vt:lpstr>findall() method</vt:lpstr>
      <vt:lpstr>findall() method</vt:lpstr>
      <vt:lpstr>findall() method returns</vt:lpstr>
      <vt:lpstr>Chapter 7: Pattern Matching with Regular Expressions</vt:lpstr>
      <vt:lpstr>Character Classes</vt:lpstr>
      <vt:lpstr>Other Character Classes</vt:lpstr>
      <vt:lpstr>Character classes usage</vt:lpstr>
      <vt:lpstr>specialization of regex expressions</vt:lpstr>
      <vt:lpstr>Chapter 7: Pattern Matching with Regular Expressions</vt:lpstr>
      <vt:lpstr>Define own Character Class</vt:lpstr>
      <vt:lpstr>String methods</vt:lpstr>
      <vt:lpstr>negative character class</vt:lpstr>
      <vt:lpstr>negative character class</vt:lpstr>
      <vt:lpstr>Chapter 7: Pattern Matching with Regular Expressions</vt:lpstr>
      <vt:lpstr>The Caret (^) and Dollar ($) Sign</vt:lpstr>
      <vt:lpstr>The Caret ^ and Dollar Sign $</vt:lpstr>
      <vt:lpstr>begin and end with one or more numeric characters</vt:lpstr>
      <vt:lpstr>Chapter 7: Pattern Matching with Regular Expressions</vt:lpstr>
      <vt:lpstr>Wild character dot (.)</vt:lpstr>
      <vt:lpstr>Wild character dot (.)</vt:lpstr>
      <vt:lpstr>Matching Everything with Dot-Star (.*)</vt:lpstr>
      <vt:lpstr>Matching Everything with Dot-Star</vt:lpstr>
      <vt:lpstr>Matching Newlines with the Dot Character</vt:lpstr>
      <vt:lpstr>Matching Newlines with the Dot Character</vt:lpstr>
      <vt:lpstr>Chapter 7: Pattern Matching with Regular Expressions</vt:lpstr>
      <vt:lpstr>a quick review of notation</vt:lpstr>
      <vt:lpstr>Chapter 7: Pattern Matching with Regular Expressions</vt:lpstr>
      <vt:lpstr>Case-Insensitive Matching</vt:lpstr>
      <vt:lpstr>Case-Insensitive Matching</vt:lpstr>
      <vt:lpstr>Chapter 7: Pattern Matching with Regular Expressions</vt:lpstr>
      <vt:lpstr>Substituting Strings with the sub() Method</vt:lpstr>
      <vt:lpstr>replace string in Regex</vt:lpstr>
      <vt:lpstr>use the matched text itself</vt:lpstr>
      <vt:lpstr>matched text itself as part of the substitution</vt:lpstr>
      <vt:lpstr>Chapter 7: Pattern Matching with Regular Expressions</vt:lpstr>
      <vt:lpstr>matching complicated text patterns</vt:lpstr>
      <vt:lpstr>triple-quote syntax (''') to create a multiline string</vt:lpstr>
      <vt:lpstr>Chapter 7: Pattern Matching with Regular Expressions</vt:lpstr>
      <vt:lpstr>Comments and ignoring capitalization</vt:lpstr>
      <vt:lpstr>Using bitwise or operator to combine</vt:lpstr>
      <vt:lpstr>comments and ignor case in regex</vt:lpstr>
      <vt:lpstr>Chapter 7: Pattern Matching with Regular Expressions</vt:lpstr>
      <vt:lpstr>phoneAndEmailExtractor.py</vt:lpstr>
      <vt:lpstr>Self Assessment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2020-03-08T12:56:30Z</dcterms:created>
  <dcterms:modified xsi:type="dcterms:W3CDTF">2022-03-25T10:16:24Z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6f6488-6f7b-4340-b880-828136ff7811_Enabled">
    <vt:lpwstr>true</vt:lpwstr>
  </property>
  <property fmtid="{D5CDD505-2E9C-101B-9397-08002B2CF9AE}" pid="3" name="MSIP_Label_c66f6488-6f7b-4340-b880-828136ff7811_SetDate">
    <vt:lpwstr>2021-04-16T09:53:42Z</vt:lpwstr>
  </property>
  <property fmtid="{D5CDD505-2E9C-101B-9397-08002B2CF9AE}" pid="4" name="MSIP_Label_c66f6488-6f7b-4340-b880-828136ff7811_Method">
    <vt:lpwstr>Privileged</vt:lpwstr>
  </property>
  <property fmtid="{D5CDD505-2E9C-101B-9397-08002B2CF9AE}" pid="5" name="MSIP_Label_c66f6488-6f7b-4340-b880-828136ff7811_Name">
    <vt:lpwstr>c66f6488-6f7b-4340-b880-828136ff7811</vt:lpwstr>
  </property>
  <property fmtid="{D5CDD505-2E9C-101B-9397-08002B2CF9AE}" pid="6" name="MSIP_Label_c66f6488-6f7b-4340-b880-828136ff7811_SiteId">
    <vt:lpwstr>832c1bc9-1e43-4f93-a086-708d36b0c95d</vt:lpwstr>
  </property>
  <property fmtid="{D5CDD505-2E9C-101B-9397-08002B2CF9AE}" pid="7" name="MSIP_Label_c66f6488-6f7b-4340-b880-828136ff7811_ActionId">
    <vt:lpwstr>3001c4db-7da2-4d88-83ca-a30e68fe79b1</vt:lpwstr>
  </property>
  <property fmtid="{D5CDD505-2E9C-101B-9397-08002B2CF9AE}" pid="8" name="MSIP_Label_c66f6488-6f7b-4340-b880-828136ff7811_ContentBits">
    <vt:lpwstr>0</vt:lpwstr>
  </property>
</Properties>
</file>