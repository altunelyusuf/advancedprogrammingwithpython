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45"/>
  </p:notesMasterIdLst>
  <p:handoutMasterIdLst>
    <p:handoutMasterId r:id="rId46"/>
  </p:handoutMasterIdLst>
  <p:sldIdLst>
    <p:sldId id="256" r:id="rId5"/>
    <p:sldId id="261" r:id="rId6"/>
    <p:sldId id="342" r:id="rId7"/>
    <p:sldId id="343" r:id="rId8"/>
    <p:sldId id="301" r:id="rId9"/>
    <p:sldId id="357" r:id="rId10"/>
    <p:sldId id="358" r:id="rId11"/>
    <p:sldId id="359" r:id="rId12"/>
    <p:sldId id="360" r:id="rId13"/>
    <p:sldId id="367" r:id="rId14"/>
    <p:sldId id="393" r:id="rId15"/>
    <p:sldId id="394" r:id="rId16"/>
    <p:sldId id="395" r:id="rId17"/>
    <p:sldId id="363" r:id="rId18"/>
    <p:sldId id="361" r:id="rId19"/>
    <p:sldId id="364" r:id="rId20"/>
    <p:sldId id="362" r:id="rId21"/>
    <p:sldId id="396" r:id="rId22"/>
    <p:sldId id="366" r:id="rId23"/>
    <p:sldId id="368" r:id="rId24"/>
    <p:sldId id="397" r:id="rId25"/>
    <p:sldId id="365" r:id="rId26"/>
    <p:sldId id="369" r:id="rId27"/>
    <p:sldId id="398" r:id="rId28"/>
    <p:sldId id="399" r:id="rId29"/>
    <p:sldId id="400" r:id="rId30"/>
    <p:sldId id="401" r:id="rId31"/>
    <p:sldId id="402" r:id="rId32"/>
    <p:sldId id="335" r:id="rId33"/>
    <p:sldId id="286" r:id="rId34"/>
    <p:sldId id="403" r:id="rId35"/>
    <p:sldId id="336" r:id="rId36"/>
    <p:sldId id="269" r:id="rId37"/>
    <p:sldId id="344" r:id="rId38"/>
    <p:sldId id="404" r:id="rId39"/>
    <p:sldId id="337" r:id="rId40"/>
    <p:sldId id="380" r:id="rId41"/>
    <p:sldId id="392" r:id="rId42"/>
    <p:sldId id="299" r:id="rId43"/>
    <p:sldId id="279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71A1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9557" autoAdjust="0"/>
  </p:normalViewPr>
  <p:slideViewPr>
    <p:cSldViewPr snapToGrid="0">
      <p:cViewPr varScale="1">
        <p:scale>
          <a:sx n="73" d="100"/>
          <a:sy n="73" d="100"/>
        </p:scale>
        <p:origin x="1766" y="58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341"/>
    </p:cViewPr>
  </p:sorterViewPr>
  <p:notesViewPr>
    <p:cSldViewPr snapToGrid="0">
      <p:cViewPr>
        <p:scale>
          <a:sx n="50" d="100"/>
          <a:sy n="50" d="100"/>
        </p:scale>
        <p:origin x="2640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3/17/2022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3/17/2022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6444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2961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35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1863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4908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59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02613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6361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1614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1942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0609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5270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19.03.2021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15898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075484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035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9417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182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49315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56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72700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 Bullets">
    <p:bg>
      <p:bgPr>
        <a:blipFill dpi="0" rotWithShape="1">
          <a:blip r:embed="rId2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2041BFF2-BC3B-3145-940D-004809E5A80A}"/>
              </a:ext>
            </a:extLst>
          </p:cNvPr>
          <p:cNvSpPr>
            <a:spLocks noChangeAspect="1"/>
          </p:cNvSpPr>
          <p:nvPr userDrawn="1"/>
        </p:nvSpPr>
        <p:spPr>
          <a:xfrm>
            <a:off x="2287944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9906F5C-A183-DF45-AE48-C1D611CDC98D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9CFF2EB-CD95-EA4D-810E-C9F8127071FE}"/>
              </a:ext>
            </a:extLst>
          </p:cNvPr>
          <p:cNvSpPr>
            <a:spLocks noChangeAspect="1"/>
          </p:cNvSpPr>
          <p:nvPr userDrawn="1"/>
        </p:nvSpPr>
        <p:spPr>
          <a:xfrm>
            <a:off x="5729647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E120266-68E0-504A-B1C8-F3369F5AF7C0}"/>
              </a:ext>
            </a:extLst>
          </p:cNvPr>
          <p:cNvSpPr>
            <a:spLocks noChangeAspect="1"/>
          </p:cNvSpPr>
          <p:nvPr userDrawn="1"/>
        </p:nvSpPr>
        <p:spPr>
          <a:xfrm>
            <a:off x="7450499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B4A810-8614-AD44-B362-CE45C8C679CE}"/>
              </a:ext>
            </a:extLst>
          </p:cNvPr>
          <p:cNvSpPr>
            <a:spLocks noChangeAspect="1"/>
          </p:cNvSpPr>
          <p:nvPr userDrawn="1"/>
        </p:nvSpPr>
        <p:spPr>
          <a:xfrm>
            <a:off x="56933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44556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86259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7111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62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4455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26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7111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5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071" y="4683350"/>
            <a:ext cx="162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B1F8F6-73A5-F142-8A28-094DA998B5F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4841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F78A887E-89A6-244C-8AA4-484FE535876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35133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52B18661-99A8-214A-A089-09F11F1EB5C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255424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69D5F0B5-DE10-D646-9244-6B4289E7793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975716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72B87CCD-6D17-844B-87EF-F8BC69D79B0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696006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5" name="Straight Connector 24" descr="First divider line on slide">
            <a:extLst>
              <a:ext uri="{FF2B5EF4-FFF2-40B4-BE49-F238E27FC236}">
                <a16:creationId xmlns:a16="http://schemas.microsoft.com/office/drawing/2014/main" id="{402BCAE3-72EC-4098-A211-3555BFDE9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94285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 descr="Second divider line on slide">
            <a:extLst>
              <a:ext uri="{FF2B5EF4-FFF2-40B4-BE49-F238E27FC236}">
                <a16:creationId xmlns:a16="http://schemas.microsoft.com/office/drawing/2014/main" id="{94A08494-9C0E-4AAF-BE9A-166FE994D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1515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 descr="Third divider line on slide">
            <a:extLst>
              <a:ext uri="{FF2B5EF4-FFF2-40B4-BE49-F238E27FC236}">
                <a16:creationId xmlns:a16="http://schemas.microsoft.com/office/drawing/2014/main" id="{698FE6A1-AEF7-4FD7-A689-908A6B9CC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3602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 descr="Fourth divider line on slide">
            <a:extLst>
              <a:ext uri="{FF2B5EF4-FFF2-40B4-BE49-F238E27FC236}">
                <a16:creationId xmlns:a16="http://schemas.microsoft.com/office/drawing/2014/main" id="{636DD6E3-6313-40D8-B03E-60E2E5A6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6897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0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257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85" r:id="rId8"/>
    <p:sldLayoutId id="2147483683" r:id="rId9"/>
    <p:sldLayoutId id="2147483668" r:id="rId10"/>
    <p:sldLayoutId id="2147483682" r:id="rId11"/>
    <p:sldLayoutId id="2147483670" r:id="rId12"/>
    <p:sldLayoutId id="2147483653" r:id="rId13"/>
    <p:sldLayoutId id="2147483673" r:id="rId14"/>
    <p:sldLayoutId id="2147483674" r:id="rId15"/>
    <p:sldLayoutId id="2147483676" r:id="rId16"/>
    <p:sldLayoutId id="2147483677" r:id="rId17"/>
    <p:sldLayoutId id="2147483654" r:id="rId18"/>
    <p:sldLayoutId id="2147483660" r:id="rId19"/>
    <p:sldLayoutId id="2147483661" r:id="rId20"/>
    <p:sldLayoutId id="2147483678" r:id="rId21"/>
    <p:sldLayoutId id="2147483686" r:id="rId22"/>
    <p:sldLayoutId id="2147483687" r:id="rId23"/>
    <p:sldLayoutId id="2147483689" r:id="rId24"/>
    <p:sldLayoutId id="2147483690" r:id="rId25"/>
    <p:sldLayoutId id="2147483688" r:id="rId2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10" Type="http://schemas.openxmlformats.org/officeDocument/2006/relationships/image" Target="../media/image24.jpe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jpe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jpe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jpe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jpe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10" Type="http://schemas.openxmlformats.org/officeDocument/2006/relationships/image" Target="../media/image35.jp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10" Type="http://schemas.openxmlformats.org/officeDocument/2006/relationships/image" Target="../media/image35.jp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10" Type="http://schemas.openxmlformats.org/officeDocument/2006/relationships/image" Target="../media/image35.jp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10" Type="http://schemas.openxmlformats.org/officeDocument/2006/relationships/image" Target="../media/image35.jp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7.emf"/><Relationship Id="rId4" Type="http://schemas.openxmlformats.org/officeDocument/2006/relationships/image" Target="../media/image4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55.png"/><Relationship Id="rId7" Type="http://schemas.openxmlformats.org/officeDocument/2006/relationships/image" Target="../media/image59.svg"/><Relationship Id="rId12" Type="http://schemas.openxmlformats.org/officeDocument/2006/relationships/image" Target="../media/image63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8.png"/><Relationship Id="rId11" Type="http://schemas.openxmlformats.org/officeDocument/2006/relationships/image" Target="../media/image62.png"/><Relationship Id="rId5" Type="http://schemas.openxmlformats.org/officeDocument/2006/relationships/image" Target="../media/image57.svg"/><Relationship Id="rId10" Type="http://schemas.openxmlformats.org/officeDocument/2006/relationships/hyperlink" Target="http://cats.iku.edu.tr/portal/site/0181f2bc-77e3-4a85-ade9-77639d9bcfe7" TargetMode="External"/><Relationship Id="rId4" Type="http://schemas.openxmlformats.org/officeDocument/2006/relationships/image" Target="../media/image56.png"/><Relationship Id="rId9" Type="http://schemas.openxmlformats.org/officeDocument/2006/relationships/image" Target="../media/image61.svg"/><Relationship Id="rId1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A4E3BEC9-0656-48E8-B7A7-4E1ACCC617C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" b="7303"/>
          <a:stretch/>
        </p:blipFill>
        <p:spPr>
          <a:xfrm>
            <a:off x="65088" y="87313"/>
            <a:ext cx="9013825" cy="6683375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68422"/>
            <a:ext cx="5130000" cy="23876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 anchor="b">
            <a:normAutofit/>
          </a:bodyPr>
          <a:lstStyle/>
          <a:p>
            <a:r>
              <a:rPr lang="en-US" dirty="0"/>
              <a:t>Chapter </a:t>
            </a:r>
            <a:r>
              <a:rPr lang="tr-TR" dirty="0"/>
              <a:t>5</a:t>
            </a:r>
            <a:r>
              <a:rPr lang="en-US" dirty="0"/>
              <a:t>: </a:t>
            </a:r>
            <a:r>
              <a:rPr lang="tr-TR" dirty="0"/>
              <a:t>Dictionaries &amp; Structuring Data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US" sz="1300"/>
              <a:t>CSE0408 Programming III</a:t>
            </a:r>
            <a:endParaRPr lang="tr-TR" sz="1300"/>
          </a:p>
          <a:p>
            <a:r>
              <a:rPr lang="tr-TR" sz="1300"/>
              <a:t>IKU Department of Computer Engineering</a:t>
            </a:r>
          </a:p>
          <a:p>
            <a:r>
              <a:rPr lang="tr-TR" sz="1300"/>
              <a:t>Yusuf Altunel, PhD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tr-TR" b="1" dirty="0"/>
              <a:t>Automate the Boring Stuff with Python</a:t>
            </a:r>
          </a:p>
          <a:p>
            <a:r>
              <a:rPr lang="tr-TR" b="1" dirty="0"/>
              <a:t>Practical Programming for Total Beginners</a:t>
            </a:r>
          </a:p>
          <a:p>
            <a:r>
              <a:rPr lang="tr-TR" sz="1200" b="1" dirty="0"/>
              <a:t>Chapter 5 Dictionaries &amp; Structuring Data</a:t>
            </a:r>
            <a:endParaRPr lang="tr-TR" sz="1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Dictionary Data Type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Pretty Printing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Using Data Structures to Model Real-World Things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D8A547-A64B-4F89-B113-DBF26DA95F1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6" y="1358411"/>
            <a:ext cx="4501662" cy="253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71" y="337839"/>
            <a:ext cx="8505000" cy="504000"/>
          </a:xfrm>
        </p:spPr>
        <p:txBody>
          <a:bodyPr/>
          <a:lstStyle/>
          <a:p>
            <a:pPr algn="ctr"/>
            <a:r>
              <a:rPr lang="tr-TR" dirty="0"/>
              <a:t>Dictionary Data Type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Flexibility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algn="l"/>
            <a:r>
              <a:rPr lang="en-US" dirty="0"/>
              <a:t>provides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flexible way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</a:t>
            </a:r>
            <a:r>
              <a:rPr lang="tr-TR" dirty="0"/>
              <a:t> access and organize data</a:t>
            </a:r>
            <a:endParaRPr lang="en-US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Collection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688112"/>
            <a:ext cx="1839467" cy="1373054"/>
          </a:xfrm>
        </p:spPr>
        <p:txBody>
          <a:bodyPr/>
          <a:lstStyle/>
          <a:p>
            <a:pPr algn="l"/>
            <a:r>
              <a:rPr lang="tr-TR" dirty="0"/>
              <a:t>Collection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of many values</a:t>
            </a:r>
            <a:endParaRPr lang="en-US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Indexes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5407" y="4688111"/>
            <a:ext cx="1781953" cy="1371725"/>
          </a:xfrm>
        </p:spPr>
        <p:txBody>
          <a:bodyPr/>
          <a:lstStyle/>
          <a:p>
            <a:pPr algn="l"/>
            <a:r>
              <a:rPr lang="en-US" dirty="0"/>
              <a:t>indexes for dictionaries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Use </a:t>
            </a:r>
            <a:r>
              <a:rPr lang="en-US" dirty="0"/>
              <a:t>different data types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not just</a:t>
            </a:r>
            <a:r>
              <a:rPr lang="tr-TR" dirty="0"/>
              <a:t> integers.</a:t>
            </a:r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Keys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88892" y="4627376"/>
            <a:ext cx="1446129" cy="1081427"/>
          </a:xfrm>
        </p:spPr>
        <p:txBody>
          <a:bodyPr/>
          <a:lstStyle/>
          <a:p>
            <a:r>
              <a:rPr lang="en-US" dirty="0"/>
              <a:t>Indexes for dictionaries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are called </a:t>
            </a:r>
            <a:r>
              <a:rPr lang="en-US" i="1" dirty="0"/>
              <a:t>keys</a:t>
            </a:r>
            <a:endParaRPr lang="en-US" dirty="0"/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Key-value pair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01132" y="4688111"/>
            <a:ext cx="1526421" cy="1480213"/>
          </a:xfrm>
        </p:spPr>
        <p:txBody>
          <a:bodyPr/>
          <a:lstStyle/>
          <a:p>
            <a:pPr algn="l"/>
            <a:r>
              <a:rPr lang="en-US" dirty="0"/>
              <a:t>a key </a:t>
            </a:r>
            <a:endParaRPr lang="tr-TR" dirty="0"/>
          </a:p>
          <a:p>
            <a:pPr algn="l"/>
            <a:r>
              <a:rPr lang="en-US" dirty="0"/>
              <a:t>with its</a:t>
            </a:r>
            <a:r>
              <a:rPr lang="tr-TR" dirty="0"/>
              <a:t> </a:t>
            </a:r>
            <a:r>
              <a:rPr lang="en-US" dirty="0"/>
              <a:t>associated</a:t>
            </a:r>
            <a:r>
              <a:rPr lang="tr-TR" dirty="0"/>
              <a:t> </a:t>
            </a:r>
            <a:r>
              <a:rPr lang="en-US" dirty="0"/>
              <a:t>value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is called a </a:t>
            </a:r>
            <a:r>
              <a:rPr lang="en-US" i="1" dirty="0"/>
              <a:t>key-value pair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348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99" y="549741"/>
            <a:ext cx="8505000" cy="504000"/>
          </a:xfrm>
        </p:spPr>
        <p:txBody>
          <a:bodyPr/>
          <a:lstStyle/>
          <a:p>
            <a:pPr algn="ctr"/>
            <a:r>
              <a:rPr lang="tr-TR" dirty="0"/>
              <a:t>Dictionary typed with braces: {}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myCat variable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683349"/>
            <a:ext cx="1731152" cy="831186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assigns a dictionary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the </a:t>
            </a:r>
            <a:r>
              <a:rPr lang="en-US" dirty="0" err="1"/>
              <a:t>myCat</a:t>
            </a:r>
            <a:r>
              <a:rPr lang="en-US" dirty="0"/>
              <a:t> variable</a:t>
            </a:r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keys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688112"/>
            <a:ext cx="1839467" cy="953033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'size’,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'color’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'disposition'.</a:t>
            </a:r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values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41073" y="4688111"/>
            <a:ext cx="1314995" cy="981169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fat’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'gray'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'loud',</a:t>
            </a:r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30100" y="3917626"/>
            <a:ext cx="1620440" cy="504000"/>
          </a:xfrm>
        </p:spPr>
        <p:txBody>
          <a:bodyPr/>
          <a:lstStyle/>
          <a:p>
            <a:r>
              <a:rPr lang="tr-TR" dirty="0"/>
              <a:t>fat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99908" y="4683646"/>
            <a:ext cx="1446129" cy="1081427"/>
          </a:xfrm>
        </p:spPr>
        <p:txBody>
          <a:bodyPr/>
          <a:lstStyle/>
          <a:p>
            <a:pPr algn="l"/>
            <a:r>
              <a:rPr lang="tr-TR" dirty="0"/>
              <a:t>&gt;&gt;&gt; myCat['size']</a:t>
            </a:r>
          </a:p>
          <a:p>
            <a:pPr algn="l"/>
            <a:r>
              <a:rPr lang="tr-TR" dirty="0"/>
              <a:t>'fat'</a:t>
            </a:r>
            <a:endParaRPr lang="en-US" dirty="0"/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fur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77575" y="4688111"/>
            <a:ext cx="2025748" cy="868627"/>
          </a:xfrm>
        </p:spPr>
        <p:txBody>
          <a:bodyPr/>
          <a:lstStyle/>
          <a:p>
            <a:pPr algn="l"/>
            <a:r>
              <a:rPr lang="en-US" dirty="0"/>
              <a:t>&gt;&gt;&gt; 'My cat has ' + </a:t>
            </a:r>
            <a:r>
              <a:rPr lang="en-US" dirty="0" err="1"/>
              <a:t>myCat</a:t>
            </a:r>
            <a:r>
              <a:rPr lang="en-US" dirty="0"/>
              <a:t>['color'] + ' fur.'</a:t>
            </a:r>
          </a:p>
          <a:p>
            <a:pPr algn="l"/>
            <a:r>
              <a:rPr lang="en-US" dirty="0"/>
              <a:t>'My cat has gray fur.'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00210-58E5-4829-84F1-437F2BD10A62}"/>
              </a:ext>
            </a:extLst>
          </p:cNvPr>
          <p:cNvSpPr/>
          <p:nvPr/>
        </p:nvSpPr>
        <p:spPr>
          <a:xfrm>
            <a:off x="626011" y="1530252"/>
            <a:ext cx="6126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&gt;&gt;&gt; myCat = {</a:t>
            </a:r>
            <a:r>
              <a:rPr lang="tr-TR" dirty="0">
                <a:solidFill>
                  <a:srgbClr val="00B0F0"/>
                </a:solidFill>
              </a:rPr>
              <a:t>'size</a:t>
            </a:r>
            <a:r>
              <a:rPr lang="tr-TR" dirty="0"/>
              <a:t>': 'fat', </a:t>
            </a:r>
            <a:r>
              <a:rPr lang="tr-TR" dirty="0">
                <a:solidFill>
                  <a:srgbClr val="00B0F0"/>
                </a:solidFill>
              </a:rPr>
              <a:t>'color</a:t>
            </a:r>
            <a:r>
              <a:rPr lang="tr-TR" dirty="0"/>
              <a:t>': 'gray', </a:t>
            </a:r>
            <a:r>
              <a:rPr lang="tr-TR" dirty="0">
                <a:solidFill>
                  <a:srgbClr val="00B0F0"/>
                </a:solidFill>
              </a:rPr>
              <a:t>'disposition</a:t>
            </a:r>
            <a:r>
              <a:rPr lang="tr-TR" dirty="0"/>
              <a:t>': 'loud'}</a:t>
            </a:r>
          </a:p>
        </p:txBody>
      </p:sp>
    </p:spTree>
    <p:extLst>
      <p:ext uri="{BB962C8B-B14F-4D97-AF65-F5344CB8AC3E}">
        <p14:creationId xmlns:p14="http://schemas.microsoft.com/office/powerpoint/2010/main" val="73905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 err="1"/>
              <a:t>Chapter</a:t>
            </a:r>
            <a:r>
              <a:rPr lang="tr-TR" sz="2800" dirty="0"/>
              <a:t>-</a:t>
            </a:r>
            <a:r>
              <a:rPr lang="en-US" sz="2800" dirty="0"/>
              <a:t>5</a:t>
            </a:r>
            <a:r>
              <a:rPr lang="tr-TR" sz="2800" dirty="0"/>
              <a:t> </a:t>
            </a:r>
            <a:r>
              <a:rPr lang="en-US" sz="2800" dirty="0"/>
              <a:t>Data Dictionary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Dictionary Data Type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5D250C8-58FE-4D8F-BC66-E972C5D76CB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/>
          <a:srcRect l="1718" r="1718"/>
          <a:stretch>
            <a:fillRect/>
          </a:stretch>
        </p:blipFill>
        <p:spPr>
          <a:xfrm>
            <a:off x="65036" y="114850"/>
            <a:ext cx="4506964" cy="668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237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pPr algn="ctr"/>
            <a:r>
              <a:rPr lang="tr-TR" dirty="0"/>
              <a:t>Dictionary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Similar to a list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en-US" dirty="0"/>
              <a:t>Like a list</a:t>
            </a:r>
            <a:endParaRPr lang="tr-TR" dirty="0"/>
          </a:p>
          <a:p>
            <a:r>
              <a:rPr lang="en-US" dirty="0"/>
              <a:t>a </a:t>
            </a:r>
            <a:r>
              <a:rPr lang="en-US" i="1" dirty="0"/>
              <a:t>dictionary </a:t>
            </a:r>
            <a:r>
              <a:rPr lang="en-US" dirty="0"/>
              <a:t>is a collection of many values. 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7589" y="2933764"/>
            <a:ext cx="2690947" cy="432000"/>
          </a:xfrm>
        </p:spPr>
        <p:txBody>
          <a:bodyPr/>
          <a:lstStyle/>
          <a:p>
            <a:r>
              <a:rPr lang="tr-TR" sz="1200" dirty="0"/>
              <a:t>Difference from a list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1299216"/>
          </a:xfrm>
        </p:spPr>
        <p:txBody>
          <a:bodyPr/>
          <a:lstStyle/>
          <a:p>
            <a:r>
              <a:rPr lang="en-US" dirty="0"/>
              <a:t>indexes for dictionaries </a:t>
            </a:r>
            <a:endParaRPr lang="tr-TR" dirty="0"/>
          </a:p>
          <a:p>
            <a:r>
              <a:rPr lang="en-US" dirty="0"/>
              <a:t>can use many different data types</a:t>
            </a:r>
            <a:endParaRPr lang="tr-TR" dirty="0"/>
          </a:p>
          <a:p>
            <a:r>
              <a:rPr lang="en-US" dirty="0"/>
              <a:t> not just</a:t>
            </a:r>
            <a:r>
              <a:rPr lang="tr-TR" dirty="0"/>
              <a:t> integers</a:t>
            </a:r>
            <a:endParaRPr lang="en-US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/>
              <a:t>Braces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r>
              <a:rPr lang="en-US" dirty="0"/>
              <a:t>a dictionary is typed </a:t>
            </a:r>
            <a:endParaRPr lang="tr-TR" dirty="0"/>
          </a:p>
          <a:p>
            <a:r>
              <a:rPr lang="en-US" dirty="0"/>
              <a:t>with braces, {}.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2" name="Picture Placeholder 11" descr="A picture containing outdoor, bird, sitting, standing&#10;&#10;Description automatically generated">
            <a:extLst>
              <a:ext uri="{FF2B5EF4-FFF2-40B4-BE49-F238E27FC236}">
                <a16:creationId xmlns:a16="http://schemas.microsoft.com/office/drawing/2014/main" id="{CBC751B0-0EB0-4359-8FFF-9E03F27EB6F6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880" r="2588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3481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5FDBC12-C8FA-4450-A54B-86296F624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484" y="196948"/>
            <a:ext cx="9191033" cy="62133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947" y="1050979"/>
            <a:ext cx="4934411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Dictionary with values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316" y="4633421"/>
            <a:ext cx="7624690" cy="36000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tr-TR" dirty="0"/>
              <a:t>Variable = {key</a:t>
            </a:r>
            <a:r>
              <a:rPr lang="tr-TR" baseline="-25000" dirty="0"/>
              <a:t>1</a:t>
            </a:r>
            <a:r>
              <a:rPr lang="tr-TR" dirty="0"/>
              <a:t>: </a:t>
            </a:r>
            <a:r>
              <a:rPr lang="tr-TR" b="0" dirty="0"/>
              <a:t>value</a:t>
            </a:r>
            <a:r>
              <a:rPr lang="tr-TR" b="0" baseline="-25000" dirty="0"/>
              <a:t>1</a:t>
            </a:r>
            <a:r>
              <a:rPr lang="tr-TR" dirty="0"/>
              <a:t>, key</a:t>
            </a:r>
            <a:r>
              <a:rPr lang="tr-TR" baseline="-25000" dirty="0"/>
              <a:t>2</a:t>
            </a:r>
            <a:r>
              <a:rPr lang="tr-TR" dirty="0"/>
              <a:t>: </a:t>
            </a:r>
            <a:r>
              <a:rPr lang="tr-TR" b="0" dirty="0"/>
              <a:t>value</a:t>
            </a:r>
            <a:r>
              <a:rPr lang="tr-TR" b="0" baseline="-25000" dirty="0"/>
              <a:t>2</a:t>
            </a:r>
            <a:r>
              <a:rPr lang="tr-TR" dirty="0"/>
              <a:t>, key</a:t>
            </a:r>
            <a:r>
              <a:rPr lang="tr-TR" baseline="-25000" dirty="0"/>
              <a:t>3</a:t>
            </a:r>
            <a:r>
              <a:rPr lang="tr-TR" dirty="0"/>
              <a:t>: </a:t>
            </a:r>
            <a:r>
              <a:rPr lang="tr-TR" b="0" dirty="0"/>
              <a:t>value</a:t>
            </a:r>
            <a:r>
              <a:rPr lang="tr-TR" b="0" baseline="-25000" dirty="0"/>
              <a:t>3</a:t>
            </a:r>
            <a:r>
              <a:rPr lang="tr-TR" dirty="0"/>
              <a:t>, … key</a:t>
            </a:r>
            <a:r>
              <a:rPr lang="tr-TR" baseline="-25000" dirty="0"/>
              <a:t>i</a:t>
            </a:r>
            <a:r>
              <a:rPr lang="tr-TR" dirty="0"/>
              <a:t>: </a:t>
            </a:r>
            <a:r>
              <a:rPr lang="tr-TR" b="0" dirty="0"/>
              <a:t>value</a:t>
            </a:r>
            <a:r>
              <a:rPr lang="tr-TR" b="0" baseline="-25000" dirty="0"/>
              <a:t>i</a:t>
            </a:r>
            <a:r>
              <a:rPr lang="tr-TR" dirty="0"/>
              <a:t>, … key</a:t>
            </a:r>
            <a:r>
              <a:rPr lang="tr-TR" baseline="-25000" dirty="0"/>
              <a:t>n</a:t>
            </a:r>
            <a:r>
              <a:rPr lang="tr-TR" dirty="0"/>
              <a:t>: </a:t>
            </a:r>
            <a:r>
              <a:rPr lang="tr-TR" b="0" dirty="0"/>
              <a:t>value</a:t>
            </a:r>
            <a:r>
              <a:rPr lang="tr-TR" b="0" baseline="-25000" dirty="0"/>
              <a:t>n</a:t>
            </a:r>
            <a:r>
              <a:rPr lang="tr-TR" dirty="0"/>
              <a:t> 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4394" y="2681281"/>
            <a:ext cx="5120641" cy="31513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sz="1600" dirty="0">
                <a:solidFill>
                  <a:srgbClr val="00B0F0"/>
                </a:solidFill>
              </a:rPr>
              <a:t>myCat = {</a:t>
            </a:r>
            <a:r>
              <a:rPr lang="tr-TR" sz="1600" b="1" dirty="0">
                <a:solidFill>
                  <a:srgbClr val="00B0F0"/>
                </a:solidFill>
              </a:rPr>
              <a:t>'size</a:t>
            </a:r>
            <a:r>
              <a:rPr lang="tr-TR" sz="1600" dirty="0">
                <a:solidFill>
                  <a:srgbClr val="00B0F0"/>
                </a:solidFill>
              </a:rPr>
              <a:t>': 'fat', </a:t>
            </a:r>
            <a:r>
              <a:rPr lang="tr-TR" sz="1600" b="1" dirty="0">
                <a:solidFill>
                  <a:srgbClr val="00B0F0"/>
                </a:solidFill>
              </a:rPr>
              <a:t>'color</a:t>
            </a:r>
            <a:r>
              <a:rPr lang="tr-TR" sz="1600" dirty="0">
                <a:solidFill>
                  <a:srgbClr val="00B0F0"/>
                </a:solidFill>
              </a:rPr>
              <a:t>': 'gray', </a:t>
            </a:r>
            <a:r>
              <a:rPr lang="tr-TR" sz="1600" b="1" dirty="0">
                <a:solidFill>
                  <a:srgbClr val="00B0F0"/>
                </a:solidFill>
              </a:rPr>
              <a:t>'disposition</a:t>
            </a:r>
            <a:r>
              <a:rPr lang="tr-TR" sz="1600" dirty="0">
                <a:solidFill>
                  <a:srgbClr val="00B0F0"/>
                </a:solidFill>
              </a:rPr>
              <a:t>': 'loud'}</a:t>
            </a:r>
          </a:p>
        </p:txBody>
      </p:sp>
    </p:spTree>
    <p:extLst>
      <p:ext uri="{BB962C8B-B14F-4D97-AF65-F5344CB8AC3E}">
        <p14:creationId xmlns:p14="http://schemas.microsoft.com/office/powerpoint/2010/main" val="3858926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Dictionary with indexes &amp;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390" y="1191735"/>
            <a:ext cx="4459016" cy="1129434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myCat = {'size': 'fat', 'color': 'gray', 'disposition': 'loud'}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myCat</a:t>
            </a:r>
            <a:r>
              <a:rPr lang="en-US" dirty="0"/>
              <a:t> = {'size': 'fat', 'color': 'gray', 'disposition': 'loud'}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myCat</a:t>
            </a:r>
            <a:r>
              <a:rPr lang="en-US" dirty="0"/>
              <a:t>['size']</a:t>
            </a:r>
          </a:p>
          <a:p>
            <a:pPr marL="0" indent="0">
              <a:buNone/>
            </a:pPr>
            <a:r>
              <a:rPr lang="en-US" dirty="0"/>
              <a:t>'fat’</a:t>
            </a:r>
            <a:endParaRPr lang="tr-T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&gt;&gt;&gt; 'My cat has ' + </a:t>
            </a:r>
            <a:r>
              <a:rPr lang="en-US" dirty="0" err="1"/>
              <a:t>myCat</a:t>
            </a:r>
            <a:r>
              <a:rPr lang="en-US" dirty="0"/>
              <a:t>['color'] + ' fur.'</a:t>
            </a:r>
          </a:p>
          <a:p>
            <a:pPr marL="0" indent="0">
              <a:buNone/>
            </a:pPr>
            <a:r>
              <a:rPr lang="en-US" dirty="0"/>
              <a:t>'My cat has gray fur.'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02F673-1FF1-4245-9DF6-EF7CF0CEA3F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812" y="2391507"/>
            <a:ext cx="4461101" cy="297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72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Dictionary indexes still can be integers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49531"/>
            <a:ext cx="4149526" cy="2229395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No need to start with 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 = {12345: 'Luggage Combination', 42: 'The Answer'}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print('This is ' + spam[42] + ': ' + spam[12345])</a:t>
            </a:r>
          </a:p>
          <a:p>
            <a:pPr marL="0" indent="0">
              <a:buNone/>
            </a:pPr>
            <a:r>
              <a:rPr lang="en-US" dirty="0"/>
              <a:t>This is The Answer: Luggage Combination</a:t>
            </a:r>
          </a:p>
        </p:txBody>
      </p:sp>
      <p:pic>
        <p:nvPicPr>
          <p:cNvPr id="1026" name="Picture 2" descr="5 Endangered Animals You Should Meet | Discover Magazine">
            <a:extLst>
              <a:ext uri="{FF2B5EF4-FFF2-40B4-BE49-F238E27FC236}">
                <a16:creationId xmlns:a16="http://schemas.microsoft.com/office/drawing/2014/main" id="{10886417-5428-4157-9A92-02C2D7757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4000" y="3471364"/>
            <a:ext cx="4149526" cy="272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256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Dictionaries vs Lists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dirty="0"/>
              <a:t>items in dictionaries are unordered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Order of items in List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900000"/>
          </a:xfrm>
        </p:spPr>
        <p:txBody>
          <a:bodyPr/>
          <a:lstStyle/>
          <a:p>
            <a:r>
              <a:rPr lang="en-US" dirty="0"/>
              <a:t>The first item in a list</a:t>
            </a:r>
            <a:endParaRPr lang="tr-TR" dirty="0"/>
          </a:p>
          <a:p>
            <a:r>
              <a:rPr lang="tr-TR" dirty="0"/>
              <a:t>Starts with index 0</a:t>
            </a:r>
            <a:endParaRPr lang="en-US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Order of </a:t>
            </a:r>
            <a:r>
              <a:rPr lang="tr-TR" dirty="0" err="1"/>
              <a:t>items</a:t>
            </a:r>
            <a:r>
              <a:rPr lang="tr-TR" dirty="0"/>
              <a:t> in dictionary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3533" y="4688112"/>
            <a:ext cx="2039816" cy="900000"/>
          </a:xfrm>
        </p:spPr>
        <p:txBody>
          <a:bodyPr vert="horz" lIns="0" tIns="0" rIns="0" bIns="0" rtlCol="0">
            <a:noAutofit/>
          </a:bodyPr>
          <a:lstStyle/>
          <a:p>
            <a:r>
              <a:rPr lang="en-US" dirty="0"/>
              <a:t>there is no “first” item</a:t>
            </a:r>
            <a:endParaRPr lang="tr-TR" dirty="0"/>
          </a:p>
          <a:p>
            <a:r>
              <a:rPr lang="en-US" dirty="0"/>
              <a:t>in a dictionary.</a:t>
            </a:r>
            <a:endParaRPr lang="en-US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4175" y="3870065"/>
            <a:ext cx="2196102" cy="504000"/>
          </a:xfrm>
        </p:spPr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43002" y="4403188"/>
            <a:ext cx="2138289" cy="1814732"/>
          </a:xfrm>
        </p:spPr>
        <p:txBody>
          <a:bodyPr/>
          <a:lstStyle/>
          <a:p>
            <a:pPr algn="l"/>
            <a:r>
              <a:rPr lang="tr-TR" dirty="0"/>
              <a:t>&gt;&gt;&gt; spam = ['A', 'B', 'C']</a:t>
            </a:r>
          </a:p>
          <a:p>
            <a:pPr algn="l"/>
            <a:r>
              <a:rPr lang="tr-TR" dirty="0"/>
              <a:t>&gt;&gt;&gt; spam[0]</a:t>
            </a:r>
          </a:p>
          <a:p>
            <a:pPr algn="l"/>
            <a:r>
              <a:rPr lang="tr-TR" dirty="0"/>
              <a:t>'A'</a:t>
            </a:r>
          </a:p>
          <a:p>
            <a:pPr algn="l"/>
            <a:r>
              <a:rPr lang="tr-TR" dirty="0"/>
              <a:t>&gt;&gt;&gt; spam[1]</a:t>
            </a:r>
          </a:p>
          <a:p>
            <a:pPr algn="l"/>
            <a:r>
              <a:rPr lang="tr-TR" dirty="0"/>
              <a:t>'B'</a:t>
            </a:r>
          </a:p>
          <a:p>
            <a:pPr algn="l"/>
            <a:r>
              <a:rPr lang="tr-TR" dirty="0"/>
              <a:t>&gt;&gt;&gt; spam[2]</a:t>
            </a:r>
          </a:p>
          <a:p>
            <a:pPr algn="l"/>
            <a:r>
              <a:rPr lang="tr-TR" dirty="0"/>
              <a:t>'C'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846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Dictionaries vs Lists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dirty="0"/>
              <a:t>the order of items </a:t>
            </a:r>
            <a:r>
              <a:rPr lang="tr-TR" dirty="0"/>
              <a:t>in </a:t>
            </a:r>
            <a:r>
              <a:rPr lang="tr-TR" dirty="0" err="1"/>
              <a:t>list</a:t>
            </a:r>
            <a:r>
              <a:rPr lang="tr-TR" dirty="0"/>
              <a:t> </a:t>
            </a:r>
            <a:r>
              <a:rPr lang="en-US" dirty="0"/>
              <a:t>matters</a:t>
            </a:r>
            <a:r>
              <a:rPr lang="tr-TR" dirty="0"/>
              <a:t> </a:t>
            </a:r>
            <a:r>
              <a:rPr lang="tr-TR" dirty="0" err="1"/>
              <a:t>unlike</a:t>
            </a:r>
            <a:r>
              <a:rPr lang="tr-TR" dirty="0"/>
              <a:t> </a:t>
            </a:r>
            <a:r>
              <a:rPr lang="tr-TR" dirty="0" err="1"/>
              <a:t>dictionaries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Order in list matters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900000"/>
          </a:xfrm>
        </p:spPr>
        <p:txBody>
          <a:bodyPr/>
          <a:lstStyle/>
          <a:p>
            <a:r>
              <a:rPr lang="en-US" dirty="0"/>
              <a:t>for determining</a:t>
            </a:r>
            <a:endParaRPr lang="tr-TR" dirty="0"/>
          </a:p>
          <a:p>
            <a:r>
              <a:rPr lang="en-US" dirty="0"/>
              <a:t> whether two lists </a:t>
            </a:r>
            <a:endParaRPr lang="tr-TR" dirty="0"/>
          </a:p>
          <a:p>
            <a:r>
              <a:rPr lang="en-US" dirty="0"/>
              <a:t>are the</a:t>
            </a:r>
            <a:r>
              <a:rPr lang="tr-TR" dirty="0"/>
              <a:t> </a:t>
            </a:r>
            <a:r>
              <a:rPr lang="en-US" dirty="0"/>
              <a:t>same, 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/>
              <a:t>Order in dictionary doesn’t matter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3533" y="4688112"/>
            <a:ext cx="2039816" cy="900000"/>
          </a:xfrm>
        </p:spPr>
        <p:txBody>
          <a:bodyPr vert="horz" lIns="0" tIns="0" rIns="0" bIns="0" rtlCol="0">
            <a:noAutofit/>
          </a:bodyPr>
          <a:lstStyle/>
          <a:p>
            <a:r>
              <a:rPr lang="en-US" dirty="0"/>
              <a:t>does not matter </a:t>
            </a:r>
            <a:endParaRPr lang="tr-TR" dirty="0"/>
          </a:p>
          <a:p>
            <a:r>
              <a:rPr lang="en-US" dirty="0"/>
              <a:t>whether two </a:t>
            </a:r>
            <a:r>
              <a:rPr lang="tr-TR" dirty="0"/>
              <a:t>dictionaries</a:t>
            </a:r>
          </a:p>
          <a:p>
            <a:r>
              <a:rPr lang="en-US" dirty="0"/>
              <a:t> are the</a:t>
            </a:r>
            <a:r>
              <a:rPr lang="tr-TR" dirty="0"/>
              <a:t> </a:t>
            </a:r>
            <a:r>
              <a:rPr lang="en-US" dirty="0"/>
              <a:t>same</a:t>
            </a:r>
            <a:endParaRPr lang="en-US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97399" y="3490237"/>
            <a:ext cx="2196102" cy="504000"/>
          </a:xfrm>
        </p:spPr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39618" y="4093697"/>
            <a:ext cx="2841673" cy="2518118"/>
          </a:xfrm>
        </p:spPr>
        <p:txBody>
          <a:bodyPr/>
          <a:lstStyle/>
          <a:p>
            <a:pPr algn="l"/>
            <a:r>
              <a:rPr lang="tr-TR" dirty="0"/>
              <a:t>&gt;&gt;&gt; spam = ['cats', 'dogs', 'moose']</a:t>
            </a:r>
          </a:p>
          <a:p>
            <a:pPr algn="l"/>
            <a:r>
              <a:rPr lang="tr-TR" dirty="0"/>
              <a:t>&gt;&gt;&gt; friend = ['dogs', 'moose', 'cats']</a:t>
            </a:r>
          </a:p>
          <a:p>
            <a:pPr algn="l"/>
            <a:r>
              <a:rPr lang="tr-TR" dirty="0"/>
              <a:t>&gt;&gt;&gt; spam == friend</a:t>
            </a:r>
          </a:p>
          <a:p>
            <a:pPr algn="l"/>
            <a:r>
              <a:rPr lang="tr-TR" dirty="0"/>
              <a:t>False</a:t>
            </a:r>
          </a:p>
          <a:p>
            <a:pPr algn="l"/>
            <a:r>
              <a:rPr lang="en-US" dirty="0"/>
              <a:t>&gt;&gt;&gt; </a:t>
            </a:r>
            <a:r>
              <a:rPr lang="en-US" dirty="0" err="1"/>
              <a:t>anim</a:t>
            </a:r>
            <a:r>
              <a:rPr lang="tr-TR" dirty="0"/>
              <a:t>a</a:t>
            </a:r>
            <a:r>
              <a:rPr lang="en-US" dirty="0"/>
              <a:t>ls = {'name': '</a:t>
            </a:r>
            <a:r>
              <a:rPr lang="en-US" dirty="0" err="1"/>
              <a:t>Zophie</a:t>
            </a:r>
            <a:r>
              <a:rPr lang="en-US" dirty="0"/>
              <a:t>', 'species': 'cat', 'age': '8'}</a:t>
            </a:r>
          </a:p>
          <a:p>
            <a:pPr algn="l"/>
            <a:r>
              <a:rPr lang="en-US" dirty="0"/>
              <a:t>&gt;&gt;&gt; pets = {'species': 'cat', 'age': '8', 'name': '</a:t>
            </a:r>
            <a:r>
              <a:rPr lang="en-US" dirty="0" err="1"/>
              <a:t>Zophie</a:t>
            </a:r>
            <a:r>
              <a:rPr lang="en-US" dirty="0"/>
              <a:t>’}</a:t>
            </a:r>
            <a:endParaRPr lang="tr-TR" dirty="0"/>
          </a:p>
          <a:p>
            <a:pPr algn="l"/>
            <a:r>
              <a:rPr lang="en-US" dirty="0"/>
              <a:t>&gt;&gt;&gt; animals == pets</a:t>
            </a:r>
          </a:p>
          <a:p>
            <a:pPr algn="l"/>
            <a:r>
              <a:rPr lang="en-US" dirty="0"/>
              <a:t>True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35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Dictionaries vs Lists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tr-TR" dirty="0"/>
              <a:t>Dictionaries </a:t>
            </a:r>
            <a:r>
              <a:rPr lang="en-US" dirty="0"/>
              <a:t>can’t be sliced like lists</a:t>
            </a:r>
            <a:r>
              <a:rPr lang="tr-TR" dirty="0"/>
              <a:t>, they are unordered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Lists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900000"/>
          </a:xfrm>
        </p:spPr>
        <p:txBody>
          <a:bodyPr/>
          <a:lstStyle/>
          <a:p>
            <a:r>
              <a:rPr lang="tr-TR" dirty="0"/>
              <a:t>Can be slices</a:t>
            </a:r>
          </a:p>
          <a:p>
            <a:r>
              <a:rPr lang="tr-TR" dirty="0"/>
              <a:t>They are ordered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Dictionaries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3533" y="4688112"/>
            <a:ext cx="2039816" cy="900000"/>
          </a:xfrm>
        </p:spPr>
        <p:txBody>
          <a:bodyPr vert="horz" lIns="0" tIns="0" rIns="0" bIns="0" rtlCol="0">
            <a:noAutofit/>
          </a:bodyPr>
          <a:lstStyle/>
          <a:p>
            <a:r>
              <a:rPr lang="tr-TR" dirty="0"/>
              <a:t>Cannot be slices</a:t>
            </a:r>
          </a:p>
          <a:p>
            <a:r>
              <a:rPr lang="tr-TR" dirty="0"/>
              <a:t>They are unordered</a:t>
            </a:r>
            <a:endParaRPr lang="en-US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97399" y="3490237"/>
            <a:ext cx="2196102" cy="504000"/>
          </a:xfrm>
        </p:spPr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53686" y="3727939"/>
            <a:ext cx="2841673" cy="2504049"/>
          </a:xfrm>
        </p:spPr>
        <p:txBody>
          <a:bodyPr/>
          <a:lstStyle/>
          <a:p>
            <a:pPr algn="l"/>
            <a:r>
              <a:rPr lang="tr-TR" dirty="0"/>
              <a:t>&gt;&gt;&gt; spam = ['cats', 'dogs', 'moose']</a:t>
            </a:r>
          </a:p>
          <a:p>
            <a:pPr algn="l"/>
            <a:r>
              <a:rPr lang="tr-TR" dirty="0"/>
              <a:t>&gt;&gt;&gt; spam[0:1]</a:t>
            </a:r>
          </a:p>
          <a:p>
            <a:pPr algn="l"/>
            <a:r>
              <a:rPr lang="tr-TR" dirty="0"/>
              <a:t>['cats']</a:t>
            </a:r>
          </a:p>
          <a:p>
            <a:pPr algn="l"/>
            <a:r>
              <a:rPr lang="tr-TR" dirty="0"/>
              <a:t>&gt;&gt;&gt; spam[0:2]</a:t>
            </a:r>
          </a:p>
          <a:p>
            <a:pPr algn="l"/>
            <a:r>
              <a:rPr lang="tr-TR" dirty="0"/>
              <a:t>['cats', 'dogs’]</a:t>
            </a:r>
          </a:p>
          <a:p>
            <a:pPr algn="l"/>
            <a:endParaRPr lang="tr-TR" dirty="0"/>
          </a:p>
          <a:p>
            <a:pPr algn="l"/>
            <a:r>
              <a:rPr lang="en-US" dirty="0"/>
              <a:t>&gt;&gt;&gt; </a:t>
            </a:r>
            <a:r>
              <a:rPr lang="en-US" dirty="0" err="1"/>
              <a:t>anim</a:t>
            </a:r>
            <a:r>
              <a:rPr lang="tr-TR" dirty="0"/>
              <a:t>a</a:t>
            </a:r>
            <a:r>
              <a:rPr lang="en-US" dirty="0"/>
              <a:t>ls = {'name': '</a:t>
            </a:r>
            <a:r>
              <a:rPr lang="en-US" dirty="0" err="1"/>
              <a:t>Zophie</a:t>
            </a:r>
            <a:r>
              <a:rPr lang="en-US" dirty="0"/>
              <a:t>', 'species': 'cat', 'age': '8'}</a:t>
            </a:r>
          </a:p>
          <a:p>
            <a:pPr algn="l"/>
            <a:r>
              <a:rPr lang="en-US" dirty="0"/>
              <a:t>&gt;&gt;&gt; animals['name':2]</a:t>
            </a:r>
          </a:p>
          <a:p>
            <a:pPr algn="l"/>
            <a:r>
              <a:rPr lang="en-US" dirty="0" err="1"/>
              <a:t>TypeError</a:t>
            </a:r>
            <a:r>
              <a:rPr lang="en-US" dirty="0"/>
              <a:t>: </a:t>
            </a:r>
            <a:r>
              <a:rPr lang="en-US" dirty="0" err="1"/>
              <a:t>unhashable</a:t>
            </a:r>
            <a:r>
              <a:rPr lang="en-US" dirty="0"/>
              <a:t> type: 'slice'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19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Dictionaries vs Lists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dirty="0"/>
              <a:t>access </a:t>
            </a:r>
            <a:r>
              <a:rPr lang="tr-TR" dirty="0"/>
              <a:t>to </a:t>
            </a:r>
            <a:r>
              <a:rPr lang="en-US" dirty="0"/>
              <a:t>a not exist in a dictionary will result </a:t>
            </a:r>
            <a:r>
              <a:rPr lang="tr-TR" dirty="0"/>
              <a:t>with error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Lists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40213" y="4449771"/>
            <a:ext cx="1620440" cy="900000"/>
          </a:xfrm>
        </p:spPr>
        <p:txBody>
          <a:bodyPr/>
          <a:lstStyle/>
          <a:p>
            <a:pPr algn="l"/>
            <a:r>
              <a:rPr lang="en-US" dirty="0"/>
              <a:t>“out-of-range”</a:t>
            </a:r>
            <a:endParaRPr lang="tr-TR" dirty="0"/>
          </a:p>
          <a:p>
            <a:pPr algn="l"/>
            <a:r>
              <a:rPr lang="en-US" dirty="0" err="1"/>
              <a:t>IndexError</a:t>
            </a:r>
            <a:r>
              <a:rPr lang="en-US" dirty="0"/>
              <a:t> error</a:t>
            </a:r>
          </a:p>
          <a:p>
            <a:pPr algn="l"/>
            <a:r>
              <a:rPr lang="tr-TR" dirty="0"/>
              <a:t>message.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Dictionaries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3533" y="4425355"/>
            <a:ext cx="2039816" cy="900000"/>
          </a:xfrm>
        </p:spPr>
        <p:txBody>
          <a:bodyPr vert="horz" lIns="0" tIns="0" rIns="0" bIns="0" rtlCol="0">
            <a:noAutofit/>
          </a:bodyPr>
          <a:lstStyle/>
          <a:p>
            <a:r>
              <a:rPr lang="en-US" dirty="0" err="1"/>
              <a:t>KeyError</a:t>
            </a:r>
            <a:r>
              <a:rPr lang="en-US" dirty="0"/>
              <a:t> error message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97399" y="3963200"/>
            <a:ext cx="2196102" cy="504000"/>
          </a:xfrm>
        </p:spPr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97415" y="4430335"/>
            <a:ext cx="2841673" cy="1829788"/>
          </a:xfrm>
        </p:spPr>
        <p:txBody>
          <a:bodyPr/>
          <a:lstStyle/>
          <a:p>
            <a:pPr algn="l"/>
            <a:r>
              <a:rPr lang="en-US" dirty="0"/>
              <a:t>&gt;&gt;&gt; spam = ['cats', 'dogs', 'moose']</a:t>
            </a:r>
          </a:p>
          <a:p>
            <a:pPr algn="l"/>
            <a:r>
              <a:rPr lang="en-US" dirty="0"/>
              <a:t>&gt;&gt;&gt; spam[5]</a:t>
            </a:r>
          </a:p>
          <a:p>
            <a:pPr algn="l"/>
            <a:r>
              <a:rPr lang="en-US" dirty="0" err="1"/>
              <a:t>IndexError</a:t>
            </a:r>
            <a:r>
              <a:rPr lang="en-US" dirty="0"/>
              <a:t>: list index out of range</a:t>
            </a:r>
            <a:endParaRPr lang="tr-TR" dirty="0"/>
          </a:p>
          <a:p>
            <a:pPr algn="l"/>
            <a:endParaRPr lang="tr-TR" dirty="0"/>
          </a:p>
          <a:p>
            <a:pPr algn="l"/>
            <a:r>
              <a:rPr lang="en-US" dirty="0"/>
              <a:t>&gt;&gt;&gt; spam = {'name': '</a:t>
            </a:r>
            <a:r>
              <a:rPr lang="en-US" dirty="0" err="1"/>
              <a:t>Zophie</a:t>
            </a:r>
            <a:r>
              <a:rPr lang="en-US" dirty="0"/>
              <a:t>', 'age': 7}</a:t>
            </a:r>
          </a:p>
          <a:p>
            <a:pPr algn="l"/>
            <a:r>
              <a:rPr lang="en-US" dirty="0"/>
              <a:t>&gt;&gt;&gt; spam['color']</a:t>
            </a:r>
          </a:p>
          <a:p>
            <a:pPr algn="l"/>
            <a:r>
              <a:rPr lang="en-US" dirty="0" err="1"/>
              <a:t>KeyError</a:t>
            </a:r>
            <a:r>
              <a:rPr lang="en-US" dirty="0"/>
              <a:t>: 'color'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55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77" y="365676"/>
            <a:ext cx="8505000" cy="542228"/>
          </a:xfrm>
        </p:spPr>
        <p:txBody>
          <a:bodyPr/>
          <a:lstStyle/>
          <a:p>
            <a:pPr algn="ctr"/>
            <a:r>
              <a:rPr lang="tr-TR" dirty="0"/>
              <a:t>Dictionaries: Powerful way to organize data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Arbitrary key </a:t>
            </a:r>
            <a:r>
              <a:rPr lang="en-US" dirty="0"/>
              <a:t>values </a:t>
            </a:r>
            <a:endParaRPr lang="tr-TR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683349"/>
            <a:ext cx="1731152" cy="1673908"/>
          </a:xfrm>
        </p:spPr>
        <p:txBody>
          <a:bodyPr/>
          <a:lstStyle/>
          <a:p>
            <a:r>
              <a:rPr lang="tr-TR" dirty="0" err="1"/>
              <a:t>Lets</a:t>
            </a:r>
            <a:r>
              <a:rPr lang="tr-TR" dirty="0"/>
              <a:t> </a:t>
            </a:r>
            <a:r>
              <a:rPr lang="en-US" dirty="0"/>
              <a:t>to organize data</a:t>
            </a:r>
            <a:endParaRPr lang="tr-TR" dirty="0"/>
          </a:p>
          <a:p>
            <a:r>
              <a:rPr lang="en-US" dirty="0"/>
              <a:t>in powerful ways.</a:t>
            </a:r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Birthdays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688112"/>
            <a:ext cx="1839467" cy="1712688"/>
          </a:xfrm>
        </p:spPr>
        <p:txBody>
          <a:bodyPr/>
          <a:lstStyle/>
          <a:p>
            <a:r>
              <a:rPr lang="en-US" dirty="0"/>
              <a:t>to store data about</a:t>
            </a:r>
            <a:endParaRPr lang="tr-TR" dirty="0"/>
          </a:p>
          <a:p>
            <a:r>
              <a:rPr lang="en-US" dirty="0"/>
              <a:t>friends’ birthdays.</a:t>
            </a:r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Dictionary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41073" y="4688111"/>
            <a:ext cx="1314995" cy="1371725"/>
          </a:xfrm>
        </p:spPr>
        <p:txBody>
          <a:bodyPr/>
          <a:lstStyle/>
          <a:p>
            <a:pPr algn="l"/>
            <a:r>
              <a:rPr lang="tr-TR" dirty="0"/>
              <a:t>Keys: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names as keys</a:t>
            </a:r>
            <a:endParaRPr lang="tr-TR" dirty="0"/>
          </a:p>
          <a:p>
            <a:pPr algn="l"/>
            <a:r>
              <a:rPr lang="tr-TR" dirty="0"/>
              <a:t>Values: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birthdays</a:t>
            </a:r>
            <a:endParaRPr lang="tr-TR" b="1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77854" y="3917626"/>
            <a:ext cx="1620440" cy="504000"/>
          </a:xfrm>
        </p:spPr>
        <p:txBody>
          <a:bodyPr/>
          <a:lstStyle/>
          <a:p>
            <a:r>
              <a:rPr lang="tr-TR" dirty="0"/>
              <a:t>loop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99908" y="4683646"/>
            <a:ext cx="1446129" cy="1081427"/>
          </a:xfrm>
        </p:spPr>
        <p:txBody>
          <a:bodyPr/>
          <a:lstStyle/>
          <a:p>
            <a:pPr algn="l"/>
            <a:r>
              <a:rPr lang="tr-TR" b="1" dirty="0"/>
              <a:t>Use a loop</a:t>
            </a:r>
            <a:endParaRPr lang="en-US" dirty="0"/>
          </a:p>
          <a:p>
            <a:pPr algn="l"/>
            <a:r>
              <a:rPr lang="tr-TR" dirty="0"/>
              <a:t>To iterate over the values</a:t>
            </a:r>
            <a:endParaRPr lang="en-US" dirty="0"/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Easy processing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80663" y="4688111"/>
            <a:ext cx="1346889" cy="1480213"/>
          </a:xfrm>
        </p:spPr>
        <p:txBody>
          <a:bodyPr/>
          <a:lstStyle/>
          <a:p>
            <a:pPr algn="l"/>
            <a:r>
              <a:rPr lang="tr-TR" b="1" dirty="0"/>
              <a:t>Make it easy </a:t>
            </a:r>
          </a:p>
          <a:p>
            <a:pPr algn="l"/>
            <a:r>
              <a:rPr lang="tr-TR" dirty="0"/>
              <a:t>To process elements of the dictionary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887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birthdays.py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5865" y="896312"/>
            <a:ext cx="4104000" cy="2958235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birthdays = {'Alice': 'Apr 1', 'Bob': 'Dec 12', 'Carol': 'Mar 4'}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while True: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print('Enter a name: (blank to quit)')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name = input()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if name == '':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    break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if name in birthdays: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    print(birthdays[name] + ' is the birthday of ' + name)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else: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    print('I do not have birthday information for ' + name)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    print('What is their birthday?')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    bday = input()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    birthdays[name] = bday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    print('Birthday database updated.')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60523" y="887628"/>
            <a:ext cx="4103712" cy="569956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Enter a name: (blank to quit)</a:t>
            </a:r>
          </a:p>
          <a:p>
            <a:pPr marL="0" indent="0">
              <a:buNone/>
            </a:pPr>
            <a:r>
              <a:rPr lang="en-US" dirty="0"/>
              <a:t>Alice</a:t>
            </a:r>
          </a:p>
          <a:p>
            <a:pPr marL="0" indent="0">
              <a:buNone/>
            </a:pPr>
            <a:r>
              <a:rPr lang="en-US" dirty="0"/>
              <a:t>Apr 1 is the birthday of Alice</a:t>
            </a:r>
          </a:p>
          <a:p>
            <a:pPr marL="0" indent="0">
              <a:buNone/>
            </a:pPr>
            <a:r>
              <a:rPr lang="en-US" dirty="0"/>
              <a:t>Enter a name: (blank to quit)</a:t>
            </a:r>
          </a:p>
          <a:p>
            <a:pPr marL="0" indent="0">
              <a:buNone/>
            </a:pPr>
            <a:r>
              <a:rPr lang="en-US" dirty="0"/>
              <a:t>Eve</a:t>
            </a:r>
          </a:p>
          <a:p>
            <a:pPr marL="0" indent="0">
              <a:buNone/>
            </a:pPr>
            <a:r>
              <a:rPr lang="en-US" dirty="0"/>
              <a:t>I do not have birthday information for Eve</a:t>
            </a:r>
          </a:p>
          <a:p>
            <a:pPr marL="0" indent="0">
              <a:buNone/>
            </a:pPr>
            <a:r>
              <a:rPr lang="en-US" dirty="0"/>
              <a:t>What is their birthday?</a:t>
            </a:r>
          </a:p>
          <a:p>
            <a:pPr marL="0" indent="0">
              <a:buNone/>
            </a:pPr>
            <a:r>
              <a:rPr lang="en-US" dirty="0"/>
              <a:t>Dec 5</a:t>
            </a:r>
          </a:p>
          <a:p>
            <a:pPr marL="0" indent="0">
              <a:buNone/>
            </a:pPr>
            <a:r>
              <a:rPr lang="en-US" dirty="0"/>
              <a:t>Birthday database updated.</a:t>
            </a:r>
          </a:p>
          <a:p>
            <a:pPr marL="0" indent="0">
              <a:buNone/>
            </a:pPr>
            <a:r>
              <a:rPr lang="en-US" dirty="0"/>
              <a:t>Enter a name: (blank to quit)</a:t>
            </a:r>
          </a:p>
          <a:p>
            <a:pPr marL="0" indent="0">
              <a:buNone/>
            </a:pPr>
            <a:r>
              <a:rPr lang="en-US" dirty="0"/>
              <a:t>Eve</a:t>
            </a:r>
          </a:p>
          <a:p>
            <a:pPr marL="0" indent="0">
              <a:buNone/>
            </a:pPr>
            <a:r>
              <a:rPr lang="en-US" dirty="0"/>
              <a:t>Dec 5 is the birthday of Eve</a:t>
            </a:r>
          </a:p>
          <a:p>
            <a:pPr marL="0" indent="0">
              <a:buNone/>
            </a:pPr>
            <a:r>
              <a:rPr lang="en-US" dirty="0"/>
              <a:t>Enter a name: (blank to quit)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A353A3-FC77-4F7D-AA08-D4EE338E121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489" y="3861581"/>
            <a:ext cx="4093699" cy="272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75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4099092" cy="432000"/>
          </a:xfrm>
        </p:spPr>
        <p:txBody>
          <a:bodyPr/>
          <a:lstStyle/>
          <a:p>
            <a:pPr algn="ctr"/>
            <a:r>
              <a:rPr lang="en-US" dirty="0"/>
              <a:t>keys(), values(), items()</a:t>
            </a:r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Dictinary methods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858129"/>
          </a:xfrm>
        </p:spPr>
        <p:txBody>
          <a:bodyPr/>
          <a:lstStyle/>
          <a:p>
            <a:r>
              <a:rPr lang="tr-TR" b="1" dirty="0"/>
              <a:t>returns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list-like values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of the</a:t>
            </a:r>
            <a:r>
              <a:rPr lang="tr-TR" dirty="0"/>
              <a:t> dictionary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53053" y="2768302"/>
            <a:ext cx="2690947" cy="432000"/>
          </a:xfrm>
        </p:spPr>
        <p:txBody>
          <a:bodyPr/>
          <a:lstStyle/>
          <a:p>
            <a:r>
              <a:rPr lang="tr-TR" sz="1200" dirty="0"/>
              <a:t>not true lists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3"/>
            <a:ext cx="2370064" cy="1364865"/>
          </a:xfrm>
        </p:spPr>
        <p:txBody>
          <a:bodyPr/>
          <a:lstStyle/>
          <a:p>
            <a:r>
              <a:rPr lang="en-US" dirty="0"/>
              <a:t>values returned by these methods</a:t>
            </a:r>
            <a:endParaRPr lang="tr-TR" dirty="0"/>
          </a:p>
          <a:p>
            <a:r>
              <a:rPr lang="en-US" dirty="0"/>
              <a:t>are not </a:t>
            </a:r>
            <a:r>
              <a:rPr lang="en-US" b="1" dirty="0"/>
              <a:t>true</a:t>
            </a:r>
            <a:r>
              <a:rPr lang="en-US" dirty="0"/>
              <a:t> lists</a:t>
            </a:r>
            <a:r>
              <a:rPr lang="tr-TR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They cannot be </a:t>
            </a:r>
            <a:r>
              <a:rPr lang="en-US" dirty="0"/>
              <a:t>modified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not have an append() method.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/>
              <a:t>use in for loops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022166"/>
            <a:ext cx="2251799" cy="1256714"/>
          </a:xfrm>
        </p:spPr>
        <p:txBody>
          <a:bodyPr/>
          <a:lstStyle/>
          <a:p>
            <a:r>
              <a:rPr lang="en-US" dirty="0"/>
              <a:t>these data types</a:t>
            </a:r>
            <a:r>
              <a:rPr lang="tr-TR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dict_keys</a:t>
            </a:r>
            <a:r>
              <a:rPr lang="en-US" dirty="0"/>
              <a:t>,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dict_values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dict_items</a:t>
            </a:r>
            <a:endParaRPr lang="tr-TR" dirty="0"/>
          </a:p>
          <a:p>
            <a:r>
              <a:rPr lang="en-US" i="1" dirty="0"/>
              <a:t>can </a:t>
            </a:r>
            <a:r>
              <a:rPr lang="en-US" dirty="0"/>
              <a:t>be used in for loops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1" name="Picture Placeholder 10" descr="A rhinoceros standing in a field&#10;&#10;Description automatically generated">
            <a:extLst>
              <a:ext uri="{FF2B5EF4-FFF2-40B4-BE49-F238E27FC236}">
                <a16:creationId xmlns:a16="http://schemas.microsoft.com/office/drawing/2014/main" id="{2F4F678B-BD9A-4E0C-AA32-3BB9E798FE7F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t="5086" b="50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93004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Iterating over the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49532"/>
            <a:ext cx="4104000" cy="53993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 = {'color': 'red', 'age': 42}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6"/>
            <a:ext cx="4103712" cy="4880125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for v in spam.values():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	print(v)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red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42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941C4E-00BB-434C-9922-78AA2D12626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141" y="1885071"/>
            <a:ext cx="4093698" cy="409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94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277" y="409554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Iterating over the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1021" y="1250731"/>
            <a:ext cx="5457823" cy="1053184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 = {'color': 'red', 'age': 42}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81046" y="1250731"/>
            <a:ext cx="3165231" cy="473757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for k in </a:t>
            </a:r>
            <a:r>
              <a:rPr lang="en-US" dirty="0" err="1"/>
              <a:t>spam.keys</a:t>
            </a:r>
            <a:r>
              <a:rPr lang="en-US" dirty="0"/>
              <a:t>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print(k)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color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age</a:t>
            </a:r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3784A1-FADA-474E-AA4C-DC45EB10A8A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444" y="2372912"/>
            <a:ext cx="5465301" cy="364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901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Iterating over both keys and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3818" y="1209822"/>
            <a:ext cx="4926822" cy="59084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 = {'color': 'red', 'age': 42}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47248" y="1252024"/>
            <a:ext cx="3694293" cy="4742375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for </a:t>
            </a:r>
            <a:r>
              <a:rPr lang="en-US" dirty="0" err="1"/>
              <a:t>i</a:t>
            </a:r>
            <a:r>
              <a:rPr lang="en-US" dirty="0"/>
              <a:t> in </a:t>
            </a:r>
            <a:r>
              <a:rPr lang="en-US" dirty="0" err="1"/>
              <a:t>spam.items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	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('color', 'red')</a:t>
            </a:r>
          </a:p>
          <a:p>
            <a:pPr marL="0" indent="0">
              <a:buNone/>
            </a:pPr>
            <a:r>
              <a:rPr lang="en-US" dirty="0"/>
              <a:t>('age', 42)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C2D1E9-E91F-46F3-8ECC-0818A90F504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578" y="1871002"/>
            <a:ext cx="4885138" cy="412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58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use list() method to convert tuples returned from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998" y="1139484"/>
            <a:ext cx="4881047" cy="1786596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 = {'color': 'red', 'age': 42}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89452" y="1140847"/>
            <a:ext cx="3539548" cy="5036116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spam.keys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dict_keys</a:t>
            </a:r>
            <a:r>
              <a:rPr lang="en-US" dirty="0"/>
              <a:t>(['color', 'age’])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list(</a:t>
            </a:r>
            <a:r>
              <a:rPr lang="en-US" dirty="0" err="1"/>
              <a:t>spam.keys</a:t>
            </a:r>
            <a:r>
              <a:rPr lang="en-US" dirty="0"/>
              <a:t>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['color', 'age’]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list(spam.values())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['red', 42]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list(spam.items())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[('color', 'red'), ('age', 42)]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8F1A1-E892-4564-8ECC-BDB5E07AFE3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488" y="2912011"/>
            <a:ext cx="4893505" cy="326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48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9" y="249037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multiple assignment trick</a:t>
            </a:r>
            <a:r>
              <a:rPr lang="tr-TR" dirty="0"/>
              <a:t> in a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9932" y="858130"/>
            <a:ext cx="4979520" cy="1842867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b="1" dirty="0"/>
              <a:t>in a for loop </a:t>
            </a:r>
            <a:endParaRPr lang="tr-TR" b="1" dirty="0"/>
          </a:p>
          <a:p>
            <a:pPr marL="0" indent="0">
              <a:buNone/>
            </a:pPr>
            <a:r>
              <a:rPr lang="en-US" dirty="0"/>
              <a:t>to assign</a:t>
            </a:r>
          </a:p>
          <a:p>
            <a:r>
              <a:rPr lang="en-US" dirty="0"/>
              <a:t>the key and value</a:t>
            </a:r>
            <a:endParaRPr lang="tr-TR" dirty="0"/>
          </a:p>
          <a:p>
            <a:r>
              <a:rPr lang="en-US" dirty="0"/>
              <a:t>to separate variables.</a:t>
            </a:r>
            <a:endParaRPr lang="tr-TR" dirty="0"/>
          </a:p>
          <a:p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 = {'color': 'red', 'age': 42}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6062" y="829994"/>
            <a:ext cx="3412937" cy="534696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for k, v in </a:t>
            </a:r>
            <a:r>
              <a:rPr lang="en-US" dirty="0" err="1"/>
              <a:t>spam.items</a:t>
            </a:r>
            <a:r>
              <a:rPr lang="en-US" dirty="0"/>
              <a:t>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print('Key: ' + k + ' Value: ' + str(v))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Key: color Value: red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Key: age Value: 42</a:t>
            </a:r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B988BE-D109-4D9C-93E5-375268AC9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34" y="2731025"/>
            <a:ext cx="5014254" cy="353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154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en-US" dirty="0"/>
              <a:t>Checking Whether a Key or Value Exists in a Dictionary</a:t>
            </a:r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for lists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en-US" dirty="0"/>
              <a:t>in and not in operators </a:t>
            </a:r>
            <a:endParaRPr lang="tr-TR" dirty="0"/>
          </a:p>
          <a:p>
            <a:r>
              <a:rPr lang="en-US" dirty="0"/>
              <a:t>can check</a:t>
            </a:r>
          </a:p>
          <a:p>
            <a:r>
              <a:rPr lang="en-US" dirty="0"/>
              <a:t>whether a value exists in a list.</a:t>
            </a:r>
            <a:endParaRPr lang="tr-TR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53053" y="2768302"/>
            <a:ext cx="2690947" cy="432000"/>
          </a:xfrm>
        </p:spPr>
        <p:txBody>
          <a:bodyPr/>
          <a:lstStyle/>
          <a:p>
            <a:r>
              <a:rPr lang="tr-TR" sz="1200" dirty="0"/>
              <a:t>for dictionaries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00800" y="3333744"/>
            <a:ext cx="2545477" cy="1055376"/>
          </a:xfrm>
        </p:spPr>
        <p:txBody>
          <a:bodyPr/>
          <a:lstStyle/>
          <a:p>
            <a:r>
              <a:rPr lang="en-US" dirty="0"/>
              <a:t>use the</a:t>
            </a:r>
            <a:r>
              <a:rPr lang="tr-TR" dirty="0"/>
              <a:t> same</a:t>
            </a:r>
            <a:r>
              <a:rPr lang="en-US" dirty="0"/>
              <a:t> operators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not in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/>
              <a:t>exists or not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r>
              <a:rPr lang="en-US" dirty="0"/>
              <a:t>to see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certain key or value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exists in a dictionary.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16" name="Picture Placeholder 10" descr="A rhinoceros standing in a field&#10;&#10;Description automatically generated">
            <a:extLst>
              <a:ext uri="{FF2B5EF4-FFF2-40B4-BE49-F238E27FC236}">
                <a16:creationId xmlns:a16="http://schemas.microsoft.com/office/drawing/2014/main" id="{AE298E1A-20DF-4F68-B337-14E7DEEFADB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t="5086" b="5086"/>
          <a:stretch>
            <a:fillRect/>
          </a:stretch>
        </p:blipFill>
        <p:spPr>
          <a:xfrm>
            <a:off x="79375" y="496888"/>
            <a:ext cx="4656138" cy="6273800"/>
          </a:xfrm>
        </p:spPr>
      </p:pic>
    </p:spTree>
    <p:extLst>
      <p:ext uri="{BB962C8B-B14F-4D97-AF65-F5344CB8AC3E}">
        <p14:creationId xmlns:p14="http://schemas.microsoft.com/office/powerpoint/2010/main" val="1010980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Checkign existince using </a:t>
            </a:r>
            <a:r>
              <a:rPr lang="tr-TR" dirty="0">
                <a:solidFill>
                  <a:srgbClr val="00B0F0"/>
                </a:solidFill>
              </a:rPr>
              <a:t>in</a:t>
            </a:r>
            <a:r>
              <a:rPr lang="tr-TR" dirty="0"/>
              <a:t> and </a:t>
            </a:r>
            <a:r>
              <a:rPr lang="tr-TR" dirty="0">
                <a:solidFill>
                  <a:srgbClr val="00B0F0"/>
                </a:solidFill>
              </a:rPr>
              <a:t>not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5423" y="1463040"/>
            <a:ext cx="4867420" cy="98473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 = {'name': 'Zophie', 'age': 7}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9790" y="1519310"/>
            <a:ext cx="3469209" cy="468454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'name' in </a:t>
            </a:r>
            <a:r>
              <a:rPr lang="en-US" dirty="0" err="1"/>
              <a:t>spam.keys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</a:t>
            </a:r>
            <a:r>
              <a:rPr lang="en-US" dirty="0" err="1"/>
              <a:t>Zophie</a:t>
            </a:r>
            <a:r>
              <a:rPr lang="en-US" dirty="0"/>
              <a:t>' in </a:t>
            </a:r>
            <a:r>
              <a:rPr lang="en-US" dirty="0" err="1"/>
              <a:t>spam.values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'color' in </a:t>
            </a:r>
            <a:r>
              <a:rPr lang="en-US" dirty="0" err="1"/>
              <a:t>spam.keys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False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'color' not in </a:t>
            </a:r>
            <a:r>
              <a:rPr lang="en-US" dirty="0" err="1"/>
              <a:t>spam.keys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'color' in spam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False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('name', '</a:t>
            </a:r>
            <a:r>
              <a:rPr lang="en-US" dirty="0" err="1"/>
              <a:t>Zophie</a:t>
            </a:r>
            <a:r>
              <a:rPr lang="en-US" dirty="0"/>
              <a:t>') in </a:t>
            </a:r>
            <a:r>
              <a:rPr lang="en-US" dirty="0" err="1"/>
              <a:t>spam.items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EAA851-72F3-4B63-A96C-A2670936F41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286" y="2518117"/>
            <a:ext cx="4923692" cy="369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24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pPr algn="ctr"/>
            <a:r>
              <a:rPr lang="en-US" dirty="0"/>
              <a:t>The get() Method</a:t>
            </a:r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arguments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53053" y="1603717"/>
            <a:ext cx="2493224" cy="1064230"/>
          </a:xfrm>
        </p:spPr>
        <p:txBody>
          <a:bodyPr/>
          <a:lstStyle/>
          <a:p>
            <a:r>
              <a:rPr lang="tr-TR" dirty="0"/>
              <a:t>takes two</a:t>
            </a:r>
          </a:p>
          <a:p>
            <a:r>
              <a:rPr lang="en-US" dirty="0"/>
              <a:t>arguments</a:t>
            </a:r>
            <a:endParaRPr lang="tr-TR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53053" y="2768302"/>
            <a:ext cx="2690947" cy="432000"/>
          </a:xfrm>
        </p:spPr>
        <p:txBody>
          <a:bodyPr/>
          <a:lstStyle/>
          <a:p>
            <a:r>
              <a:rPr lang="en-US" sz="1200" dirty="0"/>
              <a:t>the key of the value</a:t>
            </a:r>
            <a:endParaRPr lang="tr-TR" sz="1200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00800" y="3333744"/>
            <a:ext cx="2545477" cy="1055376"/>
          </a:xfrm>
        </p:spPr>
        <p:txBody>
          <a:bodyPr/>
          <a:lstStyle/>
          <a:p>
            <a:r>
              <a:rPr lang="en-US" dirty="0"/>
              <a:t>to retrieve</a:t>
            </a:r>
            <a:endParaRPr lang="tr-TR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en-US" dirty="0"/>
              <a:t>fallback value</a:t>
            </a:r>
            <a:endParaRPr lang="tr-TR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r>
              <a:rPr lang="en-US" dirty="0"/>
              <a:t>to return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 if</a:t>
            </a:r>
            <a:r>
              <a:rPr lang="tr-TR" dirty="0"/>
              <a:t> </a:t>
            </a:r>
            <a:r>
              <a:rPr lang="en-US" dirty="0"/>
              <a:t>that key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does not exist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6" name="Picture Placeholder 10" descr="A rhinoceros standing in a field&#10;&#10;Description automatically generated">
            <a:extLst>
              <a:ext uri="{FF2B5EF4-FFF2-40B4-BE49-F238E27FC236}">
                <a16:creationId xmlns:a16="http://schemas.microsoft.com/office/drawing/2014/main" id="{AE298E1A-20DF-4F68-B337-14E7DEEFADB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t="5086" b="5086"/>
          <a:stretch>
            <a:fillRect/>
          </a:stretch>
        </p:blipFill>
        <p:spPr>
          <a:xfrm>
            <a:off x="79375" y="496888"/>
            <a:ext cx="4656138" cy="6273800"/>
          </a:xfrm>
        </p:spPr>
      </p:pic>
    </p:spTree>
    <p:extLst>
      <p:ext uri="{BB962C8B-B14F-4D97-AF65-F5344CB8AC3E}">
        <p14:creationId xmlns:p14="http://schemas.microsoft.com/office/powerpoint/2010/main" val="114976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get()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5423" y="1114097"/>
            <a:ext cx="4304712" cy="2049517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picnicItems</a:t>
            </a:r>
            <a:r>
              <a:rPr lang="en-US" dirty="0"/>
              <a:t> = {'apples': 5, 'cups': 2}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6745" y="1114098"/>
            <a:ext cx="4116322" cy="504109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'I am bringing ' + str(</a:t>
            </a:r>
            <a:r>
              <a:rPr lang="en-US" dirty="0" err="1"/>
              <a:t>picnicItems.get</a:t>
            </a:r>
            <a:r>
              <a:rPr lang="en-US" dirty="0"/>
              <a:t>('cups', 0)) + ' cups.'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'I am bringing 2 cups.’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'I am bringing ' + str(</a:t>
            </a:r>
            <a:r>
              <a:rPr lang="en-US" dirty="0" err="1"/>
              <a:t>picnicItems.get</a:t>
            </a:r>
            <a:r>
              <a:rPr lang="en-US" dirty="0"/>
              <a:t>('eggs', 0)) + ' eggs.'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'I am bringing 0 eggs.’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tr-TR" dirty="0"/>
              <a:t>Try this: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'I am bringing ' + str(picnicItems['eggs']) + ' </a:t>
            </a:r>
            <a:r>
              <a:rPr lang="tr-TR" dirty="0" err="1"/>
              <a:t>eggs</a:t>
            </a:r>
            <a:r>
              <a:rPr lang="tr-TR" dirty="0"/>
              <a:t>.</a:t>
            </a:r>
            <a:r>
              <a:rPr lang="en-US" dirty="0"/>
              <a:t>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KeyError: 'eggs'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B17E96-8619-4C4C-B885-CF836462EA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848" y="3290217"/>
            <a:ext cx="4305287" cy="286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679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pPr algn="ctr"/>
            <a:r>
              <a:rPr lang="en-US" dirty="0"/>
              <a:t>The </a:t>
            </a:r>
            <a:r>
              <a:rPr lang="tr-TR" dirty="0"/>
              <a:t>setdefault</a:t>
            </a:r>
            <a:r>
              <a:rPr lang="en-US" dirty="0"/>
              <a:t>() Method</a:t>
            </a:r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en-US" dirty="0"/>
              <a:t>to set a value</a:t>
            </a:r>
            <a:endParaRPr lang="tr-TR" dirty="0"/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998806"/>
          </a:xfrm>
        </p:spPr>
        <p:txBody>
          <a:bodyPr/>
          <a:lstStyle/>
          <a:p>
            <a:r>
              <a:rPr lang="en-US" dirty="0"/>
              <a:t>in a dictionary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a certain key </a:t>
            </a:r>
            <a:endParaRPr lang="tr-TR" dirty="0"/>
          </a:p>
          <a:p>
            <a:r>
              <a:rPr lang="tr-TR" dirty="0"/>
              <a:t>only if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that key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does not have a value</a:t>
            </a:r>
          </a:p>
          <a:p>
            <a:endParaRPr lang="tr-TR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0800" y="3088459"/>
            <a:ext cx="1755526" cy="253781"/>
          </a:xfrm>
        </p:spPr>
        <p:txBody>
          <a:bodyPr/>
          <a:lstStyle/>
          <a:p>
            <a:r>
              <a:rPr lang="tr-TR" sz="1200" dirty="0"/>
              <a:t>just one line of code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00800" y="3333744"/>
            <a:ext cx="2545477" cy="1055376"/>
          </a:xfrm>
        </p:spPr>
        <p:txBody>
          <a:bodyPr/>
          <a:lstStyle/>
          <a:p>
            <a:r>
              <a:rPr lang="en-US" dirty="0"/>
              <a:t>in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only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one line of code</a:t>
            </a:r>
            <a:endParaRPr lang="tr-TR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835817"/>
            <a:ext cx="2251800" cy="294880"/>
          </a:xfrm>
        </p:spPr>
        <p:txBody>
          <a:bodyPr/>
          <a:lstStyle/>
          <a:p>
            <a:r>
              <a:rPr lang="tr-TR" dirty="0"/>
              <a:t>nice shortcut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r>
              <a:rPr lang="en-US" dirty="0" err="1"/>
              <a:t>setdefault</a:t>
            </a:r>
            <a:r>
              <a:rPr lang="en-US" dirty="0"/>
              <a:t>() method </a:t>
            </a:r>
            <a:endParaRPr lang="tr-TR" dirty="0"/>
          </a:p>
          <a:p>
            <a:r>
              <a:rPr lang="en-US" dirty="0"/>
              <a:t>is a nice shortcut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ensure that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key exists.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6" name="Picture Placeholder 10" descr="A rhinoceros standing in a field&#10;&#10;Description automatically generated">
            <a:extLst>
              <a:ext uri="{FF2B5EF4-FFF2-40B4-BE49-F238E27FC236}">
                <a16:creationId xmlns:a16="http://schemas.microsoft.com/office/drawing/2014/main" id="{AE298E1A-20DF-4F68-B337-14E7DEEFADB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t="5086" b="5086"/>
          <a:stretch>
            <a:fillRect/>
          </a:stretch>
        </p:blipFill>
        <p:spPr>
          <a:xfrm>
            <a:off x="79375" y="496888"/>
            <a:ext cx="4656138" cy="6273800"/>
          </a:xfrm>
        </p:spPr>
      </p:pic>
    </p:spTree>
    <p:extLst>
      <p:ext uri="{BB962C8B-B14F-4D97-AF65-F5344CB8AC3E}">
        <p14:creationId xmlns:p14="http://schemas.microsoft.com/office/powerpoint/2010/main" val="993250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setdefault</a:t>
            </a:r>
            <a:r>
              <a:rPr lang="en-US" dirty="0"/>
              <a:t>() </a:t>
            </a:r>
            <a:r>
              <a:rPr lang="tr-TR" dirty="0" err="1"/>
              <a:t>method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3220" y="1097279"/>
            <a:ext cx="3938952" cy="689317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 = {'name': 'Pooka', 'age': 5}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8610" y="1026942"/>
            <a:ext cx="4116322" cy="4909624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spam.setdefault</a:t>
            </a:r>
            <a:r>
              <a:rPr lang="en-US" dirty="0"/>
              <a:t>('color', 'black')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'black’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{'name': 'Pooka', 'age': 5, 'color': 'black'}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spam.setdefault</a:t>
            </a:r>
            <a:r>
              <a:rPr lang="en-US" dirty="0"/>
              <a:t>('color', 'white')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'black’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{'name': 'Pooka', 'age': 5, 'color': 'black'}</a:t>
            </a: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0AC940-86C6-4DEB-B13B-0D1C8E51A1C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720" y="1781687"/>
            <a:ext cx="3928007" cy="414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56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characterCount.py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3220" y="1055076"/>
            <a:ext cx="4206238" cy="3924887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message = </a:t>
            </a:r>
            <a:r>
              <a:rPr lang="en-US" dirty="0" err="1"/>
              <a:t>'It</a:t>
            </a:r>
            <a:r>
              <a:rPr lang="en-US" dirty="0"/>
              <a:t> was a bright cold day in April, and the clocks were striking thirteen.'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count = 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for character in message: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count.setdefault</a:t>
            </a:r>
            <a:r>
              <a:rPr lang="en-US" dirty="0"/>
              <a:t>(character,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count[character] = count[character] + 1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print(count)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1353" y="5050303"/>
            <a:ext cx="4178105" cy="1181686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{'I': 1, 't': 6, ' ': 13, 'w': 2, 'a': 4, 's': 3, 'b': 1, 'r': 5, '</a:t>
            </a:r>
            <a:r>
              <a:rPr lang="en-US" dirty="0" err="1"/>
              <a:t>i</a:t>
            </a:r>
            <a:r>
              <a:rPr lang="en-US" dirty="0"/>
              <a:t>': 6, 'g': 2, 'h': 3, 'c': 3, 'o': 2, 'l': 3, 'd': 3, 'y': 1, 'n': 4, 'A': 1, 'p': 1, ',': 1, 'e': 5, 'k': 2, '.': 1}</a:t>
            </a:r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6C6DFB-9D0A-4119-9D29-33FC7414332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043" y="1051560"/>
            <a:ext cx="3837843" cy="511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Chapter-4 Lists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Pretty Printing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29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8" name="Picture Placeholder 8">
            <a:extLst>
              <a:ext uri="{FF2B5EF4-FFF2-40B4-BE49-F238E27FC236}">
                <a16:creationId xmlns:a16="http://schemas.microsoft.com/office/drawing/2014/main" id="{DE8F3FD5-50FA-4D36-8674-51BEF4CE6BD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/>
          <a:srcRect l="1718" r="1718"/>
          <a:stretch>
            <a:fillRect/>
          </a:stretch>
        </p:blipFill>
        <p:spPr>
          <a:xfrm>
            <a:off x="65088" y="87313"/>
            <a:ext cx="4506912" cy="66833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1050493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790" y="425829"/>
            <a:ext cx="8505000" cy="324000"/>
          </a:xfrm>
        </p:spPr>
        <p:txBody>
          <a:bodyPr/>
          <a:lstStyle/>
          <a:p>
            <a:pPr algn="ctr"/>
            <a:r>
              <a:rPr lang="tr-TR" dirty="0"/>
              <a:t>Pretty printing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en-US" dirty="0"/>
              <a:t>import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683350"/>
            <a:ext cx="1620000" cy="1070336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pprint</a:t>
            </a:r>
            <a:r>
              <a:rPr lang="en-US" dirty="0"/>
              <a:t> module</a:t>
            </a:r>
            <a:endParaRPr lang="tr-TR" dirty="0"/>
          </a:p>
          <a:p>
            <a:r>
              <a:rPr lang="en-US" dirty="0"/>
              <a:t>into </a:t>
            </a:r>
            <a:r>
              <a:rPr lang="tr-TR" dirty="0"/>
              <a:t> the </a:t>
            </a:r>
            <a:r>
              <a:rPr lang="en-US" dirty="0"/>
              <a:t>programs </a:t>
            </a:r>
            <a:endParaRPr lang="tr-TR" dirty="0"/>
          </a:p>
          <a:p>
            <a:r>
              <a:rPr lang="tr-TR" dirty="0"/>
              <a:t>to </a:t>
            </a:r>
            <a:r>
              <a:rPr lang="en-US" dirty="0"/>
              <a:t>access</a:t>
            </a:r>
            <a:endParaRPr lang="tr-TR" dirty="0"/>
          </a:p>
          <a:p>
            <a:r>
              <a:rPr lang="tr-TR" dirty="0"/>
              <a:t>pretty print functions</a:t>
            </a:r>
            <a:endParaRPr lang="en-US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044556" y="3828420"/>
            <a:ext cx="1620440" cy="504000"/>
          </a:xfrm>
        </p:spPr>
        <p:txBody>
          <a:bodyPr/>
          <a:lstStyle/>
          <a:p>
            <a:r>
              <a:rPr lang="en-US" dirty="0" err="1"/>
              <a:t>pprint</a:t>
            </a:r>
            <a:r>
              <a:rPr lang="en-US" dirty="0"/>
              <a:t>()</a:t>
            </a:r>
            <a:endParaRPr lang="tr-TR" dirty="0"/>
          </a:p>
          <a:p>
            <a:r>
              <a:rPr lang="en-US" dirty="0" err="1"/>
              <a:t>pformat</a:t>
            </a:r>
            <a:r>
              <a:rPr lang="en-US" dirty="0"/>
              <a:t>()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“pretty print” </a:t>
            </a:r>
            <a:endParaRPr lang="tr-TR" dirty="0"/>
          </a:p>
          <a:p>
            <a:r>
              <a:rPr lang="en-US" dirty="0"/>
              <a:t>a dictionary’s</a:t>
            </a:r>
            <a:r>
              <a:rPr lang="tr-TR" dirty="0"/>
              <a:t> </a:t>
            </a:r>
            <a:r>
              <a:rPr lang="en-US" dirty="0"/>
              <a:t>values</a:t>
            </a:r>
            <a:endParaRPr lang="tr-TR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cleaner display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5407" y="4688111"/>
            <a:ext cx="1620441" cy="1371725"/>
          </a:xfrm>
        </p:spPr>
        <p:txBody>
          <a:bodyPr/>
          <a:lstStyle/>
          <a:p>
            <a:r>
              <a:rPr lang="en-US" dirty="0"/>
              <a:t>helpful </a:t>
            </a:r>
            <a:endParaRPr lang="tr-TR" dirty="0"/>
          </a:p>
          <a:p>
            <a:r>
              <a:rPr lang="tr-TR" dirty="0"/>
              <a:t>for </a:t>
            </a:r>
            <a:r>
              <a:rPr lang="en-US" dirty="0"/>
              <a:t>a cleaner display</a:t>
            </a:r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Dictionary items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68687" y="4683646"/>
            <a:ext cx="1838014" cy="1560399"/>
          </a:xfrm>
        </p:spPr>
        <p:txBody>
          <a:bodyPr/>
          <a:lstStyle/>
          <a:p>
            <a:r>
              <a:rPr lang="en-US" dirty="0"/>
              <a:t>the items in a</a:t>
            </a:r>
            <a:r>
              <a:rPr lang="tr-TR" dirty="0"/>
              <a:t> </a:t>
            </a:r>
            <a:r>
              <a:rPr lang="en-US" dirty="0"/>
              <a:t>dictionary</a:t>
            </a:r>
            <a:endParaRPr lang="tr-TR" dirty="0"/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cleaner output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84571" y="4688111"/>
            <a:ext cx="1642981" cy="1582060"/>
          </a:xfrm>
        </p:spPr>
        <p:txBody>
          <a:bodyPr/>
          <a:lstStyle/>
          <a:p>
            <a:r>
              <a:rPr lang="tr-TR" dirty="0"/>
              <a:t>cleaner display</a:t>
            </a:r>
          </a:p>
          <a:p>
            <a:r>
              <a:rPr lang="tr-TR" dirty="0"/>
              <a:t>with the keys sorted.</a:t>
            </a:r>
          </a:p>
          <a:p>
            <a:pPr algn="l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87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prettyCharacterCount.py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3220" y="1055077"/>
            <a:ext cx="4206238" cy="1786597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import </a:t>
            </a:r>
            <a:r>
              <a:rPr lang="en-US" dirty="0" err="1"/>
              <a:t>pprint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message = </a:t>
            </a:r>
            <a:r>
              <a:rPr lang="en-US" dirty="0" err="1"/>
              <a:t>'It</a:t>
            </a:r>
            <a:r>
              <a:rPr lang="en-US" dirty="0"/>
              <a:t> was a bright cold day in April, and the clocks were striking thirteen.'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count = 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for character in message: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count.setdefault</a:t>
            </a:r>
            <a:r>
              <a:rPr lang="en-US" dirty="0"/>
              <a:t>(character,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count[character] = count[character] + 1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pprint.pprint</a:t>
            </a:r>
            <a:r>
              <a:rPr lang="en-US" dirty="0"/>
              <a:t>(count)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8608" y="998807"/>
            <a:ext cx="4178105" cy="5205045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{' ': 13,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',': 1,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'.': 1,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'A': 1,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'I': 1,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'a': 4,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'b': 1,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'c': 3,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'd': 3,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'e': 5,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'g': 2,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'h': 3,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</a:t>
            </a:r>
            <a:r>
              <a:rPr lang="en-US" dirty="0" err="1"/>
              <a:t>i</a:t>
            </a:r>
            <a:r>
              <a:rPr lang="en-US" dirty="0"/>
              <a:t>': 6,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'k': 2,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'l': 3,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'n': 4,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'o': 2,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'p': 1,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'r': 5,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's': 3,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't': 6,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'w': 2,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'y': 1}</a:t>
            </a: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00B93D-6898-4401-81AB-F1EA7971760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571" y="2954214"/>
            <a:ext cx="4325019" cy="334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87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Chapter-5 Dictionaries and Structuring Data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Using Data Structures to Model Real-World Things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32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5" name="Picture Placeholder 8">
            <a:extLst>
              <a:ext uri="{FF2B5EF4-FFF2-40B4-BE49-F238E27FC236}">
                <a16:creationId xmlns:a16="http://schemas.microsoft.com/office/drawing/2014/main" id="{001BAD2A-996D-40CA-A468-111B2CE07FB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/>
          <a:srcRect l="1729" r="1729"/>
          <a:stretch>
            <a:fillRect/>
          </a:stretch>
        </p:blipFill>
        <p:spPr>
          <a:xfrm>
            <a:off x="65088" y="58738"/>
            <a:ext cx="4506912" cy="66849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40094091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2C79B0-0AE5-4CCE-A687-AEA5794B407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1762"/>
            <a:ext cx="9144000" cy="6094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518" y="389796"/>
            <a:ext cx="3179298" cy="432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Tic-Tac-Toe 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339" y="1673418"/>
            <a:ext cx="3502411" cy="281993"/>
          </a:xfrm>
          <a:solidFill>
            <a:schemeClr val="bg1">
              <a:lumMod val="85000"/>
              <a:alpha val="50000"/>
            </a:schemeClr>
          </a:solidFill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large hash symbol #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0752B-B871-4B72-8FE1-D34B8BB36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4339" y="2141278"/>
            <a:ext cx="3525189" cy="812939"/>
          </a:xfrm>
          <a:solidFill>
            <a:schemeClr val="bg1">
              <a:lumMod val="95000"/>
              <a:alpha val="7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looks like </a:t>
            </a:r>
            <a:endParaRPr lang="tr-TR" dirty="0"/>
          </a:p>
          <a:p>
            <a:r>
              <a:rPr lang="en-US" dirty="0"/>
              <a:t>a large hash</a:t>
            </a:r>
            <a:r>
              <a:rPr lang="tr-TR" dirty="0"/>
              <a:t> </a:t>
            </a:r>
            <a:r>
              <a:rPr lang="en-US" dirty="0"/>
              <a:t>symbol </a:t>
            </a:r>
            <a:endParaRPr lang="tr-TR" dirty="0"/>
          </a:p>
          <a:p>
            <a:r>
              <a:rPr lang="en-US" dirty="0"/>
              <a:t>#</a:t>
            </a:r>
            <a:endParaRPr lang="tr-TR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02C058-20DE-46C9-BB43-8B24E6B9E82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205981" y="1699938"/>
            <a:ext cx="3400097" cy="269081"/>
          </a:xfrm>
          <a:solidFill>
            <a:schemeClr val="bg1">
              <a:lumMod val="85000"/>
              <a:alpha val="50000"/>
            </a:schemeClr>
          </a:solidFill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tr-TR" sz="1800" b="1" dirty="0">
                <a:solidFill>
                  <a:schemeClr val="tx1"/>
                </a:solidFill>
              </a:rPr>
              <a:t>with nine slots 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F6C154B-5965-4955-8606-EDD5D277E1FC}"/>
              </a:ext>
            </a:extLst>
          </p:cNvPr>
          <p:cNvSpPr txBox="1">
            <a:spLocks/>
          </p:cNvSpPr>
          <p:nvPr/>
        </p:nvSpPr>
        <p:spPr>
          <a:xfrm>
            <a:off x="5040362" y="2119508"/>
            <a:ext cx="3525189" cy="1101996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each</a:t>
            </a:r>
            <a:r>
              <a:rPr lang="tr-TR" dirty="0"/>
              <a:t> can </a:t>
            </a:r>
            <a:r>
              <a:rPr lang="en-US" dirty="0"/>
              <a:t>contain</a:t>
            </a:r>
            <a:endParaRPr lang="tr-TR" dirty="0"/>
          </a:p>
          <a:p>
            <a:r>
              <a:rPr lang="en-US" dirty="0"/>
              <a:t> an </a:t>
            </a:r>
            <a:r>
              <a:rPr lang="en-US" i="1" dirty="0"/>
              <a:t>X</a:t>
            </a:r>
            <a:endParaRPr lang="tr-TR" dirty="0"/>
          </a:p>
          <a:p>
            <a:r>
              <a:rPr lang="en-US" dirty="0"/>
              <a:t>an </a:t>
            </a:r>
            <a:r>
              <a:rPr lang="en-US" i="1" dirty="0"/>
              <a:t>O</a:t>
            </a:r>
            <a:endParaRPr lang="tr-TR" dirty="0"/>
          </a:p>
          <a:p>
            <a:r>
              <a:rPr lang="en-US" dirty="0"/>
              <a:t>a blank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81E6F1-B62B-494B-A026-50B244D2D2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814" y="3709125"/>
            <a:ext cx="2273031" cy="229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436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Data structure for Tic-Tac-Toe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999" y="1167618"/>
            <a:ext cx="3924443" cy="91440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theBoard</a:t>
            </a:r>
            <a:r>
              <a:rPr lang="en-US" dirty="0"/>
              <a:t> = {'top-L': ' ', 'top-M': ' ', 'top-R': ' ',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'mid-L': ' ', 'mid-M': ' ', 'mid-R': ' ',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'low-L': ' ', 'low-M': ' ', 'low-R': ' '}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89896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 err="1"/>
              <a:t>theBoard</a:t>
            </a:r>
            <a:r>
              <a:rPr lang="en-US" dirty="0"/>
              <a:t> = {'top-L': ' ', 'top-M': ' ', 'top-R': ' ',</a:t>
            </a:r>
          </a:p>
          <a:p>
            <a:pPr marL="0" indent="0">
              <a:buNone/>
            </a:pPr>
            <a:r>
              <a:rPr lang="en-US" dirty="0"/>
              <a:t>'mid-L': ' ', 'mid-M': 'X', 'mid-R': ' ',</a:t>
            </a:r>
          </a:p>
          <a:p>
            <a:pPr marL="0" indent="0">
              <a:buNone/>
            </a:pPr>
            <a:r>
              <a:rPr lang="en-US" dirty="0"/>
              <a:t>'low-L': ' ', 'low-M': ' ', 'low-R': ' '}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E1732D-B3B1-47A0-B0DC-89A2D7E6502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315" y="2134397"/>
            <a:ext cx="2016375" cy="16433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B7BB4F-3EEC-44E2-B9D7-BC51FDA9B55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8617" y="2258870"/>
            <a:ext cx="1813177" cy="1636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C425B-5A33-47E0-A845-5BA115505DA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983" y="5040153"/>
            <a:ext cx="1740650" cy="1673250"/>
          </a:xfrm>
          <a:prstGeom prst="rect">
            <a:avLst/>
          </a:prstGeom>
        </p:spPr>
      </p:pic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7CDB2248-2490-4488-B3FB-DF0047B27B66}"/>
              </a:ext>
            </a:extLst>
          </p:cNvPr>
          <p:cNvSpPr txBox="1">
            <a:spLocks/>
          </p:cNvSpPr>
          <p:nvPr/>
        </p:nvSpPr>
        <p:spPr>
          <a:xfrm>
            <a:off x="2106352" y="4050515"/>
            <a:ext cx="4103712" cy="89896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dirty="0" err="1"/>
              <a:t>theBoard</a:t>
            </a:r>
            <a:r>
              <a:rPr lang="tr-TR" dirty="0"/>
              <a:t> = {'top-L': 'O', 'top-M': 'O', 'top-R': 'O',</a:t>
            </a:r>
          </a:p>
          <a:p>
            <a:pPr marL="0" indent="0">
              <a:buNone/>
            </a:pPr>
            <a:r>
              <a:rPr lang="tr-TR" dirty="0"/>
              <a:t>'</a:t>
            </a:r>
            <a:r>
              <a:rPr lang="tr-TR" dirty="0" err="1"/>
              <a:t>mid</a:t>
            </a:r>
            <a:r>
              <a:rPr lang="tr-TR" dirty="0"/>
              <a:t>-L': 'X', '</a:t>
            </a:r>
            <a:r>
              <a:rPr lang="tr-TR" dirty="0" err="1"/>
              <a:t>mid</a:t>
            </a:r>
            <a:r>
              <a:rPr lang="tr-TR" dirty="0"/>
              <a:t>-M': 'X', '</a:t>
            </a:r>
            <a:r>
              <a:rPr lang="tr-TR" dirty="0" err="1"/>
              <a:t>mid</a:t>
            </a:r>
            <a:r>
              <a:rPr lang="tr-TR" dirty="0"/>
              <a:t>-R': ' ',</a:t>
            </a:r>
          </a:p>
          <a:p>
            <a:pPr marL="0" indent="0">
              <a:buNone/>
            </a:pPr>
            <a:r>
              <a:rPr lang="tr-TR" dirty="0"/>
              <a:t>'</a:t>
            </a:r>
            <a:r>
              <a:rPr lang="tr-TR" dirty="0" err="1"/>
              <a:t>low</a:t>
            </a:r>
            <a:r>
              <a:rPr lang="tr-TR" dirty="0"/>
              <a:t>-L': ' ', '</a:t>
            </a:r>
            <a:r>
              <a:rPr lang="tr-TR" dirty="0" err="1"/>
              <a:t>low</a:t>
            </a:r>
            <a:r>
              <a:rPr lang="tr-TR" dirty="0"/>
              <a:t>-M': ' ', '</a:t>
            </a:r>
            <a:r>
              <a:rPr lang="tr-TR" dirty="0" err="1"/>
              <a:t>low</a:t>
            </a:r>
            <a:r>
              <a:rPr lang="tr-TR" dirty="0"/>
              <a:t>-R': 'X '}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6633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prettyCharacterCount.py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3219" y="1055077"/>
            <a:ext cx="5190977" cy="226489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theBoard</a:t>
            </a:r>
            <a:r>
              <a:rPr lang="en-US" dirty="0"/>
              <a:t> = {'top-L': ' ', 'top-M': ' ', 'top-R': ' ',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'mid-L': ' ', 'mid-M': ' ', 'mid-R': ' ',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'low-L': ' ', 'low-M': ' ', 'low-R': ' '}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printBoard</a:t>
            </a:r>
            <a:r>
              <a:rPr lang="en-US" dirty="0"/>
              <a:t>(board):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print(board['top-L'] + '|' + board['top-M'] + '|' + board['top-R'])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print('-+-+-')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print(board['mid-L'] + '|' + board['mid-M'] + '|' + board['mid-R'])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print('-+-+-')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print(board['low-L'] + '|' + board['low-M'] + '|' + board['low-R'])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printBoard</a:t>
            </a:r>
            <a:r>
              <a:rPr lang="en-US" dirty="0"/>
              <a:t>(</a:t>
            </a:r>
            <a:r>
              <a:rPr lang="en-US" dirty="0" err="1"/>
              <a:t>theBoard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6738" y="998807"/>
            <a:ext cx="3079605" cy="5473377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/>
              <a:t>| |</a:t>
            </a:r>
          </a:p>
          <a:p>
            <a:pPr marL="0" indent="0">
              <a:buNone/>
            </a:pPr>
            <a:r>
              <a:rPr lang="tr-TR" dirty="0"/>
              <a:t>-+-+-</a:t>
            </a:r>
          </a:p>
          <a:p>
            <a:pPr marL="0" indent="0">
              <a:buNone/>
            </a:pPr>
            <a:r>
              <a:rPr lang="tr-TR" dirty="0"/>
              <a:t>| |</a:t>
            </a:r>
          </a:p>
          <a:p>
            <a:pPr marL="0" indent="0">
              <a:buNone/>
            </a:pPr>
            <a:r>
              <a:rPr lang="tr-TR" dirty="0"/>
              <a:t>-+-+-</a:t>
            </a:r>
          </a:p>
          <a:p>
            <a:pPr marL="0" indent="0">
              <a:buNone/>
            </a:pPr>
            <a:r>
              <a:rPr lang="tr-TR" dirty="0"/>
              <a:t>| |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1A07FB-6F63-41D1-AD5A-483128A20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96" y="3373682"/>
            <a:ext cx="5167534" cy="309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937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Chapter-5 Dictionaries and Structuring Data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Nested Dictionaries and Lists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36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5" name="Picture Placeholder 8">
            <a:extLst>
              <a:ext uri="{FF2B5EF4-FFF2-40B4-BE49-F238E27FC236}">
                <a16:creationId xmlns:a16="http://schemas.microsoft.com/office/drawing/2014/main" id="{12167F70-E94A-41EA-A89D-A93CF40994A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/>
          <a:srcRect l="1718" r="1718"/>
          <a:stretch>
            <a:fillRect/>
          </a:stretch>
        </p:blipFill>
        <p:spPr>
          <a:xfrm>
            <a:off x="65088" y="87313"/>
            <a:ext cx="4506912" cy="66833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2645430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95" y="597529"/>
            <a:ext cx="8495360" cy="503999"/>
          </a:xfrm>
        </p:spPr>
        <p:txBody>
          <a:bodyPr/>
          <a:lstStyle/>
          <a:p>
            <a:pPr algn="ctr"/>
            <a:r>
              <a:rPr lang="tr-TR" dirty="0"/>
              <a:t>Modeling </a:t>
            </a:r>
            <a:r>
              <a:rPr lang="tr-TR" dirty="0" err="1"/>
              <a:t>complicated</a:t>
            </a:r>
            <a:r>
              <a:rPr lang="tr-TR" dirty="0"/>
              <a:t> </a:t>
            </a:r>
            <a:r>
              <a:rPr lang="tr-TR" dirty="0" err="1"/>
              <a:t>real-world</a:t>
            </a:r>
            <a:r>
              <a:rPr lang="tr-TR" dirty="0"/>
              <a:t> entities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more complexity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683350"/>
            <a:ext cx="1620000" cy="1070336"/>
          </a:xfrm>
        </p:spPr>
        <p:txBody>
          <a:bodyPr/>
          <a:lstStyle/>
          <a:p>
            <a:r>
              <a:rPr lang="tr-TR" dirty="0"/>
              <a:t>to model</a:t>
            </a:r>
          </a:p>
          <a:p>
            <a:r>
              <a:rPr lang="tr-TR" dirty="0"/>
              <a:t>more complicated </a:t>
            </a:r>
            <a:r>
              <a:rPr lang="en-US" dirty="0"/>
              <a:t>things</a:t>
            </a:r>
            <a:endParaRPr lang="tr-TR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contain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l"/>
            <a:r>
              <a:rPr lang="en-US" dirty="0"/>
              <a:t>dictionaries and lists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can </a:t>
            </a:r>
            <a:r>
              <a:rPr lang="en-US" dirty="0"/>
              <a:t>contain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other dictionaries and lists</a:t>
            </a:r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Lists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3931" y="4688111"/>
            <a:ext cx="1391917" cy="1371725"/>
          </a:xfrm>
        </p:spPr>
        <p:txBody>
          <a:bodyPr/>
          <a:lstStyle/>
          <a:p>
            <a:pPr algn="l"/>
            <a:r>
              <a:rPr lang="en-US" dirty="0"/>
              <a:t>Lists are useful </a:t>
            </a:r>
            <a:endParaRPr lang="tr-TR" dirty="0"/>
          </a:p>
          <a:p>
            <a:pPr algn="l"/>
            <a:r>
              <a:rPr lang="en-US" dirty="0"/>
              <a:t>to contain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 an ordered series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of values</a:t>
            </a:r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dictionaries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28603" y="4683646"/>
            <a:ext cx="1578098" cy="1560399"/>
          </a:xfrm>
        </p:spPr>
        <p:txBody>
          <a:bodyPr/>
          <a:lstStyle/>
          <a:p>
            <a:pPr algn="l"/>
            <a:r>
              <a:rPr lang="en-US" dirty="0"/>
              <a:t>dictionaries are useful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for associating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keys with values</a:t>
            </a:r>
            <a:endParaRPr lang="tr-TR" dirty="0"/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mix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84571" y="4375051"/>
            <a:ext cx="1642981" cy="1895119"/>
          </a:xfrm>
        </p:spPr>
        <p:txBody>
          <a:bodyPr/>
          <a:lstStyle/>
          <a:p>
            <a:pPr algn="l"/>
            <a:r>
              <a:rPr lang="tr-TR" dirty="0"/>
              <a:t>complex programs</a:t>
            </a:r>
          </a:p>
          <a:p>
            <a:pPr algn="l"/>
            <a:r>
              <a:rPr lang="tr-TR" dirty="0"/>
              <a:t>might need mixing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dictionary contain dictionaries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dictionary contain lists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lists contain lists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list contain dictionary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394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party.py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999" y="1152000"/>
            <a:ext cx="4951385" cy="504000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 err="1"/>
              <a:t>allGuests</a:t>
            </a:r>
            <a:r>
              <a:rPr lang="en-US" dirty="0"/>
              <a:t> = {'Alice': {'apples': 5, 'pretzels': 12},</a:t>
            </a:r>
          </a:p>
          <a:p>
            <a:pPr marL="0" indent="0">
              <a:buNone/>
            </a:pPr>
            <a:r>
              <a:rPr lang="en-US" dirty="0"/>
              <a:t>    'Bob': {'ham sandwiches': 3, 'apples': 2},</a:t>
            </a:r>
          </a:p>
          <a:p>
            <a:pPr marL="0" indent="0">
              <a:buNone/>
            </a:pPr>
            <a:r>
              <a:rPr lang="en-US" dirty="0"/>
              <a:t>    'Carol': {'cups': 3, 'apple pies': 1}}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totalBrought</a:t>
            </a:r>
            <a:r>
              <a:rPr lang="en-US" dirty="0"/>
              <a:t>(guests, item):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numBrought</a:t>
            </a:r>
            <a:r>
              <a:rPr lang="en-US" dirty="0"/>
              <a:t> = 0</a:t>
            </a:r>
          </a:p>
          <a:p>
            <a:pPr marL="0" indent="0">
              <a:buNone/>
            </a:pPr>
            <a:r>
              <a:rPr lang="en-US" dirty="0"/>
              <a:t>    for k, v in </a:t>
            </a:r>
            <a:r>
              <a:rPr lang="en-US" dirty="0" err="1"/>
              <a:t>guests.items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numBrought</a:t>
            </a:r>
            <a:r>
              <a:rPr lang="en-US" dirty="0"/>
              <a:t> = </a:t>
            </a:r>
            <a:r>
              <a:rPr lang="en-US" dirty="0" err="1"/>
              <a:t>numBrought</a:t>
            </a:r>
            <a:r>
              <a:rPr lang="en-US" dirty="0"/>
              <a:t> + </a:t>
            </a:r>
            <a:r>
              <a:rPr lang="en-US" dirty="0" err="1"/>
              <a:t>v.get</a:t>
            </a:r>
            <a:r>
              <a:rPr lang="en-US" dirty="0"/>
              <a:t>(item, 0)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numBrought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print('Number of things being brought:')</a:t>
            </a:r>
          </a:p>
          <a:p>
            <a:pPr marL="0" indent="0">
              <a:buNone/>
            </a:pPr>
            <a:r>
              <a:rPr lang="en-US" dirty="0"/>
              <a:t>print(' - Apples ' + str(</a:t>
            </a:r>
            <a:r>
              <a:rPr lang="en-US" dirty="0" err="1"/>
              <a:t>totalBrought</a:t>
            </a:r>
            <a:r>
              <a:rPr lang="en-US" dirty="0"/>
              <a:t>(</a:t>
            </a:r>
            <a:r>
              <a:rPr lang="en-US" dirty="0" err="1"/>
              <a:t>allGuests</a:t>
            </a:r>
            <a:r>
              <a:rPr lang="en-US" dirty="0"/>
              <a:t>, 'apples')))</a:t>
            </a:r>
          </a:p>
          <a:p>
            <a:pPr marL="0" indent="0">
              <a:buNone/>
            </a:pPr>
            <a:r>
              <a:rPr lang="en-US" dirty="0"/>
              <a:t>print(' - Cups ' + str(</a:t>
            </a:r>
            <a:r>
              <a:rPr lang="en-US" dirty="0" err="1"/>
              <a:t>totalBrought</a:t>
            </a:r>
            <a:r>
              <a:rPr lang="en-US" dirty="0"/>
              <a:t>(</a:t>
            </a:r>
            <a:r>
              <a:rPr lang="en-US" dirty="0" err="1"/>
              <a:t>allGuests</a:t>
            </a:r>
            <a:r>
              <a:rPr lang="en-US" dirty="0"/>
              <a:t>, 'cups')))</a:t>
            </a:r>
          </a:p>
          <a:p>
            <a:pPr marL="0" indent="0">
              <a:buNone/>
            </a:pPr>
            <a:r>
              <a:rPr lang="en-US" dirty="0"/>
              <a:t>print(' - Cakes ' + str(</a:t>
            </a:r>
            <a:r>
              <a:rPr lang="en-US" dirty="0" err="1"/>
              <a:t>totalBrought</a:t>
            </a:r>
            <a:r>
              <a:rPr lang="en-US" dirty="0"/>
              <a:t>(</a:t>
            </a:r>
            <a:r>
              <a:rPr lang="en-US" dirty="0" err="1"/>
              <a:t>allGuests</a:t>
            </a:r>
            <a:r>
              <a:rPr lang="en-US" dirty="0"/>
              <a:t>, 'cakes')))</a:t>
            </a:r>
          </a:p>
          <a:p>
            <a:pPr marL="0" indent="0">
              <a:buNone/>
            </a:pPr>
            <a:r>
              <a:rPr lang="en-US" dirty="0"/>
              <a:t>print(' - Ham Sandwiches ' + str(</a:t>
            </a:r>
            <a:r>
              <a:rPr lang="en-US" dirty="0" err="1"/>
              <a:t>totalBrought</a:t>
            </a:r>
            <a:r>
              <a:rPr lang="en-US" dirty="0"/>
              <a:t>(</a:t>
            </a:r>
            <a:r>
              <a:rPr lang="en-US" dirty="0" err="1"/>
              <a:t>allGuests</a:t>
            </a:r>
            <a:r>
              <a:rPr lang="en-US" dirty="0"/>
              <a:t>, 'ham sandwiches')))</a:t>
            </a:r>
          </a:p>
          <a:p>
            <a:pPr marL="0" indent="0">
              <a:buNone/>
            </a:pPr>
            <a:r>
              <a:rPr lang="en-US" dirty="0"/>
              <a:t>print(' - Apple Pies ' + str(</a:t>
            </a:r>
            <a:r>
              <a:rPr lang="en-US" dirty="0" err="1"/>
              <a:t>totalBrought</a:t>
            </a:r>
            <a:r>
              <a:rPr lang="en-US" dirty="0"/>
              <a:t>(</a:t>
            </a:r>
            <a:r>
              <a:rPr lang="en-US" dirty="0" err="1"/>
              <a:t>allGuests</a:t>
            </a:r>
            <a:r>
              <a:rPr lang="en-US" dirty="0"/>
              <a:t>, 'apple pies')))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38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9791" y="1140847"/>
            <a:ext cx="3469209" cy="5036116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Number of things being brought:</a:t>
            </a:r>
          </a:p>
          <a:p>
            <a:pPr marL="0" indent="0">
              <a:buNone/>
            </a:pPr>
            <a:r>
              <a:rPr lang="en-US" dirty="0"/>
              <a:t> - Apples 7</a:t>
            </a:r>
          </a:p>
          <a:p>
            <a:pPr marL="0" indent="0">
              <a:buNone/>
            </a:pPr>
            <a:r>
              <a:rPr lang="en-US" dirty="0"/>
              <a:t> - Cups 3</a:t>
            </a:r>
          </a:p>
          <a:p>
            <a:pPr marL="0" indent="0">
              <a:buNone/>
            </a:pPr>
            <a:r>
              <a:rPr lang="en-US" dirty="0"/>
              <a:t> - Cakes 0</a:t>
            </a:r>
          </a:p>
          <a:p>
            <a:pPr marL="0" indent="0">
              <a:buNone/>
            </a:pPr>
            <a:r>
              <a:rPr lang="en-US" dirty="0"/>
              <a:t> - Ham Sandwiches 3</a:t>
            </a:r>
          </a:p>
          <a:p>
            <a:pPr marL="0" indent="0">
              <a:buNone/>
            </a:pPr>
            <a:r>
              <a:rPr lang="en-US" dirty="0"/>
              <a:t> - Apple Pies 1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029529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Self Assessment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dirty="0" err="1"/>
              <a:t>Differences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lists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Key-value</a:t>
            </a:r>
            <a:r>
              <a:rPr lang="tr-TR" dirty="0"/>
              <a:t> </a:t>
            </a:r>
            <a:r>
              <a:rPr lang="tr-TR" dirty="0" err="1"/>
              <a:t>combinations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Extracting</a:t>
            </a:r>
            <a:r>
              <a:rPr lang="tr-TR" dirty="0"/>
              <a:t> </a:t>
            </a:r>
            <a:r>
              <a:rPr lang="tr-TR" dirty="0" err="1"/>
              <a:t>keys</a:t>
            </a:r>
            <a:r>
              <a:rPr lang="tr-TR" dirty="0"/>
              <a:t>, </a:t>
            </a:r>
            <a:r>
              <a:rPr lang="tr-TR" dirty="0" err="1"/>
              <a:t>values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items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Existance</a:t>
            </a:r>
            <a:r>
              <a:rPr lang="tr-TR" dirty="0"/>
              <a:t> of </a:t>
            </a:r>
            <a:r>
              <a:rPr lang="tr-TR" dirty="0" err="1"/>
              <a:t>keys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values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Setting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default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Pretty</a:t>
            </a:r>
            <a:r>
              <a:rPr lang="tr-TR" dirty="0"/>
              <a:t> </a:t>
            </a:r>
            <a:r>
              <a:rPr lang="tr-TR" dirty="0" err="1"/>
              <a:t>prtinting</a:t>
            </a:r>
            <a:endParaRPr lang="tr-TR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</p:spPr>
        <p:txBody>
          <a:bodyPr/>
          <a:lstStyle/>
          <a:p>
            <a:r>
              <a:rPr lang="tr-TR" dirty="0" err="1"/>
              <a:t>Unclarified</a:t>
            </a:r>
            <a:r>
              <a:rPr lang="tr-TR" dirty="0"/>
              <a:t> </a:t>
            </a:r>
            <a:r>
              <a:rPr lang="tr-TR" dirty="0" err="1"/>
              <a:t>issues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3314200"/>
          </a:xfrm>
        </p:spPr>
        <p:txBody>
          <a:bodyPr/>
          <a:lstStyle/>
          <a:p>
            <a:r>
              <a:rPr lang="tr-TR" dirty="0"/>
              <a:t>What are the points need further explanations?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Interesting Details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What is the most interesting details in this chapter?</a:t>
            </a:r>
            <a:endParaRPr lang="en-US" dirty="0"/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07" y="5320199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2300" y="5320199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0735" y="5237740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5BEC3DDD-BEFD-482B-AFC6-AEB912056E7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2178" b="217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32" y="3123593"/>
            <a:ext cx="5402090" cy="1449788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59112" y="3552610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33" y="4570937"/>
            <a:ext cx="3961877" cy="1604172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9746" y="4658533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9746" y="4891098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6527" y="5334305"/>
            <a:ext cx="3381375" cy="277342"/>
          </a:xfrm>
        </p:spPr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9746" y="5141739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6527" y="5640086"/>
            <a:ext cx="3381375" cy="277342"/>
          </a:xfrm>
        </p:spPr>
        <p:txBody>
          <a:bodyPr/>
          <a:lstStyle/>
          <a:p>
            <a:r>
              <a:rPr lang="tr-TR" dirty="0">
                <a:hlinkClick r:id="rId10"/>
              </a:rPr>
              <a:t>http://cats.iku.edu.tr/portal/site/0181f2bc-77e3-4a85-ade9-77639d9bcfe7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85526" y="5376226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6527" y="5028523"/>
            <a:ext cx="3381375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39" b="15039"/>
          <a:stretch>
            <a:fillRect/>
          </a:stretch>
        </p:blipFill>
        <p:spPr>
          <a:xfrm>
            <a:off x="5275033" y="3474017"/>
            <a:ext cx="1008126" cy="704088"/>
          </a:xfrm>
        </p:spPr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490261-1200-4EC7-95B0-2241EE54AA34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2718</Words>
  <Application>Microsoft Office PowerPoint</Application>
  <PresentationFormat>Ekran Gösterisi (4:3)</PresentationFormat>
  <Paragraphs>565</Paragraphs>
  <Slides>40</Slides>
  <Notes>24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Rockwell</vt:lpstr>
      <vt:lpstr>Times New Roman</vt:lpstr>
      <vt:lpstr>Office Theme</vt:lpstr>
      <vt:lpstr>Chapter 5: Dictionaries &amp; Structuring Data</vt:lpstr>
      <vt:lpstr>Content</vt:lpstr>
      <vt:lpstr>Dictionary Data Type</vt:lpstr>
      <vt:lpstr>Dictionary typed with braces: {}</vt:lpstr>
      <vt:lpstr>Chapter-5 Data Dictionary</vt:lpstr>
      <vt:lpstr>Dictionary</vt:lpstr>
      <vt:lpstr>Dictionary with values</vt:lpstr>
      <vt:lpstr>Dictionary with indexes &amp; values</vt:lpstr>
      <vt:lpstr>Dictionary indexes still can be integers</vt:lpstr>
      <vt:lpstr>Dictionaries vs Lists</vt:lpstr>
      <vt:lpstr>Dictionaries vs Lists</vt:lpstr>
      <vt:lpstr>Dictionaries vs Lists</vt:lpstr>
      <vt:lpstr>Dictionaries vs Lists</vt:lpstr>
      <vt:lpstr>Dictionaries: Powerful way to organize data</vt:lpstr>
      <vt:lpstr>birthdays.py</vt:lpstr>
      <vt:lpstr>keys(), values(), items()</vt:lpstr>
      <vt:lpstr>Iterating over the values</vt:lpstr>
      <vt:lpstr>Iterating over the keys</vt:lpstr>
      <vt:lpstr>Iterating over both keys and values</vt:lpstr>
      <vt:lpstr>use list() method to convert tuples returned from methods</vt:lpstr>
      <vt:lpstr>multiple assignment trick in a for loop</vt:lpstr>
      <vt:lpstr>Checking Whether a Key or Value Exists in a Dictionary</vt:lpstr>
      <vt:lpstr>Checkign existince using in and not in</vt:lpstr>
      <vt:lpstr>The get() Method</vt:lpstr>
      <vt:lpstr>get() method</vt:lpstr>
      <vt:lpstr>The setdefault() Method</vt:lpstr>
      <vt:lpstr>setdefault() method</vt:lpstr>
      <vt:lpstr>characterCount.py</vt:lpstr>
      <vt:lpstr>Chapter-4 Lists</vt:lpstr>
      <vt:lpstr>Pretty printing</vt:lpstr>
      <vt:lpstr>prettyCharacterCount.py</vt:lpstr>
      <vt:lpstr>Chapter-5 Dictionaries and Structuring Data</vt:lpstr>
      <vt:lpstr>A Tic-Tac-Toe Board</vt:lpstr>
      <vt:lpstr>Data structure for Tic-Tac-Toe Board</vt:lpstr>
      <vt:lpstr>prettyCharacterCount.py</vt:lpstr>
      <vt:lpstr>Chapter-5 Dictionaries and Structuring Data</vt:lpstr>
      <vt:lpstr>Modeling complicated real-world entities</vt:lpstr>
      <vt:lpstr>party.py</vt:lpstr>
      <vt:lpstr>Self Assessment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2020-03-08T12:56:30Z</dcterms:created>
  <dcterms:modified xsi:type="dcterms:W3CDTF">2022-03-17T20:24:37Z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2021-03-19T08:51:18Z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3001c4db-7da2-4d88-83ca-a30e68fe79b1</vt:lpwstr>
  </property>
  <property fmtid="{D5CDD505-2E9C-101B-9397-08002B2CF9AE}" pid="8" name="MSIP_Label_c66f6488-6f7b-4340-b880-828136ff7811_ContentBits">
    <vt:lpwstr>0</vt:lpwstr>
  </property>
</Properties>
</file>