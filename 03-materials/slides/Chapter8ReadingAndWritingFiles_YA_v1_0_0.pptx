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256" r:id="rId5"/>
    <p:sldId id="261" r:id="rId6"/>
    <p:sldId id="405" r:id="rId7"/>
    <p:sldId id="411" r:id="rId8"/>
    <p:sldId id="442" r:id="rId9"/>
    <p:sldId id="466" r:id="rId10"/>
    <p:sldId id="357" r:id="rId11"/>
    <p:sldId id="467" r:id="rId12"/>
    <p:sldId id="468" r:id="rId13"/>
    <p:sldId id="445" r:id="rId14"/>
    <p:sldId id="443" r:id="rId15"/>
    <p:sldId id="469" r:id="rId16"/>
    <p:sldId id="444" r:id="rId17"/>
    <p:sldId id="367" r:id="rId18"/>
    <p:sldId id="470" r:id="rId19"/>
    <p:sldId id="269" r:id="rId20"/>
    <p:sldId id="393" r:id="rId21"/>
    <p:sldId id="471" r:id="rId22"/>
    <p:sldId id="429" r:id="rId23"/>
    <p:sldId id="472" r:id="rId24"/>
    <p:sldId id="473" r:id="rId25"/>
    <p:sldId id="474" r:id="rId26"/>
    <p:sldId id="475" r:id="rId27"/>
    <p:sldId id="359" r:id="rId28"/>
    <p:sldId id="476" r:id="rId29"/>
    <p:sldId id="358" r:id="rId30"/>
    <p:sldId id="477" r:id="rId31"/>
    <p:sldId id="478" r:id="rId32"/>
    <p:sldId id="406" r:id="rId33"/>
    <p:sldId id="407" r:id="rId34"/>
    <p:sldId id="394" r:id="rId35"/>
    <p:sldId id="479" r:id="rId36"/>
    <p:sldId id="480" r:id="rId37"/>
    <p:sldId id="481" r:id="rId38"/>
    <p:sldId id="482" r:id="rId39"/>
    <p:sldId id="483" r:id="rId40"/>
    <p:sldId id="484" r:id="rId41"/>
    <p:sldId id="430" r:id="rId42"/>
    <p:sldId id="395" r:id="rId43"/>
    <p:sldId id="485" r:id="rId44"/>
    <p:sldId id="486" r:id="rId45"/>
    <p:sldId id="361" r:id="rId46"/>
    <p:sldId id="487" r:id="rId47"/>
    <p:sldId id="488" r:id="rId48"/>
    <p:sldId id="489" r:id="rId49"/>
    <p:sldId id="490" r:id="rId50"/>
    <p:sldId id="491" r:id="rId51"/>
    <p:sldId id="431" r:id="rId52"/>
    <p:sldId id="458" r:id="rId53"/>
    <p:sldId id="492" r:id="rId54"/>
    <p:sldId id="432" r:id="rId55"/>
    <p:sldId id="493" r:id="rId56"/>
    <p:sldId id="494" r:id="rId57"/>
    <p:sldId id="416" r:id="rId58"/>
    <p:sldId id="299" r:id="rId59"/>
    <p:sldId id="279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7DE3FB"/>
    <a:srgbClr val="FFECB2"/>
    <a:srgbClr val="3471A1"/>
    <a:srgbClr val="FFD542"/>
    <a:srgbClr val="FFD7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07" autoAdjust="0"/>
  </p:normalViewPr>
  <p:slideViewPr>
    <p:cSldViewPr snapToGrid="0">
      <p:cViewPr varScale="1">
        <p:scale>
          <a:sx n="81" d="100"/>
          <a:sy n="81" d="100"/>
        </p:scale>
        <p:origin x="1526" y="72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11/28/2025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239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95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1651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7254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1863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5282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2376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51537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3682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474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9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634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4931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26139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3707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04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46676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39430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92582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13460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68119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49088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72752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04672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33642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63610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675812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60534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58618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03384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16145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64852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814024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1128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0018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39223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131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9984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03.04.2020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42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5065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814816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blipFill>
            <a:blip r:embed="rId2">
              <a:alphaModFix amt="49000"/>
            </a:blip>
            <a:tile tx="0" ty="0" sx="100000" sy="100000" flip="none" algn="tl"/>
          </a:blip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3" r:id="rId8"/>
    <p:sldLayoutId id="2147483668" r:id="rId9"/>
    <p:sldLayoutId id="2147483682" r:id="rId10"/>
    <p:sldLayoutId id="2147483670" r:id="rId11"/>
    <p:sldLayoutId id="2147483653" r:id="rId12"/>
    <p:sldLayoutId id="2147483673" r:id="rId13"/>
    <p:sldLayoutId id="2147483674" r:id="rId14"/>
    <p:sldLayoutId id="2147483676" r:id="rId15"/>
    <p:sldLayoutId id="2147483677" r:id="rId16"/>
    <p:sldLayoutId id="2147483654" r:id="rId17"/>
    <p:sldLayoutId id="2147483660" r:id="rId18"/>
    <p:sldLayoutId id="2147483661" r:id="rId19"/>
    <p:sldLayoutId id="2147483678" r:id="rId20"/>
    <p:sldLayoutId id="2147483686" r:id="rId21"/>
    <p:sldLayoutId id="2147483687" r:id="rId22"/>
    <p:sldLayoutId id="2147483689" r:id="rId23"/>
    <p:sldLayoutId id="2147483690" r:id="rId24"/>
    <p:sldLayoutId id="2147483688" r:id="rId2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jp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jp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jp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jp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emf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hyperlink" Target="https://docs.python.org/3/library/os.path.html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emf"/><Relationship Id="rId4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emf"/><Relationship Id="rId4" Type="http://schemas.openxmlformats.org/officeDocument/2006/relationships/image" Target="../media/image3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emf"/><Relationship Id="rId4" Type="http://schemas.openxmlformats.org/officeDocument/2006/relationships/image" Target="../media/image3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jp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54.svg"/><Relationship Id="rId3" Type="http://schemas.openxmlformats.org/officeDocument/2006/relationships/image" Target="../media/image2.jpe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8.svg"/><Relationship Id="rId11" Type="http://schemas.openxmlformats.org/officeDocument/2006/relationships/hyperlink" Target="https://cats.iku.edu.tr/" TargetMode="External"/><Relationship Id="rId5" Type="http://schemas.openxmlformats.org/officeDocument/2006/relationships/image" Target="../media/image47.png"/><Relationship Id="rId15" Type="http://schemas.openxmlformats.org/officeDocument/2006/relationships/image" Target="../media/image55.png"/><Relationship Id="rId10" Type="http://schemas.openxmlformats.org/officeDocument/2006/relationships/image" Target="../media/image52.svg"/><Relationship Id="rId4" Type="http://schemas.openxmlformats.org/officeDocument/2006/relationships/image" Target="../media/image46.jpeg"/><Relationship Id="rId9" Type="http://schemas.openxmlformats.org/officeDocument/2006/relationships/image" Target="../media/image51.png"/><Relationship Id="rId14" Type="http://schemas.openxmlformats.org/officeDocument/2006/relationships/hyperlink" Target="https://www.linkedin.com/in/yusuf-altunel-2070a31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102B858A-6C03-4B89-9548-015DA51F8B1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5044" r="5044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68422"/>
            <a:ext cx="5130000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en-US" dirty="0"/>
              <a:t>Chapter </a:t>
            </a:r>
            <a:r>
              <a:rPr lang="tr-TR" dirty="0"/>
              <a:t>8</a:t>
            </a:r>
            <a:r>
              <a:rPr lang="en-US" dirty="0"/>
              <a:t>: </a:t>
            </a:r>
            <a:r>
              <a:rPr lang="tr-TR" dirty="0"/>
              <a:t>Reading and Writing Files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US" sz="1300"/>
              <a:t>CSE0408 Programming III</a:t>
            </a:r>
            <a:endParaRPr lang="tr-TR" sz="1300"/>
          </a:p>
          <a:p>
            <a:r>
              <a:rPr lang="tr-TR" sz="1300"/>
              <a:t>IKU Department of Computer Engineering</a:t>
            </a:r>
          </a:p>
          <a:p>
            <a:r>
              <a:rPr lang="tr-TR" sz="1300"/>
              <a:t>Yusuf Altunel, PhD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</a:p>
          <a:p>
            <a:r>
              <a:rPr lang="en-US" sz="1200" dirty="0"/>
              <a:t>Chapter 8: Reading and Writing Files</a:t>
            </a:r>
            <a:endParaRPr lang="tr-TR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418454"/>
            <a:ext cx="3980775" cy="5413546"/>
          </a:xfrm>
        </p:spPr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Files and File Paths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os.path Module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File Reading/Writing Process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Saving Variables with the shelve Module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Saving Variables with the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pprint.pformat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Function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9DC53F-F2CD-4843-AE79-7B3E9CF9C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6" y="309447"/>
            <a:ext cx="4471753" cy="363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Phython Files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sz="1600" i="1" dirty="0" err="1"/>
              <a:t>Persistency</a:t>
            </a:r>
            <a:r>
              <a:rPr lang="tr-TR" sz="1600" i="1" dirty="0"/>
              <a:t>: </a:t>
            </a:r>
            <a:r>
              <a:rPr lang="en-US" sz="1600" i="1" dirty="0"/>
              <a:t>save data to a file </a:t>
            </a:r>
            <a:r>
              <a:rPr lang="tr-TR" sz="1600" i="1" dirty="0"/>
              <a:t>to </a:t>
            </a:r>
            <a:r>
              <a:rPr lang="en-US" sz="1600" i="1" dirty="0"/>
              <a:t>persist even after program</a:t>
            </a:r>
            <a:r>
              <a:rPr lang="tr-TR" sz="1600" i="1" dirty="0"/>
              <a:t> </a:t>
            </a:r>
            <a:r>
              <a:rPr lang="en-US" sz="1600" i="1" dirty="0"/>
              <a:t>has finished</a:t>
            </a:r>
            <a:endParaRPr lang="en-US" sz="1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sz="1600" b="1" dirty="0">
                <a:latin typeface="+mn-lt"/>
              </a:rPr>
              <a:t>File</a:t>
            </a:r>
            <a:endParaRPr lang="en-US" sz="1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pPr marL="0" indent="0">
              <a:buNone/>
            </a:pPr>
            <a:r>
              <a:rPr lang="tr-TR" sz="1600" dirty="0"/>
              <a:t>Content</a:t>
            </a:r>
            <a:endParaRPr lang="en-US" sz="1600" dirty="0"/>
          </a:p>
          <a:p>
            <a:r>
              <a:rPr lang="en-US" sz="1600" dirty="0"/>
              <a:t>a single string value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sz="1600" dirty="0"/>
              <a:t>Operations</a:t>
            </a:r>
            <a:endParaRPr lang="en-US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pPr marL="0" indent="0">
              <a:buNone/>
            </a:pPr>
            <a:r>
              <a:rPr lang="tr-TR" sz="1600" dirty="0" err="1"/>
              <a:t>for</a:t>
            </a:r>
            <a:r>
              <a:rPr lang="tr-TR" sz="1600" dirty="0"/>
              <a:t> </a:t>
            </a:r>
            <a:r>
              <a:rPr lang="en-US" sz="1600" dirty="0"/>
              <a:t>files on the hard drive</a:t>
            </a:r>
            <a:endParaRPr lang="tr-TR" sz="1600" dirty="0"/>
          </a:p>
          <a:p>
            <a:r>
              <a:rPr lang="en-US" sz="1600" dirty="0"/>
              <a:t>Create</a:t>
            </a:r>
            <a:endParaRPr lang="tr-TR" sz="1600" dirty="0"/>
          </a:p>
          <a:p>
            <a:r>
              <a:rPr lang="en-US" sz="1600" dirty="0"/>
              <a:t>Read</a:t>
            </a:r>
            <a:endParaRPr lang="tr-TR" sz="1600" dirty="0"/>
          </a:p>
          <a:p>
            <a:r>
              <a:rPr lang="en-US" sz="1600" dirty="0"/>
              <a:t>Save</a:t>
            </a:r>
            <a:endParaRPr lang="tr-TR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600" dirty="0"/>
              <a:t>Size</a:t>
            </a:r>
            <a:endParaRPr lang="en-US" sz="1600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potentially</a:t>
            </a:r>
          </a:p>
          <a:p>
            <a:r>
              <a:rPr lang="en-US" sz="1600" dirty="0"/>
              <a:t>gigabytes in size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140230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1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8: Reading and Writing Files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132" y="3192379"/>
            <a:ext cx="5034868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Files and File Paths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Backslash on Windows and Forward Slash on OS X</a:t>
            </a:r>
            <a:r>
              <a:rPr lang="tr-T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&amp;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Linux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Current Working Directory</a:t>
            </a:r>
          </a:p>
          <a:p>
            <a:r>
              <a:rPr lang="tr-T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Absolute vs. Relative Paths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Creating New Folders with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os.makedirs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  <a:endParaRPr lang="tr-T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2FF872E2-4356-4149-BFA2-8CDCAC106B4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9" b="56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8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Files and File Paths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600" dirty="0"/>
              <a:t>A file has two key properties: a filename (usually written as one word) and</a:t>
            </a:r>
            <a:r>
              <a:rPr lang="tr-TR" sz="1600" dirty="0"/>
              <a:t> </a:t>
            </a:r>
            <a:r>
              <a:rPr lang="en-US" sz="1600" dirty="0"/>
              <a:t>a path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9626" y="1934061"/>
            <a:ext cx="2231684" cy="648000"/>
          </a:xfrm>
        </p:spPr>
        <p:txBody>
          <a:bodyPr/>
          <a:lstStyle/>
          <a:p>
            <a:r>
              <a:rPr lang="tr-TR" sz="1600" b="1" dirty="0">
                <a:latin typeface="+mn-lt"/>
              </a:rPr>
              <a:t>Filename</a:t>
            </a:r>
            <a:endParaRPr lang="en-US" sz="1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46" y="2750758"/>
            <a:ext cx="2928305" cy="2225976"/>
          </a:xfrm>
        </p:spPr>
        <p:txBody>
          <a:bodyPr/>
          <a:lstStyle/>
          <a:p>
            <a:pPr marL="0" indent="0">
              <a:buNone/>
            </a:pPr>
            <a:r>
              <a:rPr lang="tr-TR" sz="1600" dirty="0"/>
              <a:t>written as one word</a:t>
            </a:r>
          </a:p>
          <a:p>
            <a:r>
              <a:rPr lang="tr-TR" sz="1600" dirty="0" err="1"/>
              <a:t>with</a:t>
            </a:r>
            <a:r>
              <a:rPr lang="tr-TR" sz="1600" dirty="0"/>
              <a:t> </a:t>
            </a:r>
            <a:r>
              <a:rPr lang="tr-TR" sz="1600" dirty="0" err="1"/>
              <a:t>extension</a:t>
            </a:r>
            <a:endParaRPr lang="tr-TR" sz="1600" dirty="0"/>
          </a:p>
          <a:p>
            <a:r>
              <a:rPr lang="tr-TR" sz="1600" dirty="0" err="1"/>
              <a:t>without</a:t>
            </a:r>
            <a:r>
              <a:rPr lang="tr-TR" sz="1600" dirty="0"/>
              <a:t> extenstion</a:t>
            </a:r>
          </a:p>
          <a:p>
            <a:r>
              <a:rPr lang="tr-TR" sz="1600" i="1" dirty="0"/>
              <a:t>projects.docx</a:t>
            </a:r>
          </a:p>
          <a:p>
            <a:r>
              <a:rPr lang="tr-TR" sz="1600" i="1" dirty="0" err="1"/>
              <a:t>project</a:t>
            </a:r>
            <a:endParaRPr lang="tr-TR" sz="1600" i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0077" y="1962367"/>
            <a:ext cx="2231684" cy="648000"/>
          </a:xfrm>
        </p:spPr>
        <p:txBody>
          <a:bodyPr/>
          <a:lstStyle/>
          <a:p>
            <a:r>
              <a:rPr lang="tr-TR" sz="1600" b="1" dirty="0"/>
              <a:t>Folders</a:t>
            </a:r>
            <a:endParaRPr lang="en-US" sz="16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0839" y="2809108"/>
            <a:ext cx="2803161" cy="1960531"/>
          </a:xfrm>
        </p:spPr>
        <p:txBody>
          <a:bodyPr/>
          <a:lstStyle/>
          <a:p>
            <a:pPr marL="0" indent="0">
              <a:buNone/>
            </a:pPr>
            <a:r>
              <a:rPr lang="tr-TR" sz="1600" dirty="0">
                <a:latin typeface="NewBaskerville-Roman"/>
              </a:rPr>
              <a:t>Folders / Directories</a:t>
            </a:r>
          </a:p>
          <a:p>
            <a:r>
              <a:rPr lang="tr-TR" sz="1600" dirty="0"/>
              <a:t>Contain folders, files or both</a:t>
            </a:r>
          </a:p>
          <a:p>
            <a:r>
              <a:rPr lang="tr-TR" sz="1600" i="1" dirty="0"/>
              <a:t>asweigart </a:t>
            </a:r>
          </a:p>
          <a:p>
            <a:r>
              <a:rPr lang="tr-TR" sz="1600" i="1" dirty="0"/>
              <a:t>Documents</a:t>
            </a:r>
            <a:endParaRPr lang="tr-TR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068697" y="1977076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600" b="1" dirty="0"/>
              <a:t>Path</a:t>
            </a:r>
            <a:endParaRPr lang="en-US" sz="1600" b="1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2948896" y="2838743"/>
            <a:ext cx="3421923" cy="2003079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specifies </a:t>
            </a:r>
            <a:endParaRPr lang="tr-TR" sz="1600" dirty="0"/>
          </a:p>
          <a:p>
            <a:r>
              <a:rPr lang="en-US" sz="1600" dirty="0"/>
              <a:t>the location of a file</a:t>
            </a:r>
            <a:endParaRPr lang="tr-TR" sz="1600" dirty="0"/>
          </a:p>
          <a:p>
            <a:r>
              <a:rPr lang="en-US" sz="1600" dirty="0"/>
              <a:t>on the computer</a:t>
            </a:r>
            <a:endParaRPr lang="tr-TR" sz="1600" dirty="0"/>
          </a:p>
          <a:p>
            <a:r>
              <a:rPr lang="tr-TR" sz="1600" i="1" dirty="0"/>
              <a:t>C:\Users\asweigart\Documents</a:t>
            </a:r>
            <a:endParaRPr lang="tr-TR" sz="1600" dirty="0">
              <a:latin typeface="NewBaskerville-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32605-4606-49D1-93E9-9C8D68506C8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9266" y="4887218"/>
            <a:ext cx="1885704" cy="170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77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Root Folder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en-US" sz="1400" i="1" dirty="0"/>
              <a:t>C:\ </a:t>
            </a:r>
            <a:r>
              <a:rPr lang="en-US" sz="1400" b="0" dirty="0"/>
              <a:t>part of the path</a:t>
            </a:r>
            <a:endParaRPr lang="tr-TR" sz="1400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contains all other folders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en-US" sz="1600" dirty="0"/>
              <a:t>On Windows</a:t>
            </a:r>
            <a:endParaRPr lang="tr-TR" sz="1600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the root folder is named</a:t>
            </a:r>
            <a:r>
              <a:rPr lang="tr-TR" sz="1600" dirty="0"/>
              <a:t> </a:t>
            </a:r>
            <a:r>
              <a:rPr lang="en-US" sz="1600" b="1" dirty="0"/>
              <a:t>C:\</a:t>
            </a:r>
            <a:endParaRPr lang="tr-TR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also called the </a:t>
            </a:r>
            <a:r>
              <a:rPr lang="en-US" sz="1600" b="1" dirty="0"/>
              <a:t>C: </a:t>
            </a:r>
            <a:r>
              <a:rPr lang="en-US" sz="1600" dirty="0"/>
              <a:t>drive.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en-US" sz="1600" dirty="0"/>
              <a:t>OS X</a:t>
            </a:r>
            <a:r>
              <a:rPr lang="tr-TR" sz="1600" dirty="0"/>
              <a:t>, Linux</a:t>
            </a:r>
            <a:endParaRPr lang="en-US" sz="1600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en-US" dirty="0"/>
              <a:t> the root folder is </a:t>
            </a:r>
            <a:r>
              <a:rPr lang="en-US" b="1" i="1" dirty="0"/>
              <a:t>/</a:t>
            </a:r>
            <a:endParaRPr lang="tr-TR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4" name="Picture Placeholder 13" descr="A close up of an insect on a branch&#10;&#10;Description automatically generated">
            <a:extLst>
              <a:ext uri="{FF2B5EF4-FFF2-40B4-BE49-F238E27FC236}">
                <a16:creationId xmlns:a16="http://schemas.microsoft.com/office/drawing/2014/main" id="{DE597543-FECD-4DF6-9776-381DD231C05F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126" b="512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67832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Additional volumes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Types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449886"/>
            <a:ext cx="2601748" cy="513318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DVD drive</a:t>
            </a:r>
            <a:endParaRPr lang="tr-T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USB thumb drive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64071" y="2284612"/>
            <a:ext cx="2431682" cy="432000"/>
          </a:xfrm>
        </p:spPr>
        <p:txBody>
          <a:bodyPr/>
          <a:lstStyle/>
          <a:p>
            <a:r>
              <a:rPr lang="en-US" sz="1600" dirty="0"/>
              <a:t>On Windows</a:t>
            </a:r>
            <a:endParaRPr lang="tr-TR" sz="1600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64071" y="2782457"/>
            <a:ext cx="2370064" cy="777086"/>
          </a:xfrm>
        </p:spPr>
        <p:txBody>
          <a:bodyPr/>
          <a:lstStyle/>
          <a:p>
            <a:r>
              <a:rPr lang="en-US" sz="1600" dirty="0"/>
              <a:t>,appear as </a:t>
            </a:r>
            <a:endParaRPr lang="tr-T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New</a:t>
            </a:r>
            <a:r>
              <a:rPr lang="tr-TR" sz="1600" dirty="0"/>
              <a:t> </a:t>
            </a:r>
            <a:r>
              <a:rPr lang="en-US" sz="1600" dirty="0"/>
              <a:t>lettered root drives</a:t>
            </a:r>
            <a:endParaRPr lang="tr-T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 such as </a:t>
            </a:r>
            <a:r>
              <a:rPr lang="en-US" sz="1600" b="1" dirty="0"/>
              <a:t>D:\ </a:t>
            </a:r>
            <a:r>
              <a:rPr lang="en-US" sz="1600" dirty="0"/>
              <a:t>or </a:t>
            </a:r>
            <a:r>
              <a:rPr lang="en-US" sz="1600" b="1" dirty="0"/>
              <a:t>E:\.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64071" y="3905626"/>
            <a:ext cx="2251800" cy="432000"/>
          </a:xfrm>
        </p:spPr>
        <p:txBody>
          <a:bodyPr/>
          <a:lstStyle/>
          <a:p>
            <a:r>
              <a:rPr lang="tr-TR" sz="1600" dirty="0"/>
              <a:t>OS X &amp; Linux</a:t>
            </a:r>
            <a:endParaRPr lang="en-US" sz="1600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0157" y="4246295"/>
            <a:ext cx="2251799" cy="1496345"/>
          </a:xfrm>
        </p:spPr>
        <p:txBody>
          <a:bodyPr/>
          <a:lstStyle/>
          <a:p>
            <a:r>
              <a:rPr lang="tr-TR" sz="1600" dirty="0"/>
              <a:t>on </a:t>
            </a:r>
            <a:r>
              <a:rPr lang="tr-TR" sz="1600" b="1" dirty="0"/>
              <a:t>OS 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appear as new folders</a:t>
            </a:r>
            <a:r>
              <a:rPr lang="tr-TR" sz="16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under the </a:t>
            </a:r>
            <a:r>
              <a:rPr lang="en-US" sz="1600" b="1" i="1" dirty="0"/>
              <a:t>/Volumes </a:t>
            </a:r>
            <a:r>
              <a:rPr lang="en-US" sz="1600" dirty="0"/>
              <a:t>folder.</a:t>
            </a:r>
            <a:endParaRPr lang="tr-TR" sz="1600" dirty="0"/>
          </a:p>
          <a:p>
            <a:r>
              <a:rPr lang="en-US" sz="1600" dirty="0"/>
              <a:t>On </a:t>
            </a:r>
            <a:r>
              <a:rPr lang="en-US" sz="1600" b="1" dirty="0"/>
              <a:t>Linux</a:t>
            </a:r>
            <a:r>
              <a:rPr lang="en-US" sz="1600" dirty="0"/>
              <a:t> </a:t>
            </a:r>
            <a:endParaRPr lang="tr-T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appear as new folders </a:t>
            </a:r>
            <a:endParaRPr lang="tr-T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under the</a:t>
            </a:r>
            <a:r>
              <a:rPr lang="tr-TR" sz="1600" dirty="0"/>
              <a:t> </a:t>
            </a:r>
            <a:r>
              <a:rPr lang="en-US" sz="1600" b="1" dirty="0"/>
              <a:t>/</a:t>
            </a:r>
            <a:r>
              <a:rPr lang="en-US" sz="1600" b="1" dirty="0" err="1"/>
              <a:t>mnt</a:t>
            </a:r>
            <a:r>
              <a:rPr lang="en-US" sz="1600" b="1" dirty="0"/>
              <a:t> </a:t>
            </a:r>
            <a:r>
              <a:rPr lang="en-US" sz="1600" dirty="0"/>
              <a:t>(“mount”) folder</a:t>
            </a:r>
            <a:endParaRPr lang="tr-TR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Placeholder 6" descr="A close up of an insect on a branch&#10;&#10;Description automatically generated">
            <a:extLst>
              <a:ext uri="{FF2B5EF4-FFF2-40B4-BE49-F238E27FC236}">
                <a16:creationId xmlns:a16="http://schemas.microsoft.com/office/drawing/2014/main" id="{385341B1-B9E3-4358-B3B8-3483B220B064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126" b="512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348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Case sensitivity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44529" y="1121900"/>
            <a:ext cx="2483483" cy="432000"/>
          </a:xfrm>
        </p:spPr>
        <p:txBody>
          <a:bodyPr/>
          <a:lstStyle/>
          <a:p>
            <a:r>
              <a:rPr lang="tr-TR" sz="1600" dirty="0"/>
              <a:t>Windows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tr-TR" sz="1600" dirty="0"/>
              <a:t>filenames 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not</a:t>
            </a:r>
            <a:r>
              <a:rPr lang="en-US" sz="1600" dirty="0"/>
              <a:t> case sensitive</a:t>
            </a:r>
            <a:r>
              <a:rPr lang="tr-TR" sz="16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on Windows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2416" y="2933764"/>
            <a:ext cx="2496120" cy="432000"/>
          </a:xfrm>
        </p:spPr>
        <p:txBody>
          <a:bodyPr/>
          <a:lstStyle/>
          <a:p>
            <a:r>
              <a:rPr lang="tr-TR" sz="1600" dirty="0"/>
              <a:t>OS X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893482"/>
          </a:xfrm>
        </p:spPr>
        <p:txBody>
          <a:bodyPr/>
          <a:lstStyle/>
          <a:p>
            <a:r>
              <a:rPr lang="tr-TR" sz="1600" dirty="0"/>
              <a:t>filenames 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not</a:t>
            </a:r>
            <a:r>
              <a:rPr lang="en-US" sz="1600" dirty="0"/>
              <a:t> case sensitive</a:t>
            </a:r>
            <a:endParaRPr lang="tr-T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on OS X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6330" y="4308952"/>
            <a:ext cx="2251800" cy="432000"/>
          </a:xfrm>
        </p:spPr>
        <p:txBody>
          <a:bodyPr/>
          <a:lstStyle/>
          <a:p>
            <a:r>
              <a:rPr lang="tr-TR" sz="1600" dirty="0"/>
              <a:t>Linux</a:t>
            </a:r>
            <a:endParaRPr lang="en-US" sz="1600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82416" y="4649621"/>
            <a:ext cx="2251799" cy="1496345"/>
          </a:xfrm>
        </p:spPr>
        <p:txBody>
          <a:bodyPr/>
          <a:lstStyle/>
          <a:p>
            <a:r>
              <a:rPr lang="en-US" sz="1600" dirty="0"/>
              <a:t> </a:t>
            </a:r>
            <a:r>
              <a:rPr lang="tr-TR" sz="1600" dirty="0"/>
              <a:t>filenames 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case sensitive </a:t>
            </a:r>
            <a:endParaRPr lang="tr-T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on Linux</a:t>
            </a:r>
            <a:endParaRPr lang="tr-TR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Placeholder 6" descr="A close up of an insect on a branch&#10;&#10;Description automatically generated">
            <a:extLst>
              <a:ext uri="{FF2B5EF4-FFF2-40B4-BE49-F238E27FC236}">
                <a16:creationId xmlns:a16="http://schemas.microsoft.com/office/drawing/2014/main" id="{E8665FA5-A424-4D13-B068-502DE9CAF666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126" b="512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15704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Backslash on Windows and Forward Slash on OS X and Linux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42199" y="1169941"/>
            <a:ext cx="3573592" cy="419015"/>
          </a:xfrm>
        </p:spPr>
        <p:txBody>
          <a:bodyPr/>
          <a:lstStyle/>
          <a:p>
            <a:r>
              <a:rPr lang="tr-TR" sz="1400" dirty="0">
                <a:latin typeface="NewBaskerville-Roman"/>
              </a:rPr>
              <a:t>(\) (/): Separators </a:t>
            </a:r>
            <a:r>
              <a:rPr lang="en-US" sz="1400" dirty="0">
                <a:latin typeface="NewBaskerville-Roman"/>
              </a:rPr>
              <a:t>between folder names</a:t>
            </a:r>
            <a:endParaRPr lang="tr-TR" sz="1400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600" dirty="0">
                <a:latin typeface="NewBaskerville-Roman"/>
              </a:rPr>
              <a:t>backslash (</a:t>
            </a:r>
            <a:r>
              <a:rPr lang="en-US" sz="1600" i="1" dirty="0">
                <a:latin typeface="NewBaskerville-Italic"/>
              </a:rPr>
              <a:t>\</a:t>
            </a:r>
            <a:r>
              <a:rPr lang="en-US" sz="1600" dirty="0">
                <a:latin typeface="NewBaskerville-Roman"/>
              </a:rPr>
              <a:t>)</a:t>
            </a:r>
            <a:endParaRPr lang="en-US" sz="16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305135"/>
            <a:ext cx="2067951" cy="900000"/>
          </a:xfrm>
        </p:spPr>
        <p:txBody>
          <a:bodyPr/>
          <a:lstStyle/>
          <a:p>
            <a:pPr algn="l"/>
            <a:r>
              <a:rPr lang="tr-TR" sz="1600" b="1" dirty="0"/>
              <a:t>On Windows 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NewBaskerville-Roman"/>
              </a:rPr>
              <a:t>paths are written </a:t>
            </a:r>
            <a:endParaRPr lang="tr-TR" sz="1600" dirty="0">
              <a:latin typeface="NewBaskerville-Roma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NewBaskerville-Roman"/>
              </a:rPr>
              <a:t>using the</a:t>
            </a:r>
            <a:r>
              <a:rPr lang="tr-TR" sz="1600" dirty="0">
                <a:latin typeface="NewBaskerville-Roman"/>
              </a:rPr>
              <a:t> </a:t>
            </a:r>
            <a:r>
              <a:rPr lang="en-US" sz="1600" dirty="0">
                <a:latin typeface="NewBaskerville-Roman"/>
              </a:rPr>
              <a:t>backslashes</a:t>
            </a:r>
            <a:endParaRPr lang="tr-TR" sz="1600" dirty="0">
              <a:latin typeface="NewBaskerville-Roma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600" dirty="0">
                <a:latin typeface="NewBaskerville-Roman"/>
              </a:rPr>
              <a:t>as</a:t>
            </a:r>
            <a:r>
              <a:rPr lang="en-US" sz="1600" dirty="0">
                <a:latin typeface="NewBaskerville-Roman"/>
              </a:rPr>
              <a:t> separator</a:t>
            </a:r>
            <a:endParaRPr lang="tr-TR" sz="1600" dirty="0">
              <a:latin typeface="NewBaskerville-Roman"/>
            </a:endParaRP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1600" dirty="0">
                <a:latin typeface="NewBaskerville-Roman"/>
              </a:rPr>
              <a:t>forward slash (</a:t>
            </a:r>
            <a:r>
              <a:rPr lang="en-US" sz="1600" i="1" dirty="0">
                <a:latin typeface="NewBaskerville-Italic"/>
              </a:rPr>
              <a:t>/</a:t>
            </a:r>
            <a:r>
              <a:rPr lang="en-US" sz="1600" dirty="0">
                <a:latin typeface="NewBaskerville-Roman"/>
              </a:rPr>
              <a:t>)</a:t>
            </a:r>
            <a:endParaRPr lang="en-US" sz="16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5963" y="4333270"/>
            <a:ext cx="1807385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sz="1600" b="1" dirty="0"/>
              <a:t>OS X and Linux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use</a:t>
            </a:r>
            <a:r>
              <a:rPr lang="tr-TR" sz="1600" dirty="0"/>
              <a:t>s</a:t>
            </a:r>
            <a:r>
              <a:rPr lang="en-US" sz="1600" dirty="0"/>
              <a:t> the</a:t>
            </a:r>
            <a:r>
              <a:rPr lang="tr-TR" sz="1600" dirty="0"/>
              <a:t> </a:t>
            </a:r>
            <a:r>
              <a:rPr lang="en-US" sz="1600" dirty="0">
                <a:latin typeface="NewBaskerville-Roman"/>
              </a:rPr>
              <a:t>forward slash </a:t>
            </a:r>
            <a:endParaRPr lang="en-US" sz="16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as </a:t>
            </a:r>
            <a:r>
              <a:rPr lang="tr-TR" sz="1600" dirty="0"/>
              <a:t>the</a:t>
            </a:r>
            <a:r>
              <a:rPr lang="en-US" sz="1600" dirty="0"/>
              <a:t> path separator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660311" cy="504000"/>
          </a:xfrm>
        </p:spPr>
        <p:txBody>
          <a:bodyPr/>
          <a:lstStyle/>
          <a:p>
            <a:r>
              <a:rPr lang="tr-TR" sz="1600" dirty="0"/>
              <a:t>Multi OS Programs</a:t>
            </a:r>
            <a:endParaRPr lang="en-US" sz="16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7342" y="4334949"/>
            <a:ext cx="2138289" cy="1178747"/>
          </a:xfrm>
        </p:spPr>
        <p:txBody>
          <a:bodyPr/>
          <a:lstStyle/>
          <a:p>
            <a:pPr algn="l"/>
            <a:r>
              <a:rPr lang="tr-TR" sz="1600" b="1" dirty="0"/>
              <a:t>os.path.join()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sz="1600" dirty="0"/>
              <a:t>work on various Oss</a:t>
            </a:r>
          </a:p>
          <a:p>
            <a:pPr algn="l"/>
            <a:r>
              <a:rPr lang="tr-TR" sz="1600" b="1" dirty="0"/>
              <a:t>returns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a string with a file path</a:t>
            </a:r>
            <a:endParaRPr lang="tr-TR" sz="16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/>
              <a:t>correct path separators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366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863" y="432000"/>
            <a:ext cx="4212236" cy="432000"/>
          </a:xfrm>
        </p:spPr>
        <p:txBody>
          <a:bodyPr/>
          <a:lstStyle/>
          <a:p>
            <a:r>
              <a:rPr lang="tr-TR" dirty="0"/>
              <a:t>os.path.join('usr', 'bin', 'spam')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sz="1600" dirty="0"/>
              <a:t>On Windows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tr-TR" sz="1600" dirty="0"/>
              <a:t>returns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'usr\\bin\\spam'</a:t>
            </a:r>
            <a:endParaRPr lang="en-US" sz="1600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05628"/>
            <a:ext cx="2690947" cy="432000"/>
          </a:xfrm>
        </p:spPr>
        <p:txBody>
          <a:bodyPr/>
          <a:lstStyle/>
          <a:p>
            <a:r>
              <a:rPr lang="tr-TR" sz="1600" dirty="0"/>
              <a:t>double backslashes</a:t>
            </a:r>
            <a:endParaRPr lang="en-US" sz="1600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r>
              <a:rPr lang="en-US" sz="1600" dirty="0"/>
              <a:t>each backslash </a:t>
            </a:r>
            <a:endParaRPr lang="tr-T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needs to be escaped</a:t>
            </a:r>
            <a:endParaRPr lang="tr-T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by another</a:t>
            </a:r>
            <a:r>
              <a:rPr lang="tr-TR" sz="1600" dirty="0"/>
              <a:t> </a:t>
            </a:r>
            <a:r>
              <a:rPr lang="en-US" sz="1600" dirty="0"/>
              <a:t>backslash character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sz="1600" dirty="0"/>
              <a:t>on </a:t>
            </a:r>
            <a:r>
              <a:rPr lang="en-US" sz="1600" dirty="0"/>
              <a:t>OS X or Linux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r>
              <a:rPr lang="tr-TR" sz="1600" dirty="0"/>
              <a:t>returns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'usr/bin/spam'</a:t>
            </a:r>
            <a:endParaRPr lang="en-U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Placeholder 6" descr="A close up of an insect on a branch&#10;&#10;Description automatically generated">
            <a:extLst>
              <a:ext uri="{FF2B5EF4-FFF2-40B4-BE49-F238E27FC236}">
                <a16:creationId xmlns:a16="http://schemas.microsoft.com/office/drawing/2014/main" id="{BAFE3F6D-92FE-4776-A7EA-81D76FA4AEE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126" b="512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13478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FFE219-43B5-44FC-B5AF-51D52CF9A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9" y="149901"/>
            <a:ext cx="9129011" cy="60860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os.path.join()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958472"/>
            <a:ext cx="4257205" cy="2088872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import </a:t>
            </a:r>
            <a:r>
              <a:rPr lang="en-US" dirty="0" err="1"/>
              <a:t>os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os.path.join</a:t>
            </a:r>
            <a:r>
              <a:rPr lang="en-US" dirty="0"/>
              <a:t>('</a:t>
            </a:r>
            <a:r>
              <a:rPr lang="en-US" dirty="0" err="1"/>
              <a:t>usr</a:t>
            </a:r>
            <a:r>
              <a:rPr lang="en-US" dirty="0"/>
              <a:t>', 'bin', 'spam')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</a:t>
            </a:r>
            <a:r>
              <a:rPr lang="en-US" dirty="0" err="1"/>
              <a:t>usr</a:t>
            </a:r>
            <a:r>
              <a:rPr lang="en-US" dirty="0"/>
              <a:t>\\bin\\spam’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86989" y="1951892"/>
            <a:ext cx="4287244" cy="2095452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myFiles = ['accounts.txt', 'details.csv', 'invite.docx']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for filename in </a:t>
            </a:r>
            <a:r>
              <a:rPr lang="en-US" dirty="0" err="1"/>
              <a:t>myFiles</a:t>
            </a:r>
            <a:r>
              <a:rPr lang="en-US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print(</a:t>
            </a:r>
            <a:r>
              <a:rPr lang="en-US" dirty="0" err="1"/>
              <a:t>os.path.join</a:t>
            </a:r>
            <a:r>
              <a:rPr lang="en-US" dirty="0"/>
              <a:t>('C:\\Users\\</a:t>
            </a:r>
            <a:r>
              <a:rPr lang="en-US" dirty="0" err="1"/>
              <a:t>asweigart</a:t>
            </a:r>
            <a:r>
              <a:rPr lang="en-US" dirty="0"/>
              <a:t>', filename))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C:\Users\asweigart\accounts.txt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C:\Users\asweigart\details.csv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C:\Users\asweigart\invite.docx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11839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Current Working Directory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8841" y="1139960"/>
            <a:ext cx="3573592" cy="419015"/>
          </a:xfrm>
        </p:spPr>
        <p:txBody>
          <a:bodyPr/>
          <a:lstStyle/>
          <a:p>
            <a:r>
              <a:rPr lang="tr-TR" sz="1400" dirty="0"/>
              <a:t>Programs run in a current working directory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paths with no root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77712" y="4634919"/>
            <a:ext cx="2067951" cy="900000"/>
          </a:xfrm>
        </p:spPr>
        <p:txBody>
          <a:bodyPr/>
          <a:lstStyle/>
          <a:p>
            <a:pPr algn="l"/>
            <a:r>
              <a:rPr lang="tr-TR" b="1" dirty="0"/>
              <a:t>are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under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current working directory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os.getcwd()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60973" y="4663054"/>
            <a:ext cx="1807385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get 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current</a:t>
            </a:r>
            <a:r>
              <a:rPr lang="tr-TR" dirty="0"/>
              <a:t> </a:t>
            </a:r>
            <a:r>
              <a:rPr lang="en-US" dirty="0"/>
              <a:t>working directory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as a string value</a:t>
            </a:r>
            <a:endParaRPr lang="en-US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660311" cy="504000"/>
          </a:xfrm>
        </p:spPr>
        <p:txBody>
          <a:bodyPr/>
          <a:lstStyle/>
          <a:p>
            <a:r>
              <a:rPr lang="tr-TR" dirty="0"/>
              <a:t>os.chdir() 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82352" y="4664733"/>
            <a:ext cx="2138289" cy="1178747"/>
          </a:xfrm>
        </p:spPr>
        <p:txBody>
          <a:bodyPr/>
          <a:lstStyle/>
          <a:p>
            <a:pPr algn="l"/>
            <a:r>
              <a:rPr lang="tr-TR" b="1" dirty="0"/>
              <a:t>change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current working directory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501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721D23-C965-4027-8745-FE296CD1F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28338" cy="6115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50" y="456984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Working Directory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8997" y="1463798"/>
            <a:ext cx="6011055" cy="1774078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import </a:t>
            </a:r>
            <a:r>
              <a:rPr lang="en-US" dirty="0" err="1"/>
              <a:t>os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os.getcwd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'C:\\Users\\</a:t>
            </a:r>
            <a:r>
              <a:rPr lang="en-US" dirty="0" err="1"/>
              <a:t>yusuf.altunel</a:t>
            </a:r>
            <a:r>
              <a:rPr lang="en-US" dirty="0"/>
              <a:t>\\</a:t>
            </a:r>
            <a:r>
              <a:rPr lang="en-US" dirty="0" err="1"/>
              <a:t>AppData</a:t>
            </a:r>
            <a:r>
              <a:rPr lang="en-US" dirty="0"/>
              <a:t>\\Local\\Programs\\Python\\Python38-32’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os.chdir</a:t>
            </a:r>
            <a:r>
              <a:rPr lang="en-US" dirty="0"/>
              <a:t>('C:\\Windows\\System32')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os.getcwd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'C:\\Windows\\System32'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8997" y="3642610"/>
            <a:ext cx="5981075" cy="1918741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os.chdir</a:t>
            </a:r>
            <a:r>
              <a:rPr lang="en-US" dirty="0"/>
              <a:t>('C:\\</a:t>
            </a:r>
            <a:r>
              <a:rPr lang="en-US" dirty="0" err="1"/>
              <a:t>ThisFolderDoesNotExist</a:t>
            </a:r>
            <a:r>
              <a:rPr lang="en-US" dirty="0"/>
              <a:t>’)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Traceback (most recent call last):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File "&lt;pyshell#11&gt;", line 1, in &lt;module&gt;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os.chdir</a:t>
            </a:r>
            <a:r>
              <a:rPr lang="en-US" dirty="0"/>
              <a:t>('C:\\</a:t>
            </a:r>
            <a:r>
              <a:rPr lang="en-US" dirty="0" err="1"/>
              <a:t>ThisFolderDoesNotExist</a:t>
            </a:r>
            <a:r>
              <a:rPr lang="en-US" dirty="0"/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FileNotFoundError</a:t>
            </a:r>
            <a:r>
              <a:rPr lang="en-US" dirty="0"/>
              <a:t>: [</a:t>
            </a:r>
            <a:r>
              <a:rPr lang="en-US" dirty="0" err="1"/>
              <a:t>WinError</a:t>
            </a:r>
            <a:r>
              <a:rPr lang="en-US" dirty="0"/>
              <a:t> 2]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belirtilen</a:t>
            </a:r>
            <a:r>
              <a:rPr lang="en-US" dirty="0"/>
              <a:t> </a:t>
            </a:r>
            <a:r>
              <a:rPr lang="en-US" dirty="0" err="1"/>
              <a:t>dosyayı</a:t>
            </a:r>
            <a:r>
              <a:rPr lang="en-US" dirty="0"/>
              <a:t> </a:t>
            </a:r>
            <a:r>
              <a:rPr lang="en-US" dirty="0" err="1"/>
              <a:t>bulamıyor</a:t>
            </a:r>
            <a:r>
              <a:rPr lang="en-US" dirty="0"/>
              <a:t>: 'C:\\</a:t>
            </a:r>
            <a:r>
              <a:rPr lang="en-US" dirty="0" err="1"/>
              <a:t>ThisFolderDoesNotExist</a:t>
            </a:r>
            <a:r>
              <a:rPr lang="en-US" dirty="0"/>
              <a:t>'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38004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Absolute vs. Relative Paths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85026"/>
          </a:xfrm>
        </p:spPr>
        <p:txBody>
          <a:bodyPr/>
          <a:lstStyle/>
          <a:p>
            <a:r>
              <a:rPr lang="en-US" dirty="0"/>
              <a:t>There are two ways to specify a file path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absolute path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305135"/>
            <a:ext cx="2067951" cy="900000"/>
          </a:xfrm>
        </p:spPr>
        <p:txBody>
          <a:bodyPr/>
          <a:lstStyle/>
          <a:p>
            <a:pPr algn="l"/>
            <a:r>
              <a:rPr lang="en-US" dirty="0"/>
              <a:t>always begins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with the root folder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relative path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5963" y="4333270"/>
            <a:ext cx="1807385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is relative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the program’s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current working</a:t>
            </a:r>
            <a:r>
              <a:rPr lang="tr-TR" dirty="0"/>
              <a:t> </a:t>
            </a:r>
            <a:r>
              <a:rPr lang="en-US" dirty="0"/>
              <a:t>directory</a:t>
            </a:r>
            <a:endParaRPr lang="en-US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577753" cy="504000"/>
          </a:xfrm>
        </p:spPr>
        <p:txBody>
          <a:bodyPr/>
          <a:lstStyle/>
          <a:p>
            <a:r>
              <a:rPr lang="tr-TR" dirty="0"/>
              <a:t>. and ..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7342" y="4334949"/>
            <a:ext cx="2138289" cy="1178747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start a relative 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 err="1"/>
              <a:t>dot</a:t>
            </a:r>
            <a:r>
              <a:rPr lang="tr-TR" dirty="0"/>
              <a:t> (.)</a:t>
            </a:r>
          </a:p>
          <a:p>
            <a:pPr marL="578644" lvl="1" indent="-171450"/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directory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 err="1"/>
              <a:t>dot-dot</a:t>
            </a:r>
            <a:r>
              <a:rPr lang="tr-TR" dirty="0"/>
              <a:t> (..)</a:t>
            </a:r>
          </a:p>
          <a:p>
            <a:pPr marL="578644" lvl="1" indent="-171450"/>
            <a:r>
              <a:rPr lang="tr-TR" dirty="0" err="1"/>
              <a:t>Parent</a:t>
            </a:r>
            <a:r>
              <a:rPr lang="tr-TR" dirty="0"/>
              <a:t> </a:t>
            </a:r>
            <a:r>
              <a:rPr lang="tr-TR" dirty="0" err="1"/>
              <a:t>directory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846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Current vs. Parent Directory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85026"/>
          </a:xfrm>
        </p:spPr>
        <p:txBody>
          <a:bodyPr/>
          <a:lstStyle/>
          <a:p>
            <a:r>
              <a:rPr lang="en-US" dirty="0"/>
              <a:t>There are two ways to specify a</a:t>
            </a:r>
            <a:r>
              <a:rPr lang="tr-TR" dirty="0"/>
              <a:t> relative</a:t>
            </a:r>
            <a:r>
              <a:rPr lang="en-US" dirty="0"/>
              <a:t> file path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dot (.)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305135"/>
            <a:ext cx="2067951" cy="900000"/>
          </a:xfrm>
        </p:spPr>
        <p:txBody>
          <a:bodyPr/>
          <a:lstStyle/>
          <a:p>
            <a:pPr algn="l"/>
            <a:r>
              <a:rPr lang="tr-TR" dirty="0"/>
              <a:t>shorthand for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“this directory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Current directory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dot-dot (..)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5963" y="4333270"/>
            <a:ext cx="1807385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means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“the parent folder.”</a:t>
            </a:r>
            <a:endParaRPr lang="en-US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577753" cy="504000"/>
          </a:xfrm>
        </p:spPr>
        <p:txBody>
          <a:bodyPr/>
          <a:lstStyle/>
          <a:p>
            <a:r>
              <a:rPr lang="tr-TR" dirty="0"/>
              <a:t>relative path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7342" y="4334949"/>
            <a:ext cx="2138289" cy="1178747"/>
          </a:xfrm>
        </p:spPr>
        <p:txBody>
          <a:bodyPr/>
          <a:lstStyle/>
          <a:p>
            <a:pPr algn="l"/>
            <a:r>
              <a:rPr lang="tr-TR" dirty="0"/>
              <a:t>starting from current direcotry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/>
              <a:t>dot(.)</a:t>
            </a:r>
            <a:r>
              <a:rPr lang="en-US" b="1" dirty="0"/>
              <a:t> </a:t>
            </a:r>
            <a:endParaRPr lang="tr-TR" b="1" dirty="0"/>
          </a:p>
          <a:p>
            <a:pPr algn="l"/>
            <a:r>
              <a:rPr lang="tr-TR" dirty="0"/>
              <a:t>starting from parent direcotry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1" dirty="0"/>
              <a:t>dot-dot (..)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326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A3F97D-695B-41F2-83D9-13E6C2B8B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174" y="8814"/>
            <a:ext cx="6760564" cy="68491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100" y="429462"/>
            <a:ext cx="4178105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r>
              <a:rPr lang="tr-TR" dirty="0">
                <a:latin typeface="TheSansMonoCondensed-Plain"/>
              </a:rPr>
              <a:t>Relative vs Absolute path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100" y="1232671"/>
            <a:ext cx="2502160" cy="281336"/>
          </a:xfrm>
          <a:solidFill>
            <a:schemeClr val="bg1">
              <a:lumMod val="85000"/>
              <a:alpha val="75000"/>
            </a:schemeClr>
          </a:solidFill>
        </p:spPr>
        <p:txBody>
          <a:bodyPr/>
          <a:lstStyle/>
          <a:p>
            <a:r>
              <a:rPr lang="tr-TR" dirty="0">
                <a:latin typeface="NewBaskerville-Roman"/>
              </a:rPr>
              <a:t>Relative Path Examples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337464" y="614020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126" y="1866852"/>
            <a:ext cx="2176359" cy="4114223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..\</a:t>
            </a:r>
            <a:endParaRPr lang="tr-TR" sz="1800" i="1" dirty="0"/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.\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.\fizz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.\fizz\spam.txt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.\spam.txt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..\eggs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..\eggs\spam.txt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..\spam.txt</a:t>
            </a:r>
          </a:p>
          <a:p>
            <a:pPr marL="0" indent="0">
              <a:buNone/>
            </a:pPr>
            <a:endParaRPr lang="tr-TR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2CBCBF-FE0D-419F-94B1-6F56738FC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083" y="1892445"/>
            <a:ext cx="3910559" cy="410361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9703B9-D06C-466D-B2FA-5D32C725CCA5}"/>
              </a:ext>
            </a:extLst>
          </p:cNvPr>
          <p:cNvSpPr txBox="1">
            <a:spLocks/>
          </p:cNvSpPr>
          <p:nvPr/>
        </p:nvSpPr>
        <p:spPr>
          <a:xfrm>
            <a:off x="6372019" y="1175209"/>
            <a:ext cx="2502160" cy="281336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NewBaskerville-Roman"/>
              </a:rPr>
              <a:t>Absolute Path Examples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D7B7584-F064-469D-9659-9FE4493909E6}"/>
              </a:ext>
            </a:extLst>
          </p:cNvPr>
          <p:cNvSpPr txBox="1">
            <a:spLocks/>
          </p:cNvSpPr>
          <p:nvPr/>
        </p:nvSpPr>
        <p:spPr>
          <a:xfrm>
            <a:off x="6472968" y="1914320"/>
            <a:ext cx="2506142" cy="411422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C:\</a:t>
            </a:r>
            <a:endParaRPr lang="tr-TR" sz="1800" i="1" dirty="0"/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C:\bacon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C:\bacon\fizz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it-IT" sz="1800" i="1" dirty="0"/>
              <a:t>C:\bacon\fizz\spam.txt</a:t>
            </a:r>
            <a:endParaRPr lang="tr-TR" sz="1800" i="1" dirty="0"/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C:\bacon\spam.txt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C:\eggs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C:\eggs\spam.txt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C:\spam.txt</a:t>
            </a:r>
            <a:endParaRPr lang="tr-TR" sz="1800" dirty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643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Folders with </a:t>
            </a:r>
            <a:r>
              <a:rPr lang="en-US" dirty="0" err="1"/>
              <a:t>os.makedirs</a:t>
            </a:r>
            <a:r>
              <a:rPr lang="en-US" dirty="0"/>
              <a:t>()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08956"/>
          </a:xfrm>
        </p:spPr>
        <p:txBody>
          <a:bodyPr/>
          <a:lstStyle/>
          <a:p>
            <a:r>
              <a:rPr lang="en-US" dirty="0" err="1"/>
              <a:t>os.makedirs</a:t>
            </a:r>
            <a:r>
              <a:rPr lang="en-US" dirty="0"/>
              <a:t>()</a:t>
            </a:r>
            <a:r>
              <a:rPr lang="tr-TR" dirty="0"/>
              <a:t> : to </a:t>
            </a:r>
            <a:r>
              <a:rPr lang="en-US" dirty="0"/>
              <a:t>create new folders (directories) with the function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48972" y="3926335"/>
            <a:ext cx="1865734" cy="504000"/>
          </a:xfrm>
        </p:spPr>
        <p:txBody>
          <a:bodyPr/>
          <a:lstStyle/>
          <a:p>
            <a:r>
              <a:rPr lang="en-US" dirty="0" err="1"/>
              <a:t>os.makedirs</a:t>
            </a:r>
            <a:r>
              <a:rPr lang="en-US" dirty="0"/>
              <a:t>()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5243" y="4491164"/>
            <a:ext cx="1955409" cy="1895568"/>
          </a:xfrm>
        </p:spPr>
        <p:txBody>
          <a:bodyPr/>
          <a:lstStyle/>
          <a:p>
            <a:pPr algn="l"/>
            <a:r>
              <a:rPr lang="en-US" dirty="0"/>
              <a:t>create new folders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one inside of the other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full path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9611" y="4688112"/>
            <a:ext cx="1793737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intermediat folders created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</a:t>
            </a:r>
            <a:r>
              <a:rPr lang="tr-TR" dirty="0"/>
              <a:t> </a:t>
            </a:r>
            <a:r>
              <a:rPr lang="en-US" dirty="0"/>
              <a:t>ensure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full path exists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8415" y="3912267"/>
            <a:ext cx="2196102" cy="504000"/>
          </a:xfrm>
        </p:spPr>
        <p:txBody>
          <a:bodyPr/>
          <a:lstStyle/>
          <a:p>
            <a:r>
              <a:rPr lang="tr-TR" dirty="0"/>
              <a:t>hierarchy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2310" y="4667533"/>
            <a:ext cx="2830336" cy="777923"/>
          </a:xfrm>
        </p:spPr>
        <p:txBody>
          <a:bodyPr/>
          <a:lstStyle/>
          <a:p>
            <a:pPr algn="l"/>
            <a:r>
              <a:rPr lang="tr-TR" dirty="0"/>
              <a:t>creates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hierarchy of folders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35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100" y="429462"/>
            <a:ext cx="4178105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r>
              <a:rPr lang="tr-TR" dirty="0">
                <a:latin typeface="TheSansMonoCondensed-Plain"/>
              </a:rPr>
              <a:t>Creating full path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4969" y="2060204"/>
            <a:ext cx="2951864" cy="251355"/>
          </a:xfrm>
          <a:solidFill>
            <a:schemeClr val="bg1">
              <a:lumMod val="85000"/>
              <a:alpha val="75000"/>
            </a:schemeClr>
          </a:solidFill>
        </p:spPr>
        <p:txBody>
          <a:bodyPr/>
          <a:lstStyle/>
          <a:p>
            <a:r>
              <a:rPr lang="tr-TR" dirty="0">
                <a:latin typeface="NewBaskerville-Roman"/>
              </a:rPr>
              <a:t>Command to create a path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337464" y="614020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678" y="2498936"/>
            <a:ext cx="4784648" cy="1041240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&gt;&gt;&gt; import </a:t>
            </a:r>
            <a:r>
              <a:rPr lang="en-US" sz="1800" i="1" dirty="0" err="1"/>
              <a:t>os</a:t>
            </a:r>
            <a:endParaRPr lang="en-US" sz="1800" i="1" dirty="0"/>
          </a:p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&gt;&gt;&gt; </a:t>
            </a:r>
            <a:r>
              <a:rPr lang="en-US" sz="1800" i="1" dirty="0" err="1"/>
              <a:t>os.makedirs</a:t>
            </a:r>
            <a:r>
              <a:rPr lang="en-US" sz="1800" i="1" dirty="0"/>
              <a:t>('C:\\delicious\\walnut\\waffles')</a:t>
            </a:r>
            <a:endParaRPr lang="tr-TR" sz="1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9703B9-D06C-466D-B2FA-5D32C725CCA5}"/>
              </a:ext>
            </a:extLst>
          </p:cNvPr>
          <p:cNvSpPr txBox="1">
            <a:spLocks/>
          </p:cNvSpPr>
          <p:nvPr/>
        </p:nvSpPr>
        <p:spPr>
          <a:xfrm>
            <a:off x="5994925" y="1882243"/>
            <a:ext cx="2502160" cy="281336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NewBaskerville-Roman"/>
              </a:rPr>
              <a:t>Created path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D7B7584-F064-469D-9659-9FE4493909E6}"/>
              </a:ext>
            </a:extLst>
          </p:cNvPr>
          <p:cNvSpPr txBox="1">
            <a:spLocks/>
          </p:cNvSpPr>
          <p:nvPr/>
        </p:nvSpPr>
        <p:spPr>
          <a:xfrm>
            <a:off x="297465" y="3914929"/>
            <a:ext cx="4766872" cy="120171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Create</a:t>
            </a:r>
            <a:endParaRPr lang="tr-TR" sz="1600" dirty="0"/>
          </a:p>
          <a:p>
            <a:pPr lvl="1"/>
            <a:r>
              <a:rPr lang="en-US" sz="1450" i="1" dirty="0"/>
              <a:t>C:\delicious </a:t>
            </a:r>
            <a:r>
              <a:rPr lang="en-US" sz="1450" dirty="0"/>
              <a:t>folder </a:t>
            </a:r>
            <a:endParaRPr lang="tr-TR" sz="1450" dirty="0"/>
          </a:p>
          <a:p>
            <a:pPr lvl="1"/>
            <a:r>
              <a:rPr lang="en-US" sz="1450" dirty="0"/>
              <a:t>a </a:t>
            </a:r>
            <a:r>
              <a:rPr lang="en-US" sz="1450" i="1" dirty="0"/>
              <a:t>walnut </a:t>
            </a:r>
            <a:r>
              <a:rPr lang="en-US" sz="1450" dirty="0"/>
              <a:t>folder</a:t>
            </a:r>
            <a:r>
              <a:rPr lang="tr-TR" sz="1450" dirty="0"/>
              <a:t> </a:t>
            </a:r>
            <a:r>
              <a:rPr lang="en-US" sz="1450" dirty="0"/>
              <a:t>inside </a:t>
            </a:r>
            <a:r>
              <a:rPr lang="en-US" sz="1450" i="1" dirty="0"/>
              <a:t>C:\delicious </a:t>
            </a:r>
            <a:endParaRPr lang="tr-TR" sz="1450" i="1" dirty="0"/>
          </a:p>
          <a:p>
            <a:pPr lvl="1"/>
            <a:r>
              <a:rPr lang="en-US" sz="1450" dirty="0"/>
              <a:t>a </a:t>
            </a:r>
            <a:r>
              <a:rPr lang="en-US" sz="1450" i="1" dirty="0"/>
              <a:t>waffles </a:t>
            </a:r>
            <a:r>
              <a:rPr lang="en-US" sz="1450" dirty="0"/>
              <a:t>folder inside </a:t>
            </a:r>
            <a:r>
              <a:rPr lang="en-US" sz="1450" i="1" dirty="0"/>
              <a:t>C:\delicious\walnut</a:t>
            </a:r>
            <a:endParaRPr lang="tr-TR" sz="3450" dirty="0">
              <a:solidFill>
                <a:srgbClr val="7030A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E4BA47-A9BA-4B59-BAE3-99B9A835D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325" y="2780922"/>
            <a:ext cx="2381760" cy="207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220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8: Reading and Writing Files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os.path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Module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Absolute and Relative Paths</a:t>
            </a:r>
            <a:endParaRPr lang="tr-T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Finding File Sizes and Folder Contents</a:t>
            </a:r>
            <a:endParaRPr lang="tr-T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Checking Path Validity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5" name="Picture Placeholder 3">
            <a:extLst>
              <a:ext uri="{FF2B5EF4-FFF2-40B4-BE49-F238E27FC236}">
                <a16:creationId xmlns:a16="http://schemas.microsoft.com/office/drawing/2014/main" id="{D0770673-EBA0-49C8-AE6C-F1E6EE127AC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9" b="569"/>
          <a:stretch>
            <a:fillRect/>
          </a:stretch>
        </p:blipFill>
        <p:spPr>
          <a:xfrm>
            <a:off x="65088" y="87313"/>
            <a:ext cx="4506912" cy="668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33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os.path</a:t>
            </a:r>
            <a:r>
              <a:rPr lang="en-US" dirty="0"/>
              <a:t> Module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08956"/>
          </a:xfrm>
        </p:spPr>
        <p:txBody>
          <a:bodyPr/>
          <a:lstStyle/>
          <a:p>
            <a:r>
              <a:rPr lang="en-US" b="1" dirty="0" err="1">
                <a:solidFill>
                  <a:srgbClr val="00B0F0"/>
                </a:solidFill>
              </a:rPr>
              <a:t>os.path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/>
              <a:t>module contains many helpful functions related to filenames</a:t>
            </a:r>
            <a:r>
              <a:rPr lang="tr-TR" dirty="0"/>
              <a:t> </a:t>
            </a:r>
            <a:r>
              <a:rPr lang="en-US" dirty="0"/>
              <a:t>and file paths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48972" y="3926335"/>
            <a:ext cx="1865734" cy="504000"/>
          </a:xfrm>
        </p:spPr>
        <p:txBody>
          <a:bodyPr/>
          <a:lstStyle/>
          <a:p>
            <a:r>
              <a:rPr lang="tr-TR" dirty="0">
                <a:solidFill>
                  <a:srgbClr val="00B0F0"/>
                </a:solidFill>
              </a:rPr>
              <a:t>os.path.join()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5243" y="4491164"/>
            <a:ext cx="1955409" cy="1895568"/>
          </a:xfrm>
        </p:spPr>
        <p:txBody>
          <a:bodyPr/>
          <a:lstStyle/>
          <a:p>
            <a:pPr algn="l"/>
            <a:r>
              <a:rPr lang="en-US" dirty="0"/>
              <a:t>to build</a:t>
            </a:r>
            <a:r>
              <a:rPr lang="tr-TR" dirty="0"/>
              <a:t> </a:t>
            </a:r>
            <a:r>
              <a:rPr lang="en-US" dirty="0"/>
              <a:t>paths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work on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any operating system.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inside of </a:t>
            </a:r>
            <a:r>
              <a:rPr lang="tr-TR" dirty="0">
                <a:solidFill>
                  <a:srgbClr val="00B0F0"/>
                </a:solidFill>
              </a:rPr>
              <a:t>os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9611" y="4688112"/>
            <a:ext cx="1793737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b="1" dirty="0" err="1">
                <a:solidFill>
                  <a:srgbClr val="00B0F0"/>
                </a:solidFill>
              </a:rPr>
              <a:t>os.path</a:t>
            </a:r>
            <a:endParaRPr lang="tr-TR" b="1" dirty="0">
              <a:solidFill>
                <a:srgbClr val="00B0F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module inside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 err="1">
                <a:solidFill>
                  <a:srgbClr val="00B0F0"/>
                </a:solidFill>
              </a:rPr>
              <a:t>os</a:t>
            </a:r>
            <a:r>
              <a:rPr lang="en-US" dirty="0"/>
              <a:t> module,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8415" y="3912267"/>
            <a:ext cx="2196102" cy="504000"/>
          </a:xfrm>
        </p:spPr>
        <p:txBody>
          <a:bodyPr/>
          <a:lstStyle/>
          <a:p>
            <a:r>
              <a:rPr lang="tr-TR" dirty="0"/>
              <a:t>import </a:t>
            </a:r>
            <a:r>
              <a:rPr lang="tr-TR" dirty="0">
                <a:solidFill>
                  <a:srgbClr val="00B0F0"/>
                </a:solidFill>
              </a:rPr>
              <a:t>os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56223" y="4667533"/>
            <a:ext cx="3106423" cy="1058710"/>
          </a:xfrm>
        </p:spPr>
        <p:txBody>
          <a:bodyPr/>
          <a:lstStyle/>
          <a:p>
            <a:pPr algn="l"/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b="1" dirty="0">
                <a:solidFill>
                  <a:srgbClr val="00B0F0"/>
                </a:solidFill>
              </a:rPr>
              <a:t>os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use the functions</a:t>
            </a:r>
          </a:p>
          <a:p>
            <a:pPr algn="l"/>
            <a:r>
              <a:rPr lang="tr-TR" dirty="0"/>
              <a:t>full reference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>
                <a:hlinkClick r:id="rId10"/>
              </a:rPr>
              <a:t>https://docs.python.org/3/library/os.path.html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527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Absolute and Relative Paths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08956"/>
          </a:xfrm>
        </p:spPr>
        <p:txBody>
          <a:bodyPr/>
          <a:lstStyle/>
          <a:p>
            <a:r>
              <a:rPr lang="en-US" b="1" dirty="0" err="1">
                <a:solidFill>
                  <a:srgbClr val="00B0F0"/>
                </a:solidFill>
              </a:rPr>
              <a:t>os.path.abspath</a:t>
            </a:r>
            <a:r>
              <a:rPr lang="en-US" b="1" dirty="0">
                <a:solidFill>
                  <a:srgbClr val="00B0F0"/>
                </a:solidFill>
              </a:rPr>
              <a:t>(path</a:t>
            </a:r>
            <a:r>
              <a:rPr lang="tr-TR" b="1" dirty="0">
                <a:solidFill>
                  <a:srgbClr val="00B0F0"/>
                </a:solidFill>
              </a:rPr>
              <a:t>)</a:t>
            </a:r>
            <a:r>
              <a:rPr lang="tr-TR" dirty="0"/>
              <a:t>: convert relative to absolute path</a:t>
            </a:r>
            <a:endParaRPr lang="en-US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48972" y="3926335"/>
            <a:ext cx="1865734" cy="504000"/>
          </a:xfrm>
        </p:spPr>
        <p:txBody>
          <a:bodyPr/>
          <a:lstStyle/>
          <a:p>
            <a:r>
              <a:rPr lang="tr-TR" dirty="0" err="1">
                <a:solidFill>
                  <a:srgbClr val="00B0F0"/>
                </a:solidFill>
              </a:rPr>
              <a:t>os.path.abspath</a:t>
            </a:r>
            <a:r>
              <a:rPr lang="tr-TR" dirty="0">
                <a:solidFill>
                  <a:srgbClr val="00B0F0"/>
                </a:solidFill>
              </a:rPr>
              <a:t>(</a:t>
            </a:r>
            <a:r>
              <a:rPr lang="tr-TR" dirty="0" err="1">
                <a:solidFill>
                  <a:srgbClr val="00B0F0"/>
                </a:solidFill>
              </a:rPr>
              <a:t>path</a:t>
            </a:r>
            <a:r>
              <a:rPr lang="tr-TR" dirty="0">
                <a:solidFill>
                  <a:srgbClr val="00B0F0"/>
                </a:solidFill>
              </a:rPr>
              <a:t>)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5243" y="4491164"/>
            <a:ext cx="1955409" cy="1895568"/>
          </a:xfrm>
        </p:spPr>
        <p:txBody>
          <a:bodyPr/>
          <a:lstStyle/>
          <a:p>
            <a:pPr algn="l"/>
            <a:r>
              <a:rPr lang="en-US" dirty="0"/>
              <a:t>return</a:t>
            </a:r>
            <a:r>
              <a:rPr lang="tr-TR" dirty="0"/>
              <a:t>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absolute path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of a</a:t>
            </a:r>
            <a:r>
              <a:rPr lang="tr-TR" dirty="0"/>
              <a:t> </a:t>
            </a:r>
            <a:r>
              <a:rPr lang="en-US" dirty="0"/>
              <a:t>relative path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94545" y="3926335"/>
            <a:ext cx="1691303" cy="504000"/>
          </a:xfrm>
        </p:spPr>
        <p:txBody>
          <a:bodyPr/>
          <a:lstStyle/>
          <a:p>
            <a:r>
              <a:rPr lang="tr-TR" dirty="0" err="1"/>
              <a:t>Usage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9611" y="4688112"/>
            <a:ext cx="1793737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easy way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convert a relative path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into an</a:t>
            </a:r>
            <a:r>
              <a:rPr lang="tr-TR" dirty="0"/>
              <a:t> </a:t>
            </a:r>
            <a:r>
              <a:rPr lang="en-US" dirty="0"/>
              <a:t>absolute </a:t>
            </a:r>
            <a:r>
              <a:rPr lang="tr-TR" dirty="0" err="1"/>
              <a:t>path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8415" y="3912267"/>
            <a:ext cx="2196102" cy="504000"/>
          </a:xfrm>
        </p:spPr>
        <p:txBody>
          <a:bodyPr/>
          <a:lstStyle/>
          <a:p>
            <a:r>
              <a:rPr lang="tr-TR" dirty="0"/>
              <a:t>argument</a:t>
            </a:r>
            <a:r>
              <a:rPr lang="tr-TR" dirty="0">
                <a:solidFill>
                  <a:srgbClr val="00B0F0"/>
                </a:solidFill>
              </a:rPr>
              <a:t> path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5810" y="4667533"/>
            <a:ext cx="2476836" cy="1058710"/>
          </a:xfrm>
        </p:spPr>
        <p:txBody>
          <a:bodyPr/>
          <a:lstStyle/>
          <a:p>
            <a:pPr algn="l"/>
            <a:r>
              <a:rPr lang="tr-TR" dirty="0"/>
              <a:t>string</a:t>
            </a:r>
            <a:endParaRPr lang="tr-TR" b="1" dirty="0">
              <a:solidFill>
                <a:srgbClr val="00B0F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relative path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052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Absolute and Relative Paths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08956"/>
          </a:xfrm>
        </p:spPr>
        <p:txBody>
          <a:bodyPr/>
          <a:lstStyle/>
          <a:p>
            <a:r>
              <a:rPr lang="en-US" b="1" dirty="0" err="1">
                <a:solidFill>
                  <a:srgbClr val="00B0F0"/>
                </a:solidFill>
              </a:rPr>
              <a:t>os.path.isabs</a:t>
            </a:r>
            <a:r>
              <a:rPr lang="en-US" b="1" dirty="0">
                <a:solidFill>
                  <a:srgbClr val="00B0F0"/>
                </a:solidFill>
              </a:rPr>
              <a:t>(path)</a:t>
            </a:r>
            <a:r>
              <a:rPr lang="tr-TR" dirty="0"/>
              <a:t>: is it absolute or relative path</a:t>
            </a:r>
            <a:endParaRPr lang="en-US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48972" y="3926335"/>
            <a:ext cx="1865734" cy="504000"/>
          </a:xfrm>
        </p:spPr>
        <p:txBody>
          <a:bodyPr/>
          <a:lstStyle/>
          <a:p>
            <a:r>
              <a:rPr lang="tr-TR" dirty="0">
                <a:solidFill>
                  <a:srgbClr val="00B0F0"/>
                </a:solidFill>
              </a:rPr>
              <a:t>os.path.isabs(path)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5243" y="4491164"/>
            <a:ext cx="1955409" cy="1895568"/>
          </a:xfrm>
        </p:spPr>
        <p:txBody>
          <a:bodyPr/>
          <a:lstStyle/>
          <a:p>
            <a:pPr algn="l"/>
            <a:r>
              <a:rPr lang="tr-TR" dirty="0"/>
              <a:t>returns </a:t>
            </a:r>
            <a:r>
              <a:rPr lang="tr-TR" b="1" dirty="0">
                <a:solidFill>
                  <a:srgbClr val="00B0F0"/>
                </a:solidFill>
              </a:rPr>
              <a:t>True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the argument is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 absolute</a:t>
            </a:r>
            <a:r>
              <a:rPr lang="tr-TR" dirty="0"/>
              <a:t> </a:t>
            </a:r>
            <a:r>
              <a:rPr lang="en-US" dirty="0"/>
              <a:t>path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relative</a:t>
            </a:r>
            <a:r>
              <a:rPr lang="tr-TR" dirty="0"/>
              <a:t> </a:t>
            </a:r>
            <a:r>
              <a:rPr lang="tr-TR" dirty="0" err="1"/>
              <a:t>path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9611" y="4688112"/>
            <a:ext cx="1793737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returns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False</a:t>
            </a:r>
            <a:endParaRPr lang="tr-TR" b="1" dirty="0">
              <a:solidFill>
                <a:srgbClr val="00B0F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the argument is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relative path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8415" y="3912267"/>
            <a:ext cx="2196102" cy="504000"/>
          </a:xfrm>
        </p:spPr>
        <p:txBody>
          <a:bodyPr/>
          <a:lstStyle/>
          <a:p>
            <a:r>
              <a:rPr lang="tr-TR" dirty="0"/>
              <a:t>argument</a:t>
            </a:r>
            <a:r>
              <a:rPr lang="tr-TR" dirty="0">
                <a:solidFill>
                  <a:srgbClr val="00B0F0"/>
                </a:solidFill>
              </a:rPr>
              <a:t> path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5810" y="4667533"/>
            <a:ext cx="2476836" cy="1058710"/>
          </a:xfrm>
        </p:spPr>
        <p:txBody>
          <a:bodyPr/>
          <a:lstStyle/>
          <a:p>
            <a:pPr algn="l"/>
            <a:r>
              <a:rPr lang="tr-TR" dirty="0"/>
              <a:t>string</a:t>
            </a:r>
            <a:endParaRPr lang="tr-TR" b="1" dirty="0">
              <a:solidFill>
                <a:srgbClr val="00B0F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absolute or relative path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325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Absolute and Relative Paths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08956"/>
          </a:xfrm>
        </p:spPr>
        <p:txBody>
          <a:bodyPr/>
          <a:lstStyle/>
          <a:p>
            <a:r>
              <a:rPr lang="en-US" b="1" dirty="0" err="1">
                <a:solidFill>
                  <a:srgbClr val="00B0F0"/>
                </a:solidFill>
              </a:rPr>
              <a:t>os.path.relpath</a:t>
            </a:r>
            <a:r>
              <a:rPr lang="en-US" b="1" dirty="0">
                <a:solidFill>
                  <a:srgbClr val="00B0F0"/>
                </a:solidFill>
              </a:rPr>
              <a:t>(path, start)</a:t>
            </a:r>
            <a:r>
              <a:rPr lang="tr-TR" dirty="0"/>
              <a:t>: relative path for a start path </a:t>
            </a:r>
            <a:r>
              <a:rPr lang="en-US" dirty="0"/>
              <a:t> 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84420" y="3926335"/>
            <a:ext cx="2430286" cy="504000"/>
          </a:xfrm>
        </p:spPr>
        <p:txBody>
          <a:bodyPr/>
          <a:lstStyle/>
          <a:p>
            <a:r>
              <a:rPr lang="en-US" dirty="0" err="1">
                <a:solidFill>
                  <a:srgbClr val="00B0F0"/>
                </a:solidFill>
              </a:rPr>
              <a:t>os.path.relpath</a:t>
            </a:r>
            <a:r>
              <a:rPr lang="en-US" dirty="0">
                <a:solidFill>
                  <a:srgbClr val="00B0F0"/>
                </a:solidFill>
              </a:rPr>
              <a:t>(path, start)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5243" y="4491164"/>
            <a:ext cx="1955409" cy="1895568"/>
          </a:xfrm>
        </p:spPr>
        <p:txBody>
          <a:bodyPr/>
          <a:lstStyle/>
          <a:p>
            <a:pPr algn="l"/>
            <a:r>
              <a:rPr lang="tr-TR" dirty="0"/>
              <a:t>returns</a:t>
            </a:r>
            <a:endParaRPr lang="tr-TR" b="1" dirty="0">
              <a:solidFill>
                <a:srgbClr val="00B0F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string of a relative 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from the </a:t>
            </a:r>
            <a:r>
              <a:rPr lang="en-US" b="1" dirty="0">
                <a:solidFill>
                  <a:srgbClr val="00B0F0"/>
                </a:solidFill>
              </a:rPr>
              <a:t>start</a:t>
            </a:r>
            <a:r>
              <a:rPr lang="en-US" dirty="0"/>
              <a:t> path to </a:t>
            </a:r>
            <a:r>
              <a:rPr lang="en-US" b="1" dirty="0">
                <a:solidFill>
                  <a:srgbClr val="00B0F0"/>
                </a:solidFill>
              </a:rPr>
              <a:t>path</a:t>
            </a:r>
            <a:endParaRPr lang="tr-TR" b="1" dirty="0">
              <a:solidFill>
                <a:srgbClr val="00B0F0"/>
              </a:solidFill>
            </a:endParaRP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>
                <a:solidFill>
                  <a:srgbClr val="00B0F0"/>
                </a:solidFill>
              </a:rPr>
              <a:t>start</a:t>
            </a:r>
            <a:r>
              <a:rPr lang="tr-TR" dirty="0"/>
              <a:t> not provided?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9611" y="4688112"/>
            <a:ext cx="1986533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If </a:t>
            </a:r>
            <a:r>
              <a:rPr lang="en-US" b="1" dirty="0">
                <a:solidFill>
                  <a:srgbClr val="00B0F0"/>
                </a:solidFill>
              </a:rPr>
              <a:t>start</a:t>
            </a:r>
            <a:r>
              <a:rPr lang="en-US" dirty="0"/>
              <a:t> is not provided</a:t>
            </a:r>
            <a:endParaRPr lang="tr-TR" b="1" dirty="0">
              <a:solidFill>
                <a:srgbClr val="00B0F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current</a:t>
            </a:r>
            <a:r>
              <a:rPr lang="en-US" dirty="0"/>
              <a:t> working</a:t>
            </a:r>
            <a:r>
              <a:rPr lang="tr-TR" dirty="0"/>
              <a:t> </a:t>
            </a:r>
            <a:r>
              <a:rPr lang="en-US" dirty="0"/>
              <a:t>directory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is used as the </a:t>
            </a:r>
            <a:r>
              <a:rPr lang="en-US" b="1" dirty="0">
                <a:solidFill>
                  <a:srgbClr val="00B0F0"/>
                </a:solidFill>
              </a:rPr>
              <a:t>start</a:t>
            </a:r>
            <a:r>
              <a:rPr lang="en-US" dirty="0"/>
              <a:t> path.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8415" y="3912267"/>
            <a:ext cx="2196102" cy="504000"/>
          </a:xfrm>
        </p:spPr>
        <p:txBody>
          <a:bodyPr/>
          <a:lstStyle/>
          <a:p>
            <a:r>
              <a:rPr lang="tr-TR" dirty="0"/>
              <a:t>argument</a:t>
            </a:r>
            <a:r>
              <a:rPr lang="tr-TR" dirty="0">
                <a:solidFill>
                  <a:srgbClr val="00B0F0"/>
                </a:solidFill>
              </a:rPr>
              <a:t> path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5810" y="4667533"/>
            <a:ext cx="2476836" cy="1058710"/>
          </a:xfrm>
        </p:spPr>
        <p:txBody>
          <a:bodyPr/>
          <a:lstStyle/>
          <a:p>
            <a:pPr algn="l"/>
            <a:r>
              <a:rPr lang="tr-TR" dirty="0"/>
              <a:t>string</a:t>
            </a:r>
            <a:endParaRPr lang="tr-TR" b="1" dirty="0">
              <a:solidFill>
                <a:srgbClr val="00B0F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absolute or relative path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110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EEC7A21-1797-4AC3-92E1-D9D22863C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2675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94" y="59960"/>
            <a:ext cx="7160455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tr-TR" dirty="0"/>
              <a:t>Absolute and Relative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51061" y="614597"/>
            <a:ext cx="5019169" cy="743512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fr-FR" sz="1600" dirty="0"/>
              <a:t>&gt;&gt;&gt; import 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066" y="585039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51062" y="1445285"/>
            <a:ext cx="5034158" cy="4985496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207169" lvl="1" indent="0">
              <a:buNone/>
            </a:pPr>
            <a:r>
              <a:rPr lang="fr-FR" sz="1600" dirty="0"/>
              <a:t>&gt;&gt;&gt; </a:t>
            </a:r>
            <a:r>
              <a:rPr lang="fr-FR" sz="1600" dirty="0" err="1"/>
              <a:t>os.path.abspath</a:t>
            </a:r>
            <a:r>
              <a:rPr lang="fr-FR" sz="1600" dirty="0"/>
              <a:t>('.')</a:t>
            </a:r>
          </a:p>
          <a:p>
            <a:pPr marL="207169" lvl="1" indent="0">
              <a:buNone/>
            </a:pPr>
            <a:r>
              <a:rPr lang="fr-FR" sz="1600" dirty="0"/>
              <a:t>'C:\\Windows\\System32’</a:t>
            </a:r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fr-FR" sz="1600" dirty="0"/>
              <a:t>&gt;&gt;&gt; </a:t>
            </a:r>
            <a:r>
              <a:rPr lang="fr-FR" sz="1600" dirty="0" err="1"/>
              <a:t>os.path.abspath</a:t>
            </a:r>
            <a:r>
              <a:rPr lang="fr-FR" sz="1600" dirty="0"/>
              <a:t>('.\\Scripts</a:t>
            </a:r>
            <a:r>
              <a:rPr lang="tr-TR" sz="1600" dirty="0"/>
              <a:t>'</a:t>
            </a:r>
            <a:r>
              <a:rPr lang="fr-FR" sz="1600" dirty="0"/>
              <a:t>)</a:t>
            </a:r>
          </a:p>
          <a:p>
            <a:pPr marL="207169" lvl="1" indent="0">
              <a:buNone/>
            </a:pPr>
            <a:r>
              <a:rPr lang="fr-FR" sz="1600" dirty="0"/>
              <a:t>'C:\\Windows\\System32\\Scripts’</a:t>
            </a:r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fr-FR" sz="1600" dirty="0"/>
              <a:t>&gt;&gt;&gt; </a:t>
            </a:r>
            <a:r>
              <a:rPr lang="fr-FR" sz="1600" dirty="0" err="1"/>
              <a:t>os.path.isabs</a:t>
            </a:r>
            <a:r>
              <a:rPr lang="fr-FR" sz="1600" dirty="0"/>
              <a:t>('.')</a:t>
            </a:r>
          </a:p>
          <a:p>
            <a:pPr marL="207169" lvl="1" indent="0">
              <a:buNone/>
            </a:pPr>
            <a:r>
              <a:rPr lang="fr-FR" sz="1600" dirty="0"/>
              <a:t>False</a:t>
            </a:r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fr-FR" sz="1600" dirty="0"/>
              <a:t>&gt;&gt;&gt; </a:t>
            </a:r>
            <a:r>
              <a:rPr lang="fr-FR" sz="1600" dirty="0" err="1"/>
              <a:t>os.path.isabs</a:t>
            </a:r>
            <a:r>
              <a:rPr lang="fr-FR" sz="1600" dirty="0"/>
              <a:t>(</a:t>
            </a:r>
            <a:r>
              <a:rPr lang="fr-FR" sz="1600" dirty="0" err="1"/>
              <a:t>os.path.abspath</a:t>
            </a:r>
            <a:r>
              <a:rPr lang="fr-FR" sz="1600" dirty="0"/>
              <a:t>('.'))</a:t>
            </a:r>
          </a:p>
          <a:p>
            <a:pPr marL="207169" lvl="1" indent="0">
              <a:buNone/>
            </a:pPr>
            <a:r>
              <a:rPr lang="fr-FR" sz="1600" dirty="0" err="1"/>
              <a:t>True</a:t>
            </a:r>
            <a:endParaRPr lang="tr-TR" sz="1600" dirty="0"/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os.path.relpath</a:t>
            </a:r>
            <a:r>
              <a:rPr lang="en-US" sz="1600" dirty="0"/>
              <a:t>('C:\\Windows', 'C:\\')</a:t>
            </a:r>
          </a:p>
          <a:p>
            <a:pPr marL="207169" lvl="1" indent="0">
              <a:buNone/>
            </a:pPr>
            <a:r>
              <a:rPr lang="en-US" sz="1600" dirty="0"/>
              <a:t>'Windows’</a:t>
            </a:r>
          </a:p>
        </p:txBody>
      </p:sp>
    </p:spTree>
    <p:extLst>
      <p:ext uri="{BB962C8B-B14F-4D97-AF65-F5344CB8AC3E}">
        <p14:creationId xmlns:p14="http://schemas.microsoft.com/office/powerpoint/2010/main" val="1978172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Calling </a:t>
            </a:r>
            <a:r>
              <a:rPr lang="en-US" dirty="0" err="1">
                <a:solidFill>
                  <a:srgbClr val="00B0F0"/>
                </a:solidFill>
              </a:rPr>
              <a:t>os.path.dirname</a:t>
            </a:r>
            <a:r>
              <a:rPr lang="en-US" dirty="0">
                <a:solidFill>
                  <a:srgbClr val="00B0F0"/>
                </a:solidFill>
              </a:rPr>
              <a:t>(path) 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08956"/>
          </a:xfrm>
        </p:spPr>
        <p:txBody>
          <a:bodyPr/>
          <a:lstStyle/>
          <a:p>
            <a:r>
              <a:rPr lang="en-US" b="1" dirty="0" err="1">
                <a:solidFill>
                  <a:srgbClr val="00B0F0"/>
                </a:solidFill>
              </a:rPr>
              <a:t>os.path.relpath</a:t>
            </a:r>
            <a:r>
              <a:rPr lang="en-US" b="1" dirty="0">
                <a:solidFill>
                  <a:srgbClr val="00B0F0"/>
                </a:solidFill>
              </a:rPr>
              <a:t>(path, start)</a:t>
            </a:r>
            <a:r>
              <a:rPr lang="tr-TR" dirty="0"/>
              <a:t>: relative path for a start path </a:t>
            </a:r>
            <a:r>
              <a:rPr lang="en-US" dirty="0"/>
              <a:t> 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84420" y="3926335"/>
            <a:ext cx="2430286" cy="504000"/>
          </a:xfrm>
        </p:spPr>
        <p:txBody>
          <a:bodyPr/>
          <a:lstStyle/>
          <a:p>
            <a:r>
              <a:rPr lang="en-US" dirty="0" err="1">
                <a:solidFill>
                  <a:srgbClr val="00B0F0"/>
                </a:solidFill>
              </a:rPr>
              <a:t>os.path.dirname</a:t>
            </a:r>
            <a:r>
              <a:rPr lang="en-US" dirty="0">
                <a:solidFill>
                  <a:srgbClr val="00B0F0"/>
                </a:solidFill>
              </a:rPr>
              <a:t>(path)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5243" y="4491164"/>
            <a:ext cx="1955409" cy="1895568"/>
          </a:xfrm>
        </p:spPr>
        <p:txBody>
          <a:bodyPr/>
          <a:lstStyle/>
          <a:p>
            <a:pPr algn="l"/>
            <a:r>
              <a:rPr lang="tr-TR" dirty="0"/>
              <a:t>returns</a:t>
            </a:r>
            <a:endParaRPr lang="tr-TR" b="1" dirty="0">
              <a:solidFill>
                <a:srgbClr val="00B0F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string of everything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comes before the last slash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 the path argument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>
                <a:solidFill>
                  <a:srgbClr val="00B0F0"/>
                </a:solidFill>
              </a:rPr>
              <a:t>working directory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9611" y="4688112"/>
            <a:ext cx="1986533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If </a:t>
            </a:r>
            <a:r>
              <a:rPr lang="en-US" b="1" dirty="0">
                <a:solidFill>
                  <a:srgbClr val="00B0F0"/>
                </a:solidFill>
              </a:rPr>
              <a:t>start</a:t>
            </a:r>
            <a:r>
              <a:rPr lang="en-US" dirty="0"/>
              <a:t> is not provided</a:t>
            </a:r>
            <a:endParaRPr lang="tr-TR" b="1" dirty="0">
              <a:solidFill>
                <a:srgbClr val="00B0F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current working</a:t>
            </a:r>
            <a:r>
              <a:rPr lang="tr-TR" dirty="0"/>
              <a:t> </a:t>
            </a:r>
            <a:r>
              <a:rPr lang="en-US" dirty="0"/>
              <a:t>directory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is used as the start path.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8415" y="3912267"/>
            <a:ext cx="2196102" cy="504000"/>
          </a:xfrm>
        </p:spPr>
        <p:txBody>
          <a:bodyPr/>
          <a:lstStyle/>
          <a:p>
            <a:r>
              <a:rPr lang="tr-TR" dirty="0"/>
              <a:t>argument</a:t>
            </a:r>
            <a:r>
              <a:rPr lang="tr-TR" dirty="0">
                <a:solidFill>
                  <a:srgbClr val="00B0F0"/>
                </a:solidFill>
              </a:rPr>
              <a:t> path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5810" y="4667533"/>
            <a:ext cx="2476836" cy="1058710"/>
          </a:xfrm>
        </p:spPr>
        <p:txBody>
          <a:bodyPr/>
          <a:lstStyle/>
          <a:p>
            <a:pPr algn="l"/>
            <a:r>
              <a:rPr lang="tr-TR" dirty="0"/>
              <a:t>string</a:t>
            </a:r>
            <a:endParaRPr lang="tr-TR" b="1" dirty="0">
              <a:solidFill>
                <a:srgbClr val="00B0F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absolute or relative path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55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289488E-8D60-421A-8805-69F92FC5CB3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947" y="1050979"/>
            <a:ext cx="4934411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Calling </a:t>
            </a:r>
            <a:r>
              <a:rPr lang="en-US" dirty="0" err="1">
                <a:solidFill>
                  <a:srgbClr val="00B0F0"/>
                </a:solidFill>
              </a:rPr>
              <a:t>os.path.dirname</a:t>
            </a:r>
            <a:r>
              <a:rPr lang="en-US" dirty="0">
                <a:solidFill>
                  <a:srgbClr val="00B0F0"/>
                </a:solidFill>
              </a:rPr>
              <a:t>(path)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908" y="4895559"/>
            <a:ext cx="5321508" cy="1378632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tr-TR" b="0" dirty="0"/>
              <a:t>Calling </a:t>
            </a:r>
            <a:r>
              <a:rPr lang="en-US" dirty="0" err="1">
                <a:solidFill>
                  <a:srgbClr val="00B0F0"/>
                </a:solidFill>
              </a:rPr>
              <a:t>os.path.dirname</a:t>
            </a:r>
            <a:r>
              <a:rPr lang="en-US" dirty="0">
                <a:solidFill>
                  <a:srgbClr val="00B0F0"/>
                </a:solidFill>
              </a:rPr>
              <a:t>(path) </a:t>
            </a:r>
            <a:endParaRPr lang="tr-TR" b="0" dirty="0"/>
          </a:p>
          <a:p>
            <a:pPr algn="ctr"/>
            <a:r>
              <a:rPr lang="tr-TR" b="0" dirty="0"/>
              <a:t>will return</a:t>
            </a:r>
          </a:p>
          <a:p>
            <a:pPr algn="ctr"/>
            <a:r>
              <a:rPr lang="tr-TR" b="0" dirty="0"/>
              <a:t>Dir name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1724677"/>
            <a:ext cx="5120641" cy="107848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will return a string of everything</a:t>
            </a:r>
            <a:endParaRPr lang="tr-TR" dirty="0"/>
          </a:p>
          <a:p>
            <a:r>
              <a:rPr lang="en-US" dirty="0"/>
              <a:t>comes</a:t>
            </a:r>
            <a:r>
              <a:rPr lang="tr-TR" dirty="0"/>
              <a:t> </a:t>
            </a:r>
            <a:r>
              <a:rPr lang="en-US" dirty="0"/>
              <a:t>before the last slash </a:t>
            </a:r>
            <a:endParaRPr lang="tr-TR" dirty="0"/>
          </a:p>
          <a:p>
            <a:r>
              <a:rPr lang="en-US" dirty="0"/>
              <a:t>in the path argument.</a:t>
            </a:r>
            <a:endParaRPr lang="tr-TR" sz="1600" dirty="0">
              <a:solidFill>
                <a:srgbClr val="00B0F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E0F925-5AFC-49DA-BC54-2E5B813E8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897" y="3166133"/>
            <a:ext cx="5220099" cy="1255966"/>
          </a:xfrm>
          <a:prstGeom prst="rect">
            <a:avLst/>
          </a:prstGeom>
        </p:spPr>
      </p:pic>
      <p:grpSp>
        <p:nvGrpSpPr>
          <p:cNvPr id="34" name="Grup 33">
            <a:extLst>
              <a:ext uri="{FF2B5EF4-FFF2-40B4-BE49-F238E27FC236}">
                <a16:creationId xmlns:a16="http://schemas.microsoft.com/office/drawing/2014/main" id="{405C236E-E37A-4705-9194-FF704C191463}"/>
              </a:ext>
            </a:extLst>
          </p:cNvPr>
          <p:cNvGrpSpPr/>
          <p:nvPr/>
        </p:nvGrpSpPr>
        <p:grpSpPr>
          <a:xfrm>
            <a:off x="3084945" y="4073236"/>
            <a:ext cx="1851891" cy="1825141"/>
            <a:chOff x="3084945" y="4073236"/>
            <a:chExt cx="1851891" cy="1825141"/>
          </a:xfrm>
        </p:grpSpPr>
        <p:cxnSp>
          <p:nvCxnSpPr>
            <p:cNvPr id="20" name="Bağlayıcı: Dirsek 19">
              <a:extLst>
                <a:ext uri="{FF2B5EF4-FFF2-40B4-BE49-F238E27FC236}">
                  <a16:creationId xmlns:a16="http://schemas.microsoft.com/office/drawing/2014/main" id="{C8C73202-40C2-4A13-91B3-AD20FEDD693F}"/>
                </a:ext>
              </a:extLst>
            </p:cNvPr>
            <p:cNvCxnSpPr>
              <a:cxnSpLocks/>
              <a:stCxn id="31" idx="1"/>
              <a:endCxn id="29" idx="1"/>
            </p:cNvCxnSpPr>
            <p:nvPr/>
          </p:nvCxnSpPr>
          <p:spPr>
            <a:xfrm rot="10800000">
              <a:off x="3084945" y="4247667"/>
              <a:ext cx="715818" cy="1476280"/>
            </a:xfrm>
            <a:prstGeom prst="bentConnector3">
              <a:avLst>
                <a:gd name="adj1" fmla="val 131935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Dikdörtgen: Köşeleri Yuvarlatılmış 28">
              <a:extLst>
                <a:ext uri="{FF2B5EF4-FFF2-40B4-BE49-F238E27FC236}">
                  <a16:creationId xmlns:a16="http://schemas.microsoft.com/office/drawing/2014/main" id="{9AE5E0A3-9AC7-4CCB-BC4D-E015D31D33E6}"/>
                </a:ext>
              </a:extLst>
            </p:cNvPr>
            <p:cNvSpPr/>
            <p:nvPr/>
          </p:nvSpPr>
          <p:spPr>
            <a:xfrm>
              <a:off x="3084945" y="4073236"/>
              <a:ext cx="1136073" cy="348861"/>
            </a:xfrm>
            <a:prstGeom prst="roundRect">
              <a:avLst/>
            </a:prstGeom>
            <a:solidFill>
              <a:schemeClr val="bg1">
                <a:lumMod val="95000"/>
                <a:alpha val="0"/>
              </a:schemeClr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>
                <a:noFill/>
              </a:endParaRPr>
            </a:p>
          </p:txBody>
        </p:sp>
        <p:sp>
          <p:nvSpPr>
            <p:cNvPr id="31" name="Dikdörtgen: Köşeleri Yuvarlatılmış 30">
              <a:extLst>
                <a:ext uri="{FF2B5EF4-FFF2-40B4-BE49-F238E27FC236}">
                  <a16:creationId xmlns:a16="http://schemas.microsoft.com/office/drawing/2014/main" id="{D68CFDB4-15EB-4165-8437-90282C75FE61}"/>
                </a:ext>
              </a:extLst>
            </p:cNvPr>
            <p:cNvSpPr/>
            <p:nvPr/>
          </p:nvSpPr>
          <p:spPr>
            <a:xfrm>
              <a:off x="3800763" y="5549516"/>
              <a:ext cx="1136073" cy="348861"/>
            </a:xfrm>
            <a:prstGeom prst="roundRect">
              <a:avLst/>
            </a:prstGeom>
            <a:solidFill>
              <a:schemeClr val="bg1">
                <a:lumMod val="95000"/>
                <a:alpha val="0"/>
              </a:schemeClr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926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410980-1A8A-4F92-A4E5-4742065D78C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947" y="1050979"/>
            <a:ext cx="5090538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Calling </a:t>
            </a:r>
            <a:r>
              <a:rPr lang="en-US" dirty="0" err="1">
                <a:solidFill>
                  <a:srgbClr val="00B0F0"/>
                </a:solidFill>
              </a:rPr>
              <a:t>os.path.basename</a:t>
            </a:r>
            <a:r>
              <a:rPr lang="en-US" dirty="0">
                <a:solidFill>
                  <a:srgbClr val="00B0F0"/>
                </a:solidFill>
              </a:rPr>
              <a:t>(path)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908" y="4895559"/>
            <a:ext cx="5321508" cy="1378632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tr-TR" b="0" dirty="0"/>
              <a:t>Calling </a:t>
            </a:r>
            <a:r>
              <a:rPr lang="en-US" dirty="0" err="1">
                <a:solidFill>
                  <a:srgbClr val="00B0F0"/>
                </a:solidFill>
              </a:rPr>
              <a:t>os.path.basename</a:t>
            </a:r>
            <a:r>
              <a:rPr lang="en-US" dirty="0">
                <a:solidFill>
                  <a:srgbClr val="00B0F0"/>
                </a:solidFill>
              </a:rPr>
              <a:t>(path)</a:t>
            </a:r>
            <a:endParaRPr lang="tr-TR" b="0" dirty="0"/>
          </a:p>
          <a:p>
            <a:pPr algn="ctr"/>
            <a:r>
              <a:rPr lang="tr-TR" b="0" dirty="0"/>
              <a:t>will return</a:t>
            </a:r>
          </a:p>
          <a:p>
            <a:pPr algn="ctr"/>
            <a:r>
              <a:rPr lang="tr-TR" b="0" dirty="0"/>
              <a:t>Base name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1724677"/>
            <a:ext cx="5120641" cy="107848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will</a:t>
            </a:r>
            <a:r>
              <a:rPr lang="tr-TR" dirty="0"/>
              <a:t> </a:t>
            </a:r>
            <a:r>
              <a:rPr lang="en-US" dirty="0"/>
              <a:t>return a string of everything</a:t>
            </a:r>
            <a:endParaRPr lang="tr-TR" dirty="0"/>
          </a:p>
          <a:p>
            <a:r>
              <a:rPr lang="en-US" dirty="0"/>
              <a:t>comes </a:t>
            </a:r>
            <a:r>
              <a:rPr lang="en-US" b="1" dirty="0"/>
              <a:t>after</a:t>
            </a:r>
            <a:r>
              <a:rPr lang="en-US" dirty="0"/>
              <a:t> the last </a:t>
            </a:r>
            <a:r>
              <a:rPr lang="en-US" b="1" dirty="0"/>
              <a:t>slash</a:t>
            </a:r>
            <a:endParaRPr lang="tr-TR" b="1" dirty="0"/>
          </a:p>
          <a:p>
            <a:r>
              <a:rPr lang="en-US" dirty="0"/>
              <a:t>in the </a:t>
            </a:r>
            <a:r>
              <a:rPr lang="en-US" b="1" dirty="0"/>
              <a:t>path</a:t>
            </a:r>
            <a:r>
              <a:rPr lang="en-US" dirty="0"/>
              <a:t> argument</a:t>
            </a:r>
            <a:endParaRPr lang="tr-TR" sz="1600" dirty="0">
              <a:solidFill>
                <a:srgbClr val="00B0F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E0F925-5AFC-49DA-BC54-2E5B813E8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897" y="3166133"/>
            <a:ext cx="5220099" cy="1255966"/>
          </a:xfrm>
          <a:prstGeom prst="rect">
            <a:avLst/>
          </a:prstGeom>
        </p:spPr>
      </p:pic>
      <p:grpSp>
        <p:nvGrpSpPr>
          <p:cNvPr id="9" name="Grup 8">
            <a:extLst>
              <a:ext uri="{FF2B5EF4-FFF2-40B4-BE49-F238E27FC236}">
                <a16:creationId xmlns:a16="http://schemas.microsoft.com/office/drawing/2014/main" id="{B9498DC8-3755-4E30-8389-DAD17DD37097}"/>
              </a:ext>
            </a:extLst>
          </p:cNvPr>
          <p:cNvGrpSpPr/>
          <p:nvPr/>
        </p:nvGrpSpPr>
        <p:grpSpPr>
          <a:xfrm>
            <a:off x="3773055" y="4073236"/>
            <a:ext cx="2904836" cy="1806669"/>
            <a:chOff x="3773055" y="4073236"/>
            <a:chExt cx="2904836" cy="1806669"/>
          </a:xfrm>
        </p:grpSpPr>
        <p:cxnSp>
          <p:nvCxnSpPr>
            <p:cNvPr id="11" name="Bağlayıcı: Dirsek 10">
              <a:extLst>
                <a:ext uri="{FF2B5EF4-FFF2-40B4-BE49-F238E27FC236}">
                  <a16:creationId xmlns:a16="http://schemas.microsoft.com/office/drawing/2014/main" id="{99DA4A31-0E53-48C1-997B-F77D544C082F}"/>
                </a:ext>
              </a:extLst>
            </p:cNvPr>
            <p:cNvCxnSpPr>
              <a:cxnSpLocks/>
              <a:stCxn id="13" idx="3"/>
              <a:endCxn id="12" idx="2"/>
            </p:cNvCxnSpPr>
            <p:nvPr/>
          </p:nvCxnSpPr>
          <p:spPr>
            <a:xfrm flipV="1">
              <a:off x="4909128" y="4422097"/>
              <a:ext cx="1200727" cy="1283378"/>
            </a:xfrm>
            <a:prstGeom prst="bentConnector2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ikdörtgen: Köşeleri Yuvarlatılmış 11">
              <a:extLst>
                <a:ext uri="{FF2B5EF4-FFF2-40B4-BE49-F238E27FC236}">
                  <a16:creationId xmlns:a16="http://schemas.microsoft.com/office/drawing/2014/main" id="{35268262-4629-4DFB-A944-83DA87671DFB}"/>
                </a:ext>
              </a:extLst>
            </p:cNvPr>
            <p:cNvSpPr/>
            <p:nvPr/>
          </p:nvSpPr>
          <p:spPr>
            <a:xfrm>
              <a:off x="5541818" y="4073236"/>
              <a:ext cx="1136073" cy="348861"/>
            </a:xfrm>
            <a:prstGeom prst="roundRect">
              <a:avLst/>
            </a:prstGeom>
            <a:solidFill>
              <a:schemeClr val="bg1">
                <a:lumMod val="95000"/>
                <a:alpha val="0"/>
              </a:schemeClr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>
                <a:noFill/>
              </a:endParaRPr>
            </a:p>
          </p:txBody>
        </p:sp>
        <p:sp>
          <p:nvSpPr>
            <p:cNvPr id="13" name="Dikdörtgen: Köşeleri Yuvarlatılmış 12">
              <a:extLst>
                <a:ext uri="{FF2B5EF4-FFF2-40B4-BE49-F238E27FC236}">
                  <a16:creationId xmlns:a16="http://schemas.microsoft.com/office/drawing/2014/main" id="{2FD754BE-C961-45C2-A2F7-03C9F4857CA5}"/>
                </a:ext>
              </a:extLst>
            </p:cNvPr>
            <p:cNvSpPr/>
            <p:nvPr/>
          </p:nvSpPr>
          <p:spPr>
            <a:xfrm>
              <a:off x="3773055" y="5531044"/>
              <a:ext cx="1136073" cy="348861"/>
            </a:xfrm>
            <a:prstGeom prst="roundRect">
              <a:avLst/>
            </a:prstGeom>
            <a:solidFill>
              <a:schemeClr val="bg1">
                <a:lumMod val="95000"/>
                <a:alpha val="0"/>
              </a:schemeClr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8392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13291E-9369-44FB-A2D8-515B881D153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947" y="1050979"/>
            <a:ext cx="5090538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Calling </a:t>
            </a:r>
            <a:r>
              <a:rPr lang="en-US" dirty="0" err="1">
                <a:solidFill>
                  <a:srgbClr val="00B0F0"/>
                </a:solidFill>
              </a:rPr>
              <a:t>os.path.split</a:t>
            </a:r>
            <a:r>
              <a:rPr lang="en-US" dirty="0">
                <a:solidFill>
                  <a:srgbClr val="00B0F0"/>
                </a:solidFill>
              </a:rPr>
              <a:t>()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908" y="4895559"/>
            <a:ext cx="5321508" cy="1378632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tr-TR" b="0" dirty="0"/>
              <a:t>Calling </a:t>
            </a:r>
            <a:r>
              <a:rPr lang="en-US" dirty="0" err="1">
                <a:solidFill>
                  <a:srgbClr val="00B0F0"/>
                </a:solidFill>
              </a:rPr>
              <a:t>os.path.split</a:t>
            </a:r>
            <a:r>
              <a:rPr lang="en-US" dirty="0">
                <a:solidFill>
                  <a:srgbClr val="00B0F0"/>
                </a:solidFill>
              </a:rPr>
              <a:t>()</a:t>
            </a:r>
            <a:endParaRPr lang="tr-TR" dirty="0">
              <a:solidFill>
                <a:srgbClr val="00B0F0"/>
              </a:solidFill>
            </a:endParaRPr>
          </a:p>
          <a:p>
            <a:pPr algn="ctr"/>
            <a:r>
              <a:rPr lang="tr-TR" b="0" dirty="0"/>
              <a:t>will return</a:t>
            </a:r>
          </a:p>
          <a:p>
            <a:pPr algn="ctr"/>
            <a:r>
              <a:rPr lang="tr-TR" b="0" dirty="0"/>
              <a:t>(Dir name, Base name)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1724677"/>
            <a:ext cx="5120641" cy="107848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tr-TR" dirty="0"/>
              <a:t>returns a tuple of </a:t>
            </a:r>
          </a:p>
          <a:p>
            <a:r>
              <a:rPr lang="en-US" dirty="0"/>
              <a:t>a path’s </a:t>
            </a:r>
            <a:r>
              <a:rPr lang="en-US" dirty="0" err="1"/>
              <a:t>dir</a:t>
            </a:r>
            <a:r>
              <a:rPr lang="en-US" dirty="0"/>
              <a:t> name</a:t>
            </a:r>
            <a:endParaRPr lang="tr-TR" dirty="0"/>
          </a:p>
          <a:p>
            <a:r>
              <a:rPr lang="en-US" dirty="0"/>
              <a:t>base name together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E0F925-5AFC-49DA-BC54-2E5B813E8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897" y="3166133"/>
            <a:ext cx="5220099" cy="1255966"/>
          </a:xfrm>
          <a:prstGeom prst="rect">
            <a:avLst/>
          </a:prstGeom>
        </p:spPr>
      </p:pic>
      <p:grpSp>
        <p:nvGrpSpPr>
          <p:cNvPr id="9" name="Grup 8">
            <a:extLst>
              <a:ext uri="{FF2B5EF4-FFF2-40B4-BE49-F238E27FC236}">
                <a16:creationId xmlns:a16="http://schemas.microsoft.com/office/drawing/2014/main" id="{56AD6F60-923D-4138-BF55-4C1FBF8C6897}"/>
              </a:ext>
            </a:extLst>
          </p:cNvPr>
          <p:cNvGrpSpPr/>
          <p:nvPr/>
        </p:nvGrpSpPr>
        <p:grpSpPr>
          <a:xfrm>
            <a:off x="3084945" y="4073236"/>
            <a:ext cx="3648364" cy="1825141"/>
            <a:chOff x="3084945" y="4073236"/>
            <a:chExt cx="3648364" cy="1825141"/>
          </a:xfrm>
        </p:grpSpPr>
        <p:cxnSp>
          <p:nvCxnSpPr>
            <p:cNvPr id="11" name="Bağlayıcı: Dirsek 10">
              <a:extLst>
                <a:ext uri="{FF2B5EF4-FFF2-40B4-BE49-F238E27FC236}">
                  <a16:creationId xmlns:a16="http://schemas.microsoft.com/office/drawing/2014/main" id="{2810C451-725C-48F5-BE69-B6F16EB9D413}"/>
                </a:ext>
              </a:extLst>
            </p:cNvPr>
            <p:cNvCxnSpPr>
              <a:cxnSpLocks/>
              <a:stCxn id="13" idx="1"/>
              <a:endCxn id="12" idx="1"/>
            </p:cNvCxnSpPr>
            <p:nvPr/>
          </p:nvCxnSpPr>
          <p:spPr>
            <a:xfrm rot="10800000">
              <a:off x="3084945" y="4247667"/>
              <a:ext cx="249382" cy="1476280"/>
            </a:xfrm>
            <a:prstGeom prst="bentConnector3">
              <a:avLst>
                <a:gd name="adj1" fmla="val 191667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ikdörtgen: Köşeleri Yuvarlatılmış 11">
              <a:extLst>
                <a:ext uri="{FF2B5EF4-FFF2-40B4-BE49-F238E27FC236}">
                  <a16:creationId xmlns:a16="http://schemas.microsoft.com/office/drawing/2014/main" id="{49E924A6-4825-4C7E-A8FC-034AF072DA81}"/>
                </a:ext>
              </a:extLst>
            </p:cNvPr>
            <p:cNvSpPr/>
            <p:nvPr/>
          </p:nvSpPr>
          <p:spPr>
            <a:xfrm>
              <a:off x="3084945" y="4073236"/>
              <a:ext cx="3648364" cy="348861"/>
            </a:xfrm>
            <a:prstGeom prst="roundRect">
              <a:avLst/>
            </a:prstGeom>
            <a:solidFill>
              <a:schemeClr val="bg1">
                <a:lumMod val="95000"/>
                <a:alpha val="0"/>
              </a:schemeClr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>
                <a:noFill/>
              </a:endParaRPr>
            </a:p>
          </p:txBody>
        </p:sp>
        <p:sp>
          <p:nvSpPr>
            <p:cNvPr id="13" name="Dikdörtgen: Köşeleri Yuvarlatılmış 12">
              <a:extLst>
                <a:ext uri="{FF2B5EF4-FFF2-40B4-BE49-F238E27FC236}">
                  <a16:creationId xmlns:a16="http://schemas.microsoft.com/office/drawing/2014/main" id="{5B27D143-CBB1-4C58-9CFE-258A6FB514B1}"/>
                </a:ext>
              </a:extLst>
            </p:cNvPr>
            <p:cNvSpPr/>
            <p:nvPr/>
          </p:nvSpPr>
          <p:spPr>
            <a:xfrm>
              <a:off x="3334327" y="5549516"/>
              <a:ext cx="1958109" cy="348861"/>
            </a:xfrm>
            <a:prstGeom prst="roundRect">
              <a:avLst/>
            </a:prstGeom>
            <a:solidFill>
              <a:schemeClr val="bg1">
                <a:lumMod val="95000"/>
                <a:alpha val="0"/>
              </a:schemeClr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8860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38687C-3F64-492F-8EE9-1611F0EF2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571" y="202073"/>
            <a:ext cx="8505000" cy="432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tr-TR" dirty="0">
                <a:solidFill>
                  <a:srgbClr val="00B0F0"/>
                </a:solidFill>
              </a:rPr>
              <a:t>os.path </a:t>
            </a:r>
            <a:r>
              <a:rPr lang="tr-TR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6445" y="794480"/>
            <a:ext cx="6053509" cy="2473376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import </a:t>
            </a:r>
            <a:r>
              <a:rPr lang="en-US" sz="1600" dirty="0" err="1"/>
              <a:t>os</a:t>
            </a: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path = 'C:\\Windows\\System32\\calc.exe</a:t>
            </a:r>
            <a:r>
              <a:rPr lang="tr-TR" sz="1600" dirty="0"/>
              <a:t>'</a:t>
            </a:r>
            <a:endParaRPr lang="en-US" sz="1600" dirty="0"/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os.path.dirname</a:t>
            </a:r>
            <a:r>
              <a:rPr lang="en-US" sz="1600" dirty="0"/>
              <a:t>(path)</a:t>
            </a:r>
          </a:p>
          <a:p>
            <a:pPr marL="207169" lvl="1" indent="0">
              <a:buNone/>
            </a:pPr>
            <a:r>
              <a:rPr lang="en-US" sz="1600" dirty="0"/>
              <a:t>'C:\\Windows\\System32’</a:t>
            </a:r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os.path.basename</a:t>
            </a:r>
            <a:r>
              <a:rPr lang="en-US" sz="1600" dirty="0"/>
              <a:t>(path)</a:t>
            </a:r>
          </a:p>
          <a:p>
            <a:pPr marL="207169" lvl="1" indent="0">
              <a:buNone/>
            </a:pPr>
            <a:r>
              <a:rPr lang="en-US" sz="1600" dirty="0"/>
              <a:t>'calc.exe’</a:t>
            </a:r>
          </a:p>
          <a:p>
            <a:pPr marL="207169" lvl="1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28854" y="3357798"/>
            <a:ext cx="6061100" cy="3357796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207169" lvl="1" indent="0">
              <a:buNone/>
            </a:pPr>
            <a:r>
              <a:rPr lang="en-US" sz="1600" dirty="0"/>
              <a:t>&gt;&gt;&gt; import </a:t>
            </a:r>
            <a:r>
              <a:rPr lang="en-US" sz="1600" dirty="0" err="1"/>
              <a:t>os</a:t>
            </a: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calcFilePath</a:t>
            </a:r>
            <a:r>
              <a:rPr lang="en-US" sz="1600" dirty="0"/>
              <a:t> = 'C:\\Windows\\System32\\calc.exe</a:t>
            </a:r>
            <a:r>
              <a:rPr lang="tr-TR" sz="1600" dirty="0"/>
              <a:t>'</a:t>
            </a:r>
            <a:endParaRPr lang="en-US" sz="1600" dirty="0"/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tr-TR" sz="1600" dirty="0"/>
              <a:t>&gt;&gt;&gt; (os.path.dirname(calcFilePath), os.path.basename(calcFilePath))</a:t>
            </a:r>
          </a:p>
          <a:p>
            <a:pPr marL="207169" lvl="1" indent="0">
              <a:buNone/>
            </a:pPr>
            <a:r>
              <a:rPr lang="tr-TR" sz="1600" dirty="0"/>
              <a:t>('C:\\Windows\\System32', 'calc.exe’)</a:t>
            </a:r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os.path.split</a:t>
            </a:r>
            <a:r>
              <a:rPr lang="en-US" sz="1600" dirty="0"/>
              <a:t>(</a:t>
            </a:r>
            <a:r>
              <a:rPr lang="en-US" sz="1600" dirty="0" err="1"/>
              <a:t>calcFilePath</a:t>
            </a:r>
            <a:r>
              <a:rPr lang="en-US" sz="1600" dirty="0"/>
              <a:t>)</a:t>
            </a:r>
            <a:r>
              <a:rPr lang="tr-TR" sz="1600" dirty="0"/>
              <a:t> </a:t>
            </a:r>
            <a:r>
              <a:rPr lang="tr-TR" sz="1600" i="1" dirty="0"/>
              <a:t>#Shortcut for the above</a:t>
            </a:r>
            <a:endParaRPr lang="en-US" sz="1600" i="1" dirty="0"/>
          </a:p>
          <a:p>
            <a:pPr marL="207169" lvl="1" indent="0">
              <a:buNone/>
            </a:pPr>
            <a:r>
              <a:rPr lang="en-US" sz="1600" dirty="0"/>
              <a:t>('C:\\Windows\\System32', 'calc.exe’)</a:t>
            </a:r>
            <a:endParaRPr lang="tr-TR" sz="1600" dirty="0"/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calcFilePath.split</a:t>
            </a:r>
            <a:r>
              <a:rPr lang="en-US" sz="1600" dirty="0"/>
              <a:t>(</a:t>
            </a:r>
            <a:r>
              <a:rPr lang="en-US" sz="1600" dirty="0" err="1"/>
              <a:t>os.path.sep</a:t>
            </a:r>
            <a:r>
              <a:rPr lang="en-US" sz="1600" dirty="0"/>
              <a:t>)</a:t>
            </a:r>
          </a:p>
          <a:p>
            <a:pPr marL="207169" lvl="1" indent="0">
              <a:buNone/>
            </a:pPr>
            <a:r>
              <a:rPr lang="en-US" sz="1600" dirty="0"/>
              <a:t>['C:', 'Windows', 'System32', 'calc.exe']</a:t>
            </a:r>
          </a:p>
        </p:txBody>
      </p:sp>
    </p:spTree>
    <p:extLst>
      <p:ext uri="{BB962C8B-B14F-4D97-AF65-F5344CB8AC3E}">
        <p14:creationId xmlns:p14="http://schemas.microsoft.com/office/powerpoint/2010/main" val="2465182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Other OSs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en-US" dirty="0"/>
              <a:t>OS X and Linux </a:t>
            </a:r>
            <a:endParaRPr lang="tr-TR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en-US" dirty="0"/>
              <a:t>there will be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blank string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the start of</a:t>
            </a:r>
            <a:r>
              <a:rPr lang="tr-TR" dirty="0"/>
              <a:t> the returned list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3010" y="2891561"/>
            <a:ext cx="2124891" cy="432000"/>
          </a:xfrm>
        </p:spPr>
        <p:txBody>
          <a:bodyPr/>
          <a:lstStyle/>
          <a:p>
            <a:r>
              <a:rPr lang="tr-TR" sz="1200" dirty="0"/>
              <a:t>split() string method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446584"/>
            <a:ext cx="2370064" cy="1110426"/>
          </a:xfrm>
        </p:spPr>
        <p:txBody>
          <a:bodyPr/>
          <a:lstStyle/>
          <a:p>
            <a:r>
              <a:rPr lang="en-US" dirty="0"/>
              <a:t>will work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 any operating system</a:t>
            </a:r>
            <a:endParaRPr lang="tr-TR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pass </a:t>
            </a:r>
            <a:r>
              <a:rPr lang="tr-TR" dirty="0">
                <a:solidFill>
                  <a:srgbClr val="00B0F0"/>
                </a:solidFill>
              </a:rPr>
              <a:t>os.path.sep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789501"/>
          </a:xfrm>
        </p:spPr>
        <p:txBody>
          <a:bodyPr/>
          <a:lstStyle/>
          <a:p>
            <a:r>
              <a:rPr lang="tr-TR" dirty="0"/>
              <a:t>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b="1" dirty="0">
                <a:solidFill>
                  <a:srgbClr val="00B0F0"/>
                </a:solidFill>
              </a:rPr>
              <a:t>split()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11" name="Picture Placeholder 10" descr="A close up of an insect on a branch&#10;&#10;Description automatically generated">
            <a:extLst>
              <a:ext uri="{FF2B5EF4-FFF2-40B4-BE49-F238E27FC236}">
                <a16:creationId xmlns:a16="http://schemas.microsoft.com/office/drawing/2014/main" id="{9387A511-7087-41B7-85DC-F56086E5B9B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t="5126" b="512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3543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Finding File Sizes and </a:t>
            </a:r>
            <a:r>
              <a:rPr lang="tr-TR" dirty="0"/>
              <a:t>File Listing in a </a:t>
            </a:r>
            <a:r>
              <a:rPr lang="en-US" dirty="0"/>
              <a:t>Folder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 err="1">
                <a:solidFill>
                  <a:srgbClr val="00B0F0"/>
                </a:solidFill>
              </a:rPr>
              <a:t>os.path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/>
              <a:t>module provides</a:t>
            </a:r>
            <a:r>
              <a:rPr lang="tr-TR" dirty="0"/>
              <a:t> </a:t>
            </a:r>
            <a:r>
              <a:rPr lang="en-US" dirty="0"/>
              <a:t>functions</a:t>
            </a:r>
            <a:r>
              <a:rPr lang="tr-TR" dirty="0"/>
              <a:t> to get info about files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file size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88125" y="4477096"/>
            <a:ext cx="1730326" cy="1121845"/>
          </a:xfrm>
        </p:spPr>
        <p:txBody>
          <a:bodyPr/>
          <a:lstStyle/>
          <a:p>
            <a:pPr algn="l"/>
            <a:r>
              <a:rPr lang="en-US" b="1" dirty="0"/>
              <a:t>finding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size of a file in bytes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620441" cy="504000"/>
          </a:xfrm>
        </p:spPr>
        <p:txBody>
          <a:bodyPr/>
          <a:lstStyle/>
          <a:p>
            <a:r>
              <a:rPr lang="tr-TR" dirty="0"/>
              <a:t>folder content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7767" y="4434894"/>
            <a:ext cx="1702190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exploring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files and folders</a:t>
            </a:r>
            <a:r>
              <a:rPr lang="tr-TR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inside a given folder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33877" y="3872374"/>
            <a:ext cx="2196102" cy="504000"/>
          </a:xfrm>
        </p:spPr>
        <p:txBody>
          <a:bodyPr/>
          <a:lstStyle/>
          <a:p>
            <a:r>
              <a:rPr lang="en-US" dirty="0" err="1">
                <a:solidFill>
                  <a:srgbClr val="00B0F0"/>
                </a:solidFill>
              </a:rPr>
              <a:t>os.path</a:t>
            </a:r>
            <a:r>
              <a:rPr lang="tr-TR" dirty="0">
                <a:solidFill>
                  <a:schemeClr val="tx1"/>
                </a:solidFill>
              </a:rPr>
              <a:t> functions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5"/>
            <a:ext cx="1463039" cy="789470"/>
          </a:xfrm>
        </p:spPr>
        <p:txBody>
          <a:bodyPr/>
          <a:lstStyle/>
          <a:p>
            <a:pPr algn="l"/>
            <a:r>
              <a:rPr lang="tr-TR" b="1" dirty="0"/>
              <a:t>file and folder content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>
                <a:solidFill>
                  <a:srgbClr val="00B0F0"/>
                </a:solidFill>
              </a:rPr>
              <a:t>os.path.getsize(</a:t>
            </a:r>
            <a:r>
              <a:rPr lang="tr-TR" b="1" i="1" dirty="0">
                <a:solidFill>
                  <a:srgbClr val="00B0F0"/>
                </a:solidFill>
              </a:rPr>
              <a:t>path</a:t>
            </a:r>
            <a:r>
              <a:rPr lang="tr-TR" b="1" dirty="0">
                <a:solidFill>
                  <a:srgbClr val="00B0F0"/>
                </a:solidFill>
              </a:rPr>
              <a:t>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b="1" dirty="0">
                <a:solidFill>
                  <a:srgbClr val="00B0F0"/>
                </a:solidFill>
              </a:rPr>
              <a:t>os.listdir(</a:t>
            </a:r>
            <a:r>
              <a:rPr lang="tr-TR" b="1" i="1" dirty="0">
                <a:solidFill>
                  <a:srgbClr val="00B0F0"/>
                </a:solidFill>
              </a:rPr>
              <a:t>path</a:t>
            </a:r>
            <a:r>
              <a:rPr lang="tr-TR" b="1" dirty="0">
                <a:solidFill>
                  <a:srgbClr val="00B0F0"/>
                </a:solidFill>
              </a:rPr>
              <a:t>)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19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Size</a:t>
            </a:r>
            <a:r>
              <a:rPr lang="tr-TR" dirty="0"/>
              <a:t>: </a:t>
            </a:r>
            <a:r>
              <a:rPr lang="tr-TR" dirty="0">
                <a:solidFill>
                  <a:srgbClr val="00B0F0"/>
                </a:solidFill>
              </a:rPr>
              <a:t>os.path.getsize(</a:t>
            </a:r>
            <a:r>
              <a:rPr lang="tr-TR" i="1" dirty="0">
                <a:solidFill>
                  <a:srgbClr val="00B0F0"/>
                </a:solidFill>
              </a:rPr>
              <a:t>path</a:t>
            </a:r>
            <a:r>
              <a:rPr lang="tr-TR" dirty="0">
                <a:solidFill>
                  <a:srgbClr val="00B0F0"/>
                </a:solidFill>
              </a:rPr>
              <a:t>)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 err="1">
                <a:solidFill>
                  <a:srgbClr val="00B0F0"/>
                </a:solidFill>
              </a:rPr>
              <a:t>os.path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/>
              <a:t>module provides</a:t>
            </a:r>
            <a:r>
              <a:rPr lang="tr-TR" dirty="0"/>
              <a:t> </a:t>
            </a:r>
            <a:r>
              <a:rPr lang="en-US" dirty="0"/>
              <a:t>function</a:t>
            </a:r>
            <a:r>
              <a:rPr lang="tr-TR" dirty="0"/>
              <a:t> to get file size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53590" y="3926335"/>
            <a:ext cx="1620440" cy="504000"/>
          </a:xfrm>
        </p:spPr>
        <p:txBody>
          <a:bodyPr/>
          <a:lstStyle/>
          <a:p>
            <a:r>
              <a:rPr lang="tr-TR" dirty="0">
                <a:solidFill>
                  <a:srgbClr val="00B0F0"/>
                </a:solidFill>
              </a:rPr>
              <a:t>getsize(</a:t>
            </a:r>
            <a:r>
              <a:rPr lang="tr-TR" i="1" dirty="0">
                <a:solidFill>
                  <a:srgbClr val="00B0F0"/>
                </a:solidFill>
              </a:rPr>
              <a:t>path</a:t>
            </a:r>
            <a:r>
              <a:rPr lang="tr-TR" dirty="0">
                <a:solidFill>
                  <a:srgbClr val="00B0F0"/>
                </a:solidFill>
              </a:rPr>
              <a:t>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73771" y="4477096"/>
            <a:ext cx="1544680" cy="1121845"/>
          </a:xfrm>
        </p:spPr>
        <p:txBody>
          <a:bodyPr/>
          <a:lstStyle/>
          <a:p>
            <a:pPr algn="l"/>
            <a:r>
              <a:rPr lang="en-US" b="1" dirty="0"/>
              <a:t>return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size in bytes of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file in</a:t>
            </a:r>
            <a:r>
              <a:rPr lang="tr-TR" dirty="0"/>
              <a:t> </a:t>
            </a:r>
            <a:r>
              <a:rPr lang="en-US" dirty="0"/>
              <a:t>the path argument.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620441" cy="504000"/>
          </a:xfrm>
        </p:spPr>
        <p:txBody>
          <a:bodyPr/>
          <a:lstStyle/>
          <a:p>
            <a:r>
              <a:rPr lang="en-US" i="1" dirty="0">
                <a:solidFill>
                  <a:srgbClr val="00B0F0"/>
                </a:solidFill>
              </a:rPr>
              <a:t>path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7767" y="4434894"/>
            <a:ext cx="1702190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contains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path of the file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20917" y="3872374"/>
            <a:ext cx="1709061" cy="504000"/>
          </a:xfrm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returned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5"/>
            <a:ext cx="1463039" cy="789470"/>
          </a:xfrm>
        </p:spPr>
        <p:txBody>
          <a:bodyPr/>
          <a:lstStyle/>
          <a:p>
            <a:pPr algn="l"/>
            <a:r>
              <a:rPr lang="tr-TR" b="1" dirty="0" err="1"/>
              <a:t>İnteger</a:t>
            </a:r>
            <a:r>
              <a:rPr lang="tr-TR" b="1" dirty="0"/>
              <a:t> </a:t>
            </a:r>
            <a:r>
              <a:rPr lang="tr-TR" b="1" dirty="0" err="1"/>
              <a:t>value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number of bytes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file contains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304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Files in a folder: </a:t>
            </a:r>
            <a:r>
              <a:rPr lang="tr-TR" dirty="0">
                <a:solidFill>
                  <a:srgbClr val="00B0F0"/>
                </a:solidFill>
              </a:rPr>
              <a:t>os.listdir(path)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 err="1">
                <a:solidFill>
                  <a:srgbClr val="00B0F0"/>
                </a:solidFill>
              </a:rPr>
              <a:t>os.path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/>
              <a:t>module provides</a:t>
            </a:r>
            <a:r>
              <a:rPr lang="tr-TR" dirty="0"/>
              <a:t> </a:t>
            </a:r>
            <a:r>
              <a:rPr lang="en-US" dirty="0"/>
              <a:t>function</a:t>
            </a:r>
            <a:r>
              <a:rPr lang="tr-TR" dirty="0"/>
              <a:t> to list files in a folder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>
                <a:solidFill>
                  <a:srgbClr val="00B0F0"/>
                </a:solidFill>
              </a:rPr>
              <a:t>listdir(path)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73771" y="4477096"/>
            <a:ext cx="1544680" cy="1294117"/>
          </a:xfrm>
        </p:spPr>
        <p:txBody>
          <a:bodyPr/>
          <a:lstStyle/>
          <a:p>
            <a:pPr algn="l"/>
            <a:r>
              <a:rPr lang="en-US" b="1" dirty="0"/>
              <a:t>return</a:t>
            </a:r>
            <a:endParaRPr lang="tr-TR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list of filename</a:t>
            </a:r>
            <a:r>
              <a:rPr lang="tr-TR" dirty="0"/>
              <a:t>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 the path argument.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620441" cy="504000"/>
          </a:xfrm>
        </p:spPr>
        <p:txBody>
          <a:bodyPr/>
          <a:lstStyle/>
          <a:p>
            <a:r>
              <a:rPr lang="tr-TR" dirty="0"/>
              <a:t>argument </a:t>
            </a:r>
            <a:r>
              <a:rPr lang="en-US" dirty="0"/>
              <a:t>path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7767" y="4434894"/>
            <a:ext cx="1702190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contains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path of the folder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20917" y="3872374"/>
            <a:ext cx="1709061" cy="504000"/>
          </a:xfrm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returned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5"/>
            <a:ext cx="1463039" cy="789470"/>
          </a:xfrm>
        </p:spPr>
        <p:txBody>
          <a:bodyPr/>
          <a:lstStyle/>
          <a:p>
            <a:pPr algn="l"/>
            <a:r>
              <a:rPr lang="tr-TR" b="1" dirty="0"/>
              <a:t>strings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file names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61AF12-8168-4ADD-AB94-BA48D2EA0B96}"/>
              </a:ext>
            </a:extLst>
          </p:cNvPr>
          <p:cNvSpPr/>
          <p:nvPr/>
        </p:nvSpPr>
        <p:spPr>
          <a:xfrm>
            <a:off x="712033" y="5879016"/>
            <a:ext cx="5943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NewBaskerville-Roman"/>
              </a:rPr>
              <a:t>Note that this function is in the </a:t>
            </a:r>
            <a:r>
              <a:rPr lang="en-US" sz="1400" b="1" dirty="0" err="1">
                <a:solidFill>
                  <a:srgbClr val="00B0F0"/>
                </a:solidFill>
                <a:latin typeface="TheSansMonoCondensed-Plain"/>
              </a:rPr>
              <a:t>os</a:t>
            </a:r>
            <a:r>
              <a:rPr lang="en-US" sz="1400" dirty="0">
                <a:latin typeface="TheSansMonoCondensed-Plain"/>
              </a:rPr>
              <a:t> </a:t>
            </a:r>
            <a:r>
              <a:rPr lang="en-US" sz="1400" dirty="0">
                <a:latin typeface="NewBaskerville-Roman"/>
              </a:rPr>
              <a:t>module, </a:t>
            </a:r>
            <a:r>
              <a:rPr lang="en-US" sz="1400" b="1" dirty="0">
                <a:latin typeface="NewBaskerville-Roman"/>
              </a:rPr>
              <a:t>not</a:t>
            </a:r>
            <a:r>
              <a:rPr lang="tr-TR" sz="1400" dirty="0">
                <a:latin typeface="NewBaskerville-Roman"/>
              </a:rPr>
              <a:t> </a:t>
            </a:r>
            <a:r>
              <a:rPr lang="tr-TR" sz="1400" b="1" dirty="0">
                <a:solidFill>
                  <a:srgbClr val="00B0F0"/>
                </a:solidFill>
                <a:latin typeface="TheSansMonoCondensed-Plain"/>
              </a:rPr>
              <a:t>os.path</a:t>
            </a:r>
            <a:endParaRPr lang="tr-TR" sz="1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5148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BD0A62-2D29-4448-B798-39B321D68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29825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571" y="202073"/>
            <a:ext cx="8505000" cy="432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en-US" dirty="0"/>
              <a:t>Finding File Sizes and </a:t>
            </a:r>
            <a:r>
              <a:rPr lang="tr-TR" dirty="0"/>
              <a:t>File Listing in a </a:t>
            </a:r>
            <a:r>
              <a:rPr lang="en-US" dirty="0"/>
              <a:t>Folder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9666" y="794480"/>
            <a:ext cx="8229599" cy="764497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import </a:t>
            </a:r>
            <a:r>
              <a:rPr lang="en-US" sz="1600" dirty="0" err="1"/>
              <a:t>os</a:t>
            </a:r>
            <a:endParaRPr lang="tr-TR" sz="1600" dirty="0"/>
          </a:p>
          <a:p>
            <a:pPr marL="207169" lvl="1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127" y="1798820"/>
            <a:ext cx="8863150" cy="4377128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buNone/>
            </a:pPr>
            <a:endParaRPr lang="en-US" sz="1200" dirty="0"/>
          </a:p>
          <a:p>
            <a:pPr marL="207169" lvl="1" indent="0"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os.path.getsize</a:t>
            </a:r>
            <a:r>
              <a:rPr lang="en-US" sz="1400" dirty="0"/>
              <a:t>('C:\\Windows\\System32\\calc.exe')</a:t>
            </a:r>
          </a:p>
          <a:p>
            <a:pPr marL="207169" lvl="1" indent="0">
              <a:buNone/>
            </a:pPr>
            <a:r>
              <a:rPr lang="en-US" sz="1400" dirty="0"/>
              <a:t>26112</a:t>
            </a:r>
          </a:p>
          <a:p>
            <a:pPr marL="207169" lvl="1" indent="0">
              <a:buNone/>
            </a:pPr>
            <a:endParaRPr lang="tr-TR" sz="1400" dirty="0"/>
          </a:p>
          <a:p>
            <a:pPr marL="207169" lvl="1" indent="0">
              <a:buNone/>
            </a:pPr>
            <a:r>
              <a:rPr lang="en-US" sz="1400" dirty="0"/>
              <a:t>&gt;&gt;&gt; </a:t>
            </a:r>
            <a:r>
              <a:rPr lang="pt-BR" sz="1400" dirty="0"/>
              <a:t>os.listdir('C:\\Program Files (x86)\\Python38-32')</a:t>
            </a:r>
            <a:endParaRPr lang="en-US" sz="1400" dirty="0"/>
          </a:p>
          <a:p>
            <a:pPr marL="207169" lvl="1" indent="0">
              <a:buNone/>
            </a:pPr>
            <a:r>
              <a:rPr lang="en-US" sz="1400" dirty="0"/>
              <a:t>['DLLs', 'Doc', 'include', 'Lib', 'libs', 'LICENSE.txt', 'NEWS.txt', 'python.exe', 'python3.dll', 'python38.dll', 'pythonw.exe', 'Scripts', '</a:t>
            </a:r>
            <a:r>
              <a:rPr lang="en-US" sz="1400" dirty="0" err="1"/>
              <a:t>tcl</a:t>
            </a:r>
            <a:r>
              <a:rPr lang="en-US" sz="1400" dirty="0"/>
              <a:t>', 'Tools', 'vcruntime140.dll']</a:t>
            </a:r>
            <a:endParaRPr lang="tr-TR" sz="1400" dirty="0"/>
          </a:p>
          <a:p>
            <a:pPr marL="207169" lvl="1" indent="0"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totalSize</a:t>
            </a:r>
            <a:r>
              <a:rPr lang="en-US" sz="1400" dirty="0"/>
              <a:t> = 0</a:t>
            </a:r>
          </a:p>
          <a:p>
            <a:pPr marL="207169" lvl="1" indent="0">
              <a:buNone/>
            </a:pPr>
            <a:r>
              <a:rPr lang="en-US" sz="1400" dirty="0"/>
              <a:t>&gt;&gt;&gt; for filename in </a:t>
            </a:r>
            <a:r>
              <a:rPr lang="en-US" sz="1400" dirty="0" err="1"/>
              <a:t>os.listdir</a:t>
            </a:r>
            <a:r>
              <a:rPr lang="en-US" sz="1400" dirty="0"/>
              <a:t>(</a:t>
            </a:r>
            <a:r>
              <a:rPr lang="tr-TR" sz="1400" dirty="0"/>
              <a:t>'</a:t>
            </a:r>
            <a:r>
              <a:rPr lang="pt-BR" sz="1400" dirty="0"/>
              <a:t>C:\\Program Files (x86)\\Python38-32</a:t>
            </a:r>
            <a:r>
              <a:rPr lang="en-US" sz="1400" dirty="0"/>
              <a:t>'):</a:t>
            </a:r>
          </a:p>
          <a:p>
            <a:pPr marL="207169" lvl="1" indent="0">
              <a:buNone/>
            </a:pPr>
            <a:r>
              <a:rPr lang="en-US" sz="1400" dirty="0"/>
              <a:t>	</a:t>
            </a:r>
            <a:r>
              <a:rPr lang="en-US" sz="1400" dirty="0" err="1"/>
              <a:t>totalSize</a:t>
            </a:r>
            <a:r>
              <a:rPr lang="en-US" sz="1400" dirty="0"/>
              <a:t> = </a:t>
            </a:r>
            <a:r>
              <a:rPr lang="en-US" sz="1400" dirty="0" err="1"/>
              <a:t>totalSize</a:t>
            </a:r>
            <a:r>
              <a:rPr lang="en-US" sz="1400" dirty="0"/>
              <a:t> + </a:t>
            </a:r>
            <a:r>
              <a:rPr lang="en-US" sz="1400" dirty="0" err="1"/>
              <a:t>os.path.getsize</a:t>
            </a:r>
            <a:r>
              <a:rPr lang="en-US" sz="1400" dirty="0"/>
              <a:t>(</a:t>
            </a:r>
            <a:r>
              <a:rPr lang="en-US" sz="1400" dirty="0" err="1"/>
              <a:t>os.path.join</a:t>
            </a:r>
            <a:r>
              <a:rPr lang="en-US" sz="1400" dirty="0"/>
              <a:t>('</a:t>
            </a:r>
            <a:r>
              <a:rPr lang="pt-BR" sz="1400" dirty="0"/>
              <a:t>C:\\Program Files (x86)\\Python38-32</a:t>
            </a:r>
            <a:r>
              <a:rPr lang="en-US" sz="1400" dirty="0"/>
              <a:t>', filename))</a:t>
            </a:r>
          </a:p>
          <a:p>
            <a:pPr marL="207169" lvl="1" indent="0">
              <a:buNone/>
            </a:pPr>
            <a:r>
              <a:rPr lang="en-US" sz="1400" dirty="0"/>
              <a:t>	</a:t>
            </a:r>
          </a:p>
          <a:p>
            <a:pPr marL="207169" lvl="1" indent="0">
              <a:buNone/>
            </a:pPr>
            <a:r>
              <a:rPr lang="en-US" sz="1400" dirty="0"/>
              <a:t>&gt;&gt;&gt; print(</a:t>
            </a:r>
            <a:r>
              <a:rPr lang="en-US" sz="1400" dirty="0" err="1"/>
              <a:t>totalSize</a:t>
            </a:r>
            <a:r>
              <a:rPr lang="en-US" sz="1400" dirty="0"/>
              <a:t>)</a:t>
            </a:r>
          </a:p>
          <a:p>
            <a:pPr marL="207169" lvl="1" indent="0">
              <a:buNone/>
            </a:pPr>
            <a:r>
              <a:rPr lang="en-US" sz="1400" dirty="0"/>
              <a:t>5472705</a:t>
            </a:r>
          </a:p>
        </p:txBody>
      </p:sp>
    </p:spTree>
    <p:extLst>
      <p:ext uri="{BB962C8B-B14F-4D97-AF65-F5344CB8AC3E}">
        <p14:creationId xmlns:p14="http://schemas.microsoft.com/office/powerpoint/2010/main" val="1941587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Checking Path Validity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049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 err="1">
                <a:solidFill>
                  <a:srgbClr val="00B0F0"/>
                </a:solidFill>
              </a:rPr>
              <a:t>os.path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/>
              <a:t>module provides functions to check</a:t>
            </a:r>
            <a:r>
              <a:rPr lang="tr-TR" dirty="0"/>
              <a:t> </a:t>
            </a:r>
            <a:r>
              <a:rPr lang="en-US" dirty="0"/>
              <a:t>path exists and it is a </a:t>
            </a:r>
            <a:r>
              <a:rPr lang="en-US" b="1" dirty="0"/>
              <a:t>file</a:t>
            </a:r>
            <a:r>
              <a:rPr lang="en-US" dirty="0"/>
              <a:t> or </a:t>
            </a:r>
            <a:r>
              <a:rPr lang="en-US" b="1" dirty="0"/>
              <a:t>folder</a:t>
            </a:r>
            <a:r>
              <a:rPr lang="en-US" dirty="0"/>
              <a:t>.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54046" y="3926335"/>
            <a:ext cx="1719984" cy="504000"/>
          </a:xfrm>
        </p:spPr>
        <p:txBody>
          <a:bodyPr/>
          <a:lstStyle/>
          <a:p>
            <a:r>
              <a:rPr lang="tr-TR" dirty="0">
                <a:solidFill>
                  <a:srgbClr val="00B0F0"/>
                </a:solidFill>
              </a:rPr>
              <a:t>os.path.exists(path)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03948" y="4432125"/>
            <a:ext cx="1544680" cy="1294117"/>
          </a:xfrm>
        </p:spPr>
        <p:txBody>
          <a:bodyPr/>
          <a:lstStyle/>
          <a:p>
            <a:pPr algn="l"/>
            <a:r>
              <a:rPr lang="en-US" b="1" dirty="0"/>
              <a:t>return</a:t>
            </a:r>
            <a:r>
              <a:rPr lang="tr-TR" b="1" dirty="0"/>
              <a:t> </a:t>
            </a:r>
            <a:r>
              <a:rPr lang="en-US" b="1" dirty="0">
                <a:solidFill>
                  <a:srgbClr val="00B0F0"/>
                </a:solidFill>
              </a:rPr>
              <a:t>True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the file or folder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exists</a:t>
            </a:r>
            <a:endParaRPr lang="tr-TR" dirty="0"/>
          </a:p>
          <a:p>
            <a:pPr algn="l"/>
            <a:r>
              <a:rPr lang="en-US" b="1" dirty="0"/>
              <a:t>return</a:t>
            </a:r>
            <a:r>
              <a:rPr lang="tr-TR" b="1" dirty="0"/>
              <a:t> </a:t>
            </a:r>
            <a:r>
              <a:rPr lang="tr-TR" b="1" dirty="0">
                <a:solidFill>
                  <a:srgbClr val="00B0F0"/>
                </a:solidFill>
              </a:rPr>
              <a:t>False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it does not exist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620441" cy="504000"/>
          </a:xfrm>
        </p:spPr>
        <p:txBody>
          <a:bodyPr/>
          <a:lstStyle/>
          <a:p>
            <a:r>
              <a:rPr lang="tr-TR" b="0" dirty="0">
                <a:solidFill>
                  <a:srgbClr val="00B0F0"/>
                </a:solidFill>
              </a:rPr>
              <a:t>os.path.isfile(</a:t>
            </a:r>
            <a:r>
              <a:rPr lang="tr-TR" b="0" i="1" dirty="0">
                <a:solidFill>
                  <a:srgbClr val="00B0F0"/>
                </a:solidFill>
              </a:rPr>
              <a:t>path</a:t>
            </a:r>
            <a:r>
              <a:rPr lang="tr-TR" b="0" dirty="0">
                <a:solidFill>
                  <a:srgbClr val="00B0F0"/>
                </a:solidFill>
              </a:rPr>
              <a:t>)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7541" y="4434894"/>
            <a:ext cx="2062416" cy="165111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b="1" dirty="0"/>
              <a:t>return</a:t>
            </a:r>
            <a:r>
              <a:rPr lang="tr-TR" b="1" dirty="0"/>
              <a:t> </a:t>
            </a:r>
            <a:r>
              <a:rPr lang="en-US" b="1" dirty="0">
                <a:solidFill>
                  <a:srgbClr val="00B0F0"/>
                </a:solidFill>
              </a:rPr>
              <a:t>True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path argument </a:t>
            </a:r>
            <a:r>
              <a:rPr lang="en-US" u="sng" dirty="0"/>
              <a:t>exists</a:t>
            </a:r>
            <a:endParaRPr lang="tr-TR" u="sng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</a:t>
            </a:r>
            <a:r>
              <a:rPr lang="en-US" u="sng" dirty="0"/>
              <a:t>is a file</a:t>
            </a:r>
            <a:endParaRPr lang="tr-TR" u="sng" dirty="0"/>
          </a:p>
          <a:p>
            <a:pPr algn="l"/>
            <a:r>
              <a:rPr lang="en-US" b="1" dirty="0"/>
              <a:t>return</a:t>
            </a:r>
            <a:r>
              <a:rPr lang="tr-TR" b="1" dirty="0"/>
              <a:t> </a:t>
            </a:r>
            <a:r>
              <a:rPr lang="tr-TR" b="1" dirty="0">
                <a:solidFill>
                  <a:srgbClr val="00B0F0"/>
                </a:solidFill>
              </a:rPr>
              <a:t>False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path argument</a:t>
            </a:r>
            <a:r>
              <a:rPr lang="tr-TR" dirty="0"/>
              <a:t> </a:t>
            </a:r>
            <a:r>
              <a:rPr lang="tr-TR" u="sng" dirty="0"/>
              <a:t>doesn’t</a:t>
            </a:r>
            <a:r>
              <a:rPr lang="en-US" u="sng" dirty="0"/>
              <a:t> exist</a:t>
            </a:r>
            <a:endParaRPr lang="tr-TR" u="sng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or</a:t>
            </a:r>
            <a:r>
              <a:rPr lang="en-US" dirty="0"/>
              <a:t> is a </a:t>
            </a:r>
            <a:r>
              <a:rPr lang="tr-TR" u="sng" dirty="0"/>
              <a:t>not </a:t>
            </a:r>
            <a:r>
              <a:rPr lang="en-US" u="sng" dirty="0"/>
              <a:t>file.</a:t>
            </a:r>
            <a:endParaRPr lang="tr-TR" u="sng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20917" y="3872374"/>
            <a:ext cx="1709061" cy="504000"/>
          </a:xfrm>
        </p:spPr>
        <p:txBody>
          <a:bodyPr/>
          <a:lstStyle/>
          <a:p>
            <a:r>
              <a:rPr lang="tr-TR" dirty="0">
                <a:solidFill>
                  <a:srgbClr val="00B0F0"/>
                </a:solidFill>
              </a:rPr>
              <a:t>os.path.isdir(</a:t>
            </a:r>
            <a:r>
              <a:rPr lang="tr-TR" i="1" dirty="0">
                <a:solidFill>
                  <a:srgbClr val="00B0F0"/>
                </a:solidFill>
              </a:rPr>
              <a:t>path</a:t>
            </a:r>
            <a:r>
              <a:rPr lang="tr-TR" dirty="0">
                <a:solidFill>
                  <a:srgbClr val="00B0F0"/>
                </a:solidFill>
              </a:rPr>
              <a:t>)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1" y="4429645"/>
            <a:ext cx="2008681" cy="1701332"/>
          </a:xfrm>
        </p:spPr>
        <p:txBody>
          <a:bodyPr/>
          <a:lstStyle/>
          <a:p>
            <a:pPr algn="l"/>
            <a:r>
              <a:rPr lang="en-US" b="1" dirty="0"/>
              <a:t>return</a:t>
            </a:r>
            <a:r>
              <a:rPr lang="tr-TR" b="1" dirty="0"/>
              <a:t> </a:t>
            </a:r>
            <a:r>
              <a:rPr lang="en-US" b="1" dirty="0">
                <a:solidFill>
                  <a:srgbClr val="00B0F0"/>
                </a:solidFill>
              </a:rPr>
              <a:t>True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path argument </a:t>
            </a:r>
            <a:r>
              <a:rPr lang="en-US" u="sng" dirty="0"/>
              <a:t>exists</a:t>
            </a:r>
            <a:endParaRPr lang="tr-TR" u="sng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</a:t>
            </a:r>
            <a:r>
              <a:rPr lang="en-US" u="sng" dirty="0"/>
              <a:t>is a </a:t>
            </a:r>
            <a:r>
              <a:rPr lang="tr-TR" u="sng" dirty="0"/>
              <a:t>folder</a:t>
            </a:r>
          </a:p>
          <a:p>
            <a:pPr algn="l"/>
            <a:r>
              <a:rPr lang="en-US" b="1" dirty="0"/>
              <a:t>return</a:t>
            </a:r>
            <a:r>
              <a:rPr lang="tr-TR" b="1" dirty="0"/>
              <a:t> </a:t>
            </a:r>
            <a:r>
              <a:rPr lang="tr-TR" b="1" dirty="0">
                <a:solidFill>
                  <a:srgbClr val="00B0F0"/>
                </a:solidFill>
              </a:rPr>
              <a:t>False</a:t>
            </a:r>
            <a:r>
              <a:rPr lang="en-US" dirty="0"/>
              <a:t>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if path argument</a:t>
            </a:r>
            <a:r>
              <a:rPr lang="tr-TR" dirty="0"/>
              <a:t> </a:t>
            </a:r>
            <a:r>
              <a:rPr lang="tr-TR" u="sng" dirty="0"/>
              <a:t>doesn’t</a:t>
            </a:r>
            <a:r>
              <a:rPr lang="en-US" u="sng" dirty="0"/>
              <a:t> exist</a:t>
            </a:r>
            <a:endParaRPr lang="tr-TR" u="sng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or</a:t>
            </a:r>
            <a:r>
              <a:rPr lang="en-US" dirty="0"/>
              <a:t> is a </a:t>
            </a:r>
            <a:r>
              <a:rPr lang="tr-TR" u="sng" dirty="0"/>
              <a:t>not folder</a:t>
            </a:r>
            <a:r>
              <a:rPr lang="en-US" u="sng" dirty="0"/>
              <a:t>.</a:t>
            </a:r>
            <a:endParaRPr lang="tr-TR" u="sn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646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0F3E50-66F9-4AF9-9C7C-76D0A42D6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571" y="202073"/>
            <a:ext cx="8505000" cy="432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>
            <a:noAutofit/>
          </a:bodyPr>
          <a:lstStyle/>
          <a:p>
            <a:pPr algn="ctr"/>
            <a:r>
              <a:rPr lang="tr-TR" dirty="0"/>
              <a:t>Validity Check for Files and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9666" y="794480"/>
            <a:ext cx="8229599" cy="764497"/>
          </a:xfrm>
          <a:solidFill>
            <a:srgbClr val="FFECB2">
              <a:alpha val="97000"/>
            </a:srgbClr>
          </a:solidFill>
        </p:spPr>
        <p:txBody>
          <a:bodyPr/>
          <a:lstStyle/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import </a:t>
            </a:r>
            <a:r>
              <a:rPr lang="en-US" sz="1600" dirty="0" err="1"/>
              <a:t>os</a:t>
            </a:r>
            <a:endParaRPr lang="tr-TR" sz="1600" dirty="0"/>
          </a:p>
          <a:p>
            <a:pPr marL="207169" lvl="1" indent="0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667" y="1723870"/>
            <a:ext cx="8199618" cy="4931764"/>
          </a:xfrm>
          <a:solidFill>
            <a:srgbClr val="FFECB2">
              <a:alpha val="97000"/>
            </a:srgbClr>
          </a:solidFill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os.path.exists</a:t>
            </a:r>
            <a:r>
              <a:rPr lang="en-US" sz="1600" dirty="0"/>
              <a:t>('C:\\Windows')</a:t>
            </a:r>
          </a:p>
          <a:p>
            <a:pPr marL="207169" lvl="1" indent="0">
              <a:buNone/>
            </a:pPr>
            <a:r>
              <a:rPr lang="en-US" sz="1600" dirty="0"/>
              <a:t>True</a:t>
            </a:r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os.path.exists</a:t>
            </a:r>
            <a:r>
              <a:rPr lang="en-US" sz="1600" dirty="0"/>
              <a:t>('C:\\</a:t>
            </a:r>
            <a:r>
              <a:rPr lang="en-US" sz="1600" dirty="0" err="1"/>
              <a:t>some_made_up_folder</a:t>
            </a:r>
            <a:r>
              <a:rPr lang="en-US" sz="1600" dirty="0"/>
              <a:t>')</a:t>
            </a:r>
          </a:p>
          <a:p>
            <a:pPr marL="207169" lvl="1" indent="0">
              <a:buNone/>
            </a:pPr>
            <a:r>
              <a:rPr lang="en-US" sz="1600" dirty="0"/>
              <a:t>False</a:t>
            </a:r>
            <a:endParaRPr lang="tr-TR" sz="1600" dirty="0"/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os.path.isdir</a:t>
            </a:r>
            <a:r>
              <a:rPr lang="en-US" sz="1600" dirty="0"/>
              <a:t>('C:\\Windows\\System32')</a:t>
            </a:r>
          </a:p>
          <a:p>
            <a:pPr marL="207169" lvl="1" indent="0">
              <a:buNone/>
            </a:pPr>
            <a:r>
              <a:rPr lang="en-US" sz="1600" dirty="0"/>
              <a:t>True</a:t>
            </a:r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os.path.isfile</a:t>
            </a:r>
            <a:r>
              <a:rPr lang="en-US" sz="1600" dirty="0"/>
              <a:t>('C:\\Windows\\System32')</a:t>
            </a:r>
          </a:p>
          <a:p>
            <a:pPr marL="207169" lvl="1" indent="0">
              <a:buNone/>
            </a:pPr>
            <a:r>
              <a:rPr lang="en-US" sz="1600" dirty="0"/>
              <a:t>False</a:t>
            </a:r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os.path.isdir</a:t>
            </a:r>
            <a:r>
              <a:rPr lang="en-US" sz="1600" dirty="0"/>
              <a:t>('C:\\Windows\\System32\\calc.exe')</a:t>
            </a:r>
          </a:p>
          <a:p>
            <a:pPr marL="207169" lvl="1" indent="0">
              <a:buNone/>
            </a:pPr>
            <a:r>
              <a:rPr lang="en-US" sz="1600" dirty="0"/>
              <a:t>False</a:t>
            </a:r>
          </a:p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os.path.isfile</a:t>
            </a:r>
            <a:r>
              <a:rPr lang="en-US" sz="1600" dirty="0"/>
              <a:t>('C:\\Windows\\System32\\calc.exe')</a:t>
            </a:r>
          </a:p>
          <a:p>
            <a:pPr marL="207169" lvl="1" indent="0">
              <a:buNone/>
            </a:pPr>
            <a:r>
              <a:rPr lang="en-US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423007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B15A1D-0BB8-40B9-A681-3E9497CD221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86869"/>
            <a:ext cx="9144000" cy="70317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79" y="175808"/>
            <a:ext cx="5090538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check if a device exists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21134" y="3092829"/>
            <a:ext cx="5126636" cy="1100507"/>
          </a:xfrm>
          <a:solidFill>
            <a:schemeClr val="bg1"/>
          </a:solidFill>
        </p:spPr>
        <p:txBody>
          <a:bodyPr/>
          <a:lstStyle/>
          <a:p>
            <a:pPr algn="ctr"/>
            <a:endParaRPr lang="tr-TR" b="0" dirty="0"/>
          </a:p>
          <a:p>
            <a:pPr algn="ctr"/>
            <a:r>
              <a:rPr lang="en-US" b="0" dirty="0"/>
              <a:t>check with the </a:t>
            </a:r>
            <a:r>
              <a:rPr lang="en-US" dirty="0" err="1">
                <a:solidFill>
                  <a:srgbClr val="00B0F0"/>
                </a:solidFill>
              </a:rPr>
              <a:t>os.path.exists</a:t>
            </a:r>
            <a:r>
              <a:rPr lang="en-US" dirty="0">
                <a:solidFill>
                  <a:srgbClr val="00B0F0"/>
                </a:solidFill>
              </a:rPr>
              <a:t>() </a:t>
            </a:r>
            <a:r>
              <a:rPr lang="en-US" b="0" dirty="0"/>
              <a:t>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11679" y="1525895"/>
            <a:ext cx="5120641" cy="107848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determine a DVD or flash drive currently</a:t>
            </a:r>
            <a:r>
              <a:rPr lang="tr-TR" dirty="0"/>
              <a:t> </a:t>
            </a:r>
            <a:r>
              <a:rPr lang="en-US" dirty="0"/>
              <a:t>attached </a:t>
            </a:r>
            <a:endParaRPr lang="tr-TR" dirty="0"/>
          </a:p>
          <a:p>
            <a:r>
              <a:rPr lang="en-US" dirty="0"/>
              <a:t>to the computer</a:t>
            </a:r>
            <a:endParaRPr lang="tr-TR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95CE9A-6D66-4A77-A55D-809C129DAE40}"/>
              </a:ext>
            </a:extLst>
          </p:cNvPr>
          <p:cNvSpPr txBox="1">
            <a:spLocks/>
          </p:cNvSpPr>
          <p:nvPr/>
        </p:nvSpPr>
        <p:spPr>
          <a:xfrm>
            <a:off x="1992066" y="4624722"/>
            <a:ext cx="5171607" cy="944379"/>
          </a:xfrm>
          <a:prstGeom prst="rect">
            <a:avLst/>
          </a:prstGeom>
          <a:solidFill>
            <a:srgbClr val="FFECB2">
              <a:alpha val="85098"/>
            </a:srgb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/>
            <a:endParaRPr lang="tr-TR" sz="1600" dirty="0"/>
          </a:p>
          <a:p>
            <a:pPr marL="207169" lvl="1"/>
            <a:r>
              <a:rPr lang="en-US" sz="1600" dirty="0"/>
              <a:t>&gt;&gt;&gt; </a:t>
            </a:r>
            <a:r>
              <a:rPr lang="en-US" sz="1600" dirty="0" err="1"/>
              <a:t>os.path.exists</a:t>
            </a:r>
            <a:r>
              <a:rPr lang="en-US" sz="1600" dirty="0"/>
              <a:t>('D:\\')</a:t>
            </a:r>
          </a:p>
          <a:p>
            <a:pPr marL="207169" lvl="1"/>
            <a:r>
              <a:rPr lang="en-US" sz="16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210569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8: Reading and Writing Files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File Reading/Writing Process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Opening Files with the open() Function</a:t>
            </a:r>
            <a:endParaRPr lang="tr-T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Reading the Contents of Files</a:t>
            </a:r>
            <a:endParaRPr lang="tr-T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Writing to Files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4" name="Picture Placeholder 3">
            <a:extLst>
              <a:ext uri="{FF2B5EF4-FFF2-40B4-BE49-F238E27FC236}">
                <a16:creationId xmlns:a16="http://schemas.microsoft.com/office/drawing/2014/main" id="{D0316709-F369-44F0-861D-9C408356AB1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9" b="569"/>
          <a:stretch>
            <a:fillRect/>
          </a:stretch>
        </p:blipFill>
        <p:spPr>
          <a:xfrm>
            <a:off x="65088" y="87313"/>
            <a:ext cx="4506912" cy="668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65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File Reading and Writing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The functions</a:t>
            </a:r>
            <a:r>
              <a:rPr lang="tr-TR" dirty="0"/>
              <a:t> </a:t>
            </a:r>
            <a:r>
              <a:rPr lang="en-US" dirty="0"/>
              <a:t>will apply to plaintext files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Plaintext files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contain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only basic text characters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en-US" dirty="0"/>
              <a:t>do not include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2"/>
            <a:ext cx="2066692" cy="102314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any of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font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size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color</a:t>
            </a:r>
            <a:r>
              <a:rPr lang="tr-TR" dirty="0"/>
              <a:t> </a:t>
            </a:r>
            <a:r>
              <a:rPr lang="en-US" dirty="0"/>
              <a:t>information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Binary files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97415" y="4612943"/>
            <a:ext cx="2841673" cy="1647180"/>
          </a:xfrm>
        </p:spPr>
        <p:txBody>
          <a:bodyPr/>
          <a:lstStyle/>
          <a:p>
            <a:pPr algn="l"/>
            <a:r>
              <a:rPr lang="en-US" dirty="0"/>
              <a:t>such as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word processing documents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PDFs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images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spreadsheets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executable programs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552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File Reading and Writing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three steps to reading or writing files in Python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call </a:t>
            </a:r>
            <a:r>
              <a:rPr lang="en-US" dirty="0"/>
              <a:t>open()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to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return a File object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read() &amp; write()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1"/>
            <a:ext cx="2066692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call read() to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read content</a:t>
            </a:r>
          </a:p>
          <a:p>
            <a:pPr algn="l"/>
            <a:r>
              <a:rPr lang="tr-TR" dirty="0"/>
              <a:t>call write() to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write into file object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en-US" dirty="0"/>
              <a:t>close()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26046" y="4612943"/>
            <a:ext cx="2513042" cy="1647180"/>
          </a:xfrm>
        </p:spPr>
        <p:txBody>
          <a:bodyPr/>
          <a:lstStyle/>
          <a:p>
            <a:pPr algn="l"/>
            <a:r>
              <a:rPr lang="tr-TR" dirty="0"/>
              <a:t>Call </a:t>
            </a:r>
            <a:r>
              <a:rPr lang="tr-TR" dirty="0" err="1"/>
              <a:t>to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Close the file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on the File object</a:t>
            </a:r>
          </a:p>
          <a:p>
            <a:pPr algn="l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214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Opening Files with the open() Function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three steps to reading or writing files in Python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call </a:t>
            </a:r>
            <a:r>
              <a:rPr lang="en-US" dirty="0"/>
              <a:t>open()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54909" y="4659977"/>
            <a:ext cx="1705744" cy="1208560"/>
          </a:xfrm>
        </p:spPr>
        <p:txBody>
          <a:bodyPr/>
          <a:lstStyle/>
          <a:p>
            <a:pPr algn="l"/>
            <a:r>
              <a:rPr lang="en-US" dirty="0"/>
              <a:t>pass a string</a:t>
            </a:r>
            <a:r>
              <a:rPr lang="tr-TR" dirty="0"/>
              <a:t> 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indicating</a:t>
            </a:r>
            <a:r>
              <a:rPr lang="tr-TR" dirty="0"/>
              <a:t> </a:t>
            </a:r>
            <a:r>
              <a:rPr lang="en-US" dirty="0"/>
              <a:t>the file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open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path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0181" y="4688111"/>
            <a:ext cx="1573167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it can be</a:t>
            </a:r>
            <a:r>
              <a:rPr lang="tr-TR" dirty="0"/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 absolute </a:t>
            </a:r>
            <a:r>
              <a:rPr lang="tr-TR" dirty="0"/>
              <a:t>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or relative path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return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2254" y="4612943"/>
            <a:ext cx="2276833" cy="1647180"/>
          </a:xfrm>
        </p:spPr>
        <p:txBody>
          <a:bodyPr/>
          <a:lstStyle/>
          <a:p>
            <a:pPr algn="l"/>
            <a:r>
              <a:rPr lang="en-US" dirty="0"/>
              <a:t>open() function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returns a File object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read in plaintext mode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908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3B61228-CE62-4E1C-8983-22A3623DF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3650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open()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636" y="896313"/>
            <a:ext cx="7899815" cy="209254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#Create hello.txt in the path first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#later enter the following 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helloFile</a:t>
            </a:r>
            <a:r>
              <a:rPr lang="en-US" dirty="0"/>
              <a:t> = open('C:\\delicious\\walnut\\waffles\\hello.txt</a:t>
            </a:r>
            <a:r>
              <a:rPr lang="tr-TR" dirty="0"/>
              <a:t>'</a:t>
            </a:r>
            <a:r>
              <a:rPr lang="en-US" dirty="0"/>
              <a:t>)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helloFile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&lt;_</a:t>
            </a:r>
            <a:r>
              <a:rPr lang="en-US" dirty="0" err="1"/>
              <a:t>io.TextIOWrapper</a:t>
            </a:r>
            <a:r>
              <a:rPr lang="en-US" dirty="0"/>
              <a:t> name='C:\\delicious\\walnut\\waffles\\hello.txt' mode='r' encoding='cp1254'&gt;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42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868" y="3196112"/>
            <a:ext cx="7864604" cy="211487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helloFile</a:t>
            </a:r>
            <a:r>
              <a:rPr lang="en-US" dirty="0"/>
              <a:t> = open('C:\\delicious\\walnut\\waffles\\hello.txt</a:t>
            </a:r>
            <a:r>
              <a:rPr lang="tr-TR" dirty="0"/>
              <a:t>', 'r'</a:t>
            </a:r>
            <a:r>
              <a:rPr lang="en-US" dirty="0"/>
              <a:t>)</a:t>
            </a:r>
            <a:endParaRPr lang="tr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95144-C754-4DFF-8327-94B4927BFCD3}"/>
              </a:ext>
            </a:extLst>
          </p:cNvPr>
          <p:cNvSpPr/>
          <p:nvPr/>
        </p:nvSpPr>
        <p:spPr>
          <a:xfrm>
            <a:off x="580465" y="5451986"/>
            <a:ext cx="799045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tr-TR" dirty="0">
                <a:latin typeface="NewBaskerville-Roman"/>
              </a:rPr>
              <a:t>open command </a:t>
            </a:r>
            <a:r>
              <a:rPr lang="en-US" dirty="0">
                <a:latin typeface="NewBaskerville-Roman"/>
              </a:rPr>
              <a:t>will open the file in “reading plaintext” mode,</a:t>
            </a:r>
          </a:p>
          <a:p>
            <a:r>
              <a:rPr lang="en-US" dirty="0">
                <a:latin typeface="NewBaskerville-Roman"/>
              </a:rPr>
              <a:t>or </a:t>
            </a:r>
            <a:r>
              <a:rPr lang="en-US" b="1" dirty="0">
                <a:latin typeface="NewBaskerville-Roman"/>
              </a:rPr>
              <a:t>read mode </a:t>
            </a:r>
            <a:r>
              <a:rPr lang="en-US" dirty="0">
                <a:latin typeface="NewBaskerville-Roman"/>
              </a:rPr>
              <a:t>for short</a:t>
            </a:r>
            <a:endParaRPr lang="tr-TR" dirty="0">
              <a:latin typeface="NewBaskerville-Roman"/>
            </a:endParaRPr>
          </a:p>
          <a:p>
            <a:r>
              <a:rPr lang="tr-TR" dirty="0">
                <a:latin typeface="NewBaskerville-Roman"/>
              </a:rPr>
              <a:t>you can use r as a </a:t>
            </a:r>
            <a:r>
              <a:rPr lang="tr-TR" dirty="0" err="1">
                <a:latin typeface="NewBaskerville-Roman"/>
              </a:rPr>
              <a:t>second</a:t>
            </a:r>
            <a:r>
              <a:rPr lang="tr-TR" dirty="0">
                <a:latin typeface="NewBaskerville-Roman"/>
              </a:rPr>
              <a:t> </a:t>
            </a:r>
            <a:r>
              <a:rPr lang="tr-TR" dirty="0" err="1">
                <a:latin typeface="NewBaskerville-Roman"/>
              </a:rPr>
              <a:t>argument</a:t>
            </a:r>
            <a:endParaRPr lang="tr-TR" dirty="0">
              <a:latin typeface="NewBaskerville-Roman"/>
            </a:endParaRPr>
          </a:p>
          <a:p>
            <a:r>
              <a:rPr lang="tr-TR" b="1" dirty="0" err="1">
                <a:latin typeface="NewBaskerville-Roman"/>
              </a:rPr>
              <a:t>read</a:t>
            </a:r>
            <a:r>
              <a:rPr lang="tr-TR" b="1" dirty="0">
                <a:latin typeface="NewBaskerville-Roman"/>
              </a:rPr>
              <a:t> </a:t>
            </a:r>
            <a:r>
              <a:rPr lang="tr-TR" b="1" dirty="0" err="1">
                <a:latin typeface="NewBaskerville-Roman"/>
              </a:rPr>
              <a:t>mode</a:t>
            </a:r>
            <a:r>
              <a:rPr lang="tr-TR" b="1" dirty="0">
                <a:latin typeface="NewBaskerville-Roman"/>
              </a:rPr>
              <a:t> </a:t>
            </a:r>
            <a:r>
              <a:rPr lang="tr-TR" dirty="0" err="1">
                <a:latin typeface="NewBaskerville-Roman"/>
              </a:rPr>
              <a:t>means</a:t>
            </a:r>
            <a:r>
              <a:rPr lang="tr-TR" dirty="0">
                <a:latin typeface="NewBaskerville-Roman"/>
              </a:rPr>
              <a:t>: </a:t>
            </a:r>
            <a:r>
              <a:rPr lang="en-US" dirty="0">
                <a:solidFill>
                  <a:srgbClr val="00B0F0"/>
                </a:solidFill>
                <a:latin typeface="NewBaskerville-Roman"/>
              </a:rPr>
              <a:t>you can’t write or modify it in any way</a:t>
            </a:r>
            <a:endParaRPr lang="tr-TR" dirty="0">
              <a:solidFill>
                <a:srgbClr val="00B0F0"/>
              </a:solidFill>
              <a:latin typeface="NewBaskerville-Roman"/>
            </a:endParaRPr>
          </a:p>
        </p:txBody>
      </p:sp>
    </p:spTree>
    <p:extLst>
      <p:ext uri="{BB962C8B-B14F-4D97-AF65-F5344CB8AC3E}">
        <p14:creationId xmlns:p14="http://schemas.microsoft.com/office/powerpoint/2010/main" val="36116751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Reading the Contents of Files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a File object</a:t>
            </a:r>
            <a:r>
              <a:rPr lang="tr-TR" dirty="0"/>
              <a:t> </a:t>
            </a:r>
            <a:r>
              <a:rPr lang="en-US" dirty="0"/>
              <a:t>can </a:t>
            </a:r>
            <a:r>
              <a:rPr lang="tr-TR" dirty="0"/>
              <a:t>be used in </a:t>
            </a:r>
            <a:r>
              <a:rPr lang="en-US" dirty="0"/>
              <a:t>reading </a:t>
            </a:r>
            <a:r>
              <a:rPr lang="tr-TR" dirty="0"/>
              <a:t>data </a:t>
            </a:r>
            <a:r>
              <a:rPr lang="en-US" dirty="0"/>
              <a:t>from it.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read()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tr-TR" dirty="0"/>
              <a:t>method of file objecy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read the content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from the file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1"/>
            <a:ext cx="2066692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the entire content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</a:t>
            </a:r>
            <a:r>
              <a:rPr lang="en-US" dirty="0"/>
              <a:t>f a file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as a string value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String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26046" y="4612943"/>
            <a:ext cx="2513042" cy="1647180"/>
          </a:xfrm>
        </p:spPr>
        <p:txBody>
          <a:bodyPr/>
          <a:lstStyle/>
          <a:p>
            <a:pPr algn="l"/>
            <a:r>
              <a:rPr lang="tr-TR" dirty="0"/>
              <a:t>fileObject.read()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err="1"/>
              <a:t>helloContent</a:t>
            </a:r>
            <a:r>
              <a:rPr lang="en-US" dirty="0"/>
              <a:t> = </a:t>
            </a:r>
            <a:r>
              <a:rPr lang="en-US" dirty="0" err="1"/>
              <a:t>helloFile.read</a:t>
            </a:r>
            <a:r>
              <a:rPr lang="en-US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7949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FE93E4-0F6D-45B9-817B-09CDE2913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2212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read()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636" y="896313"/>
            <a:ext cx="7899815" cy="2092548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#Create hello.txt in the path first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#later enter the following 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helloFile</a:t>
            </a:r>
            <a:r>
              <a:rPr lang="en-US" dirty="0"/>
              <a:t> = open('C:\\delicious\\walnut\\waffles\\hello.txt</a:t>
            </a:r>
            <a:r>
              <a:rPr lang="tr-TR" dirty="0"/>
              <a:t>'</a:t>
            </a:r>
            <a:r>
              <a:rPr lang="en-US" dirty="0"/>
              <a:t>)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helloContent</a:t>
            </a:r>
            <a:r>
              <a:rPr lang="en-US" dirty="0"/>
              <a:t> = </a:t>
            </a:r>
            <a:r>
              <a:rPr lang="en-US" dirty="0" err="1"/>
              <a:t>helloFile.read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helloContent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'\</a:t>
            </a:r>
            <a:r>
              <a:rPr lang="en-US" dirty="0" err="1"/>
              <a:t>nThose</a:t>
            </a:r>
            <a:r>
              <a:rPr lang="en-US" dirty="0"/>
              <a:t> are the days of Corona.\</a:t>
            </a:r>
            <a:r>
              <a:rPr lang="en-US" dirty="0" err="1"/>
              <a:t>nBe</a:t>
            </a:r>
            <a:r>
              <a:rPr lang="en-US" dirty="0"/>
              <a:t> safe everyone!’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868" y="3196112"/>
            <a:ext cx="7864604" cy="211487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sonnetFile</a:t>
            </a:r>
            <a:r>
              <a:rPr lang="en-US" dirty="0"/>
              <a:t> = open('C:\\delicious\\walnut\\waffles\\sonnet29.txt')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&gt;&gt;&gt; </a:t>
            </a:r>
            <a:r>
              <a:rPr lang="en-US" dirty="0" err="1"/>
              <a:t>sonnetFile.readlines</a:t>
            </a:r>
            <a:r>
              <a:rPr lang="en-US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["When, in disgrace with fortune and men's eyes,\n", 'I all alone beweep my outcast state,\n', 'And trouble deaf heaven with my bootless cries,\n', 'And look upon myself and curse my fate,']</a:t>
            </a: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95144-C754-4DFF-8327-94B4927BFCD3}"/>
              </a:ext>
            </a:extLst>
          </p:cNvPr>
          <p:cNvSpPr/>
          <p:nvPr/>
        </p:nvSpPr>
        <p:spPr>
          <a:xfrm>
            <a:off x="580465" y="5451986"/>
            <a:ext cx="7858997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>
                <a:latin typeface="NewBaskerville-Roman"/>
              </a:rPr>
              <a:t>readlines</a:t>
            </a:r>
            <a:r>
              <a:rPr lang="en-US" dirty="0">
                <a:latin typeface="NewBaskerville-Roman"/>
              </a:rPr>
              <a:t>() method </a:t>
            </a:r>
            <a:endParaRPr lang="tr-TR" dirty="0">
              <a:latin typeface="NewBaskerville-Roman"/>
            </a:endParaRPr>
          </a:p>
          <a:p>
            <a:r>
              <a:rPr lang="en-US" dirty="0">
                <a:latin typeface="NewBaskerville-Roman"/>
              </a:rPr>
              <a:t>to get a list of string</a:t>
            </a:r>
            <a:r>
              <a:rPr lang="tr-TR" dirty="0">
                <a:latin typeface="NewBaskerville-Roman"/>
              </a:rPr>
              <a:t> </a:t>
            </a:r>
            <a:r>
              <a:rPr lang="en-US" dirty="0">
                <a:latin typeface="NewBaskerville-Roman"/>
              </a:rPr>
              <a:t>values from the file</a:t>
            </a:r>
            <a:endParaRPr lang="tr-TR" dirty="0">
              <a:latin typeface="NewBaskerville-Roman"/>
            </a:endParaRPr>
          </a:p>
          <a:p>
            <a:r>
              <a:rPr lang="en-US" dirty="0">
                <a:solidFill>
                  <a:srgbClr val="00B0F0"/>
                </a:solidFill>
                <a:latin typeface="NewBaskerville-Roman"/>
              </a:rPr>
              <a:t>one string for each line of text</a:t>
            </a:r>
            <a:endParaRPr lang="tr-TR" dirty="0">
              <a:solidFill>
                <a:srgbClr val="00B0F0"/>
              </a:solidFill>
              <a:latin typeface="NewBaskerville-Roman"/>
            </a:endParaRPr>
          </a:p>
        </p:txBody>
      </p:sp>
    </p:spTree>
    <p:extLst>
      <p:ext uri="{BB962C8B-B14F-4D97-AF65-F5344CB8AC3E}">
        <p14:creationId xmlns:p14="http://schemas.microsoft.com/office/powerpoint/2010/main" val="36211064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Writing to Files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write content to a file in a way similar to how the print()</a:t>
            </a:r>
            <a:r>
              <a:rPr lang="tr-TR" dirty="0"/>
              <a:t> </a:t>
            </a:r>
            <a:r>
              <a:rPr lang="en-US" dirty="0"/>
              <a:t>function “writes” strings to the screen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Write mode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47269" y="4659977"/>
            <a:ext cx="1514764" cy="1208560"/>
          </a:xfrm>
        </p:spPr>
        <p:txBody>
          <a:bodyPr/>
          <a:lstStyle/>
          <a:p>
            <a:pPr algn="l"/>
            <a:r>
              <a:rPr lang="en-US" dirty="0"/>
              <a:t>will overwrite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existing file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start from scratch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Append mode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3235" y="4688111"/>
            <a:ext cx="1610113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will append text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the end of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existing file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Second argument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26046" y="4612943"/>
            <a:ext cx="2513042" cy="1647180"/>
          </a:xfrm>
        </p:spPr>
        <p:txBody>
          <a:bodyPr/>
          <a:lstStyle/>
          <a:p>
            <a:pPr algn="l"/>
            <a:r>
              <a:rPr lang="en-US" dirty="0"/>
              <a:t>Pass ‘w’</a:t>
            </a:r>
            <a:r>
              <a:rPr lang="tr-TR" dirty="0"/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00B0F0"/>
                </a:solidFill>
              </a:rPr>
              <a:t>open()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for write mode</a:t>
            </a:r>
          </a:p>
          <a:p>
            <a:pPr algn="l"/>
            <a:r>
              <a:rPr lang="en-US" dirty="0"/>
              <a:t>Pass ‘</a:t>
            </a:r>
            <a:r>
              <a:rPr lang="tr-TR" dirty="0"/>
              <a:t>a</a:t>
            </a:r>
            <a:r>
              <a:rPr lang="en-US" dirty="0"/>
              <a:t>’</a:t>
            </a:r>
            <a:r>
              <a:rPr lang="tr-TR" dirty="0"/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00B0F0"/>
                </a:solidFill>
              </a:rPr>
              <a:t>open()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for append mode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6470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ADF39F-2942-4896-A8A7-DD331815D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628" y="577930"/>
            <a:ext cx="6115987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creating new file with append and write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3849" y="3291611"/>
            <a:ext cx="5126636" cy="1100507"/>
          </a:xfrm>
          <a:solidFill>
            <a:schemeClr val="bg1"/>
          </a:solidFill>
        </p:spPr>
        <p:txBody>
          <a:bodyPr/>
          <a:lstStyle/>
          <a:p>
            <a:pPr algn="ctr"/>
            <a:endParaRPr lang="tr-TR" b="0" dirty="0"/>
          </a:p>
          <a:p>
            <a:pPr algn="ctr"/>
            <a:r>
              <a:rPr lang="tr-TR" b="0" dirty="0"/>
              <a:t>new empty file is created</a:t>
            </a:r>
            <a:endParaRPr lang="en-US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1724677"/>
            <a:ext cx="5120641" cy="107848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If the filename passed to open() does not exist </a:t>
            </a:r>
            <a:endParaRPr lang="tr-TR" dirty="0"/>
          </a:p>
          <a:p>
            <a:pPr lvl="1"/>
            <a:r>
              <a:rPr lang="en-US" dirty="0"/>
              <a:t>will create a new, blank file</a:t>
            </a:r>
            <a:endParaRPr lang="tr-TR" dirty="0"/>
          </a:p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en-US" dirty="0"/>
              <a:t>both write and append</a:t>
            </a:r>
            <a:r>
              <a:rPr lang="tr-TR" dirty="0"/>
              <a:t> </a:t>
            </a:r>
            <a:r>
              <a:rPr lang="en-US" dirty="0"/>
              <a:t>mode </a:t>
            </a:r>
            <a:endParaRPr lang="tr-TR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95CE9A-6D66-4A77-A55D-809C129DAE40}"/>
              </a:ext>
            </a:extLst>
          </p:cNvPr>
          <p:cNvSpPr txBox="1">
            <a:spLocks/>
          </p:cNvSpPr>
          <p:nvPr/>
        </p:nvSpPr>
        <p:spPr>
          <a:xfrm>
            <a:off x="1798819" y="4766873"/>
            <a:ext cx="5171607" cy="944379"/>
          </a:xfrm>
          <a:prstGeom prst="rect">
            <a:avLst/>
          </a:prstGeom>
          <a:solidFill>
            <a:srgbClr val="FFECB2">
              <a:alpha val="85098"/>
            </a:srgb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/>
            <a:endParaRPr lang="tr-TR" sz="1600" dirty="0"/>
          </a:p>
          <a:p>
            <a:pPr marL="207169" lvl="1"/>
            <a:r>
              <a:rPr lang="tr-TR" sz="1600" dirty="0" err="1"/>
              <a:t>Notice</a:t>
            </a:r>
            <a:r>
              <a:rPr lang="tr-TR" sz="1600" dirty="0"/>
              <a:t>: </a:t>
            </a:r>
            <a:r>
              <a:rPr lang="tr-TR" sz="1600" dirty="0" err="1"/>
              <a:t>close</a:t>
            </a:r>
            <a:r>
              <a:rPr lang="tr-TR" sz="1600" dirty="0"/>
              <a:t> the files </a:t>
            </a:r>
            <a:r>
              <a:rPr lang="tr-TR" sz="1600" dirty="0" err="1"/>
              <a:t>after</a:t>
            </a:r>
            <a:r>
              <a:rPr lang="tr-TR" sz="1600" dirty="0"/>
              <a:t> </a:t>
            </a:r>
            <a:r>
              <a:rPr lang="tr-TR" sz="1600" dirty="0" err="1"/>
              <a:t>finished</a:t>
            </a:r>
            <a:r>
              <a:rPr lang="tr-TR" sz="1600" dirty="0"/>
              <a:t>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732477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1DC860-E70D-4F5A-906D-3E5637811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00" y="27081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Write and Append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636" y="896313"/>
            <a:ext cx="7764905" cy="1487123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os.getcwd()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'C:\\Windows\\System32’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os.chdir('C:\\delicious\\walnut\\waffles')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os.getcwd()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'C:\\delicious\\walnut\\waffles'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47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625" y="2638269"/>
            <a:ext cx="7764905" cy="383748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baconFile = open('bacon.txt', 'w')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baconFile.write('Hello world!\n')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13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baconFile.close()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baconFile = open('bacon.txt', 'a')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baconFile.write('Bacon is not a vegetable.')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25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baconFile.close()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baconFile = open('bacon.txt')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content = baconFile.read()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baconFile.close()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print(content)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Hello world!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Bacon is not a vegetable.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979879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8: Reading and Writing Files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Saving Variables with the shelve Module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48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4" name="Picture Placeholder 3">
            <a:extLst>
              <a:ext uri="{FF2B5EF4-FFF2-40B4-BE49-F238E27FC236}">
                <a16:creationId xmlns:a16="http://schemas.microsoft.com/office/drawing/2014/main" id="{F1CDC302-75A4-46B7-9D78-6FD0F4EFC2E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9" b="569"/>
          <a:stretch>
            <a:fillRect/>
          </a:stretch>
        </p:blipFill>
        <p:spPr>
          <a:xfrm>
            <a:off x="65088" y="87313"/>
            <a:ext cx="4506912" cy="668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77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Shelve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save variables in your Python programs to binary shelf files using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the shelve module</a:t>
            </a:r>
            <a:endParaRPr lang="tr-TR" dirty="0">
              <a:solidFill>
                <a:schemeClr val="tx1"/>
              </a:solidFill>
            </a:endParaRP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restore data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I</a:t>
            </a:r>
            <a:r>
              <a:rPr lang="tr-TR" dirty="0"/>
              <a:t>n</a:t>
            </a:r>
            <a:r>
              <a:rPr lang="en-US" dirty="0"/>
              <a:t>to variables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from the hard drive</a:t>
            </a:r>
            <a:endParaRPr lang="tr-TR" b="1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shelve module 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2"/>
            <a:ext cx="2066692" cy="900000"/>
          </a:xfrm>
        </p:spPr>
        <p:txBody>
          <a:bodyPr vert="horz" lIns="0" tIns="0" rIns="0" bIns="0" rtlCol="0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will let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</a:t>
            </a:r>
            <a:r>
              <a:rPr lang="en-US" dirty="0"/>
              <a:t>add Save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Open</a:t>
            </a:r>
            <a:r>
              <a:rPr lang="tr-TR" dirty="0"/>
              <a:t> </a:t>
            </a:r>
            <a:r>
              <a:rPr lang="en-US" dirty="0"/>
              <a:t>features</a:t>
            </a:r>
            <a:endParaRPr lang="tr-TR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save and restore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0122" y="4655147"/>
            <a:ext cx="1730327" cy="887525"/>
          </a:xfrm>
        </p:spPr>
        <p:txBody>
          <a:bodyPr/>
          <a:lstStyle/>
          <a:p>
            <a:pPr algn="l"/>
            <a:r>
              <a:rPr lang="en-US" dirty="0"/>
              <a:t>save settings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a shelf file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load</a:t>
            </a:r>
            <a:r>
              <a:rPr lang="en-US" dirty="0"/>
              <a:t> them the next </a:t>
            </a:r>
            <a:r>
              <a:rPr lang="tr-TR" dirty="0"/>
              <a:t>run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02FA6F-B760-456E-84F4-DFB378AC896D}"/>
              </a:ext>
            </a:extLst>
          </p:cNvPr>
          <p:cNvSpPr/>
          <p:nvPr/>
        </p:nvSpPr>
        <p:spPr>
          <a:xfrm>
            <a:off x="2935695" y="5642761"/>
            <a:ext cx="353654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NewBaskerville-Italic"/>
              </a:rPr>
              <a:t>three new files</a:t>
            </a:r>
            <a:r>
              <a:rPr lang="tr-TR" sz="1400" dirty="0">
                <a:latin typeface="NewBaskerville-Italic"/>
              </a:rPr>
              <a:t> are created</a:t>
            </a:r>
            <a:endParaRPr lang="en-US" sz="1400" dirty="0">
              <a:latin typeface="NewBaskerville-Italic"/>
            </a:endParaRPr>
          </a:p>
          <a:p>
            <a:r>
              <a:rPr lang="en-US" sz="1400" dirty="0">
                <a:latin typeface="NewBaskerville-Italic"/>
              </a:rPr>
              <a:t>in the current working directory:</a:t>
            </a:r>
            <a:endParaRPr lang="tr-TR" sz="1400" dirty="0">
              <a:latin typeface="NewBaskerville-Italic"/>
            </a:endParaRPr>
          </a:p>
          <a:p>
            <a:r>
              <a:rPr lang="tr-TR" sz="1400" i="1" dirty="0">
                <a:latin typeface="NewBaskerville-Italic"/>
              </a:rPr>
              <a:t>fileName.bak</a:t>
            </a:r>
            <a:r>
              <a:rPr lang="tr-TR" sz="1400" dirty="0">
                <a:latin typeface="NewBaskerville-Roman"/>
              </a:rPr>
              <a:t>, </a:t>
            </a:r>
            <a:r>
              <a:rPr lang="tr-TR" sz="1400" i="1" dirty="0">
                <a:latin typeface="NewBaskerville-Italic"/>
              </a:rPr>
              <a:t>fileName.dat</a:t>
            </a:r>
            <a:r>
              <a:rPr lang="tr-TR" sz="1400" dirty="0">
                <a:latin typeface="NewBaskerville-Roman"/>
              </a:rPr>
              <a:t>, and </a:t>
            </a:r>
            <a:r>
              <a:rPr lang="tr-TR" sz="1400" i="1" dirty="0">
                <a:latin typeface="NewBaskerville-Italic"/>
              </a:rPr>
              <a:t>fileName.dir</a:t>
            </a:r>
            <a:r>
              <a:rPr lang="tr-TR" sz="1400" dirty="0">
                <a:latin typeface="NewBaskerville-Roman"/>
              </a:rPr>
              <a:t>.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37752957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D8D8704-3CBC-480E-B604-F7696564C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59748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77" y="27081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Writing and Reading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636" y="896313"/>
            <a:ext cx="7764905" cy="1487123"/>
          </a:xfrm>
          <a:solidFill>
            <a:schemeClr val="accent4">
              <a:lumMod val="40000"/>
              <a:lumOff val="60000"/>
              <a:alpha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import shelve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shelfFile = shelve.open('mydata')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cats = ['Zophie', 'Pooka', 'Simon']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shelfFile['cats'] = cats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shelfFile.close()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50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625" y="2458387"/>
            <a:ext cx="7764905" cy="3297836"/>
          </a:xfrm>
          <a:solidFill>
            <a:schemeClr val="accent4">
              <a:lumMod val="40000"/>
              <a:lumOff val="60000"/>
              <a:alpha val="60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shelfFile = shelve.open('mydata')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type(shelfFile)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&lt;class 'shelve.DbfilenameShelf’&gt;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shelfFile['cats']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['Zophie', 'Pooka', 'Simon']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shelfFile.close()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shelfFile = shelve.open('mydata')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list(shelfFile.keys())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['cats’]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list(shelfFile.values())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[['Zophie', 'Pooka', 'Simon']]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shelfFile.close()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EE83A9-DC89-41E2-87A3-9EB90DBEDA87}"/>
              </a:ext>
            </a:extLst>
          </p:cNvPr>
          <p:cNvSpPr/>
          <p:nvPr/>
        </p:nvSpPr>
        <p:spPr>
          <a:xfrm>
            <a:off x="1888760" y="5798962"/>
            <a:ext cx="5276538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NewBaskerville-Roman"/>
              </a:rPr>
              <a:t>Just like dictionaries, </a:t>
            </a:r>
            <a:endParaRPr lang="tr-TR" sz="1400" dirty="0">
              <a:latin typeface="NewBaskerville-Roman"/>
            </a:endParaRPr>
          </a:p>
          <a:p>
            <a:r>
              <a:rPr lang="en-US" sz="1400" dirty="0">
                <a:latin typeface="NewBaskerville-Roman"/>
              </a:rPr>
              <a:t>shelf values have </a:t>
            </a:r>
            <a:r>
              <a:rPr lang="en-US" sz="1100" dirty="0">
                <a:latin typeface="TheSansMonoCondensed-Plain"/>
              </a:rPr>
              <a:t>keys() </a:t>
            </a:r>
            <a:r>
              <a:rPr lang="en-US" sz="1400" dirty="0">
                <a:latin typeface="NewBaskerville-Roman"/>
              </a:rPr>
              <a:t>and </a:t>
            </a:r>
            <a:r>
              <a:rPr lang="en-US" sz="1100" dirty="0">
                <a:latin typeface="TheSansMonoCondensed-Plain"/>
              </a:rPr>
              <a:t>values() </a:t>
            </a:r>
            <a:r>
              <a:rPr lang="en-US" sz="1400" dirty="0">
                <a:latin typeface="NewBaskerville-Roman"/>
              </a:rPr>
              <a:t>methods</a:t>
            </a:r>
            <a:endParaRPr lang="tr-TR" sz="1400" dirty="0">
              <a:latin typeface="NewBaskerville-Roman"/>
            </a:endParaRPr>
          </a:p>
          <a:p>
            <a:r>
              <a:rPr lang="en-US" sz="1400" dirty="0">
                <a:latin typeface="NewBaskerville-Roman"/>
              </a:rPr>
              <a:t>return list-like values of </a:t>
            </a:r>
            <a:endParaRPr lang="tr-TR" sz="1400" dirty="0">
              <a:latin typeface="NewBaskerville-Roman"/>
            </a:endParaRPr>
          </a:p>
          <a:p>
            <a:r>
              <a:rPr lang="en-US" sz="1400" dirty="0">
                <a:latin typeface="NewBaskerville-Roman"/>
              </a:rPr>
              <a:t>the keys and values in the shelf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17061879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8: Reading and Writing Files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Saving Variables with the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pprint.pformat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Function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51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4" name="Picture Placeholder 3">
            <a:extLst>
              <a:ext uri="{FF2B5EF4-FFF2-40B4-BE49-F238E27FC236}">
                <a16:creationId xmlns:a16="http://schemas.microsoft.com/office/drawing/2014/main" id="{CD4A4337-868C-45E8-BD68-4EDFE08A653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9" b="569"/>
          <a:stretch>
            <a:fillRect/>
          </a:stretch>
        </p:blipFill>
        <p:spPr>
          <a:xfrm>
            <a:off x="65088" y="87313"/>
            <a:ext cx="4506912" cy="668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437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Saving Variables with the </a:t>
            </a:r>
            <a:r>
              <a:rPr lang="en-US" dirty="0" err="1"/>
              <a:t>pprint.pformat</a:t>
            </a:r>
            <a:r>
              <a:rPr lang="en-US" dirty="0"/>
              <a:t>() Function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b="1" dirty="0" err="1">
                <a:solidFill>
                  <a:srgbClr val="00B0F0"/>
                </a:solidFill>
              </a:rPr>
              <a:t>pprint.pprint</a:t>
            </a:r>
            <a:r>
              <a:rPr lang="en-US" b="1" dirty="0">
                <a:solidFill>
                  <a:srgbClr val="00B0F0"/>
                </a:solidFill>
              </a:rPr>
              <a:t>() </a:t>
            </a:r>
            <a:r>
              <a:rPr lang="en-US" dirty="0">
                <a:solidFill>
                  <a:schemeClr val="tx1"/>
                </a:solidFill>
              </a:rPr>
              <a:t>function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pprint.pprint()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590" y="4659977"/>
            <a:ext cx="1907063" cy="1208560"/>
          </a:xfrm>
        </p:spPr>
        <p:txBody>
          <a:bodyPr/>
          <a:lstStyle/>
          <a:p>
            <a:pPr algn="l"/>
            <a:r>
              <a:rPr lang="tr-TR" dirty="0"/>
              <a:t>print </a:t>
            </a:r>
            <a:r>
              <a:rPr lang="en-US" dirty="0"/>
              <a:t>to the screen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list content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or dictionary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pprint.pformat() 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2"/>
            <a:ext cx="2066692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return this same text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as a string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instead of printing it</a:t>
            </a:r>
            <a:endParaRPr lang="tr-TR" b="1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en-US" dirty="0"/>
              <a:t>formatted</a:t>
            </a:r>
            <a:r>
              <a:rPr lang="tr-TR" dirty="0"/>
              <a:t> string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625" y="4683725"/>
            <a:ext cx="2196102" cy="887525"/>
          </a:xfrm>
        </p:spPr>
        <p:txBody>
          <a:bodyPr/>
          <a:lstStyle/>
          <a:p>
            <a:pPr algn="l"/>
            <a:r>
              <a:rPr lang="en-US" dirty="0"/>
              <a:t>to be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easy to read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syntactically correct Python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4808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0982A-6FA1-45E9-99F5-E0CC66CF1F6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628" y="513652"/>
            <a:ext cx="6115987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pprint.pformat()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3849" y="3291612"/>
            <a:ext cx="5126636" cy="1220428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err="1">
                <a:solidFill>
                  <a:srgbClr val="00B0F0"/>
                </a:solidFill>
              </a:rPr>
              <a:t>pprint.pformat</a:t>
            </a:r>
            <a:r>
              <a:rPr lang="en-US" dirty="0">
                <a:solidFill>
                  <a:srgbClr val="00B0F0"/>
                </a:solidFill>
              </a:rPr>
              <a:t>() </a:t>
            </a:r>
            <a:endParaRPr lang="tr-TR" dirty="0">
              <a:solidFill>
                <a:srgbClr val="00B0F0"/>
              </a:solidFill>
            </a:endParaRPr>
          </a:p>
          <a:p>
            <a:pPr algn="ctr"/>
            <a:r>
              <a:rPr lang="en-US" b="0" dirty="0"/>
              <a:t>will give a string</a:t>
            </a:r>
            <a:endParaRPr lang="tr-TR" b="0" dirty="0"/>
          </a:p>
          <a:p>
            <a:pPr algn="ctr"/>
            <a:r>
              <a:rPr lang="en-US" b="0" dirty="0"/>
              <a:t> </a:t>
            </a:r>
            <a:r>
              <a:rPr lang="tr-TR" b="0" dirty="0"/>
              <a:t>to </a:t>
            </a:r>
            <a:r>
              <a:rPr lang="en-US" b="0" dirty="0"/>
              <a:t>write</a:t>
            </a:r>
            <a:r>
              <a:rPr lang="tr-TR" b="0" dirty="0"/>
              <a:t> to </a:t>
            </a:r>
            <a:r>
              <a:rPr lang="tr-TR" b="0" i="1" dirty="0"/>
              <a:t>.py </a:t>
            </a:r>
            <a:r>
              <a:rPr lang="tr-TR" b="0" dirty="0"/>
              <a:t>file</a:t>
            </a:r>
            <a:endParaRPr lang="en-US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1724677"/>
            <a:ext cx="5120641" cy="107848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to save dictionary</a:t>
            </a:r>
            <a:r>
              <a:rPr lang="tr-TR" dirty="0"/>
              <a:t> </a:t>
            </a:r>
            <a:r>
              <a:rPr lang="en-US" dirty="0"/>
              <a:t>stored in a variable</a:t>
            </a:r>
            <a:endParaRPr lang="tr-TR" dirty="0"/>
          </a:p>
          <a:p>
            <a:r>
              <a:rPr lang="en-US" dirty="0"/>
              <a:t>and its contents for</a:t>
            </a:r>
            <a:r>
              <a:rPr lang="tr-TR" dirty="0"/>
              <a:t> </a:t>
            </a:r>
            <a:r>
              <a:rPr lang="en-US" dirty="0"/>
              <a:t>future use.</a:t>
            </a:r>
            <a:endParaRPr lang="tr-TR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95CE9A-6D66-4A77-A55D-809C129DAE40}"/>
              </a:ext>
            </a:extLst>
          </p:cNvPr>
          <p:cNvSpPr txBox="1">
            <a:spLocks/>
          </p:cNvSpPr>
          <p:nvPr/>
        </p:nvSpPr>
        <p:spPr>
          <a:xfrm>
            <a:off x="1798819" y="4766873"/>
            <a:ext cx="5171607" cy="944379"/>
          </a:xfrm>
          <a:prstGeom prst="rect">
            <a:avLst/>
          </a:prstGeom>
          <a:solidFill>
            <a:srgbClr val="FFECB2">
              <a:alpha val="85098"/>
            </a:srgb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/>
            <a:endParaRPr lang="tr-TR" sz="1600" dirty="0"/>
          </a:p>
          <a:p>
            <a:pPr marL="207169" lvl="1"/>
            <a:r>
              <a:rPr lang="tr-TR" sz="1600" dirty="0" err="1"/>
              <a:t>Notice</a:t>
            </a:r>
            <a:r>
              <a:rPr lang="tr-TR" sz="1600" dirty="0"/>
              <a:t>: </a:t>
            </a:r>
            <a:r>
              <a:rPr lang="tr-TR" sz="1600" dirty="0" err="1"/>
              <a:t>close</a:t>
            </a:r>
            <a:r>
              <a:rPr lang="tr-TR" sz="1600" dirty="0"/>
              <a:t> the files </a:t>
            </a:r>
            <a:r>
              <a:rPr lang="tr-TR" sz="1600" dirty="0" err="1"/>
              <a:t>after</a:t>
            </a:r>
            <a:r>
              <a:rPr lang="tr-TR" sz="1600" dirty="0"/>
              <a:t> </a:t>
            </a:r>
            <a:r>
              <a:rPr lang="tr-TR" sz="1600" dirty="0" err="1"/>
              <a:t>finished</a:t>
            </a:r>
            <a:r>
              <a:rPr lang="tr-TR" sz="1600" dirty="0"/>
              <a:t>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250290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FE3E8C9-56C3-4C52-B6FB-A08A9226D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72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22" y="460136"/>
            <a:ext cx="8637563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tr-TR" dirty="0"/>
              <a:t>save to import later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5865" y="1091166"/>
            <a:ext cx="8623052" cy="2086749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import pprint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cats = [{'name': 'Zophie', 'desc': 'chubby'}, {'name': 'Pooka', 'desc': '</a:t>
            </a:r>
            <a:r>
              <a:rPr lang="tr-TR" dirty="0" err="1"/>
              <a:t>fluffy</a:t>
            </a:r>
            <a:r>
              <a:rPr lang="tr-TR" dirty="0"/>
              <a:t>'}] </a:t>
            </a:r>
            <a:r>
              <a:rPr lang="tr-TR" dirty="0" err="1"/>
              <a:t>fileObj.close</a:t>
            </a:r>
            <a:r>
              <a:rPr lang="tr-TR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pprint.pformat(cats)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"[{'desc': 'chubby', 'name': 'Zophie'}, {'desc': 'fluffy', 'name': 'Pooka’}]"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fileObj = open('myCats.py', 'w')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fileObj.write('cats = ' + pprint.pformat(cats) + '\n')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83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54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2276" y="3357796"/>
            <a:ext cx="8620452" cy="2833141"/>
          </a:xfrm>
          <a:solidFill>
            <a:srgbClr val="FFECB2">
              <a:alpha val="85098"/>
            </a:srgbClr>
          </a:solidFill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os.listdir()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['bacon.txt', 'Hello.txt', 'myCats.py', 'mydata.bak', 'mydata.dat', 'mydata.dir', 'sonnet29.txt’]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import myCats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myCats.cats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[{'desc': 'chubby', 'name': 'Zophie'}, {'desc': 'fluffy', 'name': 'Pooka’}]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myCats.cats[0]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{'desc': 'chubby', 'name': 'Zophie’}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&gt;&gt;&gt; myCats.cats[0]['name']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'Zophie'</a:t>
            </a:r>
          </a:p>
        </p:txBody>
      </p:sp>
    </p:spTree>
    <p:extLst>
      <p:ext uri="{BB962C8B-B14F-4D97-AF65-F5344CB8AC3E}">
        <p14:creationId xmlns:p14="http://schemas.microsoft.com/office/powerpoint/2010/main" val="23374701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3314545"/>
          </a:xfrm>
        </p:spPr>
        <p:txBody>
          <a:bodyPr/>
          <a:lstStyle/>
          <a:p>
            <a:pPr marL="0" indent="0">
              <a:buNone/>
            </a:pPr>
            <a:r>
              <a:rPr lang="tr-TR" dirty="0" err="1"/>
              <a:t>os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Accessing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files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directories</a:t>
            </a:r>
            <a:endParaRPr lang="en-US" dirty="0"/>
          </a:p>
          <a:p>
            <a:pPr marL="0" indent="0">
              <a:buNone/>
            </a:pPr>
            <a:r>
              <a:rPr lang="tr-TR" dirty="0" err="1"/>
              <a:t>Dealing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absolute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relative</a:t>
            </a:r>
            <a:r>
              <a:rPr lang="tr-TR" dirty="0"/>
              <a:t> </a:t>
            </a:r>
            <a:r>
              <a:rPr lang="tr-TR" dirty="0" err="1"/>
              <a:t>paths</a:t>
            </a:r>
            <a:endParaRPr lang="en-US" dirty="0"/>
          </a:p>
          <a:p>
            <a:pPr marL="0" indent="0">
              <a:buNone/>
            </a:pPr>
            <a:r>
              <a:rPr lang="tr-TR" dirty="0"/>
              <a:t>Reading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writing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files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Saving Variables with the shelve Module</a:t>
            </a:r>
          </a:p>
          <a:p>
            <a:pPr marL="0" indent="0">
              <a:buNone/>
            </a:pPr>
            <a:r>
              <a:rPr lang="en-US" dirty="0"/>
              <a:t>Saving Variables with the </a:t>
            </a:r>
            <a:r>
              <a:rPr lang="en-US" dirty="0" err="1"/>
              <a:t>pprint.pformat</a:t>
            </a:r>
            <a:r>
              <a:rPr lang="en-US" dirty="0"/>
              <a:t>() Function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</p:spPr>
        <p:txBody>
          <a:bodyPr/>
          <a:lstStyle/>
          <a:p>
            <a:r>
              <a:rPr lang="tr-TR" dirty="0" err="1"/>
              <a:t>Unclarified</a:t>
            </a:r>
            <a:r>
              <a:rPr lang="tr-TR" dirty="0"/>
              <a:t> </a:t>
            </a:r>
            <a:r>
              <a:rPr lang="tr-TR" dirty="0" err="1"/>
              <a:t>issues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Interesting Details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What is the most interesting details in this chapter?</a:t>
            </a:r>
            <a:endParaRPr lang="en-US" dirty="0"/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07" y="5320199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2300" y="5320199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0735" y="5237740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mazing Insects - Photos | Facebook">
            <a:extLst>
              <a:ext uri="{FF2B5EF4-FFF2-40B4-BE49-F238E27FC236}">
                <a16:creationId xmlns:a16="http://schemas.microsoft.com/office/drawing/2014/main" id="{4E701A6B-E2C0-4013-8A57-8B52722A0F54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5" r="512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1"/>
              </a:rPr>
              <a:t>https://cats.iku.edu.tr/</a:t>
            </a:r>
            <a:endParaRPr lang="en-US" dirty="0">
              <a:hlinkClick r:id="rId11"/>
            </a:endParaRPr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4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490261-1200-4EC7-95B0-2241EE54AA34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3688</Words>
  <Application>Microsoft Office PowerPoint</Application>
  <PresentationFormat>On-screen Show (4:3)</PresentationFormat>
  <Paragraphs>821</Paragraphs>
  <Slides>56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Arial</vt:lpstr>
      <vt:lpstr>Calibri</vt:lpstr>
      <vt:lpstr>Calibri Light</vt:lpstr>
      <vt:lpstr>NewBaskerville-Italic</vt:lpstr>
      <vt:lpstr>NewBaskerville-Roman</vt:lpstr>
      <vt:lpstr>Rockwell</vt:lpstr>
      <vt:lpstr>TheSansMonoCondensed-Plain</vt:lpstr>
      <vt:lpstr>Times New Roman</vt:lpstr>
      <vt:lpstr>Office Theme</vt:lpstr>
      <vt:lpstr>Chapter 8: Reading and Writing Files</vt:lpstr>
      <vt:lpstr>Content</vt:lpstr>
      <vt:lpstr>Phython Files</vt:lpstr>
      <vt:lpstr>Chapter 8: Reading and Writing Files</vt:lpstr>
      <vt:lpstr>Files and File Paths</vt:lpstr>
      <vt:lpstr>Root Folder</vt:lpstr>
      <vt:lpstr>Additional volumes</vt:lpstr>
      <vt:lpstr>Case sensitivity</vt:lpstr>
      <vt:lpstr>Backslash on Windows and Forward Slash on OS X and Linux</vt:lpstr>
      <vt:lpstr>os.path.join('usr', 'bin', 'spam')</vt:lpstr>
      <vt:lpstr>os.path.join()</vt:lpstr>
      <vt:lpstr>Current Working Directory</vt:lpstr>
      <vt:lpstr>Working Directory Commands</vt:lpstr>
      <vt:lpstr>Absolute vs. Relative Paths</vt:lpstr>
      <vt:lpstr>Current vs. Parent Directory</vt:lpstr>
      <vt:lpstr>Relative vs Absolute path</vt:lpstr>
      <vt:lpstr>Creating New Folders with os.makedirs()</vt:lpstr>
      <vt:lpstr>Creating full path</vt:lpstr>
      <vt:lpstr>Chapter 8: Reading and Writing Files</vt:lpstr>
      <vt:lpstr>The os.path Module</vt:lpstr>
      <vt:lpstr>Handling Absolute and Relative Paths</vt:lpstr>
      <vt:lpstr>Handling Absolute and Relative Paths</vt:lpstr>
      <vt:lpstr>Handling Absolute and Relative Paths</vt:lpstr>
      <vt:lpstr>Absolute and Relative Paths</vt:lpstr>
      <vt:lpstr>Calling os.path.dirname(path) </vt:lpstr>
      <vt:lpstr>Calling os.path.dirname(path) </vt:lpstr>
      <vt:lpstr>Calling os.path.basename(path)  </vt:lpstr>
      <vt:lpstr>Calling os.path.split()   </vt:lpstr>
      <vt:lpstr>os.path modules</vt:lpstr>
      <vt:lpstr>Other OSs</vt:lpstr>
      <vt:lpstr>Finding File Sizes and File Listing in a Folder</vt:lpstr>
      <vt:lpstr>File Size: os.path.getsize(path)</vt:lpstr>
      <vt:lpstr>Files in a folder: os.listdir(path)</vt:lpstr>
      <vt:lpstr>Finding File Sizes and File Listing in a Folder</vt:lpstr>
      <vt:lpstr>Checking Path Validity</vt:lpstr>
      <vt:lpstr>Validity Check for Files and Folders</vt:lpstr>
      <vt:lpstr>check if a device exists</vt:lpstr>
      <vt:lpstr>Chapter 8: Reading and Writing Files</vt:lpstr>
      <vt:lpstr>File Reading and Writing</vt:lpstr>
      <vt:lpstr>File Reading and Writing</vt:lpstr>
      <vt:lpstr>Opening Files with the open() Function</vt:lpstr>
      <vt:lpstr>open()</vt:lpstr>
      <vt:lpstr>Reading the Contents of Files</vt:lpstr>
      <vt:lpstr>read()</vt:lpstr>
      <vt:lpstr>Writing to Files</vt:lpstr>
      <vt:lpstr>creating new file with append and write</vt:lpstr>
      <vt:lpstr>Write and Append Mode</vt:lpstr>
      <vt:lpstr>Chapter 8: Reading and Writing Files</vt:lpstr>
      <vt:lpstr>The Shelve</vt:lpstr>
      <vt:lpstr>Writing and Reading Variables</vt:lpstr>
      <vt:lpstr>Chapter 8: Reading and Writing Files</vt:lpstr>
      <vt:lpstr>Saving Variables with the pprint.pformat() Function</vt:lpstr>
      <vt:lpstr>pprint.pformat()</vt:lpstr>
      <vt:lpstr>save to import later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2020-03-08T12:56:30Z</dcterms:created>
  <dcterms:modified xsi:type="dcterms:W3CDTF">2025-11-29T06:32:56Z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2021-05-07T05:53:35Z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3001c4db-7da2-4d88-83ca-a30e68fe79b1</vt:lpwstr>
  </property>
  <property fmtid="{D5CDD505-2E9C-101B-9397-08002B2CF9AE}" pid="8" name="MSIP_Label_c66f6488-6f7b-4340-b880-828136ff7811_ContentBits">
    <vt:lpwstr>0</vt:lpwstr>
  </property>
</Properties>
</file>