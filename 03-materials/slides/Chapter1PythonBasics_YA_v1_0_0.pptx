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61" r:id="rId6"/>
    <p:sldId id="286" r:id="rId7"/>
    <p:sldId id="260" r:id="rId8"/>
    <p:sldId id="285" r:id="rId9"/>
    <p:sldId id="288" r:id="rId10"/>
    <p:sldId id="269" r:id="rId11"/>
    <p:sldId id="289" r:id="rId12"/>
    <p:sldId id="284" r:id="rId13"/>
    <p:sldId id="283" r:id="rId14"/>
    <p:sldId id="265" r:id="rId15"/>
    <p:sldId id="290" r:id="rId16"/>
    <p:sldId id="267" r:id="rId17"/>
    <p:sldId id="271" r:id="rId18"/>
    <p:sldId id="291" r:id="rId19"/>
    <p:sldId id="292" r:id="rId20"/>
    <p:sldId id="293" r:id="rId21"/>
    <p:sldId id="275" r:id="rId22"/>
    <p:sldId id="295" r:id="rId23"/>
    <p:sldId id="278" r:id="rId24"/>
    <p:sldId id="296" r:id="rId25"/>
    <p:sldId id="297" r:id="rId26"/>
    <p:sldId id="298" r:id="rId27"/>
    <p:sldId id="299" r:id="rId28"/>
    <p:sldId id="279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07" autoAdjust="0"/>
  </p:normalViewPr>
  <p:slideViewPr>
    <p:cSldViewPr snapToGrid="0">
      <p:cViewPr varScale="1">
        <p:scale>
          <a:sx n="81" d="100"/>
          <a:sy n="81" d="100"/>
        </p:scale>
        <p:origin x="163" y="6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41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5/20/2022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5/19/2022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9417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08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9275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4931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0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340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3761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670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69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5928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9919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47546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9848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82093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17363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44491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24184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34154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463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758337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Bullets">
    <p:bg>
      <p:bgPr>
        <a:blipFill dpi="0" rotWithShape="1">
          <a:blip r:embed="rId2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2041BFF2-BC3B-3145-940D-004809E5A80A}"/>
              </a:ext>
            </a:extLst>
          </p:cNvPr>
          <p:cNvSpPr>
            <a:spLocks noChangeAspect="1"/>
          </p:cNvSpPr>
          <p:nvPr userDrawn="1"/>
        </p:nvSpPr>
        <p:spPr>
          <a:xfrm>
            <a:off x="2287944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906F5C-A183-DF45-AE48-C1D611CDC98D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9CFF2EB-CD95-EA4D-810E-C9F8127071FE}"/>
              </a:ext>
            </a:extLst>
          </p:cNvPr>
          <p:cNvSpPr>
            <a:spLocks noChangeAspect="1"/>
          </p:cNvSpPr>
          <p:nvPr userDrawn="1"/>
        </p:nvSpPr>
        <p:spPr>
          <a:xfrm>
            <a:off x="5729647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120266-68E0-504A-B1C8-F3369F5AF7C0}"/>
              </a:ext>
            </a:extLst>
          </p:cNvPr>
          <p:cNvSpPr>
            <a:spLocks noChangeAspect="1"/>
          </p:cNvSpPr>
          <p:nvPr userDrawn="1"/>
        </p:nvSpPr>
        <p:spPr>
          <a:xfrm>
            <a:off x="7450499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B4A810-8614-AD44-B362-CE45C8C679CE}"/>
              </a:ext>
            </a:extLst>
          </p:cNvPr>
          <p:cNvSpPr>
            <a:spLocks noChangeAspect="1"/>
          </p:cNvSpPr>
          <p:nvPr userDrawn="1"/>
        </p:nvSpPr>
        <p:spPr>
          <a:xfrm>
            <a:off x="56933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556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6259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111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62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4455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26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7111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5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71" y="4683350"/>
            <a:ext cx="162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1F8F6-73A5-F142-8A28-094DA998B5F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41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F78A887E-89A6-244C-8AA4-484FE535876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35133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2B18661-99A8-214A-A089-09F11F1EB5C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55424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69D5F0B5-DE10-D646-9244-6B4289E7793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97571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72B87CCD-6D17-844B-87EF-F8BC69D79B0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69600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5" name="Straight Connector 24" descr="First divider line on slide">
            <a:extLst>
              <a:ext uri="{FF2B5EF4-FFF2-40B4-BE49-F238E27FC236}">
                <a16:creationId xmlns:a16="http://schemas.microsoft.com/office/drawing/2014/main" id="{402BCAE3-72EC-4098-A211-3555BFDE9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94285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Second divider line on slide">
            <a:extLst>
              <a:ext uri="{FF2B5EF4-FFF2-40B4-BE49-F238E27FC236}">
                <a16:creationId xmlns:a16="http://schemas.microsoft.com/office/drawing/2014/main" id="{94A08494-9C0E-4AAF-BE9A-166FE994D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1515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Third divider line on slide">
            <a:extLst>
              <a:ext uri="{FF2B5EF4-FFF2-40B4-BE49-F238E27FC236}">
                <a16:creationId xmlns:a16="http://schemas.microsoft.com/office/drawing/2014/main" id="{698FE6A1-AEF7-4FD7-A689-908A6B9CC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3602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 descr="Fourth divider line on slide">
            <a:extLst>
              <a:ext uri="{FF2B5EF4-FFF2-40B4-BE49-F238E27FC236}">
                <a16:creationId xmlns:a16="http://schemas.microsoft.com/office/drawing/2014/main" id="{636DD6E3-6313-40D8-B03E-60E2E5A6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6897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0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x Image Bullet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019D3C0C-316D-A045-BC1B-D508718E47A9}"/>
              </a:ext>
            </a:extLst>
          </p:cNvPr>
          <p:cNvSpPr>
            <a:spLocks noChangeAspect="1"/>
          </p:cNvSpPr>
          <p:nvPr userDrawn="1"/>
        </p:nvSpPr>
        <p:spPr>
          <a:xfrm>
            <a:off x="2287944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6D90BAC-4672-454F-9B98-7A6F31D7B3F7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1146660-9CB0-D241-ACBC-5C0A9FC8AD1A}"/>
              </a:ext>
            </a:extLst>
          </p:cNvPr>
          <p:cNvSpPr>
            <a:spLocks noChangeAspect="1"/>
          </p:cNvSpPr>
          <p:nvPr userDrawn="1"/>
        </p:nvSpPr>
        <p:spPr>
          <a:xfrm>
            <a:off x="56933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831AC394-0DDA-6F4A-B2D3-6D95CD86648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41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B1A58D5B-A4BA-F446-90DA-1B6B207869A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35133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7912C149-C249-1940-AF83-360853E78C2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55424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5724488" y="86714"/>
            <a:ext cx="3354476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BDD2BB3-B6A3-404C-846E-13E06B2F166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724488" y="86714"/>
            <a:ext cx="3354476" cy="6478538"/>
          </a:xfrm>
          <a:custGeom>
            <a:avLst/>
            <a:gdLst>
              <a:gd name="connsiteX0" fmla="*/ 376782 w 4559351"/>
              <a:gd name="connsiteY0" fmla="*/ 5927210 h 6604145"/>
              <a:gd name="connsiteX1" fmla="*/ 1519837 w 4559351"/>
              <a:gd name="connsiteY1" fmla="*/ 6224579 h 6604145"/>
              <a:gd name="connsiteX2" fmla="*/ 1067656 w 4559351"/>
              <a:gd name="connsiteY2" fmla="*/ 6604145 h 6604145"/>
              <a:gd name="connsiteX3" fmla="*/ 567431 w 4559351"/>
              <a:gd name="connsiteY3" fmla="*/ 6347235 h 6604145"/>
              <a:gd name="connsiteX4" fmla="*/ 3770030 w 4559351"/>
              <a:gd name="connsiteY4" fmla="*/ 4729122 h 6604145"/>
              <a:gd name="connsiteX5" fmla="*/ 3830234 w 4559351"/>
              <a:gd name="connsiteY5" fmla="*/ 4893659 h 6604145"/>
              <a:gd name="connsiteX6" fmla="*/ 3125854 w 4559351"/>
              <a:gd name="connsiteY6" fmla="*/ 4949110 h 6604145"/>
              <a:gd name="connsiteX7" fmla="*/ 3170574 w 4559351"/>
              <a:gd name="connsiteY7" fmla="*/ 4030224 h 6604145"/>
              <a:gd name="connsiteX8" fmla="*/ 3437863 w 4559351"/>
              <a:gd name="connsiteY8" fmla="*/ 4760691 h 6604145"/>
              <a:gd name="connsiteX9" fmla="*/ 2793688 w 4559351"/>
              <a:gd name="connsiteY9" fmla="*/ 4980680 h 6604145"/>
              <a:gd name="connsiteX10" fmla="*/ 2501683 w 4559351"/>
              <a:gd name="connsiteY10" fmla="*/ 5003670 h 6604145"/>
              <a:gd name="connsiteX11" fmla="*/ 0 w 4559351"/>
              <a:gd name="connsiteY11" fmla="*/ 3396395 h 6604145"/>
              <a:gd name="connsiteX12" fmla="*/ 3032435 w 4559351"/>
              <a:gd name="connsiteY12" fmla="*/ 3966867 h 6604145"/>
              <a:gd name="connsiteX13" fmla="*/ 1101460 w 4559351"/>
              <a:gd name="connsiteY13" fmla="*/ 6039845 h 6604145"/>
              <a:gd name="connsiteX14" fmla="*/ 10881 w 4559351"/>
              <a:gd name="connsiteY14" fmla="*/ 5508230 h 6604145"/>
              <a:gd name="connsiteX15" fmla="*/ 0 w 4559351"/>
              <a:gd name="connsiteY15" fmla="*/ 5475113 h 6604145"/>
              <a:gd name="connsiteX16" fmla="*/ 0 w 4559351"/>
              <a:gd name="connsiteY16" fmla="*/ 2843941 h 6604145"/>
              <a:gd name="connsiteX17" fmla="*/ 1605508 w 4559351"/>
              <a:gd name="connsiteY17" fmla="*/ 3374908 h 6604145"/>
              <a:gd name="connsiteX18" fmla="*/ 1482045 w 4559351"/>
              <a:gd name="connsiteY18" fmla="*/ 3547687 h 6604145"/>
              <a:gd name="connsiteX19" fmla="*/ 0 w 4559351"/>
              <a:gd name="connsiteY19" fmla="*/ 3206607 h 6604145"/>
              <a:gd name="connsiteX20" fmla="*/ 0 w 4559351"/>
              <a:gd name="connsiteY20" fmla="*/ 0 h 6604145"/>
              <a:gd name="connsiteX21" fmla="*/ 4559351 w 4559351"/>
              <a:gd name="connsiteY21" fmla="*/ 0 h 6604145"/>
              <a:gd name="connsiteX22" fmla="*/ 4559351 w 4559351"/>
              <a:gd name="connsiteY22" fmla="*/ 4284646 h 6604145"/>
              <a:gd name="connsiteX23" fmla="*/ 0 w 4559351"/>
              <a:gd name="connsiteY23" fmla="*/ 2645102 h 6604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559351" h="6604145">
                <a:moveTo>
                  <a:pt x="376782" y="5927210"/>
                </a:moveTo>
                <a:lnTo>
                  <a:pt x="1519837" y="6224579"/>
                </a:lnTo>
                <a:lnTo>
                  <a:pt x="1067656" y="6604145"/>
                </a:lnTo>
                <a:lnTo>
                  <a:pt x="567431" y="6347235"/>
                </a:lnTo>
                <a:close/>
                <a:moveTo>
                  <a:pt x="3770030" y="4729122"/>
                </a:moveTo>
                <a:lnTo>
                  <a:pt x="3830234" y="4893659"/>
                </a:lnTo>
                <a:lnTo>
                  <a:pt x="3125854" y="4949110"/>
                </a:lnTo>
                <a:close/>
                <a:moveTo>
                  <a:pt x="3170574" y="4030224"/>
                </a:moveTo>
                <a:lnTo>
                  <a:pt x="3437863" y="4760691"/>
                </a:lnTo>
                <a:lnTo>
                  <a:pt x="2793688" y="4980680"/>
                </a:lnTo>
                <a:lnTo>
                  <a:pt x="2501683" y="5003670"/>
                </a:lnTo>
                <a:close/>
                <a:moveTo>
                  <a:pt x="0" y="3396395"/>
                </a:moveTo>
                <a:lnTo>
                  <a:pt x="3032435" y="3966867"/>
                </a:lnTo>
                <a:lnTo>
                  <a:pt x="1101460" y="6039845"/>
                </a:lnTo>
                <a:lnTo>
                  <a:pt x="10881" y="5508230"/>
                </a:lnTo>
                <a:lnTo>
                  <a:pt x="0" y="5475113"/>
                </a:lnTo>
                <a:close/>
                <a:moveTo>
                  <a:pt x="0" y="2843941"/>
                </a:moveTo>
                <a:lnTo>
                  <a:pt x="1605508" y="3374908"/>
                </a:lnTo>
                <a:lnTo>
                  <a:pt x="1482045" y="3547687"/>
                </a:lnTo>
                <a:lnTo>
                  <a:pt x="0" y="3206607"/>
                </a:lnTo>
                <a:close/>
                <a:moveTo>
                  <a:pt x="0" y="0"/>
                </a:moveTo>
                <a:lnTo>
                  <a:pt x="4559351" y="0"/>
                </a:lnTo>
                <a:lnTo>
                  <a:pt x="4559351" y="4284646"/>
                </a:lnTo>
                <a:lnTo>
                  <a:pt x="0" y="26451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556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62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4455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71" y="4683350"/>
            <a:ext cx="162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7FE1F4E8-B411-4807-9D24-A045EE06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94285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8C3F648E-45E5-403C-973E-2BEED634B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1515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313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5" r:id="rId8"/>
    <p:sldLayoutId id="2147483684" r:id="rId9"/>
    <p:sldLayoutId id="2147483683" r:id="rId10"/>
    <p:sldLayoutId id="2147483668" r:id="rId11"/>
    <p:sldLayoutId id="2147483682" r:id="rId12"/>
    <p:sldLayoutId id="2147483670" r:id="rId13"/>
    <p:sldLayoutId id="2147483653" r:id="rId14"/>
    <p:sldLayoutId id="2147483673" r:id="rId15"/>
    <p:sldLayoutId id="2147483674" r:id="rId16"/>
    <p:sldLayoutId id="2147483676" r:id="rId17"/>
    <p:sldLayoutId id="2147483677" r:id="rId18"/>
    <p:sldLayoutId id="2147483654" r:id="rId19"/>
    <p:sldLayoutId id="2147483660" r:id="rId20"/>
    <p:sldLayoutId id="2147483661" r:id="rId21"/>
    <p:sldLayoutId id="2147483678" r:id="rId22"/>
    <p:sldLayoutId id="2147483686" r:id="rId23"/>
    <p:sldLayoutId id="2147483687" r:id="rId24"/>
    <p:sldLayoutId id="2147483689" r:id="rId25"/>
    <p:sldLayoutId id="2147483690" r:id="rId26"/>
    <p:sldLayoutId id="2147483688" r:id="rId2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hyperlink" Target="https://www.youtube.com/watch?v=XCnK3B7Fto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3.jpe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jpe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jp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6.emf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3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svg"/><Relationship Id="rId11" Type="http://schemas.openxmlformats.org/officeDocument/2006/relationships/image" Target="../media/image34.emf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jpe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jpg"/><Relationship Id="rId5" Type="http://schemas.openxmlformats.org/officeDocument/2006/relationships/image" Target="../media/image50.jp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3.jpe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jpeg"/><Relationship Id="rId9" Type="http://schemas.openxmlformats.org/officeDocument/2006/relationships/image" Target="../media/image61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Arial view of open farm land">
            <a:extLst>
              <a:ext uri="{FF2B5EF4-FFF2-40B4-BE49-F238E27FC236}">
                <a16:creationId xmlns:a16="http://schemas.microsoft.com/office/drawing/2014/main" id="{3072B96B-8E35-4D15-80A0-1DD4745F75B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1: Python Basics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72433"/>
            <a:ext cx="5130000" cy="1022734"/>
          </a:xfrm>
        </p:spPr>
        <p:txBody>
          <a:bodyPr/>
          <a:lstStyle/>
          <a:p>
            <a:r>
              <a:rPr lang="en-US" dirty="0"/>
              <a:t>CSE0408 Programming III</a:t>
            </a:r>
            <a:endParaRPr lang="tr-TR" dirty="0"/>
          </a:p>
          <a:p>
            <a:r>
              <a:rPr lang="tr-TR" dirty="0"/>
              <a:t>IKU Department of Computer Engineering</a:t>
            </a:r>
          </a:p>
          <a:p>
            <a:r>
              <a:rPr lang="tr-TR" dirty="0"/>
              <a:t>Yusuf Altunel, PhD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arial view of snowy ground and pine trees">
            <a:extLst>
              <a:ext uri="{FF2B5EF4-FFF2-40B4-BE49-F238E27FC236}">
                <a16:creationId xmlns:a16="http://schemas.microsoft.com/office/drawing/2014/main" id="{2DD80BD6-4966-4B27-A63C-89B71D8967E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000" y="922286"/>
            <a:ext cx="4506964" cy="298296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  <a:endParaRPr lang="tr-TR" sz="900" dirty="0"/>
          </a:p>
          <a:p>
            <a:r>
              <a:rPr lang="tr-TR" sz="1400" dirty="0"/>
              <a:t>Chapter-1 Python Basics</a:t>
            </a:r>
            <a:endParaRPr lang="en-US" sz="1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Python?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Entering Expressions into the Interactive Shell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Integer, Floating-Point, and String Data Types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String Concatenation and Replication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Storing Values in Variables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Your First Program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What is Python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4000" y="3662095"/>
            <a:ext cx="1620000" cy="542228"/>
          </a:xfrm>
        </p:spPr>
        <p:txBody>
          <a:bodyPr/>
          <a:lstStyle/>
          <a:p>
            <a:r>
              <a:rPr lang="en-US" dirty="0"/>
              <a:t>Python programming language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syntax rules</a:t>
            </a:r>
          </a:p>
          <a:p>
            <a:r>
              <a:rPr lang="en-US" dirty="0"/>
              <a:t>the Python interpreter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Interpreter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Software</a:t>
            </a:r>
            <a:endParaRPr lang="tr-TR" dirty="0"/>
          </a:p>
          <a:p>
            <a:r>
              <a:rPr lang="en-US" dirty="0"/>
              <a:t>reads source code </a:t>
            </a:r>
            <a:endParaRPr lang="tr-TR" dirty="0"/>
          </a:p>
          <a:p>
            <a:r>
              <a:rPr lang="en-US" dirty="0"/>
              <a:t>Performs</a:t>
            </a:r>
            <a:r>
              <a:rPr lang="tr-TR" dirty="0"/>
              <a:t> </a:t>
            </a:r>
            <a:r>
              <a:rPr lang="en-US" dirty="0"/>
              <a:t>its instructions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Download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free to download from</a:t>
            </a:r>
          </a:p>
          <a:p>
            <a:r>
              <a:rPr lang="en-US" dirty="0"/>
              <a:t>http://python.org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OS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Linux</a:t>
            </a:r>
            <a:endParaRPr lang="tr-TR" dirty="0"/>
          </a:p>
          <a:p>
            <a:r>
              <a:rPr lang="en-US" dirty="0"/>
              <a:t>OS X</a:t>
            </a:r>
            <a:endParaRPr lang="tr-TR" dirty="0"/>
          </a:p>
          <a:p>
            <a:r>
              <a:rPr lang="en-US" dirty="0"/>
              <a:t>Windows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Python comes from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the surreal British comedy group </a:t>
            </a:r>
            <a:r>
              <a:rPr lang="en-US" b="1" dirty="0">
                <a:hlinkClick r:id="rId14"/>
              </a:rPr>
              <a:t>Monty</a:t>
            </a:r>
            <a:r>
              <a:rPr lang="tr-TR" b="1" dirty="0">
                <a:hlinkClick r:id="rId14"/>
              </a:rPr>
              <a:t> </a:t>
            </a:r>
            <a:r>
              <a:rPr lang="en-US" b="1" dirty="0">
                <a:hlinkClick r:id="rId14"/>
              </a:rPr>
              <a:t>Python</a:t>
            </a:r>
            <a:endParaRPr lang="tr-TR" b="1" dirty="0"/>
          </a:p>
          <a:p>
            <a:r>
              <a:rPr lang="en-US" u="sng" dirty="0"/>
              <a:t>not</a:t>
            </a:r>
            <a:r>
              <a:rPr lang="en-US" dirty="0"/>
              <a:t> from the snake</a:t>
            </a:r>
            <a:r>
              <a:rPr lang="tr-TR" dirty="0"/>
              <a:t>!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8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Left panel image">
            <a:extLst>
              <a:ext uri="{FF2B5EF4-FFF2-40B4-BE49-F238E27FC236}">
                <a16:creationId xmlns:a16="http://schemas.microsoft.com/office/drawing/2014/main" id="{ED8B39DD-303E-47F7-92C7-94E7D5FCB9F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036" y="922286"/>
            <a:ext cx="4506964" cy="5013429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sz="2800" dirty="0"/>
              <a:t>Chapter-1 Python Basics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Entering Expressions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203726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lose up of a forest&#10;&#10;Description automatically generated">
            <a:extLst>
              <a:ext uri="{FF2B5EF4-FFF2-40B4-BE49-F238E27FC236}">
                <a16:creationId xmlns:a16="http://schemas.microsoft.com/office/drawing/2014/main" id="{1E42FF0C-BC0D-4D48-A012-1AFB22408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E0F65D70-C2E0-4693-B4E2-9B033A2401CD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5"/>
          <a:srcRect l="4965" r="4965"/>
          <a:stretch>
            <a:fillRect/>
          </a:stretch>
        </p:blipFill>
        <p:spPr>
          <a:xfrm>
            <a:off x="5730240" y="86714"/>
            <a:ext cx="3348723" cy="5808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5246806" cy="432000"/>
          </a:xfrm>
          <a:blipFill>
            <a:blip r:embed="rId6">
              <a:alphaModFix amt="49000"/>
            </a:blip>
            <a:tile tx="0" ty="0" sx="100000" sy="100000" flip="none" algn="tl"/>
          </a:blipFill>
        </p:spPr>
        <p:txBody>
          <a:bodyPr/>
          <a:lstStyle/>
          <a:p>
            <a:r>
              <a:rPr lang="tr-TR" dirty="0"/>
              <a:t>Python Expressions</a:t>
            </a:r>
            <a:endParaRPr lang="en-US" dirty="0"/>
          </a:p>
        </p:txBody>
      </p:sp>
      <p:pic>
        <p:nvPicPr>
          <p:cNvPr id="93" name="Picture Placeholder 92" descr="magnifying glass">
            <a:extLst>
              <a:ext uri="{FF2B5EF4-FFF2-40B4-BE49-F238E27FC236}">
                <a16:creationId xmlns:a16="http://schemas.microsoft.com/office/drawing/2014/main" id="{EAF3579C-5F54-BD44-AD76-C07BBA5EFEA7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solidFill>
            <a:schemeClr val="accent5">
              <a:lumMod val="50000"/>
            </a:schemeClr>
          </a:solidFill>
        </p:spPr>
        <p:txBody>
          <a:bodyPr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Expression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solidFill>
            <a:schemeClr val="accent5">
              <a:lumMod val="50000"/>
            </a:schemeClr>
          </a:solidFill>
        </p:spPr>
        <p:txBody>
          <a:bodyPr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2+2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5" name="Picture Placeholder 94" descr="foliage">
            <a:extLst>
              <a:ext uri="{FF2B5EF4-FFF2-40B4-BE49-F238E27FC236}">
                <a16:creationId xmlns:a16="http://schemas.microsoft.com/office/drawing/2014/main" id="{1B98F2ED-22A7-8047-A12B-3AE19B270198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accent5">
              <a:lumMod val="50000"/>
            </a:schemeClr>
          </a:solidFill>
        </p:spPr>
        <p:txBody>
          <a:bodyPr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Value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solidFill>
            <a:schemeClr val="accent5">
              <a:lumMod val="50000"/>
            </a:schemeClr>
          </a:solidFill>
        </p:spPr>
        <p:txBody>
          <a:bodyPr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7" name="Picture Placeholder 96" descr="apple">
            <a:extLst>
              <a:ext uri="{FF2B5EF4-FFF2-40B4-BE49-F238E27FC236}">
                <a16:creationId xmlns:a16="http://schemas.microsoft.com/office/drawing/2014/main" id="{41A48230-7A6F-634A-84FA-2508F0A6B9D5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solidFill>
            <a:schemeClr val="accent5">
              <a:lumMod val="50000"/>
            </a:schemeClr>
          </a:solidFill>
        </p:spPr>
        <p:txBody>
          <a:bodyPr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Operator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chemeClr val="accent5">
              <a:lumMod val="50000"/>
            </a:schemeClr>
          </a:solidFill>
        </p:spPr>
        <p:txBody>
          <a:bodyPr/>
          <a:lstStyle/>
          <a:p>
            <a:r>
              <a:rPr lang="tr-T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+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36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Expressions on </a:t>
            </a:r>
            <a:r>
              <a:rPr lang="en-US" dirty="0"/>
              <a:t>Python 3.8.0 </a:t>
            </a:r>
            <a:r>
              <a:rPr lang="tr-TR" dirty="0"/>
              <a:t>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Python 3.8.0 (tags/v3.8.0:fa919fd, Oct 14 2019, 19:21:23) [MSC v.1916 32 bit (Intel)] on win32</a:t>
            </a:r>
          </a:p>
          <a:p>
            <a:pPr marL="0" indent="0">
              <a:buNone/>
            </a:pPr>
            <a:r>
              <a:rPr lang="en-US" dirty="0"/>
              <a:t>Type "help", "copyright", "credits" or "license()" for more information.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2 + 2</a:t>
            </a:r>
          </a:p>
          <a:p>
            <a:pPr marL="0" indent="0">
              <a:buNone/>
            </a:pPr>
            <a:r>
              <a:rPr lang="en-US" dirty="0"/>
              <a:t>4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2</a:t>
            </a:r>
          </a:p>
          <a:p>
            <a:pPr marL="0" indent="0">
              <a:buNone/>
            </a:pPr>
            <a:r>
              <a:rPr lang="en-US" dirty="0"/>
              <a:t>2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2 + 3 * 6</a:t>
            </a:r>
          </a:p>
          <a:p>
            <a:pPr marL="0" indent="0">
              <a:buNone/>
            </a:pPr>
            <a:r>
              <a:rPr lang="en-US" dirty="0"/>
              <a:t>20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(2 + 3) * 6</a:t>
            </a:r>
          </a:p>
          <a:p>
            <a:pPr marL="0" indent="0">
              <a:buNone/>
            </a:pPr>
            <a:r>
              <a:rPr lang="en-US" dirty="0"/>
              <a:t>30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48565878 * 578453</a:t>
            </a:r>
          </a:p>
          <a:p>
            <a:pPr marL="0" indent="0">
              <a:buNone/>
            </a:pPr>
            <a:r>
              <a:rPr lang="en-US" dirty="0"/>
              <a:t>28093077826734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2 ** 8</a:t>
            </a:r>
          </a:p>
          <a:p>
            <a:pPr marL="0" indent="0">
              <a:buNone/>
            </a:pPr>
            <a:r>
              <a:rPr lang="en-US" dirty="0"/>
              <a:t>256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23 / 7</a:t>
            </a:r>
          </a:p>
          <a:p>
            <a:pPr marL="0" indent="0">
              <a:buNone/>
            </a:pPr>
            <a:r>
              <a:rPr lang="tr-TR" dirty="0"/>
              <a:t>3.2857142857142856</a:t>
            </a:r>
          </a:p>
          <a:p>
            <a:pPr marL="0" indent="0">
              <a:buNone/>
            </a:pPr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23 // 7</a:t>
            </a:r>
          </a:p>
          <a:p>
            <a:pPr marL="0" indent="0">
              <a:buNone/>
            </a:pPr>
            <a:r>
              <a:rPr lang="tr-TR" dirty="0"/>
              <a:t>3</a:t>
            </a:r>
          </a:p>
          <a:p>
            <a:pPr marL="0" indent="0">
              <a:buNone/>
            </a:pPr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23 % 7</a:t>
            </a:r>
          </a:p>
          <a:p>
            <a:pPr marL="0" indent="0">
              <a:buNone/>
            </a:pPr>
            <a:r>
              <a:rPr lang="tr-TR" dirty="0"/>
              <a:t>2</a:t>
            </a:r>
          </a:p>
          <a:p>
            <a:pPr marL="0" indent="0">
              <a:buNone/>
            </a:pPr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2 + 2</a:t>
            </a:r>
          </a:p>
          <a:p>
            <a:pPr marL="0" indent="0">
              <a:buNone/>
            </a:pPr>
            <a:r>
              <a:rPr lang="tr-TR" dirty="0"/>
              <a:t>4</a:t>
            </a:r>
          </a:p>
          <a:p>
            <a:pPr marL="0" indent="0">
              <a:buNone/>
            </a:pPr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(5 - 1) * ((7 + 1) / (3 - 1))</a:t>
            </a:r>
          </a:p>
          <a:p>
            <a:pPr marL="0" indent="0">
              <a:buNone/>
            </a:pPr>
            <a:r>
              <a:rPr lang="tr-TR" dirty="0"/>
              <a:t>16.0</a:t>
            </a:r>
          </a:p>
          <a:p>
            <a:pPr marL="0" indent="0">
              <a:buNone/>
            </a:pPr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5 +</a:t>
            </a:r>
          </a:p>
          <a:p>
            <a:pPr marL="0" indent="0">
              <a:buNone/>
            </a:pPr>
            <a:r>
              <a:rPr lang="tr-TR" dirty="0"/>
              <a:t>SyntaxError: invalid syntax</a:t>
            </a:r>
          </a:p>
          <a:p>
            <a:pPr marL="0" indent="0">
              <a:buNone/>
            </a:pPr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42 + 5 + * 2</a:t>
            </a:r>
          </a:p>
          <a:p>
            <a:pPr marL="0" indent="0">
              <a:buNone/>
            </a:pPr>
            <a:r>
              <a:rPr lang="tr-TR" dirty="0"/>
              <a:t>SyntaxError: invalid syntax</a:t>
            </a:r>
          </a:p>
          <a:p>
            <a:pPr marL="0" indent="0">
              <a:buNone/>
            </a:pPr>
            <a:r>
              <a:rPr lang="tr-TR" dirty="0"/>
              <a:t>&gt;&gt;&gt; 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7382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70D17A2-2FA9-40D1-A15A-265D92963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2686290"/>
            <a:ext cx="4104000" cy="27000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dirty="0"/>
              <a:t>Precedence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0752B-B871-4B72-8FE1-D34B8BB36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3154150"/>
            <a:ext cx="3799156" cy="2347100"/>
          </a:xfrm>
          <a:solidFill>
            <a:srgbClr val="FFD744"/>
          </a:solidFill>
        </p:spPr>
        <p:txBody>
          <a:bodyPr/>
          <a:lstStyle/>
          <a:p>
            <a:r>
              <a:rPr lang="tr-TR" dirty="0"/>
              <a:t>Any expression in parenthesis </a:t>
            </a:r>
            <a:r>
              <a:rPr lang="tr-TR" dirty="0">
                <a:solidFill>
                  <a:srgbClr val="00B0F0"/>
                </a:solidFill>
              </a:rPr>
              <a:t>( ) </a:t>
            </a:r>
            <a:r>
              <a:rPr lang="tr-TR" dirty="0"/>
              <a:t>is evaluated first</a:t>
            </a:r>
          </a:p>
          <a:p>
            <a:r>
              <a:rPr lang="tr-TR" dirty="0">
                <a:solidFill>
                  <a:srgbClr val="00B0F0"/>
                </a:solidFill>
              </a:rPr>
              <a:t>**</a:t>
            </a:r>
            <a:r>
              <a:rPr lang="tr-TR" dirty="0"/>
              <a:t> is evaluated next</a:t>
            </a:r>
          </a:p>
          <a:p>
            <a:r>
              <a:rPr lang="tr-TR" dirty="0">
                <a:solidFill>
                  <a:srgbClr val="00B0F0"/>
                </a:solidFill>
              </a:rPr>
              <a:t>*</a:t>
            </a:r>
            <a:r>
              <a:rPr lang="tr-TR" dirty="0"/>
              <a:t>,</a:t>
            </a:r>
            <a:r>
              <a:rPr lang="tr-TR" dirty="0">
                <a:solidFill>
                  <a:srgbClr val="00B0F0"/>
                </a:solidFill>
              </a:rPr>
              <a:t>/</a:t>
            </a:r>
            <a:r>
              <a:rPr lang="tr-TR" dirty="0"/>
              <a:t>,</a:t>
            </a:r>
            <a:r>
              <a:rPr lang="tr-TR" dirty="0">
                <a:solidFill>
                  <a:srgbClr val="00B0F0"/>
                </a:solidFill>
              </a:rPr>
              <a:t>//</a:t>
            </a:r>
            <a:r>
              <a:rPr lang="tr-TR" dirty="0"/>
              <a:t>,% evaluated later</a:t>
            </a:r>
          </a:p>
          <a:p>
            <a:r>
              <a:rPr lang="tr-TR" dirty="0">
                <a:solidFill>
                  <a:srgbClr val="00B0F0"/>
                </a:solidFill>
              </a:rPr>
              <a:t>+</a:t>
            </a:r>
            <a:r>
              <a:rPr lang="tr-TR" dirty="0"/>
              <a:t>,</a:t>
            </a:r>
            <a:r>
              <a:rPr lang="tr-TR" dirty="0">
                <a:solidFill>
                  <a:srgbClr val="00B0F0"/>
                </a:solidFill>
              </a:rPr>
              <a:t>-</a:t>
            </a:r>
            <a:r>
              <a:rPr lang="tr-TR" dirty="0"/>
              <a:t> evaluated last</a:t>
            </a:r>
          </a:p>
          <a:p>
            <a:r>
              <a:rPr lang="tr-TR" dirty="0"/>
              <a:t>Evaluation is from </a:t>
            </a:r>
            <a:r>
              <a:rPr lang="tr-TR" b="1" dirty="0"/>
              <a:t>left</a:t>
            </a:r>
            <a:r>
              <a:rPr lang="tr-TR" dirty="0"/>
              <a:t> to </a:t>
            </a:r>
            <a:r>
              <a:rPr lang="tr-TR" b="1" dirty="0"/>
              <a:t>right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02C058-20DE-46C9-BB43-8B24E6B9E82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725000" y="2686684"/>
            <a:ext cx="4104000" cy="269081"/>
          </a:xfrm>
          <a:solidFill>
            <a:schemeClr val="accent4">
              <a:lumMod val="20000"/>
              <a:lumOff val="80000"/>
            </a:schemeClr>
          </a:solidFill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tr-TR" sz="1800" b="1" dirty="0"/>
              <a:t>Operators, Operations, Evaluations</a:t>
            </a:r>
            <a:endParaRPr lang="en-US" sz="1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14EA16-B5E6-441E-94DE-804ABBFC4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2016" y="3154150"/>
            <a:ext cx="4714261" cy="1918781"/>
          </a:xfrm>
          <a:prstGeom prst="rect">
            <a:avLst/>
          </a:prstGeom>
          <a:solidFill>
            <a:srgbClr val="3471A1"/>
          </a:solidFill>
        </p:spPr>
      </p:pic>
    </p:spTree>
    <p:extLst>
      <p:ext uri="{BB962C8B-B14F-4D97-AF65-F5344CB8AC3E}">
        <p14:creationId xmlns:p14="http://schemas.microsoft.com/office/powerpoint/2010/main" val="2888643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Left panel image">
            <a:extLst>
              <a:ext uri="{FF2B5EF4-FFF2-40B4-BE49-F238E27FC236}">
                <a16:creationId xmlns:a16="http://schemas.microsoft.com/office/drawing/2014/main" id="{ED8B39DD-303E-47F7-92C7-94E7D5FCB9F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036" y="922286"/>
            <a:ext cx="4506964" cy="5013429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sz="2800" dirty="0"/>
              <a:t>Chapter-1 Python Basics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The Integer, Floating-Point, String Data</a:t>
            </a:r>
            <a:r>
              <a:rPr lang="tr-TR" b="1" dirty="0"/>
              <a:t> </a:t>
            </a:r>
            <a:r>
              <a:rPr lang="en-US" b="1" dirty="0"/>
              <a:t>Types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726740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water, waves, sandy shore">
            <a:extLst>
              <a:ext uri="{FF2B5EF4-FFF2-40B4-BE49-F238E27FC236}">
                <a16:creationId xmlns:a16="http://schemas.microsoft.com/office/drawing/2014/main" id="{3C93D08A-A6C3-0E48-9CD7-3960B2A050BE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/>
          <a:srcRect t="89" b="89"/>
          <a:stretch>
            <a:fillRect/>
          </a:stretch>
        </p:blipFill>
        <p:spPr>
          <a:xfrm>
            <a:off x="79013" y="1229354"/>
            <a:ext cx="4656273" cy="470636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Expressions vs Data Types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en-US" dirty="0"/>
              <a:t>Expressions 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are just values combined with operators</a:t>
            </a:r>
          </a:p>
          <a:p>
            <a:r>
              <a:rPr lang="en-US" dirty="0"/>
              <a:t>always evaluate down to a single value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i="1" dirty="0"/>
              <a:t>data type</a:t>
            </a:r>
            <a:endParaRPr lang="en-US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5"/>
            <a:ext cx="2370064" cy="540000"/>
          </a:xfrm>
        </p:spPr>
        <p:txBody>
          <a:bodyPr/>
          <a:lstStyle/>
          <a:p>
            <a:r>
              <a:rPr lang="en-US" dirty="0"/>
              <a:t>is a category</a:t>
            </a:r>
            <a:r>
              <a:rPr lang="tr-TR" dirty="0"/>
              <a:t> for values</a:t>
            </a:r>
          </a:p>
          <a:p>
            <a:r>
              <a:rPr lang="en-US" dirty="0"/>
              <a:t>belongs to exactly one data type</a:t>
            </a:r>
            <a:endParaRPr lang="en-US" sz="800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Python data types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6211" y="4858343"/>
            <a:ext cx="2251799" cy="788865"/>
          </a:xfrm>
        </p:spPr>
        <p:txBody>
          <a:bodyPr/>
          <a:lstStyle/>
          <a:p>
            <a:r>
              <a:rPr lang="tr-TR" dirty="0"/>
              <a:t>Integers</a:t>
            </a:r>
          </a:p>
          <a:p>
            <a:r>
              <a:rPr lang="tr-TR" dirty="0"/>
              <a:t>Floating-point numbers</a:t>
            </a:r>
          </a:p>
          <a:p>
            <a:r>
              <a:rPr lang="tr-TR" dirty="0"/>
              <a:t>Strings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1BEC88-DDD3-4B24-B7B3-8FBE6D3DC6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13" y="4337333"/>
            <a:ext cx="5258214" cy="129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96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String Concatenation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900000"/>
          </a:xfrm>
        </p:spPr>
        <p:txBody>
          <a:bodyPr/>
          <a:lstStyle/>
          <a:p>
            <a:r>
              <a:rPr lang="en-US" dirty="0"/>
              <a:t>string concatenation operator </a:t>
            </a:r>
            <a:r>
              <a:rPr lang="en-US" dirty="0">
                <a:solidFill>
                  <a:srgbClr val="0070C0"/>
                </a:solidFill>
              </a:rPr>
              <a:t>+</a:t>
            </a:r>
            <a:r>
              <a:rPr lang="en-US" dirty="0"/>
              <a:t> </a:t>
            </a:r>
            <a:endParaRPr lang="tr-TR" dirty="0"/>
          </a:p>
          <a:p>
            <a:r>
              <a:rPr lang="en-US" dirty="0"/>
              <a:t>is used on two string</a:t>
            </a:r>
            <a:r>
              <a:rPr lang="tr-TR" dirty="0"/>
              <a:t> </a:t>
            </a:r>
            <a:r>
              <a:rPr lang="en-US" dirty="0"/>
              <a:t>values </a:t>
            </a:r>
            <a:endParaRPr lang="tr-TR" dirty="0"/>
          </a:p>
          <a:p>
            <a:r>
              <a:rPr lang="en-US" dirty="0"/>
              <a:t>joins the strings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b="0" dirty="0"/>
              <a:t>&gt;&gt;&gt; </a:t>
            </a:r>
            <a:r>
              <a:rPr lang="tr-TR" dirty="0"/>
              <a:t>'Alice' + 'Bob'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tr-TR" dirty="0"/>
              <a:t>'AliceBob'</a:t>
            </a:r>
            <a:endParaRPr lang="en-US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'Alice' + 42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4030" y="4688112"/>
            <a:ext cx="2795941" cy="900000"/>
          </a:xfrm>
        </p:spPr>
        <p:txBody>
          <a:bodyPr vert="horz" lIns="0" tIns="0" rIns="0" bIns="0" rtlCol="0">
            <a:noAutofit/>
          </a:bodyPr>
          <a:lstStyle/>
          <a:p>
            <a:r>
              <a:rPr lang="en-US" dirty="0" err="1"/>
              <a:t>TypeError</a:t>
            </a:r>
            <a:r>
              <a:rPr lang="en-US" dirty="0"/>
              <a:t>: can only concatenate str (not "int") to str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'Alice' * 5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'AliceAliceAliceAliceAlice'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45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8F35FE5-0290-47F2-B7E6-3CC40E48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String Multiplication Operator </a:t>
            </a:r>
            <a:r>
              <a:rPr lang="tr-TR" dirty="0">
                <a:solidFill>
                  <a:srgbClr val="0070C0"/>
                </a:solidFill>
              </a:rPr>
              <a:t>*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1DD5B3-8651-4B9B-A7E5-6560B2FD9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630" y="3065972"/>
            <a:ext cx="2213702" cy="432000"/>
          </a:xfrm>
        </p:spPr>
        <p:txBody>
          <a:bodyPr/>
          <a:lstStyle/>
          <a:p>
            <a:r>
              <a:rPr lang="tr-TR" b="1" dirty="0"/>
              <a:t>'Alice' * 'Bob'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B34DAC-653D-4287-8375-0858E3DB01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480" y="3659503"/>
            <a:ext cx="2213372" cy="71054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TypeError</a:t>
            </a:r>
            <a:r>
              <a:rPr lang="en-US" dirty="0"/>
              <a:t>: can't multiply sequence by non-int of type 'str'</a:t>
            </a:r>
            <a:endParaRPr lang="tr-TR" dirty="0"/>
          </a:p>
        </p:txBody>
      </p:sp>
      <p:pic>
        <p:nvPicPr>
          <p:cNvPr id="17" name="Picture Placeholder 16" descr="arial view of the shoreline of the ocean and sand">
            <a:extLst>
              <a:ext uri="{FF2B5EF4-FFF2-40B4-BE49-F238E27FC236}">
                <a16:creationId xmlns:a16="http://schemas.microsoft.com/office/drawing/2014/main" id="{3B6B24E4-D6F2-45A2-990E-B855C75B71B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69597" y="1889518"/>
            <a:ext cx="4750159" cy="32847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B8A96-4ECB-445D-90F1-4C7E558D2A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6CF20B2-EA43-4189-8E1C-E44C07236B7D}"/>
              </a:ext>
            </a:extLst>
          </p:cNvPr>
          <p:cNvSpPr txBox="1">
            <a:spLocks/>
          </p:cNvSpPr>
          <p:nvPr/>
        </p:nvSpPr>
        <p:spPr>
          <a:xfrm>
            <a:off x="324630" y="1889518"/>
            <a:ext cx="2213702" cy="43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/>
              <a:t>'Alice' * 5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29C13E7-8434-431B-B612-224FFFB5A5DD}"/>
              </a:ext>
            </a:extLst>
          </p:cNvPr>
          <p:cNvSpPr txBox="1">
            <a:spLocks/>
          </p:cNvSpPr>
          <p:nvPr/>
        </p:nvSpPr>
        <p:spPr>
          <a:xfrm>
            <a:off x="324480" y="2483049"/>
            <a:ext cx="2213372" cy="71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/>
              <a:t>'AliceAliceAliceAliceAlice'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28CE6C26-FAF2-447B-B763-E5C566F20B8B}"/>
              </a:ext>
            </a:extLst>
          </p:cNvPr>
          <p:cNvSpPr txBox="1">
            <a:spLocks/>
          </p:cNvSpPr>
          <p:nvPr/>
        </p:nvSpPr>
        <p:spPr>
          <a:xfrm>
            <a:off x="324150" y="4401176"/>
            <a:ext cx="2213702" cy="43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/>
              <a:t>'Alice' * 5.0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D093727-843D-4AA8-92B5-98BF1E96BD1C}"/>
              </a:ext>
            </a:extLst>
          </p:cNvPr>
          <p:cNvSpPr txBox="1">
            <a:spLocks/>
          </p:cNvSpPr>
          <p:nvPr/>
        </p:nvSpPr>
        <p:spPr>
          <a:xfrm>
            <a:off x="324000" y="4994707"/>
            <a:ext cx="2406092" cy="71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TypeError</a:t>
            </a:r>
            <a:r>
              <a:rPr lang="en-US" dirty="0"/>
              <a:t>: can't multiply sequence by non-int of type 'float'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97378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Left panel image">
            <a:extLst>
              <a:ext uri="{FF2B5EF4-FFF2-40B4-BE49-F238E27FC236}">
                <a16:creationId xmlns:a16="http://schemas.microsoft.com/office/drawing/2014/main" id="{ED8B39DD-303E-47F7-92C7-94E7D5FCB9F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036" y="922286"/>
            <a:ext cx="4506964" cy="5013429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sz="2800" dirty="0"/>
              <a:t>Chapter-1 Python Basics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b="1" dirty="0"/>
              <a:t>Storing Values in Variables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027261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Statements</a:t>
            </a:r>
          </a:p>
        </p:txBody>
      </p:sp>
      <p:pic>
        <p:nvPicPr>
          <p:cNvPr id="9" name="Graphic 8" descr="Bullseye" title="Placeholder Icon">
            <a:extLst>
              <a:ext uri="{FF2B5EF4-FFF2-40B4-BE49-F238E27FC236}">
                <a16:creationId xmlns:a16="http://schemas.microsoft.com/office/drawing/2014/main" id="{FE3C0AD7-AC2C-4BF6-9B04-D74540297ED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434" y="2452416"/>
            <a:ext cx="565289" cy="56528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3889" y="2243081"/>
            <a:ext cx="2827606" cy="885825"/>
          </a:xfrm>
        </p:spPr>
        <p:txBody>
          <a:bodyPr/>
          <a:lstStyle/>
          <a:p>
            <a:r>
              <a:rPr lang="en-US" sz="2000" i="1" dirty="0"/>
              <a:t>variable</a:t>
            </a:r>
            <a:r>
              <a:rPr lang="en-US" sz="28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132" y="3429038"/>
            <a:ext cx="3391736" cy="2072212"/>
          </a:xfrm>
        </p:spPr>
        <p:txBody>
          <a:bodyPr/>
          <a:lstStyle/>
          <a:p>
            <a:r>
              <a:rPr lang="en-US" dirty="0"/>
              <a:t>is like a box in the computer’s memory</a:t>
            </a:r>
            <a:endParaRPr lang="tr-TR" dirty="0"/>
          </a:p>
          <a:p>
            <a:r>
              <a:rPr lang="en-US" dirty="0"/>
              <a:t>you can store a</a:t>
            </a:r>
            <a:r>
              <a:rPr lang="tr-TR" dirty="0"/>
              <a:t> </a:t>
            </a:r>
            <a:r>
              <a:rPr lang="en-US" dirty="0"/>
              <a:t>single value.</a:t>
            </a:r>
            <a:endParaRPr lang="tr-TR" dirty="0"/>
          </a:p>
          <a:p>
            <a:r>
              <a:rPr lang="en-US" dirty="0"/>
              <a:t>If you want to use the result of an evaluated expression later</a:t>
            </a:r>
            <a:endParaRPr lang="tr-TR" dirty="0"/>
          </a:p>
          <a:p>
            <a:r>
              <a:rPr lang="en-US" dirty="0"/>
              <a:t>you can save it inside a variable.</a:t>
            </a:r>
          </a:p>
        </p:txBody>
      </p:sp>
      <p:pic>
        <p:nvPicPr>
          <p:cNvPr id="8" name="Graphic 7" descr="Lecturer" title="Placeholder Icon">
            <a:extLst>
              <a:ext uri="{FF2B5EF4-FFF2-40B4-BE49-F238E27FC236}">
                <a16:creationId xmlns:a16="http://schemas.microsoft.com/office/drawing/2014/main" id="{CA2E6407-E074-43E0-AA4A-D7B9ADF2DA7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5531" y="2452416"/>
            <a:ext cx="565289" cy="565289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20640" y="2362471"/>
            <a:ext cx="3343513" cy="885825"/>
          </a:xfrm>
        </p:spPr>
        <p:txBody>
          <a:bodyPr/>
          <a:lstStyle/>
          <a:p>
            <a:r>
              <a:rPr lang="tr-TR" sz="2000" i="1" dirty="0"/>
              <a:t>Assignment Statement</a:t>
            </a:r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81056" y="3429000"/>
            <a:ext cx="3391805" cy="2071688"/>
          </a:xfrm>
        </p:spPr>
        <p:txBody>
          <a:bodyPr/>
          <a:lstStyle/>
          <a:p>
            <a:r>
              <a:rPr lang="tr-TR" dirty="0"/>
              <a:t>store values in variables</a:t>
            </a:r>
          </a:p>
          <a:p>
            <a:r>
              <a:rPr lang="en-US" dirty="0"/>
              <a:t>consists of </a:t>
            </a:r>
            <a:endParaRPr lang="tr-TR" dirty="0"/>
          </a:p>
          <a:p>
            <a:pPr lvl="1"/>
            <a:r>
              <a:rPr lang="en-US" dirty="0"/>
              <a:t>a variable name, </a:t>
            </a:r>
            <a:endParaRPr lang="tr-TR" dirty="0"/>
          </a:p>
          <a:p>
            <a:pPr lvl="1"/>
            <a:r>
              <a:rPr lang="en-US" i="1" dirty="0"/>
              <a:t>assignment</a:t>
            </a:r>
            <a:r>
              <a:rPr lang="tr-TR" i="1" dirty="0"/>
              <a:t> </a:t>
            </a:r>
            <a:r>
              <a:rPr lang="en-US" i="1" dirty="0"/>
              <a:t>operator </a:t>
            </a:r>
            <a:r>
              <a:rPr lang="tr-TR" i="1" dirty="0"/>
              <a:t>: </a:t>
            </a:r>
            <a:r>
              <a:rPr lang="en-US" dirty="0"/>
              <a:t>an equal sign</a:t>
            </a:r>
            <a:r>
              <a:rPr lang="tr-TR" dirty="0"/>
              <a:t> </a:t>
            </a:r>
            <a:r>
              <a:rPr lang="tr-TR" dirty="0">
                <a:solidFill>
                  <a:srgbClr val="0070C0"/>
                </a:solidFill>
              </a:rPr>
              <a:t>=</a:t>
            </a:r>
          </a:p>
          <a:p>
            <a:pPr lvl="1"/>
            <a:r>
              <a:rPr lang="en-US" dirty="0"/>
              <a:t>the value to be stored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8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Assignment Statement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i="1" dirty="0"/>
              <a:t>The variable spam now has the integer value 4</a:t>
            </a:r>
            <a:r>
              <a:rPr lang="tr-TR" i="1" dirty="0"/>
              <a:t>0</a:t>
            </a:r>
            <a:r>
              <a:rPr lang="en-US" i="1" dirty="0"/>
              <a:t> in it.”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spam = 4</a:t>
            </a:r>
            <a:r>
              <a:rPr lang="tr-TR" dirty="0"/>
              <a:t>0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named </a:t>
            </a:r>
            <a:r>
              <a:rPr lang="en-US" dirty="0">
                <a:solidFill>
                  <a:srgbClr val="0070C0"/>
                </a:solidFill>
              </a:rPr>
              <a:t>spam</a:t>
            </a:r>
            <a:r>
              <a:rPr lang="en-US" dirty="0"/>
              <a:t> </a:t>
            </a:r>
            <a:endParaRPr lang="tr-TR" dirty="0"/>
          </a:p>
          <a:p>
            <a:r>
              <a:rPr lang="en-US" dirty="0"/>
              <a:t>will have the integer value 42</a:t>
            </a:r>
            <a:endParaRPr lang="tr-TR" dirty="0"/>
          </a:p>
          <a:p>
            <a:r>
              <a:rPr lang="en-US" dirty="0"/>
              <a:t>stored in 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tr-TR" dirty="0">
                <a:latin typeface="+mn-lt"/>
              </a:rPr>
              <a:t>spam &amp; eggs</a:t>
            </a:r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&gt;&gt;&gt; spam = 40</a:t>
            </a:r>
          </a:p>
          <a:p>
            <a:pPr marL="0" indent="0">
              <a:buNone/>
            </a:pPr>
            <a:r>
              <a:rPr lang="en-US" dirty="0"/>
              <a:t>&gt;&gt;&gt; spam</a:t>
            </a:r>
          </a:p>
          <a:p>
            <a:pPr marL="0" indent="0">
              <a:buNone/>
            </a:pPr>
            <a:r>
              <a:rPr lang="en-US" dirty="0"/>
              <a:t>40</a:t>
            </a:r>
            <a:endParaRPr lang="tr-TR" dirty="0"/>
          </a:p>
          <a:p>
            <a:pPr marL="0" indent="0">
              <a:buNone/>
            </a:pPr>
            <a:r>
              <a:rPr lang="nb-NO" dirty="0"/>
              <a:t>&gt;&gt;&gt; eggs = 2</a:t>
            </a:r>
          </a:p>
          <a:p>
            <a:pPr marL="0" indent="0">
              <a:buNone/>
            </a:pPr>
            <a:r>
              <a:rPr lang="nb-NO" dirty="0"/>
              <a:t>&gt;&gt;&gt; spam + eggs</a:t>
            </a:r>
          </a:p>
          <a:p>
            <a:pPr marL="0" indent="0">
              <a:buNone/>
            </a:pPr>
            <a:r>
              <a:rPr lang="nb-NO" dirty="0"/>
              <a:t>42</a:t>
            </a:r>
            <a:endParaRPr lang="tr-TR" dirty="0"/>
          </a:p>
          <a:p>
            <a:pPr marL="0" indent="0">
              <a:buNone/>
            </a:pPr>
            <a:r>
              <a:rPr lang="pl-PL" dirty="0"/>
              <a:t>&gt;&gt;&gt; spam + eggs + spam</a:t>
            </a:r>
          </a:p>
          <a:p>
            <a:pPr marL="0" indent="0">
              <a:buNone/>
            </a:pPr>
            <a:r>
              <a:rPr lang="pl-PL" dirty="0"/>
              <a:t>82</a:t>
            </a:r>
          </a:p>
          <a:p>
            <a:pPr marL="0" indent="0">
              <a:buNone/>
            </a:pPr>
            <a:r>
              <a:rPr lang="pl-PL" dirty="0"/>
              <a:t>&gt;&gt;&gt; spam = spam + 2</a:t>
            </a:r>
          </a:p>
          <a:p>
            <a:pPr marL="0" indent="0">
              <a:buNone/>
            </a:pPr>
            <a:r>
              <a:rPr lang="pl-PL" dirty="0"/>
              <a:t>&gt;&gt;&gt; spam</a:t>
            </a:r>
          </a:p>
          <a:p>
            <a:pPr marL="0" indent="0">
              <a:buNone/>
            </a:pPr>
            <a:r>
              <a:rPr lang="pl-PL" dirty="0"/>
              <a:t>42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B383A3-6430-4DA3-8906-E91141B9D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341" y="2663587"/>
            <a:ext cx="2683871" cy="254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3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Value of a Variable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2"/>
            <a:ext cx="4599842" cy="256430"/>
          </a:xfrm>
        </p:spPr>
        <p:txBody>
          <a:bodyPr/>
          <a:lstStyle/>
          <a:p>
            <a:r>
              <a:rPr lang="tr-TR" i="1" dirty="0"/>
              <a:t>Value of the variable can be changed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Initialization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r>
              <a:rPr lang="en-US" dirty="0"/>
              <a:t>A variable is </a:t>
            </a:r>
            <a:r>
              <a:rPr lang="en-US" i="1" dirty="0"/>
              <a:t>initialized </a:t>
            </a:r>
            <a:r>
              <a:rPr lang="en-US" dirty="0"/>
              <a:t>(or created) </a:t>
            </a:r>
            <a:endParaRPr lang="tr-TR" dirty="0"/>
          </a:p>
          <a:p>
            <a:r>
              <a:rPr lang="en-US" dirty="0"/>
              <a:t>the first time a value is stored in it</a:t>
            </a:r>
            <a:endParaRPr lang="tr-TR" dirty="0"/>
          </a:p>
          <a:p>
            <a:endParaRPr lang="tr-TR" dirty="0"/>
          </a:p>
          <a:p>
            <a:r>
              <a:rPr lang="en-US" dirty="0"/>
              <a:t>When a variable is assigned a new value w, </a:t>
            </a:r>
            <a:endParaRPr lang="tr-TR" dirty="0"/>
          </a:p>
          <a:p>
            <a:r>
              <a:rPr lang="en-US" dirty="0"/>
              <a:t>the old value is forgotten</a:t>
            </a:r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Using in Expressions</a:t>
            </a:r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r>
              <a:rPr lang="en-US" dirty="0"/>
              <a:t>you can use it in expressions </a:t>
            </a:r>
            <a:endParaRPr lang="tr-TR" dirty="0"/>
          </a:p>
          <a:p>
            <a:r>
              <a:rPr lang="en-US" dirty="0"/>
              <a:t>with other variables and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Examples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&gt;&gt;&gt; spam = 'Hello'</a:t>
            </a:r>
          </a:p>
          <a:p>
            <a:r>
              <a:rPr lang="en-US" dirty="0"/>
              <a:t>&gt;&gt;&gt; spam</a:t>
            </a:r>
          </a:p>
          <a:p>
            <a:r>
              <a:rPr lang="en-US" dirty="0"/>
              <a:t>'Hello'</a:t>
            </a:r>
          </a:p>
          <a:p>
            <a:r>
              <a:rPr lang="en-US" dirty="0"/>
              <a:t>&gt;&gt;&gt; spam = 'Goodbye'</a:t>
            </a:r>
          </a:p>
          <a:p>
            <a:r>
              <a:rPr lang="en-US" dirty="0"/>
              <a:t>&gt;&gt;&gt; spam</a:t>
            </a:r>
          </a:p>
          <a:p>
            <a:r>
              <a:rPr lang="en-US" dirty="0"/>
              <a:t>'Goodbye'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46FAF-8143-45D9-9C59-CFF5AE99E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221" y="4457777"/>
            <a:ext cx="2093083" cy="218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23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Variable Names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i="1" dirty="0"/>
              <a:t>Rules on naming the variables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One Word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226533"/>
          </a:xfrm>
        </p:spPr>
        <p:txBody>
          <a:bodyPr/>
          <a:lstStyle/>
          <a:p>
            <a:r>
              <a:rPr lang="en-US" dirty="0"/>
              <a:t>It can be only one word.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Don’t begin with a number</a:t>
            </a:r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1183173"/>
          </a:xfrm>
        </p:spPr>
        <p:txBody>
          <a:bodyPr/>
          <a:lstStyle/>
          <a:p>
            <a:r>
              <a:rPr lang="en-US" dirty="0"/>
              <a:t>It can’t begin with a number.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Use only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2"/>
            <a:ext cx="2794502" cy="1183518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Letters</a:t>
            </a:r>
            <a:endParaRPr lang="tr-TR" dirty="0"/>
          </a:p>
          <a:p>
            <a:r>
              <a:rPr lang="en-US" dirty="0"/>
              <a:t>Numbers</a:t>
            </a:r>
            <a:endParaRPr lang="tr-TR" dirty="0"/>
          </a:p>
          <a:p>
            <a:r>
              <a:rPr lang="en-US" dirty="0"/>
              <a:t>underscore </a:t>
            </a:r>
            <a:r>
              <a:rPr lang="en-US" dirty="0">
                <a:solidFill>
                  <a:srgbClr val="0070C0"/>
                </a:solidFill>
              </a:rPr>
              <a:t>_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452487-520E-4FDD-8A42-BCE0965C8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692" y="3795735"/>
            <a:ext cx="6508665" cy="29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96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Case Sensitiveness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Variable Names are Case Sensitive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four different variables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r>
              <a:rPr lang="tr-TR" dirty="0"/>
              <a:t>s</a:t>
            </a:r>
            <a:r>
              <a:rPr lang="en-US" dirty="0"/>
              <a:t>pam</a:t>
            </a:r>
            <a:endParaRPr lang="tr-TR" dirty="0"/>
          </a:p>
          <a:p>
            <a:r>
              <a:rPr lang="en-US" dirty="0"/>
              <a:t>SPAM</a:t>
            </a:r>
            <a:endParaRPr lang="tr-TR" dirty="0"/>
          </a:p>
          <a:p>
            <a:r>
              <a:rPr lang="en-US" dirty="0"/>
              <a:t>Spam</a:t>
            </a:r>
            <a:endParaRPr lang="tr-TR" dirty="0"/>
          </a:p>
          <a:p>
            <a:r>
              <a:rPr lang="en-US" dirty="0" err="1"/>
              <a:t>sPaM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Values</a:t>
            </a:r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en-US" dirty="0"/>
              <a:t>&gt;&gt;&gt; spam</a:t>
            </a:r>
          </a:p>
          <a:p>
            <a:r>
              <a:rPr lang="en-US" dirty="0"/>
              <a:t>'Happy Valentines Day'</a:t>
            </a:r>
          </a:p>
          <a:p>
            <a:r>
              <a:rPr lang="en-US" dirty="0"/>
              <a:t>&gt;&gt;&gt; SPAM</a:t>
            </a:r>
          </a:p>
          <a:p>
            <a:r>
              <a:rPr lang="en-US" dirty="0"/>
              <a:t>'Today is 14th February 2020'</a:t>
            </a:r>
          </a:p>
          <a:p>
            <a:r>
              <a:rPr lang="en-US" dirty="0"/>
              <a:t>&gt;&gt;&gt; Spam</a:t>
            </a:r>
          </a:p>
          <a:p>
            <a:r>
              <a:rPr lang="en-US" dirty="0"/>
              <a:t>14</a:t>
            </a:r>
          </a:p>
          <a:p>
            <a:r>
              <a:rPr lang="en-US" dirty="0"/>
              <a:t>&gt;&gt;&gt; </a:t>
            </a:r>
            <a:r>
              <a:rPr lang="en-US" dirty="0" err="1"/>
              <a:t>sPaM</a:t>
            </a:r>
            <a:endParaRPr lang="en-US" dirty="0"/>
          </a:p>
          <a:p>
            <a:r>
              <a:rPr lang="en-US" dirty="0"/>
              <a:t>2020</a:t>
            </a:r>
          </a:p>
          <a:p>
            <a:r>
              <a:rPr lang="en-US" dirty="0"/>
              <a:t>&gt;&gt;&gt; </a:t>
            </a:r>
            <a:r>
              <a:rPr lang="en-US" dirty="0" err="1"/>
              <a:t>SPam</a:t>
            </a:r>
            <a:endParaRPr lang="en-US" dirty="0"/>
          </a:p>
          <a:p>
            <a:r>
              <a:rPr lang="en-US" dirty="0" err="1"/>
              <a:t>NameError</a:t>
            </a:r>
            <a:r>
              <a:rPr lang="en-US" dirty="0"/>
              <a:t>: name '</a:t>
            </a:r>
            <a:r>
              <a:rPr lang="en-US" dirty="0" err="1"/>
              <a:t>SPam</a:t>
            </a:r>
            <a:r>
              <a:rPr lang="en-US" dirty="0"/>
              <a:t>' is not defined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Examples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&gt;&gt;&gt; spam = 'Happy Valentines Day'</a:t>
            </a:r>
          </a:p>
          <a:p>
            <a:r>
              <a:rPr lang="en-US" dirty="0"/>
              <a:t>&gt;&gt;&gt; SPAM = 'Today is 14th February 2020'</a:t>
            </a:r>
          </a:p>
          <a:p>
            <a:r>
              <a:rPr lang="en-US" dirty="0"/>
              <a:t>&gt;&gt;&gt; Spam = 14</a:t>
            </a:r>
          </a:p>
          <a:p>
            <a:r>
              <a:rPr lang="en-US" dirty="0"/>
              <a:t>&gt;&gt;&gt; </a:t>
            </a:r>
            <a:r>
              <a:rPr lang="en-US" dirty="0" err="1"/>
              <a:t>sPaM</a:t>
            </a:r>
            <a:r>
              <a:rPr lang="en-US" dirty="0"/>
              <a:t> = 2020</a:t>
            </a:r>
          </a:p>
        </p:txBody>
      </p:sp>
    </p:spTree>
    <p:extLst>
      <p:ext uri="{BB962C8B-B14F-4D97-AF65-F5344CB8AC3E}">
        <p14:creationId xmlns:p14="http://schemas.microsoft.com/office/powerpoint/2010/main" val="2022096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picture containing shirt&#10;&#10;Description automatically generated">
            <a:extLst>
              <a:ext uri="{FF2B5EF4-FFF2-40B4-BE49-F238E27FC236}">
                <a16:creationId xmlns:a16="http://schemas.microsoft.com/office/drawing/2014/main" id="{924FD98C-6E96-4929-AF1A-39EC3CE9F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30" y="770921"/>
            <a:ext cx="8221687" cy="5615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A7F665-80EE-4503-AEF8-83FD1987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72" y="110657"/>
            <a:ext cx="8505000" cy="43200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dirty="0"/>
              <a:t>Variable Naming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B2821-A8E7-46E4-B168-879973D325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dirty="0"/>
              <a:t>camelCase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6C3308C-9E0D-4714-B21C-782220416AB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b="1" dirty="0" err="1"/>
              <a:t>camelCase</a:t>
            </a:r>
            <a:endParaRPr lang="tr-TR" b="1" dirty="0"/>
          </a:p>
          <a:p>
            <a:r>
              <a:rPr lang="en-US" dirty="0"/>
              <a:t>instead of</a:t>
            </a:r>
            <a:endParaRPr lang="tr-TR" dirty="0"/>
          </a:p>
          <a:p>
            <a:r>
              <a:rPr lang="en-US" dirty="0"/>
              <a:t> </a:t>
            </a:r>
            <a:r>
              <a:rPr lang="en-US" b="1" dirty="0"/>
              <a:t>underscores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DAA7A7-68A8-441E-AF97-3634DB9699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4AAB936-097B-4C03-AE79-B2920CDE259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i="1" dirty="0" err="1">
                <a:solidFill>
                  <a:srgbClr val="0070C0"/>
                </a:solidFill>
              </a:rPr>
              <a:t>lookLikeThis</a:t>
            </a:r>
            <a:endParaRPr lang="tr-TR" i="1" dirty="0"/>
          </a:p>
          <a:p>
            <a:r>
              <a:rPr lang="en-US" dirty="0"/>
              <a:t>instead of </a:t>
            </a:r>
            <a:endParaRPr lang="tr-TR" dirty="0"/>
          </a:p>
          <a:p>
            <a:r>
              <a:rPr lang="en-US" i="1" dirty="0" err="1">
                <a:solidFill>
                  <a:srgbClr val="0070C0"/>
                </a:solidFill>
              </a:rPr>
              <a:t>looking_like_this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D45246F-921D-40B3-8F49-8C6BC23173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Consistency with the style guide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63732E-FB74-4F6C-88AC-EBAAC00C42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is important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929A30E-A2FC-439E-B985-4BD4359DFE6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6055" y="4311392"/>
            <a:ext cx="2595717" cy="1505966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But most importantly:</a:t>
            </a:r>
          </a:p>
          <a:p>
            <a:r>
              <a:rPr lang="en-US" dirty="0"/>
              <a:t>know when to be </a:t>
            </a:r>
            <a:r>
              <a:rPr lang="en-US" b="1" dirty="0"/>
              <a:t>inconsistent</a:t>
            </a:r>
            <a:endParaRPr lang="tr-TR" b="1" dirty="0"/>
          </a:p>
          <a:p>
            <a:r>
              <a:rPr lang="en-US" dirty="0"/>
              <a:t>— sometimes the style guide</a:t>
            </a:r>
            <a:r>
              <a:rPr lang="tr-TR" dirty="0"/>
              <a:t> </a:t>
            </a:r>
            <a:r>
              <a:rPr lang="en-US" dirty="0"/>
              <a:t>just doesn’t apply. </a:t>
            </a:r>
            <a:endParaRPr lang="tr-TR" dirty="0"/>
          </a:p>
          <a:p>
            <a:r>
              <a:rPr lang="en-US" dirty="0"/>
              <a:t>When in </a:t>
            </a:r>
            <a:r>
              <a:rPr lang="en-US" b="1" dirty="0"/>
              <a:t>doubt</a:t>
            </a:r>
            <a:r>
              <a:rPr lang="en-US" dirty="0"/>
              <a:t>, use your </a:t>
            </a:r>
            <a:r>
              <a:rPr lang="en-US" b="1" dirty="0"/>
              <a:t>best judgment</a:t>
            </a:r>
            <a:r>
              <a:rPr lang="en-US" dirty="0"/>
              <a:t>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F728585-A663-4E22-87F7-AAD670071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34" name="Freeform: Shape 33" title="triangles">
              <a:extLst>
                <a:ext uri="{FF2B5EF4-FFF2-40B4-BE49-F238E27FC236}">
                  <a16:creationId xmlns:a16="http://schemas.microsoft.com/office/drawing/2014/main" id="{74632BF7-7DCC-4CB0-A278-AD3B28FE96BA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Freeform: Shape 34" title="triangles">
              <a:extLst>
                <a:ext uri="{FF2B5EF4-FFF2-40B4-BE49-F238E27FC236}">
                  <a16:creationId xmlns:a16="http://schemas.microsoft.com/office/drawing/2014/main" id="{F3B7A750-FBC6-4475-9937-5A5FF7957A67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6" name="Freeform: Shape 35" title="triangles">
              <a:extLst>
                <a:ext uri="{FF2B5EF4-FFF2-40B4-BE49-F238E27FC236}">
                  <a16:creationId xmlns:a16="http://schemas.microsoft.com/office/drawing/2014/main" id="{2AEBF1D4-D3EA-4EFC-96B4-BE3208DC9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7" name="Freeform: Shape 36" title="triangles">
              <a:extLst>
                <a:ext uri="{FF2B5EF4-FFF2-40B4-BE49-F238E27FC236}">
                  <a16:creationId xmlns:a16="http://schemas.microsoft.com/office/drawing/2014/main" id="{9482C603-BF06-493B-A4FB-922E55E073FE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8" name="Freeform: Shape 37" title="triangles">
              <a:extLst>
                <a:ext uri="{FF2B5EF4-FFF2-40B4-BE49-F238E27FC236}">
                  <a16:creationId xmlns:a16="http://schemas.microsoft.com/office/drawing/2014/main" id="{8896E3A5-9F33-4D5C-9F1D-5072AAC7EDCD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9" name="Freeform: Shape 38" title="triangles">
              <a:extLst>
                <a:ext uri="{FF2B5EF4-FFF2-40B4-BE49-F238E27FC236}">
                  <a16:creationId xmlns:a16="http://schemas.microsoft.com/office/drawing/2014/main" id="{5CE56383-9C4D-4A22-8C3F-2BFAC639C530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0" name="Freeform: Shape 39" title="triangles">
              <a:extLst>
                <a:ext uri="{FF2B5EF4-FFF2-40B4-BE49-F238E27FC236}">
                  <a16:creationId xmlns:a16="http://schemas.microsoft.com/office/drawing/2014/main" id="{2B4AB49B-299B-45F1-A97B-165C71460A30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1" name="Freeform: Shape 40" title="triangles">
              <a:extLst>
                <a:ext uri="{FF2B5EF4-FFF2-40B4-BE49-F238E27FC236}">
                  <a16:creationId xmlns:a16="http://schemas.microsoft.com/office/drawing/2014/main" id="{223660C9-E786-4F4A-96A1-E22F6991217D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2" name="Freeform: Shape 41" title="triangles">
              <a:extLst>
                <a:ext uri="{FF2B5EF4-FFF2-40B4-BE49-F238E27FC236}">
                  <a16:creationId xmlns:a16="http://schemas.microsoft.com/office/drawing/2014/main" id="{2C75C772-F093-4933-898C-D9C65C0F3F73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3" name="Freeform: Shape 42" title="triangles">
              <a:extLst>
                <a:ext uri="{FF2B5EF4-FFF2-40B4-BE49-F238E27FC236}">
                  <a16:creationId xmlns:a16="http://schemas.microsoft.com/office/drawing/2014/main" id="{8D768F9C-760D-410A-A60E-6285E1D66EAC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4" name="Freeform: Shape 43" title="triangles">
              <a:extLst>
                <a:ext uri="{FF2B5EF4-FFF2-40B4-BE49-F238E27FC236}">
                  <a16:creationId xmlns:a16="http://schemas.microsoft.com/office/drawing/2014/main" id="{77C89462-3651-42AB-8271-83D9F6A88F96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5" name="Freeform: Shape 44" title="triangles">
              <a:extLst>
                <a:ext uri="{FF2B5EF4-FFF2-40B4-BE49-F238E27FC236}">
                  <a16:creationId xmlns:a16="http://schemas.microsoft.com/office/drawing/2014/main" id="{25A77506-DAFD-4EFD-BEC3-4B1CC7FED70B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6" name="Freeform: Shape 45" title="triangles">
              <a:extLst>
                <a:ext uri="{FF2B5EF4-FFF2-40B4-BE49-F238E27FC236}">
                  <a16:creationId xmlns:a16="http://schemas.microsoft.com/office/drawing/2014/main" id="{A2F7BBCC-60DA-4FA5-BB5C-2491F61740CB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7" name="Freeform: Shape 46" title="triangles">
              <a:extLst>
                <a:ext uri="{FF2B5EF4-FFF2-40B4-BE49-F238E27FC236}">
                  <a16:creationId xmlns:a16="http://schemas.microsoft.com/office/drawing/2014/main" id="{5506F340-1304-4556-9102-17C00BB75390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6F736D-1910-4E6F-9F86-9A9B0FCF47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3" name="Picture Placeholder 12" descr="A close up of an animal&#10;&#10;Description automatically generated">
            <a:extLst>
              <a:ext uri="{FF2B5EF4-FFF2-40B4-BE49-F238E27FC236}">
                <a16:creationId xmlns:a16="http://schemas.microsoft.com/office/drawing/2014/main" id="{A5A6256F-B0E9-45F9-89B6-605F563E0E3B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/>
          <a:srcRect l="25050" r="25050"/>
          <a:stretch>
            <a:fillRect/>
          </a:stretch>
        </p:blipFill>
        <p:spPr>
          <a:solidFill>
            <a:schemeClr val="accent4">
              <a:lumMod val="20000"/>
              <a:lumOff val="80000"/>
            </a:schemeClr>
          </a:solidFill>
        </p:spPr>
      </p:pic>
      <p:pic>
        <p:nvPicPr>
          <p:cNvPr id="26" name="Picture Placeholder 25" descr="A close up of a scale&#10;&#10;Description automatically generated">
            <a:extLst>
              <a:ext uri="{FF2B5EF4-FFF2-40B4-BE49-F238E27FC236}">
                <a16:creationId xmlns:a16="http://schemas.microsoft.com/office/drawing/2014/main" id="{52866F9C-0E99-4A5C-81CC-F3692F4371F9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/>
          <a:srcRect l="10380" r="10380"/>
          <a:stretch>
            <a:fillRect/>
          </a:stretch>
        </p:blipFill>
        <p:spPr>
          <a:solidFill>
            <a:schemeClr val="accent4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93802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First Program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Writing &amp; Execution of your First Program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3235276" cy="648000"/>
          </a:xfrm>
        </p:spPr>
        <p:txBody>
          <a:bodyPr/>
          <a:lstStyle/>
          <a:p>
            <a:r>
              <a:rPr lang="tr-TR" dirty="0"/>
              <a:t>Source Code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48" y="2525906"/>
            <a:ext cx="3774897" cy="3762352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/>
              <a:t>#This program says hello and asks for my name.</a:t>
            </a:r>
          </a:p>
          <a:p>
            <a:pPr marL="0" indent="0">
              <a:buNone/>
            </a:pPr>
            <a:r>
              <a:rPr lang="en-US" sz="1100" dirty="0"/>
              <a:t>print('Hello world!')</a:t>
            </a:r>
          </a:p>
          <a:p>
            <a:pPr marL="0" indent="0">
              <a:buNone/>
            </a:pPr>
            <a:r>
              <a:rPr lang="en-US" sz="1100" dirty="0"/>
              <a:t># ask for their name</a:t>
            </a:r>
          </a:p>
          <a:p>
            <a:pPr marL="0" indent="0">
              <a:buNone/>
            </a:pPr>
            <a:r>
              <a:rPr lang="en-US" sz="1100" dirty="0"/>
              <a:t>print('What is your name?')</a:t>
            </a:r>
          </a:p>
          <a:p>
            <a:pPr marL="0" indent="0">
              <a:buNone/>
            </a:pPr>
            <a:r>
              <a:rPr lang="en-US" sz="1100" dirty="0" err="1"/>
              <a:t>myName</a:t>
            </a:r>
            <a:r>
              <a:rPr lang="en-US" sz="1100" dirty="0"/>
              <a:t> = input()</a:t>
            </a:r>
          </a:p>
          <a:p>
            <a:pPr marL="0" indent="0">
              <a:buNone/>
            </a:pPr>
            <a:r>
              <a:rPr lang="en-US" sz="1100" dirty="0"/>
              <a:t>print(</a:t>
            </a:r>
            <a:r>
              <a:rPr lang="en-US" sz="1100" dirty="0" err="1"/>
              <a:t>'It</a:t>
            </a:r>
            <a:r>
              <a:rPr lang="en-US" sz="1100" dirty="0"/>
              <a:t> is good to meet you, ' + </a:t>
            </a:r>
            <a:r>
              <a:rPr lang="en-US" sz="1100" dirty="0" err="1"/>
              <a:t>myName</a:t>
            </a:r>
            <a:r>
              <a:rPr lang="en-US" sz="1100" dirty="0"/>
              <a:t>)</a:t>
            </a:r>
          </a:p>
          <a:p>
            <a:pPr marL="0" indent="0">
              <a:buNone/>
            </a:pPr>
            <a:r>
              <a:rPr lang="en-US" sz="1100" dirty="0"/>
              <a:t>print('The length of your name is:')</a:t>
            </a:r>
          </a:p>
          <a:p>
            <a:pPr marL="0" indent="0">
              <a:buNone/>
            </a:pPr>
            <a:r>
              <a:rPr lang="en-US" sz="1100" dirty="0"/>
              <a:t>print(</a:t>
            </a:r>
            <a:r>
              <a:rPr lang="en-US" sz="1100" dirty="0" err="1"/>
              <a:t>len</a:t>
            </a:r>
            <a:r>
              <a:rPr lang="en-US" sz="1100" dirty="0"/>
              <a:t>(</a:t>
            </a:r>
            <a:r>
              <a:rPr lang="en-US" sz="1100" dirty="0" err="1"/>
              <a:t>myName</a:t>
            </a:r>
            <a:r>
              <a:rPr lang="en-US" sz="1100" dirty="0"/>
              <a:t>))</a:t>
            </a:r>
          </a:p>
          <a:p>
            <a:pPr marL="0" indent="0">
              <a:buNone/>
            </a:pPr>
            <a:r>
              <a:rPr lang="en-US" sz="1100" dirty="0"/>
              <a:t>print('What is your age?') # ask for their age</a:t>
            </a:r>
          </a:p>
          <a:p>
            <a:pPr marL="0" indent="0">
              <a:buNone/>
            </a:pPr>
            <a:r>
              <a:rPr lang="en-US" sz="1100" dirty="0" err="1"/>
              <a:t>myAge</a:t>
            </a:r>
            <a:r>
              <a:rPr lang="en-US" sz="1100" dirty="0"/>
              <a:t> = input()</a:t>
            </a:r>
          </a:p>
          <a:p>
            <a:pPr marL="0" indent="0">
              <a:buNone/>
            </a:pPr>
            <a:r>
              <a:rPr lang="en-US" sz="1100" dirty="0"/>
              <a:t>print('You will be ' + str(int(</a:t>
            </a:r>
            <a:r>
              <a:rPr lang="en-US" sz="1100" dirty="0" err="1"/>
              <a:t>myAge</a:t>
            </a:r>
            <a:r>
              <a:rPr lang="en-US" sz="1100" dirty="0"/>
              <a:t>) + 1) + ' in a year.')</a:t>
            </a:r>
            <a:endParaRPr lang="tr-TR" sz="11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 err="1"/>
              <a:t>Execution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19162" y="2606002"/>
            <a:ext cx="3024837" cy="3314200"/>
          </a:xfrm>
        </p:spPr>
        <p:txBody>
          <a:bodyPr/>
          <a:lstStyle/>
          <a:p>
            <a:pPr marL="0" indent="0">
              <a:buNone/>
            </a:pPr>
            <a:r>
              <a:rPr lang="en-US" sz="1100" dirty="0"/>
              <a:t>Hello world!</a:t>
            </a:r>
          </a:p>
          <a:p>
            <a:pPr marL="0" indent="0">
              <a:buNone/>
            </a:pPr>
            <a:r>
              <a:rPr lang="en-US" sz="1100" dirty="0"/>
              <a:t>What is your name?</a:t>
            </a:r>
          </a:p>
          <a:p>
            <a:pPr marL="0" indent="0">
              <a:buNone/>
            </a:pPr>
            <a:r>
              <a:rPr lang="en-US" sz="1100" dirty="0"/>
              <a:t>February</a:t>
            </a:r>
          </a:p>
          <a:p>
            <a:pPr marL="0" indent="0">
              <a:buNone/>
            </a:pPr>
            <a:r>
              <a:rPr lang="en-US" sz="1100" dirty="0"/>
              <a:t>It is good to meet you, February</a:t>
            </a:r>
          </a:p>
          <a:p>
            <a:pPr marL="0" indent="0">
              <a:buNone/>
            </a:pPr>
            <a:r>
              <a:rPr lang="en-US" sz="1100" dirty="0"/>
              <a:t>The length of your name is:</a:t>
            </a:r>
          </a:p>
          <a:p>
            <a:pPr marL="0" indent="0">
              <a:buNone/>
            </a:pPr>
            <a:r>
              <a:rPr lang="en-US" sz="1100" dirty="0"/>
              <a:t>8</a:t>
            </a:r>
          </a:p>
          <a:p>
            <a:pPr marL="0" indent="0">
              <a:buNone/>
            </a:pPr>
            <a:r>
              <a:rPr lang="en-US" sz="1100" dirty="0"/>
              <a:t>What is your age?</a:t>
            </a:r>
          </a:p>
          <a:p>
            <a:pPr marL="0" indent="0">
              <a:buNone/>
            </a:pPr>
            <a:r>
              <a:rPr lang="en-US" sz="1100" dirty="0"/>
              <a:t>2021</a:t>
            </a:r>
          </a:p>
          <a:p>
            <a:pPr marL="0" indent="0">
              <a:buNone/>
            </a:pPr>
            <a:r>
              <a:rPr lang="en-US" sz="1100" dirty="0"/>
              <a:t>You will be 2022 in a year.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737493" y="173227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Store &amp; Run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897445" y="2484953"/>
            <a:ext cx="234857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100" dirty="0"/>
              <a:t>Open an editör -</a:t>
            </a:r>
            <a:r>
              <a:rPr lang="tr-TR" sz="1100" dirty="0" err="1"/>
              <a:t>Idle</a:t>
            </a:r>
            <a:endParaRPr lang="tr-TR" sz="1100" dirty="0"/>
          </a:p>
          <a:p>
            <a:r>
              <a:rPr lang="tr-TR" sz="1100" dirty="0"/>
              <a:t>Copy and Paste the code</a:t>
            </a:r>
          </a:p>
          <a:p>
            <a:r>
              <a:rPr lang="tr-TR" sz="1100" dirty="0"/>
              <a:t>Save in </a:t>
            </a:r>
            <a:r>
              <a:rPr lang="en-US" sz="1100" dirty="0"/>
              <a:t>myFirstProgram.py</a:t>
            </a:r>
            <a:endParaRPr lang="tr-TR" sz="1100" dirty="0"/>
          </a:p>
          <a:p>
            <a:r>
              <a:rPr lang="tr-TR" sz="1100" dirty="0"/>
              <a:t>File-&gt;Open (Ctrl-O)</a:t>
            </a:r>
          </a:p>
          <a:p>
            <a:r>
              <a:rPr lang="tr-TR" sz="1100" dirty="0"/>
              <a:t>Run-&gt;Run Module (F5)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79358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Top left image">
            <a:extLst>
              <a:ext uri="{FF2B5EF4-FFF2-40B4-BE49-F238E27FC236}">
                <a16:creationId xmlns:a16="http://schemas.microsoft.com/office/drawing/2014/main" id="{09D613E8-8848-4CCA-946C-52A183E91F7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000" y="922286"/>
            <a:ext cx="4506964" cy="291792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Program Explained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Comment</a:t>
            </a:r>
          </a:p>
          <a:p>
            <a:r>
              <a:rPr lang="tr-TR" dirty="0"/>
              <a:t>print()</a:t>
            </a:r>
          </a:p>
          <a:p>
            <a:r>
              <a:rPr lang="tr-TR" dirty="0"/>
              <a:t>input()</a:t>
            </a:r>
          </a:p>
          <a:p>
            <a:r>
              <a:rPr lang="tr-TR" dirty="0"/>
              <a:t>len()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3A50-2819-40D9-A42F-D84F47928C9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270810"/>
            <a:ext cx="3980775" cy="6502533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Comment</a:t>
            </a:r>
          </a:p>
          <a:p>
            <a:r>
              <a:rPr lang="en-US" dirty="0"/>
              <a:t># This program says hello and asks for my name.</a:t>
            </a:r>
            <a:endParaRPr lang="tr-TR" dirty="0"/>
          </a:p>
          <a:p>
            <a:pPr marL="0" indent="0">
              <a:buNone/>
            </a:pPr>
            <a:r>
              <a:rPr lang="tr-TR" b="1" i="1" dirty="0"/>
              <a:t>The print() Function</a:t>
            </a:r>
            <a:endParaRPr lang="tr-TR" dirty="0"/>
          </a:p>
          <a:p>
            <a:r>
              <a:rPr lang="tr-TR" dirty="0"/>
              <a:t>Displays </a:t>
            </a:r>
            <a:r>
              <a:rPr lang="en-US" dirty="0"/>
              <a:t>the string value inside the parentheses on the</a:t>
            </a:r>
            <a:r>
              <a:rPr lang="tr-TR" dirty="0"/>
              <a:t> screen.</a:t>
            </a:r>
          </a:p>
          <a:p>
            <a:r>
              <a:rPr lang="tr-TR" dirty="0">
                <a:solidFill>
                  <a:srgbClr val="0070C0"/>
                </a:solidFill>
              </a:rPr>
              <a:t>print('Hello world!')</a:t>
            </a:r>
          </a:p>
          <a:p>
            <a:r>
              <a:rPr lang="en-US" dirty="0">
                <a:solidFill>
                  <a:srgbClr val="0070C0"/>
                </a:solidFill>
              </a:rPr>
              <a:t>print('What is your name?</a:t>
            </a:r>
            <a:r>
              <a:rPr lang="tr-TR" dirty="0">
                <a:solidFill>
                  <a:srgbClr val="0070C0"/>
                </a:solidFill>
              </a:rPr>
              <a:t>'</a:t>
            </a:r>
            <a:r>
              <a:rPr lang="en-US" dirty="0">
                <a:solidFill>
                  <a:srgbClr val="0070C0"/>
                </a:solidFill>
              </a:rPr>
              <a:t>)</a:t>
            </a:r>
            <a:endParaRPr lang="tr-TR" dirty="0">
              <a:solidFill>
                <a:srgbClr val="0070C0"/>
              </a:solidFill>
            </a:endParaRPr>
          </a:p>
          <a:p>
            <a:r>
              <a:rPr lang="tr-TR" dirty="0"/>
              <a:t>try </a:t>
            </a:r>
            <a:r>
              <a:rPr lang="tr-TR" i="1" dirty="0"/>
              <a:t>print() with </a:t>
            </a:r>
            <a:r>
              <a:rPr lang="en-US" i="1" dirty="0"/>
              <a:t>nothing in between the parentheses.</a:t>
            </a:r>
            <a:endParaRPr lang="tr-TR" i="1" dirty="0"/>
          </a:p>
          <a:p>
            <a:pPr marL="0" indent="0">
              <a:buNone/>
            </a:pPr>
            <a:r>
              <a:rPr lang="tr-TR" b="1" i="1" dirty="0"/>
              <a:t>The input() Function</a:t>
            </a:r>
            <a:endParaRPr lang="tr-TR" i="1" dirty="0"/>
          </a:p>
          <a:p>
            <a:r>
              <a:rPr lang="en-US" dirty="0"/>
              <a:t>waits for the user to type some text on the keyboard</a:t>
            </a:r>
            <a:r>
              <a:rPr lang="tr-TR" dirty="0"/>
              <a:t> and press enter.</a:t>
            </a:r>
          </a:p>
          <a:p>
            <a:r>
              <a:rPr lang="tr-TR" dirty="0">
                <a:solidFill>
                  <a:srgbClr val="0070C0"/>
                </a:solidFill>
              </a:rPr>
              <a:t>myName = input()</a:t>
            </a:r>
          </a:p>
          <a:p>
            <a:pPr marL="0" indent="0">
              <a:buNone/>
            </a:pPr>
            <a:r>
              <a:rPr lang="tr-TR" b="1" i="1" dirty="0"/>
              <a:t>Printing the User’s Name</a:t>
            </a:r>
            <a:endParaRPr lang="tr-TR" dirty="0"/>
          </a:p>
          <a:p>
            <a:r>
              <a:rPr lang="en-US" dirty="0">
                <a:solidFill>
                  <a:srgbClr val="0070C0"/>
                </a:solidFill>
              </a:rPr>
              <a:t>print(</a:t>
            </a:r>
            <a:r>
              <a:rPr lang="en-US" dirty="0" err="1">
                <a:solidFill>
                  <a:srgbClr val="0070C0"/>
                </a:solidFill>
              </a:rPr>
              <a:t>'It</a:t>
            </a:r>
            <a:r>
              <a:rPr lang="en-US" dirty="0">
                <a:solidFill>
                  <a:srgbClr val="0070C0"/>
                </a:solidFill>
              </a:rPr>
              <a:t> is good to meet you, ' + </a:t>
            </a:r>
            <a:r>
              <a:rPr lang="en-US" dirty="0" err="1">
                <a:solidFill>
                  <a:srgbClr val="0070C0"/>
                </a:solidFill>
              </a:rPr>
              <a:t>myName</a:t>
            </a:r>
            <a:r>
              <a:rPr lang="en-US" dirty="0">
                <a:solidFill>
                  <a:srgbClr val="0070C0"/>
                </a:solidFill>
              </a:rPr>
              <a:t>)</a:t>
            </a:r>
            <a:endParaRPr lang="tr-TR" dirty="0">
              <a:solidFill>
                <a:srgbClr val="0070C0"/>
              </a:solidFill>
            </a:endParaRPr>
          </a:p>
          <a:p>
            <a:r>
              <a:rPr lang="en-US" dirty="0"/>
              <a:t>contains the expression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'It</a:t>
            </a:r>
            <a:r>
              <a:rPr lang="en-US" dirty="0">
                <a:solidFill>
                  <a:srgbClr val="0070C0"/>
                </a:solidFill>
              </a:rPr>
              <a:t> is good to</a:t>
            </a:r>
            <a:r>
              <a:rPr lang="tr-TR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meet you, ' + </a:t>
            </a:r>
            <a:r>
              <a:rPr lang="en-US" dirty="0" err="1">
                <a:solidFill>
                  <a:srgbClr val="0070C0"/>
                </a:solidFill>
              </a:rPr>
              <a:t>myName</a:t>
            </a:r>
            <a:r>
              <a:rPr lang="en-US" dirty="0"/>
              <a:t> between the parentheses.</a:t>
            </a:r>
            <a:endParaRPr lang="tr-TR" dirty="0"/>
          </a:p>
          <a:p>
            <a:pPr marL="0" indent="0">
              <a:buNone/>
            </a:pPr>
            <a:r>
              <a:rPr lang="tr-TR" b="1" i="1" dirty="0"/>
              <a:t>The len() Function</a:t>
            </a:r>
            <a:endParaRPr lang="tr-TR" dirty="0"/>
          </a:p>
          <a:p>
            <a:r>
              <a:rPr lang="en-US" dirty="0"/>
              <a:t>the function evaluates to the integer value of the number of</a:t>
            </a:r>
            <a:r>
              <a:rPr lang="tr-TR" dirty="0"/>
              <a:t> characters in that string</a:t>
            </a:r>
          </a:p>
          <a:p>
            <a:r>
              <a:rPr lang="en-US" dirty="0"/>
              <a:t>print('The length of your name is:')</a:t>
            </a:r>
          </a:p>
          <a:p>
            <a:r>
              <a:rPr lang="tr-TR" dirty="0"/>
              <a:t>print(len(myName))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15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Top left image">
            <a:extLst>
              <a:ext uri="{FF2B5EF4-FFF2-40B4-BE49-F238E27FC236}">
                <a16:creationId xmlns:a16="http://schemas.microsoft.com/office/drawing/2014/main" id="{09D613E8-8848-4CCA-946C-52A183E91F7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000" y="922286"/>
            <a:ext cx="4506964" cy="291792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Program Explained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str() </a:t>
            </a:r>
          </a:p>
          <a:p>
            <a:r>
              <a:rPr lang="en-US" dirty="0"/>
              <a:t>int() </a:t>
            </a:r>
            <a:endParaRPr lang="tr-TR" dirty="0"/>
          </a:p>
          <a:p>
            <a:r>
              <a:rPr lang="en-US" dirty="0"/>
              <a:t>float()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3A50-2819-40D9-A42F-D84F47928C9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633045"/>
            <a:ext cx="3980775" cy="5954145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The str()</a:t>
            </a:r>
            <a:r>
              <a:rPr lang="tr-TR" b="1" i="1" dirty="0"/>
              <a:t> Funtion</a:t>
            </a:r>
            <a:endParaRPr lang="tr-TR" dirty="0"/>
          </a:p>
          <a:p>
            <a:r>
              <a:rPr lang="en-US" dirty="0"/>
              <a:t>evaluate </a:t>
            </a:r>
            <a:r>
              <a:rPr lang="tr-TR" dirty="0"/>
              <a:t>string </a:t>
            </a:r>
            <a:r>
              <a:rPr lang="en-US" dirty="0"/>
              <a:t>form of the value</a:t>
            </a:r>
            <a:endParaRPr lang="tr-TR" dirty="0"/>
          </a:p>
          <a:p>
            <a:r>
              <a:rPr lang="tr-TR" dirty="0">
                <a:solidFill>
                  <a:srgbClr val="0070C0"/>
                </a:solidFill>
              </a:rPr>
              <a:t>str(29)</a:t>
            </a:r>
          </a:p>
          <a:p>
            <a:r>
              <a:rPr lang="en-US" dirty="0"/>
              <a:t>get the value '29', which is the string form of 29</a:t>
            </a:r>
            <a:endParaRPr lang="tr-TR" dirty="0"/>
          </a:p>
          <a:p>
            <a:r>
              <a:rPr lang="en-US" dirty="0">
                <a:solidFill>
                  <a:srgbClr val="0070C0"/>
                </a:solidFill>
              </a:rPr>
              <a:t>&gt;&gt;&gt; print('I am ' + str(29) + ' years old.')</a:t>
            </a:r>
          </a:p>
          <a:p>
            <a:r>
              <a:rPr lang="en-US" dirty="0">
                <a:solidFill>
                  <a:srgbClr val="0070C0"/>
                </a:solidFill>
              </a:rPr>
              <a:t>I am 29 years old.</a:t>
            </a:r>
            <a:endParaRPr lang="tr-TR" dirty="0">
              <a:solidFill>
                <a:srgbClr val="0070C0"/>
              </a:solidFill>
            </a:endParaRPr>
          </a:p>
          <a:p>
            <a:r>
              <a:rPr lang="tr-TR" b="1" i="1" dirty="0"/>
              <a:t>The </a:t>
            </a:r>
            <a:r>
              <a:rPr lang="en-US" b="1" i="1" dirty="0"/>
              <a:t>int()</a:t>
            </a:r>
            <a:r>
              <a:rPr lang="tr-TR" b="1" i="1" dirty="0"/>
              <a:t> Function</a:t>
            </a:r>
            <a:endParaRPr lang="tr-TR" dirty="0"/>
          </a:p>
          <a:p>
            <a:r>
              <a:rPr lang="en-US" dirty="0"/>
              <a:t>evaluate integer</a:t>
            </a:r>
            <a:r>
              <a:rPr lang="tr-TR" dirty="0"/>
              <a:t> </a:t>
            </a:r>
            <a:r>
              <a:rPr lang="en-US" dirty="0"/>
              <a:t>form of the value</a:t>
            </a:r>
            <a:r>
              <a:rPr lang="tr-TR" dirty="0"/>
              <a:t>.</a:t>
            </a:r>
          </a:p>
          <a:p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int('42')</a:t>
            </a:r>
          </a:p>
          <a:p>
            <a:r>
              <a:rPr lang="tr-TR" dirty="0">
                <a:solidFill>
                  <a:srgbClr val="0070C0"/>
                </a:solidFill>
              </a:rPr>
              <a:t>42</a:t>
            </a:r>
          </a:p>
          <a:p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int('-99')</a:t>
            </a:r>
          </a:p>
          <a:p>
            <a:r>
              <a:rPr lang="tr-TR" dirty="0">
                <a:solidFill>
                  <a:srgbClr val="0070C0"/>
                </a:solidFill>
              </a:rPr>
              <a:t>-99</a:t>
            </a:r>
          </a:p>
          <a:p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int(1.25)</a:t>
            </a:r>
          </a:p>
          <a:p>
            <a:r>
              <a:rPr lang="tr-TR" dirty="0">
                <a:solidFill>
                  <a:srgbClr val="0070C0"/>
                </a:solidFill>
              </a:rPr>
              <a:t>1</a:t>
            </a:r>
          </a:p>
          <a:p>
            <a:r>
              <a:rPr lang="tr-TR" b="1" i="1" dirty="0"/>
              <a:t>The </a:t>
            </a:r>
            <a:r>
              <a:rPr lang="en-US" b="1" i="1" dirty="0"/>
              <a:t>float() Functions</a:t>
            </a:r>
            <a:endParaRPr lang="tr-TR" dirty="0"/>
          </a:p>
          <a:p>
            <a:r>
              <a:rPr lang="en-US" dirty="0"/>
              <a:t>evaluate floating-point form of the value</a:t>
            </a:r>
            <a:r>
              <a:rPr lang="tr-TR" dirty="0"/>
              <a:t>.</a:t>
            </a:r>
          </a:p>
          <a:p>
            <a:r>
              <a:rPr lang="en-US" dirty="0">
                <a:solidFill>
                  <a:srgbClr val="0070C0"/>
                </a:solidFill>
              </a:rPr>
              <a:t>float('3.14')</a:t>
            </a:r>
          </a:p>
          <a:p>
            <a:r>
              <a:rPr lang="en-US" dirty="0">
                <a:solidFill>
                  <a:srgbClr val="0070C0"/>
                </a:solidFill>
              </a:rPr>
              <a:t>3.14</a:t>
            </a:r>
          </a:p>
          <a:p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float(10)</a:t>
            </a:r>
          </a:p>
          <a:p>
            <a:r>
              <a:rPr lang="en-US" dirty="0">
                <a:solidFill>
                  <a:srgbClr val="0070C0"/>
                </a:solidFill>
              </a:rPr>
              <a:t>10.0</a:t>
            </a:r>
            <a:endParaRPr lang="tr-TR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30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Using int(), float() with input()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4365" y="968679"/>
            <a:ext cx="8504635" cy="276561"/>
          </a:xfrm>
        </p:spPr>
        <p:txBody>
          <a:bodyPr/>
          <a:lstStyle/>
          <a:p>
            <a:r>
              <a:rPr lang="tr-TR" dirty="0"/>
              <a:t>Using int(), float() with input() functions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52067" y="1736993"/>
            <a:ext cx="2106198" cy="648000"/>
          </a:xfrm>
        </p:spPr>
        <p:txBody>
          <a:bodyPr/>
          <a:lstStyle/>
          <a:p>
            <a:r>
              <a:rPr lang="tr-TR" dirty="0"/>
              <a:t>String to Integer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187" y="2553690"/>
            <a:ext cx="2700869" cy="33145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spam = input()</a:t>
            </a:r>
          </a:p>
          <a:p>
            <a:pPr marL="0" indent="0">
              <a:buNone/>
            </a:pPr>
            <a:r>
              <a:rPr lang="en-US" dirty="0"/>
              <a:t>101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spam</a:t>
            </a:r>
          </a:p>
          <a:p>
            <a:pPr marL="0" indent="0">
              <a:buNone/>
            </a:pPr>
            <a:r>
              <a:rPr lang="en-US" dirty="0"/>
              <a:t>'101’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spam = int(spam)</a:t>
            </a:r>
          </a:p>
          <a:p>
            <a:pPr marL="0" indent="0">
              <a:buNone/>
            </a:pPr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spam</a:t>
            </a:r>
          </a:p>
          <a:p>
            <a:pPr marL="0" indent="0">
              <a:buNone/>
            </a:pPr>
            <a:r>
              <a:rPr lang="tr-TR" dirty="0"/>
              <a:t>101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63612" y="1726277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input() returns string</a:t>
            </a:r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9877" y="2564405"/>
            <a:ext cx="2827115" cy="3293114"/>
          </a:xfrm>
        </p:spPr>
        <p:txBody>
          <a:bodyPr/>
          <a:lstStyle/>
          <a:p>
            <a:r>
              <a:rPr lang="en-US" dirty="0"/>
              <a:t>input() function always returns a string</a:t>
            </a:r>
            <a:endParaRPr lang="tr-TR" dirty="0"/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6128130" y="1736993"/>
            <a:ext cx="2156609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Treat as Integer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6128131" y="2553690"/>
            <a:ext cx="2700869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/>
              <a:t>&gt;&gt;&gt; </a:t>
            </a:r>
            <a:r>
              <a:rPr lang="tr-TR" dirty="0">
                <a:solidFill>
                  <a:srgbClr val="0070C0"/>
                </a:solidFill>
              </a:rPr>
              <a:t>spam * 10 / 5</a:t>
            </a:r>
          </a:p>
          <a:p>
            <a:pPr marL="0" indent="0">
              <a:buNone/>
            </a:pPr>
            <a:r>
              <a:rPr lang="tr-TR" dirty="0"/>
              <a:t>202.0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int(7.7)</a:t>
            </a:r>
          </a:p>
          <a:p>
            <a:pPr marL="0" indent="0">
              <a:buNone/>
            </a:pPr>
            <a:r>
              <a:rPr lang="en-US" dirty="0"/>
              <a:t>7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>
                <a:solidFill>
                  <a:srgbClr val="0070C0"/>
                </a:solidFill>
              </a:rPr>
              <a:t>int(7.7) + 1</a:t>
            </a:r>
          </a:p>
          <a:p>
            <a:pPr marL="0" indent="0">
              <a:buNone/>
            </a:pPr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93306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Top left image">
            <a:extLst>
              <a:ext uri="{FF2B5EF4-FFF2-40B4-BE49-F238E27FC236}">
                <a16:creationId xmlns:a16="http://schemas.microsoft.com/office/drawing/2014/main" id="{09D613E8-8848-4CCA-946C-52A183E91F7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000" y="922286"/>
            <a:ext cx="4506964" cy="291792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Self Test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You Got it?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3A50-2819-40D9-A42F-D84F47928C9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11151" y="922286"/>
            <a:ext cx="4017849" cy="4521912"/>
          </a:xfrm>
        </p:spPr>
        <p:txBody>
          <a:bodyPr/>
          <a:lstStyle/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What is expected to happen in following part of the code?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print('What is your age?') # ask for their age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70C0"/>
                </a:solidFill>
              </a:rPr>
              <a:t>myAge</a:t>
            </a:r>
            <a:r>
              <a:rPr lang="en-US" dirty="0">
                <a:solidFill>
                  <a:srgbClr val="0070C0"/>
                </a:solidFill>
              </a:rPr>
              <a:t> = input()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print('You will be ' + </a:t>
            </a:r>
            <a:r>
              <a:rPr lang="en-US" b="1" dirty="0">
                <a:solidFill>
                  <a:srgbClr val="0070C0"/>
                </a:solidFill>
              </a:rPr>
              <a:t>str(int(</a:t>
            </a:r>
            <a:r>
              <a:rPr lang="en-US" b="1" dirty="0" err="1">
                <a:solidFill>
                  <a:srgbClr val="0070C0"/>
                </a:solidFill>
              </a:rPr>
              <a:t>myAge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r>
              <a:rPr lang="en-US" dirty="0">
                <a:solidFill>
                  <a:srgbClr val="0070C0"/>
                </a:solidFill>
              </a:rPr>
              <a:t> + 1) + ' in a year.')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069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What is Python?</a:t>
            </a:r>
          </a:p>
          <a:p>
            <a:pPr marL="0" indent="0">
              <a:buNone/>
            </a:pPr>
            <a:r>
              <a:rPr lang="en-US" dirty="0"/>
              <a:t>Entering Expressions into the Interactive Shell</a:t>
            </a:r>
          </a:p>
          <a:p>
            <a:pPr marL="0" indent="0">
              <a:buNone/>
            </a:pPr>
            <a:r>
              <a:rPr lang="en-US" dirty="0"/>
              <a:t>The Integer, Floating-Point, and String Data Types</a:t>
            </a:r>
          </a:p>
          <a:p>
            <a:pPr marL="0" indent="0">
              <a:buNone/>
            </a:pPr>
            <a:r>
              <a:rPr lang="en-US" dirty="0"/>
              <a:t>String Concatenation and Replication</a:t>
            </a:r>
          </a:p>
          <a:p>
            <a:pPr marL="0" indent="0">
              <a:buNone/>
            </a:pPr>
            <a:r>
              <a:rPr lang="en-US" dirty="0"/>
              <a:t>Storing Values in Variables</a:t>
            </a:r>
          </a:p>
          <a:p>
            <a:pPr marL="0" indent="0">
              <a:buNone/>
            </a:pPr>
            <a:r>
              <a:rPr lang="en-US" dirty="0"/>
              <a:t>Your First Program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Unclarified issues</a:t>
            </a:r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What is the most interesting details in this chapter?</a:t>
            </a:r>
            <a:endParaRPr lang="en-US" dirty="0"/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7" y="5320199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300" y="5320199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0735" y="5237740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lda gölü ile ilgili görsel sonucu">
            <a:extLst>
              <a:ext uri="{FF2B5EF4-FFF2-40B4-BE49-F238E27FC236}">
                <a16:creationId xmlns:a16="http://schemas.microsoft.com/office/drawing/2014/main" id="{67EA542F-B193-4562-9D16-9FEEA1094FF8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7" b="1292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32835" y="2666345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3469" y="3772268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3469" y="4004833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63469" y="4255474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https://cats.iku.edu.tr/portal/site/dcaa62f3-f762-43dc-927a-01a09ae33a15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59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490261-1200-4EC7-95B0-2241EE54AA3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1528</Words>
  <Application>Microsoft Office PowerPoint</Application>
  <PresentationFormat>Ekran Gösterisi (4:3)</PresentationFormat>
  <Paragraphs>375</Paragraphs>
  <Slides>25</Slides>
  <Notes>24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Rockwell</vt:lpstr>
      <vt:lpstr>Times New Roman</vt:lpstr>
      <vt:lpstr>Office Theme</vt:lpstr>
      <vt:lpstr>Chapter 1: Python Basics</vt:lpstr>
      <vt:lpstr>Content</vt:lpstr>
      <vt:lpstr>What is Python</vt:lpstr>
      <vt:lpstr>Chapter-1 Python Basics</vt:lpstr>
      <vt:lpstr>Python Expressions</vt:lpstr>
      <vt:lpstr>Expressions on Python 3.8.0 Shell</vt:lpstr>
      <vt:lpstr>Expressions</vt:lpstr>
      <vt:lpstr>Chapter-1 Python Basics</vt:lpstr>
      <vt:lpstr>Expressions vs Data Types</vt:lpstr>
      <vt:lpstr>String Concatenation</vt:lpstr>
      <vt:lpstr>String Multiplication Operator *</vt:lpstr>
      <vt:lpstr>Chapter-1 Python Basics</vt:lpstr>
      <vt:lpstr>Assignment Statements</vt:lpstr>
      <vt:lpstr>Assignment Statement</vt:lpstr>
      <vt:lpstr>Value of a Variable</vt:lpstr>
      <vt:lpstr>Variable Names</vt:lpstr>
      <vt:lpstr>Case Sensitiveness</vt:lpstr>
      <vt:lpstr>Variable Naming Style</vt:lpstr>
      <vt:lpstr>First Program</vt:lpstr>
      <vt:lpstr>Program Explained</vt:lpstr>
      <vt:lpstr>Program Explained</vt:lpstr>
      <vt:lpstr>Using int(), float() with input()</vt:lpstr>
      <vt:lpstr>Self Test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2020-02-12T16:15:01Z</dcterms:created>
  <dcterms:modified xsi:type="dcterms:W3CDTF">2022-05-20T06:46:19Z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66f6488-6f7b-4340-b880-828136ff7811_Enabled">
    <vt:lpwstr>true</vt:lpwstr>
  </property>
  <property fmtid="{D5CDD505-2E9C-101B-9397-08002B2CF9AE}" pid="4" name="MSIP_Label_c66f6488-6f7b-4340-b880-828136ff7811_SetDate">
    <vt:lpwstr>2021-02-18T23:07:34Z</vt:lpwstr>
  </property>
  <property fmtid="{D5CDD505-2E9C-101B-9397-08002B2CF9AE}" pid="5" name="MSIP_Label_c66f6488-6f7b-4340-b880-828136ff7811_Method">
    <vt:lpwstr>Privileged</vt:lpwstr>
  </property>
  <property fmtid="{D5CDD505-2E9C-101B-9397-08002B2CF9AE}" pid="6" name="MSIP_Label_c66f6488-6f7b-4340-b880-828136ff7811_Name">
    <vt:lpwstr>c66f6488-6f7b-4340-b880-828136ff7811</vt:lpwstr>
  </property>
  <property fmtid="{D5CDD505-2E9C-101B-9397-08002B2CF9AE}" pid="7" name="MSIP_Label_c66f6488-6f7b-4340-b880-828136ff7811_SiteId">
    <vt:lpwstr>832c1bc9-1e43-4f93-a086-708d36b0c95d</vt:lpwstr>
  </property>
  <property fmtid="{D5CDD505-2E9C-101B-9397-08002B2CF9AE}" pid="8" name="MSIP_Label_c66f6488-6f7b-4340-b880-828136ff7811_ActionId">
    <vt:lpwstr>0cb72041-6a39-4b5d-aed0-22a1ecd5113c</vt:lpwstr>
  </property>
  <property fmtid="{D5CDD505-2E9C-101B-9397-08002B2CF9AE}" pid="9" name="MSIP_Label_c66f6488-6f7b-4340-b880-828136ff7811_ContentBits">
    <vt:lpwstr>0</vt:lpwstr>
  </property>
</Properties>
</file>