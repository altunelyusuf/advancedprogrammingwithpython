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width in points</c:v>
                </c:pt>
              </c:strCache>
            </c:strRef>
          </c:tx>
          <c:spPr>
            <a:solidFill>
              <a:srgbClr val="0E7C86"/>
            </a:solidFill>
          </c:spPr>
          <c:cat>
            <c:strRef>
              <c:f>Sheet1!$A$2:$A$4</c:f>
              <c:strCache>
                <c:ptCount val="3"/>
                <c:pt idx="0">
                  <c:v>page 1</c:v>
                </c:pt>
                <c:pt idx="1">
                  <c:v>page 2</c:v>
                </c:pt>
                <c:pt idx="2">
                  <c:v>page 3</c:v>
                </c:pt>
              </c:strCache>
            </c:strRef>
          </c:cat>
          <c:val>
            <c:numRef>
              <c:f>Sheet1!$B$2:$B$4</c:f>
              <c:numCache>
                <c:formatCode>General</c:formatCode>
                <c:ptCount val="3"/>
                <c:pt idx="0">
                  <c:v>100.0</c:v>
                </c:pt>
                <c:pt idx="1">
                  <c:v>200.0</c:v>
                </c:pt>
                <c:pt idx="2">
                  <c:v>300.0</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40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0.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rotation</c:v>
                </c:pt>
              </c:strCache>
            </c:strRef>
          </c:tx>
          <c:spPr>
            <a:solidFill>
              <a:srgbClr val="0E7C86"/>
            </a:solidFill>
          </c:spPr>
          <c:cat>
            <c:strRef>
              <c:f>Sheet1!$A$2:$A$5</c:f>
              <c:strCache>
                <c:ptCount val="4"/>
                <c:pt idx="0">
                  <c:v>rotate(90)</c:v>
                </c:pt>
                <c:pt idx="1">
                  <c:v>rotate(270)</c:v>
                </c:pt>
                <c:pt idx="2">
                  <c:v>rotate(-90)</c:v>
                </c:pt>
                <c:pt idx="3">
                  <c:v>rotate(180)</c:v>
                </c:pt>
              </c:strCache>
            </c:strRef>
          </c:cat>
          <c:val>
            <c:numRef>
              <c:f>Sheet1!$B$2:$B$5</c:f>
              <c:numCache>
                <c:formatCode>General</c:formatCode>
                <c:ptCount val="4"/>
                <c:pt idx="0">
                  <c:v>90</c:v>
                </c:pt>
                <c:pt idx="1">
                  <c:v>360</c:v>
                </c:pt>
                <c:pt idx="2">
                  <c:v>270</c:v>
                </c:pt>
                <c:pt idx="3">
                  <c:v>450</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50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0.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key bits</c:v>
                </c:pt>
              </c:strCache>
            </c:strRef>
          </c:tx>
          <c:spPr>
            <a:solidFill>
              <a:srgbClr val="0E7C86"/>
            </a:solidFill>
          </c:spPr>
          <c:cat>
            <c:strRef>
              <c:f>Sheet1!$A$2:$A$4</c:f>
              <c:strCache>
                <c:ptCount val="3"/>
                <c:pt idx="0">
                  <c:v>None</c:v>
                </c:pt>
                <c:pt idx="1">
                  <c:v>AES-128</c:v>
                </c:pt>
                <c:pt idx="2">
                  <c:v>AES-256</c:v>
                </c:pt>
              </c:strCache>
            </c:strRef>
          </c:cat>
          <c:val>
            <c:numRef>
              <c:f>Sheet1!$B$2:$B$4</c:f>
              <c:numCache>
                <c:formatCode>General</c:formatCode>
                <c:ptCount val="3"/>
                <c:pt idx="0">
                  <c:v>128</c:v>
                </c:pt>
                <c:pt idx="1">
                  <c:v>128</c:v>
                </c:pt>
                <c:pt idx="2">
                  <c:v>256</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words</c:v>
                </c:pt>
              </c:strCache>
            </c:strRef>
          </c:tx>
          <c:spPr>
            <a:solidFill>
              <a:srgbClr val="0E7C86"/>
            </a:solidFill>
          </c:spPr>
          <c:cat>
            <c:strRef>
              <c:f>Sheet1!$A$2:$A$4</c:f>
              <c:strCache>
                <c:ptCount val="3"/>
                <c:pt idx="0">
                  <c:v>Title line</c:v>
                </c:pt>
                <c:pt idx="1">
                  <c:v>First paragraph.</c:v>
                </c:pt>
                <c:pt idx="2">
                  <c:v>Second paragraph.</c:v>
                </c:pt>
              </c:strCache>
            </c:strRef>
          </c:cat>
          <c:val>
            <c:numRef>
              <c:f>Sheet1!$B$2:$B$4</c:f>
              <c:numCache>
                <c:formatCode>General</c:formatCode>
                <c:ptCount val="3"/>
                <c:pt idx="0">
                  <c:v>2</c:v>
                </c:pt>
                <c:pt idx="1">
                  <c:v>2</c:v>
                </c:pt>
                <c:pt idx="2">
                  <c:v>2</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4.0"/>
          <c:min val="0.0"/>
        </c:scaling>
        <c:delete val="0"/>
        <c:axPos val="b"/>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width</c:v>
                </c:pt>
              </c:strCache>
            </c:strRef>
          </c:tx>
          <c:spPr>
            <a:solidFill>
              <a:srgbClr val="0E7C86"/>
            </a:solidFill>
          </c:spPr>
          <c:cat>
            <c:strRef>
              <c:f>Sheet1!$A$2:$A$4</c:f>
              <c:strCache>
                <c:ptCount val="3"/>
                <c:pt idx="0">
                  <c:v>as is</c:v>
                </c:pt>
                <c:pt idx="1">
                  <c:v>1 inch wide</c:v>
                </c:pt>
                <c:pt idx="2">
                  <c:v>2 cm high</c:v>
                </c:pt>
              </c:strCache>
            </c:strRef>
          </c:cat>
          <c:val>
            <c:numRef>
              <c:f>Sheet1!$B$2:$B$4</c:f>
              <c:numCache>
                <c:formatCode>General</c:formatCode>
                <c:ptCount val="3"/>
                <c:pt idx="0">
                  <c:v>0.83</c:v>
                </c:pt>
                <c:pt idx="1">
                  <c:v>1.0</c:v>
                </c:pt>
                <c:pt idx="2">
                  <c:v>0.59</c:v>
                </c:pt>
              </c:numCache>
            </c:numRef>
          </c:val>
        </c:ser>
        <c:ser>
          <c:idx val="1"/>
          <c:order val="1"/>
          <c:tx>
            <c:strRef>
              <c:f>Sheet1!$C$1</c:f>
              <c:strCache>
                <c:ptCount val="1"/>
                <c:pt idx="0">
                  <c:v>height</c:v>
                </c:pt>
              </c:strCache>
            </c:strRef>
          </c:tx>
          <c:spPr>
            <a:solidFill>
              <a:srgbClr val="B7791F"/>
            </a:solidFill>
          </c:spPr>
          <c:cat>
            <c:strRef>
              <c:f>Sheet1!$A$2:$A$4</c:f>
              <c:strCache>
                <c:ptCount val="3"/>
                <c:pt idx="0">
                  <c:v>as is</c:v>
                </c:pt>
                <c:pt idx="1">
                  <c:v>1 inch wide</c:v>
                </c:pt>
                <c:pt idx="2">
                  <c:v>2 cm high</c:v>
                </c:pt>
              </c:strCache>
            </c:strRef>
          </c:cat>
          <c:val>
            <c:numRef>
              <c:f>Sheet1!$C$2:$C$4</c:f>
              <c:numCache>
                <c:formatCode>General</c:formatCode>
                <c:ptCount val="3"/>
                <c:pt idx="0">
                  <c:v>1.11</c:v>
                </c:pt>
                <c:pt idx="1">
                  <c:v>1.33</c:v>
                </c:pt>
                <c:pt idx="2">
                  <c:v>0.79</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Part 1</c:v>
                </c:pt>
                <c:pt idx="1">
                  <c:v>Part 2</c:v>
                </c:pt>
                <c:pt idx="2">
                  <c:v>Part 3</c:v>
                </c:pt>
                <c:pt idx="3">
                  <c:v>Part 4</c:v>
                </c:pt>
                <c:pt idx="4">
                  <c:v>Part 5</c:v>
                </c:pt>
              </c:strCache>
            </c:strRef>
          </c:cat>
          <c:val>
            <c:numRef>
              <c:f>Sheet1!$B$2:$B$6</c:f>
              <c:numCache>
                <c:formatCode>General</c:formatCode>
                <c:ptCount val="5"/>
                <c:pt idx="0">
                  <c:v>5</c:v>
                </c:pt>
                <c:pt idx="1">
                  <c:v>9</c:v>
                </c:pt>
                <c:pt idx="2">
                  <c:v>6</c:v>
                </c:pt>
                <c:pt idx="3">
                  <c:v>4</c:v>
                </c:pt>
                <c:pt idx="4">
                  <c:v>4</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Chapter 17 reads and writes PDF and Word files with pypdf and python-docx. Every example builds its own files in memory or in a temporary folder, and the same examples stand in the chapter-code tab of the page,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Part one is what a PDF holds. Part two builds new PDFs from pages. Parts three and four are Word files, reading and writing. Part five is the three practice programs and Project 12. The table gives the slides of each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What can a program do with a PDF or a Word file, and what can it not recover? And which statements of the book differ in current pypdf and python-docx? The last slides answer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PDF is a page description: drawing commands, numbered objects and a table at the end. Text comes out in drawing order, a scan has no text, and a black box hides nothing.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printed photograph of a page carries the look but not the sentences. pypdf is scissors and glue. A reader looks at the sheets; the lock sign is is_encrypted. The notepad in your pocket is a file in memory.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John Warnock outlined Camelot in the spring of 1991. The photograph shows him in 2008. A PDF is a page description made to look the same everywhere; chapter 17 reads and rewrites exactly such files.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travels inside the code as compressed text. Unpacked, it is a file that begins with a version line, holds numbered objects, and ends with a table whose position the last lines name. PdfReader follows that table to the pages.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Pages are blank here so that they can be told apart by width. pages is a list, counted from zero. The media box gives a page's size in points. is_encrypted says whether a password is needed.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PDF stores drawing commands. Page one draws world before Hello, so stream order gives worldHello; layout mode sorts by position. Page two draws a black box over text: the text is still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extraction is tracing letters in the order they were drawn. The shoebox holds the pictures of a page. Post-processing tidies the rough result; the chapter hands that to a language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Extracted text often needs mending: a ligature, a hyphen at a line end, line breaks inside sentences. Three regular expressions do it. The chapter lets a language model do it; this example only builds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scanned page is a picture with no text: extract_text gives an empty string and images lists the picture. The loop writes each image's bytes to a file, as the chapter's image script does.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PDF 1.7 became ISO 32000-1 in July 2008. The photograph shows the Adobe headquarters towers in San Jose. The standard describes the pieces of the first example: header, objects, table, trailer.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A PdfWriter is an empty binder. Append and merge copy pages in, rotate turns them, merge_page stamps one on another, encrypt locks the file, and Project 12 combines many files.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writer is an empty binder. Append clips sheets at the end, merge slips them in, and blank pages separate chapters. A rotation turns a sheet by quarter turns.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width of a page tells which page it was. A tuple is a range with a start, a stop and a step; a list names pages exactly. So (0, 5) copies pages one to five, and [0, 5] copies pages one and six.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 puts another file's pages inside this one at an index. Write pages= by name: the third position is a bookmark title, and a tuple there is wrong. insert_blank_page copies the size of the page before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rotate adds the angle to the total already there, and the total is not wrapped at 360. Only multiples of 90 are accepted; anything else raises a ValueError.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Rotation adds up. A watermark is a stamp, an overlay a see-through sheet, and merge_page lays one sheet on another. Encrypt snaps the padlock shut; decrypt tries a key.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merge_page lays the stamp page on the base page. The page then draws both pictures, the later one on top. Without Pillow the images list would not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 locks the file; a reader opens it but refuses its pages until decrypt matches. decrypt answers with a PasswordType. When one password is given it serves as both user and owner password.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file can have two keys: the guest key reads, the owner key sets the rules. decrypt reports which key fitted. Project 12 has three steps: find the files, open each, save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passwords give two answers. The user password opens the file; the owner password also controls what the file allows. decrypt reports which one fitted: USER_PASSWORD, OWNER_PASSWORD or NOT_DECRYPTED.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records its lock. The default algorithm is the old RC4: version 2, revision 3, 128-bit key. AES-128 records 4 and 4, AES-256 records 5 and 6 with a 256-bit key. AES needs the cryptography package.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folder program is a mail sorter. os names the building, listdir looks at one shelf, walk visits all of them. Sort the names before binding. Similar programs follow the same plan.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12, step one: find the PDF files and sort them. lower() lets the test see c.PDF too, and sorting ignores case. The files are empty because only their names matter 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12, steps two and three: open each PDF, copy every page but the first, save. The chapter's loop uses a name that does not exist; the list is pdf_filenames. A second run would also read combined.pdf.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.docx file is a ZIP of XML. A document holds paragraphs, a paragraph holds runs, and styles must fit the object and match by exact name.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file is a recipe box. The Document is the box, a Paragraph is a card, a Run is a stretch of words in one pen. Install python-docx, import docx. readDocx joins the cards.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ZIP dates from 14 February 1989. The photograph shows a PKZIP floppy disk. Every .docx file is a ZIP archive of XML parts, which is why the zipfile module can open 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.docx file begins with PK because it is a ZIP archive. It holds seventeen parts; the text is in word/document.xml, inside paragraph, run and text tags.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document holds paragraphs, a paragraph holds runs. A table's text is not in the paragraphs list; it is in tables. The same holds for headers.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readDocx idea: open the file, join each paragraph's text with a line break. Document accepts a file name or a file object.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Paragraphs are the cards in order; runs are the places where the pen changes. A paragraph style rules a card, a character style a few words. A style name must match exactly.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paragraph takes a paragraph style, a run a character style. Quote is the first, Quote Char the second. A new document holds 164 styles; the chapter prints 34.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kind must fit the object: a character style on a paragraph raises ValueError. The name must match exactly: a trailing space raises KeyError, as the book's printed list would.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Bold, italic and underline are switches with three positions: on, off, and follow the style. The next slide shows all three states.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Bold, italic and underline are real attributes of a run. True, False and None are three states. Strike is not: set it and nothing happens; use run.font.strike.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format of .docx files is a published standard: Ecma first, ISO in 2008. Office 2007 made it the default. The photograph shows Office 2007 boxes on a shop shelf, not the committees. A standard is why python-docx can write files Word opens.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Writing a Word file: paragraphs and runs, headings from level 0 to 9, line and page breaks, and pictures sized by width or height.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is filling a new box. add_paragraph adds a card, add_run more words on it, add_heading a title. A break is a mark inside a run, a page break is a tear line.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add_paragraph returns the new Paragraph and add_run the new Run. Save, open again, and the two runs kept their text.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add_heading takes levels 0 to 9: level 0 is the Title style. Level 10 raises a ValueError. The chapter's text says 0 to 4 in one place and 1 to 9 in another.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line break is an item inside a run; a page break is added by add_page_break. Counting tags in the XML shows what was written.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picture is pinned to a card. Give a width or a height and the other follows. Inches and Cm are the rulers, and they come from docx.shared.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picture's size is stored in EMU, 914400 to the inch. Give width or height and the other follows from the picture's shape.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packages share the import name docx. Only python-docx is maintained. Install python-docx and write import docx. The picture is a screenshot of the Python Package Index home page from December 2007.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The practice programs: PDF Paranoia, Custom Invitations and the Password Breaker. Each runs on small stand-in data, and each shows a limit of the method.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practice programs. PDF Paranoia is a vault, Custom Invitations a card printer, the Password Breaker a locksmith with a list. Brute force grows with the size of the list.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PDF Paranoia, part one: os.walk visits every folder of a tree. Each name that ends in .pdf, in any case, becomes a full path. The tree here holds empty files; only the names matter.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PDF Paranoia, part two: copy the PDF, lock the copy with AES-256, test it with the password, and only then remove the original. Real use never passes the password on the command line.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Invitations: one card per guest, the name in a big built-in style, a page break after every card but the last. Three guests need two page breaks.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Password Breaker tries every word in two cases until decrypt stops answering NOT_DECRYPTED. Four words give at most eight attempts; a long random password is in no dictionary.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calls of the chapter in one table, each with its code slide. Reads change nothing; writes make a new file; locks need the cryptography package.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differs from the book today, from the chapter research. Run the book's lines first; then compare with these rows. Each row names the slide that shows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A PDF is a page description. pypdf copies, turns, stamps and locks pages. A .docx file is ZIP and XML. Styles fit the object. Passwords are only as strong as their length.</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 first, then run what you can on the chapter page. Each question points to a slide.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to read and watch next: the chapter, the two packages' documentation, the PDF and Office standards, and the pages behind the stories.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en.wikipedia.org/wiki/John_Warnoc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www.loc.gov/preservation/digital/formats/fdd/fdd000277.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hyperlink" Target="https://en.wikipedia.org/wiki/ZIP_(file_forma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chart" Target="../charts/char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hyperlink" Target="https://en.wikipedia.org/wiki/Office_Open_X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chart" Target="../charts/char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hyperlink" Target="https://pypi.org/project/docx/"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chart" Target="../charts/char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hyperlink" Target="https://automatetheboringstuff.com/3e/chapter17.html" TargetMode="External"/><Relationship Id="rId4" Type="http://schemas.openxmlformats.org/officeDocument/2006/relationships/hyperlink" Target="https://pypdf.readthedocs.io/en/stable/" TargetMode="External"/><Relationship Id="rId5" Type="http://schemas.openxmlformats.org/officeDocument/2006/relationships/hyperlink" Target="https://pypdf.readthedocs.io/en/stable/user/extract-text.html" TargetMode="External"/><Relationship Id="rId6" Type="http://schemas.openxmlformats.org/officeDocument/2006/relationships/hyperlink" Target="https://pypdf.readthedocs.io/en/stable/user/merging-pdfs.html" TargetMode="External"/><Relationship Id="rId7" Type="http://schemas.openxmlformats.org/officeDocument/2006/relationships/hyperlink" Target="https://pypdf.readthedocs.io/en/stable/user/encryption-decryption.html" TargetMode="External"/><Relationship Id="rId8" Type="http://schemas.openxmlformats.org/officeDocument/2006/relationships/hyperlink" Target="https://pypdf.readthedocs.io/en/stable/user/add-watermark.html" TargetMode="External"/><Relationship Id="rId9" Type="http://schemas.openxmlformats.org/officeDocument/2006/relationships/hyperlink" Target="https://pypdf.readthedocs.io/en/stable/meta/history.html" TargetMode="External"/><Relationship Id="rId10" Type="http://schemas.openxmlformats.org/officeDocument/2006/relationships/hyperlink" Target="https://python-docx.readthedocs.io/en/latest/" TargetMode="External"/><Relationship Id="rId11" Type="http://schemas.openxmlformats.org/officeDocument/2006/relationships/hyperlink" Target="https://python-docx.readthedocs.io/en/latest/user/styles-using.html" TargetMode="External"/><Relationship Id="rId12" Type="http://schemas.openxmlformats.org/officeDocument/2006/relationships/hyperlink" Target="https://python-docx.readthedocs.io/en/latest/user/quickstart.html" TargetMode="External"/><Relationship Id="rId13" Type="http://schemas.openxmlformats.org/officeDocument/2006/relationships/hyperlink" Target="https://www.loc.gov/preservation/digital/formats/fdd/fdd000277.shtml" TargetMode="External"/><Relationship Id="rId14" Type="http://schemas.openxmlformats.org/officeDocument/2006/relationships/hyperlink" Target="https://www.loc.gov/preservation/digital/formats/fdd/fdd000397.shtml" TargetMode="External"/><Relationship Id="rId15" Type="http://schemas.openxmlformats.org/officeDocument/2006/relationships/hyperlink" Target="https://docs.python.org/3/library/zipfile.html" TargetMode="External"/><Relationship Id="rId16" Type="http://schemas.openxmlformats.org/officeDocument/2006/relationships/hyperlink" Target="https://en.wikipedia.org/wiki/John_Warnoc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PDF and Word Documents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17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28</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5</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84</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58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862469"/>
                <a:gridCol w="894521"/>
                <a:gridCol w="1073426"/>
                <a:gridCol w="3399182"/>
              </a:tblGrid>
              <a:tr h="502920">
                <a:tc>
                  <a:txBody>
                    <a:bodyPr wrap="square"/>
                    <a:lstStyle/>
                    <a:p>
                      <a:r>
                        <a:rPr sz="12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250" b="1" i="0">
                          <a:solidFill>
                            <a:srgbClr val="1F2933"/>
                          </a:solidFill>
                          <a:latin typeface="Calibri"/>
                        </a:rPr>
                        <a:t>What a PDF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4 - 13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small PDF, reader, text, mending, images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New PDFs from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14 - 27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page copies, merge, rotate, stamp, locks, Project 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250" b="1" i="0">
                          <a:solidFill>
                            <a:srgbClr val="1F2933"/>
                          </a:solidFill>
                          <a:latin typeface="Calibri"/>
                        </a:rPr>
                        <a:t>Reading Word documents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28 - 39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ZIP and XML, runs, full text, styles, attributes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Writing Word documents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40 - 47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write, headings, breaks, pictures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250" b="1" i="0">
                          <a:solidFill>
                            <a:srgbClr val="1F2933"/>
                          </a:solidFill>
                          <a:latin typeface="Calibri"/>
                        </a:rPr>
                        <a:t>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48 - 53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PDF Paranoia, invitations, password breaker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Tools, 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54 - 58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which call does what, and what differs 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28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58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What can a program do with a PDF or a Word file, and what can it not recover from them?</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54: the calls, and what each one needs.</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programs and statements of the book differ in current pypdf and python-docx?</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55: the changes, from the chapter research.</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page description can be copied and locked; lost structure cannot be recovered.</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58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1: What a PDF holds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page description: objects, a table, drawing commands, pictures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PdfReader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Opens a PDF and lists its pages.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extract_text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Returns the words in drawing order.</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images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Lists the pictures that a page holds.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Post-processing</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Mends extracted text before it is used.</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2004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0040">
                <a:tc>
                  <a:txBody>
                    <a:bodyPr wrap="square"/>
                    <a:lstStyle/>
                    <a:p>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a PDF and its reader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A 1991 memo called Camelot started...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Inside a small PDF: header, objects, tabl...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PdfReader: pages, their size and whether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Extracting text: what comes out, and what...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text and images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Post-processing: mend the text before any...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Extracting images: a scanned page is a 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In July 2008 PDF became an interna...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58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 PDF and its reader</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PDF is like a printed photo of a page; the look is kept, the sentences are not.</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PDF Documents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printed photo of a page: it looks the same on every screen, but the words are no longer sentences you can 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One printed page kept as a file, with the look of the paper.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pypdf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pair of scissors, glue and a paper clip for PDF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PdfReader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reader at a library desk: it opens the book and looks at its pages, and writes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Page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One sheet taken out of the book, so that you can turn it, stamp it or copy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numbered sheets in the binder, counted from zero.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is_encrypted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lock sign on the binder: look at it before you try to open the binder.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io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notepad in your pocket: a file that lives in memory and never goes into the cabinet.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 1991 memo called Camelot started the PDF</a:t>
            </a:r>
          </a:p>
        </p:txBody>
      </p:sp>
      <p:pic>
        <p:nvPicPr>
          <p:cNvPr id="4" name="photo warnock" descr="Picture for the story: A 1991 memo called Camelot started the PDF"/>
          <p:cNvPicPr>
            <a:picLocks noChangeAspect="1"/>
          </p:cNvPicPr>
          <p:nvPr/>
        </p:nvPicPr>
        <p:blipFill>
          <a:blip r:embed="rId3"/>
          <a:stretch>
            <a:fillRect/>
          </a:stretch>
        </p:blipFill>
        <p:spPr>
          <a:xfrm>
            <a:off x="366568" y="868680"/>
            <a:ext cx="2650143"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John Warnock. Photo: Marvalous, CC BY-SA 3.0,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John Warnock, co-founder of Adobe Systems.</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He outlined a system called Camelot, which began the Portable Document Format, PDF.</a:t>
            </a:r>
          </a:p>
        </p:txBody>
      </p:sp>
      <p:sp>
        <p:nvSpPr>
          <p:cNvPr id="10" name="card"/>
          <p:cNvSpPr/>
          <p:nvPr/>
        </p:nvSpPr>
        <p:spPr>
          <a:xfrm>
            <a:off x="3200400" y="18745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In the spring of 1991; the first Acrobat was released on 15 June 1993.</a:t>
            </a:r>
          </a:p>
        </p:txBody>
      </p:sp>
      <p:sp>
        <p:nvSpPr>
          <p:cNvPr id="12" name="card"/>
          <p:cNvSpPr/>
          <p:nvPr/>
        </p:nvSpPr>
        <p:spPr>
          <a:xfrm>
            <a:off x="3200400" y="24414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At Adobe Systems, in a design document.</a:t>
            </a:r>
          </a:p>
        </p:txBody>
      </p:sp>
      <p:sp>
        <p:nvSpPr>
          <p:cNvPr id="14" name="card"/>
          <p:cNvSpPr/>
          <p:nvPr/>
        </p:nvSpPr>
        <p:spPr>
          <a:xfrm>
            <a:off x="3200400" y="29077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9077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The goal: capture documents from any application, send them anywhere, and view and print them on any machine.</a:t>
            </a:r>
          </a:p>
        </p:txBody>
      </p:sp>
      <p:sp>
        <p:nvSpPr>
          <p:cNvPr id="16" name="card"/>
          <p:cNvSpPr/>
          <p:nvPr/>
        </p:nvSpPr>
        <p:spPr>
          <a:xfrm>
            <a:off x="3200400" y="34747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747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A PDF stores each page as drawing commands with a table at the end, so a page looks the same everywhere.</a:t>
            </a:r>
          </a:p>
        </p:txBody>
      </p:sp>
      <p:sp>
        <p:nvSpPr>
          <p:cNvPr id="18" name="read"/>
          <p:cNvSpPr txBox="1"/>
          <p:nvPr/>
        </p:nvSpPr>
        <p:spPr>
          <a:xfrm>
            <a:off x="3200400" y="4059936"/>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John Warnock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58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Inside a small PDF: header, objects, table, trailer</a:t>
            </a:r>
          </a:p>
        </p:txBody>
      </p:sp>
      <p:sp>
        <p:nvSpPr>
          <p:cNvPr id="4" name="code"/>
          <p:cNvSpPr/>
          <p:nvPr/>
        </p:nvSpPr>
        <p:spPr>
          <a:xfrm>
            <a:off x="365760" y="786384"/>
            <a:ext cx="5468112" cy="139217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base64</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zlib</a:t>
            </a:r>
          </a:p>
          <a:p>
            <a:pPr algn="l"/>
            <a:r>
              <a:rPr sz="900" b="0" i="0">
                <a:solidFill>
                  <a:srgbClr val="8FA3B8"/>
                </a:solidFill>
                <a:latin typeface="Courier New"/>
              </a:rPr>
              <a:t>&gt;&gt;&gt; </a:t>
            </a:r>
            <a:r>
              <a:rPr sz="900" b="0" i="0">
                <a:solidFill>
                  <a:srgbClr val="E6EDF3"/>
                </a:solidFill>
                <a:latin typeface="Courier New"/>
              </a:rPr>
              <a:t>blob</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'eNq1kF9PgzAUxd/5FPdliT5oW6DAzMLD/sVEjcvAp2UP3SjIgtS0nW5+etsNRx'</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'BfLUlJT8+95/46WEznN+TWdwhgEJudMxqh9PjO0YRpVokCLVjBFbjmdhnHDq8z'</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'a3J/mU8m9FBmauVbJwR2X6OJ2Nca3LbQ+1U4F7VGyX6j7cEqBI2Z4if5nlcfXJ'</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'db1pb7f+SaTXKbYiPRE89KNhaHFTZHD2OI8BotuRJ7ueXK1NnW9kfAOzPFsRmz'</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'1qaFAtrFpG3cI68L/QqhZVFacvbmjFOwbUgEaQ6EYvAxpBlcfQpZZdeQ7mCWQs'</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'fkXjyGrRKNx6Y1LZvc4J8xwy5m2MekfUy/S5CwisnjHRAXmwUvyfQHGZ8+WZg3'</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'MaOB69oJQXLI+6QHyXPHTO/gy4KAUo9CDq02hPNN3WrU72mEkL4W9n1uRHuaj/'</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'saJUGracnKikv7Rkn5xSFCSyE0kOYllWZSn2ACb+gMBrPnufMNU9nkUQ=='</a:t>
            </a:r>
            <a:r>
              <a:rPr sz="900" b="0" i="0">
                <a:solidFill>
                  <a:srgbClr val="E6EDF3"/>
                </a:solidFill>
                <a:latin typeface="Courier New"/>
              </a:rPr>
              <a:t>)</a:t>
            </a:r>
          </a:p>
        </p:txBody>
      </p:sp>
      <p:sp>
        <p:nvSpPr>
          <p:cNvPr id="5" name="explanation"/>
          <p:cNvSpPr txBox="1"/>
          <p:nvPr/>
        </p:nvSpPr>
        <p:spPr>
          <a:xfrm>
            <a:off x="5815584" y="786384"/>
            <a:ext cx="2962655" cy="1392174"/>
          </a:xfrm>
          <a:prstGeom prst="rect">
            <a:avLst/>
          </a:prstGeom>
          <a:noFill/>
        </p:spPr>
        <p:txBody>
          <a:bodyPr wrap="square" lIns="128016" rIns="128016" tIns="18288" bIns="18288" anchor="ctr">
            <a:spAutoFit/>
          </a:bodyPr>
          <a:lstStyle/>
          <a:p>
            <a:r>
              <a:rPr sz="1100" b="0" i="0">
                <a:solidFill>
                  <a:srgbClr val="1F2933"/>
                </a:solidFill>
                <a:latin typeface="Calibri"/>
              </a:rPr>
              <a:t>A two-page PDF squeezed into text so that it fits a slide; the book's sample files are not needed.</a:t>
            </a:r>
          </a:p>
        </p:txBody>
      </p:sp>
      <p:sp>
        <p:nvSpPr>
          <p:cNvPr id="6" name="code"/>
          <p:cNvSpPr/>
          <p:nvPr/>
        </p:nvSpPr>
        <p:spPr>
          <a:xfrm>
            <a:off x="365760" y="2224278"/>
            <a:ext cx="5468112"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data</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zlib</a:t>
            </a:r>
            <a:r>
              <a:rPr sz="900" b="0" i="0">
                <a:solidFill>
                  <a:srgbClr val="E6EDF3"/>
                </a:solidFill>
                <a:latin typeface="Courier New"/>
              </a:rPr>
              <a:t>.</a:t>
            </a:r>
            <a:r>
              <a:rPr sz="900" b="0" i="0">
                <a:solidFill>
                  <a:srgbClr val="E6EDF3"/>
                </a:solidFill>
                <a:latin typeface="Courier New"/>
              </a:rPr>
              <a:t>decompress</a:t>
            </a:r>
            <a:r>
              <a:rPr sz="900" b="0" i="0">
                <a:solidFill>
                  <a:srgbClr val="E6EDF3"/>
                </a:solidFill>
                <a:latin typeface="Courier New"/>
              </a:rPr>
              <a:t>(</a:t>
            </a:r>
            <a:r>
              <a:rPr sz="900" b="0" i="0">
                <a:solidFill>
                  <a:srgbClr val="E6EDF3"/>
                </a:solidFill>
                <a:latin typeface="Courier New"/>
              </a:rPr>
              <a:t>base64</a:t>
            </a:r>
            <a:r>
              <a:rPr sz="900" b="0" i="0">
                <a:solidFill>
                  <a:srgbClr val="E6EDF3"/>
                </a:solidFill>
                <a:latin typeface="Courier New"/>
              </a:rPr>
              <a:t>.</a:t>
            </a:r>
            <a:r>
              <a:rPr sz="900" b="0" i="0">
                <a:solidFill>
                  <a:srgbClr val="E6EDF3"/>
                </a:solidFill>
                <a:latin typeface="Courier New"/>
              </a:rPr>
              <a:t>b64decode</a:t>
            </a:r>
            <a:r>
              <a:rPr sz="900" b="0" i="0">
                <a:solidFill>
                  <a:srgbClr val="E6EDF3"/>
                </a:solidFill>
                <a:latin typeface="Courier New"/>
              </a:rPr>
              <a:t>(</a:t>
            </a:r>
            <a:r>
              <a:rPr sz="900" b="0" i="0">
                <a:solidFill>
                  <a:srgbClr val="E6EDF3"/>
                </a:solidFill>
                <a:latin typeface="Courier New"/>
              </a:rPr>
              <a:t>blob</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8</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rstrip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endswith</a:t>
            </a:r>
            <a:r>
              <a:rPr sz="900" b="0" i="0">
                <a:solidFill>
                  <a:srgbClr val="E6EDF3"/>
                </a:solidFill>
                <a:latin typeface="Courier New"/>
              </a:rPr>
              <a:t>(</a:t>
            </a:r>
            <a:r>
              <a:rPr sz="900" b="0" i="0">
                <a:solidFill>
                  <a:srgbClr val="E6EDF3"/>
                </a:solidFill>
                <a:latin typeface="Courier New"/>
              </a:rPr>
              <a:t>b</a:t>
            </a:r>
            <a:r>
              <a:rPr sz="900" b="0" i="0">
                <a:solidFill>
                  <a:srgbClr val="9BE3A8"/>
                </a:solidFill>
                <a:latin typeface="Courier New"/>
              </a:rPr>
              <a:t>'%%EOF'</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text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decode</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start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text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'startxref'</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a:t>
            </a:r>
            <a:r>
              <a:rPr sz="900" b="0" i="0">
                <a:solidFill>
                  <a:srgbClr val="E6EDF3"/>
                </a:solidFill>
                <a:latin typeface="Courier New"/>
              </a:rPr>
              <a:t>count</a:t>
            </a:r>
            <a:r>
              <a:rPr sz="900" b="0" i="0">
                <a:solidFill>
                  <a:srgbClr val="E6EDF3"/>
                </a:solidFill>
                <a:latin typeface="Courier New"/>
              </a:rPr>
              <a:t>(</a:t>
            </a:r>
            <a:r>
              <a:rPr sz="900" b="0" i="0">
                <a:solidFill>
                  <a:srgbClr val="9BE3A8"/>
                </a:solidFill>
                <a:latin typeface="Courier New"/>
              </a:rPr>
              <a:t>' obj'</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'objects; table at byte'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start</a:t>
            </a:r>
            <a:r>
              <a:rPr sz="900" b="0" i="0">
                <a:solidFill>
                  <a:srgbClr val="E6EDF3"/>
                </a:solidFill>
                <a:latin typeface="Courier New"/>
              </a:rPr>
              <a:t>)</a:t>
            </a:r>
          </a:p>
        </p:txBody>
      </p:sp>
      <p:sp>
        <p:nvSpPr>
          <p:cNvPr id="7" name="explanation"/>
          <p:cNvSpPr txBox="1"/>
          <p:nvPr/>
        </p:nvSpPr>
        <p:spPr>
          <a:xfrm>
            <a:off x="5815584" y="2224278"/>
            <a:ext cx="2962655" cy="834390"/>
          </a:xfrm>
          <a:prstGeom prst="rect">
            <a:avLst/>
          </a:prstGeom>
          <a:noFill/>
        </p:spPr>
        <p:txBody>
          <a:bodyPr wrap="square" lIns="128016" rIns="128016" tIns="18288" bIns="18288" anchor="ctr">
            <a:spAutoFit/>
          </a:bodyPr>
          <a:lstStyle/>
          <a:p>
            <a:r>
              <a:rPr sz="1100" b="0" i="0">
                <a:solidFill>
                  <a:srgbClr val="1F2933"/>
                </a:solidFill>
                <a:latin typeface="Calibri"/>
              </a:rPr>
              <a:t>The file starts with a version line, ends with an EOF marker, and startxref names the byte where the table begins.</a:t>
            </a:r>
          </a:p>
        </p:txBody>
      </p:sp>
      <p:sp>
        <p:nvSpPr>
          <p:cNvPr id="8" name="result label"/>
          <p:cNvSpPr txBox="1"/>
          <p:nvPr/>
        </p:nvSpPr>
        <p:spPr>
          <a:xfrm>
            <a:off x="365760" y="3113532"/>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406139"/>
            <a:ext cx="1325880" cy="56692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header</a:t>
            </a:r>
          </a:p>
          <a:p>
            <a:pPr algn="ctr"/>
            <a:r>
              <a:rPr sz="950" b="0" i="0">
                <a:solidFill>
                  <a:srgbClr val="1F2933"/>
                </a:solidFill>
                <a:latin typeface="Calibri"/>
              </a:rPr>
              <a:t>%PDF-1.4</a:t>
            </a:r>
          </a:p>
        </p:txBody>
      </p:sp>
      <p:sp>
        <p:nvSpPr>
          <p:cNvPr id="10" name="Rounded Rectangle 9"/>
          <p:cNvSpPr/>
          <p:nvPr/>
        </p:nvSpPr>
        <p:spPr>
          <a:xfrm>
            <a:off x="1813559" y="3406139"/>
            <a:ext cx="283464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7 numbered objects</a:t>
            </a:r>
          </a:p>
          <a:p>
            <a:pPr algn="ctr"/>
            <a:r>
              <a:rPr sz="950" b="0" i="0">
                <a:solidFill>
                  <a:srgbClr val="1F2933"/>
                </a:solidFill>
                <a:latin typeface="Calibri"/>
              </a:rPr>
              <a:t>catalog, pages, font, 2 pages, 2 streams</a:t>
            </a:r>
          </a:p>
        </p:txBody>
      </p:sp>
      <p:sp>
        <p:nvSpPr>
          <p:cNvPr id="11" name="Rounded Rectangle 10"/>
          <p:cNvSpPr/>
          <p:nvPr/>
        </p:nvSpPr>
        <p:spPr>
          <a:xfrm>
            <a:off x="4770119" y="3406139"/>
            <a:ext cx="2057400" cy="56692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cross-reference table</a:t>
            </a:r>
          </a:p>
          <a:p>
            <a:pPr algn="ctr"/>
            <a:r>
              <a:rPr sz="950" b="0" i="0">
                <a:solidFill>
                  <a:srgbClr val="1F2933"/>
                </a:solidFill>
                <a:latin typeface="Calibri"/>
              </a:rPr>
              <a:t>begins at byte 639</a:t>
            </a:r>
          </a:p>
        </p:txBody>
      </p:sp>
      <p:sp>
        <p:nvSpPr>
          <p:cNvPr id="12" name="Rounded Rectangle 11"/>
          <p:cNvSpPr/>
          <p:nvPr/>
        </p:nvSpPr>
        <p:spPr>
          <a:xfrm>
            <a:off x="6949439" y="3406139"/>
            <a:ext cx="1828800" cy="56692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trailer</a:t>
            </a:r>
          </a:p>
          <a:p>
            <a:pPr algn="ctr"/>
            <a:r>
              <a:rPr sz="950" b="0" i="0">
                <a:solidFill>
                  <a:srgbClr val="1F2933"/>
                </a:solidFill>
                <a:latin typeface="Calibri"/>
              </a:rPr>
              <a:t>startxref 639, then %%EOF</a:t>
            </a:r>
          </a:p>
        </p:txBody>
      </p:sp>
      <p:cxnSp>
        <p:nvCxnSpPr>
          <p:cNvPr id="13" name="Connector 12"/>
          <p:cNvCxnSpPr/>
          <p:nvPr/>
        </p:nvCxnSpPr>
        <p:spPr>
          <a:xfrm>
            <a:off x="7863839" y="3973068"/>
            <a:ext cx="0" cy="256032"/>
          </a:xfrm>
          <a:prstGeom prst="line">
            <a:avLst/>
          </a:prstGeom>
          <a:ln w="19050">
            <a:solidFill>
              <a:srgbClr val="B83A1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844539" y="4229100"/>
            <a:ext cx="2019300" cy="0"/>
          </a:xfrm>
          <a:prstGeom prst="line">
            <a:avLst/>
          </a:prstGeom>
          <a:ln w="19050">
            <a:solidFill>
              <a:srgbClr val="B83A1B"/>
            </a:solidFill>
          </a:ln>
        </p:spPr>
        <p:style>
          <a:lnRef idx="2">
            <a:schemeClr val="accent1"/>
          </a:lnRef>
          <a:fillRef idx="0">
            <a:schemeClr val="accent1"/>
          </a:fillRef>
          <a:effectRef idx="1">
            <a:schemeClr val="accent1"/>
          </a:effectRef>
          <a:fontRef idx="minor">
            <a:schemeClr val="tx1"/>
          </a:fontRef>
        </p:style>
      </p:cxnSp>
      <p:cxnSp>
        <p:nvCxnSpPr>
          <p:cNvPr id="15" name="arrow"/>
          <p:cNvCxnSpPr/>
          <p:nvPr/>
        </p:nvCxnSpPr>
        <p:spPr>
          <a:xfrm flipV="1">
            <a:off x="5798819" y="3991356"/>
            <a:ext cx="0" cy="237744"/>
          </a:xfrm>
          <a:prstGeom prst="line">
            <a:avLst/>
          </a:prstGeom>
          <a:ln w="1905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visual note"/>
          <p:cNvSpPr txBox="1"/>
          <p:nvPr/>
        </p:nvSpPr>
        <p:spPr>
          <a:xfrm>
            <a:off x="365760" y="4110228"/>
            <a:ext cx="5341619" cy="219456"/>
          </a:xfrm>
          <a:prstGeom prst="rect">
            <a:avLst/>
          </a:prstGeom>
          <a:noFill/>
        </p:spPr>
        <p:txBody>
          <a:bodyPr wrap="square" lIns="45720" rIns="45720" tIns="27432" bIns="27432" anchor="t">
            <a:spAutoFit/>
          </a:bodyPr>
          <a:lstStyle/>
          <a:p>
            <a:r>
              <a:rPr sz="950" b="0" i="1">
                <a:solidFill>
                  <a:srgbClr val="5B6773"/>
                </a:solidFill>
                <a:latin typeface="Calibri"/>
              </a:rPr>
              <a:t>the file is 859 bytes; a reader starts at its end</a:t>
            </a:r>
          </a:p>
        </p:txBody>
      </p:sp>
      <p:sp>
        <p:nvSpPr>
          <p:cNvPr id="17" name="visual note"/>
          <p:cNvSpPr txBox="1"/>
          <p:nvPr/>
        </p:nvSpPr>
        <p:spPr>
          <a:xfrm>
            <a:off x="5890259" y="4256531"/>
            <a:ext cx="4114800" cy="219456"/>
          </a:xfrm>
          <a:prstGeom prst="rect">
            <a:avLst/>
          </a:prstGeom>
          <a:noFill/>
        </p:spPr>
        <p:txBody>
          <a:bodyPr wrap="square" lIns="45720" rIns="45720" tIns="27432" bIns="27432" anchor="t">
            <a:spAutoFit/>
          </a:bodyPr>
          <a:lstStyle/>
          <a:p>
            <a:r>
              <a:rPr sz="950" b="0" i="1">
                <a:solidFill>
                  <a:srgbClr val="5B6773"/>
                </a:solidFill>
                <a:latin typeface="Calibri"/>
              </a:rPr>
              <a:t>startxref says where to jump: byte 639</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PDF is numbered objects and a table at the end.</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58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PdfReader: pages, their size and whether the file is locked</a:t>
            </a:r>
          </a:p>
        </p:txBody>
      </p:sp>
      <p:sp>
        <p:nvSpPr>
          <p:cNvPr id="4" name="code"/>
          <p:cNvSpPr/>
          <p:nvPr/>
        </p:nvSpPr>
        <p:spPr>
          <a:xfrm>
            <a:off x="365760" y="786384"/>
            <a:ext cx="5361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p>
          <a:p>
            <a:pPr algn="l"/>
            <a:r>
              <a:rPr sz="1000" b="0" i="0">
                <a:solidFill>
                  <a:srgbClr val="8FA3B8"/>
                </a:solidFill>
                <a:latin typeface="Courier New"/>
              </a:rPr>
              <a:t>&gt;&gt;&gt; </a:t>
            </a:r>
            <a:r>
              <a:rPr sz="1000" b="0" i="0">
                <a:solidFill>
                  <a:srgbClr val="E6EDF3"/>
                </a:solidFill>
                <a:latin typeface="Courier New"/>
              </a:rPr>
              <a:t>writer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r>
              <a:rPr sz="1000" b="0" i="0">
                <a:solidFill>
                  <a:srgbClr val="E6EDF3"/>
                </a:solidFill>
                <a:latin typeface="Courier New"/>
              </a:rPr>
              <a:t>.</a:t>
            </a:r>
            <a:r>
              <a:rPr sz="1000" b="0" i="0">
                <a:solidFill>
                  <a:srgbClr val="E6EDF3"/>
                </a:solidFill>
                <a:latin typeface="Courier New"/>
              </a:rPr>
              <a:t>PdfWriter</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width</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100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200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300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add_blank_page</a:t>
            </a:r>
            <a:r>
              <a:rPr sz="1000" b="0" i="0">
                <a:solidFill>
                  <a:srgbClr val="E6EDF3"/>
                </a:solidFill>
                <a:latin typeface="Courier New"/>
              </a:rPr>
              <a:t>(</a:t>
            </a:r>
            <a:r>
              <a:rPr sz="1000" b="0" i="0">
                <a:solidFill>
                  <a:srgbClr val="E6EDF3"/>
                </a:solidFill>
                <a:latin typeface="Courier New"/>
              </a:rPr>
              <a:t>width</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100</a:t>
            </a:r>
            <a:r>
              <a:rPr sz="1000" b="0" i="0">
                <a:solidFill>
                  <a:srgbClr val="E6EDF3"/>
                </a:solidFill>
                <a:latin typeface="Courier New"/>
              </a:rPr>
              <a:t>)</a:t>
            </a:r>
          </a:p>
        </p:txBody>
      </p:sp>
      <p:sp>
        <p:nvSpPr>
          <p:cNvPr id="5" name="explanation"/>
          <p:cNvSpPr txBox="1"/>
          <p:nvPr/>
        </p:nvSpPr>
        <p:spPr>
          <a:xfrm>
            <a:off x="5708904" y="786384"/>
            <a:ext cx="3069336" cy="651891"/>
          </a:xfrm>
          <a:prstGeom prst="rect">
            <a:avLst/>
          </a:prstGeom>
          <a:noFill/>
        </p:spPr>
        <p:txBody>
          <a:bodyPr wrap="square" lIns="128016" rIns="128016" tIns="18288" bIns="18288" anchor="ctr">
            <a:spAutoFit/>
          </a:bodyPr>
          <a:lstStyle/>
          <a:p>
            <a:r>
              <a:rPr sz="1100" b="0" i="0">
                <a:solidFill>
                  <a:srgbClr val="1F2933"/>
                </a:solidFill>
                <a:latin typeface="Calibri"/>
              </a:rPr>
              <a:t>A PdfWriter starts empty. Three blank pages of different widths stand in for a real document.</a:t>
            </a:r>
          </a:p>
        </p:txBody>
      </p:sp>
      <p:sp>
        <p:nvSpPr>
          <p:cNvPr id="6" name="code"/>
          <p:cNvSpPr/>
          <p:nvPr/>
        </p:nvSpPr>
        <p:spPr>
          <a:xfrm>
            <a:off x="365760" y="1483995"/>
            <a:ext cx="53614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buf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BytesIO</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write</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reader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r>
              <a:rPr sz="1000" b="0" i="0">
                <a:solidFill>
                  <a:srgbClr val="E6EDF3"/>
                </a:solidFill>
                <a:latin typeface="Courier New"/>
              </a:rPr>
              <a:t>.</a:t>
            </a:r>
            <a:r>
              <a:rPr sz="1000" b="0" i="0">
                <a:solidFill>
                  <a:srgbClr val="E6EDF3"/>
                </a:solidFill>
                <a:latin typeface="Courier New"/>
              </a:rPr>
              <a:t>PdfReader</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'pages; locked:'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is_encrypted</a:t>
            </a:r>
            <a:r>
              <a:rPr sz="1000" b="0" i="0">
                <a:solidFill>
                  <a:srgbClr val="E6EDF3"/>
                </a:solidFill>
                <a:latin typeface="Courier New"/>
              </a:rPr>
              <a:t>)</a:t>
            </a:r>
          </a:p>
        </p:txBody>
      </p:sp>
      <p:sp>
        <p:nvSpPr>
          <p:cNvPr id="7" name="explanation"/>
          <p:cNvSpPr txBox="1"/>
          <p:nvPr/>
        </p:nvSpPr>
        <p:spPr>
          <a:xfrm>
            <a:off x="5708904" y="1483995"/>
            <a:ext cx="3069336" cy="826516"/>
          </a:xfrm>
          <a:prstGeom prst="rect">
            <a:avLst/>
          </a:prstGeom>
          <a:noFill/>
        </p:spPr>
        <p:txBody>
          <a:bodyPr wrap="square" lIns="128016" rIns="128016" tIns="18288" bIns="18288" anchor="ctr">
            <a:spAutoFit/>
          </a:bodyPr>
          <a:lstStyle/>
          <a:p>
            <a:r>
              <a:rPr sz="1100" b="0" i="0">
                <a:solidFill>
                  <a:srgbClr val="1F2933"/>
                </a:solidFill>
                <a:latin typeface="Calibri"/>
              </a:rPr>
              <a:t>write() saves into memory; PdfReader reads it back. pages is a list, and is_encrypted says whether a password is needed.</a:t>
            </a:r>
          </a:p>
        </p:txBody>
      </p:sp>
      <p:sp>
        <p:nvSpPr>
          <p:cNvPr id="8" name="code"/>
          <p:cNvSpPr/>
          <p:nvPr/>
        </p:nvSpPr>
        <p:spPr>
          <a:xfrm>
            <a:off x="365760" y="2356231"/>
            <a:ext cx="5361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widths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float</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mediabox</a:t>
            </a:r>
            <a:r>
              <a:rPr sz="1000" b="0" i="0">
                <a:solidFill>
                  <a:srgbClr val="E6EDF3"/>
                </a:solidFill>
                <a:latin typeface="Courier New"/>
              </a:rPr>
              <a:t>.</a:t>
            </a:r>
            <a:r>
              <a:rPr sz="1000" b="0" i="0">
                <a:solidFill>
                  <a:srgbClr val="E6EDF3"/>
                </a:solidFill>
                <a:latin typeface="Courier New"/>
              </a:rPr>
              <a:t>width</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'width of each page in points:'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widths</a:t>
            </a:r>
            <a:r>
              <a:rPr sz="1000" b="0" i="0">
                <a:solidFill>
                  <a:srgbClr val="E6EDF3"/>
                </a:solidFill>
                <a:latin typeface="Courier New"/>
              </a:rPr>
              <a:t>)</a:t>
            </a:r>
          </a:p>
        </p:txBody>
      </p:sp>
      <p:sp>
        <p:nvSpPr>
          <p:cNvPr id="9" name="explanation"/>
          <p:cNvSpPr txBox="1"/>
          <p:nvPr/>
        </p:nvSpPr>
        <p:spPr>
          <a:xfrm>
            <a:off x="5708904" y="2356231"/>
            <a:ext cx="3069336" cy="651891"/>
          </a:xfrm>
          <a:prstGeom prst="rect">
            <a:avLst/>
          </a:prstGeom>
          <a:noFill/>
        </p:spPr>
        <p:txBody>
          <a:bodyPr wrap="square" lIns="128016" rIns="128016" tIns="18288" bIns="18288" anchor="ctr">
            <a:spAutoFit/>
          </a:bodyPr>
          <a:lstStyle/>
          <a:p>
            <a:r>
              <a:rPr sz="1100" b="0" i="0">
                <a:solidFill>
                  <a:srgbClr val="1F2933"/>
                </a:solidFill>
                <a:latin typeface="Calibri"/>
              </a:rPr>
              <a:t>Page numbers count from 0 in code. The media box is the page's size in points; 72 points make an inch.</a:t>
            </a:r>
          </a:p>
        </p:txBody>
      </p:sp>
      <p:sp>
        <p:nvSpPr>
          <p:cNvPr id="10" name="result label"/>
          <p:cNvSpPr txBox="1"/>
          <p:nvPr/>
        </p:nvSpPr>
        <p:spPr>
          <a:xfrm>
            <a:off x="365760" y="306298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09874"/>
          <a:ext cx="4206240" cy="1326134"/>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4908499" y="3355594"/>
          <a:ext cx="3869740" cy="1097280"/>
        </p:xfrm>
        <a:graphic>
          <a:graphicData uri="http://schemas.openxmlformats.org/drawingml/2006/table">
            <a:tbl>
              <a:tblPr firstRow="0" bandRow="0"/>
              <a:tblGrid>
                <a:gridCol w="2176729"/>
                <a:gridCol w="1693011"/>
              </a:tblGrid>
              <a:tr h="274320">
                <a:tc>
                  <a:txBody>
                    <a:bodyPr wrap="square"/>
                    <a:lstStyle/>
                    <a:p>
                      <a:r>
                        <a:rPr sz="1000" b="1" i="0">
                          <a:solidFill>
                            <a:srgbClr val="FFFFFF"/>
                          </a:solidFill>
                          <a:latin typeface="Calibri"/>
                        </a:rPr>
                        <a:t>Question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1" i="0">
                          <a:solidFill>
                            <a:srgbClr val="1F2933"/>
                          </a:solidFill>
                          <a:latin typeface="Calibri"/>
                        </a:rPr>
                        <a:t>how many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1" i="0">
                          <a:solidFill>
                            <a:srgbClr val="1F2933"/>
                          </a:solidFill>
                          <a:latin typeface="Calibri"/>
                        </a:rPr>
                        <a:t>is_encrypted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1" i="0">
                          <a:solidFill>
                            <a:srgbClr val="1F2933"/>
                          </a:solidFill>
                          <a:latin typeface="Calibri"/>
                        </a:rPr>
                        <a:t>page 3 width (points)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300.0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reader gives pages, their size and the lock state.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58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Extracting text: what comes out, and what a black box hides</a:t>
            </a:r>
          </a:p>
        </p:txBody>
      </p:sp>
      <p:sp>
        <p:nvSpPr>
          <p:cNvPr id="4" name="code"/>
          <p:cNvSpPr/>
          <p:nvPr/>
        </p:nvSpPr>
        <p:spPr>
          <a:xfrm>
            <a:off x="365760" y="786384"/>
            <a:ext cx="5468112" cy="139217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base64</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zlib</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p>
          <a:p>
            <a:pPr algn="l"/>
            <a:r>
              <a:rPr sz="900" b="0" i="0">
                <a:solidFill>
                  <a:srgbClr val="8FA3B8"/>
                </a:solidFill>
                <a:latin typeface="Courier New"/>
              </a:rPr>
              <a:t>&gt;&gt;&gt; </a:t>
            </a:r>
            <a:r>
              <a:rPr sz="900" b="0" i="0">
                <a:solidFill>
                  <a:srgbClr val="E6EDF3"/>
                </a:solidFill>
                <a:latin typeface="Courier New"/>
              </a:rPr>
              <a:t>blob</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'eNq1kF9PgzAUxd/5FPdliT5oW6DAzMLD/sVEjcvAp2UP3SjIgtS0nW5+etsNRx'</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'BfLUlJT8+95/46WEznN+TWdwhgEJudMxqh9PjO0YRpVokCLVjBFbjmdhnHDq8z'</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'a3J/mU8m9FBmauVbJwR2X6OJ2Nca3LbQ+1U4F7VGyX6j7cEqBI2Z4if5nlcfXJ'</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'db1pb7f+SaTXKbYiPRE89KNhaHFTZHD2OI8BotuRJ7ueXK1NnW9kfAOzPFsRmz'</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'1qaFAtrFpG3cI68L/QqhZVFacvbmjFOwbUgEaQ6EYvAxpBlcfQpZZdeQ7mCWQs'</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'fkXjyGrRKNx6Y1LZvc4J8xwy5m2MekfUy/S5CwisnjHRAXmwUvyfQHGZ8+WZg3'</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'MaOB69oJQXLI+6QHyXPHTO/gy4KAUo9CDq02hPNN3WrU72mEkL4W9n1uRHuaj/'</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'saJUGracnKikv7Rkn5xSFCSyE0kOYllWZSn2ACb+gMBrPnufMNU9nkUQ=='</a:t>
            </a:r>
            <a:r>
              <a:rPr sz="900" b="0" i="0">
                <a:solidFill>
                  <a:srgbClr val="E6EDF3"/>
                </a:solidFill>
                <a:latin typeface="Courier New"/>
              </a:rPr>
              <a:t>)</a:t>
            </a:r>
          </a:p>
        </p:txBody>
      </p:sp>
      <p:sp>
        <p:nvSpPr>
          <p:cNvPr id="5" name="explanation"/>
          <p:cNvSpPr txBox="1"/>
          <p:nvPr/>
        </p:nvSpPr>
        <p:spPr>
          <a:xfrm>
            <a:off x="5815584" y="786384"/>
            <a:ext cx="2962655" cy="1392174"/>
          </a:xfrm>
          <a:prstGeom prst="rect">
            <a:avLst/>
          </a:prstGeom>
          <a:noFill/>
        </p:spPr>
        <p:txBody>
          <a:bodyPr wrap="square" lIns="128016" rIns="128016" tIns="18288" bIns="18288" anchor="ctr">
            <a:spAutoFit/>
          </a:bodyPr>
          <a:lstStyle/>
          <a:p>
            <a:r>
              <a:rPr sz="1100" b="0" i="0">
                <a:solidFill>
                  <a:srgbClr val="1F2933"/>
                </a:solidFill>
                <a:latin typeface="Calibri"/>
              </a:rPr>
              <a:t>The same sample. Page 1 draws world, then Hello; page 2 draws a salary line, then a black box over it.</a:t>
            </a:r>
          </a:p>
        </p:txBody>
      </p:sp>
      <p:sp>
        <p:nvSpPr>
          <p:cNvPr id="6" name="code"/>
          <p:cNvSpPr/>
          <p:nvPr/>
        </p:nvSpPr>
        <p:spPr>
          <a:xfrm>
            <a:off x="365760" y="2224278"/>
            <a:ext cx="5468112" cy="973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pdf</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zlib</a:t>
            </a:r>
            <a:r>
              <a:rPr sz="900" b="0" i="0">
                <a:solidFill>
                  <a:srgbClr val="E6EDF3"/>
                </a:solidFill>
                <a:latin typeface="Courier New"/>
              </a:rPr>
              <a:t>.</a:t>
            </a:r>
            <a:r>
              <a:rPr sz="900" b="0" i="0">
                <a:solidFill>
                  <a:srgbClr val="E6EDF3"/>
                </a:solidFill>
                <a:latin typeface="Courier New"/>
              </a:rPr>
              <a:t>decompress</a:t>
            </a:r>
            <a:r>
              <a:rPr sz="900" b="0" i="0">
                <a:solidFill>
                  <a:srgbClr val="E6EDF3"/>
                </a:solidFill>
                <a:latin typeface="Courier New"/>
              </a:rPr>
              <a:t>(</a:t>
            </a:r>
            <a:r>
              <a:rPr sz="900" b="0" i="0">
                <a:solidFill>
                  <a:srgbClr val="E6EDF3"/>
                </a:solidFill>
                <a:latin typeface="Courier New"/>
              </a:rPr>
              <a:t>base64</a:t>
            </a:r>
            <a:r>
              <a:rPr sz="900" b="0" i="0">
                <a:solidFill>
                  <a:srgbClr val="E6EDF3"/>
                </a:solidFill>
                <a:latin typeface="Courier New"/>
              </a:rPr>
              <a:t>.</a:t>
            </a:r>
            <a:r>
              <a:rPr sz="900" b="0" i="0">
                <a:solidFill>
                  <a:srgbClr val="E6EDF3"/>
                </a:solidFill>
                <a:latin typeface="Courier New"/>
              </a:rPr>
              <a:t>b64decode</a:t>
            </a:r>
            <a:r>
              <a:rPr sz="900" b="0" i="0">
                <a:solidFill>
                  <a:srgbClr val="E6EDF3"/>
                </a:solidFill>
                <a:latin typeface="Courier New"/>
              </a:rPr>
              <a:t>(</a:t>
            </a:r>
            <a:r>
              <a:rPr sz="900" b="0" i="0">
                <a:solidFill>
                  <a:srgbClr val="E6EDF3"/>
                </a:solidFill>
                <a:latin typeface="Courier New"/>
              </a:rPr>
              <a:t>blob</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reader</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PdfReader</a:t>
            </a:r>
            <a:r>
              <a:rPr sz="900" b="0" i="0">
                <a:solidFill>
                  <a:srgbClr val="E6EDF3"/>
                </a:solidFill>
                <a:latin typeface="Courier New"/>
              </a:rPr>
              <a:t>(</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BytesIO</a:t>
            </a:r>
            <a:r>
              <a:rPr sz="900" b="0" i="0">
                <a:solidFill>
                  <a:srgbClr val="E6EDF3"/>
                </a:solidFill>
                <a:latin typeface="Courier New"/>
              </a:rPr>
              <a:t>(</a:t>
            </a:r>
            <a:r>
              <a:rPr sz="900" b="0" i="0">
                <a:solidFill>
                  <a:srgbClr val="E6EDF3"/>
                </a:solidFill>
                <a:latin typeface="Courier New"/>
              </a:rPr>
              <a:t>pdf</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'stream order:'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reader</a:t>
            </a:r>
            <a:r>
              <a:rPr sz="900" b="0" i="0">
                <a:solidFill>
                  <a:srgbClr val="E6EDF3"/>
                </a:solidFill>
                <a:latin typeface="Courier New"/>
              </a:rPr>
              <a:t>.</a:t>
            </a:r>
            <a:r>
              <a:rPr sz="900" b="0" i="0">
                <a:solidFill>
                  <a:srgbClr val="E6EDF3"/>
                </a:solidFill>
                <a:latin typeface="Courier New"/>
              </a:rPr>
              <a:t>pages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extract_text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layout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reader</a:t>
            </a:r>
            <a:r>
              <a:rPr sz="900" b="0" i="0">
                <a:solidFill>
                  <a:srgbClr val="E6EDF3"/>
                </a:solidFill>
                <a:latin typeface="Courier New"/>
              </a:rPr>
              <a:t>.</a:t>
            </a:r>
            <a:r>
              <a:rPr sz="900" b="0" i="0">
                <a:solidFill>
                  <a:srgbClr val="E6EDF3"/>
                </a:solidFill>
                <a:latin typeface="Courier New"/>
              </a:rPr>
              <a:t>pages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extract_text</a:t>
            </a:r>
            <a:r>
              <a:rPr sz="900" b="0" i="0">
                <a:solidFill>
                  <a:srgbClr val="E6EDF3"/>
                </a:solidFill>
                <a:latin typeface="Courier New"/>
              </a:rPr>
              <a:t>(</a:t>
            </a:r>
            <a:r>
              <a:rPr sz="900" b="0" i="0">
                <a:solidFill>
                  <a:srgbClr val="E6EDF3"/>
                </a:solidFill>
                <a:latin typeface="Courier New"/>
              </a:rPr>
              <a:t>extraction_mode</a:t>
            </a:r>
            <a:r>
              <a:rPr sz="900" b="0" i="0">
                <a:solidFill>
                  <a:srgbClr val="E6EDF3"/>
                </a:solidFill>
                <a:latin typeface="Courier New"/>
              </a:rPr>
              <a:t>=</a:t>
            </a:r>
            <a:r>
              <a:rPr sz="900" b="0" i="0">
                <a:solidFill>
                  <a:srgbClr val="9BE3A8"/>
                </a:solidFill>
                <a:latin typeface="Courier New"/>
              </a:rPr>
              <a:t>'layout'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'layout mode:'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layout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'under the black box:'</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reader</a:t>
            </a:r>
            <a:r>
              <a:rPr sz="900" b="0" i="0">
                <a:solidFill>
                  <a:srgbClr val="E6EDF3"/>
                </a:solidFill>
                <a:latin typeface="Courier New"/>
              </a:rPr>
              <a:t>.</a:t>
            </a:r>
            <a:r>
              <a:rPr sz="900" b="0" i="0">
                <a:solidFill>
                  <a:srgbClr val="E6EDF3"/>
                </a:solidFill>
                <a:latin typeface="Courier New"/>
              </a:rPr>
              <a:t>pages</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extract_text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815584" y="2224278"/>
            <a:ext cx="2962655" cy="973836"/>
          </a:xfrm>
          <a:prstGeom prst="rect">
            <a:avLst/>
          </a:prstGeom>
          <a:noFill/>
        </p:spPr>
        <p:txBody>
          <a:bodyPr wrap="square" lIns="128016" rIns="128016" tIns="18288" bIns="18288" anchor="ctr">
            <a:spAutoFit/>
          </a:bodyPr>
          <a:lstStyle/>
          <a:p>
            <a:r>
              <a:rPr sz="1100" b="0" i="0">
                <a:solidFill>
                  <a:srgbClr val="1F2933"/>
                </a:solidFill>
                <a:latin typeface="Calibri"/>
              </a:rPr>
              <a:t>Stream order is the order of drawing: worldHello. Layout mode sorts by position. The black box only covers the text.</a:t>
            </a:r>
          </a:p>
        </p:txBody>
      </p:sp>
      <p:sp>
        <p:nvSpPr>
          <p:cNvPr id="8" name="result label"/>
          <p:cNvSpPr txBox="1"/>
          <p:nvPr/>
        </p:nvSpPr>
        <p:spPr>
          <a:xfrm>
            <a:off x="365760" y="325297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499865"/>
            <a:ext cx="2148840"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page 1 draws, in this order</a:t>
            </a:r>
          </a:p>
        </p:txBody>
      </p:sp>
      <p:sp>
        <p:nvSpPr>
          <p:cNvPr id="10" name="Rounded Rectangle 9"/>
          <p:cNvSpPr/>
          <p:nvPr/>
        </p:nvSpPr>
        <p:spPr>
          <a:xfrm>
            <a:off x="365760" y="3829050"/>
            <a:ext cx="1005840" cy="32918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1st: world</a:t>
            </a:r>
          </a:p>
        </p:txBody>
      </p:sp>
      <p:sp>
        <p:nvSpPr>
          <p:cNvPr id="11" name="Rounded Rectangle 10"/>
          <p:cNvSpPr/>
          <p:nvPr/>
        </p:nvSpPr>
        <p:spPr>
          <a:xfrm>
            <a:off x="1463040" y="3829050"/>
            <a:ext cx="1051560" cy="32918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2nd: Hello</a:t>
            </a:r>
          </a:p>
        </p:txBody>
      </p:sp>
      <p:cxnSp>
        <p:nvCxnSpPr>
          <p:cNvPr id="12" name="arrow"/>
          <p:cNvCxnSpPr/>
          <p:nvPr/>
        </p:nvCxnSpPr>
        <p:spPr>
          <a:xfrm>
            <a:off x="2560320" y="3993641"/>
            <a:ext cx="5486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154679" y="3829050"/>
            <a:ext cx="2011680" cy="329184"/>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stream order: 'worldHello'</a:t>
            </a:r>
          </a:p>
        </p:txBody>
      </p:sp>
      <p:sp>
        <p:nvSpPr>
          <p:cNvPr id="14" name="Rounded Rectangle 13"/>
          <p:cNvSpPr/>
          <p:nvPr/>
        </p:nvSpPr>
        <p:spPr>
          <a:xfrm>
            <a:off x="3154679" y="4213098"/>
            <a:ext cx="2011680" cy="32918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layout: Hello world</a:t>
            </a:r>
          </a:p>
        </p:txBody>
      </p:sp>
      <p:cxnSp>
        <p:nvCxnSpPr>
          <p:cNvPr id="15" name="arrow"/>
          <p:cNvCxnSpPr/>
          <p:nvPr/>
        </p:nvCxnSpPr>
        <p:spPr>
          <a:xfrm>
            <a:off x="2560320" y="4103370"/>
            <a:ext cx="548640" cy="237744"/>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0" y="3499865"/>
            <a:ext cx="3291840"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page 2 draws a text line, then a black box</a:t>
            </a:r>
          </a:p>
        </p:txBody>
      </p:sp>
      <p:sp>
        <p:nvSpPr>
          <p:cNvPr id="17" name="black box"/>
          <p:cNvSpPr/>
          <p:nvPr/>
        </p:nvSpPr>
        <p:spPr>
          <a:xfrm>
            <a:off x="5486400" y="3829050"/>
            <a:ext cx="3291840" cy="3291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0" y="4213098"/>
            <a:ext cx="3291840" cy="329184"/>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still returned: Salary: 120000 USD</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Text comes out in drawing order; a black box hides nothing.</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text and images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Extracting text is like tracing a poster letter by letter, in the order the printer laid the ink.</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Extracting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Reading a poster aloud letter by letter, in the order the printer drew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extract_text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reading aloud itself: one call that returns what it read as one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Post-Processing with AI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proofreader who tidies a rough dictation: line breaks, hyphens and odd letters.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Extracting Images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Peeling the photographs off a magazine page into a shoebox.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images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shoebox: the list of pictures found on one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extractpdftext.py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copy-machine program: a PDF goes in, its text comes out as a text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extractpdfimages.py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photo-lifting program that empties the pictures of every page into a 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open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door to a file: open it, use it, close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Post-processing: mend the text before anyone reads it</a:t>
            </a:r>
          </a:p>
        </p:txBody>
      </p:sp>
      <p:sp>
        <p:nvSpPr>
          <p:cNvPr id="4" name="code"/>
          <p:cNvSpPr/>
          <p:nvPr/>
        </p:nvSpPr>
        <p:spPr>
          <a:xfrm>
            <a:off x="365760" y="786384"/>
            <a:ext cx="51328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re</a:t>
            </a:r>
          </a:p>
          <a:p>
            <a:pPr algn="l"/>
            <a:r>
              <a:rPr sz="1000" b="0" i="0">
                <a:solidFill>
                  <a:srgbClr val="8FA3B8"/>
                </a:solidFill>
                <a:latin typeface="Courier New"/>
              </a:rPr>
              <a:t>&gt;&gt;&gt; </a:t>
            </a:r>
            <a:r>
              <a:rPr sz="1000" b="0" i="0">
                <a:solidFill>
                  <a:srgbClr val="E6EDF3"/>
                </a:solidFill>
                <a:latin typeface="Courier New"/>
              </a:rPr>
              <a:t>raw</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'The ﬁrst chap-\nter was long.\nIt had two\nlines.'</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raw</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480304" y="786384"/>
            <a:ext cx="3297935" cy="651891"/>
          </a:xfrm>
          <a:prstGeom prst="rect">
            <a:avLst/>
          </a:prstGeom>
          <a:noFill/>
        </p:spPr>
        <p:txBody>
          <a:bodyPr wrap="square" lIns="128016" rIns="128016" tIns="18288" bIns="18288" anchor="ctr">
            <a:spAutoFit/>
          </a:bodyPr>
          <a:lstStyle/>
          <a:p>
            <a:r>
              <a:rPr sz="1100" b="0" i="0">
                <a:solidFill>
                  <a:srgbClr val="1F2933"/>
                </a:solidFill>
                <a:latin typeface="Calibri"/>
              </a:rPr>
              <a:t>Extracted text often has a ligature, a hyphen at a line end and breaks inside sentences. This line imitates that.</a:t>
            </a:r>
          </a:p>
        </p:txBody>
      </p:sp>
      <p:sp>
        <p:nvSpPr>
          <p:cNvPr id="6" name="code"/>
          <p:cNvSpPr/>
          <p:nvPr/>
        </p:nvSpPr>
        <p:spPr>
          <a:xfrm>
            <a:off x="365760" y="1483995"/>
            <a:ext cx="51328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text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raw</a:t>
            </a:r>
            <a:r>
              <a:rPr sz="1000" b="0" i="0">
                <a:solidFill>
                  <a:srgbClr val="E6EDF3"/>
                </a:solidFill>
                <a:latin typeface="Courier New"/>
              </a:rPr>
              <a:t>.</a:t>
            </a:r>
            <a:r>
              <a:rPr sz="1000" b="0" i="0">
                <a:solidFill>
                  <a:srgbClr val="E6EDF3"/>
                </a:solidFill>
                <a:latin typeface="Courier New"/>
              </a:rPr>
              <a:t>replace</a:t>
            </a:r>
            <a:r>
              <a:rPr sz="1000" b="0" i="0">
                <a:solidFill>
                  <a:srgbClr val="E6EDF3"/>
                </a:solidFill>
                <a:latin typeface="Courier New"/>
              </a:rPr>
              <a:t>(</a:t>
            </a:r>
            <a:r>
              <a:rPr sz="1000" b="0" i="0">
                <a:solidFill>
                  <a:srgbClr val="9BE3A8"/>
                </a:solidFill>
                <a:latin typeface="Courier New"/>
              </a:rPr>
              <a:t>'ﬁ'</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'fi'</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text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a:t>
            </a:r>
            <a:r>
              <a:rPr sz="1000" b="0" i="0">
                <a:solidFill>
                  <a:srgbClr val="E6EDF3"/>
                </a:solidFill>
                <a:latin typeface="Courier New"/>
              </a:rPr>
              <a:t>.</a:t>
            </a:r>
            <a:r>
              <a:rPr sz="1000" b="0" i="0">
                <a:solidFill>
                  <a:srgbClr val="E6EDF3"/>
                </a:solidFill>
                <a:latin typeface="Courier New"/>
              </a:rPr>
              <a:t>sub</a:t>
            </a:r>
            <a:r>
              <a:rPr sz="1000" b="0" i="0">
                <a:solidFill>
                  <a:srgbClr val="E6EDF3"/>
                </a:solidFill>
                <a:latin typeface="Courier New"/>
              </a:rPr>
              <a:t>(</a:t>
            </a:r>
            <a:r>
              <a:rPr sz="1000" b="0" i="0">
                <a:solidFill>
                  <a:srgbClr val="E6EDF3"/>
                </a:solidFill>
                <a:latin typeface="Courier New"/>
              </a:rPr>
              <a:t>r</a:t>
            </a:r>
            <a:r>
              <a:rPr sz="1000" b="0" i="0">
                <a:solidFill>
                  <a:srgbClr val="9BE3A8"/>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text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a:t>
            </a:r>
            <a:r>
              <a:rPr sz="1000" b="0" i="0">
                <a:solidFill>
                  <a:srgbClr val="E6EDF3"/>
                </a:solidFill>
                <a:latin typeface="Courier New"/>
              </a:rPr>
              <a:t>.</a:t>
            </a:r>
            <a:r>
              <a:rPr sz="1000" b="0" i="0">
                <a:solidFill>
                  <a:srgbClr val="E6EDF3"/>
                </a:solidFill>
                <a:latin typeface="Courier New"/>
              </a:rPr>
              <a:t>sub</a:t>
            </a:r>
            <a:r>
              <a:rPr sz="1000" b="0" i="0">
                <a:solidFill>
                  <a:srgbClr val="E6EDF3"/>
                </a:solidFill>
                <a:latin typeface="Courier New"/>
              </a:rPr>
              <a:t>(</a:t>
            </a:r>
            <a:r>
              <a:rPr sz="1000" b="0" i="0">
                <a:solidFill>
                  <a:srgbClr val="E6EDF3"/>
                </a:solidFill>
                <a:latin typeface="Courier New"/>
              </a:rPr>
              <a:t>r</a:t>
            </a:r>
            <a:r>
              <a:rPr sz="1000" b="0" i="0">
                <a:solidFill>
                  <a:srgbClr val="9BE3A8"/>
                </a:solidFill>
                <a:latin typeface="Courier New"/>
              </a:rPr>
              <a:t>'(?&lt;!\.)\n'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480304" y="1483995"/>
            <a:ext cx="3297935" cy="756920"/>
          </a:xfrm>
          <a:prstGeom prst="rect">
            <a:avLst/>
          </a:prstGeom>
          <a:noFill/>
        </p:spPr>
        <p:txBody>
          <a:bodyPr wrap="square" lIns="128016" rIns="128016" tIns="18288" bIns="18288" anchor="ctr">
            <a:spAutoFit/>
          </a:bodyPr>
          <a:lstStyle/>
          <a:p>
            <a:r>
              <a:rPr sz="1100" b="0" i="0">
                <a:solidFill>
                  <a:srgbClr val="1F2933"/>
                </a:solidFill>
                <a:latin typeface="Calibri"/>
              </a:rPr>
              <a:t>Three repairs: swap the ligature, join the hyphenated word, and turn a break into a space unless a sentence ended.</a:t>
            </a:r>
          </a:p>
        </p:txBody>
      </p:sp>
      <p:sp>
        <p:nvSpPr>
          <p:cNvPr id="8" name="code"/>
          <p:cNvSpPr/>
          <p:nvPr/>
        </p:nvSpPr>
        <p:spPr>
          <a:xfrm>
            <a:off x="365760" y="2286635"/>
            <a:ext cx="51328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prompt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'Fix the line breaks of this text:\n'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raw</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prompt</a:t>
            </a:r>
            <a:r>
              <a:rPr sz="1000" b="0" i="0">
                <a:solidFill>
                  <a:srgbClr val="E6EDF3"/>
                </a:solidFill>
                <a:latin typeface="Courier New"/>
              </a:rPr>
              <a:t>.</a:t>
            </a:r>
            <a:r>
              <a:rPr sz="1000" b="0" i="0">
                <a:solidFill>
                  <a:srgbClr val="E6EDF3"/>
                </a:solidFill>
                <a:latin typeface="Courier New"/>
              </a:rPr>
              <a:t>split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raw</a:t>
            </a:r>
            <a:r>
              <a:rPr sz="1000" b="0" i="0">
                <a:solidFill>
                  <a:srgbClr val="E6EDF3"/>
                </a:solidFill>
                <a:latin typeface="Courier New"/>
              </a:rPr>
              <a:t>.</a:t>
            </a:r>
            <a:r>
              <a:rPr sz="1000" b="0" i="0">
                <a:solidFill>
                  <a:srgbClr val="E6EDF3"/>
                </a:solidFill>
                <a:latin typeface="Courier New"/>
              </a:rPr>
              <a:t>split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'words in; a prompt of'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'words'</a:t>
            </a:r>
            <a:r>
              <a:rPr sz="1000" b="0" i="0">
                <a:solidFill>
                  <a:srgbClr val="E6EDF3"/>
                </a:solidFill>
                <a:latin typeface="Courier New"/>
              </a:rPr>
              <a:t>)</a:t>
            </a:r>
          </a:p>
        </p:txBody>
      </p:sp>
      <p:sp>
        <p:nvSpPr>
          <p:cNvPr id="9" name="explanation"/>
          <p:cNvSpPr txBox="1"/>
          <p:nvPr/>
        </p:nvSpPr>
        <p:spPr>
          <a:xfrm>
            <a:off x="5480304" y="2286635"/>
            <a:ext cx="3297935" cy="651891"/>
          </a:xfrm>
          <a:prstGeom prst="rect">
            <a:avLst/>
          </a:prstGeom>
          <a:noFill/>
        </p:spPr>
        <p:txBody>
          <a:bodyPr wrap="square" lIns="128016" rIns="128016" tIns="18288" bIns="18288" anchor="ctr">
            <a:spAutoFit/>
          </a:bodyPr>
          <a:lstStyle/>
          <a:p>
            <a:r>
              <a:rPr sz="1100" b="0" i="0">
                <a:solidFill>
                  <a:srgbClr val="1F2933"/>
                </a:solidFill>
                <a:latin typeface="Calibri"/>
              </a:rPr>
              <a:t>The chapter hands such repairs to a language model. These lines only build the request; no model is called.</a:t>
            </a:r>
          </a:p>
        </p:txBody>
      </p:sp>
      <p:sp>
        <p:nvSpPr>
          <p:cNvPr id="10" name="result label"/>
          <p:cNvSpPr txBox="1"/>
          <p:nvPr/>
        </p:nvSpPr>
        <p:spPr>
          <a:xfrm>
            <a:off x="365760" y="299338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240277"/>
            <a:ext cx="2606040" cy="50292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raw: 'The ﬁrst chap-\nter was long.\nIt had two\nlines.'</a:t>
            </a:r>
          </a:p>
        </p:txBody>
      </p:sp>
      <p:sp>
        <p:nvSpPr>
          <p:cNvPr id="12" name="Rounded Rectangle 11"/>
          <p:cNvSpPr/>
          <p:nvPr/>
        </p:nvSpPr>
        <p:spPr>
          <a:xfrm>
            <a:off x="3337560" y="3240277"/>
            <a:ext cx="1920240"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ligature to letters</a:t>
            </a:r>
          </a:p>
        </p:txBody>
      </p:sp>
      <p:sp>
        <p:nvSpPr>
          <p:cNvPr id="13" name="Rounded Rectangle 12"/>
          <p:cNvSpPr/>
          <p:nvPr/>
        </p:nvSpPr>
        <p:spPr>
          <a:xfrm>
            <a:off x="3337560" y="3578606"/>
            <a:ext cx="1920240"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join the hyphen</a:t>
            </a:r>
          </a:p>
        </p:txBody>
      </p:sp>
      <p:sp>
        <p:nvSpPr>
          <p:cNvPr id="14" name="Rounded Rectangle 13"/>
          <p:cNvSpPr/>
          <p:nvPr/>
        </p:nvSpPr>
        <p:spPr>
          <a:xfrm>
            <a:off x="3337560" y="3916934"/>
            <a:ext cx="1920240"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line break to space</a:t>
            </a:r>
          </a:p>
        </p:txBody>
      </p:sp>
      <p:cxnSp>
        <p:nvCxnSpPr>
          <p:cNvPr id="15" name="arrow"/>
          <p:cNvCxnSpPr/>
          <p:nvPr/>
        </p:nvCxnSpPr>
        <p:spPr>
          <a:xfrm>
            <a:off x="3017520" y="3487165"/>
            <a:ext cx="27432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rrow"/>
          <p:cNvCxnSpPr/>
          <p:nvPr/>
        </p:nvCxnSpPr>
        <p:spPr>
          <a:xfrm>
            <a:off x="5303520" y="3487165"/>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669280" y="3240277"/>
            <a:ext cx="3108960" cy="5029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clean: 'The first chapter was long.\nIt had two lines.'</a:t>
            </a:r>
          </a:p>
        </p:txBody>
      </p:sp>
      <p:sp>
        <p:nvSpPr>
          <p:cNvPr id="18" name="Rounded Rectangle 17"/>
          <p:cNvSpPr/>
          <p:nvPr/>
        </p:nvSpPr>
        <p:spPr>
          <a:xfrm>
            <a:off x="365760" y="3898645"/>
            <a:ext cx="2743200" cy="32918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 model would get 17 words to fix</a:t>
            </a:r>
          </a:p>
        </p:txBody>
      </p:sp>
      <p:sp>
        <p:nvSpPr>
          <p:cNvPr id="19" name="visual note"/>
          <p:cNvSpPr txBox="1"/>
          <p:nvPr/>
        </p:nvSpPr>
        <p:spPr>
          <a:xfrm>
            <a:off x="5669280" y="3935221"/>
            <a:ext cx="3108960" cy="310896"/>
          </a:xfrm>
          <a:prstGeom prst="rect">
            <a:avLst/>
          </a:prstGeom>
          <a:noFill/>
        </p:spPr>
        <p:txBody>
          <a:bodyPr wrap="square" lIns="45720" rIns="45720" tIns="27432" bIns="27432" anchor="t">
            <a:spAutoFit/>
          </a:bodyPr>
          <a:lstStyle/>
          <a:p>
            <a:r>
              <a:rPr sz="950" b="0" i="1">
                <a:solidFill>
                  <a:srgbClr val="5B6773"/>
                </a:solidFill>
                <a:latin typeface="Calibri"/>
              </a:rPr>
              <a:t>no model is called here; the lines only count the request</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Mend extracted text before anyone reads it.</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58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Extracting images: a scanned page is a picture without text</a:t>
            </a:r>
          </a:p>
        </p:txBody>
      </p:sp>
      <p:sp>
        <p:nvSpPr>
          <p:cNvPr id="4" name="code"/>
          <p:cNvSpPr/>
          <p:nvPr/>
        </p:nvSpPr>
        <p:spPr>
          <a:xfrm>
            <a:off x="365760" y="786384"/>
            <a:ext cx="47518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p>
          <a:p>
            <a:pPr algn="l"/>
            <a:r>
              <a:rPr sz="1000" b="0" i="0">
                <a:solidFill>
                  <a:srgbClr val="8FA3B8"/>
                </a:solidFill>
                <a:latin typeface="Courier New"/>
              </a:rPr>
              <a:t>&gt;&gt;&gt; </a:t>
            </a:r>
            <a:r>
              <a:rPr sz="1000" b="0" i="0">
                <a:solidFill>
                  <a:srgbClr val="E6EDF3"/>
                </a:solidFill>
                <a:latin typeface="Courier New"/>
              </a:rPr>
              <a:t>from</a:t>
            </a:r>
            <a:r>
              <a:rPr sz="1000" b="0" i="0">
                <a:solidFill>
                  <a:srgbClr val="E6EDF3"/>
                </a:solidFill>
                <a:latin typeface="Courier New"/>
              </a:rPr>
              <a:t> </a:t>
            </a:r>
            <a:r>
              <a:rPr sz="1000" b="0" i="0">
                <a:solidFill>
                  <a:srgbClr val="E6EDF3"/>
                </a:solidFill>
                <a:latin typeface="Courier New"/>
              </a:rPr>
              <a:t>PIL</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Image</a:t>
            </a:r>
          </a:p>
          <a:p>
            <a:pPr algn="l"/>
            <a:r>
              <a:rPr sz="1000" b="0" i="0">
                <a:solidFill>
                  <a:srgbClr val="8FA3B8"/>
                </a:solidFill>
                <a:latin typeface="Courier New"/>
              </a:rPr>
              <a:t>&gt;&gt;&gt; </a:t>
            </a:r>
            <a:r>
              <a:rPr sz="1000" b="0" i="0">
                <a:solidFill>
                  <a:srgbClr val="E6EDF3"/>
                </a:solidFill>
                <a:latin typeface="Courier New"/>
              </a:rPr>
              <a:t>buf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BytesIO</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Image</a:t>
            </a:r>
            <a:r>
              <a:rPr sz="1000" b="0" i="0">
                <a:solidFill>
                  <a:srgbClr val="E6EDF3"/>
                </a:solidFill>
                <a:latin typeface="Courier New"/>
              </a:rPr>
              <a:t>.</a:t>
            </a:r>
            <a:r>
              <a:rPr sz="1000" b="0" i="0">
                <a:solidFill>
                  <a:srgbClr val="E6EDF3"/>
                </a:solidFill>
                <a:latin typeface="Courier New"/>
              </a:rPr>
              <a:t>new</a:t>
            </a:r>
            <a:r>
              <a:rPr sz="1000" b="0" i="0">
                <a:solidFill>
                  <a:srgbClr val="E6EDF3"/>
                </a:solidFill>
                <a:latin typeface="Courier New"/>
              </a:rPr>
              <a:t>(</a:t>
            </a:r>
            <a:r>
              <a:rPr sz="1000" b="0" i="0">
                <a:solidFill>
                  <a:srgbClr val="9BE3A8"/>
                </a:solidFill>
                <a:latin typeface="Courier New"/>
              </a:rPr>
              <a:t>'RGB'</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60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40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'red'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save</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'PDF'</a:t>
            </a:r>
            <a:r>
              <a:rPr sz="1000" b="0" i="0">
                <a:solidFill>
                  <a:srgbClr val="E6EDF3"/>
                </a:solidFill>
                <a:latin typeface="Courier New"/>
              </a:rPr>
              <a:t>)</a:t>
            </a:r>
          </a:p>
        </p:txBody>
      </p:sp>
      <p:sp>
        <p:nvSpPr>
          <p:cNvPr id="5" name="explanation"/>
          <p:cNvSpPr txBox="1"/>
          <p:nvPr/>
        </p:nvSpPr>
        <p:spPr>
          <a:xfrm>
            <a:off x="5099304" y="786384"/>
            <a:ext cx="3678935" cy="756920"/>
          </a:xfrm>
          <a:prstGeom prst="rect">
            <a:avLst/>
          </a:prstGeom>
          <a:noFill/>
        </p:spPr>
        <p:txBody>
          <a:bodyPr wrap="square" lIns="128016" rIns="128016" tIns="18288" bIns="18288" anchor="ctr">
            <a:spAutoFit/>
          </a:bodyPr>
          <a:lstStyle/>
          <a:p>
            <a:r>
              <a:rPr sz="1100" b="0" i="0">
                <a:solidFill>
                  <a:srgbClr val="1F2933"/>
                </a:solidFill>
                <a:latin typeface="Calibri"/>
              </a:rPr>
              <a:t>Pillow saves a small red picture as a one-page PDF. A scan is such a page: a picture and no text.</a:t>
            </a:r>
          </a:p>
        </p:txBody>
      </p:sp>
      <p:sp>
        <p:nvSpPr>
          <p:cNvPr id="6" name="code"/>
          <p:cNvSpPr/>
          <p:nvPr/>
        </p:nvSpPr>
        <p:spPr>
          <a:xfrm>
            <a:off x="365760" y="1589023"/>
            <a:ext cx="47518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page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r>
              <a:rPr sz="1000" b="0" i="0">
                <a:solidFill>
                  <a:srgbClr val="E6EDF3"/>
                </a:solidFill>
                <a:latin typeface="Courier New"/>
              </a:rPr>
              <a:t>.</a:t>
            </a:r>
            <a:r>
              <a:rPr sz="1000" b="0" i="0">
                <a:solidFill>
                  <a:srgbClr val="E6EDF3"/>
                </a:solidFill>
                <a:latin typeface="Courier New"/>
              </a:rPr>
              <a:t>PdfReader</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'text found:'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page</a:t>
            </a:r>
            <a:r>
              <a:rPr sz="1000" b="0" i="0">
                <a:solidFill>
                  <a:srgbClr val="E6EDF3"/>
                </a:solidFill>
                <a:latin typeface="Courier New"/>
              </a:rPr>
              <a:t>.</a:t>
            </a:r>
            <a:r>
              <a:rPr sz="1000" b="0" i="0">
                <a:solidFill>
                  <a:srgbClr val="E6EDF3"/>
                </a:solidFill>
                <a:latin typeface="Courier New"/>
              </a:rPr>
              <a:t>extract_text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'images found:'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page</a:t>
            </a:r>
            <a:r>
              <a:rPr sz="1000" b="0" i="0">
                <a:solidFill>
                  <a:srgbClr val="E6EDF3"/>
                </a:solidFill>
                <a:latin typeface="Courier New"/>
              </a:rPr>
              <a:t>.</a:t>
            </a:r>
            <a:r>
              <a:rPr sz="1000" b="0" i="0">
                <a:solidFill>
                  <a:srgbClr val="E6EDF3"/>
                </a:solidFill>
                <a:latin typeface="Courier New"/>
              </a:rPr>
              <a:t>images</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099304" y="1589023"/>
            <a:ext cx="3678935" cy="651891"/>
          </a:xfrm>
          <a:prstGeom prst="rect">
            <a:avLst/>
          </a:prstGeom>
          <a:noFill/>
        </p:spPr>
        <p:txBody>
          <a:bodyPr wrap="square" lIns="128016" rIns="128016" tIns="18288" bIns="18288" anchor="ctr">
            <a:spAutoFit/>
          </a:bodyPr>
          <a:lstStyle/>
          <a:p>
            <a:r>
              <a:rPr sz="1100" b="0" i="0">
                <a:solidFill>
                  <a:srgbClr val="1F2933"/>
                </a:solidFill>
                <a:latin typeface="Calibri"/>
              </a:rPr>
              <a:t>There is no text, so extract_text() returns an empty string. The picture is there: page.images lists it.</a:t>
            </a:r>
          </a:p>
        </p:txBody>
      </p:sp>
      <p:sp>
        <p:nvSpPr>
          <p:cNvPr id="8" name="code"/>
          <p:cNvSpPr/>
          <p:nvPr/>
        </p:nvSpPr>
        <p:spPr>
          <a:xfrm>
            <a:off x="365760" y="2286634"/>
            <a:ext cx="47518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image</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enumerate</a:t>
            </a:r>
            <a:r>
              <a:rPr sz="1000" b="0" i="0">
                <a:solidFill>
                  <a:srgbClr val="E6EDF3"/>
                </a:solidFill>
                <a:latin typeface="Courier New"/>
              </a:rPr>
              <a:t>(</a:t>
            </a:r>
            <a:r>
              <a:rPr sz="1000" b="0" i="0">
                <a:solidFill>
                  <a:srgbClr val="E6EDF3"/>
                </a:solidFill>
                <a:latin typeface="Courier New"/>
              </a:rPr>
              <a:t>page</a:t>
            </a:r>
            <a:r>
              <a:rPr sz="1000" b="0" i="0">
                <a:solidFill>
                  <a:srgbClr val="E6EDF3"/>
                </a:solidFill>
                <a:latin typeface="Courier New"/>
              </a:rPr>
              <a:t>.</a:t>
            </a:r>
            <a:r>
              <a:rPr sz="1000" b="0" i="0">
                <a:solidFill>
                  <a:srgbClr val="E6EDF3"/>
                </a:solidFill>
                <a:latin typeface="Courier New"/>
              </a:rPr>
              <a:t>images</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'page1_%d.bin'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a:t>
            </a:r>
            <a:r>
              <a:rPr sz="1000" b="0" i="0">
                <a:solidFill>
                  <a:srgbClr val="E6EDF3"/>
                </a:solidFill>
                <a:latin typeface="Courier New"/>
              </a:rPr>
              <a:t>(</a:t>
            </a:r>
            <a:r>
              <a:rPr sz="1000" b="0" i="0">
                <a:solidFill>
                  <a:srgbClr val="E6EDF3"/>
                </a:solidFill>
                <a:latin typeface="Courier New"/>
              </a:rPr>
              <a:t>image</a:t>
            </a:r>
            <a:r>
              <a:rPr sz="1000" b="0" i="0">
                <a:solidFill>
                  <a:srgbClr val="E6EDF3"/>
                </a:solidFill>
                <a:latin typeface="Courier New"/>
              </a:rPr>
              <a:t>.</a:t>
            </a:r>
            <a:r>
              <a:rPr sz="1000" b="0" i="0">
                <a:solidFill>
                  <a:srgbClr val="E6EDF3"/>
                </a:solidFill>
                <a:latin typeface="Courier New"/>
              </a:rPr>
              <a:t>data</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size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Image</a:t>
            </a:r>
            <a:r>
              <a:rPr sz="1000" b="0" i="0">
                <a:solidFill>
                  <a:srgbClr val="E6EDF3"/>
                </a:solidFill>
                <a:latin typeface="Courier New"/>
              </a:rPr>
              <a:t>.</a:t>
            </a:r>
            <a:r>
              <a:rPr sz="1000" b="0" i="0">
                <a:solidFill>
                  <a:srgbClr val="E6EDF3"/>
                </a:solidFill>
                <a:latin typeface="Courier New"/>
              </a:rPr>
              <a:t>open</a:t>
            </a:r>
            <a:r>
              <a:rPr sz="1000" b="0" i="0">
                <a:solidFill>
                  <a:srgbClr val="E6EDF3"/>
                </a:solidFill>
                <a:latin typeface="Courier New"/>
              </a:rPr>
              <a:t>(</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BytesIO</a:t>
            </a:r>
            <a:r>
              <a:rPr sz="1000" b="0" i="0">
                <a:solidFill>
                  <a:srgbClr val="E6EDF3"/>
                </a:solidFill>
                <a:latin typeface="Courier New"/>
              </a:rPr>
              <a:t>(</a:t>
            </a:r>
            <a:r>
              <a:rPr sz="1000" b="0" i="0">
                <a:solidFill>
                  <a:srgbClr val="E6EDF3"/>
                </a:solidFill>
                <a:latin typeface="Courier New"/>
              </a:rPr>
              <a:t>page</a:t>
            </a:r>
            <a:r>
              <a:rPr sz="1000" b="0" i="0">
                <a:solidFill>
                  <a:srgbClr val="E6EDF3"/>
                </a:solidFill>
                <a:latin typeface="Courier New"/>
              </a:rPr>
              <a:t>.</a:t>
            </a:r>
            <a:r>
              <a:rPr sz="1000" b="0" i="0">
                <a:solidFill>
                  <a:srgbClr val="E6EDF3"/>
                </a:solidFill>
                <a:latin typeface="Courier New"/>
              </a:rPr>
              <a:t>images</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data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size</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listdir</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size</a:t>
            </a:r>
            <a:r>
              <a:rPr sz="1000" b="0" i="0">
                <a:solidFill>
                  <a:srgbClr val="E6EDF3"/>
                </a:solidFill>
                <a:latin typeface="Courier New"/>
              </a:rPr>
              <a:t>)</a:t>
            </a:r>
          </a:p>
        </p:txBody>
      </p:sp>
      <p:sp>
        <p:nvSpPr>
          <p:cNvPr id="9" name="explanation"/>
          <p:cNvSpPr txBox="1"/>
          <p:nvPr/>
        </p:nvSpPr>
        <p:spPr>
          <a:xfrm>
            <a:off x="5099304" y="2286634"/>
            <a:ext cx="3678935" cy="911859"/>
          </a:xfrm>
          <a:prstGeom prst="rect">
            <a:avLst/>
          </a:prstGeom>
          <a:noFill/>
        </p:spPr>
        <p:txBody>
          <a:bodyPr wrap="square" lIns="128016" rIns="128016" tIns="18288" bIns="18288" anchor="ctr">
            <a:spAutoFit/>
          </a:bodyPr>
          <a:lstStyle/>
          <a:p>
            <a:r>
              <a:rPr sz="1100" b="0" i="0">
                <a:solidFill>
                  <a:srgbClr val="1F2933"/>
                </a:solidFill>
                <a:latin typeface="Calibri"/>
              </a:rPr>
              <a:t>The chapter's loop writes each image's bytes to a file. The bytes open as a picture of 60 by 40 pixels.</a:t>
            </a:r>
          </a:p>
        </p:txBody>
      </p:sp>
      <p:sp>
        <p:nvSpPr>
          <p:cNvPr id="10" name="result label"/>
          <p:cNvSpPr txBox="1"/>
          <p:nvPr/>
        </p:nvSpPr>
        <p:spPr>
          <a:xfrm>
            <a:off x="365760" y="325335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the picture"/>
          <p:cNvSpPr/>
          <p:nvPr/>
        </p:nvSpPr>
        <p:spPr>
          <a:xfrm>
            <a:off x="457200" y="3591687"/>
            <a:ext cx="1097280" cy="731520"/>
          </a:xfrm>
          <a:prstGeom prst="rect">
            <a:avLst/>
          </a:prstGeom>
          <a:solidFill>
            <a:srgbClr val="D62828"/>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visual note"/>
          <p:cNvSpPr txBox="1"/>
          <p:nvPr/>
        </p:nvSpPr>
        <p:spPr>
          <a:xfrm>
            <a:off x="365760" y="4368926"/>
            <a:ext cx="1554480" cy="219456"/>
          </a:xfrm>
          <a:prstGeom prst="rect">
            <a:avLst/>
          </a:prstGeom>
          <a:noFill/>
        </p:spPr>
        <p:txBody>
          <a:bodyPr wrap="square" lIns="45720" rIns="45720" tIns="27432" bIns="27432" anchor="t">
            <a:spAutoFit/>
          </a:bodyPr>
          <a:lstStyle/>
          <a:p>
            <a:r>
              <a:rPr sz="950" b="0" i="1">
                <a:solidFill>
                  <a:srgbClr val="5B6773"/>
                </a:solidFill>
                <a:latin typeface="Calibri"/>
              </a:rPr>
              <a:t>60 x 40 pixels</a:t>
            </a:r>
          </a:p>
        </p:txBody>
      </p:sp>
      <p:cxnSp>
        <p:nvCxnSpPr>
          <p:cNvPr id="13" name="arrow"/>
          <p:cNvCxnSpPr/>
          <p:nvPr/>
        </p:nvCxnSpPr>
        <p:spPr>
          <a:xfrm>
            <a:off x="1783080" y="3957447"/>
            <a:ext cx="45719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4" name="table"/>
          <p:cNvGraphicFramePr>
            <a:graphicFrameLocks noGrp="1"/>
          </p:cNvGraphicFramePr>
          <p:nvPr/>
        </p:nvGraphicFramePr>
        <p:xfrm>
          <a:off x="2331720" y="3545966"/>
          <a:ext cx="6446519" cy="1097280"/>
        </p:xfrm>
        <a:graphic>
          <a:graphicData uri="http://schemas.openxmlformats.org/drawingml/2006/table">
            <a:tbl>
              <a:tblPr firstRow="0" bandRow="0"/>
              <a:tblGrid>
                <a:gridCol w="1805025"/>
                <a:gridCol w="4641494"/>
              </a:tblGrid>
              <a:tr h="274320">
                <a:tc>
                  <a:txBody>
                    <a:bodyPr wrap="square"/>
                    <a:lstStyle/>
                    <a:p>
                      <a:r>
                        <a:rPr sz="1000" b="1" i="0">
                          <a:solidFill>
                            <a:srgbClr val="FFFFFF"/>
                          </a:solidFill>
                          <a:latin typeface="Calibri"/>
                        </a:rPr>
                        <a:t>on the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extract_text()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74320">
                <a:tc>
                  <a:txBody>
                    <a:bodyPr wrap="square"/>
                    <a:lstStyle/>
                    <a:p>
                      <a:r>
                        <a:rPr sz="1000" b="0" i="0">
                          <a:solidFill>
                            <a:srgbClr val="1F2933"/>
                          </a:solidFill>
                          <a:latin typeface="Courier New"/>
                        </a:rPr>
                        <a:t>len(page.images)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1000" b="0" i="0">
                          <a:solidFill>
                            <a:srgbClr val="1F2933"/>
                          </a:solidFill>
                          <a:latin typeface="Courier New"/>
                        </a:rPr>
                        <a:t>files written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['page1_1.bin']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scan is a picture without text.</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58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In July 2008 PDF became an international standard</a:t>
            </a:r>
          </a:p>
        </p:txBody>
      </p:sp>
      <p:pic>
        <p:nvPicPr>
          <p:cNvPr id="4" name="photo iso" descr="Picture for the story: In July 2008 PDF became an international standard"/>
          <p:cNvPicPr>
            <a:picLocks noChangeAspect="1"/>
          </p:cNvPicPr>
          <p:nvPr/>
        </p:nvPicPr>
        <p:blipFill>
          <a:blip r:embed="rId3"/>
          <a:stretch>
            <a:fillRect/>
          </a:stretch>
        </p:blipFill>
        <p:spPr>
          <a:xfrm>
            <a:off x="365760" y="869108"/>
            <a:ext cx="2651760" cy="2925222"/>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Adobe's headquarters towers, San Jose. Photo: Coolcaesar, CC BY-SA 3.0, Wikimedia Commons.</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Adobe Systems, which began the format, and the ISO committee TC 171/SC 2.</a:t>
            </a:r>
          </a:p>
        </p:txBody>
      </p:sp>
      <p:sp>
        <p:nvSpPr>
          <p:cNvPr id="8" name="card"/>
          <p:cNvSpPr/>
          <p:nvPr/>
        </p:nvSpPr>
        <p:spPr>
          <a:xfrm>
            <a:off x="3200400" y="1408176"/>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PDF 1.7 was published as the standard ISO 32000-1.</a:t>
            </a:r>
          </a:p>
        </p:txBody>
      </p:sp>
      <p:sp>
        <p:nvSpPr>
          <p:cNvPr id="10" name="card"/>
          <p:cNvSpPr/>
          <p:nvPr/>
        </p:nvSpPr>
        <p:spPr>
          <a:xfrm>
            <a:off x="3200400" y="1874519"/>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19"/>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Released in November 2006; Adobe announced in January 2007 that it sought standardization; published in July 2008.</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ISO, the International Organization for Standardization; the Library of Congress describes the format.</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A public standard lets other programs, such as pypdf, read and write PDF from the same rules.</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standard defines the header, numbered objects, cross-reference table and trailer that the first example opened.</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PDF 1.7, ISO 32000-1 (Library of Congress)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58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2: New PDFs from pages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Copy, turn, stamp and lock pages, and combine many files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PdfWriter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An empty binder that you fill with pages.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append and merge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Copy pages to the end or inside.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merge_page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Lays one page on another as a stamp.</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encrypt, decrypt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Lock a file; a password unlocks it.</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22860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100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building a new 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Copying pages into a new file: a tuple 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merge() puts pages inside; blank pages fi...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Rotating pages: angles add up and must be...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stamps and padlocks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Watermarks and overlays: merge_page lays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Encrypt, then decrypt: a locked file refu...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two keys, and Project 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Two passwords: the user opens, the owner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Which lock was used: RC4 by default, AES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folders and the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Project 12, step 1: find all PDF files 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Project 12, steps 2 and 3: open each 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58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building a new PDF</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new PDF from old pages is like a new binder made from other binders: you choose sheets and clip them in.</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Creating PDFs from Other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Photocopying chosen sheets from other binders into a new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PdfWriter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An empty binder with a hole punch: only what you add is in the new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append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Clipping sheets onto the end of the binder.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merge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Slipping sheets in at a chosen place inside the binder.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Inserting Blank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Adding clean sheets to separate one chapter from the next.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add_blank_page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clean sheet put at the back of the binder.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insert_blank_page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clean sheet slid in at page number 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Rotating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Turning a sheet a quarter turn, so that a wide table can be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58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Copying pages into a new file: a tuple is a range, a list is exact</a:t>
            </a:r>
          </a:p>
        </p:txBody>
      </p:sp>
      <p:sp>
        <p:nvSpPr>
          <p:cNvPr id="4" name="code"/>
          <p:cNvSpPr/>
          <p:nvPr/>
        </p:nvSpPr>
        <p:spPr>
          <a:xfrm>
            <a:off x="365760" y="786384"/>
            <a:ext cx="4980431"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p>
          <a:p>
            <a:pPr algn="l"/>
            <a:r>
              <a:rPr sz="1000" b="0" i="0">
                <a:solidFill>
                  <a:srgbClr val="8FA3B8"/>
                </a:solidFill>
                <a:latin typeface="Courier New"/>
              </a:rPr>
              <a:t>&gt;&gt;&gt; </a:t>
            </a:r>
            <a:r>
              <a:rPr sz="1000" b="0" i="0">
                <a:solidFill>
                  <a:srgbClr val="E6EDF3"/>
                </a:solidFill>
                <a:latin typeface="Courier New"/>
              </a:rPr>
              <a:t>src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r>
              <a:rPr sz="1000" b="0" i="0">
                <a:solidFill>
                  <a:srgbClr val="E6EDF3"/>
                </a:solidFill>
                <a:latin typeface="Courier New"/>
              </a:rPr>
              <a:t>.</a:t>
            </a:r>
            <a:r>
              <a:rPr sz="1000" b="0" i="0">
                <a:solidFill>
                  <a:srgbClr val="E6EDF3"/>
                </a:solidFill>
                <a:latin typeface="Courier New"/>
              </a:rPr>
              <a:t>PdfWriter</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range</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7</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src</a:t>
            </a:r>
            <a:r>
              <a:rPr sz="1000" b="0" i="0">
                <a:solidFill>
                  <a:srgbClr val="E6EDF3"/>
                </a:solidFill>
                <a:latin typeface="Courier New"/>
              </a:rPr>
              <a:t>.</a:t>
            </a:r>
            <a:r>
              <a:rPr sz="1000" b="0" i="0">
                <a:solidFill>
                  <a:srgbClr val="E6EDF3"/>
                </a:solidFill>
                <a:latin typeface="Courier New"/>
              </a:rPr>
              <a:t>add_blank_page</a:t>
            </a:r>
            <a:r>
              <a:rPr sz="1000" b="0" i="0">
                <a:solidFill>
                  <a:srgbClr val="E6EDF3"/>
                </a:solidFill>
                <a:latin typeface="Courier New"/>
              </a:rPr>
              <a:t>(</a:t>
            </a:r>
            <a:r>
              <a:rPr sz="1000" b="0" i="0">
                <a:solidFill>
                  <a:srgbClr val="7CC4FF"/>
                </a:solidFill>
                <a:latin typeface="Courier New"/>
              </a:rPr>
              <a:t>100</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100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buf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BytesIO</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src</a:t>
            </a:r>
            <a:r>
              <a:rPr sz="1000" b="0" i="0">
                <a:solidFill>
                  <a:srgbClr val="E6EDF3"/>
                </a:solidFill>
                <a:latin typeface="Courier New"/>
              </a:rPr>
              <a:t>.</a:t>
            </a:r>
            <a:r>
              <a:rPr sz="1000" b="0" i="0">
                <a:solidFill>
                  <a:srgbClr val="E6EDF3"/>
                </a:solidFill>
                <a:latin typeface="Courier New"/>
              </a:rPr>
              <a:t>write</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p>
        </p:txBody>
      </p:sp>
      <p:sp>
        <p:nvSpPr>
          <p:cNvPr id="5" name="explanation"/>
          <p:cNvSpPr txBox="1"/>
          <p:nvPr/>
        </p:nvSpPr>
        <p:spPr>
          <a:xfrm>
            <a:off x="5327904" y="786384"/>
            <a:ext cx="3450336" cy="911859"/>
          </a:xfrm>
          <a:prstGeom prst="rect">
            <a:avLst/>
          </a:prstGeom>
          <a:noFill/>
        </p:spPr>
        <p:txBody>
          <a:bodyPr wrap="square" lIns="128016" rIns="128016" tIns="18288" bIns="18288" anchor="ctr">
            <a:spAutoFit/>
          </a:bodyPr>
          <a:lstStyle/>
          <a:p>
            <a:r>
              <a:rPr sz="1100" b="0" i="0">
                <a:solidFill>
                  <a:srgbClr val="1F2933"/>
                </a:solidFill>
                <a:latin typeface="Calibri"/>
              </a:rPr>
              <a:t>A six-page source. Page n is n hundred points wide, so a width tells which page it was.</a:t>
            </a:r>
          </a:p>
        </p:txBody>
      </p:sp>
      <p:sp>
        <p:nvSpPr>
          <p:cNvPr id="6" name="code"/>
          <p:cNvSpPr/>
          <p:nvPr/>
        </p:nvSpPr>
        <p:spPr>
          <a:xfrm>
            <a:off x="365760" y="1743963"/>
            <a:ext cx="4980431"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pick</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r>
              <a:rPr sz="1000" b="0" i="0">
                <a:solidFill>
                  <a:srgbClr val="E6EDF3"/>
                </a:solidFill>
                <a:latin typeface="Courier New"/>
              </a:rPr>
              <a:t>.</a:t>
            </a:r>
            <a:r>
              <a:rPr sz="1000" b="0" i="0">
                <a:solidFill>
                  <a:srgbClr val="E6EDF3"/>
                </a:solidFill>
                <a:latin typeface="Courier New"/>
              </a:rPr>
              <a:t>PdfWriter</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append</a:t>
            </a:r>
            <a:r>
              <a:rPr sz="1000" b="0" i="0">
                <a:solidFill>
                  <a:srgbClr val="E6EDF3"/>
                </a:solidFill>
                <a:latin typeface="Courier New"/>
              </a:rPr>
              <a:t>(</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BytesIO</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r>
              <a:rPr sz="1000" b="0" i="0">
                <a:solidFill>
                  <a:srgbClr val="E6EDF3"/>
                </a:solidFill>
                <a:latin typeface="Courier New"/>
              </a:rPr>
              <a:t>getvalue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pages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int</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mediabox</a:t>
            </a:r>
            <a:r>
              <a:rPr sz="1000" b="0" i="0">
                <a:solidFill>
                  <a:srgbClr val="E6EDF3"/>
                </a:solidFill>
                <a:latin typeface="Courier New"/>
              </a:rPr>
              <a:t>.</a:t>
            </a:r>
            <a:r>
              <a:rPr sz="1000" b="0" i="0">
                <a:solidFill>
                  <a:srgbClr val="E6EDF3"/>
                </a:solidFill>
                <a:latin typeface="Courier New"/>
              </a:rPr>
              <a:t>width</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100</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p>
        </p:txBody>
      </p:sp>
      <p:sp>
        <p:nvSpPr>
          <p:cNvPr id="7" name="explanation"/>
          <p:cNvSpPr txBox="1"/>
          <p:nvPr/>
        </p:nvSpPr>
        <p:spPr>
          <a:xfrm>
            <a:off x="5327904" y="1743963"/>
            <a:ext cx="3450336" cy="756920"/>
          </a:xfrm>
          <a:prstGeom prst="rect">
            <a:avLst/>
          </a:prstGeom>
          <a:noFill/>
        </p:spPr>
        <p:txBody>
          <a:bodyPr wrap="square" lIns="128016" rIns="128016" tIns="18288" bIns="18288" anchor="ctr">
            <a:spAutoFit/>
          </a:bodyPr>
          <a:lstStyle/>
          <a:p>
            <a:r>
              <a:rPr sz="1100" b="0" i="0">
                <a:solidFill>
                  <a:srgbClr val="1F2933"/>
                </a:solidFill>
                <a:latin typeface="Calibri"/>
              </a:rPr>
              <a:t>pick() copies chosen pages into a new writer and reports which source pages arrived.</a:t>
            </a:r>
          </a:p>
        </p:txBody>
      </p:sp>
      <p:sp>
        <p:nvSpPr>
          <p:cNvPr id="8" name="code"/>
          <p:cNvSpPr/>
          <p:nvPr/>
        </p:nvSpPr>
        <p:spPr>
          <a:xfrm>
            <a:off x="365760" y="2546603"/>
            <a:ext cx="49804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pages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pick</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327904" y="2546603"/>
            <a:ext cx="3450336" cy="477266"/>
          </a:xfrm>
          <a:prstGeom prst="rect">
            <a:avLst/>
          </a:prstGeom>
          <a:noFill/>
        </p:spPr>
        <p:txBody>
          <a:bodyPr wrap="square" lIns="128016" rIns="128016" tIns="18288" bIns="18288" anchor="ctr">
            <a:spAutoFit/>
          </a:bodyPr>
          <a:lstStyle/>
          <a:p>
            <a:r>
              <a:rPr sz="1100" b="0" i="0">
                <a:solidFill>
                  <a:srgbClr val="1F2933"/>
                </a:solidFill>
                <a:latin typeface="Calibri"/>
              </a:rPr>
              <a:t>A tuple is a range like range(): start, stop, step. A list names the pages exactly.</a:t>
            </a:r>
          </a:p>
        </p:txBody>
      </p:sp>
      <p:sp>
        <p:nvSpPr>
          <p:cNvPr id="10" name="result label"/>
          <p:cNvSpPr txBox="1"/>
          <p:nvPr/>
        </p:nvSpPr>
        <p:spPr>
          <a:xfrm>
            <a:off x="365760" y="3078734"/>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25622"/>
            <a:ext cx="1143000" cy="310896"/>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(0, 5)</a:t>
            </a:r>
          </a:p>
        </p:txBody>
      </p:sp>
      <p:sp>
        <p:nvSpPr>
          <p:cNvPr id="12" name="Rounded Rectangle 11"/>
          <p:cNvSpPr/>
          <p:nvPr/>
        </p:nvSpPr>
        <p:spPr>
          <a:xfrm>
            <a:off x="1645919" y="332562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1</a:t>
            </a:r>
          </a:p>
        </p:txBody>
      </p:sp>
      <p:sp>
        <p:nvSpPr>
          <p:cNvPr id="13" name="Rounded Rectangle 12"/>
          <p:cNvSpPr/>
          <p:nvPr/>
        </p:nvSpPr>
        <p:spPr>
          <a:xfrm>
            <a:off x="2029967" y="332562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2</a:t>
            </a:r>
          </a:p>
        </p:txBody>
      </p:sp>
      <p:sp>
        <p:nvSpPr>
          <p:cNvPr id="14" name="Rounded Rectangle 13"/>
          <p:cNvSpPr/>
          <p:nvPr/>
        </p:nvSpPr>
        <p:spPr>
          <a:xfrm>
            <a:off x="2414015" y="332562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3</a:t>
            </a:r>
          </a:p>
        </p:txBody>
      </p:sp>
      <p:sp>
        <p:nvSpPr>
          <p:cNvPr id="15" name="Rounded Rectangle 14"/>
          <p:cNvSpPr/>
          <p:nvPr/>
        </p:nvSpPr>
        <p:spPr>
          <a:xfrm>
            <a:off x="2798064" y="332562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4</a:t>
            </a:r>
          </a:p>
        </p:txBody>
      </p:sp>
      <p:sp>
        <p:nvSpPr>
          <p:cNvPr id="16" name="Rounded Rectangle 15"/>
          <p:cNvSpPr/>
          <p:nvPr/>
        </p:nvSpPr>
        <p:spPr>
          <a:xfrm>
            <a:off x="3182112" y="332562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5</a:t>
            </a:r>
          </a:p>
        </p:txBody>
      </p:sp>
      <p:sp>
        <p:nvSpPr>
          <p:cNvPr id="17" name="Rounded Rectangle 16"/>
          <p:cNvSpPr/>
          <p:nvPr/>
        </p:nvSpPr>
        <p:spPr>
          <a:xfrm>
            <a:off x="3566160" y="3325622"/>
            <a:ext cx="310896" cy="310896"/>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6</a:t>
            </a:r>
          </a:p>
        </p:txBody>
      </p:sp>
      <p:cxnSp>
        <p:nvCxnSpPr>
          <p:cNvPr id="18" name="arrow"/>
          <p:cNvCxnSpPr/>
          <p:nvPr/>
        </p:nvCxnSpPr>
        <p:spPr>
          <a:xfrm>
            <a:off x="4069080" y="3481070"/>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meaning"/>
          <p:cNvSpPr txBox="1"/>
          <p:nvPr/>
        </p:nvSpPr>
        <p:spPr>
          <a:xfrm>
            <a:off x="4480560" y="3325622"/>
            <a:ext cx="4297680" cy="310896"/>
          </a:xfrm>
          <a:prstGeom prst="rect">
            <a:avLst/>
          </a:prstGeom>
          <a:noFill/>
        </p:spPr>
        <p:txBody>
          <a:bodyPr wrap="square" lIns="45720" rIns="45720" tIns="27432" bIns="27432" anchor="ctr">
            <a:spAutoFit/>
          </a:bodyPr>
          <a:lstStyle/>
          <a:p>
            <a:r>
              <a:rPr sz="1050" b="0" i="0">
                <a:solidFill>
                  <a:srgbClr val="1F2933"/>
                </a:solidFill>
                <a:latin typeface="Calibri"/>
              </a:rPr>
              <a:t>copies 5 pages: a range, stop before 5</a:t>
            </a:r>
          </a:p>
        </p:txBody>
      </p:sp>
      <p:sp>
        <p:nvSpPr>
          <p:cNvPr id="20" name="Rounded Rectangle 19"/>
          <p:cNvSpPr/>
          <p:nvPr/>
        </p:nvSpPr>
        <p:spPr>
          <a:xfrm>
            <a:off x="365760" y="3691382"/>
            <a:ext cx="1143000" cy="310896"/>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(0, 5, 2)</a:t>
            </a:r>
          </a:p>
        </p:txBody>
      </p:sp>
      <p:sp>
        <p:nvSpPr>
          <p:cNvPr id="21" name="Rounded Rectangle 20"/>
          <p:cNvSpPr/>
          <p:nvPr/>
        </p:nvSpPr>
        <p:spPr>
          <a:xfrm>
            <a:off x="1645919" y="369138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1</a:t>
            </a:r>
          </a:p>
        </p:txBody>
      </p:sp>
      <p:sp>
        <p:nvSpPr>
          <p:cNvPr id="22" name="Rounded Rectangle 21"/>
          <p:cNvSpPr/>
          <p:nvPr/>
        </p:nvSpPr>
        <p:spPr>
          <a:xfrm>
            <a:off x="2029967" y="3691382"/>
            <a:ext cx="310896" cy="310896"/>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2</a:t>
            </a:r>
          </a:p>
        </p:txBody>
      </p:sp>
      <p:sp>
        <p:nvSpPr>
          <p:cNvPr id="23" name="Rounded Rectangle 22"/>
          <p:cNvSpPr/>
          <p:nvPr/>
        </p:nvSpPr>
        <p:spPr>
          <a:xfrm>
            <a:off x="2414015" y="369138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3</a:t>
            </a:r>
          </a:p>
        </p:txBody>
      </p:sp>
      <p:sp>
        <p:nvSpPr>
          <p:cNvPr id="24" name="Rounded Rectangle 23"/>
          <p:cNvSpPr/>
          <p:nvPr/>
        </p:nvSpPr>
        <p:spPr>
          <a:xfrm>
            <a:off x="2798064" y="3691382"/>
            <a:ext cx="310896" cy="310896"/>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4</a:t>
            </a:r>
          </a:p>
        </p:txBody>
      </p:sp>
      <p:sp>
        <p:nvSpPr>
          <p:cNvPr id="25" name="Rounded Rectangle 24"/>
          <p:cNvSpPr/>
          <p:nvPr/>
        </p:nvSpPr>
        <p:spPr>
          <a:xfrm>
            <a:off x="3182112" y="369138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5</a:t>
            </a:r>
          </a:p>
        </p:txBody>
      </p:sp>
      <p:sp>
        <p:nvSpPr>
          <p:cNvPr id="26" name="Rounded Rectangle 25"/>
          <p:cNvSpPr/>
          <p:nvPr/>
        </p:nvSpPr>
        <p:spPr>
          <a:xfrm>
            <a:off x="3566160" y="3691382"/>
            <a:ext cx="310896" cy="310896"/>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6</a:t>
            </a:r>
          </a:p>
        </p:txBody>
      </p:sp>
      <p:cxnSp>
        <p:nvCxnSpPr>
          <p:cNvPr id="27" name="arrow"/>
          <p:cNvCxnSpPr/>
          <p:nvPr/>
        </p:nvCxnSpPr>
        <p:spPr>
          <a:xfrm>
            <a:off x="4069080" y="3846830"/>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meaning"/>
          <p:cNvSpPr txBox="1"/>
          <p:nvPr/>
        </p:nvSpPr>
        <p:spPr>
          <a:xfrm>
            <a:off x="4480560" y="3691382"/>
            <a:ext cx="4297680" cy="310896"/>
          </a:xfrm>
          <a:prstGeom prst="rect">
            <a:avLst/>
          </a:prstGeom>
          <a:noFill/>
        </p:spPr>
        <p:txBody>
          <a:bodyPr wrap="square" lIns="45720" rIns="45720" tIns="27432" bIns="27432" anchor="ctr">
            <a:spAutoFit/>
          </a:bodyPr>
          <a:lstStyle/>
          <a:p>
            <a:r>
              <a:rPr sz="1050" b="0" i="0">
                <a:solidFill>
                  <a:srgbClr val="1F2933"/>
                </a:solidFill>
                <a:latin typeface="Calibri"/>
              </a:rPr>
              <a:t>copies 3 pages: every second page</a:t>
            </a:r>
          </a:p>
        </p:txBody>
      </p:sp>
      <p:sp>
        <p:nvSpPr>
          <p:cNvPr id="29" name="Rounded Rectangle 28"/>
          <p:cNvSpPr/>
          <p:nvPr/>
        </p:nvSpPr>
        <p:spPr>
          <a:xfrm>
            <a:off x="365760" y="4057142"/>
            <a:ext cx="1143000" cy="310896"/>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[0, 5]</a:t>
            </a:r>
          </a:p>
        </p:txBody>
      </p:sp>
      <p:sp>
        <p:nvSpPr>
          <p:cNvPr id="30" name="Rounded Rectangle 29"/>
          <p:cNvSpPr/>
          <p:nvPr/>
        </p:nvSpPr>
        <p:spPr>
          <a:xfrm>
            <a:off x="1645919" y="405714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1</a:t>
            </a:r>
          </a:p>
        </p:txBody>
      </p:sp>
      <p:sp>
        <p:nvSpPr>
          <p:cNvPr id="31" name="Rounded Rectangle 30"/>
          <p:cNvSpPr/>
          <p:nvPr/>
        </p:nvSpPr>
        <p:spPr>
          <a:xfrm>
            <a:off x="2029967" y="4057142"/>
            <a:ext cx="310896" cy="310896"/>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2</a:t>
            </a:r>
          </a:p>
        </p:txBody>
      </p:sp>
      <p:sp>
        <p:nvSpPr>
          <p:cNvPr id="32" name="Rounded Rectangle 31"/>
          <p:cNvSpPr/>
          <p:nvPr/>
        </p:nvSpPr>
        <p:spPr>
          <a:xfrm>
            <a:off x="2414015" y="4057142"/>
            <a:ext cx="310896" cy="310896"/>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3</a:t>
            </a:r>
          </a:p>
        </p:txBody>
      </p:sp>
      <p:sp>
        <p:nvSpPr>
          <p:cNvPr id="33" name="Rounded Rectangle 32"/>
          <p:cNvSpPr/>
          <p:nvPr/>
        </p:nvSpPr>
        <p:spPr>
          <a:xfrm>
            <a:off x="2798064" y="4057142"/>
            <a:ext cx="310896" cy="310896"/>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4</a:t>
            </a:r>
          </a:p>
        </p:txBody>
      </p:sp>
      <p:sp>
        <p:nvSpPr>
          <p:cNvPr id="34" name="Rounded Rectangle 33"/>
          <p:cNvSpPr/>
          <p:nvPr/>
        </p:nvSpPr>
        <p:spPr>
          <a:xfrm>
            <a:off x="3182112" y="4057142"/>
            <a:ext cx="310896" cy="310896"/>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5</a:t>
            </a:r>
          </a:p>
        </p:txBody>
      </p:sp>
      <p:sp>
        <p:nvSpPr>
          <p:cNvPr id="35" name="Rounded Rectangle 34"/>
          <p:cNvSpPr/>
          <p:nvPr/>
        </p:nvSpPr>
        <p:spPr>
          <a:xfrm>
            <a:off x="3566160" y="4057142"/>
            <a:ext cx="310896" cy="310896"/>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6</a:t>
            </a:r>
          </a:p>
        </p:txBody>
      </p:sp>
      <p:cxnSp>
        <p:nvCxnSpPr>
          <p:cNvPr id="36" name="arrow"/>
          <p:cNvCxnSpPr/>
          <p:nvPr/>
        </p:nvCxnSpPr>
        <p:spPr>
          <a:xfrm>
            <a:off x="4069080" y="4212590"/>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meaning"/>
          <p:cNvSpPr txBox="1"/>
          <p:nvPr/>
        </p:nvSpPr>
        <p:spPr>
          <a:xfrm>
            <a:off x="4480560" y="4057142"/>
            <a:ext cx="4297680" cy="310896"/>
          </a:xfrm>
          <a:prstGeom prst="rect">
            <a:avLst/>
          </a:prstGeom>
          <a:noFill/>
        </p:spPr>
        <p:txBody>
          <a:bodyPr wrap="square" lIns="45720" rIns="45720" tIns="27432" bIns="27432" anchor="ctr">
            <a:spAutoFit/>
          </a:bodyPr>
          <a:lstStyle/>
          <a:p>
            <a:r>
              <a:rPr sz="1050" b="0" i="0">
                <a:solidFill>
                  <a:srgbClr val="1F2933"/>
                </a:solidFill>
                <a:latin typeface="Calibri"/>
              </a:rPr>
              <a:t>copies 2 pages: exactly pages 1 and 6</a:t>
            </a:r>
          </a:p>
        </p:txBody>
      </p:sp>
      <p:sp>
        <p:nvSpPr>
          <p:cNvPr id="3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tuple is a range; a list is exact.</a:t>
            </a:r>
          </a:p>
        </p:txBody>
      </p:sp>
      <p:sp>
        <p:nvSpPr>
          <p:cNvPr id="4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58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merge() puts pages inside; blank pages fill gaps</a:t>
            </a:r>
          </a:p>
        </p:txBody>
      </p:sp>
      <p:sp>
        <p:nvSpPr>
          <p:cNvPr id="4" name="code"/>
          <p:cNvSpPr/>
          <p:nvPr/>
        </p:nvSpPr>
        <p:spPr>
          <a:xfrm>
            <a:off x="365760" y="786384"/>
            <a:ext cx="51328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p>
          <a:p>
            <a:pPr algn="l"/>
            <a:r>
              <a:rPr sz="1000" b="0" i="0">
                <a:solidFill>
                  <a:srgbClr val="8FA3B8"/>
                </a:solidFill>
                <a:latin typeface="Courier New"/>
              </a:rPr>
              <a:t>&gt;&gt;&gt; </a:t>
            </a:r>
            <a:r>
              <a:rPr sz="1000" b="0" i="0">
                <a:solidFill>
                  <a:srgbClr val="E6EDF3"/>
                </a:solidFill>
                <a:latin typeface="Courier New"/>
              </a:rPr>
              <a:t>w</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r>
              <a:rPr sz="1000" b="0" i="0">
                <a:solidFill>
                  <a:srgbClr val="E6EDF3"/>
                </a:solidFill>
                <a:latin typeface="Courier New"/>
              </a:rPr>
              <a:t>.</a:t>
            </a:r>
            <a:r>
              <a:rPr sz="1000" b="0" i="0">
                <a:solidFill>
                  <a:srgbClr val="E6EDF3"/>
                </a:solidFill>
                <a:latin typeface="Courier New"/>
              </a:rPr>
              <a:t>PdfWriter</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add_blank_page</a:t>
            </a:r>
            <a:r>
              <a:rPr sz="1000" b="0" i="0">
                <a:solidFill>
                  <a:srgbClr val="E6EDF3"/>
                </a:solidFill>
                <a:latin typeface="Courier New"/>
              </a:rPr>
              <a:t>(</a:t>
            </a:r>
            <a:r>
              <a:rPr sz="1000" b="0" i="0">
                <a:solidFill>
                  <a:srgbClr val="7CC4FF"/>
                </a:solidFill>
                <a:latin typeface="Courier New"/>
              </a:rPr>
              <a:t>100</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100</a:t>
            </a:r>
            <a:r>
              <a:rPr sz="1000" b="0" i="0">
                <a:solidFill>
                  <a:srgbClr val="E6EDF3"/>
                </a:solidFill>
                <a:latin typeface="Courier New"/>
              </a:rPr>
              <a:t>)</a:t>
            </a:r>
          </a:p>
        </p:txBody>
      </p:sp>
      <p:sp>
        <p:nvSpPr>
          <p:cNvPr id="5" name="explanation"/>
          <p:cNvSpPr txBox="1"/>
          <p:nvPr/>
        </p:nvSpPr>
        <p:spPr>
          <a:xfrm>
            <a:off x="5480304" y="786384"/>
            <a:ext cx="3297935" cy="651891"/>
          </a:xfrm>
          <a:prstGeom prst="rect">
            <a:avLst/>
          </a:prstGeom>
          <a:noFill/>
        </p:spPr>
        <p:txBody>
          <a:bodyPr wrap="square" lIns="128016" rIns="128016" tIns="18288" bIns="18288" anchor="ctr">
            <a:spAutoFit/>
          </a:bodyPr>
          <a:lstStyle/>
          <a:p>
            <a:r>
              <a:rPr sz="1100" b="0" i="0">
                <a:solidFill>
                  <a:srgbClr val="1F2933"/>
                </a:solidFill>
                <a:latin typeface="Calibri"/>
              </a:rPr>
              <a:t>Three pages 100, 200 and 300 points wide. add_blank_page() adds a page at the end.</a:t>
            </a:r>
          </a:p>
        </p:txBody>
      </p:sp>
      <p:sp>
        <p:nvSpPr>
          <p:cNvPr id="6" name="code"/>
          <p:cNvSpPr/>
          <p:nvPr/>
        </p:nvSpPr>
        <p:spPr>
          <a:xfrm>
            <a:off x="365760" y="1483995"/>
            <a:ext cx="51328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other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pypdf</a:t>
            </a:r>
            <a:r>
              <a:rPr sz="1000" b="0" i="0">
                <a:solidFill>
                  <a:srgbClr val="E6EDF3"/>
                </a:solidFill>
                <a:latin typeface="Courier New"/>
              </a:rPr>
              <a:t>.</a:t>
            </a:r>
            <a:r>
              <a:rPr sz="1000" b="0" i="0">
                <a:solidFill>
                  <a:srgbClr val="E6EDF3"/>
                </a:solidFill>
                <a:latin typeface="Courier New"/>
              </a:rPr>
              <a:t>PdfWriter</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7</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8</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other</a:t>
            </a:r>
            <a:r>
              <a:rPr sz="1000" b="0" i="0">
                <a:solidFill>
                  <a:srgbClr val="E6EDF3"/>
                </a:solidFill>
                <a:latin typeface="Courier New"/>
              </a:rPr>
              <a:t>.</a:t>
            </a:r>
            <a:r>
              <a:rPr sz="1000" b="0" i="0">
                <a:solidFill>
                  <a:srgbClr val="E6EDF3"/>
                </a:solidFill>
                <a:latin typeface="Courier New"/>
              </a:rPr>
              <a:t>add_blank_page</a:t>
            </a:r>
            <a:r>
              <a:rPr sz="1000" b="0" i="0">
                <a:solidFill>
                  <a:srgbClr val="E6EDF3"/>
                </a:solidFill>
                <a:latin typeface="Courier New"/>
              </a:rPr>
              <a:t>(</a:t>
            </a:r>
            <a:r>
              <a:rPr sz="1000" b="0" i="0">
                <a:solidFill>
                  <a:srgbClr val="7CC4FF"/>
                </a:solidFill>
                <a:latin typeface="Courier New"/>
              </a:rPr>
              <a:t>100</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100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buf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BytesIO</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other</a:t>
            </a:r>
            <a:r>
              <a:rPr sz="1000" b="0" i="0">
                <a:solidFill>
                  <a:srgbClr val="E6EDF3"/>
                </a:solidFill>
                <a:latin typeface="Courier New"/>
              </a:rPr>
              <a:t>.</a:t>
            </a:r>
            <a:r>
              <a:rPr sz="1000" b="0" i="0">
                <a:solidFill>
                  <a:srgbClr val="E6EDF3"/>
                </a:solidFill>
                <a:latin typeface="Courier New"/>
              </a:rPr>
              <a:t>write</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p>
        </p:txBody>
      </p:sp>
      <p:sp>
        <p:nvSpPr>
          <p:cNvPr id="7" name="explanation"/>
          <p:cNvSpPr txBox="1"/>
          <p:nvPr/>
        </p:nvSpPr>
        <p:spPr>
          <a:xfrm>
            <a:off x="5480304" y="1483995"/>
            <a:ext cx="3297935" cy="756920"/>
          </a:xfrm>
          <a:prstGeom prst="rect">
            <a:avLst/>
          </a:prstGeom>
          <a:noFill/>
        </p:spPr>
        <p:txBody>
          <a:bodyPr wrap="square" lIns="128016" rIns="128016" tIns="18288" bIns="18288" anchor="ctr">
            <a:spAutoFit/>
          </a:bodyPr>
          <a:lstStyle/>
          <a:p>
            <a:r>
              <a:rPr sz="1100" b="0" i="0">
                <a:solidFill>
                  <a:srgbClr val="1F2933"/>
                </a:solidFill>
                <a:latin typeface="Calibri"/>
              </a:rPr>
              <a:t>A second file of two pages, 700 and 800 points wide, kept in memory.</a:t>
            </a:r>
          </a:p>
        </p:txBody>
      </p:sp>
      <p:sp>
        <p:nvSpPr>
          <p:cNvPr id="8" name="code"/>
          <p:cNvSpPr/>
          <p:nvPr/>
        </p:nvSpPr>
        <p:spPr>
          <a:xfrm>
            <a:off x="365760" y="2286635"/>
            <a:ext cx="51328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sizes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int</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mediabox</a:t>
            </a:r>
            <a:r>
              <a:rPr sz="1000" b="0" i="0">
                <a:solidFill>
                  <a:srgbClr val="E6EDF3"/>
                </a:solidFill>
                <a:latin typeface="Courier New"/>
              </a:rPr>
              <a:t>.</a:t>
            </a:r>
            <a:r>
              <a:rPr sz="1000" b="0" i="0">
                <a:solidFill>
                  <a:srgbClr val="E6EDF3"/>
                </a:solidFill>
                <a:latin typeface="Courier New"/>
              </a:rPr>
              <a:t>width</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merge</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buf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pages</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'after merge at 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sizes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insert_blank_page</a:t>
            </a:r>
            <a:r>
              <a:rPr sz="1000" b="0" i="0">
                <a:solidFill>
                  <a:srgbClr val="E6EDF3"/>
                </a:solidFill>
                <a:latin typeface="Courier New"/>
              </a:rPr>
              <a:t>(</a:t>
            </a:r>
            <a:r>
              <a:rPr sz="1000" b="0" i="0">
                <a:solidFill>
                  <a:srgbClr val="E6EDF3"/>
                </a:solidFill>
                <a:latin typeface="Courier New"/>
              </a:rPr>
              <a:t>index</a:t>
            </a:r>
            <a:r>
              <a:rPr sz="1000" b="0" i="0">
                <a:solidFill>
                  <a:srgbClr val="E6EDF3"/>
                </a:solidFill>
                <a:latin typeface="Courier New"/>
              </a:rPr>
              <a:t>=</a:t>
            </a:r>
            <a:r>
              <a:rPr sz="1000" b="0" i="0">
                <a:solidFill>
                  <a:srgbClr val="7CC4FF"/>
                </a:solidFill>
                <a:latin typeface="Courier New"/>
              </a:rPr>
              <a:t>2</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'after insert_blank_page:'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sizes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480304" y="2286635"/>
            <a:ext cx="3297935" cy="911859"/>
          </a:xfrm>
          <a:prstGeom prst="rect">
            <a:avLst/>
          </a:prstGeom>
          <a:noFill/>
        </p:spPr>
        <p:txBody>
          <a:bodyPr wrap="square" lIns="128016" rIns="128016" tIns="18288" bIns="18288" anchor="ctr">
            <a:spAutoFit/>
          </a:bodyPr>
          <a:lstStyle/>
          <a:p>
            <a:r>
              <a:rPr sz="1100" b="0" i="0">
                <a:solidFill>
                  <a:srgbClr val="1F2933"/>
                </a:solidFill>
                <a:latin typeface="Calibri"/>
              </a:rPr>
              <a:t>merge() inserts pages at position 1; write pages=, or a tuple is read as a bookmark title. A blank page copies its neighbour's size.</a:t>
            </a:r>
          </a:p>
        </p:txBody>
      </p:sp>
      <p:sp>
        <p:nvSpPr>
          <p:cNvPr id="10" name="result label"/>
          <p:cNvSpPr txBox="1"/>
          <p:nvPr/>
        </p:nvSpPr>
        <p:spPr>
          <a:xfrm>
            <a:off x="365760" y="325335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step"/>
          <p:cNvSpPr txBox="1"/>
          <p:nvPr/>
        </p:nvSpPr>
        <p:spPr>
          <a:xfrm>
            <a:off x="365760" y="3500247"/>
            <a:ext cx="2240280" cy="274320"/>
          </a:xfrm>
          <a:prstGeom prst="rect">
            <a:avLst/>
          </a:prstGeom>
          <a:noFill/>
        </p:spPr>
        <p:txBody>
          <a:bodyPr wrap="square" lIns="45720" rIns="45720" tIns="27432" bIns="27432" anchor="ctr">
            <a:spAutoFit/>
          </a:bodyPr>
          <a:lstStyle/>
          <a:p>
            <a:r>
              <a:rPr sz="1000" b="0" i="0">
                <a:solidFill>
                  <a:srgbClr val="1F2933"/>
                </a:solidFill>
                <a:latin typeface="Calibri"/>
              </a:rPr>
              <a:t>start</a:t>
            </a:r>
          </a:p>
        </p:txBody>
      </p:sp>
      <p:cxnSp>
        <p:nvCxnSpPr>
          <p:cNvPr id="12" name="arrow"/>
          <p:cNvCxnSpPr/>
          <p:nvPr/>
        </p:nvCxnSpPr>
        <p:spPr>
          <a:xfrm>
            <a:off x="2651760" y="3637406"/>
            <a:ext cx="25603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6079" y="3500247"/>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100</a:t>
            </a:r>
          </a:p>
        </p:txBody>
      </p:sp>
      <p:sp>
        <p:nvSpPr>
          <p:cNvPr id="14" name="Rounded Rectangle 13"/>
          <p:cNvSpPr/>
          <p:nvPr/>
        </p:nvSpPr>
        <p:spPr>
          <a:xfrm>
            <a:off x="3840479" y="3500247"/>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200</a:t>
            </a:r>
          </a:p>
        </p:txBody>
      </p:sp>
      <p:sp>
        <p:nvSpPr>
          <p:cNvPr id="15" name="Rounded Rectangle 14"/>
          <p:cNvSpPr/>
          <p:nvPr/>
        </p:nvSpPr>
        <p:spPr>
          <a:xfrm>
            <a:off x="4754879" y="3500247"/>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300</a:t>
            </a:r>
          </a:p>
        </p:txBody>
      </p:sp>
      <p:sp>
        <p:nvSpPr>
          <p:cNvPr id="16" name="step"/>
          <p:cNvSpPr txBox="1"/>
          <p:nvPr/>
        </p:nvSpPr>
        <p:spPr>
          <a:xfrm>
            <a:off x="365760" y="3811143"/>
            <a:ext cx="2240280" cy="274320"/>
          </a:xfrm>
          <a:prstGeom prst="rect">
            <a:avLst/>
          </a:prstGeom>
          <a:noFill/>
        </p:spPr>
        <p:txBody>
          <a:bodyPr wrap="square" lIns="45720" rIns="45720" tIns="27432" bIns="27432" anchor="ctr">
            <a:spAutoFit/>
          </a:bodyPr>
          <a:lstStyle/>
          <a:p>
            <a:r>
              <a:rPr sz="1000" b="0" i="0">
                <a:solidFill>
                  <a:srgbClr val="1F2933"/>
                </a:solidFill>
                <a:latin typeface="Calibri"/>
              </a:rPr>
              <a:t>merge(1, ..., pages=(0, 2))</a:t>
            </a:r>
          </a:p>
        </p:txBody>
      </p:sp>
      <p:cxnSp>
        <p:nvCxnSpPr>
          <p:cNvPr id="17" name="arrow"/>
          <p:cNvCxnSpPr/>
          <p:nvPr/>
        </p:nvCxnSpPr>
        <p:spPr>
          <a:xfrm>
            <a:off x="2651760" y="3948303"/>
            <a:ext cx="25603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926079" y="3811143"/>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100</a:t>
            </a:r>
          </a:p>
        </p:txBody>
      </p:sp>
      <p:sp>
        <p:nvSpPr>
          <p:cNvPr id="19" name="Rounded Rectangle 18"/>
          <p:cNvSpPr/>
          <p:nvPr/>
        </p:nvSpPr>
        <p:spPr>
          <a:xfrm>
            <a:off x="3840479" y="3811143"/>
            <a:ext cx="822960" cy="2743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700</a:t>
            </a:r>
          </a:p>
        </p:txBody>
      </p:sp>
      <p:sp>
        <p:nvSpPr>
          <p:cNvPr id="20" name="Rounded Rectangle 19"/>
          <p:cNvSpPr/>
          <p:nvPr/>
        </p:nvSpPr>
        <p:spPr>
          <a:xfrm>
            <a:off x="4754879" y="3811143"/>
            <a:ext cx="822960" cy="2743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800</a:t>
            </a:r>
          </a:p>
        </p:txBody>
      </p:sp>
      <p:sp>
        <p:nvSpPr>
          <p:cNvPr id="21" name="Rounded Rectangle 20"/>
          <p:cNvSpPr/>
          <p:nvPr/>
        </p:nvSpPr>
        <p:spPr>
          <a:xfrm>
            <a:off x="5669279" y="3811143"/>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200</a:t>
            </a:r>
          </a:p>
        </p:txBody>
      </p:sp>
      <p:sp>
        <p:nvSpPr>
          <p:cNvPr id="22" name="Rounded Rectangle 21"/>
          <p:cNvSpPr/>
          <p:nvPr/>
        </p:nvSpPr>
        <p:spPr>
          <a:xfrm>
            <a:off x="6583679" y="3811143"/>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300</a:t>
            </a:r>
          </a:p>
        </p:txBody>
      </p:sp>
      <p:sp>
        <p:nvSpPr>
          <p:cNvPr id="23" name="step"/>
          <p:cNvSpPr txBox="1"/>
          <p:nvPr/>
        </p:nvSpPr>
        <p:spPr>
          <a:xfrm>
            <a:off x="365760" y="4122039"/>
            <a:ext cx="2240280" cy="274320"/>
          </a:xfrm>
          <a:prstGeom prst="rect">
            <a:avLst/>
          </a:prstGeom>
          <a:noFill/>
        </p:spPr>
        <p:txBody>
          <a:bodyPr wrap="square" lIns="45720" rIns="45720" tIns="27432" bIns="27432" anchor="ctr">
            <a:spAutoFit/>
          </a:bodyPr>
          <a:lstStyle/>
          <a:p>
            <a:r>
              <a:rPr sz="1000" b="0" i="0">
                <a:solidFill>
                  <a:srgbClr val="1F2933"/>
                </a:solidFill>
                <a:latin typeface="Calibri"/>
              </a:rPr>
              <a:t>insert_blank_page(index=2)</a:t>
            </a:r>
          </a:p>
        </p:txBody>
      </p:sp>
      <p:cxnSp>
        <p:nvCxnSpPr>
          <p:cNvPr id="24" name="arrow"/>
          <p:cNvCxnSpPr/>
          <p:nvPr/>
        </p:nvCxnSpPr>
        <p:spPr>
          <a:xfrm>
            <a:off x="2651760" y="4259199"/>
            <a:ext cx="25603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926079" y="4122039"/>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100</a:t>
            </a:r>
          </a:p>
        </p:txBody>
      </p:sp>
      <p:sp>
        <p:nvSpPr>
          <p:cNvPr id="26" name="Rounded Rectangle 25"/>
          <p:cNvSpPr/>
          <p:nvPr/>
        </p:nvSpPr>
        <p:spPr>
          <a:xfrm>
            <a:off x="3840479" y="4122039"/>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700</a:t>
            </a:r>
          </a:p>
        </p:txBody>
      </p:sp>
      <p:sp>
        <p:nvSpPr>
          <p:cNvPr id="27" name="Rounded Rectangle 26"/>
          <p:cNvSpPr/>
          <p:nvPr/>
        </p:nvSpPr>
        <p:spPr>
          <a:xfrm>
            <a:off x="4754879" y="4122039"/>
            <a:ext cx="822960"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800</a:t>
            </a:r>
          </a:p>
        </p:txBody>
      </p:sp>
      <p:sp>
        <p:nvSpPr>
          <p:cNvPr id="28" name="Rounded Rectangle 27"/>
          <p:cNvSpPr/>
          <p:nvPr/>
        </p:nvSpPr>
        <p:spPr>
          <a:xfrm>
            <a:off x="5669279" y="4122039"/>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800</a:t>
            </a:r>
          </a:p>
        </p:txBody>
      </p:sp>
      <p:sp>
        <p:nvSpPr>
          <p:cNvPr id="29" name="Rounded Rectangle 28"/>
          <p:cNvSpPr/>
          <p:nvPr/>
        </p:nvSpPr>
        <p:spPr>
          <a:xfrm>
            <a:off x="6583679" y="4122039"/>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200</a:t>
            </a:r>
          </a:p>
        </p:txBody>
      </p:sp>
      <p:sp>
        <p:nvSpPr>
          <p:cNvPr id="30" name="Rounded Rectangle 29"/>
          <p:cNvSpPr/>
          <p:nvPr/>
        </p:nvSpPr>
        <p:spPr>
          <a:xfrm>
            <a:off x="7498079" y="4122039"/>
            <a:ext cx="82296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300</a:t>
            </a:r>
          </a:p>
        </p:txBody>
      </p:sp>
      <p:sp>
        <p:nvSpPr>
          <p:cNvPr id="31" name="visual note"/>
          <p:cNvSpPr txBox="1"/>
          <p:nvPr/>
        </p:nvSpPr>
        <p:spPr>
          <a:xfrm>
            <a:off x="365760" y="4432935"/>
            <a:ext cx="8412480" cy="182880"/>
          </a:xfrm>
          <a:prstGeom prst="rect">
            <a:avLst/>
          </a:prstGeom>
          <a:noFill/>
        </p:spPr>
        <p:txBody>
          <a:bodyPr wrap="square" lIns="45720" rIns="45720" tIns="27432" bIns="27432" anchor="t">
            <a:spAutoFit/>
          </a:bodyPr>
          <a:lstStyle/>
          <a:p>
            <a:r>
              <a:rPr sz="950" b="0" i="1">
                <a:solidFill>
                  <a:srgbClr val="5B6773"/>
                </a:solidFill>
                <a:latin typeface="Calibri"/>
              </a:rPr>
              <a:t>each box is one page, named by its width; amber pages came from the other file, teal is the blank page</a:t>
            </a:r>
          </a:p>
        </p:txBody>
      </p:sp>
      <p:sp>
        <p:nvSpPr>
          <p:cNvPr id="3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Name pages= in merge(); a blank page copies its neighbour.</a:t>
            </a:r>
          </a:p>
        </p:txBody>
      </p:sp>
      <p:sp>
        <p:nvSpPr>
          <p:cNvPr id="3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58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Rotating pages: angles add up and must be multiples of 90</a:t>
            </a:r>
          </a:p>
        </p:txBody>
      </p:sp>
      <p:sp>
        <p:nvSpPr>
          <p:cNvPr id="4" name="code"/>
          <p:cNvSpPr/>
          <p:nvPr/>
        </p:nvSpPr>
        <p:spPr>
          <a:xfrm>
            <a:off x="365760" y="786384"/>
            <a:ext cx="554050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pypdf</a:t>
            </a:r>
          </a:p>
          <a:p>
            <a:pPr algn="l"/>
            <a:r>
              <a:rPr sz="950" b="0" i="0">
                <a:solidFill>
                  <a:srgbClr val="8FA3B8"/>
                </a:solidFill>
                <a:latin typeface="Courier New"/>
              </a:rPr>
              <a:t>&gt;&gt;&gt; </a:t>
            </a:r>
            <a:r>
              <a:rPr sz="950" b="0" i="0">
                <a:solidFill>
                  <a:srgbClr val="E6EDF3"/>
                </a:solidFill>
                <a:latin typeface="Courier New"/>
              </a:rPr>
              <a:t>page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pypdf</a:t>
            </a:r>
            <a:r>
              <a:rPr sz="950" b="0" i="0">
                <a:solidFill>
                  <a:srgbClr val="E6EDF3"/>
                </a:solidFill>
                <a:latin typeface="Courier New"/>
              </a:rPr>
              <a:t>.</a:t>
            </a:r>
            <a:r>
              <a:rPr sz="950" b="0" i="0">
                <a:solidFill>
                  <a:srgbClr val="E6EDF3"/>
                </a:solidFill>
                <a:latin typeface="Courier New"/>
              </a:rPr>
              <a:t>PdfWriter</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add_blank_page</a:t>
            </a:r>
            <a:r>
              <a:rPr sz="950" b="0" i="0">
                <a:solidFill>
                  <a:srgbClr val="E6EDF3"/>
                </a:solidFill>
                <a:latin typeface="Courier New"/>
              </a:rPr>
              <a:t>(</a:t>
            </a:r>
            <a:r>
              <a:rPr sz="950" b="0" i="0">
                <a:solidFill>
                  <a:srgbClr val="7CC4FF"/>
                </a:solidFill>
                <a:latin typeface="Courier New"/>
              </a:rPr>
              <a:t>100</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100</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'start:'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page</a:t>
            </a:r>
            <a:r>
              <a:rPr sz="950" b="0" i="0">
                <a:solidFill>
                  <a:srgbClr val="E6EDF3"/>
                </a:solidFill>
                <a:latin typeface="Courier New"/>
              </a:rPr>
              <a:t>.</a:t>
            </a:r>
            <a:r>
              <a:rPr sz="950" b="0" i="0">
                <a:solidFill>
                  <a:srgbClr val="E6EDF3"/>
                </a:solidFill>
                <a:latin typeface="Courier New"/>
              </a:rPr>
              <a:t>rotation</a:t>
            </a:r>
            <a:r>
              <a:rPr sz="950" b="0" i="0">
                <a:solidFill>
                  <a:srgbClr val="E6EDF3"/>
                </a:solidFill>
                <a:latin typeface="Courier New"/>
              </a:rPr>
              <a:t>)</a:t>
            </a:r>
          </a:p>
        </p:txBody>
      </p:sp>
      <p:sp>
        <p:nvSpPr>
          <p:cNvPr id="5" name="explanation"/>
          <p:cNvSpPr txBox="1"/>
          <p:nvPr/>
        </p:nvSpPr>
        <p:spPr>
          <a:xfrm>
            <a:off x="5887974" y="786384"/>
            <a:ext cx="2890266" cy="651891"/>
          </a:xfrm>
          <a:prstGeom prst="rect">
            <a:avLst/>
          </a:prstGeom>
          <a:noFill/>
        </p:spPr>
        <p:txBody>
          <a:bodyPr wrap="square" lIns="128016" rIns="128016" tIns="18288" bIns="18288" anchor="ctr">
            <a:spAutoFit/>
          </a:bodyPr>
          <a:lstStyle/>
          <a:p>
            <a:r>
              <a:rPr sz="1100" b="0" i="0">
                <a:solidFill>
                  <a:srgbClr val="1F2933"/>
                </a:solidFill>
                <a:latin typeface="Calibri"/>
              </a:rPr>
              <a:t>A fresh page has rotation 0. add_blank_page() returns the new Page object.</a:t>
            </a:r>
          </a:p>
        </p:txBody>
      </p:sp>
      <p:sp>
        <p:nvSpPr>
          <p:cNvPr id="6" name="code"/>
          <p:cNvSpPr/>
          <p:nvPr/>
        </p:nvSpPr>
        <p:spPr>
          <a:xfrm>
            <a:off x="365760" y="1483995"/>
            <a:ext cx="554050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seen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page</a:t>
            </a:r>
            <a:r>
              <a:rPr sz="950" b="0" i="0">
                <a:solidFill>
                  <a:srgbClr val="E6EDF3"/>
                </a:solidFill>
                <a:latin typeface="Courier New"/>
              </a:rPr>
              <a:t>.</a:t>
            </a:r>
            <a:r>
              <a:rPr sz="950" b="0" i="0">
                <a:solidFill>
                  <a:srgbClr val="E6EDF3"/>
                </a:solidFill>
                <a:latin typeface="Courier New"/>
              </a:rPr>
              <a:t>rotate</a:t>
            </a:r>
            <a:r>
              <a:rPr sz="950" b="0" i="0">
                <a:solidFill>
                  <a:srgbClr val="E6EDF3"/>
                </a:solidFill>
                <a:latin typeface="Courier New"/>
              </a:rPr>
              <a:t>(</a:t>
            </a:r>
            <a:r>
              <a:rPr sz="950" b="0" i="0">
                <a:solidFill>
                  <a:srgbClr val="E6EDF3"/>
                </a:solidFill>
                <a:latin typeface="Courier New"/>
              </a:rPr>
              <a:t>angle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rotation</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angle</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a:t>
            </a:r>
            <a:r>
              <a:rPr sz="950" b="0" i="0">
                <a:solidFill>
                  <a:srgbClr val="7CC4FF"/>
                </a:solidFill>
                <a:latin typeface="Courier New"/>
              </a:rPr>
              <a:t>90</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270</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7CC4FF"/>
                </a:solidFill>
                <a:latin typeface="Courier New"/>
              </a:rPr>
              <a:t>90</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180</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'rotation after each turn:'</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seen</a:t>
            </a:r>
            <a:r>
              <a:rPr sz="950" b="0" i="0">
                <a:solidFill>
                  <a:srgbClr val="E6EDF3"/>
                </a:solidFill>
                <a:latin typeface="Courier New"/>
              </a:rPr>
              <a:t>)</a:t>
            </a:r>
          </a:p>
        </p:txBody>
      </p:sp>
      <p:sp>
        <p:nvSpPr>
          <p:cNvPr id="7" name="explanation"/>
          <p:cNvSpPr txBox="1"/>
          <p:nvPr/>
        </p:nvSpPr>
        <p:spPr>
          <a:xfrm>
            <a:off x="5887974" y="1483995"/>
            <a:ext cx="2890266" cy="826516"/>
          </a:xfrm>
          <a:prstGeom prst="rect">
            <a:avLst/>
          </a:prstGeom>
          <a:noFill/>
        </p:spPr>
        <p:txBody>
          <a:bodyPr wrap="square" lIns="128016" rIns="128016" tIns="18288" bIns="18288" anchor="ctr">
            <a:spAutoFit/>
          </a:bodyPr>
          <a:lstStyle/>
          <a:p>
            <a:r>
              <a:rPr sz="1100" b="0" i="0">
                <a:solidFill>
                  <a:srgbClr val="1F2933"/>
                </a:solidFill>
                <a:latin typeface="Calibri"/>
              </a:rPr>
              <a:t>rotate() turns the page clockwise and adds the angle to the total already there. The total is not wrapped at 360.</a:t>
            </a:r>
          </a:p>
        </p:txBody>
      </p:sp>
      <p:sp>
        <p:nvSpPr>
          <p:cNvPr id="8" name="code"/>
          <p:cNvSpPr/>
          <p:nvPr/>
        </p:nvSpPr>
        <p:spPr>
          <a:xfrm>
            <a:off x="365760" y="2356231"/>
            <a:ext cx="5540501"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try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page</a:t>
            </a:r>
            <a:r>
              <a:rPr sz="950" b="0" i="0">
                <a:solidFill>
                  <a:srgbClr val="E6EDF3"/>
                </a:solidFill>
                <a:latin typeface="Courier New"/>
              </a:rPr>
              <a:t>.</a:t>
            </a:r>
            <a:r>
              <a:rPr sz="950" b="0" i="0">
                <a:solidFill>
                  <a:srgbClr val="E6EDF3"/>
                </a:solidFill>
                <a:latin typeface="Courier New"/>
              </a:rPr>
              <a:t>rotate</a:t>
            </a:r>
            <a:r>
              <a:rPr sz="950" b="0" i="0">
                <a:solidFill>
                  <a:srgbClr val="E6EDF3"/>
                </a:solidFill>
                <a:latin typeface="Courier New"/>
              </a:rPr>
              <a:t>(</a:t>
            </a:r>
            <a:r>
              <a:rPr sz="950" b="0" i="0">
                <a:solidFill>
                  <a:srgbClr val="7CC4FF"/>
                </a:solidFill>
                <a:latin typeface="Courier New"/>
              </a:rPr>
              <a:t>45</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except</a:t>
            </a:r>
            <a:r>
              <a:rPr sz="950" b="0" i="0">
                <a:solidFill>
                  <a:srgbClr val="E6EDF3"/>
                </a:solidFill>
                <a:latin typeface="Courier New"/>
              </a:rPr>
              <a:t> </a:t>
            </a:r>
            <a:r>
              <a:rPr sz="950" b="0" i="0">
                <a:solidFill>
                  <a:srgbClr val="E6EDF3"/>
                </a:solidFill>
                <a:latin typeface="Courier New"/>
              </a:rPr>
              <a:t>ValueError</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'45 degrees refused: use multiples of 90'</a:t>
            </a:r>
            <a:r>
              <a:rPr sz="950" b="0" i="0">
                <a:solidFill>
                  <a:srgbClr val="E6EDF3"/>
                </a:solidFill>
                <a:latin typeface="Courier New"/>
              </a:rPr>
              <a:t>)</a:t>
            </a:r>
          </a:p>
        </p:txBody>
      </p:sp>
      <p:sp>
        <p:nvSpPr>
          <p:cNvPr id="9" name="explanation"/>
          <p:cNvSpPr txBox="1"/>
          <p:nvPr/>
        </p:nvSpPr>
        <p:spPr>
          <a:xfrm>
            <a:off x="5887974" y="2356231"/>
            <a:ext cx="2890266" cy="725932"/>
          </a:xfrm>
          <a:prstGeom prst="rect">
            <a:avLst/>
          </a:prstGeom>
          <a:noFill/>
        </p:spPr>
        <p:txBody>
          <a:bodyPr wrap="square" lIns="128016" rIns="128016" tIns="18288" bIns="18288" anchor="ctr">
            <a:spAutoFit/>
          </a:bodyPr>
          <a:lstStyle/>
          <a:p>
            <a:r>
              <a:rPr sz="1100" b="0" i="0">
                <a:solidFill>
                  <a:srgbClr val="1F2933"/>
                </a:solidFill>
                <a:latin typeface="Calibri"/>
              </a:rPr>
              <a:t>Only quarter turns are allowed. Any other angle raises a ValueError, caught here.</a:t>
            </a:r>
          </a:p>
        </p:txBody>
      </p:sp>
      <p:sp>
        <p:nvSpPr>
          <p:cNvPr id="10" name="result label"/>
          <p:cNvSpPr txBox="1"/>
          <p:nvPr/>
        </p:nvSpPr>
        <p:spPr>
          <a:xfrm>
            <a:off x="365760" y="313702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83915"/>
          <a:ext cx="4710988" cy="1252093"/>
        </p:xfrm>
        <a:graphic>
          <a:graphicData uri="http://schemas.openxmlformats.org/drawingml/2006/chart">
            <c:chart xmlns:c="http://schemas.openxmlformats.org/drawingml/2006/chart" r:id="rId3"/>
          </a:graphicData>
        </a:graphic>
      </p:graphicFrame>
      <p:sp>
        <p:nvSpPr>
          <p:cNvPr id="12" name="Rounded Rectangle 11"/>
          <p:cNvSpPr/>
          <p:nvPr/>
        </p:nvSpPr>
        <p:spPr>
          <a:xfrm>
            <a:off x="5413248" y="3475355"/>
            <a:ext cx="3364991" cy="41148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totals: 90, 360, 270, 450</a:t>
            </a:r>
          </a:p>
        </p:txBody>
      </p:sp>
      <p:sp>
        <p:nvSpPr>
          <p:cNvPr id="13" name="Rounded Rectangle 12"/>
          <p:cNvSpPr/>
          <p:nvPr/>
        </p:nvSpPr>
        <p:spPr>
          <a:xfrm>
            <a:off x="5413248" y="3978275"/>
            <a:ext cx="3364991" cy="5029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 total is not wrapped at 360, so 450 means a quarter turn past a full one</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Angles add up, in quarter turns.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58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stamps and padlocks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watermark is like a rubber stamp, and a password is like a padlock on the binder.</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rotate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Turning the sheet by quarter turns, adding to how far it is already turned.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Adding Watermarks and Overlays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Pressing a stamp on a printed sheet, or laying a see-through sheet over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Watermark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faint stamp behind the words, such as DRAFT.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Overlay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see-through sheet laid on top of the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merge_page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Laying one sheet on another so that both show.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Encrypting and Decrypting PDFs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Locking the binder with a padlock, and opening it again with the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encrypt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Snapping the padlock shut and choosing its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decrypt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Trying a key in the padlock; the padlock tells you whether it fits.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58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Watermarks and overlays: merge_page lays one page on another</a:t>
            </a:r>
          </a:p>
        </p:txBody>
      </p:sp>
      <p:sp>
        <p:nvSpPr>
          <p:cNvPr id="4" name="code"/>
          <p:cNvSpPr/>
          <p:nvPr/>
        </p:nvSpPr>
        <p:spPr>
          <a:xfrm>
            <a:off x="365760" y="786384"/>
            <a:ext cx="5193791" cy="973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p>
          <a:p>
            <a:pPr algn="l"/>
            <a:r>
              <a:rPr sz="900" b="0" i="0">
                <a:solidFill>
                  <a:srgbClr val="8FA3B8"/>
                </a:solidFill>
                <a:latin typeface="Courier New"/>
              </a:rPr>
              <a:t>&gt;&gt;&gt; </a:t>
            </a:r>
            <a:r>
              <a:rPr sz="900" b="0" i="0">
                <a:solidFill>
                  <a:srgbClr val="E6EDF3"/>
                </a:solidFill>
                <a:latin typeface="Courier New"/>
              </a:rPr>
              <a:t>from</a:t>
            </a:r>
            <a:r>
              <a:rPr sz="900" b="0" i="0">
                <a:solidFill>
                  <a:srgbClr val="E6EDF3"/>
                </a:solidFill>
                <a:latin typeface="Courier New"/>
              </a:rPr>
              <a:t> </a:t>
            </a:r>
            <a:r>
              <a:rPr sz="900" b="0" i="0">
                <a:solidFill>
                  <a:srgbClr val="E6EDF3"/>
                </a:solidFill>
                <a:latin typeface="Courier New"/>
              </a:rPr>
              <a:t>PIL</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Image</a:t>
            </a:r>
          </a:p>
          <a:p>
            <a:pPr algn="l"/>
            <a:r>
              <a:rPr sz="900" b="0" i="0">
                <a:solidFill>
                  <a:srgbClr val="8FA3B8"/>
                </a:solidFill>
                <a:latin typeface="Courier New"/>
              </a:rPr>
              <a:t>&gt;&gt;&gt; </a:t>
            </a:r>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page_with</a:t>
            </a:r>
            <a:r>
              <a:rPr sz="900" b="0" i="0">
                <a:solidFill>
                  <a:srgbClr val="E6EDF3"/>
                </a:solidFill>
                <a:latin typeface="Courier New"/>
              </a:rPr>
              <a:t>(</a:t>
            </a:r>
            <a:r>
              <a:rPr sz="900" b="0" i="0">
                <a:solidFill>
                  <a:srgbClr val="E6EDF3"/>
                </a:solidFill>
                <a:latin typeface="Courier New"/>
              </a:rPr>
              <a:t>size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color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buf</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BytesIO</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Image</a:t>
            </a:r>
            <a:r>
              <a:rPr sz="900" b="0" i="0">
                <a:solidFill>
                  <a:srgbClr val="E6EDF3"/>
                </a:solidFill>
                <a:latin typeface="Courier New"/>
              </a:rPr>
              <a:t>.</a:t>
            </a:r>
            <a:r>
              <a:rPr sz="900" b="0" i="0">
                <a:solidFill>
                  <a:srgbClr val="E6EDF3"/>
                </a:solidFill>
                <a:latin typeface="Courier New"/>
              </a:rPr>
              <a:t>new</a:t>
            </a:r>
            <a:r>
              <a:rPr sz="900" b="0" i="0">
                <a:solidFill>
                  <a:srgbClr val="E6EDF3"/>
                </a:solidFill>
                <a:latin typeface="Courier New"/>
              </a:rPr>
              <a:t>(</a:t>
            </a:r>
            <a:r>
              <a:rPr sz="900" b="0" i="0">
                <a:solidFill>
                  <a:srgbClr val="9BE3A8"/>
                </a:solidFill>
                <a:latin typeface="Courier New"/>
              </a:rPr>
              <a:t>'RGB'</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size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color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save</a:t>
            </a:r>
            <a:r>
              <a:rPr sz="900" b="0" i="0">
                <a:solidFill>
                  <a:srgbClr val="E6EDF3"/>
                </a:solidFill>
                <a:latin typeface="Courier New"/>
              </a:rPr>
              <a:t>(</a:t>
            </a:r>
            <a:r>
              <a:rPr sz="900" b="0" i="0">
                <a:solidFill>
                  <a:srgbClr val="E6EDF3"/>
                </a:solidFill>
                <a:latin typeface="Courier New"/>
              </a:rPr>
              <a:t>buf</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'PDF'</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PdfReader</a:t>
            </a:r>
            <a:r>
              <a:rPr sz="900" b="0" i="0">
                <a:solidFill>
                  <a:srgbClr val="E6EDF3"/>
                </a:solidFill>
                <a:latin typeface="Courier New"/>
              </a:rPr>
              <a:t>(</a:t>
            </a:r>
            <a:r>
              <a:rPr sz="900" b="0" i="0">
                <a:solidFill>
                  <a:srgbClr val="E6EDF3"/>
                </a:solidFill>
                <a:latin typeface="Courier New"/>
              </a:rPr>
              <a:t>buf</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pages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p:txBody>
      </p:sp>
      <p:sp>
        <p:nvSpPr>
          <p:cNvPr id="5" name="explanation"/>
          <p:cNvSpPr txBox="1"/>
          <p:nvPr/>
        </p:nvSpPr>
        <p:spPr>
          <a:xfrm>
            <a:off x="5541264" y="786384"/>
            <a:ext cx="3236976" cy="973836"/>
          </a:xfrm>
          <a:prstGeom prst="rect">
            <a:avLst/>
          </a:prstGeom>
          <a:noFill/>
        </p:spPr>
        <p:txBody>
          <a:bodyPr wrap="square" lIns="128016" rIns="128016" tIns="18288" bIns="18288" anchor="ctr">
            <a:spAutoFit/>
          </a:bodyPr>
          <a:lstStyle/>
          <a:p>
            <a:r>
              <a:rPr sz="1100" b="0" i="0">
                <a:solidFill>
                  <a:srgbClr val="1F2933"/>
                </a:solidFill>
                <a:latin typeface="Calibri"/>
              </a:rPr>
              <a:t>A helper that makes a one-page PDF holding a picture of one size and colour.</a:t>
            </a:r>
          </a:p>
        </p:txBody>
      </p:sp>
      <p:sp>
        <p:nvSpPr>
          <p:cNvPr id="6" name="code"/>
          <p:cNvSpPr/>
          <p:nvPr/>
        </p:nvSpPr>
        <p:spPr>
          <a:xfrm>
            <a:off x="365760" y="1805940"/>
            <a:ext cx="519379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base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page_with</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60</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40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'blue'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top</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page_with</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30</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20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'red'</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before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base</a:t>
            </a:r>
            <a:r>
              <a:rPr sz="900" b="0" i="0">
                <a:solidFill>
                  <a:srgbClr val="E6EDF3"/>
                </a:solidFill>
                <a:latin typeface="Courier New"/>
              </a:rPr>
              <a:t>.</a:t>
            </a:r>
            <a:r>
              <a:rPr sz="900" b="0" i="0">
                <a:solidFill>
                  <a:srgbClr val="E6EDF3"/>
                </a:solidFill>
                <a:latin typeface="Courier New"/>
              </a:rPr>
              <a:t>images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base</a:t>
            </a:r>
            <a:r>
              <a:rPr sz="900" b="0" i="0">
                <a:solidFill>
                  <a:srgbClr val="E6EDF3"/>
                </a:solidFill>
                <a:latin typeface="Courier New"/>
              </a:rPr>
              <a:t>.</a:t>
            </a:r>
            <a:r>
              <a:rPr sz="900" b="0" i="0">
                <a:solidFill>
                  <a:srgbClr val="E6EDF3"/>
                </a:solidFill>
                <a:latin typeface="Courier New"/>
              </a:rPr>
              <a:t>merge_page</a:t>
            </a:r>
            <a:r>
              <a:rPr sz="900" b="0" i="0">
                <a:solidFill>
                  <a:srgbClr val="E6EDF3"/>
                </a:solidFill>
                <a:latin typeface="Courier New"/>
              </a:rPr>
              <a:t>(</a:t>
            </a:r>
            <a:r>
              <a:rPr sz="900" b="0" i="0">
                <a:solidFill>
                  <a:srgbClr val="E6EDF3"/>
                </a:solidFill>
                <a:latin typeface="Courier New"/>
              </a:rPr>
              <a:t>top</a:t>
            </a:r>
            <a:r>
              <a:rPr sz="900" b="0" i="0">
                <a:solidFill>
                  <a:srgbClr val="E6EDF3"/>
                </a:solidFill>
                <a:latin typeface="Courier New"/>
              </a:rPr>
              <a:t>)</a:t>
            </a:r>
          </a:p>
        </p:txBody>
      </p:sp>
      <p:sp>
        <p:nvSpPr>
          <p:cNvPr id="7" name="explanation"/>
          <p:cNvSpPr txBox="1"/>
          <p:nvPr/>
        </p:nvSpPr>
        <p:spPr>
          <a:xfrm>
            <a:off x="5541264" y="1805940"/>
            <a:ext cx="3236976" cy="826516"/>
          </a:xfrm>
          <a:prstGeom prst="rect">
            <a:avLst/>
          </a:prstGeom>
          <a:noFill/>
        </p:spPr>
        <p:txBody>
          <a:bodyPr wrap="square" lIns="128016" rIns="128016" tIns="18288" bIns="18288" anchor="ctr">
            <a:spAutoFit/>
          </a:bodyPr>
          <a:lstStyle/>
          <a:p>
            <a:r>
              <a:rPr sz="1100" b="0" i="0">
                <a:solidFill>
                  <a:srgbClr val="1F2933"/>
                </a:solidFill>
                <a:latin typeface="Calibri"/>
              </a:rPr>
              <a:t>A big blue page stands for the document, a small red one for the stamp. merge_page() copies the stamp onto the base page.</a:t>
            </a:r>
          </a:p>
        </p:txBody>
      </p:sp>
      <p:sp>
        <p:nvSpPr>
          <p:cNvPr id="8" name="code"/>
          <p:cNvSpPr/>
          <p:nvPr/>
        </p:nvSpPr>
        <p:spPr>
          <a:xfrm>
            <a:off x="365760" y="2678176"/>
            <a:ext cx="51937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'images:'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before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'-&gt;'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base</a:t>
            </a:r>
            <a:r>
              <a:rPr sz="900" b="0" i="0">
                <a:solidFill>
                  <a:srgbClr val="E6EDF3"/>
                </a:solidFill>
                <a:latin typeface="Courier New"/>
              </a:rPr>
              <a:t>.</a:t>
            </a:r>
            <a:r>
              <a:rPr sz="900" b="0" i="0">
                <a:solidFill>
                  <a:srgbClr val="E6EDF3"/>
                </a:solidFill>
                <a:latin typeface="Courier New"/>
              </a:rPr>
              <a:t>images</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'drawn first to last:'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im</a:t>
            </a:r>
            <a:r>
              <a:rPr sz="900" b="0" i="0">
                <a:solidFill>
                  <a:srgbClr val="E6EDF3"/>
                </a:solidFill>
                <a:latin typeface="Courier New"/>
              </a:rPr>
              <a:t>.</a:t>
            </a:r>
            <a:r>
              <a:rPr sz="900" b="0" i="0">
                <a:solidFill>
                  <a:srgbClr val="E6EDF3"/>
                </a:solidFill>
                <a:latin typeface="Courier New"/>
              </a:rPr>
              <a:t>image</a:t>
            </a:r>
            <a:r>
              <a:rPr sz="900" b="0" i="0">
                <a:solidFill>
                  <a:srgbClr val="E6EDF3"/>
                </a:solidFill>
                <a:latin typeface="Courier New"/>
              </a:rPr>
              <a:t>.</a:t>
            </a:r>
            <a:r>
              <a:rPr sz="900" b="0" i="0">
                <a:solidFill>
                  <a:srgbClr val="E6EDF3"/>
                </a:solidFill>
                <a:latin typeface="Courier New"/>
              </a:rPr>
              <a:t>size</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im</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base</a:t>
            </a:r>
            <a:r>
              <a:rPr sz="900" b="0" i="0">
                <a:solidFill>
                  <a:srgbClr val="E6EDF3"/>
                </a:solidFill>
                <a:latin typeface="Courier New"/>
              </a:rPr>
              <a:t>.</a:t>
            </a:r>
            <a:r>
              <a:rPr sz="900" b="0" i="0">
                <a:solidFill>
                  <a:srgbClr val="E6EDF3"/>
                </a:solidFill>
                <a:latin typeface="Courier New"/>
              </a:rPr>
              <a:t>images</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541264" y="2678176"/>
            <a:ext cx="3236976" cy="651891"/>
          </a:xfrm>
          <a:prstGeom prst="rect">
            <a:avLst/>
          </a:prstGeom>
          <a:noFill/>
        </p:spPr>
        <p:txBody>
          <a:bodyPr wrap="square" lIns="128016" rIns="128016" tIns="18288" bIns="18288" anchor="ctr">
            <a:spAutoFit/>
          </a:bodyPr>
          <a:lstStyle/>
          <a:p>
            <a:r>
              <a:rPr sz="1100" b="0" i="0">
                <a:solidFill>
                  <a:srgbClr val="1F2933"/>
                </a:solidFill>
                <a:latin typeface="Calibri"/>
              </a:rPr>
              <a:t>The page now draws two pictures. The later one lies on top: by default the stamp goes over the page.</a:t>
            </a:r>
          </a:p>
        </p:txBody>
      </p:sp>
      <p:sp>
        <p:nvSpPr>
          <p:cNvPr id="10" name="result label"/>
          <p:cNvSpPr txBox="1"/>
          <p:nvPr/>
        </p:nvSpPr>
        <p:spPr>
          <a:xfrm>
            <a:off x="365760" y="338493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first picture drawn"/>
          <p:cNvSpPr/>
          <p:nvPr/>
        </p:nvSpPr>
        <p:spPr>
          <a:xfrm>
            <a:off x="457200" y="3723259"/>
            <a:ext cx="1371600" cy="914400"/>
          </a:xfrm>
          <a:prstGeom prst="rect">
            <a:avLst/>
          </a:prstGeom>
          <a:solidFill>
            <a:srgbClr val="2B5FBF"/>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cond picture drawn"/>
          <p:cNvSpPr/>
          <p:nvPr/>
        </p:nvSpPr>
        <p:spPr>
          <a:xfrm>
            <a:off x="822960" y="3906139"/>
            <a:ext cx="685800" cy="457200"/>
          </a:xfrm>
          <a:prstGeom prst="rect">
            <a:avLst/>
          </a:prstGeom>
          <a:solidFill>
            <a:srgbClr val="D62828"/>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p:cNvGraphicFramePr>
            <a:graphicFrameLocks noGrp="1"/>
          </p:cNvGraphicFramePr>
          <p:nvPr/>
        </p:nvGraphicFramePr>
        <p:xfrm>
          <a:off x="2560320" y="3677539"/>
          <a:ext cx="3840480" cy="987552"/>
        </p:xfrm>
        <a:graphic>
          <a:graphicData uri="http://schemas.openxmlformats.org/drawingml/2006/table">
            <a:tbl>
              <a:tblPr firstRow="0" bandRow="0"/>
              <a:tblGrid>
                <a:gridCol w="2011680"/>
                <a:gridCol w="1828800"/>
              </a:tblGrid>
              <a:tr h="246888">
                <a:tc>
                  <a:txBody>
                    <a:bodyPr wrap="square"/>
                    <a:lstStyle/>
                    <a:p>
                      <a:r>
                        <a:rPr sz="1000" b="1" i="0">
                          <a:solidFill>
                            <a:srgbClr val="FFFFFF"/>
                          </a:solidFill>
                          <a:latin typeface="Calibri"/>
                        </a:rPr>
                        <a:t>drawn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picture size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00" b="0" i="0">
                          <a:solidFill>
                            <a:srgbClr val="1F2933"/>
                          </a:solidFill>
                          <a:latin typeface="Calibri"/>
                        </a:rPr>
                        <a:t>1st (the document)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60 x 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alibri"/>
                        </a:rPr>
                        <a:t>2nd (the stamp)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30 x 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alibri"/>
                        </a:rPr>
                        <a:t>images before -&gt; after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1 -&gt;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4" name="Rounded Rectangle 13"/>
          <p:cNvSpPr/>
          <p:nvPr/>
        </p:nvSpPr>
        <p:spPr>
          <a:xfrm>
            <a:off x="6675120" y="3677539"/>
            <a:ext cx="2103120" cy="9144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the later a picture is drawn, the higher it lies: the stamp lies on top</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merge_page draws the stamp on top.</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58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Encrypt, then decrypt: a locked file refuses its pages</a:t>
            </a:r>
          </a:p>
        </p:txBody>
      </p:sp>
      <p:sp>
        <p:nvSpPr>
          <p:cNvPr id="4" name="code"/>
          <p:cNvSpPr/>
          <p:nvPr/>
        </p:nvSpPr>
        <p:spPr>
          <a:xfrm>
            <a:off x="365760" y="786384"/>
            <a:ext cx="4744211"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pypdf</a:t>
            </a:r>
          </a:p>
          <a:p>
            <a:pPr algn="l"/>
            <a:r>
              <a:rPr sz="950" b="0" i="0">
                <a:solidFill>
                  <a:srgbClr val="8FA3B8"/>
                </a:solidFill>
                <a:latin typeface="Courier New"/>
              </a:rPr>
              <a:t>&gt;&gt;&gt; </a:t>
            </a:r>
            <a:r>
              <a:rPr sz="950" b="0" i="0">
                <a:solidFill>
                  <a:srgbClr val="E6EDF3"/>
                </a:solidFill>
                <a:latin typeface="Courier New"/>
              </a:rPr>
              <a:t>writer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pypdf</a:t>
            </a:r>
            <a:r>
              <a:rPr sz="950" b="0" i="0">
                <a:solidFill>
                  <a:srgbClr val="E6EDF3"/>
                </a:solidFill>
                <a:latin typeface="Courier New"/>
              </a:rPr>
              <a:t>.</a:t>
            </a:r>
            <a:r>
              <a:rPr sz="950" b="0" i="0">
                <a:solidFill>
                  <a:srgbClr val="E6EDF3"/>
                </a:solidFill>
                <a:latin typeface="Courier New"/>
              </a:rPr>
              <a:t>PdfWriter</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writer</a:t>
            </a:r>
            <a:r>
              <a:rPr sz="950" b="0" i="0">
                <a:solidFill>
                  <a:srgbClr val="E6EDF3"/>
                </a:solidFill>
                <a:latin typeface="Courier New"/>
              </a:rPr>
              <a:t>.</a:t>
            </a:r>
            <a:r>
              <a:rPr sz="950" b="0" i="0">
                <a:solidFill>
                  <a:srgbClr val="E6EDF3"/>
                </a:solidFill>
                <a:latin typeface="Courier New"/>
              </a:rPr>
              <a:t>add_blank_page</a:t>
            </a:r>
            <a:r>
              <a:rPr sz="950" b="0" i="0">
                <a:solidFill>
                  <a:srgbClr val="E6EDF3"/>
                </a:solidFill>
                <a:latin typeface="Courier New"/>
              </a:rPr>
              <a:t>(</a:t>
            </a:r>
            <a:r>
              <a:rPr sz="950" b="0" i="0">
                <a:solidFill>
                  <a:srgbClr val="7CC4FF"/>
                </a:solidFill>
                <a:latin typeface="Courier New"/>
              </a:rPr>
              <a:t>100</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100</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writer</a:t>
            </a:r>
            <a:r>
              <a:rPr sz="950" b="0" i="0">
                <a:solidFill>
                  <a:srgbClr val="E6EDF3"/>
                </a:solidFill>
                <a:latin typeface="Courier New"/>
              </a:rPr>
              <a:t>.</a:t>
            </a:r>
            <a:r>
              <a:rPr sz="950" b="0" i="0">
                <a:solidFill>
                  <a:srgbClr val="E6EDF3"/>
                </a:solidFill>
                <a:latin typeface="Courier New"/>
              </a:rPr>
              <a:t>encrypt</a:t>
            </a:r>
            <a:r>
              <a:rPr sz="950" b="0" i="0">
                <a:solidFill>
                  <a:srgbClr val="E6EDF3"/>
                </a:solidFill>
                <a:latin typeface="Courier New"/>
              </a:rPr>
              <a:t>(</a:t>
            </a:r>
            <a:r>
              <a:rPr sz="950" b="0" i="0">
                <a:solidFill>
                  <a:srgbClr val="9BE3A8"/>
                </a:solidFill>
                <a:latin typeface="Courier New"/>
              </a:rPr>
              <a:t>'userpw'</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algorithm</a:t>
            </a:r>
            <a:r>
              <a:rPr sz="950" b="0" i="0">
                <a:solidFill>
                  <a:srgbClr val="E6EDF3"/>
                </a:solidFill>
                <a:latin typeface="Courier New"/>
              </a:rPr>
              <a:t>=</a:t>
            </a:r>
            <a:r>
              <a:rPr sz="950" b="0" i="0">
                <a:solidFill>
                  <a:srgbClr val="9BE3A8"/>
                </a:solidFill>
                <a:latin typeface="Courier New"/>
              </a:rPr>
              <a:t>'AES-256'</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buf</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BytesIO</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writer</a:t>
            </a:r>
            <a:r>
              <a:rPr sz="950" b="0" i="0">
                <a:solidFill>
                  <a:srgbClr val="E6EDF3"/>
                </a:solidFill>
                <a:latin typeface="Courier New"/>
              </a:rPr>
              <a:t>.</a:t>
            </a:r>
            <a:r>
              <a:rPr sz="950" b="0" i="0">
                <a:solidFill>
                  <a:srgbClr val="E6EDF3"/>
                </a:solidFill>
                <a:latin typeface="Courier New"/>
              </a:rPr>
              <a:t>write</a:t>
            </a:r>
            <a:r>
              <a:rPr sz="950" b="0" i="0">
                <a:solidFill>
                  <a:srgbClr val="E6EDF3"/>
                </a:solidFill>
                <a:latin typeface="Courier New"/>
              </a:rPr>
              <a:t>(</a:t>
            </a:r>
            <a:r>
              <a:rPr sz="950" b="0" i="0">
                <a:solidFill>
                  <a:srgbClr val="E6EDF3"/>
                </a:solidFill>
                <a:latin typeface="Courier New"/>
              </a:rPr>
              <a:t>buf</a:t>
            </a:r>
            <a:r>
              <a:rPr sz="950" b="0" i="0">
                <a:solidFill>
                  <a:srgbClr val="E6EDF3"/>
                </a:solidFill>
                <a:latin typeface="Courier New"/>
              </a:rPr>
              <a:t>)</a:t>
            </a:r>
          </a:p>
        </p:txBody>
      </p:sp>
      <p:sp>
        <p:nvSpPr>
          <p:cNvPr id="5" name="explanation"/>
          <p:cNvSpPr txBox="1"/>
          <p:nvPr/>
        </p:nvSpPr>
        <p:spPr>
          <a:xfrm>
            <a:off x="5091684" y="786384"/>
            <a:ext cx="3686555" cy="1020317"/>
          </a:xfrm>
          <a:prstGeom prst="rect">
            <a:avLst/>
          </a:prstGeom>
          <a:noFill/>
        </p:spPr>
        <p:txBody>
          <a:bodyPr wrap="square" lIns="128016" rIns="128016" tIns="18288" bIns="18288" anchor="ctr">
            <a:spAutoFit/>
          </a:bodyPr>
          <a:lstStyle/>
          <a:p>
            <a:r>
              <a:rPr sz="1100" b="0" i="0">
                <a:solidFill>
                  <a:srgbClr val="1F2933"/>
                </a:solidFill>
                <a:latin typeface="Calibri"/>
              </a:rPr>
              <a:t>encrypt() locks the file with a password. AES-256 is the strong algorithm; the default form is weaker.</a:t>
            </a:r>
          </a:p>
        </p:txBody>
      </p:sp>
      <p:sp>
        <p:nvSpPr>
          <p:cNvPr id="6" name="code"/>
          <p:cNvSpPr/>
          <p:nvPr/>
        </p:nvSpPr>
        <p:spPr>
          <a:xfrm>
            <a:off x="365760" y="1852422"/>
            <a:ext cx="4744211"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reader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pypdf</a:t>
            </a:r>
            <a:r>
              <a:rPr sz="950" b="0" i="0">
                <a:solidFill>
                  <a:srgbClr val="E6EDF3"/>
                </a:solidFill>
                <a:latin typeface="Courier New"/>
              </a:rPr>
              <a:t>.</a:t>
            </a:r>
            <a:r>
              <a:rPr sz="950" b="0" i="0">
                <a:solidFill>
                  <a:srgbClr val="E6EDF3"/>
                </a:solidFill>
                <a:latin typeface="Courier New"/>
              </a:rPr>
              <a:t>PdfReader</a:t>
            </a:r>
            <a:r>
              <a:rPr sz="950" b="0" i="0">
                <a:solidFill>
                  <a:srgbClr val="E6EDF3"/>
                </a:solidFill>
                <a:latin typeface="Courier New"/>
              </a:rPr>
              <a:t>(</a:t>
            </a:r>
            <a:r>
              <a:rPr sz="950" b="0" i="0">
                <a:solidFill>
                  <a:srgbClr val="E6EDF3"/>
                </a:solidFill>
                <a:latin typeface="Courier New"/>
              </a:rPr>
              <a:t>buf</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'locked:'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reader</a:t>
            </a:r>
            <a:r>
              <a:rPr sz="950" b="0" i="0">
                <a:solidFill>
                  <a:srgbClr val="E6EDF3"/>
                </a:solidFill>
                <a:latin typeface="Courier New"/>
              </a:rPr>
              <a:t>.</a:t>
            </a:r>
            <a:r>
              <a:rPr sz="950" b="0" i="0">
                <a:solidFill>
                  <a:srgbClr val="E6EDF3"/>
                </a:solidFill>
                <a:latin typeface="Courier New"/>
              </a:rPr>
              <a:t>is_encrypted</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try</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reader</a:t>
            </a:r>
            <a:r>
              <a:rPr sz="950" b="0" i="0">
                <a:solidFill>
                  <a:srgbClr val="E6EDF3"/>
                </a:solidFill>
                <a:latin typeface="Courier New"/>
              </a:rPr>
              <a:t>.</a:t>
            </a:r>
            <a:r>
              <a:rPr sz="950" b="0" i="0">
                <a:solidFill>
                  <a:srgbClr val="E6EDF3"/>
                </a:solidFill>
                <a:latin typeface="Courier New"/>
              </a:rPr>
              <a:t>pages</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except</a:t>
            </a:r>
            <a:r>
              <a:rPr sz="950" b="0" i="0">
                <a:solidFill>
                  <a:srgbClr val="E6EDF3"/>
                </a:solidFill>
                <a:latin typeface="Courier New"/>
              </a:rPr>
              <a:t> </a:t>
            </a:r>
            <a:r>
              <a:rPr sz="950" b="0" i="0">
                <a:solidFill>
                  <a:srgbClr val="E6EDF3"/>
                </a:solidFill>
                <a:latin typeface="Courier New"/>
              </a:rPr>
              <a:t>Exception</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'refused:'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type</a:t>
            </a:r>
            <a:r>
              <a:rPr sz="950" b="0" i="0">
                <a:solidFill>
                  <a:srgbClr val="E6EDF3"/>
                </a:solidFill>
                <a:latin typeface="Courier New"/>
              </a:rPr>
              <a:t>(</a:t>
            </a:r>
            <a:r>
              <a:rPr sz="950" b="0" i="0">
                <a:solidFill>
                  <a:srgbClr val="E6EDF3"/>
                </a:solidFill>
                <a:latin typeface="Courier New"/>
              </a:rPr>
              <a:t>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__name__</a:t>
            </a:r>
            <a:r>
              <a:rPr sz="950" b="0" i="0">
                <a:solidFill>
                  <a:srgbClr val="E6EDF3"/>
                </a:solidFill>
                <a:latin typeface="Courier New"/>
              </a:rPr>
              <a:t>)</a:t>
            </a:r>
          </a:p>
        </p:txBody>
      </p:sp>
      <p:sp>
        <p:nvSpPr>
          <p:cNvPr id="7" name="explanation"/>
          <p:cNvSpPr txBox="1"/>
          <p:nvPr/>
        </p:nvSpPr>
        <p:spPr>
          <a:xfrm>
            <a:off x="5091684" y="1852422"/>
            <a:ext cx="3686555" cy="725932"/>
          </a:xfrm>
          <a:prstGeom prst="rect">
            <a:avLst/>
          </a:prstGeom>
          <a:noFill/>
        </p:spPr>
        <p:txBody>
          <a:bodyPr wrap="square" lIns="128016" rIns="128016" tIns="18288" bIns="18288" anchor="ctr">
            <a:spAutoFit/>
          </a:bodyPr>
          <a:lstStyle/>
          <a:p>
            <a:r>
              <a:rPr sz="1100" b="0" i="0">
                <a:solidFill>
                  <a:srgbClr val="1F2933"/>
                </a:solidFill>
                <a:latin typeface="Calibri"/>
              </a:rPr>
              <a:t>A reader opens a locked file but refuses its pages. The refusal is an error, caught here to go on.</a:t>
            </a:r>
          </a:p>
        </p:txBody>
      </p:sp>
      <p:sp>
        <p:nvSpPr>
          <p:cNvPr id="8" name="code"/>
          <p:cNvSpPr/>
          <p:nvPr/>
        </p:nvSpPr>
        <p:spPr>
          <a:xfrm>
            <a:off x="365760" y="2624074"/>
            <a:ext cx="474421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guess</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'wrong'</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'userpw'</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repr</a:t>
            </a:r>
            <a:r>
              <a:rPr sz="950" b="0" i="0">
                <a:solidFill>
                  <a:srgbClr val="E6EDF3"/>
                </a:solidFill>
                <a:latin typeface="Courier New"/>
              </a:rPr>
              <a:t>(</a:t>
            </a:r>
            <a:r>
              <a:rPr sz="950" b="0" i="0">
                <a:solidFill>
                  <a:srgbClr val="E6EDF3"/>
                </a:solidFill>
                <a:latin typeface="Courier New"/>
              </a:rPr>
              <a:t>guess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'-&gt;'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reader</a:t>
            </a:r>
            <a:r>
              <a:rPr sz="950" b="0" i="0">
                <a:solidFill>
                  <a:srgbClr val="E6EDF3"/>
                </a:solidFill>
                <a:latin typeface="Courier New"/>
              </a:rPr>
              <a:t>.</a:t>
            </a:r>
            <a:r>
              <a:rPr sz="950" b="0" i="0">
                <a:solidFill>
                  <a:srgbClr val="E6EDF3"/>
                </a:solidFill>
                <a:latin typeface="Courier New"/>
              </a:rPr>
              <a:t>decrypt</a:t>
            </a:r>
            <a:r>
              <a:rPr sz="950" b="0" i="0">
                <a:solidFill>
                  <a:srgbClr val="E6EDF3"/>
                </a:solidFill>
                <a:latin typeface="Courier New"/>
              </a:rPr>
              <a:t>(</a:t>
            </a:r>
            <a:r>
              <a:rPr sz="950" b="0" i="0">
                <a:solidFill>
                  <a:srgbClr val="E6EDF3"/>
                </a:solidFill>
                <a:latin typeface="Courier New"/>
              </a:rPr>
              <a:t>guess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name</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len</a:t>
            </a:r>
            <a:r>
              <a:rPr sz="950" b="0" i="0">
                <a:solidFill>
                  <a:srgbClr val="E6EDF3"/>
                </a:solidFill>
                <a:latin typeface="Courier New"/>
              </a:rPr>
              <a:t>(</a:t>
            </a:r>
            <a:r>
              <a:rPr sz="950" b="0" i="0">
                <a:solidFill>
                  <a:srgbClr val="E6EDF3"/>
                </a:solidFill>
                <a:latin typeface="Courier New"/>
              </a:rPr>
              <a:t>reader</a:t>
            </a:r>
            <a:r>
              <a:rPr sz="950" b="0" i="0">
                <a:solidFill>
                  <a:srgbClr val="E6EDF3"/>
                </a:solidFill>
                <a:latin typeface="Courier New"/>
              </a:rPr>
              <a:t>.</a:t>
            </a:r>
            <a:r>
              <a:rPr sz="950" b="0" i="0">
                <a:solidFill>
                  <a:srgbClr val="E6EDF3"/>
                </a:solidFill>
                <a:latin typeface="Courier New"/>
              </a:rPr>
              <a:t>pages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'page after decrypt'</a:t>
            </a:r>
            <a:r>
              <a:rPr sz="950" b="0" i="0">
                <a:solidFill>
                  <a:srgbClr val="E6EDF3"/>
                </a:solidFill>
                <a:latin typeface="Courier New"/>
              </a:rPr>
              <a:t>)</a:t>
            </a:r>
          </a:p>
        </p:txBody>
      </p:sp>
      <p:sp>
        <p:nvSpPr>
          <p:cNvPr id="9" name="explanation"/>
          <p:cNvSpPr txBox="1"/>
          <p:nvPr/>
        </p:nvSpPr>
        <p:spPr>
          <a:xfrm>
            <a:off x="5091684" y="2624074"/>
            <a:ext cx="3686555" cy="651891"/>
          </a:xfrm>
          <a:prstGeom prst="rect">
            <a:avLst/>
          </a:prstGeom>
          <a:noFill/>
        </p:spPr>
        <p:txBody>
          <a:bodyPr wrap="square" lIns="128016" rIns="128016" tIns="18288" bIns="18288" anchor="ctr">
            <a:spAutoFit/>
          </a:bodyPr>
          <a:lstStyle/>
          <a:p>
            <a:r>
              <a:rPr sz="1100" b="0" i="0">
                <a:solidFill>
                  <a:srgbClr val="1F2933"/>
                </a:solidFill>
                <a:latin typeface="Calibri"/>
              </a:rPr>
              <a:t>decrypt() answers with a PasswordType. One password serves as user and owner password, so a match says OWNER_PASSWORD.</a:t>
            </a:r>
          </a:p>
        </p:txBody>
      </p:sp>
      <p:sp>
        <p:nvSpPr>
          <p:cNvPr id="10" name="result label"/>
          <p:cNvSpPr txBox="1"/>
          <p:nvPr/>
        </p:nvSpPr>
        <p:spPr>
          <a:xfrm>
            <a:off x="365760" y="333082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623437"/>
            <a:ext cx="1234439" cy="6858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encrypt('userpw',</a:t>
            </a:r>
          </a:p>
          <a:p>
            <a:pPr algn="ctr"/>
            <a:r>
              <a:rPr sz="900" b="0" i="0">
                <a:solidFill>
                  <a:srgbClr val="1F2933"/>
                </a:solidFill>
                <a:latin typeface="Calibri"/>
              </a:rPr>
              <a:t>AES-256)</a:t>
            </a:r>
          </a:p>
        </p:txBody>
      </p:sp>
      <p:cxnSp>
        <p:nvCxnSpPr>
          <p:cNvPr id="12" name="arrow"/>
          <p:cNvCxnSpPr/>
          <p:nvPr/>
        </p:nvCxnSpPr>
        <p:spPr>
          <a:xfrm>
            <a:off x="1618488" y="3966337"/>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01367" y="3623437"/>
            <a:ext cx="1234439" cy="6858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locked: True</a:t>
            </a:r>
          </a:p>
        </p:txBody>
      </p:sp>
      <p:cxnSp>
        <p:nvCxnSpPr>
          <p:cNvPr id="14" name="arrow"/>
          <p:cNvCxnSpPr/>
          <p:nvPr/>
        </p:nvCxnSpPr>
        <p:spPr>
          <a:xfrm>
            <a:off x="3054095" y="3966337"/>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36975" y="3623437"/>
            <a:ext cx="1234439" cy="6858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pages[0] refused</a:t>
            </a:r>
          </a:p>
          <a:p>
            <a:pPr algn="ctr"/>
            <a:r>
              <a:rPr sz="900" b="0" i="0">
                <a:solidFill>
                  <a:srgbClr val="1F2933"/>
                </a:solidFill>
                <a:latin typeface="Calibri"/>
              </a:rPr>
              <a:t>FileNotDecryptedError</a:t>
            </a:r>
          </a:p>
        </p:txBody>
      </p:sp>
      <p:cxnSp>
        <p:nvCxnSpPr>
          <p:cNvPr id="16" name="arrow"/>
          <p:cNvCxnSpPr/>
          <p:nvPr/>
        </p:nvCxnSpPr>
        <p:spPr>
          <a:xfrm>
            <a:off x="4489703" y="3966337"/>
            <a:ext cx="164593"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72583" y="3623437"/>
            <a:ext cx="1234439" cy="6858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decrypt('wrong')</a:t>
            </a:r>
          </a:p>
          <a:p>
            <a:pPr algn="ctr"/>
            <a:r>
              <a:rPr sz="900" b="0" i="0">
                <a:solidFill>
                  <a:srgbClr val="1F2933"/>
                </a:solidFill>
                <a:latin typeface="Calibri"/>
              </a:rPr>
              <a:t>NOT_DECRYPTED</a:t>
            </a:r>
          </a:p>
        </p:txBody>
      </p:sp>
      <p:cxnSp>
        <p:nvCxnSpPr>
          <p:cNvPr id="18" name="arrow"/>
          <p:cNvCxnSpPr/>
          <p:nvPr/>
        </p:nvCxnSpPr>
        <p:spPr>
          <a:xfrm>
            <a:off x="5925311" y="3966337"/>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08192" y="3623437"/>
            <a:ext cx="1234439" cy="6858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decrypt('userpw')</a:t>
            </a:r>
          </a:p>
          <a:p>
            <a:pPr algn="ctr"/>
            <a:r>
              <a:rPr sz="900" b="0" i="0">
                <a:solidFill>
                  <a:srgbClr val="1F2933"/>
                </a:solidFill>
                <a:latin typeface="Calibri"/>
              </a:rPr>
              <a:t>OWNER_PASSWORD</a:t>
            </a:r>
          </a:p>
        </p:txBody>
      </p:sp>
      <p:cxnSp>
        <p:nvCxnSpPr>
          <p:cNvPr id="20" name="arrow"/>
          <p:cNvCxnSpPr/>
          <p:nvPr/>
        </p:nvCxnSpPr>
        <p:spPr>
          <a:xfrm>
            <a:off x="7360919" y="3966337"/>
            <a:ext cx="164593"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43800" y="3623437"/>
            <a:ext cx="1234439" cy="6858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1 page after decrypt</a:t>
            </a:r>
          </a:p>
        </p:txBody>
      </p:sp>
      <p:sp>
        <p:nvSpPr>
          <p:cNvPr id="22" name="visual note"/>
          <p:cNvSpPr txBox="1"/>
          <p:nvPr/>
        </p:nvSpPr>
        <p:spPr>
          <a:xfrm>
            <a:off x="365760" y="4400677"/>
            <a:ext cx="8412480" cy="219456"/>
          </a:xfrm>
          <a:prstGeom prst="rect">
            <a:avLst/>
          </a:prstGeom>
          <a:noFill/>
        </p:spPr>
        <p:txBody>
          <a:bodyPr wrap="square" lIns="45720" rIns="45720" tIns="27432" bIns="27432" anchor="t">
            <a:spAutoFit/>
          </a:bodyPr>
          <a:lstStyle/>
          <a:p>
            <a:r>
              <a:rPr sz="950" b="0" i="1">
                <a:solidFill>
                  <a:srgbClr val="5B6773"/>
                </a:solidFill>
                <a:latin typeface="Calibri"/>
              </a:rPr>
              <a:t>red: the pages stay closed; green: a match opens them</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locked file refuses its pages until decrypt() fits.</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58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two keys, and Project 12</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There are two keys: the guest key opens the door, and the owner key also changes the locks.</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PasswordType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padlock's answer: no fit, the guest key, or the owner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User password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guest key: it lets you in to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Owner password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owner's key: it lets you in and also sets the house rules.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Project 12: Combine Select Pages from Many PDFs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Making one handout from a drawer of reports, taking everything but the cover sheet of each.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Step 1: Find All PDF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Looking through the drawer and pulling out only the reports.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Step 2: Open Each 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Taking each report out in turn and leaving its cover sheet behind.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Step 3: Save the Results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Binding the pile and putting the handout back in the drawer.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58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Two passwords: the user opens, the owner may do more</a:t>
            </a:r>
          </a:p>
        </p:txBody>
      </p:sp>
      <p:sp>
        <p:nvSpPr>
          <p:cNvPr id="4" name="code"/>
          <p:cNvSpPr/>
          <p:nvPr/>
        </p:nvSpPr>
        <p:spPr>
          <a:xfrm>
            <a:off x="365760" y="786384"/>
            <a:ext cx="5536692" cy="95059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io</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pypdf</a:t>
            </a:r>
          </a:p>
          <a:p>
            <a:pPr algn="l"/>
            <a:r>
              <a:rPr sz="1050" b="0" i="0">
                <a:solidFill>
                  <a:srgbClr val="8FA3B8"/>
                </a:solidFill>
                <a:latin typeface="Courier New"/>
              </a:rPr>
              <a:t>&gt;&gt;&gt; </a:t>
            </a:r>
            <a:r>
              <a:rPr sz="1050" b="0" i="0">
                <a:solidFill>
                  <a:srgbClr val="E6EDF3"/>
                </a:solidFill>
                <a:latin typeface="Courier New"/>
              </a:rPr>
              <a:t>writer</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pypdf</a:t>
            </a:r>
            <a:r>
              <a:rPr sz="1050" b="0" i="0">
                <a:solidFill>
                  <a:srgbClr val="E6EDF3"/>
                </a:solidFill>
                <a:latin typeface="Courier New"/>
              </a:rPr>
              <a:t>.</a:t>
            </a:r>
            <a:r>
              <a:rPr sz="1050" b="0" i="0">
                <a:solidFill>
                  <a:srgbClr val="E6EDF3"/>
                </a:solidFill>
                <a:latin typeface="Courier New"/>
              </a:rPr>
              <a:t>PdfWriter</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writer</a:t>
            </a:r>
            <a:r>
              <a:rPr sz="1050" b="0" i="0">
                <a:solidFill>
                  <a:srgbClr val="E6EDF3"/>
                </a:solidFill>
                <a:latin typeface="Courier New"/>
              </a:rPr>
              <a:t>.</a:t>
            </a:r>
            <a:r>
              <a:rPr sz="1050" b="0" i="0">
                <a:solidFill>
                  <a:srgbClr val="E6EDF3"/>
                </a:solidFill>
                <a:latin typeface="Courier New"/>
              </a:rPr>
              <a:t>add_blank_page</a:t>
            </a:r>
            <a:r>
              <a:rPr sz="1050" b="0" i="0">
                <a:solidFill>
                  <a:srgbClr val="E6EDF3"/>
                </a:solidFill>
                <a:latin typeface="Courier New"/>
              </a:rPr>
              <a:t>(</a:t>
            </a:r>
            <a:r>
              <a:rPr sz="1050" b="0" i="0">
                <a:solidFill>
                  <a:srgbClr val="7CC4FF"/>
                </a:solidFill>
                <a:latin typeface="Courier New"/>
              </a:rPr>
              <a:t>100</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100</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writer</a:t>
            </a:r>
            <a:r>
              <a:rPr sz="1050" b="0" i="0">
                <a:solidFill>
                  <a:srgbClr val="E6EDF3"/>
                </a:solidFill>
                <a:latin typeface="Courier New"/>
              </a:rPr>
              <a:t>.</a:t>
            </a:r>
            <a:r>
              <a:rPr sz="1050" b="0" i="0">
                <a:solidFill>
                  <a:srgbClr val="E6EDF3"/>
                </a:solidFill>
                <a:latin typeface="Courier New"/>
              </a:rPr>
              <a:t>encrypt</a:t>
            </a:r>
            <a:r>
              <a:rPr sz="1050" b="0" i="0">
                <a:solidFill>
                  <a:srgbClr val="E6EDF3"/>
                </a:solidFill>
                <a:latin typeface="Courier New"/>
              </a:rPr>
              <a:t>(</a:t>
            </a:r>
            <a:r>
              <a:rPr sz="1050" b="0" i="0">
                <a:solidFill>
                  <a:srgbClr val="E6EDF3"/>
                </a:solidFill>
                <a:latin typeface="Courier New"/>
              </a:rPr>
              <a:t>user_password</a:t>
            </a:r>
            <a:r>
              <a:rPr sz="1050" b="0" i="0">
                <a:solidFill>
                  <a:srgbClr val="E6EDF3"/>
                </a:solidFill>
                <a:latin typeface="Courier New"/>
              </a:rPr>
              <a:t>=</a:t>
            </a:r>
            <a:r>
              <a:rPr sz="1050" b="0" i="0">
                <a:solidFill>
                  <a:srgbClr val="9BE3A8"/>
                </a:solidFill>
                <a:latin typeface="Courier New"/>
              </a:rPr>
              <a:t>'open-me'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owner_password</a:t>
            </a:r>
            <a:r>
              <a:rPr sz="1050" b="0" i="0">
                <a:solidFill>
                  <a:srgbClr val="E6EDF3"/>
                </a:solidFill>
                <a:latin typeface="Courier New"/>
              </a:rPr>
              <a:t>=</a:t>
            </a:r>
            <a:r>
              <a:rPr sz="1050" b="0" i="0">
                <a:solidFill>
                  <a:srgbClr val="9BE3A8"/>
                </a:solidFill>
                <a:latin typeface="Courier New"/>
              </a:rPr>
              <a:t>'boss'</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algorithm</a:t>
            </a:r>
            <a:r>
              <a:rPr sz="1050" b="0" i="0">
                <a:solidFill>
                  <a:srgbClr val="E6EDF3"/>
                </a:solidFill>
                <a:latin typeface="Courier New"/>
              </a:rPr>
              <a:t>=</a:t>
            </a:r>
            <a:r>
              <a:rPr sz="1050" b="0" i="0">
                <a:solidFill>
                  <a:srgbClr val="9BE3A8"/>
                </a:solidFill>
                <a:latin typeface="Courier New"/>
              </a:rPr>
              <a:t>'AES-256'</a:t>
            </a:r>
            <a:r>
              <a:rPr sz="1050" b="0" i="0">
                <a:solidFill>
                  <a:srgbClr val="E6EDF3"/>
                </a:solidFill>
                <a:latin typeface="Courier New"/>
              </a:rPr>
              <a:t>)</a:t>
            </a:r>
          </a:p>
        </p:txBody>
      </p:sp>
      <p:sp>
        <p:nvSpPr>
          <p:cNvPr id="5" name="explanation"/>
          <p:cNvSpPr txBox="1"/>
          <p:nvPr/>
        </p:nvSpPr>
        <p:spPr>
          <a:xfrm>
            <a:off x="5884164" y="786384"/>
            <a:ext cx="2894075" cy="950595"/>
          </a:xfrm>
          <a:prstGeom prst="rect">
            <a:avLst/>
          </a:prstGeom>
          <a:noFill/>
        </p:spPr>
        <p:txBody>
          <a:bodyPr wrap="square" lIns="128016" rIns="128016" tIns="18288" bIns="18288" anchor="ctr">
            <a:spAutoFit/>
          </a:bodyPr>
          <a:lstStyle/>
          <a:p>
            <a:r>
              <a:rPr sz="1200" b="0" i="0">
                <a:solidFill>
                  <a:srgbClr val="1F2933"/>
                </a:solidFill>
                <a:latin typeface="Calibri"/>
              </a:rPr>
              <a:t>One file, two passwords. The user password is for reading; the owner password is for whoever controls the file.</a:t>
            </a:r>
          </a:p>
        </p:txBody>
      </p:sp>
      <p:sp>
        <p:nvSpPr>
          <p:cNvPr id="6" name="code"/>
          <p:cNvSpPr/>
          <p:nvPr/>
        </p:nvSpPr>
        <p:spPr>
          <a:xfrm>
            <a:off x="365760" y="1782699"/>
            <a:ext cx="5536692" cy="95059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buf</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io</a:t>
            </a:r>
            <a:r>
              <a:rPr sz="1050" b="0" i="0">
                <a:solidFill>
                  <a:srgbClr val="E6EDF3"/>
                </a:solidFill>
                <a:latin typeface="Courier New"/>
              </a:rPr>
              <a:t>.</a:t>
            </a:r>
            <a:r>
              <a:rPr sz="1050" b="0" i="0">
                <a:solidFill>
                  <a:srgbClr val="E6EDF3"/>
                </a:solidFill>
                <a:latin typeface="Courier New"/>
              </a:rPr>
              <a:t>BytesIO</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writer</a:t>
            </a:r>
            <a:r>
              <a:rPr sz="1050" b="0" i="0">
                <a:solidFill>
                  <a:srgbClr val="E6EDF3"/>
                </a:solidFill>
                <a:latin typeface="Courier New"/>
              </a:rPr>
              <a:t>.</a:t>
            </a:r>
            <a:r>
              <a:rPr sz="1050" b="0" i="0">
                <a:solidFill>
                  <a:srgbClr val="E6EDF3"/>
                </a:solidFill>
                <a:latin typeface="Courier New"/>
              </a:rPr>
              <a:t>write</a:t>
            </a:r>
            <a:r>
              <a:rPr sz="1050" b="0" i="0">
                <a:solidFill>
                  <a:srgbClr val="E6EDF3"/>
                </a:solidFill>
                <a:latin typeface="Courier New"/>
              </a:rPr>
              <a:t>(</a:t>
            </a:r>
            <a:r>
              <a:rPr sz="1050" b="0" i="0">
                <a:solidFill>
                  <a:srgbClr val="E6EDF3"/>
                </a:solidFill>
                <a:latin typeface="Courier New"/>
              </a:rPr>
              <a:t>buf</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pw</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'open-me'</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'boss'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'guess'</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reader</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pypdf</a:t>
            </a:r>
            <a:r>
              <a:rPr sz="1050" b="0" i="0">
                <a:solidFill>
                  <a:srgbClr val="E6EDF3"/>
                </a:solidFill>
                <a:latin typeface="Courier New"/>
              </a:rPr>
              <a:t>.</a:t>
            </a:r>
            <a:r>
              <a:rPr sz="1050" b="0" i="0">
                <a:solidFill>
                  <a:srgbClr val="E6EDF3"/>
                </a:solidFill>
                <a:latin typeface="Courier New"/>
              </a:rPr>
              <a:t>PdfReader</a:t>
            </a:r>
            <a:r>
              <a:rPr sz="1050" b="0" i="0">
                <a:solidFill>
                  <a:srgbClr val="E6EDF3"/>
                </a:solidFill>
                <a:latin typeface="Courier New"/>
              </a:rPr>
              <a:t>(</a:t>
            </a:r>
            <a:r>
              <a:rPr sz="1050" b="0" i="0">
                <a:solidFill>
                  <a:srgbClr val="E6EDF3"/>
                </a:solidFill>
                <a:latin typeface="Courier New"/>
              </a:rPr>
              <a:t>io</a:t>
            </a:r>
            <a:r>
              <a:rPr sz="1050" b="0" i="0">
                <a:solidFill>
                  <a:srgbClr val="E6EDF3"/>
                </a:solidFill>
                <a:latin typeface="Courier New"/>
              </a:rPr>
              <a:t>.</a:t>
            </a:r>
            <a:r>
              <a:rPr sz="1050" b="0" i="0">
                <a:solidFill>
                  <a:srgbClr val="E6EDF3"/>
                </a:solidFill>
                <a:latin typeface="Courier New"/>
              </a:rPr>
              <a:t>BytesIO</a:t>
            </a:r>
            <a:r>
              <a:rPr sz="1050" b="0" i="0">
                <a:solidFill>
                  <a:srgbClr val="E6EDF3"/>
                </a:solidFill>
                <a:latin typeface="Courier New"/>
              </a:rPr>
              <a:t>(</a:t>
            </a:r>
            <a:r>
              <a:rPr sz="1050" b="0" i="0">
                <a:solidFill>
                  <a:srgbClr val="E6EDF3"/>
                </a:solidFill>
                <a:latin typeface="Courier New"/>
              </a:rPr>
              <a:t>buf</a:t>
            </a:r>
            <a:r>
              <a:rPr sz="1050" b="0" i="0">
                <a:solidFill>
                  <a:srgbClr val="E6EDF3"/>
                </a:solidFill>
                <a:latin typeface="Courier New"/>
              </a:rPr>
              <a:t>.</a:t>
            </a:r>
            <a:r>
              <a:rPr sz="1050" b="0" i="0">
                <a:solidFill>
                  <a:srgbClr val="E6EDF3"/>
                </a:solidFill>
                <a:latin typeface="Courier New"/>
              </a:rPr>
              <a:t>getvalue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pw</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reader</a:t>
            </a:r>
            <a:r>
              <a:rPr sz="1050" b="0" i="0">
                <a:solidFill>
                  <a:srgbClr val="E6EDF3"/>
                </a:solidFill>
                <a:latin typeface="Courier New"/>
              </a:rPr>
              <a:t>.</a:t>
            </a:r>
            <a:r>
              <a:rPr sz="1050" b="0" i="0">
                <a:solidFill>
                  <a:srgbClr val="E6EDF3"/>
                </a:solidFill>
                <a:latin typeface="Courier New"/>
              </a:rPr>
              <a:t>decrypt</a:t>
            </a:r>
            <a:r>
              <a:rPr sz="1050" b="0" i="0">
                <a:solidFill>
                  <a:srgbClr val="E6EDF3"/>
                </a:solidFill>
                <a:latin typeface="Courier New"/>
              </a:rPr>
              <a:t>(</a:t>
            </a:r>
            <a:r>
              <a:rPr sz="1050" b="0" i="0">
                <a:solidFill>
                  <a:srgbClr val="E6EDF3"/>
                </a:solidFill>
                <a:latin typeface="Courier New"/>
              </a:rPr>
              <a:t>pw</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a:t>
            </a:r>
          </a:p>
        </p:txBody>
      </p:sp>
      <p:sp>
        <p:nvSpPr>
          <p:cNvPr id="7" name="explanation"/>
          <p:cNvSpPr txBox="1"/>
          <p:nvPr/>
        </p:nvSpPr>
        <p:spPr>
          <a:xfrm>
            <a:off x="5884164" y="1782699"/>
            <a:ext cx="2894075" cy="950595"/>
          </a:xfrm>
          <a:prstGeom prst="rect">
            <a:avLst/>
          </a:prstGeom>
          <a:noFill/>
        </p:spPr>
        <p:txBody>
          <a:bodyPr wrap="square" lIns="128016" rIns="128016" tIns="18288" bIns="18288" anchor="ctr">
            <a:spAutoFit/>
          </a:bodyPr>
          <a:lstStyle/>
          <a:p>
            <a:r>
              <a:rPr sz="1200" b="0" i="0">
                <a:solidFill>
                  <a:srgbClr val="1F2933"/>
                </a:solidFill>
                <a:latin typeface="Calibri"/>
              </a:rPr>
              <a:t>decrypt() tells which password matched: USER_PASSWORD, OWNER_PASSWORD or NOT_DECRYPTED. Each try uses a fresh reader.</a:t>
            </a:r>
          </a:p>
        </p:txBody>
      </p:sp>
      <p:sp>
        <p:nvSpPr>
          <p:cNvPr id="8" name="result label"/>
          <p:cNvSpPr txBox="1"/>
          <p:nvPr/>
        </p:nvSpPr>
        <p:spPr>
          <a:xfrm>
            <a:off x="365760" y="278815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35045"/>
          <a:ext cx="4206239" cy="1097280"/>
        </p:xfrm>
        <a:graphic>
          <a:graphicData uri="http://schemas.openxmlformats.org/drawingml/2006/table">
            <a:tbl>
              <a:tblPr firstRow="0" bandRow="0"/>
              <a:tblGrid>
                <a:gridCol w="1591550"/>
                <a:gridCol w="2614689"/>
              </a:tblGrid>
              <a:tr h="274320">
                <a:tc>
                  <a:txBody>
                    <a:bodyPr wrap="square"/>
                    <a:lstStyle/>
                    <a:p>
                      <a:r>
                        <a:rPr sz="1000" b="1" i="0">
                          <a:solidFill>
                            <a:srgbClr val="FFFFFF"/>
                          </a:solidFill>
                          <a:latin typeface="Calibri"/>
                        </a:rPr>
                        <a:t>decrypt(...) with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open-me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USER_PASSWORD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1000" b="0" i="0">
                          <a:solidFill>
                            <a:srgbClr val="1F2933"/>
                          </a:solidFill>
                          <a:latin typeface="Courier New"/>
                        </a:rPr>
                        <a:t>boss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OWNER_PASSWORD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1000" b="0" i="0">
                          <a:solidFill>
                            <a:srgbClr val="1F2933"/>
                          </a:solidFill>
                          <a:latin typeface="Courier New"/>
                        </a:rPr>
                        <a:t>guess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NOT_DECRYPTED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Rounded Rectangle 9"/>
          <p:cNvSpPr/>
          <p:nvPr/>
        </p:nvSpPr>
        <p:spPr>
          <a:xfrm>
            <a:off x="4992624" y="3035045"/>
            <a:ext cx="3785615" cy="5029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user password: opens the file and shows its pages</a:t>
            </a:r>
          </a:p>
        </p:txBody>
      </p:sp>
      <p:sp>
        <p:nvSpPr>
          <p:cNvPr id="11" name="Rounded Rectangle 10"/>
          <p:cNvSpPr/>
          <p:nvPr/>
        </p:nvSpPr>
        <p:spPr>
          <a:xfrm>
            <a:off x="4992624" y="3629405"/>
            <a:ext cx="3785615" cy="5029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owner password: also controls what the file allows</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answer names the key that fitted.</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58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Which lock was used: RC4 by default, AES when asked</a:t>
            </a:r>
          </a:p>
        </p:txBody>
      </p:sp>
      <p:sp>
        <p:nvSpPr>
          <p:cNvPr id="4" name="code"/>
          <p:cNvSpPr/>
          <p:nvPr/>
        </p:nvSpPr>
        <p:spPr>
          <a:xfrm>
            <a:off x="365760" y="786384"/>
            <a:ext cx="5201411" cy="150063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pypdf</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lock</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options</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pypdf</a:t>
            </a:r>
            <a:r>
              <a:rPr sz="1100" b="0" i="0">
                <a:solidFill>
                  <a:srgbClr val="E6EDF3"/>
                </a:solidFill>
                <a:latin typeface="Courier New"/>
              </a:rPr>
              <a:t>.</a:t>
            </a:r>
            <a:r>
              <a:rPr sz="1100" b="0" i="0">
                <a:solidFill>
                  <a:srgbClr val="E6EDF3"/>
                </a:solidFill>
                <a:latin typeface="Courier New"/>
              </a:rPr>
              <a:t>PdfWriter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add_blank_page</a:t>
            </a:r>
            <a:r>
              <a:rPr sz="1100" b="0" i="0">
                <a:solidFill>
                  <a:srgbClr val="E6EDF3"/>
                </a:solidFill>
                <a:latin typeface="Courier New"/>
              </a:rPr>
              <a:t>(</a:t>
            </a:r>
            <a:r>
              <a:rPr sz="1100" b="0" i="0">
                <a:solidFill>
                  <a:srgbClr val="7CC4FF"/>
                </a:solidFill>
                <a:latin typeface="Courier New"/>
              </a:rPr>
              <a:t>100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100</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encrypt</a:t>
            </a:r>
            <a:r>
              <a:rPr sz="1100" b="0" i="0">
                <a:solidFill>
                  <a:srgbClr val="E6EDF3"/>
                </a:solidFill>
                <a:latin typeface="Courier New"/>
              </a:rPr>
              <a:t>(</a:t>
            </a:r>
            <a:r>
              <a:rPr sz="1100" b="0" i="0">
                <a:solidFill>
                  <a:srgbClr val="9BE3A8"/>
                </a:solidFill>
                <a:latin typeface="Courier New"/>
              </a:rPr>
              <a:t>'pw'</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options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BytesIO</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write</a:t>
            </a:r>
            <a:r>
              <a:rPr sz="1100" b="0" i="0">
                <a:solidFill>
                  <a:srgbClr val="E6EDF3"/>
                </a:solidFill>
                <a:latin typeface="Courier New"/>
              </a:rPr>
              <a:t>(</a:t>
            </a:r>
            <a:r>
              <a:rPr sz="1100" b="0" i="0">
                <a:solidFill>
                  <a:srgbClr val="E6EDF3"/>
                </a:solidFill>
                <a:latin typeface="Courier New"/>
              </a:rPr>
              <a:t>b</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pypdf</a:t>
            </a:r>
            <a:r>
              <a:rPr sz="1100" b="0" i="0">
                <a:solidFill>
                  <a:srgbClr val="E6EDF3"/>
                </a:solidFill>
                <a:latin typeface="Courier New"/>
              </a:rPr>
              <a:t>.</a:t>
            </a:r>
            <a:r>
              <a:rPr sz="1100" b="0" i="0">
                <a:solidFill>
                  <a:srgbClr val="E6EDF3"/>
                </a:solidFill>
                <a:latin typeface="Courier New"/>
              </a:rPr>
              <a:t>PdfReader</a:t>
            </a:r>
            <a:r>
              <a:rPr sz="1100" b="0" i="0">
                <a:solidFill>
                  <a:srgbClr val="E6EDF3"/>
                </a:solidFill>
                <a:latin typeface="Courier New"/>
              </a:rPr>
              <a:t>(</a:t>
            </a:r>
            <a:r>
              <a:rPr sz="1100" b="0" i="0">
                <a:solidFill>
                  <a:srgbClr val="E6EDF3"/>
                </a:solidFill>
                <a:latin typeface="Courier New"/>
              </a:rPr>
              <a:t>b</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trailer</a:t>
            </a:r>
            <a:r>
              <a:rPr sz="1100" b="0" i="0">
                <a:solidFill>
                  <a:srgbClr val="E6EDF3"/>
                </a:solidFill>
                <a:latin typeface="Courier New"/>
              </a:rPr>
              <a:t>[</a:t>
            </a:r>
            <a:r>
              <a:rPr sz="1100" b="0" i="0">
                <a:solidFill>
                  <a:srgbClr val="9BE3A8"/>
                </a:solidFill>
                <a:latin typeface="Courier New"/>
              </a:rPr>
              <a:t>'/Encrypt'</a:t>
            </a:r>
            <a:r>
              <a:rPr sz="1100" b="0" i="0">
                <a:solidFill>
                  <a:srgbClr val="E6EDF3"/>
                </a:solidFill>
                <a:latin typeface="Courier New"/>
              </a:rPr>
              <a:t>]</a:t>
            </a:r>
          </a:p>
        </p:txBody>
      </p:sp>
      <p:sp>
        <p:nvSpPr>
          <p:cNvPr id="5" name="explanation"/>
          <p:cNvSpPr txBox="1"/>
          <p:nvPr/>
        </p:nvSpPr>
        <p:spPr>
          <a:xfrm>
            <a:off x="5548884" y="786384"/>
            <a:ext cx="3229356" cy="1500631"/>
          </a:xfrm>
          <a:prstGeom prst="rect">
            <a:avLst/>
          </a:prstGeom>
          <a:noFill/>
        </p:spPr>
        <p:txBody>
          <a:bodyPr wrap="square" lIns="128016" rIns="128016" tIns="18288" bIns="18288" anchor="ctr">
            <a:spAutoFit/>
          </a:bodyPr>
          <a:lstStyle/>
          <a:p>
            <a:r>
              <a:rPr sz="1200" b="0" i="0">
                <a:solidFill>
                  <a:srgbClr val="1F2933"/>
                </a:solidFill>
                <a:latin typeface="Calibri"/>
              </a:rPr>
              <a:t>A helper that locks a one-page file with the options given and returns the record of the lock that the file keeps.</a:t>
            </a:r>
          </a:p>
        </p:txBody>
      </p:sp>
      <p:sp>
        <p:nvSpPr>
          <p:cNvPr id="6" name="code"/>
          <p:cNvSpPr/>
          <p:nvPr/>
        </p:nvSpPr>
        <p:spPr>
          <a:xfrm>
            <a:off x="365760" y="2332736"/>
            <a:ext cx="520141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algo</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None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'AES-128'</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'AES-256'</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lock</a:t>
            </a:r>
            <a:r>
              <a:rPr sz="1100" b="0" i="0">
                <a:solidFill>
                  <a:srgbClr val="E6EDF3"/>
                </a:solidFill>
                <a:latin typeface="Courier New"/>
              </a:rPr>
              <a:t>(</a:t>
            </a:r>
            <a:r>
              <a:rPr sz="1100" b="0" i="0">
                <a:solidFill>
                  <a:srgbClr val="E6EDF3"/>
                </a:solidFill>
                <a:latin typeface="Courier New"/>
              </a:rPr>
              <a:t>algorithm</a:t>
            </a:r>
            <a:r>
              <a:rPr sz="1100" b="0" i="0">
                <a:solidFill>
                  <a:srgbClr val="E6EDF3"/>
                </a:solidFill>
                <a:latin typeface="Courier New"/>
              </a:rPr>
              <a:t>=</a:t>
            </a:r>
            <a:r>
              <a:rPr sz="1100" b="0" i="0">
                <a:solidFill>
                  <a:srgbClr val="E6EDF3"/>
                </a:solidFill>
                <a:latin typeface="Courier New"/>
              </a:rPr>
              <a:t>algo</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bits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9BE3A8"/>
                </a:solidFill>
                <a:latin typeface="Courier New"/>
              </a:rPr>
              <a:t>'/V'</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9BE3A8"/>
                </a:solidFill>
                <a:latin typeface="Courier New"/>
              </a:rPr>
              <a:t>'/R'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9BE3A8"/>
                </a:solidFill>
                <a:latin typeface="Courier New"/>
              </a:rPr>
              <a:t>'/Length'</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 V=%d R=%d bits=%d'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algo</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bits</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548884" y="2332736"/>
            <a:ext cx="3229356" cy="818896"/>
          </a:xfrm>
          <a:prstGeom prst="rect">
            <a:avLst/>
          </a:prstGeom>
          <a:noFill/>
        </p:spPr>
        <p:txBody>
          <a:bodyPr wrap="square" lIns="128016" rIns="128016" tIns="18288" bIns="18288" anchor="ctr">
            <a:spAutoFit/>
          </a:bodyPr>
          <a:lstStyle/>
          <a:p>
            <a:r>
              <a:rPr sz="1200" b="0" i="0">
                <a:solidFill>
                  <a:srgbClr val="1F2933"/>
                </a:solidFill>
                <a:latin typeface="Calibri"/>
              </a:rPr>
              <a:t>None asks for the default, the old RC4. V and R name the scheme; AES needs the cryptography package.</a:t>
            </a:r>
          </a:p>
        </p:txBody>
      </p:sp>
      <p:sp>
        <p:nvSpPr>
          <p:cNvPr id="8" name="result label"/>
          <p:cNvSpPr txBox="1"/>
          <p:nvPr/>
        </p:nvSpPr>
        <p:spPr>
          <a:xfrm>
            <a:off x="365760" y="320649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53383"/>
          <a:ext cx="4626863" cy="1097280"/>
        </p:xfrm>
        <a:graphic>
          <a:graphicData uri="http://schemas.openxmlformats.org/drawingml/2006/table">
            <a:tbl>
              <a:tblPr firstRow="0" bandRow="0"/>
              <a:tblGrid>
                <a:gridCol w="2144156"/>
                <a:gridCol w="677102"/>
                <a:gridCol w="677102"/>
                <a:gridCol w="1128503"/>
              </a:tblGrid>
              <a:tr h="274320">
                <a:tc>
                  <a:txBody>
                    <a:bodyPr wrap="square"/>
                    <a:lstStyle/>
                    <a:p>
                      <a:r>
                        <a:rPr sz="1000" b="1" i="0">
                          <a:solidFill>
                            <a:srgbClr val="FFFFFF"/>
                          </a:solidFill>
                          <a:latin typeface="Calibri"/>
                        </a:rPr>
                        <a:t>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key bits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None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128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74320">
                <a:tc>
                  <a:txBody>
                    <a:bodyPr wrap="square"/>
                    <a:lstStyle/>
                    <a:p>
                      <a:r>
                        <a:rPr sz="1000" b="0" i="0">
                          <a:solidFill>
                            <a:srgbClr val="1F2933"/>
                          </a:solidFill>
                          <a:latin typeface="Courier New"/>
                        </a:rPr>
                        <a:t>AES-128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AES-256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256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graphicFrame>
        <p:nvGraphicFramePr>
          <p:cNvPr id="10" name="chart"/>
          <p:cNvGraphicFramePr>
            <a:graphicFrameLocks noGrp="1"/>
          </p:cNvGraphicFramePr>
          <p:nvPr/>
        </p:nvGraphicFramePr>
        <p:xfrm>
          <a:off x="5413248" y="3425952"/>
          <a:ext cx="3364991" cy="1210056"/>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file records its lock: RC4 by default, AES when asked.</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58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folders and the program</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program that handles many files is like a mail sorter: it walks the shelves and treats every item alike.</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108960"/>
                <a:gridCol w="53035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os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building's directory board: it says where things are kept.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os.listdir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glance at one shelf: the names of what lies on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os.walk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walk through the whole building, room by room and shelf by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sort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Putting the folders in alphabetical order before they are bound.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combine_pdfs.py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mail sorter's finished routine for Project 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Ideas for Similar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same sorter on new jobs: stamp every page, split a book into chapters, number the 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58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Project 12, step 1: find all PDF files and sort them</a:t>
            </a:r>
          </a:p>
        </p:txBody>
      </p:sp>
      <p:sp>
        <p:nvSpPr>
          <p:cNvPr id="4" name="code"/>
          <p:cNvSpPr/>
          <p:nvPr/>
        </p:nvSpPr>
        <p:spPr>
          <a:xfrm>
            <a:off x="365760" y="786384"/>
            <a:ext cx="5468112"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os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tempfile</a:t>
            </a:r>
          </a:p>
          <a:p>
            <a:pPr algn="l"/>
            <a:r>
              <a:rPr sz="1200" b="0" i="0">
                <a:solidFill>
                  <a:srgbClr val="8FA3B8"/>
                </a:solidFill>
                <a:latin typeface="Courier New"/>
              </a:rPr>
              <a:t>&gt;&gt;&gt; </a:t>
            </a:r>
            <a:r>
              <a:rPr sz="1200" b="0" i="0">
                <a:solidFill>
                  <a:srgbClr val="E6EDF3"/>
                </a:solidFill>
                <a:latin typeface="Courier New"/>
              </a:rPr>
              <a:t>os</a:t>
            </a:r>
            <a:r>
              <a:rPr sz="1200" b="0" i="0">
                <a:solidFill>
                  <a:srgbClr val="E6EDF3"/>
                </a:solidFill>
                <a:latin typeface="Courier New"/>
              </a:rPr>
              <a:t>.</a:t>
            </a:r>
            <a:r>
              <a:rPr sz="1200" b="0" i="0">
                <a:solidFill>
                  <a:srgbClr val="E6EDF3"/>
                </a:solidFill>
                <a:latin typeface="Courier New"/>
              </a:rPr>
              <a:t>chdir</a:t>
            </a:r>
            <a:r>
              <a:rPr sz="1200" b="0" i="0">
                <a:solidFill>
                  <a:srgbClr val="E6EDF3"/>
                </a:solidFill>
                <a:latin typeface="Courier New"/>
              </a:rPr>
              <a:t>(</a:t>
            </a:r>
            <a:r>
              <a:rPr sz="1200" b="0" i="0">
                <a:solidFill>
                  <a:srgbClr val="E6EDF3"/>
                </a:solidFill>
                <a:latin typeface="Courier New"/>
              </a:rPr>
              <a:t>tempfile</a:t>
            </a:r>
            <a:r>
              <a:rPr sz="1200" b="0" i="0">
                <a:solidFill>
                  <a:srgbClr val="E6EDF3"/>
                </a:solidFill>
                <a:latin typeface="Courier New"/>
              </a:rPr>
              <a:t>.</a:t>
            </a:r>
            <a:r>
              <a:rPr sz="1200" b="0" i="0">
                <a:solidFill>
                  <a:srgbClr val="E6EDF3"/>
                </a:solidFill>
                <a:latin typeface="Courier New"/>
              </a:rPr>
              <a:t>mkdtemp</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name</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'b.pdf'</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'A.pdf'</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'c.PDF'</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'notes.txt'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open</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'w'</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close</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815584" y="786384"/>
            <a:ext cx="2962656" cy="921765"/>
          </a:xfrm>
          <a:prstGeom prst="rect">
            <a:avLst/>
          </a:prstGeom>
          <a:noFill/>
        </p:spPr>
        <p:txBody>
          <a:bodyPr wrap="square" lIns="128016" rIns="128016" tIns="18288" bIns="18288" anchor="ctr">
            <a:spAutoFit/>
          </a:bodyPr>
          <a:lstStyle/>
          <a:p>
            <a:r>
              <a:rPr sz="1250" b="0" i="0">
                <a:solidFill>
                  <a:srgbClr val="1F2933"/>
                </a:solidFill>
                <a:latin typeface="Calibri"/>
              </a:rPr>
              <a:t>A folder with three PDF names and a text file, all empty: step 1 only needs names. One PDF has a capital extension.</a:t>
            </a:r>
          </a:p>
        </p:txBody>
      </p:sp>
      <p:sp>
        <p:nvSpPr>
          <p:cNvPr id="6" name="code"/>
          <p:cNvSpPr/>
          <p:nvPr/>
        </p:nvSpPr>
        <p:spPr>
          <a:xfrm>
            <a:off x="365760" y="1753870"/>
            <a:ext cx="5468112" cy="12527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pdf_filenames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filename</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os</a:t>
            </a:r>
            <a:r>
              <a:rPr sz="1200" b="0" i="0">
                <a:solidFill>
                  <a:srgbClr val="E6EDF3"/>
                </a:solidFill>
                <a:latin typeface="Courier New"/>
              </a:rPr>
              <a:t>.</a:t>
            </a:r>
            <a:r>
              <a:rPr sz="1200" b="0" i="0">
                <a:solidFill>
                  <a:srgbClr val="E6EDF3"/>
                </a:solidFill>
                <a:latin typeface="Courier New"/>
              </a:rPr>
              <a:t>listdir</a:t>
            </a:r>
            <a:r>
              <a:rPr sz="1200" b="0" i="0">
                <a:solidFill>
                  <a:srgbClr val="E6EDF3"/>
                </a:solidFill>
                <a:latin typeface="Courier New"/>
              </a:rPr>
              <a:t>(</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filename</a:t>
            </a:r>
            <a:r>
              <a:rPr sz="1200" b="0" i="0">
                <a:solidFill>
                  <a:srgbClr val="E6EDF3"/>
                </a:solidFill>
                <a:latin typeface="Courier New"/>
              </a:rPr>
              <a:t>.</a:t>
            </a:r>
            <a:r>
              <a:rPr sz="1200" b="0" i="0">
                <a:solidFill>
                  <a:srgbClr val="E6EDF3"/>
                </a:solidFill>
                <a:latin typeface="Courier New"/>
              </a:rPr>
              <a:t>lower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endswith</a:t>
            </a:r>
            <a:r>
              <a:rPr sz="1200" b="0" i="0">
                <a:solidFill>
                  <a:srgbClr val="E6EDF3"/>
                </a:solidFill>
                <a:latin typeface="Courier New"/>
              </a:rPr>
              <a:t>(</a:t>
            </a:r>
            <a:r>
              <a:rPr sz="1200" b="0" i="0">
                <a:solidFill>
                  <a:srgbClr val="9BE3A8"/>
                </a:solidFill>
                <a:latin typeface="Courier New"/>
              </a:rPr>
              <a:t>'.pdf'</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pdf_filenames</a:t>
            </a:r>
            <a:r>
              <a:rPr sz="1200" b="0" i="0">
                <a:solidFill>
                  <a:srgbClr val="E6EDF3"/>
                </a:solidFill>
                <a:latin typeface="Courier New"/>
              </a:rPr>
              <a:t>.</a:t>
            </a:r>
            <a:r>
              <a:rPr sz="1200" b="0" i="0">
                <a:solidFill>
                  <a:srgbClr val="E6EDF3"/>
                </a:solidFill>
                <a:latin typeface="Courier New"/>
              </a:rPr>
              <a:t>append</a:t>
            </a:r>
            <a:r>
              <a:rPr sz="1200" b="0" i="0">
                <a:solidFill>
                  <a:srgbClr val="E6EDF3"/>
                </a:solidFill>
                <a:latin typeface="Courier New"/>
              </a:rPr>
              <a:t>(</a:t>
            </a:r>
            <a:r>
              <a:rPr sz="1200" b="0" i="0">
                <a:solidFill>
                  <a:srgbClr val="E6EDF3"/>
                </a:solidFill>
                <a:latin typeface="Courier New"/>
              </a:rPr>
              <a:t>filename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pdf_filenames</a:t>
            </a:r>
            <a:r>
              <a:rPr sz="1200" b="0" i="0">
                <a:solidFill>
                  <a:srgbClr val="E6EDF3"/>
                </a:solidFill>
                <a:latin typeface="Courier New"/>
              </a:rPr>
              <a:t>.</a:t>
            </a:r>
            <a:r>
              <a:rPr sz="1200" b="0" i="0">
                <a:solidFill>
                  <a:srgbClr val="E6EDF3"/>
                </a:solidFill>
                <a:latin typeface="Courier New"/>
              </a:rPr>
              <a:t>sort</a:t>
            </a:r>
            <a:r>
              <a:rPr sz="1200" b="0" i="0">
                <a:solidFill>
                  <a:srgbClr val="E6EDF3"/>
                </a:solidFill>
                <a:latin typeface="Courier New"/>
              </a:rPr>
              <a:t>(</a:t>
            </a:r>
            <a:r>
              <a:rPr sz="1200" b="0" i="0">
                <a:solidFill>
                  <a:srgbClr val="E6EDF3"/>
                </a:solidFill>
                <a:latin typeface="Courier New"/>
              </a:rPr>
              <a:t>key</a:t>
            </a:r>
            <a:r>
              <a:rPr sz="1200" b="0" i="0">
                <a:solidFill>
                  <a:srgbClr val="E6EDF3"/>
                </a:solidFill>
                <a:latin typeface="Courier New"/>
              </a:rPr>
              <a:t>=</a:t>
            </a:r>
            <a:r>
              <a:rPr sz="1200" b="0" i="0">
                <a:solidFill>
                  <a:srgbClr val="E6EDF3"/>
                </a:solidFill>
                <a:latin typeface="Courier New"/>
              </a:rPr>
              <a:t>str</a:t>
            </a:r>
            <a:r>
              <a:rPr sz="1200" b="0" i="0">
                <a:solidFill>
                  <a:srgbClr val="E6EDF3"/>
                </a:solidFill>
                <a:latin typeface="Courier New"/>
              </a:rPr>
              <a:t>.</a:t>
            </a:r>
            <a:r>
              <a:rPr sz="1200" b="0" i="0">
                <a:solidFill>
                  <a:srgbClr val="E6EDF3"/>
                </a:solidFill>
                <a:latin typeface="Courier New"/>
              </a:rPr>
              <a:t>lower</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pdf_filenames</a:t>
            </a:r>
            <a:r>
              <a:rPr sz="1200" b="0" i="0">
                <a:solidFill>
                  <a:srgbClr val="E6EDF3"/>
                </a:solidFill>
                <a:latin typeface="Courier New"/>
              </a:rPr>
              <a:t>)</a:t>
            </a:r>
          </a:p>
        </p:txBody>
      </p:sp>
      <p:sp>
        <p:nvSpPr>
          <p:cNvPr id="7" name="explanation"/>
          <p:cNvSpPr txBox="1"/>
          <p:nvPr/>
        </p:nvSpPr>
        <p:spPr>
          <a:xfrm>
            <a:off x="5815584" y="1753870"/>
            <a:ext cx="2962656" cy="1252728"/>
          </a:xfrm>
          <a:prstGeom prst="rect">
            <a:avLst/>
          </a:prstGeom>
          <a:noFill/>
        </p:spPr>
        <p:txBody>
          <a:bodyPr wrap="square" lIns="128016" rIns="128016" tIns="18288" bIns="18288" anchor="ctr">
            <a:spAutoFit/>
          </a:bodyPr>
          <a:lstStyle/>
          <a:p>
            <a:r>
              <a:rPr sz="1250" b="0" i="0">
                <a:solidFill>
                  <a:srgbClr val="1F2933"/>
                </a:solidFill>
                <a:latin typeface="Calibri"/>
              </a:rPr>
              <a:t>listdir() names everything in the folder. lower() lets the test see c.PDF too, and the sort ignores case.</a:t>
            </a:r>
          </a:p>
        </p:txBody>
      </p:sp>
      <p:sp>
        <p:nvSpPr>
          <p:cNvPr id="8" name="result label"/>
          <p:cNvSpPr txBox="1"/>
          <p:nvPr/>
        </p:nvSpPr>
        <p:spPr>
          <a:xfrm>
            <a:off x="365760" y="306146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308349"/>
            <a:ext cx="1463040"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b.pdf</a:t>
            </a:r>
          </a:p>
        </p:txBody>
      </p:sp>
      <p:sp>
        <p:nvSpPr>
          <p:cNvPr id="10" name="Rounded Rectangle 9"/>
          <p:cNvSpPr/>
          <p:nvPr/>
        </p:nvSpPr>
        <p:spPr>
          <a:xfrm>
            <a:off x="365760" y="3582669"/>
            <a:ext cx="1463040"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A.pdf</a:t>
            </a:r>
          </a:p>
        </p:txBody>
      </p:sp>
      <p:sp>
        <p:nvSpPr>
          <p:cNvPr id="11" name="Rounded Rectangle 10"/>
          <p:cNvSpPr/>
          <p:nvPr/>
        </p:nvSpPr>
        <p:spPr>
          <a:xfrm>
            <a:off x="365760" y="3856989"/>
            <a:ext cx="1463040"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c.PDF</a:t>
            </a:r>
          </a:p>
        </p:txBody>
      </p:sp>
      <p:sp>
        <p:nvSpPr>
          <p:cNvPr id="12" name="Rounded Rectangle 11"/>
          <p:cNvSpPr/>
          <p:nvPr/>
        </p:nvSpPr>
        <p:spPr>
          <a:xfrm>
            <a:off x="365760" y="4131309"/>
            <a:ext cx="1463040" cy="237744"/>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notes.txt</a:t>
            </a:r>
          </a:p>
        </p:txBody>
      </p:sp>
      <p:cxnSp>
        <p:nvCxnSpPr>
          <p:cNvPr id="13" name="arrow"/>
          <p:cNvCxnSpPr/>
          <p:nvPr/>
        </p:nvCxnSpPr>
        <p:spPr>
          <a:xfrm>
            <a:off x="1920240" y="3856989"/>
            <a:ext cx="6400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51760" y="3582669"/>
            <a:ext cx="2377440" cy="54864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lower() and endswith('.pdf')</a:t>
            </a:r>
          </a:p>
          <a:p>
            <a:pPr algn="ctr"/>
            <a:r>
              <a:rPr sz="950" b="0" i="0">
                <a:solidFill>
                  <a:srgbClr val="1F2933"/>
                </a:solidFill>
                <a:latin typeface="Calibri"/>
              </a:rPr>
              <a:t>keeps 3 of 4 names</a:t>
            </a:r>
          </a:p>
        </p:txBody>
      </p:sp>
      <p:cxnSp>
        <p:nvCxnSpPr>
          <p:cNvPr id="15" name="arrow"/>
          <p:cNvCxnSpPr/>
          <p:nvPr/>
        </p:nvCxnSpPr>
        <p:spPr>
          <a:xfrm>
            <a:off x="5120640" y="3856989"/>
            <a:ext cx="45720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669280" y="3582669"/>
            <a:ext cx="3108960" cy="54864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sorted, ignoring case:</a:t>
            </a:r>
          </a:p>
          <a:p>
            <a:pPr algn="ctr"/>
            <a:r>
              <a:rPr sz="950" b="0" i="0">
                <a:solidFill>
                  <a:srgbClr val="1F2933"/>
                </a:solidFill>
                <a:latin typeface="Courier New"/>
              </a:rPr>
              <a:t>A.pdf, b.pdf, c.PDF</a:t>
            </a:r>
          </a:p>
        </p:txBody>
      </p:sp>
      <p:sp>
        <p:nvSpPr>
          <p:cNvPr id="17" name="visual note"/>
          <p:cNvSpPr txBox="1"/>
          <p:nvPr/>
        </p:nvSpPr>
        <p:spPr>
          <a:xfrm>
            <a:off x="2651760" y="4177029"/>
            <a:ext cx="6126480" cy="201168"/>
          </a:xfrm>
          <a:prstGeom prst="rect">
            <a:avLst/>
          </a:prstGeom>
          <a:noFill/>
        </p:spPr>
        <p:txBody>
          <a:bodyPr wrap="square" lIns="45720" rIns="45720" tIns="27432" bIns="27432" anchor="t">
            <a:spAutoFit/>
          </a:bodyPr>
          <a:lstStyle/>
          <a:p>
            <a:r>
              <a:rPr sz="950" b="0" i="1">
                <a:solidFill>
                  <a:srgbClr val="5B6773"/>
                </a:solidFill>
                <a:latin typeface="Calibri"/>
              </a:rPr>
              <a:t>green: kept; grey: left out (a text file)</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Find the PDFs; ignore case when sorting.</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58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Project 12, steps 2 and 3: open each PDF, copy, save</a:t>
            </a:r>
          </a:p>
        </p:txBody>
      </p:sp>
      <p:sp>
        <p:nvSpPr>
          <p:cNvPr id="4" name="code"/>
          <p:cNvSpPr/>
          <p:nvPr/>
        </p:nvSpPr>
        <p:spPr>
          <a:xfrm>
            <a:off x="365760" y="786384"/>
            <a:ext cx="5193791" cy="111328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p>
          <a:p>
            <a:pPr algn="l"/>
            <a:r>
              <a:rPr sz="900" b="0" i="0">
                <a:solidFill>
                  <a:srgbClr val="8FA3B8"/>
                </a:solidFill>
                <a:latin typeface="Courier New"/>
              </a:rPr>
              <a:t>&gt;&gt;&gt;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chdir</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PdfWriter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add_blank_page</a:t>
            </a:r>
            <a:r>
              <a:rPr sz="900" b="0" i="0">
                <a:solidFill>
                  <a:srgbClr val="E6EDF3"/>
                </a:solidFill>
                <a:latin typeface="Courier New"/>
              </a:rPr>
              <a:t>(</a:t>
            </a:r>
            <a:r>
              <a:rPr sz="900" b="0" i="0">
                <a:solidFill>
                  <a:srgbClr val="7CC4FF"/>
                </a:solidFill>
                <a:latin typeface="Courier New"/>
              </a:rPr>
              <a:t>100</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100</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name</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'b.pdf'</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'A.pdf'</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'c.PDF'</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add_blank_page</a:t>
            </a:r>
            <a:r>
              <a:rPr sz="900" b="0" i="0">
                <a:solidFill>
                  <a:srgbClr val="E6EDF3"/>
                </a:solidFill>
                <a:latin typeface="Courier New"/>
              </a:rPr>
              <a:t>(</a:t>
            </a:r>
            <a:r>
              <a:rPr sz="900" b="0" i="0">
                <a:solidFill>
                  <a:srgbClr val="7CC4FF"/>
                </a:solidFill>
                <a:latin typeface="Courier New"/>
              </a:rPr>
              <a:t>100</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100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write</a:t>
            </a:r>
            <a:r>
              <a:rPr sz="900" b="0" i="0">
                <a:solidFill>
                  <a:srgbClr val="E6EDF3"/>
                </a:solidFill>
                <a:latin typeface="Courier New"/>
              </a:rPr>
              <a:t>(</a:t>
            </a:r>
            <a:r>
              <a:rPr sz="900" b="0" i="0">
                <a:solidFill>
                  <a:srgbClr val="E6EDF3"/>
                </a:solidFill>
                <a:latin typeface="Courier New"/>
              </a:rPr>
              <a:t>name</a:t>
            </a:r>
            <a:r>
              <a:rPr sz="900" b="0" i="0">
                <a:solidFill>
                  <a:srgbClr val="E6EDF3"/>
                </a:solidFill>
                <a:latin typeface="Courier New"/>
              </a:rPr>
              <a:t>)</a:t>
            </a:r>
          </a:p>
        </p:txBody>
      </p:sp>
      <p:sp>
        <p:nvSpPr>
          <p:cNvPr id="5" name="explanation"/>
          <p:cNvSpPr txBox="1"/>
          <p:nvPr/>
        </p:nvSpPr>
        <p:spPr>
          <a:xfrm>
            <a:off x="5541264" y="786384"/>
            <a:ext cx="3236976" cy="1113281"/>
          </a:xfrm>
          <a:prstGeom prst="rect">
            <a:avLst/>
          </a:prstGeom>
          <a:noFill/>
        </p:spPr>
        <p:txBody>
          <a:bodyPr wrap="square" lIns="128016" rIns="128016" tIns="18288" bIns="18288" anchor="ctr">
            <a:spAutoFit/>
          </a:bodyPr>
          <a:lstStyle/>
          <a:p>
            <a:r>
              <a:rPr sz="1100" b="0" i="0">
                <a:solidFill>
                  <a:srgbClr val="1F2933"/>
                </a:solidFill>
                <a:latin typeface="Calibri"/>
              </a:rPr>
              <a:t>Three PDFs of 2, 3 and 4 pages stand in for the folder's files: one writer is saved after each added page.</a:t>
            </a:r>
          </a:p>
        </p:txBody>
      </p:sp>
      <p:sp>
        <p:nvSpPr>
          <p:cNvPr id="6" name="code"/>
          <p:cNvSpPr/>
          <p:nvPr/>
        </p:nvSpPr>
        <p:spPr>
          <a:xfrm>
            <a:off x="365760" y="1945386"/>
            <a:ext cx="519379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pdf_filenames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'A.pdf'</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'b.pdf'</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'c.PDF'</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writer</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PdfWriter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name</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pdf_filenames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writer</a:t>
            </a:r>
            <a:r>
              <a:rPr sz="900" b="0" i="0">
                <a:solidFill>
                  <a:srgbClr val="E6EDF3"/>
                </a:solidFill>
                <a:latin typeface="Courier New"/>
              </a:rPr>
              <a:t>.</a:t>
            </a:r>
            <a:r>
              <a:rPr sz="900" b="0" i="0">
                <a:solidFill>
                  <a:srgbClr val="E6EDF3"/>
                </a:solidFill>
                <a:latin typeface="Courier New"/>
              </a:rPr>
              <a:t>append</a:t>
            </a:r>
            <a:r>
              <a:rPr sz="900" b="0" i="0">
                <a:solidFill>
                  <a:srgbClr val="E6EDF3"/>
                </a:solidFill>
                <a:latin typeface="Courier New"/>
              </a:rPr>
              <a:t>(</a:t>
            </a:r>
            <a:r>
              <a:rPr sz="900" b="0" i="0">
                <a:solidFill>
                  <a:srgbClr val="E6EDF3"/>
                </a:solidFill>
                <a:latin typeface="Courier New"/>
              </a:rPr>
              <a:t>name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PdfReader</a:t>
            </a:r>
            <a:r>
              <a:rPr sz="900" b="0" i="0">
                <a:solidFill>
                  <a:srgbClr val="E6EDF3"/>
                </a:solidFill>
                <a:latin typeface="Courier New"/>
              </a:rPr>
              <a:t>(</a:t>
            </a:r>
            <a:r>
              <a:rPr sz="900" b="0" i="0">
                <a:solidFill>
                  <a:srgbClr val="E6EDF3"/>
                </a:solidFill>
                <a:latin typeface="Courier New"/>
              </a:rPr>
              <a:t>name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pages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541264" y="1945386"/>
            <a:ext cx="3236976" cy="826516"/>
          </a:xfrm>
          <a:prstGeom prst="rect">
            <a:avLst/>
          </a:prstGeom>
          <a:noFill/>
        </p:spPr>
        <p:txBody>
          <a:bodyPr wrap="square" lIns="128016" rIns="128016" tIns="18288" bIns="18288" anchor="ctr">
            <a:spAutoFit/>
          </a:bodyPr>
          <a:lstStyle/>
          <a:p>
            <a:r>
              <a:rPr sz="1100" b="0" i="0">
                <a:solidFill>
                  <a:srgbClr val="1F2933"/>
                </a:solidFill>
                <a:latin typeface="Calibri"/>
              </a:rPr>
              <a:t>Step 2: open each file in the sorted order and copy the range (1, number of pages): the first page of each file is skipped.</a:t>
            </a:r>
          </a:p>
        </p:txBody>
      </p:sp>
      <p:sp>
        <p:nvSpPr>
          <p:cNvPr id="8" name="code"/>
          <p:cNvSpPr/>
          <p:nvPr/>
        </p:nvSpPr>
        <p:spPr>
          <a:xfrm>
            <a:off x="365760" y="2817622"/>
            <a:ext cx="51937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writer</a:t>
            </a:r>
            <a:r>
              <a:rPr sz="900" b="0" i="0">
                <a:solidFill>
                  <a:srgbClr val="E6EDF3"/>
                </a:solidFill>
                <a:latin typeface="Courier New"/>
              </a:rPr>
              <a:t>.</a:t>
            </a:r>
            <a:r>
              <a:rPr sz="900" b="0" i="0">
                <a:solidFill>
                  <a:srgbClr val="E6EDF3"/>
                </a:solidFill>
                <a:latin typeface="Courier New"/>
              </a:rPr>
              <a:t>write</a:t>
            </a:r>
            <a:r>
              <a:rPr sz="900" b="0" i="0">
                <a:solidFill>
                  <a:srgbClr val="E6EDF3"/>
                </a:solidFill>
                <a:latin typeface="Courier New"/>
              </a:rPr>
              <a:t>(</a:t>
            </a:r>
            <a:r>
              <a:rPr sz="900" b="0" i="0">
                <a:solidFill>
                  <a:srgbClr val="9BE3A8"/>
                </a:solidFill>
                <a:latin typeface="Courier New"/>
              </a:rPr>
              <a:t>'combined.pdf'</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sizes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PdfReader</a:t>
            </a:r>
            <a:r>
              <a:rPr sz="900" b="0" i="0">
                <a:solidFill>
                  <a:srgbClr val="E6EDF3"/>
                </a:solidFill>
                <a:latin typeface="Courier New"/>
              </a:rPr>
              <a:t>(</a:t>
            </a:r>
            <a:r>
              <a:rPr sz="900" b="0" i="0">
                <a:solidFill>
                  <a:srgbClr val="E6EDF3"/>
                </a:solidFill>
                <a:latin typeface="Courier New"/>
              </a:rPr>
              <a:t>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pages</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pdf_filenames</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sizes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'pages -&gt;'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PdfReader</a:t>
            </a:r>
            <a:r>
              <a:rPr sz="900" b="0" i="0">
                <a:solidFill>
                  <a:srgbClr val="E6EDF3"/>
                </a:solidFill>
                <a:latin typeface="Courier New"/>
              </a:rPr>
              <a:t>(</a:t>
            </a:r>
            <a:r>
              <a:rPr sz="900" b="0" i="0">
                <a:solidFill>
                  <a:srgbClr val="9BE3A8"/>
                </a:solidFill>
                <a:latin typeface="Courier New"/>
              </a:rPr>
              <a:t>'combined.pdf'</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pages</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541264" y="2817622"/>
            <a:ext cx="3236976" cy="651891"/>
          </a:xfrm>
          <a:prstGeom prst="rect">
            <a:avLst/>
          </a:prstGeom>
          <a:noFill/>
        </p:spPr>
        <p:txBody>
          <a:bodyPr wrap="square" lIns="128016" rIns="128016" tIns="18288" bIns="18288" anchor="ctr">
            <a:spAutoFit/>
          </a:bodyPr>
          <a:lstStyle/>
          <a:p>
            <a:r>
              <a:rPr sz="1100" b="0" i="0">
                <a:solidFill>
                  <a:srgbClr val="1F2933"/>
                </a:solidFill>
                <a:latin typeface="Calibri"/>
              </a:rPr>
              <a:t>Step 3: save the result, then read back the sizes of the three files and of the new file.</a:t>
            </a:r>
          </a:p>
        </p:txBody>
      </p:sp>
      <p:sp>
        <p:nvSpPr>
          <p:cNvPr id="10" name="result label"/>
          <p:cNvSpPr txBox="1"/>
          <p:nvPr/>
        </p:nvSpPr>
        <p:spPr>
          <a:xfrm>
            <a:off x="365760" y="352437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771264"/>
            <a:ext cx="1005840" cy="24688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A.pdf</a:t>
            </a:r>
          </a:p>
        </p:txBody>
      </p:sp>
      <p:sp>
        <p:nvSpPr>
          <p:cNvPr id="12" name="Rounded Rectangle 11"/>
          <p:cNvSpPr/>
          <p:nvPr/>
        </p:nvSpPr>
        <p:spPr>
          <a:xfrm>
            <a:off x="1508760" y="3771264"/>
            <a:ext cx="347472" cy="246888"/>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1</a:t>
            </a:r>
          </a:p>
        </p:txBody>
      </p:sp>
      <p:sp>
        <p:nvSpPr>
          <p:cNvPr id="13" name="Rounded Rectangle 12"/>
          <p:cNvSpPr/>
          <p:nvPr/>
        </p:nvSpPr>
        <p:spPr>
          <a:xfrm>
            <a:off x="1920240" y="3771264"/>
            <a:ext cx="347472" cy="246888"/>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2</a:t>
            </a:r>
          </a:p>
        </p:txBody>
      </p:sp>
      <p:sp>
        <p:nvSpPr>
          <p:cNvPr id="14" name="Rounded Rectangle 13"/>
          <p:cNvSpPr/>
          <p:nvPr/>
        </p:nvSpPr>
        <p:spPr>
          <a:xfrm>
            <a:off x="2331720" y="3771264"/>
            <a:ext cx="347472" cy="246888"/>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3</a:t>
            </a:r>
          </a:p>
        </p:txBody>
      </p:sp>
      <p:sp>
        <p:nvSpPr>
          <p:cNvPr id="15" name="Rounded Rectangle 14"/>
          <p:cNvSpPr/>
          <p:nvPr/>
        </p:nvSpPr>
        <p:spPr>
          <a:xfrm>
            <a:off x="365760" y="4054728"/>
            <a:ext cx="1005840" cy="24688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b.pdf</a:t>
            </a:r>
          </a:p>
        </p:txBody>
      </p:sp>
      <p:sp>
        <p:nvSpPr>
          <p:cNvPr id="16" name="Rounded Rectangle 15"/>
          <p:cNvSpPr/>
          <p:nvPr/>
        </p:nvSpPr>
        <p:spPr>
          <a:xfrm>
            <a:off x="1508760" y="4054728"/>
            <a:ext cx="347472" cy="246888"/>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1</a:t>
            </a:r>
          </a:p>
        </p:txBody>
      </p:sp>
      <p:sp>
        <p:nvSpPr>
          <p:cNvPr id="17" name="Rounded Rectangle 16"/>
          <p:cNvSpPr/>
          <p:nvPr/>
        </p:nvSpPr>
        <p:spPr>
          <a:xfrm>
            <a:off x="1920240" y="4054728"/>
            <a:ext cx="347472" cy="246888"/>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2</a:t>
            </a:r>
          </a:p>
        </p:txBody>
      </p:sp>
      <p:sp>
        <p:nvSpPr>
          <p:cNvPr id="18" name="Rounded Rectangle 17"/>
          <p:cNvSpPr/>
          <p:nvPr/>
        </p:nvSpPr>
        <p:spPr>
          <a:xfrm>
            <a:off x="365760" y="4338193"/>
            <a:ext cx="1005840" cy="24688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c.PDF</a:t>
            </a:r>
          </a:p>
        </p:txBody>
      </p:sp>
      <p:sp>
        <p:nvSpPr>
          <p:cNvPr id="19" name="Rounded Rectangle 18"/>
          <p:cNvSpPr/>
          <p:nvPr/>
        </p:nvSpPr>
        <p:spPr>
          <a:xfrm>
            <a:off x="1508760" y="4338193"/>
            <a:ext cx="347472" cy="246888"/>
          </a:xfrm>
          <a:prstGeom prst="roundRect">
            <a:avLst>
              <a:gd name="adj" fmla="val 2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8A8F98"/>
                </a:solidFill>
                <a:latin typeface="Calibri"/>
              </a:rPr>
              <a:t>1</a:t>
            </a:r>
          </a:p>
        </p:txBody>
      </p:sp>
      <p:sp>
        <p:nvSpPr>
          <p:cNvPr id="20" name="Rounded Rectangle 19"/>
          <p:cNvSpPr/>
          <p:nvPr/>
        </p:nvSpPr>
        <p:spPr>
          <a:xfrm>
            <a:off x="1920240" y="4338193"/>
            <a:ext cx="347472" cy="246888"/>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2</a:t>
            </a:r>
          </a:p>
        </p:txBody>
      </p:sp>
      <p:sp>
        <p:nvSpPr>
          <p:cNvPr id="21" name="Rounded Rectangle 20"/>
          <p:cNvSpPr/>
          <p:nvPr/>
        </p:nvSpPr>
        <p:spPr>
          <a:xfrm>
            <a:off x="2331720" y="4338193"/>
            <a:ext cx="347472" cy="246888"/>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3</a:t>
            </a:r>
          </a:p>
        </p:txBody>
      </p:sp>
      <p:sp>
        <p:nvSpPr>
          <p:cNvPr id="22" name="Rounded Rectangle 21"/>
          <p:cNvSpPr/>
          <p:nvPr/>
        </p:nvSpPr>
        <p:spPr>
          <a:xfrm>
            <a:off x="2743200" y="4338193"/>
            <a:ext cx="347472" cy="246888"/>
          </a:xfrm>
          <a:prstGeom prst="roundRect">
            <a:avLst>
              <a:gd name="adj" fmla="val 2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4</a:t>
            </a:r>
          </a:p>
        </p:txBody>
      </p:sp>
      <p:cxnSp>
        <p:nvCxnSpPr>
          <p:cNvPr id="23" name="arrow"/>
          <p:cNvCxnSpPr/>
          <p:nvPr/>
        </p:nvCxnSpPr>
        <p:spPr>
          <a:xfrm>
            <a:off x="3383279" y="4228464"/>
            <a:ext cx="548641" cy="0"/>
          </a:xfrm>
          <a:prstGeom prst="line">
            <a:avLst/>
          </a:prstGeom>
          <a:ln w="2286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023360" y="3972432"/>
            <a:ext cx="1463040"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combined.pdf</a:t>
            </a:r>
          </a:p>
          <a:p>
            <a:pPr algn="ctr"/>
            <a:r>
              <a:rPr sz="1000" b="0" i="0">
                <a:solidFill>
                  <a:srgbClr val="1F2933"/>
                </a:solidFill>
                <a:latin typeface="Courier New"/>
              </a:rPr>
              <a:t>6 pages</a:t>
            </a:r>
          </a:p>
        </p:txBody>
      </p:sp>
      <p:sp>
        <p:nvSpPr>
          <p:cNvPr id="25" name="Rounded Rectangle 24"/>
          <p:cNvSpPr/>
          <p:nvPr/>
        </p:nvSpPr>
        <p:spPr>
          <a:xfrm>
            <a:off x="5760720" y="3771264"/>
            <a:ext cx="3017520" cy="84124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order of the names: A.pdf, b.pdf, c.PDF</a:t>
            </a:r>
          </a:p>
          <a:p>
            <a:pPr algn="ctr"/>
            <a:r>
              <a:rPr sz="950" b="0" i="0">
                <a:solidFill>
                  <a:srgbClr val="1F2933"/>
                </a:solidFill>
                <a:latin typeface="Calibri"/>
              </a:rPr>
              <a:t>grey: first page of each file skipped</a:t>
            </a:r>
          </a:p>
          <a:p>
            <a:pPr algn="ctr"/>
            <a:r>
              <a:rPr sz="950" b="0" i="0">
                <a:solidFill>
                  <a:srgbClr val="1F2933"/>
                </a:solidFill>
                <a:latin typeface="Calibri"/>
              </a:rPr>
              <a:t>2 + 1 + 3 = 6</a:t>
            </a:r>
          </a:p>
        </p:txBody>
      </p:sp>
      <p:sp>
        <p:nvSpPr>
          <p:cNvPr id="2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Copy all but the first page of each file, then save.</a:t>
            </a:r>
          </a:p>
        </p:txBody>
      </p:sp>
      <p:sp>
        <p:nvSpPr>
          <p:cNvPr id="2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58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3: Reading Word documents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.docx file is a ZIP of XML; paragraphs hold runs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ZIP and XML</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.docx file is an archive of parts.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Paragraph and run</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card in the box, and its pen strokes.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Style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named rule for a paragraph or a run.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Run attributes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Bold, italic and underline have three states.</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26670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6700">
                <a:tc>
                  <a:txBody>
                    <a:bodyPr wrap="square"/>
                    <a:lstStyle/>
                    <a:p>
                      <a:r>
                        <a:rPr sz="10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a Word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The ZIP format of 1989 is the box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 .docx file is a ZIP archive of XML parts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Reading a Word file: paragraphs hold runs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Getting the full text from a .docx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paragraphs, runs and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Styles: a paragraph style and a run style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Styles: the right kind and the exact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bold, italic and under...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Run attributes: bold, italic and underlin...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Word's .docx format became a stand...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58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 Word file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Word file is like a recipe box: it holds cards, each card holds short stretches of words, each with its own pen.</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Word Documents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recipe box you can still rewrite: the words, the fonts and the pictures are kept apart.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docx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label on the box: you install python-docx but you write import docx.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Document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whole recipe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Paragraph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One card in the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Run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stretch of words on the card written with one pen.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Reading Word Documents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Flipping through the box and reading the cards.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Getting the Full Text from a .docx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Copying the words of every card onto one long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readDocx.py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little program that copies the words of every card for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58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Story: The ZIP format of 1989 is the box every .docx comes in</a:t>
            </a:r>
          </a:p>
        </p:txBody>
      </p:sp>
      <p:pic>
        <p:nvPicPr>
          <p:cNvPr id="4" name="photo zip" descr="Picture for the story: The ZIP format of 1989 is the box every .docx comes in"/>
          <p:cNvPicPr>
            <a:picLocks noChangeAspect="1"/>
          </p:cNvPicPr>
          <p:nvPr/>
        </p:nvPicPr>
        <p:blipFill>
          <a:blip r:embed="rId3"/>
          <a:stretch>
            <a:fillRect/>
          </a:stretch>
        </p:blipFill>
        <p:spPr>
          <a:xfrm>
            <a:off x="365760" y="868680"/>
            <a:ext cx="2651760" cy="2926079"/>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 PKZIP floppy disk, label of PKWARE. Photo: blakespot,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Phil Katz of PKWARE and Gary Conway of Infinity Design Concepts.</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They designed the ZIP file format; its first two bytes are usually PK, the initials of Phil Katz.</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The format was first released on 14 February 1989.</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At PKWARE, Inc., after a lawsuit by Systems Enhancement Associates (SEA) over the ARC archive format.</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SEA claimed that PKWARE's PKARC products were derived from its ARC system, so a new format was needed.</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Office Open XML is extended from ZIP: a .docx file is a ZIP archive that the zipfile module opens.</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ZIP (file format)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58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.docx file is a ZIP archive of XML parts</a:t>
            </a:r>
          </a:p>
        </p:txBody>
      </p:sp>
      <p:sp>
        <p:nvSpPr>
          <p:cNvPr id="4" name="code"/>
          <p:cNvSpPr/>
          <p:nvPr/>
        </p:nvSpPr>
        <p:spPr>
          <a:xfrm>
            <a:off x="365760" y="786384"/>
            <a:ext cx="496138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zipfile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docx</a:t>
            </a:r>
          </a:p>
          <a:p>
            <a:pPr algn="l"/>
            <a:r>
              <a:rPr sz="950" b="0" i="0">
                <a:solidFill>
                  <a:srgbClr val="8FA3B8"/>
                </a:solidFill>
                <a:latin typeface="Courier New"/>
              </a:rPr>
              <a:t>&gt;&gt;&gt; </a:t>
            </a:r>
            <a:r>
              <a:rPr sz="950" b="0" i="0">
                <a:solidFill>
                  <a:srgbClr val="E6EDF3"/>
                </a:solidFill>
                <a:latin typeface="Courier New"/>
              </a:rPr>
              <a:t>doc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docx</a:t>
            </a:r>
            <a:r>
              <a:rPr sz="950" b="0" i="0">
                <a:solidFill>
                  <a:srgbClr val="E6EDF3"/>
                </a:solidFill>
                <a:latin typeface="Courier New"/>
              </a:rPr>
              <a:t>.</a:t>
            </a:r>
            <a:r>
              <a:rPr sz="950" b="0" i="0">
                <a:solidFill>
                  <a:srgbClr val="E6EDF3"/>
                </a:solidFill>
                <a:latin typeface="Courier New"/>
              </a:rPr>
              <a:t>Document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doc</a:t>
            </a:r>
            <a:r>
              <a:rPr sz="950" b="0" i="0">
                <a:solidFill>
                  <a:srgbClr val="E6EDF3"/>
                </a:solidFill>
                <a:latin typeface="Courier New"/>
              </a:rPr>
              <a:t>.</a:t>
            </a:r>
            <a:r>
              <a:rPr sz="950" b="0" i="0">
                <a:solidFill>
                  <a:srgbClr val="E6EDF3"/>
                </a:solidFill>
                <a:latin typeface="Courier New"/>
              </a:rPr>
              <a:t>add_paragraph</a:t>
            </a:r>
            <a:r>
              <a:rPr sz="950" b="0" i="0">
                <a:solidFill>
                  <a:srgbClr val="E6EDF3"/>
                </a:solidFill>
                <a:latin typeface="Courier New"/>
              </a:rPr>
              <a:t>(</a:t>
            </a:r>
            <a:r>
              <a:rPr sz="950" b="0" i="0">
                <a:solidFill>
                  <a:srgbClr val="9BE3A8"/>
                </a:solidFill>
                <a:latin typeface="Courier New"/>
              </a:rPr>
              <a:t>'Hello, world!'</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buf</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BytesIO</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doc</a:t>
            </a:r>
            <a:r>
              <a:rPr sz="950" b="0" i="0">
                <a:solidFill>
                  <a:srgbClr val="E6EDF3"/>
                </a:solidFill>
                <a:latin typeface="Courier New"/>
              </a:rPr>
              <a:t>.</a:t>
            </a:r>
            <a:r>
              <a:rPr sz="950" b="0" i="0">
                <a:solidFill>
                  <a:srgbClr val="E6EDF3"/>
                </a:solidFill>
                <a:latin typeface="Courier New"/>
              </a:rPr>
              <a:t>save</a:t>
            </a:r>
            <a:r>
              <a:rPr sz="950" b="0" i="0">
                <a:solidFill>
                  <a:srgbClr val="E6EDF3"/>
                </a:solidFill>
                <a:latin typeface="Courier New"/>
              </a:rPr>
              <a:t>(</a:t>
            </a:r>
            <a:r>
              <a:rPr sz="950" b="0" i="0">
                <a:solidFill>
                  <a:srgbClr val="E6EDF3"/>
                </a:solidFill>
                <a:latin typeface="Courier New"/>
              </a:rPr>
              <a:t>buf</a:t>
            </a:r>
            <a:r>
              <a:rPr sz="950" b="0" i="0">
                <a:solidFill>
                  <a:srgbClr val="E6EDF3"/>
                </a:solidFill>
                <a:latin typeface="Courier New"/>
              </a:rPr>
              <a:t>)</a:t>
            </a:r>
          </a:p>
        </p:txBody>
      </p:sp>
      <p:sp>
        <p:nvSpPr>
          <p:cNvPr id="5" name="explanation"/>
          <p:cNvSpPr txBox="1"/>
          <p:nvPr/>
        </p:nvSpPr>
        <p:spPr>
          <a:xfrm>
            <a:off x="5308854" y="786384"/>
            <a:ext cx="3469385" cy="873125"/>
          </a:xfrm>
          <a:prstGeom prst="rect">
            <a:avLst/>
          </a:prstGeom>
          <a:noFill/>
        </p:spPr>
        <p:txBody>
          <a:bodyPr wrap="square" lIns="128016" rIns="128016" tIns="18288" bIns="18288" anchor="ctr">
            <a:spAutoFit/>
          </a:bodyPr>
          <a:lstStyle/>
          <a:p>
            <a:r>
              <a:rPr sz="1100" b="0" i="0">
                <a:solidFill>
                  <a:srgbClr val="1F2933"/>
                </a:solidFill>
                <a:latin typeface="Calibri"/>
              </a:rPr>
              <a:t>A new document with one paragraph, saved into memory. python-docx is installed as python-docx and imported as docx.</a:t>
            </a:r>
          </a:p>
        </p:txBody>
      </p:sp>
      <p:sp>
        <p:nvSpPr>
          <p:cNvPr id="6" name="code"/>
          <p:cNvSpPr/>
          <p:nvPr/>
        </p:nvSpPr>
        <p:spPr>
          <a:xfrm>
            <a:off x="365760" y="1705228"/>
            <a:ext cx="496138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buf</a:t>
            </a:r>
            <a:r>
              <a:rPr sz="950" b="0" i="0">
                <a:solidFill>
                  <a:srgbClr val="E6EDF3"/>
                </a:solidFill>
                <a:latin typeface="Courier New"/>
              </a:rPr>
              <a:t>.</a:t>
            </a:r>
            <a:r>
              <a:rPr sz="950" b="0" i="0">
                <a:solidFill>
                  <a:srgbClr val="E6EDF3"/>
                </a:solidFill>
                <a:latin typeface="Courier New"/>
              </a:rPr>
              <a:t>getvalue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'starts every ZIP file'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z</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zipfile</a:t>
            </a:r>
            <a:r>
              <a:rPr sz="950" b="0" i="0">
                <a:solidFill>
                  <a:srgbClr val="E6EDF3"/>
                </a:solidFill>
                <a:latin typeface="Courier New"/>
              </a:rPr>
              <a:t>.</a:t>
            </a:r>
            <a:r>
              <a:rPr sz="950" b="0" i="0">
                <a:solidFill>
                  <a:srgbClr val="E6EDF3"/>
                </a:solidFill>
                <a:latin typeface="Courier New"/>
              </a:rPr>
              <a:t>ZipFile</a:t>
            </a:r>
            <a:r>
              <a:rPr sz="950" b="0" i="0">
                <a:solidFill>
                  <a:srgbClr val="E6EDF3"/>
                </a:solidFill>
                <a:latin typeface="Courier New"/>
              </a:rPr>
              <a:t>(</a:t>
            </a:r>
            <a:r>
              <a:rPr sz="950" b="0" i="0">
                <a:solidFill>
                  <a:srgbClr val="E6EDF3"/>
                </a:solidFill>
                <a:latin typeface="Courier New"/>
              </a:rPr>
              <a:t>buf</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names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namelist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part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'word/document.xml'</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len</a:t>
            </a:r>
            <a:r>
              <a:rPr sz="950" b="0" i="0">
                <a:solidFill>
                  <a:srgbClr val="E6EDF3"/>
                </a:solidFill>
                <a:latin typeface="Courier New"/>
              </a:rPr>
              <a:t>(</a:t>
            </a:r>
            <a:r>
              <a:rPr sz="950" b="0" i="0">
                <a:solidFill>
                  <a:srgbClr val="E6EDF3"/>
                </a:solidFill>
                <a:latin typeface="Courier New"/>
              </a:rPr>
              <a:t>names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'parts;'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part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'in names:'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part</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names</a:t>
            </a:r>
            <a:r>
              <a:rPr sz="950" b="0" i="0">
                <a:solidFill>
                  <a:srgbClr val="E6EDF3"/>
                </a:solidFill>
                <a:latin typeface="Courier New"/>
              </a:rPr>
              <a:t>)</a:t>
            </a:r>
          </a:p>
        </p:txBody>
      </p:sp>
      <p:sp>
        <p:nvSpPr>
          <p:cNvPr id="7" name="explanation"/>
          <p:cNvSpPr txBox="1"/>
          <p:nvPr/>
        </p:nvSpPr>
        <p:spPr>
          <a:xfrm>
            <a:off x="5308854" y="1705228"/>
            <a:ext cx="3469385" cy="873125"/>
          </a:xfrm>
          <a:prstGeom prst="rect">
            <a:avLst/>
          </a:prstGeom>
          <a:noFill/>
        </p:spPr>
        <p:txBody>
          <a:bodyPr wrap="square" lIns="128016" rIns="128016" tIns="18288" bIns="18288" anchor="ctr">
            <a:spAutoFit/>
          </a:bodyPr>
          <a:lstStyle/>
          <a:p>
            <a:r>
              <a:rPr sz="1100" b="0" i="0">
                <a:solidFill>
                  <a:srgbClr val="1F2933"/>
                </a:solidFill>
                <a:latin typeface="Calibri"/>
              </a:rPr>
              <a:t>The first two bytes are PK, the mark of a ZIP file. The zipfile module lists the parts inside.</a:t>
            </a:r>
          </a:p>
        </p:txBody>
      </p:sp>
      <p:sp>
        <p:nvSpPr>
          <p:cNvPr id="8" name="code"/>
          <p:cNvSpPr/>
          <p:nvPr/>
        </p:nvSpPr>
        <p:spPr>
          <a:xfrm>
            <a:off x="365760" y="2624073"/>
            <a:ext cx="4961382"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body</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read</a:t>
            </a:r>
            <a:r>
              <a:rPr sz="950" b="0" i="0">
                <a:solidFill>
                  <a:srgbClr val="E6EDF3"/>
                </a:solidFill>
                <a:latin typeface="Courier New"/>
              </a:rPr>
              <a:t>(</a:t>
            </a:r>
            <a:r>
              <a:rPr sz="950" b="0" i="0">
                <a:solidFill>
                  <a:srgbClr val="E6EDF3"/>
                </a:solidFill>
                <a:latin typeface="Courier New"/>
              </a:rPr>
              <a:t>part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decode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split</a:t>
            </a:r>
            <a:r>
              <a:rPr sz="950" b="0" i="0">
                <a:solidFill>
                  <a:srgbClr val="E6EDF3"/>
                </a:solidFill>
                <a:latin typeface="Courier New"/>
              </a:rPr>
              <a:t>(</a:t>
            </a:r>
            <a:r>
              <a:rPr sz="950" b="0" i="0">
                <a:solidFill>
                  <a:srgbClr val="9BE3A8"/>
                </a:solidFill>
                <a:latin typeface="Courier New"/>
              </a:rPr>
              <a:t>'&lt;w:body&gt;'</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body</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46</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308854" y="2624073"/>
            <a:ext cx="3469385" cy="477266"/>
          </a:xfrm>
          <a:prstGeom prst="rect">
            <a:avLst/>
          </a:prstGeom>
          <a:noFill/>
        </p:spPr>
        <p:txBody>
          <a:bodyPr wrap="square" lIns="128016" rIns="128016" tIns="18288" bIns="18288" anchor="ctr">
            <a:spAutoFit/>
          </a:bodyPr>
          <a:lstStyle/>
          <a:p>
            <a:r>
              <a:rPr sz="1100" b="0" i="0">
                <a:solidFill>
                  <a:srgbClr val="1F2933"/>
                </a:solidFill>
                <a:latin typeface="Calibri"/>
              </a:rPr>
              <a:t>The text lives in word/document.xml, in XML tags: a paragraph, a run, the text.</a:t>
            </a:r>
          </a:p>
        </p:txBody>
      </p:sp>
      <p:sp>
        <p:nvSpPr>
          <p:cNvPr id="10" name="result label"/>
          <p:cNvSpPr txBox="1"/>
          <p:nvPr/>
        </p:nvSpPr>
        <p:spPr>
          <a:xfrm>
            <a:off x="365760" y="3156204"/>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03092"/>
          <a:ext cx="8412480" cy="1097280"/>
        </p:xfrm>
        <a:graphic>
          <a:graphicData uri="http://schemas.openxmlformats.org/drawingml/2006/table">
            <a:tbl>
              <a:tblPr firstRow="0" bandRow="0"/>
              <a:tblGrid>
                <a:gridCol w="2103120"/>
                <a:gridCol w="2103120"/>
                <a:gridCol w="2103120"/>
                <a:gridCol w="2103120"/>
              </a:tblGrid>
              <a:tr h="219456">
                <a:tc>
                  <a:txBody>
                    <a:bodyPr wrap="square"/>
                    <a:lstStyle/>
                    <a:p>
                      <a:r>
                        <a:rPr sz="850" b="0" i="0">
                          <a:solidFill>
                            <a:srgbClr val="1F2933"/>
                          </a:solidFill>
                          <a:latin typeface="Courier New"/>
                        </a:rPr>
                        <a:t>[Content_Types].xml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ourier New"/>
                        </a:rPr>
                        <a:t>word/_rels/document.xml.rels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ourier New"/>
                        </a:rPr>
                        <a:t>word/fontTable.xml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ourier New"/>
                        </a:rPr>
                        <a:t>word/numbering.xml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850" b="0" i="0">
                          <a:solidFill>
                            <a:srgbClr val="1F2933"/>
                          </a:solidFill>
                          <a:latin typeface="Courier New"/>
                        </a:rPr>
                        <a:t>_rels/.rels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850" b="0" i="0">
                          <a:solidFill>
                            <a:srgbClr val="1F2933"/>
                          </a:solidFill>
                          <a:latin typeface="Courier New"/>
                        </a:rPr>
                        <a:t>word/styles.xml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850" b="0" i="0">
                          <a:solidFill>
                            <a:srgbClr val="1F2933"/>
                          </a:solidFill>
                          <a:latin typeface="Courier New"/>
                        </a:rPr>
                        <a:t>word/theme/theme1.xml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850" b="0" i="0">
                          <a:solidFill>
                            <a:srgbClr val="1F2933"/>
                          </a:solidFill>
                          <a:latin typeface="Courier New"/>
                        </a:rPr>
                        <a:t>docProps/thumbnail.jpeg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850" b="0" i="0">
                          <a:solidFill>
                            <a:srgbClr val="1F2933"/>
                          </a:solidFill>
                          <a:latin typeface="Courier New"/>
                        </a:rPr>
                        <a:t>docProps/core.xml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ourier New"/>
                        </a:rPr>
                        <a:t>word/stylesWithEffects.xml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ourier New"/>
                        </a:rPr>
                        <a:t>customXml/item1.xml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850" b="0" i="0">
                          <a:solidFill>
                            <a:srgbClr val="1F2933"/>
                          </a:solidFill>
                          <a:latin typeface="Courier New"/>
                        </a:rPr>
                        <a:t>docProps/app.xml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850" b="0" i="0">
                          <a:solidFill>
                            <a:srgbClr val="1F2933"/>
                          </a:solidFill>
                          <a:latin typeface="Courier New"/>
                        </a:rPr>
                        <a:t>word/settings.xml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850" b="0" i="0">
                          <a:solidFill>
                            <a:srgbClr val="1F2933"/>
                          </a:solidFill>
                          <a:latin typeface="Courier New"/>
                        </a:rPr>
                        <a:t>customXml/_rels/item1.xml.rels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85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850" b="0" i="0">
                          <a:solidFill>
                            <a:srgbClr val="1F2933"/>
                          </a:solidFill>
                          <a:latin typeface="Courier New"/>
                        </a:rPr>
                        <a:t>word/document.xml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850" b="0" i="0">
                          <a:solidFill>
                            <a:srgbClr val="1F2933"/>
                          </a:solidFill>
                          <a:latin typeface="Courier New"/>
                        </a:rPr>
                        <a:t>word/webSettings.xml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ourier New"/>
                        </a:rPr>
                        <a:t>customXml/itemProps1.xml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85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.docx file is a ZIP archive of XML parts.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58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Reading a Word file: paragraphs hold runs</a:t>
            </a:r>
          </a:p>
        </p:txBody>
      </p:sp>
      <p:sp>
        <p:nvSpPr>
          <p:cNvPr id="4" name="code"/>
          <p:cNvSpPr/>
          <p:nvPr/>
        </p:nvSpPr>
        <p:spPr>
          <a:xfrm>
            <a:off x="365760" y="786384"/>
            <a:ext cx="5513831"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docx</a:t>
            </a:r>
          </a:p>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docx</a:t>
            </a:r>
            <a:r>
              <a:rPr sz="1000" b="0" i="0">
                <a:solidFill>
                  <a:srgbClr val="E6EDF3"/>
                </a:solidFill>
                <a:latin typeface="Courier New"/>
              </a:rPr>
              <a:t>.</a:t>
            </a:r>
            <a:r>
              <a:rPr sz="1000" b="0" i="0">
                <a:solidFill>
                  <a:srgbClr val="E6EDF3"/>
                </a:solidFill>
                <a:latin typeface="Courier New"/>
              </a:rPr>
              <a:t>Document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add_paragraph</a:t>
            </a:r>
            <a:r>
              <a:rPr sz="1000" b="0" i="0">
                <a:solidFill>
                  <a:srgbClr val="E6EDF3"/>
                </a:solidFill>
                <a:latin typeface="Courier New"/>
              </a:rPr>
              <a:t>(</a:t>
            </a:r>
            <a:r>
              <a:rPr sz="1000" b="0" i="0">
                <a:solidFill>
                  <a:srgbClr val="9BE3A8"/>
                </a:solidFill>
                <a:latin typeface="Courier New"/>
              </a:rPr>
              <a:t>'A plain '</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add_run</a:t>
            </a:r>
            <a:r>
              <a:rPr sz="1000" b="0" i="0">
                <a:solidFill>
                  <a:srgbClr val="E6EDF3"/>
                </a:solidFill>
                <a:latin typeface="Courier New"/>
              </a:rPr>
              <a:t>(</a:t>
            </a:r>
            <a:r>
              <a:rPr sz="1000" b="0" i="0">
                <a:solidFill>
                  <a:srgbClr val="9BE3A8"/>
                </a:solidFill>
                <a:latin typeface="Courier New"/>
              </a:rPr>
              <a:t>'bold'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bold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p>
          <a:p>
            <a:pPr algn="l"/>
            <a:r>
              <a:rPr sz="1000" b="0" i="0">
                <a:solidFill>
                  <a:srgbClr val="8FA3B8"/>
                </a:solidFill>
                <a:latin typeface="Courier New"/>
              </a:rPr>
              <a:t>&gt;&gt;&gt; </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add_run</a:t>
            </a:r>
            <a:r>
              <a:rPr sz="1000" b="0" i="0">
                <a:solidFill>
                  <a:srgbClr val="E6EDF3"/>
                </a:solidFill>
                <a:latin typeface="Courier New"/>
              </a:rPr>
              <a:t>(</a:t>
            </a:r>
            <a:r>
              <a:rPr sz="1000" b="0" i="0">
                <a:solidFill>
                  <a:srgbClr val="9BE3A8"/>
                </a:solidFill>
                <a:latin typeface="Courier New"/>
              </a:rPr>
              <a:t>' word.'</a:t>
            </a:r>
            <a:r>
              <a:rPr sz="1000" b="0" i="0">
                <a:solidFill>
                  <a:srgbClr val="E6EDF3"/>
                </a:solidFill>
                <a:latin typeface="Courier New"/>
              </a:rPr>
              <a:t>)</a:t>
            </a:r>
          </a:p>
        </p:txBody>
      </p:sp>
      <p:sp>
        <p:nvSpPr>
          <p:cNvPr id="5" name="explanation"/>
          <p:cNvSpPr txBox="1"/>
          <p:nvPr/>
        </p:nvSpPr>
        <p:spPr>
          <a:xfrm>
            <a:off x="5861304" y="786384"/>
            <a:ext cx="2916936" cy="911859"/>
          </a:xfrm>
          <a:prstGeom prst="rect">
            <a:avLst/>
          </a:prstGeom>
          <a:noFill/>
        </p:spPr>
        <p:txBody>
          <a:bodyPr wrap="square" lIns="128016" rIns="128016" tIns="18288" bIns="18288" anchor="ctr">
            <a:spAutoFit/>
          </a:bodyPr>
          <a:lstStyle/>
          <a:p>
            <a:r>
              <a:rPr sz="1100" b="0" i="0">
                <a:solidFill>
                  <a:srgbClr val="1F2933"/>
                </a:solidFill>
                <a:latin typeface="Calibri"/>
              </a:rPr>
              <a:t>A stand-in for demo.docx: one paragraph of three runs. A run is a stretch of text with one look.</a:t>
            </a:r>
          </a:p>
        </p:txBody>
      </p:sp>
      <p:sp>
        <p:nvSpPr>
          <p:cNvPr id="6" name="code"/>
          <p:cNvSpPr/>
          <p:nvPr/>
        </p:nvSpPr>
        <p:spPr>
          <a:xfrm>
            <a:off x="365760" y="1743963"/>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table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add_table</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cols</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table</a:t>
            </a:r>
            <a:r>
              <a:rPr sz="1000" b="0" i="0">
                <a:solidFill>
                  <a:srgbClr val="E6EDF3"/>
                </a:solidFill>
                <a:latin typeface="Courier New"/>
              </a:rPr>
              <a:t>.</a:t>
            </a:r>
            <a:r>
              <a:rPr sz="1000" b="0" i="0">
                <a:solidFill>
                  <a:srgbClr val="E6EDF3"/>
                </a:solidFill>
                <a:latin typeface="Courier New"/>
              </a:rPr>
              <a:t>cell</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'in a table'</a:t>
            </a:r>
          </a:p>
        </p:txBody>
      </p:sp>
      <p:sp>
        <p:nvSpPr>
          <p:cNvPr id="7" name="explanation"/>
          <p:cNvSpPr txBox="1"/>
          <p:nvPr/>
        </p:nvSpPr>
        <p:spPr>
          <a:xfrm>
            <a:off x="5861304" y="1743963"/>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A table with one cell. Its text is part of the document, but not of any paragraph in it.</a:t>
            </a:r>
          </a:p>
        </p:txBody>
      </p:sp>
      <p:sp>
        <p:nvSpPr>
          <p:cNvPr id="8" name="code"/>
          <p:cNvSpPr/>
          <p:nvPr/>
        </p:nvSpPr>
        <p:spPr>
          <a:xfrm>
            <a:off x="365760" y="2441574"/>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x</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x</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paragraphs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r</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a:t>
            </a:r>
            <a:r>
              <a:rPr sz="1000" b="0" i="0">
                <a:solidFill>
                  <a:srgbClr val="E6EDF3"/>
                </a:solidFill>
                <a:latin typeface="Courier New"/>
              </a:rPr>
              <a:t>bold</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runs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'table text is kept apart:'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tables</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cell</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p>
        </p:txBody>
      </p:sp>
      <p:sp>
        <p:nvSpPr>
          <p:cNvPr id="9" name="explanation"/>
          <p:cNvSpPr txBox="1"/>
          <p:nvPr/>
        </p:nvSpPr>
        <p:spPr>
          <a:xfrm>
            <a:off x="5861304" y="2441574"/>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doc.paragraphs lists Paragraph objects, and each has runs. Table text is not in that list; it sits in doc.tables.</a:t>
            </a:r>
          </a:p>
        </p:txBody>
      </p:sp>
      <p:sp>
        <p:nvSpPr>
          <p:cNvPr id="10" name="result label"/>
          <p:cNvSpPr txBox="1"/>
          <p:nvPr/>
        </p:nvSpPr>
        <p:spPr>
          <a:xfrm>
            <a:off x="365760" y="3322954"/>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917314"/>
            <a:ext cx="1371600" cy="329184"/>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Document</a:t>
            </a:r>
          </a:p>
        </p:txBody>
      </p:sp>
      <p:sp>
        <p:nvSpPr>
          <p:cNvPr id="12" name="Rounded Rectangle 11"/>
          <p:cNvSpPr/>
          <p:nvPr/>
        </p:nvSpPr>
        <p:spPr>
          <a:xfrm>
            <a:off x="2286000" y="3569842"/>
            <a:ext cx="1737360" cy="310896"/>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paragraphs[0]</a:t>
            </a:r>
          </a:p>
        </p:txBody>
      </p:sp>
      <p:sp>
        <p:nvSpPr>
          <p:cNvPr id="13" name="Rounded Rectangle 12"/>
          <p:cNvSpPr/>
          <p:nvPr/>
        </p:nvSpPr>
        <p:spPr>
          <a:xfrm>
            <a:off x="2286000" y="4301362"/>
            <a:ext cx="1737360" cy="310896"/>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tables[0].cell(0, 0)</a:t>
            </a:r>
          </a:p>
        </p:txBody>
      </p:sp>
      <p:cxnSp>
        <p:nvCxnSpPr>
          <p:cNvPr id="14" name="arrow"/>
          <p:cNvCxnSpPr/>
          <p:nvPr/>
        </p:nvCxnSpPr>
        <p:spPr>
          <a:xfrm flipV="1">
            <a:off x="1737360" y="3725290"/>
            <a:ext cx="530352" cy="283465"/>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arrow"/>
          <p:cNvCxnSpPr/>
          <p:nvPr/>
        </p:nvCxnSpPr>
        <p:spPr>
          <a:xfrm>
            <a:off x="1737360" y="4173347"/>
            <a:ext cx="530352" cy="265176"/>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34840" y="3569842"/>
            <a:ext cx="137160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run 1</a:t>
            </a:r>
          </a:p>
          <a:p>
            <a:pPr algn="ctr"/>
            <a:r>
              <a:rPr sz="900" b="0" i="0">
                <a:solidFill>
                  <a:srgbClr val="1F2933"/>
                </a:solidFill>
                <a:latin typeface="Courier New"/>
              </a:rPr>
              <a:t>'A plain ' bold=None</a:t>
            </a:r>
          </a:p>
        </p:txBody>
      </p:sp>
      <p:sp>
        <p:nvSpPr>
          <p:cNvPr id="17" name="Rounded Rectangle 16"/>
          <p:cNvSpPr/>
          <p:nvPr/>
        </p:nvSpPr>
        <p:spPr>
          <a:xfrm>
            <a:off x="5897880" y="3569842"/>
            <a:ext cx="1371600"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run 2</a:t>
            </a:r>
          </a:p>
          <a:p>
            <a:pPr algn="ctr"/>
            <a:r>
              <a:rPr sz="900" b="0" i="0">
                <a:solidFill>
                  <a:srgbClr val="1F2933"/>
                </a:solidFill>
                <a:latin typeface="Courier New"/>
              </a:rPr>
              <a:t>'bold' bold=True</a:t>
            </a:r>
          </a:p>
        </p:txBody>
      </p:sp>
      <p:sp>
        <p:nvSpPr>
          <p:cNvPr id="18" name="Rounded Rectangle 17"/>
          <p:cNvSpPr/>
          <p:nvPr/>
        </p:nvSpPr>
        <p:spPr>
          <a:xfrm>
            <a:off x="7360920" y="3569842"/>
            <a:ext cx="137160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run 3</a:t>
            </a:r>
          </a:p>
          <a:p>
            <a:pPr algn="ctr"/>
            <a:r>
              <a:rPr sz="900" b="0" i="0">
                <a:solidFill>
                  <a:srgbClr val="1F2933"/>
                </a:solidFill>
                <a:latin typeface="Courier New"/>
              </a:rPr>
              <a:t>' word.' bold=None</a:t>
            </a:r>
          </a:p>
        </p:txBody>
      </p:sp>
      <p:cxnSp>
        <p:nvCxnSpPr>
          <p:cNvPr id="19" name="arrow"/>
          <p:cNvCxnSpPr/>
          <p:nvPr/>
        </p:nvCxnSpPr>
        <p:spPr>
          <a:xfrm>
            <a:off x="4041648" y="3725290"/>
            <a:ext cx="374904" cy="73152"/>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34840" y="4301362"/>
            <a:ext cx="4297680" cy="310896"/>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table text: in a table - not in the paragraphs list</a:t>
            </a:r>
          </a:p>
        </p:txBody>
      </p:sp>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Paragraphs hold runs; tables stand apart.</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58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Getting the full text from a .docx file</a:t>
            </a:r>
          </a:p>
        </p:txBody>
      </p:sp>
      <p:sp>
        <p:nvSpPr>
          <p:cNvPr id="4" name="code"/>
          <p:cNvSpPr/>
          <p:nvPr/>
        </p:nvSpPr>
        <p:spPr>
          <a:xfrm>
            <a:off x="365760" y="786384"/>
            <a:ext cx="546811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docx</a:t>
            </a:r>
          </a:p>
          <a:p>
            <a:pPr algn="l"/>
            <a:r>
              <a:rPr sz="950" b="0" i="0">
                <a:solidFill>
                  <a:srgbClr val="8FA3B8"/>
                </a:solidFill>
                <a:latin typeface="Courier New"/>
              </a:rPr>
              <a:t>&gt;&gt;&gt; </a:t>
            </a:r>
            <a:r>
              <a:rPr sz="950" b="0" i="0">
                <a:solidFill>
                  <a:srgbClr val="E6EDF3"/>
                </a:solidFill>
                <a:latin typeface="Courier New"/>
              </a:rPr>
              <a:t>doc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docx</a:t>
            </a:r>
            <a:r>
              <a:rPr sz="950" b="0" i="0">
                <a:solidFill>
                  <a:srgbClr val="E6EDF3"/>
                </a:solidFill>
                <a:latin typeface="Courier New"/>
              </a:rPr>
              <a:t>.</a:t>
            </a:r>
            <a:r>
              <a:rPr sz="950" b="0" i="0">
                <a:solidFill>
                  <a:srgbClr val="E6EDF3"/>
                </a:solidFill>
                <a:latin typeface="Courier New"/>
              </a:rPr>
              <a:t>Document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line</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'Title line'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'First paragraph.'</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'Second paragraph.'</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doc</a:t>
            </a:r>
            <a:r>
              <a:rPr sz="950" b="0" i="0">
                <a:solidFill>
                  <a:srgbClr val="E6EDF3"/>
                </a:solidFill>
                <a:latin typeface="Courier New"/>
              </a:rPr>
              <a:t>.</a:t>
            </a:r>
            <a:r>
              <a:rPr sz="950" b="0" i="0">
                <a:solidFill>
                  <a:srgbClr val="E6EDF3"/>
                </a:solidFill>
                <a:latin typeface="Courier New"/>
              </a:rPr>
              <a:t>add_paragraph</a:t>
            </a:r>
            <a:r>
              <a:rPr sz="950" b="0" i="0">
                <a:solidFill>
                  <a:srgbClr val="E6EDF3"/>
                </a:solidFill>
                <a:latin typeface="Courier New"/>
              </a:rPr>
              <a:t>(</a:t>
            </a:r>
            <a:r>
              <a:rPr sz="950" b="0" i="0">
                <a:solidFill>
                  <a:srgbClr val="E6EDF3"/>
                </a:solidFill>
                <a:latin typeface="Courier New"/>
              </a:rPr>
              <a:t>line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buf</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BytesIO</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doc</a:t>
            </a:r>
            <a:r>
              <a:rPr sz="950" b="0" i="0">
                <a:solidFill>
                  <a:srgbClr val="E6EDF3"/>
                </a:solidFill>
                <a:latin typeface="Courier New"/>
              </a:rPr>
              <a:t>.</a:t>
            </a:r>
            <a:r>
              <a:rPr sz="950" b="0" i="0">
                <a:solidFill>
                  <a:srgbClr val="E6EDF3"/>
                </a:solidFill>
                <a:latin typeface="Courier New"/>
              </a:rPr>
              <a:t>save</a:t>
            </a:r>
            <a:r>
              <a:rPr sz="950" b="0" i="0">
                <a:solidFill>
                  <a:srgbClr val="E6EDF3"/>
                </a:solidFill>
                <a:latin typeface="Courier New"/>
              </a:rPr>
              <a:t>(</a:t>
            </a:r>
            <a:r>
              <a:rPr sz="950" b="0" i="0">
                <a:solidFill>
                  <a:srgbClr val="E6EDF3"/>
                </a:solidFill>
                <a:latin typeface="Courier New"/>
              </a:rPr>
              <a:t>buf</a:t>
            </a:r>
            <a:r>
              <a:rPr sz="950" b="0" i="0">
                <a:solidFill>
                  <a:srgbClr val="E6EDF3"/>
                </a:solidFill>
                <a:latin typeface="Courier New"/>
              </a:rPr>
              <a:t>)</a:t>
            </a:r>
          </a:p>
        </p:txBody>
      </p:sp>
      <p:sp>
        <p:nvSpPr>
          <p:cNvPr id="5" name="explanation"/>
          <p:cNvSpPr txBox="1"/>
          <p:nvPr/>
        </p:nvSpPr>
        <p:spPr>
          <a:xfrm>
            <a:off x="5815584" y="786384"/>
            <a:ext cx="2962656" cy="1020317"/>
          </a:xfrm>
          <a:prstGeom prst="rect">
            <a:avLst/>
          </a:prstGeom>
          <a:noFill/>
        </p:spPr>
        <p:txBody>
          <a:bodyPr wrap="square" lIns="128016" rIns="128016" tIns="18288" bIns="18288" anchor="ctr">
            <a:spAutoFit/>
          </a:bodyPr>
          <a:lstStyle/>
          <a:p>
            <a:r>
              <a:rPr sz="1100" b="0" i="0">
                <a:solidFill>
                  <a:srgbClr val="1F2933"/>
                </a:solidFill>
                <a:latin typeface="Calibri"/>
              </a:rPr>
              <a:t>A three-paragraph document saved in memory. The buffer stands in for a file name.</a:t>
            </a:r>
          </a:p>
        </p:txBody>
      </p:sp>
      <p:sp>
        <p:nvSpPr>
          <p:cNvPr id="6" name="code"/>
          <p:cNvSpPr/>
          <p:nvPr/>
        </p:nvSpPr>
        <p:spPr>
          <a:xfrm>
            <a:off x="365760" y="1852422"/>
            <a:ext cx="546811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get_text</a:t>
            </a:r>
            <a:r>
              <a:rPr sz="950" b="0" i="0">
                <a:solidFill>
                  <a:srgbClr val="E6EDF3"/>
                </a:solidFill>
                <a:latin typeface="Courier New"/>
              </a:rPr>
              <a:t>(</a:t>
            </a:r>
            <a:r>
              <a:rPr sz="950" b="0" i="0">
                <a:solidFill>
                  <a:srgbClr val="E6EDF3"/>
                </a:solidFill>
                <a:latin typeface="Courier New"/>
              </a:rPr>
              <a:t>source</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doc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docx</a:t>
            </a:r>
            <a:r>
              <a:rPr sz="950" b="0" i="0">
                <a:solidFill>
                  <a:srgbClr val="E6EDF3"/>
                </a:solidFill>
                <a:latin typeface="Courier New"/>
              </a:rPr>
              <a:t>.</a:t>
            </a:r>
            <a:r>
              <a:rPr sz="950" b="0" i="0">
                <a:solidFill>
                  <a:srgbClr val="E6EDF3"/>
                </a:solidFill>
                <a:latin typeface="Courier New"/>
              </a:rPr>
              <a:t>Document</a:t>
            </a:r>
            <a:r>
              <a:rPr sz="950" b="0" i="0">
                <a:solidFill>
                  <a:srgbClr val="E6EDF3"/>
                </a:solidFill>
                <a:latin typeface="Courier New"/>
              </a:rPr>
              <a:t>(</a:t>
            </a:r>
            <a:r>
              <a:rPr sz="950" b="0" i="0">
                <a:solidFill>
                  <a:srgbClr val="E6EDF3"/>
                </a:solidFill>
                <a:latin typeface="Courier New"/>
              </a:rPr>
              <a:t>source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return</a:t>
            </a:r>
            <a:r>
              <a:rPr sz="950" b="0" i="0">
                <a:solidFill>
                  <a:srgbClr val="E6EDF3"/>
                </a:solidFill>
                <a:latin typeface="Courier New"/>
              </a:rPr>
              <a:t> </a:t>
            </a:r>
            <a:r>
              <a:rPr sz="950" b="0" i="0">
                <a:solidFill>
                  <a:srgbClr val="9BE3A8"/>
                </a:solidFill>
                <a:latin typeface="Courier New"/>
              </a:rPr>
              <a:t>'\n'</a:t>
            </a:r>
            <a:r>
              <a:rPr sz="950" b="0" i="0">
                <a:solidFill>
                  <a:srgbClr val="E6EDF3"/>
                </a:solidFill>
                <a:latin typeface="Courier New"/>
              </a:rPr>
              <a:t>.</a:t>
            </a:r>
            <a:r>
              <a:rPr sz="950" b="0" i="0">
                <a:solidFill>
                  <a:srgbClr val="E6EDF3"/>
                </a:solidFill>
                <a:latin typeface="Courier New"/>
              </a:rPr>
              <a:t>join</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doc</a:t>
            </a:r>
            <a:r>
              <a:rPr sz="950" b="0" i="0">
                <a:solidFill>
                  <a:srgbClr val="E6EDF3"/>
                </a:solidFill>
                <a:latin typeface="Courier New"/>
              </a:rPr>
              <a:t>.</a:t>
            </a:r>
            <a:r>
              <a:rPr sz="950" b="0" i="0">
                <a:solidFill>
                  <a:srgbClr val="E6EDF3"/>
                </a:solidFill>
                <a:latin typeface="Courier New"/>
              </a:rPr>
              <a:t>paragraphs</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text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get_text</a:t>
            </a:r>
            <a:r>
              <a:rPr sz="950" b="0" i="0">
                <a:solidFill>
                  <a:srgbClr val="E6EDF3"/>
                </a:solidFill>
                <a:latin typeface="Courier New"/>
              </a:rPr>
              <a:t>(</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BytesIO</a:t>
            </a:r>
            <a:r>
              <a:rPr sz="950" b="0" i="0">
                <a:solidFill>
                  <a:srgbClr val="E6EDF3"/>
                </a:solidFill>
                <a:latin typeface="Courier New"/>
              </a:rPr>
              <a:t>(</a:t>
            </a:r>
            <a:r>
              <a:rPr sz="950" b="0" i="0">
                <a:solidFill>
                  <a:srgbClr val="E6EDF3"/>
                </a:solidFill>
                <a:latin typeface="Courier New"/>
              </a:rPr>
              <a:t>buf</a:t>
            </a:r>
            <a:r>
              <a:rPr sz="950" b="0" i="0">
                <a:solidFill>
                  <a:srgbClr val="E6EDF3"/>
                </a:solidFill>
                <a:latin typeface="Courier New"/>
              </a:rPr>
              <a:t>.</a:t>
            </a:r>
            <a:r>
              <a:rPr sz="950" b="0" i="0">
                <a:solidFill>
                  <a:srgbClr val="E6EDF3"/>
                </a:solidFill>
                <a:latin typeface="Courier New"/>
              </a:rPr>
              <a:t>getvalue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len</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r>
              <a:rPr sz="950" b="0" i="0">
                <a:solidFill>
                  <a:srgbClr val="E6EDF3"/>
                </a:solidFill>
                <a:latin typeface="Courier New"/>
              </a:rPr>
              <a:t>split</a:t>
            </a:r>
            <a:r>
              <a:rPr sz="950" b="0" i="0">
                <a:solidFill>
                  <a:srgbClr val="E6EDF3"/>
                </a:solidFill>
                <a:latin typeface="Courier New"/>
              </a:rPr>
              <a:t>(</a:t>
            </a:r>
            <a:r>
              <a:rPr sz="950" b="0" i="0">
                <a:solidFill>
                  <a:srgbClr val="9BE3A8"/>
                </a:solidFill>
                <a:latin typeface="Courier New"/>
              </a:rPr>
              <a:t>'\n'</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'lines,'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len</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r>
              <a:rPr sz="950" b="0" i="0">
                <a:solidFill>
                  <a:srgbClr val="E6EDF3"/>
                </a:solidFill>
                <a:latin typeface="Courier New"/>
              </a:rPr>
              <a:t>split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'words'</a:t>
            </a:r>
            <a:r>
              <a:rPr sz="950" b="0" i="0">
                <a:solidFill>
                  <a:srgbClr val="E6EDF3"/>
                </a:solidFill>
                <a:latin typeface="Courier New"/>
              </a:rPr>
              <a:t>)</a:t>
            </a:r>
          </a:p>
        </p:txBody>
      </p:sp>
      <p:sp>
        <p:nvSpPr>
          <p:cNvPr id="7" name="explanation"/>
          <p:cNvSpPr txBox="1"/>
          <p:nvPr/>
        </p:nvSpPr>
        <p:spPr>
          <a:xfrm>
            <a:off x="5815584" y="1852422"/>
            <a:ext cx="2962656" cy="1020317"/>
          </a:xfrm>
          <a:prstGeom prst="rect">
            <a:avLst/>
          </a:prstGeom>
          <a:noFill/>
        </p:spPr>
        <p:txBody>
          <a:bodyPr wrap="square" lIns="128016" rIns="128016" tIns="18288" bIns="18288" anchor="ctr">
            <a:spAutoFit/>
          </a:bodyPr>
          <a:lstStyle/>
          <a:p>
            <a:r>
              <a:rPr sz="1100" b="0" i="0">
                <a:solidFill>
                  <a:srgbClr val="1F2933"/>
                </a:solidFill>
                <a:latin typeface="Calibri"/>
              </a:rPr>
              <a:t>The idea of readDocx.py: open the file, join each paragraph's text with a line break. Document() takes a name or a file object.</a:t>
            </a:r>
          </a:p>
        </p:txBody>
      </p:sp>
      <p:sp>
        <p:nvSpPr>
          <p:cNvPr id="8" name="result label"/>
          <p:cNvSpPr txBox="1"/>
          <p:nvPr/>
        </p:nvSpPr>
        <p:spPr>
          <a:xfrm>
            <a:off x="365760" y="2927603"/>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174491"/>
          <a:ext cx="4206240" cy="1461516"/>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908499" y="3201923"/>
          <a:ext cx="3869740" cy="1051560"/>
        </p:xfrm>
        <a:graphic>
          <a:graphicData uri="http://schemas.openxmlformats.org/drawingml/2006/table">
            <a:tbl>
              <a:tblPr firstRow="0" bandRow="0"/>
              <a:tblGrid>
                <a:gridCol w="941288"/>
                <a:gridCol w="2928452"/>
              </a:tblGrid>
              <a:tr h="210312">
                <a:tc>
                  <a:txBody>
                    <a:bodyPr wrap="square"/>
                    <a:lstStyle/>
                    <a:p>
                      <a:r>
                        <a:rPr sz="950" b="1" i="0">
                          <a:solidFill>
                            <a:srgbClr val="FFFFFF"/>
                          </a:solidFill>
                          <a:latin typeface="Calibri"/>
                        </a:rPr>
                        <a:t>paragraph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0312">
                <a:tc>
                  <a:txBody>
                    <a:bodyPr wrap="square"/>
                    <a:lstStyle/>
                    <a:p>
                      <a:r>
                        <a:rPr sz="95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Title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0312">
                <a:tc>
                  <a:txBody>
                    <a:bodyPr wrap="square"/>
                    <a:lstStyle/>
                    <a:p>
                      <a:r>
                        <a:rPr sz="9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First paragraph.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0312">
                <a:tc>
                  <a:txBody>
                    <a:bodyPr wrap="square"/>
                    <a:lstStyle/>
                    <a:p>
                      <a:r>
                        <a:rPr sz="9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Second paragraph.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0312">
                <a:tc>
                  <a:txBody>
                    <a:bodyPr wrap="square"/>
                    <a:lstStyle/>
                    <a:p>
                      <a:r>
                        <a:rPr sz="950" b="0" i="0">
                          <a:solidFill>
                            <a:srgbClr val="1F2933"/>
                          </a:solidFill>
                          <a:latin typeface="Calibri"/>
                        </a:rPr>
                        <a:t>joined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3 lines, 6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Join the paragraphs' text with line breaks.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58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paragraphs, runs and styles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style is like a house rule for a card: headings are big and bold, quotes lean.</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108960"/>
                <a:gridCol w="53035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paragraphs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cards of the box, in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runs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places inside a card where the pen changes.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Styling Paragraph and Run Objects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Choosing a house rule for a whole card, or for only a few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Paragraph style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rule for the whole card: margins, spacing and the size of the letters.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Character style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rule for a few words, such as emphasis.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style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name of the rule; it must match exactly, like a key cut for one 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58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Styles: a paragraph style and a run style</a:t>
            </a:r>
          </a:p>
        </p:txBody>
      </p:sp>
      <p:sp>
        <p:nvSpPr>
          <p:cNvPr id="4" name="code"/>
          <p:cNvSpPr/>
          <p:nvPr/>
        </p:nvSpPr>
        <p:spPr>
          <a:xfrm>
            <a:off x="365760" y="786384"/>
            <a:ext cx="5605272" cy="114426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docx</a:t>
            </a:r>
          </a:p>
          <a:p>
            <a:pPr algn="l"/>
            <a:r>
              <a:rPr sz="1300" b="0" i="0">
                <a:solidFill>
                  <a:srgbClr val="8FA3B8"/>
                </a:solidFill>
                <a:latin typeface="Courier New"/>
              </a:rPr>
              <a:t>&gt;&gt;&gt; </a:t>
            </a:r>
            <a:r>
              <a:rPr sz="1300" b="0" i="0">
                <a:solidFill>
                  <a:srgbClr val="E6EDF3"/>
                </a:solidFill>
                <a:latin typeface="Courier New"/>
              </a:rPr>
              <a:t>doc</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docx</a:t>
            </a:r>
            <a:r>
              <a:rPr sz="1300" b="0" i="0">
                <a:solidFill>
                  <a:srgbClr val="E6EDF3"/>
                </a:solidFill>
                <a:latin typeface="Courier New"/>
              </a:rPr>
              <a:t>.</a:t>
            </a:r>
            <a:r>
              <a:rPr sz="1300" b="0" i="0">
                <a:solidFill>
                  <a:srgbClr val="E6EDF3"/>
                </a:solidFill>
                <a:latin typeface="Courier New"/>
              </a:rPr>
              <a:t>Document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p</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doc</a:t>
            </a:r>
            <a:r>
              <a:rPr sz="1300" b="0" i="0">
                <a:solidFill>
                  <a:srgbClr val="E6EDF3"/>
                </a:solidFill>
                <a:latin typeface="Courier New"/>
              </a:rPr>
              <a:t>.</a:t>
            </a:r>
            <a:r>
              <a:rPr sz="1300" b="0" i="0">
                <a:solidFill>
                  <a:srgbClr val="E6EDF3"/>
                </a:solidFill>
                <a:latin typeface="Courier New"/>
              </a:rPr>
              <a:t>add_paragraph</a:t>
            </a:r>
            <a:r>
              <a:rPr sz="1300" b="0" i="0">
                <a:solidFill>
                  <a:srgbClr val="E6EDF3"/>
                </a:solidFill>
                <a:latin typeface="Courier New"/>
              </a:rPr>
              <a:t>(</a:t>
            </a:r>
            <a:r>
              <a:rPr sz="1300" b="0" i="0">
                <a:solidFill>
                  <a:srgbClr val="9BE3A8"/>
                </a:solidFill>
                <a:latin typeface="Courier New"/>
              </a:rPr>
              <a:t>'Quoted words'</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p</a:t>
            </a:r>
            <a:r>
              <a:rPr sz="1300" b="0" i="0">
                <a:solidFill>
                  <a:srgbClr val="E6EDF3"/>
                </a:solidFill>
                <a:latin typeface="Courier New"/>
              </a:rPr>
              <a:t>.</a:t>
            </a:r>
            <a:r>
              <a:rPr sz="1300" b="0" i="0">
                <a:solidFill>
                  <a:srgbClr val="E6EDF3"/>
                </a:solidFill>
                <a:latin typeface="Courier New"/>
              </a:rPr>
              <a:t>style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'Quote'</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'paragraph style:'</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p</a:t>
            </a:r>
            <a:r>
              <a:rPr sz="1300" b="0" i="0">
                <a:solidFill>
                  <a:srgbClr val="E6EDF3"/>
                </a:solidFill>
                <a:latin typeface="Courier New"/>
              </a:rPr>
              <a:t>.</a:t>
            </a:r>
            <a:r>
              <a:rPr sz="1300" b="0" i="0">
                <a:solidFill>
                  <a:srgbClr val="E6EDF3"/>
                </a:solidFill>
                <a:latin typeface="Courier New"/>
              </a:rPr>
              <a:t>style</a:t>
            </a:r>
            <a:r>
              <a:rPr sz="1300" b="0" i="0">
                <a:solidFill>
                  <a:srgbClr val="E6EDF3"/>
                </a:solidFill>
                <a:latin typeface="Courier New"/>
              </a:rPr>
              <a:t>.</a:t>
            </a:r>
            <a:r>
              <a:rPr sz="1300" b="0" i="0">
                <a:solidFill>
                  <a:srgbClr val="E6EDF3"/>
                </a:solidFill>
                <a:latin typeface="Courier New"/>
              </a:rPr>
              <a:t>name</a:t>
            </a:r>
            <a:r>
              <a:rPr sz="1300" b="0" i="0">
                <a:solidFill>
                  <a:srgbClr val="E6EDF3"/>
                </a:solidFill>
                <a:latin typeface="Courier New"/>
              </a:rPr>
              <a:t>)</a:t>
            </a:r>
          </a:p>
        </p:txBody>
      </p:sp>
      <p:sp>
        <p:nvSpPr>
          <p:cNvPr id="5" name="explanation"/>
          <p:cNvSpPr txBox="1"/>
          <p:nvPr/>
        </p:nvSpPr>
        <p:spPr>
          <a:xfrm>
            <a:off x="5952744" y="786384"/>
            <a:ext cx="2825495" cy="1144269"/>
          </a:xfrm>
          <a:prstGeom prst="rect">
            <a:avLst/>
          </a:prstGeom>
          <a:noFill/>
        </p:spPr>
        <p:txBody>
          <a:bodyPr wrap="square" lIns="128016" rIns="128016" tIns="18288" bIns="18288" anchor="ctr">
            <a:spAutoFit/>
          </a:bodyPr>
          <a:lstStyle/>
          <a:p>
            <a:r>
              <a:rPr sz="1250" b="0" i="0">
                <a:solidFill>
                  <a:srgbClr val="1F2933"/>
                </a:solidFill>
                <a:latin typeface="Calibri"/>
              </a:rPr>
              <a:t>A paragraph style shapes the whole paragraph. Quote is a paragraph style of the default template.</a:t>
            </a:r>
          </a:p>
        </p:txBody>
      </p:sp>
      <p:sp>
        <p:nvSpPr>
          <p:cNvPr id="6" name="code"/>
          <p:cNvSpPr/>
          <p:nvPr/>
        </p:nvSpPr>
        <p:spPr>
          <a:xfrm>
            <a:off x="365760" y="1976374"/>
            <a:ext cx="5605272" cy="9428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run</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p</a:t>
            </a:r>
            <a:r>
              <a:rPr sz="1300" b="0" i="0">
                <a:solidFill>
                  <a:srgbClr val="E6EDF3"/>
                </a:solidFill>
                <a:latin typeface="Courier New"/>
              </a:rPr>
              <a:t>.</a:t>
            </a:r>
            <a:r>
              <a:rPr sz="1300" b="0" i="0">
                <a:solidFill>
                  <a:srgbClr val="E6EDF3"/>
                </a:solidFill>
                <a:latin typeface="Courier New"/>
              </a:rPr>
              <a:t>add_run</a:t>
            </a:r>
            <a:r>
              <a:rPr sz="1300" b="0" i="0">
                <a:solidFill>
                  <a:srgbClr val="E6EDF3"/>
                </a:solidFill>
                <a:latin typeface="Courier New"/>
              </a:rPr>
              <a:t>(</a:t>
            </a:r>
            <a:r>
              <a:rPr sz="1300" b="0" i="0">
                <a:solidFill>
                  <a:srgbClr val="9BE3A8"/>
                </a:solidFill>
                <a:latin typeface="Courier New"/>
              </a:rPr>
              <a:t>' and a run'</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run</a:t>
            </a:r>
            <a:r>
              <a:rPr sz="1300" b="0" i="0">
                <a:solidFill>
                  <a:srgbClr val="E6EDF3"/>
                </a:solidFill>
                <a:latin typeface="Courier New"/>
              </a:rPr>
              <a:t>.</a:t>
            </a:r>
            <a:r>
              <a:rPr sz="1300" b="0" i="0">
                <a:solidFill>
                  <a:srgbClr val="E6EDF3"/>
                </a:solidFill>
                <a:latin typeface="Courier New"/>
              </a:rPr>
              <a:t>style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'Quote Char'</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'run style:'</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run</a:t>
            </a:r>
            <a:r>
              <a:rPr sz="1300" b="0" i="0">
                <a:solidFill>
                  <a:srgbClr val="E6EDF3"/>
                </a:solidFill>
                <a:latin typeface="Courier New"/>
              </a:rPr>
              <a:t>.</a:t>
            </a:r>
            <a:r>
              <a:rPr sz="1300" b="0" i="0">
                <a:solidFill>
                  <a:srgbClr val="E6EDF3"/>
                </a:solidFill>
                <a:latin typeface="Courier New"/>
              </a:rPr>
              <a:t>style</a:t>
            </a:r>
            <a:r>
              <a:rPr sz="1300" b="0" i="0">
                <a:solidFill>
                  <a:srgbClr val="E6EDF3"/>
                </a:solidFill>
                <a:latin typeface="Courier New"/>
              </a:rPr>
              <a:t>.</a:t>
            </a:r>
            <a:r>
              <a:rPr sz="1300" b="0" i="0">
                <a:solidFill>
                  <a:srgbClr val="E6EDF3"/>
                </a:solidFill>
                <a:latin typeface="Courier New"/>
              </a:rPr>
              <a:t>name</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E6EDF3"/>
                </a:solidFill>
                <a:latin typeface="Courier New"/>
              </a:rPr>
              <a:t>doc</a:t>
            </a:r>
            <a:r>
              <a:rPr sz="1300" b="0" i="0">
                <a:solidFill>
                  <a:srgbClr val="E6EDF3"/>
                </a:solidFill>
                <a:latin typeface="Courier New"/>
              </a:rPr>
              <a:t>.</a:t>
            </a:r>
            <a:r>
              <a:rPr sz="1300" b="0" i="0">
                <a:solidFill>
                  <a:srgbClr val="E6EDF3"/>
                </a:solidFill>
                <a:latin typeface="Courier New"/>
              </a:rPr>
              <a:t>styles</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'styles in a new document'</a:t>
            </a:r>
            <a:r>
              <a:rPr sz="1300" b="0" i="0">
                <a:solidFill>
                  <a:srgbClr val="E6EDF3"/>
                </a:solidFill>
                <a:latin typeface="Courier New"/>
              </a:rPr>
              <a:t>)</a:t>
            </a:r>
          </a:p>
        </p:txBody>
      </p:sp>
      <p:sp>
        <p:nvSpPr>
          <p:cNvPr id="7" name="explanation"/>
          <p:cNvSpPr txBox="1"/>
          <p:nvPr/>
        </p:nvSpPr>
        <p:spPr>
          <a:xfrm>
            <a:off x="5952744" y="1976374"/>
            <a:ext cx="2825495" cy="942848"/>
          </a:xfrm>
          <a:prstGeom prst="rect">
            <a:avLst/>
          </a:prstGeom>
          <a:noFill/>
        </p:spPr>
        <p:txBody>
          <a:bodyPr wrap="square" lIns="128016" rIns="128016" tIns="18288" bIns="18288" anchor="ctr">
            <a:spAutoFit/>
          </a:bodyPr>
          <a:lstStyle/>
          <a:p>
            <a:r>
              <a:rPr sz="1250" b="0" i="0">
                <a:solidFill>
                  <a:srgbClr val="1F2933"/>
                </a:solidFill>
                <a:latin typeface="Calibri"/>
              </a:rPr>
              <a:t>A character style shapes a run. Quote Char matches Quote. The template holds 164 styles of four kinds.</a:t>
            </a:r>
          </a:p>
        </p:txBody>
      </p:sp>
      <p:sp>
        <p:nvSpPr>
          <p:cNvPr id="8" name="result label"/>
          <p:cNvSpPr txBox="1"/>
          <p:nvPr/>
        </p:nvSpPr>
        <p:spPr>
          <a:xfrm>
            <a:off x="365760" y="297408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20973"/>
          <a:ext cx="5215736" cy="822960"/>
        </p:xfrm>
        <a:graphic>
          <a:graphicData uri="http://schemas.openxmlformats.org/drawingml/2006/table">
            <a:tbl>
              <a:tblPr firstRow="0" bandRow="0"/>
              <a:tblGrid>
                <a:gridCol w="1227232"/>
                <a:gridCol w="1534040"/>
                <a:gridCol w="2454464"/>
              </a:tblGrid>
              <a:tr h="274320">
                <a:tc>
                  <a:txBody>
                    <a:bodyPr wrap="square"/>
                    <a:lstStyle/>
                    <a:p>
                      <a:r>
                        <a:rPr sz="1000" b="1" i="0">
                          <a:solidFill>
                            <a:srgbClr val="FFFFFF"/>
                          </a:solidFill>
                          <a:latin typeface="Calibri"/>
                        </a:rPr>
                        <a:t>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style set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style name read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paragraph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Quote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Quote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1000" b="0" i="0">
                          <a:solidFill>
                            <a:srgbClr val="1F2933"/>
                          </a:solidFill>
                          <a:latin typeface="Calibri"/>
                        </a:rPr>
                        <a:t>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Quote Char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Quote Char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0" name="Rounded Rectangle 9"/>
          <p:cNvSpPr/>
          <p:nvPr/>
        </p:nvSpPr>
        <p:spPr>
          <a:xfrm>
            <a:off x="5917996" y="3220973"/>
            <a:ext cx="2860243" cy="86868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164 styles in a new document</a:t>
            </a:r>
          </a:p>
          <a:p>
            <a:pPr algn="ctr"/>
            <a:r>
              <a:rPr sz="950" b="0" i="0">
                <a:solidFill>
                  <a:srgbClr val="1F2933"/>
                </a:solidFill>
                <a:latin typeface="Calibri"/>
              </a:rPr>
              <a:t>four kinds: paragraph, character, list, table</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paragraph takes a paragraph style, a run a character style.</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58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Styles: the right kind and the exact name</a:t>
            </a:r>
          </a:p>
        </p:txBody>
      </p:sp>
      <p:sp>
        <p:nvSpPr>
          <p:cNvPr id="4" name="code"/>
          <p:cNvSpPr/>
          <p:nvPr/>
        </p:nvSpPr>
        <p:spPr>
          <a:xfrm>
            <a:off x="365760" y="786384"/>
            <a:ext cx="5513831"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docx</a:t>
            </a:r>
          </a:p>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docx</a:t>
            </a:r>
            <a:r>
              <a:rPr sz="1000" b="0" i="0">
                <a:solidFill>
                  <a:srgbClr val="E6EDF3"/>
                </a:solidFill>
                <a:latin typeface="Courier New"/>
              </a:rPr>
              <a:t>.</a:t>
            </a:r>
            <a:r>
              <a:rPr sz="1000" b="0" i="0">
                <a:solidFill>
                  <a:srgbClr val="E6EDF3"/>
                </a:solidFill>
                <a:latin typeface="Courier New"/>
              </a:rPr>
              <a:t>Document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add_paragraph</a:t>
            </a:r>
            <a:r>
              <a:rPr sz="1000" b="0" i="0">
                <a:solidFill>
                  <a:srgbClr val="E6EDF3"/>
                </a:solidFill>
                <a:latin typeface="Courier New"/>
              </a:rPr>
              <a:t>(</a:t>
            </a:r>
            <a:r>
              <a:rPr sz="1000" b="0" i="0">
                <a:solidFill>
                  <a:srgbClr val="9BE3A8"/>
                </a:solidFill>
                <a:latin typeface="Courier New"/>
              </a:rPr>
              <a:t>'Quoted words'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style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'Quote Char'</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ValueError</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 paragraph refuses a character style'</a:t>
            </a:r>
            <a:r>
              <a:rPr sz="1000" b="0" i="0">
                <a:solidFill>
                  <a:srgbClr val="E6EDF3"/>
                </a:solidFill>
                <a:latin typeface="Courier New"/>
              </a:rPr>
              <a:t>)</a:t>
            </a:r>
          </a:p>
        </p:txBody>
      </p:sp>
      <p:sp>
        <p:nvSpPr>
          <p:cNvPr id="5" name="explanation"/>
          <p:cNvSpPr txBox="1"/>
          <p:nvPr/>
        </p:nvSpPr>
        <p:spPr>
          <a:xfrm>
            <a:off x="5861304" y="786384"/>
            <a:ext cx="2916936" cy="911859"/>
          </a:xfrm>
          <a:prstGeom prst="rect">
            <a:avLst/>
          </a:prstGeom>
          <a:noFill/>
        </p:spPr>
        <p:txBody>
          <a:bodyPr wrap="square" lIns="128016" rIns="128016" tIns="18288" bIns="18288" anchor="ctr">
            <a:spAutoFit/>
          </a:bodyPr>
          <a:lstStyle/>
          <a:p>
            <a:r>
              <a:rPr sz="1100" b="0" i="0">
                <a:solidFill>
                  <a:srgbClr val="1F2933"/>
                </a:solidFill>
                <a:latin typeface="Calibri"/>
              </a:rPr>
              <a:t>The kind must fit the object: a character style on a paragraph raises a ValueError, caught here.</a:t>
            </a:r>
          </a:p>
        </p:txBody>
      </p:sp>
      <p:sp>
        <p:nvSpPr>
          <p:cNvPr id="6" name="code"/>
          <p:cNvSpPr/>
          <p:nvPr/>
        </p:nvSpPr>
        <p:spPr>
          <a:xfrm>
            <a:off x="365760" y="1743963"/>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add_paragraph</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'List Number '</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KeyError</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'style not found: names match exactly'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add_paragraph</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'List Number'</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'List Number found:'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paragraphs</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style</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a:t>
            </a:r>
          </a:p>
        </p:txBody>
      </p:sp>
      <p:sp>
        <p:nvSpPr>
          <p:cNvPr id="7" name="explanation"/>
          <p:cNvSpPr txBox="1"/>
          <p:nvPr/>
        </p:nvSpPr>
        <p:spPr>
          <a:xfrm>
            <a:off x="5861304" y="1743963"/>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The name must match letter for letter. One trailing space, as the book's printed list shows, and the style is not found.</a:t>
            </a:r>
          </a:p>
        </p:txBody>
      </p:sp>
      <p:sp>
        <p:nvSpPr>
          <p:cNvPr id="8" name="result label"/>
          <p:cNvSpPr txBox="1"/>
          <p:nvPr/>
        </p:nvSpPr>
        <p:spPr>
          <a:xfrm>
            <a:off x="365760" y="2625344"/>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872232"/>
          <a:ext cx="5888735" cy="1097280"/>
        </p:xfrm>
        <a:graphic>
          <a:graphicData uri="http://schemas.openxmlformats.org/drawingml/2006/table">
            <a:tbl>
              <a:tblPr firstRow="0" bandRow="0"/>
              <a:tblGrid>
                <a:gridCol w="1121664"/>
                <a:gridCol w="1402080"/>
                <a:gridCol w="3364991"/>
              </a:tblGrid>
              <a:tr h="274320">
                <a:tc>
                  <a:txBody>
                    <a:bodyPr wrap="square"/>
                    <a:lstStyle/>
                    <a:p>
                      <a:r>
                        <a:rPr sz="1000" b="1" i="0">
                          <a:solidFill>
                            <a:srgbClr val="FFFFFF"/>
                          </a:solidFill>
                          <a:latin typeface="Calibri"/>
                        </a:rPr>
                        <a:t>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style asked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paragraph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Quote Char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refused: ValueError (wrong kind)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74320">
                <a:tc>
                  <a:txBody>
                    <a:bodyPr wrap="square"/>
                    <a:lstStyle/>
                    <a:p>
                      <a:r>
                        <a:rPr sz="1000" b="0" i="0">
                          <a:solidFill>
                            <a:srgbClr val="1F2933"/>
                          </a:solidFill>
                          <a:latin typeface="Calibri"/>
                        </a:rPr>
                        <a:t>paragraph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List Number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not found: KeyError (trailing 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74320">
                <a:tc>
                  <a:txBody>
                    <a:bodyPr wrap="square"/>
                    <a:lstStyle/>
                    <a:p>
                      <a:r>
                        <a:rPr sz="1000" b="0" i="0">
                          <a:solidFill>
                            <a:srgbClr val="1F2933"/>
                          </a:solidFill>
                          <a:latin typeface="Calibri"/>
                        </a:rPr>
                        <a:t>paragraph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List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accepted: List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0" name="Rounded Rectangle 9"/>
          <p:cNvSpPr/>
          <p:nvPr/>
        </p:nvSpPr>
        <p:spPr>
          <a:xfrm>
            <a:off x="6590995" y="2872232"/>
            <a:ext cx="2187244" cy="8229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ValueError for the wrong kind, KeyError for the wrong name</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kind must fit and the name must match exactly.</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58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bold, italic and underline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run attribute is like a light switch with three positions: on, off, or follow the house rule.</a:t>
            </a:r>
          </a:p>
        </p:txBody>
      </p:sp>
      <p:graphicFrame>
        <p:nvGraphicFramePr>
          <p:cNvPr id="6" name="table"/>
          <p:cNvGraphicFramePr>
            <a:graphicFrameLocks noGrp="1"/>
          </p:cNvGraphicFramePr>
          <p:nvPr/>
        </p:nvGraphicFramePr>
        <p:xfrm>
          <a:off x="365760" y="1417320"/>
          <a:ext cx="8412480" cy="22860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Applying Run Attributes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Flipping the switches for a few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bold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thick pen.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italic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pen that leans.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underline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ruler line drawn under the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58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Run attributes: bold, italic and underline have three states</a:t>
            </a:r>
          </a:p>
        </p:txBody>
      </p:sp>
      <p:sp>
        <p:nvSpPr>
          <p:cNvPr id="4" name="code"/>
          <p:cNvSpPr/>
          <p:nvPr/>
        </p:nvSpPr>
        <p:spPr>
          <a:xfrm>
            <a:off x="365760" y="786384"/>
            <a:ext cx="5056631"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docx</a:t>
            </a:r>
          </a:p>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docx</a:t>
            </a:r>
            <a:r>
              <a:rPr sz="1000" b="0" i="0">
                <a:solidFill>
                  <a:srgbClr val="E6EDF3"/>
                </a:solidFill>
                <a:latin typeface="Courier New"/>
              </a:rPr>
              <a:t>.</a:t>
            </a:r>
            <a:r>
              <a:rPr sz="1000" b="0" i="0">
                <a:solidFill>
                  <a:srgbClr val="E6EDF3"/>
                </a:solidFill>
                <a:latin typeface="Courier New"/>
              </a:rPr>
              <a:t>Document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run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add_paragraph</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add_run</a:t>
            </a:r>
            <a:r>
              <a:rPr sz="1000" b="0" i="0">
                <a:solidFill>
                  <a:srgbClr val="E6EDF3"/>
                </a:solidFill>
                <a:latin typeface="Courier New"/>
              </a:rPr>
              <a:t>(</a:t>
            </a:r>
            <a:r>
              <a:rPr sz="1000" b="0" i="0">
                <a:solidFill>
                  <a:srgbClr val="9BE3A8"/>
                </a:solidFill>
                <a:latin typeface="Courier New"/>
              </a:rPr>
              <a:t>'text'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value</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True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False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None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bold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value</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'bold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value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'-&gt; reads back'</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bold</a:t>
            </a:r>
            <a:r>
              <a:rPr sz="1000" b="0" i="0">
                <a:solidFill>
                  <a:srgbClr val="E6EDF3"/>
                </a:solidFill>
                <a:latin typeface="Courier New"/>
              </a:rPr>
              <a:t>)</a:t>
            </a:r>
          </a:p>
        </p:txBody>
      </p:sp>
      <p:sp>
        <p:nvSpPr>
          <p:cNvPr id="5" name="explanation"/>
          <p:cNvSpPr txBox="1"/>
          <p:nvPr/>
        </p:nvSpPr>
        <p:spPr>
          <a:xfrm>
            <a:off x="5404104" y="786384"/>
            <a:ext cx="3374136" cy="1066799"/>
          </a:xfrm>
          <a:prstGeom prst="rect">
            <a:avLst/>
          </a:prstGeom>
          <a:noFill/>
        </p:spPr>
        <p:txBody>
          <a:bodyPr wrap="square" lIns="128016" rIns="128016" tIns="18288" bIns="18288" anchor="ctr">
            <a:spAutoFit/>
          </a:bodyPr>
          <a:lstStyle/>
          <a:p>
            <a:r>
              <a:rPr sz="1100" b="0" i="0">
                <a:solidFill>
                  <a:srgbClr val="1F2933"/>
                </a:solidFill>
                <a:latin typeface="Calibri"/>
              </a:rPr>
              <a:t>True turns bold on, False turns it off, None means the style decides. The run reads back what was set.</a:t>
            </a:r>
          </a:p>
        </p:txBody>
      </p:sp>
      <p:sp>
        <p:nvSpPr>
          <p:cNvPr id="6" name="code"/>
          <p:cNvSpPr/>
          <p:nvPr/>
        </p:nvSpPr>
        <p:spPr>
          <a:xfrm>
            <a:off x="365760" y="1898904"/>
            <a:ext cx="50566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italic</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underline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'italic:'</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italic</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 underline:'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underline</a:t>
            </a:r>
            <a:r>
              <a:rPr sz="1000" b="0" i="0">
                <a:solidFill>
                  <a:srgbClr val="E6EDF3"/>
                </a:solidFill>
                <a:latin typeface="Courier New"/>
              </a:rPr>
              <a:t>)</a:t>
            </a:r>
          </a:p>
        </p:txBody>
      </p:sp>
      <p:sp>
        <p:nvSpPr>
          <p:cNvPr id="7" name="explanation"/>
          <p:cNvSpPr txBox="1"/>
          <p:nvPr/>
        </p:nvSpPr>
        <p:spPr>
          <a:xfrm>
            <a:off x="5404104" y="1898904"/>
            <a:ext cx="3374136" cy="477266"/>
          </a:xfrm>
          <a:prstGeom prst="rect">
            <a:avLst/>
          </a:prstGeom>
          <a:noFill/>
        </p:spPr>
        <p:txBody>
          <a:bodyPr wrap="square" lIns="128016" rIns="128016" tIns="18288" bIns="18288" anchor="ctr">
            <a:spAutoFit/>
          </a:bodyPr>
          <a:lstStyle/>
          <a:p>
            <a:r>
              <a:rPr sz="1100" b="0" i="0">
                <a:solidFill>
                  <a:srgbClr val="1F2933"/>
                </a:solidFill>
                <a:latin typeface="Calibri"/>
              </a:rPr>
              <a:t>Italic and underline work like bold. These three are real attributes of a run.</a:t>
            </a:r>
          </a:p>
        </p:txBody>
      </p:sp>
      <p:sp>
        <p:nvSpPr>
          <p:cNvPr id="8" name="code"/>
          <p:cNvSpPr/>
          <p:nvPr/>
        </p:nvSpPr>
        <p:spPr>
          <a:xfrm>
            <a:off x="365760" y="2421890"/>
            <a:ext cx="5056631"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strike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'run.strike -&gt;'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font</a:t>
            </a:r>
            <a:r>
              <a:rPr sz="1000" b="0" i="0">
                <a:solidFill>
                  <a:srgbClr val="E6EDF3"/>
                </a:solidFill>
                <a:latin typeface="Courier New"/>
              </a:rPr>
              <a:t>.</a:t>
            </a:r>
            <a:r>
              <a:rPr sz="1000" b="0" i="0">
                <a:solidFill>
                  <a:srgbClr val="E6EDF3"/>
                </a:solidFill>
                <a:latin typeface="Courier New"/>
              </a:rPr>
              <a:t>strike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font</a:t>
            </a:r>
            <a:r>
              <a:rPr sz="1000" b="0" i="0">
                <a:solidFill>
                  <a:srgbClr val="E6EDF3"/>
                </a:solidFill>
                <a:latin typeface="Courier New"/>
              </a:rPr>
              <a:t>.</a:t>
            </a:r>
            <a:r>
              <a:rPr sz="1000" b="0" i="0">
                <a:solidFill>
                  <a:srgbClr val="E6EDF3"/>
                </a:solidFill>
                <a:latin typeface="Courier New"/>
              </a:rPr>
              <a:t>strike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'run.font.strike -&gt;'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run</a:t>
            </a:r>
            <a:r>
              <a:rPr sz="1000" b="0" i="0">
                <a:solidFill>
                  <a:srgbClr val="E6EDF3"/>
                </a:solidFill>
                <a:latin typeface="Courier New"/>
              </a:rPr>
              <a:t>.</a:t>
            </a:r>
            <a:r>
              <a:rPr sz="1000" b="0" i="0">
                <a:solidFill>
                  <a:srgbClr val="E6EDF3"/>
                </a:solidFill>
                <a:latin typeface="Courier New"/>
              </a:rPr>
              <a:t>font</a:t>
            </a:r>
            <a:r>
              <a:rPr sz="1000" b="0" i="0">
                <a:solidFill>
                  <a:srgbClr val="E6EDF3"/>
                </a:solidFill>
                <a:latin typeface="Courier New"/>
              </a:rPr>
              <a:t>.</a:t>
            </a:r>
            <a:r>
              <a:rPr sz="1000" b="0" i="0">
                <a:solidFill>
                  <a:srgbClr val="E6EDF3"/>
                </a:solidFill>
                <a:latin typeface="Courier New"/>
              </a:rPr>
              <a:t>strike</a:t>
            </a:r>
            <a:r>
              <a:rPr sz="1000" b="0" i="0">
                <a:solidFill>
                  <a:srgbClr val="E6EDF3"/>
                </a:solidFill>
                <a:latin typeface="Courier New"/>
              </a:rPr>
              <a:t>)</a:t>
            </a:r>
          </a:p>
        </p:txBody>
      </p:sp>
      <p:sp>
        <p:nvSpPr>
          <p:cNvPr id="9" name="explanation"/>
          <p:cNvSpPr txBox="1"/>
          <p:nvPr/>
        </p:nvSpPr>
        <p:spPr>
          <a:xfrm>
            <a:off x="5404104" y="2421890"/>
            <a:ext cx="3374136" cy="756920"/>
          </a:xfrm>
          <a:prstGeom prst="rect">
            <a:avLst/>
          </a:prstGeom>
          <a:noFill/>
        </p:spPr>
        <p:txBody>
          <a:bodyPr wrap="square" lIns="128016" rIns="128016" tIns="18288" bIns="18288" anchor="ctr">
            <a:spAutoFit/>
          </a:bodyPr>
          <a:lstStyle/>
          <a:p>
            <a:r>
              <a:rPr sz="1100" b="0" i="0">
                <a:solidFill>
                  <a:srgbClr val="1F2933"/>
                </a:solidFill>
                <a:latin typeface="Calibri"/>
              </a:rPr>
              <a:t>Strike is not an attribute of a run: setting it does nothing and raises no error. It lives in run.font.</a:t>
            </a:r>
          </a:p>
        </p:txBody>
      </p:sp>
      <p:sp>
        <p:nvSpPr>
          <p:cNvPr id="10" name="result label"/>
          <p:cNvSpPr txBox="1"/>
          <p:nvPr/>
        </p:nvSpPr>
        <p:spPr>
          <a:xfrm>
            <a:off x="365760" y="3233674"/>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80562"/>
          <a:ext cx="3364991" cy="1024128"/>
        </p:xfrm>
        <a:graphic>
          <a:graphicData uri="http://schemas.openxmlformats.org/drawingml/2006/table">
            <a:tbl>
              <a:tblPr firstRow="0" bandRow="0"/>
              <a:tblGrid>
                <a:gridCol w="1570329"/>
                <a:gridCol w="1794662"/>
              </a:tblGrid>
              <a:tr h="256032">
                <a:tc>
                  <a:txBody>
                    <a:bodyPr wrap="square"/>
                    <a:lstStyle/>
                    <a:p>
                      <a:r>
                        <a:rPr sz="1000" b="1" i="0">
                          <a:solidFill>
                            <a:srgbClr val="FFFFFF"/>
                          </a:solidFill>
                          <a:latin typeface="Calibri"/>
                        </a:rPr>
                        <a:t>you set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run.bold reads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00" b="0" i="0">
                          <a:solidFill>
                            <a:srgbClr val="1F2933"/>
                          </a:solidFill>
                          <a:latin typeface="Courier New"/>
                        </a:rPr>
                        <a:t>bold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56032">
                <a:tc>
                  <a:txBody>
                    <a:bodyPr wrap="square"/>
                    <a:lstStyle/>
                    <a:p>
                      <a:r>
                        <a:rPr sz="1000" b="0" i="0">
                          <a:solidFill>
                            <a:srgbClr val="1F2933"/>
                          </a:solidFill>
                          <a:latin typeface="Courier New"/>
                        </a:rPr>
                        <a:t>bold =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56032">
                <a:tc>
                  <a:txBody>
                    <a:bodyPr wrap="square"/>
                    <a:lstStyle/>
                    <a:p>
                      <a:r>
                        <a:rPr sz="1000" b="0" i="0">
                          <a:solidFill>
                            <a:srgbClr val="1F2933"/>
                          </a:solidFill>
                          <a:latin typeface="Courier New"/>
                        </a:rPr>
                        <a:t>bold =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graphicFrame>
        <p:nvGraphicFramePr>
          <p:cNvPr id="12" name="table"/>
          <p:cNvGraphicFramePr>
            <a:graphicFrameLocks noGrp="1"/>
          </p:cNvGraphicFramePr>
          <p:nvPr/>
        </p:nvGraphicFramePr>
        <p:xfrm>
          <a:off x="4151376" y="3480562"/>
          <a:ext cx="4626863" cy="1051560"/>
        </p:xfrm>
        <a:graphic>
          <a:graphicData uri="http://schemas.openxmlformats.org/drawingml/2006/table">
            <a:tbl>
              <a:tblPr firstRow="0" bandRow="0"/>
              <a:tblGrid>
                <a:gridCol w="2993853"/>
                <a:gridCol w="1633010"/>
              </a:tblGrid>
              <a:tr h="210312">
                <a:tc>
                  <a:txBody>
                    <a:bodyPr wrap="square"/>
                    <a:lstStyle/>
                    <a:p>
                      <a:r>
                        <a:rPr sz="950" b="1" i="0">
                          <a:solidFill>
                            <a:srgbClr val="FFFFFF"/>
                          </a:solidFill>
                          <a:latin typeface="Calibri"/>
                        </a:rPr>
                        <a:t>attribute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read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0312">
                <a:tc>
                  <a:txBody>
                    <a:bodyPr wrap="square"/>
                    <a:lstStyle/>
                    <a:p>
                      <a:r>
                        <a:rPr sz="950" b="0" i="0">
                          <a:solidFill>
                            <a:srgbClr val="1F2933"/>
                          </a:solidFill>
                          <a:latin typeface="Courier New"/>
                        </a:rPr>
                        <a:t>run.italic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10312">
                <a:tc>
                  <a:txBody>
                    <a:bodyPr wrap="square"/>
                    <a:lstStyle/>
                    <a:p>
                      <a:r>
                        <a:rPr sz="950" b="0" i="0">
                          <a:solidFill>
                            <a:srgbClr val="1F2933"/>
                          </a:solidFill>
                          <a:latin typeface="Courier New"/>
                        </a:rPr>
                        <a:t>run.underline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10312">
                <a:tc>
                  <a:txBody>
                    <a:bodyPr wrap="square"/>
                    <a:lstStyle/>
                    <a:p>
                      <a:r>
                        <a:rPr sz="950" b="0" i="0">
                          <a:solidFill>
                            <a:srgbClr val="1F2933"/>
                          </a:solidFill>
                          <a:latin typeface="Courier New"/>
                        </a:rPr>
                        <a:t>run.strike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10312">
                <a:tc>
                  <a:txBody>
                    <a:bodyPr wrap="square"/>
                    <a:lstStyle/>
                    <a:p>
                      <a:r>
                        <a:rPr sz="950" b="0" i="0">
                          <a:solidFill>
                            <a:srgbClr val="1F2933"/>
                          </a:solidFill>
                          <a:latin typeface="Courier New"/>
                        </a:rPr>
                        <a:t>run.font.strike =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Three states; strike lives in run.font.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58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Story: Word's .docx format became a standard in 2006 and 2008</a:t>
            </a:r>
          </a:p>
        </p:txBody>
      </p:sp>
      <p:pic>
        <p:nvPicPr>
          <p:cNvPr id="4" name="photo ooxml" descr="Picture for the story: Word's .docx format became a standard in 2006 and 2008"/>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Boxes of Microsoft Office 2007 on a shop shelf. Photo: Stephen Edgar (@netweb), CC BY-SA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Microsoft, Ecma International, and the ISO and IEC joint committee JTC 1.</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Office Open XML, the format of .docx files, became the standards ECMA-376 and ISO/IEC 29500.</a:t>
            </a:r>
          </a:p>
        </p:txBody>
      </p:sp>
      <p:sp>
        <p:nvSpPr>
          <p:cNvPr id="10" name="card"/>
          <p:cNvSpPr/>
          <p:nvPr/>
        </p:nvSpPr>
        <p:spPr>
          <a:xfrm>
            <a:off x="3200400" y="19751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ECMA-376 was first released on 7 December 2006; ISO/IEC 29500:2008 was published in November 2008.</a:t>
            </a:r>
          </a:p>
        </p:txBody>
      </p:sp>
      <p:sp>
        <p:nvSpPr>
          <p:cNvPr id="12" name="card"/>
          <p:cNvSpPr/>
          <p:nvPr/>
        </p:nvSpPr>
        <p:spPr>
          <a:xfrm>
            <a:off x="3200400" y="254203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4203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Ecma technical committee TC45, then the fast-track process of ISO and IEC.</a:t>
            </a:r>
          </a:p>
        </p:txBody>
      </p:sp>
      <p:sp>
        <p:nvSpPr>
          <p:cNvPr id="14" name="card"/>
          <p:cNvSpPr/>
          <p:nvPr/>
        </p:nvSpPr>
        <p:spPr>
          <a:xfrm>
            <a:off x="3200400" y="310896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0896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A published standard lets programs other than Word, such as python-docx, read and write the files.</a:t>
            </a:r>
          </a:p>
        </p:txBody>
      </p:sp>
      <p:sp>
        <p:nvSpPr>
          <p:cNvPr id="16" name="card"/>
          <p:cNvSpPr/>
          <p:nvPr/>
        </p:nvSpPr>
        <p:spPr>
          <a:xfrm>
            <a:off x="3200400" y="367588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7588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Since Office 2007 these formats are Word's default. A first ISO vote failed; an amended version passed in April 2008.</a:t>
            </a:r>
          </a:p>
        </p:txBody>
      </p:sp>
      <p:sp>
        <p:nvSpPr>
          <p:cNvPr id="18" name="read"/>
          <p:cNvSpPr txBox="1"/>
          <p:nvPr/>
        </p:nvSpPr>
        <p:spPr>
          <a:xfrm>
            <a:off x="3200400" y="4261104"/>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Office Open XML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58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4: Writing Word documents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Paragraphs, runs, headings, breaks and pictures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add_paragraph</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Adds a card and returns it to you.</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add_heading</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Adds a title or a heading, level 0 to 9.</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Breaks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line break sits in a run; a page break is a call.</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add_picture</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Pins a picture; width or height is enough.</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writing a Word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Writing a Word file: add_paragraph and 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Adding headings: levels 0 to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Adding line breaks and page breaks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pictures and sizes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Adding pictures: width and height in inch...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pip install docx has not worked si...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58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writing a Word file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Writing a Word file is like filling a new recipe box: add a card, add words to it, then save the box.</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Writing Word Documents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Filling a new recipe box from the first card to the last.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add_paragraph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Putting a new card into the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add_run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Writing a few more words on the same card, with another pen.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Adding Headings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Writing a title across the top of a card.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add_heading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heading pen: level 0 is the title, levels 1 to 9 are headings.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Adding Line and Page Breaks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Starting a new line, or a new 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add_break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mark that says: break 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Page 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tear line between two 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58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Writing a Word file: add_paragraph and add_run</a:t>
            </a:r>
          </a:p>
        </p:txBody>
      </p:sp>
      <p:sp>
        <p:nvSpPr>
          <p:cNvPr id="4" name="code"/>
          <p:cNvSpPr/>
          <p:nvPr/>
        </p:nvSpPr>
        <p:spPr>
          <a:xfrm>
            <a:off x="365760" y="786384"/>
            <a:ext cx="5650991" cy="12527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io</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docx</a:t>
            </a:r>
          </a:p>
          <a:p>
            <a:pPr algn="l"/>
            <a:r>
              <a:rPr sz="1200" b="0" i="0">
                <a:solidFill>
                  <a:srgbClr val="8FA3B8"/>
                </a:solidFill>
                <a:latin typeface="Courier New"/>
              </a:rPr>
              <a:t>&gt;&gt;&gt; </a:t>
            </a:r>
            <a:r>
              <a:rPr sz="1200" b="0" i="0">
                <a:solidFill>
                  <a:srgbClr val="E6EDF3"/>
                </a:solidFill>
                <a:latin typeface="Courier New"/>
              </a:rPr>
              <a:t>doc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docx</a:t>
            </a:r>
            <a:r>
              <a:rPr sz="1200" b="0" i="0">
                <a:solidFill>
                  <a:srgbClr val="E6EDF3"/>
                </a:solidFill>
                <a:latin typeface="Courier New"/>
              </a:rPr>
              <a:t>.</a:t>
            </a:r>
            <a:r>
              <a:rPr sz="1200" b="0" i="0">
                <a:solidFill>
                  <a:srgbClr val="E6EDF3"/>
                </a:solidFill>
                <a:latin typeface="Courier New"/>
              </a:rPr>
              <a:t>Document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p</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doc</a:t>
            </a:r>
            <a:r>
              <a:rPr sz="1200" b="0" i="0">
                <a:solidFill>
                  <a:srgbClr val="E6EDF3"/>
                </a:solidFill>
                <a:latin typeface="Courier New"/>
              </a:rPr>
              <a:t>.</a:t>
            </a:r>
            <a:r>
              <a:rPr sz="1200" b="0" i="0">
                <a:solidFill>
                  <a:srgbClr val="E6EDF3"/>
                </a:solidFill>
                <a:latin typeface="Courier New"/>
              </a:rPr>
              <a:t>add_paragraph</a:t>
            </a:r>
            <a:r>
              <a:rPr sz="1200" b="0" i="0">
                <a:solidFill>
                  <a:srgbClr val="E6EDF3"/>
                </a:solidFill>
                <a:latin typeface="Courier New"/>
              </a:rPr>
              <a:t>(</a:t>
            </a:r>
            <a:r>
              <a:rPr sz="1200" b="0" i="0">
                <a:solidFill>
                  <a:srgbClr val="9BE3A8"/>
                </a:solidFill>
                <a:latin typeface="Courier New"/>
              </a:rPr>
              <a:t>'Hello world!'</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r</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a:t>
            </a:r>
            <a:r>
              <a:rPr sz="1200" b="0" i="0">
                <a:solidFill>
                  <a:srgbClr val="E6EDF3"/>
                </a:solidFill>
                <a:latin typeface="Courier New"/>
              </a:rPr>
              <a:t>.</a:t>
            </a:r>
            <a:r>
              <a:rPr sz="1200" b="0" i="0">
                <a:solidFill>
                  <a:srgbClr val="E6EDF3"/>
                </a:solidFill>
                <a:latin typeface="Courier New"/>
              </a:rPr>
              <a:t>add_run</a:t>
            </a:r>
            <a:r>
              <a:rPr sz="1200" b="0" i="0">
                <a:solidFill>
                  <a:srgbClr val="E6EDF3"/>
                </a:solidFill>
                <a:latin typeface="Courier New"/>
              </a:rPr>
              <a:t>(</a:t>
            </a:r>
            <a:r>
              <a:rPr sz="1200" b="0" i="0">
                <a:solidFill>
                  <a:srgbClr val="9BE3A8"/>
                </a:solidFill>
                <a:latin typeface="Courier New"/>
              </a:rPr>
              <a:t>' A second run.'</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r</a:t>
            </a:r>
            <a:r>
              <a:rPr sz="1200" b="0" i="0">
                <a:solidFill>
                  <a:srgbClr val="E6EDF3"/>
                </a:solidFill>
                <a:latin typeface="Courier New"/>
              </a:rPr>
              <a:t>.</a:t>
            </a:r>
            <a:r>
              <a:rPr sz="1200" b="0" i="0">
                <a:solidFill>
                  <a:srgbClr val="E6EDF3"/>
                </a:solidFill>
                <a:latin typeface="Courier New"/>
              </a:rPr>
              <a:t>italic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True</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p</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p>
        </p:txBody>
      </p:sp>
      <p:sp>
        <p:nvSpPr>
          <p:cNvPr id="5" name="explanation"/>
          <p:cNvSpPr txBox="1"/>
          <p:nvPr/>
        </p:nvSpPr>
        <p:spPr>
          <a:xfrm>
            <a:off x="5998464" y="786384"/>
            <a:ext cx="2779776" cy="1252728"/>
          </a:xfrm>
          <a:prstGeom prst="rect">
            <a:avLst/>
          </a:prstGeom>
          <a:noFill/>
        </p:spPr>
        <p:txBody>
          <a:bodyPr wrap="square" lIns="128016" rIns="128016" tIns="18288" bIns="18288" anchor="ctr">
            <a:spAutoFit/>
          </a:bodyPr>
          <a:lstStyle/>
          <a:p>
            <a:r>
              <a:rPr sz="1250" b="0" i="0">
                <a:solidFill>
                  <a:srgbClr val="1F2933"/>
                </a:solidFill>
                <a:latin typeface="Calibri"/>
              </a:rPr>
              <a:t>add_paragraph() returns the new Paragraph; add_run() returns the new Run. Keep them to change them.</a:t>
            </a:r>
          </a:p>
        </p:txBody>
      </p:sp>
      <p:sp>
        <p:nvSpPr>
          <p:cNvPr id="6" name="code"/>
          <p:cNvSpPr/>
          <p:nvPr/>
        </p:nvSpPr>
        <p:spPr>
          <a:xfrm>
            <a:off x="365760" y="2084831"/>
            <a:ext cx="5650991"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buf</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io</a:t>
            </a:r>
            <a:r>
              <a:rPr sz="1200" b="0" i="0">
                <a:solidFill>
                  <a:srgbClr val="E6EDF3"/>
                </a:solidFill>
                <a:latin typeface="Courier New"/>
              </a:rPr>
              <a:t>.</a:t>
            </a:r>
            <a:r>
              <a:rPr sz="1200" b="0" i="0">
                <a:solidFill>
                  <a:srgbClr val="E6EDF3"/>
                </a:solidFill>
                <a:latin typeface="Courier New"/>
              </a:rPr>
              <a:t>BytesIO</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doc</a:t>
            </a:r>
            <a:r>
              <a:rPr sz="1200" b="0" i="0">
                <a:solidFill>
                  <a:srgbClr val="E6EDF3"/>
                </a:solidFill>
                <a:latin typeface="Courier New"/>
              </a:rPr>
              <a:t>.</a:t>
            </a:r>
            <a:r>
              <a:rPr sz="1200" b="0" i="0">
                <a:solidFill>
                  <a:srgbClr val="E6EDF3"/>
                </a:solidFill>
                <a:latin typeface="Courier New"/>
              </a:rPr>
              <a:t>save</a:t>
            </a:r>
            <a:r>
              <a:rPr sz="1200" b="0" i="0">
                <a:solidFill>
                  <a:srgbClr val="E6EDF3"/>
                </a:solidFill>
                <a:latin typeface="Courier New"/>
              </a:rPr>
              <a:t>(</a:t>
            </a:r>
            <a:r>
              <a:rPr sz="1200" b="0" i="0">
                <a:solidFill>
                  <a:srgbClr val="E6EDF3"/>
                </a:solidFill>
                <a:latin typeface="Courier New"/>
              </a:rPr>
              <a:t>buf</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again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docx</a:t>
            </a:r>
            <a:r>
              <a:rPr sz="1200" b="0" i="0">
                <a:solidFill>
                  <a:srgbClr val="E6EDF3"/>
                </a:solidFill>
                <a:latin typeface="Courier New"/>
              </a:rPr>
              <a:t>.</a:t>
            </a:r>
            <a:r>
              <a:rPr sz="1200" b="0" i="0">
                <a:solidFill>
                  <a:srgbClr val="E6EDF3"/>
                </a:solidFill>
                <a:latin typeface="Courier New"/>
              </a:rPr>
              <a:t>Document</a:t>
            </a:r>
            <a:r>
              <a:rPr sz="1200" b="0" i="0">
                <a:solidFill>
                  <a:srgbClr val="E6EDF3"/>
                </a:solidFill>
                <a:latin typeface="Courier New"/>
              </a:rPr>
              <a:t>(</a:t>
            </a:r>
            <a:r>
              <a:rPr sz="1200" b="0" i="0">
                <a:solidFill>
                  <a:srgbClr val="E6EDF3"/>
                </a:solidFill>
                <a:latin typeface="Courier New"/>
              </a:rPr>
              <a:t>buf</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texts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r</a:t>
            </a:r>
            <a:r>
              <a:rPr sz="1200" b="0" i="0">
                <a:solidFill>
                  <a:srgbClr val="E6EDF3"/>
                </a:solidFill>
                <a:latin typeface="Courier New"/>
              </a:rPr>
              <a:t>.</a:t>
            </a:r>
            <a:r>
              <a:rPr sz="1200" b="0" i="0">
                <a:solidFill>
                  <a:srgbClr val="E6EDF3"/>
                </a:solidFill>
                <a:latin typeface="Courier New"/>
              </a:rPr>
              <a:t>text</a:t>
            </a:r>
            <a:r>
              <a:rPr sz="1200" b="0" i="0">
                <a:solidFill>
                  <a:srgbClr val="E6EDF3"/>
                </a:solidFill>
                <a:latin typeface="Courier New"/>
              </a:rPr>
              <a: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r</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again</a:t>
            </a:r>
            <a:r>
              <a:rPr sz="1200" b="0" i="0">
                <a:solidFill>
                  <a:srgbClr val="E6EDF3"/>
                </a:solidFill>
                <a:latin typeface="Courier New"/>
              </a:rPr>
              <a:t>.</a:t>
            </a:r>
            <a:r>
              <a:rPr sz="1200" b="0" i="0">
                <a:solidFill>
                  <a:srgbClr val="E6EDF3"/>
                </a:solidFill>
                <a:latin typeface="Courier New"/>
              </a:rPr>
              <a:t>paragraphs</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runs</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again</a:t>
            </a:r>
            <a:r>
              <a:rPr sz="1200" b="0" i="0">
                <a:solidFill>
                  <a:srgbClr val="E6EDF3"/>
                </a:solidFill>
                <a:latin typeface="Courier New"/>
              </a:rPr>
              <a:t>.</a:t>
            </a:r>
            <a:r>
              <a:rPr sz="1200" b="0" i="0">
                <a:solidFill>
                  <a:srgbClr val="E6EDF3"/>
                </a:solidFill>
                <a:latin typeface="Courier New"/>
              </a:rPr>
              <a:t>paragraphs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'paragraph; runs:'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texts</a:t>
            </a:r>
            <a:r>
              <a:rPr sz="1200" b="0" i="0">
                <a:solidFill>
                  <a:srgbClr val="E6EDF3"/>
                </a:solidFill>
                <a:latin typeface="Courier New"/>
              </a:rPr>
              <a:t>)</a:t>
            </a:r>
          </a:p>
        </p:txBody>
      </p:sp>
      <p:sp>
        <p:nvSpPr>
          <p:cNvPr id="7" name="explanation"/>
          <p:cNvSpPr txBox="1"/>
          <p:nvPr/>
        </p:nvSpPr>
        <p:spPr>
          <a:xfrm>
            <a:off x="5998464" y="2084831"/>
            <a:ext cx="2779776" cy="1066799"/>
          </a:xfrm>
          <a:prstGeom prst="rect">
            <a:avLst/>
          </a:prstGeom>
          <a:noFill/>
        </p:spPr>
        <p:txBody>
          <a:bodyPr wrap="square" lIns="128016" rIns="128016" tIns="18288" bIns="18288" anchor="ctr">
            <a:spAutoFit/>
          </a:bodyPr>
          <a:lstStyle/>
          <a:p>
            <a:r>
              <a:rPr sz="1250" b="0" i="0">
                <a:solidFill>
                  <a:srgbClr val="1F2933"/>
                </a:solidFill>
                <a:latin typeface="Calibri"/>
              </a:rPr>
              <a:t>save() writes the file; opening it again shows one paragraph whose two runs kept their text.</a:t>
            </a:r>
          </a:p>
        </p:txBody>
      </p:sp>
      <p:sp>
        <p:nvSpPr>
          <p:cNvPr id="8" name="result label"/>
          <p:cNvSpPr txBox="1"/>
          <p:nvPr/>
        </p:nvSpPr>
        <p:spPr>
          <a:xfrm>
            <a:off x="365760" y="320649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773423"/>
            <a:ext cx="1371600" cy="41148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alibri"/>
              </a:rPr>
              <a:t>Document (saved, then opened again)</a:t>
            </a:r>
          </a:p>
        </p:txBody>
      </p:sp>
      <p:sp>
        <p:nvSpPr>
          <p:cNvPr id="10" name="Rounded Rectangle 9"/>
          <p:cNvSpPr/>
          <p:nvPr/>
        </p:nvSpPr>
        <p:spPr>
          <a:xfrm>
            <a:off x="2194560" y="3819143"/>
            <a:ext cx="1371600" cy="32918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 paragraph</a:t>
            </a:r>
          </a:p>
        </p:txBody>
      </p:sp>
      <p:cxnSp>
        <p:nvCxnSpPr>
          <p:cNvPr id="11" name="arrow"/>
          <p:cNvCxnSpPr/>
          <p:nvPr/>
        </p:nvCxnSpPr>
        <p:spPr>
          <a:xfrm>
            <a:off x="1755648" y="3983735"/>
            <a:ext cx="420624"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06240" y="3471671"/>
            <a:ext cx="274320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run 1: 'Hello world!'</a:t>
            </a:r>
          </a:p>
          <a:p>
            <a:pPr algn="ctr"/>
            <a:r>
              <a:rPr sz="950" b="0" i="0">
                <a:solidFill>
                  <a:srgbClr val="1F2933"/>
                </a:solidFill>
                <a:latin typeface="Courier New"/>
              </a:rPr>
              <a:t>italic = None</a:t>
            </a:r>
          </a:p>
        </p:txBody>
      </p:sp>
      <p:cxnSp>
        <p:nvCxnSpPr>
          <p:cNvPr id="13" name="arrow"/>
          <p:cNvCxnSpPr/>
          <p:nvPr/>
        </p:nvCxnSpPr>
        <p:spPr>
          <a:xfrm flipV="1">
            <a:off x="3584448" y="3700271"/>
            <a:ext cx="603504" cy="283464"/>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06240" y="4002023"/>
            <a:ext cx="274320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run 2: ' A second run.'</a:t>
            </a:r>
          </a:p>
          <a:p>
            <a:pPr algn="ctr"/>
            <a:r>
              <a:rPr sz="950" b="0" i="0">
                <a:solidFill>
                  <a:srgbClr val="1F2933"/>
                </a:solidFill>
                <a:latin typeface="Courier New"/>
              </a:rPr>
              <a:t>italic = True</a:t>
            </a:r>
          </a:p>
        </p:txBody>
      </p:sp>
      <p:cxnSp>
        <p:nvCxnSpPr>
          <p:cNvPr id="15" name="arrow"/>
          <p:cNvCxnSpPr/>
          <p:nvPr/>
        </p:nvCxnSpPr>
        <p:spPr>
          <a:xfrm>
            <a:off x="3584448" y="3983735"/>
            <a:ext cx="603504" cy="246888"/>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visual note"/>
          <p:cNvSpPr txBox="1"/>
          <p:nvPr/>
        </p:nvSpPr>
        <p:spPr>
          <a:xfrm>
            <a:off x="7132320" y="3819143"/>
            <a:ext cx="1645920" cy="457200"/>
          </a:xfrm>
          <a:prstGeom prst="rect">
            <a:avLst/>
          </a:prstGeom>
          <a:noFill/>
        </p:spPr>
        <p:txBody>
          <a:bodyPr wrap="square" lIns="45720" rIns="45720" tIns="27432" bIns="27432" anchor="t">
            <a:spAutoFit/>
          </a:bodyPr>
          <a:lstStyle/>
          <a:p>
            <a:r>
              <a:rPr sz="950" b="0" i="1">
                <a:solidFill>
                  <a:srgbClr val="5B6773"/>
                </a:solidFill>
                <a:latin typeface="Calibri"/>
              </a:rPr>
              <a:t>add_run(...) kept each run</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add_paragraph and add_run return what you keep.</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58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Adding headings: levels 0 to 9</a:t>
            </a:r>
          </a:p>
        </p:txBody>
      </p:sp>
      <p:sp>
        <p:nvSpPr>
          <p:cNvPr id="4" name="code"/>
          <p:cNvSpPr/>
          <p:nvPr/>
        </p:nvSpPr>
        <p:spPr>
          <a:xfrm>
            <a:off x="365760" y="786384"/>
            <a:ext cx="8412480" cy="98932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docx</a:t>
            </a:r>
          </a:p>
          <a:p>
            <a:pPr algn="l"/>
            <a:r>
              <a:rPr sz="1100" b="0" i="0">
                <a:solidFill>
                  <a:srgbClr val="8FA3B8"/>
                </a:solidFill>
                <a:latin typeface="Courier New"/>
              </a:rPr>
              <a:t>&gt;&gt;&gt; </a:t>
            </a:r>
            <a:r>
              <a:rPr sz="1100" b="0" i="0">
                <a:solidFill>
                  <a:srgbClr val="E6EDF3"/>
                </a:solidFill>
                <a:latin typeface="Courier New"/>
              </a:rPr>
              <a:t>doc</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docx</a:t>
            </a:r>
            <a:r>
              <a:rPr sz="1100" b="0" i="0">
                <a:solidFill>
                  <a:srgbClr val="E6EDF3"/>
                </a:solidFill>
                <a:latin typeface="Courier New"/>
              </a:rPr>
              <a:t>.</a:t>
            </a:r>
            <a:r>
              <a:rPr sz="1100" b="0" i="0">
                <a:solidFill>
                  <a:srgbClr val="E6EDF3"/>
                </a:solidFill>
                <a:latin typeface="Courier New"/>
              </a:rPr>
              <a:t>Document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level</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9</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h</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doc</a:t>
            </a:r>
            <a:r>
              <a:rPr sz="1100" b="0" i="0">
                <a:solidFill>
                  <a:srgbClr val="E6EDF3"/>
                </a:solidFill>
                <a:latin typeface="Courier New"/>
              </a:rPr>
              <a:t>.</a:t>
            </a:r>
            <a:r>
              <a:rPr sz="1100" b="0" i="0">
                <a:solidFill>
                  <a:srgbClr val="E6EDF3"/>
                </a:solidFill>
                <a:latin typeface="Courier New"/>
              </a:rPr>
              <a:t>add_heading</a:t>
            </a:r>
            <a:r>
              <a:rPr sz="1100" b="0" i="0">
                <a:solidFill>
                  <a:srgbClr val="E6EDF3"/>
                </a:solidFill>
                <a:latin typeface="Courier New"/>
              </a:rPr>
              <a:t>(</a:t>
            </a:r>
            <a:r>
              <a:rPr sz="1100" b="0" i="0">
                <a:solidFill>
                  <a:srgbClr val="9BE3A8"/>
                </a:solidFill>
                <a:latin typeface="Courier New"/>
              </a:rPr>
              <a:t>'Heading %d'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level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level</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'level'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level</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t>
            </a:r>
            <a:r>
              <a:rPr sz="1100" b="0" i="0">
                <a:solidFill>
                  <a:srgbClr val="E6EDF3"/>
                </a:solidFill>
                <a:latin typeface="Courier New"/>
              </a:rPr>
              <a:t>.</a:t>
            </a:r>
            <a:r>
              <a:rPr sz="1100" b="0" i="0">
                <a:solidFill>
                  <a:srgbClr val="E6EDF3"/>
                </a:solidFill>
                <a:latin typeface="Courier New"/>
              </a:rPr>
              <a:t>style</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p>
        </p:txBody>
      </p:sp>
      <p:sp>
        <p:nvSpPr>
          <p:cNvPr id="5" name="explanation"/>
          <p:cNvSpPr txBox="1"/>
          <p:nvPr/>
        </p:nvSpPr>
        <p:spPr>
          <a:xfrm>
            <a:off x="365760" y="1784857"/>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add_heading() takes a level. Level 0 is the Title style; levels 1 to 9 are Heading 1 to Heading 9.</a:t>
            </a:r>
          </a:p>
        </p:txBody>
      </p:sp>
      <p:sp>
        <p:nvSpPr>
          <p:cNvPr id="6" name="code"/>
          <p:cNvSpPr/>
          <p:nvPr/>
        </p:nvSpPr>
        <p:spPr>
          <a:xfrm>
            <a:off x="365760" y="2139950"/>
            <a:ext cx="8412480" cy="4780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doc</a:t>
            </a:r>
            <a:r>
              <a:rPr sz="1100" b="0" i="0">
                <a:solidFill>
                  <a:srgbClr val="E6EDF3"/>
                </a:solidFill>
                <a:latin typeface="Courier New"/>
              </a:rPr>
              <a:t>.</a:t>
            </a:r>
            <a:r>
              <a:rPr sz="1100" b="0" i="0">
                <a:solidFill>
                  <a:srgbClr val="E6EDF3"/>
                </a:solidFill>
                <a:latin typeface="Courier New"/>
              </a:rPr>
              <a:t>add_heading</a:t>
            </a:r>
            <a:r>
              <a:rPr sz="1100" b="0" i="0">
                <a:solidFill>
                  <a:srgbClr val="E6EDF3"/>
                </a:solidFill>
                <a:latin typeface="Courier New"/>
              </a:rPr>
              <a:t>(</a:t>
            </a:r>
            <a:r>
              <a:rPr sz="1100" b="0" i="0">
                <a:solidFill>
                  <a:srgbClr val="9BE3A8"/>
                </a:solidFill>
                <a:latin typeface="Courier New"/>
              </a:rPr>
              <a:t>'Too deep'</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10</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ValueError</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'level 10 refused: levels are 0 to 9'</a:t>
            </a:r>
            <a:r>
              <a:rPr sz="1100" b="0" i="0">
                <a:solidFill>
                  <a:srgbClr val="E6EDF3"/>
                </a:solidFill>
                <a:latin typeface="Courier New"/>
              </a:rPr>
              <a:t>)</a:t>
            </a:r>
          </a:p>
        </p:txBody>
      </p:sp>
      <p:sp>
        <p:nvSpPr>
          <p:cNvPr id="7" name="explanation"/>
          <p:cNvSpPr txBox="1"/>
          <p:nvPr/>
        </p:nvSpPr>
        <p:spPr>
          <a:xfrm>
            <a:off x="365760" y="2627121"/>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Outside 0 to 9 the call raises a ValueError. The chapter says 0 to 4 in one place and 1 to 9 in another.</a:t>
            </a:r>
          </a:p>
        </p:txBody>
      </p:sp>
      <p:sp>
        <p:nvSpPr>
          <p:cNvPr id="8" name="result label"/>
          <p:cNvSpPr txBox="1"/>
          <p:nvPr/>
        </p:nvSpPr>
        <p:spPr>
          <a:xfrm>
            <a:off x="365760" y="318185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428745"/>
            <a:ext cx="3840480" cy="310896"/>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1" i="0">
                <a:solidFill>
                  <a:srgbClr val="1F2933"/>
                </a:solidFill>
                <a:latin typeface="Calibri"/>
              </a:rPr>
              <a:t>level 0: Title</a:t>
            </a:r>
          </a:p>
        </p:txBody>
      </p:sp>
      <p:sp>
        <p:nvSpPr>
          <p:cNvPr id="10" name="Rounded Rectangle 9"/>
          <p:cNvSpPr/>
          <p:nvPr/>
        </p:nvSpPr>
        <p:spPr>
          <a:xfrm>
            <a:off x="365760" y="3776218"/>
            <a:ext cx="2834640" cy="310896"/>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200" b="1" i="0">
                <a:solidFill>
                  <a:srgbClr val="1F2933"/>
                </a:solidFill>
                <a:latin typeface="Calibri"/>
              </a:rPr>
              <a:t>level 1: Heading 1</a:t>
            </a:r>
          </a:p>
        </p:txBody>
      </p:sp>
      <p:sp>
        <p:nvSpPr>
          <p:cNvPr id="11" name="Rounded Rectangle 10"/>
          <p:cNvSpPr/>
          <p:nvPr/>
        </p:nvSpPr>
        <p:spPr>
          <a:xfrm>
            <a:off x="365760" y="4123689"/>
            <a:ext cx="1828800" cy="310896"/>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1" i="0">
                <a:solidFill>
                  <a:srgbClr val="1F2933"/>
                </a:solidFill>
                <a:latin typeface="Calibri"/>
              </a:rPr>
              <a:t>level 9: Heading 9</a:t>
            </a:r>
          </a:p>
        </p:txBody>
      </p:sp>
      <p:cxnSp>
        <p:nvCxnSpPr>
          <p:cNvPr id="12" name="arrow"/>
          <p:cNvCxnSpPr/>
          <p:nvPr/>
        </p:nvCxnSpPr>
        <p:spPr>
          <a:xfrm>
            <a:off x="4297680" y="3712209"/>
            <a:ext cx="3200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3428745"/>
            <a:ext cx="411480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add_heading(text, level): level 0 is the Title style; 1 to 9 are Heading 1 to Heading 9</a:t>
            </a:r>
          </a:p>
        </p:txBody>
      </p:sp>
      <p:sp>
        <p:nvSpPr>
          <p:cNvPr id="14" name="Rounded Rectangle 13"/>
          <p:cNvSpPr/>
          <p:nvPr/>
        </p:nvSpPr>
        <p:spPr>
          <a:xfrm>
            <a:off x="4663440" y="4087113"/>
            <a:ext cx="4114800" cy="329184"/>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level 10 refused: ValueError</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Levels 0 to 9; the Title is level 0.</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58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Adding line breaks and page breaks</a:t>
            </a:r>
          </a:p>
        </p:txBody>
      </p:sp>
      <p:sp>
        <p:nvSpPr>
          <p:cNvPr id="4" name="code"/>
          <p:cNvSpPr/>
          <p:nvPr/>
        </p:nvSpPr>
        <p:spPr>
          <a:xfrm>
            <a:off x="365760" y="786384"/>
            <a:ext cx="5437632"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docx</a:t>
            </a:r>
          </a:p>
          <a:p>
            <a:pPr algn="l"/>
            <a:r>
              <a:rPr sz="1000" b="0" i="0">
                <a:solidFill>
                  <a:srgbClr val="8FA3B8"/>
                </a:solidFill>
                <a:latin typeface="Courier New"/>
              </a:rPr>
              <a:t>&gt;&gt;&gt; </a:t>
            </a:r>
            <a:r>
              <a:rPr sz="1000" b="0" i="0">
                <a:solidFill>
                  <a:srgbClr val="E6EDF3"/>
                </a:solidFill>
                <a:latin typeface="Courier New"/>
              </a:rPr>
              <a:t>from</a:t>
            </a:r>
            <a:r>
              <a:rPr sz="1000" b="0" i="0">
                <a:solidFill>
                  <a:srgbClr val="E6EDF3"/>
                </a:solidFill>
                <a:latin typeface="Courier New"/>
              </a:rPr>
              <a:t> </a:t>
            </a:r>
            <a:r>
              <a:rPr sz="1000" b="0" i="0">
                <a:solidFill>
                  <a:srgbClr val="E6EDF3"/>
                </a:solidFill>
                <a:latin typeface="Courier New"/>
              </a:rPr>
              <a:t>docx</a:t>
            </a:r>
            <a:r>
              <a:rPr sz="1000" b="0" i="0">
                <a:solidFill>
                  <a:srgbClr val="E6EDF3"/>
                </a:solidFill>
                <a:latin typeface="Courier New"/>
              </a:rPr>
              <a:t>.</a:t>
            </a:r>
            <a:r>
              <a:rPr sz="1000" b="0" i="0">
                <a:solidFill>
                  <a:srgbClr val="E6EDF3"/>
                </a:solidFill>
                <a:latin typeface="Courier New"/>
              </a:rPr>
              <a:t>enum</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WD_BREAK</a:t>
            </a:r>
          </a:p>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docx</a:t>
            </a:r>
            <a:r>
              <a:rPr sz="1000" b="0" i="0">
                <a:solidFill>
                  <a:srgbClr val="E6EDF3"/>
                </a:solidFill>
                <a:latin typeface="Courier New"/>
              </a:rPr>
              <a:t>.</a:t>
            </a:r>
            <a:r>
              <a:rPr sz="1000" b="0" i="0">
                <a:solidFill>
                  <a:srgbClr val="E6EDF3"/>
                </a:solidFill>
                <a:latin typeface="Courier New"/>
              </a:rPr>
              <a:t>Document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add_paragraph</a:t>
            </a:r>
            <a:r>
              <a:rPr sz="1000" b="0" i="0">
                <a:solidFill>
                  <a:srgbClr val="E6EDF3"/>
                </a:solidFill>
                <a:latin typeface="Courier New"/>
              </a:rPr>
              <a:t>(</a:t>
            </a:r>
            <a:r>
              <a:rPr sz="1000" b="0" i="0">
                <a:solidFill>
                  <a:srgbClr val="9BE3A8"/>
                </a:solidFill>
                <a:latin typeface="Courier New"/>
              </a:rPr>
              <a:t>'First line'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add_run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add_break</a:t>
            </a:r>
            <a:r>
              <a:rPr sz="1000" b="0" i="0">
                <a:solidFill>
                  <a:srgbClr val="E6EDF3"/>
                </a:solidFill>
                <a:latin typeface="Courier New"/>
              </a:rPr>
              <a:t>(</a:t>
            </a:r>
            <a:r>
              <a:rPr sz="1000" b="0" i="0">
                <a:solidFill>
                  <a:srgbClr val="E6EDF3"/>
                </a:solidFill>
                <a:latin typeface="Courier New"/>
              </a:rPr>
              <a:t>WD_BREAK</a:t>
            </a:r>
            <a:r>
              <a:rPr sz="1000" b="0" i="0">
                <a:solidFill>
                  <a:srgbClr val="E6EDF3"/>
                </a:solidFill>
                <a:latin typeface="Courier New"/>
              </a:rPr>
              <a:t>.</a:t>
            </a:r>
            <a:r>
              <a:rPr sz="1000" b="0" i="0">
                <a:solidFill>
                  <a:srgbClr val="E6EDF3"/>
                </a:solidFill>
                <a:latin typeface="Courier New"/>
              </a:rPr>
              <a:t>LINE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add_run</a:t>
            </a:r>
            <a:r>
              <a:rPr sz="1000" b="0" i="0">
                <a:solidFill>
                  <a:srgbClr val="E6EDF3"/>
                </a:solidFill>
                <a:latin typeface="Courier New"/>
              </a:rPr>
              <a:t>(</a:t>
            </a:r>
            <a:r>
              <a:rPr sz="1000" b="0" i="0">
                <a:solidFill>
                  <a:srgbClr val="9BE3A8"/>
                </a:solidFill>
                <a:latin typeface="Courier New"/>
              </a:rPr>
              <a:t>'second line, same paragraph'</a:t>
            </a:r>
            <a:r>
              <a:rPr sz="1000" b="0" i="0">
                <a:solidFill>
                  <a:srgbClr val="E6EDF3"/>
                </a:solidFill>
                <a:latin typeface="Courier New"/>
              </a:rPr>
              <a:t>)</a:t>
            </a:r>
          </a:p>
        </p:txBody>
      </p:sp>
      <p:sp>
        <p:nvSpPr>
          <p:cNvPr id="5" name="explanation"/>
          <p:cNvSpPr txBox="1"/>
          <p:nvPr/>
        </p:nvSpPr>
        <p:spPr>
          <a:xfrm>
            <a:off x="5785104" y="786384"/>
            <a:ext cx="2993135" cy="1066799"/>
          </a:xfrm>
          <a:prstGeom prst="rect">
            <a:avLst/>
          </a:prstGeom>
          <a:noFill/>
        </p:spPr>
        <p:txBody>
          <a:bodyPr wrap="square" lIns="128016" rIns="128016" tIns="18288" bIns="18288" anchor="ctr">
            <a:spAutoFit/>
          </a:bodyPr>
          <a:lstStyle/>
          <a:p>
            <a:r>
              <a:rPr sz="1100" b="0" i="0">
                <a:solidFill>
                  <a:srgbClr val="1F2933"/>
                </a:solidFill>
                <a:latin typeface="Calibri"/>
              </a:rPr>
              <a:t>A break is an item inside a run. WD_BREAK.LINE starts a new line without starting a new paragraph.</a:t>
            </a:r>
          </a:p>
        </p:txBody>
      </p:sp>
      <p:sp>
        <p:nvSpPr>
          <p:cNvPr id="6" name="code"/>
          <p:cNvSpPr/>
          <p:nvPr/>
        </p:nvSpPr>
        <p:spPr>
          <a:xfrm>
            <a:off x="365760" y="1898904"/>
            <a:ext cx="54376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add_page_break</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add_paragraph</a:t>
            </a:r>
            <a:r>
              <a:rPr sz="1000" b="0" i="0">
                <a:solidFill>
                  <a:srgbClr val="E6EDF3"/>
                </a:solidFill>
                <a:latin typeface="Courier New"/>
              </a:rPr>
              <a:t>(</a:t>
            </a:r>
            <a:r>
              <a:rPr sz="1000" b="0" i="0">
                <a:solidFill>
                  <a:srgbClr val="9BE3A8"/>
                </a:solidFill>
                <a:latin typeface="Courier New"/>
              </a:rPr>
              <a:t>'Second page'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xml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doc</a:t>
            </a:r>
            <a:r>
              <a:rPr sz="1000" b="0" i="0">
                <a:solidFill>
                  <a:srgbClr val="E6EDF3"/>
                </a:solidFill>
                <a:latin typeface="Courier New"/>
              </a:rPr>
              <a:t>.</a:t>
            </a:r>
            <a:r>
              <a:rPr sz="1000" b="0" i="0">
                <a:solidFill>
                  <a:srgbClr val="E6EDF3"/>
                </a:solidFill>
                <a:latin typeface="Courier New"/>
              </a:rPr>
              <a:t>element</a:t>
            </a:r>
            <a:r>
              <a:rPr sz="1000" b="0" i="0">
                <a:solidFill>
                  <a:srgbClr val="E6EDF3"/>
                </a:solidFill>
                <a:latin typeface="Courier New"/>
              </a:rPr>
              <a:t>.</a:t>
            </a:r>
            <a:r>
              <a:rPr sz="1000" b="0" i="0">
                <a:solidFill>
                  <a:srgbClr val="E6EDF3"/>
                </a:solidFill>
                <a:latin typeface="Courier New"/>
              </a:rPr>
              <a:t>xml</a:t>
            </a:r>
          </a:p>
          <a:p>
            <a:pPr algn="l"/>
            <a:r>
              <a:rPr sz="1000" b="0" i="0">
                <a:solidFill>
                  <a:srgbClr val="8FA3B8"/>
                </a:solidFill>
                <a:latin typeface="Courier New"/>
              </a:rPr>
              <a:t>&gt;&gt;&gt; </a:t>
            </a:r>
            <a:r>
              <a:rPr sz="1000" b="0" i="0">
                <a:solidFill>
                  <a:srgbClr val="E6EDF3"/>
                </a:solidFill>
                <a:latin typeface="Courier New"/>
              </a:rPr>
              <a:t>pages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xml</a:t>
            </a:r>
            <a:r>
              <a:rPr sz="1000" b="0" i="0">
                <a:solidFill>
                  <a:srgbClr val="E6EDF3"/>
                </a:solidFill>
                <a:latin typeface="Courier New"/>
              </a:rPr>
              <a:t>.</a:t>
            </a:r>
            <a:r>
              <a:rPr sz="1000" b="0" i="0">
                <a:solidFill>
                  <a:srgbClr val="E6EDF3"/>
                </a:solidFill>
                <a:latin typeface="Courier New"/>
              </a:rPr>
              <a:t>count</a:t>
            </a:r>
            <a:r>
              <a:rPr sz="1000" b="0" i="0">
                <a:solidFill>
                  <a:srgbClr val="E6EDF3"/>
                </a:solidFill>
                <a:latin typeface="Courier New"/>
              </a:rPr>
              <a:t>(</a:t>
            </a:r>
            <a:r>
              <a:rPr sz="1000" b="0" i="0">
                <a:solidFill>
                  <a:srgbClr val="9BE3A8"/>
                </a:solidFill>
                <a:latin typeface="Courier New"/>
              </a:rPr>
              <a:t>'w:type="page"'</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pages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'page break;'</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xml</a:t>
            </a:r>
            <a:r>
              <a:rPr sz="1000" b="0" i="0">
                <a:solidFill>
                  <a:srgbClr val="E6EDF3"/>
                </a:solidFill>
                <a:latin typeface="Courier New"/>
              </a:rPr>
              <a:t>.</a:t>
            </a:r>
            <a:r>
              <a:rPr sz="1000" b="0" i="0">
                <a:solidFill>
                  <a:srgbClr val="E6EDF3"/>
                </a:solidFill>
                <a:latin typeface="Courier New"/>
              </a:rPr>
              <a:t>count</a:t>
            </a:r>
            <a:r>
              <a:rPr sz="1000" b="0" i="0">
                <a:solidFill>
                  <a:srgbClr val="E6EDF3"/>
                </a:solidFill>
                <a:latin typeface="Courier New"/>
              </a:rPr>
              <a:t>(</a:t>
            </a:r>
            <a:r>
              <a:rPr sz="1000" b="0" i="0">
                <a:solidFill>
                  <a:srgbClr val="9BE3A8"/>
                </a:solidFill>
                <a:latin typeface="Courier New"/>
              </a:rPr>
              <a:t>'&lt;w:br'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'breaks in all'</a:t>
            </a:r>
            <a:r>
              <a:rPr sz="1000" b="0" i="0">
                <a:solidFill>
                  <a:srgbClr val="E6EDF3"/>
                </a:solidFill>
                <a:latin typeface="Courier New"/>
              </a:rPr>
              <a:t>)</a:t>
            </a:r>
          </a:p>
        </p:txBody>
      </p:sp>
      <p:sp>
        <p:nvSpPr>
          <p:cNvPr id="7" name="explanation"/>
          <p:cNvSpPr txBox="1"/>
          <p:nvPr/>
        </p:nvSpPr>
        <p:spPr>
          <a:xfrm>
            <a:off x="5785104" y="1898904"/>
            <a:ext cx="2993135" cy="911859"/>
          </a:xfrm>
          <a:prstGeom prst="rect">
            <a:avLst/>
          </a:prstGeom>
          <a:noFill/>
        </p:spPr>
        <p:txBody>
          <a:bodyPr wrap="square" lIns="128016" rIns="128016" tIns="18288" bIns="18288" anchor="ctr">
            <a:spAutoFit/>
          </a:bodyPr>
          <a:lstStyle/>
          <a:p>
            <a:r>
              <a:rPr sz="1100" b="0" i="0">
                <a:solidFill>
                  <a:srgbClr val="1F2933"/>
                </a:solidFill>
                <a:latin typeface="Calibri"/>
              </a:rPr>
              <a:t>add_page_break() adds a paragraph that holds a page break. Counting tags in the XML shows one page break among two breaks.</a:t>
            </a:r>
          </a:p>
        </p:txBody>
      </p:sp>
      <p:sp>
        <p:nvSpPr>
          <p:cNvPr id="8" name="result label"/>
          <p:cNvSpPr txBox="1"/>
          <p:nvPr/>
        </p:nvSpPr>
        <p:spPr>
          <a:xfrm>
            <a:off x="365760" y="286562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12515"/>
            <a:ext cx="237744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page 1</a:t>
            </a:r>
          </a:p>
          <a:p>
            <a:pPr algn="ctr"/>
            <a:r>
              <a:rPr sz="900" b="0" i="0">
                <a:solidFill>
                  <a:srgbClr val="1F2933"/>
                </a:solidFill>
                <a:latin typeface="Calibri"/>
              </a:rPr>
              <a:t>First line  [line break]</a:t>
            </a:r>
          </a:p>
          <a:p>
            <a:pPr algn="ctr"/>
            <a:r>
              <a:rPr sz="900" b="0" i="0">
                <a:solidFill>
                  <a:srgbClr val="1F2933"/>
                </a:solidFill>
                <a:latin typeface="Calibri"/>
              </a:rPr>
              <a:t>second line, same paragraph</a:t>
            </a:r>
          </a:p>
        </p:txBody>
      </p:sp>
      <p:cxnSp>
        <p:nvCxnSpPr>
          <p:cNvPr id="10" name="Connector 9"/>
          <p:cNvCxnSpPr/>
          <p:nvPr/>
        </p:nvCxnSpPr>
        <p:spPr>
          <a:xfrm>
            <a:off x="2834640" y="3395979"/>
            <a:ext cx="548639" cy="0"/>
          </a:xfrm>
          <a:prstGeom prst="line">
            <a:avLst/>
          </a:prstGeom>
          <a:ln w="31750">
            <a:solidFill>
              <a:srgbClr val="B83A1B"/>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74720" y="3112515"/>
            <a:ext cx="1554480" cy="56692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[page break]</a:t>
            </a:r>
          </a:p>
        </p:txBody>
      </p:sp>
      <p:cxnSp>
        <p:nvCxnSpPr>
          <p:cNvPr id="12" name="arrow"/>
          <p:cNvCxnSpPr/>
          <p:nvPr/>
        </p:nvCxnSpPr>
        <p:spPr>
          <a:xfrm>
            <a:off x="5047488" y="3395979"/>
            <a:ext cx="34747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40680" y="3112515"/>
            <a:ext cx="20116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page 2</a:t>
            </a:r>
          </a:p>
          <a:p>
            <a:pPr algn="ctr"/>
            <a:r>
              <a:rPr sz="900" b="0" i="0">
                <a:solidFill>
                  <a:srgbClr val="1F2933"/>
                </a:solidFill>
                <a:latin typeface="Calibri"/>
              </a:rPr>
              <a:t>Second page</a:t>
            </a:r>
          </a:p>
        </p:txBody>
      </p:sp>
      <p:sp>
        <p:nvSpPr>
          <p:cNvPr id="14" name="Rounded Rectangle 13"/>
          <p:cNvSpPr/>
          <p:nvPr/>
        </p:nvSpPr>
        <p:spPr>
          <a:xfrm>
            <a:off x="365760" y="3798315"/>
            <a:ext cx="8412480" cy="310896"/>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counted in the XML: 1 page break; 2 breaks in all</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line break lives in a run; a page break has its own call.</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58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pictures and sizes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picture in a Word file is like a photo pinned to a card: you choose the width and the height follows.</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108960"/>
                <a:gridCol w="53035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Adding Pictures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Pinning a photograph to a card.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add_picture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pin itself, and the photo it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Inches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ruler in inches.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Cm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ruler in centimetres.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docx.shared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drawer of rulers and pen sizes that the package shares.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docx.enum.text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drawer of named choices, such as LINE or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58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Adding pictures: width and height in inches or centimetres</a:t>
            </a:r>
          </a:p>
        </p:txBody>
      </p:sp>
      <p:sp>
        <p:nvSpPr>
          <p:cNvPr id="4" name="code"/>
          <p:cNvSpPr/>
          <p:nvPr/>
        </p:nvSpPr>
        <p:spPr>
          <a:xfrm>
            <a:off x="365760" y="786384"/>
            <a:ext cx="5399531" cy="973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docx</a:t>
            </a:r>
          </a:p>
          <a:p>
            <a:pPr algn="l"/>
            <a:r>
              <a:rPr sz="900" b="0" i="0">
                <a:solidFill>
                  <a:srgbClr val="8FA3B8"/>
                </a:solidFill>
                <a:latin typeface="Courier New"/>
              </a:rPr>
              <a:t>&gt;&gt;&gt; </a:t>
            </a:r>
            <a:r>
              <a:rPr sz="900" b="0" i="0">
                <a:solidFill>
                  <a:srgbClr val="E6EDF3"/>
                </a:solidFill>
                <a:latin typeface="Courier New"/>
              </a:rPr>
              <a:t>from</a:t>
            </a:r>
            <a:r>
              <a:rPr sz="900" b="0" i="0">
                <a:solidFill>
                  <a:srgbClr val="E6EDF3"/>
                </a:solidFill>
                <a:latin typeface="Courier New"/>
              </a:rPr>
              <a:t> </a:t>
            </a:r>
            <a:r>
              <a:rPr sz="900" b="0" i="0">
                <a:solidFill>
                  <a:srgbClr val="E6EDF3"/>
                </a:solidFill>
                <a:latin typeface="Courier New"/>
              </a:rPr>
              <a:t>PIL</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Image</a:t>
            </a:r>
          </a:p>
          <a:p>
            <a:pPr algn="l"/>
            <a:r>
              <a:rPr sz="900" b="0" i="0">
                <a:solidFill>
                  <a:srgbClr val="8FA3B8"/>
                </a:solidFill>
                <a:latin typeface="Courier New"/>
              </a:rPr>
              <a:t>&gt;&gt;&gt; </a:t>
            </a:r>
            <a:r>
              <a:rPr sz="900" b="0" i="0">
                <a:solidFill>
                  <a:srgbClr val="E6EDF3"/>
                </a:solidFill>
                <a:latin typeface="Courier New"/>
              </a:rPr>
              <a:t>from</a:t>
            </a:r>
            <a:r>
              <a:rPr sz="900" b="0" i="0">
                <a:solidFill>
                  <a:srgbClr val="E6EDF3"/>
                </a:solidFill>
                <a:latin typeface="Courier New"/>
              </a:rPr>
              <a:t> </a:t>
            </a:r>
            <a:r>
              <a:rPr sz="900" b="0" i="0">
                <a:solidFill>
                  <a:srgbClr val="E6EDF3"/>
                </a:solidFill>
                <a:latin typeface="Courier New"/>
              </a:rPr>
              <a:t>docx</a:t>
            </a:r>
            <a:r>
              <a:rPr sz="900" b="0" i="0">
                <a:solidFill>
                  <a:srgbClr val="E6EDF3"/>
                </a:solidFill>
                <a:latin typeface="Courier New"/>
              </a:rPr>
              <a:t>.</a:t>
            </a:r>
            <a:r>
              <a:rPr sz="900" b="0" i="0">
                <a:solidFill>
                  <a:srgbClr val="E6EDF3"/>
                </a:solidFill>
                <a:latin typeface="Courier New"/>
              </a:rPr>
              <a:t>shared</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Cm</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Inches</a:t>
            </a:r>
          </a:p>
          <a:p>
            <a:pPr algn="l"/>
            <a:r>
              <a:rPr sz="900" b="0" i="0">
                <a:solidFill>
                  <a:srgbClr val="8FA3B8"/>
                </a:solidFill>
                <a:latin typeface="Courier New"/>
              </a:rPr>
              <a:t>&gt;&gt;&gt; </a:t>
            </a:r>
            <a:r>
              <a:rPr sz="900" b="0" i="0">
                <a:solidFill>
                  <a:srgbClr val="E6EDF3"/>
                </a:solidFill>
                <a:latin typeface="Courier New"/>
              </a:rPr>
              <a:t>png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BytesIO</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Image</a:t>
            </a:r>
            <a:r>
              <a:rPr sz="900" b="0" i="0">
                <a:solidFill>
                  <a:srgbClr val="E6EDF3"/>
                </a:solidFill>
                <a:latin typeface="Courier New"/>
              </a:rPr>
              <a:t>.</a:t>
            </a:r>
            <a:r>
              <a:rPr sz="900" b="0" i="0">
                <a:solidFill>
                  <a:srgbClr val="E6EDF3"/>
                </a:solidFill>
                <a:latin typeface="Courier New"/>
              </a:rPr>
              <a:t>new</a:t>
            </a:r>
            <a:r>
              <a:rPr sz="900" b="0" i="0">
                <a:solidFill>
                  <a:srgbClr val="E6EDF3"/>
                </a:solidFill>
                <a:latin typeface="Courier New"/>
              </a:rPr>
              <a:t>(</a:t>
            </a:r>
            <a:r>
              <a:rPr sz="900" b="0" i="0">
                <a:solidFill>
                  <a:srgbClr val="9BE3A8"/>
                </a:solidFill>
                <a:latin typeface="Courier New"/>
              </a:rPr>
              <a:t>'RGB'</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60</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80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'red'</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save</a:t>
            </a:r>
            <a:r>
              <a:rPr sz="900" b="0" i="0">
                <a:solidFill>
                  <a:srgbClr val="E6EDF3"/>
                </a:solidFill>
                <a:latin typeface="Courier New"/>
              </a:rPr>
              <a:t>(</a:t>
            </a:r>
            <a:r>
              <a:rPr sz="900" b="0" i="0">
                <a:solidFill>
                  <a:srgbClr val="E6EDF3"/>
                </a:solidFill>
                <a:latin typeface="Courier New"/>
              </a:rPr>
              <a:t>png</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'PNG'</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doc</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docx</a:t>
            </a:r>
            <a:r>
              <a:rPr sz="900" b="0" i="0">
                <a:solidFill>
                  <a:srgbClr val="E6EDF3"/>
                </a:solidFill>
                <a:latin typeface="Courier New"/>
              </a:rPr>
              <a:t>.</a:t>
            </a:r>
            <a:r>
              <a:rPr sz="900" b="0" i="0">
                <a:solidFill>
                  <a:srgbClr val="E6EDF3"/>
                </a:solidFill>
                <a:latin typeface="Courier New"/>
              </a:rPr>
              <a:t>Document</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5747004" y="786384"/>
            <a:ext cx="3031236" cy="973836"/>
          </a:xfrm>
          <a:prstGeom prst="rect">
            <a:avLst/>
          </a:prstGeom>
          <a:noFill/>
        </p:spPr>
        <p:txBody>
          <a:bodyPr wrap="square" lIns="128016" rIns="128016" tIns="18288" bIns="18288" anchor="ctr">
            <a:spAutoFit/>
          </a:bodyPr>
          <a:lstStyle/>
          <a:p>
            <a:r>
              <a:rPr sz="1100" b="0" i="0">
                <a:solidFill>
                  <a:srgbClr val="1F2933"/>
                </a:solidFill>
                <a:latin typeface="Calibri"/>
              </a:rPr>
              <a:t>Pillow makes a stand-in for zophie.png: 60 by 80 pixels, kept in memory.</a:t>
            </a:r>
          </a:p>
        </p:txBody>
      </p:sp>
      <p:sp>
        <p:nvSpPr>
          <p:cNvPr id="6" name="code"/>
          <p:cNvSpPr/>
          <p:nvPr/>
        </p:nvSpPr>
        <p:spPr>
          <a:xfrm>
            <a:off x="365760" y="1805940"/>
            <a:ext cx="53995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sizes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'as is'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 inch wide'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'width'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Inches</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'2 cm high'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'height'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Cm</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747004" y="1805940"/>
            <a:ext cx="3031236" cy="477266"/>
          </a:xfrm>
          <a:prstGeom prst="rect">
            <a:avLst/>
          </a:prstGeom>
          <a:noFill/>
        </p:spPr>
        <p:txBody>
          <a:bodyPr wrap="square" lIns="128016" rIns="128016" tIns="18288" bIns="18288" anchor="ctr">
            <a:spAutoFit/>
          </a:bodyPr>
          <a:lstStyle/>
          <a:p>
            <a:r>
              <a:rPr sz="1100" b="0" i="0">
                <a:solidFill>
                  <a:srgbClr val="1F2933"/>
                </a:solidFill>
                <a:latin typeface="Calibri"/>
              </a:rPr>
              <a:t>Three ways to place it: as it is, one inch wide, or two centimetres high.</a:t>
            </a:r>
          </a:p>
        </p:txBody>
      </p:sp>
      <p:sp>
        <p:nvSpPr>
          <p:cNvPr id="8" name="code"/>
          <p:cNvSpPr/>
          <p:nvPr/>
        </p:nvSpPr>
        <p:spPr>
          <a:xfrm>
            <a:off x="365760" y="2328926"/>
            <a:ext cx="53995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label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kw</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sizes</a:t>
            </a:r>
            <a:r>
              <a:rPr sz="900" b="0" i="0">
                <a:solidFill>
                  <a:srgbClr val="E6EDF3"/>
                </a:solidFill>
                <a:latin typeface="Courier New"/>
              </a:rPr>
              <a:t>.</a:t>
            </a:r>
            <a:r>
              <a:rPr sz="900" b="0" i="0">
                <a:solidFill>
                  <a:srgbClr val="E6EDF3"/>
                </a:solidFill>
                <a:latin typeface="Courier New"/>
              </a:rPr>
              <a:t>items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shape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doc</a:t>
            </a:r>
            <a:r>
              <a:rPr sz="900" b="0" i="0">
                <a:solidFill>
                  <a:srgbClr val="E6EDF3"/>
                </a:solidFill>
                <a:latin typeface="Courier New"/>
              </a:rPr>
              <a:t>.</a:t>
            </a:r>
            <a:r>
              <a:rPr sz="900" b="0" i="0">
                <a:solidFill>
                  <a:srgbClr val="E6EDF3"/>
                </a:solidFill>
                <a:latin typeface="Courier New"/>
              </a:rPr>
              <a:t>add_picture</a:t>
            </a:r>
            <a:r>
              <a:rPr sz="900" b="0" i="0">
                <a:solidFill>
                  <a:srgbClr val="E6EDF3"/>
                </a:solidFill>
                <a:latin typeface="Courier New"/>
              </a:rPr>
              <a:t>(</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BytesIO</a:t>
            </a:r>
            <a:r>
              <a:rPr sz="900" b="0" i="0">
                <a:solidFill>
                  <a:srgbClr val="E6EDF3"/>
                </a:solidFill>
                <a:latin typeface="Courier New"/>
              </a:rPr>
              <a:t>(</a:t>
            </a:r>
            <a:r>
              <a:rPr sz="900" b="0" i="0">
                <a:solidFill>
                  <a:srgbClr val="E6EDF3"/>
                </a:solidFill>
                <a:latin typeface="Courier New"/>
              </a:rPr>
              <a:t>png</a:t>
            </a:r>
            <a:r>
              <a:rPr sz="900" b="0" i="0">
                <a:solidFill>
                  <a:srgbClr val="E6EDF3"/>
                </a:solidFill>
                <a:latin typeface="Courier New"/>
              </a:rPr>
              <a:t>.</a:t>
            </a:r>
            <a:r>
              <a:rPr sz="900" b="0" i="0">
                <a:solidFill>
                  <a:srgbClr val="E6EDF3"/>
                </a:solidFill>
                <a:latin typeface="Courier New"/>
              </a:rPr>
              <a:t>getvalue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kw</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label</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'-&gt;'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int</a:t>
            </a:r>
            <a:r>
              <a:rPr sz="900" b="0" i="0">
                <a:solidFill>
                  <a:srgbClr val="E6EDF3"/>
                </a:solidFill>
                <a:latin typeface="Courier New"/>
              </a:rPr>
              <a:t>(</a:t>
            </a:r>
            <a:r>
              <a:rPr sz="900" b="0" i="0">
                <a:solidFill>
                  <a:srgbClr val="E6EDF3"/>
                </a:solidFill>
                <a:latin typeface="Courier New"/>
              </a:rPr>
              <a:t>shape</a:t>
            </a:r>
            <a:r>
              <a:rPr sz="900" b="0" i="0">
                <a:solidFill>
                  <a:srgbClr val="E6EDF3"/>
                </a:solidFill>
                <a:latin typeface="Courier New"/>
              </a:rPr>
              <a:t>.</a:t>
            </a:r>
            <a:r>
              <a:rPr sz="900" b="0" i="0">
                <a:solidFill>
                  <a:srgbClr val="E6EDF3"/>
                </a:solidFill>
                <a:latin typeface="Courier New"/>
              </a:rPr>
              <a:t>width</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'x'</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int</a:t>
            </a:r>
            <a:r>
              <a:rPr sz="900" b="0" i="0">
                <a:solidFill>
                  <a:srgbClr val="E6EDF3"/>
                </a:solidFill>
                <a:latin typeface="Courier New"/>
              </a:rPr>
              <a:t>(</a:t>
            </a:r>
            <a:r>
              <a:rPr sz="900" b="0" i="0">
                <a:solidFill>
                  <a:srgbClr val="E6EDF3"/>
                </a:solidFill>
                <a:latin typeface="Courier New"/>
              </a:rPr>
              <a:t>shape</a:t>
            </a:r>
            <a:r>
              <a:rPr sz="900" b="0" i="0">
                <a:solidFill>
                  <a:srgbClr val="E6EDF3"/>
                </a:solidFill>
                <a:latin typeface="Courier New"/>
              </a:rPr>
              <a:t>.</a:t>
            </a:r>
            <a:r>
              <a:rPr sz="900" b="0" i="0">
                <a:solidFill>
                  <a:srgbClr val="E6EDF3"/>
                </a:solidFill>
                <a:latin typeface="Courier New"/>
              </a:rPr>
              <a:t>height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'EMU'</a:t>
            </a:r>
            <a:r>
              <a:rPr sz="900" b="0" i="0">
                <a:solidFill>
                  <a:srgbClr val="E6EDF3"/>
                </a:solidFill>
                <a:latin typeface="Courier New"/>
              </a:rPr>
              <a:t>)</a:t>
            </a:r>
          </a:p>
        </p:txBody>
      </p:sp>
      <p:sp>
        <p:nvSpPr>
          <p:cNvPr id="9" name="explanation"/>
          <p:cNvSpPr txBox="1"/>
          <p:nvPr/>
        </p:nvSpPr>
        <p:spPr>
          <a:xfrm>
            <a:off x="5747004" y="2328926"/>
            <a:ext cx="3031236" cy="651891"/>
          </a:xfrm>
          <a:prstGeom prst="rect">
            <a:avLst/>
          </a:prstGeom>
          <a:noFill/>
        </p:spPr>
        <p:txBody>
          <a:bodyPr wrap="square" lIns="128016" rIns="128016" tIns="18288" bIns="18288" anchor="ctr">
            <a:spAutoFit/>
          </a:bodyPr>
          <a:lstStyle/>
          <a:p>
            <a:r>
              <a:rPr sz="1100" b="0" i="0">
                <a:solidFill>
                  <a:srgbClr val="1F2933"/>
                </a:solidFill>
                <a:latin typeface="Calibri"/>
              </a:rPr>
              <a:t>Give a width or a height and the other follows. Sizes are stored in EMU: 914400 to the inch.</a:t>
            </a:r>
          </a:p>
        </p:txBody>
      </p:sp>
      <p:sp>
        <p:nvSpPr>
          <p:cNvPr id="10" name="result label"/>
          <p:cNvSpPr txBox="1"/>
          <p:nvPr/>
        </p:nvSpPr>
        <p:spPr>
          <a:xfrm>
            <a:off x="365760" y="303568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82569"/>
          <a:ext cx="4206238" cy="1097280"/>
        </p:xfrm>
        <a:graphic>
          <a:graphicData uri="http://schemas.openxmlformats.org/drawingml/2006/table">
            <a:tbl>
              <a:tblPr firstRow="0" bandRow="0"/>
              <a:tblGrid>
                <a:gridCol w="1093622"/>
                <a:gridCol w="1009497"/>
                <a:gridCol w="1093622"/>
                <a:gridCol w="1009497"/>
              </a:tblGrid>
              <a:tr h="274320">
                <a:tc>
                  <a:txBody>
                    <a:bodyPr wrap="square"/>
                    <a:lstStyle/>
                    <a:p>
                      <a:r>
                        <a:rPr sz="9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width (EMU)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height (EMU)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width in inches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1" i="0">
                          <a:solidFill>
                            <a:srgbClr val="1F2933"/>
                          </a:solidFill>
                          <a:latin typeface="Calibri"/>
                        </a:rPr>
                        <a:t>as 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762000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1016000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0.83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1" i="0">
                          <a:solidFill>
                            <a:srgbClr val="1F2933"/>
                          </a:solidFill>
                          <a:latin typeface="Calibri"/>
                        </a:rPr>
                        <a:t>1 inch wide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914400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1219200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1" i="0">
                          <a:solidFill>
                            <a:srgbClr val="1F2933"/>
                          </a:solidFill>
                          <a:latin typeface="Calibri"/>
                        </a:rPr>
                        <a:t>2 cm high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540000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720000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0.59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4824374" y="3255137"/>
          <a:ext cx="3953865" cy="1380871"/>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Give a width or a height; the other follows.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58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pip install docx has not worked since 2014</a:t>
            </a:r>
          </a:p>
        </p:txBody>
      </p:sp>
      <p:pic>
        <p:nvPicPr>
          <p:cNvPr id="4" name="photo docxtrap" descr="Picture for the story: pip install docx has not worked since 2014"/>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The Python Package Index home page, 6 December 2007 (screenshot). Photo: Vurter, CC BY-SA 2.0, Flickr.</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Steve Canny, author of python-docx, and the old package docx.</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name docx on PyPI is another package: its last release is 0.2.4, not the library of this chapter.</a:t>
            </a:r>
          </a:p>
        </p:txBody>
      </p:sp>
      <p:sp>
        <p:nvSpPr>
          <p:cNvPr id="10" name="card"/>
          <p:cNvSpPr/>
          <p:nvPr/>
        </p:nvSpPr>
        <p:spPr>
          <a:xfrm>
            <a:off x="3200400" y="18745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Release 0.2.4 is dated 6 February 2014; python-docx 1.2.0 came out on 16 June 2025.</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The Python Package Index, PyPI: the projects docx and python-docx.</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Both are imported as docx, but only python-docx is maintained. The chapter says: install python-docx.</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In the research, importing docx 0.2.4 under Python 3.14.6 failed, because it needs a module of Python 2.</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docx 0.2.4 (PyPI)</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58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5: Practice programs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Three small programs, each on stand-in files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PDF Paranoia</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Locks every PDF of a folder tree.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Custom Invitations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One styled card per guest, one per page.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Password Breaker</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Tries a word list against a locked file.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Brute force</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Cost grows with the list; length defeats it.</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49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the 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Practice program 1, part 1: walk a 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51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1, part 2: lock a copy,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52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Practice program 2: Custom Invitations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53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3: PDF Password Breaker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58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practice programs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brute-force attack is like trying every key on a ring until one fits.</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108960"/>
                <a:gridCol w="53035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Small recital pieces after the finger exercises.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PDF Paranoia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Locking every report in a vault, checking that the lock works, then shredding the paper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Custom Invitations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card printer: one personal card for each guest.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PDF Password Breaker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locksmith with a list of likely keys, who tries each one in turn.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Brute-force attack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Trying every key on the ring; a long random key makes the ring far too big.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pdfminer.high_level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second pair of eyes: another library that also reads the text of PDFs.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49 / 58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Practice program 1, part 1: walk a folder tree for PDFs</a:t>
            </a:r>
          </a:p>
        </p:txBody>
      </p:sp>
      <p:sp>
        <p:nvSpPr>
          <p:cNvPr id="4" name="code"/>
          <p:cNvSpPr/>
          <p:nvPr/>
        </p:nvSpPr>
        <p:spPr>
          <a:xfrm>
            <a:off x="365760" y="786384"/>
            <a:ext cx="5536691" cy="98932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makedirs</a:t>
            </a:r>
            <a:r>
              <a:rPr sz="1100" b="0" i="0">
                <a:solidFill>
                  <a:srgbClr val="E6EDF3"/>
                </a:solidFill>
                <a:latin typeface="Courier New"/>
              </a:rPr>
              <a:t>(</a:t>
            </a:r>
            <a:r>
              <a:rPr sz="1100" b="0" i="0">
                <a:solidFill>
                  <a:srgbClr val="9BE3A8"/>
                </a:solidFill>
                <a:latin typeface="Courier New"/>
              </a:rPr>
              <a:t>'tree/sub'</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'tree/a.pdf'</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'tree/sub/B.PDF'</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'tree/c.txt'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open</a:t>
            </a:r>
            <a:r>
              <a:rPr sz="1100" b="0" i="0">
                <a:solidFill>
                  <a:srgbClr val="E6EDF3"/>
                </a:solidFill>
                <a:latin typeface="Courier New"/>
              </a:rPr>
              <a:t>(</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close</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884164" y="786384"/>
            <a:ext cx="2894076" cy="989329"/>
          </a:xfrm>
          <a:prstGeom prst="rect">
            <a:avLst/>
          </a:prstGeom>
          <a:noFill/>
        </p:spPr>
        <p:txBody>
          <a:bodyPr wrap="square" lIns="128016" rIns="128016" tIns="18288" bIns="18288" anchor="ctr">
            <a:spAutoFit/>
          </a:bodyPr>
          <a:lstStyle/>
          <a:p>
            <a:r>
              <a:rPr sz="1200" b="0" i="0">
                <a:solidFill>
                  <a:srgbClr val="1F2933"/>
                </a:solidFill>
                <a:latin typeface="Calibri"/>
              </a:rPr>
              <a:t>A folder tree of two PDF names and a text file stands in for the reader's files. One extension is in capitals.</a:t>
            </a:r>
          </a:p>
        </p:txBody>
      </p:sp>
      <p:sp>
        <p:nvSpPr>
          <p:cNvPr id="6" name="code"/>
          <p:cNvSpPr/>
          <p:nvPr/>
        </p:nvSpPr>
        <p:spPr>
          <a:xfrm>
            <a:off x="365760" y="1821434"/>
            <a:ext cx="5536691" cy="115976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found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folder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dirs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walk</a:t>
            </a:r>
            <a:r>
              <a:rPr sz="1100" b="0" i="0">
                <a:solidFill>
                  <a:srgbClr val="E6EDF3"/>
                </a:solidFill>
                <a:latin typeface="Courier New"/>
              </a:rPr>
              <a:t>(</a:t>
            </a:r>
            <a:r>
              <a:rPr sz="1100" b="0" i="0">
                <a:solidFill>
                  <a:srgbClr val="9BE3A8"/>
                </a:solidFill>
                <a:latin typeface="Courier New"/>
              </a:rPr>
              <a:t>'tree'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lower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endswith</a:t>
            </a:r>
            <a:r>
              <a:rPr sz="1100" b="0" i="0">
                <a:solidFill>
                  <a:srgbClr val="E6EDF3"/>
                </a:solidFill>
                <a:latin typeface="Courier New"/>
              </a:rPr>
              <a:t>(</a:t>
            </a:r>
            <a:r>
              <a:rPr sz="1100" b="0" i="0">
                <a:solidFill>
                  <a:srgbClr val="9BE3A8"/>
                </a:solidFill>
                <a:latin typeface="Courier New"/>
              </a:rPr>
              <a:t>'.pdf'</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found</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join</a:t>
            </a:r>
            <a:r>
              <a:rPr sz="1100" b="0" i="0">
                <a:solidFill>
                  <a:srgbClr val="E6EDF3"/>
                </a:solidFill>
                <a:latin typeface="Courier New"/>
              </a:rPr>
              <a:t>(</a:t>
            </a:r>
            <a:r>
              <a:rPr sz="1100" b="0" i="0">
                <a:solidFill>
                  <a:srgbClr val="E6EDF3"/>
                </a:solidFill>
                <a:latin typeface="Courier New"/>
              </a:rPr>
              <a:t>folder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found</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884164" y="1821434"/>
            <a:ext cx="2894076" cy="1159763"/>
          </a:xfrm>
          <a:prstGeom prst="rect">
            <a:avLst/>
          </a:prstGeom>
          <a:noFill/>
        </p:spPr>
        <p:txBody>
          <a:bodyPr wrap="square" lIns="128016" rIns="128016" tIns="18288" bIns="18288" anchor="ctr">
            <a:spAutoFit/>
          </a:bodyPr>
          <a:lstStyle/>
          <a:p>
            <a:r>
              <a:rPr sz="1200" b="0" i="0">
                <a:solidFill>
                  <a:srgbClr val="1F2933"/>
                </a:solidFill>
                <a:latin typeface="Calibri"/>
              </a:rPr>
              <a:t>os.walk visits every folder of the tree. Each name ending in .pdf, in any case, becomes a full path.</a:t>
            </a:r>
          </a:p>
        </p:txBody>
      </p:sp>
      <p:sp>
        <p:nvSpPr>
          <p:cNvPr id="8" name="result label"/>
          <p:cNvSpPr txBox="1"/>
          <p:nvPr/>
        </p:nvSpPr>
        <p:spPr>
          <a:xfrm>
            <a:off x="365760" y="303606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282949"/>
            <a:ext cx="1828800" cy="2743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tree/a.pdf</a:t>
            </a:r>
          </a:p>
        </p:txBody>
      </p:sp>
      <p:sp>
        <p:nvSpPr>
          <p:cNvPr id="10" name="Rounded Rectangle 9"/>
          <p:cNvSpPr/>
          <p:nvPr/>
        </p:nvSpPr>
        <p:spPr>
          <a:xfrm>
            <a:off x="365760" y="3593845"/>
            <a:ext cx="1828800" cy="2743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tree/sub/B.PDF</a:t>
            </a:r>
          </a:p>
        </p:txBody>
      </p:sp>
      <p:sp>
        <p:nvSpPr>
          <p:cNvPr id="11" name="Rounded Rectangle 10"/>
          <p:cNvSpPr/>
          <p:nvPr/>
        </p:nvSpPr>
        <p:spPr>
          <a:xfrm>
            <a:off x="365760" y="3904741"/>
            <a:ext cx="1828800" cy="27432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tree/c.txt</a:t>
            </a:r>
          </a:p>
        </p:txBody>
      </p:sp>
      <p:cxnSp>
        <p:nvCxnSpPr>
          <p:cNvPr id="12" name="arrow"/>
          <p:cNvCxnSpPr/>
          <p:nvPr/>
        </p:nvCxnSpPr>
        <p:spPr>
          <a:xfrm>
            <a:off x="2286000" y="3740149"/>
            <a:ext cx="5486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26079" y="3465829"/>
            <a:ext cx="2377440" cy="54864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os.walk visits every folder;</a:t>
            </a:r>
          </a:p>
          <a:p>
            <a:pPr algn="ctr"/>
            <a:r>
              <a:rPr sz="950" b="0" i="0">
                <a:solidFill>
                  <a:srgbClr val="1F2933"/>
                </a:solidFill>
                <a:latin typeface="Calibri"/>
              </a:rPr>
              <a:t>lower().endswith('.pdf')</a:t>
            </a:r>
          </a:p>
        </p:txBody>
      </p:sp>
      <p:cxnSp>
        <p:nvCxnSpPr>
          <p:cNvPr id="14" name="arrow"/>
          <p:cNvCxnSpPr/>
          <p:nvPr/>
        </p:nvCxnSpPr>
        <p:spPr>
          <a:xfrm>
            <a:off x="5394960" y="3740149"/>
            <a:ext cx="45720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943600" y="3465829"/>
            <a:ext cx="2834640" cy="54864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 PDF paths found:</a:t>
            </a:r>
          </a:p>
          <a:p>
            <a:pPr algn="ctr"/>
            <a:r>
              <a:rPr sz="900" b="0" i="0">
                <a:solidFill>
                  <a:srgbClr val="1F2933"/>
                </a:solidFill>
                <a:latin typeface="Courier New"/>
              </a:rPr>
              <a:t>tree/a.pdf, tree/sub/B.PDF</a:t>
            </a:r>
          </a:p>
        </p:txBody>
      </p:sp>
      <p:sp>
        <p:nvSpPr>
          <p:cNvPr id="16" name="visual note"/>
          <p:cNvSpPr txBox="1"/>
          <p:nvPr/>
        </p:nvSpPr>
        <p:spPr>
          <a:xfrm>
            <a:off x="365760" y="4243070"/>
            <a:ext cx="8412480" cy="182880"/>
          </a:xfrm>
          <a:prstGeom prst="rect">
            <a:avLst/>
          </a:prstGeom>
          <a:noFill/>
        </p:spPr>
        <p:txBody>
          <a:bodyPr wrap="square" lIns="45720" rIns="45720" tIns="27432" bIns="27432" anchor="t">
            <a:spAutoFit/>
          </a:bodyPr>
          <a:lstStyle/>
          <a:p>
            <a:r>
              <a:rPr sz="950" b="0" i="1">
                <a:solidFill>
                  <a:srgbClr val="5B6773"/>
                </a:solidFill>
                <a:latin typeface="Calibri"/>
              </a:rPr>
              <a:t>green: found; grey: left out (a text file)</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os.walk visits every folder; test each extension.</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50 / 58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Practice program 1, part 2: lock a copy, check it, remove the original</a:t>
            </a:r>
          </a:p>
        </p:txBody>
      </p:sp>
      <p:sp>
        <p:nvSpPr>
          <p:cNvPr id="4" name="code"/>
          <p:cNvSpPr/>
          <p:nvPr/>
        </p:nvSpPr>
        <p:spPr>
          <a:xfrm>
            <a:off x="365760" y="786384"/>
            <a:ext cx="561289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tempfile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pypdf</a:t>
            </a:r>
          </a:p>
          <a:p>
            <a:pPr algn="l"/>
            <a:r>
              <a:rPr sz="950" b="0" i="0">
                <a:solidFill>
                  <a:srgbClr val="8FA3B8"/>
                </a:solidFill>
                <a:latin typeface="Courier New"/>
              </a:rPr>
              <a:t>&gt;&gt;&gt;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chdir</a:t>
            </a:r>
            <a:r>
              <a:rPr sz="950" b="0" i="0">
                <a:solidFill>
                  <a:srgbClr val="E6EDF3"/>
                </a:solidFill>
                <a:latin typeface="Courier New"/>
              </a:rPr>
              <a:t>(</a:t>
            </a:r>
            <a:r>
              <a:rPr sz="950" b="0" i="0">
                <a:solidFill>
                  <a:srgbClr val="E6EDF3"/>
                </a:solidFill>
                <a:latin typeface="Courier New"/>
              </a:rPr>
              <a:t>tempfile</a:t>
            </a:r>
            <a:r>
              <a:rPr sz="950" b="0" i="0">
                <a:solidFill>
                  <a:srgbClr val="E6EDF3"/>
                </a:solidFill>
                <a:latin typeface="Courier New"/>
              </a:rPr>
              <a:t>.</a:t>
            </a:r>
            <a:r>
              <a:rPr sz="950" b="0" i="0">
                <a:solidFill>
                  <a:srgbClr val="E6EDF3"/>
                </a:solidFill>
                <a:latin typeface="Courier New"/>
              </a:rPr>
              <a:t>mkdtemp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pypdf</a:t>
            </a:r>
            <a:r>
              <a:rPr sz="950" b="0" i="0">
                <a:solidFill>
                  <a:srgbClr val="E6EDF3"/>
                </a:solidFill>
                <a:latin typeface="Courier New"/>
              </a:rPr>
              <a:t>.</a:t>
            </a:r>
            <a:r>
              <a:rPr sz="950" b="0" i="0">
                <a:solidFill>
                  <a:srgbClr val="E6EDF3"/>
                </a:solidFill>
                <a:latin typeface="Courier New"/>
              </a:rPr>
              <a:t>PdfWriter</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add_blank_page</a:t>
            </a:r>
            <a:r>
              <a:rPr sz="950" b="0" i="0">
                <a:solidFill>
                  <a:srgbClr val="E6EDF3"/>
                </a:solidFill>
                <a:latin typeface="Courier New"/>
              </a:rPr>
              <a:t>(</a:t>
            </a:r>
            <a:r>
              <a:rPr sz="950" b="0" i="0">
                <a:solidFill>
                  <a:srgbClr val="7CC4FF"/>
                </a:solidFill>
                <a:latin typeface="Courier New"/>
              </a:rPr>
              <a:t>100</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100</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write</a:t>
            </a:r>
            <a:r>
              <a:rPr sz="950" b="0" i="0">
                <a:solidFill>
                  <a:srgbClr val="E6EDF3"/>
                </a:solidFill>
                <a:latin typeface="Courier New"/>
              </a:rPr>
              <a:t>(</a:t>
            </a:r>
            <a:r>
              <a:rPr sz="950" b="0" i="0">
                <a:solidFill>
                  <a:srgbClr val="9BE3A8"/>
                </a:solidFill>
                <a:latin typeface="Courier New"/>
              </a:rPr>
              <a:t>'a.pdf'</a:t>
            </a:r>
            <a:r>
              <a:rPr sz="950" b="0" i="0">
                <a:solidFill>
                  <a:srgbClr val="E6EDF3"/>
                </a:solidFill>
                <a:latin typeface="Courier New"/>
              </a:rPr>
              <a:t>)</a:t>
            </a:r>
          </a:p>
        </p:txBody>
      </p:sp>
      <p:sp>
        <p:nvSpPr>
          <p:cNvPr id="5" name="explanation"/>
          <p:cNvSpPr txBox="1"/>
          <p:nvPr/>
        </p:nvSpPr>
        <p:spPr>
          <a:xfrm>
            <a:off x="5960364" y="786384"/>
            <a:ext cx="2817875" cy="873125"/>
          </a:xfrm>
          <a:prstGeom prst="rect">
            <a:avLst/>
          </a:prstGeom>
          <a:noFill/>
        </p:spPr>
        <p:txBody>
          <a:bodyPr wrap="square" lIns="128016" rIns="128016" tIns="18288" bIns="18288" anchor="ctr">
            <a:spAutoFit/>
          </a:bodyPr>
          <a:lstStyle/>
          <a:p>
            <a:r>
              <a:rPr sz="1100" b="0" i="0">
                <a:solidFill>
                  <a:srgbClr val="1F2933"/>
                </a:solidFill>
                <a:latin typeface="Calibri"/>
              </a:rPr>
              <a:t>One small PDF stands in for a file the program found.</a:t>
            </a:r>
          </a:p>
        </p:txBody>
      </p:sp>
      <p:sp>
        <p:nvSpPr>
          <p:cNvPr id="6" name="code"/>
          <p:cNvSpPr/>
          <p:nvPr/>
        </p:nvSpPr>
        <p:spPr>
          <a:xfrm>
            <a:off x="365760" y="1705228"/>
            <a:ext cx="5612892" cy="116751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pypdf</a:t>
            </a:r>
            <a:r>
              <a:rPr sz="950" b="0" i="0">
                <a:solidFill>
                  <a:srgbClr val="E6EDF3"/>
                </a:solidFill>
                <a:latin typeface="Courier New"/>
              </a:rPr>
              <a:t>.</a:t>
            </a:r>
            <a:r>
              <a:rPr sz="950" b="0" i="0">
                <a:solidFill>
                  <a:srgbClr val="E6EDF3"/>
                </a:solidFill>
                <a:latin typeface="Courier New"/>
              </a:rPr>
              <a:t>PdfWriter</a:t>
            </a:r>
            <a:r>
              <a:rPr sz="950" b="0" i="0">
                <a:solidFill>
                  <a:srgbClr val="E6EDF3"/>
                </a:solidFill>
                <a:latin typeface="Courier New"/>
              </a:rPr>
              <a:t>(</a:t>
            </a:r>
            <a:r>
              <a:rPr sz="950" b="0" i="0">
                <a:solidFill>
                  <a:srgbClr val="E6EDF3"/>
                </a:solidFill>
                <a:latin typeface="Courier New"/>
              </a:rPr>
              <a:t>clone_from</a:t>
            </a:r>
            <a:r>
              <a:rPr sz="950" b="0" i="0">
                <a:solidFill>
                  <a:srgbClr val="E6EDF3"/>
                </a:solidFill>
                <a:latin typeface="Courier New"/>
              </a:rPr>
              <a:t>=</a:t>
            </a:r>
            <a:r>
              <a:rPr sz="950" b="0" i="0">
                <a:solidFill>
                  <a:srgbClr val="9BE3A8"/>
                </a:solidFill>
                <a:latin typeface="Courier New"/>
              </a:rPr>
              <a:t>'a.pdf'</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encrypt</a:t>
            </a:r>
            <a:r>
              <a:rPr sz="950" b="0" i="0">
                <a:solidFill>
                  <a:srgbClr val="E6EDF3"/>
                </a:solidFill>
                <a:latin typeface="Courier New"/>
              </a:rPr>
              <a:t>(</a:t>
            </a:r>
            <a:r>
              <a:rPr sz="950" b="0" i="0">
                <a:solidFill>
                  <a:srgbClr val="9BE3A8"/>
                </a:solidFill>
                <a:latin typeface="Courier New"/>
              </a:rPr>
              <a:t>'swordfish'</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algorithm</a:t>
            </a:r>
            <a:r>
              <a:rPr sz="950" b="0" i="0">
                <a:solidFill>
                  <a:srgbClr val="E6EDF3"/>
                </a:solidFill>
                <a:latin typeface="Courier New"/>
              </a:rPr>
              <a:t>=</a:t>
            </a:r>
            <a:r>
              <a:rPr sz="950" b="0" i="0">
                <a:solidFill>
                  <a:srgbClr val="9BE3A8"/>
                </a:solidFill>
                <a:latin typeface="Courier New"/>
              </a:rPr>
              <a:t>'AES-256'</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write</a:t>
            </a:r>
            <a:r>
              <a:rPr sz="950" b="0" i="0">
                <a:solidFill>
                  <a:srgbClr val="E6EDF3"/>
                </a:solidFill>
                <a:latin typeface="Courier New"/>
              </a:rPr>
              <a:t>(</a:t>
            </a:r>
            <a:r>
              <a:rPr sz="950" b="0" i="0">
                <a:solidFill>
                  <a:srgbClr val="9BE3A8"/>
                </a:solidFill>
                <a:latin typeface="Courier New"/>
              </a:rPr>
              <a:t>'a_encrypted.pdf'</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pypdf</a:t>
            </a:r>
            <a:r>
              <a:rPr sz="950" b="0" i="0">
                <a:solidFill>
                  <a:srgbClr val="E6EDF3"/>
                </a:solidFill>
                <a:latin typeface="Courier New"/>
              </a:rPr>
              <a:t>.</a:t>
            </a:r>
            <a:r>
              <a:rPr sz="950" b="0" i="0">
                <a:solidFill>
                  <a:srgbClr val="E6EDF3"/>
                </a:solidFill>
                <a:latin typeface="Courier New"/>
              </a:rPr>
              <a:t>PdfReader</a:t>
            </a:r>
            <a:r>
              <a:rPr sz="950" b="0" i="0">
                <a:solidFill>
                  <a:srgbClr val="E6EDF3"/>
                </a:solidFill>
                <a:latin typeface="Courier New"/>
              </a:rPr>
              <a:t>(</a:t>
            </a:r>
            <a:r>
              <a:rPr sz="950" b="0" i="0">
                <a:solidFill>
                  <a:srgbClr val="9BE3A8"/>
                </a:solidFill>
                <a:latin typeface="Courier New"/>
              </a:rPr>
              <a:t>'a_encrypted.pdf'</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ok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a:t>
            </a:r>
            <a:r>
              <a:rPr sz="950" b="0" i="0">
                <a:solidFill>
                  <a:srgbClr val="E6EDF3"/>
                </a:solidFill>
                <a:latin typeface="Courier New"/>
              </a:rPr>
              <a:t>.</a:t>
            </a:r>
            <a:r>
              <a:rPr sz="950" b="0" i="0">
                <a:solidFill>
                  <a:srgbClr val="E6EDF3"/>
                </a:solidFill>
                <a:latin typeface="Courier New"/>
              </a:rPr>
              <a:t>is_encrypted</a:t>
            </a:r>
            <a:r>
              <a:rPr sz="950" b="0" i="0">
                <a:solidFill>
                  <a:srgbClr val="E6EDF3"/>
                </a:solidFill>
                <a:latin typeface="Courier New"/>
              </a:rPr>
              <a:t> </a:t>
            </a:r>
            <a:r>
              <a:rPr sz="950" b="0" i="0">
                <a:solidFill>
                  <a:srgbClr val="C9A0FF"/>
                </a:solidFill>
                <a:latin typeface="Courier New"/>
              </a:rPr>
              <a:t>and</a:t>
            </a:r>
            <a:r>
              <a:rPr sz="950" b="0" i="0">
                <a:solidFill>
                  <a:srgbClr val="E6EDF3"/>
                </a:solidFill>
                <a:latin typeface="Courier New"/>
              </a:rPr>
              <a:t> </a:t>
            </a:r>
            <a:r>
              <a:rPr sz="950" b="0" i="0">
                <a:solidFill>
                  <a:srgbClr val="E6EDF3"/>
                </a:solidFill>
                <a:latin typeface="Courier New"/>
              </a:rPr>
              <a:t>r</a:t>
            </a:r>
            <a:r>
              <a:rPr sz="950" b="0" i="0">
                <a:solidFill>
                  <a:srgbClr val="E6EDF3"/>
                </a:solidFill>
                <a:latin typeface="Courier New"/>
              </a:rPr>
              <a:t>.</a:t>
            </a:r>
            <a:r>
              <a:rPr sz="950" b="0" i="0">
                <a:solidFill>
                  <a:srgbClr val="E6EDF3"/>
                </a:solidFill>
                <a:latin typeface="Courier New"/>
              </a:rPr>
              <a:t>decrypt</a:t>
            </a:r>
            <a:r>
              <a:rPr sz="950" b="0" i="0">
                <a:solidFill>
                  <a:srgbClr val="E6EDF3"/>
                </a:solidFill>
                <a:latin typeface="Courier New"/>
              </a:rPr>
              <a:t>(</a:t>
            </a:r>
            <a:r>
              <a:rPr sz="950" b="0" i="0">
                <a:solidFill>
                  <a:srgbClr val="9BE3A8"/>
                </a:solidFill>
                <a:latin typeface="Courier New"/>
              </a:rPr>
              <a:t>'swordfish'</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name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'NOT_DECRYPTED'</a:t>
            </a:r>
          </a:p>
          <a:p>
            <a:pPr algn="l"/>
            <a:r>
              <a:rPr sz="950" b="0" i="0">
                <a:solidFill>
                  <a:srgbClr val="8FA3B8"/>
                </a:solidFill>
                <a:latin typeface="Courier New"/>
              </a:rPr>
              <a:t>&gt;&gt;&gt; </a:t>
            </a:r>
            <a:r>
              <a:rPr sz="950" b="0" i="0">
                <a:solidFill>
                  <a:srgbClr val="C9A0FF"/>
                </a:solidFill>
                <a:latin typeface="Courier New"/>
              </a:rPr>
              <a:t>if</a:t>
            </a:r>
            <a:r>
              <a:rPr sz="950" b="0" i="0">
                <a:solidFill>
                  <a:srgbClr val="E6EDF3"/>
                </a:solidFill>
                <a:latin typeface="Courier New"/>
              </a:rPr>
              <a:t> </a:t>
            </a:r>
            <a:r>
              <a:rPr sz="950" b="0" i="0">
                <a:solidFill>
                  <a:srgbClr val="E6EDF3"/>
                </a:solidFill>
                <a:latin typeface="Courier New"/>
              </a:rPr>
              <a:t>ok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remove</a:t>
            </a:r>
            <a:r>
              <a:rPr sz="950" b="0" i="0">
                <a:solidFill>
                  <a:srgbClr val="E6EDF3"/>
                </a:solidFill>
                <a:latin typeface="Courier New"/>
              </a:rPr>
              <a:t>(</a:t>
            </a:r>
            <a:r>
              <a:rPr sz="950" b="0" i="0">
                <a:solidFill>
                  <a:srgbClr val="9BE3A8"/>
                </a:solidFill>
                <a:latin typeface="Courier New"/>
              </a:rPr>
              <a:t>'a.pdf'</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ok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listdir</a:t>
            </a:r>
            <a:r>
              <a:rPr sz="950" b="0" i="0">
                <a:solidFill>
                  <a:srgbClr val="E6EDF3"/>
                </a:solidFill>
                <a:latin typeface="Courier New"/>
              </a:rPr>
              <a:t>(</a:t>
            </a:r>
            <a:r>
              <a:rPr sz="950" b="0" i="0">
                <a:solidFill>
                  <a:srgbClr val="9BE3A8"/>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960364" y="1705228"/>
            <a:ext cx="2817875" cy="1167510"/>
          </a:xfrm>
          <a:prstGeom prst="rect">
            <a:avLst/>
          </a:prstGeom>
          <a:noFill/>
        </p:spPr>
        <p:txBody>
          <a:bodyPr wrap="square" lIns="128016" rIns="128016" tIns="18288" bIns="18288" anchor="ctr">
            <a:spAutoFit/>
          </a:bodyPr>
          <a:lstStyle/>
          <a:p>
            <a:r>
              <a:rPr sz="1100" b="0" i="0">
                <a:solidFill>
                  <a:srgbClr val="1F2933"/>
                </a:solidFill>
                <a:latin typeface="Calibri"/>
              </a:rPr>
              <a:t>Copy, lock, save under a new name, test the copy with the password, and only then remove the original.</a:t>
            </a:r>
          </a:p>
        </p:txBody>
      </p:sp>
      <p:sp>
        <p:nvSpPr>
          <p:cNvPr id="8" name="result label"/>
          <p:cNvSpPr txBox="1"/>
          <p:nvPr/>
        </p:nvSpPr>
        <p:spPr>
          <a:xfrm>
            <a:off x="365760" y="2927603"/>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220211"/>
            <a:ext cx="1828799" cy="7315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a.pdf</a:t>
            </a:r>
          </a:p>
          <a:p>
            <a:pPr algn="ctr"/>
            <a:r>
              <a:rPr sz="950" b="0" i="0">
                <a:solidFill>
                  <a:srgbClr val="1F2933"/>
                </a:solidFill>
                <a:latin typeface="Calibri"/>
              </a:rPr>
              <a:t>(the original)</a:t>
            </a:r>
          </a:p>
        </p:txBody>
      </p:sp>
      <p:cxnSp>
        <p:nvCxnSpPr>
          <p:cNvPr id="10" name="arrow"/>
          <p:cNvCxnSpPr/>
          <p:nvPr/>
        </p:nvCxnSpPr>
        <p:spPr>
          <a:xfrm>
            <a:off x="2212848" y="3585971"/>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60320" y="3220211"/>
            <a:ext cx="1828799" cy="7315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clone, then encrypt</a:t>
            </a:r>
          </a:p>
          <a:p>
            <a:pPr algn="ctr"/>
            <a:r>
              <a:rPr sz="950" b="0" i="0">
                <a:solidFill>
                  <a:srgbClr val="1F2933"/>
                </a:solidFill>
                <a:latin typeface="Calibri"/>
              </a:rPr>
              <a:t>AES-256, save as</a:t>
            </a:r>
          </a:p>
          <a:p>
            <a:pPr algn="ctr"/>
            <a:r>
              <a:rPr sz="950" b="0" i="0">
                <a:solidFill>
                  <a:srgbClr val="1F2933"/>
                </a:solidFill>
                <a:latin typeface="Calibri"/>
              </a:rPr>
              <a:t>a_encrypted.pdf</a:t>
            </a:r>
          </a:p>
        </p:txBody>
      </p:sp>
      <p:cxnSp>
        <p:nvCxnSpPr>
          <p:cNvPr id="12" name="arrow"/>
          <p:cNvCxnSpPr/>
          <p:nvPr/>
        </p:nvCxnSpPr>
        <p:spPr>
          <a:xfrm>
            <a:off x="4407407" y="3585971"/>
            <a:ext cx="32918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54880" y="3220211"/>
            <a:ext cx="1828799"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test the copy:</a:t>
            </a:r>
          </a:p>
          <a:p>
            <a:pPr algn="ctr"/>
            <a:r>
              <a:rPr sz="950" b="0" i="0">
                <a:solidFill>
                  <a:srgbClr val="1F2933"/>
                </a:solidFill>
                <a:latin typeface="Calibri"/>
              </a:rPr>
              <a:t>is_encrypted and</a:t>
            </a:r>
          </a:p>
          <a:p>
            <a:pPr algn="ctr"/>
            <a:r>
              <a:rPr sz="950" b="0" i="0">
                <a:solidFill>
                  <a:srgbClr val="1F2933"/>
                </a:solidFill>
                <a:latin typeface="Calibri"/>
              </a:rPr>
              <a:t>decrypt matched: True</a:t>
            </a:r>
          </a:p>
        </p:txBody>
      </p:sp>
      <p:cxnSp>
        <p:nvCxnSpPr>
          <p:cNvPr id="14" name="arrow"/>
          <p:cNvCxnSpPr/>
          <p:nvPr/>
        </p:nvCxnSpPr>
        <p:spPr>
          <a:xfrm>
            <a:off x="6601968" y="3585971"/>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49440" y="3220211"/>
            <a:ext cx="1828799" cy="7315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original removed</a:t>
            </a:r>
          </a:p>
          <a:p>
            <a:pPr algn="ctr"/>
            <a:r>
              <a:rPr sz="950" b="0" i="0">
                <a:solidFill>
                  <a:srgbClr val="1F2933"/>
                </a:solidFill>
                <a:latin typeface="Calibri"/>
              </a:rPr>
              <a:t>folder now: ['a_encrypted.pdf']</a:t>
            </a:r>
          </a:p>
        </p:txBody>
      </p:sp>
      <p:sp>
        <p:nvSpPr>
          <p:cNvPr id="16" name="visual note"/>
          <p:cNvSpPr txBox="1"/>
          <p:nvPr/>
        </p:nvSpPr>
        <p:spPr>
          <a:xfrm>
            <a:off x="365760" y="4043171"/>
            <a:ext cx="8412480" cy="201168"/>
          </a:xfrm>
          <a:prstGeom prst="rect">
            <a:avLst/>
          </a:prstGeom>
          <a:noFill/>
        </p:spPr>
        <p:txBody>
          <a:bodyPr wrap="square" lIns="45720" rIns="45720" tIns="27432" bIns="27432" anchor="t">
            <a:spAutoFit/>
          </a:bodyPr>
          <a:lstStyle/>
          <a:p>
            <a:r>
              <a:rPr sz="950" b="0" i="1">
                <a:solidFill>
                  <a:srgbClr val="5B6773"/>
                </a:solidFill>
                <a:latin typeface="Calibri"/>
              </a:rPr>
              <a:t>the original is removed only after the copy passed the test</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Lock a copy, test it, then remove the original.</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51 / 58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2: Custom Invitations</a:t>
            </a:r>
          </a:p>
        </p:txBody>
      </p:sp>
      <p:sp>
        <p:nvSpPr>
          <p:cNvPr id="4" name="code"/>
          <p:cNvSpPr/>
          <p:nvPr/>
        </p:nvSpPr>
        <p:spPr>
          <a:xfrm>
            <a:off x="365760" y="786384"/>
            <a:ext cx="53995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docx</a:t>
            </a:r>
          </a:p>
          <a:p>
            <a:pPr algn="l"/>
            <a:r>
              <a:rPr sz="900" b="0" i="0">
                <a:solidFill>
                  <a:srgbClr val="8FA3B8"/>
                </a:solidFill>
                <a:latin typeface="Courier New"/>
              </a:rPr>
              <a:t>&gt;&gt;&gt; </a:t>
            </a:r>
            <a:r>
              <a:rPr sz="900" b="0" i="0">
                <a:solidFill>
                  <a:srgbClr val="E6EDF3"/>
                </a:solidFill>
                <a:latin typeface="Courier New"/>
              </a:rPr>
              <a:t>doc</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docx</a:t>
            </a:r>
            <a:r>
              <a:rPr sz="900" b="0" i="0">
                <a:solidFill>
                  <a:srgbClr val="E6EDF3"/>
                </a:solidFill>
                <a:latin typeface="Courier New"/>
              </a:rPr>
              <a:t>.</a:t>
            </a:r>
            <a:r>
              <a:rPr sz="900" b="0" i="0">
                <a:solidFill>
                  <a:srgbClr val="E6EDF3"/>
                </a:solidFill>
                <a:latin typeface="Courier New"/>
              </a:rPr>
              <a:t>Document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guests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'Prof. Plum'</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'Miss Scarlet'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'Col. Mustard'</a:t>
            </a:r>
            <a:r>
              <a:rPr sz="900" b="0" i="0">
                <a:solidFill>
                  <a:srgbClr val="E6EDF3"/>
                </a:solidFill>
                <a:latin typeface="Courier New"/>
              </a:rPr>
              <a:t>]</a:t>
            </a:r>
          </a:p>
        </p:txBody>
      </p:sp>
      <p:sp>
        <p:nvSpPr>
          <p:cNvPr id="5" name="explanation"/>
          <p:cNvSpPr txBox="1"/>
          <p:nvPr/>
        </p:nvSpPr>
        <p:spPr>
          <a:xfrm>
            <a:off x="5747004" y="786384"/>
            <a:ext cx="3031236" cy="826516"/>
          </a:xfrm>
          <a:prstGeom prst="rect">
            <a:avLst/>
          </a:prstGeom>
          <a:noFill/>
        </p:spPr>
        <p:txBody>
          <a:bodyPr wrap="square" lIns="128016" rIns="128016" tIns="18288" bIns="18288" anchor="ctr">
            <a:spAutoFit/>
          </a:bodyPr>
          <a:lstStyle/>
          <a:p>
            <a:r>
              <a:rPr sz="1100" b="0" i="0">
                <a:solidFill>
                  <a:srgbClr val="1F2933"/>
                </a:solidFill>
                <a:latin typeface="Calibri"/>
              </a:rPr>
              <a:t>Three guests. The book's invitations use styles from a template file; the built-in Title style stands in for them.</a:t>
            </a:r>
          </a:p>
        </p:txBody>
      </p:sp>
      <p:sp>
        <p:nvSpPr>
          <p:cNvPr id="6" name="code"/>
          <p:cNvSpPr/>
          <p:nvPr/>
        </p:nvSpPr>
        <p:spPr>
          <a:xfrm>
            <a:off x="365760" y="1658620"/>
            <a:ext cx="539953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i</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guest</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enumerate</a:t>
            </a:r>
            <a:r>
              <a:rPr sz="900" b="0" i="0">
                <a:solidFill>
                  <a:srgbClr val="E6EDF3"/>
                </a:solidFill>
                <a:latin typeface="Courier New"/>
              </a:rPr>
              <a:t>(</a:t>
            </a:r>
            <a:r>
              <a:rPr sz="900" b="0" i="0">
                <a:solidFill>
                  <a:srgbClr val="E6EDF3"/>
                </a:solidFill>
                <a:latin typeface="Courier New"/>
              </a:rPr>
              <a:t>guests</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doc</a:t>
            </a:r>
            <a:r>
              <a:rPr sz="900" b="0" i="0">
                <a:solidFill>
                  <a:srgbClr val="E6EDF3"/>
                </a:solidFill>
                <a:latin typeface="Courier New"/>
              </a:rPr>
              <a:t>.</a:t>
            </a:r>
            <a:r>
              <a:rPr sz="900" b="0" i="0">
                <a:solidFill>
                  <a:srgbClr val="E6EDF3"/>
                </a:solidFill>
                <a:latin typeface="Courier New"/>
              </a:rPr>
              <a:t>add_paragraph</a:t>
            </a:r>
            <a:r>
              <a:rPr sz="900" b="0" i="0">
                <a:solidFill>
                  <a:srgbClr val="E6EDF3"/>
                </a:solidFill>
                <a:latin typeface="Courier New"/>
              </a:rPr>
              <a:t>(</a:t>
            </a:r>
            <a:r>
              <a:rPr sz="900" b="0" i="0">
                <a:solidFill>
                  <a:srgbClr val="9BE3A8"/>
                </a:solidFill>
                <a:latin typeface="Courier New"/>
              </a:rPr>
              <a:t>'You are invited,'</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doc</a:t>
            </a:r>
            <a:r>
              <a:rPr sz="900" b="0" i="0">
                <a:solidFill>
                  <a:srgbClr val="E6EDF3"/>
                </a:solidFill>
                <a:latin typeface="Courier New"/>
              </a:rPr>
              <a:t>.</a:t>
            </a:r>
            <a:r>
              <a:rPr sz="900" b="0" i="0">
                <a:solidFill>
                  <a:srgbClr val="E6EDF3"/>
                </a:solidFill>
                <a:latin typeface="Courier New"/>
              </a:rPr>
              <a:t>add_paragraph</a:t>
            </a:r>
            <a:r>
              <a:rPr sz="900" b="0" i="0">
                <a:solidFill>
                  <a:srgbClr val="E6EDF3"/>
                </a:solidFill>
                <a:latin typeface="Courier New"/>
              </a:rPr>
              <a:t>(</a:t>
            </a:r>
            <a:r>
              <a:rPr sz="900" b="0" i="0">
                <a:solidFill>
                  <a:srgbClr val="E6EDF3"/>
                </a:solidFill>
                <a:latin typeface="Courier New"/>
              </a:rPr>
              <a:t>guest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'Title'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i</a:t>
            </a:r>
            <a:r>
              <a:rPr sz="900" b="0" i="0">
                <a:solidFill>
                  <a:srgbClr val="E6EDF3"/>
                </a:solidFill>
                <a:latin typeface="Courier New"/>
              </a:rPr>
              <a:t> </a:t>
            </a:r>
            <a:r>
              <a:rPr sz="900" b="0" i="0">
                <a:solidFill>
                  <a:srgbClr val="E6EDF3"/>
                </a:solidFill>
                <a:latin typeface="Courier New"/>
              </a:rPr>
              <a:t>&lt;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guests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doc</a:t>
            </a:r>
            <a:r>
              <a:rPr sz="900" b="0" i="0">
                <a:solidFill>
                  <a:srgbClr val="E6EDF3"/>
                </a:solidFill>
                <a:latin typeface="Courier New"/>
              </a:rPr>
              <a:t>.</a:t>
            </a:r>
            <a:r>
              <a:rPr sz="900" b="0" i="0">
                <a:solidFill>
                  <a:srgbClr val="E6EDF3"/>
                </a:solidFill>
                <a:latin typeface="Courier New"/>
              </a:rPr>
              <a:t>add_page_break</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747004" y="1658620"/>
            <a:ext cx="3031236" cy="834390"/>
          </a:xfrm>
          <a:prstGeom prst="rect">
            <a:avLst/>
          </a:prstGeom>
          <a:noFill/>
        </p:spPr>
        <p:txBody>
          <a:bodyPr wrap="square" lIns="128016" rIns="128016" tIns="18288" bIns="18288" anchor="ctr">
            <a:spAutoFit/>
          </a:bodyPr>
          <a:lstStyle/>
          <a:p>
            <a:r>
              <a:rPr sz="1100" b="0" i="0">
                <a:solidFill>
                  <a:srgbClr val="1F2933"/>
                </a:solidFill>
                <a:latin typeface="Calibri"/>
              </a:rPr>
              <a:t>One card per guest: a line, then the name in the big style. A page break follows every card but the last.</a:t>
            </a:r>
          </a:p>
        </p:txBody>
      </p:sp>
      <p:sp>
        <p:nvSpPr>
          <p:cNvPr id="8" name="code"/>
          <p:cNvSpPr/>
          <p:nvPr/>
        </p:nvSpPr>
        <p:spPr>
          <a:xfrm>
            <a:off x="365760" y="2538730"/>
            <a:ext cx="539953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names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p</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doc</a:t>
            </a:r>
            <a:r>
              <a:rPr sz="900" b="0" i="0">
                <a:solidFill>
                  <a:srgbClr val="E6EDF3"/>
                </a:solidFill>
                <a:latin typeface="Courier New"/>
              </a:rPr>
              <a:t>.</a:t>
            </a:r>
            <a:r>
              <a:rPr sz="900" b="0" i="0">
                <a:solidFill>
                  <a:srgbClr val="E6EDF3"/>
                </a:solidFill>
                <a:latin typeface="Courier New"/>
              </a:rPr>
              <a:t>paragraphs</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style</a:t>
            </a:r>
            <a:r>
              <a:rPr sz="900" b="0" i="0">
                <a:solidFill>
                  <a:srgbClr val="E6EDF3"/>
                </a:solidFill>
                <a:latin typeface="Courier New"/>
              </a:rPr>
              <a:t>.</a:t>
            </a:r>
            <a:r>
              <a:rPr sz="900" b="0" i="0">
                <a:solidFill>
                  <a:srgbClr val="E6EDF3"/>
                </a:solidFill>
                <a:latin typeface="Courier New"/>
              </a:rPr>
              <a:t>name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'Title'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xml</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doc</a:t>
            </a:r>
            <a:r>
              <a:rPr sz="900" b="0" i="0">
                <a:solidFill>
                  <a:srgbClr val="E6EDF3"/>
                </a:solidFill>
                <a:latin typeface="Courier New"/>
              </a:rPr>
              <a:t>.</a:t>
            </a:r>
            <a:r>
              <a:rPr sz="900" b="0" i="0">
                <a:solidFill>
                  <a:srgbClr val="E6EDF3"/>
                </a:solidFill>
                <a:latin typeface="Courier New"/>
              </a:rPr>
              <a:t>element</a:t>
            </a:r>
            <a:r>
              <a:rPr sz="900" b="0" i="0">
                <a:solidFill>
                  <a:srgbClr val="E6EDF3"/>
                </a:solidFill>
                <a:latin typeface="Courier New"/>
              </a:rPr>
              <a:t>.</a:t>
            </a:r>
            <a:r>
              <a:rPr sz="900" b="0" i="0">
                <a:solidFill>
                  <a:srgbClr val="E6EDF3"/>
                </a:solidFill>
                <a:latin typeface="Courier New"/>
              </a:rPr>
              <a:t>xml</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names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'guests;'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xml</a:t>
            </a:r>
            <a:r>
              <a:rPr sz="900" b="0" i="0">
                <a:solidFill>
                  <a:srgbClr val="E6EDF3"/>
                </a:solidFill>
                <a:latin typeface="Courier New"/>
              </a:rPr>
              <a:t>.</a:t>
            </a:r>
            <a:r>
              <a:rPr sz="900" b="0" i="0">
                <a:solidFill>
                  <a:srgbClr val="E6EDF3"/>
                </a:solidFill>
                <a:latin typeface="Courier New"/>
              </a:rPr>
              <a:t>count</a:t>
            </a:r>
            <a:r>
              <a:rPr sz="900" b="0" i="0">
                <a:solidFill>
                  <a:srgbClr val="E6EDF3"/>
                </a:solidFill>
                <a:latin typeface="Courier New"/>
              </a:rPr>
              <a:t>(</a:t>
            </a:r>
            <a:r>
              <a:rPr sz="900" b="0" i="0">
                <a:solidFill>
                  <a:srgbClr val="9BE3A8"/>
                </a:solidFill>
                <a:latin typeface="Courier New"/>
              </a:rPr>
              <a:t>'w:type="page"'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'page breaks'</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names</a:t>
            </a:r>
            <a:r>
              <a:rPr sz="900" b="0" i="0">
                <a:solidFill>
                  <a:srgbClr val="E6EDF3"/>
                </a:solidFill>
                <a:latin typeface="Courier New"/>
              </a:rPr>
              <a:t>)</a:t>
            </a:r>
          </a:p>
        </p:txBody>
      </p:sp>
      <p:sp>
        <p:nvSpPr>
          <p:cNvPr id="9" name="explanation"/>
          <p:cNvSpPr txBox="1"/>
          <p:nvPr/>
        </p:nvSpPr>
        <p:spPr>
          <a:xfrm>
            <a:off x="5747004" y="2538730"/>
            <a:ext cx="3031236" cy="694944"/>
          </a:xfrm>
          <a:prstGeom prst="rect">
            <a:avLst/>
          </a:prstGeom>
          <a:noFill/>
        </p:spPr>
        <p:txBody>
          <a:bodyPr wrap="square" lIns="128016" rIns="128016" tIns="18288" bIns="18288" anchor="ctr">
            <a:spAutoFit/>
          </a:bodyPr>
          <a:lstStyle/>
          <a:p>
            <a:r>
              <a:rPr sz="1100" b="0" i="0">
                <a:solidFill>
                  <a:srgbClr val="1F2933"/>
                </a:solidFill>
                <a:latin typeface="Calibri"/>
              </a:rPr>
              <a:t>Three cards need two page breaks. Filtering by style name finds the names again.</a:t>
            </a:r>
          </a:p>
        </p:txBody>
      </p:sp>
      <p:sp>
        <p:nvSpPr>
          <p:cNvPr id="10" name="result label"/>
          <p:cNvSpPr txBox="1"/>
          <p:nvPr/>
        </p:nvSpPr>
        <p:spPr>
          <a:xfrm>
            <a:off x="365760" y="328853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535426"/>
            <a:ext cx="1737360" cy="9144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page 1</a:t>
            </a:r>
          </a:p>
          <a:p>
            <a:pPr algn="ctr"/>
            <a:r>
              <a:rPr sz="950" b="0" i="0">
                <a:solidFill>
                  <a:srgbClr val="1F2933"/>
                </a:solidFill>
                <a:latin typeface="Calibri"/>
              </a:rPr>
              <a:t>You are invited,</a:t>
            </a:r>
          </a:p>
          <a:p>
            <a:pPr algn="ctr"/>
            <a:r>
              <a:rPr sz="950" b="0" i="0">
                <a:solidFill>
                  <a:srgbClr val="1F2933"/>
                </a:solidFill>
                <a:latin typeface="Calibri"/>
              </a:rPr>
              <a:t>Prof. Plum</a:t>
            </a:r>
          </a:p>
        </p:txBody>
      </p:sp>
      <p:cxnSp>
        <p:nvCxnSpPr>
          <p:cNvPr id="12" name="arrow"/>
          <p:cNvCxnSpPr/>
          <p:nvPr/>
        </p:nvCxnSpPr>
        <p:spPr>
          <a:xfrm>
            <a:off x="2121408" y="3992625"/>
            <a:ext cx="329183" cy="0"/>
          </a:xfrm>
          <a:prstGeom prst="line">
            <a:avLst/>
          </a:prstGeom>
          <a:ln w="2540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68879" y="3535426"/>
            <a:ext cx="1737360" cy="9144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page 2</a:t>
            </a:r>
          </a:p>
          <a:p>
            <a:pPr algn="ctr"/>
            <a:r>
              <a:rPr sz="950" b="0" i="0">
                <a:solidFill>
                  <a:srgbClr val="1F2933"/>
                </a:solidFill>
                <a:latin typeface="Calibri"/>
              </a:rPr>
              <a:t>You are invited,</a:t>
            </a:r>
          </a:p>
          <a:p>
            <a:pPr algn="ctr"/>
            <a:r>
              <a:rPr sz="950" b="0" i="0">
                <a:solidFill>
                  <a:srgbClr val="1F2933"/>
                </a:solidFill>
                <a:latin typeface="Calibri"/>
              </a:rPr>
              <a:t>Miss Scarlet</a:t>
            </a:r>
          </a:p>
        </p:txBody>
      </p:sp>
      <p:cxnSp>
        <p:nvCxnSpPr>
          <p:cNvPr id="14" name="arrow"/>
          <p:cNvCxnSpPr/>
          <p:nvPr/>
        </p:nvCxnSpPr>
        <p:spPr>
          <a:xfrm>
            <a:off x="4224527" y="3992625"/>
            <a:ext cx="329185" cy="0"/>
          </a:xfrm>
          <a:prstGeom prst="line">
            <a:avLst/>
          </a:prstGeom>
          <a:ln w="2540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572000" y="3535426"/>
            <a:ext cx="1737360" cy="9144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page 3</a:t>
            </a:r>
          </a:p>
          <a:p>
            <a:pPr algn="ctr"/>
            <a:r>
              <a:rPr sz="950" b="0" i="0">
                <a:solidFill>
                  <a:srgbClr val="1F2933"/>
                </a:solidFill>
                <a:latin typeface="Calibri"/>
              </a:rPr>
              <a:t>You are invited,</a:t>
            </a:r>
          </a:p>
          <a:p>
            <a:pPr algn="ctr"/>
            <a:r>
              <a:rPr sz="950" b="0" i="0">
                <a:solidFill>
                  <a:srgbClr val="1F2933"/>
                </a:solidFill>
                <a:latin typeface="Calibri"/>
              </a:rPr>
              <a:t>Col. Mustard</a:t>
            </a:r>
          </a:p>
        </p:txBody>
      </p:sp>
      <p:sp>
        <p:nvSpPr>
          <p:cNvPr id="16" name="visual note"/>
          <p:cNvSpPr txBox="1"/>
          <p:nvPr/>
        </p:nvSpPr>
        <p:spPr>
          <a:xfrm>
            <a:off x="6675120" y="3626866"/>
            <a:ext cx="2103120" cy="219456"/>
          </a:xfrm>
          <a:prstGeom prst="rect">
            <a:avLst/>
          </a:prstGeom>
          <a:noFill/>
        </p:spPr>
        <p:txBody>
          <a:bodyPr wrap="square" lIns="45720" rIns="45720" tIns="27432" bIns="27432" anchor="t">
            <a:spAutoFit/>
          </a:bodyPr>
          <a:lstStyle/>
          <a:p>
            <a:r>
              <a:rPr sz="950" b="0" i="1">
                <a:solidFill>
                  <a:srgbClr val="5B6773"/>
                </a:solidFill>
                <a:latin typeface="Calibri"/>
              </a:rPr>
              <a:t>red arrow: a page break</a:t>
            </a:r>
          </a:p>
        </p:txBody>
      </p:sp>
      <p:sp>
        <p:nvSpPr>
          <p:cNvPr id="17" name="Rounded Rectangle 16"/>
          <p:cNvSpPr/>
          <p:nvPr/>
        </p:nvSpPr>
        <p:spPr>
          <a:xfrm>
            <a:off x="6675120" y="3992625"/>
            <a:ext cx="2103120"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3 guests; 2 page breaks</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card per guest; no break after the last.</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52 / 58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3: PDF Password Breaker</a:t>
            </a:r>
          </a:p>
        </p:txBody>
      </p:sp>
      <p:sp>
        <p:nvSpPr>
          <p:cNvPr id="4" name="code"/>
          <p:cNvSpPr/>
          <p:nvPr/>
        </p:nvSpPr>
        <p:spPr>
          <a:xfrm>
            <a:off x="365760" y="786384"/>
            <a:ext cx="5056631" cy="111328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p>
          <a:p>
            <a:pPr algn="l"/>
            <a:r>
              <a:rPr sz="900" b="0" i="0">
                <a:solidFill>
                  <a:srgbClr val="8FA3B8"/>
                </a:solidFill>
                <a:latin typeface="Courier New"/>
              </a:rPr>
              <a:t>&gt;&gt;&gt; </a:t>
            </a:r>
            <a:r>
              <a:rPr sz="900" b="0" i="0">
                <a:solidFill>
                  <a:srgbClr val="E6EDF3"/>
                </a:solidFill>
                <a:latin typeface="Courier New"/>
              </a:rPr>
              <a:t>words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'apple'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'banana'</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'cherry'</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'dragonfruit'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PdfWriter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add_blank_page</a:t>
            </a:r>
            <a:r>
              <a:rPr sz="900" b="0" i="0">
                <a:solidFill>
                  <a:srgbClr val="E6EDF3"/>
                </a:solidFill>
                <a:latin typeface="Courier New"/>
              </a:rPr>
              <a:t>(</a:t>
            </a:r>
            <a:r>
              <a:rPr sz="900" b="0" i="0">
                <a:solidFill>
                  <a:srgbClr val="7CC4FF"/>
                </a:solidFill>
                <a:latin typeface="Courier New"/>
              </a:rPr>
              <a:t>100</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100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encrypt</a:t>
            </a:r>
            <a:r>
              <a:rPr sz="900" b="0" i="0">
                <a:solidFill>
                  <a:srgbClr val="E6EDF3"/>
                </a:solidFill>
                <a:latin typeface="Courier New"/>
              </a:rPr>
              <a:t>(</a:t>
            </a:r>
            <a:r>
              <a:rPr sz="900" b="0" i="0">
                <a:solidFill>
                  <a:srgbClr val="9BE3A8"/>
                </a:solidFill>
                <a:latin typeface="Courier New"/>
              </a:rPr>
              <a:t>'CHERRY'</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algorithm</a:t>
            </a:r>
            <a:r>
              <a:rPr sz="900" b="0" i="0">
                <a:solidFill>
                  <a:srgbClr val="E6EDF3"/>
                </a:solidFill>
                <a:latin typeface="Courier New"/>
              </a:rPr>
              <a:t>=</a:t>
            </a:r>
            <a:r>
              <a:rPr sz="900" b="0" i="0">
                <a:solidFill>
                  <a:srgbClr val="9BE3A8"/>
                </a:solidFill>
                <a:latin typeface="Courier New"/>
              </a:rPr>
              <a:t>'AES-256'</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buf</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BytesIO</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a:t>
            </a:r>
            <a:r>
              <a:rPr sz="900" b="0" i="0">
                <a:solidFill>
                  <a:srgbClr val="E6EDF3"/>
                </a:solidFill>
                <a:latin typeface="Courier New"/>
              </a:rPr>
              <a:t>.</a:t>
            </a:r>
            <a:r>
              <a:rPr sz="900" b="0" i="0">
                <a:solidFill>
                  <a:srgbClr val="E6EDF3"/>
                </a:solidFill>
                <a:latin typeface="Courier New"/>
              </a:rPr>
              <a:t>write</a:t>
            </a:r>
            <a:r>
              <a:rPr sz="900" b="0" i="0">
                <a:solidFill>
                  <a:srgbClr val="E6EDF3"/>
                </a:solidFill>
                <a:latin typeface="Courier New"/>
              </a:rPr>
              <a:t>(</a:t>
            </a:r>
            <a:r>
              <a:rPr sz="900" b="0" i="0">
                <a:solidFill>
                  <a:srgbClr val="E6EDF3"/>
                </a:solidFill>
                <a:latin typeface="Courier New"/>
              </a:rPr>
              <a:t>buf</a:t>
            </a:r>
            <a:r>
              <a:rPr sz="900" b="0" i="0">
                <a:solidFill>
                  <a:srgbClr val="E6EDF3"/>
                </a:solidFill>
                <a:latin typeface="Courier New"/>
              </a:rPr>
              <a:t>)</a:t>
            </a:r>
          </a:p>
        </p:txBody>
      </p:sp>
      <p:sp>
        <p:nvSpPr>
          <p:cNvPr id="5" name="explanation"/>
          <p:cNvSpPr txBox="1"/>
          <p:nvPr/>
        </p:nvSpPr>
        <p:spPr>
          <a:xfrm>
            <a:off x="5404104" y="786384"/>
            <a:ext cx="3374136" cy="1113281"/>
          </a:xfrm>
          <a:prstGeom prst="rect">
            <a:avLst/>
          </a:prstGeom>
          <a:noFill/>
        </p:spPr>
        <p:txBody>
          <a:bodyPr wrap="square" lIns="128016" rIns="128016" tIns="18288" bIns="18288" anchor="ctr">
            <a:spAutoFit/>
          </a:bodyPr>
          <a:lstStyle/>
          <a:p>
            <a:r>
              <a:rPr sz="1100" b="0" i="0">
                <a:solidFill>
                  <a:srgbClr val="1F2933"/>
                </a:solidFill>
                <a:latin typeface="Calibri"/>
              </a:rPr>
              <a:t>A locked file whose password is a dictionary word in capitals. Four words stand in for the book's dictionary.txt.</a:t>
            </a:r>
          </a:p>
        </p:txBody>
      </p:sp>
      <p:sp>
        <p:nvSpPr>
          <p:cNvPr id="6" name="code"/>
          <p:cNvSpPr/>
          <p:nvPr/>
        </p:nvSpPr>
        <p:spPr>
          <a:xfrm>
            <a:off x="365760" y="1945386"/>
            <a:ext cx="505663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reader</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pypdf</a:t>
            </a:r>
            <a:r>
              <a:rPr sz="900" b="0" i="0">
                <a:solidFill>
                  <a:srgbClr val="E6EDF3"/>
                </a:solidFill>
                <a:latin typeface="Courier New"/>
              </a:rPr>
              <a:t>.</a:t>
            </a:r>
            <a:r>
              <a:rPr sz="900" b="0" i="0">
                <a:solidFill>
                  <a:srgbClr val="E6EDF3"/>
                </a:solidFill>
                <a:latin typeface="Courier New"/>
              </a:rPr>
              <a:t>PdfReader</a:t>
            </a:r>
            <a:r>
              <a:rPr sz="900" b="0" i="0">
                <a:solidFill>
                  <a:srgbClr val="E6EDF3"/>
                </a:solidFill>
                <a:latin typeface="Courier New"/>
              </a:rPr>
              <a:t>(</a:t>
            </a:r>
            <a:r>
              <a:rPr sz="900" b="0" i="0">
                <a:solidFill>
                  <a:srgbClr val="E6EDF3"/>
                </a:solidFill>
                <a:latin typeface="Courier New"/>
              </a:rPr>
              <a:t>buf</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tries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x</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words</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g</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x</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x</a:t>
            </a:r>
            <a:r>
              <a:rPr sz="900" b="0" i="0">
                <a:solidFill>
                  <a:srgbClr val="E6EDF3"/>
                </a:solidFill>
                <a:latin typeface="Courier New"/>
              </a:rPr>
              <a:t>.</a:t>
            </a:r>
            <a:r>
              <a:rPr sz="900" b="0" i="0">
                <a:solidFill>
                  <a:srgbClr val="E6EDF3"/>
                </a:solidFill>
                <a:latin typeface="Courier New"/>
              </a:rPr>
              <a:t>upper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attempts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guess</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enumerate</a:t>
            </a:r>
            <a:r>
              <a:rPr sz="900" b="0" i="0">
                <a:solidFill>
                  <a:srgbClr val="E6EDF3"/>
                </a:solidFill>
                <a:latin typeface="Courier New"/>
              </a:rPr>
              <a:t>(</a:t>
            </a:r>
            <a:r>
              <a:rPr sz="900" b="0" i="0">
                <a:solidFill>
                  <a:srgbClr val="E6EDF3"/>
                </a:solidFill>
                <a:latin typeface="Courier New"/>
              </a:rPr>
              <a:t>tries</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reader</a:t>
            </a:r>
            <a:r>
              <a:rPr sz="900" b="0" i="0">
                <a:solidFill>
                  <a:srgbClr val="E6EDF3"/>
                </a:solidFill>
                <a:latin typeface="Courier New"/>
              </a:rPr>
              <a:t>.</a:t>
            </a:r>
            <a:r>
              <a:rPr sz="900" b="0" i="0">
                <a:solidFill>
                  <a:srgbClr val="E6EDF3"/>
                </a:solidFill>
                <a:latin typeface="Courier New"/>
              </a:rPr>
              <a:t>decrypt</a:t>
            </a:r>
            <a:r>
              <a:rPr sz="900" b="0" i="0">
                <a:solidFill>
                  <a:srgbClr val="E6EDF3"/>
                </a:solidFill>
                <a:latin typeface="Courier New"/>
              </a:rPr>
              <a:t>(</a:t>
            </a:r>
            <a:r>
              <a:rPr sz="900" b="0" i="0">
                <a:solidFill>
                  <a:srgbClr val="E6EDF3"/>
                </a:solidFill>
                <a:latin typeface="Courier New"/>
              </a:rPr>
              <a:t>guess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name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'NOT_DECRYPTED'</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break</a:t>
            </a:r>
          </a:p>
        </p:txBody>
      </p:sp>
      <p:sp>
        <p:nvSpPr>
          <p:cNvPr id="7" name="explanation"/>
          <p:cNvSpPr txBox="1"/>
          <p:nvPr/>
        </p:nvSpPr>
        <p:spPr>
          <a:xfrm>
            <a:off x="5404104" y="1945386"/>
            <a:ext cx="3374136" cy="694944"/>
          </a:xfrm>
          <a:prstGeom prst="rect">
            <a:avLst/>
          </a:prstGeom>
          <a:noFill/>
        </p:spPr>
        <p:txBody>
          <a:bodyPr wrap="square" lIns="128016" rIns="128016" tIns="18288" bIns="18288" anchor="ctr">
            <a:spAutoFit/>
          </a:bodyPr>
          <a:lstStyle/>
          <a:p>
            <a:r>
              <a:rPr sz="1100" b="0" i="0">
                <a:solidFill>
                  <a:srgbClr val="1F2933"/>
                </a:solidFill>
                <a:latin typeface="Calibri"/>
              </a:rPr>
              <a:t>Try every word in lower case, then in capitals, until decrypt() stops answering NOT_DECRYPTED.</a:t>
            </a:r>
          </a:p>
        </p:txBody>
      </p:sp>
      <p:sp>
        <p:nvSpPr>
          <p:cNvPr id="8" name="code"/>
          <p:cNvSpPr/>
          <p:nvPr/>
        </p:nvSpPr>
        <p:spPr>
          <a:xfrm>
            <a:off x="365760" y="2686050"/>
            <a:ext cx="50566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'found'</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guess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'after'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attempts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'of at most'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tries</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404104" y="2686050"/>
            <a:ext cx="3374136" cy="651891"/>
          </a:xfrm>
          <a:prstGeom prst="rect">
            <a:avLst/>
          </a:prstGeom>
          <a:noFill/>
        </p:spPr>
        <p:txBody>
          <a:bodyPr wrap="square" lIns="128016" rIns="128016" tIns="18288" bIns="18288" anchor="ctr">
            <a:spAutoFit/>
          </a:bodyPr>
          <a:lstStyle/>
          <a:p>
            <a:r>
              <a:rPr sz="1100" b="0" i="0">
                <a:solidFill>
                  <a:srgbClr val="1F2933"/>
                </a:solidFill>
                <a:latin typeface="Calibri"/>
              </a:rPr>
              <a:t>Attempts grow with the dictionary and the cases tried. A long random password is in no dictionary.</a:t>
            </a:r>
          </a:p>
        </p:txBody>
      </p:sp>
      <p:sp>
        <p:nvSpPr>
          <p:cNvPr id="10" name="result label"/>
          <p:cNvSpPr txBox="1"/>
          <p:nvPr/>
        </p:nvSpPr>
        <p:spPr>
          <a:xfrm>
            <a:off x="365760" y="339280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657980"/>
            <a:ext cx="995552"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1</a:t>
            </a:r>
          </a:p>
          <a:p>
            <a:pPr algn="ctr"/>
            <a:r>
              <a:rPr sz="850" b="0" i="0">
                <a:solidFill>
                  <a:srgbClr val="1F2933"/>
                </a:solidFill>
                <a:latin typeface="Courier New"/>
              </a:rPr>
              <a:t>apple</a:t>
            </a:r>
          </a:p>
        </p:txBody>
      </p:sp>
      <p:sp>
        <p:nvSpPr>
          <p:cNvPr id="12" name="Rounded Rectangle 11"/>
          <p:cNvSpPr/>
          <p:nvPr/>
        </p:nvSpPr>
        <p:spPr>
          <a:xfrm>
            <a:off x="1425320" y="3657980"/>
            <a:ext cx="995552"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2</a:t>
            </a:r>
          </a:p>
          <a:p>
            <a:pPr algn="ctr"/>
            <a:r>
              <a:rPr sz="850" b="0" i="0">
                <a:solidFill>
                  <a:srgbClr val="1F2933"/>
                </a:solidFill>
                <a:latin typeface="Courier New"/>
              </a:rPr>
              <a:t>APPLE</a:t>
            </a:r>
          </a:p>
        </p:txBody>
      </p:sp>
      <p:sp>
        <p:nvSpPr>
          <p:cNvPr id="13" name="Rounded Rectangle 12"/>
          <p:cNvSpPr/>
          <p:nvPr/>
        </p:nvSpPr>
        <p:spPr>
          <a:xfrm>
            <a:off x="2484882" y="3657980"/>
            <a:ext cx="995552"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3</a:t>
            </a:r>
          </a:p>
          <a:p>
            <a:pPr algn="ctr"/>
            <a:r>
              <a:rPr sz="850" b="0" i="0">
                <a:solidFill>
                  <a:srgbClr val="1F2933"/>
                </a:solidFill>
                <a:latin typeface="Courier New"/>
              </a:rPr>
              <a:t>banana</a:t>
            </a:r>
          </a:p>
        </p:txBody>
      </p:sp>
      <p:sp>
        <p:nvSpPr>
          <p:cNvPr id="14" name="Rounded Rectangle 13"/>
          <p:cNvSpPr/>
          <p:nvPr/>
        </p:nvSpPr>
        <p:spPr>
          <a:xfrm>
            <a:off x="3544443" y="3657980"/>
            <a:ext cx="995552"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4</a:t>
            </a:r>
          </a:p>
          <a:p>
            <a:pPr algn="ctr"/>
            <a:r>
              <a:rPr sz="850" b="0" i="0">
                <a:solidFill>
                  <a:srgbClr val="1F2933"/>
                </a:solidFill>
                <a:latin typeface="Courier New"/>
              </a:rPr>
              <a:t>BANANA</a:t>
            </a:r>
          </a:p>
        </p:txBody>
      </p:sp>
      <p:sp>
        <p:nvSpPr>
          <p:cNvPr id="15" name="Rounded Rectangle 14"/>
          <p:cNvSpPr/>
          <p:nvPr/>
        </p:nvSpPr>
        <p:spPr>
          <a:xfrm>
            <a:off x="4604004" y="3657980"/>
            <a:ext cx="995552"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5</a:t>
            </a:r>
          </a:p>
          <a:p>
            <a:pPr algn="ctr"/>
            <a:r>
              <a:rPr sz="850" b="0" i="0">
                <a:solidFill>
                  <a:srgbClr val="1F2933"/>
                </a:solidFill>
                <a:latin typeface="Courier New"/>
              </a:rPr>
              <a:t>cherry</a:t>
            </a:r>
          </a:p>
        </p:txBody>
      </p:sp>
      <p:sp>
        <p:nvSpPr>
          <p:cNvPr id="16" name="Rounded Rectangle 15"/>
          <p:cNvSpPr/>
          <p:nvPr/>
        </p:nvSpPr>
        <p:spPr>
          <a:xfrm>
            <a:off x="5663565" y="3657980"/>
            <a:ext cx="995552"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6</a:t>
            </a:r>
          </a:p>
          <a:p>
            <a:pPr algn="ctr"/>
            <a:r>
              <a:rPr sz="850" b="0" i="0">
                <a:solidFill>
                  <a:srgbClr val="1F2933"/>
                </a:solidFill>
                <a:latin typeface="Courier New"/>
              </a:rPr>
              <a:t>CHERRY</a:t>
            </a:r>
          </a:p>
        </p:txBody>
      </p:sp>
      <p:sp>
        <p:nvSpPr>
          <p:cNvPr id="17" name="Rounded Rectangle 16"/>
          <p:cNvSpPr/>
          <p:nvPr/>
        </p:nvSpPr>
        <p:spPr>
          <a:xfrm>
            <a:off x="6723126" y="3657980"/>
            <a:ext cx="995552" cy="4572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7</a:t>
            </a:r>
          </a:p>
          <a:p>
            <a:pPr algn="ctr"/>
            <a:r>
              <a:rPr sz="850" b="0" i="0">
                <a:solidFill>
                  <a:srgbClr val="1F2933"/>
                </a:solidFill>
                <a:latin typeface="Courier New"/>
              </a:rPr>
              <a:t>dragonfruit</a:t>
            </a:r>
          </a:p>
        </p:txBody>
      </p:sp>
      <p:sp>
        <p:nvSpPr>
          <p:cNvPr id="18" name="Rounded Rectangle 17"/>
          <p:cNvSpPr/>
          <p:nvPr/>
        </p:nvSpPr>
        <p:spPr>
          <a:xfrm>
            <a:off x="7782687" y="3657980"/>
            <a:ext cx="995552" cy="4572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8</a:t>
            </a:r>
          </a:p>
          <a:p>
            <a:pPr algn="ctr"/>
            <a:r>
              <a:rPr sz="850" b="0" i="0">
                <a:solidFill>
                  <a:srgbClr val="1F2933"/>
                </a:solidFill>
                <a:latin typeface="Courier New"/>
              </a:rPr>
              <a:t>DRAGONFRUIT</a:t>
            </a:r>
          </a:p>
        </p:txBody>
      </p:sp>
      <p:sp>
        <p:nvSpPr>
          <p:cNvPr id="19" name="visual note"/>
          <p:cNvSpPr txBox="1"/>
          <p:nvPr/>
        </p:nvSpPr>
        <p:spPr>
          <a:xfrm>
            <a:off x="365760" y="4142613"/>
            <a:ext cx="8412480" cy="201168"/>
          </a:xfrm>
          <a:prstGeom prst="rect">
            <a:avLst/>
          </a:prstGeom>
          <a:noFill/>
        </p:spPr>
        <p:txBody>
          <a:bodyPr wrap="square" lIns="45720" rIns="45720" tIns="27432" bIns="27432" anchor="t">
            <a:spAutoFit/>
          </a:bodyPr>
          <a:lstStyle/>
          <a:p>
            <a:r>
              <a:rPr sz="950" b="0" i="1">
                <a:solidFill>
                  <a:srgbClr val="5B6773"/>
                </a:solidFill>
                <a:latin typeface="Calibri"/>
              </a:rPr>
              <a:t>red: tried, no match; green: decrypt() matched; grey: never tried because the search stopped</a:t>
            </a:r>
          </a:p>
        </p:txBody>
      </p:sp>
      <p:cxnSp>
        <p:nvCxnSpPr>
          <p:cNvPr id="20" name="arrow"/>
          <p:cNvCxnSpPr/>
          <p:nvPr/>
        </p:nvCxnSpPr>
        <p:spPr>
          <a:xfrm>
            <a:off x="365760" y="4499229"/>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2960" y="4371213"/>
            <a:ext cx="7955279" cy="256032"/>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found CHERRY after 6 of at most 8</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Attempts grow with the list; length defeats the list.</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53 / 58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Which call does what, and what it needs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each call has its code slide</a:t>
            </a:r>
          </a:p>
        </p:txBody>
      </p:sp>
      <p:graphicFrame>
        <p:nvGraphicFramePr>
          <p:cNvPr id="5" name="table"/>
          <p:cNvGraphicFramePr>
            <a:graphicFrameLocks noGrp="1"/>
          </p:cNvGraphicFramePr>
          <p:nvPr/>
        </p:nvGraphicFramePr>
        <p:xfrm>
          <a:off x="457200" y="1051560"/>
          <a:ext cx="8229599" cy="3291840"/>
        </p:xfrm>
        <a:graphic>
          <a:graphicData uri="http://schemas.openxmlformats.org/drawingml/2006/table">
            <a:tbl>
              <a:tblPr firstRow="0" bandRow="0"/>
              <a:tblGrid>
                <a:gridCol w="2377440"/>
                <a:gridCol w="2103120"/>
                <a:gridCol w="2926080"/>
                <a:gridCol w="822959"/>
              </a:tblGrid>
              <a:tr h="329184">
                <a:tc>
                  <a:txBody>
                    <a:bodyPr wrap="square"/>
                    <a:lstStyle/>
                    <a:p>
                      <a:r>
                        <a:rPr sz="11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it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to know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1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100" b="1" i="0">
                          <a:solidFill>
                            <a:srgbClr val="1F2933"/>
                          </a:solidFill>
                          <a:latin typeface="Courier New"/>
                        </a:rPr>
                        <a:t>PdfReader(file)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opens a PDF to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pages, is_encrypted; changes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page.extract_text()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returns the text of a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drawing order; empty for a scan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page.images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lists the pictures of a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needs the Pillow package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writer.append(file,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copies pages to the 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tuple is a range, a list is exact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writer.merge(i, file,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copies pages inside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name pages=; a tuple is a title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page.rotate(angle)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turns a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multiples of 90; angles add 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page.merge_page(other)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stamps one page on another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later page lies on 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writer.encrypt / reader.decrypt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locks and unlocks a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AES needs the cryptography package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docx.Document(file)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opens or starts a Word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paragraphs, runs, tables are apart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read changes nothing; a write makes a new file; a lock needs the right package.</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54 / 58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What differs from the book today</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Research of 12 October 2026: Python 3.14.6, pypdf 6.20.1, python-docx 1.2.0</a:t>
            </a:r>
          </a:p>
        </p:txBody>
      </p:sp>
      <p:graphicFrame>
        <p:nvGraphicFramePr>
          <p:cNvPr id="5" name="table"/>
          <p:cNvGraphicFramePr>
            <a:graphicFrameLocks noGrp="1"/>
          </p:cNvGraphicFramePr>
          <p:nvPr/>
        </p:nvGraphicFramePr>
        <p:xfrm>
          <a:off x="457200" y="960120"/>
          <a:ext cx="8229600" cy="3474720"/>
        </p:xfrm>
        <a:graphic>
          <a:graphicData uri="http://schemas.openxmlformats.org/drawingml/2006/table">
            <a:tbl>
              <a:tblPr firstRow="0" bandRow="0"/>
              <a:tblGrid>
                <a:gridCol w="3108960"/>
                <a:gridCol w="4389120"/>
                <a:gridCol w="731520"/>
              </a:tblGrid>
              <a:tr h="347472">
                <a:tc>
                  <a:txBody>
                    <a:bodyPr wrap="square"/>
                    <a:lstStyle/>
                    <a:p>
                      <a:r>
                        <a:rPr sz="1000" b="1" i="0">
                          <a:solidFill>
                            <a:srgbClr val="FFFFFF"/>
                          </a:solidFill>
                          <a:latin typeface="Calibri"/>
                        </a:rPr>
                        <a:t>What the book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r>
                        <a:rPr sz="1000" b="1" i="0">
                          <a:solidFill>
                            <a:srgbClr val="1F2933"/>
                          </a:solidFill>
                          <a:latin typeface="Calibri"/>
                        </a:rPr>
                        <a:t>merge(2, 'Recursion_Chapter1.pdf', (0, 5)) inserts five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tuple becomes a bookmark title and all 18 pages go in; write pages=(0,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Project 12 loop appends to pdf_files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NameError: the list is pdf_filenames; a second run also reads combined.pdf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Table 17-1: strike, all_caps and more are run attributes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Only bold, italic, underline are; run.strike = True silently does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Heading levels 0 to 4, and 1 to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add_heading accepts 0 to 9; anything else raises ValueError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The style 'List Number ' with a trailing space; 34 style names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KeyError: names match exactly; a new document holds 164 styles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encrypt() shown with AES-256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default is RC4 (V 2, R 3); AES needs the cryptography package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page.images used without a note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It needs Pillow; ImportError without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PdfFileReader and PdfMerger of older tutorials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Removed: pypdf 6.20.1 has PdfReader and PdfWriter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The password breaker needs about 88,000 attempts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shipped dictionary gives 699,800; AES-256 took 1467.5 s, RC4 241.7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53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55 / 58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PDF is a page description: drawing commands, objects and a table.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pypdf copies, turns, stamps and locks pages; it cannot recover lost structure.</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.docx file is a ZIP of XML: documents hold paragraphs, paragraphs hold runs.</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style must fit its object and match by exact name.</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password is only as strong as it is long and random.</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deck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document is a file with a structure; know what that structure keeps.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56 / 58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what you can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the practice programs are the small recital pieces.</a:t>
            </a:r>
          </a:p>
        </p:txBody>
      </p:sp>
      <p:sp>
        <p:nvSpPr>
          <p:cNvPr id="7" name="card"/>
          <p:cNvSpPr/>
          <p:nvPr/>
        </p:nvSpPr>
        <p:spPr>
          <a:xfrm>
            <a:off x="365760" y="1481328"/>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727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499616"/>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A page draws the word world before Hello. What does extract_text() return, and what does layout mode return? Use the extraction slide.</a:t>
            </a:r>
          </a:p>
        </p:txBody>
      </p:sp>
      <p:sp>
        <p:nvSpPr>
          <p:cNvPr id="10" name="card"/>
          <p:cNvSpPr/>
          <p:nvPr/>
        </p:nvSpPr>
        <p:spPr>
          <a:xfrm>
            <a:off x="365760" y="2112264"/>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2037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130552"/>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Which call keeps pages 1 and 6 of a six-page file: a tuple (0, 5) or a list [0, 5]? Say why. Use the page-copy slide.</a:t>
            </a:r>
          </a:p>
        </p:txBody>
      </p:sp>
      <p:sp>
        <p:nvSpPr>
          <p:cNvPr id="13" name="card"/>
          <p:cNvSpPr/>
          <p:nvPr/>
        </p:nvSpPr>
        <p:spPr>
          <a:xfrm>
            <a:off x="365760" y="2743200"/>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83464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2761488"/>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A paragraph has three runs. How do you find out whether the middle one is bold, and what does None mean?</a:t>
            </a:r>
          </a:p>
        </p:txBody>
      </p:sp>
      <p:sp>
        <p:nvSpPr>
          <p:cNvPr id="16" name="card"/>
          <p:cNvSpPr/>
          <p:nvPr/>
        </p:nvSpPr>
        <p:spPr>
          <a:xfrm>
            <a:off x="365760" y="3374136"/>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4655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392424"/>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Why is a black rectangle drawn over text not a safe way to hide the text in a PDF?</a:t>
            </a:r>
          </a:p>
        </p:txBody>
      </p:sp>
      <p:sp>
        <p:nvSpPr>
          <p:cNvPr id="19" name="card"/>
          <p:cNvSpPr/>
          <p:nvPr/>
        </p:nvSpPr>
        <p:spPr>
          <a:xfrm>
            <a:off x="365760" y="4005072"/>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4096511"/>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21" name="question"/>
          <p:cNvSpPr txBox="1"/>
          <p:nvPr/>
        </p:nvSpPr>
        <p:spPr>
          <a:xfrm>
            <a:off x="1005840" y="4023359"/>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A dictionary holds 50,000 words and the program tries each in two cases. How many attempts are needed at most?</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57 / 58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17</a:t>
            </a:r>
          </a:p>
          <a:p>
            <a:r>
              <a:rPr sz="900" b="0" i="0">
                <a:solidFill>
                  <a:srgbClr val="0E7C86"/>
                </a:solidFill>
                <a:latin typeface="Calibri"/>
                <a:hlinkClick r:id="rId3"/>
              </a:rPr>
              <a:t>https://automatetheboringstuff.com/3e/chapter17.html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pypdf documentation</a:t>
            </a:r>
          </a:p>
          <a:p>
            <a:r>
              <a:rPr sz="900" b="0" i="0">
                <a:solidFill>
                  <a:srgbClr val="0E7C86"/>
                </a:solidFill>
                <a:latin typeface="Calibri"/>
                <a:hlinkClick r:id="rId4"/>
              </a:rPr>
              <a:t>https://pypdf.readthedocs.io/en/stable/</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pypdf: extract text</a:t>
            </a:r>
          </a:p>
          <a:p>
            <a:r>
              <a:rPr sz="900" b="0" i="0">
                <a:solidFill>
                  <a:srgbClr val="0E7C86"/>
                </a:solidFill>
                <a:latin typeface="Calibri"/>
                <a:hlinkClick r:id="rId5"/>
              </a:rPr>
              <a:t>pypdf.readthedocs.io</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pypdf: merging PDF files</a:t>
            </a:r>
          </a:p>
          <a:p>
            <a:r>
              <a:rPr sz="900" b="0" i="0">
                <a:solidFill>
                  <a:srgbClr val="0E7C86"/>
                </a:solidFill>
                <a:latin typeface="Calibri"/>
                <a:hlinkClick r:id="rId6"/>
              </a:rPr>
              <a:t>pypdf.readthedocs.io</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pypdf: encryption and decryption</a:t>
            </a:r>
          </a:p>
          <a:p>
            <a:r>
              <a:rPr sz="900" b="0" i="0">
                <a:solidFill>
                  <a:srgbClr val="0E7C86"/>
                </a:solidFill>
                <a:latin typeface="Calibri"/>
                <a:hlinkClick r:id="rId7"/>
              </a:rPr>
              <a:t>pypdf.readthedocs.io</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pypdf: adding a watermark</a:t>
            </a:r>
          </a:p>
          <a:p>
            <a:r>
              <a:rPr sz="900" b="0" i="0">
                <a:solidFill>
                  <a:srgbClr val="0E7C86"/>
                </a:solidFill>
                <a:latin typeface="Calibri"/>
                <a:hlinkClick r:id="rId8"/>
              </a:rPr>
              <a:t>pypdf.readthedocs.io</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pypdf: history of the library</a:t>
            </a:r>
          </a:p>
          <a:p>
            <a:r>
              <a:rPr sz="900" b="0" i="0">
                <a:solidFill>
                  <a:srgbClr val="0E7C86"/>
                </a:solidFill>
                <a:latin typeface="Calibri"/>
                <a:hlinkClick r:id="rId9"/>
              </a:rPr>
              <a:t>https://pypdf.readthedocs.io/en/stable/meta/history.html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python-docx documentation</a:t>
            </a:r>
          </a:p>
          <a:p>
            <a:r>
              <a:rPr sz="900" b="0" i="0">
                <a:solidFill>
                  <a:srgbClr val="0E7C86"/>
                </a:solidFill>
                <a:latin typeface="Calibri"/>
                <a:hlinkClick r:id="rId10"/>
              </a:rPr>
              <a:t>https://python-docx.readthedocs.io/en/latest/</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python-docx: working with styles</a:t>
            </a:r>
          </a:p>
          <a:p>
            <a:r>
              <a:rPr sz="900" b="0" i="0">
                <a:solidFill>
                  <a:srgbClr val="0E7C86"/>
                </a:solidFill>
                <a:latin typeface="Calibri"/>
                <a:hlinkClick r:id="rId11"/>
              </a:rPr>
              <a:t>python-docx.readthedocs.io</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python-docx: quickstart</a:t>
            </a:r>
          </a:p>
          <a:p>
            <a:r>
              <a:rPr sz="900" b="0" i="0">
                <a:solidFill>
                  <a:srgbClr val="0E7C86"/>
                </a:solidFill>
                <a:latin typeface="Calibri"/>
                <a:hlinkClick r:id="rId12"/>
              </a:rPr>
              <a:t>python-docx.readthedocs.io</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PDF 1.7, ISO 32000-1 (Library of Congress)</a:t>
            </a:r>
          </a:p>
          <a:p>
            <a:r>
              <a:rPr sz="900" b="0" i="0">
                <a:solidFill>
                  <a:srgbClr val="0E7C86"/>
                </a:solidFill>
                <a:latin typeface="Calibri"/>
                <a:hlinkClick r:id="rId13"/>
              </a:rPr>
              <a:t>loc.gov</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Office Open XML (Library of Congress)</a:t>
            </a:r>
          </a:p>
          <a:p>
            <a:r>
              <a:rPr sz="900" b="0" i="0">
                <a:solidFill>
                  <a:srgbClr val="0E7C86"/>
                </a:solidFill>
                <a:latin typeface="Calibri"/>
                <a:hlinkClick r:id="rId14"/>
              </a:rPr>
              <a:t>loc.gov</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zipfile</a:t>
            </a:r>
          </a:p>
          <a:p>
            <a:r>
              <a:rPr sz="900" b="0" i="0">
                <a:solidFill>
                  <a:srgbClr val="0E7C86"/>
                </a:solidFill>
                <a:latin typeface="Calibri"/>
                <a:hlinkClick r:id="rId15"/>
              </a:rPr>
              <a:t>https://docs.python.org/3/library/zipfile.html</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Wikipedia: John Warnock</a:t>
            </a:r>
          </a:p>
          <a:p>
            <a:r>
              <a:rPr sz="900" b="0" i="0">
                <a:solidFill>
                  <a:srgbClr val="0E7C86"/>
                </a:solidFill>
                <a:latin typeface="Calibri"/>
                <a:hlinkClick r:id="rId16"/>
              </a:rPr>
              <a:t>https://en.wikipedia.org/wiki/John_Warnock</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58 / 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17: PDF and Word Documents (lecture deck 2.0.0)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