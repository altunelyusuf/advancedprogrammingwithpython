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windows tried</c:v>
                </c:pt>
                <c:pt idx="1">
                  <c:v>windows that pass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[^aeiou]</c:v>
                </c:pt>
                <c:pt idx="1">
                  <c:v>[aeiou]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digits taken by \d{2,4}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22</c:v>
                </c:pt>
                <c:pt idx="2">
                  <c:v>333</c:v>
                </c:pt>
                <c:pt idx="3">
                  <c:v>4444</c:v>
                </c:pt>
                <c:pt idx="4">
                  <c:v>55555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characters matched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Sheet1!$A$2:$A$5</c:f>
              <c:strCache>
                <c:ptCount val="4"/>
                <c:pt idx="0">
                  <c:v>(Ha){3,5}</c:v>
                </c:pt>
                <c:pt idx="1">
                  <c:v>(Ha){3,5}?</c:v>
                </c:pt>
                <c:pt idx="2">
                  <c:v>&lt;.*?&gt;</c:v>
                </c:pt>
                <c:pt idx="3">
                  <c:v>&lt;.*&gt;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14</c:v>
                </c:pt>
                <c:pt idx="3">
                  <c:v>27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characters matched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Sheet1!$A$2:$A$4</c:f>
              <c:strCache>
                <c:ptCount val="3"/>
                <c:pt idx="0">
                  <c:v>re.I</c:v>
                </c:pt>
                <c:pt idx="1">
                  <c:v>dot only</c:v>
                </c:pt>
                <c:pt idx="2">
                  <c:v>re.DOTALL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23</c:v>
                </c:pt>
                <c:pt idx="2">
                  <c:v>45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flag value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Sheet1!$A$2:$A$5</c:f>
              <c:strCache>
                <c:ptCount val="4"/>
                <c:pt idx="0">
                  <c:v>I</c:v>
                </c:pt>
                <c:pt idx="1">
                  <c:v>S</c:v>
                </c:pt>
                <c:pt idx="2">
                  <c:v>X</c:v>
                </c:pt>
                <c:pt idx="3">
                  <c:v>joined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16</c:v>
                </c:pt>
                <c:pt idx="2">
                  <c:v>64</c:v>
                </c:pt>
                <c:pt idx="3">
                  <c:v>82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functions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Match or None</c:v>
                </c:pt>
                <c:pt idx="1">
                  <c:v>List</c:v>
                </c:pt>
                <c:pt idx="2">
                  <c:v>Iterator</c:v>
                </c:pt>
                <c:pt idx="3">
                  <c:v>String</c:v>
                </c:pt>
                <c:pt idx="4">
                  <c:v>Tuple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0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chapter teaches a small language for describing text. Every code slide shows the code, a plain explanation, and what the run printed as a table, chart or drawing. The same examples run on the chapter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parts: finding patterns, syntax for groups and sets, quantifiers and anchors, operations and flags, and programs. Each code slide has a place in the chapter-code tab of the page, in this same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to carry through the chapter. What does a pattern say, and what does the re module do with it? And which printed outputs of the book differ in current Python?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First a hand-written check, then the same job with a pattern. Notice how much shorter the pattern is, and how the Match object tells where the hit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wanted poster describes a face without naming it. A pattern describes text without spelling it out. Ask students to add one more everyday picture of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book's own opening: a hand-written check. Count how many conditions the lambda needs, and how many windows the loop tries. A pattern will replace all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Ken Thompson published the compile-then-search algorithm in June 1968. The two steps of this chapter, compile and search, repeat that shape. Ask why preparing once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 once, search many times. The Match object is the answer with its position. Group and groups ask it for the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Compile gives a Pattern. Search gives a Match or None. Group returns the text; span the position. Match looks only at the start, fullmatch at the whole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looks only at the start. Search looks anywhere. Fullmatch needs the whole text to fit. The strips show which cells each function may look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file Modules/_sre.c opens its history log on 24 October 1999. Every Match object of this chapter comes from that engine. Ask students why Python keeps one engine for all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Parentheses make groups and numbers. The pipe offers alternatives. Brackets and shorthand classes decide which single character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are numbered pockets. Character sets are slots that accept one character from a list. The dot accepts any character except a line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zero is the whole match. Groups count from one, by opening parenthesis. The pipe is a choice inside the group. Run it, then add a pair of parentheses.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 is a choice inside a group. Group one is only the part in the parentheses. Ask: what would group zero return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name after question mark P makes the group readable. A back reference repeats what a group matched; here it finds a doubled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Stephen Kleene defined regular events in a 1951 RAND memorandum. The pipe and the star of a pattern are his union and repetition. Ask: which symbols in today's example are 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Brackets list allowed characters; a caret negates. Shorthand classes are named sets. The dot matches anything but a line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Backslash d, w and s are named sets; the capital letters are their opposites. The dot is the widest set except for the line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Larry Wall released Perl 1.0 on 18 December 1987. The shorthand classes travelled from Perl into Python. Ask students which of the three they used already.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Quantifiers decide how many times; anchors decide where. Greedy takes the most, lazy takes the least. Predict each result before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Quantifiers count; anchors pin to an edge. Greedy takes as much as possible and lazy as little. Ask which one stops at the first closing bracket.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mark: zero or one. Star: zero or more. Plus: one or more. Curly brackets: an exact count or a range. The book's Eggs example needs the space before 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Curly brackets count exactly or within a range. A range is greedy, so four digits are taken from 55555. The single 1 is too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quantifiers take the longest match. A trailing question mark makes them lazy. The bar chart shows the lengths.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Caret and dollar pin the match to the edges. Backslash b is a word edge; capital B is anywhere else. In current Python, dollar also fits before a final newline.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Backslash b marks a word edge, capital B everything else. Cat inside certificate is found only with capital B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look-around checks beside a position and consumes nothing. Look-ahead looks right, look-behind looks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What you do with a pattern: find every match, split, replace, and change its behaviour with flags. Sub can even call a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Findall highlights, sub corrects. Flags change how the pattern behaves; verbose mode lets a long pattern carry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groups findall gives strings; with groups it gives tuples. Matches never overlap, so 123456 gives two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Finditer gives Match objects with positions. Split cuts at every match of a pattern. Compare with str.split for fixed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 returns a new string and leaves the original alone. Backslash one stands for group one in the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replacement can be a function that gets each Match. Escape makes special characters literal. Subn also counts the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I ignores case. Without DOTALL the dot stops at a line break. The repr shows the line break as backslash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Verbose mode ignores blanks and comments inside the pattern. Flags join with the pipe because each is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flag is a number. The pipe joins them into one value, 82 here. Ask students to predict the value before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Three programs and a helper module. Each one uses only what parts one to four taught. Predict the output, then run it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password check is easier as four small patterns. Project 3 is a real task: copy phone numbers and e-mails out of a document. Humre is an optional helper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phone pattern has nine groups. Findall returns them as a tuple that counts from item zero, so group nine is item eight. Predict which item holds the extension digits.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shorter pattern uses non-capturing groups, so each tuple holds only the useful parts. Compare the output with the book's printed lines: the book joins the whole extension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small rules checked with all. Each rule is a separate pattern, so each is easy to read and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Regex strip rebuilds the strip method from sub. The characters are escaped first, so a bracket in the input is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Humre is a third-party module, not in the standard library. Its newest release names some constants differently from the book. It is not run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moves on. Pattern error is the new name of re.error since 3.13. Python 3.14 adds the z escape. Positional count in sub is deprecated.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sentences to keep. The chart shows what each operation of the re module hands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drills. Predict first, then run on the page. Ask students to explain each answer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book chapter, then the Python documentation. The stories link to first-hand sources. Choose one link and read it before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en.wikipedia.org/wiki/Thompson%27s_constructi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chromium.googlesource.com/external/github.com/python/cpython/+/v3.7.0/Modules/_sre.c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hyperlink" Target="https://en.wikipedia.org/wiki/Stephen_Cole_Kleen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hyperlink" Target="https://en.wikipedia.org/wiki/Per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chart" Target="../charts/char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automatetheboringstuff.com/3e/chapter9.html" TargetMode="External"/><Relationship Id="rId4" Type="http://schemas.openxmlformats.org/officeDocument/2006/relationships/hyperlink" Target="https://docs.python.org/3/library/re.html" TargetMode="External"/><Relationship Id="rId5" Type="http://schemas.openxmlformats.org/officeDocument/2006/relationships/hyperlink" Target="https://docs.python.org/3/howto/regex.html" TargetMode="External"/><Relationship Id="rId6" Type="http://schemas.openxmlformats.org/officeDocument/2006/relationships/hyperlink" Target="https://docs.python.org/3/reference/lexical_analysis.html" TargetMode="External"/><Relationship Id="rId7" Type="http://schemas.openxmlformats.org/officeDocument/2006/relationships/hyperlink" Target="https://docs.python.org/3/whatsnew/3.14.html" TargetMode="External"/><Relationship Id="rId8" Type="http://schemas.openxmlformats.org/officeDocument/2006/relationships/hyperlink" Target="https://docs.python.org/3/whatsnew/3.13.html" TargetMode="External"/><Relationship Id="rId9" Type="http://schemas.openxmlformats.org/officeDocument/2006/relationships/hyperlink" Target="https://pypi.org/project/Humre/" TargetMode="External"/><Relationship Id="rId10" Type="http://schemas.openxmlformats.org/officeDocument/2006/relationships/hyperlink" Target="https://www.regular-expressions.info" TargetMode="External"/><Relationship Id="rId11" Type="http://schemas.openxmlformats.org/officeDocument/2006/relationships/hyperlink" Target="https://regex101.com" TargetMode="External"/><Relationship Id="rId12" Type="http://schemas.openxmlformats.org/officeDocument/2006/relationships/hyperlink" Target="https://pythex.org" TargetMode="External"/><Relationship Id="rId13" Type="http://schemas.openxmlformats.org/officeDocument/2006/relationships/hyperlink" Target="https://cacmb4.acm.org/magazines/1968/6/12736-programming-techniques-regular-expression-search-algorithm" TargetMode="External"/><Relationship Id="rId14" Type="http://schemas.openxmlformats.org/officeDocument/2006/relationships/hyperlink" Target="https://en.wikipedia.org/wiki/Thompson%27s_construction" TargetMode="External"/><Relationship Id="rId15" Type="http://schemas.openxmlformats.org/officeDocument/2006/relationships/hyperlink" Target="https://en.wikipedia.org/wiki/Stephen_Cole_Kleene" TargetMode="External"/><Relationship Id="rId16" Type="http://schemas.openxmlformats.org/officeDocument/2006/relationships/hyperlink" Target="https://www.youtube.com/watch?v=K8L6KVGG-7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800" b="1" i="0">
                <a:solidFill>
                  <a:srgbClr val="1F2933"/>
                </a:solidFill>
                <a:latin typeface="Calibri"/>
              </a:rPr>
              <a:t>Regular Expressions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5B6773"/>
                </a:solidFill>
                <a:latin typeface="Calibri"/>
              </a:rPr>
              <a:t>Chapter 9 of Automate the Boring Stuff with Python, 3rd edition, for an advanced course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"/>
          <p:cNvSpPr txBox="1"/>
          <p:nvPr/>
        </p:nvSpPr>
        <p:spPr>
          <a:xfrm>
            <a:off x="6400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25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code examples that run on the chapter page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"/>
          <p:cNvSpPr txBox="1"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4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33832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true stories with who, what, when, where, why and how</a:t>
            </a:r>
          </a:p>
        </p:txBody>
      </p:sp>
      <p:sp>
        <p:nvSpPr>
          <p:cNvPr id="11" name="card"/>
          <p:cNvSpPr/>
          <p:nvPr/>
        </p:nvSpPr>
        <p:spPr>
          <a:xfrm>
            <a:off x="60350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"/>
          <p:cNvSpPr txBox="1"/>
          <p:nvPr/>
        </p:nvSpPr>
        <p:spPr>
          <a:xfrm>
            <a:off x="6126479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35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6126479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distinct chapter concepts, each with an everyday picture</a:t>
            </a:r>
          </a:p>
        </p:txBody>
      </p:sp>
      <p:sp>
        <p:nvSpPr>
          <p:cNvPr id="14" name="author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5B6773"/>
                </a:solidFill>
                <a:latin typeface="Calibri"/>
              </a:rPr>
              <a:t>SEN0414 Advanced Programming, Fall 2026. Yusuf Altunel, İstanbul Kültür Üniversitesi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 / 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Today's route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Five parts; every range is a run of slides you can jump to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97280"/>
          <a:ext cx="8229598" cy="3520440"/>
        </p:xfrm>
        <a:graphic>
          <a:graphicData uri="http://schemas.openxmlformats.org/drawingml/2006/table">
            <a:tbl>
              <a:tblPr firstRow="0" bandRow="0"/>
              <a:tblGrid>
                <a:gridCol w="2683565"/>
                <a:gridCol w="983973"/>
                <a:gridCol w="1162878"/>
                <a:gridCol w="339918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Code examples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You will run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Finding a 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4 - 11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compile, search, Match object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Groups and character sets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12 - 20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groups, named groups, character sets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How many, and where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21 - 28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quantifiers, greedy, anchors, look-around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Operations and flags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29 - 37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findall, finditer, split, sub, flags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Patterns in 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38 - 44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Project 3, strong password, regex_strip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</a:rPr>
                        <a:t>Changes, summary, practice, resources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45 - 48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</a:rPr>
                        <a:t>what current Python adds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 the chapter-code tab of the page: the same 25 examples, in this order.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Two questions this chapter answers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Carry them through every part; the answers come back at the end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1280160" y="12984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What does a pattern say about the text, and what does the re module do with the result of a match?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1280160" y="20574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 46: what, how many, where, and what is kept; then search, findall, sub.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question"/>
          <p:cNvSpPr txBox="1"/>
          <p:nvPr/>
        </p:nvSpPr>
        <p:spPr>
          <a:xfrm>
            <a:off x="1280160" y="28986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Which printed outputs and programs of the book differ in current Python, and on what source?</a:t>
            </a:r>
          </a:p>
        </p:txBody>
      </p:sp>
      <p:sp>
        <p:nvSpPr>
          <p:cNvPr id="12" name="answer"/>
          <p:cNvSpPr txBox="1"/>
          <p:nvPr/>
        </p:nvSpPr>
        <p:spPr>
          <a:xfrm>
            <a:off x="1280160" y="36576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slides 41 and 45: Project 3 and the newer features.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pattern says what, how many, where, and what to keep.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1: Finding a pattern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From a hand-written check to a compiled pattern and its Match object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Regular expression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short text that describes the shape of other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Pattern object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What re.compile builds once and reuses many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Match object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answer of search, with its text and its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None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What search returns when the pattern is not found.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92608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finding a 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Without a pattern: checking by hand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one 1968 paper is why compile c...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compile and search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compile, search and the Match object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match, search and fullmatch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the engine under re, logged sin...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finding a pattern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pattern is a wanted poster: it describes the shape of what you look for, not one exact face.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3108959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Finding Text Patterns Without Regular Expressions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Checking every house number by hand, one door at a time.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Finding Text Patterns with Regular Expressions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Handing the guard one wanted poster instead of a list of names.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Regular expression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wanted poster: 'three digits, a hyphen, three digits, a hyphen, four digits'.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is_phone_number()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door clerk with a checklist: twelve characters, two hyphens, digits.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isdecimal()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turnstile that lets only digits through.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The Syntax of Regular Expressions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grammar of the poster: a few symbols, each with a fixed meaning.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5 /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Without a pattern: checking by hand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32232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message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'Call me at 415-555-1011 tomorrow. 415-555-9999 is my office.'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172718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message holds two phone numbers. A pattern has to find both of them.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21079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digits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4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7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8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isdecimal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is_phone_number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12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and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7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'-'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and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digits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1991995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check wants 12 characters, hyphens at positions 3 and 7, and digits everywhere else. isdecimal tests the digits.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340356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is_phone_number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'415-555-4242'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is_phone_number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'Moshi moshi'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message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12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message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is_phone_number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message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12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2811272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Slide a 12-character window along the message and keep every window that passes. It works, but it is long.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177921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452241"/>
          <a:ext cx="5720485" cy="1156332"/>
        </p:xfrm>
        <a:graphic>
          <a:graphicData uri="http://schemas.openxmlformats.org/drawingml/2006/table">
            <a:tbl>
              <a:tblPr firstRow="0" bandRow="0"/>
              <a:tblGrid>
                <a:gridCol w="1430121"/>
                <a:gridCol w="2530215"/>
                <a:gridCol w="1760149"/>
              </a:tblGrid>
              <a:tr h="19272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Window starts 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The 12 characters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is_phone_number says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9272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'Call me at 4'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72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'me at 415-55'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9272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'415-555-1011'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272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'1011 tomorro'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9272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'415-555-9999'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"/>
          <p:cNvGraphicFramePr>
            <a:graphicFrameLocks noGrp="1"/>
          </p:cNvGraphicFramePr>
          <p:nvPr/>
        </p:nvGraphicFramePr>
        <p:xfrm>
          <a:off x="6422745" y="3452241"/>
          <a:ext cx="2355494" cy="115633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hand-written check is long; a pattern replaces it.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one 1968 paper is why compile comes first</a:t>
            </a:r>
          </a:p>
        </p:txBody>
      </p:sp>
      <p:pic>
        <p:nvPicPr>
          <p:cNvPr id="4" name="photo thompson" descr="Picture for the story: one 1968 paper is why compile comes fir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25239"/>
            <a:ext cx="2651760" cy="2812961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Ken Thompson, 2019. Photo: A.C.Diller, CC BY-SA 4.0,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Ken Thompson of Bell Labs.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search algorithm that first compiles the pattern, then searches the text with the compiled form.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June 1968, in Communications of the ACM, volume 11, number 6.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Bell Labs; he had already built the idea into the QED text editor.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17296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17296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pattern that is prepared once can be reused on a lot of text.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794759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794759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re.compile() prepares the pattern; search() then runs it on the text.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434839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Thompson's construction (Wikipedia)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compile and search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Compiling is writing the poster once; searching is walking the street with it.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27432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re.compile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Printing the poster once, so you can carry it to many streets.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Walking along the street and stopping at the first face that fits.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Match object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photo the guard brings back: the face, and the house number where it stood.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Asking the photo for the face, or for one part of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Asking the photo for every labelled part at once.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compile, search and the Match object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919472" cy="72332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compile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'\d{3}-\d{3}-\d{4}'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266944" y="841248"/>
            <a:ext cx="3511295" cy="72332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re.compile turns the pattern text into a Pattern object. The r in front keeps every backslash as typed.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19440"/>
            <a:ext cx="4919472" cy="74066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'My number is 415-555-4242.'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'no digits here'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266944" y="1619440"/>
            <a:ext cx="3511295" cy="74066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search returns a Match object for the first match. group gives its text, span its position. No match gives None.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43325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07576"/>
            <a:ext cx="274320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pattern \d{3}-\d{3}-\d{4}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3154679" y="2844736"/>
            <a:ext cx="365761" cy="0"/>
          </a:xfrm>
          <a:prstGeom prst="line">
            <a:avLst/>
          </a:prstGeom>
          <a:ln w="1905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2707576"/>
            <a:ext cx="24688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mo = phone.search(text)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7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1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599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3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7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-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8660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3091624"/>
            <a:ext cx="2971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439096"/>
            <a:ext cx="2971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667696"/>
            <a:ext cx="274320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mo.group() = '415-555-4242'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3667696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mo.span() = (13, 25)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94960" y="3667696"/>
            <a:ext cx="3291840" cy="274320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5B6773"/>
                </a:solidFill>
                <a:latin typeface="Courier New"/>
              </a:rPr>
              <a:t>no digits: None</a:t>
            </a:r>
          </a:p>
        </p:txBody>
      </p:sp>
      <p:sp>
        <p:nvSpPr>
          <p:cNvPr id="4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compile once, search many times; no match gives None.</a:t>
            </a:r>
          </a:p>
        </p:txBody>
      </p:sp>
      <p:sp>
        <p:nvSpPr>
          <p:cNvPr id="4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9 /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match, search and fullmatch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8572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match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'c'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'abcdef'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match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'abcdef'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36116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match looks only at the start of the text. It finds a at once, but finds nothing for c.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08289"/>
            <a:ext cx="8412480" cy="58572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'c'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'abcdef'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fullmatch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'p.*n'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'python'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fullmatch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'abc'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'abcdef'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03157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search looks anywhere in the text. fullmatch needs the whole text to fit the pattern.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79361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067939"/>
          <a:ext cx="5215736" cy="1540632"/>
        </p:xfrm>
        <a:graphic>
          <a:graphicData uri="http://schemas.openxmlformats.org/drawingml/2006/table">
            <a:tbl>
              <a:tblPr firstRow="0" bandRow="0"/>
              <a:tblGrid>
                <a:gridCol w="1232810"/>
                <a:gridCol w="1043147"/>
                <a:gridCol w="1137979"/>
                <a:gridCol w="1801800"/>
              </a:tblGrid>
              <a:tr h="25677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567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'c'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'abcdef'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7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'abcdef'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'a' at (0, 1)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567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search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'c'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'abcdef'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'c' at (2, 3)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7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fullmatch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'p.*n'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'python'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'python' at (0, 6)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5677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fullmatch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'abc'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'abcdef'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17996" y="3067939"/>
            <a:ext cx="2860243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where each function looks in 'abcdef'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1799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31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663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095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527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9596" y="338797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9636" y="3387979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F2933"/>
                </a:solidFill>
                <a:latin typeface="Courier New"/>
              </a:rPr>
              <a:t>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799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31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663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095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527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89596" y="375373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9636" y="3753739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F2933"/>
                </a:solidFill>
                <a:latin typeface="Courier New"/>
              </a:rPr>
              <a:t>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1799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31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663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095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527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9596" y="4119499"/>
            <a:ext cx="251459" cy="256032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9636" y="4119499"/>
            <a:ext cx="109728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F2933"/>
                </a:solidFill>
                <a:latin typeface="Courier New"/>
              </a:rPr>
              <a:t>fullmatch</a:t>
            </a:r>
          </a:p>
        </p:txBody>
      </p:sp>
      <p:sp>
        <p:nvSpPr>
          <p:cNvPr id="32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match = start, search = anywhere, fullmatch = all.</a:t>
            </a:r>
          </a:p>
        </p:txBody>
      </p:sp>
      <p:sp>
        <p:nvSpPr>
          <p:cNvPr id="3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the engine under re, logged since 1999</a:t>
            </a:r>
          </a:p>
        </p:txBody>
      </p:sp>
      <p:pic>
        <p:nvPicPr>
          <p:cNvPr id="4" name="photo sre" descr="Picture for the story: the engine under re, logged since 19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005839"/>
            <a:ext cx="2651760" cy="265176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Python logo. Source: python.org, Python Software Foundation, used under its trademark policy.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Secret Labs AB, copyright holder of the engine from 1997 to 2001; Guido van Rossum later fixed a leak in sub().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46304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46304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C source of the regular expression engine behind every Pattern and Match object.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2084832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2084832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history log inside the file opens on 24 October 1999.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Modules/_sre.c in the CPython source, Python's own repository.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17296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17296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Hewlett-Packard funded the work needed to fold the engine into Python 1.6.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794759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794759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Every mo.group() and mo.span() call of this chapter reaches that engine.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434839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Modules/_sre.c, CPython source (googlesource.com)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2: Groups and character sets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Which parts to keep, and which single characters may fit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Group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Parentheses keep one part of the match, numbered from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Pipe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choice between alternatives inside a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Character set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Brackets list the characters allowed at one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Shorthand class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\d, \w and \s name the most common sets.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32004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groups and sets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Groups: parentheses make numbered parts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The pipe: a choice inside a group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Named groups and back references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a mathematician named the patte...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Character sets: which single character...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Shorthand classes and the dot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\d, \w and \s came with Perl in...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groups and sets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Parentheses are the pockets of a jacket: each holds one part, and each pocket has a number.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27432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Groups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Pockets sewn into the jacket, numbered from the left.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The pipe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fork in the road: take the first branch that fits.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Shorthand classes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Short names for crowds: \d is 'any digit', \w 'any letter or digit', \s 'any blank'.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The dot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blank tile in a board game: it stands for any one character except a line break.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Qualifier Syntax: What Characters to 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vending machine slot: one coin from this set, nothing else.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Groups: parentheses make numbered parts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237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'(\d\d\d)-(\d\d\d-\d\d\d\d)'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'My number is 415-555-4242.'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74140"/>
            <a:ext cx="8412480" cy="5090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Each pair of parentheses makes a group. Groups are numbered from 1, in the order of their opening parenthesis.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28876"/>
            <a:ext cx="8412480" cy="5237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61768"/>
            <a:ext cx="8412480" cy="3185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group(0) is the whole match. group(1) and group(2) are the parts. groups returns all the parts as a tuple.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84429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7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1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599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3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7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-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-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941571"/>
            <a:ext cx="29717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3530092"/>
            <a:ext cx="182880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group(1) = '415'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79" y="3530092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group(2) = '555-4242'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5006340" y="3822700"/>
            <a:ext cx="0" cy="109728"/>
          </a:xfrm>
          <a:prstGeom prst="line">
            <a:avLst/>
          </a:prstGeom>
          <a:ln w="1524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rrow"/>
          <p:cNvCxnSpPr/>
          <p:nvPr/>
        </p:nvCxnSpPr>
        <p:spPr>
          <a:xfrm>
            <a:off x="7086600" y="3822700"/>
            <a:ext cx="0" cy="109728"/>
          </a:xfrm>
          <a:prstGeom prst="line">
            <a:avLst/>
          </a:prstGeom>
          <a:ln w="15240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65760" y="3118612"/>
            <a:ext cx="38404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group(0) = '415-555-4242'   the whole match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3118612"/>
            <a:ext cx="429768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groups() = ('415', '555-4242')</a:t>
            </a:r>
          </a:p>
        </p:txBody>
      </p:sp>
      <p:sp>
        <p:nvSpPr>
          <p:cNvPr id="4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Parentheses make numbered groups; the pipe offers choices.</a:t>
            </a:r>
          </a:p>
        </p:txBody>
      </p:sp>
      <p:sp>
        <p:nvSpPr>
          <p:cNvPr id="4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14 /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The pipe: a choice inside a group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'Cat(erpillar|astrophe|ch|egory)'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'Catch me if you can.'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05128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pipe offers alternatives inside a group. The pattern matches the first alternative that fits.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77301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'Cat(erpillar|astrophe|ch|egory)'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'Catch me if you can.'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'(Cat|Dog)s?'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'Dogs bark'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341181"/>
            <a:ext cx="8412480" cy="52489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group(1) is only the part inside the parentheses. An optional s after a group lets one pattern take a plural.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930080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204400"/>
          <a:ext cx="4626864" cy="1170145"/>
        </p:xfrm>
        <a:graphic>
          <a:graphicData uri="http://schemas.openxmlformats.org/drawingml/2006/table">
            <a:tbl>
              <a:tblPr firstRow="0" bandRow="0"/>
              <a:tblGrid>
                <a:gridCol w="2313432"/>
                <a:gridCol w="2313432"/>
              </a:tblGrid>
              <a:tr h="234029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Alternative after Cat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Fits 'Catch me...'?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34029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erpillar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4029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astrophe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34029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</a:tr>
              <a:tr h="234029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egory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13248" y="3204400"/>
            <a:ext cx="3200400" cy="29260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whole match: 'Catch'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3615880"/>
            <a:ext cx="3200400" cy="29260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group(1): 'ch'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4027360"/>
            <a:ext cx="3200400" cy="2926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(Cat|Dog)s? on 'Dogs bark': 'Dogs'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The pipe is a choice inside a group.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Named groups and back references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05663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match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'(?P&lt;first&gt;\w+) (?P&lt;last&gt;\w+)'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'Malcolm Reynolds'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04104" y="841248"/>
            <a:ext cx="337413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mark ?P&lt;name&gt; gives a group a name. Now the parts can be reached by name, not by number.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48003"/>
            <a:ext cx="5056631" cy="47726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groupdict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'last'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04104" y="1548003"/>
            <a:ext cx="3374136" cy="47726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groupdict returns a dictionary of every named group.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80133"/>
            <a:ext cx="5056631" cy="47726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'\b(\w+) \1\b'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'this is is a typo'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04104" y="2080133"/>
            <a:ext cx="3374136" cy="47726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back reference such as \1 repeats what group 1 matched. It finds the doubled word.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630551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2904870"/>
          <a:ext cx="3383280" cy="932688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192024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 name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Text it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first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'Malcolm'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last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'Reynolds'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1480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45534"/>
            <a:ext cx="2514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645534"/>
            <a:ext cx="2514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79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45534"/>
            <a:ext cx="2514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645534"/>
            <a:ext cx="2514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3316351"/>
            <a:ext cx="251459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2904870"/>
            <a:ext cx="466344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\b(\w+) \1\b  finds 'is is' at (5, 10)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56431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group 1 = 'is'</a:t>
            </a:r>
          </a:p>
        </p:txBody>
      </p:sp>
      <p:cxnSp>
        <p:nvCxnSpPr>
          <p:cNvPr id="35" name="arrow"/>
          <p:cNvCxnSpPr/>
          <p:nvPr/>
        </p:nvCxnSpPr>
        <p:spPr>
          <a:xfrm flipV="1">
            <a:off x="4572000" y="3828414"/>
            <a:ext cx="1051560" cy="128017"/>
          </a:xfrm>
          <a:prstGeom prst="line">
            <a:avLst/>
          </a:prstGeom>
          <a:ln w="1524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name makes a group readable.</a:t>
            </a:r>
          </a:p>
        </p:txBody>
      </p:sp>
      <p:sp>
        <p:nvSpPr>
          <p:cNvPr id="3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a mathematician named the pattern in 1951</a:t>
            </a:r>
          </a:p>
        </p:txBody>
      </p:sp>
      <p:pic>
        <p:nvPicPr>
          <p:cNvPr id="4" name="photo kleene" descr="Picture for the story: a mathematician named the pattern in 19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36" y="868680"/>
            <a:ext cx="2015206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Stephen Cole Kleene, circa 1963. Photo: Harold N. Hone, public domain,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Stephen Cole Kleene, mathematician at the University of Wisconsin-Madison, working for the RAND Corporation.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46304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46304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He defined the regular event, built from concatenation, union and repetition.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208483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208483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1951, in RAND Research Memorandum RM-704; Kleene was born on 5 January 1909.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706624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706624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RAND Corporation in Santa Monica, California.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17296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17296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He modelled nerve nets and finite automata with sequences of symbols.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794759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794759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pipe in Cat(erpillar|astrophe) is his union; the star and the plus are his repetition.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434839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Stephen Cole Kleene (Wikipedia)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Character sets: which single character fits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5193791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'RoboCop eats BABY FOOD.'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41264" y="841248"/>
            <a:ext cx="3236976" cy="55473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One sample sentence to search with character sets.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50848"/>
            <a:ext cx="5193791" cy="72332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'[aeiouAEIOU]'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join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'[^aeiouAEIOU]'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41264" y="1450848"/>
            <a:ext cx="3236976" cy="72332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Brackets list the characters allowed at one position. A caret after the bracket turns the set upside down.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24732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521648"/>
          <a:ext cx="5552235" cy="822960"/>
        </p:xfrm>
        <a:graphic>
          <a:graphicData uri="http://schemas.openxmlformats.org/drawingml/2006/table">
            <a:tbl>
              <a:tblPr firstRow="0" bandRow="0"/>
              <a:tblGrid>
                <a:gridCol w="1561566"/>
                <a:gridCol w="3383394"/>
                <a:gridCol w="60727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findall returns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[aeiouAEIOU]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['o', 'o', 'o', 'e', 'a', 'A', 'O', 'O']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[^aeiouAEIOU]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15 characters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6424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53312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088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3976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40864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7752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81528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8416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75304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22192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2856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9744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6632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0408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97296" y="3481768"/>
            <a:ext cx="224028" cy="274320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783520"/>
            <a:ext cx="84124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1">
                <a:solidFill>
                  <a:srgbClr val="5B6773"/>
                </a:solidFill>
                <a:latin typeface="Calibri"/>
              </a:rPr>
              <a:t>amber: found by the first set    teal: found by the second set</a:t>
            </a:r>
          </a:p>
        </p:txBody>
      </p:sp>
      <p:graphicFrame>
        <p:nvGraphicFramePr>
          <p:cNvPr id="34" name="chart"/>
          <p:cNvGraphicFramePr>
            <a:graphicFrameLocks noGrp="1"/>
          </p:cNvGraphicFramePr>
          <p:nvPr/>
        </p:nvGraphicFramePr>
        <p:xfrm>
          <a:off x="6170371" y="2521648"/>
          <a:ext cx="2607868" cy="1234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Brackets list the allowed characters; a caret reverses.</a:t>
            </a:r>
          </a:p>
        </p:txBody>
      </p:sp>
      <p:sp>
        <p:nvSpPr>
          <p:cNvPr id="3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Shorthand classes and the dot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1671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'\d+\s\w+'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'12 drummers, 11 pipers, 10 lords'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67104"/>
            <a:ext cx="8412480" cy="52489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\d, \w and \s are whole sets by name: digit, word character, space. A plus after them means one or more.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2037715"/>
            <a:ext cx="8412480" cy="39979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'.at'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'The cat in the hat sat on the flat mat.'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46655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dot matches any one character except a line break. Here it takes the letter before at.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83711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111436"/>
          <a:ext cx="5552236" cy="932688"/>
        </p:xfrm>
        <a:graphic>
          <a:graphicData uri="http://schemas.openxmlformats.org/drawingml/2006/table">
            <a:tbl>
              <a:tblPr firstRow="0" bandRow="0"/>
              <a:tblGrid>
                <a:gridCol w="1110447"/>
                <a:gridCol w="3929275"/>
                <a:gridCol w="512514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findall returns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\d+\s\w+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['12 drummers', '11 pipers', '10 lords']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.at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['cat', 'hat', 'sat', 'lat', 'mat']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6170371" y="3111436"/>
          <a:ext cx="2607868" cy="1280160"/>
        </p:xfrm>
        <a:graphic>
          <a:graphicData uri="http://schemas.openxmlformats.org/drawingml/2006/table">
            <a:tbl>
              <a:tblPr firstRow="0" bandRow="0"/>
              <a:tblGrid>
                <a:gridCol w="629485"/>
                <a:gridCol w="1978383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Means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\d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 digit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\w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 letter, digit or _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\s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 blank or line break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any one character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\d \w \s are named sets; the dot is any character.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\d, \w and \s came with Perl in 1987</a:t>
            </a:r>
          </a:p>
        </p:txBody>
      </p:sp>
      <p:pic>
        <p:nvPicPr>
          <p:cNvPr id="4" name="photo perl" descr="Picture for the story: \d, \w and \s came with Perl in 19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12" y="868680"/>
            <a:ext cx="2080655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Larry Wall, 2007. Photo: Randal Schwartz, CC BY-SA 2.0, Wikimedia Commons.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Larry Wall, a programmer at Unisys.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Perl 1.0, a language whose patterns use the shorthand classes \d, \w and \s.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18 December 1987; Perl 2, with a much better pattern engine, followed in June 1988.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Unisys in Culver City, California.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01752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01752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Text work needs patterns, and Perl made them popular for scripting.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639311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639311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Python's re documentation still says its operations are similar to those found in Perl.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279391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Perl (Wikipedia)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3: How many, and where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Quantifiers count the repeats; anchors pin the match to a place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Quantifier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symbol that says how many times a part repeats.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Greedy or lazy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Take as much as possible, or as little as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Anchor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caret or a dollar sign pins the match to an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Look-around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Check the neighbours of a position without taking them.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92608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how many, and where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Quantifiers: optional, star and plus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Quantifiers: exact counts and ranges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Greedy or lazy: how much to take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Anchors: the start and the end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Word boundaries: \b and \B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Look-around: test beside a position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21 /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how many, and where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quantifier is a counter at a turnstile; an anchor is the door at either end of the corridor.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Quantifier Syntax: How Many Qualifiers to 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sign that says 'one, or none', 'any number', or 'three to five'.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Greedy and Non-greedy Matching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Filling a bag: the greedy shopper takes everything, the lazy one stops at the first item.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Matching at the Start and End of a String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first and the last door of a corridor: the match must touch them.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Optional, star and plus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turnstile sign: 'one or none', 'any number', 'at least one'.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Curly brackets {n,m}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ticket limit: exactly three, or between three and five.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Word boundary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gap between two words on a printed line.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Look-around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sign next to a door without walking through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Quantifiers: optional, star and plus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8572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'42!?'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'42'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'42!?'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'42!'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36116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question mark makes the part before it optional: zero or one time.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08289"/>
            <a:ext cx="8412480" cy="58572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'Eggs( and spam)*'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'Eggs and spam and spam'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'Eggs( and spam)+'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'Eggs'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03157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star means zero or more times. A plus means one or more times, so it needs at least one repeat.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79361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067939"/>
          <a:ext cx="5720485" cy="1463040"/>
        </p:xfrm>
        <a:graphic>
          <a:graphicData uri="http://schemas.openxmlformats.org/drawingml/2006/table">
            <a:tbl>
              <a:tblPr firstRow="0" bandRow="0"/>
              <a:tblGrid>
                <a:gridCol w="1608886"/>
                <a:gridCol w="2323947"/>
                <a:gridCol w="17876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42!?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'42'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'42' at (0, 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42!?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'42!'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'42!' at (0, 3)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Eggs( and spam)*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'Eggs and spam and spam'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span (0, 22)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Eggs( and spam)+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'Eggs'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no 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6338620" y="3067939"/>
          <a:ext cx="2439618" cy="1243584"/>
        </p:xfrm>
        <a:graphic>
          <a:graphicData uri="http://schemas.openxmlformats.org/drawingml/2006/table">
            <a:tbl>
              <a:tblPr firstRow="0" bandRow="0"/>
              <a:tblGrid>
                <a:gridCol w="813206"/>
                <a:gridCol w="162641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Times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0 or 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*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0 or more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+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 or more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? * + and {n,m} say how many.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Quantifiers: exact counts and ranges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74066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fullmatch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'(Ha){3,5}'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'HaHaHaHa'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not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fullmatch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'(Ha){3}'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'HaHaHaHa'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591056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Curly brackets give an exact count or a range. Three to five Ha fits four, but exactly three does not.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63229"/>
            <a:ext cx="8412480" cy="3688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'\d{2,4}'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'1 22 333 4444 55555'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341181"/>
            <a:ext cx="8412480" cy="52489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range keeps what fits. Two to four digits skips the single 1 and takes the first four digits of 55555.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930080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204400"/>
          <a:ext cx="5047485" cy="932688"/>
        </p:xfrm>
        <a:graphic>
          <a:graphicData uri="http://schemas.openxmlformats.org/drawingml/2006/table">
            <a:tbl>
              <a:tblPr firstRow="0" bandRow="0"/>
              <a:tblGrid>
                <a:gridCol w="1402080"/>
                <a:gridCol w="1589023"/>
                <a:gridCol w="1215135"/>
                <a:gridCol w="84124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Fits?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(Ha){3,5}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'HaHaHaHa'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fullmatch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(Ha){3}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'HaHaHaHa'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fullmatch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5749747" y="3204400"/>
          <a:ext cx="3028492" cy="14041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255960"/>
            <a:ext cx="504748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0" i="1">
                <a:solidFill>
                  <a:srgbClr val="5B6773"/>
                </a:solidFill>
                <a:latin typeface="Calibri"/>
              </a:rPr>
              <a:t>findall(r'\d{2,4}') returns ['22', '333', '4444', '5555']</a:t>
            </a:r>
          </a:p>
        </p:txBody>
      </p:sp>
      <p:sp>
        <p:nvSpPr>
          <p:cNvPr id="12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{n} is exact, {n,m} is a range.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Greedy or lazy: how much to take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98805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'(Ha){3,5}'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'HaHaHaHaHa'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'(Ha){3,5}?'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'HaHaHaHaHa'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335524" y="841248"/>
            <a:ext cx="344271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quantifier takes as much as it can. A question mark after it makes it take as little as it can.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48003"/>
            <a:ext cx="498805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'&lt;.*?&gt;'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'&lt;To serve man&gt; for dinner.&gt;'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'&lt;.*&gt;'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'&lt;To serve man&gt; for dinner.&gt;'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335524" y="1548003"/>
            <a:ext cx="344271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same rule for the dot-star. Lazy stops at the first closing bracket. Greedy runs to the last one.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27304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365760" y="2547366"/>
          <a:ext cx="4206240" cy="206121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4824374" y="2638806"/>
          <a:ext cx="3953864" cy="1645920"/>
        </p:xfrm>
        <a:graphic>
          <a:graphicData uri="http://schemas.openxmlformats.org/drawingml/2006/table">
            <a:tbl>
              <a:tblPr firstRow="0" bandRow="0"/>
              <a:tblGrid>
                <a:gridCol w="1379255"/>
                <a:gridCol w="735602"/>
                <a:gridCol w="1839007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It took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(Ha){3,5}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HaHaHaHaHa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(Ha){3,5}?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lazy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HaHaHa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&lt;.*?&gt;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lazy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&lt;To serve man&gt;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&lt;.*&gt;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&lt;To serve man&gt; for di...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Greedy takes the most; a question mark makes it lazy.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Anchors: the start and the end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866132" cy="699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'^\d+$'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'1234567890'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span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'^\d+$'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'12345xyz67890'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213604" y="841248"/>
            <a:ext cx="3564635" cy="699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caret anchors the pattern to the start and a dollar sign to the end. Together they demand digits from edge to edge.</a:t>
            </a:r>
          </a:p>
        </p:txBody>
      </p:sp>
      <p:sp>
        <p:nvSpPr>
          <p:cNvPr id="6" name="result label"/>
          <p:cNvSpPr txBox="1"/>
          <p:nvPr/>
        </p:nvSpPr>
        <p:spPr>
          <a:xfrm>
            <a:off x="365760" y="161391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760" y="1888236"/>
          <a:ext cx="4879237" cy="877824"/>
        </p:xfrm>
        <a:graphic>
          <a:graphicData uri="http://schemas.openxmlformats.org/drawingml/2006/table">
            <a:tbl>
              <a:tblPr firstRow="0" bandRow="0"/>
              <a:tblGrid>
                <a:gridCol w="1032146"/>
                <a:gridCol w="2064293"/>
                <a:gridCol w="1782798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^\d+$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1234567890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match at (0, 10)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^\d+$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12345xyz67890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B83A1B"/>
                          </a:solidFill>
                          <a:latin typeface="Courier New"/>
                        </a:rPr>
                        <a:t>no 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581497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8385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5273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2161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9049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5937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62825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9713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6601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3489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0377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7265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4153" y="1888236"/>
            <a:ext cx="224028" cy="292608"/>
          </a:xfrm>
          <a:prstGeom prst="roundRect">
            <a:avLst>
              <a:gd name="adj" fmla="val 10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1497" y="22174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letters xyz break the run of digits, so the whole text cannot match</a:t>
            </a:r>
          </a:p>
        </p:txBody>
      </p:sp>
      <p:graphicFrame>
        <p:nvGraphicFramePr>
          <p:cNvPr id="22" name="table"/>
          <p:cNvGraphicFramePr>
            <a:graphicFrameLocks noGrp="1"/>
          </p:cNvGraphicFramePr>
          <p:nvPr/>
        </p:nvGraphicFramePr>
        <p:xfrm>
          <a:off x="365760" y="2939796"/>
          <a:ext cx="4879238" cy="1143000"/>
        </p:xfrm>
        <a:graphic>
          <a:graphicData uri="http://schemas.openxmlformats.org/drawingml/2006/table">
            <a:tbl>
              <a:tblPr firstRow="0" bandRow="0"/>
              <a:tblGrid>
                <a:gridCol w="938315"/>
                <a:gridCol w="3940923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Where it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^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at the start of the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$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at the end, or before a final newline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\b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at the edge of a word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\B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anywhere that is not a word edge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2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^ and $ pin the ends; \b marks word edges.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Word boundaries: \b and \B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'\bcat\w*'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'The cat found a catapult catalog in the catacombs.'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05128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\b is the edge of a word. This pattern finds each word that starts with cat.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77301"/>
            <a:ext cx="8412480" cy="3688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'\Bcat\B'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'certificate'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155253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\B is a place that is not an edge. So it finds cat only when it sits inside a word.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545715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820035"/>
          <a:ext cx="5720485" cy="1097280"/>
        </p:xfrm>
        <a:graphic>
          <a:graphicData uri="http://schemas.openxmlformats.org/drawingml/2006/table">
            <a:tbl>
              <a:tblPr firstRow="0" bandRow="0"/>
              <a:tblGrid>
                <a:gridCol w="1024564"/>
                <a:gridCol w="1963749"/>
                <a:gridCol w="27321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\bcat\w*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The cat found a catapult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['cat', 'catapult', 'catalog', 'catacombs']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\Bcat\B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certificate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F855A"/>
                          </a:solidFill>
                          <a:latin typeface="Courier New"/>
                        </a:rPr>
                        <a:t>['cat']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38620" y="2820035"/>
            <a:ext cx="2377440" cy="256032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inside a word: no 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8620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76364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4108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1852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9596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7340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65084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2828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0572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8316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6060" y="3167507"/>
            <a:ext cx="214884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22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\b is a word edge; \B is anywhere else.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Look-around: test beside a position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1671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'\d+(?= dollars)'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'5 dollars and 7 euros'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67104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look-ahead (?=...) checks what comes next. It takes no characters, so only the digits are returned.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39277"/>
            <a:ext cx="8412480" cy="39979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'(?&lt;=\$)\d+'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'cost $30 or 40'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248217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look-behind (?&lt;=...) checks what came before. Only the amount after the dollar sign is returned.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3867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3479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1016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353479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76272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78024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9776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81528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3479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5032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86784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8536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92040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53479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93792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95544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97296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9048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20560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3479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2912999"/>
            <a:ext cx="3108960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\d+(?= dollars)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3223895"/>
            <a:ext cx="1828800" cy="29260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returns ['5']</a:t>
            </a:r>
          </a:p>
        </p:txBody>
      </p:sp>
      <p:cxnSp>
        <p:nvCxnSpPr>
          <p:cNvPr id="37" name="arrow"/>
          <p:cNvCxnSpPr/>
          <p:nvPr/>
        </p:nvCxnSpPr>
        <p:spPr>
          <a:xfrm>
            <a:off x="6720840" y="3370199"/>
            <a:ext cx="182880" cy="0"/>
          </a:xfrm>
          <a:prstGeom prst="line">
            <a:avLst/>
          </a:prstGeom>
          <a:ln w="19050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65760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0347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71016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20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$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20" y="440347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76272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8024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79776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81528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83280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403471"/>
            <a:ext cx="2788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B6773"/>
                </a:solidFill>
                <a:latin typeface="Calibri"/>
              </a:rPr>
              <a:t>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85032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·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86784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88536" y="4074287"/>
            <a:ext cx="278892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3781679"/>
            <a:ext cx="3108960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(?&lt;=\$)\d+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4092575"/>
            <a:ext cx="1828800" cy="29260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returns ['30']</a:t>
            </a:r>
          </a:p>
        </p:txBody>
      </p:sp>
      <p:cxnSp>
        <p:nvCxnSpPr>
          <p:cNvPr id="57" name="arrow"/>
          <p:cNvCxnSpPr/>
          <p:nvPr/>
        </p:nvCxnSpPr>
        <p:spPr>
          <a:xfrm>
            <a:off x="6720840" y="4238879"/>
            <a:ext cx="182880" cy="0"/>
          </a:xfrm>
          <a:prstGeom prst="line">
            <a:avLst/>
          </a:prstGeom>
          <a:ln w="19050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657600" y="2912999"/>
            <a:ext cx="5029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1">
                <a:solidFill>
                  <a:srgbClr val="5B6773"/>
                </a:solidFill>
                <a:latin typeface="Calibri"/>
              </a:rPr>
              <a:t>amber: returned    teal: only checked, not taken</a:t>
            </a:r>
          </a:p>
        </p:txBody>
      </p:sp>
      <p:sp>
        <p:nvSpPr>
          <p:cNvPr id="5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look-around checks a neighbour and takes nothing.</a:t>
            </a:r>
          </a:p>
        </p:txBody>
      </p:sp>
      <p:sp>
        <p:nvSpPr>
          <p:cNvPr id="6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4: Operations and flags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Find every match, split, replace, and change how a pattern behaves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findall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Returns every match as strings or as tuples of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finditer and split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Match objects with positions, and cutting text at a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sub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Replaces every match with text or with a function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Flags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Switches such as IGNORECASE, DOTALL and VERBOSE.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32004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finding all and rep...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findall: every match at once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finditer and split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Substituting text with sub()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sub() with a function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Flags: ignore case and match the newline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Verbose mode: layout and comments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Combining the flags with the pipe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finding all and replacing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findall is a highlighter pen; sub is a correction pen that goes over each mark.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findall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 highlighter pen that marks every hit on the page and hands you the list.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Finding every match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whole page, not stopping at the first hit.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Substituting Strings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Mail-merge: every place that matches is overwritten with new text.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Substitution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Correction fluid over every mistake, with the new word written in.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sub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 find-and-replace button that can also run a small calculation per hit.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Case-Insensitive Matching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 search that ignores whether the letter is shouted or whispered.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Managing Complex Regexes with Verbose Mode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 recipe with margin notes: the cook ignores the notes, the reader needs them.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Combining re.IGNORECASE, re.DOTALL, and re.VERBOSE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Three switches on one panel, joined with the pipe into one setting.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findall: every match at once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'\d{3}-\d{3}-\d{4}'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'Cell: 415-555-9999 Work: 212-555-0000'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05128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findall returns a list of every match. With no groups in the pattern, each item is a string.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77301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'(\w+)=(\d+)'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'set width=20 and height=10'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compile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'\d{3}'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'123456'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341181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With groups, each item is a tuple of the groups. Matches never overlap, so 123456 gives two items.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73164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005963"/>
          <a:ext cx="8412480" cy="1053972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1097280"/>
                <a:gridCol w="4114800"/>
                <a:gridCol w="1005840"/>
              </a:tblGrid>
              <a:tr h="263493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Groups in 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findall returns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Item type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6349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\d{3}-\d{3}-\d{4}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['415-555-9999', '212-555-0000']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349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(\w+)=(\d+)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[('width', '20'), ('height', '10')]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tuple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63493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\d{3}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['123', '456']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33856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1952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97096"/>
            <a:ext cx="361187" cy="310896"/>
          </a:xfrm>
          <a:prstGeom prst="roundRect">
            <a:avLst>
              <a:gd name="adj" fmla="val 10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197096"/>
            <a:ext cx="585216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0" i="1">
                <a:solidFill>
                  <a:srgbClr val="5B6773"/>
                </a:solidFill>
                <a:latin typeface="Calibri"/>
              </a:rPr>
              <a:t>no overlap: the second match starts after the first ends</a:t>
            </a:r>
          </a:p>
        </p:txBody>
      </p:sp>
      <p:sp>
        <p:nvSpPr>
          <p:cNvPr id="1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Groups decide the shape: strings or tuples.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finditer and split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'He was carefully disguised but captured quickly by police.'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12164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sentence with two words that end in ly.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60525"/>
            <a:ext cx="8412480" cy="32232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finditer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'\w+ly\b'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1991995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finditer hands out one Match object per match. Each one knows where it starts and ends.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340356"/>
            <a:ext cx="8412480" cy="32232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split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',\s*'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'a, b,c,   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2671826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split cuts the text wherever the pattern matches. Here the cut is a comma and any spaces after it.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38475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312795"/>
          <a:ext cx="3364991" cy="932688"/>
        </p:xfrm>
        <a:graphic>
          <a:graphicData uri="http://schemas.openxmlformats.org/drawingml/2006/table">
            <a:tbl>
              <a:tblPr firstRow="0" bandRow="0"/>
              <a:tblGrid>
                <a:gridCol w="769141"/>
                <a:gridCol w="769141"/>
                <a:gridCol w="182670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group()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carefully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47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quickly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151376" y="3312795"/>
            <a:ext cx="448056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re.split(r',\s*', 'a, b,c,   d')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3998595"/>
            <a:ext cx="109728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'a'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3998595"/>
            <a:ext cx="109728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'b'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8816" y="3998595"/>
            <a:ext cx="109728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'c'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7536" y="3998595"/>
            <a:ext cx="1097280" cy="329184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'd'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5980176" y="3605403"/>
            <a:ext cx="0" cy="365760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finditer gives positions; split cuts at a pattern.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32 /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Substituting text with sub()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4614671" cy="5237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'Agent Alice contacted Agent Bob.'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962144" y="841248"/>
            <a:ext cx="3816095" cy="52374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sentence with two agent names.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19860"/>
            <a:ext cx="4614671" cy="5090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sub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'Agent \w+'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'CENSORED'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962144" y="1419860"/>
            <a:ext cx="3816095" cy="5090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sub replaces every match with the text you give. The original string is not changed.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1983740"/>
            <a:ext cx="4614671" cy="5090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sub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'Agent (\w)\w*'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'\1****'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4962144" y="1983740"/>
            <a:ext cx="3816095" cy="5090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In the replacement, \1 stands for group 1. Here it keeps the first letter of each name.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56590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0227"/>
            <a:ext cx="20116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original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23108"/>
            <a:ext cx="132588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3023108"/>
            <a:ext cx="132588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Alice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023108"/>
            <a:ext cx="13258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contacted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023108"/>
            <a:ext cx="132588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023108"/>
            <a:ext cx="132588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43147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50" b="0" i="0">
                <a:solidFill>
                  <a:srgbClr val="5B6773"/>
                </a:solidFill>
                <a:latin typeface="Courier New"/>
              </a:rPr>
              <a:t>sub(r'Agent \w+', 'CENSORED', text)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777240" y="3324859"/>
            <a:ext cx="0" cy="219456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353517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CENSORED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32887" y="353517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contacted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0016" y="353517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CENSORED.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91787"/>
            <a:ext cx="64008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50" b="0" i="0">
                <a:solidFill>
                  <a:srgbClr val="5B6773"/>
                </a:solidFill>
                <a:latin typeface="Courier New"/>
              </a:rPr>
              <a:t>sub(r'Agent (\w)\w*', r'\1****', text)</a:t>
            </a:r>
          </a:p>
        </p:txBody>
      </p:sp>
      <p:cxnSp>
        <p:nvCxnSpPr>
          <p:cNvPr id="23" name="arrow"/>
          <p:cNvCxnSpPr/>
          <p:nvPr/>
        </p:nvCxnSpPr>
        <p:spPr>
          <a:xfrm>
            <a:off x="777240" y="3873499"/>
            <a:ext cx="0" cy="219456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" y="408381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A****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32887" y="408381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contacted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0016" y="4083811"/>
            <a:ext cx="2121408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B****.</a:t>
            </a:r>
          </a:p>
        </p:txBody>
      </p:sp>
      <p:sp>
        <p:nvSpPr>
          <p:cNvPr id="2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sub makes a new string; \1 reuses a group.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sub() with a function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5473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sub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'\d+'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str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m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*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'3 cats 12 dogs'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05128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replacement may be a function. It receives each Match and returns the text to put in its place.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77301"/>
            <a:ext cx="8412480" cy="3688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2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2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escape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'a.b*c'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subn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'a'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'b'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9BE3A8"/>
                </a:solidFill>
                <a:latin typeface="Courier New"/>
              </a:rPr>
              <a:t>'banana'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2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155253"/>
            <a:ext cx="8412480" cy="52489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escape adds backslashes so special characters match themselves. subn also returns how many changes it made.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74415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018472"/>
            <a:ext cx="731520" cy="347472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3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1143000" y="3192208"/>
            <a:ext cx="548640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37360" y="3018472"/>
            <a:ext cx="18288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int(...) * 2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3611879" y="3192208"/>
            <a:ext cx="548641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3018472"/>
            <a:ext cx="731520" cy="347472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93960"/>
            <a:ext cx="731520" cy="347472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12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1143000" y="3667696"/>
            <a:ext cx="548640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37360" y="3493960"/>
            <a:ext cx="1828800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int(...) * 2</a:t>
            </a:r>
          </a:p>
        </p:txBody>
      </p:sp>
      <p:cxnSp>
        <p:nvCxnSpPr>
          <p:cNvPr id="17" name="arrow"/>
          <p:cNvCxnSpPr/>
          <p:nvPr/>
        </p:nvCxnSpPr>
        <p:spPr>
          <a:xfrm>
            <a:off x="3611879" y="3667696"/>
            <a:ext cx="548641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06240" y="3493960"/>
            <a:ext cx="731520" cy="347472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 i="0">
                <a:solidFill>
                  <a:srgbClr val="1F2933"/>
                </a:solidFill>
                <a:latin typeface="Courier New"/>
              </a:rPr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4312"/>
            <a:ext cx="4572000" cy="292608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result: 6 cats 24 dogs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212080" y="3018472"/>
          <a:ext cx="3566159" cy="1097280"/>
        </p:xfrm>
        <a:graphic>
          <a:graphicData uri="http://schemas.openxmlformats.org/drawingml/2006/table">
            <a:tbl>
              <a:tblPr firstRow="0" bandRow="0"/>
              <a:tblGrid>
                <a:gridCol w="2292531"/>
                <a:gridCol w="127362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Gives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re.escape('a.b*c')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'a\\.b\\*c'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re.subn('a', 'b', 'banana')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('bbnbnb', 3)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2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function can compute each replacement.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Flags: ignore case and match the newline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237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'robocop'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'ROBOCOP protects'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74140"/>
            <a:ext cx="8412480" cy="3185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The flag re.I (IGNORECASE) ignores the difference between capitals and small letters.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38376"/>
            <a:ext cx="8412480" cy="69418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'Serve the public trust.\nProtect the innocent.'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'.*'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'.*'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DOTALL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41702"/>
            <a:ext cx="8412480" cy="3185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The dot stops at a line break. With re.DOTALL it matches the line break too, so it reaches the end.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82422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chart"/>
          <p:cNvGraphicFramePr>
            <a:graphicFrameLocks noGrp="1"/>
          </p:cNvGraphicFramePr>
          <p:nvPr/>
        </p:nvGraphicFramePr>
        <p:xfrm>
          <a:off x="365760" y="3098546"/>
          <a:ext cx="3785615" cy="151003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4403750" y="3189986"/>
          <a:ext cx="4374488" cy="1316736"/>
        </p:xfrm>
        <a:graphic>
          <a:graphicData uri="http://schemas.openxmlformats.org/drawingml/2006/table">
            <a:tbl>
              <a:tblPr firstRow="0" bandRow="0"/>
              <a:tblGrid>
                <a:gridCol w="1861484"/>
                <a:gridCol w="251300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Matched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'robocop', re.I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'ROBOCOP'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'.*', no DOTALL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'Serve the public trust.'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'.*', re.DOTALL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'Serve the public trus...'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re.I ignores case; re.DOTALL lets the dot cross lines.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Verbose mode: layout and comments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1671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pattern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'\\d{3}  # area code\n-\\d{4}  # number'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67104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Verbose mode lets a pattern hold spaces, line breaks and comments. The two lines here are one pattern.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39277"/>
            <a:ext cx="8412480" cy="39979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pattern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'415-5551'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VERBOSE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248217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With re.VERBOSE the blanks and the comments are ignored. The pattern still matches 415-5551.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3867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12999"/>
            <a:ext cx="3474720" cy="347472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\d{3}  # area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324479"/>
            <a:ext cx="3474720" cy="347472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 i="0">
                <a:solidFill>
                  <a:srgbClr val="1F2933"/>
                </a:solidFill>
                <a:latin typeface="Courier New"/>
              </a:rPr>
              <a:t>-\d{4}  # number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3977640" y="3297047"/>
            <a:ext cx="594360" cy="0"/>
          </a:xfrm>
          <a:prstGeom prst="line">
            <a:avLst/>
          </a:prstGeom>
          <a:ln w="25400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3095879"/>
            <a:ext cx="2194560" cy="402336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 i="0">
                <a:solidFill>
                  <a:srgbClr val="1F2933"/>
                </a:solidFill>
                <a:latin typeface="Courier New"/>
              </a:rPr>
              <a:t>\d{3}-\d{4}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571367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00" b="0" i="1">
                <a:solidFill>
                  <a:srgbClr val="5B6773"/>
                </a:solidFill>
                <a:latin typeface="Calibri"/>
              </a:rPr>
              <a:t>what the engine reads: the blanks and the comments are dropped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73119"/>
            <a:ext cx="3474720" cy="292608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 i="0">
                <a:solidFill>
                  <a:srgbClr val="1F2933"/>
                </a:solidFill>
                <a:latin typeface="Courier New"/>
              </a:rPr>
              <a:t>match: '415-5551' at (0, 8)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Verbose mode allows layout and comments.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Combining the flags with the pipe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58572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both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|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|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X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36116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Join flags with the pipe. Each flag is a number, and the joined value switches all three on at once.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08289"/>
            <a:ext cx="8412480" cy="38430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both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 . b # note'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'A\nB'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both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group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'A\nB'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201735"/>
            <a:ext cx="8412480" cy="326453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Case is ignored, the dot crosses the line break, and the comment is dropped, so the pattern matches.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592197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866517"/>
          <a:ext cx="5215736" cy="1554480"/>
        </p:xfrm>
        <a:graphic>
          <a:graphicData uri="http://schemas.openxmlformats.org/drawingml/2006/table">
            <a:tbl>
              <a:tblPr firstRow="0" bandRow="0"/>
              <a:tblGrid>
                <a:gridCol w="1769625"/>
                <a:gridCol w="745105"/>
                <a:gridCol w="27010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re.I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ignore case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re.S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dot crosses a line break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re.X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64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blanks and comments ignored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re.I | re.S | re.X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82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all three at once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5917996" y="2866517"/>
          <a:ext cx="2860243" cy="174205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Join flags with the pipe: one number, three switches.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37 /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5: Patterns in programs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A real extraction task, two practice programs and a helper module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Project 3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Copy every phone number and e-mail out of a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Strong password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Four small patterns checked together with all().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regex_strip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Rebuild the strip method with one substitution.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Humre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third-party module that writes patterns as words.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56032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patterns in 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3: the phone pattern, group by...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3: extract contact information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Practice program: the strong-password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Practice program: regex_strip()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Humre: a helper module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patterns in programs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68096"/>
            <a:ext cx="813816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strong-password check is a bouncer with four small checklists instead of one huge rulebook.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63040"/>
          <a:ext cx="8412480" cy="274320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Project 3: Extract Contact Information from Large Documents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secretary who reads a thick file and copies out every phone number and e-mail.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Practice 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Exercises at the piano: short pieces that make one skill automatic.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Strong-password check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bouncer with four small checklists instead of one huge rulebook.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regex_strip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Peeling the sticker off a jar: only the edges are removed.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Humre: A Module for Human-Readable Regexes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set of LEGO bricks with names: you snap words together instead of drawing symbols.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3: the phone pattern, group by group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9418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compile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'((\d{3}|\(\d{3}\))?(\s|-|\.)?(\d{3})'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              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'(\s|-|\.)(\d{4})(\s*(ext|x|ext\.)\s*(\d{2,5}))?)'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544574"/>
            <a:ext cx="8412480" cy="3185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The phone pattern has nine groups. It allows an optional area code, separators and an optional extension.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08810"/>
            <a:ext cx="8412480" cy="5237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'Call 415.555.9950 ext. 123'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mo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groups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441702"/>
            <a:ext cx="8412480" cy="50901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groups returns all nine as a tuple that counts from item 0. The book joins item 6, the whole extension clause; item 8 holds the digits.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301472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289045"/>
          <a:ext cx="4164176" cy="1316736"/>
        </p:xfrm>
        <a:graphic>
          <a:graphicData uri="http://schemas.openxmlformats.org/drawingml/2006/table">
            <a:tbl>
              <a:tblPr firstRow="0" bandRow="0"/>
              <a:tblGrid>
                <a:gridCol w="953245"/>
                <a:gridCol w="1505124"/>
                <a:gridCol w="1705807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Group (item)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Text it caught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1 (0)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whole number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'415.555.9...'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2 (1)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area code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'415'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3 (2)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separator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4 (3)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first 3 digits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'555'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5 (4)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separator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4617720" y="3289045"/>
          <a:ext cx="4164176" cy="1097280"/>
        </p:xfrm>
        <a:graphic>
          <a:graphicData uri="http://schemas.openxmlformats.org/drawingml/2006/table">
            <a:tbl>
              <a:tblPr firstRow="0" bandRow="0"/>
              <a:tblGrid>
                <a:gridCol w="953245"/>
                <a:gridCol w="1505124"/>
                <a:gridCol w="1705807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Group (item)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Text it caught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6 (5)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last 4 digits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'9950'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7 (6)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extension clause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 ext. 123'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8 (7)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ext, x or ext.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'ext.'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9 (8)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extension digits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'123'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17720" y="4422901"/>
            <a:ext cx="4164177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red: group 7 (item 6), the clause the book joins</a:t>
            </a:r>
          </a:p>
          <a:p>
            <a:r>
              <a:rPr sz="950" b="0" i="1">
                <a:solidFill>
                  <a:srgbClr val="5B6773"/>
                </a:solidFill>
                <a:latin typeface="Calibri"/>
              </a:rPr>
              <a:t>amber: group 9 (item 8), the digits only</a:t>
            </a:r>
          </a:p>
        </p:txBody>
      </p:sp>
      <p:sp>
        <p:nvSpPr>
          <p:cNvPr id="12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Nine groups; the tuple counts from item 0; item 8 holds the digits.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40 /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3: extract contact information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compile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'(\(\d{3}\)|\d{3})?[\s.-]?(\d{3})[\s.-](\d{4})(?:\s*(?:ext|x)\.?\s*(\d{2,5}))?'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12164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shorter phone pattern with the same job. (?:...) keeps findall to four useful groups.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60525"/>
            <a:ext cx="8412480" cy="60121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email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compile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'[a-zA-Z0-9._%+-]+@[a-zA-Z0-9.-]+\.[a-zA-Z]{2,4}'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'Call 800-555-7240 or (415) 555-9900 or 415.555.9950 ext. 123. '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'Mail info@nostarch.com or media@nostarch.com.'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270886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An e-mail is a name, an at sign, a domain and an ending. The text holds three phones and two e-mails.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619248"/>
            <a:ext cx="8412480" cy="60121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show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'-'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join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 x'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else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show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phone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email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findall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3229609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findall gives one tuple per phone: area, first, last, extension. The e-mail pattern gives strings.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59625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870579"/>
          <a:ext cx="5047487" cy="841248"/>
        </p:xfrm>
        <a:graphic>
          <a:graphicData uri="http://schemas.openxmlformats.org/drawingml/2006/table">
            <a:tbl>
              <a:tblPr firstRow="0" bandRow="0"/>
              <a:tblGrid>
                <a:gridCol w="2857068"/>
                <a:gridCol w="2190419"/>
              </a:tblGrid>
              <a:tr h="2103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Phone found in the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Printed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800-555-7240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800-555-7240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(415) 555-9900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(415)-555-9900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415.555.9950 ext. 123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415-555-9950 x123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5665622" y="3870579"/>
          <a:ext cx="3112617" cy="630936"/>
        </p:xfrm>
        <a:graphic>
          <a:graphicData uri="http://schemas.openxmlformats.org/drawingml/2006/table">
            <a:tbl>
              <a:tblPr firstRow="0" bandRow="0"/>
              <a:tblGrid>
                <a:gridCol w="3112617"/>
              </a:tblGrid>
              <a:tr h="2103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E-mail found in the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info@nostarch.com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media@nostarch.com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Non-capturing groups keep the tuple short.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program: the strong-password check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60121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rules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'.{8}'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'[a-z]'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'[A-Z]'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'password1'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'PASSWORD1'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'Password'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'Sh0rt'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'Passw0rdOK'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451610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Four small patterns, one for each rule: eight characters, a small letter, a capital, a digit.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99971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is_strong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all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search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rule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rule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rules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is_strong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pws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270886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all() is True only when every rule finds a match. Four short patterns are easier to read than one long one.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3753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911856"/>
          <a:ext cx="8412478" cy="1696716"/>
        </p:xfrm>
        <a:graphic>
          <a:graphicData uri="http://schemas.openxmlformats.org/drawingml/2006/table">
            <a:tbl>
              <a:tblPr firstRow="0" bandRow="0"/>
              <a:tblGrid>
                <a:gridCol w="2127293"/>
                <a:gridCol w="1257037"/>
                <a:gridCol w="1257037"/>
                <a:gridCol w="1257037"/>
                <a:gridCol w="1257037"/>
                <a:gridCol w="1257037"/>
              </a:tblGrid>
              <a:tr h="28278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Password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.{8}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[a-z]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[A-Z]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\d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8278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password1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278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PASSWORD1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8278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Password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278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Sh0rt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8A8F98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82786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Passw0rdOK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</a:tr>
            </a:tbl>
          </a:graphicData>
        </a:graphic>
      </p:graphicFrame>
      <p:sp>
        <p:nvSpPr>
          <p:cNvPr id="10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Four small patterns beat one long one.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program: regex_strip()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841248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edge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cls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'^'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cls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'+|'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cls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'+$'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12164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edge builds a pattern for one kind of character at the start or at the end of a string.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60525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cls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'\s'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else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escape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']'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regex_strip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lambda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sub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edge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cls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131441"/>
            <a:ext cx="8412480" cy="47726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With no characters given the class is white space. Otherwise it is a bracket set of the given characters, escaped first.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654427"/>
            <a:ext cx="8412480" cy="46177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regex_strip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  hi there \n'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regex_strip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'xyhixy'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'xy'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repr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regex_strip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'[[a]]'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'[]'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365760" y="3125343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results match what str.strip gives for the same input.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49199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766312"/>
          <a:ext cx="8412479" cy="914400"/>
        </p:xfrm>
        <a:graphic>
          <a:graphicData uri="http://schemas.openxmlformats.org/drawingml/2006/table">
            <a:tbl>
              <a:tblPr firstRow="0" bandRow="0"/>
              <a:tblGrid>
                <a:gridCol w="3282919"/>
                <a:gridCol w="2051824"/>
                <a:gridCol w="2051824"/>
                <a:gridCol w="1025912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regex_strip gives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str.strip gives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Same?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  hi there \n'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'hi there'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'hi there'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'xyhixy', 'xy'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'hi'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'hi'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'[[a]]', '[]'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ourier New"/>
                        </a:rPr>
                        <a:t>'a'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2F855A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Escape the characters before you put them in a set.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Humre: A Module for Human-Readable Regexes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A third-party helper; not in the standard library and not run on the chapter page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100584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alogy"/>
          <p:cNvSpPr txBox="1"/>
          <p:nvPr/>
        </p:nvSpPr>
        <p:spPr>
          <a:xfrm>
            <a:off x="502920" y="1014984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Humre is a box of named bricks: you snap words together instead of drawing symbols.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457200" y="1645920"/>
          <a:ext cx="8229600" cy="2688336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5603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Name in the newest Humre release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builds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Name the book uses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DOLLAR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dollar sign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DOLLAR_SIGN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HASH_TAG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hash character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HASHTAG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ANYCHAR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any one character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ANY_SINGLE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ANYTHING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lazy .*?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ANYTHING_LAZY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EVERYTHING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greedy .*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ANYTHING_GREEDY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ourier New"/>
                        </a:rPr>
                        <a:t>SOMETHING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lazy .+?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ourier New"/>
                        </a:rPr>
                        <a:t>SOMETHING_LAZY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457200" y="4389120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1">
                <a:solidFill>
                  <a:srgbClr val="5B6773"/>
                </a:solidFill>
                <a:latin typeface="Calibri"/>
              </a:rPr>
              <a:t>Humre returns ordinary pattern strings for re.compile; its parse() function is not implemented yet.</a:t>
            </a:r>
          </a:p>
        </p:txBody>
      </p:sp>
      <p:sp>
        <p:nvSpPr>
          <p:cNvPr id="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Check the names in the release you install.</a:t>
            </a:r>
          </a:p>
        </p:txBody>
      </p:sp>
      <p:sp>
        <p:nvSpPr>
          <p:cNvPr id="1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Current Python adds more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Features newer than the book, from the chapter research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143000"/>
          <a:ext cx="8229598" cy="3328416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731520"/>
                <a:gridCol w="374903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Since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gives you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re.PatternError replaces re.error as the class name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re.error stays as an alias for the same class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Positional count or flags in re.sub warn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Pass count= and flags= by keyword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Possessive quantifiers and atomic groups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Match without giving characters back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The \z escape, a synonym of \Z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Matches only at the very end of the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\B matches the empty string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3.14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re.findall(r'\B', '') now gives ['']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A dollar sign also fits before a final newline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^\d+$ matches '123\n'; fullmatch does not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Run what the book printed; then check what changed.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Summary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summary is a packing list: only what you really need goes into the bag.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081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point"/>
          <p:cNvSpPr txBox="1"/>
          <p:nvPr/>
        </p:nvSpPr>
        <p:spPr>
          <a:xfrm>
            <a:off x="822960" y="1371600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 pattern is a short text that describes the shape of other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75104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oint"/>
          <p:cNvSpPr txBox="1"/>
          <p:nvPr/>
        </p:nvSpPr>
        <p:spPr>
          <a:xfrm>
            <a:off x="822960" y="1938528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Compile once, then search; a Match object holds the text and its 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4203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point"/>
          <p:cNvSpPr txBox="1"/>
          <p:nvPr/>
        </p:nvSpPr>
        <p:spPr>
          <a:xfrm>
            <a:off x="822960" y="2505456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Groups keep parts; brackets and classes choose characters; quantifiers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point"/>
          <p:cNvSpPr txBox="1"/>
          <p:nvPr/>
        </p:nvSpPr>
        <p:spPr>
          <a:xfrm>
            <a:off x="822960" y="3072384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Anchors pin the ends; greedy takes the most, lazy the least.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75887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point"/>
          <p:cNvSpPr txBox="1"/>
          <p:nvPr/>
        </p:nvSpPr>
        <p:spPr>
          <a:xfrm>
            <a:off x="822960" y="3639312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findall, finditer, split and sub do the work; flags change the rules.</a:t>
            </a:r>
          </a:p>
        </p:txBody>
      </p:sp>
      <p:sp>
        <p:nvSpPr>
          <p:cNvPr id="16" name="chart label"/>
          <p:cNvSpPr txBox="1"/>
          <p:nvPr/>
        </p:nvSpPr>
        <p:spPr>
          <a:xfrm>
            <a:off x="5212080" y="1280160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re functions in this chapter, by what they give back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120640" y="178308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pattern says what, how many, where and what to keep.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Questions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Predict first, then run it on the chapter page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alogy"/>
          <p:cNvSpPr txBox="1"/>
          <p:nvPr/>
        </p:nvSpPr>
        <p:spPr>
          <a:xfrm>
            <a:off x="502920" y="969264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Practice questions are finger scales for a pianist: short drills before the performance.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64592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question"/>
          <p:cNvSpPr txBox="1"/>
          <p:nvPr/>
        </p:nvSpPr>
        <p:spPr>
          <a:xfrm>
            <a:off x="1005840" y="168249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Why does re.search(r'&lt;.*&gt;', '&lt;a&gt; &lt;b&gt;') return '&lt;a&gt; &lt;b&gt;'? Change the pattern to return '&lt;a&gt;'.</a:t>
            </a:r>
          </a:p>
        </p:txBody>
      </p:sp>
      <p:sp>
        <p:nvSpPr>
          <p:cNvPr id="10" name="card"/>
          <p:cNvSpPr/>
          <p:nvPr/>
        </p:nvSpPr>
        <p:spPr>
          <a:xfrm>
            <a:off x="365760" y="237744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50545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question"/>
          <p:cNvSpPr txBox="1"/>
          <p:nvPr/>
        </p:nvSpPr>
        <p:spPr>
          <a:xfrm>
            <a:off x="1005840" y="241401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Write a pattern that finds every doubled word, such as 'is is', in a sentence.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10896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question"/>
          <p:cNvSpPr txBox="1"/>
          <p:nvPr/>
        </p:nvSpPr>
        <p:spPr>
          <a:xfrm>
            <a:off x="1005840" y="314553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What is the difference between findall with one group and findall with two groups?</a:t>
            </a:r>
          </a:p>
        </p:txBody>
      </p:sp>
      <p:sp>
        <p:nvSpPr>
          <p:cNvPr id="16" name="card"/>
          <p:cNvSpPr/>
          <p:nvPr/>
        </p:nvSpPr>
        <p:spPr>
          <a:xfrm>
            <a:off x="365760" y="384048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96849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question"/>
          <p:cNvSpPr txBox="1"/>
          <p:nvPr/>
        </p:nvSpPr>
        <p:spPr>
          <a:xfrm>
            <a:off x="1005840" y="387705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Rewrite the strong-password check to also demand one character that is not a letter or a digit.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Each answer fits in one line you can run.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Resources: where to go next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Reading and watching, chosen for this chapter; every link is live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1005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source"/>
          <p:cNvSpPr txBox="1"/>
          <p:nvPr/>
        </p:nvSpPr>
        <p:spPr>
          <a:xfrm>
            <a:off x="438912" y="1014984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Book: Automate the Boring Stuff, 3rd edition, chapter 9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3"/>
              </a:rPr>
              <a:t>https://automatetheboringstuff.com/3e/chapter9.html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527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source"/>
          <p:cNvSpPr txBox="1"/>
          <p:nvPr/>
        </p:nvSpPr>
        <p:spPr>
          <a:xfrm>
            <a:off x="438912" y="1536192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Python documentation: re, regular expression operations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4"/>
              </a:rPr>
              <a:t>https://docs.python.org/3/library/re.html</a:t>
            </a:r>
          </a:p>
        </p:txBody>
      </p:sp>
      <p:sp>
        <p:nvSpPr>
          <p:cNvPr id="9" name="card"/>
          <p:cNvSpPr/>
          <p:nvPr/>
        </p:nvSpPr>
        <p:spPr>
          <a:xfrm>
            <a:off x="365760" y="2048256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source"/>
          <p:cNvSpPr txBox="1"/>
          <p:nvPr/>
        </p:nvSpPr>
        <p:spPr>
          <a:xfrm>
            <a:off x="438912" y="2057400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Regular expression HOWTO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5"/>
              </a:rPr>
              <a:t>https://docs.python.org/3/howto/regex.html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2569464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source"/>
          <p:cNvSpPr txBox="1"/>
          <p:nvPr/>
        </p:nvSpPr>
        <p:spPr>
          <a:xfrm>
            <a:off x="438912" y="2578608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Lexical analysis: raw strings and invalid escapes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6"/>
              </a:rPr>
              <a:t>https://docs.python.org/3/reference/lexical_analysis.html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090672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source"/>
          <p:cNvSpPr txBox="1"/>
          <p:nvPr/>
        </p:nvSpPr>
        <p:spPr>
          <a:xfrm>
            <a:off x="438912" y="3099815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What's new in Python 3.14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7"/>
              </a:rPr>
              <a:t>https://docs.python.org/3/whatsnew/3.14.html</a:t>
            </a:r>
          </a:p>
        </p:txBody>
      </p:sp>
      <p:sp>
        <p:nvSpPr>
          <p:cNvPr id="15" name="card"/>
          <p:cNvSpPr/>
          <p:nvPr/>
        </p:nvSpPr>
        <p:spPr>
          <a:xfrm>
            <a:off x="365760" y="3611879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source"/>
          <p:cNvSpPr txBox="1"/>
          <p:nvPr/>
        </p:nvSpPr>
        <p:spPr>
          <a:xfrm>
            <a:off x="438912" y="3621023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What's new in Python 3.13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8"/>
              </a:rPr>
              <a:t>https://docs.python.org/3/whatsnew/3.13.html</a:t>
            </a:r>
          </a:p>
        </p:txBody>
      </p:sp>
      <p:sp>
        <p:nvSpPr>
          <p:cNvPr id="17" name="card"/>
          <p:cNvSpPr/>
          <p:nvPr/>
        </p:nvSpPr>
        <p:spPr>
          <a:xfrm>
            <a:off x="365760" y="4133087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source"/>
          <p:cNvSpPr txBox="1"/>
          <p:nvPr/>
        </p:nvSpPr>
        <p:spPr>
          <a:xfrm>
            <a:off x="438912" y="4142231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Humre on the Python Package Index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9"/>
              </a:rPr>
              <a:t>https://pypi.org/project/Humre/</a:t>
            </a:r>
          </a:p>
        </p:txBody>
      </p:sp>
      <p:sp>
        <p:nvSpPr>
          <p:cNvPr id="19" name="card"/>
          <p:cNvSpPr/>
          <p:nvPr/>
        </p:nvSpPr>
        <p:spPr>
          <a:xfrm>
            <a:off x="4663440" y="1005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source"/>
          <p:cNvSpPr txBox="1"/>
          <p:nvPr/>
        </p:nvSpPr>
        <p:spPr>
          <a:xfrm>
            <a:off x="4736592" y="1014984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Regular-Expressions.info: tutorial and reference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0"/>
              </a:rPr>
              <a:t>https://www.regular-expressions.info</a:t>
            </a:r>
          </a:p>
        </p:txBody>
      </p:sp>
      <p:sp>
        <p:nvSpPr>
          <p:cNvPr id="21" name="card"/>
          <p:cNvSpPr/>
          <p:nvPr/>
        </p:nvSpPr>
        <p:spPr>
          <a:xfrm>
            <a:off x="4663440" y="1527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source"/>
          <p:cNvSpPr txBox="1"/>
          <p:nvPr/>
        </p:nvSpPr>
        <p:spPr>
          <a:xfrm>
            <a:off x="4736592" y="1536192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regex101: online tester (choose the Python flavour)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1"/>
              </a:rPr>
              <a:t>https://regex101.com</a:t>
            </a:r>
          </a:p>
        </p:txBody>
      </p:sp>
      <p:sp>
        <p:nvSpPr>
          <p:cNvPr id="23" name="card"/>
          <p:cNvSpPr/>
          <p:nvPr/>
        </p:nvSpPr>
        <p:spPr>
          <a:xfrm>
            <a:off x="4663440" y="2048256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source"/>
          <p:cNvSpPr txBox="1"/>
          <p:nvPr/>
        </p:nvSpPr>
        <p:spPr>
          <a:xfrm>
            <a:off x="4736592" y="2057400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Pythex: a Python regular expression editor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2"/>
              </a:rPr>
              <a:t>https://pythex.org</a:t>
            </a:r>
          </a:p>
        </p:txBody>
      </p:sp>
      <p:sp>
        <p:nvSpPr>
          <p:cNvPr id="25" name="card"/>
          <p:cNvSpPr/>
          <p:nvPr/>
        </p:nvSpPr>
        <p:spPr>
          <a:xfrm>
            <a:off x="4663440" y="2569464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ource"/>
          <p:cNvSpPr txBox="1"/>
          <p:nvPr/>
        </p:nvSpPr>
        <p:spPr>
          <a:xfrm>
            <a:off x="4736592" y="2578608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Ken Thompson, regex search algorithm, CACM 1968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3"/>
              </a:rPr>
              <a:t>cacmb4.acm.org</a:t>
            </a:r>
          </a:p>
        </p:txBody>
      </p:sp>
      <p:sp>
        <p:nvSpPr>
          <p:cNvPr id="27" name="card"/>
          <p:cNvSpPr/>
          <p:nvPr/>
        </p:nvSpPr>
        <p:spPr>
          <a:xfrm>
            <a:off x="4663440" y="3090672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ource"/>
          <p:cNvSpPr txBox="1"/>
          <p:nvPr/>
        </p:nvSpPr>
        <p:spPr>
          <a:xfrm>
            <a:off x="4736592" y="3099815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Thompson's construction on Wikipedia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4"/>
              </a:rPr>
              <a:t>https://en.wikipedia.org/wiki/Thompson%27s_construction</a:t>
            </a:r>
          </a:p>
        </p:txBody>
      </p:sp>
      <p:sp>
        <p:nvSpPr>
          <p:cNvPr id="29" name="card"/>
          <p:cNvSpPr/>
          <p:nvPr/>
        </p:nvSpPr>
        <p:spPr>
          <a:xfrm>
            <a:off x="4663440" y="3611879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ource"/>
          <p:cNvSpPr txBox="1"/>
          <p:nvPr/>
        </p:nvSpPr>
        <p:spPr>
          <a:xfrm>
            <a:off x="4736592" y="3621023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Stephen Cole Kleene on Wikipedia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5"/>
              </a:rPr>
              <a:t>https://en.wikipedia.org/wiki/Stephen_Cole_Kleene</a:t>
            </a:r>
          </a:p>
        </p:txBody>
      </p:sp>
      <p:sp>
        <p:nvSpPr>
          <p:cNvPr id="31" name="card"/>
          <p:cNvSpPr/>
          <p:nvPr/>
        </p:nvSpPr>
        <p:spPr>
          <a:xfrm>
            <a:off x="4663440" y="4133087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source"/>
          <p:cNvSpPr txBox="1"/>
          <p:nvPr/>
        </p:nvSpPr>
        <p:spPr>
          <a:xfrm>
            <a:off x="4736592" y="4142231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Video: the re module and regexes (Corey Schafer)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6"/>
              </a:rPr>
              <a:t>https://www.youtube.com/watch?v=K8L6KVGG-7o</a:t>
            </a:r>
          </a:p>
        </p:txBody>
      </p:sp>
      <p:sp>
        <p:nvSpPr>
          <p:cNvPr id="3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Pick one link and read it before the next class.</a:t>
            </a:r>
          </a:p>
        </p:txBody>
      </p:sp>
      <p:sp>
        <p:nvSpPr>
          <p:cNvPr id="3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48 / 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9: Regular Expressions (lecture deck 2.0.0)</dc:title>
  <dc:subject/>
  <dc:creator>Yusuf Altunel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