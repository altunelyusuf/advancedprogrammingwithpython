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lines</c:v>
                </c:pt>
              </c:strCache>
            </c:strRef>
          </c:tx>
          <c:spPr>
            <a:solidFill>
              <a:srgbClr val="0E7C86"/>
            </a:solidFill>
          </c:spPr>
          <c:cat>
            <c:strRef>
              <c:f>Sheet1!$A$2:$A$3</c:f>
              <c:strCache>
                <c:ptCount val="2"/>
                <c:pt idx="0">
                  <c:v>same</c:v>
                </c:pt>
                <c:pt idx="1">
                  <c:v>different</c:v>
                </c:pt>
              </c:strCache>
            </c:strRef>
          </c:cat>
          <c:val>
            <c:numRef>
              <c:f>Sheet1!$B$2:$B$3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characters printed by call</c:v>
                </c:pt>
              </c:strCache>
            </c:strRef>
          </c:tx>
          <c:spPr>
            <a:solidFill>
              <a:srgbClr val="0E7C86"/>
            </a:solidFill>
          </c:spPr>
          <c:cat>
            <c:strRef>
              <c:f>Sheet1!$A$2:$A$5</c:f>
              <c:strCache>
                <c:ptCount val="4"/>
                <c:pt idx="0">
                  <c:v>4</c:v>
                </c:pt>
                <c:pt idx="1">
                  <c:v>3</c:v>
                </c:pt>
                <c:pt idx="2">
                  <c:v>2</c:v>
                </c:pt>
                <c:pt idx="3">
                  <c:v>1</c:v>
                </c:pt>
              </c:strCache>
            </c:strRef>
          </c:cat>
          <c:val>
            <c:numRef>
              <c:f>Sheet1!$B$2:$B$5</c:f>
              <c:numCache>
                <c:formatCode>General</c:formatCode>
                <c:ptCount val="4"/>
                <c:pt idx="0">
                  <c:v>7</c:v>
                </c:pt>
                <c:pt idx="1">
                  <c:v>5</c:v>
                </c:pt>
                <c:pt idx="2">
                  <c:v>17</c:v>
                </c:pt>
                <c:pt idx="3">
                  <c:v>15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items in the printed list</c:v>
                </c:pt>
              </c:strCache>
            </c:strRef>
          </c:tx>
          <c:spPr>
            <a:solidFill>
              <a:srgbClr val="0E7C86"/>
            </a:solidFill>
          </c:spPr>
          <c:cat>
            <c:strRef>
              <c:f>Sheet1!$A$2:$A$5</c:f>
              <c:strCache>
                <c:ptCount val="4"/>
                <c:pt idx="0">
                  <c:v>a1</c:v>
                </c:pt>
                <c:pt idx="1">
                  <c:v>a2</c:v>
                </c:pt>
                <c:pt idx="2">
                  <c:v>s1</c:v>
                </c:pt>
                <c:pt idx="3">
                  <c:v>s2</c:v>
                </c:pt>
              </c:strCache>
            </c:strRef>
          </c:cat>
          <c:val>
            <c:numRef>
              <c:f>Sheet1!$B$2:$B$5</c:f>
              <c:numCache>
                <c:formatCode>General</c:formatCode>
                <c:ptCount val="4"/>
                <c:pt idx="0">
                  <c:v>2</c:v>
                </c:pt>
                <c:pt idx="1">
                  <c:v>2</c:v>
                </c:pt>
                <c:pt idx="2">
                  <c:v>1</c:v>
                </c:pt>
                <c:pt idx="3">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depth</c:v>
                </c:pt>
              </c:strCache>
            </c:strRef>
          </c:tx>
          <c:spPr>
            <a:solidFill>
              <a:srgbClr val="0E7C86"/>
            </a:solidFill>
          </c:spPr>
          <c:cat>
            <c:strRef>
              <c:f>Sheet1!$A$2:$A$5</c:f>
              <c:strCache>
                <c:ptCount val="4"/>
                <c:pt idx="0">
                  <c:v>top level</c:v>
                </c:pt>
                <c:pt idx="1">
                  <c:v>a()</c:v>
                </c:pt>
                <c:pt idx="2">
                  <c:v>b()</c:v>
                </c:pt>
                <c:pt idx="3">
                  <c:v>c()</c:v>
                </c:pt>
              </c:strCache>
            </c:strRef>
          </c:cat>
          <c:val>
            <c:numRef>
              <c:f>Sheet1!$B$2:$B$5</c:f>
              <c:numCache>
                <c:formatCode>General</c:formatCode>
                <c:ptCount val="4"/>
                <c:pt idx="0">
                  <c:v>0</c:v>
                </c:pt>
                <c:pt idx="1">
                  <c:v>1</c:v>
                </c:pt>
                <c:pt idx="2">
                  <c:v>2</c:v>
                </c:pt>
                <c:pt idx="3">
                  <c:v>3</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majorUnit val="1.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tick() returned</c:v>
                </c:pt>
              </c:strCache>
            </c:strRef>
          </c:tx>
          <c:spPr>
            <a:solidFill>
              <a:srgbClr val="0E7C86"/>
            </a:solidFill>
          </c:spPr>
          <c:cat>
            <c:strRef>
              <c:f>Sheet1!$A$2:$A$4</c:f>
              <c:strCache>
                <c:ptCount val="3"/>
                <c:pt idx="0">
                  <c:v>call 1</c:v>
                </c:pt>
                <c:pt idx="1">
                  <c:v>call 2</c:v>
                </c:pt>
                <c:pt idx="2">
                  <c:v>call 3</c:v>
                </c:pt>
              </c:strCache>
            </c:strRef>
          </c:cat>
          <c:val>
            <c:numRef>
              <c:f>Sheet1!$B$2:$B$4</c:f>
              <c:numCache>
                <c:formatCode>General</c:formatCode>
                <c:ptCount val="3"/>
                <c:pt idx="0">
                  <c:v>1</c:v>
                </c:pt>
                <c:pt idx="1">
                  <c:v>2</c:v>
                </c:pt>
                <c:pt idx="2">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number returned (0 when except ran)</c:v>
                </c:pt>
              </c:strCache>
            </c:strRef>
          </c:tx>
          <c:spPr>
            <a:solidFill>
              <a:srgbClr val="0E7C86"/>
            </a:solidFill>
          </c:spPr>
          <c:cat>
            <c:strRef>
              <c:f>Sheet1!$A$2:$A$5</c:f>
              <c:strCache>
                <c:ptCount val="4"/>
                <c:pt idx="0">
                  <c:v>spam(2)</c:v>
                </c:pt>
                <c:pt idx="1">
                  <c:v>spam(12)</c:v>
                </c:pt>
                <c:pt idx="2">
                  <c:v>spam(0)</c:v>
                </c:pt>
                <c:pt idx="3">
                  <c:v>spam(1)</c:v>
                </c:pt>
              </c:strCache>
            </c:strRef>
          </c:cat>
          <c:val>
            <c:numRef>
              <c:f>Sheet1!$B$2:$B$5</c:f>
              <c:numCache>
                <c:formatCode>General</c:formatCode>
                <c:ptCount val="4"/>
                <c:pt idx="0">
                  <c:v>21.0</c:v>
                </c:pt>
                <c:pt idx="1">
                  <c:v>3.5</c:v>
                </c:pt>
                <c:pt idx="2">
                  <c:v>0</c:v>
                </c:pt>
                <c:pt idx="3">
                  <c:v>42.0</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c:v>
                </c:pt>
              </c:strCache>
            </c:strRef>
          </c:tx>
          <c:spPr>
            <a:solidFill>
              <a:srgbClr val="0E7C86"/>
            </a:solidFill>
          </c:spPr>
          <c:cat>
            <c:strRef>
              <c:f>Sheet1!$A$2:$A$3</c:f>
              <c:strCache>
                <c:ptCount val="2"/>
                <c:pt idx="0">
                  <c:v>result</c:v>
                </c:pt>
                <c:pt idx="1">
                  <c:v>handled</c:v>
                </c:pt>
              </c:strCache>
            </c:strRef>
          </c:cat>
          <c:val>
            <c:numRef>
              <c:f>Sheet1!$B$2:$B$3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c:v>
                </c:pt>
              </c:strCache>
            </c:strRef>
          </c:tx>
          <c:spPr>
            <a:solidFill>
              <a:srgbClr val="0E7C86"/>
            </a:solidFill>
          </c:spPr>
          <c:cat>
            <c:strRef>
              <c:f>Sheet1!$A$2:$A$4</c:f>
              <c:strCache>
                <c:ptCount val="3"/>
                <c:pt idx="0">
                  <c:v>ran</c:v>
                </c:pt>
                <c:pt idx="1">
                  <c:v>raised</c:v>
                </c:pt>
                <c:pt idx="2">
                  <c:v>never started</c:v>
                </c:pt>
              </c:strCache>
            </c:strRef>
          </c:cat>
          <c:val>
            <c:numRef>
              <c:f>Sheet1!$B$2:$B$4</c:f>
              <c:numCache>
                <c:formatCode>General</c:formatCode>
                <c:ptCount val="3"/>
                <c:pt idx="0">
                  <c:v>1</c:v>
                </c:pt>
                <c:pt idx="1">
                  <c:v>1</c:v>
                </c:pt>
                <c:pt idx="2">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indent</c:v>
                </c:pt>
              </c:strCache>
            </c:strRef>
          </c:tx>
          <c:spPr>
            <a:solidFill>
              <a:srgbClr val="0E7C86"/>
            </a:solidFill>
          </c:spPr>
          <c:cat>
            <c:strRef>
              <c:f>Sheet1!$A$2:$A$43</c:f>
              <c:strCache>
                <c:ptCount val="4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strCache>
            </c:strRef>
          </c:cat>
          <c:val>
            <c:numRef>
              <c:f>Sheet1!$B$2:$B$43</c:f>
              <c:numCache>
                <c:formatCode>General</c:formatCode>
                <c:ptCount val="4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19</c:v>
                </c:pt>
                <c:pt idx="22">
                  <c:v>18</c:v>
                </c:pt>
                <c:pt idx="23">
                  <c:v>17</c:v>
                </c:pt>
                <c:pt idx="24">
                  <c:v>16</c:v>
                </c:pt>
                <c:pt idx="25">
                  <c:v>15</c:v>
                </c:pt>
                <c:pt idx="26">
                  <c:v>14</c:v>
                </c:pt>
                <c:pt idx="27">
                  <c:v>13</c:v>
                </c:pt>
                <c:pt idx="28">
                  <c:v>12</c:v>
                </c:pt>
                <c:pt idx="29">
                  <c:v>11</c:v>
                </c:pt>
                <c:pt idx="30">
                  <c:v>10</c:v>
                </c:pt>
                <c:pt idx="31">
                  <c:v>9</c:v>
                </c:pt>
                <c:pt idx="32">
                  <c:v>8</c:v>
                </c:pt>
                <c:pt idx="33">
                  <c:v>7</c:v>
                </c:pt>
                <c:pt idx="34">
                  <c:v>6</c:v>
                </c:pt>
                <c:pt idx="35">
                  <c:v>5</c:v>
                </c:pt>
                <c:pt idx="36">
                  <c:v>4</c:v>
                </c:pt>
                <c:pt idx="37">
                  <c:v>3</c:v>
                </c:pt>
                <c:pt idx="38">
                  <c:v>2</c:v>
                </c:pt>
                <c:pt idx="39">
                  <c:v>1</c:v>
                </c:pt>
                <c:pt idx="40">
                  <c:v>0</c:v>
                </c:pt>
                <c:pt idx="41">
                  <c:v>1</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2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title>
          <c:tx>
            <c:rich>
              <a:bodyPr/>
              <a:lstStyle/>
              <a:p>
                <a:r>
                  <a:rPr sz="800" b="0"/>
                  <a:t>indent of the band, step by step</a:t>
                </a:r>
              </a:p>
            </c:rich>
          </c:tx>
          <c:layout/>
          <c:overlay val="0"/>
        </c:title>
        <c:majorTickMark val="out"/>
        <c:minorTickMark val="none"/>
        <c:tickLblPos val="nextTo"/>
        <c:spPr>
          <a:ln>
            <a:noFill/>
          </a:ln>
        </c:spPr>
        <c:txPr>
          <a:bodyPr/>
          <a:lstStyle/>
          <a:p>
            <a:pPr>
              <a:defRPr sz="800"/>
            </a:pPr>
          </a:p>
        </c:txPr>
        <c:crossAx val="-2068027336"/>
        <c:crosses val="autoZero"/>
        <c:majorUnit val="10.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dashes in the line</c:v>
                </c:pt>
              </c:strCache>
            </c:strRef>
          </c:tx>
          <c:spPr>
            <a:solidFill>
              <a:srgbClr val="0E7C86"/>
            </a:solidFill>
          </c:spP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c:v>
                </c:pt>
                <c:pt idx="1">
                  <c:v>4</c:v>
                </c:pt>
                <c:pt idx="2">
                  <c:v>9</c:v>
                </c:pt>
                <c:pt idx="3">
                  <c:v>16</c:v>
                </c:pt>
                <c:pt idx="4">
                  <c:v>25</c:v>
                </c:pt>
                <c:pt idx="5">
                  <c:v>36</c:v>
                </c:pt>
                <c:pt idx="6">
                  <c:v>49</c:v>
                </c:pt>
                <c:pt idx="7">
                  <c:v>64</c:v>
                </c:pt>
                <c:pt idx="8">
                  <c:v>49</c:v>
                </c:pt>
                <c:pt idx="9">
                  <c:v>36</c:v>
                </c:pt>
                <c:pt idx="10">
                  <c:v>25</c:v>
                </c:pt>
                <c:pt idx="11">
                  <c:v>16</c:v>
                </c:pt>
                <c:pt idx="12">
                  <c:v>9</c:v>
                </c:pt>
                <c:pt idx="13">
                  <c:v>4</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3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70.0"/>
          <c:min val="0.0"/>
        </c:scaling>
        <c:delete val="0"/>
        <c:axPos val="l"/>
        <c:majorGridlines>
          <c:spPr>
            <a:ln>
              <a:solidFill>
                <a:srgbClr val="D9D2C3"/>
              </a:solidFill>
            </a:ln>
          </c:spPr>
        </c:majorGridlines>
        <c:title>
          <c:tx>
            <c:rich>
              <a:bodyPr/>
              <a:lstStyle/>
              <a:p>
                <a:r>
                  <a:rPr sz="800" b="0"/>
                  <a:t>dashes in each line</a:t>
                </a:r>
              </a:p>
            </c:rich>
          </c:tx>
          <c:layout/>
          <c:overlay val="0"/>
        </c:title>
        <c:majorTickMark val="out"/>
        <c:minorTickMark val="none"/>
        <c:tickLblPos val="nextTo"/>
        <c:spPr>
          <a:ln>
            <a:noFill/>
          </a:ln>
        </c:spPr>
        <c:txPr>
          <a:bodyPr/>
          <a:lstStyle/>
          <a:p>
            <a:pPr>
              <a:defRPr sz="800"/>
            </a:pPr>
          </a:p>
        </c:txPr>
        <c:crossAx val="-2068027336"/>
        <c:crosses val="autoZero"/>
        <c:majorUnit val="20.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0E7C86"/>
            </a:solidFill>
          </c:spPr>
          <c:cat>
            <c:strRef>
              <c:f>Sheet1!$A$2:$A$10</c:f>
              <c:strCache>
                <c:ptCount val="9"/>
                <c:pt idx="0">
                  <c:v>6</c:v>
                </c:pt>
                <c:pt idx="1">
                  <c:v>3</c:v>
                </c:pt>
                <c:pt idx="2">
                  <c:v>10</c:v>
                </c:pt>
                <c:pt idx="3">
                  <c:v>5</c:v>
                </c:pt>
                <c:pt idx="4">
                  <c:v>16</c:v>
                </c:pt>
                <c:pt idx="5">
                  <c:v>8</c:v>
                </c:pt>
                <c:pt idx="6">
                  <c:v>4</c:v>
                </c:pt>
                <c:pt idx="7">
                  <c:v>2</c:v>
                </c:pt>
                <c:pt idx="8">
                  <c:v>1</c:v>
                </c:pt>
              </c:strCache>
            </c:strRef>
          </c:cat>
          <c:val>
            <c:numRef>
              <c:f>Sheet1!$B$2:$B$10</c:f>
              <c:numCache>
                <c:formatCode>General</c:formatCode>
                <c:ptCount val="9"/>
                <c:pt idx="0">
                  <c:v>6</c:v>
                </c:pt>
                <c:pt idx="1">
                  <c:v>3</c:v>
                </c:pt>
                <c:pt idx="2">
                  <c:v>10</c:v>
                </c:pt>
                <c:pt idx="3">
                  <c:v>5</c:v>
                </c:pt>
                <c:pt idx="4">
                  <c:v>16</c:v>
                </c:pt>
                <c:pt idx="5">
                  <c:v>8</c:v>
                </c:pt>
                <c:pt idx="6">
                  <c:v>4</c:v>
                </c:pt>
                <c:pt idx="7">
                  <c:v>2</c:v>
                </c:pt>
                <c:pt idx="8">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title>
          <c:tx>
            <c:rich>
              <a:bodyPr/>
              <a:lstStyle/>
              <a:p>
                <a:r>
                  <a:rPr sz="900" b="0"/>
                  <a:t>the sequence from 6</a:t>
                </a:r>
              </a:p>
            </c:rich>
          </c:tx>
          <c:layout/>
          <c:overlay val="0"/>
        </c:title>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Sheet1!$A$2:$A$5</c:f>
              <c:strCache>
                <c:ptCount val="4"/>
                <c:pt idx="0">
                  <c:v>Part 1</c:v>
                </c:pt>
                <c:pt idx="1">
                  <c:v>Part 2</c:v>
                </c:pt>
                <c:pt idx="2">
                  <c:v>Part 3</c:v>
                </c:pt>
                <c:pt idx="3">
                  <c:v>Part 4</c:v>
                </c:pt>
              </c:strCache>
            </c:strRef>
          </c:cat>
          <c:val>
            <c:numRef>
              <c:f>Sheet1!$B$2:$B$5</c:f>
              <c:numCache>
                <c:formatCode>General</c:formatCode>
                <c:ptCount val="4"/>
                <c:pt idx="0">
                  <c:v>8</c:v>
                </c:pt>
                <c:pt idx="1">
                  <c:v>9</c:v>
                </c:pt>
                <c:pt idx="2">
                  <c:v>5</c:v>
                </c:pt>
                <c:pt idx="3">
                  <c:v>3</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1.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is about functions: how to define one, what goes in and out, where the names live, and what happens when something goes wrong. Every code slide shows the code, a plain explanation, and the result as a table, chart or drawing.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defining and calling, the call stack and scope, handling errors, and short programs.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What does a call do with its arguments and its result? And which names does a function see, and what happens when it fails?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function is written once with def and used many times. Watch what goes in as arguments and what comes out as a return value, and what a missing return gives 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recipe card is written once and cooked many times. That is a function. A black box is a vending machine: you press buttons and never see the machinery. Ask students for an everyday black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 only stores the function. Each call runs the body once with its own value for name. Run it on the page, then add a third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pasted copy has a stray space and nobody sees it. The function holds the text once. This is deduplication: fix a thing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 Wheeler, with Wilkes and Gill, is credited with the closed subroutine around 1951. The jump to a subroutine was called the Wheeler jump. Ask students: what must a call remember so it can return?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blank lines on the order form; arguments fill them. Return is the plate leaving the kitchen. None is the empty tray: the call finished, but nothing came 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the names in the def line; arguments are the values in the call. Matching is by position, so swapping the arguments swaps the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ends the call and hands a value back. The call expression is replaced by that value. Calls nest: the inner call runs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function without return gives back None. Shout printed but returned nothing. Len is different: it returns a number. Predict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parameters are switches with labels, so order does not matter. Print speaks, input listens, len measures. Ask students which of the three hands a value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 sets the separator and end sets what comes after the last value. Both are named parameters of print. The table shows the invisible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default makes an argument optional. The star makes the parameters after it keyword-only, so they must be named in the call.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list is made once, when def runs. Calls without bag share it. The safe habit is a default of None and a fresh list inside the body.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Every active call has a frame on the call stack. Names are looked up by scope rules: local first, then global. The global statement is the one exception.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call puts one sticky note on the pile. The top note is the running call. When it returns, the note is removed and the one below continues.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Inspect.stack lists the waiting frames. Subtract the base and you get the depth of each call. The drawing and the chart show the stack growing to three and shrinking back to zero.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frame object belongs to one running call. It knows its code and its caller. Inner sees outer as its caller.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variable is a notepad in one room. The global variable is the notice board in the hall. Rooms read the hall but never each other's notepads. Global is the written permission to write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Eggs exists only while make runs. After the return it is gone, so the lookup outside fails with a NameError.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function may read a global name. It may not read another function's local name. The green arrow is allowed, the red one is blocked.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scopes can each hold a name spam. They are three different variables. The table shows where each one lives.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global statement, an assignment creates a local variable. With it, the assignment changes the global one. Compare the two values after each call.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Nonlocal is the middle case: the name belongs to the enclosing function, not to the module. Each call of tick changes the same count. Python 3 added nonlocal; the book does not cover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scans the whole body. A name that is assigned is local, unless declared global. A name that is only read is global.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body assigns eggs, so eggs is local everywhere in the function, also before the assignment. Reading it first raises UnboundLocalError, a kind of NameError.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An error is an exception. Try marks the risky code; except says what to do. Where you put the try decides which statements still run.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is the act, except is the net. The traceback is the incident report. Ask students what a program should do when the net catches a fall.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runs the risky code. If ZeroDivisionError is raised, except returns a message instead. The program goes on with the next call.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inside the loop handles each call on its own. The failed call is reported and the loop carries on with the next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around all calls: the first error jumps to except and the remaining calls are skipped. The chart counts what completed.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tuple of types catches several kinds. As err gives the exception object. Python 3.14 allows the list without parentheses; older versions do not.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traceback is the stack of calls saved when the exception was raised. Extract tb lists them, oldest first. The drawing follows the path.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758 was resolved on 14 March 2025 and ships in Python 3.14. Older versions reject the bare list, so the slides keep the parentheses. Ask students which Python version they run.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Two animation programs from the book, written to run without waiting, and one practice program, the Collatz sequence. Predict each result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Zigzag swings like a pendulum. Spike climbs and descends by squares. Both are small programs that combine loops, lists and functions.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band moves one place per step and turns at the edges. The chart shows the indent of each step: up to 20 and back down.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lines grow as squares and shrink again. The chart shows the lengths. Multiply a string by a number to get a line of that length.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function is one step of the rule. A loop repeats it until the number reaches 1. The chart shows the path of 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Lothar Collatz introduced his rule in 1937. Paul Erdős said mathematics may not be ready for such problems. The collatz function on the slide is the whole rule. Ask: why can a computer check but not prove?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One printed error message of the book has changed wording. Python 3.14 defers annotations and allows except without parentheses. Nonlocal is the middle case between local and global.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of each part.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tutorial.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en.wikipedia.org/wiki/David_Wheeler_(computer_scientis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chart" Target="../charts/char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hyperlink" Target="https://peps.python.org/pep-075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hyperlink" Target="https://en.wikipedia.org/wiki/Collatz_conjectur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chart" Target="../charts/char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automatetheboringstuff.com/3e/chapter4.html" TargetMode="External"/><Relationship Id="rId4" Type="http://schemas.openxmlformats.org/officeDocument/2006/relationships/hyperlink" Target="https://docs.python.org/3/tutorial/controlflow.html" TargetMode="External"/><Relationship Id="rId5" Type="http://schemas.openxmlformats.org/officeDocument/2006/relationships/hyperlink" Target="https://docs.python.org/3/tutorial/errors.html" TargetMode="External"/><Relationship Id="rId6" Type="http://schemas.openxmlformats.org/officeDocument/2006/relationships/hyperlink" Target="https://docs.python.org/3/reference/executionmodel.html" TargetMode="External"/><Relationship Id="rId7" Type="http://schemas.openxmlformats.org/officeDocument/2006/relationships/hyperlink" Target="https://docs.python.org/3/reference/simple_stmts.html" TargetMode="External"/><Relationship Id="rId8" Type="http://schemas.openxmlformats.org/officeDocument/2006/relationships/hyperlink" Target="https://docs.python.org/3/faq/programming.html" TargetMode="External"/><Relationship Id="rId9" Type="http://schemas.openxmlformats.org/officeDocument/2006/relationships/hyperlink" Target="https://docs.python.org/3/library/traceback.html" TargetMode="External"/><Relationship Id="rId10" Type="http://schemas.openxmlformats.org/officeDocument/2006/relationships/hyperlink" Target="https://docs.python.org/3/library/inspect.html" TargetMode="External"/><Relationship Id="rId11" Type="http://schemas.openxmlformats.org/officeDocument/2006/relationships/hyperlink" Target="https://docs.python.org/3/whatsnew/3.14.html" TargetMode="External"/><Relationship Id="rId12" Type="http://schemas.openxmlformats.org/officeDocument/2006/relationships/hyperlink" Target="https://peps.python.org/pep-0758/" TargetMode="External"/><Relationship Id="rId13" Type="http://schemas.openxmlformats.org/officeDocument/2006/relationships/hyperlink" Target="https://peps.python.org/pep-3102/" TargetMode="External"/><Relationship Id="rId14" Type="http://schemas.openxmlformats.org/officeDocument/2006/relationships/hyperlink" Target="https://en.wikipedia.org/wiki/David_Wheeler_(computer_scientist)" TargetMode="External"/><Relationship Id="rId15" Type="http://schemas.openxmlformats.org/officeDocument/2006/relationships/hyperlink" Target="https://en.wikipedia.org/wiki/Collatz_conjecture" TargetMode="External"/><Relationship Id="rId16" Type="http://schemas.openxmlformats.org/officeDocument/2006/relationships/hyperlink" Target="https://pythontutor.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Functions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4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Four parts; every range is a run of slides you can jump to</a:t>
            </a:r>
          </a:p>
        </p:txBody>
      </p:sp>
      <p:graphicFrame>
        <p:nvGraphicFramePr>
          <p:cNvPr id="5" name="table"/>
          <p:cNvGraphicFramePr>
            <a:graphicFrameLocks noGrp="1"/>
          </p:cNvGraphicFramePr>
          <p:nvPr/>
        </p:nvGraphicFramePr>
        <p:xfrm>
          <a:off x="457200" y="1097280"/>
          <a:ext cx="8229598" cy="301752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Defining and calling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def, return, None, sep, end, defaults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The call stack and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17 - 28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stack, frames, scopes, global, nonlocal, UnboundLocalError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Handling errors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29 - 36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try, except, placement, traceback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37 - 42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Zigzag, Spike, Collatz</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43 - 46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25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does a call do with its arguments, and what comes back from it?</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10 and 11: arguments fill parameters; return hands the value back, or None.</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names can a function see, and what happens when it fails?</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23 and 31: local and global scope, then try and except.</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call passes values in, may hand a value back, and may fail.</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Defining and calling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def, arguments, return values, None and named parameters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def and call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def stores a function; a call runs it.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Parameter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name in the def line that a call fills with an argument.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return and None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return hands a value back; no return gives back None.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Named parameters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Labels such as sep and end, and defaults that are made once.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def defines a function; a call runs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Deduplication: a function replaces cop...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function is invented in Cam...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Arguments fill the parameters,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return hands a value back to the caller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None: what a function gives back witho...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Named parameters: sep and end of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Default values and keyword-only parame...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default value is made once: the shar...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defining a function</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function is a recipe card: written once, cooked whenever you call it.</a:t>
            </a:r>
          </a:p>
        </p:txBody>
      </p:sp>
      <p:graphicFrame>
        <p:nvGraphicFramePr>
          <p:cNvPr id="6" name="table"/>
          <p:cNvGraphicFramePr>
            <a:graphicFrameLocks noGrp="1"/>
          </p:cNvGraphicFramePr>
          <p:nvPr/>
        </p:nvGraphicFramePr>
        <p:xfrm>
          <a:off x="365760" y="1463040"/>
          <a:ext cx="8412480" cy="3108959"/>
        </p:xfrm>
        <a:graphic>
          <a:graphicData uri="http://schemas.openxmlformats.org/drawingml/2006/table">
            <a:tbl>
              <a:tblPr firstRow="0" bandRow="0"/>
              <a:tblGrid>
                <a:gridCol w="3383280"/>
                <a:gridCol w="5029200"/>
              </a:tblGrid>
              <a:tr h="444137">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200" b="1" i="0">
                          <a:solidFill>
                            <a:srgbClr val="1F2933"/>
                          </a:solidFill>
                          <a:latin typeface="Calibri"/>
                        </a:rPr>
                        <a:t>Creating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Writing a recipe card once and filing it in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recipe card with a name; the name is how you ask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200" b="1" i="0">
                          <a:solidFill>
                            <a:srgbClr val="1F2933"/>
                          </a:solidFill>
                          <a:latin typeface="Calibri"/>
                        </a:rPr>
                        <a:t>function 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Taking the card out and cooking the dish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def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Writing the recipe down without cooking anything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200" b="1" i="0">
                          <a:solidFill>
                            <a:srgbClr val="1F2933"/>
                          </a:solidFill>
                          <a:latin typeface="Calibri"/>
                        </a:rPr>
                        <a:t>deduplication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recipe card, not three hand-copied ones that drift apart.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black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vending machine: you see the buttons, not the machinery.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def defines a function; a call runs it</a:t>
            </a:r>
          </a:p>
        </p:txBody>
      </p:sp>
      <p:sp>
        <p:nvSpPr>
          <p:cNvPr id="4" name="code"/>
          <p:cNvSpPr/>
          <p:nvPr/>
        </p:nvSpPr>
        <p:spPr>
          <a:xfrm>
            <a:off x="365760" y="841248"/>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hello</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p>
        </p:txBody>
      </p:sp>
      <p:sp>
        <p:nvSpPr>
          <p:cNvPr id="5" name="explanation"/>
          <p:cNvSpPr txBox="1"/>
          <p:nvPr/>
        </p:nvSpPr>
        <p:spPr>
          <a:xfrm>
            <a:off x="3910583" y="841248"/>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def starts the definition. The indented lines are the body. Nothing runs yet: the function is only stored.</a:t>
            </a:r>
          </a:p>
        </p:txBody>
      </p:sp>
      <p:sp>
        <p:nvSpPr>
          <p:cNvPr id="6" name="code"/>
          <p:cNvSpPr/>
          <p:nvPr/>
        </p:nvSpPr>
        <p:spPr>
          <a:xfrm>
            <a:off x="365760" y="1512824"/>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hello</a:t>
            </a:r>
            <a:r>
              <a:rPr sz="1400" b="0" i="0">
                <a:solidFill>
                  <a:srgbClr val="E6EDF3"/>
                </a:solidFill>
                <a:latin typeface="Courier New"/>
              </a:rPr>
              <a:t>(</a:t>
            </a:r>
            <a:r>
              <a:rPr sz="1400" b="0" i="0">
                <a:solidFill>
                  <a:srgbClr val="9BE3A8"/>
                </a:solidFill>
                <a:latin typeface="Courier New"/>
              </a:rPr>
              <a:t>'Alice'</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hello</a:t>
            </a:r>
            <a:r>
              <a:rPr sz="1400" b="0" i="0">
                <a:solidFill>
                  <a:srgbClr val="E6EDF3"/>
                </a:solidFill>
                <a:latin typeface="Courier New"/>
              </a:rPr>
              <a:t>(</a:t>
            </a:r>
            <a:r>
              <a:rPr sz="1400" b="0" i="0">
                <a:solidFill>
                  <a:srgbClr val="9BE3A8"/>
                </a:solidFill>
                <a:latin typeface="Courier New"/>
              </a:rPr>
              <a:t>'Bob'</a:t>
            </a:r>
            <a:r>
              <a:rPr sz="1400" b="0" i="0">
                <a:solidFill>
                  <a:srgbClr val="E6EDF3"/>
                </a:solidFill>
                <a:latin typeface="Courier New"/>
              </a:rPr>
              <a:t>)</a:t>
            </a:r>
          </a:p>
        </p:txBody>
      </p:sp>
      <p:sp>
        <p:nvSpPr>
          <p:cNvPr id="7" name="explanation"/>
          <p:cNvSpPr txBox="1"/>
          <p:nvPr/>
        </p:nvSpPr>
        <p:spPr>
          <a:xfrm>
            <a:off x="3910583" y="1512824"/>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Each call runs the body once, with name set to the argument. Two calls print two greetings.</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477008"/>
            <a:ext cx="17373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hello('Alice')</a:t>
            </a:r>
          </a:p>
        </p:txBody>
      </p:sp>
      <p:cxnSp>
        <p:nvCxnSpPr>
          <p:cNvPr id="10" name="arrow"/>
          <p:cNvCxnSpPr/>
          <p:nvPr/>
        </p:nvCxnSpPr>
        <p:spPr>
          <a:xfrm>
            <a:off x="2148840" y="2659888"/>
            <a:ext cx="32003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14600" y="2477008"/>
            <a:ext cx="16459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 = 'Alice'</a:t>
            </a:r>
          </a:p>
        </p:txBody>
      </p:sp>
      <p:cxnSp>
        <p:nvCxnSpPr>
          <p:cNvPr id="12" name="arrow"/>
          <p:cNvCxnSpPr/>
          <p:nvPr/>
        </p:nvCxnSpPr>
        <p:spPr>
          <a:xfrm>
            <a:off x="4206240" y="2659888"/>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0" y="2477008"/>
            <a:ext cx="22860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 + name</a:t>
            </a:r>
          </a:p>
        </p:txBody>
      </p:sp>
      <p:cxnSp>
        <p:nvCxnSpPr>
          <p:cNvPr id="14" name="arrow"/>
          <p:cNvCxnSpPr/>
          <p:nvPr/>
        </p:nvCxnSpPr>
        <p:spPr>
          <a:xfrm>
            <a:off x="6903720" y="2659888"/>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9480" y="2477008"/>
            <a:ext cx="1508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Alice</a:t>
            </a:r>
          </a:p>
        </p:txBody>
      </p:sp>
      <p:sp>
        <p:nvSpPr>
          <p:cNvPr id="16" name="Rounded Rectangle 15"/>
          <p:cNvSpPr/>
          <p:nvPr/>
        </p:nvSpPr>
        <p:spPr>
          <a:xfrm>
            <a:off x="365760" y="3007360"/>
            <a:ext cx="17373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hello('Bob')</a:t>
            </a:r>
          </a:p>
        </p:txBody>
      </p:sp>
      <p:cxnSp>
        <p:nvCxnSpPr>
          <p:cNvPr id="17" name="arrow"/>
          <p:cNvCxnSpPr/>
          <p:nvPr/>
        </p:nvCxnSpPr>
        <p:spPr>
          <a:xfrm>
            <a:off x="2148840" y="3190240"/>
            <a:ext cx="32003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514600" y="3007360"/>
            <a:ext cx="16459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 = 'Bob'</a:t>
            </a:r>
          </a:p>
        </p:txBody>
      </p:sp>
      <p:cxnSp>
        <p:nvCxnSpPr>
          <p:cNvPr id="19" name="arrow"/>
          <p:cNvCxnSpPr/>
          <p:nvPr/>
        </p:nvCxnSpPr>
        <p:spPr>
          <a:xfrm>
            <a:off x="4206240" y="3190240"/>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0" y="3007360"/>
            <a:ext cx="22860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 + name</a:t>
            </a:r>
          </a:p>
        </p:txBody>
      </p:sp>
      <p:cxnSp>
        <p:nvCxnSpPr>
          <p:cNvPr id="21" name="arrow"/>
          <p:cNvCxnSpPr/>
          <p:nvPr/>
        </p:nvCxnSpPr>
        <p:spPr>
          <a:xfrm>
            <a:off x="6903720" y="3190240"/>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69480" y="3007360"/>
            <a:ext cx="1508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Bob</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def stores a function; a call runs it.</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Deduplication: a function replaces copied code</a:t>
            </a:r>
          </a:p>
        </p:txBody>
      </p:sp>
      <p:sp>
        <p:nvSpPr>
          <p:cNvPr id="4" name="code"/>
          <p:cNvSpPr/>
          <p:nvPr/>
        </p:nvSpPr>
        <p:spPr>
          <a:xfrm>
            <a:off x="365760" y="841248"/>
            <a:ext cx="8412480" cy="33007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pasted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'Good morning!'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'Good afternoon!'</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 Good evening!'</a:t>
            </a:r>
            <a:r>
              <a:rPr sz="950" b="0" i="0">
                <a:solidFill>
                  <a:srgbClr val="E6EDF3"/>
                </a:solidFill>
                <a:latin typeface="Courier New"/>
              </a:rPr>
              <a:t>]</a:t>
            </a:r>
          </a:p>
        </p:txBody>
      </p:sp>
      <p:sp>
        <p:nvSpPr>
          <p:cNvPr id="5" name="explanation"/>
          <p:cNvSpPr txBox="1"/>
          <p:nvPr/>
        </p:nvSpPr>
        <p:spPr>
          <a:xfrm>
            <a:off x="365760" y="1180465"/>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Imagine the same lines copied three times. One copy has a stray space and nobody notices it.</a:t>
            </a:r>
          </a:p>
        </p:txBody>
      </p:sp>
      <p:sp>
        <p:nvSpPr>
          <p:cNvPr id="6" name="code"/>
          <p:cNvSpPr/>
          <p:nvPr/>
        </p:nvSpPr>
        <p:spPr>
          <a:xfrm>
            <a:off x="365760" y="1528826"/>
            <a:ext cx="8412480"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greeting</a:t>
            </a:r>
            <a:r>
              <a:rPr sz="950" b="0" i="0">
                <a:solidFill>
                  <a:srgbClr val="E6EDF3"/>
                </a:solidFill>
                <a:latin typeface="Courier New"/>
              </a:rPr>
              <a:t>(</a:t>
            </a:r>
            <a:r>
              <a:rPr sz="950" b="0" i="0">
                <a:solidFill>
                  <a:srgbClr val="E6EDF3"/>
                </a:solidFill>
                <a:latin typeface="Courier New"/>
              </a:rPr>
              <a:t>part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9BE3A8"/>
                </a:solidFill>
                <a:latin typeface="Courier New"/>
              </a:rPr>
              <a:t>'Good '</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t>
            </a:r>
          </a:p>
        </p:txBody>
      </p:sp>
      <p:sp>
        <p:nvSpPr>
          <p:cNvPr id="7" name="explanation"/>
          <p:cNvSpPr txBox="1"/>
          <p:nvPr/>
        </p:nvSpPr>
        <p:spPr>
          <a:xfrm>
            <a:off x="365760" y="2015236"/>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One function holds the text once. The part of the day is the only thing that changes.</a:t>
            </a:r>
          </a:p>
        </p:txBody>
      </p:sp>
      <p:sp>
        <p:nvSpPr>
          <p:cNvPr id="8" name="code"/>
          <p:cNvSpPr/>
          <p:nvPr/>
        </p:nvSpPr>
        <p:spPr>
          <a:xfrm>
            <a:off x="365760" y="2363597"/>
            <a:ext cx="8412480"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made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greeting</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'morning'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'afternoon'</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'evening'</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pasted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made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zip</a:t>
            </a:r>
            <a:r>
              <a:rPr sz="950" b="0" i="0">
                <a:solidFill>
                  <a:srgbClr val="E6EDF3"/>
                </a:solidFill>
                <a:latin typeface="Courier New"/>
              </a:rPr>
              <a:t>(</a:t>
            </a:r>
            <a:r>
              <a:rPr sz="950" b="0" i="0">
                <a:solidFill>
                  <a:srgbClr val="E6EDF3"/>
                </a:solidFill>
                <a:latin typeface="Courier New"/>
              </a:rPr>
              <a:t>pasted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made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365760" y="2850007"/>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Compare the copies with the function. Only the pasted line with the stray space differs.</a:t>
            </a:r>
          </a:p>
        </p:txBody>
      </p:sp>
      <p:sp>
        <p:nvSpPr>
          <p:cNvPr id="10" name="result label"/>
          <p:cNvSpPr txBox="1"/>
          <p:nvPr/>
        </p:nvSpPr>
        <p:spPr>
          <a:xfrm>
            <a:off x="365760" y="32166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90976"/>
          <a:ext cx="5888735" cy="1207008"/>
        </p:xfrm>
        <a:graphic>
          <a:graphicData uri="http://schemas.openxmlformats.org/drawingml/2006/table">
            <a:tbl>
              <a:tblPr firstRow="0" bandRow="0"/>
              <a:tblGrid>
                <a:gridCol w="446116"/>
                <a:gridCol w="2319805"/>
                <a:gridCol w="2319805"/>
                <a:gridCol w="803009"/>
              </a:tblGrid>
              <a:tr h="301752">
                <a:tc>
                  <a:txBody>
                    <a:bodyPr wrap="square"/>
                    <a:lstStyle/>
                    <a:p>
                      <a:pPr algn="ctr"/>
                      <a:r>
                        <a:rPr sz="105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Pasted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Made by greeting()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01752">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'Good morning!'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'Good morning!'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2">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'Good afternoon!'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'Good afternoon!'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2">
                <a:tc>
                  <a:txBody>
                    <a:bodyPr wrap="square"/>
                    <a:lstStyle/>
                    <a:p>
                      <a:pPr algn="ctr"/>
                      <a:r>
                        <a:rPr sz="10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 Good evening!'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50" b="0" i="0">
                          <a:solidFill>
                            <a:srgbClr val="1F2933"/>
                          </a:solidFill>
                          <a:latin typeface="Courier New"/>
                        </a:rPr>
                        <a:t>'Good evening!'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6590995" y="3490976"/>
          <a:ext cx="2187244" cy="111760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Write the text once; call it many times.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function is invented in Cambridge</a:t>
            </a:r>
          </a:p>
        </p:txBody>
      </p:sp>
      <p:pic>
        <p:nvPicPr>
          <p:cNvPr id="4" name="photo wheeler" descr="Picture for the story: the function is invented in Cambridge"/>
          <p:cNvPicPr>
            <a:picLocks noChangeAspect="1"/>
          </p:cNvPicPr>
          <p:nvPr/>
        </p:nvPicPr>
        <p:blipFill>
          <a:blip r:embed="rId3"/>
          <a:stretch>
            <a:fillRect/>
          </a:stretch>
        </p:blipFill>
        <p:spPr>
          <a:xfrm>
            <a:off x="491490" y="868680"/>
            <a:ext cx="2400300"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EDSAC, University of Cambridge. Photo: Computer Laboratory, University of Cambridge, CC BY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David Wheeler, working with Maurice Wilkes and Stanley Gill at the University of Cambridge.</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closed subroutine: a block of code that is entered by a jump and finds its way back to the caller.</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Around 1951; Wheeler described it in 'The use of sub-routines in programmes', ACM national meeting, 1952.</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Mathematical Laboratory in Cambridge, on EDSAC, one of the first stored-program computers.</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library of tested routines could be reused instead of written again: deduplication, long before the word.</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The jump kept the return address. The call stack of this chapter is the grown-up form of that idea.</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David Wheeler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values in, values out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call is an order at a counter: you hand over ingredients and a dish comes back.</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3383280"/>
                <a:gridCol w="502920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Arguments and Parameters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order form has blank lines; your order fills them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argument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What you actually hand over: two coffees.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parameter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blank line on the form: how many coffees?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Return Values and return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kitchen sends the finished dish back through the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return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dish that arrives at your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return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bell that ends the cooking and sends the plate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The None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kitchen that cooked but sent nothing out: an empty tray.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empty tray itself: a real object that says nothing is 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Arguments fill the parameters, in order</a:t>
            </a:r>
          </a:p>
        </p:txBody>
      </p:sp>
      <p:sp>
        <p:nvSpPr>
          <p:cNvPr id="4" name="code"/>
          <p:cNvSpPr/>
          <p:nvPr/>
        </p:nvSpPr>
        <p:spPr>
          <a:xfrm>
            <a:off x="365760" y="841248"/>
            <a:ext cx="45232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describe</a:t>
            </a:r>
            <a:r>
              <a:rPr sz="1400" b="0" i="0">
                <a:solidFill>
                  <a:srgbClr val="E6EDF3"/>
                </a:solidFill>
                <a:latin typeface="Courier New"/>
              </a:rPr>
              <a:t>(</a:t>
            </a:r>
            <a:r>
              <a:rPr sz="1400" b="0" i="0">
                <a:solidFill>
                  <a:srgbClr val="E6EDF3"/>
                </a:solidFill>
                <a:latin typeface="Courier New"/>
              </a:rPr>
              <a:t>animal</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sound</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E6EDF3"/>
                </a:solidFill>
                <a:latin typeface="Courier New"/>
              </a:rPr>
              <a:t>animal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 says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sound</a:t>
            </a:r>
          </a:p>
        </p:txBody>
      </p:sp>
      <p:sp>
        <p:nvSpPr>
          <p:cNvPr id="5" name="explanation"/>
          <p:cNvSpPr txBox="1"/>
          <p:nvPr/>
        </p:nvSpPr>
        <p:spPr>
          <a:xfrm>
            <a:off x="4870704" y="841248"/>
            <a:ext cx="3907535" cy="723328"/>
          </a:xfrm>
          <a:prstGeom prst="rect">
            <a:avLst/>
          </a:prstGeom>
          <a:noFill/>
        </p:spPr>
        <p:txBody>
          <a:bodyPr wrap="square" lIns="128016" rIns="128016" tIns="18288" bIns="18288" anchor="ctr">
            <a:spAutoFit/>
          </a:bodyPr>
          <a:lstStyle/>
          <a:p>
            <a:r>
              <a:rPr sz="1250" b="0" i="0">
                <a:solidFill>
                  <a:srgbClr val="1F2933"/>
                </a:solidFill>
                <a:latin typeface="Calibri"/>
              </a:rPr>
              <a:t>animal and sound are parameters: the names in the def line. They stay empty until a call fills them.</a:t>
            </a:r>
          </a:p>
        </p:txBody>
      </p:sp>
      <p:sp>
        <p:nvSpPr>
          <p:cNvPr id="6" name="code"/>
          <p:cNvSpPr/>
          <p:nvPr/>
        </p:nvSpPr>
        <p:spPr>
          <a:xfrm>
            <a:off x="365760" y="1619440"/>
            <a:ext cx="45232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describe</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'meow'</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describe</a:t>
            </a:r>
            <a:r>
              <a:rPr sz="1400" b="0" i="0">
                <a:solidFill>
                  <a:srgbClr val="E6EDF3"/>
                </a:solidFill>
                <a:latin typeface="Courier New"/>
              </a:rPr>
              <a:t>(</a:t>
            </a:r>
            <a:r>
              <a:rPr sz="1400" b="0" i="0">
                <a:solidFill>
                  <a:srgbClr val="9BE3A8"/>
                </a:solidFill>
                <a:latin typeface="Courier New"/>
              </a:rPr>
              <a:t>'meow'</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870704" y="1619440"/>
            <a:ext cx="3907535" cy="723328"/>
          </a:xfrm>
          <a:prstGeom prst="rect">
            <a:avLst/>
          </a:prstGeom>
          <a:noFill/>
        </p:spPr>
        <p:txBody>
          <a:bodyPr wrap="square" lIns="128016" rIns="128016" tIns="18288" bIns="18288" anchor="ctr">
            <a:spAutoFit/>
          </a:bodyPr>
          <a:lstStyle/>
          <a:p>
            <a:r>
              <a:rPr sz="1250" b="0" i="0">
                <a:solidFill>
                  <a:srgbClr val="1F2933"/>
                </a:solidFill>
                <a:latin typeface="Calibri"/>
              </a:rPr>
              <a:t>The values in the call are arguments. They fill the parameters by position, so swapping them swaps the meaning.</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80" cy="932688"/>
        </p:xfrm>
        <a:graphic>
          <a:graphicData uri="http://schemas.openxmlformats.org/drawingml/2006/table">
            <a:tbl>
              <a:tblPr firstRow="0" bandRow="0"/>
              <a:tblGrid>
                <a:gridCol w="2743200"/>
                <a:gridCol w="1463040"/>
                <a:gridCol w="1463040"/>
                <a:gridCol w="2743200"/>
              </a:tblGrid>
              <a:tr h="310896">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animal gets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sound gets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The call 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describe('cat', 'meow')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'cat says 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describe('meow',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'meow says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365760" y="3696081"/>
            <a:ext cx="8412480" cy="256032"/>
          </a:xfrm>
          <a:prstGeom prst="rect">
            <a:avLst/>
          </a:prstGeom>
          <a:noFill/>
        </p:spPr>
        <p:txBody>
          <a:bodyPr wrap="square" lIns="45720" rIns="45720" tIns="27432" bIns="27432" anchor="t">
            <a:spAutoFit/>
          </a:bodyPr>
          <a:lstStyle/>
          <a:p>
            <a:r>
              <a:rPr sz="1000" b="0" i="1">
                <a:solidFill>
                  <a:srgbClr val="5B6773"/>
                </a:solidFill>
                <a:latin typeface="Calibri"/>
              </a:rPr>
              <a:t>second call: the arguments are swapped, so the meaning is swapped</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Parameters are names; arguments are values.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return hands a value back to the caller</a:t>
            </a:r>
          </a:p>
        </p:txBody>
      </p:sp>
      <p:sp>
        <p:nvSpPr>
          <p:cNvPr id="4" name="code"/>
          <p:cNvSpPr/>
          <p:nvPr/>
        </p:nvSpPr>
        <p:spPr>
          <a:xfrm>
            <a:off x="365760" y="841248"/>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double</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E6EDF3"/>
                </a:solidFill>
                <a:latin typeface="Courier New"/>
              </a:rPr>
              <a:t>n</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p>
        </p:txBody>
      </p:sp>
      <p:sp>
        <p:nvSpPr>
          <p:cNvPr id="5" name="explanation"/>
          <p:cNvSpPr txBox="1"/>
          <p:nvPr/>
        </p:nvSpPr>
        <p:spPr>
          <a:xfrm>
            <a:off x="3803904" y="841248"/>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return ends the call and hands a value back. The call expression then stands for that value.</a:t>
            </a:r>
          </a:p>
        </p:txBody>
      </p:sp>
      <p:sp>
        <p:nvSpPr>
          <p:cNvPr id="6" name="code"/>
          <p:cNvSpPr/>
          <p:nvPr/>
        </p:nvSpPr>
        <p:spPr>
          <a:xfrm>
            <a:off x="365760" y="1512824"/>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double</a:t>
            </a:r>
            <a:r>
              <a:rPr sz="1400" b="0" i="0">
                <a:solidFill>
                  <a:srgbClr val="E6EDF3"/>
                </a:solidFill>
                <a:latin typeface="Courier New"/>
              </a:rPr>
              <a:t>(</a:t>
            </a:r>
            <a:r>
              <a:rPr sz="1400" b="0" i="0">
                <a:solidFill>
                  <a:srgbClr val="7CC4FF"/>
                </a:solidFill>
                <a:latin typeface="Courier New"/>
              </a:rPr>
              <a:t>21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double</a:t>
            </a:r>
            <a:r>
              <a:rPr sz="1400" b="0" i="0">
                <a:solidFill>
                  <a:srgbClr val="E6EDF3"/>
                </a:solidFill>
                <a:latin typeface="Courier New"/>
              </a:rPr>
              <a:t>(</a:t>
            </a:r>
            <a:r>
              <a:rPr sz="1400" b="0" i="0">
                <a:solidFill>
                  <a:srgbClr val="E6EDF3"/>
                </a:solidFill>
                <a:latin typeface="Courier New"/>
              </a:rPr>
              <a:t>double</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803904" y="1512824"/>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The call double(21) is replaced by 42, which is stored in x. Calls can be nested; the inner call runs first.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3924"/>
            <a:ext cx="1481328"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double(21)</a:t>
            </a:r>
          </a:p>
        </p:txBody>
      </p:sp>
      <p:sp>
        <p:nvSpPr>
          <p:cNvPr id="10" name="Rounded Rectangle 9"/>
          <p:cNvSpPr/>
          <p:nvPr/>
        </p:nvSpPr>
        <p:spPr>
          <a:xfrm>
            <a:off x="2103120" y="2693924"/>
            <a:ext cx="148132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 = 21</a:t>
            </a:r>
          </a:p>
        </p:txBody>
      </p:sp>
      <p:cxnSp>
        <p:nvCxnSpPr>
          <p:cNvPr id="11" name="arrow"/>
          <p:cNvCxnSpPr/>
          <p:nvPr/>
        </p:nvCxnSpPr>
        <p:spPr>
          <a:xfrm>
            <a:off x="186537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40480" y="2693924"/>
            <a:ext cx="148132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return n * 2</a:t>
            </a:r>
          </a:p>
        </p:txBody>
      </p:sp>
      <p:cxnSp>
        <p:nvCxnSpPr>
          <p:cNvPr id="13" name="arrow"/>
          <p:cNvCxnSpPr/>
          <p:nvPr/>
        </p:nvCxnSpPr>
        <p:spPr>
          <a:xfrm>
            <a:off x="360273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77840" y="2693924"/>
            <a:ext cx="148132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42</a:t>
            </a:r>
          </a:p>
        </p:txBody>
      </p:sp>
      <p:cxnSp>
        <p:nvCxnSpPr>
          <p:cNvPr id="15" name="arrow"/>
          <p:cNvCxnSpPr/>
          <p:nvPr/>
        </p:nvCxnSpPr>
        <p:spPr>
          <a:xfrm>
            <a:off x="534009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2693924"/>
            <a:ext cx="148132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x = 42</a:t>
            </a:r>
          </a:p>
        </p:txBody>
      </p:sp>
      <p:cxnSp>
        <p:nvCxnSpPr>
          <p:cNvPr id="17" name="arrow"/>
          <p:cNvCxnSpPr/>
          <p:nvPr/>
        </p:nvCxnSpPr>
        <p:spPr>
          <a:xfrm>
            <a:off x="707745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5760" y="3260852"/>
            <a:ext cx="21945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double(double(2))</a:t>
            </a:r>
          </a:p>
        </p:txBody>
      </p:sp>
      <p:sp>
        <p:nvSpPr>
          <p:cNvPr id="19" name="Rounded Rectangle 18"/>
          <p:cNvSpPr/>
          <p:nvPr/>
        </p:nvSpPr>
        <p:spPr>
          <a:xfrm>
            <a:off x="2834640" y="3260852"/>
            <a:ext cx="29260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inner call double(2) = 4</a:t>
            </a:r>
          </a:p>
        </p:txBody>
      </p:sp>
      <p:cxnSp>
        <p:nvCxnSpPr>
          <p:cNvPr id="20" name="arrow"/>
          <p:cNvCxnSpPr/>
          <p:nvPr/>
        </p:nvCxnSpPr>
        <p:spPr>
          <a:xfrm>
            <a:off x="2560320" y="3443732"/>
            <a:ext cx="25603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35040" y="3260852"/>
            <a:ext cx="29260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outer call double(4) = 8</a:t>
            </a:r>
          </a:p>
        </p:txBody>
      </p:sp>
      <p:cxnSp>
        <p:nvCxnSpPr>
          <p:cNvPr id="22" name="arrow"/>
          <p:cNvCxnSpPr/>
          <p:nvPr/>
        </p:nvCxnSpPr>
        <p:spPr>
          <a:xfrm>
            <a:off x="5760720" y="3443732"/>
            <a:ext cx="25603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return hands the value back to the caller.</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None: what a function gives back without return</a:t>
            </a:r>
          </a:p>
        </p:txBody>
      </p:sp>
      <p:sp>
        <p:nvSpPr>
          <p:cNvPr id="4" name="code"/>
          <p:cNvSpPr/>
          <p:nvPr/>
        </p:nvSpPr>
        <p:spPr>
          <a:xfrm>
            <a:off x="365760" y="841248"/>
            <a:ext cx="44165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shout</a:t>
            </a:r>
            <a:r>
              <a:rPr sz="1400" b="0" i="0">
                <a:solidFill>
                  <a:srgbClr val="E6EDF3"/>
                </a:solidFill>
                <a:latin typeface="Courier New"/>
              </a:rPr>
              <a:t>(</a:t>
            </a:r>
            <a:r>
              <a:rPr sz="1400" b="0" i="0">
                <a:solidFill>
                  <a:srgbClr val="E6EDF3"/>
                </a:solidFill>
                <a:latin typeface="Courier New"/>
              </a:rPr>
              <a:t>word</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word</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764024" y="841248"/>
            <a:ext cx="4014215" cy="616712"/>
          </a:xfrm>
          <a:prstGeom prst="rect">
            <a:avLst/>
          </a:prstGeom>
          <a:noFill/>
        </p:spPr>
        <p:txBody>
          <a:bodyPr wrap="square" lIns="128016" rIns="128016" tIns="18288" bIns="18288" anchor="ctr">
            <a:spAutoFit/>
          </a:bodyPr>
          <a:lstStyle/>
          <a:p>
            <a:r>
              <a:rPr sz="1250" b="0" i="0">
                <a:solidFill>
                  <a:srgbClr val="1F2933"/>
                </a:solidFill>
                <a:latin typeface="Calibri"/>
              </a:rPr>
              <a:t>This function prints, but it has no return statement. It does its work and hands nothing back.</a:t>
            </a:r>
          </a:p>
        </p:txBody>
      </p:sp>
      <p:sp>
        <p:nvSpPr>
          <p:cNvPr id="6" name="code"/>
          <p:cNvSpPr/>
          <p:nvPr/>
        </p:nvSpPr>
        <p:spPr>
          <a:xfrm>
            <a:off x="365760" y="1512824"/>
            <a:ext cx="44165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result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shout</a:t>
            </a:r>
            <a:r>
              <a:rPr sz="1400" b="0" i="0">
                <a:solidFill>
                  <a:srgbClr val="E6EDF3"/>
                </a:solidFill>
                <a:latin typeface="Courier New"/>
              </a:rPr>
              <a:t>(</a:t>
            </a:r>
            <a:r>
              <a:rPr sz="1400" b="0" i="0">
                <a:solidFill>
                  <a:srgbClr val="9BE3A8"/>
                </a:solidFill>
                <a:latin typeface="Courier New"/>
              </a:rPr>
              <a:t>'hi'</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result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result</a:t>
            </a:r>
            <a:r>
              <a:rPr sz="1400" b="0" i="0">
                <a:solidFill>
                  <a:srgbClr val="E6EDF3"/>
                </a:solidFill>
                <a:latin typeface="Courier New"/>
              </a:rPr>
              <a:t> </a:t>
            </a:r>
            <a:r>
              <a:rPr sz="1400" b="0" i="0">
                <a:solidFill>
                  <a:srgbClr val="C9A0FF"/>
                </a:solidFill>
                <a:latin typeface="Courier New"/>
              </a:rPr>
              <a:t>is</a:t>
            </a:r>
            <a:r>
              <a:rPr sz="1400" b="0" i="0">
                <a:solidFill>
                  <a:srgbClr val="E6EDF3"/>
                </a:solidFill>
                <a:latin typeface="Courier New"/>
              </a:rPr>
              <a:t> </a:t>
            </a:r>
            <a:r>
              <a:rPr sz="1400" b="0" i="0">
                <a:solidFill>
                  <a:srgbClr val="C9A0FF"/>
                </a:solidFill>
                <a:latin typeface="Courier New"/>
              </a:rPr>
              <a:t>None</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764024" y="1512824"/>
            <a:ext cx="4014215" cy="833628"/>
          </a:xfrm>
          <a:prstGeom prst="rect">
            <a:avLst/>
          </a:prstGeom>
          <a:noFill/>
        </p:spPr>
        <p:txBody>
          <a:bodyPr wrap="square" lIns="128016" rIns="128016" tIns="18288" bIns="18288" anchor="ctr">
            <a:spAutoFit/>
          </a:bodyPr>
          <a:lstStyle/>
          <a:p>
            <a:r>
              <a:rPr sz="1250" b="0" i="0">
                <a:solidFill>
                  <a:srgbClr val="1F2933"/>
                </a:solidFill>
                <a:latin typeface="Calibri"/>
              </a:rPr>
              <a:t>Python hands back the value None. The built-in len does return a value: the length.</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3924"/>
          <a:ext cx="8412478" cy="1371600"/>
        </p:xfrm>
        <a:graphic>
          <a:graphicData uri="http://schemas.openxmlformats.org/drawingml/2006/table">
            <a:tbl>
              <a:tblPr firstRow="0" bandRow="0"/>
              <a:tblGrid>
                <a:gridCol w="2403565"/>
                <a:gridCol w="1802674"/>
                <a:gridCol w="1802674"/>
                <a:gridCol w="2403565"/>
              </a:tblGrid>
              <a:tr h="274320">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It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It gave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 of that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shout('hi')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'HI\n'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len('hello')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len([1, 2,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print('x')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'x\n'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 return statement means the call gives back None.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named options and built-ins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Named parameters are labelled switches on a machine: you set only the ones you care about.</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Named Parameters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Labelled switches on a coffee machine: strength=strong.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loudspeaker: it says the words and gives you nothing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question at a reception desk: the program waits for the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tape measure: it answers with a number and changes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Named parameters: sep and end of print()</a:t>
            </a:r>
          </a:p>
        </p:txBody>
      </p:sp>
      <p:sp>
        <p:nvSpPr>
          <p:cNvPr id="4" name="code"/>
          <p:cNvSpPr/>
          <p:nvPr/>
        </p:nvSpPr>
        <p:spPr>
          <a:xfrm>
            <a:off x="365760" y="841248"/>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'cats'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'mice'</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'cats'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'mice'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sep</a:t>
            </a:r>
            <a:r>
              <a:rPr sz="1400" b="0" i="0">
                <a:solidFill>
                  <a:srgbClr val="E6EDF3"/>
                </a:solidFill>
                <a:latin typeface="Courier New"/>
              </a:rPr>
              <a:t>=</a:t>
            </a:r>
            <a:r>
              <a:rPr sz="1400" b="0" i="0">
                <a:solidFill>
                  <a:srgbClr val="9BE3A8"/>
                </a:solidFill>
                <a:latin typeface="Courier New"/>
              </a:rPr>
              <a:t>', '</a:t>
            </a:r>
            <a:r>
              <a:rPr sz="1400" b="0" i="0">
                <a:solidFill>
                  <a:srgbClr val="E6EDF3"/>
                </a:solidFill>
                <a:latin typeface="Courier New"/>
              </a:rPr>
              <a:t>)</a:t>
            </a:r>
          </a:p>
        </p:txBody>
      </p:sp>
      <p:sp>
        <p:nvSpPr>
          <p:cNvPr id="5" name="explanation"/>
          <p:cNvSpPr txBox="1"/>
          <p:nvPr/>
        </p:nvSpPr>
        <p:spPr>
          <a:xfrm>
            <a:off x="5190744" y="841248"/>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print puts a space between values. The named parameter sep chooses another separator.</a:t>
            </a:r>
          </a:p>
        </p:txBody>
      </p:sp>
      <p:sp>
        <p:nvSpPr>
          <p:cNvPr id="6" name="code"/>
          <p:cNvSpPr/>
          <p:nvPr/>
        </p:nvSpPr>
        <p:spPr>
          <a:xfrm>
            <a:off x="365760" y="1619440"/>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end</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 World'</a:t>
            </a:r>
            <a:r>
              <a:rPr sz="1400" b="0" i="0">
                <a:solidFill>
                  <a:srgbClr val="E6EDF3"/>
                </a:solidFill>
                <a:latin typeface="Courier New"/>
              </a:rPr>
              <a:t>)</a:t>
            </a:r>
          </a:p>
        </p:txBody>
      </p:sp>
      <p:sp>
        <p:nvSpPr>
          <p:cNvPr id="7" name="explanation"/>
          <p:cNvSpPr txBox="1"/>
          <p:nvPr/>
        </p:nvSpPr>
        <p:spPr>
          <a:xfrm>
            <a:off x="5190744" y="1619440"/>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The named parameter end replaces the newline that print adds. The two calls make one line.</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5720485" cy="1371600"/>
        </p:xfrm>
        <a:graphic>
          <a:graphicData uri="http://schemas.openxmlformats.org/drawingml/2006/table">
            <a:tbl>
              <a:tblPr firstRow="0" bandRow="0"/>
              <a:tblGrid>
                <a:gridCol w="2491179"/>
                <a:gridCol w="2398913"/>
                <a:gridCol w="830393"/>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it printed (· blank, ⏎ line 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'cats', 'dogs', 'mice'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cats·dogs·mice⏎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'cats', 'dogs', 'mice', sep=',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cats,·dogs,·mice⏎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'Hello',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6338620" y="2690241"/>
          <a:ext cx="2439619" cy="146304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sep and end are named parameters of print().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Default values and keyword-only parameters</a:t>
            </a:r>
          </a:p>
        </p:txBody>
      </p:sp>
      <p:sp>
        <p:nvSpPr>
          <p:cNvPr id="4" name="code"/>
          <p:cNvSpPr/>
          <p:nvPr/>
        </p:nvSpPr>
        <p:spPr>
          <a:xfrm>
            <a:off x="365760" y="841248"/>
            <a:ext cx="52090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E6EDF3"/>
                </a:solidFill>
                <a:latin typeface="Courier New"/>
              </a:rPr>
              <a:t>width</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height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r>
              <a:rPr sz="1300" b="0" i="0">
                <a:solidFill>
                  <a:srgbClr val="E6EDF3"/>
                </a:solidFill>
                <a:latin typeface="Courier New"/>
              </a:rPr>
              <a:t>=</a:t>
            </a:r>
            <a:r>
              <a:rPr sz="1300" b="0" i="0">
                <a:solidFill>
                  <a:srgbClr val="9BE3A8"/>
                </a:solidFill>
                <a:latin typeface="Courier New"/>
              </a:rPr>
              <a:t>'m'</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str</a:t>
            </a:r>
            <a:r>
              <a:rPr sz="1300" b="0" i="0">
                <a:solidFill>
                  <a:srgbClr val="E6EDF3"/>
                </a:solidFill>
                <a:latin typeface="Courier New"/>
              </a:rPr>
              <a:t>(</a:t>
            </a:r>
            <a:r>
              <a:rPr sz="1300" b="0" i="0">
                <a:solidFill>
                  <a:srgbClr val="E6EDF3"/>
                </a:solidFill>
                <a:latin typeface="Courier New"/>
              </a:rPr>
              <a:t>width</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height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 '</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p>
        </p:txBody>
      </p:sp>
      <p:sp>
        <p:nvSpPr>
          <p:cNvPr id="5" name="explanation"/>
          <p:cNvSpPr txBox="1"/>
          <p:nvPr/>
        </p:nvSpPr>
        <p:spPr>
          <a:xfrm>
            <a:off x="5556504" y="841248"/>
            <a:ext cx="3221735" cy="723328"/>
          </a:xfrm>
          <a:prstGeom prst="rect">
            <a:avLst/>
          </a:prstGeom>
          <a:noFill/>
        </p:spPr>
        <p:txBody>
          <a:bodyPr wrap="square" lIns="128016" rIns="128016" tIns="18288" bIns="18288" anchor="ctr">
            <a:spAutoFit/>
          </a:bodyPr>
          <a:lstStyle/>
          <a:p>
            <a:r>
              <a:rPr sz="1250" b="0" i="0">
                <a:solidFill>
                  <a:srgbClr val="1F2933"/>
                </a:solidFill>
                <a:latin typeface="Calibri"/>
              </a:rPr>
              <a:t>height has a default, so a call may leave it out. The star makes unit keyword-only: it must be named.</a:t>
            </a:r>
          </a:p>
        </p:txBody>
      </p:sp>
      <p:sp>
        <p:nvSpPr>
          <p:cNvPr id="6" name="code"/>
          <p:cNvSpPr/>
          <p:nvPr/>
        </p:nvSpPr>
        <p:spPr>
          <a:xfrm>
            <a:off x="365760" y="1619440"/>
            <a:ext cx="52090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4</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r>
              <a:rPr sz="1300" b="0" i="0">
                <a:solidFill>
                  <a:srgbClr val="E6EDF3"/>
                </a:solidFill>
                <a:latin typeface="Courier New"/>
              </a:rPr>
              <a:t>=</a:t>
            </a:r>
            <a:r>
              <a:rPr sz="1300" b="0" i="0">
                <a:solidFill>
                  <a:srgbClr val="9BE3A8"/>
                </a:solidFill>
                <a:latin typeface="Courier New"/>
              </a:rPr>
              <a:t>'cm'</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556504" y="1619440"/>
            <a:ext cx="3221735" cy="723328"/>
          </a:xfrm>
          <a:prstGeom prst="rect">
            <a:avLst/>
          </a:prstGeom>
          <a:noFill/>
        </p:spPr>
        <p:txBody>
          <a:bodyPr wrap="square" lIns="128016" rIns="128016" tIns="18288" bIns="18288" anchor="ctr">
            <a:spAutoFit/>
          </a:bodyPr>
          <a:lstStyle/>
          <a:p>
            <a:r>
              <a:rPr sz="1250" b="0" i="0">
                <a:solidFill>
                  <a:srgbClr val="1F2933"/>
                </a:solidFill>
                <a:latin typeface="Calibri"/>
              </a:rPr>
              <a:t>Three calls fill the parameters in three ways. The default and the name decide the result.</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78" cy="1316736"/>
        </p:xfrm>
        <a:graphic>
          <a:graphicData uri="http://schemas.openxmlformats.org/drawingml/2006/table">
            <a:tbl>
              <a:tblPr firstRow="0" bandRow="0"/>
              <a:tblGrid>
                <a:gridCol w="2804160"/>
                <a:gridCol w="970670"/>
                <a:gridCol w="1617784"/>
                <a:gridCol w="1617784"/>
                <a:gridCol w="1402080"/>
              </a:tblGrid>
              <a:tr h="329184">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width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height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unit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area 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area(3)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'm'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'3 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area(3,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'm'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'12 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050" b="0" i="0">
                          <a:solidFill>
                            <a:srgbClr val="1F2933"/>
                          </a:solidFill>
                          <a:latin typeface="Courier New"/>
                        </a:rPr>
                        <a:t>area(3, unit='cm')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 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TextBox 9"/>
          <p:cNvSpPr txBox="1"/>
          <p:nvPr/>
        </p:nvSpPr>
        <p:spPr>
          <a:xfrm>
            <a:off x="365760" y="4061840"/>
            <a:ext cx="8412480" cy="237744"/>
          </a:xfrm>
          <a:prstGeom prst="rect">
            <a:avLst/>
          </a:prstGeom>
          <a:noFill/>
        </p:spPr>
        <p:txBody>
          <a:bodyPr wrap="square" lIns="45720" rIns="45720" tIns="27432" bIns="27432" anchor="t">
            <a:spAutoFit/>
          </a:bodyPr>
          <a:lstStyle/>
          <a:p>
            <a:r>
              <a:rPr sz="1000" b="0" i="1">
                <a:solidFill>
                  <a:srgbClr val="5B6773"/>
                </a:solidFill>
                <a:latin typeface="Calibri"/>
              </a:rPr>
              <a:t>amber: filled in from the default, not from the call</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default makes an argument optional; the star forces names.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default value is made once: the shared list</a:t>
            </a:r>
          </a:p>
        </p:txBody>
      </p:sp>
      <p:sp>
        <p:nvSpPr>
          <p:cNvPr id="4" name="code"/>
          <p:cNvSpPr/>
          <p:nvPr/>
        </p:nvSpPr>
        <p:spPr>
          <a:xfrm>
            <a:off x="365760" y="841248"/>
            <a:ext cx="3304032"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add_item</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bag</a:t>
            </a:r>
          </a:p>
        </p:txBody>
      </p:sp>
      <p:sp>
        <p:nvSpPr>
          <p:cNvPr id="5" name="explanation"/>
          <p:cNvSpPr txBox="1"/>
          <p:nvPr/>
        </p:nvSpPr>
        <p:spPr>
          <a:xfrm>
            <a:off x="3651504" y="841248"/>
            <a:ext cx="5126735" cy="647699"/>
          </a:xfrm>
          <a:prstGeom prst="rect">
            <a:avLst/>
          </a:prstGeom>
          <a:noFill/>
        </p:spPr>
        <p:txBody>
          <a:bodyPr wrap="square" lIns="128016" rIns="128016" tIns="18288" bIns="18288" anchor="ctr">
            <a:spAutoFit/>
          </a:bodyPr>
          <a:lstStyle/>
          <a:p>
            <a:r>
              <a:rPr sz="1100" b="0" i="0">
                <a:solidFill>
                  <a:srgbClr val="1F2933"/>
                </a:solidFill>
                <a:latin typeface="Calibri"/>
              </a:rPr>
              <a:t>The empty list is created once, when def runs. Every call without bag reuses that same list.</a:t>
            </a:r>
          </a:p>
        </p:txBody>
      </p:sp>
      <p:sp>
        <p:nvSpPr>
          <p:cNvPr id="6" name="code"/>
          <p:cNvSpPr/>
          <p:nvPr/>
        </p:nvSpPr>
        <p:spPr>
          <a:xfrm>
            <a:off x="365760" y="1543812"/>
            <a:ext cx="3304032"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add_safe</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C9A0FF"/>
                </a:solidFill>
                <a:latin typeface="Courier New"/>
              </a:rPr>
              <a:t>None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 </a:t>
            </a:r>
            <a:r>
              <a:rPr sz="1000" b="0" i="0">
                <a:solidFill>
                  <a:srgbClr val="C9A0FF"/>
                </a:solidFill>
                <a:latin typeface="Courier New"/>
              </a:rPr>
              <a:t>is</a:t>
            </a:r>
            <a:r>
              <a:rPr sz="1000" b="0" i="0">
                <a:solidFill>
                  <a:srgbClr val="E6EDF3"/>
                </a:solidFill>
                <a:latin typeface="Courier New"/>
              </a:rPr>
              <a:t> </a:t>
            </a:r>
            <a:r>
              <a:rPr sz="1000" b="0" i="0">
                <a:solidFill>
                  <a:srgbClr val="C9A0FF"/>
                </a:solidFill>
                <a:latin typeface="Courier New"/>
              </a:rPr>
              <a:t>None</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E6EDF3"/>
                </a:solidFill>
                <a:latin typeface="Courier New"/>
              </a:rPr>
              <a:t>bag</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bag</a:t>
            </a:r>
          </a:p>
        </p:txBody>
      </p:sp>
      <p:sp>
        <p:nvSpPr>
          <p:cNvPr id="7" name="explanation"/>
          <p:cNvSpPr txBox="1"/>
          <p:nvPr/>
        </p:nvSpPr>
        <p:spPr>
          <a:xfrm>
            <a:off x="3651504" y="1543812"/>
            <a:ext cx="5126735" cy="802640"/>
          </a:xfrm>
          <a:prstGeom prst="rect">
            <a:avLst/>
          </a:prstGeom>
          <a:noFill/>
        </p:spPr>
        <p:txBody>
          <a:bodyPr wrap="square" lIns="128016" rIns="128016" tIns="18288" bIns="18288" anchor="ctr">
            <a:spAutoFit/>
          </a:bodyPr>
          <a:lstStyle/>
          <a:p>
            <a:r>
              <a:rPr sz="1100" b="0" i="0">
                <a:solidFill>
                  <a:srgbClr val="1F2933"/>
                </a:solidFill>
                <a:latin typeface="Calibri"/>
              </a:rPr>
              <a:t>The safe habit: default to None and make a fresh list inside the body, once per call.</a:t>
            </a:r>
          </a:p>
        </p:txBody>
      </p:sp>
      <p:sp>
        <p:nvSpPr>
          <p:cNvPr id="8" name="code"/>
          <p:cNvSpPr/>
          <p:nvPr/>
        </p:nvSpPr>
        <p:spPr>
          <a:xfrm>
            <a:off x="365760" y="2401316"/>
            <a:ext cx="3304032"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add_item</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add_item</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add_safe</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add_safe</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3651504" y="2401316"/>
            <a:ext cx="5126735" cy="492760"/>
          </a:xfrm>
          <a:prstGeom prst="rect">
            <a:avLst/>
          </a:prstGeom>
          <a:noFill/>
        </p:spPr>
        <p:txBody>
          <a:bodyPr wrap="square" lIns="128016" rIns="128016" tIns="18288" bIns="18288" anchor="ctr">
            <a:spAutoFit/>
          </a:bodyPr>
          <a:lstStyle/>
          <a:p>
            <a:r>
              <a:rPr sz="1100" b="0" i="0">
                <a:solidFill>
                  <a:srgbClr val="1F2933"/>
                </a:solidFill>
                <a:latin typeface="Calibri"/>
              </a:rPr>
              <a:t>The first pair shares one list, so both results show both items. The second pair is separate.</a:t>
            </a:r>
          </a:p>
        </p:txBody>
      </p:sp>
      <p:sp>
        <p:nvSpPr>
          <p:cNvPr id="10" name="result label"/>
          <p:cNvSpPr txBox="1"/>
          <p:nvPr/>
        </p:nvSpPr>
        <p:spPr>
          <a:xfrm>
            <a:off x="365760" y="29672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41548"/>
          <a:ext cx="5215736" cy="1280160"/>
        </p:xfrm>
        <a:graphic>
          <a:graphicData uri="http://schemas.openxmlformats.org/drawingml/2006/table">
            <a:tbl>
              <a:tblPr firstRow="0" bandRow="0"/>
              <a:tblGrid>
                <a:gridCol w="1805447"/>
                <a:gridCol w="2607868"/>
                <a:gridCol w="802421"/>
              </a:tblGrid>
              <a:tr h="256032">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The list that was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0" i="0">
                          <a:solidFill>
                            <a:srgbClr val="1F2933"/>
                          </a:solidFill>
                          <a:latin typeface="Courier New"/>
                        </a:rPr>
                        <a:t>add_item('a')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add_item('b')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add_safe('a')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add_safe('b')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917996" y="3241548"/>
          <a:ext cx="2860243" cy="13258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Default to None; build the list inside.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The call stack and scope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Where calls live, and which names they can see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Call stack</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Every active call has a frame; the newest is on top.</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Local scope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made inside a call vanish when it returns.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Global scope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at the top level can be read from everywhere.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global statement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Lets an assignment inside a function reach the global name.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call stack: one frame for every ac...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 frame object knows its function and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local variable lives only during 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Local scopes are walled off; globals 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same name can be three different 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global statement reaches the globa...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nonlocal: the middle case between loca...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Scope identification: does the body 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Assign later, crash earlier: UnboundLo...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call stack</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The call stack is a pile of sticky notes: each call adds one, and the top note is the one you work on.</a:t>
            </a:r>
          </a:p>
        </p:txBody>
      </p:sp>
      <p:graphicFrame>
        <p:nvGraphicFramePr>
          <p:cNvPr id="6" name="table"/>
          <p:cNvGraphicFramePr>
            <a:graphicFrameLocks noGrp="1"/>
          </p:cNvGraphicFramePr>
          <p:nvPr/>
        </p:nvGraphicFramePr>
        <p:xfrm>
          <a:off x="365760" y="1463040"/>
          <a:ext cx="8412480" cy="18288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The Call Stack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pile of sticky notes, newest on top, removed in reverse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call stack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pile itself: it remembers where each call has to go back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frame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sticky note: function, variables and the line to return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call stack: one frame for every active call</a:t>
            </a:r>
          </a:p>
        </p:txBody>
      </p:sp>
      <p:sp>
        <p:nvSpPr>
          <p:cNvPr id="4" name="code"/>
          <p:cNvSpPr/>
          <p:nvPr/>
        </p:nvSpPr>
        <p:spPr>
          <a:xfrm>
            <a:off x="365760" y="841248"/>
            <a:ext cx="41422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inspect</a:t>
            </a:r>
          </a:p>
          <a:p>
            <a:pPr algn="l"/>
            <a:r>
              <a:rPr sz="1000" b="0" i="0">
                <a:solidFill>
                  <a:srgbClr val="8FA3B8"/>
                </a:solidFill>
                <a:latin typeface="Courier New"/>
              </a:rPr>
              <a:t>&gt;&gt;&gt; </a:t>
            </a:r>
            <a:r>
              <a:rPr sz="1000" b="0" i="0">
                <a:solidFill>
                  <a:srgbClr val="E6EDF3"/>
                </a:solidFill>
                <a:latin typeface="Courier New"/>
              </a:rPr>
              <a:t>base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inspect</a:t>
            </a:r>
            <a:r>
              <a:rPr sz="1000" b="0" i="0">
                <a:solidFill>
                  <a:srgbClr val="E6EDF3"/>
                </a:solidFill>
                <a:latin typeface="Courier New"/>
              </a:rPr>
              <a:t>.</a:t>
            </a:r>
            <a:r>
              <a:rPr sz="1000" b="0" i="0">
                <a:solidFill>
                  <a:srgbClr val="E6EDF3"/>
                </a:solidFill>
                <a:latin typeface="Courier New"/>
              </a:rPr>
              <a:t>stack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depth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inspect</a:t>
            </a:r>
            <a:r>
              <a:rPr sz="1000" b="0" i="0">
                <a:solidFill>
                  <a:srgbClr val="E6EDF3"/>
                </a:solidFill>
                <a:latin typeface="Courier New"/>
              </a:rPr>
              <a:t>.</a:t>
            </a:r>
            <a:r>
              <a:rPr sz="1000" b="0" i="0">
                <a:solidFill>
                  <a:srgbClr val="E6EDF3"/>
                </a:solidFill>
                <a:latin typeface="Courier New"/>
              </a:rPr>
              <a:t>stack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p>
        </p:txBody>
      </p:sp>
      <p:sp>
        <p:nvSpPr>
          <p:cNvPr id="5" name="explanation"/>
          <p:cNvSpPr txBox="1"/>
          <p:nvPr/>
        </p:nvSpPr>
        <p:spPr>
          <a:xfrm>
            <a:off x="4489704" y="841248"/>
            <a:ext cx="4288536" cy="651891"/>
          </a:xfrm>
          <a:prstGeom prst="rect">
            <a:avLst/>
          </a:prstGeom>
          <a:noFill/>
        </p:spPr>
        <p:txBody>
          <a:bodyPr wrap="square" lIns="128016" rIns="128016" tIns="18288" bIns="18288" anchor="ctr">
            <a:spAutoFit/>
          </a:bodyPr>
          <a:lstStyle/>
          <a:p>
            <a:r>
              <a:rPr sz="1100" b="0" i="0">
                <a:solidFill>
                  <a:srgbClr val="1F2933"/>
                </a:solidFill>
                <a:latin typeface="Calibri"/>
              </a:rPr>
              <a:t>inspect.stack lists every waiting frame. depth counts them above the top level; the minus 1 leaves out the lambda's own frame.</a:t>
            </a:r>
          </a:p>
        </p:txBody>
      </p:sp>
      <p:sp>
        <p:nvSpPr>
          <p:cNvPr id="6" name="code"/>
          <p:cNvSpPr/>
          <p:nvPr/>
        </p:nvSpPr>
        <p:spPr>
          <a:xfrm>
            <a:off x="365760" y="1548003"/>
            <a:ext cx="4142231"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4489704" y="1548003"/>
            <a:ext cx="4288536" cy="1112520"/>
          </a:xfrm>
          <a:prstGeom prst="rect">
            <a:avLst/>
          </a:prstGeom>
          <a:noFill/>
        </p:spPr>
        <p:txBody>
          <a:bodyPr wrap="square" lIns="128016" rIns="128016" tIns="18288" bIns="18288" anchor="ctr">
            <a:spAutoFit/>
          </a:bodyPr>
          <a:lstStyle/>
          <a:p>
            <a:r>
              <a:rPr sz="1100" b="0" i="0">
                <a:solidFill>
                  <a:srgbClr val="1F2933"/>
                </a:solidFill>
                <a:latin typeface="Calibri"/>
              </a:rPr>
              <a:t>a calls b and b calls c. Each one reports how many calls are waiting: its depth in the stack.</a:t>
            </a:r>
          </a:p>
        </p:txBody>
      </p:sp>
      <p:sp>
        <p:nvSpPr>
          <p:cNvPr id="8" name="code"/>
          <p:cNvSpPr/>
          <p:nvPr/>
        </p:nvSpPr>
        <p:spPr>
          <a:xfrm>
            <a:off x="365760" y="2715387"/>
            <a:ext cx="41422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4489704" y="2715387"/>
            <a:ext cx="4288536" cy="477266"/>
          </a:xfrm>
          <a:prstGeom prst="rect">
            <a:avLst/>
          </a:prstGeom>
          <a:noFill/>
        </p:spPr>
        <p:txBody>
          <a:bodyPr wrap="square" lIns="128016" rIns="128016" tIns="18288" bIns="18288" anchor="ctr">
            <a:spAutoFit/>
          </a:bodyPr>
          <a:lstStyle/>
          <a:p>
            <a:r>
              <a:rPr sz="1100" b="0" i="0">
                <a:solidFill>
                  <a:srgbClr val="1F2933"/>
                </a:solidFill>
                <a:latin typeface="Calibri"/>
              </a:rPr>
              <a:t>a is at depth 1, b at 2, c at 3. Back at the top level the stack is empty again: depth 0.</a:t>
            </a:r>
          </a:p>
        </p:txBody>
      </p:sp>
      <p:sp>
        <p:nvSpPr>
          <p:cNvPr id="10" name="result label"/>
          <p:cNvSpPr txBox="1"/>
          <p:nvPr/>
        </p:nvSpPr>
        <p:spPr>
          <a:xfrm>
            <a:off x="365760" y="326580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548640" y="4308221"/>
            <a:ext cx="2194560" cy="2148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top level   depth 0</a:t>
            </a:r>
          </a:p>
        </p:txBody>
      </p:sp>
      <p:cxnSp>
        <p:nvCxnSpPr>
          <p:cNvPr id="12" name="arrow"/>
          <p:cNvCxnSpPr/>
          <p:nvPr/>
        </p:nvCxnSpPr>
        <p:spPr>
          <a:xfrm flipV="1">
            <a:off x="1645919" y="4523105"/>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4052188"/>
            <a:ext cx="2194560" cy="2148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   depth 1</a:t>
            </a:r>
          </a:p>
        </p:txBody>
      </p:sp>
      <p:cxnSp>
        <p:nvCxnSpPr>
          <p:cNvPr id="14" name="arrow"/>
          <p:cNvCxnSpPr/>
          <p:nvPr/>
        </p:nvCxnSpPr>
        <p:spPr>
          <a:xfrm flipV="1">
            <a:off x="1645919" y="4267073"/>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796157"/>
            <a:ext cx="2194560" cy="2148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   depth 2</a:t>
            </a:r>
          </a:p>
        </p:txBody>
      </p:sp>
      <p:cxnSp>
        <p:nvCxnSpPr>
          <p:cNvPr id="16" name="arrow"/>
          <p:cNvCxnSpPr/>
          <p:nvPr/>
        </p:nvCxnSpPr>
        <p:spPr>
          <a:xfrm flipV="1">
            <a:off x="1645919" y="4011041"/>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540125"/>
            <a:ext cx="2194560" cy="2148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   depth 3</a:t>
            </a:r>
          </a:p>
        </p:txBody>
      </p:sp>
      <p:sp>
        <p:nvSpPr>
          <p:cNvPr id="18" name="TextBox 17"/>
          <p:cNvSpPr txBox="1"/>
          <p:nvPr/>
        </p:nvSpPr>
        <p:spPr>
          <a:xfrm>
            <a:off x="2834640" y="3558413"/>
            <a:ext cx="1645920" cy="457200"/>
          </a:xfrm>
          <a:prstGeom prst="rect">
            <a:avLst/>
          </a:prstGeom>
          <a:noFill/>
        </p:spPr>
        <p:txBody>
          <a:bodyPr wrap="square" lIns="45720" rIns="45720" tIns="27432" bIns="27432" anchor="t">
            <a:spAutoFit/>
          </a:bodyPr>
          <a:lstStyle/>
          <a:p>
            <a:r>
              <a:rPr sz="900" b="0" i="1">
                <a:solidFill>
                  <a:srgbClr val="5B6773"/>
                </a:solidFill>
                <a:latin typeface="Calibri"/>
              </a:rPr>
              <a:t>newest call on top; each arrow points to its caller</a:t>
            </a:r>
          </a:p>
        </p:txBody>
      </p:sp>
      <p:graphicFrame>
        <p:nvGraphicFramePr>
          <p:cNvPr id="19" name="chart"/>
          <p:cNvGraphicFramePr>
            <a:graphicFrameLocks noGrp="1"/>
          </p:cNvGraphicFramePr>
          <p:nvPr/>
        </p:nvGraphicFramePr>
        <p:xfrm>
          <a:off x="4572000" y="3540125"/>
          <a:ext cx="4206240" cy="1051560"/>
        </p:xfrm>
        <a:graphic>
          <a:graphicData uri="http://schemas.openxmlformats.org/drawingml/2006/chart">
            <c:chart xmlns:c="http://schemas.openxmlformats.org/drawingml/2006/chart" r:id="rId3"/>
          </a:graphicData>
        </a:graphic>
      </p:graphicFrame>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active call has a frame; the newest is on top.</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frame object knows its function and its caller</a:t>
            </a:r>
          </a:p>
        </p:txBody>
      </p:sp>
      <p:sp>
        <p:nvSpPr>
          <p:cNvPr id="4" name="code"/>
          <p:cNvSpPr/>
          <p:nvPr/>
        </p:nvSpPr>
        <p:spPr>
          <a:xfrm>
            <a:off x="365760" y="841248"/>
            <a:ext cx="486613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caller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_getframe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_getframe</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me</a:t>
            </a:r>
            <a:r>
              <a:rPr sz="1100" b="0" i="0">
                <a:solidFill>
                  <a:srgbClr val="E6EDF3"/>
                </a:solidFill>
                <a:latin typeface="Courier New"/>
              </a:rPr>
              <a:t>.</a:t>
            </a:r>
            <a:r>
              <a:rPr sz="1100" b="0" i="0">
                <a:solidFill>
                  <a:srgbClr val="E6EDF3"/>
                </a:solidFill>
                <a:latin typeface="Courier New"/>
              </a:rPr>
              <a:t>f_code</a:t>
            </a:r>
            <a:r>
              <a:rPr sz="1100" b="0" i="0">
                <a:solidFill>
                  <a:srgbClr val="E6EDF3"/>
                </a:solidFill>
                <a:latin typeface="Courier New"/>
              </a:rPr>
              <a:t>.</a:t>
            </a:r>
            <a:r>
              <a:rPr sz="1100" b="0" i="0">
                <a:solidFill>
                  <a:srgbClr val="E6EDF3"/>
                </a:solidFill>
                <a:latin typeface="Courier New"/>
              </a:rPr>
              <a:t>co_name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caller</a:t>
            </a:r>
            <a:r>
              <a:rPr sz="1100" b="0" i="0">
                <a:solidFill>
                  <a:srgbClr val="E6EDF3"/>
                </a:solidFill>
                <a:latin typeface="Courier New"/>
              </a:rPr>
              <a:t>.</a:t>
            </a:r>
            <a:r>
              <a:rPr sz="1100" b="0" i="0">
                <a:solidFill>
                  <a:srgbClr val="E6EDF3"/>
                </a:solidFill>
                <a:latin typeface="Courier New"/>
              </a:rPr>
              <a:t>f_code</a:t>
            </a:r>
            <a:r>
              <a:rPr sz="1100" b="0" i="0">
                <a:solidFill>
                  <a:srgbClr val="E6EDF3"/>
                </a:solidFill>
                <a:latin typeface="Courier New"/>
              </a:rPr>
              <a:t>.</a:t>
            </a:r>
            <a:r>
              <a:rPr sz="1100" b="0" i="0">
                <a:solidFill>
                  <a:srgbClr val="E6EDF3"/>
                </a:solidFill>
                <a:latin typeface="Courier New"/>
              </a:rPr>
              <a:t>co_name</a:t>
            </a:r>
          </a:p>
        </p:txBody>
      </p:sp>
      <p:sp>
        <p:nvSpPr>
          <p:cNvPr id="5" name="explanation"/>
          <p:cNvSpPr txBox="1"/>
          <p:nvPr/>
        </p:nvSpPr>
        <p:spPr>
          <a:xfrm>
            <a:off x="5213604" y="841248"/>
            <a:ext cx="3564635" cy="864615"/>
          </a:xfrm>
          <a:prstGeom prst="rect">
            <a:avLst/>
          </a:prstGeom>
          <a:noFill/>
        </p:spPr>
        <p:txBody>
          <a:bodyPr wrap="square" lIns="128016" rIns="128016" tIns="18288" bIns="18288" anchor="ctr">
            <a:spAutoFit/>
          </a:bodyPr>
          <a:lstStyle/>
          <a:p>
            <a:r>
              <a:rPr sz="1200" b="0" i="0">
                <a:solidFill>
                  <a:srgbClr val="1F2933"/>
                </a:solidFill>
                <a:latin typeface="Calibri"/>
              </a:rPr>
              <a:t>sys._getframe gives the frame object of a running call. Its f_code.co_name is the name of the function.</a:t>
            </a:r>
          </a:p>
        </p:txBody>
      </p:sp>
      <p:sp>
        <p:nvSpPr>
          <p:cNvPr id="6" name="code"/>
          <p:cNvSpPr/>
          <p:nvPr/>
        </p:nvSpPr>
        <p:spPr>
          <a:xfrm>
            <a:off x="365760" y="1760728"/>
            <a:ext cx="4866132"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13604" y="1760728"/>
            <a:ext cx="3564635" cy="694181"/>
          </a:xfrm>
          <a:prstGeom prst="rect">
            <a:avLst/>
          </a:prstGeom>
          <a:noFill/>
        </p:spPr>
        <p:txBody>
          <a:bodyPr wrap="square" lIns="128016" rIns="128016" tIns="18288" bIns="18288" anchor="ctr">
            <a:spAutoFit/>
          </a:bodyPr>
          <a:lstStyle/>
          <a:p>
            <a:r>
              <a:rPr sz="1200" b="0" i="0">
                <a:solidFill>
                  <a:srgbClr val="1F2933"/>
                </a:solidFill>
                <a:latin typeface="Calibri"/>
              </a:rPr>
              <a:t>outer called inner, so the caller frame of inner is the frame of outer.</a:t>
            </a:r>
          </a:p>
        </p:txBody>
      </p:sp>
      <p:sp>
        <p:nvSpPr>
          <p:cNvPr id="8" name="result label"/>
          <p:cNvSpPr txBox="1"/>
          <p:nvPr/>
        </p:nvSpPr>
        <p:spPr>
          <a:xfrm>
            <a:off x="365760" y="25280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802382"/>
            <a:ext cx="21031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frame of inner</a:t>
            </a:r>
          </a:p>
        </p:txBody>
      </p:sp>
      <p:sp>
        <p:nvSpPr>
          <p:cNvPr id="10" name="TextBox 9"/>
          <p:cNvSpPr txBox="1"/>
          <p:nvPr/>
        </p:nvSpPr>
        <p:spPr>
          <a:xfrm>
            <a:off x="36576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'inner'</a:t>
            </a:r>
          </a:p>
        </p:txBody>
      </p:sp>
      <p:cxnSp>
        <p:nvCxnSpPr>
          <p:cNvPr id="11" name="arrow"/>
          <p:cNvCxnSpPr/>
          <p:nvPr/>
        </p:nvCxnSpPr>
        <p:spPr>
          <a:xfrm>
            <a:off x="2514600" y="2985262"/>
            <a:ext cx="54864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514600" y="2756662"/>
            <a:ext cx="548640" cy="201168"/>
          </a:xfrm>
          <a:prstGeom prst="rect">
            <a:avLst/>
          </a:prstGeom>
          <a:noFill/>
        </p:spPr>
        <p:txBody>
          <a:bodyPr wrap="square" lIns="0" rIns="0" tIns="0" bIns="0" anchor="t">
            <a:spAutoFit/>
          </a:bodyPr>
          <a:lstStyle/>
          <a:p>
            <a:pPr algn="ctr"/>
            <a:r>
              <a:rPr sz="850" b="0" i="0">
                <a:solidFill>
                  <a:srgbClr val="0E7C86"/>
                </a:solidFill>
                <a:latin typeface="Courier New"/>
              </a:rPr>
              <a:t>f_back</a:t>
            </a:r>
          </a:p>
        </p:txBody>
      </p:sp>
      <p:sp>
        <p:nvSpPr>
          <p:cNvPr id="13" name="Rounded Rectangle 12"/>
          <p:cNvSpPr/>
          <p:nvPr/>
        </p:nvSpPr>
        <p:spPr>
          <a:xfrm>
            <a:off x="3200400" y="2802382"/>
            <a:ext cx="210312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frame of outer</a:t>
            </a:r>
          </a:p>
        </p:txBody>
      </p:sp>
      <p:sp>
        <p:nvSpPr>
          <p:cNvPr id="14" name="TextBox 13"/>
          <p:cNvSpPr txBox="1"/>
          <p:nvPr/>
        </p:nvSpPr>
        <p:spPr>
          <a:xfrm>
            <a:off x="320040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'outer'</a:t>
            </a:r>
          </a:p>
        </p:txBody>
      </p:sp>
      <p:cxnSp>
        <p:nvCxnSpPr>
          <p:cNvPr id="15" name="arrow"/>
          <p:cNvCxnSpPr/>
          <p:nvPr/>
        </p:nvCxnSpPr>
        <p:spPr>
          <a:xfrm>
            <a:off x="5349240" y="2985262"/>
            <a:ext cx="54864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49240" y="2756662"/>
            <a:ext cx="548640" cy="201168"/>
          </a:xfrm>
          <a:prstGeom prst="rect">
            <a:avLst/>
          </a:prstGeom>
          <a:noFill/>
        </p:spPr>
        <p:txBody>
          <a:bodyPr wrap="square" lIns="0" rIns="0" tIns="0" bIns="0" anchor="t">
            <a:spAutoFit/>
          </a:bodyPr>
          <a:lstStyle/>
          <a:p>
            <a:pPr algn="ctr"/>
            <a:r>
              <a:rPr sz="850" b="0" i="0">
                <a:solidFill>
                  <a:srgbClr val="0E7C86"/>
                </a:solidFill>
                <a:latin typeface="Courier New"/>
              </a:rPr>
              <a:t>f_back</a:t>
            </a:r>
          </a:p>
        </p:txBody>
      </p:sp>
      <p:sp>
        <p:nvSpPr>
          <p:cNvPr id="17" name="Rounded Rectangle 16"/>
          <p:cNvSpPr/>
          <p:nvPr/>
        </p:nvSpPr>
        <p:spPr>
          <a:xfrm>
            <a:off x="6035040" y="2802382"/>
            <a:ext cx="210312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5B6773"/>
                </a:solidFill>
                <a:latin typeface="Courier New"/>
              </a:rPr>
              <a:t>frame of the top level</a:t>
            </a:r>
          </a:p>
        </p:txBody>
      </p:sp>
      <p:sp>
        <p:nvSpPr>
          <p:cNvPr id="18" name="TextBox 17"/>
          <p:cNvSpPr txBox="1"/>
          <p:nvPr/>
        </p:nvSpPr>
        <p:spPr>
          <a:xfrm>
            <a:off x="603504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'&lt;module&gt;'</a:t>
            </a:r>
          </a:p>
        </p:txBody>
      </p:sp>
      <p:graphicFrame>
        <p:nvGraphicFramePr>
          <p:cNvPr id="19" name="table"/>
          <p:cNvGraphicFramePr>
            <a:graphicFrameLocks noGrp="1"/>
          </p:cNvGraphicFramePr>
          <p:nvPr/>
        </p:nvGraphicFramePr>
        <p:xfrm>
          <a:off x="365760" y="3579622"/>
          <a:ext cx="5047487" cy="822960"/>
        </p:xfrm>
        <a:graphic>
          <a:graphicData uri="http://schemas.openxmlformats.org/drawingml/2006/table">
            <a:tbl>
              <a:tblPr firstRow="0" bandRow="0"/>
              <a:tblGrid>
                <a:gridCol w="3106146"/>
                <a:gridCol w="1941341"/>
              </a:tblGrid>
              <a:tr h="274320">
                <a:tc>
                  <a:txBody>
                    <a:bodyPr wrap="square"/>
                    <a:lstStyle/>
                    <a:p>
                      <a:r>
                        <a:rPr sz="1050" b="1" i="0">
                          <a:solidFill>
                            <a:srgbClr val="FFFFFF"/>
                          </a:solidFill>
                          <a:latin typeface="Calibri"/>
                        </a:rPr>
                        <a:t>Expression in 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me.f_code.co_name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caller.f_code.co_name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frame knows its function and its caller.</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scope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Scope is the rooms of a house: a notepad belongs to its room, but the notice board in the hall is read everywhere.</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3383280"/>
                <a:gridCol w="5029200"/>
              </a:tblGrid>
              <a:tr h="38862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200" b="1" i="0">
                          <a:solidFill>
                            <a:srgbClr val="1F2933"/>
                          </a:solidFill>
                          <a:latin typeface="Calibri"/>
                        </a:rPr>
                        <a:t>Local and Global Scopes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room's own notepad against the hall's notice 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local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notepad inside one room; it is thrown away when you leave.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global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notice board in the hall that every room can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Scope Rules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Rooms read the hall, never each other's notepads.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The global 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permission slip to write on the hall board, not just read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stamp on that slip: this name belongs to the 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Scope Identification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pen stroke on a room's notepad makes it that room's 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local variable lives only during its call</a:t>
            </a:r>
          </a:p>
        </p:txBody>
      </p:sp>
      <p:sp>
        <p:nvSpPr>
          <p:cNvPr id="4" name="code"/>
          <p:cNvSpPr/>
          <p:nvPr/>
        </p:nvSpPr>
        <p:spPr>
          <a:xfrm>
            <a:off x="365760" y="841248"/>
            <a:ext cx="3525012" cy="7871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make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eggs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99</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eggs</a:t>
            </a:r>
          </a:p>
        </p:txBody>
      </p:sp>
      <p:sp>
        <p:nvSpPr>
          <p:cNvPr id="5" name="explanation"/>
          <p:cNvSpPr txBox="1"/>
          <p:nvPr/>
        </p:nvSpPr>
        <p:spPr>
          <a:xfrm>
            <a:off x="3872484" y="841248"/>
            <a:ext cx="4905755" cy="787146"/>
          </a:xfrm>
          <a:prstGeom prst="rect">
            <a:avLst/>
          </a:prstGeom>
          <a:noFill/>
        </p:spPr>
        <p:txBody>
          <a:bodyPr wrap="square" lIns="128016" rIns="128016" tIns="18288" bIns="18288" anchor="ctr">
            <a:spAutoFit/>
          </a:bodyPr>
          <a:lstStyle/>
          <a:p>
            <a:r>
              <a:rPr sz="1250" b="0" i="0">
                <a:solidFill>
                  <a:srgbClr val="1F2933"/>
                </a:solidFill>
                <a:latin typeface="Calibri"/>
              </a:rPr>
              <a:t>eggs is created when make is called and thrown away when the call returns. It is a local variable.</a:t>
            </a:r>
          </a:p>
        </p:txBody>
      </p:sp>
      <p:sp>
        <p:nvSpPr>
          <p:cNvPr id="6" name="code"/>
          <p:cNvSpPr/>
          <p:nvPr/>
        </p:nvSpPr>
        <p:spPr>
          <a:xfrm>
            <a:off x="365760" y="1683258"/>
            <a:ext cx="3525012" cy="11899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make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eggs</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NameError</a:t>
            </a:r>
            <a:r>
              <a:rPr sz="1300" b="0" i="0">
                <a:solidFill>
                  <a:srgbClr val="E6EDF3"/>
                </a:solidFill>
                <a:latin typeface="Courier New"/>
              </a:rPr>
              <a:t> </a:t>
            </a:r>
            <a:r>
              <a:rPr sz="1300" b="0" i="0">
                <a:solidFill>
                  <a:srgbClr val="C9A0FF"/>
                </a:solidFill>
                <a:latin typeface="Courier New"/>
              </a:rPr>
              <a:t>as</a:t>
            </a:r>
            <a:r>
              <a:rPr sz="1300" b="0" i="0">
                <a:solidFill>
                  <a:srgbClr val="E6EDF3"/>
                </a:solidFill>
                <a:latin typeface="Courier New"/>
              </a:rPr>
              <a:t> </a:t>
            </a:r>
            <a:r>
              <a:rPr sz="1300" b="0" i="0">
                <a:solidFill>
                  <a:srgbClr val="E6EDF3"/>
                </a:solidFill>
                <a:latin typeface="Courier New"/>
              </a:rPr>
              <a:t>err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err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r>
              <a:rPr sz="1300" b="0" i="0">
                <a:solidFill>
                  <a:srgbClr val="E6EDF3"/>
                </a:solidFill>
                <a:latin typeface="Courier New"/>
              </a:rPr>
              <a:t>)</a:t>
            </a:r>
          </a:p>
        </p:txBody>
      </p:sp>
      <p:sp>
        <p:nvSpPr>
          <p:cNvPr id="7" name="explanation"/>
          <p:cNvSpPr txBox="1"/>
          <p:nvPr/>
        </p:nvSpPr>
        <p:spPr>
          <a:xfrm>
            <a:off x="3872484" y="1683258"/>
            <a:ext cx="4905755" cy="1189989"/>
          </a:xfrm>
          <a:prstGeom prst="rect">
            <a:avLst/>
          </a:prstGeom>
          <a:noFill/>
        </p:spPr>
        <p:txBody>
          <a:bodyPr wrap="square" lIns="128016" rIns="128016" tIns="18288" bIns="18288" anchor="ctr">
            <a:spAutoFit/>
          </a:bodyPr>
          <a:lstStyle/>
          <a:p>
            <a:r>
              <a:rPr sz="1250" b="0" i="0">
                <a:solidFill>
                  <a:srgbClr val="1F2933"/>
                </a:solidFill>
                <a:latin typeface="Calibri"/>
              </a:rPr>
              <a:t>Outside the function the name eggs does not exist, so the lookup raises a NameError.</a:t>
            </a:r>
          </a:p>
        </p:txBody>
      </p:sp>
      <p:sp>
        <p:nvSpPr>
          <p:cNvPr id="8" name="result label"/>
          <p:cNvSpPr txBox="1"/>
          <p:nvPr/>
        </p:nvSpPr>
        <p:spPr>
          <a:xfrm>
            <a:off x="365760" y="294639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card"/>
          <p:cNvSpPr/>
          <p:nvPr/>
        </p:nvSpPr>
        <p:spPr>
          <a:xfrm>
            <a:off x="365760" y="3220719"/>
            <a:ext cx="3657600" cy="128016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248151"/>
            <a:ext cx="3474720" cy="237744"/>
          </a:xfrm>
          <a:prstGeom prst="rect">
            <a:avLst/>
          </a:prstGeom>
          <a:noFill/>
        </p:spPr>
        <p:txBody>
          <a:bodyPr wrap="square" lIns="45720" rIns="45720" tIns="27432" bIns="27432" anchor="t">
            <a:spAutoFit/>
          </a:bodyPr>
          <a:lstStyle/>
          <a:p>
            <a:r>
              <a:rPr sz="1100" b="1" i="0">
                <a:solidFill>
                  <a:srgbClr val="0E7C86"/>
                </a:solidFill>
                <a:latin typeface="Calibri"/>
              </a:rPr>
              <a:t>global scope</a:t>
            </a:r>
          </a:p>
        </p:txBody>
      </p:sp>
      <p:sp>
        <p:nvSpPr>
          <p:cNvPr id="11" name="Rounded Rectangle 10"/>
          <p:cNvSpPr/>
          <p:nvPr/>
        </p:nvSpPr>
        <p:spPr>
          <a:xfrm>
            <a:off x="502920" y="3531615"/>
            <a:ext cx="137160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make</a:t>
            </a:r>
          </a:p>
        </p:txBody>
      </p:sp>
      <p:sp>
        <p:nvSpPr>
          <p:cNvPr id="12" name="Rounded Rectangle 11"/>
          <p:cNvSpPr/>
          <p:nvPr/>
        </p:nvSpPr>
        <p:spPr>
          <a:xfrm>
            <a:off x="502920" y="3952239"/>
            <a:ext cx="3383280"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in globals() is False</a:t>
            </a:r>
          </a:p>
        </p:txBody>
      </p:sp>
      <p:sp>
        <p:nvSpPr>
          <p:cNvPr id="13" name="card"/>
          <p:cNvSpPr/>
          <p:nvPr/>
        </p:nvSpPr>
        <p:spPr>
          <a:xfrm>
            <a:off x="4937760" y="3220719"/>
            <a:ext cx="3749039" cy="128016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3248151"/>
            <a:ext cx="3566160" cy="237744"/>
          </a:xfrm>
          <a:prstGeom prst="rect">
            <a:avLst/>
          </a:prstGeom>
          <a:noFill/>
        </p:spPr>
        <p:txBody>
          <a:bodyPr wrap="square" lIns="45720" rIns="45720" tIns="27432" bIns="27432" anchor="t">
            <a:spAutoFit/>
          </a:bodyPr>
          <a:lstStyle/>
          <a:p>
            <a:r>
              <a:rPr sz="1100" b="1" i="0">
                <a:solidFill>
                  <a:srgbClr val="B7791F"/>
                </a:solidFill>
                <a:latin typeface="Calibri"/>
              </a:rPr>
              <a:t>local scope of one call of make()</a:t>
            </a:r>
          </a:p>
        </p:txBody>
      </p:sp>
      <p:sp>
        <p:nvSpPr>
          <p:cNvPr id="15" name="Rounded Rectangle 14"/>
          <p:cNvSpPr/>
          <p:nvPr/>
        </p:nvSpPr>
        <p:spPr>
          <a:xfrm>
            <a:off x="5074920" y="3531615"/>
            <a:ext cx="17373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 99</a:t>
            </a:r>
          </a:p>
        </p:txBody>
      </p:sp>
      <p:sp>
        <p:nvSpPr>
          <p:cNvPr id="16" name="Rounded Rectangle 15"/>
          <p:cNvSpPr/>
          <p:nvPr/>
        </p:nvSpPr>
        <p:spPr>
          <a:xfrm>
            <a:off x="5074920" y="3952239"/>
            <a:ext cx="347472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co_varnames = ('eggs',)</a:t>
            </a:r>
          </a:p>
        </p:txBody>
      </p:sp>
      <p:cxnSp>
        <p:nvCxnSpPr>
          <p:cNvPr id="17" name="arrow"/>
          <p:cNvCxnSpPr/>
          <p:nvPr/>
        </p:nvCxnSpPr>
        <p:spPr>
          <a:xfrm>
            <a:off x="4069080" y="3632199"/>
            <a:ext cx="82296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23360" y="3312159"/>
            <a:ext cx="914400" cy="274320"/>
          </a:xfrm>
          <a:prstGeom prst="rect">
            <a:avLst/>
          </a:prstGeom>
          <a:noFill/>
        </p:spPr>
        <p:txBody>
          <a:bodyPr wrap="square" lIns="0" rIns="0" tIns="0" bIns="0" anchor="t">
            <a:spAutoFit/>
          </a:bodyPr>
          <a:lstStyle/>
          <a:p>
            <a:pPr algn="ctr"/>
            <a:r>
              <a:rPr sz="900" b="0" i="0">
                <a:solidFill>
                  <a:srgbClr val="0E7C86"/>
                </a:solidFill>
                <a:latin typeface="Calibri"/>
              </a:rPr>
              <a:t>call</a:t>
            </a:r>
          </a:p>
        </p:txBody>
      </p:sp>
      <p:cxnSp>
        <p:nvCxnSpPr>
          <p:cNvPr id="19" name="arrow"/>
          <p:cNvCxnSpPr/>
          <p:nvPr/>
        </p:nvCxnSpPr>
        <p:spPr>
          <a:xfrm flipH="1">
            <a:off x="4069080" y="4089399"/>
            <a:ext cx="822960" cy="0"/>
          </a:xfrm>
          <a:prstGeom prst="line">
            <a:avLst/>
          </a:prstGeom>
          <a:ln w="2032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023360" y="4116831"/>
            <a:ext cx="914400" cy="274320"/>
          </a:xfrm>
          <a:prstGeom prst="rect">
            <a:avLst/>
          </a:prstGeom>
          <a:noFill/>
        </p:spPr>
        <p:txBody>
          <a:bodyPr wrap="square" lIns="0" rIns="0" tIns="0" bIns="0" anchor="t">
            <a:spAutoFit/>
          </a:bodyPr>
          <a:lstStyle/>
          <a:p>
            <a:pPr algn="ctr"/>
            <a:r>
              <a:rPr sz="900" b="0" i="0">
                <a:solidFill>
                  <a:srgbClr val="2F855A"/>
                </a:solidFill>
                <a:latin typeface="Calibri"/>
              </a:rPr>
              <a:t>returns 99</a:t>
            </a:r>
          </a:p>
        </p:txBody>
      </p:sp>
      <p:sp>
        <p:nvSpPr>
          <p:cNvPr id="21" name="TextBox 20"/>
          <p:cNvSpPr txBox="1"/>
          <p:nvPr/>
        </p:nvSpPr>
        <p:spPr>
          <a:xfrm>
            <a:off x="365760" y="4546599"/>
            <a:ext cx="8412480" cy="237744"/>
          </a:xfrm>
          <a:prstGeom prst="rect">
            <a:avLst/>
          </a:prstGeom>
          <a:noFill/>
        </p:spPr>
        <p:txBody>
          <a:bodyPr wrap="square" lIns="45720" rIns="45720" tIns="27432" bIns="27432" anchor="t">
            <a:spAutoFit/>
          </a:bodyPr>
          <a:lstStyle/>
          <a:p>
            <a:r>
              <a:rPr sz="1000" b="0" i="1">
                <a:solidFill>
                  <a:srgbClr val="5B6773"/>
                </a:solidFill>
                <a:latin typeface="Calibri"/>
              </a:rPr>
              <a:t>outside the call, printing eggs raises NameError</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local variable lives only while its call runs.</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Local scopes are walled off; globals can be read</a:t>
            </a:r>
          </a:p>
        </p:txBody>
      </p:sp>
      <p:sp>
        <p:nvSpPr>
          <p:cNvPr id="4" name="code"/>
          <p:cNvSpPr/>
          <p:nvPr/>
        </p:nvSpPr>
        <p:spPr>
          <a:xfrm>
            <a:off x="365760" y="841248"/>
            <a:ext cx="4218432"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'global x'</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y</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'local y of f'</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x</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g</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y</a:t>
            </a:r>
          </a:p>
        </p:txBody>
      </p:sp>
      <p:sp>
        <p:nvSpPr>
          <p:cNvPr id="5" name="explanation"/>
          <p:cNvSpPr txBox="1"/>
          <p:nvPr/>
        </p:nvSpPr>
        <p:spPr>
          <a:xfrm>
            <a:off x="4565904" y="841248"/>
            <a:ext cx="4212335" cy="1112520"/>
          </a:xfrm>
          <a:prstGeom prst="rect">
            <a:avLst/>
          </a:prstGeom>
          <a:noFill/>
        </p:spPr>
        <p:txBody>
          <a:bodyPr wrap="square" lIns="128016" rIns="128016" tIns="18288" bIns="18288" anchor="ctr">
            <a:spAutoFit/>
          </a:bodyPr>
          <a:lstStyle/>
          <a:p>
            <a:r>
              <a:rPr sz="1100" b="0" i="0">
                <a:solidFill>
                  <a:srgbClr val="1F2933"/>
                </a:solidFill>
                <a:latin typeface="Calibri"/>
              </a:rPr>
              <a:t>f reads the global x. g tries to read y, but y belongs to the local scope of f, not to g.</a:t>
            </a:r>
          </a:p>
        </p:txBody>
      </p:sp>
      <p:sp>
        <p:nvSpPr>
          <p:cNvPr id="6" name="code"/>
          <p:cNvSpPr/>
          <p:nvPr/>
        </p:nvSpPr>
        <p:spPr>
          <a:xfrm>
            <a:off x="365760" y="2008632"/>
            <a:ext cx="4218432" cy="95757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g</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except</a:t>
            </a:r>
            <a:r>
              <a:rPr sz="1000" b="0" i="0">
                <a:solidFill>
                  <a:srgbClr val="E6EDF3"/>
                </a:solidFill>
                <a:latin typeface="Courier New"/>
              </a:rPr>
              <a:t> </a:t>
            </a:r>
            <a:r>
              <a:rPr sz="1000" b="0" i="0">
                <a:solidFill>
                  <a:srgbClr val="E6EDF3"/>
                </a:solidFill>
                <a:latin typeface="Courier New"/>
              </a:rPr>
              <a:t>NameError</a:t>
            </a:r>
            <a:r>
              <a:rPr sz="1000" b="0" i="0">
                <a:solidFill>
                  <a:srgbClr val="E6EDF3"/>
                </a:solidFill>
                <a:latin typeface="Courier New"/>
              </a:rPr>
              <a:t> </a:t>
            </a:r>
            <a:r>
              <a:rPr sz="1000" b="0" i="0">
                <a:solidFill>
                  <a:srgbClr val="C9A0FF"/>
                </a:solidFill>
                <a:latin typeface="Courier New"/>
              </a:rPr>
              <a:t>as</a:t>
            </a:r>
            <a:r>
              <a:rPr sz="1000" b="0" i="0">
                <a:solidFill>
                  <a:srgbClr val="E6EDF3"/>
                </a:solidFill>
                <a:latin typeface="Courier New"/>
              </a:rPr>
              <a:t> </a:t>
            </a:r>
            <a:r>
              <a:rPr sz="1000" b="0" i="0">
                <a:solidFill>
                  <a:srgbClr val="E6EDF3"/>
                </a:solidFill>
                <a:latin typeface="Courier New"/>
              </a:rPr>
              <a:t>err</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'g cannot see 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type</a:t>
            </a:r>
            <a:r>
              <a:rPr sz="1000" b="0" i="0">
                <a:solidFill>
                  <a:srgbClr val="E6EDF3"/>
                </a:solidFill>
                <a:latin typeface="Courier New"/>
              </a:rPr>
              <a:t>(</a:t>
            </a:r>
            <a:r>
              <a:rPr sz="1000" b="0" i="0">
                <a:solidFill>
                  <a:srgbClr val="E6EDF3"/>
                </a:solidFill>
                <a:latin typeface="Courier New"/>
              </a:rPr>
              <a:t>err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__name__</a:t>
            </a:r>
            <a:r>
              <a:rPr sz="1000" b="0" i="0">
                <a:solidFill>
                  <a:srgbClr val="E6EDF3"/>
                </a:solidFill>
                <a:latin typeface="Courier New"/>
              </a:rPr>
              <a:t>)</a:t>
            </a:r>
          </a:p>
        </p:txBody>
      </p:sp>
      <p:sp>
        <p:nvSpPr>
          <p:cNvPr id="7" name="explanation"/>
          <p:cNvSpPr txBox="1"/>
          <p:nvPr/>
        </p:nvSpPr>
        <p:spPr>
          <a:xfrm>
            <a:off x="4565904" y="2008632"/>
            <a:ext cx="4212335" cy="957579"/>
          </a:xfrm>
          <a:prstGeom prst="rect">
            <a:avLst/>
          </a:prstGeom>
          <a:noFill/>
        </p:spPr>
        <p:txBody>
          <a:bodyPr wrap="square" lIns="128016" rIns="128016" tIns="18288" bIns="18288" anchor="ctr">
            <a:spAutoFit/>
          </a:bodyPr>
          <a:lstStyle/>
          <a:p>
            <a:r>
              <a:rPr sz="1100" b="0" i="0">
                <a:solidFill>
                  <a:srgbClr val="1F2933"/>
                </a:solidFill>
                <a:latin typeface="Calibri"/>
              </a:rPr>
              <a:t>f works because globals are visible everywhere. g fails: one local scope cannot see another.</a:t>
            </a:r>
          </a:p>
        </p:txBody>
      </p:sp>
      <p:sp>
        <p:nvSpPr>
          <p:cNvPr id="8" name="result label"/>
          <p:cNvSpPr txBox="1"/>
          <p:nvPr/>
        </p:nvSpPr>
        <p:spPr>
          <a:xfrm>
            <a:off x="365760" y="30393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card"/>
          <p:cNvSpPr/>
          <p:nvPr/>
        </p:nvSpPr>
        <p:spPr>
          <a:xfrm>
            <a:off x="365760"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global scope</a:t>
            </a:r>
          </a:p>
        </p:txBody>
      </p:sp>
      <p:sp>
        <p:nvSpPr>
          <p:cNvPr id="11" name="Rounded Rectangle 10"/>
          <p:cNvSpPr/>
          <p:nvPr/>
        </p:nvSpPr>
        <p:spPr>
          <a:xfrm>
            <a:off x="457200" y="3679443"/>
            <a:ext cx="2377439"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x = 'global x'</a:t>
            </a:r>
          </a:p>
        </p:txBody>
      </p:sp>
      <p:sp>
        <p:nvSpPr>
          <p:cNvPr id="12" name="card"/>
          <p:cNvSpPr/>
          <p:nvPr/>
        </p:nvSpPr>
        <p:spPr>
          <a:xfrm>
            <a:off x="3291839"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1"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local scope of f</a:t>
            </a:r>
          </a:p>
        </p:txBody>
      </p:sp>
      <p:sp>
        <p:nvSpPr>
          <p:cNvPr id="14" name="Rounded Rectangle 13"/>
          <p:cNvSpPr/>
          <p:nvPr/>
        </p:nvSpPr>
        <p:spPr>
          <a:xfrm>
            <a:off x="3383279" y="3679443"/>
            <a:ext cx="2377439"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y = 'local y of f'</a:t>
            </a:r>
          </a:p>
        </p:txBody>
      </p:sp>
      <p:sp>
        <p:nvSpPr>
          <p:cNvPr id="15" name="card"/>
          <p:cNvSpPr/>
          <p:nvPr/>
        </p:nvSpPr>
        <p:spPr>
          <a:xfrm>
            <a:off x="6217920"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local scope of g</a:t>
            </a:r>
          </a:p>
        </p:txBody>
      </p:sp>
      <p:sp>
        <p:nvSpPr>
          <p:cNvPr id="17" name="Rounded Rectangle 16"/>
          <p:cNvSpPr/>
          <p:nvPr/>
        </p:nvSpPr>
        <p:spPr>
          <a:xfrm>
            <a:off x="6309359" y="3679443"/>
            <a:ext cx="2377439"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no local names</a:t>
            </a:r>
          </a:p>
        </p:txBody>
      </p:sp>
      <p:cxnSp>
        <p:nvCxnSpPr>
          <p:cNvPr id="18" name="arrow"/>
          <p:cNvCxnSpPr/>
          <p:nvPr/>
        </p:nvCxnSpPr>
        <p:spPr>
          <a:xfrm flipH="1">
            <a:off x="2907791" y="3816603"/>
            <a:ext cx="402336" cy="0"/>
          </a:xfrm>
          <a:prstGeom prst="line">
            <a:avLst/>
          </a:prstGeom>
          <a:ln w="2540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rrow"/>
          <p:cNvCxnSpPr/>
          <p:nvPr/>
        </p:nvCxnSpPr>
        <p:spPr>
          <a:xfrm flipH="1">
            <a:off x="5833872" y="3816603"/>
            <a:ext cx="402335" cy="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468879" y="4273804"/>
            <a:ext cx="237744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 gives 'global x'</a:t>
            </a:r>
          </a:p>
        </p:txBody>
      </p:sp>
      <p:sp>
        <p:nvSpPr>
          <p:cNvPr id="21" name="Rounded Rectangle 20"/>
          <p:cNvSpPr/>
          <p:nvPr/>
        </p:nvSpPr>
        <p:spPr>
          <a:xfrm>
            <a:off x="5669280" y="4273804"/>
            <a:ext cx="274320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g() raises NameError</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Read the hall freely; never the other room.</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same name can be three different variables</a:t>
            </a:r>
          </a:p>
        </p:txBody>
      </p:sp>
      <p:sp>
        <p:nvSpPr>
          <p:cNvPr id="4" name="code"/>
          <p:cNvSpPr/>
          <p:nvPr/>
        </p:nvSpPr>
        <p:spPr>
          <a:xfrm>
            <a:off x="365760" y="841248"/>
            <a:ext cx="3128772" cy="159283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'global'</a:t>
            </a:r>
          </a:p>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one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'one'</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spam</a:t>
            </a:r>
          </a:p>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two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'two'</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spam</a:t>
            </a:r>
          </a:p>
        </p:txBody>
      </p:sp>
      <p:sp>
        <p:nvSpPr>
          <p:cNvPr id="5" name="explanation"/>
          <p:cNvSpPr txBox="1"/>
          <p:nvPr/>
        </p:nvSpPr>
        <p:spPr>
          <a:xfrm>
            <a:off x="3476244" y="841248"/>
            <a:ext cx="5301995" cy="1592833"/>
          </a:xfrm>
          <a:prstGeom prst="rect">
            <a:avLst/>
          </a:prstGeom>
          <a:noFill/>
        </p:spPr>
        <p:txBody>
          <a:bodyPr wrap="square" lIns="128016" rIns="128016" tIns="18288" bIns="18288" anchor="ctr">
            <a:spAutoFit/>
          </a:bodyPr>
          <a:lstStyle/>
          <a:p>
            <a:r>
              <a:rPr sz="1250" b="0" i="0">
                <a:solidFill>
                  <a:srgbClr val="1F2933"/>
                </a:solidFill>
                <a:latin typeface="Calibri"/>
              </a:rPr>
              <a:t>Each function assigns spam, so each gets its own local spam. The global spam is a third, separate variable.</a:t>
            </a:r>
          </a:p>
        </p:txBody>
      </p:sp>
      <p:sp>
        <p:nvSpPr>
          <p:cNvPr id="6" name="code"/>
          <p:cNvSpPr/>
          <p:nvPr/>
        </p:nvSpPr>
        <p:spPr>
          <a:xfrm>
            <a:off x="365760" y="2488946"/>
            <a:ext cx="3128772"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one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two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a:t>
            </a:r>
          </a:p>
        </p:txBody>
      </p:sp>
      <p:sp>
        <p:nvSpPr>
          <p:cNvPr id="7" name="explanation"/>
          <p:cNvSpPr txBox="1"/>
          <p:nvPr/>
        </p:nvSpPr>
        <p:spPr>
          <a:xfrm>
            <a:off x="3476244" y="2488946"/>
            <a:ext cx="5301995" cy="524891"/>
          </a:xfrm>
          <a:prstGeom prst="rect">
            <a:avLst/>
          </a:prstGeom>
          <a:noFill/>
        </p:spPr>
        <p:txBody>
          <a:bodyPr wrap="square" lIns="128016" rIns="128016" tIns="18288" bIns="18288" anchor="ctr">
            <a:spAutoFit/>
          </a:bodyPr>
          <a:lstStyle/>
          <a:p>
            <a:r>
              <a:rPr sz="1250" b="0" i="0">
                <a:solidFill>
                  <a:srgbClr val="1F2933"/>
                </a:solidFill>
                <a:latin typeface="Calibri"/>
              </a:rPr>
              <a:t>Three lookups of the name spam give three different values. They do not disturb each other.</a:t>
            </a:r>
          </a:p>
        </p:txBody>
      </p:sp>
      <p:sp>
        <p:nvSpPr>
          <p:cNvPr id="8" name="result label"/>
          <p:cNvSpPr txBox="1"/>
          <p:nvPr/>
        </p:nvSpPr>
        <p:spPr>
          <a:xfrm>
            <a:off x="365760" y="308698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61309"/>
          <a:ext cx="8412480" cy="1316736"/>
        </p:xfrm>
        <a:graphic>
          <a:graphicData uri="http://schemas.openxmlformats.org/drawingml/2006/table">
            <a:tbl>
              <a:tblPr firstRow="0" bandRow="0"/>
              <a:tblGrid>
                <a:gridCol w="2926080"/>
                <a:gridCol w="3108960"/>
                <a:gridCol w="2377440"/>
              </a:tblGrid>
              <a:tr h="329184">
                <a:tc>
                  <a:txBody>
                    <a:bodyPr wrap="square"/>
                    <a:lstStyle/>
                    <a:p>
                      <a:r>
                        <a:rPr sz="1050" b="1" i="0">
                          <a:solidFill>
                            <a:srgbClr val="FFFFFF"/>
                          </a:solidFill>
                          <a:latin typeface="Calibri"/>
                        </a:rPr>
                        <a:t>Where the name spam lives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Local variables of the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spam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alibri"/>
                        </a:rPr>
                        <a:t>the global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(module level)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329184">
                <a:tc>
                  <a:txBody>
                    <a:bodyPr wrap="square"/>
                    <a:lstStyle/>
                    <a:p>
                      <a:r>
                        <a:rPr sz="1050" b="0" i="0">
                          <a:solidFill>
                            <a:srgbClr val="1F2933"/>
                          </a:solidFill>
                          <a:latin typeface="Calibri"/>
                        </a:rPr>
                        <a:t>local scope of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29184">
                <a:tc>
                  <a:txBody>
                    <a:bodyPr wrap="square"/>
                    <a:lstStyle/>
                    <a:p>
                      <a:r>
                        <a:rPr sz="1050" b="0" i="0">
                          <a:solidFill>
                            <a:srgbClr val="1F2933"/>
                          </a:solidFill>
                          <a:latin typeface="Calibri"/>
                        </a:rPr>
                        <a:t>local scope of 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name, three scopes, three variables.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global statement reaches the global variable</a:t>
            </a:r>
          </a:p>
        </p:txBody>
      </p:sp>
      <p:sp>
        <p:nvSpPr>
          <p:cNvPr id="4" name="code"/>
          <p:cNvSpPr/>
          <p:nvPr/>
        </p:nvSpPr>
        <p:spPr>
          <a:xfrm>
            <a:off x="365760" y="841248"/>
            <a:ext cx="3608831" cy="120548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'global'</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with_global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global</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'changed by with_global'</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without_global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'local to without_global'</a:t>
            </a:r>
          </a:p>
        </p:txBody>
      </p:sp>
      <p:sp>
        <p:nvSpPr>
          <p:cNvPr id="5" name="explanation"/>
          <p:cNvSpPr txBox="1"/>
          <p:nvPr/>
        </p:nvSpPr>
        <p:spPr>
          <a:xfrm>
            <a:off x="3956304" y="841248"/>
            <a:ext cx="4821935" cy="1205483"/>
          </a:xfrm>
          <a:prstGeom prst="rect">
            <a:avLst/>
          </a:prstGeom>
          <a:noFill/>
        </p:spPr>
        <p:txBody>
          <a:bodyPr wrap="square" lIns="128016" rIns="128016" tIns="18288" bIns="18288" anchor="ctr">
            <a:spAutoFit/>
          </a:bodyPr>
          <a:lstStyle/>
          <a:p>
            <a:r>
              <a:rPr sz="1200" b="0" i="0">
                <a:solidFill>
                  <a:srgbClr val="1F2933"/>
                </a:solidFill>
                <a:latin typeface="Calibri"/>
              </a:rPr>
              <a:t>global eggs says: this name means the global variable. Without it, an assignment makes a new local variable.</a:t>
            </a:r>
          </a:p>
        </p:txBody>
      </p:sp>
      <p:sp>
        <p:nvSpPr>
          <p:cNvPr id="6" name="code"/>
          <p:cNvSpPr/>
          <p:nvPr/>
        </p:nvSpPr>
        <p:spPr>
          <a:xfrm>
            <a:off x="365760" y="2101596"/>
            <a:ext cx="3608831"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without_global</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with_global</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p>
        </p:txBody>
      </p:sp>
      <p:sp>
        <p:nvSpPr>
          <p:cNvPr id="7" name="explanation"/>
          <p:cNvSpPr txBox="1"/>
          <p:nvPr/>
        </p:nvSpPr>
        <p:spPr>
          <a:xfrm>
            <a:off x="3956304" y="2101596"/>
            <a:ext cx="4821935" cy="864615"/>
          </a:xfrm>
          <a:prstGeom prst="rect">
            <a:avLst/>
          </a:prstGeom>
          <a:noFill/>
        </p:spPr>
        <p:txBody>
          <a:bodyPr wrap="square" lIns="128016" rIns="128016" tIns="18288" bIns="18288" anchor="ctr">
            <a:spAutoFit/>
          </a:bodyPr>
          <a:lstStyle/>
          <a:p>
            <a:r>
              <a:rPr sz="1200" b="0" i="0">
                <a:solidFill>
                  <a:srgbClr val="1F2933"/>
                </a:solidFill>
                <a:latin typeface="Calibri"/>
              </a:rPr>
              <a:t>The first call leaves the global variable untouched. The second call really changes it.</a:t>
            </a:r>
          </a:p>
        </p:txBody>
      </p:sp>
      <p:sp>
        <p:nvSpPr>
          <p:cNvPr id="8" name="result label"/>
          <p:cNvSpPr txBox="1"/>
          <p:nvPr/>
        </p:nvSpPr>
        <p:spPr>
          <a:xfrm>
            <a:off x="365760" y="30393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13683"/>
          <a:ext cx="8412480" cy="1243584"/>
        </p:xfrm>
        <a:graphic>
          <a:graphicData uri="http://schemas.openxmlformats.org/drawingml/2006/table">
            <a:tbl>
              <a:tblPr firstRow="0" bandRow="0"/>
              <a:tblGrid>
                <a:gridCol w="2286000"/>
                <a:gridCol w="2560320"/>
                <a:gridCol w="3566160"/>
              </a:tblGrid>
              <a:tr h="310896">
                <a:tc>
                  <a:txBody>
                    <a:bodyPr wrap="square"/>
                    <a:lstStyle/>
                    <a:p>
                      <a:r>
                        <a:rPr sz="1050" b="1" i="0">
                          <a:solidFill>
                            <a:srgbClr val="FFFFFF"/>
                          </a:solidFill>
                          <a:latin typeface="Calibri"/>
                        </a:rPr>
                        <a:t>Moment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Global eggs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after the definitions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nothing has run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after without_global()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assignment made a new local 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after with_global()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'changed by with_global'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alibri"/>
                        </a:rPr>
                        <a:t>global eggs: the assignment reached the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global makes an assignment reach the module.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nonlocal: the middle case between local and global</a:t>
            </a:r>
          </a:p>
        </p:txBody>
      </p:sp>
      <p:sp>
        <p:nvSpPr>
          <p:cNvPr id="4" name="code"/>
          <p:cNvSpPr/>
          <p:nvPr/>
        </p:nvSpPr>
        <p:spPr>
          <a:xfrm>
            <a:off x="365760" y="841248"/>
            <a:ext cx="3525012" cy="159283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counter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count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step</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nonlocal</a:t>
            </a:r>
            <a:r>
              <a:rPr sz="1300" b="0" i="0">
                <a:solidFill>
                  <a:srgbClr val="E6EDF3"/>
                </a:solidFill>
                <a:latin typeface="Courier New"/>
              </a:rPr>
              <a:t> </a:t>
            </a:r>
            <a:r>
              <a:rPr sz="1300" b="0" i="0">
                <a:solidFill>
                  <a:srgbClr val="E6EDF3"/>
                </a:solidFill>
                <a:latin typeface="Courier New"/>
              </a:rPr>
              <a:t>count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count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count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step</a:t>
            </a:r>
          </a:p>
        </p:txBody>
      </p:sp>
      <p:sp>
        <p:nvSpPr>
          <p:cNvPr id="5" name="explanation"/>
          <p:cNvSpPr txBox="1"/>
          <p:nvPr/>
        </p:nvSpPr>
        <p:spPr>
          <a:xfrm>
            <a:off x="3872484" y="841248"/>
            <a:ext cx="4905755" cy="1592833"/>
          </a:xfrm>
          <a:prstGeom prst="rect">
            <a:avLst/>
          </a:prstGeom>
          <a:noFill/>
        </p:spPr>
        <p:txBody>
          <a:bodyPr wrap="square" lIns="128016" rIns="128016" tIns="18288" bIns="18288" anchor="ctr">
            <a:spAutoFit/>
          </a:bodyPr>
          <a:lstStyle/>
          <a:p>
            <a:r>
              <a:rPr sz="1250" b="0" i="0">
                <a:solidFill>
                  <a:srgbClr val="1F2933"/>
                </a:solidFill>
                <a:latin typeface="Calibri"/>
              </a:rPr>
              <a:t>step changes count, a variable of the enclosing function. nonlocal says: not my own, and not global, but the one outside.</a:t>
            </a:r>
          </a:p>
        </p:txBody>
      </p:sp>
      <p:sp>
        <p:nvSpPr>
          <p:cNvPr id="6" name="code"/>
          <p:cNvSpPr/>
          <p:nvPr/>
        </p:nvSpPr>
        <p:spPr>
          <a:xfrm>
            <a:off x="365760" y="2488946"/>
            <a:ext cx="3525012"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tick</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counter</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3872484" y="2488946"/>
            <a:ext cx="4905755" cy="585724"/>
          </a:xfrm>
          <a:prstGeom prst="rect">
            <a:avLst/>
          </a:prstGeom>
          <a:noFill/>
        </p:spPr>
        <p:txBody>
          <a:bodyPr wrap="square" lIns="128016" rIns="128016" tIns="18288" bIns="18288" anchor="ctr">
            <a:spAutoFit/>
          </a:bodyPr>
          <a:lstStyle/>
          <a:p>
            <a:r>
              <a:rPr sz="1250" b="0" i="0">
                <a:solidFill>
                  <a:srgbClr val="1F2933"/>
                </a:solidFill>
                <a:latin typeface="Calibri"/>
              </a:rPr>
              <a:t>The function step keeps its own count alive between calls. Each call adds one to that same variable.</a:t>
            </a:r>
          </a:p>
        </p:txBody>
      </p:sp>
      <p:sp>
        <p:nvSpPr>
          <p:cNvPr id="8" name="result label"/>
          <p:cNvSpPr txBox="1"/>
          <p:nvPr/>
        </p:nvSpPr>
        <p:spPr>
          <a:xfrm>
            <a:off x="365760" y="314782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22141"/>
          <a:ext cx="5215736" cy="1170432"/>
        </p:xfrm>
        <a:graphic>
          <a:graphicData uri="http://schemas.openxmlformats.org/drawingml/2006/table">
            <a:tbl>
              <a:tblPr firstRow="0" bandRow="0"/>
              <a:tblGrid>
                <a:gridCol w="1792909"/>
                <a:gridCol w="1466926"/>
                <a:gridCol w="1955901"/>
              </a:tblGrid>
              <a:tr h="292608">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tick()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count inside step is now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alibri"/>
                        </a:rPr>
                        <a:t>call 1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alibri"/>
                        </a:rPr>
                        <a:t>call 2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alibri"/>
                        </a:rPr>
                        <a:t>call 3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917996" y="3422141"/>
          <a:ext cx="2860243" cy="1186434"/>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nonlocal reaches the enclosing function's variable.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Scope identification: does the body read or assign?</a:t>
            </a:r>
          </a:p>
        </p:txBody>
      </p:sp>
      <p:sp>
        <p:nvSpPr>
          <p:cNvPr id="4" name="code"/>
          <p:cNvSpPr/>
          <p:nvPr/>
        </p:nvSpPr>
        <p:spPr>
          <a:xfrm>
            <a:off x="365760" y="841248"/>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reads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assigns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p>
        </p:txBody>
      </p:sp>
      <p:sp>
        <p:nvSpPr>
          <p:cNvPr id="5" name="explanation"/>
          <p:cNvSpPr txBox="1"/>
          <p:nvPr/>
        </p:nvSpPr>
        <p:spPr>
          <a:xfrm>
            <a:off x="4962144" y="841248"/>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reads only looks at eggs. assigns gives eggs a value, which makes it local to assigns.</a:t>
            </a:r>
          </a:p>
        </p:txBody>
      </p:sp>
      <p:sp>
        <p:nvSpPr>
          <p:cNvPr id="6" name="code"/>
          <p:cNvSpPr/>
          <p:nvPr/>
        </p:nvSpPr>
        <p:spPr>
          <a:xfrm>
            <a:off x="365760" y="1931162"/>
            <a:ext cx="4614671" cy="120548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declares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global</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reads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assigns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declares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__code__</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co_varnames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co_names</a:t>
            </a:r>
            <a:r>
              <a:rPr sz="1100" b="0" i="0">
                <a:solidFill>
                  <a:srgbClr val="E6EDF3"/>
                </a:solidFill>
                <a:latin typeface="Courier New"/>
              </a:rPr>
              <a:t>)</a:t>
            </a:r>
          </a:p>
        </p:txBody>
      </p:sp>
      <p:sp>
        <p:nvSpPr>
          <p:cNvPr id="7" name="explanation"/>
          <p:cNvSpPr txBox="1"/>
          <p:nvPr/>
        </p:nvSpPr>
        <p:spPr>
          <a:xfrm>
            <a:off x="4962144" y="1931162"/>
            <a:ext cx="3816095" cy="1205483"/>
          </a:xfrm>
          <a:prstGeom prst="rect">
            <a:avLst/>
          </a:prstGeom>
          <a:noFill/>
        </p:spPr>
        <p:txBody>
          <a:bodyPr wrap="square" lIns="128016" rIns="128016" tIns="18288" bIns="18288" anchor="ctr">
            <a:spAutoFit/>
          </a:bodyPr>
          <a:lstStyle/>
          <a:p>
            <a:r>
              <a:rPr sz="1200" b="0" i="0">
                <a:solidFill>
                  <a:srgbClr val="1F2933"/>
                </a:solidFill>
                <a:latin typeface="Calibri"/>
              </a:rPr>
              <a:t>co_varnames lists the local variables; co_names lists the global names a function uses. Python decides by scanning the body.</a:t>
            </a:r>
          </a:p>
        </p:txBody>
      </p:sp>
      <p:sp>
        <p:nvSpPr>
          <p:cNvPr id="8" name="result label"/>
          <p:cNvSpPr txBox="1"/>
          <p:nvPr/>
        </p:nvSpPr>
        <p:spPr>
          <a:xfrm>
            <a:off x="365760" y="320979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84117"/>
          <a:ext cx="8412480" cy="1243584"/>
        </p:xfrm>
        <a:graphic>
          <a:graphicData uri="http://schemas.openxmlformats.org/drawingml/2006/table">
            <a:tbl>
              <a:tblPr firstRow="0" bandRow="0"/>
              <a:tblGrid>
                <a:gridCol w="1463040"/>
                <a:gridCol w="2560320"/>
                <a:gridCol w="2377440"/>
                <a:gridCol w="2011680"/>
              </a:tblGrid>
              <a:tr h="310896">
                <a:tc>
                  <a:txBody>
                    <a:bodyPr wrap="square"/>
                    <a:lstStyle/>
                    <a:p>
                      <a:r>
                        <a:rPr sz="1050" b="1" i="0">
                          <a:solidFill>
                            <a:srgbClr val="FFFFFF"/>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Local variables (co_varnames)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Global names (co_names)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Python treats eggs 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reads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310896">
                <a:tc>
                  <a:txBody>
                    <a:bodyPr wrap="square"/>
                    <a:lstStyle/>
                    <a:p>
                      <a:r>
                        <a:rPr sz="1050" b="0" i="0">
                          <a:solidFill>
                            <a:srgbClr val="1F2933"/>
                          </a:solidFill>
                          <a:latin typeface="Courier New"/>
                        </a:rPr>
                        <a:t>assigns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local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10896">
                <a:tc>
                  <a:txBody>
                    <a:bodyPr wrap="square"/>
                    <a:lstStyle/>
                    <a:p>
                      <a:r>
                        <a:rPr sz="1050" b="0" i="0">
                          <a:solidFill>
                            <a:srgbClr val="1F2933"/>
                          </a:solidFill>
                          <a:latin typeface="Courier New"/>
                        </a:rPr>
                        <a:t>declares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Assigned in the body means local, unless declared global.</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Assign later, crash earlier: UnboundLocalError</a:t>
            </a:r>
          </a:p>
        </p:txBody>
      </p:sp>
      <p:sp>
        <p:nvSpPr>
          <p:cNvPr id="4" name="code"/>
          <p:cNvSpPr/>
          <p:nvPr/>
        </p:nvSpPr>
        <p:spPr>
          <a:xfrm>
            <a:off x="365760" y="841248"/>
            <a:ext cx="4165091" cy="7716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eggs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'global'</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broken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eggs</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eggs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'local'</a:t>
            </a:r>
          </a:p>
        </p:txBody>
      </p:sp>
      <p:sp>
        <p:nvSpPr>
          <p:cNvPr id="5" name="explanation"/>
          <p:cNvSpPr txBox="1"/>
          <p:nvPr/>
        </p:nvSpPr>
        <p:spPr>
          <a:xfrm>
            <a:off x="4512564" y="841248"/>
            <a:ext cx="4265675" cy="771652"/>
          </a:xfrm>
          <a:prstGeom prst="rect">
            <a:avLst/>
          </a:prstGeom>
          <a:noFill/>
        </p:spPr>
        <p:txBody>
          <a:bodyPr wrap="square" lIns="128016" rIns="128016" tIns="18288" bIns="18288" anchor="ctr">
            <a:spAutoFit/>
          </a:bodyPr>
          <a:lstStyle/>
          <a:p>
            <a:r>
              <a:rPr sz="1100" b="0" i="0">
                <a:solidFill>
                  <a:srgbClr val="1F2933"/>
                </a:solidFill>
                <a:latin typeface="Calibri"/>
              </a:rPr>
              <a:t>The body assigns eggs, so the whole function treats eggs as local, even in the line before the assignment.</a:t>
            </a:r>
          </a:p>
        </p:txBody>
      </p:sp>
      <p:sp>
        <p:nvSpPr>
          <p:cNvPr id="6" name="code"/>
          <p:cNvSpPr/>
          <p:nvPr/>
        </p:nvSpPr>
        <p:spPr>
          <a:xfrm>
            <a:off x="365760" y="1667764"/>
            <a:ext cx="4165091" cy="106603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'global eggs is still'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eggs</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broken</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except</a:t>
            </a:r>
            <a:r>
              <a:rPr sz="950" b="0" i="0">
                <a:solidFill>
                  <a:srgbClr val="E6EDF3"/>
                </a:solidFill>
                <a:latin typeface="Courier New"/>
              </a:rPr>
              <a:t> </a:t>
            </a:r>
            <a:r>
              <a:rPr sz="950" b="0" i="0">
                <a:solidFill>
                  <a:srgbClr val="E6EDF3"/>
                </a:solidFill>
                <a:latin typeface="Courier New"/>
              </a:rPr>
              <a:t>NameError</a:t>
            </a:r>
            <a:r>
              <a:rPr sz="950" b="0" i="0">
                <a:solidFill>
                  <a:srgbClr val="E6EDF3"/>
                </a:solidFill>
                <a:latin typeface="Courier New"/>
              </a:rPr>
              <a:t> </a:t>
            </a:r>
            <a:r>
              <a:rPr sz="950" b="0" i="0">
                <a:solidFill>
                  <a:srgbClr val="C9A0FF"/>
                </a:solidFill>
                <a:latin typeface="Courier New"/>
              </a:rPr>
              <a:t>as</a:t>
            </a:r>
            <a:r>
              <a:rPr sz="950" b="0" i="0">
                <a:solidFill>
                  <a:srgbClr val="E6EDF3"/>
                </a:solidFill>
                <a:latin typeface="Courier New"/>
              </a:rPr>
              <a:t> </a:t>
            </a:r>
            <a:r>
              <a:rPr sz="950" b="0" i="0">
                <a:solidFill>
                  <a:srgbClr val="E6EDF3"/>
                </a:solidFill>
                <a:latin typeface="Courier New"/>
              </a:rPr>
              <a:t>err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kind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type</a:t>
            </a:r>
            <a:r>
              <a:rPr sz="950" b="0" i="0">
                <a:solidFill>
                  <a:srgbClr val="E6EDF3"/>
                </a:solidFill>
                <a:latin typeface="Courier New"/>
              </a:rPr>
              <a:t>(</a:t>
            </a:r>
            <a:r>
              <a:rPr sz="950" b="0" i="0">
                <a:solidFill>
                  <a:srgbClr val="E6EDF3"/>
                </a:solidFill>
                <a:latin typeface="Courier New"/>
              </a:rPr>
              <a:t>err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kind</a:t>
            </a:r>
            <a:r>
              <a:rPr sz="950" b="0" i="0">
                <a:solidFill>
                  <a:srgbClr val="E6EDF3"/>
                </a:solidFill>
                <a:latin typeface="Courier New"/>
              </a:rPr>
              <a:t>.</a:t>
            </a:r>
            <a:r>
              <a:rPr sz="950" b="0" i="0">
                <a:solidFill>
                  <a:srgbClr val="E6EDF3"/>
                </a:solidFill>
                <a:latin typeface="Courier New"/>
              </a:rPr>
              <a:t>__name__</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kind</a:t>
            </a:r>
            <a:r>
              <a:rPr sz="950" b="0" i="0">
                <a:solidFill>
                  <a:srgbClr val="E6EDF3"/>
                </a:solidFill>
                <a:latin typeface="Courier New"/>
              </a:rPr>
              <a:t>.</a:t>
            </a:r>
            <a:r>
              <a:rPr sz="950" b="0" i="0">
                <a:solidFill>
                  <a:srgbClr val="E6EDF3"/>
                </a:solidFill>
                <a:latin typeface="Courier New"/>
              </a:rPr>
              <a:t>__mro__</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__name__</a:t>
            </a:r>
            <a:r>
              <a:rPr sz="950" b="0" i="0">
                <a:solidFill>
                  <a:srgbClr val="E6EDF3"/>
                </a:solidFill>
                <a:latin typeface="Courier New"/>
              </a:rPr>
              <a:t>)</a:t>
            </a:r>
          </a:p>
        </p:txBody>
      </p:sp>
      <p:sp>
        <p:nvSpPr>
          <p:cNvPr id="7" name="explanation"/>
          <p:cNvSpPr txBox="1"/>
          <p:nvPr/>
        </p:nvSpPr>
        <p:spPr>
          <a:xfrm>
            <a:off x="4512564" y="1667764"/>
            <a:ext cx="4265675" cy="1066038"/>
          </a:xfrm>
          <a:prstGeom prst="rect">
            <a:avLst/>
          </a:prstGeom>
          <a:noFill/>
        </p:spPr>
        <p:txBody>
          <a:bodyPr wrap="square" lIns="128016" rIns="128016" tIns="18288" bIns="18288" anchor="ctr">
            <a:spAutoFit/>
          </a:bodyPr>
          <a:lstStyle/>
          <a:p>
            <a:r>
              <a:rPr sz="1100" b="0" i="0">
                <a:solidFill>
                  <a:srgbClr val="1F2933"/>
                </a:solidFill>
                <a:latin typeface="Calibri"/>
              </a:rPr>
              <a:t>The global eggs is untouched, so the first line prints it. Inside broken the read happens before any value exists: Python raises UnboundLocalError, and its parent class is NameError.</a:t>
            </a:r>
          </a:p>
        </p:txBody>
      </p:sp>
      <p:sp>
        <p:nvSpPr>
          <p:cNvPr id="8" name="result label"/>
          <p:cNvSpPr txBox="1"/>
          <p:nvPr/>
        </p:nvSpPr>
        <p:spPr>
          <a:xfrm>
            <a:off x="365760" y="280695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081273"/>
            <a:ext cx="1828800"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print(eggs)</a:t>
            </a:r>
          </a:p>
        </p:txBody>
      </p:sp>
      <p:sp>
        <p:nvSpPr>
          <p:cNvPr id="10" name="Rounded Rectangle 9"/>
          <p:cNvSpPr/>
          <p:nvPr/>
        </p:nvSpPr>
        <p:spPr>
          <a:xfrm>
            <a:off x="2523744" y="3081273"/>
            <a:ext cx="182880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is local here</a:t>
            </a:r>
          </a:p>
        </p:txBody>
      </p:sp>
      <p:cxnSp>
        <p:nvCxnSpPr>
          <p:cNvPr id="11" name="arrow"/>
          <p:cNvCxnSpPr/>
          <p:nvPr/>
        </p:nvCxnSpPr>
        <p:spPr>
          <a:xfrm>
            <a:off x="2212848" y="3255009"/>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81728" y="3081273"/>
            <a:ext cx="1828800" cy="347472"/>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no value yet</a:t>
            </a:r>
          </a:p>
        </p:txBody>
      </p:sp>
      <p:cxnSp>
        <p:nvCxnSpPr>
          <p:cNvPr id="13" name="arrow"/>
          <p:cNvCxnSpPr/>
          <p:nvPr/>
        </p:nvCxnSpPr>
        <p:spPr>
          <a:xfrm>
            <a:off x="4370832" y="3255009"/>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39712" y="3081273"/>
            <a:ext cx="1828800" cy="347472"/>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UnboundLocalError</a:t>
            </a:r>
          </a:p>
        </p:txBody>
      </p:sp>
      <p:cxnSp>
        <p:nvCxnSpPr>
          <p:cNvPr id="15" name="arrow"/>
          <p:cNvCxnSpPr/>
          <p:nvPr/>
        </p:nvCxnSpPr>
        <p:spPr>
          <a:xfrm>
            <a:off x="6528816" y="3255009"/>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3538473"/>
            <a:ext cx="3657600" cy="219456"/>
          </a:xfrm>
          <a:prstGeom prst="rect">
            <a:avLst/>
          </a:prstGeom>
          <a:noFill/>
        </p:spPr>
        <p:txBody>
          <a:bodyPr wrap="square" lIns="45720" rIns="45720" tIns="27432" bIns="27432" anchor="t">
            <a:spAutoFit/>
          </a:bodyPr>
          <a:lstStyle/>
          <a:p>
            <a:r>
              <a:rPr sz="1000" b="0" i="1">
                <a:solidFill>
                  <a:srgbClr val="5B6773"/>
                </a:solidFill>
                <a:latin typeface="Calibri"/>
              </a:rPr>
              <a:t>the family of that exception (parent class to the right)</a:t>
            </a:r>
          </a:p>
        </p:txBody>
      </p:sp>
      <p:sp>
        <p:nvSpPr>
          <p:cNvPr id="17" name="Rounded Rectangle 16"/>
          <p:cNvSpPr/>
          <p:nvPr/>
        </p:nvSpPr>
        <p:spPr>
          <a:xfrm>
            <a:off x="365760" y="3812794"/>
            <a:ext cx="146304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UnboundLocalError</a:t>
            </a:r>
          </a:p>
        </p:txBody>
      </p:sp>
      <p:sp>
        <p:nvSpPr>
          <p:cNvPr id="18" name="Rounded Rectangle 17"/>
          <p:cNvSpPr/>
          <p:nvPr/>
        </p:nvSpPr>
        <p:spPr>
          <a:xfrm>
            <a:off x="2057400" y="3812794"/>
            <a:ext cx="14630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NameError</a:t>
            </a:r>
          </a:p>
        </p:txBody>
      </p:sp>
      <p:cxnSp>
        <p:nvCxnSpPr>
          <p:cNvPr id="19" name="arrow"/>
          <p:cNvCxnSpPr/>
          <p:nvPr/>
        </p:nvCxnSpPr>
        <p:spPr>
          <a:xfrm>
            <a:off x="1856231" y="3977385"/>
            <a:ext cx="182881"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749040" y="3812794"/>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Exception</a:t>
            </a:r>
          </a:p>
        </p:txBody>
      </p:sp>
      <p:cxnSp>
        <p:nvCxnSpPr>
          <p:cNvPr id="21" name="arrow"/>
          <p:cNvCxnSpPr/>
          <p:nvPr/>
        </p:nvCxnSpPr>
        <p:spPr>
          <a:xfrm>
            <a:off x="3547872" y="3977385"/>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40680" y="3812794"/>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BaseException</a:t>
            </a:r>
          </a:p>
        </p:txBody>
      </p:sp>
      <p:cxnSp>
        <p:nvCxnSpPr>
          <p:cNvPr id="23" name="arrow"/>
          <p:cNvCxnSpPr/>
          <p:nvPr/>
        </p:nvCxnSpPr>
        <p:spPr>
          <a:xfrm>
            <a:off x="5239512" y="3977385"/>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0" y="3812794"/>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object</a:t>
            </a:r>
          </a:p>
        </p:txBody>
      </p:sp>
      <p:cxnSp>
        <p:nvCxnSpPr>
          <p:cNvPr id="25" name="arrow"/>
          <p:cNvCxnSpPr/>
          <p:nvPr/>
        </p:nvCxnSpPr>
        <p:spPr>
          <a:xfrm>
            <a:off x="6931152" y="3977385"/>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Assigned anywhere in the body means local everywhere.</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Handling errors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An error is an exception; try and except decide what happens next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Exception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event that stops the normal flow of a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try and except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try marks the risky code; except says what to do.</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Placement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Where the try sits decides which statements still run.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Traceback</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saved list of calls that led to the error.</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try and except recover from an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Where the try goes (1): inside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Where the try goes (2): around all the...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One except for several kinds of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traceback lists the calls that led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except loses its parentheses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errors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Exception handling is a net under a trapeze: a fall is caught and the show goes on.</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Exception Handling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net and the plan that let the show carry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trapeze artist slipping: an event, not the end of the show.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traceback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incident report that lists every act leading to the fall.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act on the trapeze, performed with the net spread below.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except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net that catches one named kind of fall.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try and except recover from an error</a:t>
            </a:r>
          </a:p>
        </p:txBody>
      </p:sp>
      <p:sp>
        <p:nvSpPr>
          <p:cNvPr id="4" name="code"/>
          <p:cNvSpPr/>
          <p:nvPr/>
        </p:nvSpPr>
        <p:spPr>
          <a:xfrm>
            <a:off x="365760" y="841248"/>
            <a:ext cx="4736591"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def</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divide_by</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7CC4FF"/>
                </a:solidFill>
                <a:latin typeface="Courier New"/>
              </a:rPr>
              <a:t>42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divide_by</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ZeroDivisionError</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9BE3A8"/>
                </a:solidFill>
                <a:latin typeface="Courier New"/>
              </a:rPr>
              <a:t>'error: cannot divide by zero'</a:t>
            </a:r>
          </a:p>
        </p:txBody>
      </p:sp>
      <p:sp>
        <p:nvSpPr>
          <p:cNvPr id="5" name="explanation"/>
          <p:cNvSpPr txBox="1"/>
          <p:nvPr/>
        </p:nvSpPr>
        <p:spPr>
          <a:xfrm>
            <a:off x="5084064" y="841248"/>
            <a:ext cx="3694176" cy="1112520"/>
          </a:xfrm>
          <a:prstGeom prst="rect">
            <a:avLst/>
          </a:prstGeom>
          <a:noFill/>
        </p:spPr>
        <p:txBody>
          <a:bodyPr wrap="square" lIns="128016" rIns="128016" tIns="18288" bIns="18288" anchor="ctr">
            <a:spAutoFit/>
          </a:bodyPr>
          <a:lstStyle/>
          <a:p>
            <a:r>
              <a:rPr sz="1250" b="0" i="0">
                <a:solidFill>
                  <a:srgbClr val="1F2933"/>
                </a:solidFill>
                <a:latin typeface="Calibri"/>
              </a:rPr>
              <a:t>The try block runs normally. If it raises ZeroDivisionError, the except block runs instead of a crash.</a:t>
            </a:r>
          </a:p>
        </p:txBody>
      </p:sp>
      <p:sp>
        <p:nvSpPr>
          <p:cNvPr id="6" name="code"/>
          <p:cNvSpPr/>
          <p:nvPr/>
        </p:nvSpPr>
        <p:spPr>
          <a:xfrm>
            <a:off x="365760" y="2008632"/>
            <a:ext cx="473659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12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084064" y="2008632"/>
            <a:ext cx="3694176" cy="723328"/>
          </a:xfrm>
          <a:prstGeom prst="rect">
            <a:avLst/>
          </a:prstGeom>
          <a:noFill/>
        </p:spPr>
        <p:txBody>
          <a:bodyPr wrap="square" lIns="128016" rIns="128016" tIns="18288" bIns="18288" anchor="ctr">
            <a:spAutoFit/>
          </a:bodyPr>
          <a:lstStyle/>
          <a:p>
            <a:r>
              <a:rPr sz="1250" b="0" i="0">
                <a:solidFill>
                  <a:srgbClr val="1F2933"/>
                </a:solidFill>
                <a:latin typeface="Calibri"/>
              </a:rPr>
              <a:t>The call with 0 does not stop the program. It hands back the message, and the next call still runs.</a:t>
            </a:r>
          </a:p>
        </p:txBody>
      </p:sp>
      <p:sp>
        <p:nvSpPr>
          <p:cNvPr id="8" name="result label"/>
          <p:cNvSpPr txBox="1"/>
          <p:nvPr/>
        </p:nvSpPr>
        <p:spPr>
          <a:xfrm>
            <a:off x="365760" y="28051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79432"/>
          <a:ext cx="5720484" cy="1371600"/>
        </p:xfrm>
        <a:graphic>
          <a:graphicData uri="http://schemas.openxmlformats.org/drawingml/2006/table">
            <a:tbl>
              <a:tblPr firstRow="0" bandRow="0"/>
              <a:tblGrid>
                <a:gridCol w="1107190"/>
                <a:gridCol w="3137040"/>
                <a:gridCol w="1476254"/>
              </a:tblGrid>
              <a:tr h="274320">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Which block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spam(2)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spam(12)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spam(0)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'error: cannot divide by zero'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except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spam(1)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6338620" y="3079432"/>
          <a:ext cx="2439619" cy="137160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the risky code; except says what to do.</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the try goes (1): inside the loop</a:t>
            </a:r>
          </a:p>
        </p:txBody>
      </p:sp>
      <p:sp>
        <p:nvSpPr>
          <p:cNvPr id="4" name="code"/>
          <p:cNvSpPr/>
          <p:nvPr/>
        </p:nvSpPr>
        <p:spPr>
          <a:xfrm>
            <a:off x="365760" y="841248"/>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spam</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7CC4FF"/>
                </a:solidFill>
                <a:latin typeface="Courier New"/>
              </a:rPr>
              <a:t>42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t>
            </a:r>
          </a:p>
        </p:txBody>
      </p:sp>
      <p:sp>
        <p:nvSpPr>
          <p:cNvPr id="5" name="explanation"/>
          <p:cNvSpPr txBox="1"/>
          <p:nvPr/>
        </p:nvSpPr>
        <p:spPr>
          <a:xfrm>
            <a:off x="5404104" y="841248"/>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This function has no try of its own, so an error inside it travels up to the caller.</a:t>
            </a:r>
          </a:p>
        </p:txBody>
      </p:sp>
      <p:sp>
        <p:nvSpPr>
          <p:cNvPr id="6" name="code"/>
          <p:cNvSpPr/>
          <p:nvPr/>
        </p:nvSpPr>
        <p:spPr>
          <a:xfrm>
            <a:off x="365760" y="1619440"/>
            <a:ext cx="5056631" cy="12674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try</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spam</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except</a:t>
            </a:r>
            <a:r>
              <a:rPr sz="1400" b="0" i="0">
                <a:solidFill>
                  <a:srgbClr val="E6EDF3"/>
                </a:solidFill>
                <a:latin typeface="Courier New"/>
              </a:rPr>
              <a:t> </a:t>
            </a:r>
            <a:r>
              <a:rPr sz="1400" b="0" i="0">
                <a:solidFill>
                  <a:srgbClr val="E6EDF3"/>
                </a:solidFill>
                <a:latin typeface="Courier New"/>
              </a:rPr>
              <a:t>ZeroDivisionError</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'Error: invalid argument.'</a:t>
            </a:r>
            <a:r>
              <a:rPr sz="1400" b="0" i="0">
                <a:solidFill>
                  <a:srgbClr val="E6EDF3"/>
                </a:solidFill>
                <a:latin typeface="Courier New"/>
              </a:rPr>
              <a:t>)</a:t>
            </a:r>
          </a:p>
        </p:txBody>
      </p:sp>
      <p:sp>
        <p:nvSpPr>
          <p:cNvPr id="7" name="explanation"/>
          <p:cNvSpPr txBox="1"/>
          <p:nvPr/>
        </p:nvSpPr>
        <p:spPr>
          <a:xfrm>
            <a:off x="5404104" y="1619440"/>
            <a:ext cx="3374136" cy="1267459"/>
          </a:xfrm>
          <a:prstGeom prst="rect">
            <a:avLst/>
          </a:prstGeom>
          <a:noFill/>
        </p:spPr>
        <p:txBody>
          <a:bodyPr wrap="square" lIns="128016" rIns="128016" tIns="18288" bIns="18288" anchor="ctr">
            <a:spAutoFit/>
          </a:bodyPr>
          <a:lstStyle/>
          <a:p>
            <a:r>
              <a:rPr sz="1250" b="0" i="0">
                <a:solidFill>
                  <a:srgbClr val="1F2933"/>
                </a:solidFill>
                <a:latin typeface="Calibri"/>
              </a:rPr>
              <a:t>try is inside the loop: n = 0 fails and is handled, and n = 1 still runs afterwards.</a:t>
            </a:r>
          </a:p>
        </p:txBody>
      </p:sp>
      <p:sp>
        <p:nvSpPr>
          <p:cNvPr id="8" name="result label"/>
          <p:cNvSpPr txBox="1"/>
          <p:nvPr/>
        </p:nvSpPr>
        <p:spPr>
          <a:xfrm>
            <a:off x="365760" y="296005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34372"/>
          <a:ext cx="6056984" cy="1170432"/>
        </p:xfrm>
        <a:graphic>
          <a:graphicData uri="http://schemas.openxmlformats.org/drawingml/2006/table">
            <a:tbl>
              <a:tblPr firstRow="0" bandRow="0"/>
              <a:tblGrid>
                <a:gridCol w="458862"/>
                <a:gridCol w="2753175"/>
                <a:gridCol w="2844947"/>
              </a:tblGrid>
              <a:tr h="292608">
                <a:tc>
                  <a:txBody>
                    <a:bodyPr wrap="square"/>
                    <a:lstStyle/>
                    <a:p>
                      <a:pPr algn="ctr"/>
                      <a:r>
                        <a:rPr sz="1050" b="1" i="0">
                          <a:solidFill>
                            <a:srgbClr val="FFFFFF"/>
                          </a:solidFill>
                          <a:latin typeface="Calibri"/>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pPr algn="ctr"/>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alibri"/>
                        </a:rPr>
                        <a:t>except ran, the loop 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Error: invalid argument.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6675120" y="3234372"/>
          <a:ext cx="2103120" cy="128016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in the loop: each call is handled on its own.</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the try goes (2): around all the calls</a:t>
            </a:r>
          </a:p>
        </p:txBody>
      </p:sp>
      <p:sp>
        <p:nvSpPr>
          <p:cNvPr id="4" name="code"/>
          <p:cNvSpPr/>
          <p:nvPr/>
        </p:nvSpPr>
        <p:spPr>
          <a:xfrm>
            <a:off x="365760" y="841248"/>
            <a:ext cx="431749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a:t>
            </a:r>
            <a:r>
              <a:rPr sz="1300" b="0" i="0">
                <a:solidFill>
                  <a:srgbClr val="E6EDF3"/>
                </a:solidFill>
                <a:latin typeface="Courier New"/>
              </a:rPr>
              <a:t>n</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7CC4FF"/>
                </a:solidFill>
                <a:latin typeface="Courier New"/>
              </a:rPr>
              <a:t>42</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t>
            </a:r>
          </a:p>
        </p:txBody>
      </p:sp>
      <p:sp>
        <p:nvSpPr>
          <p:cNvPr id="5" name="explanation"/>
          <p:cNvSpPr txBox="1"/>
          <p:nvPr/>
        </p:nvSpPr>
        <p:spPr>
          <a:xfrm>
            <a:off x="4664964" y="841248"/>
            <a:ext cx="4113275" cy="585724"/>
          </a:xfrm>
          <a:prstGeom prst="rect">
            <a:avLst/>
          </a:prstGeom>
          <a:noFill/>
        </p:spPr>
        <p:txBody>
          <a:bodyPr wrap="square" lIns="128016" rIns="128016" tIns="18288" bIns="18288" anchor="ctr">
            <a:spAutoFit/>
          </a:bodyPr>
          <a:lstStyle/>
          <a:p>
            <a:r>
              <a:rPr sz="1250" b="0" i="0">
                <a:solidFill>
                  <a:srgbClr val="1F2933"/>
                </a:solidFill>
                <a:latin typeface="Calibri"/>
              </a:rPr>
              <a:t>The same function. This time the try sits outside, around three separate calls.</a:t>
            </a:r>
          </a:p>
        </p:txBody>
      </p:sp>
      <p:sp>
        <p:nvSpPr>
          <p:cNvPr id="6" name="code"/>
          <p:cNvSpPr/>
          <p:nvPr/>
        </p:nvSpPr>
        <p:spPr>
          <a:xfrm>
            <a:off x="365760" y="1481836"/>
            <a:ext cx="4317491" cy="139141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2</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ZeroDivisionError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'Error: invalid argument.'</a:t>
            </a:r>
            <a:r>
              <a:rPr sz="1300" b="0" i="0">
                <a:solidFill>
                  <a:srgbClr val="E6EDF3"/>
                </a:solidFill>
                <a:latin typeface="Courier New"/>
              </a:rPr>
              <a:t>)</a:t>
            </a:r>
          </a:p>
        </p:txBody>
      </p:sp>
      <p:sp>
        <p:nvSpPr>
          <p:cNvPr id="7" name="explanation"/>
          <p:cNvSpPr txBox="1"/>
          <p:nvPr/>
        </p:nvSpPr>
        <p:spPr>
          <a:xfrm>
            <a:off x="4664964" y="1481836"/>
            <a:ext cx="4113275" cy="1391411"/>
          </a:xfrm>
          <a:prstGeom prst="rect">
            <a:avLst/>
          </a:prstGeom>
          <a:noFill/>
        </p:spPr>
        <p:txBody>
          <a:bodyPr wrap="square" lIns="128016" rIns="128016" tIns="18288" bIns="18288" anchor="ctr">
            <a:spAutoFit/>
          </a:bodyPr>
          <a:lstStyle/>
          <a:p>
            <a:r>
              <a:rPr sz="1250" b="0" i="0">
                <a:solidFill>
                  <a:srgbClr val="1F2933"/>
                </a:solidFill>
                <a:latin typeface="Calibri"/>
              </a:rPr>
              <a:t>The failure of the second call jumps straight to except. The third call is never started.</a:t>
            </a:r>
          </a:p>
        </p:txBody>
      </p:sp>
      <p:sp>
        <p:nvSpPr>
          <p:cNvPr id="8" name="result label"/>
          <p:cNvSpPr txBox="1"/>
          <p:nvPr/>
        </p:nvSpPr>
        <p:spPr>
          <a:xfrm>
            <a:off x="365760" y="294639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20719"/>
            <a:ext cx="2651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spam(2): ran and printed</a:t>
            </a:r>
          </a:p>
        </p:txBody>
      </p:sp>
      <p:sp>
        <p:nvSpPr>
          <p:cNvPr id="10" name="Rounded Rectangle 9"/>
          <p:cNvSpPr/>
          <p:nvPr/>
        </p:nvSpPr>
        <p:spPr>
          <a:xfrm>
            <a:off x="3200400" y="3220719"/>
            <a:ext cx="265176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spam(0): raised: except ran</a:t>
            </a:r>
          </a:p>
        </p:txBody>
      </p:sp>
      <p:cxnSp>
        <p:nvCxnSpPr>
          <p:cNvPr id="11" name="arrow"/>
          <p:cNvCxnSpPr/>
          <p:nvPr/>
        </p:nvCxnSpPr>
        <p:spPr>
          <a:xfrm>
            <a:off x="3017520" y="3403599"/>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3220719"/>
            <a:ext cx="265176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spam(1): never started</a:t>
            </a:r>
          </a:p>
        </p:txBody>
      </p:sp>
      <p:cxnSp>
        <p:nvCxnSpPr>
          <p:cNvPr id="13" name="arrow"/>
          <p:cNvCxnSpPr/>
          <p:nvPr/>
        </p:nvCxnSpPr>
        <p:spPr>
          <a:xfrm>
            <a:off x="5852160" y="3403599"/>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4" name="chart"/>
          <p:cNvGraphicFramePr>
            <a:graphicFrameLocks noGrp="1"/>
          </p:cNvGraphicFramePr>
          <p:nvPr/>
        </p:nvGraphicFramePr>
        <p:xfrm>
          <a:off x="365760" y="3723639"/>
          <a:ext cx="4206240" cy="884936"/>
        </p:xfrm>
        <a:graphic>
          <a:graphicData uri="http://schemas.openxmlformats.org/drawingml/2006/chart">
            <c:chart xmlns:c="http://schemas.openxmlformats.org/drawingml/2006/chart" r:id="rId3"/>
          </a:graphicData>
        </a:graphic>
      </p:graphicFrame>
      <p:sp>
        <p:nvSpPr>
          <p:cNvPr id="15" name="TextBox 14"/>
          <p:cNvSpPr txBox="1"/>
          <p:nvPr/>
        </p:nvSpPr>
        <p:spPr>
          <a:xfrm>
            <a:off x="4992624" y="3860799"/>
            <a:ext cx="3785615" cy="731520"/>
          </a:xfrm>
          <a:prstGeom prst="rect">
            <a:avLst/>
          </a:prstGeom>
          <a:noFill/>
        </p:spPr>
        <p:txBody>
          <a:bodyPr wrap="square" lIns="45720" rIns="45720" tIns="27432" bIns="27432" anchor="t">
            <a:spAutoFit/>
          </a:bodyPr>
          <a:lstStyle/>
          <a:p>
            <a:r>
              <a:rPr sz="1000" b="0" i="1">
                <a:solidFill>
                  <a:srgbClr val="5B6773"/>
                </a:solidFill>
                <a:latin typeface="Courier New"/>
              </a:rPr>
              <a:t>printed: 21.0 | Error: invalid argument.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around all: the first error skips the rest.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One except for several kinds of error</a:t>
            </a:r>
          </a:p>
        </p:txBody>
      </p:sp>
      <p:sp>
        <p:nvSpPr>
          <p:cNvPr id="4" name="code"/>
          <p:cNvSpPr/>
          <p:nvPr/>
        </p:nvSpPr>
        <p:spPr>
          <a:xfrm>
            <a:off x="365760" y="841248"/>
            <a:ext cx="4911851" cy="11899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ValueError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TypeError</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as</a:t>
            </a:r>
            <a:r>
              <a:rPr sz="1300" b="0" i="0">
                <a:solidFill>
                  <a:srgbClr val="E6EDF3"/>
                </a:solidFill>
                <a:latin typeface="Courier New"/>
              </a:rPr>
              <a:t> </a:t>
            </a:r>
            <a:r>
              <a:rPr sz="1300" b="0" i="0">
                <a:solidFill>
                  <a:srgbClr val="E6EDF3"/>
                </a:solidFill>
                <a:latin typeface="Courier New"/>
              </a:rPr>
              <a:t>err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err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p>
        </p:txBody>
      </p:sp>
      <p:sp>
        <p:nvSpPr>
          <p:cNvPr id="5" name="explanation"/>
          <p:cNvSpPr txBox="1"/>
          <p:nvPr/>
        </p:nvSpPr>
        <p:spPr>
          <a:xfrm>
            <a:off x="5259324" y="841248"/>
            <a:ext cx="3518916" cy="1189989"/>
          </a:xfrm>
          <a:prstGeom prst="rect">
            <a:avLst/>
          </a:prstGeom>
          <a:noFill/>
        </p:spPr>
        <p:txBody>
          <a:bodyPr wrap="square" lIns="128016" rIns="128016" tIns="18288" bIns="18288" anchor="ctr">
            <a:spAutoFit/>
          </a:bodyPr>
          <a:lstStyle/>
          <a:p>
            <a:r>
              <a:rPr sz="1250" b="0" i="0">
                <a:solidFill>
                  <a:srgbClr val="1F2933"/>
                </a:solidFill>
                <a:latin typeface="Calibri"/>
              </a:rPr>
              <a:t>A tuple of types catches either one. as err names the exception object so the handler can look at it.</a:t>
            </a:r>
          </a:p>
        </p:txBody>
      </p:sp>
      <p:sp>
        <p:nvSpPr>
          <p:cNvPr id="6" name="code"/>
          <p:cNvSpPr/>
          <p:nvPr/>
        </p:nvSpPr>
        <p:spPr>
          <a:xfrm>
            <a:off x="365760" y="2086102"/>
            <a:ext cx="49118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parse</a:t>
            </a:r>
            <a:r>
              <a:rPr sz="1300" b="0" i="0">
                <a:solidFill>
                  <a:srgbClr val="E6EDF3"/>
                </a:solidFill>
                <a:latin typeface="Courier New"/>
              </a:rPr>
              <a:t>(</a:t>
            </a:r>
            <a:r>
              <a:rPr sz="1300" b="0" i="0">
                <a:solidFill>
                  <a:srgbClr val="9BE3A8"/>
                </a:solidFill>
                <a:latin typeface="Courier New"/>
              </a:rPr>
              <a:t>'12'</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9BE3A8"/>
                </a:solidFill>
                <a:latin typeface="Courier New"/>
              </a:rPr>
              <a:t>'x'</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C9A0FF"/>
                </a:solidFill>
                <a:latin typeface="Courier New"/>
              </a:rPr>
              <a:t>None</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259324" y="2086102"/>
            <a:ext cx="3518916" cy="723328"/>
          </a:xfrm>
          <a:prstGeom prst="rect">
            <a:avLst/>
          </a:prstGeom>
          <a:noFill/>
        </p:spPr>
        <p:txBody>
          <a:bodyPr wrap="square" lIns="128016" rIns="128016" tIns="18288" bIns="18288" anchor="ctr">
            <a:spAutoFit/>
          </a:bodyPr>
          <a:lstStyle/>
          <a:p>
            <a:r>
              <a:rPr sz="1250" b="0" i="0">
                <a:solidFill>
                  <a:srgbClr val="1F2933"/>
                </a:solidFill>
                <a:latin typeface="Calibri"/>
              </a:rPr>
              <a:t>The text 12 converts. The text x raises ValueError and None raises TypeError; both are handled.</a:t>
            </a:r>
          </a:p>
        </p:txBody>
      </p:sp>
      <p:sp>
        <p:nvSpPr>
          <p:cNvPr id="8" name="result label"/>
          <p:cNvSpPr txBox="1"/>
          <p:nvPr/>
        </p:nvSpPr>
        <p:spPr>
          <a:xfrm>
            <a:off x="365760" y="288258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56902"/>
          <a:ext cx="6309358" cy="1243584"/>
        </p:xfrm>
        <a:graphic>
          <a:graphicData uri="http://schemas.openxmlformats.org/drawingml/2006/table">
            <a:tbl>
              <a:tblPr firstRow="0" bandRow="0"/>
              <a:tblGrid>
                <a:gridCol w="1424694"/>
                <a:gridCol w="2442332"/>
                <a:gridCol w="2442332"/>
              </a:tblGrid>
              <a:tr h="310896">
                <a:tc>
                  <a:txBody>
                    <a:bodyPr wrap="square"/>
                    <a:lstStyle/>
                    <a:p>
                      <a:r>
                        <a:rPr sz="1050" b="1" i="0">
                          <a:solidFill>
                            <a:srgbClr val="FFFFFF"/>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int() raised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parse()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tuple of types catches several kinds.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traceback lists the calls that led to the error</a:t>
            </a:r>
          </a:p>
        </p:txBody>
      </p:sp>
      <p:sp>
        <p:nvSpPr>
          <p:cNvPr id="4" name="code"/>
          <p:cNvSpPr/>
          <p:nvPr/>
        </p:nvSpPr>
        <p:spPr>
          <a:xfrm>
            <a:off x="365760" y="841248"/>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traceback</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4962144" y="841248"/>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inner divides by zero. outer called inner, so both calls are on the path to the error.</a:t>
            </a:r>
          </a:p>
        </p:txBody>
      </p:sp>
      <p:sp>
        <p:nvSpPr>
          <p:cNvPr id="6" name="code"/>
          <p:cNvSpPr/>
          <p:nvPr/>
        </p:nvSpPr>
        <p:spPr>
          <a:xfrm>
            <a:off x="365760" y="1931162"/>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ZeroDivisionError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traceback</a:t>
            </a:r>
            <a:r>
              <a:rPr sz="1100" b="0" i="0">
                <a:solidFill>
                  <a:srgbClr val="E6EDF3"/>
                </a:solidFill>
                <a:latin typeface="Courier New"/>
              </a:rPr>
              <a:t>.</a:t>
            </a:r>
            <a:r>
              <a:rPr sz="1100" b="0" i="0">
                <a:solidFill>
                  <a:srgbClr val="E6EDF3"/>
                </a:solidFill>
                <a:latin typeface="Courier New"/>
              </a:rPr>
              <a:t>extract_tb</a:t>
            </a:r>
            <a:r>
              <a:rPr sz="1100" b="0" i="0">
                <a:solidFill>
                  <a:srgbClr val="E6EDF3"/>
                </a:solidFill>
                <a:latin typeface="Courier New"/>
              </a:rPr>
              <a:t>(</a:t>
            </a:r>
            <a:r>
              <a:rPr sz="1100" b="0" i="0">
                <a:solidFill>
                  <a:srgbClr val="E6EDF3"/>
                </a:solidFill>
                <a:latin typeface="Courier New"/>
              </a:rPr>
              <a:t>err</a:t>
            </a:r>
            <a:r>
              <a:rPr sz="1100" b="0" i="0">
                <a:solidFill>
                  <a:srgbClr val="E6EDF3"/>
                </a:solidFill>
                <a:latin typeface="Courier New"/>
              </a:rPr>
              <a:t>.</a:t>
            </a:r>
            <a:r>
              <a:rPr sz="1100" b="0" i="0">
                <a:solidFill>
                  <a:srgbClr val="E6EDF3"/>
                </a:solidFill>
                <a:latin typeface="Courier New"/>
              </a:rPr>
              <a:t>__traceback__</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tb</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962144" y="1931162"/>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The traceback is the saved stack of calls, oldest first. The slice [-2:] keeps the last two: outer and inner.</a:t>
            </a:r>
          </a:p>
        </p:txBody>
      </p:sp>
      <p:sp>
        <p:nvSpPr>
          <p:cNvPr id="8" name="result label"/>
          <p:cNvSpPr txBox="1"/>
          <p:nvPr/>
        </p:nvSpPr>
        <p:spPr>
          <a:xfrm>
            <a:off x="365760" y="303936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313684"/>
            <a:ext cx="182880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outer()</a:t>
            </a:r>
          </a:p>
        </p:txBody>
      </p:sp>
      <p:sp>
        <p:nvSpPr>
          <p:cNvPr id="10" name="Rounded Rectangle 9"/>
          <p:cNvSpPr/>
          <p:nvPr/>
        </p:nvSpPr>
        <p:spPr>
          <a:xfrm>
            <a:off x="2542032" y="3313684"/>
            <a:ext cx="182880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inner()</a:t>
            </a:r>
          </a:p>
        </p:txBody>
      </p:sp>
      <p:cxnSp>
        <p:nvCxnSpPr>
          <p:cNvPr id="11" name="arrow"/>
          <p:cNvCxnSpPr/>
          <p:nvPr/>
        </p:nvCxnSpPr>
        <p:spPr>
          <a:xfrm>
            <a:off x="2212848"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18304" y="3313684"/>
            <a:ext cx="182880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 / 0</a:t>
            </a:r>
          </a:p>
        </p:txBody>
      </p:sp>
      <p:cxnSp>
        <p:nvCxnSpPr>
          <p:cNvPr id="13" name="arrow"/>
          <p:cNvCxnSpPr/>
          <p:nvPr/>
        </p:nvCxnSpPr>
        <p:spPr>
          <a:xfrm>
            <a:off x="4389120"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94576" y="3313684"/>
            <a:ext cx="182880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ZeroDivisionError</a:t>
            </a:r>
          </a:p>
        </p:txBody>
      </p:sp>
      <p:cxnSp>
        <p:nvCxnSpPr>
          <p:cNvPr id="15" name="arrow"/>
          <p:cNvCxnSpPr/>
          <p:nvPr/>
        </p:nvCxnSpPr>
        <p:spPr>
          <a:xfrm>
            <a:off x="6565392"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6" name="table"/>
          <p:cNvGraphicFramePr>
            <a:graphicFrameLocks noGrp="1"/>
          </p:cNvGraphicFramePr>
          <p:nvPr/>
        </p:nvGraphicFramePr>
        <p:xfrm>
          <a:off x="365760" y="3908044"/>
          <a:ext cx="4626863" cy="822960"/>
        </p:xfrm>
        <a:graphic>
          <a:graphicData uri="http://schemas.openxmlformats.org/drawingml/2006/table">
            <a:tbl>
              <a:tblPr firstRow="0" bandRow="0"/>
              <a:tblGrid>
                <a:gridCol w="2776118"/>
                <a:gridCol w="1850745"/>
              </a:tblGrid>
              <a:tr h="274320">
                <a:tc>
                  <a:txBody>
                    <a:bodyPr wrap="square"/>
                    <a:lstStyle/>
                    <a:p>
                      <a:r>
                        <a:rPr sz="1050" b="1" i="0">
                          <a:solidFill>
                            <a:srgbClr val="FFFFFF"/>
                          </a:solidFill>
                          <a:latin typeface="Calibri"/>
                        </a:rPr>
                        <a:t>Traceback entry (oldest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7" name="TextBox 16"/>
          <p:cNvSpPr txBox="1"/>
          <p:nvPr/>
        </p:nvSpPr>
        <p:spPr>
          <a:xfrm>
            <a:off x="5244998" y="3953764"/>
            <a:ext cx="3364991" cy="548640"/>
          </a:xfrm>
          <a:prstGeom prst="rect">
            <a:avLst/>
          </a:prstGeom>
          <a:noFill/>
        </p:spPr>
        <p:txBody>
          <a:bodyPr wrap="square" lIns="45720" rIns="45720" tIns="27432" bIns="27432" anchor="t">
            <a:spAutoFit/>
          </a:bodyPr>
          <a:lstStyle/>
          <a:p>
            <a:r>
              <a:rPr sz="1000" b="0" i="1">
                <a:solidFill>
                  <a:srgbClr val="5B6773"/>
                </a:solidFill>
                <a:latin typeface="Calibri"/>
              </a:rPr>
              <a:t>the path to the error, as the exception saved it</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traceback is the saved stack of calls.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except loses its parentheses in Python 3.14</a:t>
            </a:r>
          </a:p>
        </p:txBody>
      </p:sp>
      <p:pic>
        <p:nvPicPr>
          <p:cNvPr id="4" name="photo pep758" descr="Picture for the story: except loses its parentheses in Python 3.14"/>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Pablo Galindo Salgado and Brett Cannon, Python core developers, wrote PEP 758.</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 change to the except clause: several exception types may be listed without parentheses when there is no as clause.</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The PEP was created on 30 September 2024 and resolved on 14 March 2025; it ships in Python 3.14.</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Python Enhancement Proposal process, published at peps.python.org; the change lives in CPython.</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common job gets fewer symbols: except ValueError, TypeError reads like the list it is.</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Python 3.13 and earlier reject the bare list, so the slide code keeps the parentheses that work everywhere.</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PEP 758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Short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Zigzag, Spike and the Collatz sequence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Zigzag</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band that moves out to an edge and back again.</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Spike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Lines whose lengths grow as squares, then shrink.</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Collatz</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function is one step; a loop repeats it.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Stories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Wheeler, Collatz and Erdős, and a new rule of Python 3.14.</a:t>
            </a:r>
          </a:p>
        </p:txBody>
      </p:sp>
      <p:graphicFrame>
        <p:nvGraphicFramePr>
          <p:cNvPr id="13" name="table"/>
          <p:cNvGraphicFramePr>
            <a:graphicFrameLocks noGrp="1"/>
          </p:cNvGraphicFramePr>
          <p:nvPr/>
        </p:nvGraphicFramePr>
        <p:xfrm>
          <a:off x="5303520" y="1417320"/>
          <a:ext cx="3474719" cy="182880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Short program: Zigzag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Short program: Spike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the Collatz 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an unsolved problem fits in a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short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Short programs are etudes: small pieces in which several skills play together.</a:t>
            </a:r>
          </a:p>
        </p:txBody>
      </p:sp>
      <p:graphicFrame>
        <p:nvGraphicFramePr>
          <p:cNvPr id="6" name="table"/>
          <p:cNvGraphicFramePr>
            <a:graphicFrameLocks noGrp="1"/>
          </p:cNvGraphicFramePr>
          <p:nvPr/>
        </p:nvGraphicFramePr>
        <p:xfrm>
          <a:off x="365760" y="1463040"/>
          <a:ext cx="8412480" cy="13716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A Short Program: Zigzag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pendulum: out to a fixed point and back, again and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A Short Program: Spike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Stairs whose steps grow like squares, then shrink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Short program: Zigzag</a:t>
            </a:r>
          </a:p>
        </p:txBody>
      </p:sp>
      <p:sp>
        <p:nvSpPr>
          <p:cNvPr id="4" name="code"/>
          <p:cNvSpPr/>
          <p:nvPr/>
        </p:nvSpPr>
        <p:spPr>
          <a:xfrm>
            <a:off x="365760" y="841248"/>
            <a:ext cx="3380231" cy="95757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zigzag</a:t>
            </a:r>
            <a:r>
              <a:rPr sz="1000" b="0" i="0">
                <a:solidFill>
                  <a:srgbClr val="E6EDF3"/>
                </a:solidFill>
                <a:latin typeface="Courier New"/>
              </a:rPr>
              <a:t>(</a:t>
            </a:r>
            <a:r>
              <a:rPr sz="1000" b="0" i="0">
                <a:solidFill>
                  <a:srgbClr val="E6EDF3"/>
                </a:solidFill>
                <a:latin typeface="Courier New"/>
              </a:rPr>
              <a:t>steps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width</a:t>
            </a:r>
            <a:r>
              <a:rPr sz="1000" b="0" i="0">
                <a:solidFill>
                  <a:srgbClr val="E6EDF3"/>
                </a:solidFill>
                <a:latin typeface="Courier New"/>
              </a:rPr>
              <a:t>=</a:t>
            </a:r>
            <a:r>
              <a:rPr sz="1000" b="0" i="0">
                <a:solidFill>
                  <a:srgbClr val="7CC4FF"/>
                </a:solidFill>
                <a:latin typeface="Courier New"/>
              </a:rPr>
              <a:t>20</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move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_</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E6EDF3"/>
                </a:solidFill>
                <a:latin typeface="Courier New"/>
              </a:rPr>
              <a:t>steps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indent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move</a:t>
            </a:r>
          </a:p>
        </p:txBody>
      </p:sp>
      <p:sp>
        <p:nvSpPr>
          <p:cNvPr id="5" name="explanation"/>
          <p:cNvSpPr txBox="1"/>
          <p:nvPr/>
        </p:nvSpPr>
        <p:spPr>
          <a:xfrm>
            <a:off x="3727704" y="841248"/>
            <a:ext cx="5050535" cy="957579"/>
          </a:xfrm>
          <a:prstGeom prst="rect">
            <a:avLst/>
          </a:prstGeom>
          <a:noFill/>
        </p:spPr>
        <p:txBody>
          <a:bodyPr wrap="square" lIns="128016" rIns="128016" tIns="18288" bIns="18288" anchor="ctr">
            <a:spAutoFit/>
          </a:bodyPr>
          <a:lstStyle/>
          <a:p>
            <a:r>
              <a:rPr sz="1100" b="0" i="0">
                <a:solidFill>
                  <a:srgbClr val="1F2933"/>
                </a:solidFill>
                <a:latin typeface="Calibri"/>
              </a:rPr>
              <a:t>Each step records the indent of the band, then moves it one place in the current direction.</a:t>
            </a:r>
          </a:p>
        </p:txBody>
      </p:sp>
      <p:sp>
        <p:nvSpPr>
          <p:cNvPr id="6" name="code"/>
          <p:cNvSpPr/>
          <p:nvPr/>
        </p:nvSpPr>
        <p:spPr>
          <a:xfrm>
            <a:off x="365760" y="1853691"/>
            <a:ext cx="3380231"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move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move</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path</a:t>
            </a:r>
          </a:p>
        </p:txBody>
      </p:sp>
      <p:sp>
        <p:nvSpPr>
          <p:cNvPr id="7" name="explanation"/>
          <p:cNvSpPr txBox="1"/>
          <p:nvPr/>
        </p:nvSpPr>
        <p:spPr>
          <a:xfrm>
            <a:off x="3727704" y="1853691"/>
            <a:ext cx="5050535" cy="647699"/>
          </a:xfrm>
          <a:prstGeom prst="rect">
            <a:avLst/>
          </a:prstGeom>
          <a:noFill/>
        </p:spPr>
        <p:txBody>
          <a:bodyPr wrap="square" lIns="128016" rIns="128016" tIns="18288" bIns="18288" anchor="ctr">
            <a:spAutoFit/>
          </a:bodyPr>
          <a:lstStyle/>
          <a:p>
            <a:r>
              <a:rPr sz="1100" b="0" i="0">
                <a:solidFill>
                  <a:srgbClr val="1F2933"/>
                </a:solidFill>
                <a:latin typeface="Calibri"/>
              </a:rPr>
              <a:t>At the right edge or at zero the direction flips. The function returns the indent of every step.</a:t>
            </a:r>
          </a:p>
        </p:txBody>
      </p:sp>
      <p:sp>
        <p:nvSpPr>
          <p:cNvPr id="8" name="code"/>
          <p:cNvSpPr/>
          <p:nvPr/>
        </p:nvSpPr>
        <p:spPr>
          <a:xfrm>
            <a:off x="365760" y="2556256"/>
            <a:ext cx="3380231"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zigzag</a:t>
            </a:r>
            <a:r>
              <a:rPr sz="1000" b="0" i="0">
                <a:solidFill>
                  <a:srgbClr val="E6EDF3"/>
                </a:solidFill>
                <a:latin typeface="Courier New"/>
              </a:rPr>
              <a:t>(</a:t>
            </a:r>
            <a:r>
              <a:rPr sz="1000" b="0" i="0">
                <a:solidFill>
                  <a:srgbClr val="7CC4FF"/>
                </a:solidFill>
                <a:latin typeface="Courier New"/>
              </a:rPr>
              <a:t>42</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8</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max</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8</a:t>
            </a:r>
            <a:r>
              <a:rPr sz="1000" b="0" i="0">
                <a:solidFill>
                  <a:srgbClr val="E6EDF3"/>
                </a:solidFill>
                <a:latin typeface="Courier New"/>
              </a:rPr>
              <a:t>)</a:t>
            </a:r>
          </a:p>
        </p:txBody>
      </p:sp>
      <p:sp>
        <p:nvSpPr>
          <p:cNvPr id="9" name="explanation"/>
          <p:cNvSpPr txBox="1"/>
          <p:nvPr/>
        </p:nvSpPr>
        <p:spPr>
          <a:xfrm>
            <a:off x="3727704" y="2556256"/>
            <a:ext cx="5050535" cy="647699"/>
          </a:xfrm>
          <a:prstGeom prst="rect">
            <a:avLst/>
          </a:prstGeom>
          <a:noFill/>
        </p:spPr>
        <p:txBody>
          <a:bodyPr wrap="square" lIns="128016" rIns="128016" tIns="18288" bIns="18288" anchor="ctr">
            <a:spAutoFit/>
          </a:bodyPr>
          <a:lstStyle/>
          <a:p>
            <a:r>
              <a:rPr sz="1100" b="0" i="0">
                <a:solidFill>
                  <a:srgbClr val="1F2933"/>
                </a:solidFill>
                <a:latin typeface="Calibri"/>
              </a:rPr>
              <a:t>42 steps make one sweep out and back. The last line draws the band of eight stars as it looks at step 5.</a:t>
            </a:r>
          </a:p>
        </p:txBody>
      </p:sp>
      <p:sp>
        <p:nvSpPr>
          <p:cNvPr id="10" name="result label"/>
          <p:cNvSpPr txBox="1"/>
          <p:nvPr/>
        </p:nvSpPr>
        <p:spPr>
          <a:xfrm>
            <a:off x="365760" y="32771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551427"/>
          <a:ext cx="8412480" cy="1057148"/>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Record the indent; flip the direction at the edges.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Short program: Spike</a:t>
            </a:r>
          </a:p>
        </p:txBody>
      </p:sp>
      <p:sp>
        <p:nvSpPr>
          <p:cNvPr id="4" name="code"/>
          <p:cNvSpPr/>
          <p:nvPr/>
        </p:nvSpPr>
        <p:spPr>
          <a:xfrm>
            <a:off x="365760" y="841248"/>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lengths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9</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lengths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5760" y="146710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The lines of the spike grow as the squares 1 to 64 and shrink again from 49 down to 4.</a:t>
            </a:r>
          </a:p>
        </p:txBody>
      </p:sp>
      <p:sp>
        <p:nvSpPr>
          <p:cNvPr id="6" name="code"/>
          <p:cNvSpPr/>
          <p:nvPr/>
        </p:nvSpPr>
        <p:spPr>
          <a:xfrm>
            <a:off x="365760" y="1839277"/>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lengths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lengths</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lengths</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5760" y="2465133"/>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The string '-' repeated n times draws one line. Here is the line for the fourth square.</a:t>
            </a:r>
          </a:p>
        </p:txBody>
      </p:sp>
      <p:sp>
        <p:nvSpPr>
          <p:cNvPr id="8" name="result label"/>
          <p:cNvSpPr txBox="1"/>
          <p:nvPr/>
        </p:nvSpPr>
        <p:spPr>
          <a:xfrm>
            <a:off x="365760" y="285559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29915"/>
          <a:ext cx="6056985" cy="1463040"/>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6759244" y="3129915"/>
          <a:ext cx="2018995" cy="1097280"/>
        </p:xfrm>
        <a:graphic>
          <a:graphicData uri="http://schemas.openxmlformats.org/drawingml/2006/table">
            <a:tbl>
              <a:tblPr firstRow="0" bandRow="0"/>
              <a:tblGrid>
                <a:gridCol w="897331"/>
                <a:gridCol w="1121664"/>
              </a:tblGrid>
              <a:tr h="274320">
                <a:tc>
                  <a:txBody>
                    <a:bodyPr wrap="square"/>
                    <a:lstStyle/>
                    <a:p>
                      <a:pPr algn="ctr"/>
                      <a:r>
                        <a:rPr sz="105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Dashes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64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50" b="0" i="0">
                          <a:solidFill>
                            <a:srgbClr val="1F2933"/>
                          </a:solidFill>
                          <a:latin typeface="Courier New"/>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Squares grow and shrink; a string times n is a line.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the Collatz sequence</a:t>
            </a:r>
          </a:p>
        </p:txBody>
      </p:sp>
      <p:sp>
        <p:nvSpPr>
          <p:cNvPr id="4" name="code"/>
          <p:cNvSpPr/>
          <p:nvPr/>
        </p:nvSpPr>
        <p:spPr>
          <a:xfrm>
            <a:off x="365760" y="841248"/>
            <a:ext cx="2926080" cy="9265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def</a:t>
            </a:r>
            <a:r>
              <a:rPr sz="1200" b="0" i="0">
                <a:solidFill>
                  <a:srgbClr val="E6EDF3"/>
                </a:solidFill>
                <a:latin typeface="Courier New"/>
              </a:rPr>
              <a:t> </a:t>
            </a:r>
            <a:r>
              <a:rPr sz="1200" b="0" i="0">
                <a:solidFill>
                  <a:srgbClr val="E6EDF3"/>
                </a:solidFill>
                <a:latin typeface="Courier New"/>
              </a:rPr>
              <a:t>collatz</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7CC4FF"/>
                </a:solidFill>
                <a:latin typeface="Courier New"/>
              </a:rPr>
              <a:t>3</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p>
        </p:txBody>
      </p:sp>
      <p:sp>
        <p:nvSpPr>
          <p:cNvPr id="5" name="explanation"/>
          <p:cNvSpPr txBox="1"/>
          <p:nvPr/>
        </p:nvSpPr>
        <p:spPr>
          <a:xfrm>
            <a:off x="3273552" y="841248"/>
            <a:ext cx="5504687" cy="926592"/>
          </a:xfrm>
          <a:prstGeom prst="rect">
            <a:avLst/>
          </a:prstGeom>
          <a:noFill/>
        </p:spPr>
        <p:txBody>
          <a:bodyPr wrap="square" lIns="128016" rIns="128016" tIns="18288" bIns="18288" anchor="ctr">
            <a:spAutoFit/>
          </a:bodyPr>
          <a:lstStyle/>
          <a:p>
            <a:r>
              <a:rPr sz="1250" b="0" i="0">
                <a:solidFill>
                  <a:srgbClr val="1F2933"/>
                </a:solidFill>
                <a:latin typeface="Calibri"/>
              </a:rPr>
              <a:t>One step of the rule: halve an even number, otherwise triple it and add one.</a:t>
            </a:r>
          </a:p>
        </p:txBody>
      </p:sp>
      <p:sp>
        <p:nvSpPr>
          <p:cNvPr id="6" name="code"/>
          <p:cNvSpPr/>
          <p:nvPr/>
        </p:nvSpPr>
        <p:spPr>
          <a:xfrm>
            <a:off x="365760" y="1822704"/>
            <a:ext cx="2926080"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seq</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6</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while</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collatz</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append</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p>
        </p:txBody>
      </p:sp>
      <p:sp>
        <p:nvSpPr>
          <p:cNvPr id="7" name="explanation"/>
          <p:cNvSpPr txBox="1"/>
          <p:nvPr/>
        </p:nvSpPr>
        <p:spPr>
          <a:xfrm>
            <a:off x="3273552" y="1822704"/>
            <a:ext cx="5504687" cy="1112520"/>
          </a:xfrm>
          <a:prstGeom prst="rect">
            <a:avLst/>
          </a:prstGeom>
          <a:noFill/>
        </p:spPr>
        <p:txBody>
          <a:bodyPr wrap="square" lIns="128016" rIns="128016" tIns="18288" bIns="18288" anchor="ctr">
            <a:spAutoFit/>
          </a:bodyPr>
          <a:lstStyle/>
          <a:p>
            <a:r>
              <a:rPr sz="1250" b="0" i="0">
                <a:solidFill>
                  <a:srgbClr val="1F2933"/>
                </a:solidFill>
                <a:latin typeface="Calibri"/>
              </a:rPr>
              <a:t>Repeat the step until the number reaches 1. Nobody has proved that every start ends there.</a:t>
            </a:r>
          </a:p>
        </p:txBody>
      </p:sp>
      <p:sp>
        <p:nvSpPr>
          <p:cNvPr id="8" name="result label"/>
          <p:cNvSpPr txBox="1"/>
          <p:nvPr/>
        </p:nvSpPr>
        <p:spPr>
          <a:xfrm>
            <a:off x="365760" y="30083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282696"/>
          <a:ext cx="5215737" cy="1325880"/>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917996" y="3282696"/>
          <a:ext cx="2860242" cy="932688"/>
        </p:xfrm>
        <a:graphic>
          <a:graphicData uri="http://schemas.openxmlformats.org/drawingml/2006/table">
            <a:tbl>
              <a:tblPr firstRow="0" bandRow="0"/>
              <a:tblGrid>
                <a:gridCol w="1320112"/>
                <a:gridCol w="1540130"/>
              </a:tblGrid>
              <a:tr h="310896">
                <a:tc>
                  <a:txBody>
                    <a:bodyPr wrap="square"/>
                    <a:lstStyle/>
                    <a:p>
                      <a:r>
                        <a:rPr sz="1050" b="1" i="0">
                          <a:solidFill>
                            <a:srgbClr val="FFFFFF"/>
                          </a:solidFill>
                          <a:latin typeface="Calibri"/>
                        </a:rPr>
                        <a:t>The number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Next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alibri"/>
                        </a:rPr>
                        <a:t>even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odd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 * n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TextBox 10"/>
          <p:cNvSpPr txBox="1"/>
          <p:nvPr/>
        </p:nvSpPr>
        <p:spPr>
          <a:xfrm>
            <a:off x="5917996" y="4288536"/>
            <a:ext cx="2860243" cy="365760"/>
          </a:xfrm>
          <a:prstGeom prst="rect">
            <a:avLst/>
          </a:prstGeom>
          <a:noFill/>
        </p:spPr>
        <p:txBody>
          <a:bodyPr wrap="square" lIns="45720" rIns="45720" tIns="27432" bIns="27432" anchor="t">
            <a:spAutoFit/>
          </a:bodyPr>
          <a:lstStyle/>
          <a:p>
            <a:r>
              <a:rPr sz="1050" b="1" i="0">
                <a:solidFill>
                  <a:srgbClr val="1F2933"/>
                </a:solidFill>
                <a:latin typeface="Calibri"/>
              </a:rPr>
              <a:t>steps to reach 1: 8</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function is one step; a loop repeats it.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an unsolved problem fits in a small function</a:t>
            </a:r>
          </a:p>
        </p:txBody>
      </p:sp>
      <p:pic>
        <p:nvPicPr>
          <p:cNvPr id="4" name="photo collatz" descr="Picture for the story: an unsolved problem fits in a small function"/>
          <p:cNvPicPr>
            <a:picLocks noChangeAspect="1"/>
          </p:cNvPicPr>
          <p:nvPr/>
        </p:nvPicPr>
        <p:blipFill>
          <a:blip r:embed="rId3"/>
          <a:stretch>
            <a:fillRect/>
          </a:stretch>
        </p:blipFill>
        <p:spPr>
          <a:xfrm>
            <a:off x="397007" y="868680"/>
            <a:ext cx="2589265"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Paul Erdős, Budapest, autumn 1992. Photo: Topsy Kretts, CC BY 3.0,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Lothar Collatz, who posed the problem, and Paul Erdős, who judged it.</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rule: halve an even number, triple an odd number and add one. Does every start reach 1?</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Introduced by Collatz in 1937, two years after his doctorate. Still unproved today.</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In mathematics papers worldwide; computers have checked every start up to about 2.36 times 10 to the 21.</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rule this simple should be easy to settle, yet no proof and no counterexample is known.</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Erdős said: Mathematics may not be ready for such problems. The function collatz() is the rule in four lines.</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Collatz conjecture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8" cy="3520440"/>
        </p:xfrm>
        <a:graphic>
          <a:graphicData uri="http://schemas.openxmlformats.org/drawingml/2006/table">
            <a:tbl>
              <a:tblPr firstRow="0" bandRow="0"/>
              <a:tblGrid>
                <a:gridCol w="3749039"/>
                <a:gridCol w="731520"/>
                <a:gridCol w="3749039"/>
              </a:tblGrid>
              <a:tr h="502920">
                <a:tc>
                  <a:txBody>
                    <a:bodyPr wrap="square"/>
                    <a:lstStyle/>
                    <a:p>
                      <a:r>
                        <a:rPr sz="11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100" b="1" i="0">
                          <a:solidFill>
                            <a:srgbClr val="1F2933"/>
                          </a:solidFill>
                          <a:latin typeface="Calibri"/>
                        </a:rPr>
                        <a:t>The book prints 'referenced before assignment' for UnboundLocalError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New wording: cannot access local variable ... not associated with a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Annotations are not evaluated when def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function may be annotated with names that do not exist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100" b="1" i="0">
                          <a:solidFill>
                            <a:srgbClr val="1F2933"/>
                          </a:solidFill>
                          <a:latin typeface="Calibri"/>
                        </a:rPr>
                        <a:t>except A, B without parentheses (PEP 758)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Only without an as clause; Python 3.13 rejects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Positional-only parameters, marked by a 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Callers cannot name them (PEP 570)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100" b="1" i="0">
                          <a:solidFill>
                            <a:srgbClr val="1F2933"/>
                          </a:solidFill>
                          <a:latin typeface="Calibri"/>
                        </a:rPr>
                        <a:t>Keyword-only parameters, after a star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Callers must name them (PEP 3102)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nonlocal rebinds a name of the enclosing 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middle case between local and global (PEP 3104)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def stores a function; a call runs it and may hand a value back.</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Arguments fill parameters; no return statement means None.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Every active call has a frame on the call stack.</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Names are local to a call or global; global lets a function assign one.</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try and except catch an exception; their place decides what still runs.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call passes values in, may hand one back, and may fail.</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46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 add_item('a') and add_item('b') share one list? Change the function so each call gets its own.</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a function without a return statement give back? Show it with is None.</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scope rule makes the first line of broken() fail, although eggs exists globally?</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Where would you put the try so that the remaining calls still run after one failure?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46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05840"/>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4</a:t>
            </a:r>
          </a:p>
          <a:p>
            <a:r>
              <a:rPr sz="900" b="0" i="0">
                <a:solidFill>
                  <a:srgbClr val="0E7C86"/>
                </a:solidFill>
                <a:latin typeface="Calibri"/>
                <a:hlinkClick r:id="rId3"/>
              </a:rPr>
              <a:t>https://automatetheboringstuff.com/3e/chapter4.html</a:t>
            </a:r>
          </a:p>
        </p:txBody>
      </p:sp>
      <p:sp>
        <p:nvSpPr>
          <p:cNvPr id="7" name="card"/>
          <p:cNvSpPr/>
          <p:nvPr/>
        </p:nvSpPr>
        <p:spPr>
          <a:xfrm>
            <a:off x="365760" y="1527048"/>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27048"/>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tutorial: defining functions, default and keyword arguments</a:t>
            </a:r>
          </a:p>
          <a:p>
            <a:r>
              <a:rPr sz="900" b="0" i="0">
                <a:solidFill>
                  <a:srgbClr val="0E7C86"/>
                </a:solidFill>
                <a:latin typeface="Calibri"/>
                <a:hlinkClick r:id="rId4"/>
              </a:rPr>
              <a:t>https://docs.python.org/3/tutorial/controlflow.html</a:t>
            </a:r>
          </a:p>
        </p:txBody>
      </p:sp>
      <p:sp>
        <p:nvSpPr>
          <p:cNvPr id="9" name="card"/>
          <p:cNvSpPr/>
          <p:nvPr/>
        </p:nvSpPr>
        <p:spPr>
          <a:xfrm>
            <a:off x="365760" y="2048256"/>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48256"/>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tutorial: errors and exceptions</a:t>
            </a:r>
          </a:p>
          <a:p>
            <a:r>
              <a:rPr sz="900" b="0" i="0">
                <a:solidFill>
                  <a:srgbClr val="0E7C86"/>
                </a:solidFill>
                <a:latin typeface="Calibri"/>
                <a:hlinkClick r:id="rId5"/>
              </a:rPr>
              <a:t>https://docs.python.org/3/tutorial/errors.html</a:t>
            </a:r>
          </a:p>
        </p:txBody>
      </p:sp>
      <p:sp>
        <p:nvSpPr>
          <p:cNvPr id="11" name="card"/>
          <p:cNvSpPr/>
          <p:nvPr/>
        </p:nvSpPr>
        <p:spPr>
          <a:xfrm>
            <a:off x="365760" y="2569464"/>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69464"/>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Language reference: naming and binding, scope</a:t>
            </a:r>
          </a:p>
          <a:p>
            <a:r>
              <a:rPr sz="900" b="0" i="0">
                <a:solidFill>
                  <a:srgbClr val="0E7C86"/>
                </a:solidFill>
                <a:latin typeface="Calibri"/>
                <a:hlinkClick r:id="rId6"/>
              </a:rPr>
              <a:t>https://docs.python.org/3/reference/executionmodel.html</a:t>
            </a:r>
          </a:p>
        </p:txBody>
      </p:sp>
      <p:sp>
        <p:nvSpPr>
          <p:cNvPr id="13" name="card"/>
          <p:cNvSpPr/>
          <p:nvPr/>
        </p:nvSpPr>
        <p:spPr>
          <a:xfrm>
            <a:off x="365760" y="3090672"/>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0672"/>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Language reference: return, global and nonlocal</a:t>
            </a:r>
          </a:p>
          <a:p>
            <a:r>
              <a:rPr sz="900" b="0" i="0">
                <a:solidFill>
                  <a:srgbClr val="0E7C86"/>
                </a:solidFill>
                <a:latin typeface="Calibri"/>
                <a:hlinkClick r:id="rId7"/>
              </a:rPr>
              <a:t>https://docs.python.org/3/reference/simple_stmts.html</a:t>
            </a:r>
          </a:p>
        </p:txBody>
      </p:sp>
      <p:sp>
        <p:nvSpPr>
          <p:cNvPr id="15" name="card"/>
          <p:cNvSpPr/>
          <p:nvPr/>
        </p:nvSpPr>
        <p:spPr>
          <a:xfrm>
            <a:off x="365760" y="3611879"/>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11879"/>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Programming FAQ: why an UnboundLocalError</a:t>
            </a:r>
          </a:p>
          <a:p>
            <a:r>
              <a:rPr sz="900" b="0" i="0">
                <a:solidFill>
                  <a:srgbClr val="0E7C86"/>
                </a:solidFill>
                <a:latin typeface="Calibri"/>
                <a:hlinkClick r:id="rId8"/>
              </a:rPr>
              <a:t>https://docs.python.org/3/faq/programming.html</a:t>
            </a:r>
          </a:p>
        </p:txBody>
      </p:sp>
      <p:sp>
        <p:nvSpPr>
          <p:cNvPr id="17" name="card"/>
          <p:cNvSpPr/>
          <p:nvPr/>
        </p:nvSpPr>
        <p:spPr>
          <a:xfrm>
            <a:off x="365760" y="4133087"/>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33087"/>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Library: traceback, print or retrieve a stack traceback</a:t>
            </a:r>
          </a:p>
          <a:p>
            <a:r>
              <a:rPr sz="900" b="0" i="0">
                <a:solidFill>
                  <a:srgbClr val="0E7C86"/>
                </a:solidFill>
                <a:latin typeface="Calibri"/>
                <a:hlinkClick r:id="rId9"/>
              </a:rPr>
              <a:t>https://docs.python.org/3/library/traceback.html</a:t>
            </a:r>
          </a:p>
        </p:txBody>
      </p:sp>
      <p:sp>
        <p:nvSpPr>
          <p:cNvPr id="19" name="card"/>
          <p:cNvSpPr/>
          <p:nvPr/>
        </p:nvSpPr>
        <p:spPr>
          <a:xfrm>
            <a:off x="4663440" y="1005840"/>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05840"/>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Library: inspect, look at live objects and frames</a:t>
            </a:r>
          </a:p>
          <a:p>
            <a:r>
              <a:rPr sz="900" b="0" i="0">
                <a:solidFill>
                  <a:srgbClr val="0E7C86"/>
                </a:solidFill>
                <a:latin typeface="Calibri"/>
                <a:hlinkClick r:id="rId10"/>
              </a:rPr>
              <a:t>https://docs.python.org/3/library/inspect.html</a:t>
            </a:r>
          </a:p>
        </p:txBody>
      </p:sp>
      <p:sp>
        <p:nvSpPr>
          <p:cNvPr id="21" name="card"/>
          <p:cNvSpPr/>
          <p:nvPr/>
        </p:nvSpPr>
        <p:spPr>
          <a:xfrm>
            <a:off x="4663440" y="1527048"/>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27048"/>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1"/>
              </a:rPr>
              <a:t>https://docs.python.org/3/whatsnew/3.14.html</a:t>
            </a:r>
          </a:p>
        </p:txBody>
      </p:sp>
      <p:sp>
        <p:nvSpPr>
          <p:cNvPr id="23" name="card"/>
          <p:cNvSpPr/>
          <p:nvPr/>
        </p:nvSpPr>
        <p:spPr>
          <a:xfrm>
            <a:off x="4663440" y="2048256"/>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48256"/>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PEP 758: except without parentheses</a:t>
            </a:r>
          </a:p>
          <a:p>
            <a:r>
              <a:rPr sz="900" b="0" i="0">
                <a:solidFill>
                  <a:srgbClr val="0E7C86"/>
                </a:solidFill>
                <a:latin typeface="Calibri"/>
                <a:hlinkClick r:id="rId12"/>
              </a:rPr>
              <a:t>https://peps.python.org/pep-0758/</a:t>
            </a:r>
          </a:p>
        </p:txBody>
      </p:sp>
      <p:sp>
        <p:nvSpPr>
          <p:cNvPr id="25" name="card"/>
          <p:cNvSpPr/>
          <p:nvPr/>
        </p:nvSpPr>
        <p:spPr>
          <a:xfrm>
            <a:off x="4663440" y="2569464"/>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69464"/>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PEP 570 and PEP 3102: positional-only and keyword-only</a:t>
            </a:r>
          </a:p>
          <a:p>
            <a:r>
              <a:rPr sz="900" b="0" i="0">
                <a:solidFill>
                  <a:srgbClr val="0E7C86"/>
                </a:solidFill>
                <a:latin typeface="Calibri"/>
                <a:hlinkClick r:id="rId13"/>
              </a:rPr>
              <a:t>https://peps.python.org/pep-3102/</a:t>
            </a:r>
          </a:p>
        </p:txBody>
      </p:sp>
      <p:sp>
        <p:nvSpPr>
          <p:cNvPr id="27" name="card"/>
          <p:cNvSpPr/>
          <p:nvPr/>
        </p:nvSpPr>
        <p:spPr>
          <a:xfrm>
            <a:off x="4663440" y="3090672"/>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0672"/>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David Wheeler on Wikipedia</a:t>
            </a:r>
          </a:p>
          <a:p>
            <a:r>
              <a:rPr sz="900" b="0" i="0">
                <a:solidFill>
                  <a:srgbClr val="0E7C86"/>
                </a:solidFill>
                <a:latin typeface="Calibri"/>
                <a:hlinkClick r:id="rId14"/>
              </a:rPr>
              <a:t>wikipedia.org</a:t>
            </a:r>
          </a:p>
        </p:txBody>
      </p:sp>
      <p:sp>
        <p:nvSpPr>
          <p:cNvPr id="29" name="card"/>
          <p:cNvSpPr/>
          <p:nvPr/>
        </p:nvSpPr>
        <p:spPr>
          <a:xfrm>
            <a:off x="4663440" y="3611879"/>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11879"/>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The Collatz conjecture on Wikipedia</a:t>
            </a:r>
          </a:p>
          <a:p>
            <a:r>
              <a:rPr sz="900" b="0" i="0">
                <a:solidFill>
                  <a:srgbClr val="0E7C86"/>
                </a:solidFill>
                <a:latin typeface="Calibri"/>
                <a:hlinkClick r:id="rId15"/>
              </a:rPr>
              <a:t>https://en.wikipedia.org/wiki/Collatz_conjecture</a:t>
            </a:r>
          </a:p>
        </p:txBody>
      </p:sp>
      <p:sp>
        <p:nvSpPr>
          <p:cNvPr id="31" name="card"/>
          <p:cNvSpPr/>
          <p:nvPr/>
        </p:nvSpPr>
        <p:spPr>
          <a:xfrm>
            <a:off x="4663440" y="4133087"/>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33087"/>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 watch the call stack and frames run step by step</a:t>
            </a:r>
          </a:p>
          <a:p>
            <a:r>
              <a:rPr sz="900" b="0" i="0">
                <a:solidFill>
                  <a:srgbClr val="0E7C86"/>
                </a:solidFill>
                <a:latin typeface="Calibri"/>
                <a:hlinkClick r:id="rId16"/>
              </a:rPr>
              <a:t>https://pythontutor.com</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Functions (lecture deck 3.1.0)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