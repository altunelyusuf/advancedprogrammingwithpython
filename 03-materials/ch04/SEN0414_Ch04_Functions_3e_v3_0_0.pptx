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lines</c:v>
                </c:pt>
              </c:strCache>
            </c:strRef>
          </c:tx>
          <c:spPr>
            <a:solidFill>
              <a:srgbClr val="0E7C86"/>
            </a:solidFill>
          </c:spPr>
          <c:cat>
            <c:strRef>
              <c:f>Sheet1!$A$2:$A$3</c:f>
              <c:strCache>
                <c:ptCount val="2"/>
                <c:pt idx="0">
                  <c:v>same</c:v>
                </c:pt>
                <c:pt idx="1">
                  <c:v>different</c:v>
                </c:pt>
              </c:strCache>
            </c:strRef>
          </c:cat>
          <c:val>
            <c:numRef>
              <c:f>Sheet1!$B$2:$B$3</c:f>
              <c:numCache>
                <c:formatCode>General</c:formatCode>
                <c:ptCount val="2"/>
                <c:pt idx="0">
                  <c:v>2</c:v>
                </c:pt>
                <c:pt idx="1">
                  <c:v>1</c:v>
                </c:pt>
              </c:numCache>
            </c:numRef>
          </c:val>
        </c:ser>
        <c:dLbls>
          <c:numFmt formatCode="General" sourceLinked="0"/>
          <c:txPr>
            <a:bodyPr/>
            <a:lstStyle/>
            <a:p>
              <a:pPr>
                <a:defRPr sz="900"/>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900"/>
            </a:pPr>
          </a:p>
        </c:txPr>
        <c:crossAx val="-2113994440"/>
        <c:crosses val="autoZero"/>
        <c:auto val="1"/>
        <c:lblAlgn val="ctr"/>
        <c:lblOffset val="100"/>
        <c:noMultiLvlLbl val="0"/>
      </c:catAx>
      <c:valAx>
        <c:axId val="-2113994440"/>
        <c:scaling>
          <c:max val="4.0"/>
          <c:min val="0.0"/>
        </c:scaling>
        <c:delete val="0"/>
        <c:axPos val="l"/>
        <c:majorGridlines>
          <c:spPr>
            <a:ln>
              <a:solidFill>
                <a:srgbClr val="D9D2C3"/>
              </a:solidFill>
            </a:ln>
          </c:spPr>
        </c:majorGridlines>
        <c:majorTickMark val="out"/>
        <c:minorTickMark val="none"/>
        <c:tickLblPos val="nextTo"/>
        <c:spPr>
          <a:ln>
            <a:noFill/>
          </a:ln>
        </c:spPr>
        <c:txPr>
          <a:bodyPr/>
          <a:lstStyle/>
          <a:p>
            <a:pPr>
              <a:defRPr sz="900"/>
            </a:pPr>
          </a:p>
        </c:txPr>
        <c:crossAx val="-2068027336"/>
        <c:crosses val="autoZero"/>
        <c:majorUnit val="1.0"/>
      </c:valAx>
    </c:plotArea>
    <c:dispBlanksAs val="gap"/>
  </c:chart>
  <c:txPr>
    <a:bodyPr/>
    <a:lstStyle/>
    <a:p>
      <a:pPr>
        <a:defRPr sz="900">
          <a:solidFill>
            <a:srgbClr val="1F2933"/>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characters printed by call</c:v>
                </c:pt>
              </c:strCache>
            </c:strRef>
          </c:tx>
          <c:spPr>
            <a:solidFill>
              <a:srgbClr val="0E7C86"/>
            </a:solidFill>
          </c:spPr>
          <c:cat>
            <c:strRef>
              <c:f>Sheet1!$A$2:$A$5</c:f>
              <c:strCache>
                <c:ptCount val="4"/>
                <c:pt idx="0">
                  <c:v>4</c:v>
                </c:pt>
                <c:pt idx="1">
                  <c:v>3</c:v>
                </c:pt>
                <c:pt idx="2">
                  <c:v>2</c:v>
                </c:pt>
                <c:pt idx="3">
                  <c:v>1</c:v>
                </c:pt>
              </c:strCache>
            </c:strRef>
          </c:cat>
          <c:val>
            <c:numRef>
              <c:f>Sheet1!$B$2:$B$5</c:f>
              <c:numCache>
                <c:formatCode>General</c:formatCode>
                <c:ptCount val="4"/>
                <c:pt idx="0">
                  <c:v>7</c:v>
                </c:pt>
                <c:pt idx="1">
                  <c:v>5</c:v>
                </c:pt>
                <c:pt idx="2">
                  <c:v>17</c:v>
                </c:pt>
                <c:pt idx="3">
                  <c:v>15</c:v>
                </c:pt>
              </c:numCache>
            </c:numRef>
          </c:val>
        </c:ser>
        <c:dLbls>
          <c:numFmt formatCode="General" sourceLinked="0"/>
          <c:txPr>
            <a:bodyPr/>
            <a:lstStyle/>
            <a:p>
              <a:pPr>
                <a:defRPr sz="900"/>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l"/>
        <c:majorTickMark val="out"/>
        <c:minorTickMark val="none"/>
        <c:tickLblPos val="nextTo"/>
        <c:spPr>
          <a:ln>
            <a:solidFill>
              <a:srgbClr val="D9D2C3"/>
            </a:solidFill>
          </a:ln>
        </c:spPr>
        <c:txPr>
          <a:bodyPr/>
          <a:lstStyle/>
          <a:p>
            <a:pPr>
              <a:defRPr sz="900"/>
            </a:pPr>
          </a:p>
        </c:txPr>
        <c:crossAx val="-2113994440"/>
        <c:crosses val="autoZero"/>
        <c:auto val="1"/>
        <c:lblAlgn val="ctr"/>
        <c:lblOffset val="100"/>
        <c:noMultiLvlLbl val="0"/>
      </c:catAx>
      <c:valAx>
        <c:axId val="-2113994440"/>
        <c:scaling>
          <c:min val="0.0"/>
        </c:scaling>
        <c:delete val="0"/>
        <c:axPos val="b"/>
        <c:majorGridlines>
          <c:spPr>
            <a:ln>
              <a:solidFill>
                <a:srgbClr val="D9D2C3"/>
              </a:solidFill>
            </a:ln>
          </c:spPr>
        </c:majorGridlines>
        <c:majorTickMark val="out"/>
        <c:minorTickMark val="none"/>
        <c:tickLblPos val="nextTo"/>
        <c:spPr>
          <a:ln>
            <a:noFill/>
          </a:ln>
        </c:spPr>
        <c:txPr>
          <a:bodyPr/>
          <a:lstStyle/>
          <a:p>
            <a:pPr>
              <a:defRPr sz="900"/>
            </a:pPr>
          </a:p>
        </c:txPr>
        <c:crossAx val="-2068027336"/>
        <c:crosses val="autoZero"/>
      </c:valAx>
    </c:plotArea>
    <c:dispBlanksAs val="gap"/>
  </c:chart>
  <c:txPr>
    <a:bodyPr/>
    <a:lstStyle/>
    <a:p>
      <a:pPr>
        <a:defRPr sz="900">
          <a:solidFill>
            <a:srgbClr val="1F2933"/>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items in the printed list</c:v>
                </c:pt>
              </c:strCache>
            </c:strRef>
          </c:tx>
          <c:spPr>
            <a:solidFill>
              <a:srgbClr val="0E7C86"/>
            </a:solidFill>
          </c:spPr>
          <c:cat>
            <c:strRef>
              <c:f>Sheet1!$A$2:$A$5</c:f>
              <c:strCache>
                <c:ptCount val="4"/>
                <c:pt idx="0">
                  <c:v>a1</c:v>
                </c:pt>
                <c:pt idx="1">
                  <c:v>a2</c:v>
                </c:pt>
                <c:pt idx="2">
                  <c:v>s1</c:v>
                </c:pt>
                <c:pt idx="3">
                  <c:v>s2</c:v>
                </c:pt>
              </c:strCache>
            </c:strRef>
          </c:cat>
          <c:val>
            <c:numRef>
              <c:f>Sheet1!$B$2:$B$5</c:f>
              <c:numCache>
                <c:formatCode>General</c:formatCode>
                <c:ptCount val="4"/>
                <c:pt idx="0">
                  <c:v>2</c:v>
                </c:pt>
                <c:pt idx="1">
                  <c:v>2</c:v>
                </c:pt>
                <c:pt idx="2">
                  <c:v>1</c:v>
                </c:pt>
                <c:pt idx="3">
                  <c:v>1</c:v>
                </c:pt>
              </c:numCache>
            </c:numRef>
          </c:val>
        </c:ser>
        <c:dLbls>
          <c:numFmt formatCode="General" sourceLinked="0"/>
          <c:txPr>
            <a:bodyPr/>
            <a:lstStyle/>
            <a:p>
              <a:pPr>
                <a:defRPr sz="900"/>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900"/>
            </a:pPr>
          </a:p>
        </c:txPr>
        <c:crossAx val="-2113994440"/>
        <c:crosses val="autoZero"/>
        <c:auto val="1"/>
        <c:lblAlgn val="ctr"/>
        <c:lblOffset val="100"/>
        <c:noMultiLvlLbl val="0"/>
      </c:catAx>
      <c:valAx>
        <c:axId val="-2113994440"/>
        <c:scaling>
          <c:max val="3.0"/>
          <c:min val="0.0"/>
        </c:scaling>
        <c:delete val="0"/>
        <c:axPos val="l"/>
        <c:majorGridlines>
          <c:spPr>
            <a:ln>
              <a:solidFill>
                <a:srgbClr val="D9D2C3"/>
              </a:solidFill>
            </a:ln>
          </c:spPr>
        </c:majorGridlines>
        <c:majorTickMark val="out"/>
        <c:minorTickMark val="none"/>
        <c:tickLblPos val="nextTo"/>
        <c:spPr>
          <a:ln>
            <a:noFill/>
          </a:ln>
        </c:spPr>
        <c:txPr>
          <a:bodyPr/>
          <a:lstStyle/>
          <a:p>
            <a:pPr>
              <a:defRPr sz="900"/>
            </a:pPr>
          </a:p>
        </c:txPr>
        <c:crossAx val="-2068027336"/>
        <c:crosses val="autoZero"/>
        <c:majorUnit val="1.0"/>
      </c:valAx>
    </c:plotArea>
    <c:dispBlanksAs val="gap"/>
  </c:chart>
  <c:txPr>
    <a:bodyPr/>
    <a:lstStyle/>
    <a:p>
      <a:pPr>
        <a:defRPr sz="900">
          <a:solidFill>
            <a:srgbClr val="1F2933"/>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depth</c:v>
                </c:pt>
              </c:strCache>
            </c:strRef>
          </c:tx>
          <c:spPr>
            <a:solidFill>
              <a:srgbClr val="0E7C86"/>
            </a:solidFill>
          </c:spPr>
          <c:cat>
            <c:strRef>
              <c:f>Sheet1!$A$2:$A$5</c:f>
              <c:strCache>
                <c:ptCount val="4"/>
                <c:pt idx="0">
                  <c:v>top level</c:v>
                </c:pt>
                <c:pt idx="1">
                  <c:v>a()</c:v>
                </c:pt>
                <c:pt idx="2">
                  <c:v>b()</c:v>
                </c:pt>
                <c:pt idx="3">
                  <c:v>c()</c:v>
                </c:pt>
              </c:strCache>
            </c:strRef>
          </c:cat>
          <c:val>
            <c:numRef>
              <c:f>Sheet1!$B$2:$B$5</c:f>
              <c:numCache>
                <c:formatCode>General</c:formatCode>
                <c:ptCount val="4"/>
                <c:pt idx="0">
                  <c:v>0</c:v>
                </c:pt>
                <c:pt idx="1">
                  <c:v>1</c:v>
                </c:pt>
                <c:pt idx="2">
                  <c:v>2</c:v>
                </c:pt>
                <c:pt idx="3">
                  <c:v>3</c:v>
                </c:pt>
              </c:numCache>
            </c:numRef>
          </c:val>
        </c:ser>
        <c:dLbls>
          <c:numFmt formatCode="General" sourceLinked="0"/>
          <c:txPr>
            <a:bodyPr/>
            <a:lstStyle/>
            <a:p>
              <a:pPr>
                <a:defRPr sz="8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800"/>
            </a:pPr>
          </a:p>
        </c:txPr>
        <c:crossAx val="-2113994440"/>
        <c:crosses val="autoZero"/>
        <c:auto val="1"/>
        <c:lblAlgn val="ctr"/>
        <c:lblOffset val="100"/>
        <c:noMultiLvlLbl val="0"/>
      </c:catAx>
      <c:valAx>
        <c:axId val="-2113994440"/>
        <c:scaling>
          <c:max val="3.0"/>
          <c:min val="0.0"/>
        </c:scaling>
        <c:delete val="0"/>
        <c:axPos val="l"/>
        <c:majorGridlines>
          <c:spPr>
            <a:ln>
              <a:solidFill>
                <a:srgbClr val="D9D2C3"/>
              </a:solidFill>
            </a:ln>
          </c:spPr>
        </c:majorGridlines>
        <c:majorTickMark val="out"/>
        <c:minorTickMark val="none"/>
        <c:tickLblPos val="nextTo"/>
        <c:spPr>
          <a:ln>
            <a:noFill/>
          </a:ln>
        </c:spPr>
        <c:txPr>
          <a:bodyPr/>
          <a:lstStyle/>
          <a:p>
            <a:pPr>
              <a:defRPr sz="800"/>
            </a:pPr>
          </a:p>
        </c:txPr>
        <c:crossAx val="-2068027336"/>
        <c:crosses val="autoZero"/>
        <c:majorUnit val="1.0"/>
      </c:valAx>
    </c:plotArea>
    <c:dispBlanksAs val="gap"/>
  </c:chart>
  <c:txPr>
    <a:bodyPr/>
    <a:lstStyle/>
    <a:p>
      <a:pPr>
        <a:defRPr sz="800">
          <a:solidFill>
            <a:srgbClr val="1F2933"/>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tick() returned</c:v>
                </c:pt>
              </c:strCache>
            </c:strRef>
          </c:tx>
          <c:spPr>
            <a:solidFill>
              <a:srgbClr val="0E7C86"/>
            </a:solidFill>
          </c:spPr>
          <c:cat>
            <c:strRef>
              <c:f>Sheet1!$A$2:$A$4</c:f>
              <c:strCache>
                <c:ptCount val="3"/>
                <c:pt idx="0">
                  <c:v>call 1</c:v>
                </c:pt>
                <c:pt idx="1">
                  <c:v>call 2</c:v>
                </c:pt>
                <c:pt idx="2">
                  <c:v>call 3</c:v>
                </c:pt>
              </c:strCache>
            </c:strRef>
          </c:cat>
          <c:val>
            <c:numRef>
              <c:f>Sheet1!$B$2:$B$4</c:f>
              <c:numCache>
                <c:formatCode>General</c:formatCode>
                <c:ptCount val="3"/>
                <c:pt idx="0">
                  <c:v>1</c:v>
                </c:pt>
                <c:pt idx="1">
                  <c:v>2</c:v>
                </c:pt>
                <c:pt idx="2">
                  <c:v>3</c:v>
                </c:pt>
              </c:numCache>
            </c:numRef>
          </c:val>
        </c:ser>
        <c:dLbls>
          <c:numFmt formatCode="General" sourceLinked="0"/>
          <c:txPr>
            <a:bodyPr/>
            <a:lstStyle/>
            <a:p>
              <a:pPr>
                <a:defRPr sz="900"/>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900"/>
            </a:pPr>
          </a:p>
        </c:txPr>
        <c:crossAx val="-2113994440"/>
        <c:crosses val="autoZero"/>
        <c:auto val="1"/>
        <c:lblAlgn val="ctr"/>
        <c:lblOffset val="100"/>
        <c:noMultiLvlLbl val="0"/>
      </c:catAx>
      <c:valAx>
        <c:axId val="-2113994440"/>
        <c:scaling>
          <c:max val="4.0"/>
          <c:min val="0.0"/>
        </c:scaling>
        <c:delete val="0"/>
        <c:axPos val="l"/>
        <c:majorGridlines>
          <c:spPr>
            <a:ln>
              <a:solidFill>
                <a:srgbClr val="D9D2C3"/>
              </a:solidFill>
            </a:ln>
          </c:spPr>
        </c:majorGridlines>
        <c:majorTickMark val="out"/>
        <c:minorTickMark val="none"/>
        <c:tickLblPos val="nextTo"/>
        <c:spPr>
          <a:ln>
            <a:noFill/>
          </a:ln>
        </c:spPr>
        <c:txPr>
          <a:bodyPr/>
          <a:lstStyle/>
          <a:p>
            <a:pPr>
              <a:defRPr sz="900"/>
            </a:pPr>
          </a:p>
        </c:txPr>
        <c:crossAx val="-2068027336"/>
        <c:crosses val="autoZero"/>
        <c:majorUnit val="1.0"/>
      </c:valAx>
    </c:plotArea>
    <c:dispBlanksAs val="gap"/>
  </c:chart>
  <c:txPr>
    <a:bodyPr/>
    <a:lstStyle/>
    <a:p>
      <a:pPr>
        <a:defRPr sz="900">
          <a:solidFill>
            <a:srgbClr val="1F2933"/>
          </a:solidFill>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number returned (0 when except ran)</c:v>
                </c:pt>
              </c:strCache>
            </c:strRef>
          </c:tx>
          <c:spPr>
            <a:solidFill>
              <a:srgbClr val="0E7C86"/>
            </a:solidFill>
          </c:spPr>
          <c:cat>
            <c:strRef>
              <c:f>Sheet1!$A$2:$A$5</c:f>
              <c:strCache>
                <c:ptCount val="4"/>
                <c:pt idx="0">
                  <c:v>spam(2)</c:v>
                </c:pt>
                <c:pt idx="1">
                  <c:v>spam(12)</c:v>
                </c:pt>
                <c:pt idx="2">
                  <c:v>spam(0)</c:v>
                </c:pt>
                <c:pt idx="3">
                  <c:v>spam(1)</c:v>
                </c:pt>
              </c:strCache>
            </c:strRef>
          </c:cat>
          <c:val>
            <c:numRef>
              <c:f>Sheet1!$B$2:$B$5</c:f>
              <c:numCache>
                <c:formatCode>General</c:formatCode>
                <c:ptCount val="4"/>
                <c:pt idx="0">
                  <c:v>21.0</c:v>
                </c:pt>
                <c:pt idx="1">
                  <c:v>3.5</c:v>
                </c:pt>
                <c:pt idx="2">
                  <c:v>0</c:v>
                </c:pt>
                <c:pt idx="3">
                  <c:v>42.0</c:v>
                </c:pt>
              </c:numCache>
            </c:numRef>
          </c:val>
        </c:ser>
        <c:dLbls>
          <c:numFmt formatCode="General" sourceLinked="0"/>
          <c:txPr>
            <a:bodyPr/>
            <a:lstStyle/>
            <a:p>
              <a:pPr>
                <a:defRPr sz="800"/>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800"/>
            </a:pPr>
          </a:p>
        </c:txPr>
        <c:crossAx val="-2113994440"/>
        <c:crosses val="autoZero"/>
        <c:auto val="1"/>
        <c:lblAlgn val="ctr"/>
        <c:lblOffset val="100"/>
        <c:noMultiLvlLbl val="0"/>
      </c:catAx>
      <c:valAx>
        <c:axId val="-2113994440"/>
        <c:scaling>
          <c:min val="0.0"/>
        </c:scaling>
        <c:delete val="0"/>
        <c:axPos val="l"/>
        <c:majorGridlines>
          <c:spPr>
            <a:ln>
              <a:solidFill>
                <a:srgbClr val="D9D2C3"/>
              </a:solidFill>
            </a:ln>
          </c:spPr>
        </c:majorGridlines>
        <c:majorTickMark val="out"/>
        <c:minorTickMark val="none"/>
        <c:tickLblPos val="nextTo"/>
        <c:spPr>
          <a:ln>
            <a:noFill/>
          </a:ln>
        </c:spPr>
        <c:txPr>
          <a:bodyPr/>
          <a:lstStyle/>
          <a:p>
            <a:pPr>
              <a:defRPr sz="800"/>
            </a:pPr>
          </a:p>
        </c:txPr>
        <c:crossAx val="-2068027336"/>
        <c:crosses val="autoZero"/>
      </c:valAx>
    </c:plotArea>
    <c:dispBlanksAs val="gap"/>
  </c:chart>
  <c:txPr>
    <a:bodyPr/>
    <a:lstStyle/>
    <a:p>
      <a:pPr>
        <a:defRPr sz="800">
          <a:solidFill>
            <a:srgbClr val="1F2933"/>
          </a:solidFill>
          <a:latin typeface="Calibri"/>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calls</c:v>
                </c:pt>
              </c:strCache>
            </c:strRef>
          </c:tx>
          <c:spPr>
            <a:solidFill>
              <a:srgbClr val="0E7C86"/>
            </a:solidFill>
          </c:spPr>
          <c:cat>
            <c:strRef>
              <c:f>Sheet1!$A$2:$A$3</c:f>
              <c:strCache>
                <c:ptCount val="2"/>
                <c:pt idx="0">
                  <c:v>result</c:v>
                </c:pt>
                <c:pt idx="1">
                  <c:v>handled</c:v>
                </c:pt>
              </c:strCache>
            </c:strRef>
          </c:cat>
          <c:val>
            <c:numRef>
              <c:f>Sheet1!$B$2:$B$3</c:f>
              <c:numCache>
                <c:formatCode>General</c:formatCode>
                <c:ptCount val="2"/>
                <c:pt idx="0">
                  <c:v>2</c:v>
                </c:pt>
                <c:pt idx="1">
                  <c:v>1</c:v>
                </c:pt>
              </c:numCache>
            </c:numRef>
          </c:val>
        </c:ser>
        <c:dLbls>
          <c:numFmt formatCode="General" sourceLinked="0"/>
          <c:txPr>
            <a:bodyPr/>
            <a:lstStyle/>
            <a:p>
              <a:pPr>
                <a:defRPr sz="900"/>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900"/>
            </a:pPr>
          </a:p>
        </c:txPr>
        <c:crossAx val="-2113994440"/>
        <c:crosses val="autoZero"/>
        <c:auto val="1"/>
        <c:lblAlgn val="ctr"/>
        <c:lblOffset val="100"/>
        <c:noMultiLvlLbl val="0"/>
      </c:catAx>
      <c:valAx>
        <c:axId val="-2113994440"/>
        <c:scaling>
          <c:max val="3.0"/>
          <c:min val="0.0"/>
        </c:scaling>
        <c:delete val="0"/>
        <c:axPos val="l"/>
        <c:majorGridlines>
          <c:spPr>
            <a:ln>
              <a:solidFill>
                <a:srgbClr val="D9D2C3"/>
              </a:solidFill>
            </a:ln>
          </c:spPr>
        </c:majorGridlines>
        <c:majorTickMark val="out"/>
        <c:minorTickMark val="none"/>
        <c:tickLblPos val="nextTo"/>
        <c:spPr>
          <a:ln>
            <a:noFill/>
          </a:ln>
        </c:spPr>
        <c:txPr>
          <a:bodyPr/>
          <a:lstStyle/>
          <a:p>
            <a:pPr>
              <a:defRPr sz="900"/>
            </a:pPr>
          </a:p>
        </c:txPr>
        <c:crossAx val="-2068027336"/>
        <c:crosses val="autoZero"/>
        <c:majorUnit val="1.0"/>
      </c:valAx>
    </c:plotArea>
    <c:dispBlanksAs val="gap"/>
  </c:chart>
  <c:txPr>
    <a:bodyPr/>
    <a:lstStyle/>
    <a:p>
      <a:pPr>
        <a:defRPr sz="900">
          <a:solidFill>
            <a:srgbClr val="1F2933"/>
          </a:solidFill>
          <a:latin typeface="Calibri"/>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calls</c:v>
                </c:pt>
              </c:strCache>
            </c:strRef>
          </c:tx>
          <c:spPr>
            <a:solidFill>
              <a:srgbClr val="0E7C86"/>
            </a:solidFill>
          </c:spPr>
          <c:cat>
            <c:strRef>
              <c:f>Sheet1!$A$2:$A$4</c:f>
              <c:strCache>
                <c:ptCount val="3"/>
                <c:pt idx="0">
                  <c:v>ran</c:v>
                </c:pt>
                <c:pt idx="1">
                  <c:v>raised</c:v>
                </c:pt>
                <c:pt idx="2">
                  <c:v>never started</c:v>
                </c:pt>
              </c:strCache>
            </c:strRef>
          </c:cat>
          <c:val>
            <c:numRef>
              <c:f>Sheet1!$B$2:$B$4</c:f>
              <c:numCache>
                <c:formatCode>General</c:formatCode>
                <c:ptCount val="3"/>
                <c:pt idx="0">
                  <c:v>1</c:v>
                </c:pt>
                <c:pt idx="1">
                  <c:v>1</c:v>
                </c:pt>
                <c:pt idx="2">
                  <c:v>1</c:v>
                </c:pt>
              </c:numCache>
            </c:numRef>
          </c:val>
        </c:ser>
        <c:dLbls>
          <c:numFmt formatCode="General" sourceLinked="0"/>
          <c:txPr>
            <a:bodyPr/>
            <a:lstStyle/>
            <a:p>
              <a:pPr>
                <a:defRPr sz="9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900"/>
            </a:pPr>
          </a:p>
        </c:txPr>
        <c:crossAx val="-2113994440"/>
        <c:crosses val="autoZero"/>
        <c:auto val="1"/>
        <c:lblAlgn val="ctr"/>
        <c:lblOffset val="100"/>
        <c:noMultiLvlLbl val="0"/>
      </c:catAx>
      <c:valAx>
        <c:axId val="-2113994440"/>
        <c:scaling>
          <c:max val="3.0"/>
          <c:min val="0.0"/>
        </c:scaling>
        <c:delete val="0"/>
        <c:axPos val="l"/>
        <c:majorGridlines>
          <c:spPr>
            <a:ln>
              <a:solidFill>
                <a:srgbClr val="D9D2C3"/>
              </a:solidFill>
            </a:ln>
          </c:spPr>
        </c:majorGridlines>
        <c:majorTickMark val="out"/>
        <c:minorTickMark val="none"/>
        <c:tickLblPos val="nextTo"/>
        <c:spPr>
          <a:ln>
            <a:noFill/>
          </a:ln>
        </c:spPr>
        <c:txPr>
          <a:bodyPr/>
          <a:lstStyle/>
          <a:p>
            <a:pPr>
              <a:defRPr sz="900"/>
            </a:pPr>
          </a:p>
        </c:txPr>
        <c:crossAx val="-2068027336"/>
        <c:crosses val="autoZero"/>
        <c:majorUnit val="1.0"/>
      </c:valAx>
    </c:plotArea>
    <c:dispBlanksAs val="gap"/>
  </c:chart>
  <c:txPr>
    <a:bodyPr/>
    <a:lstStyle/>
    <a:p>
      <a:pPr>
        <a:defRPr sz="900">
          <a:solidFill>
            <a:srgbClr val="1F2933"/>
          </a:solidFill>
          <a:latin typeface="Calibri"/>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indent</c:v>
                </c:pt>
              </c:strCache>
            </c:strRef>
          </c:tx>
          <c:spPr>
            <a:solidFill>
              <a:srgbClr val="0E7C86"/>
            </a:solidFill>
          </c:spPr>
          <c:cat>
            <c:strRef>
              <c:f>Sheet1!$A$2:$A$43</c:f>
              <c:strCache>
                <c:ptCount val="42"/>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strCache>
            </c:strRef>
          </c:cat>
          <c:val>
            <c:numRef>
              <c:f>Sheet1!$B$2:$B$43</c:f>
              <c:numCache>
                <c:formatCode>General</c:formatCode>
                <c:ptCount val="42"/>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19</c:v>
                </c:pt>
                <c:pt idx="22">
                  <c:v>18</c:v>
                </c:pt>
                <c:pt idx="23">
                  <c:v>17</c:v>
                </c:pt>
                <c:pt idx="24">
                  <c:v>16</c:v>
                </c:pt>
                <c:pt idx="25">
                  <c:v>15</c:v>
                </c:pt>
                <c:pt idx="26">
                  <c:v>14</c:v>
                </c:pt>
                <c:pt idx="27">
                  <c:v>13</c:v>
                </c:pt>
                <c:pt idx="28">
                  <c:v>12</c:v>
                </c:pt>
                <c:pt idx="29">
                  <c:v>11</c:v>
                </c:pt>
                <c:pt idx="30">
                  <c:v>10</c:v>
                </c:pt>
                <c:pt idx="31">
                  <c:v>9</c:v>
                </c:pt>
                <c:pt idx="32">
                  <c:v>8</c:v>
                </c:pt>
                <c:pt idx="33">
                  <c:v>7</c:v>
                </c:pt>
                <c:pt idx="34">
                  <c:v>6</c:v>
                </c:pt>
                <c:pt idx="35">
                  <c:v>5</c:v>
                </c:pt>
                <c:pt idx="36">
                  <c:v>4</c:v>
                </c:pt>
                <c:pt idx="37">
                  <c:v>3</c:v>
                </c:pt>
                <c:pt idx="38">
                  <c:v>2</c:v>
                </c:pt>
                <c:pt idx="39">
                  <c:v>1</c:v>
                </c:pt>
                <c:pt idx="40">
                  <c:v>0</c:v>
                </c:pt>
                <c:pt idx="41">
                  <c:v>1</c:v>
                </c:pt>
              </c:numCache>
            </c:numRef>
          </c:val>
        </c:ser>
        <c:dLbls>
          <c:numFmt formatCode="General" sourceLinked="0"/>
          <c:txPr>
            <a:bodyPr/>
            <a:lstStyle/>
            <a:p>
              <a:pPr>
                <a:defRPr sz="800"/>
              </a:pPr>
            </a:p>
          </c:txPr>
          <c:dLblPos val="outEnd"/>
          <c:showLegendKey val="0"/>
          <c:showVal val="1"/>
          <c:showCatName val="0"/>
          <c:showSerName val="0"/>
          <c:showPercent val="0"/>
          <c:showBubbleSize val="0"/>
          <c:showLeaderLines val="1"/>
        </c:dLbls>
        <c:gapWidth val="2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800"/>
            </a:pPr>
          </a:p>
        </c:txPr>
        <c:crossAx val="-2113994440"/>
        <c:crosses val="autoZero"/>
        <c:auto val="1"/>
        <c:lblAlgn val="ctr"/>
        <c:lblOffset val="100"/>
        <c:noMultiLvlLbl val="0"/>
      </c:catAx>
      <c:valAx>
        <c:axId val="-2113994440"/>
        <c:scaling>
          <c:max val="20.0"/>
          <c:min val="0.0"/>
        </c:scaling>
        <c:delete val="0"/>
        <c:axPos val="l"/>
        <c:majorGridlines>
          <c:spPr>
            <a:ln>
              <a:solidFill>
                <a:srgbClr val="D9D2C3"/>
              </a:solidFill>
            </a:ln>
          </c:spPr>
        </c:majorGridlines>
        <c:title>
          <c:tx>
            <c:rich>
              <a:bodyPr/>
              <a:lstStyle/>
              <a:p>
                <a:r>
                  <a:rPr sz="800" b="0"/>
                  <a:t>indent of the band, step by step</a:t>
                </a:r>
              </a:p>
            </c:rich>
          </c:tx>
          <c:layout/>
          <c:overlay val="0"/>
        </c:title>
        <c:majorTickMark val="out"/>
        <c:minorTickMark val="none"/>
        <c:tickLblPos val="nextTo"/>
        <c:spPr>
          <a:ln>
            <a:noFill/>
          </a:ln>
        </c:spPr>
        <c:txPr>
          <a:bodyPr/>
          <a:lstStyle/>
          <a:p>
            <a:pPr>
              <a:defRPr sz="800"/>
            </a:pPr>
          </a:p>
        </c:txPr>
        <c:crossAx val="-2068027336"/>
        <c:crosses val="autoZero"/>
        <c:majorUnit val="10.0"/>
      </c:valAx>
    </c:plotArea>
    <c:dispBlanksAs val="gap"/>
  </c:chart>
  <c:txPr>
    <a:bodyPr/>
    <a:lstStyle/>
    <a:p>
      <a:pPr>
        <a:defRPr sz="800">
          <a:solidFill>
            <a:srgbClr val="1F2933"/>
          </a:solidFill>
          <a:latin typeface="Calibri"/>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dashes in the line</c:v>
                </c:pt>
              </c:strCache>
            </c:strRef>
          </c:tx>
          <c:spPr>
            <a:solidFill>
              <a:srgbClr val="0E7C86"/>
            </a:solidFill>
          </c:spPr>
          <c:cat>
            <c:strRef>
              <c:f>Sheet1!$A$2:$A$15</c:f>
              <c:strCache>
                <c:ptCount val="14"/>
                <c:pt idx="0">
                  <c:v>1</c:v>
                </c:pt>
                <c:pt idx="1">
                  <c:v>2</c:v>
                </c:pt>
                <c:pt idx="2">
                  <c:v>3</c:v>
                </c:pt>
                <c:pt idx="3">
                  <c:v>4</c:v>
                </c:pt>
                <c:pt idx="4">
                  <c:v>5</c:v>
                </c:pt>
                <c:pt idx="5">
                  <c:v>6</c:v>
                </c:pt>
                <c:pt idx="6">
                  <c:v>7</c:v>
                </c:pt>
                <c:pt idx="7">
                  <c:v>8</c:v>
                </c:pt>
                <c:pt idx="8">
                  <c:v>9</c:v>
                </c:pt>
                <c:pt idx="9">
                  <c:v>10</c:v>
                </c:pt>
                <c:pt idx="10">
                  <c:v>11</c:v>
                </c:pt>
                <c:pt idx="11">
                  <c:v>12</c:v>
                </c:pt>
                <c:pt idx="12">
                  <c:v>13</c:v>
                </c:pt>
                <c:pt idx="13">
                  <c:v>14</c:v>
                </c:pt>
              </c:strCache>
            </c:strRef>
          </c:cat>
          <c:val>
            <c:numRef>
              <c:f>Sheet1!$B$2:$B$15</c:f>
              <c:numCache>
                <c:formatCode>General</c:formatCode>
                <c:ptCount val="14"/>
                <c:pt idx="0">
                  <c:v>1</c:v>
                </c:pt>
                <c:pt idx="1">
                  <c:v>4</c:v>
                </c:pt>
                <c:pt idx="2">
                  <c:v>9</c:v>
                </c:pt>
                <c:pt idx="3">
                  <c:v>16</c:v>
                </c:pt>
                <c:pt idx="4">
                  <c:v>25</c:v>
                </c:pt>
                <c:pt idx="5">
                  <c:v>36</c:v>
                </c:pt>
                <c:pt idx="6">
                  <c:v>49</c:v>
                </c:pt>
                <c:pt idx="7">
                  <c:v>64</c:v>
                </c:pt>
                <c:pt idx="8">
                  <c:v>49</c:v>
                </c:pt>
                <c:pt idx="9">
                  <c:v>36</c:v>
                </c:pt>
                <c:pt idx="10">
                  <c:v>25</c:v>
                </c:pt>
                <c:pt idx="11">
                  <c:v>16</c:v>
                </c:pt>
                <c:pt idx="12">
                  <c:v>9</c:v>
                </c:pt>
                <c:pt idx="13">
                  <c:v>4</c:v>
                </c:pt>
              </c:numCache>
            </c:numRef>
          </c:val>
        </c:ser>
        <c:dLbls>
          <c:numFmt formatCode="General" sourceLinked="0"/>
          <c:txPr>
            <a:bodyPr/>
            <a:lstStyle/>
            <a:p>
              <a:pPr>
                <a:defRPr sz="800"/>
              </a:pPr>
            </a:p>
          </c:txPr>
          <c:dLblPos val="outEnd"/>
          <c:showLegendKey val="0"/>
          <c:showVal val="1"/>
          <c:showCatName val="0"/>
          <c:showSerName val="0"/>
          <c:showPercent val="0"/>
          <c:showBubbleSize val="0"/>
          <c:showLeaderLines val="1"/>
        </c:dLbls>
        <c:gapWidth val="3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800"/>
            </a:pPr>
          </a:p>
        </c:txPr>
        <c:crossAx val="-2113994440"/>
        <c:crosses val="autoZero"/>
        <c:auto val="1"/>
        <c:lblAlgn val="ctr"/>
        <c:lblOffset val="100"/>
        <c:noMultiLvlLbl val="0"/>
      </c:catAx>
      <c:valAx>
        <c:axId val="-2113994440"/>
        <c:scaling>
          <c:max val="70.0"/>
          <c:min val="0.0"/>
        </c:scaling>
        <c:delete val="0"/>
        <c:axPos val="l"/>
        <c:majorGridlines>
          <c:spPr>
            <a:ln>
              <a:solidFill>
                <a:srgbClr val="D9D2C3"/>
              </a:solidFill>
            </a:ln>
          </c:spPr>
        </c:majorGridlines>
        <c:title>
          <c:tx>
            <c:rich>
              <a:bodyPr/>
              <a:lstStyle/>
              <a:p>
                <a:r>
                  <a:rPr sz="800" b="0"/>
                  <a:t>dashes in each line</a:t>
                </a:r>
              </a:p>
            </c:rich>
          </c:tx>
          <c:layout/>
          <c:overlay val="0"/>
        </c:title>
        <c:majorTickMark val="out"/>
        <c:minorTickMark val="none"/>
        <c:tickLblPos val="nextTo"/>
        <c:spPr>
          <a:ln>
            <a:noFill/>
          </a:ln>
        </c:spPr>
        <c:txPr>
          <a:bodyPr/>
          <a:lstStyle/>
          <a:p>
            <a:pPr>
              <a:defRPr sz="800"/>
            </a:pPr>
          </a:p>
        </c:txPr>
        <c:crossAx val="-2068027336"/>
        <c:crosses val="autoZero"/>
        <c:majorUnit val="20.0"/>
      </c:valAx>
    </c:plotArea>
    <c:dispBlanksAs val="gap"/>
  </c:chart>
  <c:txPr>
    <a:bodyPr/>
    <a:lstStyle/>
    <a:p>
      <a:pPr>
        <a:defRPr sz="800">
          <a:solidFill>
            <a:srgbClr val="1F2933"/>
          </a:solidFill>
          <a:latin typeface="Calibri"/>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value</c:v>
                </c:pt>
              </c:strCache>
            </c:strRef>
          </c:tx>
          <c:spPr>
            <a:solidFill>
              <a:srgbClr val="0E7C86"/>
            </a:solidFill>
          </c:spPr>
          <c:cat>
            <c:strRef>
              <c:f>Sheet1!$A$2:$A$10</c:f>
              <c:strCache>
                <c:ptCount val="9"/>
                <c:pt idx="0">
                  <c:v>6</c:v>
                </c:pt>
                <c:pt idx="1">
                  <c:v>3</c:v>
                </c:pt>
                <c:pt idx="2">
                  <c:v>10</c:v>
                </c:pt>
                <c:pt idx="3">
                  <c:v>5</c:v>
                </c:pt>
                <c:pt idx="4">
                  <c:v>16</c:v>
                </c:pt>
                <c:pt idx="5">
                  <c:v>8</c:v>
                </c:pt>
                <c:pt idx="6">
                  <c:v>4</c:v>
                </c:pt>
                <c:pt idx="7">
                  <c:v>2</c:v>
                </c:pt>
                <c:pt idx="8">
                  <c:v>1</c:v>
                </c:pt>
              </c:strCache>
            </c:strRef>
          </c:cat>
          <c:val>
            <c:numRef>
              <c:f>Sheet1!$B$2:$B$10</c:f>
              <c:numCache>
                <c:formatCode>General</c:formatCode>
                <c:ptCount val="9"/>
                <c:pt idx="0">
                  <c:v>6</c:v>
                </c:pt>
                <c:pt idx="1">
                  <c:v>3</c:v>
                </c:pt>
                <c:pt idx="2">
                  <c:v>10</c:v>
                </c:pt>
                <c:pt idx="3">
                  <c:v>5</c:v>
                </c:pt>
                <c:pt idx="4">
                  <c:v>16</c:v>
                </c:pt>
                <c:pt idx="5">
                  <c:v>8</c:v>
                </c:pt>
                <c:pt idx="6">
                  <c:v>4</c:v>
                </c:pt>
                <c:pt idx="7">
                  <c:v>2</c:v>
                </c:pt>
                <c:pt idx="8">
                  <c:v>1</c:v>
                </c:pt>
              </c:numCache>
            </c:numRef>
          </c:val>
        </c:ser>
        <c:dLbls>
          <c:numFmt formatCode="General" sourceLinked="0"/>
          <c:txPr>
            <a:bodyPr/>
            <a:lstStyle/>
            <a:p>
              <a:pPr>
                <a:defRPr sz="900"/>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900"/>
            </a:pPr>
          </a:p>
        </c:txPr>
        <c:crossAx val="-2113994440"/>
        <c:crosses val="autoZero"/>
        <c:auto val="1"/>
        <c:lblAlgn val="ctr"/>
        <c:lblOffset val="100"/>
        <c:noMultiLvlLbl val="0"/>
      </c:catAx>
      <c:valAx>
        <c:axId val="-2113994440"/>
        <c:scaling>
          <c:min val="0.0"/>
        </c:scaling>
        <c:delete val="0"/>
        <c:axPos val="l"/>
        <c:majorGridlines>
          <c:spPr>
            <a:ln>
              <a:solidFill>
                <a:srgbClr val="D9D2C3"/>
              </a:solidFill>
            </a:ln>
          </c:spPr>
        </c:majorGridlines>
        <c:title>
          <c:tx>
            <c:rich>
              <a:bodyPr/>
              <a:lstStyle/>
              <a:p>
                <a:r>
                  <a:rPr sz="900" b="0"/>
                  <a:t>the sequence from 6</a:t>
                </a:r>
              </a:p>
            </c:rich>
          </c:tx>
          <c:layout/>
          <c:overlay val="0"/>
        </c:title>
        <c:majorTickMark val="out"/>
        <c:minorTickMark val="none"/>
        <c:tickLblPos val="nextTo"/>
        <c:spPr>
          <a:ln>
            <a:noFill/>
          </a:ln>
        </c:spPr>
        <c:txPr>
          <a:bodyPr/>
          <a:lstStyle/>
          <a:p>
            <a:pPr>
              <a:defRPr sz="900"/>
            </a:pPr>
          </a:p>
        </c:txPr>
        <c:crossAx val="-2068027336"/>
        <c:crosses val="autoZero"/>
      </c:valAx>
    </c:plotArea>
    <c:dispBlanksAs val="gap"/>
  </c:chart>
  <c:txPr>
    <a:bodyPr/>
    <a:lstStyle/>
    <a:p>
      <a:pPr>
        <a:defRPr sz="900">
          <a:solidFill>
            <a:srgbClr val="1F2933"/>
          </a:solidFill>
          <a:latin typeface="Calibri"/>
        </a:defRPr>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examples</c:v>
                </c:pt>
              </c:strCache>
            </c:strRef>
          </c:tx>
          <c:spPr>
            <a:solidFill>
              <a:srgbClr val="0E7C86"/>
            </a:solidFill>
          </c:spPr>
          <c:cat>
            <c:strRef>
              <c:f>Sheet1!$A$2:$A$5</c:f>
              <c:strCache>
                <c:ptCount val="4"/>
                <c:pt idx="0">
                  <c:v>Part 1</c:v>
                </c:pt>
                <c:pt idx="1">
                  <c:v>Part 2</c:v>
                </c:pt>
                <c:pt idx="2">
                  <c:v>Part 3</c:v>
                </c:pt>
                <c:pt idx="3">
                  <c:v>Part 4</c:v>
                </c:pt>
              </c:strCache>
            </c:strRef>
          </c:cat>
          <c:val>
            <c:numRef>
              <c:f>Sheet1!$B$2:$B$5</c:f>
              <c:numCache>
                <c:formatCode>General</c:formatCode>
                <c:ptCount val="4"/>
                <c:pt idx="0">
                  <c:v>8</c:v>
                </c:pt>
                <c:pt idx="1">
                  <c:v>9</c:v>
                </c:pt>
                <c:pt idx="2">
                  <c:v>5</c:v>
                </c:pt>
                <c:pt idx="3">
                  <c:v>3</c:v>
                </c:pt>
              </c:numCache>
            </c:numRef>
          </c:val>
        </c:ser>
        <c:dLbls>
          <c:numFmt formatCode="General" sourceLinked="0"/>
          <c:txPr>
            <a:bodyPr/>
            <a:lstStyle/>
            <a:p>
              <a:pPr>
                <a:defRPr sz="1000"/>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1000"/>
            </a:pPr>
          </a:p>
        </c:txPr>
        <c:crossAx val="-2113994440"/>
        <c:crosses val="autoZero"/>
        <c:auto val="1"/>
        <c:lblAlgn val="ctr"/>
        <c:lblOffset val="100"/>
        <c:noMultiLvlLbl val="0"/>
      </c:catAx>
      <c:valAx>
        <c:axId val="-2113994440"/>
        <c:scaling>
          <c:max val="11.0"/>
          <c:min val="0.0"/>
        </c:scaling>
        <c:delete val="0"/>
        <c:axPos val="l"/>
        <c:majorGridlines>
          <c:spPr>
            <a:ln>
              <a:solidFill>
                <a:srgbClr val="D9D2C3"/>
              </a:solidFill>
            </a:ln>
          </c:spPr>
        </c:majorGridlines>
        <c:majorTickMark val="out"/>
        <c:minorTickMark val="none"/>
        <c:tickLblPos val="nextTo"/>
        <c:spPr>
          <a:ln>
            <a:noFill/>
          </a:ln>
        </c:spPr>
        <c:txPr>
          <a:bodyPr/>
          <a:lstStyle/>
          <a:p>
            <a:pPr>
              <a:defRPr sz="1000"/>
            </a:pPr>
          </a:p>
        </c:txPr>
        <c:crossAx val="-2068027336"/>
        <c:crosses val="autoZero"/>
        <c:majorUnit val="2.0"/>
      </c:valAx>
    </c:plotArea>
    <c:dispBlanksAs val="gap"/>
  </c:chart>
  <c:txPr>
    <a:bodyPr/>
    <a:lstStyle/>
    <a:p>
      <a:pPr>
        <a:defRPr sz="1000">
          <a:solidFill>
            <a:srgbClr val="1F2933"/>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This chapter is about functions: how to define one, what goes in and out, where the names live, and what happens when something goes wrong. Every code slide shows the code, a plain explanation, and the result as a table, chart or drawing.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parts: defining and calling, the call stack and scope, handling errors, and short programs. Each code slide has its place in the chapter-code tab of the page, in this same order.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questions to carry through the chapter. What does a call do with its arguments and its result? And which names does a function see, and what happens when it fails?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A function is written once with def and used many times. Watch what goes in as arguments and what comes out as a return value, and what a missing return gives back.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recipe card is written once and cooked many times. That is a function. A black box is a vending machine: you press buttons and never see the machinery. Ask students for an everyday black box.</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 only stores the function. Each call runs the body once with its own value for name. Run it on the page, then add a third call.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pasted copy has a stray space and nobody sees it. The function holds the text once. This is deduplication: fix a thing in one place.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David Wheeler, with Wilkes and Gill, is credited with the closed subroutine around 1951. The jump to a subroutine was called the Wheeler jump. Ask students: what must a call remember so it can return?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Parameters are blank lines on the order form; arguments fill them. Return is the plate leaving the kitchen. None is the empty tray: the call finished, but nothing came back.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Parameters are the names in the def line; arguments are the values in the call. Matching is by position, so swapping the arguments swaps the meaning.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Return ends the call and hands a value back. The call expression is replaced by that value. Calls nest: the inner call runs first.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function without return gives back None. Shout printed but returned nothing. Len is different: it returns a number. Predict before the run.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Named parameters are switches with labels, so order does not matter. Print speaks, input listens, len measures. Ask students which of the three hands a value back.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 sets the separator and end sets what comes after the last value. Both are named parameters of print. The table shows the invisible characters.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default makes an argument optional. The star makes the parameters after it keyword-only, so they must be named in the call.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default list is made once, when def runs. Calls without bag share it. The safe habit is a default of None and a fresh list inside the body.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two. Every active call has a frame on the call stack. Names are looked up by scope rules: local first, then global. The global statement is the one exception.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call puts one sticky note on the pile. The top note is the running call. When it returns, the note is removed and the one below continues.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Inspect.stack lists the waiting frames. Subtract the base and you get the depth of each call. The drawing and the chart show the stack growing to three and shrinking back to zero.</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frame object belongs to one running call. It knows its code and its caller. Inner sees outer as its caller.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local variable is a notepad in one room. The global variable is the notice board in the hall. Rooms read the hall but never each other's notepads. Global is the written permission to write on the board.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Eggs exists only while make runs. After the return it is gone, so the lookup outside fails with a NameError.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function may read a global name. It may not read another function's local name. The green arrow is allowed, the red one is blocked.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scopes can each hold a name spam. They are three different variables. The table shows where each one lives.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Without the global statement, an assignment creates a local variable. With it, the assignment changes the global one. Compare the two values after each call.</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Nonlocal is the middle case: the name belongs to the enclosing function, not to the module. Each call of tick changes the same count. Python 3 added nonlocal; the book does not cover it.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Python scans the whole body. A name that is assigned is local, unless declared global. A name that is only read is global.</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body assigns eggs, so eggs is local everywhere in the function, also before the assignment. Reading it first raises UnboundLocalError, a kind of NameError.</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three. An error is an exception. Try marks the risky code; except says what to do. Where you put the try decides which statements still run.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Try is the act, except is the net. The traceback is the incident report. Ask students what a program should do when the net catches a fall.</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Try runs the risky code. If ZeroDivisionError is raised, except returns a message instead. The program goes on with the next call.</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Try inside the loop handles each call on its own. The failed call is reported and the loop carries on with the next value.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Try around all calls: the first error jumps to except and the remaining calls are skipped. The chart counts what completed.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tuple of types catches several kinds. As err gives the exception object. Python 3.14 allows the list without parentheses; older versions do not.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traceback is the stack of calls saved when the exception was raised. Extract tb lists them, oldest first. The drawing follows the path.</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PEP 758 was resolved on 14 March 2025 and ships in Python 3.14. Older versions reject the bare list, so the slides keep the parentheses. Ask students which Python version they run.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four. Two animation programs from the book, written to run without waiting, and one practice program, the Collatz sequence. Predict each result before the run.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Zigzag swings like a pendulum. Spike climbs and descends by squares. Both are small programs that combine loops, lists and functions.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band moves one place per step and turns at the edges. The chart shows the indent of each step: up to 20 and back down.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lines grow as squares and shrink again. The chart shows the lengths. Multiply a string by a number to get a line of that length.</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function is one step of the rule. A loop repeats it until the number reaches 1. The chart shows the path of 6.</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Lothar Collatz introduced his rule in 1937. Paul Erdős said mathematics may not be ready for such problems. The collatz function on the slide is the whole rule. Ask: why can a computer check but not prove?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Python moves on. One printed error message of the book has changed wording. Python 3.14 defers annotations and allows except without parentheses. Nonlocal is the middle case between local and global.</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sentences to keep. The chart counts the code examples of each part.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drills. Predict first, then run on the page. Ask students to explain each answer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book chapter and the Python tutorial. The stories link to first-hand sources. Choose one link and read it before the next class.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chart" Target="../charts/char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jpg"/><Relationship Id="rId4" Type="http://schemas.openxmlformats.org/officeDocument/2006/relationships/hyperlink" Target="https://en.wikipedia.org/wiki/David_Wheeler_(computer_scientist)"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chart" Target="../charts/char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chart" Target="../charts/char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chart" Target="../charts/char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chart" Target="../charts/char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chart" Target="../charts/char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chart" Target="../charts/char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chart" Target="../charts/chart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2.png"/><Relationship Id="rId4" Type="http://schemas.openxmlformats.org/officeDocument/2006/relationships/hyperlink" Target="https://peps.python.org/pep-0758/"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chart" Target="../charts/chart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chart" Target="../charts/chart1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chart" Target="../charts/chart1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3.jpg"/><Relationship Id="rId4" Type="http://schemas.openxmlformats.org/officeDocument/2006/relationships/hyperlink" Target="https://en.wikipedia.org/wiki/Collatz_conjecture"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chart" Target="../charts/chart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hyperlink" Target="https://automatetheboringstuff.com/3e/chapter4.html" TargetMode="External"/><Relationship Id="rId4" Type="http://schemas.openxmlformats.org/officeDocument/2006/relationships/hyperlink" Target="https://docs.python.org/3/tutorial/controlflow.html" TargetMode="External"/><Relationship Id="rId5" Type="http://schemas.openxmlformats.org/officeDocument/2006/relationships/hyperlink" Target="https://docs.python.org/3/tutorial/errors.html" TargetMode="External"/><Relationship Id="rId6" Type="http://schemas.openxmlformats.org/officeDocument/2006/relationships/hyperlink" Target="https://docs.python.org/3/reference/executionmodel.html" TargetMode="External"/><Relationship Id="rId7" Type="http://schemas.openxmlformats.org/officeDocument/2006/relationships/hyperlink" Target="https://docs.python.org/3/reference/simple_stmts.html" TargetMode="External"/><Relationship Id="rId8" Type="http://schemas.openxmlformats.org/officeDocument/2006/relationships/hyperlink" Target="https://docs.python.org/3/faq/programming.html" TargetMode="External"/><Relationship Id="rId9" Type="http://schemas.openxmlformats.org/officeDocument/2006/relationships/hyperlink" Target="https://docs.python.org/3/library/traceback.html" TargetMode="External"/><Relationship Id="rId10" Type="http://schemas.openxmlformats.org/officeDocument/2006/relationships/hyperlink" Target="https://docs.python.org/3/library/inspect.html" TargetMode="External"/><Relationship Id="rId11" Type="http://schemas.openxmlformats.org/officeDocument/2006/relationships/hyperlink" Target="https://docs.python.org/3/whatsnew/3.14.html" TargetMode="External"/><Relationship Id="rId12" Type="http://schemas.openxmlformats.org/officeDocument/2006/relationships/hyperlink" Target="https://peps.python.org/pep-0758/" TargetMode="External"/><Relationship Id="rId13" Type="http://schemas.openxmlformats.org/officeDocument/2006/relationships/hyperlink" Target="https://peps.python.org/pep-3102/" TargetMode="External"/><Relationship Id="rId14" Type="http://schemas.openxmlformats.org/officeDocument/2006/relationships/hyperlink" Target="https://en.wikipedia.org/wiki/David_Wheeler_(computer_scientist)" TargetMode="External"/><Relationship Id="rId15" Type="http://schemas.openxmlformats.org/officeDocument/2006/relationships/hyperlink" Target="https://en.wikipedia.org/wiki/Collatz_conjecture" TargetMode="External"/><Relationship Id="rId16" Type="http://schemas.openxmlformats.org/officeDocument/2006/relationships/hyperlink" Target="https://pythontutor.com"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548640" y="1554480"/>
            <a:ext cx="8046720" cy="822960"/>
          </a:xfrm>
          <a:prstGeom prst="rect">
            <a:avLst/>
          </a:prstGeom>
          <a:noFill/>
        </p:spPr>
        <p:txBody>
          <a:bodyPr wrap="square" lIns="45720" rIns="45720" tIns="27432" bIns="27432" anchor="ctr">
            <a:spAutoFit/>
          </a:bodyPr>
          <a:lstStyle/>
          <a:p>
            <a:r>
              <a:rPr sz="3800" b="1" i="0">
                <a:solidFill>
                  <a:srgbClr val="1F2933"/>
                </a:solidFill>
                <a:latin typeface="Calibri"/>
              </a:rPr>
              <a:t>Functions</a:t>
            </a:r>
          </a:p>
        </p:txBody>
      </p:sp>
      <p:sp>
        <p:nvSpPr>
          <p:cNvPr id="4" name="subtitle"/>
          <p:cNvSpPr txBox="1"/>
          <p:nvPr/>
        </p:nvSpPr>
        <p:spPr>
          <a:xfrm>
            <a:off x="548640" y="2423160"/>
            <a:ext cx="8046720" cy="640080"/>
          </a:xfrm>
          <a:prstGeom prst="rect">
            <a:avLst/>
          </a:prstGeom>
          <a:noFill/>
        </p:spPr>
        <p:txBody>
          <a:bodyPr wrap="square" lIns="45720" rIns="45720" tIns="27432" bIns="27432" anchor="t">
            <a:spAutoFit/>
          </a:bodyPr>
          <a:lstStyle/>
          <a:p>
            <a:r>
              <a:rPr sz="1600" b="0" i="0">
                <a:solidFill>
                  <a:srgbClr val="5B6773"/>
                </a:solidFill>
                <a:latin typeface="Calibri"/>
              </a:rPr>
              <a:t>Chapter 4 of Automate the Boring Stuff with Python, 3rd edition, for an advanced course</a:t>
            </a:r>
          </a:p>
        </p:txBody>
      </p:sp>
      <p:sp>
        <p:nvSpPr>
          <p:cNvPr id="5" name="card"/>
          <p:cNvSpPr/>
          <p:nvPr/>
        </p:nvSpPr>
        <p:spPr>
          <a:xfrm>
            <a:off x="548640" y="3200400"/>
            <a:ext cx="2560320" cy="1051560"/>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tat"/>
          <p:cNvSpPr txBox="1"/>
          <p:nvPr/>
        </p:nvSpPr>
        <p:spPr>
          <a:xfrm>
            <a:off x="640080" y="3246120"/>
            <a:ext cx="2377440" cy="457200"/>
          </a:xfrm>
          <a:prstGeom prst="rect">
            <a:avLst/>
          </a:prstGeom>
          <a:noFill/>
        </p:spPr>
        <p:txBody>
          <a:bodyPr wrap="square" lIns="45720" rIns="45720" tIns="27432" bIns="27432" anchor="t">
            <a:spAutoFit/>
          </a:bodyPr>
          <a:lstStyle/>
          <a:p>
            <a:r>
              <a:rPr sz="2800" b="1" i="0">
                <a:solidFill>
                  <a:srgbClr val="0E7C86"/>
                </a:solidFill>
                <a:latin typeface="Calibri"/>
              </a:rPr>
              <a:t>25</a:t>
            </a:r>
          </a:p>
        </p:txBody>
      </p:sp>
      <p:sp>
        <p:nvSpPr>
          <p:cNvPr id="7" name="stat label"/>
          <p:cNvSpPr txBox="1"/>
          <p:nvPr/>
        </p:nvSpPr>
        <p:spPr>
          <a:xfrm>
            <a:off x="640080" y="3703320"/>
            <a:ext cx="2377440" cy="502920"/>
          </a:xfrm>
          <a:prstGeom prst="rect">
            <a:avLst/>
          </a:prstGeom>
          <a:noFill/>
        </p:spPr>
        <p:txBody>
          <a:bodyPr wrap="square" lIns="45720" rIns="45720" tIns="27432" bIns="27432" anchor="t">
            <a:spAutoFit/>
          </a:bodyPr>
          <a:lstStyle/>
          <a:p>
            <a:r>
              <a:rPr sz="1150" b="0" i="0">
                <a:solidFill>
                  <a:srgbClr val="1F2933"/>
                </a:solidFill>
                <a:latin typeface="Calibri"/>
              </a:rPr>
              <a:t>code examples that run on the chapter page</a:t>
            </a:r>
          </a:p>
        </p:txBody>
      </p:sp>
      <p:sp>
        <p:nvSpPr>
          <p:cNvPr id="8" name="card"/>
          <p:cNvSpPr/>
          <p:nvPr/>
        </p:nvSpPr>
        <p:spPr>
          <a:xfrm>
            <a:off x="3291840" y="3200400"/>
            <a:ext cx="2560320" cy="1051560"/>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tat"/>
          <p:cNvSpPr txBox="1"/>
          <p:nvPr/>
        </p:nvSpPr>
        <p:spPr>
          <a:xfrm>
            <a:off x="3383280" y="3246120"/>
            <a:ext cx="2377440" cy="457200"/>
          </a:xfrm>
          <a:prstGeom prst="rect">
            <a:avLst/>
          </a:prstGeom>
          <a:noFill/>
        </p:spPr>
        <p:txBody>
          <a:bodyPr wrap="square" lIns="45720" rIns="45720" tIns="27432" bIns="27432" anchor="t">
            <a:spAutoFit/>
          </a:bodyPr>
          <a:lstStyle/>
          <a:p>
            <a:r>
              <a:rPr sz="2800" b="1" i="0">
                <a:solidFill>
                  <a:srgbClr val="0E7C86"/>
                </a:solidFill>
                <a:latin typeface="Calibri"/>
              </a:rPr>
              <a:t>3</a:t>
            </a:r>
          </a:p>
        </p:txBody>
      </p:sp>
      <p:sp>
        <p:nvSpPr>
          <p:cNvPr id="10" name="stat label"/>
          <p:cNvSpPr txBox="1"/>
          <p:nvPr/>
        </p:nvSpPr>
        <p:spPr>
          <a:xfrm>
            <a:off x="3383280" y="3703320"/>
            <a:ext cx="2377440" cy="502920"/>
          </a:xfrm>
          <a:prstGeom prst="rect">
            <a:avLst/>
          </a:prstGeom>
          <a:noFill/>
        </p:spPr>
        <p:txBody>
          <a:bodyPr wrap="square" lIns="45720" rIns="45720" tIns="27432" bIns="27432" anchor="t">
            <a:spAutoFit/>
          </a:bodyPr>
          <a:lstStyle/>
          <a:p>
            <a:r>
              <a:rPr sz="1150" b="0" i="0">
                <a:solidFill>
                  <a:srgbClr val="1F2933"/>
                </a:solidFill>
                <a:latin typeface="Calibri"/>
              </a:rPr>
              <a:t>true stories with who, what, when, where, why and how</a:t>
            </a:r>
          </a:p>
        </p:txBody>
      </p:sp>
      <p:sp>
        <p:nvSpPr>
          <p:cNvPr id="11" name="card"/>
          <p:cNvSpPr/>
          <p:nvPr/>
        </p:nvSpPr>
        <p:spPr>
          <a:xfrm>
            <a:off x="6035040" y="3200400"/>
            <a:ext cx="2560320" cy="1051560"/>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tat"/>
          <p:cNvSpPr txBox="1"/>
          <p:nvPr/>
        </p:nvSpPr>
        <p:spPr>
          <a:xfrm>
            <a:off x="6126479" y="3246120"/>
            <a:ext cx="2377440" cy="457200"/>
          </a:xfrm>
          <a:prstGeom prst="rect">
            <a:avLst/>
          </a:prstGeom>
          <a:noFill/>
        </p:spPr>
        <p:txBody>
          <a:bodyPr wrap="square" lIns="45720" rIns="45720" tIns="27432" bIns="27432" anchor="t">
            <a:spAutoFit/>
          </a:bodyPr>
          <a:lstStyle/>
          <a:p>
            <a:r>
              <a:rPr sz="2800" b="1" i="0">
                <a:solidFill>
                  <a:srgbClr val="0E7C86"/>
                </a:solidFill>
                <a:latin typeface="Calibri"/>
              </a:rPr>
              <a:t>37</a:t>
            </a:r>
          </a:p>
        </p:txBody>
      </p:sp>
      <p:sp>
        <p:nvSpPr>
          <p:cNvPr id="13" name="stat label"/>
          <p:cNvSpPr txBox="1"/>
          <p:nvPr/>
        </p:nvSpPr>
        <p:spPr>
          <a:xfrm>
            <a:off x="6126479" y="3703320"/>
            <a:ext cx="2377440" cy="502920"/>
          </a:xfrm>
          <a:prstGeom prst="rect">
            <a:avLst/>
          </a:prstGeom>
          <a:noFill/>
        </p:spPr>
        <p:txBody>
          <a:bodyPr wrap="square" lIns="45720" rIns="45720" tIns="27432" bIns="27432" anchor="t">
            <a:spAutoFit/>
          </a:bodyPr>
          <a:lstStyle/>
          <a:p>
            <a:r>
              <a:rPr sz="1150" b="0" i="0">
                <a:solidFill>
                  <a:srgbClr val="1F2933"/>
                </a:solidFill>
                <a:latin typeface="Calibri"/>
              </a:rPr>
              <a:t>distinct chapter concepts, each with an everyday picture</a:t>
            </a:r>
          </a:p>
        </p:txBody>
      </p:sp>
      <p:sp>
        <p:nvSpPr>
          <p:cNvPr id="14" name="author"/>
          <p:cNvSpPr txBox="1"/>
          <p:nvPr/>
        </p:nvSpPr>
        <p:spPr>
          <a:xfrm>
            <a:off x="548640" y="4434840"/>
            <a:ext cx="7315200" cy="274320"/>
          </a:xfrm>
          <a:prstGeom prst="rect">
            <a:avLst/>
          </a:prstGeom>
          <a:noFill/>
        </p:spPr>
        <p:txBody>
          <a:bodyPr wrap="square" lIns="45720" rIns="45720" tIns="27432" bIns="27432" anchor="t">
            <a:spAutoFit/>
          </a:bodyPr>
          <a:lstStyle/>
          <a:p>
            <a:r>
              <a:rPr sz="1100" b="0" i="0">
                <a:solidFill>
                  <a:srgbClr val="5B6773"/>
                </a:solidFill>
                <a:latin typeface="Calibri"/>
              </a:rPr>
              <a:t>SEN0414 Advanced Programming, Fall 2026. Yusuf Altunel, İstanbul Kültür Üniversitesi</a:t>
            </a:r>
          </a:p>
        </p:txBody>
      </p:sp>
      <p:sp>
        <p:nvSpPr>
          <p:cNvPr id="1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 / 46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Today's route</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Four parts; every range is a run of slides you can jump to</a:t>
            </a:r>
          </a:p>
        </p:txBody>
      </p:sp>
      <p:graphicFrame>
        <p:nvGraphicFramePr>
          <p:cNvPr id="5" name="table"/>
          <p:cNvGraphicFramePr>
            <a:graphicFrameLocks noGrp="1"/>
          </p:cNvGraphicFramePr>
          <p:nvPr/>
        </p:nvGraphicFramePr>
        <p:xfrm>
          <a:off x="457200" y="1097280"/>
          <a:ext cx="8229598" cy="3017520"/>
        </p:xfrm>
        <a:graphic>
          <a:graphicData uri="http://schemas.openxmlformats.org/drawingml/2006/table">
            <a:tbl>
              <a:tblPr firstRow="0" bandRow="0"/>
              <a:tblGrid>
                <a:gridCol w="2683565"/>
                <a:gridCol w="983973"/>
                <a:gridCol w="1162878"/>
                <a:gridCol w="3399182"/>
              </a:tblGrid>
              <a:tr h="502920">
                <a:tc>
                  <a:txBody>
                    <a:bodyPr wrap="square"/>
                    <a:lstStyle/>
                    <a:p>
                      <a:r>
                        <a:rPr sz="1350" b="1" i="0">
                          <a:solidFill>
                            <a:srgbClr val="FFFFFF"/>
                          </a:solidFill>
                          <a:latin typeface="Calibri"/>
                        </a:rPr>
                        <a:t>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50" b="1" i="0">
                          <a:solidFill>
                            <a:srgbClr val="FFFFFF"/>
                          </a:solidFill>
                          <a:latin typeface="Calibri"/>
                        </a:rPr>
                        <a:t>Slides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50" b="1" i="0">
                          <a:solidFill>
                            <a:srgbClr val="FFFFFF"/>
                          </a:solidFill>
                          <a:latin typeface="Calibri"/>
                        </a:rPr>
                        <a:t>Code examples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50" b="1" i="0">
                          <a:solidFill>
                            <a:srgbClr val="FFFFFF"/>
                          </a:solidFill>
                          <a:latin typeface="Calibri"/>
                        </a:rPr>
                        <a:t>You will run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502920">
                <a:tc>
                  <a:txBody>
                    <a:bodyPr wrap="square"/>
                    <a:lstStyle/>
                    <a:p>
                      <a:r>
                        <a:rPr sz="1350" b="1" i="0">
                          <a:solidFill>
                            <a:srgbClr val="1F2933"/>
                          </a:solidFill>
                          <a:latin typeface="Calibri"/>
                        </a:rPr>
                        <a:t>Defining and calling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50" b="0" i="0">
                          <a:solidFill>
                            <a:srgbClr val="1F2933"/>
                          </a:solidFill>
                          <a:latin typeface="Calibri"/>
                        </a:rPr>
                        <a:t>4 - 16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50" b="0" i="0">
                          <a:solidFill>
                            <a:srgbClr val="1F2933"/>
                          </a:solidFill>
                          <a:latin typeface="Calibri"/>
                        </a:rPr>
                        <a:t>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50" b="0" i="0">
                          <a:solidFill>
                            <a:srgbClr val="1F2933"/>
                          </a:solidFill>
                          <a:latin typeface="Calibri"/>
                        </a:rPr>
                        <a:t>def, return, None, sep, end, defaults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502920">
                <a:tc>
                  <a:txBody>
                    <a:bodyPr wrap="square"/>
                    <a:lstStyle/>
                    <a:p>
                      <a:r>
                        <a:rPr sz="1350" b="1" i="0">
                          <a:solidFill>
                            <a:srgbClr val="1F2933"/>
                          </a:solidFill>
                          <a:latin typeface="Calibri"/>
                        </a:rPr>
                        <a:t>The call stack and scope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50" b="0" i="0">
                          <a:solidFill>
                            <a:srgbClr val="1F2933"/>
                          </a:solidFill>
                          <a:latin typeface="Calibri"/>
                        </a:rPr>
                        <a:t>17 - 28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50" b="0" i="0">
                          <a:solidFill>
                            <a:srgbClr val="1F2933"/>
                          </a:solidFill>
                          <a:latin typeface="Calibri"/>
                        </a:rPr>
                        <a:t>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50" b="0" i="0">
                          <a:solidFill>
                            <a:srgbClr val="1F2933"/>
                          </a:solidFill>
                          <a:latin typeface="Calibri"/>
                        </a:rPr>
                        <a:t>stack, frames, scopes, global, nonlocal, UnboundLocalError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502920">
                <a:tc>
                  <a:txBody>
                    <a:bodyPr wrap="square"/>
                    <a:lstStyle/>
                    <a:p>
                      <a:r>
                        <a:rPr sz="1350" b="1" i="0">
                          <a:solidFill>
                            <a:srgbClr val="1F2933"/>
                          </a:solidFill>
                          <a:latin typeface="Calibri"/>
                        </a:rPr>
                        <a:t>Handling errors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50" b="0" i="0">
                          <a:solidFill>
                            <a:srgbClr val="1F2933"/>
                          </a:solidFill>
                          <a:latin typeface="Calibri"/>
                        </a:rPr>
                        <a:t>29 - 36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50" b="0" i="0">
                          <a:solidFill>
                            <a:srgbClr val="1F2933"/>
                          </a:solidFill>
                          <a:latin typeface="Calibri"/>
                        </a:rPr>
                        <a:t>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50" b="0" i="0">
                          <a:solidFill>
                            <a:srgbClr val="1F2933"/>
                          </a:solidFill>
                          <a:latin typeface="Calibri"/>
                        </a:rPr>
                        <a:t>try, except, placement, traceback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502920">
                <a:tc>
                  <a:txBody>
                    <a:bodyPr wrap="square"/>
                    <a:lstStyle/>
                    <a:p>
                      <a:r>
                        <a:rPr sz="1350" b="1" i="0">
                          <a:solidFill>
                            <a:srgbClr val="1F2933"/>
                          </a:solidFill>
                          <a:latin typeface="Calibri"/>
                        </a:rPr>
                        <a:t>Short programs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50" b="0" i="0">
                          <a:solidFill>
                            <a:srgbClr val="1F2933"/>
                          </a:solidFill>
                          <a:latin typeface="Calibri"/>
                        </a:rPr>
                        <a:t>37 - 42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50" b="0" i="0">
                          <a:solidFill>
                            <a:srgbClr val="1F2933"/>
                          </a:solidFill>
                          <a:latin typeface="Calibri"/>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50" b="0" i="0">
                          <a:solidFill>
                            <a:srgbClr val="1F2933"/>
                          </a:solidFill>
                          <a:latin typeface="Calibri"/>
                        </a:rPr>
                        <a:t>Zigzag, Spike, Collatz</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502920">
                <a:tc>
                  <a:txBody>
                    <a:bodyPr wrap="square"/>
                    <a:lstStyle/>
                    <a:p>
                      <a:r>
                        <a:rPr sz="1350" b="1" i="0">
                          <a:solidFill>
                            <a:srgbClr val="1F2933"/>
                          </a:solidFill>
                          <a:latin typeface="Calibri"/>
                        </a:rPr>
                        <a:t>Changes, summary, practice, resources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50" b="0" i="0">
                          <a:solidFill>
                            <a:srgbClr val="1F2933"/>
                          </a:solidFill>
                          <a:latin typeface="Calibri"/>
                        </a:rPr>
                        <a:t>43 - 46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50" b="0" i="0">
                          <a:solidFill>
                            <a:srgbClr val="1F2933"/>
                          </a:solidFill>
                          <a:latin typeface="Calibri"/>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50" b="0" i="0">
                          <a:solidFill>
                            <a:srgbClr val="1F2933"/>
                          </a:solidFill>
                          <a:latin typeface="Calibri"/>
                        </a:rPr>
                        <a:t>what current Python adds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6"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Open the chapter-code tab of the page: the same 25 examples, in this order.</a:t>
            </a:r>
          </a:p>
        </p:txBody>
      </p:sp>
      <p:sp>
        <p:nvSpPr>
          <p:cNvPr id="8"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 / 46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Two questions this chapter answers</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Carry them through every part; the answers come back at the end</a:t>
            </a:r>
          </a:p>
        </p:txBody>
      </p:sp>
      <p:sp>
        <p:nvSpPr>
          <p:cNvPr id="5" name="card"/>
          <p:cNvSpPr/>
          <p:nvPr/>
        </p:nvSpPr>
        <p:spPr>
          <a:xfrm>
            <a:off x="457200" y="1188720"/>
            <a:ext cx="8229600" cy="1417320"/>
          </a:xfrm>
          <a:prstGeom prst="roundRect">
            <a:avLst>
              <a:gd name="adj" fmla="val 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371600"/>
            <a:ext cx="457200" cy="45720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800" b="1" i="0">
                <a:solidFill>
                  <a:srgbClr val="FFFFFF"/>
                </a:solidFill>
                <a:latin typeface="Calibri"/>
              </a:rPr>
              <a:t>1</a:t>
            </a:r>
          </a:p>
        </p:txBody>
      </p:sp>
      <p:sp>
        <p:nvSpPr>
          <p:cNvPr id="7" name="question"/>
          <p:cNvSpPr txBox="1"/>
          <p:nvPr/>
        </p:nvSpPr>
        <p:spPr>
          <a:xfrm>
            <a:off x="1280160" y="1298448"/>
            <a:ext cx="7223760" cy="685800"/>
          </a:xfrm>
          <a:prstGeom prst="rect">
            <a:avLst/>
          </a:prstGeom>
          <a:noFill/>
        </p:spPr>
        <p:txBody>
          <a:bodyPr wrap="square" lIns="45720" rIns="45720" tIns="27432" bIns="27432" anchor="ctr">
            <a:spAutoFit/>
          </a:bodyPr>
          <a:lstStyle/>
          <a:p>
            <a:r>
              <a:rPr sz="1600" b="1" i="0">
                <a:solidFill>
                  <a:srgbClr val="1F2933"/>
                </a:solidFill>
                <a:latin typeface="Calibri"/>
              </a:rPr>
              <a:t>What does a call do with its arguments, and what comes back from it?</a:t>
            </a:r>
          </a:p>
        </p:txBody>
      </p:sp>
      <p:sp>
        <p:nvSpPr>
          <p:cNvPr id="8" name="answer"/>
          <p:cNvSpPr txBox="1"/>
          <p:nvPr/>
        </p:nvSpPr>
        <p:spPr>
          <a:xfrm>
            <a:off x="1280160" y="2057400"/>
            <a:ext cx="7223760" cy="411480"/>
          </a:xfrm>
          <a:prstGeom prst="rect">
            <a:avLst/>
          </a:prstGeom>
          <a:noFill/>
        </p:spPr>
        <p:txBody>
          <a:bodyPr wrap="square" lIns="45720" rIns="45720" tIns="27432" bIns="27432" anchor="ctr">
            <a:spAutoFit/>
          </a:bodyPr>
          <a:lstStyle/>
          <a:p>
            <a:r>
              <a:rPr sz="1250" b="0" i="0">
                <a:solidFill>
                  <a:srgbClr val="0E7C86"/>
                </a:solidFill>
                <a:latin typeface="Calibri"/>
              </a:rPr>
              <a:t>Answer on slides 10 and 11: arguments fill parameters; return hands the value back, or None.</a:t>
            </a:r>
          </a:p>
        </p:txBody>
      </p:sp>
      <p:sp>
        <p:nvSpPr>
          <p:cNvPr id="9" name="card"/>
          <p:cNvSpPr/>
          <p:nvPr/>
        </p:nvSpPr>
        <p:spPr>
          <a:xfrm>
            <a:off x="457200" y="2788920"/>
            <a:ext cx="8229600" cy="1417320"/>
          </a:xfrm>
          <a:prstGeom prst="roundRect">
            <a:avLst>
              <a:gd name="adj" fmla="val 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0080" y="2971800"/>
            <a:ext cx="457200" cy="45720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800" b="1" i="0">
                <a:solidFill>
                  <a:srgbClr val="FFFFFF"/>
                </a:solidFill>
                <a:latin typeface="Calibri"/>
              </a:rPr>
              <a:t>2</a:t>
            </a:r>
          </a:p>
        </p:txBody>
      </p:sp>
      <p:sp>
        <p:nvSpPr>
          <p:cNvPr id="11" name="question"/>
          <p:cNvSpPr txBox="1"/>
          <p:nvPr/>
        </p:nvSpPr>
        <p:spPr>
          <a:xfrm>
            <a:off x="1280160" y="2898648"/>
            <a:ext cx="7223760" cy="685800"/>
          </a:xfrm>
          <a:prstGeom prst="rect">
            <a:avLst/>
          </a:prstGeom>
          <a:noFill/>
        </p:spPr>
        <p:txBody>
          <a:bodyPr wrap="square" lIns="45720" rIns="45720" tIns="27432" bIns="27432" anchor="ctr">
            <a:spAutoFit/>
          </a:bodyPr>
          <a:lstStyle/>
          <a:p>
            <a:r>
              <a:rPr sz="1600" b="1" i="0">
                <a:solidFill>
                  <a:srgbClr val="1F2933"/>
                </a:solidFill>
                <a:latin typeface="Calibri"/>
              </a:rPr>
              <a:t>Which names can a function see, and what happens when it fails?</a:t>
            </a:r>
          </a:p>
        </p:txBody>
      </p:sp>
      <p:sp>
        <p:nvSpPr>
          <p:cNvPr id="12" name="answer"/>
          <p:cNvSpPr txBox="1"/>
          <p:nvPr/>
        </p:nvSpPr>
        <p:spPr>
          <a:xfrm>
            <a:off x="1280160" y="3657600"/>
            <a:ext cx="7223760" cy="411480"/>
          </a:xfrm>
          <a:prstGeom prst="rect">
            <a:avLst/>
          </a:prstGeom>
          <a:noFill/>
        </p:spPr>
        <p:txBody>
          <a:bodyPr wrap="square" lIns="45720" rIns="45720" tIns="27432" bIns="27432" anchor="ctr">
            <a:spAutoFit/>
          </a:bodyPr>
          <a:lstStyle/>
          <a:p>
            <a:r>
              <a:rPr sz="1250" b="0" i="0">
                <a:solidFill>
                  <a:srgbClr val="0E7C86"/>
                </a:solidFill>
                <a:latin typeface="Calibri"/>
              </a:rPr>
              <a:t>Answer on slides 23 and 31: local and global scope, then try and except.</a:t>
            </a:r>
          </a:p>
        </p:txBody>
      </p:sp>
      <p:sp>
        <p:nvSpPr>
          <p:cNvPr id="1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call passes values in, may hand a value back, and may fail.</a:t>
            </a:r>
          </a:p>
        </p:txBody>
      </p:sp>
      <p:sp>
        <p:nvSpPr>
          <p:cNvPr id="1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 / 46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3000" b="1" i="0">
                <a:solidFill>
                  <a:srgbClr val="1F2933"/>
                </a:solidFill>
                <a:latin typeface="Calibri"/>
              </a:rPr>
              <a:t>Part 1: Defining and calling</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def, arguments, return values, None and named parameters</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def and call</a:t>
            </a:r>
          </a:p>
        </p:txBody>
      </p:sp>
      <p:sp>
        <p:nvSpPr>
          <p:cNvPr id="6" name="meaning"/>
          <p:cNvSpPr txBox="1"/>
          <p:nvPr/>
        </p:nvSpPr>
        <p:spPr>
          <a:xfrm>
            <a:off x="2606040" y="1417320"/>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def stores a function; a call runs it.</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Parameter</a:t>
            </a:r>
          </a:p>
        </p:txBody>
      </p:sp>
      <p:sp>
        <p:nvSpPr>
          <p:cNvPr id="8" name="meaning"/>
          <p:cNvSpPr txBox="1"/>
          <p:nvPr/>
        </p:nvSpPr>
        <p:spPr>
          <a:xfrm>
            <a:off x="2606040" y="2075688"/>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A name in the def line that a call fills with an argument.</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return and None</a:t>
            </a:r>
          </a:p>
        </p:txBody>
      </p:sp>
      <p:sp>
        <p:nvSpPr>
          <p:cNvPr id="10" name="meaning"/>
          <p:cNvSpPr txBox="1"/>
          <p:nvPr/>
        </p:nvSpPr>
        <p:spPr>
          <a:xfrm>
            <a:off x="2606040" y="2734056"/>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return hands a value back; no return gives back None.</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Named parameters</a:t>
            </a:r>
          </a:p>
        </p:txBody>
      </p:sp>
      <p:sp>
        <p:nvSpPr>
          <p:cNvPr id="12" name="meaning"/>
          <p:cNvSpPr txBox="1"/>
          <p:nvPr/>
        </p:nvSpPr>
        <p:spPr>
          <a:xfrm>
            <a:off x="2606040" y="3392424"/>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Labels such as sep and end, and defaults that are made once.</a:t>
            </a:r>
          </a:p>
        </p:txBody>
      </p:sp>
      <p:graphicFrame>
        <p:nvGraphicFramePr>
          <p:cNvPr id="13" name="table"/>
          <p:cNvGraphicFramePr>
            <a:graphicFrameLocks noGrp="1"/>
          </p:cNvGraphicFramePr>
          <p:nvPr/>
        </p:nvGraphicFramePr>
        <p:xfrm>
          <a:off x="5303520" y="1417320"/>
          <a:ext cx="3474719" cy="3200400"/>
        </p:xfrm>
        <a:graphic>
          <a:graphicData uri="http://schemas.openxmlformats.org/drawingml/2006/table">
            <a:tbl>
              <a:tblPr firstRow="0" bandRow="0"/>
              <a:tblGrid>
                <a:gridCol w="507543"/>
                <a:gridCol w="2967176"/>
              </a:tblGrid>
              <a:tr h="320040">
                <a:tc>
                  <a:txBody>
                    <a:bodyPr wrap="square"/>
                    <a:lstStyle/>
                    <a:p>
                      <a:r>
                        <a:rPr sz="105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20040">
                <a:tc>
                  <a:txBody>
                    <a:bodyPr wrap="square"/>
                    <a:lstStyle/>
                    <a:p>
                      <a:r>
                        <a:rPr sz="1050" b="0" i="0">
                          <a:solidFill>
                            <a:srgbClr val="1F2933"/>
                          </a:solidFill>
                          <a:latin typeface="Calibri"/>
                        </a:rPr>
                        <a:t>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def defines a function; a call runs 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20040">
                <a:tc>
                  <a:txBody>
                    <a:bodyPr wrap="square"/>
                    <a:lstStyle/>
                    <a:p>
                      <a:r>
                        <a:rPr sz="1050" b="0" i="0">
                          <a:solidFill>
                            <a:srgbClr val="1F2933"/>
                          </a:solidFill>
                          <a:latin typeface="Calibri"/>
                        </a:rPr>
                        <a:t>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Deduplication: a function replaces cop...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20040">
                <a:tc>
                  <a:txBody>
                    <a:bodyPr wrap="square"/>
                    <a:lstStyle/>
                    <a:p>
                      <a:r>
                        <a:rPr sz="1050" b="0" i="0">
                          <a:solidFill>
                            <a:srgbClr val="1F2933"/>
                          </a:solidFill>
                          <a:latin typeface="Calibri"/>
                        </a:rPr>
                        <a:t>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Story: the function is invented in Cam...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20040">
                <a:tc>
                  <a:txBody>
                    <a:bodyPr wrap="square"/>
                    <a:lstStyle/>
                    <a:p>
                      <a:r>
                        <a:rPr sz="1050" b="0" i="0">
                          <a:solidFill>
                            <a:srgbClr val="1F2933"/>
                          </a:solidFill>
                          <a:latin typeface="Calibri"/>
                        </a:rPr>
                        <a:t>10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Arguments fill the parameters, in order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20040">
                <a:tc>
                  <a:txBody>
                    <a:bodyPr wrap="square"/>
                    <a:lstStyle/>
                    <a:p>
                      <a:r>
                        <a:rPr sz="1050" b="0" i="0">
                          <a:solidFill>
                            <a:srgbClr val="1F2933"/>
                          </a:solidFill>
                          <a:latin typeface="Calibri"/>
                        </a:rPr>
                        <a:t>11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return hands a value back to the caller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20040">
                <a:tc>
                  <a:txBody>
                    <a:bodyPr wrap="square"/>
                    <a:lstStyle/>
                    <a:p>
                      <a:r>
                        <a:rPr sz="1050" b="0" i="0">
                          <a:solidFill>
                            <a:srgbClr val="1F2933"/>
                          </a:solidFill>
                          <a:latin typeface="Calibri"/>
                        </a:rPr>
                        <a:t>12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None: what a function gives back witho...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20040">
                <a:tc>
                  <a:txBody>
                    <a:bodyPr wrap="square"/>
                    <a:lstStyle/>
                    <a:p>
                      <a:r>
                        <a:rPr sz="1050" b="0" i="0">
                          <a:solidFill>
                            <a:srgbClr val="1F2933"/>
                          </a:solidFill>
                          <a:latin typeface="Calibri"/>
                        </a:rPr>
                        <a:t>14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Named parameters: sep and end of print()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20040">
                <a:tc>
                  <a:txBody>
                    <a:bodyPr wrap="square"/>
                    <a:lstStyle/>
                    <a:p>
                      <a:r>
                        <a:rPr sz="1050" b="0" i="0">
                          <a:solidFill>
                            <a:srgbClr val="1F2933"/>
                          </a:solidFill>
                          <a:latin typeface="Calibri"/>
                        </a:rPr>
                        <a:t>15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Default values and keyword-only parame...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20040">
                <a:tc>
                  <a:txBody>
                    <a:bodyPr wrap="square"/>
                    <a:lstStyle/>
                    <a:p>
                      <a:r>
                        <a:rPr sz="1050" b="0" i="0">
                          <a:solidFill>
                            <a:srgbClr val="1F2933"/>
                          </a:solidFill>
                          <a:latin typeface="Calibri"/>
                        </a:rPr>
                        <a:t>16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A default value is made once: the shar...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 / 46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defining a function</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548640"/>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A function is a recipe card: written once, cooked whenever you call it.</a:t>
            </a:r>
          </a:p>
        </p:txBody>
      </p:sp>
      <p:graphicFrame>
        <p:nvGraphicFramePr>
          <p:cNvPr id="6" name="table"/>
          <p:cNvGraphicFramePr>
            <a:graphicFrameLocks noGrp="1"/>
          </p:cNvGraphicFramePr>
          <p:nvPr/>
        </p:nvGraphicFramePr>
        <p:xfrm>
          <a:off x="365760" y="1463040"/>
          <a:ext cx="8412480" cy="3108959"/>
        </p:xfrm>
        <a:graphic>
          <a:graphicData uri="http://schemas.openxmlformats.org/drawingml/2006/table">
            <a:tbl>
              <a:tblPr firstRow="0" bandRow="0"/>
              <a:tblGrid>
                <a:gridCol w="3383280"/>
                <a:gridCol w="5029200"/>
              </a:tblGrid>
              <a:tr h="444137">
                <a:tc>
                  <a:txBody>
                    <a:bodyPr wrap="square"/>
                    <a:lstStyle/>
                    <a:p>
                      <a:r>
                        <a:rPr sz="12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2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444137">
                <a:tc>
                  <a:txBody>
                    <a:bodyPr wrap="square"/>
                    <a:lstStyle/>
                    <a:p>
                      <a:r>
                        <a:rPr sz="1200" b="1" i="0">
                          <a:solidFill>
                            <a:srgbClr val="1F2933"/>
                          </a:solidFill>
                          <a:latin typeface="Calibri"/>
                        </a:rPr>
                        <a:t>Creating Functions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Writing a recipe card once and filing it in the box.</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44137">
                <a:tc>
                  <a:txBody>
                    <a:bodyPr wrap="square"/>
                    <a:lstStyle/>
                    <a:p>
                      <a:r>
                        <a:rPr sz="1200" b="1" i="0">
                          <a:solidFill>
                            <a:srgbClr val="1F2933"/>
                          </a:solidFill>
                          <a:latin typeface="Calibri"/>
                        </a:rPr>
                        <a:t>function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A recipe card with a name; the name is how you ask for 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44137">
                <a:tc>
                  <a:txBody>
                    <a:bodyPr wrap="square"/>
                    <a:lstStyle/>
                    <a:p>
                      <a:r>
                        <a:rPr sz="1200" b="1" i="0">
                          <a:solidFill>
                            <a:srgbClr val="1F2933"/>
                          </a:solidFill>
                          <a:latin typeface="Calibri"/>
                        </a:rPr>
                        <a:t>function call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Taking the card out and cooking the dish once.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44137">
                <a:tc>
                  <a:txBody>
                    <a:bodyPr wrap="square"/>
                    <a:lstStyle/>
                    <a:p>
                      <a:r>
                        <a:rPr sz="1200" b="1" i="0">
                          <a:solidFill>
                            <a:srgbClr val="1F2933"/>
                          </a:solidFill>
                          <a:latin typeface="Calibri"/>
                        </a:rPr>
                        <a:t>def</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Writing the recipe down without cooking anything yet.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44137">
                <a:tc>
                  <a:txBody>
                    <a:bodyPr wrap="square"/>
                    <a:lstStyle/>
                    <a:p>
                      <a:r>
                        <a:rPr sz="1200" b="1" i="0">
                          <a:solidFill>
                            <a:srgbClr val="1F2933"/>
                          </a:solidFill>
                          <a:latin typeface="Calibri"/>
                        </a:rPr>
                        <a:t>deduplication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One recipe card, not three hand-copied ones that drift apart.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44137">
                <a:tc>
                  <a:txBody>
                    <a:bodyPr wrap="square"/>
                    <a:lstStyle/>
                    <a:p>
                      <a:r>
                        <a:rPr sz="1200" b="1" i="0">
                          <a:solidFill>
                            <a:srgbClr val="1F2933"/>
                          </a:solidFill>
                          <a:latin typeface="Calibri"/>
                        </a:rPr>
                        <a:t>black box</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A vending machine: you see the buttons, not the machinery.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5 / 46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def defines a function; a call runs it</a:t>
            </a:r>
          </a:p>
        </p:txBody>
      </p:sp>
      <p:sp>
        <p:nvSpPr>
          <p:cNvPr id="4" name="code"/>
          <p:cNvSpPr/>
          <p:nvPr/>
        </p:nvSpPr>
        <p:spPr>
          <a:xfrm>
            <a:off x="365760" y="841248"/>
            <a:ext cx="3563111" cy="61671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C9A0FF"/>
                </a:solidFill>
                <a:latin typeface="Courier New"/>
              </a:rPr>
              <a:t>def</a:t>
            </a:r>
            <a:r>
              <a:rPr sz="1400" b="0" i="0">
                <a:solidFill>
                  <a:srgbClr val="E6EDF3"/>
                </a:solidFill>
                <a:latin typeface="Courier New"/>
              </a:rPr>
              <a:t> </a:t>
            </a:r>
            <a:r>
              <a:rPr sz="1400" b="0" i="0">
                <a:solidFill>
                  <a:srgbClr val="E6EDF3"/>
                </a:solidFill>
                <a:latin typeface="Courier New"/>
              </a:rPr>
              <a:t>hello</a:t>
            </a:r>
            <a:r>
              <a:rPr sz="1400" b="0" i="0">
                <a:solidFill>
                  <a:srgbClr val="E6EDF3"/>
                </a:solidFill>
                <a:latin typeface="Courier New"/>
              </a:rPr>
              <a:t>(</a:t>
            </a:r>
            <a:r>
              <a:rPr sz="1400" b="0" i="0">
                <a:solidFill>
                  <a:srgbClr val="E6EDF3"/>
                </a:solidFill>
                <a:latin typeface="Courier New"/>
              </a:rPr>
              <a:t>name</a:t>
            </a:r>
            <a:r>
              <a:rPr sz="1400" b="0" i="0">
                <a:solidFill>
                  <a:srgbClr val="E6EDF3"/>
                </a:solidFill>
                <a:latin typeface="Courier New"/>
              </a:rPr>
              <a:t>)</a:t>
            </a:r>
            <a:r>
              <a:rPr sz="1400" b="0" i="0">
                <a:solidFill>
                  <a:srgbClr val="E6EDF3"/>
                </a:solidFill>
                <a:latin typeface="Courier New"/>
              </a:rPr>
              <a:t>:</a:t>
            </a:r>
          </a:p>
          <a:p>
            <a:pPr algn="l"/>
            <a:r>
              <a:rPr sz="1400" b="0" i="0">
                <a:solidFill>
                  <a:srgbClr val="8FA3B8"/>
                </a:solidFill>
                <a:latin typeface="Courier New"/>
              </a:rPr>
              <a:t>&gt;&gt;&gt; </a:t>
            </a:r>
            <a:r>
              <a:rPr sz="1400" b="0" i="0">
                <a:solidFill>
                  <a:srgbClr val="E6EDF3"/>
                </a:solidFill>
                <a:latin typeface="Courier New"/>
              </a:rPr>
              <a:t>    </a:t>
            </a:r>
            <a:r>
              <a:rPr sz="1400" b="0" i="0">
                <a:solidFill>
                  <a:srgbClr val="C9A0FF"/>
                </a:solidFill>
                <a:latin typeface="Courier New"/>
              </a:rPr>
              <a:t>print</a:t>
            </a:r>
            <a:r>
              <a:rPr sz="1400" b="0" i="0">
                <a:solidFill>
                  <a:srgbClr val="E6EDF3"/>
                </a:solidFill>
                <a:latin typeface="Courier New"/>
              </a:rPr>
              <a:t>(</a:t>
            </a:r>
            <a:r>
              <a:rPr sz="1400" b="0" i="0">
                <a:solidFill>
                  <a:srgbClr val="9BE3A8"/>
                </a:solidFill>
                <a:latin typeface="Courier New"/>
              </a:rPr>
              <a:t>'Hello, '</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name</a:t>
            </a:r>
            <a:r>
              <a:rPr sz="1400" b="0" i="0">
                <a:solidFill>
                  <a:srgbClr val="E6EDF3"/>
                </a:solidFill>
                <a:latin typeface="Courier New"/>
              </a:rPr>
              <a:t>)</a:t>
            </a:r>
          </a:p>
        </p:txBody>
      </p:sp>
      <p:sp>
        <p:nvSpPr>
          <p:cNvPr id="5" name="explanation"/>
          <p:cNvSpPr txBox="1"/>
          <p:nvPr/>
        </p:nvSpPr>
        <p:spPr>
          <a:xfrm>
            <a:off x="3910583" y="841248"/>
            <a:ext cx="4867655" cy="616712"/>
          </a:xfrm>
          <a:prstGeom prst="rect">
            <a:avLst/>
          </a:prstGeom>
          <a:noFill/>
        </p:spPr>
        <p:txBody>
          <a:bodyPr wrap="square" lIns="128016" rIns="128016" tIns="18288" bIns="18288" anchor="ctr">
            <a:spAutoFit/>
          </a:bodyPr>
          <a:lstStyle/>
          <a:p>
            <a:r>
              <a:rPr sz="1250" b="0" i="0">
                <a:solidFill>
                  <a:srgbClr val="1F2933"/>
                </a:solidFill>
                <a:latin typeface="Calibri"/>
              </a:rPr>
              <a:t>def starts the definition. The indented lines are the body. Nothing runs yet: the function is only stored.</a:t>
            </a:r>
          </a:p>
        </p:txBody>
      </p:sp>
      <p:sp>
        <p:nvSpPr>
          <p:cNvPr id="6" name="code"/>
          <p:cNvSpPr/>
          <p:nvPr/>
        </p:nvSpPr>
        <p:spPr>
          <a:xfrm>
            <a:off x="365760" y="1512824"/>
            <a:ext cx="3563111" cy="61671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E6EDF3"/>
                </a:solidFill>
                <a:latin typeface="Courier New"/>
              </a:rPr>
              <a:t>hello</a:t>
            </a:r>
            <a:r>
              <a:rPr sz="1400" b="0" i="0">
                <a:solidFill>
                  <a:srgbClr val="E6EDF3"/>
                </a:solidFill>
                <a:latin typeface="Courier New"/>
              </a:rPr>
              <a:t>(</a:t>
            </a:r>
            <a:r>
              <a:rPr sz="1400" b="0" i="0">
                <a:solidFill>
                  <a:srgbClr val="9BE3A8"/>
                </a:solidFill>
                <a:latin typeface="Courier New"/>
              </a:rPr>
              <a:t>'Alice'</a:t>
            </a:r>
            <a:r>
              <a:rPr sz="1400" b="0" i="0">
                <a:solidFill>
                  <a:srgbClr val="E6EDF3"/>
                </a:solidFill>
                <a:latin typeface="Courier New"/>
              </a:rPr>
              <a:t>)</a:t>
            </a:r>
          </a:p>
          <a:p>
            <a:pPr algn="l"/>
            <a:r>
              <a:rPr sz="1400" b="0" i="0">
                <a:solidFill>
                  <a:srgbClr val="8FA3B8"/>
                </a:solidFill>
                <a:latin typeface="Courier New"/>
              </a:rPr>
              <a:t>&gt;&gt;&gt; </a:t>
            </a:r>
            <a:r>
              <a:rPr sz="1400" b="0" i="0">
                <a:solidFill>
                  <a:srgbClr val="E6EDF3"/>
                </a:solidFill>
                <a:latin typeface="Courier New"/>
              </a:rPr>
              <a:t>hello</a:t>
            </a:r>
            <a:r>
              <a:rPr sz="1400" b="0" i="0">
                <a:solidFill>
                  <a:srgbClr val="E6EDF3"/>
                </a:solidFill>
                <a:latin typeface="Courier New"/>
              </a:rPr>
              <a:t>(</a:t>
            </a:r>
            <a:r>
              <a:rPr sz="1400" b="0" i="0">
                <a:solidFill>
                  <a:srgbClr val="9BE3A8"/>
                </a:solidFill>
                <a:latin typeface="Courier New"/>
              </a:rPr>
              <a:t>'Bob'</a:t>
            </a:r>
            <a:r>
              <a:rPr sz="1400" b="0" i="0">
                <a:solidFill>
                  <a:srgbClr val="E6EDF3"/>
                </a:solidFill>
                <a:latin typeface="Courier New"/>
              </a:rPr>
              <a:t>)</a:t>
            </a:r>
          </a:p>
        </p:txBody>
      </p:sp>
      <p:sp>
        <p:nvSpPr>
          <p:cNvPr id="7" name="explanation"/>
          <p:cNvSpPr txBox="1"/>
          <p:nvPr/>
        </p:nvSpPr>
        <p:spPr>
          <a:xfrm>
            <a:off x="3910583" y="1512824"/>
            <a:ext cx="4867655" cy="616712"/>
          </a:xfrm>
          <a:prstGeom prst="rect">
            <a:avLst/>
          </a:prstGeom>
          <a:noFill/>
        </p:spPr>
        <p:txBody>
          <a:bodyPr wrap="square" lIns="128016" rIns="128016" tIns="18288" bIns="18288" anchor="ctr">
            <a:spAutoFit/>
          </a:bodyPr>
          <a:lstStyle/>
          <a:p>
            <a:r>
              <a:rPr sz="1250" b="0" i="0">
                <a:solidFill>
                  <a:srgbClr val="1F2933"/>
                </a:solidFill>
                <a:latin typeface="Calibri"/>
              </a:rPr>
              <a:t>Each call runs the body once, with name set to the argument. Two calls print two greetings.</a:t>
            </a:r>
          </a:p>
        </p:txBody>
      </p:sp>
      <p:sp>
        <p:nvSpPr>
          <p:cNvPr id="8" name="result label"/>
          <p:cNvSpPr txBox="1"/>
          <p:nvPr/>
        </p:nvSpPr>
        <p:spPr>
          <a:xfrm>
            <a:off x="365760" y="2202688"/>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9" name="Rounded Rectangle 8"/>
          <p:cNvSpPr/>
          <p:nvPr/>
        </p:nvSpPr>
        <p:spPr>
          <a:xfrm>
            <a:off x="365760" y="2477008"/>
            <a:ext cx="1737360" cy="365760"/>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hello('Alice')</a:t>
            </a:r>
          </a:p>
        </p:txBody>
      </p:sp>
      <p:cxnSp>
        <p:nvCxnSpPr>
          <p:cNvPr id="10" name="arrow"/>
          <p:cNvCxnSpPr/>
          <p:nvPr/>
        </p:nvCxnSpPr>
        <p:spPr>
          <a:xfrm>
            <a:off x="2148840" y="2659888"/>
            <a:ext cx="320039"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514600" y="2477008"/>
            <a:ext cx="1645920" cy="365760"/>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name = 'Alice'</a:t>
            </a:r>
          </a:p>
        </p:txBody>
      </p:sp>
      <p:cxnSp>
        <p:nvCxnSpPr>
          <p:cNvPr id="12" name="arrow"/>
          <p:cNvCxnSpPr/>
          <p:nvPr/>
        </p:nvCxnSpPr>
        <p:spPr>
          <a:xfrm>
            <a:off x="4206240" y="2659888"/>
            <a:ext cx="320040"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572000" y="2477008"/>
            <a:ext cx="2286000" cy="365760"/>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'Hello, ' + name</a:t>
            </a:r>
          </a:p>
        </p:txBody>
      </p:sp>
      <p:cxnSp>
        <p:nvCxnSpPr>
          <p:cNvPr id="14" name="arrow"/>
          <p:cNvCxnSpPr/>
          <p:nvPr/>
        </p:nvCxnSpPr>
        <p:spPr>
          <a:xfrm>
            <a:off x="6903720" y="2659888"/>
            <a:ext cx="320040"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7269480" y="2477008"/>
            <a:ext cx="1508760" cy="365760"/>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Hello, Alice</a:t>
            </a:r>
          </a:p>
        </p:txBody>
      </p:sp>
      <p:sp>
        <p:nvSpPr>
          <p:cNvPr id="16" name="Rounded Rectangle 15"/>
          <p:cNvSpPr/>
          <p:nvPr/>
        </p:nvSpPr>
        <p:spPr>
          <a:xfrm>
            <a:off x="365760" y="3007360"/>
            <a:ext cx="1737360" cy="365760"/>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hello('Bob')</a:t>
            </a:r>
          </a:p>
        </p:txBody>
      </p:sp>
      <p:cxnSp>
        <p:nvCxnSpPr>
          <p:cNvPr id="17" name="arrow"/>
          <p:cNvCxnSpPr/>
          <p:nvPr/>
        </p:nvCxnSpPr>
        <p:spPr>
          <a:xfrm>
            <a:off x="2148840" y="3190240"/>
            <a:ext cx="320039"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2514600" y="3007360"/>
            <a:ext cx="1645920" cy="365760"/>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name = 'Bob'</a:t>
            </a:r>
          </a:p>
        </p:txBody>
      </p:sp>
      <p:cxnSp>
        <p:nvCxnSpPr>
          <p:cNvPr id="19" name="arrow"/>
          <p:cNvCxnSpPr/>
          <p:nvPr/>
        </p:nvCxnSpPr>
        <p:spPr>
          <a:xfrm>
            <a:off x="4206240" y="3190240"/>
            <a:ext cx="320040"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4572000" y="3007360"/>
            <a:ext cx="2286000" cy="365760"/>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'Hello, ' + name</a:t>
            </a:r>
          </a:p>
        </p:txBody>
      </p:sp>
      <p:cxnSp>
        <p:nvCxnSpPr>
          <p:cNvPr id="21" name="arrow"/>
          <p:cNvCxnSpPr/>
          <p:nvPr/>
        </p:nvCxnSpPr>
        <p:spPr>
          <a:xfrm>
            <a:off x="6903720" y="3190240"/>
            <a:ext cx="320040"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269480" y="3007360"/>
            <a:ext cx="1508760" cy="365760"/>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Hello, Bob</a:t>
            </a:r>
          </a:p>
        </p:txBody>
      </p:sp>
      <p:sp>
        <p:nvSpPr>
          <p:cNvPr id="2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def stores a function; a call runs it.</a:t>
            </a:r>
          </a:p>
        </p:txBody>
      </p:sp>
      <p:sp>
        <p:nvSpPr>
          <p:cNvPr id="2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6 / 46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Deduplication: a function replaces copied code</a:t>
            </a:r>
          </a:p>
        </p:txBody>
      </p:sp>
      <p:sp>
        <p:nvSpPr>
          <p:cNvPr id="4" name="code"/>
          <p:cNvSpPr/>
          <p:nvPr/>
        </p:nvSpPr>
        <p:spPr>
          <a:xfrm>
            <a:off x="365760" y="841248"/>
            <a:ext cx="8412480" cy="330073"/>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E6EDF3"/>
                </a:solidFill>
                <a:latin typeface="Courier New"/>
              </a:rPr>
              <a:t>pasted</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a:t>
            </a:r>
            <a:r>
              <a:rPr sz="950" b="0" i="0">
                <a:solidFill>
                  <a:srgbClr val="9BE3A8"/>
                </a:solidFill>
                <a:latin typeface="Courier New"/>
              </a:rPr>
              <a:t>'Good morning!'</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'Good afternoon!'</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 Good evening!'</a:t>
            </a:r>
            <a:r>
              <a:rPr sz="950" b="0" i="0">
                <a:solidFill>
                  <a:srgbClr val="E6EDF3"/>
                </a:solidFill>
                <a:latin typeface="Courier New"/>
              </a:rPr>
              <a:t>]</a:t>
            </a:r>
          </a:p>
        </p:txBody>
      </p:sp>
      <p:sp>
        <p:nvSpPr>
          <p:cNvPr id="5" name="explanation"/>
          <p:cNvSpPr txBox="1"/>
          <p:nvPr/>
        </p:nvSpPr>
        <p:spPr>
          <a:xfrm>
            <a:off x="365760" y="1180465"/>
            <a:ext cx="8412480" cy="302641"/>
          </a:xfrm>
          <a:prstGeom prst="rect">
            <a:avLst/>
          </a:prstGeom>
          <a:noFill/>
        </p:spPr>
        <p:txBody>
          <a:bodyPr wrap="square" lIns="109728" rIns="109728" tIns="18288" bIns="18288" anchor="ctr">
            <a:spAutoFit/>
          </a:bodyPr>
          <a:lstStyle/>
          <a:p>
            <a:r>
              <a:rPr sz="1100" b="0" i="0">
                <a:solidFill>
                  <a:srgbClr val="1F2933"/>
                </a:solidFill>
                <a:latin typeface="Calibri"/>
              </a:rPr>
              <a:t>Imagine the same lines copied three times. One copy has a stray space and nobody notices it.</a:t>
            </a:r>
          </a:p>
        </p:txBody>
      </p:sp>
      <p:sp>
        <p:nvSpPr>
          <p:cNvPr id="6" name="code"/>
          <p:cNvSpPr/>
          <p:nvPr/>
        </p:nvSpPr>
        <p:spPr>
          <a:xfrm>
            <a:off x="365760" y="1528826"/>
            <a:ext cx="8412480" cy="47726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C9A0FF"/>
                </a:solidFill>
                <a:latin typeface="Courier New"/>
              </a:rPr>
              <a:t>def</a:t>
            </a:r>
            <a:r>
              <a:rPr sz="950" b="0" i="0">
                <a:solidFill>
                  <a:srgbClr val="E6EDF3"/>
                </a:solidFill>
                <a:latin typeface="Courier New"/>
              </a:rPr>
              <a:t> </a:t>
            </a:r>
            <a:r>
              <a:rPr sz="950" b="0" i="0">
                <a:solidFill>
                  <a:srgbClr val="E6EDF3"/>
                </a:solidFill>
                <a:latin typeface="Courier New"/>
              </a:rPr>
              <a:t>greeting</a:t>
            </a:r>
            <a:r>
              <a:rPr sz="950" b="0" i="0">
                <a:solidFill>
                  <a:srgbClr val="E6EDF3"/>
                </a:solidFill>
                <a:latin typeface="Courier New"/>
              </a:rPr>
              <a:t>(</a:t>
            </a:r>
            <a:r>
              <a:rPr sz="950" b="0" i="0">
                <a:solidFill>
                  <a:srgbClr val="E6EDF3"/>
                </a:solidFill>
                <a:latin typeface="Courier New"/>
              </a:rPr>
              <a:t>part</a:t>
            </a:r>
            <a:r>
              <a:rPr sz="950" b="0" i="0">
                <a:solidFill>
                  <a:srgbClr val="E6EDF3"/>
                </a:solidFill>
                <a:latin typeface="Courier New"/>
              </a:rPr>
              <a:t>)</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    </a:t>
            </a:r>
            <a:r>
              <a:rPr sz="950" b="0" i="0">
                <a:solidFill>
                  <a:srgbClr val="C9A0FF"/>
                </a:solidFill>
                <a:latin typeface="Courier New"/>
              </a:rPr>
              <a:t>return</a:t>
            </a:r>
            <a:r>
              <a:rPr sz="950" b="0" i="0">
                <a:solidFill>
                  <a:srgbClr val="E6EDF3"/>
                </a:solidFill>
                <a:latin typeface="Courier New"/>
              </a:rPr>
              <a:t> </a:t>
            </a:r>
            <a:r>
              <a:rPr sz="950" b="0" i="0">
                <a:solidFill>
                  <a:srgbClr val="9BE3A8"/>
                </a:solidFill>
                <a:latin typeface="Courier New"/>
              </a:rPr>
              <a:t>'Good '</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part</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a:t>
            </a:r>
          </a:p>
        </p:txBody>
      </p:sp>
      <p:sp>
        <p:nvSpPr>
          <p:cNvPr id="7" name="explanation"/>
          <p:cNvSpPr txBox="1"/>
          <p:nvPr/>
        </p:nvSpPr>
        <p:spPr>
          <a:xfrm>
            <a:off x="365760" y="2015236"/>
            <a:ext cx="8412480" cy="302641"/>
          </a:xfrm>
          <a:prstGeom prst="rect">
            <a:avLst/>
          </a:prstGeom>
          <a:noFill/>
        </p:spPr>
        <p:txBody>
          <a:bodyPr wrap="square" lIns="109728" rIns="109728" tIns="18288" bIns="18288" anchor="ctr">
            <a:spAutoFit/>
          </a:bodyPr>
          <a:lstStyle/>
          <a:p>
            <a:r>
              <a:rPr sz="1100" b="0" i="0">
                <a:solidFill>
                  <a:srgbClr val="1F2933"/>
                </a:solidFill>
                <a:latin typeface="Calibri"/>
              </a:rPr>
              <a:t>One function holds the text once. The part of the day is the only thing that changes.</a:t>
            </a:r>
          </a:p>
        </p:txBody>
      </p:sp>
      <p:sp>
        <p:nvSpPr>
          <p:cNvPr id="8" name="code"/>
          <p:cNvSpPr/>
          <p:nvPr/>
        </p:nvSpPr>
        <p:spPr>
          <a:xfrm>
            <a:off x="365760" y="2363597"/>
            <a:ext cx="8412480" cy="47726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E6EDF3"/>
                </a:solidFill>
                <a:latin typeface="Courier New"/>
              </a:rPr>
              <a:t>made</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greeting</a:t>
            </a:r>
            <a:r>
              <a:rPr sz="950" b="0" i="0">
                <a:solidFill>
                  <a:srgbClr val="E6EDF3"/>
                </a:solidFill>
                <a:latin typeface="Courier New"/>
              </a:rPr>
              <a:t>(</a:t>
            </a:r>
            <a:r>
              <a:rPr sz="950" b="0" i="0">
                <a:solidFill>
                  <a:srgbClr val="E6EDF3"/>
                </a:solidFill>
                <a:latin typeface="Courier New"/>
              </a:rPr>
              <a:t>p</a:t>
            </a:r>
            <a:r>
              <a:rPr sz="950" b="0" i="0">
                <a:solidFill>
                  <a:srgbClr val="E6EDF3"/>
                </a:solidFill>
                <a:latin typeface="Courier New"/>
              </a:rPr>
              <a:t>)</a:t>
            </a:r>
            <a:r>
              <a:rPr sz="950" b="0" i="0">
                <a:solidFill>
                  <a:srgbClr val="E6EDF3"/>
                </a:solidFill>
                <a:latin typeface="Courier New"/>
              </a:rPr>
              <a:t> </a:t>
            </a:r>
            <a:r>
              <a:rPr sz="950" b="0" i="0">
                <a:solidFill>
                  <a:srgbClr val="C9A0FF"/>
                </a:solidFill>
                <a:latin typeface="Courier New"/>
              </a:rPr>
              <a:t>for</a:t>
            </a:r>
            <a:r>
              <a:rPr sz="950" b="0" i="0">
                <a:solidFill>
                  <a:srgbClr val="E6EDF3"/>
                </a:solidFill>
                <a:latin typeface="Courier New"/>
              </a:rPr>
              <a:t> </a:t>
            </a:r>
            <a:r>
              <a:rPr sz="950" b="0" i="0">
                <a:solidFill>
                  <a:srgbClr val="E6EDF3"/>
                </a:solidFill>
                <a:latin typeface="Courier New"/>
              </a:rPr>
              <a:t>p</a:t>
            </a:r>
            <a:r>
              <a:rPr sz="950" b="0" i="0">
                <a:solidFill>
                  <a:srgbClr val="E6EDF3"/>
                </a:solidFill>
                <a:latin typeface="Courier New"/>
              </a:rPr>
              <a:t> </a:t>
            </a:r>
            <a:r>
              <a:rPr sz="950" b="0" i="0">
                <a:solidFill>
                  <a:srgbClr val="C9A0FF"/>
                </a:solidFill>
                <a:latin typeface="Courier New"/>
              </a:rPr>
              <a:t>in</a:t>
            </a:r>
            <a:r>
              <a:rPr sz="950" b="0" i="0">
                <a:solidFill>
                  <a:srgbClr val="E6EDF3"/>
                </a:solidFill>
                <a:latin typeface="Courier New"/>
              </a:rPr>
              <a:t> </a:t>
            </a:r>
            <a:r>
              <a:rPr sz="950" b="0" i="0">
                <a:solidFill>
                  <a:srgbClr val="E6EDF3"/>
                </a:solidFill>
                <a:latin typeface="Courier New"/>
              </a:rPr>
              <a:t>(</a:t>
            </a:r>
            <a:r>
              <a:rPr sz="950" b="0" i="0">
                <a:solidFill>
                  <a:srgbClr val="9BE3A8"/>
                </a:solidFill>
                <a:latin typeface="Courier New"/>
              </a:rPr>
              <a:t>'morning'</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'afternoon'</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'evening'</a:t>
            </a:r>
            <a:r>
              <a:rPr sz="950" b="0" i="0">
                <a:solidFill>
                  <a:srgbClr val="E6EDF3"/>
                </a:solidFill>
                <a:latin typeface="Courier New"/>
              </a:rPr>
              <a:t>)</a:t>
            </a:r>
            <a:r>
              <a:rPr sz="950" b="0" i="0">
                <a:solidFill>
                  <a:srgbClr val="E6EDF3"/>
                </a:solidFill>
                <a:latin typeface="Courier New"/>
              </a:rPr>
              <a:t>]</a:t>
            </a:r>
          </a:p>
          <a:p>
            <a:pPr algn="l"/>
            <a:r>
              <a:rPr sz="950" b="0" i="0">
                <a:solidFill>
                  <a:srgbClr val="8FA3B8"/>
                </a:solidFill>
                <a:latin typeface="Courier New"/>
              </a:rPr>
              <a:t>&gt;&gt;&gt; </a:t>
            </a:r>
            <a:r>
              <a:rPr sz="950" b="0" i="0">
                <a:solidFill>
                  <a:srgbClr val="C9A0FF"/>
                </a:solidFill>
                <a:latin typeface="Courier New"/>
              </a:rPr>
              <a:t>print</a:t>
            </a:r>
            <a:r>
              <a:rPr sz="950" b="0" i="0">
                <a:solidFill>
                  <a:srgbClr val="E6EDF3"/>
                </a:solidFill>
                <a:latin typeface="Courier New"/>
              </a:rPr>
              <a:t>(</a:t>
            </a:r>
            <a:r>
              <a:rPr sz="950" b="0" i="0">
                <a:solidFill>
                  <a:srgbClr val="E6EDF3"/>
                </a:solidFill>
                <a:latin typeface="Courier New"/>
              </a:rPr>
              <a:t>pasted</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made</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a</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b</a:t>
            </a:r>
            <a:r>
              <a:rPr sz="950" b="0" i="0">
                <a:solidFill>
                  <a:srgbClr val="E6EDF3"/>
                </a:solidFill>
                <a:latin typeface="Courier New"/>
              </a:rPr>
              <a:t> </a:t>
            </a:r>
            <a:r>
              <a:rPr sz="950" b="0" i="0">
                <a:solidFill>
                  <a:srgbClr val="C9A0FF"/>
                </a:solidFill>
                <a:latin typeface="Courier New"/>
              </a:rPr>
              <a:t>for</a:t>
            </a:r>
            <a:r>
              <a:rPr sz="950" b="0" i="0">
                <a:solidFill>
                  <a:srgbClr val="E6EDF3"/>
                </a:solidFill>
                <a:latin typeface="Courier New"/>
              </a:rPr>
              <a:t> </a:t>
            </a:r>
            <a:r>
              <a:rPr sz="950" b="0" i="0">
                <a:solidFill>
                  <a:srgbClr val="E6EDF3"/>
                </a:solidFill>
                <a:latin typeface="Courier New"/>
              </a:rPr>
              <a:t>a</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b</a:t>
            </a:r>
            <a:r>
              <a:rPr sz="950" b="0" i="0">
                <a:solidFill>
                  <a:srgbClr val="E6EDF3"/>
                </a:solidFill>
                <a:latin typeface="Courier New"/>
              </a:rPr>
              <a:t> </a:t>
            </a:r>
            <a:r>
              <a:rPr sz="950" b="0" i="0">
                <a:solidFill>
                  <a:srgbClr val="C9A0FF"/>
                </a:solidFill>
                <a:latin typeface="Courier New"/>
              </a:rPr>
              <a:t>in</a:t>
            </a:r>
            <a:r>
              <a:rPr sz="950" b="0" i="0">
                <a:solidFill>
                  <a:srgbClr val="E6EDF3"/>
                </a:solidFill>
                <a:latin typeface="Courier New"/>
              </a:rPr>
              <a:t> </a:t>
            </a:r>
            <a:r>
              <a:rPr sz="950" b="0" i="0">
                <a:solidFill>
                  <a:srgbClr val="E6EDF3"/>
                </a:solidFill>
                <a:latin typeface="Courier New"/>
              </a:rPr>
              <a:t>zip</a:t>
            </a:r>
            <a:r>
              <a:rPr sz="950" b="0" i="0">
                <a:solidFill>
                  <a:srgbClr val="E6EDF3"/>
                </a:solidFill>
                <a:latin typeface="Courier New"/>
              </a:rPr>
              <a:t>(</a:t>
            </a:r>
            <a:r>
              <a:rPr sz="950" b="0" i="0">
                <a:solidFill>
                  <a:srgbClr val="E6EDF3"/>
                </a:solidFill>
                <a:latin typeface="Courier New"/>
              </a:rPr>
              <a:t>pasted</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made</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p>
        </p:txBody>
      </p:sp>
      <p:sp>
        <p:nvSpPr>
          <p:cNvPr id="9" name="explanation"/>
          <p:cNvSpPr txBox="1"/>
          <p:nvPr/>
        </p:nvSpPr>
        <p:spPr>
          <a:xfrm>
            <a:off x="365760" y="2850007"/>
            <a:ext cx="8412480" cy="302641"/>
          </a:xfrm>
          <a:prstGeom prst="rect">
            <a:avLst/>
          </a:prstGeom>
          <a:noFill/>
        </p:spPr>
        <p:txBody>
          <a:bodyPr wrap="square" lIns="109728" rIns="109728" tIns="18288" bIns="18288" anchor="ctr">
            <a:spAutoFit/>
          </a:bodyPr>
          <a:lstStyle/>
          <a:p>
            <a:r>
              <a:rPr sz="1100" b="0" i="0">
                <a:solidFill>
                  <a:srgbClr val="1F2933"/>
                </a:solidFill>
                <a:latin typeface="Calibri"/>
              </a:rPr>
              <a:t>Compare the copies with the function. Only the pasted line with the stray space differs.</a:t>
            </a:r>
          </a:p>
        </p:txBody>
      </p:sp>
      <p:sp>
        <p:nvSpPr>
          <p:cNvPr id="10" name="result label"/>
          <p:cNvSpPr txBox="1"/>
          <p:nvPr/>
        </p:nvSpPr>
        <p:spPr>
          <a:xfrm>
            <a:off x="365760" y="3216656"/>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table"/>
          <p:cNvGraphicFramePr>
            <a:graphicFrameLocks noGrp="1"/>
          </p:cNvGraphicFramePr>
          <p:nvPr/>
        </p:nvGraphicFramePr>
        <p:xfrm>
          <a:off x="365760" y="3490976"/>
          <a:ext cx="5888735" cy="1207008"/>
        </p:xfrm>
        <a:graphic>
          <a:graphicData uri="http://schemas.openxmlformats.org/drawingml/2006/table">
            <a:tbl>
              <a:tblPr firstRow="0" bandRow="0"/>
              <a:tblGrid>
                <a:gridCol w="446116"/>
                <a:gridCol w="2319805"/>
                <a:gridCol w="2319805"/>
                <a:gridCol w="803009"/>
              </a:tblGrid>
              <a:tr h="301752">
                <a:tc>
                  <a:txBody>
                    <a:bodyPr wrap="square"/>
                    <a:lstStyle/>
                    <a:p>
                      <a:pPr algn="ctr"/>
                      <a:r>
                        <a:rPr sz="1050" b="1" i="0">
                          <a:solidFill>
                            <a:srgbClr val="FFFFFF"/>
                          </a:solidFill>
                          <a:latin typeface="Calibri"/>
                        </a:rPr>
                        <a:t>Line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Pasted copy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Made by greeting()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Same?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01752">
                <a:tc>
                  <a:txBody>
                    <a:bodyPr wrap="square"/>
                    <a:lstStyle/>
                    <a:p>
                      <a:pPr algn="ctr"/>
                      <a:r>
                        <a:rPr sz="1050" b="0" i="0">
                          <a:solidFill>
                            <a:srgbClr val="1F2933"/>
                          </a:solidFill>
                          <a:latin typeface="Calibri"/>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'Good morning!'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'Good morning!'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2F855A"/>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01752">
                <a:tc>
                  <a:txBody>
                    <a:bodyPr wrap="square"/>
                    <a:lstStyle/>
                    <a:p>
                      <a:pPr algn="ctr"/>
                      <a:r>
                        <a:rPr sz="1050" b="0" i="0">
                          <a:solidFill>
                            <a:srgbClr val="1F2933"/>
                          </a:solidFill>
                          <a:latin typeface="Calibri"/>
                        </a:rPr>
                        <a:t>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'Good afternoon!'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'Good afternoon!'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2F855A"/>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01752">
                <a:tc>
                  <a:txBody>
                    <a:bodyPr wrap="square"/>
                    <a:lstStyle/>
                    <a:p>
                      <a:pPr algn="ctr"/>
                      <a:r>
                        <a:rPr sz="1050" b="0" i="0">
                          <a:solidFill>
                            <a:srgbClr val="1F2933"/>
                          </a:solidFill>
                          <a:latin typeface="Calibri"/>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 Good evening!'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7DAD2"/>
                    </a:solidFill>
                  </a:tcPr>
                </a:tc>
                <a:tc>
                  <a:txBody>
                    <a:bodyPr wrap="square"/>
                    <a:lstStyle/>
                    <a:p>
                      <a:r>
                        <a:rPr sz="1050" b="0" i="0">
                          <a:solidFill>
                            <a:srgbClr val="1F2933"/>
                          </a:solidFill>
                          <a:latin typeface="Courier New"/>
                        </a:rPr>
                        <a:t>'Good evening!'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B83A1B"/>
                          </a:solidFill>
                          <a:latin typeface="Courier New"/>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graphicFrame>
        <p:nvGraphicFramePr>
          <p:cNvPr id="12" name="chart"/>
          <p:cNvGraphicFramePr>
            <a:graphicFrameLocks noGrp="1"/>
          </p:cNvGraphicFramePr>
          <p:nvPr/>
        </p:nvGraphicFramePr>
        <p:xfrm>
          <a:off x="6590995" y="3490976"/>
          <a:ext cx="2187244" cy="1117600"/>
        </p:xfrm>
        <a:graphic>
          <a:graphicData uri="http://schemas.openxmlformats.org/drawingml/2006/chart">
            <c:chart xmlns:c="http://schemas.openxmlformats.org/drawingml/2006/chart" r:id="rId3"/>
          </a:graphicData>
        </a:graphic>
      </p:graphicFrame>
      <p:sp>
        <p:nvSpPr>
          <p:cNvPr id="1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Write the text once; call it many times.</a:t>
            </a:r>
          </a:p>
        </p:txBody>
      </p:sp>
      <p:sp>
        <p:nvSpPr>
          <p:cNvPr id="1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7 / 46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Story: the function is invented in Cambridge</a:t>
            </a:r>
          </a:p>
        </p:txBody>
      </p:sp>
      <p:pic>
        <p:nvPicPr>
          <p:cNvPr id="4" name="photo wheeler" descr="Picture for the story: the function is invented in Cambridge"/>
          <p:cNvPicPr>
            <a:picLocks noChangeAspect="1"/>
          </p:cNvPicPr>
          <p:nvPr/>
        </p:nvPicPr>
        <p:blipFill>
          <a:blip r:embed="rId3"/>
          <a:stretch>
            <a:fillRect/>
          </a:stretch>
        </p:blipFill>
        <p:spPr>
          <a:xfrm>
            <a:off x="491490" y="868680"/>
            <a:ext cx="2400300" cy="2926080"/>
          </a:xfrm>
          <a:prstGeom prst="rect">
            <a:avLst/>
          </a:prstGeom>
        </p:spPr>
      </p:pic>
      <p:sp>
        <p:nvSpPr>
          <p:cNvPr id="5" name="credit"/>
          <p:cNvSpPr txBox="1"/>
          <p:nvPr/>
        </p:nvSpPr>
        <p:spPr>
          <a:xfrm>
            <a:off x="365760" y="3840480"/>
            <a:ext cx="2651760" cy="731520"/>
          </a:xfrm>
          <a:prstGeom prst="rect">
            <a:avLst/>
          </a:prstGeom>
          <a:noFill/>
        </p:spPr>
        <p:txBody>
          <a:bodyPr wrap="square" lIns="45720" rIns="45720" tIns="27432" bIns="27432" anchor="t">
            <a:spAutoFit/>
          </a:bodyPr>
          <a:lstStyle/>
          <a:p>
            <a:r>
              <a:rPr sz="950" b="0" i="0">
                <a:solidFill>
                  <a:srgbClr val="5B6773"/>
                </a:solidFill>
                <a:latin typeface="Calibri"/>
              </a:rPr>
              <a:t>EDSAC, University of Cambridge. Photo: Computer Laboratory, University of Cambridge, CC BY 2.0, Wikimedia Commons.</a:t>
            </a:r>
          </a:p>
        </p:txBody>
      </p:sp>
      <p:sp>
        <p:nvSpPr>
          <p:cNvPr id="6" name="card"/>
          <p:cNvSpPr/>
          <p:nvPr/>
        </p:nvSpPr>
        <p:spPr>
          <a:xfrm>
            <a:off x="3200400" y="841248"/>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who"/>
          <p:cNvSpPr txBox="1"/>
          <p:nvPr/>
        </p:nvSpPr>
        <p:spPr>
          <a:xfrm>
            <a:off x="3246120" y="841248"/>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WHO  </a:t>
            </a:r>
            <a:r>
              <a:rPr sz="1300" b="0" i="0">
                <a:solidFill>
                  <a:srgbClr val="1F2933"/>
                </a:solidFill>
                <a:latin typeface="Calibri"/>
              </a:rPr>
              <a:t>David Wheeler, working with Maurice Wilkes and Stanley Gill at the University of Cambridge.</a:t>
            </a:r>
          </a:p>
        </p:txBody>
      </p:sp>
      <p:sp>
        <p:nvSpPr>
          <p:cNvPr id="8" name="card"/>
          <p:cNvSpPr/>
          <p:nvPr/>
        </p:nvSpPr>
        <p:spPr>
          <a:xfrm>
            <a:off x="3200400" y="1463040"/>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hat"/>
          <p:cNvSpPr txBox="1"/>
          <p:nvPr/>
        </p:nvSpPr>
        <p:spPr>
          <a:xfrm>
            <a:off x="3246120" y="1463040"/>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WHAT  </a:t>
            </a:r>
            <a:r>
              <a:rPr sz="1300" b="0" i="0">
                <a:solidFill>
                  <a:srgbClr val="1F2933"/>
                </a:solidFill>
                <a:latin typeface="Calibri"/>
              </a:rPr>
              <a:t>The closed subroutine: a block of code that is entered by a jump and finds its way back to the caller.</a:t>
            </a:r>
          </a:p>
        </p:txBody>
      </p:sp>
      <p:sp>
        <p:nvSpPr>
          <p:cNvPr id="10" name="card"/>
          <p:cNvSpPr/>
          <p:nvPr/>
        </p:nvSpPr>
        <p:spPr>
          <a:xfrm>
            <a:off x="3200400" y="2084832"/>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hen"/>
          <p:cNvSpPr txBox="1"/>
          <p:nvPr/>
        </p:nvSpPr>
        <p:spPr>
          <a:xfrm>
            <a:off x="3246120" y="2084832"/>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WHEN  </a:t>
            </a:r>
            <a:r>
              <a:rPr sz="1300" b="0" i="0">
                <a:solidFill>
                  <a:srgbClr val="1F2933"/>
                </a:solidFill>
                <a:latin typeface="Calibri"/>
              </a:rPr>
              <a:t>Around 1951; Wheeler described it in 'The use of sub-routines in programmes', ACM national meeting, 1952.</a:t>
            </a:r>
          </a:p>
        </p:txBody>
      </p:sp>
      <p:sp>
        <p:nvSpPr>
          <p:cNvPr id="12" name="card"/>
          <p:cNvSpPr/>
          <p:nvPr/>
        </p:nvSpPr>
        <p:spPr>
          <a:xfrm>
            <a:off x="3200400" y="2706624"/>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where"/>
          <p:cNvSpPr txBox="1"/>
          <p:nvPr/>
        </p:nvSpPr>
        <p:spPr>
          <a:xfrm>
            <a:off x="3246120" y="2706624"/>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WHERE  </a:t>
            </a:r>
            <a:r>
              <a:rPr sz="1300" b="0" i="0">
                <a:solidFill>
                  <a:srgbClr val="1F2933"/>
                </a:solidFill>
                <a:latin typeface="Calibri"/>
              </a:rPr>
              <a:t>The Mathematical Laboratory in Cambridge, on EDSAC, one of the first stored-program computers.</a:t>
            </a:r>
          </a:p>
        </p:txBody>
      </p:sp>
      <p:sp>
        <p:nvSpPr>
          <p:cNvPr id="14" name="card"/>
          <p:cNvSpPr/>
          <p:nvPr/>
        </p:nvSpPr>
        <p:spPr>
          <a:xfrm>
            <a:off x="3200400" y="3328415"/>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why"/>
          <p:cNvSpPr txBox="1"/>
          <p:nvPr/>
        </p:nvSpPr>
        <p:spPr>
          <a:xfrm>
            <a:off x="3246120" y="3328415"/>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WHY  </a:t>
            </a:r>
            <a:r>
              <a:rPr sz="1300" b="0" i="0">
                <a:solidFill>
                  <a:srgbClr val="1F2933"/>
                </a:solidFill>
                <a:latin typeface="Calibri"/>
              </a:rPr>
              <a:t>A library of tested routines could be reused instead of written again: deduplication, long before the word.</a:t>
            </a:r>
          </a:p>
        </p:txBody>
      </p:sp>
      <p:sp>
        <p:nvSpPr>
          <p:cNvPr id="16" name="card"/>
          <p:cNvSpPr/>
          <p:nvPr/>
        </p:nvSpPr>
        <p:spPr>
          <a:xfrm>
            <a:off x="3200400" y="3950207"/>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ow"/>
          <p:cNvSpPr txBox="1"/>
          <p:nvPr/>
        </p:nvSpPr>
        <p:spPr>
          <a:xfrm>
            <a:off x="3246120" y="3950207"/>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HOW  </a:t>
            </a:r>
            <a:r>
              <a:rPr sz="1300" b="0" i="0">
                <a:solidFill>
                  <a:srgbClr val="1F2933"/>
                </a:solidFill>
                <a:latin typeface="Calibri"/>
              </a:rPr>
              <a:t>The jump kept the return address. The call stack of this chapter is the grown-up form of that idea.</a:t>
            </a:r>
          </a:p>
        </p:txBody>
      </p:sp>
      <p:sp>
        <p:nvSpPr>
          <p:cNvPr id="18" name="read"/>
          <p:cNvSpPr txBox="1"/>
          <p:nvPr/>
        </p:nvSpPr>
        <p:spPr>
          <a:xfrm>
            <a:off x="3200400" y="4590287"/>
            <a:ext cx="5577840" cy="329184"/>
          </a:xfrm>
          <a:prstGeom prst="rect">
            <a:avLst/>
          </a:prstGeom>
          <a:noFill/>
        </p:spPr>
        <p:txBody>
          <a:bodyPr wrap="square" lIns="45720" rIns="45720" tIns="27432" bIns="27432" anchor="t">
            <a:spAutoFit/>
          </a:bodyPr>
          <a:lstStyle/>
          <a:p>
            <a:r>
              <a:rPr sz="1300" b="1" i="0">
                <a:solidFill>
                  <a:srgbClr val="B7791F"/>
                </a:solidFill>
                <a:latin typeface="Calibri"/>
              </a:rPr>
              <a:t>READ  </a:t>
            </a:r>
            <a:r>
              <a:rPr sz="1300" b="0" i="0">
                <a:solidFill>
                  <a:srgbClr val="0E7C86"/>
                </a:solidFill>
                <a:latin typeface="Calibri"/>
                <a:hlinkClick r:id="rId4"/>
              </a:rPr>
              <a:t>David Wheeler (Wikipedia)</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8 / 46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values in, values out</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548640"/>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A call is an order at a counter: you hand over ingredients and a dish comes back.</a:t>
            </a:r>
          </a:p>
        </p:txBody>
      </p:sp>
      <p:graphicFrame>
        <p:nvGraphicFramePr>
          <p:cNvPr id="6" name="table"/>
          <p:cNvGraphicFramePr>
            <a:graphicFrameLocks noGrp="1"/>
          </p:cNvGraphicFramePr>
          <p:nvPr/>
        </p:nvGraphicFramePr>
        <p:xfrm>
          <a:off x="365760" y="1463040"/>
          <a:ext cx="8412480" cy="3108960"/>
        </p:xfrm>
        <a:graphic>
          <a:graphicData uri="http://schemas.openxmlformats.org/drawingml/2006/table">
            <a:tbl>
              <a:tblPr firstRow="0" bandRow="0"/>
              <a:tblGrid>
                <a:gridCol w="3383280"/>
                <a:gridCol w="5029200"/>
              </a:tblGrid>
              <a:tr h="345440">
                <a:tc>
                  <a:txBody>
                    <a:bodyPr wrap="square"/>
                    <a:lstStyle/>
                    <a:p>
                      <a:r>
                        <a:rPr sz="12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2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45440">
                <a:tc>
                  <a:txBody>
                    <a:bodyPr wrap="square"/>
                    <a:lstStyle/>
                    <a:p>
                      <a:r>
                        <a:rPr sz="1200" b="1" i="0">
                          <a:solidFill>
                            <a:srgbClr val="1F2933"/>
                          </a:solidFill>
                          <a:latin typeface="Calibri"/>
                        </a:rPr>
                        <a:t>Arguments and Parameters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The order form has blank lines; your order fills them in.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5440">
                <a:tc>
                  <a:txBody>
                    <a:bodyPr wrap="square"/>
                    <a:lstStyle/>
                    <a:p>
                      <a:r>
                        <a:rPr sz="1200" b="1" i="0">
                          <a:solidFill>
                            <a:srgbClr val="1F2933"/>
                          </a:solidFill>
                          <a:latin typeface="Calibri"/>
                        </a:rPr>
                        <a:t>argument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What you actually hand over: two coffees.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45440">
                <a:tc>
                  <a:txBody>
                    <a:bodyPr wrap="square"/>
                    <a:lstStyle/>
                    <a:p>
                      <a:r>
                        <a:rPr sz="1200" b="1" i="0">
                          <a:solidFill>
                            <a:srgbClr val="1F2933"/>
                          </a:solidFill>
                          <a:latin typeface="Calibri"/>
                        </a:rPr>
                        <a:t>parameter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A blank line on the form: how many coffees?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5440">
                <a:tc>
                  <a:txBody>
                    <a:bodyPr wrap="square"/>
                    <a:lstStyle/>
                    <a:p>
                      <a:r>
                        <a:rPr sz="1200" b="1" i="0">
                          <a:solidFill>
                            <a:srgbClr val="1F2933"/>
                          </a:solidFill>
                          <a:latin typeface="Calibri"/>
                        </a:rPr>
                        <a:t>Return Values and return Statements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The kitchen sends the finished dish back through the pass.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45440">
                <a:tc>
                  <a:txBody>
                    <a:bodyPr wrap="square"/>
                    <a:lstStyle/>
                    <a:p>
                      <a:r>
                        <a:rPr sz="1200" b="1" i="0">
                          <a:solidFill>
                            <a:srgbClr val="1F2933"/>
                          </a:solidFill>
                          <a:latin typeface="Calibri"/>
                        </a:rPr>
                        <a:t>return value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The dish that arrives at your table.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5440">
                <a:tc>
                  <a:txBody>
                    <a:bodyPr wrap="square"/>
                    <a:lstStyle/>
                    <a:p>
                      <a:r>
                        <a:rPr sz="1200" b="1" i="0">
                          <a:solidFill>
                            <a:srgbClr val="1F2933"/>
                          </a:solidFill>
                          <a:latin typeface="Calibri"/>
                        </a:rPr>
                        <a:t>return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The bell that ends the cooking and sends the plate out.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45440">
                <a:tc>
                  <a:txBody>
                    <a:bodyPr wrap="square"/>
                    <a:lstStyle/>
                    <a:p>
                      <a:r>
                        <a:rPr sz="1200" b="1" i="0">
                          <a:solidFill>
                            <a:srgbClr val="1F2933"/>
                          </a:solidFill>
                          <a:latin typeface="Calibri"/>
                        </a:rPr>
                        <a:t>The None Value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A kitchen that cooked but sent nothing out: an empty tray.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5440">
                <a:tc>
                  <a:txBody>
                    <a:bodyPr wrap="square"/>
                    <a:lstStyle/>
                    <a:p>
                      <a:r>
                        <a:rPr sz="1200" b="1" i="0">
                          <a:solidFill>
                            <a:srgbClr val="1F2933"/>
                          </a:solidFill>
                          <a:latin typeface="Calibri"/>
                        </a:rPr>
                        <a:t>None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The empty tray itself: a real object that says nothing is here.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9 / 46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Arguments fill the parameters, in order</a:t>
            </a:r>
          </a:p>
        </p:txBody>
      </p:sp>
      <p:sp>
        <p:nvSpPr>
          <p:cNvPr id="4" name="code"/>
          <p:cNvSpPr/>
          <p:nvPr/>
        </p:nvSpPr>
        <p:spPr>
          <a:xfrm>
            <a:off x="365760" y="841248"/>
            <a:ext cx="4523232" cy="7233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C9A0FF"/>
                </a:solidFill>
                <a:latin typeface="Courier New"/>
              </a:rPr>
              <a:t>def</a:t>
            </a:r>
            <a:r>
              <a:rPr sz="1400" b="0" i="0">
                <a:solidFill>
                  <a:srgbClr val="E6EDF3"/>
                </a:solidFill>
                <a:latin typeface="Courier New"/>
              </a:rPr>
              <a:t> </a:t>
            </a:r>
            <a:r>
              <a:rPr sz="1400" b="0" i="0">
                <a:solidFill>
                  <a:srgbClr val="E6EDF3"/>
                </a:solidFill>
                <a:latin typeface="Courier New"/>
              </a:rPr>
              <a:t>describe</a:t>
            </a:r>
            <a:r>
              <a:rPr sz="1400" b="0" i="0">
                <a:solidFill>
                  <a:srgbClr val="E6EDF3"/>
                </a:solidFill>
                <a:latin typeface="Courier New"/>
              </a:rPr>
              <a:t>(</a:t>
            </a:r>
            <a:r>
              <a:rPr sz="1400" b="0" i="0">
                <a:solidFill>
                  <a:srgbClr val="E6EDF3"/>
                </a:solidFill>
                <a:latin typeface="Courier New"/>
              </a:rPr>
              <a:t>animal</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sound</a:t>
            </a:r>
            <a:r>
              <a:rPr sz="1400" b="0" i="0">
                <a:solidFill>
                  <a:srgbClr val="E6EDF3"/>
                </a:solidFill>
                <a:latin typeface="Courier New"/>
              </a:rPr>
              <a:t>)</a:t>
            </a:r>
            <a:r>
              <a:rPr sz="1400" b="0" i="0">
                <a:solidFill>
                  <a:srgbClr val="E6EDF3"/>
                </a:solidFill>
                <a:latin typeface="Courier New"/>
              </a:rPr>
              <a:t>:</a:t>
            </a:r>
          </a:p>
          <a:p>
            <a:pPr algn="l"/>
            <a:r>
              <a:rPr sz="1400" b="0" i="0">
                <a:solidFill>
                  <a:srgbClr val="8FA3B8"/>
                </a:solidFill>
                <a:latin typeface="Courier New"/>
              </a:rPr>
              <a:t>&gt;&gt;&gt; </a:t>
            </a:r>
            <a:r>
              <a:rPr sz="1400" b="0" i="0">
                <a:solidFill>
                  <a:srgbClr val="E6EDF3"/>
                </a:solidFill>
                <a:latin typeface="Courier New"/>
              </a:rPr>
              <a:t>    </a:t>
            </a:r>
            <a:r>
              <a:rPr sz="1400" b="0" i="0">
                <a:solidFill>
                  <a:srgbClr val="C9A0FF"/>
                </a:solidFill>
                <a:latin typeface="Courier New"/>
              </a:rPr>
              <a:t>return</a:t>
            </a:r>
            <a:r>
              <a:rPr sz="1400" b="0" i="0">
                <a:solidFill>
                  <a:srgbClr val="E6EDF3"/>
                </a:solidFill>
                <a:latin typeface="Courier New"/>
              </a:rPr>
              <a:t> </a:t>
            </a:r>
            <a:r>
              <a:rPr sz="1400" b="0" i="0">
                <a:solidFill>
                  <a:srgbClr val="E6EDF3"/>
                </a:solidFill>
                <a:latin typeface="Courier New"/>
              </a:rPr>
              <a:t>animal</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9BE3A8"/>
                </a:solidFill>
                <a:latin typeface="Courier New"/>
              </a:rPr>
              <a:t>' says '</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sound</a:t>
            </a:r>
          </a:p>
        </p:txBody>
      </p:sp>
      <p:sp>
        <p:nvSpPr>
          <p:cNvPr id="5" name="explanation"/>
          <p:cNvSpPr txBox="1"/>
          <p:nvPr/>
        </p:nvSpPr>
        <p:spPr>
          <a:xfrm>
            <a:off x="4870704" y="841248"/>
            <a:ext cx="3907535" cy="723328"/>
          </a:xfrm>
          <a:prstGeom prst="rect">
            <a:avLst/>
          </a:prstGeom>
          <a:noFill/>
        </p:spPr>
        <p:txBody>
          <a:bodyPr wrap="square" lIns="128016" rIns="128016" tIns="18288" bIns="18288" anchor="ctr">
            <a:spAutoFit/>
          </a:bodyPr>
          <a:lstStyle/>
          <a:p>
            <a:r>
              <a:rPr sz="1250" b="0" i="0">
                <a:solidFill>
                  <a:srgbClr val="1F2933"/>
                </a:solidFill>
                <a:latin typeface="Calibri"/>
              </a:rPr>
              <a:t>animal and sound are parameters: the names in the def line. They stay empty until a call fills them.</a:t>
            </a:r>
          </a:p>
        </p:txBody>
      </p:sp>
      <p:sp>
        <p:nvSpPr>
          <p:cNvPr id="6" name="code"/>
          <p:cNvSpPr/>
          <p:nvPr/>
        </p:nvSpPr>
        <p:spPr>
          <a:xfrm>
            <a:off x="365760" y="1619440"/>
            <a:ext cx="4523232" cy="7233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describe</a:t>
            </a:r>
            <a:r>
              <a:rPr sz="1400" b="0" i="0">
                <a:solidFill>
                  <a:srgbClr val="E6EDF3"/>
                </a:solidFill>
                <a:latin typeface="Courier New"/>
              </a:rPr>
              <a:t>(</a:t>
            </a:r>
            <a:r>
              <a:rPr sz="1400" b="0" i="0">
                <a:solidFill>
                  <a:srgbClr val="9BE3A8"/>
                </a:solidFill>
                <a:latin typeface="Courier New"/>
              </a:rPr>
              <a:t>'cat'</a:t>
            </a:r>
            <a:r>
              <a:rPr sz="1400" b="0" i="0">
                <a:solidFill>
                  <a:srgbClr val="E6EDF3"/>
                </a:solidFill>
                <a:latin typeface="Courier New"/>
              </a:rPr>
              <a:t>,</a:t>
            </a:r>
            <a:r>
              <a:rPr sz="1400" b="0" i="0">
                <a:solidFill>
                  <a:srgbClr val="E6EDF3"/>
                </a:solidFill>
                <a:latin typeface="Courier New"/>
              </a:rPr>
              <a:t> </a:t>
            </a:r>
            <a:r>
              <a:rPr sz="1400" b="0" i="0">
                <a:solidFill>
                  <a:srgbClr val="9BE3A8"/>
                </a:solidFill>
                <a:latin typeface="Courier New"/>
              </a:rPr>
              <a:t>'meow'</a:t>
            </a:r>
            <a:r>
              <a:rPr sz="1400" b="0" i="0">
                <a:solidFill>
                  <a:srgbClr val="E6EDF3"/>
                </a:solidFill>
                <a:latin typeface="Courier New"/>
              </a:rPr>
              <a:t>)</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describe</a:t>
            </a:r>
            <a:r>
              <a:rPr sz="1400" b="0" i="0">
                <a:solidFill>
                  <a:srgbClr val="E6EDF3"/>
                </a:solidFill>
                <a:latin typeface="Courier New"/>
              </a:rPr>
              <a:t>(</a:t>
            </a:r>
            <a:r>
              <a:rPr sz="1400" b="0" i="0">
                <a:solidFill>
                  <a:srgbClr val="9BE3A8"/>
                </a:solidFill>
                <a:latin typeface="Courier New"/>
              </a:rPr>
              <a:t>'meow'</a:t>
            </a:r>
            <a:r>
              <a:rPr sz="1400" b="0" i="0">
                <a:solidFill>
                  <a:srgbClr val="E6EDF3"/>
                </a:solidFill>
                <a:latin typeface="Courier New"/>
              </a:rPr>
              <a:t>,</a:t>
            </a:r>
            <a:r>
              <a:rPr sz="1400" b="0" i="0">
                <a:solidFill>
                  <a:srgbClr val="E6EDF3"/>
                </a:solidFill>
                <a:latin typeface="Courier New"/>
              </a:rPr>
              <a:t> </a:t>
            </a:r>
            <a:r>
              <a:rPr sz="1400" b="0" i="0">
                <a:solidFill>
                  <a:srgbClr val="9BE3A8"/>
                </a:solidFill>
                <a:latin typeface="Courier New"/>
              </a:rPr>
              <a:t>'cat'</a:t>
            </a:r>
            <a:r>
              <a:rPr sz="1400" b="0" i="0">
                <a:solidFill>
                  <a:srgbClr val="E6EDF3"/>
                </a:solidFill>
                <a:latin typeface="Courier New"/>
              </a:rPr>
              <a:t>)</a:t>
            </a:r>
            <a:r>
              <a:rPr sz="1400" b="0" i="0">
                <a:solidFill>
                  <a:srgbClr val="E6EDF3"/>
                </a:solidFill>
                <a:latin typeface="Courier New"/>
              </a:rPr>
              <a:t>)</a:t>
            </a:r>
          </a:p>
        </p:txBody>
      </p:sp>
      <p:sp>
        <p:nvSpPr>
          <p:cNvPr id="7" name="explanation"/>
          <p:cNvSpPr txBox="1"/>
          <p:nvPr/>
        </p:nvSpPr>
        <p:spPr>
          <a:xfrm>
            <a:off x="4870704" y="1619440"/>
            <a:ext cx="3907535" cy="723328"/>
          </a:xfrm>
          <a:prstGeom prst="rect">
            <a:avLst/>
          </a:prstGeom>
          <a:noFill/>
        </p:spPr>
        <p:txBody>
          <a:bodyPr wrap="square" lIns="128016" rIns="128016" tIns="18288" bIns="18288" anchor="ctr">
            <a:spAutoFit/>
          </a:bodyPr>
          <a:lstStyle/>
          <a:p>
            <a:r>
              <a:rPr sz="1250" b="0" i="0">
                <a:solidFill>
                  <a:srgbClr val="1F2933"/>
                </a:solidFill>
                <a:latin typeface="Calibri"/>
              </a:rPr>
              <a:t>The values in the call are arguments. They fill the parameters by position, so swapping them swaps the meaning.</a:t>
            </a:r>
          </a:p>
        </p:txBody>
      </p:sp>
      <p:sp>
        <p:nvSpPr>
          <p:cNvPr id="8" name="result label"/>
          <p:cNvSpPr txBox="1"/>
          <p:nvPr/>
        </p:nvSpPr>
        <p:spPr>
          <a:xfrm>
            <a:off x="365760" y="2415921"/>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2690241"/>
          <a:ext cx="8412480" cy="932688"/>
        </p:xfrm>
        <a:graphic>
          <a:graphicData uri="http://schemas.openxmlformats.org/drawingml/2006/table">
            <a:tbl>
              <a:tblPr firstRow="0" bandRow="0"/>
              <a:tblGrid>
                <a:gridCol w="2743200"/>
                <a:gridCol w="1463040"/>
                <a:gridCol w="1463040"/>
                <a:gridCol w="2743200"/>
              </a:tblGrid>
              <a:tr h="310896">
                <a:tc>
                  <a:txBody>
                    <a:bodyPr wrap="square"/>
                    <a:lstStyle/>
                    <a:p>
                      <a:r>
                        <a:rPr sz="1050" b="1" i="0">
                          <a:solidFill>
                            <a:srgbClr val="FFFFFF"/>
                          </a:solidFill>
                          <a:latin typeface="Calibri"/>
                        </a:rPr>
                        <a:t>Call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animal gets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sound gets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The call gives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10896">
                <a:tc>
                  <a:txBody>
                    <a:bodyPr wrap="square"/>
                    <a:lstStyle/>
                    <a:p>
                      <a:r>
                        <a:rPr sz="1050" b="0" i="0">
                          <a:solidFill>
                            <a:srgbClr val="1F2933"/>
                          </a:solidFill>
                          <a:latin typeface="Courier New"/>
                        </a:rPr>
                        <a:t>describe('cat', 'meow')</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'cat'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'meow'</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'cat says meow'</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10896">
                <a:tc>
                  <a:txBody>
                    <a:bodyPr wrap="square"/>
                    <a:lstStyle/>
                    <a:p>
                      <a:r>
                        <a:rPr sz="1050" b="0" i="0">
                          <a:solidFill>
                            <a:srgbClr val="1F2933"/>
                          </a:solidFill>
                          <a:latin typeface="Courier New"/>
                        </a:rPr>
                        <a:t>describe('meow', 'cat')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'meow'</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c>
                  <a:txBody>
                    <a:bodyPr wrap="square"/>
                    <a:lstStyle/>
                    <a:p>
                      <a:r>
                        <a:rPr sz="1050" b="0" i="0">
                          <a:solidFill>
                            <a:srgbClr val="1F2933"/>
                          </a:solidFill>
                          <a:latin typeface="Courier New"/>
                        </a:rPr>
                        <a:t>'cat'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c>
                  <a:txBody>
                    <a:bodyPr wrap="square"/>
                    <a:lstStyle/>
                    <a:p>
                      <a:r>
                        <a:rPr sz="1050" b="0" i="0">
                          <a:solidFill>
                            <a:srgbClr val="1F2933"/>
                          </a:solidFill>
                          <a:latin typeface="Courier New"/>
                        </a:rPr>
                        <a:t>'meow says cat'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0" name="TextBox 9"/>
          <p:cNvSpPr txBox="1"/>
          <p:nvPr/>
        </p:nvSpPr>
        <p:spPr>
          <a:xfrm>
            <a:off x="365760" y="3696081"/>
            <a:ext cx="8412480" cy="256032"/>
          </a:xfrm>
          <a:prstGeom prst="rect">
            <a:avLst/>
          </a:prstGeom>
          <a:noFill/>
        </p:spPr>
        <p:txBody>
          <a:bodyPr wrap="square" lIns="45720" rIns="45720" tIns="27432" bIns="27432" anchor="t">
            <a:spAutoFit/>
          </a:bodyPr>
          <a:lstStyle/>
          <a:p>
            <a:r>
              <a:rPr sz="1000" b="0" i="1">
                <a:solidFill>
                  <a:srgbClr val="5B6773"/>
                </a:solidFill>
                <a:latin typeface="Calibri"/>
              </a:rPr>
              <a:t>second call: the arguments are swapped, so the meaning is swapped</a:t>
            </a:r>
          </a:p>
        </p:txBody>
      </p:sp>
      <p:sp>
        <p:nvSpPr>
          <p:cNvPr id="11"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Parameters are names; arguments are values.</a:t>
            </a:r>
          </a:p>
        </p:txBody>
      </p:sp>
      <p:sp>
        <p:nvSpPr>
          <p:cNvPr id="13"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10 / 46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return hands a value back to the caller</a:t>
            </a:r>
          </a:p>
        </p:txBody>
      </p:sp>
      <p:sp>
        <p:nvSpPr>
          <p:cNvPr id="4" name="code"/>
          <p:cNvSpPr/>
          <p:nvPr/>
        </p:nvSpPr>
        <p:spPr>
          <a:xfrm>
            <a:off x="365760" y="841248"/>
            <a:ext cx="3456432" cy="61671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C9A0FF"/>
                </a:solidFill>
                <a:latin typeface="Courier New"/>
              </a:rPr>
              <a:t>def</a:t>
            </a:r>
            <a:r>
              <a:rPr sz="1400" b="0" i="0">
                <a:solidFill>
                  <a:srgbClr val="E6EDF3"/>
                </a:solidFill>
                <a:latin typeface="Courier New"/>
              </a:rPr>
              <a:t> </a:t>
            </a:r>
            <a:r>
              <a:rPr sz="1400" b="0" i="0">
                <a:solidFill>
                  <a:srgbClr val="E6EDF3"/>
                </a:solidFill>
                <a:latin typeface="Courier New"/>
              </a:rPr>
              <a:t>double</a:t>
            </a:r>
            <a:r>
              <a:rPr sz="1400" b="0" i="0">
                <a:solidFill>
                  <a:srgbClr val="E6EDF3"/>
                </a:solidFill>
                <a:latin typeface="Courier New"/>
              </a:rPr>
              <a:t>(</a:t>
            </a:r>
            <a:r>
              <a:rPr sz="1400" b="0" i="0">
                <a:solidFill>
                  <a:srgbClr val="E6EDF3"/>
                </a:solidFill>
                <a:latin typeface="Courier New"/>
              </a:rPr>
              <a:t>n</a:t>
            </a:r>
            <a:r>
              <a:rPr sz="1400" b="0" i="0">
                <a:solidFill>
                  <a:srgbClr val="E6EDF3"/>
                </a:solidFill>
                <a:latin typeface="Courier New"/>
              </a:rPr>
              <a:t>)</a:t>
            </a:r>
            <a:r>
              <a:rPr sz="1400" b="0" i="0">
                <a:solidFill>
                  <a:srgbClr val="E6EDF3"/>
                </a:solidFill>
                <a:latin typeface="Courier New"/>
              </a:rPr>
              <a:t>:</a:t>
            </a:r>
          </a:p>
          <a:p>
            <a:pPr algn="l"/>
            <a:r>
              <a:rPr sz="1400" b="0" i="0">
                <a:solidFill>
                  <a:srgbClr val="8FA3B8"/>
                </a:solidFill>
                <a:latin typeface="Courier New"/>
              </a:rPr>
              <a:t>&gt;&gt;&gt; </a:t>
            </a:r>
            <a:r>
              <a:rPr sz="1400" b="0" i="0">
                <a:solidFill>
                  <a:srgbClr val="E6EDF3"/>
                </a:solidFill>
                <a:latin typeface="Courier New"/>
              </a:rPr>
              <a:t>    </a:t>
            </a:r>
            <a:r>
              <a:rPr sz="1400" b="0" i="0">
                <a:solidFill>
                  <a:srgbClr val="C9A0FF"/>
                </a:solidFill>
                <a:latin typeface="Courier New"/>
              </a:rPr>
              <a:t>return</a:t>
            </a:r>
            <a:r>
              <a:rPr sz="1400" b="0" i="0">
                <a:solidFill>
                  <a:srgbClr val="E6EDF3"/>
                </a:solidFill>
                <a:latin typeface="Courier New"/>
              </a:rPr>
              <a:t> </a:t>
            </a:r>
            <a:r>
              <a:rPr sz="1400" b="0" i="0">
                <a:solidFill>
                  <a:srgbClr val="E6EDF3"/>
                </a:solidFill>
                <a:latin typeface="Courier New"/>
              </a:rPr>
              <a:t>n</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2</a:t>
            </a:r>
          </a:p>
        </p:txBody>
      </p:sp>
      <p:sp>
        <p:nvSpPr>
          <p:cNvPr id="5" name="explanation"/>
          <p:cNvSpPr txBox="1"/>
          <p:nvPr/>
        </p:nvSpPr>
        <p:spPr>
          <a:xfrm>
            <a:off x="3803904" y="841248"/>
            <a:ext cx="4974336" cy="616712"/>
          </a:xfrm>
          <a:prstGeom prst="rect">
            <a:avLst/>
          </a:prstGeom>
          <a:noFill/>
        </p:spPr>
        <p:txBody>
          <a:bodyPr wrap="square" lIns="128016" rIns="128016" tIns="18288" bIns="18288" anchor="ctr">
            <a:spAutoFit/>
          </a:bodyPr>
          <a:lstStyle/>
          <a:p>
            <a:r>
              <a:rPr sz="1250" b="0" i="0">
                <a:solidFill>
                  <a:srgbClr val="1F2933"/>
                </a:solidFill>
                <a:latin typeface="Calibri"/>
              </a:rPr>
              <a:t>return ends the call and hands a value back. The call expression then stands for that value.</a:t>
            </a:r>
          </a:p>
        </p:txBody>
      </p:sp>
      <p:sp>
        <p:nvSpPr>
          <p:cNvPr id="6" name="code"/>
          <p:cNvSpPr/>
          <p:nvPr/>
        </p:nvSpPr>
        <p:spPr>
          <a:xfrm>
            <a:off x="365760" y="1512824"/>
            <a:ext cx="3456432" cy="8336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E6EDF3"/>
                </a:solidFill>
                <a:latin typeface="Courier New"/>
              </a:rPr>
              <a:t>x</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double</a:t>
            </a:r>
            <a:r>
              <a:rPr sz="1400" b="0" i="0">
                <a:solidFill>
                  <a:srgbClr val="E6EDF3"/>
                </a:solidFill>
                <a:latin typeface="Courier New"/>
              </a:rPr>
              <a:t>(</a:t>
            </a:r>
            <a:r>
              <a:rPr sz="1400" b="0" i="0">
                <a:solidFill>
                  <a:srgbClr val="7CC4FF"/>
                </a:solidFill>
                <a:latin typeface="Courier New"/>
              </a:rPr>
              <a:t>21</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x</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type</a:t>
            </a:r>
            <a:r>
              <a:rPr sz="1400" b="0" i="0">
                <a:solidFill>
                  <a:srgbClr val="E6EDF3"/>
                </a:solidFill>
                <a:latin typeface="Courier New"/>
              </a:rPr>
              <a:t>(</a:t>
            </a:r>
            <a:r>
              <a:rPr sz="1400" b="0" i="0">
                <a:solidFill>
                  <a:srgbClr val="E6EDF3"/>
                </a:solidFill>
                <a:latin typeface="Courier New"/>
              </a:rPr>
              <a:t>x</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__name__</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double</a:t>
            </a:r>
            <a:r>
              <a:rPr sz="1400" b="0" i="0">
                <a:solidFill>
                  <a:srgbClr val="E6EDF3"/>
                </a:solidFill>
                <a:latin typeface="Courier New"/>
              </a:rPr>
              <a:t>(</a:t>
            </a:r>
            <a:r>
              <a:rPr sz="1400" b="0" i="0">
                <a:solidFill>
                  <a:srgbClr val="E6EDF3"/>
                </a:solidFill>
                <a:latin typeface="Courier New"/>
              </a:rPr>
              <a:t>double</a:t>
            </a:r>
            <a:r>
              <a:rPr sz="1400" b="0" i="0">
                <a:solidFill>
                  <a:srgbClr val="E6EDF3"/>
                </a:solidFill>
                <a:latin typeface="Courier New"/>
              </a:rPr>
              <a:t>(</a:t>
            </a:r>
            <a:r>
              <a:rPr sz="1400" b="0" i="0">
                <a:solidFill>
                  <a:srgbClr val="7CC4FF"/>
                </a:solidFill>
                <a:latin typeface="Courier New"/>
              </a:rPr>
              <a:t>2</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a:t>
            </a:r>
          </a:p>
        </p:txBody>
      </p:sp>
      <p:sp>
        <p:nvSpPr>
          <p:cNvPr id="7" name="explanation"/>
          <p:cNvSpPr txBox="1"/>
          <p:nvPr/>
        </p:nvSpPr>
        <p:spPr>
          <a:xfrm>
            <a:off x="3803904" y="1512824"/>
            <a:ext cx="4974336" cy="833628"/>
          </a:xfrm>
          <a:prstGeom prst="rect">
            <a:avLst/>
          </a:prstGeom>
          <a:noFill/>
        </p:spPr>
        <p:txBody>
          <a:bodyPr wrap="square" lIns="128016" rIns="128016" tIns="18288" bIns="18288" anchor="ctr">
            <a:spAutoFit/>
          </a:bodyPr>
          <a:lstStyle/>
          <a:p>
            <a:r>
              <a:rPr sz="1250" b="0" i="0">
                <a:solidFill>
                  <a:srgbClr val="1F2933"/>
                </a:solidFill>
                <a:latin typeface="Calibri"/>
              </a:rPr>
              <a:t>The call double(21) is replaced by 42, which is stored in x. Calls can be nested; the inner call runs first.</a:t>
            </a:r>
          </a:p>
        </p:txBody>
      </p:sp>
      <p:sp>
        <p:nvSpPr>
          <p:cNvPr id="8" name="result label"/>
          <p:cNvSpPr txBox="1"/>
          <p:nvPr/>
        </p:nvSpPr>
        <p:spPr>
          <a:xfrm>
            <a:off x="365760" y="2419604"/>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9" name="Rounded Rectangle 8"/>
          <p:cNvSpPr/>
          <p:nvPr/>
        </p:nvSpPr>
        <p:spPr>
          <a:xfrm>
            <a:off x="365760" y="2693924"/>
            <a:ext cx="1481328" cy="365760"/>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double(21)</a:t>
            </a:r>
          </a:p>
        </p:txBody>
      </p:sp>
      <p:sp>
        <p:nvSpPr>
          <p:cNvPr id="10" name="Rounded Rectangle 9"/>
          <p:cNvSpPr/>
          <p:nvPr/>
        </p:nvSpPr>
        <p:spPr>
          <a:xfrm>
            <a:off x="2103120" y="2693924"/>
            <a:ext cx="1481328" cy="365760"/>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n = 21</a:t>
            </a:r>
          </a:p>
        </p:txBody>
      </p:sp>
      <p:cxnSp>
        <p:nvCxnSpPr>
          <p:cNvPr id="11" name="arrow"/>
          <p:cNvCxnSpPr/>
          <p:nvPr/>
        </p:nvCxnSpPr>
        <p:spPr>
          <a:xfrm>
            <a:off x="1865376" y="2876804"/>
            <a:ext cx="219456"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840480" y="2693924"/>
            <a:ext cx="1481328" cy="365760"/>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return n * 2</a:t>
            </a:r>
          </a:p>
        </p:txBody>
      </p:sp>
      <p:cxnSp>
        <p:nvCxnSpPr>
          <p:cNvPr id="13" name="arrow"/>
          <p:cNvCxnSpPr/>
          <p:nvPr/>
        </p:nvCxnSpPr>
        <p:spPr>
          <a:xfrm>
            <a:off x="3602736" y="2876804"/>
            <a:ext cx="219456"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577840" y="2693924"/>
            <a:ext cx="1481328" cy="365760"/>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42</a:t>
            </a:r>
          </a:p>
        </p:txBody>
      </p:sp>
      <p:cxnSp>
        <p:nvCxnSpPr>
          <p:cNvPr id="15" name="arrow"/>
          <p:cNvCxnSpPr/>
          <p:nvPr/>
        </p:nvCxnSpPr>
        <p:spPr>
          <a:xfrm>
            <a:off x="5340096" y="2876804"/>
            <a:ext cx="219456"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315200" y="2693924"/>
            <a:ext cx="1481328" cy="365760"/>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x = 42</a:t>
            </a:r>
          </a:p>
        </p:txBody>
      </p:sp>
      <p:cxnSp>
        <p:nvCxnSpPr>
          <p:cNvPr id="17" name="arrow"/>
          <p:cNvCxnSpPr/>
          <p:nvPr/>
        </p:nvCxnSpPr>
        <p:spPr>
          <a:xfrm>
            <a:off x="7077456" y="2876804"/>
            <a:ext cx="219456"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365760" y="3260852"/>
            <a:ext cx="2194560" cy="365760"/>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double(double(2))</a:t>
            </a:r>
          </a:p>
        </p:txBody>
      </p:sp>
      <p:sp>
        <p:nvSpPr>
          <p:cNvPr id="19" name="Rounded Rectangle 18"/>
          <p:cNvSpPr/>
          <p:nvPr/>
        </p:nvSpPr>
        <p:spPr>
          <a:xfrm>
            <a:off x="2834640" y="3260852"/>
            <a:ext cx="2926080" cy="365760"/>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inner call double(2) = 4</a:t>
            </a:r>
          </a:p>
        </p:txBody>
      </p:sp>
      <p:cxnSp>
        <p:nvCxnSpPr>
          <p:cNvPr id="20" name="arrow"/>
          <p:cNvCxnSpPr/>
          <p:nvPr/>
        </p:nvCxnSpPr>
        <p:spPr>
          <a:xfrm>
            <a:off x="2560320" y="3443732"/>
            <a:ext cx="256032"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035040" y="3260852"/>
            <a:ext cx="2926080" cy="365760"/>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outer call double(4) = 8</a:t>
            </a:r>
          </a:p>
        </p:txBody>
      </p:sp>
      <p:cxnSp>
        <p:nvCxnSpPr>
          <p:cNvPr id="22" name="arrow"/>
          <p:cNvCxnSpPr/>
          <p:nvPr/>
        </p:nvCxnSpPr>
        <p:spPr>
          <a:xfrm>
            <a:off x="5760720" y="3443732"/>
            <a:ext cx="256032"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return hands the value back to the caller.</a:t>
            </a:r>
          </a:p>
        </p:txBody>
      </p:sp>
      <p:sp>
        <p:nvSpPr>
          <p:cNvPr id="2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11 / 46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None: what a function gives back without return</a:t>
            </a:r>
          </a:p>
        </p:txBody>
      </p:sp>
      <p:sp>
        <p:nvSpPr>
          <p:cNvPr id="4" name="code"/>
          <p:cNvSpPr/>
          <p:nvPr/>
        </p:nvSpPr>
        <p:spPr>
          <a:xfrm>
            <a:off x="365760" y="841248"/>
            <a:ext cx="4416551" cy="61671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C9A0FF"/>
                </a:solidFill>
                <a:latin typeface="Courier New"/>
              </a:rPr>
              <a:t>def</a:t>
            </a:r>
            <a:r>
              <a:rPr sz="1400" b="0" i="0">
                <a:solidFill>
                  <a:srgbClr val="E6EDF3"/>
                </a:solidFill>
                <a:latin typeface="Courier New"/>
              </a:rPr>
              <a:t> </a:t>
            </a:r>
            <a:r>
              <a:rPr sz="1400" b="0" i="0">
                <a:solidFill>
                  <a:srgbClr val="E6EDF3"/>
                </a:solidFill>
                <a:latin typeface="Courier New"/>
              </a:rPr>
              <a:t>shout</a:t>
            </a:r>
            <a:r>
              <a:rPr sz="1400" b="0" i="0">
                <a:solidFill>
                  <a:srgbClr val="E6EDF3"/>
                </a:solidFill>
                <a:latin typeface="Courier New"/>
              </a:rPr>
              <a:t>(</a:t>
            </a:r>
            <a:r>
              <a:rPr sz="1400" b="0" i="0">
                <a:solidFill>
                  <a:srgbClr val="E6EDF3"/>
                </a:solidFill>
                <a:latin typeface="Courier New"/>
              </a:rPr>
              <a:t>word</a:t>
            </a:r>
            <a:r>
              <a:rPr sz="1400" b="0" i="0">
                <a:solidFill>
                  <a:srgbClr val="E6EDF3"/>
                </a:solidFill>
                <a:latin typeface="Courier New"/>
              </a:rPr>
              <a:t>)</a:t>
            </a:r>
            <a:r>
              <a:rPr sz="1400" b="0" i="0">
                <a:solidFill>
                  <a:srgbClr val="E6EDF3"/>
                </a:solidFill>
                <a:latin typeface="Courier New"/>
              </a:rPr>
              <a:t>:</a:t>
            </a:r>
          </a:p>
          <a:p>
            <a:pPr algn="l"/>
            <a:r>
              <a:rPr sz="1400" b="0" i="0">
                <a:solidFill>
                  <a:srgbClr val="8FA3B8"/>
                </a:solidFill>
                <a:latin typeface="Courier New"/>
              </a:rPr>
              <a:t>&gt;&gt;&gt; </a:t>
            </a:r>
            <a:r>
              <a:rPr sz="1400" b="0" i="0">
                <a:solidFill>
                  <a:srgbClr val="E6EDF3"/>
                </a:solidFill>
                <a:latin typeface="Courier New"/>
              </a:rPr>
              <a: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word</a:t>
            </a:r>
            <a:r>
              <a:rPr sz="1400" b="0" i="0">
                <a:solidFill>
                  <a:srgbClr val="E6EDF3"/>
                </a:solidFill>
                <a:latin typeface="Courier New"/>
              </a:rPr>
              <a:t>.</a:t>
            </a:r>
            <a:r>
              <a:rPr sz="1400" b="0" i="0">
                <a:solidFill>
                  <a:srgbClr val="E6EDF3"/>
                </a:solidFill>
                <a:latin typeface="Courier New"/>
              </a:rPr>
              <a:t>upper</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a:t>
            </a:r>
          </a:p>
        </p:txBody>
      </p:sp>
      <p:sp>
        <p:nvSpPr>
          <p:cNvPr id="5" name="explanation"/>
          <p:cNvSpPr txBox="1"/>
          <p:nvPr/>
        </p:nvSpPr>
        <p:spPr>
          <a:xfrm>
            <a:off x="4764024" y="841248"/>
            <a:ext cx="4014215" cy="616712"/>
          </a:xfrm>
          <a:prstGeom prst="rect">
            <a:avLst/>
          </a:prstGeom>
          <a:noFill/>
        </p:spPr>
        <p:txBody>
          <a:bodyPr wrap="square" lIns="128016" rIns="128016" tIns="18288" bIns="18288" anchor="ctr">
            <a:spAutoFit/>
          </a:bodyPr>
          <a:lstStyle/>
          <a:p>
            <a:r>
              <a:rPr sz="1250" b="0" i="0">
                <a:solidFill>
                  <a:srgbClr val="1F2933"/>
                </a:solidFill>
                <a:latin typeface="Calibri"/>
              </a:rPr>
              <a:t>This function prints, but it has no return statement. It does its work and hands nothing back.</a:t>
            </a:r>
          </a:p>
        </p:txBody>
      </p:sp>
      <p:sp>
        <p:nvSpPr>
          <p:cNvPr id="6" name="code"/>
          <p:cNvSpPr/>
          <p:nvPr/>
        </p:nvSpPr>
        <p:spPr>
          <a:xfrm>
            <a:off x="365760" y="1512824"/>
            <a:ext cx="4416551" cy="8336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E6EDF3"/>
                </a:solidFill>
                <a:latin typeface="Courier New"/>
              </a:rPr>
              <a:t>result</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shout</a:t>
            </a:r>
            <a:r>
              <a:rPr sz="1400" b="0" i="0">
                <a:solidFill>
                  <a:srgbClr val="E6EDF3"/>
                </a:solidFill>
                <a:latin typeface="Courier New"/>
              </a:rPr>
              <a:t>(</a:t>
            </a:r>
            <a:r>
              <a:rPr sz="1400" b="0" i="0">
                <a:solidFill>
                  <a:srgbClr val="9BE3A8"/>
                </a:solidFill>
                <a:latin typeface="Courier New"/>
              </a:rPr>
              <a:t>'hi'</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result</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result</a:t>
            </a:r>
            <a:r>
              <a:rPr sz="1400" b="0" i="0">
                <a:solidFill>
                  <a:srgbClr val="E6EDF3"/>
                </a:solidFill>
                <a:latin typeface="Courier New"/>
              </a:rPr>
              <a:t> </a:t>
            </a:r>
            <a:r>
              <a:rPr sz="1400" b="0" i="0">
                <a:solidFill>
                  <a:srgbClr val="C9A0FF"/>
                </a:solidFill>
                <a:latin typeface="Courier New"/>
              </a:rPr>
              <a:t>is</a:t>
            </a:r>
            <a:r>
              <a:rPr sz="1400" b="0" i="0">
                <a:solidFill>
                  <a:srgbClr val="E6EDF3"/>
                </a:solidFill>
                <a:latin typeface="Courier New"/>
              </a:rPr>
              <a:t> </a:t>
            </a:r>
            <a:r>
              <a:rPr sz="1400" b="0" i="0">
                <a:solidFill>
                  <a:srgbClr val="C9A0FF"/>
                </a:solidFill>
                <a:latin typeface="Courier New"/>
              </a:rPr>
              <a:t>None</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len</a:t>
            </a:r>
            <a:r>
              <a:rPr sz="1400" b="0" i="0">
                <a:solidFill>
                  <a:srgbClr val="E6EDF3"/>
                </a:solidFill>
                <a:latin typeface="Courier New"/>
              </a:rPr>
              <a:t>(</a:t>
            </a:r>
            <a:r>
              <a:rPr sz="1400" b="0" i="0">
                <a:solidFill>
                  <a:srgbClr val="9BE3A8"/>
                </a:solidFill>
                <a:latin typeface="Courier New"/>
              </a:rPr>
              <a:t>'hello'</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len</a:t>
            </a:r>
            <a:r>
              <a:rPr sz="1400" b="0" i="0">
                <a:solidFill>
                  <a:srgbClr val="E6EDF3"/>
                </a:solidFill>
                <a:latin typeface="Courier New"/>
              </a:rPr>
              <a:t>(</a:t>
            </a:r>
            <a:r>
              <a:rPr sz="1400" b="0" i="0">
                <a:solidFill>
                  <a:srgbClr val="E6EDF3"/>
                </a:solidFill>
                <a:latin typeface="Courier New"/>
              </a:rPr>
              <a:t>[</a:t>
            </a:r>
            <a:r>
              <a:rPr sz="1400" b="0" i="0">
                <a:solidFill>
                  <a:srgbClr val="7CC4FF"/>
                </a:solidFill>
                <a:latin typeface="Courier New"/>
              </a:rPr>
              <a:t>1</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2</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3</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a:t>
            </a:r>
          </a:p>
        </p:txBody>
      </p:sp>
      <p:sp>
        <p:nvSpPr>
          <p:cNvPr id="7" name="explanation"/>
          <p:cNvSpPr txBox="1"/>
          <p:nvPr/>
        </p:nvSpPr>
        <p:spPr>
          <a:xfrm>
            <a:off x="4764024" y="1512824"/>
            <a:ext cx="4014215" cy="833628"/>
          </a:xfrm>
          <a:prstGeom prst="rect">
            <a:avLst/>
          </a:prstGeom>
          <a:noFill/>
        </p:spPr>
        <p:txBody>
          <a:bodyPr wrap="square" lIns="128016" rIns="128016" tIns="18288" bIns="18288" anchor="ctr">
            <a:spAutoFit/>
          </a:bodyPr>
          <a:lstStyle/>
          <a:p>
            <a:r>
              <a:rPr sz="1250" b="0" i="0">
                <a:solidFill>
                  <a:srgbClr val="1F2933"/>
                </a:solidFill>
                <a:latin typeface="Calibri"/>
              </a:rPr>
              <a:t>Python hands back the value None. The built-in len does return a value: the length.</a:t>
            </a:r>
          </a:p>
        </p:txBody>
      </p:sp>
      <p:sp>
        <p:nvSpPr>
          <p:cNvPr id="8" name="result label"/>
          <p:cNvSpPr txBox="1"/>
          <p:nvPr/>
        </p:nvSpPr>
        <p:spPr>
          <a:xfrm>
            <a:off x="365760" y="2419604"/>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2693924"/>
          <a:ext cx="8412478" cy="1371600"/>
        </p:xfrm>
        <a:graphic>
          <a:graphicData uri="http://schemas.openxmlformats.org/drawingml/2006/table">
            <a:tbl>
              <a:tblPr firstRow="0" bandRow="0"/>
              <a:tblGrid>
                <a:gridCol w="2403565"/>
                <a:gridCol w="1802674"/>
                <a:gridCol w="1802674"/>
                <a:gridCol w="2403565"/>
              </a:tblGrid>
              <a:tr h="274320">
                <a:tc>
                  <a:txBody>
                    <a:bodyPr wrap="square"/>
                    <a:lstStyle/>
                    <a:p>
                      <a:r>
                        <a:rPr sz="1050" b="1" i="0">
                          <a:solidFill>
                            <a:srgbClr val="FFFFFF"/>
                          </a:solidFill>
                          <a:latin typeface="Calibri"/>
                        </a:rPr>
                        <a:t>Call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It printed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It gave back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Type of that value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1050" b="0" i="0">
                          <a:solidFill>
                            <a:srgbClr val="1F2933"/>
                          </a:solidFill>
                          <a:latin typeface="Courier New"/>
                        </a:rPr>
                        <a:t>shout('hi')</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'HI\n'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B83A1B"/>
                          </a:solidFill>
                          <a:latin typeface="Courier New"/>
                        </a:rPr>
                        <a:t>None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B83A1B"/>
                          </a:solidFill>
                          <a:latin typeface="Courier New"/>
                        </a:rPr>
                        <a:t>NoneType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1050" b="0" i="0">
                          <a:solidFill>
                            <a:srgbClr val="1F2933"/>
                          </a:solidFill>
                          <a:latin typeface="Courier New"/>
                        </a:rPr>
                        <a:t>len('hello')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nothing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2F855A"/>
                          </a:solidFill>
                          <a:latin typeface="Courier New"/>
                        </a:rPr>
                        <a:t>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int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4320">
                <a:tc>
                  <a:txBody>
                    <a:bodyPr wrap="square"/>
                    <a:lstStyle/>
                    <a:p>
                      <a:r>
                        <a:rPr sz="1050" b="0" i="0">
                          <a:solidFill>
                            <a:srgbClr val="1F2933"/>
                          </a:solidFill>
                          <a:latin typeface="Courier New"/>
                        </a:rPr>
                        <a:t>len([1, 2, 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nothing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2F855A"/>
                          </a:solidFill>
                          <a:latin typeface="Courier New"/>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int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1050" b="0" i="0">
                          <a:solidFill>
                            <a:srgbClr val="1F2933"/>
                          </a:solidFill>
                          <a:latin typeface="Courier New"/>
                        </a:rPr>
                        <a:t>print('x')</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'x\n'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B83A1B"/>
                          </a:solidFill>
                          <a:latin typeface="Courier New"/>
                        </a:rPr>
                        <a:t>None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B83A1B"/>
                          </a:solidFill>
                          <a:latin typeface="Courier New"/>
                        </a:rPr>
                        <a:t>NoneType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0"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No return statement means the call gives back None.</a:t>
            </a:r>
          </a:p>
        </p:txBody>
      </p:sp>
      <p:sp>
        <p:nvSpPr>
          <p:cNvPr id="12"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12 / 46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named options and built-ins</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548640"/>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Named parameters are labelled switches on a machine: you set only the ones you care about.</a:t>
            </a:r>
          </a:p>
        </p:txBody>
      </p:sp>
      <p:graphicFrame>
        <p:nvGraphicFramePr>
          <p:cNvPr id="6" name="table"/>
          <p:cNvGraphicFramePr>
            <a:graphicFrameLocks noGrp="1"/>
          </p:cNvGraphicFramePr>
          <p:nvPr/>
        </p:nvGraphicFramePr>
        <p:xfrm>
          <a:off x="365760" y="1463040"/>
          <a:ext cx="8412480" cy="2286000"/>
        </p:xfrm>
        <a:graphic>
          <a:graphicData uri="http://schemas.openxmlformats.org/drawingml/2006/table">
            <a:tbl>
              <a:tblPr firstRow="0" bandRow="0"/>
              <a:tblGrid>
                <a:gridCol w="3383280"/>
                <a:gridCol w="5029200"/>
              </a:tblGrid>
              <a:tr h="457200">
                <a:tc>
                  <a:txBody>
                    <a:bodyPr wrap="square"/>
                    <a:lstStyle/>
                    <a:p>
                      <a:r>
                        <a:rPr sz="12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2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457200">
                <a:tc>
                  <a:txBody>
                    <a:bodyPr wrap="square"/>
                    <a:lstStyle/>
                    <a:p>
                      <a:r>
                        <a:rPr sz="1200" b="1" i="0">
                          <a:solidFill>
                            <a:srgbClr val="1F2933"/>
                          </a:solidFill>
                          <a:latin typeface="Calibri"/>
                        </a:rPr>
                        <a:t>Named Parameters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Labelled switches on a coffee machine: strength=strong.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200" b="1" i="0">
                          <a:solidFill>
                            <a:srgbClr val="1F2933"/>
                          </a:solidFill>
                          <a:latin typeface="Calibri"/>
                        </a:rPr>
                        <a:t>print()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A loudspeaker: it says the words and gives you nothing back.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57200">
                <a:tc>
                  <a:txBody>
                    <a:bodyPr wrap="square"/>
                    <a:lstStyle/>
                    <a:p>
                      <a:r>
                        <a:rPr sz="1200" b="1" i="0">
                          <a:solidFill>
                            <a:srgbClr val="1F2933"/>
                          </a:solidFill>
                          <a:latin typeface="Calibri"/>
                        </a:rPr>
                        <a:t>input()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A question at a reception desk: the program waits for the answer.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200" b="1" i="0">
                          <a:solidFill>
                            <a:srgbClr val="1F2933"/>
                          </a:solidFill>
                          <a:latin typeface="Calibri"/>
                        </a:rPr>
                        <a:t>len()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A tape measure: it answers with a number and changes nothing.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13 / 46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Named parameters: sep and end of print()</a:t>
            </a:r>
          </a:p>
        </p:txBody>
      </p:sp>
      <p:sp>
        <p:nvSpPr>
          <p:cNvPr id="4" name="code"/>
          <p:cNvSpPr/>
          <p:nvPr/>
        </p:nvSpPr>
        <p:spPr>
          <a:xfrm>
            <a:off x="365760" y="841248"/>
            <a:ext cx="4843271" cy="7233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9BE3A8"/>
                </a:solidFill>
                <a:latin typeface="Courier New"/>
              </a:rPr>
              <a:t>'cats'</a:t>
            </a:r>
            <a:r>
              <a:rPr sz="1400" b="0" i="0">
                <a:solidFill>
                  <a:srgbClr val="E6EDF3"/>
                </a:solidFill>
                <a:latin typeface="Courier New"/>
              </a:rPr>
              <a:t>,</a:t>
            </a:r>
            <a:r>
              <a:rPr sz="1400" b="0" i="0">
                <a:solidFill>
                  <a:srgbClr val="E6EDF3"/>
                </a:solidFill>
                <a:latin typeface="Courier New"/>
              </a:rPr>
              <a:t> </a:t>
            </a:r>
            <a:r>
              <a:rPr sz="1400" b="0" i="0">
                <a:solidFill>
                  <a:srgbClr val="9BE3A8"/>
                </a:solidFill>
                <a:latin typeface="Courier New"/>
              </a:rPr>
              <a:t>'dogs'</a:t>
            </a:r>
            <a:r>
              <a:rPr sz="1400" b="0" i="0">
                <a:solidFill>
                  <a:srgbClr val="E6EDF3"/>
                </a:solidFill>
                <a:latin typeface="Courier New"/>
              </a:rPr>
              <a:t>,</a:t>
            </a:r>
            <a:r>
              <a:rPr sz="1400" b="0" i="0">
                <a:solidFill>
                  <a:srgbClr val="E6EDF3"/>
                </a:solidFill>
                <a:latin typeface="Courier New"/>
              </a:rPr>
              <a:t> </a:t>
            </a:r>
            <a:r>
              <a:rPr sz="1400" b="0" i="0">
                <a:solidFill>
                  <a:srgbClr val="9BE3A8"/>
                </a:solidFill>
                <a:latin typeface="Courier New"/>
              </a:rPr>
              <a:t>'mice'</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9BE3A8"/>
                </a:solidFill>
                <a:latin typeface="Courier New"/>
              </a:rPr>
              <a:t>'cats'</a:t>
            </a:r>
            <a:r>
              <a:rPr sz="1400" b="0" i="0">
                <a:solidFill>
                  <a:srgbClr val="E6EDF3"/>
                </a:solidFill>
                <a:latin typeface="Courier New"/>
              </a:rPr>
              <a:t>,</a:t>
            </a:r>
            <a:r>
              <a:rPr sz="1400" b="0" i="0">
                <a:solidFill>
                  <a:srgbClr val="E6EDF3"/>
                </a:solidFill>
                <a:latin typeface="Courier New"/>
              </a:rPr>
              <a:t> </a:t>
            </a:r>
            <a:r>
              <a:rPr sz="1400" b="0" i="0">
                <a:solidFill>
                  <a:srgbClr val="9BE3A8"/>
                </a:solidFill>
                <a:latin typeface="Courier New"/>
              </a:rPr>
              <a:t>'dogs'</a:t>
            </a:r>
            <a:r>
              <a:rPr sz="1400" b="0" i="0">
                <a:solidFill>
                  <a:srgbClr val="E6EDF3"/>
                </a:solidFill>
                <a:latin typeface="Courier New"/>
              </a:rPr>
              <a:t>,</a:t>
            </a:r>
            <a:r>
              <a:rPr sz="1400" b="0" i="0">
                <a:solidFill>
                  <a:srgbClr val="E6EDF3"/>
                </a:solidFill>
                <a:latin typeface="Courier New"/>
              </a:rPr>
              <a:t> </a:t>
            </a:r>
            <a:r>
              <a:rPr sz="1400" b="0" i="0">
                <a:solidFill>
                  <a:srgbClr val="9BE3A8"/>
                </a:solidFill>
                <a:latin typeface="Courier New"/>
              </a:rPr>
              <a:t>'mice'</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sep</a:t>
            </a:r>
            <a:r>
              <a:rPr sz="1400" b="0" i="0">
                <a:solidFill>
                  <a:srgbClr val="E6EDF3"/>
                </a:solidFill>
                <a:latin typeface="Courier New"/>
              </a:rPr>
              <a:t>=</a:t>
            </a:r>
            <a:r>
              <a:rPr sz="1400" b="0" i="0">
                <a:solidFill>
                  <a:srgbClr val="9BE3A8"/>
                </a:solidFill>
                <a:latin typeface="Courier New"/>
              </a:rPr>
              <a:t>', '</a:t>
            </a:r>
            <a:r>
              <a:rPr sz="1400" b="0" i="0">
                <a:solidFill>
                  <a:srgbClr val="E6EDF3"/>
                </a:solidFill>
                <a:latin typeface="Courier New"/>
              </a:rPr>
              <a:t>)</a:t>
            </a:r>
          </a:p>
        </p:txBody>
      </p:sp>
      <p:sp>
        <p:nvSpPr>
          <p:cNvPr id="5" name="explanation"/>
          <p:cNvSpPr txBox="1"/>
          <p:nvPr/>
        </p:nvSpPr>
        <p:spPr>
          <a:xfrm>
            <a:off x="5190744" y="841248"/>
            <a:ext cx="3587496" cy="723328"/>
          </a:xfrm>
          <a:prstGeom prst="rect">
            <a:avLst/>
          </a:prstGeom>
          <a:noFill/>
        </p:spPr>
        <p:txBody>
          <a:bodyPr wrap="square" lIns="128016" rIns="128016" tIns="18288" bIns="18288" anchor="ctr">
            <a:spAutoFit/>
          </a:bodyPr>
          <a:lstStyle/>
          <a:p>
            <a:r>
              <a:rPr sz="1250" b="0" i="0">
                <a:solidFill>
                  <a:srgbClr val="1F2933"/>
                </a:solidFill>
                <a:latin typeface="Calibri"/>
              </a:rPr>
              <a:t>print puts a space between values. The named parameter sep chooses another separator.</a:t>
            </a:r>
          </a:p>
        </p:txBody>
      </p:sp>
      <p:sp>
        <p:nvSpPr>
          <p:cNvPr id="6" name="code"/>
          <p:cNvSpPr/>
          <p:nvPr/>
        </p:nvSpPr>
        <p:spPr>
          <a:xfrm>
            <a:off x="365760" y="1619440"/>
            <a:ext cx="4843271" cy="7233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9BE3A8"/>
                </a:solidFill>
                <a:latin typeface="Courier New"/>
              </a:rPr>
              <a:t>'Hello'</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end</a:t>
            </a:r>
            <a:r>
              <a:rPr sz="1400" b="0" i="0">
                <a:solidFill>
                  <a:srgbClr val="E6EDF3"/>
                </a:solidFill>
                <a:latin typeface="Courier New"/>
              </a:rPr>
              <a:t>=</a:t>
            </a:r>
            <a:r>
              <a:rPr sz="1400" b="0" i="0">
                <a:solidFill>
                  <a:srgbClr val="9BE3A8"/>
                </a:solidFill>
                <a:latin typeface="Courier New"/>
              </a:rPr>
              <a:t>''</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9BE3A8"/>
                </a:solidFill>
                <a:latin typeface="Courier New"/>
              </a:rPr>
              <a:t>' World'</a:t>
            </a:r>
            <a:r>
              <a:rPr sz="1400" b="0" i="0">
                <a:solidFill>
                  <a:srgbClr val="E6EDF3"/>
                </a:solidFill>
                <a:latin typeface="Courier New"/>
              </a:rPr>
              <a:t>)</a:t>
            </a:r>
          </a:p>
        </p:txBody>
      </p:sp>
      <p:sp>
        <p:nvSpPr>
          <p:cNvPr id="7" name="explanation"/>
          <p:cNvSpPr txBox="1"/>
          <p:nvPr/>
        </p:nvSpPr>
        <p:spPr>
          <a:xfrm>
            <a:off x="5190744" y="1619440"/>
            <a:ext cx="3587496" cy="723328"/>
          </a:xfrm>
          <a:prstGeom prst="rect">
            <a:avLst/>
          </a:prstGeom>
          <a:noFill/>
        </p:spPr>
        <p:txBody>
          <a:bodyPr wrap="square" lIns="128016" rIns="128016" tIns="18288" bIns="18288" anchor="ctr">
            <a:spAutoFit/>
          </a:bodyPr>
          <a:lstStyle/>
          <a:p>
            <a:r>
              <a:rPr sz="1250" b="0" i="0">
                <a:solidFill>
                  <a:srgbClr val="1F2933"/>
                </a:solidFill>
                <a:latin typeface="Calibri"/>
              </a:rPr>
              <a:t>The named parameter end replaces the newline that print adds. The two calls make one line.</a:t>
            </a:r>
          </a:p>
        </p:txBody>
      </p:sp>
      <p:sp>
        <p:nvSpPr>
          <p:cNvPr id="8" name="result label"/>
          <p:cNvSpPr txBox="1"/>
          <p:nvPr/>
        </p:nvSpPr>
        <p:spPr>
          <a:xfrm>
            <a:off x="365760" y="2415921"/>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2690241"/>
          <a:ext cx="5720485" cy="1371600"/>
        </p:xfrm>
        <a:graphic>
          <a:graphicData uri="http://schemas.openxmlformats.org/drawingml/2006/table">
            <a:tbl>
              <a:tblPr firstRow="0" bandRow="0"/>
              <a:tblGrid>
                <a:gridCol w="2491179"/>
                <a:gridCol w="2398913"/>
                <a:gridCol w="830393"/>
              </a:tblGrid>
              <a:tr h="274320">
                <a:tc>
                  <a:txBody>
                    <a:bodyPr wrap="square"/>
                    <a:lstStyle/>
                    <a:p>
                      <a:r>
                        <a:rPr sz="950" b="1" i="0">
                          <a:solidFill>
                            <a:srgbClr val="FFFFFF"/>
                          </a:solidFill>
                          <a:latin typeface="Calibri"/>
                        </a:rPr>
                        <a:t>Call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50" b="1" i="0">
                          <a:solidFill>
                            <a:srgbClr val="FFFFFF"/>
                          </a:solidFill>
                          <a:latin typeface="Calibri"/>
                        </a:rPr>
                        <a:t>What it printed (· blank, ⏎ line break)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950" b="1" i="0">
                          <a:solidFill>
                            <a:srgbClr val="FFFFFF"/>
                          </a:solidFill>
                          <a:latin typeface="Calibri"/>
                        </a:rPr>
                        <a:t>Characters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950" b="0" i="0">
                          <a:solidFill>
                            <a:srgbClr val="1F2933"/>
                          </a:solidFill>
                          <a:latin typeface="Courier New"/>
                        </a:rPr>
                        <a:t>'cats', 'dogs', 'mice'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cats·dogs·mice⏎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950" b="0" i="0">
                          <a:solidFill>
                            <a:srgbClr val="1F2933"/>
                          </a:solidFill>
                          <a:latin typeface="Calibri"/>
                        </a:rPr>
                        <a:t>15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950" b="0" i="0">
                          <a:solidFill>
                            <a:srgbClr val="1F2933"/>
                          </a:solidFill>
                          <a:latin typeface="Courier New"/>
                        </a:rPr>
                        <a:t>'cats', 'dogs', 'mice', sep=',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50" b="0" i="0">
                          <a:solidFill>
                            <a:srgbClr val="1F2933"/>
                          </a:solidFill>
                          <a:latin typeface="Courier New"/>
                        </a:rPr>
                        <a:t>cats,·dogs,·mice⏎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950" b="0" i="0">
                          <a:solidFill>
                            <a:srgbClr val="1F2933"/>
                          </a:solidFill>
                          <a:latin typeface="Calibri"/>
                        </a:rPr>
                        <a:t>17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4320">
                <a:tc>
                  <a:txBody>
                    <a:bodyPr wrap="square"/>
                    <a:lstStyle/>
                    <a:p>
                      <a:r>
                        <a:rPr sz="950" b="0" i="0">
                          <a:solidFill>
                            <a:srgbClr val="1F2933"/>
                          </a:solidFill>
                          <a:latin typeface="Courier New"/>
                        </a:rPr>
                        <a:t>'Hello', end=''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Hello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950" b="0" i="0">
                          <a:solidFill>
                            <a:srgbClr val="1F2933"/>
                          </a:solidFill>
                          <a:latin typeface="Calibri"/>
                        </a:rPr>
                        <a:t>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950" b="0" i="0">
                          <a:solidFill>
                            <a:srgbClr val="1F2933"/>
                          </a:solidFill>
                          <a:latin typeface="Courier New"/>
                        </a:rPr>
                        <a:t>' World'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50" b="0" i="0">
                          <a:solidFill>
                            <a:srgbClr val="1F2933"/>
                          </a:solidFill>
                          <a:latin typeface="Courier New"/>
                        </a:rPr>
                        <a:t>·World⏎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950" b="0" i="0">
                          <a:solidFill>
                            <a:srgbClr val="1F2933"/>
                          </a:solidFill>
                          <a:latin typeface="Calibri"/>
                        </a:rPr>
                        <a:t>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graphicFrame>
        <p:nvGraphicFramePr>
          <p:cNvPr id="10" name="chart"/>
          <p:cNvGraphicFramePr>
            <a:graphicFrameLocks noGrp="1"/>
          </p:cNvGraphicFramePr>
          <p:nvPr/>
        </p:nvGraphicFramePr>
        <p:xfrm>
          <a:off x="6338620" y="2690241"/>
          <a:ext cx="2439619" cy="1463040"/>
        </p:xfrm>
        <a:graphic>
          <a:graphicData uri="http://schemas.openxmlformats.org/drawingml/2006/chart">
            <c:chart xmlns:c="http://schemas.openxmlformats.org/drawingml/2006/chart" r:id="rId3"/>
          </a:graphicData>
        </a:graphic>
      </p:graphicFrame>
      <p:sp>
        <p:nvSpPr>
          <p:cNvPr id="11"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sep and end are named parameters of print().</a:t>
            </a:r>
          </a:p>
        </p:txBody>
      </p:sp>
      <p:sp>
        <p:nvSpPr>
          <p:cNvPr id="13"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14 / 46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Default values and keyword-only parameters</a:t>
            </a:r>
          </a:p>
        </p:txBody>
      </p:sp>
      <p:sp>
        <p:nvSpPr>
          <p:cNvPr id="4" name="code"/>
          <p:cNvSpPr/>
          <p:nvPr/>
        </p:nvSpPr>
        <p:spPr>
          <a:xfrm>
            <a:off x="365760" y="841248"/>
            <a:ext cx="5209032" cy="7233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300" b="0" i="0">
                <a:solidFill>
                  <a:srgbClr val="8FA3B8"/>
                </a:solidFill>
                <a:latin typeface="Courier New"/>
              </a:rPr>
              <a:t>&gt;&gt;&gt; </a:t>
            </a:r>
            <a:r>
              <a:rPr sz="1300" b="0" i="0">
                <a:solidFill>
                  <a:srgbClr val="C9A0FF"/>
                </a:solidFill>
                <a:latin typeface="Courier New"/>
              </a:rPr>
              <a:t>def</a:t>
            </a:r>
            <a:r>
              <a:rPr sz="1300" b="0" i="0">
                <a:solidFill>
                  <a:srgbClr val="E6EDF3"/>
                </a:solidFill>
                <a:latin typeface="Courier New"/>
              </a:rPr>
              <a:t> </a:t>
            </a:r>
            <a:r>
              <a:rPr sz="1300" b="0" i="0">
                <a:solidFill>
                  <a:srgbClr val="E6EDF3"/>
                </a:solidFill>
                <a:latin typeface="Courier New"/>
              </a:rPr>
              <a:t>area</a:t>
            </a:r>
            <a:r>
              <a:rPr sz="1300" b="0" i="0">
                <a:solidFill>
                  <a:srgbClr val="E6EDF3"/>
                </a:solidFill>
                <a:latin typeface="Courier New"/>
              </a:rPr>
              <a:t>(</a:t>
            </a:r>
            <a:r>
              <a:rPr sz="1300" b="0" i="0">
                <a:solidFill>
                  <a:srgbClr val="E6EDF3"/>
                </a:solidFill>
                <a:latin typeface="Courier New"/>
              </a:rPr>
              <a:t>width</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height</a:t>
            </a:r>
            <a:r>
              <a:rPr sz="1300" b="0" i="0">
                <a:solidFill>
                  <a:srgbClr val="E6EDF3"/>
                </a:solidFill>
                <a:latin typeface="Courier New"/>
              </a:rPr>
              <a:t>=</a:t>
            </a:r>
            <a:r>
              <a:rPr sz="1300" b="0" i="0">
                <a:solidFill>
                  <a:srgbClr val="7CC4FF"/>
                </a:solidFill>
                <a:latin typeface="Courier New"/>
              </a:rPr>
              <a:t>1</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unit</a:t>
            </a:r>
            <a:r>
              <a:rPr sz="1300" b="0" i="0">
                <a:solidFill>
                  <a:srgbClr val="E6EDF3"/>
                </a:solidFill>
                <a:latin typeface="Courier New"/>
              </a:rPr>
              <a:t>=</a:t>
            </a:r>
            <a:r>
              <a:rPr sz="1300" b="0" i="0">
                <a:solidFill>
                  <a:srgbClr val="9BE3A8"/>
                </a:solidFill>
                <a:latin typeface="Courier New"/>
              </a:rPr>
              <a:t>'m'</a:t>
            </a:r>
            <a:r>
              <a:rPr sz="1300" b="0" i="0">
                <a:solidFill>
                  <a:srgbClr val="E6EDF3"/>
                </a:solidFill>
                <a:latin typeface="Courier New"/>
              </a:rPr>
              <a:t>)</a:t>
            </a:r>
            <a:r>
              <a:rPr sz="1300" b="0" i="0">
                <a:solidFill>
                  <a:srgbClr val="E6EDF3"/>
                </a:solidFill>
                <a:latin typeface="Courier New"/>
              </a:rPr>
              <a:t>:</a:t>
            </a:r>
          </a:p>
          <a:p>
            <a:pPr algn="l"/>
            <a:r>
              <a:rPr sz="1300" b="0" i="0">
                <a:solidFill>
                  <a:srgbClr val="8FA3B8"/>
                </a:solidFill>
                <a:latin typeface="Courier New"/>
              </a:rPr>
              <a:t>&gt;&gt;&gt; </a:t>
            </a:r>
            <a:r>
              <a:rPr sz="1300" b="0" i="0">
                <a:solidFill>
                  <a:srgbClr val="E6EDF3"/>
                </a:solidFill>
                <a:latin typeface="Courier New"/>
              </a:rPr>
              <a:t>    </a:t>
            </a:r>
            <a:r>
              <a:rPr sz="1300" b="0" i="0">
                <a:solidFill>
                  <a:srgbClr val="C9A0FF"/>
                </a:solidFill>
                <a:latin typeface="Courier New"/>
              </a:rPr>
              <a:t>return</a:t>
            </a:r>
            <a:r>
              <a:rPr sz="1300" b="0" i="0">
                <a:solidFill>
                  <a:srgbClr val="E6EDF3"/>
                </a:solidFill>
                <a:latin typeface="Courier New"/>
              </a:rPr>
              <a:t> </a:t>
            </a:r>
            <a:r>
              <a:rPr sz="1300" b="0" i="0">
                <a:solidFill>
                  <a:srgbClr val="E6EDF3"/>
                </a:solidFill>
                <a:latin typeface="Courier New"/>
              </a:rPr>
              <a:t>str</a:t>
            </a:r>
            <a:r>
              <a:rPr sz="1300" b="0" i="0">
                <a:solidFill>
                  <a:srgbClr val="E6EDF3"/>
                </a:solidFill>
                <a:latin typeface="Courier New"/>
              </a:rPr>
              <a:t>(</a:t>
            </a:r>
            <a:r>
              <a:rPr sz="1300" b="0" i="0">
                <a:solidFill>
                  <a:srgbClr val="E6EDF3"/>
                </a:solidFill>
                <a:latin typeface="Courier New"/>
              </a:rPr>
              <a:t>width</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height</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9BE3A8"/>
                </a:solidFill>
                <a:latin typeface="Courier New"/>
              </a:rPr>
              <a:t>' '</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unit</a:t>
            </a:r>
          </a:p>
        </p:txBody>
      </p:sp>
      <p:sp>
        <p:nvSpPr>
          <p:cNvPr id="5" name="explanation"/>
          <p:cNvSpPr txBox="1"/>
          <p:nvPr/>
        </p:nvSpPr>
        <p:spPr>
          <a:xfrm>
            <a:off x="5556504" y="841248"/>
            <a:ext cx="3221735" cy="723328"/>
          </a:xfrm>
          <a:prstGeom prst="rect">
            <a:avLst/>
          </a:prstGeom>
          <a:noFill/>
        </p:spPr>
        <p:txBody>
          <a:bodyPr wrap="square" lIns="128016" rIns="128016" tIns="18288" bIns="18288" anchor="ctr">
            <a:spAutoFit/>
          </a:bodyPr>
          <a:lstStyle/>
          <a:p>
            <a:r>
              <a:rPr sz="1250" b="0" i="0">
                <a:solidFill>
                  <a:srgbClr val="1F2933"/>
                </a:solidFill>
                <a:latin typeface="Calibri"/>
              </a:rPr>
              <a:t>height has a default, so a call may leave it out. The star makes unit keyword-only: it must be named.</a:t>
            </a:r>
          </a:p>
        </p:txBody>
      </p:sp>
      <p:sp>
        <p:nvSpPr>
          <p:cNvPr id="6" name="code"/>
          <p:cNvSpPr/>
          <p:nvPr/>
        </p:nvSpPr>
        <p:spPr>
          <a:xfrm>
            <a:off x="365760" y="1619440"/>
            <a:ext cx="5209032" cy="7233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300" b="0" i="0">
                <a:solidFill>
                  <a:srgbClr val="8FA3B8"/>
                </a:solidFill>
                <a:latin typeface="Courier New"/>
              </a:rPr>
              <a:t>&gt;&gt;&gt; </a:t>
            </a:r>
            <a:r>
              <a:rPr sz="1300" b="0" i="0">
                <a:solidFill>
                  <a:srgbClr val="C9A0FF"/>
                </a:solidFill>
                <a:latin typeface="Courier New"/>
              </a:rPr>
              <a:t>print</a:t>
            </a:r>
            <a:r>
              <a:rPr sz="1300" b="0" i="0">
                <a:solidFill>
                  <a:srgbClr val="E6EDF3"/>
                </a:solidFill>
                <a:latin typeface="Courier New"/>
              </a:rPr>
              <a:t>(</a:t>
            </a:r>
            <a:r>
              <a:rPr sz="1300" b="0" i="0">
                <a:solidFill>
                  <a:srgbClr val="E6EDF3"/>
                </a:solidFill>
                <a:latin typeface="Courier New"/>
              </a:rPr>
              <a:t>area</a:t>
            </a:r>
            <a:r>
              <a:rPr sz="1300" b="0" i="0">
                <a:solidFill>
                  <a:srgbClr val="E6EDF3"/>
                </a:solidFill>
                <a:latin typeface="Courier New"/>
              </a:rPr>
              <a:t>(</a:t>
            </a:r>
            <a:r>
              <a:rPr sz="1300" b="0" i="0">
                <a:solidFill>
                  <a:srgbClr val="7CC4FF"/>
                </a:solidFill>
                <a:latin typeface="Courier New"/>
              </a:rPr>
              <a:t>3</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area</a:t>
            </a:r>
            <a:r>
              <a:rPr sz="1300" b="0" i="0">
                <a:solidFill>
                  <a:srgbClr val="E6EDF3"/>
                </a:solidFill>
                <a:latin typeface="Courier New"/>
              </a:rPr>
              <a:t>(</a:t>
            </a:r>
            <a:r>
              <a:rPr sz="1300" b="0" i="0">
                <a:solidFill>
                  <a:srgbClr val="7CC4FF"/>
                </a:solidFill>
                <a:latin typeface="Courier New"/>
              </a:rPr>
              <a:t>3</a:t>
            </a:r>
            <a:r>
              <a:rPr sz="1300" b="0" i="0">
                <a:solidFill>
                  <a:srgbClr val="E6EDF3"/>
                </a:solidFill>
                <a:latin typeface="Courier New"/>
              </a:rPr>
              <a:t>,</a:t>
            </a:r>
            <a:r>
              <a:rPr sz="1300" b="0" i="0">
                <a:solidFill>
                  <a:srgbClr val="E6EDF3"/>
                </a:solidFill>
                <a:latin typeface="Courier New"/>
              </a:rPr>
              <a:t> </a:t>
            </a:r>
            <a:r>
              <a:rPr sz="1300" b="0" i="0">
                <a:solidFill>
                  <a:srgbClr val="7CC4FF"/>
                </a:solidFill>
                <a:latin typeface="Courier New"/>
              </a:rPr>
              <a:t>4</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area</a:t>
            </a:r>
            <a:r>
              <a:rPr sz="1300" b="0" i="0">
                <a:solidFill>
                  <a:srgbClr val="E6EDF3"/>
                </a:solidFill>
                <a:latin typeface="Courier New"/>
              </a:rPr>
              <a:t>(</a:t>
            </a:r>
            <a:r>
              <a:rPr sz="1300" b="0" i="0">
                <a:solidFill>
                  <a:srgbClr val="7CC4FF"/>
                </a:solidFill>
                <a:latin typeface="Courier New"/>
              </a:rPr>
              <a:t>3</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unit</a:t>
            </a:r>
            <a:r>
              <a:rPr sz="1300" b="0" i="0">
                <a:solidFill>
                  <a:srgbClr val="E6EDF3"/>
                </a:solidFill>
                <a:latin typeface="Courier New"/>
              </a:rPr>
              <a:t>=</a:t>
            </a:r>
            <a:r>
              <a:rPr sz="1300" b="0" i="0">
                <a:solidFill>
                  <a:srgbClr val="9BE3A8"/>
                </a:solidFill>
                <a:latin typeface="Courier New"/>
              </a:rPr>
              <a:t>'cm'</a:t>
            </a:r>
            <a:r>
              <a:rPr sz="1300" b="0" i="0">
                <a:solidFill>
                  <a:srgbClr val="E6EDF3"/>
                </a:solidFill>
                <a:latin typeface="Courier New"/>
              </a:rPr>
              <a:t>)</a:t>
            </a:r>
            <a:r>
              <a:rPr sz="1300" b="0" i="0">
                <a:solidFill>
                  <a:srgbClr val="E6EDF3"/>
                </a:solidFill>
                <a:latin typeface="Courier New"/>
              </a:rPr>
              <a:t>)</a:t>
            </a:r>
          </a:p>
        </p:txBody>
      </p:sp>
      <p:sp>
        <p:nvSpPr>
          <p:cNvPr id="7" name="explanation"/>
          <p:cNvSpPr txBox="1"/>
          <p:nvPr/>
        </p:nvSpPr>
        <p:spPr>
          <a:xfrm>
            <a:off x="5556504" y="1619440"/>
            <a:ext cx="3221735" cy="723328"/>
          </a:xfrm>
          <a:prstGeom prst="rect">
            <a:avLst/>
          </a:prstGeom>
          <a:noFill/>
        </p:spPr>
        <p:txBody>
          <a:bodyPr wrap="square" lIns="128016" rIns="128016" tIns="18288" bIns="18288" anchor="ctr">
            <a:spAutoFit/>
          </a:bodyPr>
          <a:lstStyle/>
          <a:p>
            <a:r>
              <a:rPr sz="1250" b="0" i="0">
                <a:solidFill>
                  <a:srgbClr val="1F2933"/>
                </a:solidFill>
                <a:latin typeface="Calibri"/>
              </a:rPr>
              <a:t>Three calls fill the parameters in three ways. The default and the name decide the result.</a:t>
            </a:r>
          </a:p>
        </p:txBody>
      </p:sp>
      <p:sp>
        <p:nvSpPr>
          <p:cNvPr id="8" name="result label"/>
          <p:cNvSpPr txBox="1"/>
          <p:nvPr/>
        </p:nvSpPr>
        <p:spPr>
          <a:xfrm>
            <a:off x="365760" y="2415921"/>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2690241"/>
          <a:ext cx="8412478" cy="1316736"/>
        </p:xfrm>
        <a:graphic>
          <a:graphicData uri="http://schemas.openxmlformats.org/drawingml/2006/table">
            <a:tbl>
              <a:tblPr firstRow="0" bandRow="0"/>
              <a:tblGrid>
                <a:gridCol w="2804160"/>
                <a:gridCol w="970670"/>
                <a:gridCol w="1617784"/>
                <a:gridCol w="1617784"/>
                <a:gridCol w="1402080"/>
              </a:tblGrid>
              <a:tr h="329184">
                <a:tc>
                  <a:txBody>
                    <a:bodyPr wrap="square"/>
                    <a:lstStyle/>
                    <a:p>
                      <a:r>
                        <a:rPr sz="1050" b="1" i="0">
                          <a:solidFill>
                            <a:srgbClr val="FFFFFF"/>
                          </a:solidFill>
                          <a:latin typeface="Calibri"/>
                        </a:rPr>
                        <a:t>Call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width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height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unit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area gives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29184">
                <a:tc>
                  <a:txBody>
                    <a:bodyPr wrap="square"/>
                    <a:lstStyle/>
                    <a:p>
                      <a:r>
                        <a:rPr sz="1050" b="0" i="0">
                          <a:solidFill>
                            <a:srgbClr val="1F2933"/>
                          </a:solidFill>
                          <a:latin typeface="Courier New"/>
                        </a:rPr>
                        <a:t>area(3)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1 (default)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c>
                  <a:txBody>
                    <a:bodyPr wrap="square"/>
                    <a:lstStyle/>
                    <a:p>
                      <a:r>
                        <a:rPr sz="1050" b="0" i="0">
                          <a:solidFill>
                            <a:srgbClr val="1F2933"/>
                          </a:solidFill>
                          <a:latin typeface="Courier New"/>
                        </a:rPr>
                        <a:t>'m' (default)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c>
                  <a:txBody>
                    <a:bodyPr wrap="square"/>
                    <a:lstStyle/>
                    <a:p>
                      <a:r>
                        <a:rPr sz="1050" b="0" i="0">
                          <a:solidFill>
                            <a:srgbClr val="1F2933"/>
                          </a:solidFill>
                          <a:latin typeface="Courier New"/>
                        </a:rPr>
                        <a:t>'3 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29184">
                <a:tc>
                  <a:txBody>
                    <a:bodyPr wrap="square"/>
                    <a:lstStyle/>
                    <a:p>
                      <a:r>
                        <a:rPr sz="1050" b="0" i="0">
                          <a:solidFill>
                            <a:srgbClr val="1F2933"/>
                          </a:solidFill>
                          <a:latin typeface="Courier New"/>
                        </a:rPr>
                        <a:t>area(3, 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'm' (default)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c>
                  <a:txBody>
                    <a:bodyPr wrap="square"/>
                    <a:lstStyle/>
                    <a:p>
                      <a:r>
                        <a:rPr sz="1050" b="0" i="0">
                          <a:solidFill>
                            <a:srgbClr val="1F2933"/>
                          </a:solidFill>
                          <a:latin typeface="Courier New"/>
                        </a:rPr>
                        <a:t>'12 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29184">
                <a:tc>
                  <a:txBody>
                    <a:bodyPr wrap="square"/>
                    <a:lstStyle/>
                    <a:p>
                      <a:r>
                        <a:rPr sz="1050" b="0" i="0">
                          <a:solidFill>
                            <a:srgbClr val="1F2933"/>
                          </a:solidFill>
                          <a:latin typeface="Courier New"/>
                        </a:rPr>
                        <a:t>area(3, unit='cm')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1 (default)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c>
                  <a:txBody>
                    <a:bodyPr wrap="square"/>
                    <a:lstStyle/>
                    <a:p>
                      <a:r>
                        <a:rPr sz="1050" b="0" i="0">
                          <a:solidFill>
                            <a:srgbClr val="1F2933"/>
                          </a:solidFill>
                          <a:latin typeface="Courier New"/>
                        </a:rPr>
                        <a:t>'cm'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'3 cm'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0" name="TextBox 9"/>
          <p:cNvSpPr txBox="1"/>
          <p:nvPr/>
        </p:nvSpPr>
        <p:spPr>
          <a:xfrm>
            <a:off x="365760" y="4061840"/>
            <a:ext cx="8412480" cy="237744"/>
          </a:xfrm>
          <a:prstGeom prst="rect">
            <a:avLst/>
          </a:prstGeom>
          <a:noFill/>
        </p:spPr>
        <p:txBody>
          <a:bodyPr wrap="square" lIns="45720" rIns="45720" tIns="27432" bIns="27432" anchor="t">
            <a:spAutoFit/>
          </a:bodyPr>
          <a:lstStyle/>
          <a:p>
            <a:r>
              <a:rPr sz="1000" b="0" i="1">
                <a:solidFill>
                  <a:srgbClr val="5B6773"/>
                </a:solidFill>
                <a:latin typeface="Calibri"/>
              </a:rPr>
              <a:t>amber: filled in from the default, not from the call</a:t>
            </a:r>
          </a:p>
        </p:txBody>
      </p:sp>
      <p:sp>
        <p:nvSpPr>
          <p:cNvPr id="11"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default makes an argument optional; the star forces names.</a:t>
            </a:r>
          </a:p>
        </p:txBody>
      </p:sp>
      <p:sp>
        <p:nvSpPr>
          <p:cNvPr id="13"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15 / 46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A default value is made once: the shared list</a:t>
            </a:r>
          </a:p>
        </p:txBody>
      </p:sp>
      <p:sp>
        <p:nvSpPr>
          <p:cNvPr id="4" name="code"/>
          <p:cNvSpPr/>
          <p:nvPr/>
        </p:nvSpPr>
        <p:spPr>
          <a:xfrm>
            <a:off x="365760" y="841248"/>
            <a:ext cx="3304032" cy="647699"/>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def</a:t>
            </a:r>
            <a:r>
              <a:rPr sz="1000" b="0" i="0">
                <a:solidFill>
                  <a:srgbClr val="E6EDF3"/>
                </a:solidFill>
                <a:latin typeface="Courier New"/>
              </a:rPr>
              <a:t> </a:t>
            </a:r>
            <a:r>
              <a:rPr sz="1000" b="0" i="0">
                <a:solidFill>
                  <a:srgbClr val="E6EDF3"/>
                </a:solidFill>
                <a:latin typeface="Courier New"/>
              </a:rPr>
              <a:t>add_item</a:t>
            </a:r>
            <a:r>
              <a:rPr sz="1000" b="0" i="0">
                <a:solidFill>
                  <a:srgbClr val="E6EDF3"/>
                </a:solidFill>
                <a:latin typeface="Courier New"/>
              </a:rPr>
              <a:t>(</a:t>
            </a:r>
            <a:r>
              <a:rPr sz="1000" b="0" i="0">
                <a:solidFill>
                  <a:srgbClr val="E6EDF3"/>
                </a:solidFill>
                <a:latin typeface="Courier New"/>
              </a:rPr>
              <a:t>item</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bag</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bag</a:t>
            </a:r>
            <a:r>
              <a:rPr sz="1000" b="0" i="0">
                <a:solidFill>
                  <a:srgbClr val="E6EDF3"/>
                </a:solidFill>
                <a:latin typeface="Courier New"/>
              </a:rPr>
              <a:t>.</a:t>
            </a:r>
            <a:r>
              <a:rPr sz="1000" b="0" i="0">
                <a:solidFill>
                  <a:srgbClr val="E6EDF3"/>
                </a:solidFill>
                <a:latin typeface="Courier New"/>
              </a:rPr>
              <a:t>append</a:t>
            </a:r>
            <a:r>
              <a:rPr sz="1000" b="0" i="0">
                <a:solidFill>
                  <a:srgbClr val="E6EDF3"/>
                </a:solidFill>
                <a:latin typeface="Courier New"/>
              </a:rPr>
              <a:t>(</a:t>
            </a:r>
            <a:r>
              <a:rPr sz="1000" b="0" i="0">
                <a:solidFill>
                  <a:srgbClr val="E6EDF3"/>
                </a:solidFill>
                <a:latin typeface="Courier New"/>
              </a:rPr>
              <a:t>item</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C9A0FF"/>
                </a:solidFill>
                <a:latin typeface="Courier New"/>
              </a:rPr>
              <a:t>return</a:t>
            </a:r>
            <a:r>
              <a:rPr sz="1000" b="0" i="0">
                <a:solidFill>
                  <a:srgbClr val="E6EDF3"/>
                </a:solidFill>
                <a:latin typeface="Courier New"/>
              </a:rPr>
              <a:t> </a:t>
            </a:r>
            <a:r>
              <a:rPr sz="1000" b="0" i="0">
                <a:solidFill>
                  <a:srgbClr val="E6EDF3"/>
                </a:solidFill>
                <a:latin typeface="Courier New"/>
              </a:rPr>
              <a:t>bag</a:t>
            </a:r>
          </a:p>
        </p:txBody>
      </p:sp>
      <p:sp>
        <p:nvSpPr>
          <p:cNvPr id="5" name="explanation"/>
          <p:cNvSpPr txBox="1"/>
          <p:nvPr/>
        </p:nvSpPr>
        <p:spPr>
          <a:xfrm>
            <a:off x="3651504" y="841248"/>
            <a:ext cx="5126735" cy="647699"/>
          </a:xfrm>
          <a:prstGeom prst="rect">
            <a:avLst/>
          </a:prstGeom>
          <a:noFill/>
        </p:spPr>
        <p:txBody>
          <a:bodyPr wrap="square" lIns="128016" rIns="128016" tIns="18288" bIns="18288" anchor="ctr">
            <a:spAutoFit/>
          </a:bodyPr>
          <a:lstStyle/>
          <a:p>
            <a:r>
              <a:rPr sz="1100" b="0" i="0">
                <a:solidFill>
                  <a:srgbClr val="1F2933"/>
                </a:solidFill>
                <a:latin typeface="Calibri"/>
              </a:rPr>
              <a:t>The empty list is created once, when def runs. Every call without bag reuses that same list.</a:t>
            </a:r>
          </a:p>
        </p:txBody>
      </p:sp>
      <p:sp>
        <p:nvSpPr>
          <p:cNvPr id="6" name="code"/>
          <p:cNvSpPr/>
          <p:nvPr/>
        </p:nvSpPr>
        <p:spPr>
          <a:xfrm>
            <a:off x="365760" y="1543812"/>
            <a:ext cx="3304032" cy="80264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def</a:t>
            </a:r>
            <a:r>
              <a:rPr sz="1000" b="0" i="0">
                <a:solidFill>
                  <a:srgbClr val="E6EDF3"/>
                </a:solidFill>
                <a:latin typeface="Courier New"/>
              </a:rPr>
              <a:t> </a:t>
            </a:r>
            <a:r>
              <a:rPr sz="1000" b="0" i="0">
                <a:solidFill>
                  <a:srgbClr val="E6EDF3"/>
                </a:solidFill>
                <a:latin typeface="Courier New"/>
              </a:rPr>
              <a:t>add_safe</a:t>
            </a:r>
            <a:r>
              <a:rPr sz="1000" b="0" i="0">
                <a:solidFill>
                  <a:srgbClr val="E6EDF3"/>
                </a:solidFill>
                <a:latin typeface="Courier New"/>
              </a:rPr>
              <a:t>(</a:t>
            </a:r>
            <a:r>
              <a:rPr sz="1000" b="0" i="0">
                <a:solidFill>
                  <a:srgbClr val="E6EDF3"/>
                </a:solidFill>
                <a:latin typeface="Courier New"/>
              </a:rPr>
              <a:t>item</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bag</a:t>
            </a:r>
            <a:r>
              <a:rPr sz="1000" b="0" i="0">
                <a:solidFill>
                  <a:srgbClr val="E6EDF3"/>
                </a:solidFill>
                <a:latin typeface="Courier New"/>
              </a:rPr>
              <a:t>=</a:t>
            </a:r>
            <a:r>
              <a:rPr sz="1000" b="0" i="0">
                <a:solidFill>
                  <a:srgbClr val="C9A0FF"/>
                </a:solidFill>
                <a:latin typeface="Courier New"/>
              </a:rPr>
              <a:t>None</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bag</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C9A0FF"/>
                </a:solidFill>
                <a:latin typeface="Courier New"/>
              </a:rPr>
              <a:t>if</a:t>
            </a:r>
            <a:r>
              <a:rPr sz="1000" b="0" i="0">
                <a:solidFill>
                  <a:srgbClr val="E6EDF3"/>
                </a:solidFill>
                <a:latin typeface="Courier New"/>
              </a:rPr>
              <a:t> </a:t>
            </a:r>
            <a:r>
              <a:rPr sz="1000" b="0" i="0">
                <a:solidFill>
                  <a:srgbClr val="E6EDF3"/>
                </a:solidFill>
                <a:latin typeface="Courier New"/>
              </a:rPr>
              <a:t>bag</a:t>
            </a:r>
            <a:r>
              <a:rPr sz="1000" b="0" i="0">
                <a:solidFill>
                  <a:srgbClr val="E6EDF3"/>
                </a:solidFill>
                <a:latin typeface="Courier New"/>
              </a:rPr>
              <a:t> </a:t>
            </a:r>
            <a:r>
              <a:rPr sz="1000" b="0" i="0">
                <a:solidFill>
                  <a:srgbClr val="C9A0FF"/>
                </a:solidFill>
                <a:latin typeface="Courier New"/>
              </a:rPr>
              <a:t>is</a:t>
            </a:r>
            <a:r>
              <a:rPr sz="1000" b="0" i="0">
                <a:solidFill>
                  <a:srgbClr val="E6EDF3"/>
                </a:solidFill>
                <a:latin typeface="Courier New"/>
              </a:rPr>
              <a:t> </a:t>
            </a:r>
            <a:r>
              <a:rPr sz="1000" b="0" i="0">
                <a:solidFill>
                  <a:srgbClr val="C9A0FF"/>
                </a:solidFill>
                <a:latin typeface="Courier New"/>
              </a:rPr>
              <a:t>None</a:t>
            </a:r>
            <a:r>
              <a:rPr sz="1000" b="0" i="0">
                <a:solidFill>
                  <a:srgbClr val="E6EDF3"/>
                </a:solidFill>
                <a:latin typeface="Courier New"/>
              </a:rPr>
              <a:t> </a:t>
            </a:r>
            <a:r>
              <a:rPr sz="1000" b="0" i="0">
                <a:solidFill>
                  <a:srgbClr val="C9A0FF"/>
                </a:solidFill>
                <a:latin typeface="Courier New"/>
              </a:rPr>
              <a:t>else</a:t>
            </a:r>
            <a:r>
              <a:rPr sz="1000" b="0" i="0">
                <a:solidFill>
                  <a:srgbClr val="E6EDF3"/>
                </a:solidFill>
                <a:latin typeface="Courier New"/>
              </a:rPr>
              <a:t> </a:t>
            </a:r>
            <a:r>
              <a:rPr sz="1000" b="0" i="0">
                <a:solidFill>
                  <a:srgbClr val="E6EDF3"/>
                </a:solidFill>
                <a:latin typeface="Courier New"/>
              </a:rPr>
              <a:t>bag</a:t>
            </a:r>
          </a:p>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bag</a:t>
            </a:r>
            <a:r>
              <a:rPr sz="1000" b="0" i="0">
                <a:solidFill>
                  <a:srgbClr val="E6EDF3"/>
                </a:solidFill>
                <a:latin typeface="Courier New"/>
              </a:rPr>
              <a:t>.</a:t>
            </a:r>
            <a:r>
              <a:rPr sz="1000" b="0" i="0">
                <a:solidFill>
                  <a:srgbClr val="E6EDF3"/>
                </a:solidFill>
                <a:latin typeface="Courier New"/>
              </a:rPr>
              <a:t>append</a:t>
            </a:r>
            <a:r>
              <a:rPr sz="1000" b="0" i="0">
                <a:solidFill>
                  <a:srgbClr val="E6EDF3"/>
                </a:solidFill>
                <a:latin typeface="Courier New"/>
              </a:rPr>
              <a:t>(</a:t>
            </a:r>
            <a:r>
              <a:rPr sz="1000" b="0" i="0">
                <a:solidFill>
                  <a:srgbClr val="E6EDF3"/>
                </a:solidFill>
                <a:latin typeface="Courier New"/>
              </a:rPr>
              <a:t>item</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C9A0FF"/>
                </a:solidFill>
                <a:latin typeface="Courier New"/>
              </a:rPr>
              <a:t>return</a:t>
            </a:r>
            <a:r>
              <a:rPr sz="1000" b="0" i="0">
                <a:solidFill>
                  <a:srgbClr val="E6EDF3"/>
                </a:solidFill>
                <a:latin typeface="Courier New"/>
              </a:rPr>
              <a:t> </a:t>
            </a:r>
            <a:r>
              <a:rPr sz="1000" b="0" i="0">
                <a:solidFill>
                  <a:srgbClr val="E6EDF3"/>
                </a:solidFill>
                <a:latin typeface="Courier New"/>
              </a:rPr>
              <a:t>bag</a:t>
            </a:r>
          </a:p>
        </p:txBody>
      </p:sp>
      <p:sp>
        <p:nvSpPr>
          <p:cNvPr id="7" name="explanation"/>
          <p:cNvSpPr txBox="1"/>
          <p:nvPr/>
        </p:nvSpPr>
        <p:spPr>
          <a:xfrm>
            <a:off x="3651504" y="1543812"/>
            <a:ext cx="5126735" cy="802640"/>
          </a:xfrm>
          <a:prstGeom prst="rect">
            <a:avLst/>
          </a:prstGeom>
          <a:noFill/>
        </p:spPr>
        <p:txBody>
          <a:bodyPr wrap="square" lIns="128016" rIns="128016" tIns="18288" bIns="18288" anchor="ctr">
            <a:spAutoFit/>
          </a:bodyPr>
          <a:lstStyle/>
          <a:p>
            <a:r>
              <a:rPr sz="1100" b="0" i="0">
                <a:solidFill>
                  <a:srgbClr val="1F2933"/>
                </a:solidFill>
                <a:latin typeface="Calibri"/>
              </a:rPr>
              <a:t>The safe habit: default to None and make a fresh list inside the body, once per call.</a:t>
            </a:r>
          </a:p>
        </p:txBody>
      </p:sp>
      <p:sp>
        <p:nvSpPr>
          <p:cNvPr id="8" name="code"/>
          <p:cNvSpPr/>
          <p:nvPr/>
        </p:nvSpPr>
        <p:spPr>
          <a:xfrm>
            <a:off x="365760" y="2401316"/>
            <a:ext cx="3304032" cy="49276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add_item</a:t>
            </a:r>
            <a:r>
              <a:rPr sz="1000" b="0" i="0">
                <a:solidFill>
                  <a:srgbClr val="E6EDF3"/>
                </a:solidFill>
                <a:latin typeface="Courier New"/>
              </a:rPr>
              <a:t>(</a:t>
            </a:r>
            <a:r>
              <a:rPr sz="1000" b="0" i="0">
                <a:solidFill>
                  <a:srgbClr val="9BE3A8"/>
                </a:solidFill>
                <a:latin typeface="Courier New"/>
              </a:rPr>
              <a:t>'a'</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add_item</a:t>
            </a:r>
            <a:r>
              <a:rPr sz="1000" b="0" i="0">
                <a:solidFill>
                  <a:srgbClr val="E6EDF3"/>
                </a:solidFill>
                <a:latin typeface="Courier New"/>
              </a:rPr>
              <a:t>(</a:t>
            </a:r>
            <a:r>
              <a:rPr sz="1000" b="0" i="0">
                <a:solidFill>
                  <a:srgbClr val="9BE3A8"/>
                </a:solidFill>
                <a:latin typeface="Courier New"/>
              </a:rPr>
              <a:t>'b'</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add_safe</a:t>
            </a:r>
            <a:r>
              <a:rPr sz="1000" b="0" i="0">
                <a:solidFill>
                  <a:srgbClr val="E6EDF3"/>
                </a:solidFill>
                <a:latin typeface="Courier New"/>
              </a:rPr>
              <a:t>(</a:t>
            </a:r>
            <a:r>
              <a:rPr sz="1000" b="0" i="0">
                <a:solidFill>
                  <a:srgbClr val="9BE3A8"/>
                </a:solidFill>
                <a:latin typeface="Courier New"/>
              </a:rPr>
              <a:t>'a'</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add_safe</a:t>
            </a:r>
            <a:r>
              <a:rPr sz="1000" b="0" i="0">
                <a:solidFill>
                  <a:srgbClr val="E6EDF3"/>
                </a:solidFill>
                <a:latin typeface="Courier New"/>
              </a:rPr>
              <a:t>(</a:t>
            </a:r>
            <a:r>
              <a:rPr sz="1000" b="0" i="0">
                <a:solidFill>
                  <a:srgbClr val="9BE3A8"/>
                </a:solidFill>
                <a:latin typeface="Courier New"/>
              </a:rPr>
              <a:t>'b'</a:t>
            </a:r>
            <a:r>
              <a:rPr sz="1000" b="0" i="0">
                <a:solidFill>
                  <a:srgbClr val="E6EDF3"/>
                </a:solidFill>
                <a:latin typeface="Courier New"/>
              </a:rPr>
              <a:t>)</a:t>
            </a:r>
            <a:r>
              <a:rPr sz="1000" b="0" i="0">
                <a:solidFill>
                  <a:srgbClr val="E6EDF3"/>
                </a:solidFill>
                <a:latin typeface="Courier New"/>
              </a:rPr>
              <a:t>)</a:t>
            </a:r>
          </a:p>
        </p:txBody>
      </p:sp>
      <p:sp>
        <p:nvSpPr>
          <p:cNvPr id="9" name="explanation"/>
          <p:cNvSpPr txBox="1"/>
          <p:nvPr/>
        </p:nvSpPr>
        <p:spPr>
          <a:xfrm>
            <a:off x="3651504" y="2401316"/>
            <a:ext cx="5126735" cy="492760"/>
          </a:xfrm>
          <a:prstGeom prst="rect">
            <a:avLst/>
          </a:prstGeom>
          <a:noFill/>
        </p:spPr>
        <p:txBody>
          <a:bodyPr wrap="square" lIns="128016" rIns="128016" tIns="18288" bIns="18288" anchor="ctr">
            <a:spAutoFit/>
          </a:bodyPr>
          <a:lstStyle/>
          <a:p>
            <a:r>
              <a:rPr sz="1100" b="0" i="0">
                <a:solidFill>
                  <a:srgbClr val="1F2933"/>
                </a:solidFill>
                <a:latin typeface="Calibri"/>
              </a:rPr>
              <a:t>The first pair shares one list, so both results show both items. The second pair is separate.</a:t>
            </a:r>
          </a:p>
        </p:txBody>
      </p:sp>
      <p:sp>
        <p:nvSpPr>
          <p:cNvPr id="10" name="result label"/>
          <p:cNvSpPr txBox="1"/>
          <p:nvPr/>
        </p:nvSpPr>
        <p:spPr>
          <a:xfrm>
            <a:off x="365760" y="2967228"/>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table"/>
          <p:cNvGraphicFramePr>
            <a:graphicFrameLocks noGrp="1"/>
          </p:cNvGraphicFramePr>
          <p:nvPr/>
        </p:nvGraphicFramePr>
        <p:xfrm>
          <a:off x="365760" y="3241548"/>
          <a:ext cx="5215736" cy="1280160"/>
        </p:xfrm>
        <a:graphic>
          <a:graphicData uri="http://schemas.openxmlformats.org/drawingml/2006/table">
            <a:tbl>
              <a:tblPr firstRow="0" bandRow="0"/>
              <a:tblGrid>
                <a:gridCol w="1805447"/>
                <a:gridCol w="2607868"/>
                <a:gridCol w="802421"/>
              </a:tblGrid>
              <a:tr h="256032">
                <a:tc>
                  <a:txBody>
                    <a:bodyPr wrap="square"/>
                    <a:lstStyle/>
                    <a:p>
                      <a:r>
                        <a:rPr sz="1050" b="1" i="0">
                          <a:solidFill>
                            <a:srgbClr val="FFFFFF"/>
                          </a:solidFill>
                          <a:latin typeface="Calibri"/>
                        </a:rPr>
                        <a:t>Call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The list that was printed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050" b="1" i="0">
                          <a:solidFill>
                            <a:srgbClr val="FFFFFF"/>
                          </a:solidFill>
                          <a:latin typeface="Calibri"/>
                        </a:rPr>
                        <a:t>Items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56032">
                <a:tc>
                  <a:txBody>
                    <a:bodyPr wrap="square"/>
                    <a:lstStyle/>
                    <a:p>
                      <a:r>
                        <a:rPr sz="1050" b="0" i="0">
                          <a:solidFill>
                            <a:srgbClr val="1F2933"/>
                          </a:solidFill>
                          <a:latin typeface="Courier New"/>
                        </a:rPr>
                        <a:t>add_item('a')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['a', 'b']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7DAD2"/>
                    </a:solidFill>
                  </a:tcPr>
                </a:tc>
                <a:tc>
                  <a:txBody>
                    <a:bodyPr wrap="square"/>
                    <a:lstStyle/>
                    <a:p>
                      <a:pPr algn="ctr"/>
                      <a:r>
                        <a:rPr sz="1050" b="0" i="0">
                          <a:solidFill>
                            <a:srgbClr val="1F2933"/>
                          </a:solidFill>
                          <a:latin typeface="Calibri"/>
                        </a:rPr>
                        <a:t>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56032">
                <a:tc>
                  <a:txBody>
                    <a:bodyPr wrap="square"/>
                    <a:lstStyle/>
                    <a:p>
                      <a:r>
                        <a:rPr sz="1050" b="0" i="0">
                          <a:solidFill>
                            <a:srgbClr val="1F2933"/>
                          </a:solidFill>
                          <a:latin typeface="Courier New"/>
                        </a:rPr>
                        <a:t>add_item('b')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['a', 'b']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7DAD2"/>
                    </a:solidFill>
                  </a:tcPr>
                </a:tc>
                <a:tc>
                  <a:txBody>
                    <a:bodyPr wrap="square"/>
                    <a:lstStyle/>
                    <a:p>
                      <a:pPr algn="ctr"/>
                      <a:r>
                        <a:rPr sz="1050" b="0" i="0">
                          <a:solidFill>
                            <a:srgbClr val="1F2933"/>
                          </a:solidFill>
                          <a:latin typeface="Calibri"/>
                        </a:rPr>
                        <a:t>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56032">
                <a:tc>
                  <a:txBody>
                    <a:bodyPr wrap="square"/>
                    <a:lstStyle/>
                    <a:p>
                      <a:r>
                        <a:rPr sz="1050" b="0" i="0">
                          <a:solidFill>
                            <a:srgbClr val="1F2933"/>
                          </a:solidFill>
                          <a:latin typeface="Courier New"/>
                        </a:rPr>
                        <a:t>add_safe('a')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c>
                  <a:txBody>
                    <a:bodyPr wrap="square"/>
                    <a:lstStyle/>
                    <a:p>
                      <a:pPr algn="ctr"/>
                      <a:r>
                        <a:rPr sz="1050" b="0" i="0">
                          <a:solidFill>
                            <a:srgbClr val="1F2933"/>
                          </a:solidFill>
                          <a:latin typeface="Calibri"/>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56032">
                <a:tc>
                  <a:txBody>
                    <a:bodyPr wrap="square"/>
                    <a:lstStyle/>
                    <a:p>
                      <a:r>
                        <a:rPr sz="1050" b="0" i="0">
                          <a:solidFill>
                            <a:srgbClr val="1F2933"/>
                          </a:solidFill>
                          <a:latin typeface="Courier New"/>
                        </a:rPr>
                        <a:t>add_safe('b')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c>
                  <a:txBody>
                    <a:bodyPr wrap="square"/>
                    <a:lstStyle/>
                    <a:p>
                      <a:pPr algn="ctr"/>
                      <a:r>
                        <a:rPr sz="1050" b="0" i="0">
                          <a:solidFill>
                            <a:srgbClr val="1F2933"/>
                          </a:solidFill>
                          <a:latin typeface="Calibri"/>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graphicFrame>
        <p:nvGraphicFramePr>
          <p:cNvPr id="12" name="chart"/>
          <p:cNvGraphicFramePr>
            <a:graphicFrameLocks noGrp="1"/>
          </p:cNvGraphicFramePr>
          <p:nvPr/>
        </p:nvGraphicFramePr>
        <p:xfrm>
          <a:off x="5917996" y="3241548"/>
          <a:ext cx="2860243" cy="1325880"/>
        </p:xfrm>
        <a:graphic>
          <a:graphicData uri="http://schemas.openxmlformats.org/drawingml/2006/chart">
            <c:chart xmlns:c="http://schemas.openxmlformats.org/drawingml/2006/chart" r:id="rId3"/>
          </a:graphicData>
        </a:graphic>
      </p:graphicFrame>
      <p:sp>
        <p:nvSpPr>
          <p:cNvPr id="1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Default to None; build the list inside.</a:t>
            </a:r>
          </a:p>
        </p:txBody>
      </p:sp>
      <p:sp>
        <p:nvSpPr>
          <p:cNvPr id="1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16 / 46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3000" b="1" i="0">
                <a:solidFill>
                  <a:srgbClr val="1F2933"/>
                </a:solidFill>
                <a:latin typeface="Calibri"/>
              </a:rPr>
              <a:t>Part 2: The call stack and scope</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Where calls live, and which names they can see</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Call stack</a:t>
            </a:r>
          </a:p>
        </p:txBody>
      </p:sp>
      <p:sp>
        <p:nvSpPr>
          <p:cNvPr id="6" name="meaning"/>
          <p:cNvSpPr txBox="1"/>
          <p:nvPr/>
        </p:nvSpPr>
        <p:spPr>
          <a:xfrm>
            <a:off x="2606040" y="1417320"/>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Every active call has a frame; the newest is on top.</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Local scope</a:t>
            </a:r>
          </a:p>
        </p:txBody>
      </p:sp>
      <p:sp>
        <p:nvSpPr>
          <p:cNvPr id="8" name="meaning"/>
          <p:cNvSpPr txBox="1"/>
          <p:nvPr/>
        </p:nvSpPr>
        <p:spPr>
          <a:xfrm>
            <a:off x="2606040" y="2075688"/>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Names made inside a call vanish when it returns.</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Global scope</a:t>
            </a:r>
          </a:p>
        </p:txBody>
      </p:sp>
      <p:sp>
        <p:nvSpPr>
          <p:cNvPr id="10" name="meaning"/>
          <p:cNvSpPr txBox="1"/>
          <p:nvPr/>
        </p:nvSpPr>
        <p:spPr>
          <a:xfrm>
            <a:off x="2606040" y="2734056"/>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Names at the top level can be read from everywhere.</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global statement</a:t>
            </a:r>
          </a:p>
        </p:txBody>
      </p:sp>
      <p:sp>
        <p:nvSpPr>
          <p:cNvPr id="12" name="meaning"/>
          <p:cNvSpPr txBox="1"/>
          <p:nvPr/>
        </p:nvSpPr>
        <p:spPr>
          <a:xfrm>
            <a:off x="2606040" y="3392424"/>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Lets an assignment inside a function reach the global name.</a:t>
            </a:r>
          </a:p>
        </p:txBody>
      </p:sp>
      <p:graphicFrame>
        <p:nvGraphicFramePr>
          <p:cNvPr id="13" name="table"/>
          <p:cNvGraphicFramePr>
            <a:graphicFrameLocks noGrp="1"/>
          </p:cNvGraphicFramePr>
          <p:nvPr/>
        </p:nvGraphicFramePr>
        <p:xfrm>
          <a:off x="5303520" y="1417320"/>
          <a:ext cx="3474719" cy="3200400"/>
        </p:xfrm>
        <a:graphic>
          <a:graphicData uri="http://schemas.openxmlformats.org/drawingml/2006/table">
            <a:tbl>
              <a:tblPr firstRow="0" bandRow="0"/>
              <a:tblGrid>
                <a:gridCol w="507543"/>
                <a:gridCol w="2967176"/>
              </a:tblGrid>
              <a:tr h="320040">
                <a:tc>
                  <a:txBody>
                    <a:bodyPr wrap="square"/>
                    <a:lstStyle/>
                    <a:p>
                      <a:r>
                        <a:rPr sz="105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20040">
                <a:tc>
                  <a:txBody>
                    <a:bodyPr wrap="square"/>
                    <a:lstStyle/>
                    <a:p>
                      <a:r>
                        <a:rPr sz="1050" b="0" i="0">
                          <a:solidFill>
                            <a:srgbClr val="1F2933"/>
                          </a:solidFill>
                          <a:latin typeface="Calibri"/>
                        </a:rPr>
                        <a:t>19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The call stack: one frame for every ac...</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20040">
                <a:tc>
                  <a:txBody>
                    <a:bodyPr wrap="square"/>
                    <a:lstStyle/>
                    <a:p>
                      <a:r>
                        <a:rPr sz="1050" b="0" i="0">
                          <a:solidFill>
                            <a:srgbClr val="1F2933"/>
                          </a:solidFill>
                          <a:latin typeface="Calibri"/>
                        </a:rPr>
                        <a:t>20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A frame object knows its function and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20040">
                <a:tc>
                  <a:txBody>
                    <a:bodyPr wrap="square"/>
                    <a:lstStyle/>
                    <a:p>
                      <a:r>
                        <a:rPr sz="1050" b="0" i="0">
                          <a:solidFill>
                            <a:srgbClr val="1F2933"/>
                          </a:solidFill>
                          <a:latin typeface="Calibri"/>
                        </a:rPr>
                        <a:t>22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A local variable lives only during its...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20040">
                <a:tc>
                  <a:txBody>
                    <a:bodyPr wrap="square"/>
                    <a:lstStyle/>
                    <a:p>
                      <a:r>
                        <a:rPr sz="1050" b="0" i="0">
                          <a:solidFill>
                            <a:srgbClr val="1F2933"/>
                          </a:solidFill>
                          <a:latin typeface="Calibri"/>
                        </a:rPr>
                        <a:t>23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Local scopes are walled off; globals c...</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20040">
                <a:tc>
                  <a:txBody>
                    <a:bodyPr wrap="square"/>
                    <a:lstStyle/>
                    <a:p>
                      <a:r>
                        <a:rPr sz="1050" b="0" i="0">
                          <a:solidFill>
                            <a:srgbClr val="1F2933"/>
                          </a:solidFill>
                          <a:latin typeface="Calibri"/>
                        </a:rPr>
                        <a:t>24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The same name can be three different v...</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20040">
                <a:tc>
                  <a:txBody>
                    <a:bodyPr wrap="square"/>
                    <a:lstStyle/>
                    <a:p>
                      <a:r>
                        <a:rPr sz="1050" b="0" i="0">
                          <a:solidFill>
                            <a:srgbClr val="1F2933"/>
                          </a:solidFill>
                          <a:latin typeface="Calibri"/>
                        </a:rPr>
                        <a:t>25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The global statement reaches the globa...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20040">
                <a:tc>
                  <a:txBody>
                    <a:bodyPr wrap="square"/>
                    <a:lstStyle/>
                    <a:p>
                      <a:r>
                        <a:rPr sz="1050" b="0" i="0">
                          <a:solidFill>
                            <a:srgbClr val="1F2933"/>
                          </a:solidFill>
                          <a:latin typeface="Calibri"/>
                        </a:rPr>
                        <a:t>26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nonlocal: the middle case between loca...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20040">
                <a:tc>
                  <a:txBody>
                    <a:bodyPr wrap="square"/>
                    <a:lstStyle/>
                    <a:p>
                      <a:r>
                        <a:rPr sz="1050" b="0" i="0">
                          <a:solidFill>
                            <a:srgbClr val="1F2933"/>
                          </a:solidFill>
                          <a:latin typeface="Calibri"/>
                        </a:rPr>
                        <a:t>27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Scope identification: does the body 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20040">
                <a:tc>
                  <a:txBody>
                    <a:bodyPr wrap="square"/>
                    <a:lstStyle/>
                    <a:p>
                      <a:r>
                        <a:rPr sz="1050" b="0" i="0">
                          <a:solidFill>
                            <a:srgbClr val="1F2933"/>
                          </a:solidFill>
                          <a:latin typeface="Calibri"/>
                        </a:rPr>
                        <a:t>28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Assign later, crash earlier: UnboundLo...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17 / 46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the call stack</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548640"/>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The call stack is a pile of sticky notes: each call adds one, and the top note is the one you work on.</a:t>
            </a:r>
          </a:p>
        </p:txBody>
      </p:sp>
      <p:graphicFrame>
        <p:nvGraphicFramePr>
          <p:cNvPr id="6" name="table"/>
          <p:cNvGraphicFramePr>
            <a:graphicFrameLocks noGrp="1"/>
          </p:cNvGraphicFramePr>
          <p:nvPr/>
        </p:nvGraphicFramePr>
        <p:xfrm>
          <a:off x="365760" y="1463040"/>
          <a:ext cx="8412480" cy="1828800"/>
        </p:xfrm>
        <a:graphic>
          <a:graphicData uri="http://schemas.openxmlformats.org/drawingml/2006/table">
            <a:tbl>
              <a:tblPr firstRow="0" bandRow="0"/>
              <a:tblGrid>
                <a:gridCol w="3383280"/>
                <a:gridCol w="5029200"/>
              </a:tblGrid>
              <a:tr h="457200">
                <a:tc>
                  <a:txBody>
                    <a:bodyPr wrap="square"/>
                    <a:lstStyle/>
                    <a:p>
                      <a:r>
                        <a:rPr sz="12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2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457200">
                <a:tc>
                  <a:txBody>
                    <a:bodyPr wrap="square"/>
                    <a:lstStyle/>
                    <a:p>
                      <a:r>
                        <a:rPr sz="1200" b="1" i="0">
                          <a:solidFill>
                            <a:srgbClr val="1F2933"/>
                          </a:solidFill>
                          <a:latin typeface="Calibri"/>
                        </a:rPr>
                        <a:t>The Call Stack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A pile of sticky notes, newest on top, removed in reverse order.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200" b="1" i="0">
                          <a:solidFill>
                            <a:srgbClr val="1F2933"/>
                          </a:solidFill>
                          <a:latin typeface="Calibri"/>
                        </a:rPr>
                        <a:t>call stack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The pile itself: it remembers where each call has to go back to.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57200">
                <a:tc>
                  <a:txBody>
                    <a:bodyPr wrap="square"/>
                    <a:lstStyle/>
                    <a:p>
                      <a:r>
                        <a:rPr sz="1200" b="1" i="0">
                          <a:solidFill>
                            <a:srgbClr val="1F2933"/>
                          </a:solidFill>
                          <a:latin typeface="Calibri"/>
                        </a:rPr>
                        <a:t>frame object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One sticky note: function, variables and the line to return to.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18 / 46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The call stack: one frame for every active call</a:t>
            </a:r>
          </a:p>
        </p:txBody>
      </p:sp>
      <p:sp>
        <p:nvSpPr>
          <p:cNvPr id="4" name="code"/>
          <p:cNvSpPr/>
          <p:nvPr/>
        </p:nvSpPr>
        <p:spPr>
          <a:xfrm>
            <a:off x="365760" y="841248"/>
            <a:ext cx="4142231"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import</a:t>
            </a:r>
            <a:r>
              <a:rPr sz="1000" b="0" i="0">
                <a:solidFill>
                  <a:srgbClr val="E6EDF3"/>
                </a:solidFill>
                <a:latin typeface="Courier New"/>
              </a:rPr>
              <a:t> </a:t>
            </a:r>
            <a:r>
              <a:rPr sz="1000" b="0" i="0">
                <a:solidFill>
                  <a:srgbClr val="E6EDF3"/>
                </a:solidFill>
                <a:latin typeface="Courier New"/>
              </a:rPr>
              <a:t>inspect</a:t>
            </a:r>
          </a:p>
          <a:p>
            <a:pPr algn="l"/>
            <a:r>
              <a:rPr sz="1000" b="0" i="0">
                <a:solidFill>
                  <a:srgbClr val="8FA3B8"/>
                </a:solidFill>
                <a:latin typeface="Courier New"/>
              </a:rPr>
              <a:t>&gt;&gt;&gt; </a:t>
            </a:r>
            <a:r>
              <a:rPr sz="1000" b="0" i="0">
                <a:solidFill>
                  <a:srgbClr val="E6EDF3"/>
                </a:solidFill>
                <a:latin typeface="Courier New"/>
              </a:rPr>
              <a:t>base</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len</a:t>
            </a:r>
            <a:r>
              <a:rPr sz="1000" b="0" i="0">
                <a:solidFill>
                  <a:srgbClr val="E6EDF3"/>
                </a:solidFill>
                <a:latin typeface="Courier New"/>
              </a:rPr>
              <a:t>(</a:t>
            </a:r>
            <a:r>
              <a:rPr sz="1000" b="0" i="0">
                <a:solidFill>
                  <a:srgbClr val="E6EDF3"/>
                </a:solidFill>
                <a:latin typeface="Courier New"/>
              </a:rPr>
              <a:t>inspect</a:t>
            </a:r>
            <a:r>
              <a:rPr sz="1000" b="0" i="0">
                <a:solidFill>
                  <a:srgbClr val="E6EDF3"/>
                </a:solidFill>
                <a:latin typeface="Courier New"/>
              </a:rPr>
              <a:t>.</a:t>
            </a:r>
            <a:r>
              <a:rPr sz="1000" b="0" i="0">
                <a:solidFill>
                  <a:srgbClr val="E6EDF3"/>
                </a:solidFill>
                <a:latin typeface="Courier New"/>
              </a:rPr>
              <a:t>stack</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depth</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C9A0FF"/>
                </a:solidFill>
                <a:latin typeface="Courier New"/>
              </a:rPr>
              <a:t>lambda</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len</a:t>
            </a:r>
            <a:r>
              <a:rPr sz="1000" b="0" i="0">
                <a:solidFill>
                  <a:srgbClr val="E6EDF3"/>
                </a:solidFill>
                <a:latin typeface="Courier New"/>
              </a:rPr>
              <a:t>(</a:t>
            </a:r>
            <a:r>
              <a:rPr sz="1000" b="0" i="0">
                <a:solidFill>
                  <a:srgbClr val="E6EDF3"/>
                </a:solidFill>
                <a:latin typeface="Courier New"/>
              </a:rPr>
              <a:t>inspect</a:t>
            </a:r>
            <a:r>
              <a:rPr sz="1000" b="0" i="0">
                <a:solidFill>
                  <a:srgbClr val="E6EDF3"/>
                </a:solidFill>
                <a:latin typeface="Courier New"/>
              </a:rPr>
              <a:t>.</a:t>
            </a:r>
            <a:r>
              <a:rPr sz="1000" b="0" i="0">
                <a:solidFill>
                  <a:srgbClr val="E6EDF3"/>
                </a:solidFill>
                <a:latin typeface="Courier New"/>
              </a:rPr>
              <a:t>stack</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base</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1</a:t>
            </a:r>
          </a:p>
        </p:txBody>
      </p:sp>
      <p:sp>
        <p:nvSpPr>
          <p:cNvPr id="5" name="explanation"/>
          <p:cNvSpPr txBox="1"/>
          <p:nvPr/>
        </p:nvSpPr>
        <p:spPr>
          <a:xfrm>
            <a:off x="4489704" y="841248"/>
            <a:ext cx="4288536" cy="651891"/>
          </a:xfrm>
          <a:prstGeom prst="rect">
            <a:avLst/>
          </a:prstGeom>
          <a:noFill/>
        </p:spPr>
        <p:txBody>
          <a:bodyPr wrap="square" lIns="128016" rIns="128016" tIns="18288" bIns="18288" anchor="ctr">
            <a:spAutoFit/>
          </a:bodyPr>
          <a:lstStyle/>
          <a:p>
            <a:r>
              <a:rPr sz="1100" b="0" i="0">
                <a:solidFill>
                  <a:srgbClr val="1F2933"/>
                </a:solidFill>
                <a:latin typeface="Calibri"/>
              </a:rPr>
              <a:t>inspect.stack lists every waiting frame. depth counts them above the top level; the minus 1 leaves out the lambda's own frame.</a:t>
            </a:r>
          </a:p>
        </p:txBody>
      </p:sp>
      <p:sp>
        <p:nvSpPr>
          <p:cNvPr id="6" name="code"/>
          <p:cNvSpPr/>
          <p:nvPr/>
        </p:nvSpPr>
        <p:spPr>
          <a:xfrm>
            <a:off x="365760" y="1548003"/>
            <a:ext cx="4142231" cy="111252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def</a:t>
            </a:r>
            <a:r>
              <a:rPr sz="1000" b="0" i="0">
                <a:solidFill>
                  <a:srgbClr val="E6EDF3"/>
                </a:solidFill>
                <a:latin typeface="Courier New"/>
              </a:rPr>
              <a:t> </a:t>
            </a:r>
            <a:r>
              <a:rPr sz="1000" b="0" i="0">
                <a:solidFill>
                  <a:srgbClr val="E6EDF3"/>
                </a:solidFill>
                <a:latin typeface="Courier New"/>
              </a:rPr>
              <a:t>c</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C9A0FF"/>
                </a:solidFill>
                <a:latin typeface="Courier New"/>
              </a:rPr>
              <a:t>return</a:t>
            </a:r>
            <a:r>
              <a:rPr sz="1000" b="0" i="0">
                <a:solidFill>
                  <a:srgbClr val="E6EDF3"/>
                </a:solidFill>
                <a:latin typeface="Courier New"/>
              </a:rPr>
              <a:t> </a:t>
            </a:r>
            <a:r>
              <a:rPr sz="1000" b="0" i="0">
                <a:solidFill>
                  <a:srgbClr val="E6EDF3"/>
                </a:solidFill>
                <a:latin typeface="Courier New"/>
              </a:rPr>
              <a:t>depth</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def</a:t>
            </a:r>
            <a:r>
              <a:rPr sz="1000" b="0" i="0">
                <a:solidFill>
                  <a:srgbClr val="E6EDF3"/>
                </a:solidFill>
                <a:latin typeface="Courier New"/>
              </a:rPr>
              <a:t> </a:t>
            </a:r>
            <a:r>
              <a:rPr sz="1000" b="0" i="0">
                <a:solidFill>
                  <a:srgbClr val="E6EDF3"/>
                </a:solidFill>
                <a:latin typeface="Courier New"/>
              </a:rPr>
              <a:t>b</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C9A0FF"/>
                </a:solidFill>
                <a:latin typeface="Courier New"/>
              </a:rPr>
              <a:t>return</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depth</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c</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def</a:t>
            </a:r>
            <a:r>
              <a:rPr sz="1000" b="0" i="0">
                <a:solidFill>
                  <a:srgbClr val="E6EDF3"/>
                </a:solidFill>
                <a:latin typeface="Courier New"/>
              </a:rPr>
              <a:t> </a:t>
            </a:r>
            <a:r>
              <a:rPr sz="1000" b="0" i="0">
                <a:solidFill>
                  <a:srgbClr val="E6EDF3"/>
                </a:solidFill>
                <a:latin typeface="Courier New"/>
              </a:rPr>
              <a:t>a</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C9A0FF"/>
                </a:solidFill>
                <a:latin typeface="Courier New"/>
              </a:rPr>
              <a:t>return</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depth</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b</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p:txBody>
      </p:sp>
      <p:sp>
        <p:nvSpPr>
          <p:cNvPr id="7" name="explanation"/>
          <p:cNvSpPr txBox="1"/>
          <p:nvPr/>
        </p:nvSpPr>
        <p:spPr>
          <a:xfrm>
            <a:off x="4489704" y="1548003"/>
            <a:ext cx="4288536" cy="1112520"/>
          </a:xfrm>
          <a:prstGeom prst="rect">
            <a:avLst/>
          </a:prstGeom>
          <a:noFill/>
        </p:spPr>
        <p:txBody>
          <a:bodyPr wrap="square" lIns="128016" rIns="128016" tIns="18288" bIns="18288" anchor="ctr">
            <a:spAutoFit/>
          </a:bodyPr>
          <a:lstStyle/>
          <a:p>
            <a:r>
              <a:rPr sz="1100" b="0" i="0">
                <a:solidFill>
                  <a:srgbClr val="1F2933"/>
                </a:solidFill>
                <a:latin typeface="Calibri"/>
              </a:rPr>
              <a:t>a calls b and b calls c. Each one reports how many calls are waiting: its depth in the stack.</a:t>
            </a:r>
          </a:p>
        </p:txBody>
      </p:sp>
      <p:sp>
        <p:nvSpPr>
          <p:cNvPr id="8" name="code"/>
          <p:cNvSpPr/>
          <p:nvPr/>
        </p:nvSpPr>
        <p:spPr>
          <a:xfrm>
            <a:off x="365760" y="2715387"/>
            <a:ext cx="4142231" cy="47726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a</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depth</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p:txBody>
      </p:sp>
      <p:sp>
        <p:nvSpPr>
          <p:cNvPr id="9" name="explanation"/>
          <p:cNvSpPr txBox="1"/>
          <p:nvPr/>
        </p:nvSpPr>
        <p:spPr>
          <a:xfrm>
            <a:off x="4489704" y="2715387"/>
            <a:ext cx="4288536" cy="477266"/>
          </a:xfrm>
          <a:prstGeom prst="rect">
            <a:avLst/>
          </a:prstGeom>
          <a:noFill/>
        </p:spPr>
        <p:txBody>
          <a:bodyPr wrap="square" lIns="128016" rIns="128016" tIns="18288" bIns="18288" anchor="ctr">
            <a:spAutoFit/>
          </a:bodyPr>
          <a:lstStyle/>
          <a:p>
            <a:r>
              <a:rPr sz="1100" b="0" i="0">
                <a:solidFill>
                  <a:srgbClr val="1F2933"/>
                </a:solidFill>
                <a:latin typeface="Calibri"/>
              </a:rPr>
              <a:t>a is at depth 1, b at 2, c at 3. Back at the top level the stack is empty again: depth 0.</a:t>
            </a:r>
          </a:p>
        </p:txBody>
      </p:sp>
      <p:sp>
        <p:nvSpPr>
          <p:cNvPr id="10" name="result label"/>
          <p:cNvSpPr txBox="1"/>
          <p:nvPr/>
        </p:nvSpPr>
        <p:spPr>
          <a:xfrm>
            <a:off x="365760" y="3265805"/>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11" name="Rounded Rectangle 10"/>
          <p:cNvSpPr/>
          <p:nvPr/>
        </p:nvSpPr>
        <p:spPr>
          <a:xfrm>
            <a:off x="548640" y="4308221"/>
            <a:ext cx="2194560" cy="214884"/>
          </a:xfrm>
          <a:prstGeom prst="roundRect">
            <a:avLst>
              <a:gd name="adj" fmla="val 15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5B6773"/>
                </a:solidFill>
                <a:latin typeface="Courier New"/>
              </a:rPr>
              <a:t>top level   depth 0</a:t>
            </a:r>
          </a:p>
        </p:txBody>
      </p:sp>
      <p:cxnSp>
        <p:nvCxnSpPr>
          <p:cNvPr id="12" name="arrow"/>
          <p:cNvCxnSpPr/>
          <p:nvPr/>
        </p:nvCxnSpPr>
        <p:spPr>
          <a:xfrm flipV="1">
            <a:off x="1645919" y="4523105"/>
            <a:ext cx="0" cy="41148"/>
          </a:xfrm>
          <a:prstGeom prst="line">
            <a:avLst/>
          </a:prstGeom>
          <a:ln w="1270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48640" y="4052188"/>
            <a:ext cx="2194560" cy="214884"/>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a()   depth 1</a:t>
            </a:r>
          </a:p>
        </p:txBody>
      </p:sp>
      <p:cxnSp>
        <p:nvCxnSpPr>
          <p:cNvPr id="14" name="arrow"/>
          <p:cNvCxnSpPr/>
          <p:nvPr/>
        </p:nvCxnSpPr>
        <p:spPr>
          <a:xfrm flipV="1">
            <a:off x="1645919" y="4267073"/>
            <a:ext cx="0" cy="41148"/>
          </a:xfrm>
          <a:prstGeom prst="line">
            <a:avLst/>
          </a:prstGeom>
          <a:ln w="1270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48640" y="3796157"/>
            <a:ext cx="2194560" cy="214884"/>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b()   depth 2</a:t>
            </a:r>
          </a:p>
        </p:txBody>
      </p:sp>
      <p:cxnSp>
        <p:nvCxnSpPr>
          <p:cNvPr id="16" name="arrow"/>
          <p:cNvCxnSpPr/>
          <p:nvPr/>
        </p:nvCxnSpPr>
        <p:spPr>
          <a:xfrm flipV="1">
            <a:off x="1645919" y="4011041"/>
            <a:ext cx="0" cy="41148"/>
          </a:xfrm>
          <a:prstGeom prst="line">
            <a:avLst/>
          </a:prstGeom>
          <a:ln w="1270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48640" y="3540125"/>
            <a:ext cx="2194560" cy="214884"/>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c()   depth 3</a:t>
            </a:r>
          </a:p>
        </p:txBody>
      </p:sp>
      <p:sp>
        <p:nvSpPr>
          <p:cNvPr id="18" name="TextBox 17"/>
          <p:cNvSpPr txBox="1"/>
          <p:nvPr/>
        </p:nvSpPr>
        <p:spPr>
          <a:xfrm>
            <a:off x="2834640" y="3558413"/>
            <a:ext cx="1645920" cy="457200"/>
          </a:xfrm>
          <a:prstGeom prst="rect">
            <a:avLst/>
          </a:prstGeom>
          <a:noFill/>
        </p:spPr>
        <p:txBody>
          <a:bodyPr wrap="square" lIns="45720" rIns="45720" tIns="27432" bIns="27432" anchor="t">
            <a:spAutoFit/>
          </a:bodyPr>
          <a:lstStyle/>
          <a:p>
            <a:r>
              <a:rPr sz="900" b="0" i="1">
                <a:solidFill>
                  <a:srgbClr val="5B6773"/>
                </a:solidFill>
                <a:latin typeface="Calibri"/>
              </a:rPr>
              <a:t>newest call on top; each arrow points to its caller</a:t>
            </a:r>
          </a:p>
        </p:txBody>
      </p:sp>
      <p:graphicFrame>
        <p:nvGraphicFramePr>
          <p:cNvPr id="19" name="chart"/>
          <p:cNvGraphicFramePr>
            <a:graphicFrameLocks noGrp="1"/>
          </p:cNvGraphicFramePr>
          <p:nvPr/>
        </p:nvGraphicFramePr>
        <p:xfrm>
          <a:off x="4572000" y="3540125"/>
          <a:ext cx="4206240" cy="1051560"/>
        </p:xfrm>
        <a:graphic>
          <a:graphicData uri="http://schemas.openxmlformats.org/drawingml/2006/chart">
            <c:chart xmlns:c="http://schemas.openxmlformats.org/drawingml/2006/chart" r:id="rId3"/>
          </a:graphicData>
        </a:graphic>
      </p:graphicFrame>
      <p:sp>
        <p:nvSpPr>
          <p:cNvPr id="20"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Every active call has a frame; the newest is on top.</a:t>
            </a:r>
          </a:p>
        </p:txBody>
      </p:sp>
      <p:sp>
        <p:nvSpPr>
          <p:cNvPr id="22"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19 / 46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A frame object knows its function and its caller</a:t>
            </a:r>
          </a:p>
        </p:txBody>
      </p:sp>
      <p:sp>
        <p:nvSpPr>
          <p:cNvPr id="4" name="code"/>
          <p:cNvSpPr/>
          <p:nvPr/>
        </p:nvSpPr>
        <p:spPr>
          <a:xfrm>
            <a:off x="365760" y="841248"/>
            <a:ext cx="4866132" cy="864615"/>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import</a:t>
            </a:r>
            <a:r>
              <a:rPr sz="1100" b="0" i="0">
                <a:solidFill>
                  <a:srgbClr val="E6EDF3"/>
                </a:solidFill>
                <a:latin typeface="Courier New"/>
              </a:rPr>
              <a:t> </a:t>
            </a:r>
            <a:r>
              <a:rPr sz="1100" b="0" i="0">
                <a:solidFill>
                  <a:srgbClr val="E6EDF3"/>
                </a:solidFill>
                <a:latin typeface="Courier New"/>
              </a:rPr>
              <a:t>sys</a:t>
            </a:r>
          </a:p>
          <a:p>
            <a:pPr algn="l"/>
            <a:r>
              <a:rPr sz="1100" b="0" i="0">
                <a:solidFill>
                  <a:srgbClr val="8FA3B8"/>
                </a:solidFill>
                <a:latin typeface="Courier New"/>
              </a:rPr>
              <a:t>&gt;&gt;&gt; </a:t>
            </a:r>
            <a:r>
              <a:rPr sz="1100" b="0" i="0">
                <a:solidFill>
                  <a:srgbClr val="C9A0FF"/>
                </a:solidFill>
                <a:latin typeface="Courier New"/>
              </a:rPr>
              <a:t>def</a:t>
            </a:r>
            <a:r>
              <a:rPr sz="1100" b="0" i="0">
                <a:solidFill>
                  <a:srgbClr val="E6EDF3"/>
                </a:solidFill>
                <a:latin typeface="Courier New"/>
              </a:rPr>
              <a:t> </a:t>
            </a:r>
            <a:r>
              <a:rPr sz="1100" b="0" i="0">
                <a:solidFill>
                  <a:srgbClr val="E6EDF3"/>
                </a:solidFill>
                <a:latin typeface="Courier New"/>
              </a:rPr>
              <a:t>inner</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E6EDF3"/>
                </a:solidFill>
                <a:latin typeface="Courier New"/>
              </a:rPr>
              <a:t>me</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caller</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sys</a:t>
            </a:r>
            <a:r>
              <a:rPr sz="1100" b="0" i="0">
                <a:solidFill>
                  <a:srgbClr val="E6EDF3"/>
                </a:solidFill>
                <a:latin typeface="Courier New"/>
              </a:rPr>
              <a:t>.</a:t>
            </a:r>
            <a:r>
              <a:rPr sz="1100" b="0" i="0">
                <a:solidFill>
                  <a:srgbClr val="E6EDF3"/>
                </a:solidFill>
                <a:latin typeface="Courier New"/>
              </a:rPr>
              <a:t>_getframe</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sys</a:t>
            </a:r>
            <a:r>
              <a:rPr sz="1100" b="0" i="0">
                <a:solidFill>
                  <a:srgbClr val="E6EDF3"/>
                </a:solidFill>
                <a:latin typeface="Courier New"/>
              </a:rPr>
              <a:t>.</a:t>
            </a:r>
            <a:r>
              <a:rPr sz="1100" b="0" i="0">
                <a:solidFill>
                  <a:srgbClr val="E6EDF3"/>
                </a:solidFill>
                <a:latin typeface="Courier New"/>
              </a:rPr>
              <a:t>_getframe</a:t>
            </a:r>
            <a:r>
              <a:rPr sz="1100" b="0" i="0">
                <a:solidFill>
                  <a:srgbClr val="E6EDF3"/>
                </a:solidFill>
                <a:latin typeface="Courier New"/>
              </a:rPr>
              <a:t>(</a:t>
            </a:r>
            <a:r>
              <a:rPr sz="1100" b="0" i="0">
                <a:solidFill>
                  <a:srgbClr val="7CC4FF"/>
                </a:solidFill>
                <a:latin typeface="Courier New"/>
              </a:rPr>
              <a:t>1</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C9A0FF"/>
                </a:solidFill>
                <a:latin typeface="Courier New"/>
              </a:rPr>
              <a:t>return</a:t>
            </a:r>
            <a:r>
              <a:rPr sz="1100" b="0" i="0">
                <a:solidFill>
                  <a:srgbClr val="E6EDF3"/>
                </a:solidFill>
                <a:latin typeface="Courier New"/>
              </a:rPr>
              <a:t> </a:t>
            </a:r>
            <a:r>
              <a:rPr sz="1100" b="0" i="0">
                <a:solidFill>
                  <a:srgbClr val="E6EDF3"/>
                </a:solidFill>
                <a:latin typeface="Courier New"/>
              </a:rPr>
              <a:t>me</a:t>
            </a:r>
            <a:r>
              <a:rPr sz="1100" b="0" i="0">
                <a:solidFill>
                  <a:srgbClr val="E6EDF3"/>
                </a:solidFill>
                <a:latin typeface="Courier New"/>
              </a:rPr>
              <a:t>.</a:t>
            </a:r>
            <a:r>
              <a:rPr sz="1100" b="0" i="0">
                <a:solidFill>
                  <a:srgbClr val="E6EDF3"/>
                </a:solidFill>
                <a:latin typeface="Courier New"/>
              </a:rPr>
              <a:t>f_code</a:t>
            </a:r>
            <a:r>
              <a:rPr sz="1100" b="0" i="0">
                <a:solidFill>
                  <a:srgbClr val="E6EDF3"/>
                </a:solidFill>
                <a:latin typeface="Courier New"/>
              </a:rPr>
              <a:t>.</a:t>
            </a:r>
            <a:r>
              <a:rPr sz="1100" b="0" i="0">
                <a:solidFill>
                  <a:srgbClr val="E6EDF3"/>
                </a:solidFill>
                <a:latin typeface="Courier New"/>
              </a:rPr>
              <a:t>co_name</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caller</a:t>
            </a:r>
            <a:r>
              <a:rPr sz="1100" b="0" i="0">
                <a:solidFill>
                  <a:srgbClr val="E6EDF3"/>
                </a:solidFill>
                <a:latin typeface="Courier New"/>
              </a:rPr>
              <a:t>.</a:t>
            </a:r>
            <a:r>
              <a:rPr sz="1100" b="0" i="0">
                <a:solidFill>
                  <a:srgbClr val="E6EDF3"/>
                </a:solidFill>
                <a:latin typeface="Courier New"/>
              </a:rPr>
              <a:t>f_code</a:t>
            </a:r>
            <a:r>
              <a:rPr sz="1100" b="0" i="0">
                <a:solidFill>
                  <a:srgbClr val="E6EDF3"/>
                </a:solidFill>
                <a:latin typeface="Courier New"/>
              </a:rPr>
              <a:t>.</a:t>
            </a:r>
            <a:r>
              <a:rPr sz="1100" b="0" i="0">
                <a:solidFill>
                  <a:srgbClr val="E6EDF3"/>
                </a:solidFill>
                <a:latin typeface="Courier New"/>
              </a:rPr>
              <a:t>co_name</a:t>
            </a:r>
          </a:p>
        </p:txBody>
      </p:sp>
      <p:sp>
        <p:nvSpPr>
          <p:cNvPr id="5" name="explanation"/>
          <p:cNvSpPr txBox="1"/>
          <p:nvPr/>
        </p:nvSpPr>
        <p:spPr>
          <a:xfrm>
            <a:off x="5213604" y="841248"/>
            <a:ext cx="3564635" cy="864615"/>
          </a:xfrm>
          <a:prstGeom prst="rect">
            <a:avLst/>
          </a:prstGeom>
          <a:noFill/>
        </p:spPr>
        <p:txBody>
          <a:bodyPr wrap="square" lIns="128016" rIns="128016" tIns="18288" bIns="18288" anchor="ctr">
            <a:spAutoFit/>
          </a:bodyPr>
          <a:lstStyle/>
          <a:p>
            <a:r>
              <a:rPr sz="1200" b="0" i="0">
                <a:solidFill>
                  <a:srgbClr val="1F2933"/>
                </a:solidFill>
                <a:latin typeface="Calibri"/>
              </a:rPr>
              <a:t>sys._getframe gives the frame object of a running call. Its f_code.co_name is the name of the function.</a:t>
            </a:r>
          </a:p>
        </p:txBody>
      </p:sp>
      <p:sp>
        <p:nvSpPr>
          <p:cNvPr id="6" name="code"/>
          <p:cNvSpPr/>
          <p:nvPr/>
        </p:nvSpPr>
        <p:spPr>
          <a:xfrm>
            <a:off x="365760" y="1760728"/>
            <a:ext cx="4866132" cy="69418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def</a:t>
            </a:r>
            <a:r>
              <a:rPr sz="1100" b="0" i="0">
                <a:solidFill>
                  <a:srgbClr val="E6EDF3"/>
                </a:solidFill>
                <a:latin typeface="Courier New"/>
              </a:rPr>
              <a:t> </a:t>
            </a:r>
            <a:r>
              <a:rPr sz="1100" b="0" i="0">
                <a:solidFill>
                  <a:srgbClr val="E6EDF3"/>
                </a:solidFill>
                <a:latin typeface="Courier New"/>
              </a:rPr>
              <a:t>outer</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C9A0FF"/>
                </a:solidFill>
                <a:latin typeface="Courier New"/>
              </a:rPr>
              <a:t>return</a:t>
            </a:r>
            <a:r>
              <a:rPr sz="1100" b="0" i="0">
                <a:solidFill>
                  <a:srgbClr val="E6EDF3"/>
                </a:solidFill>
                <a:latin typeface="Courier New"/>
              </a:rPr>
              <a:t> </a:t>
            </a:r>
            <a:r>
              <a:rPr sz="1100" b="0" i="0">
                <a:solidFill>
                  <a:srgbClr val="E6EDF3"/>
                </a:solidFill>
                <a:latin typeface="Courier New"/>
              </a:rPr>
              <a:t>inner</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outer</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inner</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r>
              <a:rPr sz="1100" b="0" i="0">
                <a:solidFill>
                  <a:srgbClr val="7CC4FF"/>
                </a:solidFill>
                <a:latin typeface="Courier New"/>
              </a:rPr>
              <a:t>0</a:t>
            </a:r>
            <a:r>
              <a:rPr sz="1100" b="0" i="0">
                <a:solidFill>
                  <a:srgbClr val="E6EDF3"/>
                </a:solidFill>
                <a:latin typeface="Courier New"/>
              </a:rPr>
              <a:t>]</a:t>
            </a:r>
            <a:r>
              <a:rPr sz="1100" b="0" i="0">
                <a:solidFill>
                  <a:srgbClr val="E6EDF3"/>
                </a:solidFill>
                <a:latin typeface="Courier New"/>
              </a:rPr>
              <a:t>)</a:t>
            </a:r>
          </a:p>
        </p:txBody>
      </p:sp>
      <p:sp>
        <p:nvSpPr>
          <p:cNvPr id="7" name="explanation"/>
          <p:cNvSpPr txBox="1"/>
          <p:nvPr/>
        </p:nvSpPr>
        <p:spPr>
          <a:xfrm>
            <a:off x="5213604" y="1760728"/>
            <a:ext cx="3564635" cy="694181"/>
          </a:xfrm>
          <a:prstGeom prst="rect">
            <a:avLst/>
          </a:prstGeom>
          <a:noFill/>
        </p:spPr>
        <p:txBody>
          <a:bodyPr wrap="square" lIns="128016" rIns="128016" tIns="18288" bIns="18288" anchor="ctr">
            <a:spAutoFit/>
          </a:bodyPr>
          <a:lstStyle/>
          <a:p>
            <a:r>
              <a:rPr sz="1200" b="0" i="0">
                <a:solidFill>
                  <a:srgbClr val="1F2933"/>
                </a:solidFill>
                <a:latin typeface="Calibri"/>
              </a:rPr>
              <a:t>outer called inner, so the caller frame of inner is the frame of outer.</a:t>
            </a:r>
          </a:p>
        </p:txBody>
      </p:sp>
      <p:sp>
        <p:nvSpPr>
          <p:cNvPr id="8" name="result label"/>
          <p:cNvSpPr txBox="1"/>
          <p:nvPr/>
        </p:nvSpPr>
        <p:spPr>
          <a:xfrm>
            <a:off x="365760" y="2528062"/>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9" name="Rounded Rectangle 8"/>
          <p:cNvSpPr/>
          <p:nvPr/>
        </p:nvSpPr>
        <p:spPr>
          <a:xfrm>
            <a:off x="365760" y="2802382"/>
            <a:ext cx="2103120" cy="365760"/>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ourier New"/>
              </a:rPr>
              <a:t>frame of inner</a:t>
            </a:r>
          </a:p>
        </p:txBody>
      </p:sp>
      <p:sp>
        <p:nvSpPr>
          <p:cNvPr id="10" name="TextBox 9"/>
          <p:cNvSpPr txBox="1"/>
          <p:nvPr/>
        </p:nvSpPr>
        <p:spPr>
          <a:xfrm>
            <a:off x="365760" y="3204718"/>
            <a:ext cx="2103120" cy="237744"/>
          </a:xfrm>
          <a:prstGeom prst="rect">
            <a:avLst/>
          </a:prstGeom>
          <a:noFill/>
        </p:spPr>
        <p:txBody>
          <a:bodyPr wrap="square" lIns="45720" rIns="45720" tIns="27432" bIns="27432" anchor="t">
            <a:spAutoFit/>
          </a:bodyPr>
          <a:lstStyle/>
          <a:p>
            <a:pPr algn="ctr"/>
            <a:r>
              <a:rPr sz="950" b="0" i="0">
                <a:solidFill>
                  <a:srgbClr val="5B6773"/>
                </a:solidFill>
                <a:latin typeface="Courier New"/>
              </a:rPr>
              <a:t>co_name 'inner'</a:t>
            </a:r>
          </a:p>
        </p:txBody>
      </p:sp>
      <p:cxnSp>
        <p:nvCxnSpPr>
          <p:cNvPr id="11" name="arrow"/>
          <p:cNvCxnSpPr/>
          <p:nvPr/>
        </p:nvCxnSpPr>
        <p:spPr>
          <a:xfrm>
            <a:off x="2514600" y="2985262"/>
            <a:ext cx="548640" cy="0"/>
          </a:xfrm>
          <a:prstGeom prst="line">
            <a:avLst/>
          </a:prstGeom>
          <a:ln w="2032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514600" y="2756662"/>
            <a:ext cx="548640" cy="201168"/>
          </a:xfrm>
          <a:prstGeom prst="rect">
            <a:avLst/>
          </a:prstGeom>
          <a:noFill/>
        </p:spPr>
        <p:txBody>
          <a:bodyPr wrap="square" lIns="0" rIns="0" tIns="0" bIns="0" anchor="t">
            <a:spAutoFit/>
          </a:bodyPr>
          <a:lstStyle/>
          <a:p>
            <a:pPr algn="ctr"/>
            <a:r>
              <a:rPr sz="850" b="0" i="0">
                <a:solidFill>
                  <a:srgbClr val="0E7C86"/>
                </a:solidFill>
                <a:latin typeface="Courier New"/>
              </a:rPr>
              <a:t>f_back</a:t>
            </a:r>
          </a:p>
        </p:txBody>
      </p:sp>
      <p:sp>
        <p:nvSpPr>
          <p:cNvPr id="13" name="Rounded Rectangle 12"/>
          <p:cNvSpPr/>
          <p:nvPr/>
        </p:nvSpPr>
        <p:spPr>
          <a:xfrm>
            <a:off x="3200400" y="2802382"/>
            <a:ext cx="2103120" cy="365760"/>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ourier New"/>
              </a:rPr>
              <a:t>frame of outer</a:t>
            </a:r>
          </a:p>
        </p:txBody>
      </p:sp>
      <p:sp>
        <p:nvSpPr>
          <p:cNvPr id="14" name="TextBox 13"/>
          <p:cNvSpPr txBox="1"/>
          <p:nvPr/>
        </p:nvSpPr>
        <p:spPr>
          <a:xfrm>
            <a:off x="3200400" y="3204718"/>
            <a:ext cx="2103120" cy="237744"/>
          </a:xfrm>
          <a:prstGeom prst="rect">
            <a:avLst/>
          </a:prstGeom>
          <a:noFill/>
        </p:spPr>
        <p:txBody>
          <a:bodyPr wrap="square" lIns="45720" rIns="45720" tIns="27432" bIns="27432" anchor="t">
            <a:spAutoFit/>
          </a:bodyPr>
          <a:lstStyle/>
          <a:p>
            <a:pPr algn="ctr"/>
            <a:r>
              <a:rPr sz="950" b="0" i="0">
                <a:solidFill>
                  <a:srgbClr val="5B6773"/>
                </a:solidFill>
                <a:latin typeface="Courier New"/>
              </a:rPr>
              <a:t>co_name 'outer'</a:t>
            </a:r>
          </a:p>
        </p:txBody>
      </p:sp>
      <p:cxnSp>
        <p:nvCxnSpPr>
          <p:cNvPr id="15" name="arrow"/>
          <p:cNvCxnSpPr/>
          <p:nvPr/>
        </p:nvCxnSpPr>
        <p:spPr>
          <a:xfrm>
            <a:off x="5349240" y="2985262"/>
            <a:ext cx="548640" cy="0"/>
          </a:xfrm>
          <a:prstGeom prst="line">
            <a:avLst/>
          </a:prstGeom>
          <a:ln w="2032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349240" y="2756662"/>
            <a:ext cx="548640" cy="201168"/>
          </a:xfrm>
          <a:prstGeom prst="rect">
            <a:avLst/>
          </a:prstGeom>
          <a:noFill/>
        </p:spPr>
        <p:txBody>
          <a:bodyPr wrap="square" lIns="0" rIns="0" tIns="0" bIns="0" anchor="t">
            <a:spAutoFit/>
          </a:bodyPr>
          <a:lstStyle/>
          <a:p>
            <a:pPr algn="ctr"/>
            <a:r>
              <a:rPr sz="850" b="0" i="0">
                <a:solidFill>
                  <a:srgbClr val="0E7C86"/>
                </a:solidFill>
                <a:latin typeface="Courier New"/>
              </a:rPr>
              <a:t>f_back</a:t>
            </a:r>
          </a:p>
        </p:txBody>
      </p:sp>
      <p:sp>
        <p:nvSpPr>
          <p:cNvPr id="17" name="Rounded Rectangle 16"/>
          <p:cNvSpPr/>
          <p:nvPr/>
        </p:nvSpPr>
        <p:spPr>
          <a:xfrm>
            <a:off x="6035040" y="2802382"/>
            <a:ext cx="2103120" cy="365760"/>
          </a:xfrm>
          <a:prstGeom prst="roundRect">
            <a:avLst>
              <a:gd name="adj" fmla="val 15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5B6773"/>
                </a:solidFill>
                <a:latin typeface="Courier New"/>
              </a:rPr>
              <a:t>frame of the top level</a:t>
            </a:r>
          </a:p>
        </p:txBody>
      </p:sp>
      <p:sp>
        <p:nvSpPr>
          <p:cNvPr id="18" name="TextBox 17"/>
          <p:cNvSpPr txBox="1"/>
          <p:nvPr/>
        </p:nvSpPr>
        <p:spPr>
          <a:xfrm>
            <a:off x="6035040" y="3204718"/>
            <a:ext cx="2103120" cy="237744"/>
          </a:xfrm>
          <a:prstGeom prst="rect">
            <a:avLst/>
          </a:prstGeom>
          <a:noFill/>
        </p:spPr>
        <p:txBody>
          <a:bodyPr wrap="square" lIns="45720" rIns="45720" tIns="27432" bIns="27432" anchor="t">
            <a:spAutoFit/>
          </a:bodyPr>
          <a:lstStyle/>
          <a:p>
            <a:pPr algn="ctr"/>
            <a:r>
              <a:rPr sz="950" b="0" i="0">
                <a:solidFill>
                  <a:srgbClr val="5B6773"/>
                </a:solidFill>
                <a:latin typeface="Courier New"/>
              </a:rPr>
              <a:t>co_name '&lt;module&gt;'</a:t>
            </a:r>
          </a:p>
        </p:txBody>
      </p:sp>
      <p:graphicFrame>
        <p:nvGraphicFramePr>
          <p:cNvPr id="19" name="table"/>
          <p:cNvGraphicFramePr>
            <a:graphicFrameLocks noGrp="1"/>
          </p:cNvGraphicFramePr>
          <p:nvPr/>
        </p:nvGraphicFramePr>
        <p:xfrm>
          <a:off x="365760" y="3579622"/>
          <a:ext cx="5047487" cy="822960"/>
        </p:xfrm>
        <a:graphic>
          <a:graphicData uri="http://schemas.openxmlformats.org/drawingml/2006/table">
            <a:tbl>
              <a:tblPr firstRow="0" bandRow="0"/>
              <a:tblGrid>
                <a:gridCol w="3106146"/>
                <a:gridCol w="1941341"/>
              </a:tblGrid>
              <a:tr h="274320">
                <a:tc>
                  <a:txBody>
                    <a:bodyPr wrap="square"/>
                    <a:lstStyle/>
                    <a:p>
                      <a:r>
                        <a:rPr sz="1050" b="1" i="0">
                          <a:solidFill>
                            <a:srgbClr val="FFFFFF"/>
                          </a:solidFill>
                          <a:latin typeface="Calibri"/>
                        </a:rPr>
                        <a:t>Expression in inner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Value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1050" b="0" i="0">
                          <a:solidFill>
                            <a:srgbClr val="1F2933"/>
                          </a:solidFill>
                          <a:latin typeface="Courier New"/>
                        </a:rPr>
                        <a:t>me.f_code.co_name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'inner'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1050" b="0" i="0">
                          <a:solidFill>
                            <a:srgbClr val="1F2933"/>
                          </a:solidFill>
                          <a:latin typeface="Courier New"/>
                        </a:rPr>
                        <a:t>caller.f_code.co_name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'outer'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20"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frame knows its function and its caller.</a:t>
            </a:r>
          </a:p>
        </p:txBody>
      </p:sp>
      <p:sp>
        <p:nvSpPr>
          <p:cNvPr id="22"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20 / 46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scope</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548640"/>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Scope is the rooms of a house: a notepad belongs to its room, but the notice board in the hall is read everywhere.</a:t>
            </a:r>
          </a:p>
        </p:txBody>
      </p:sp>
      <p:graphicFrame>
        <p:nvGraphicFramePr>
          <p:cNvPr id="6" name="table"/>
          <p:cNvGraphicFramePr>
            <a:graphicFrameLocks noGrp="1"/>
          </p:cNvGraphicFramePr>
          <p:nvPr/>
        </p:nvGraphicFramePr>
        <p:xfrm>
          <a:off x="365760" y="1463040"/>
          <a:ext cx="8412480" cy="3108960"/>
        </p:xfrm>
        <a:graphic>
          <a:graphicData uri="http://schemas.openxmlformats.org/drawingml/2006/table">
            <a:tbl>
              <a:tblPr firstRow="0" bandRow="0"/>
              <a:tblGrid>
                <a:gridCol w="3383280"/>
                <a:gridCol w="5029200"/>
              </a:tblGrid>
              <a:tr h="388620">
                <a:tc>
                  <a:txBody>
                    <a:bodyPr wrap="square"/>
                    <a:lstStyle/>
                    <a:p>
                      <a:r>
                        <a:rPr sz="12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2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88620">
                <a:tc>
                  <a:txBody>
                    <a:bodyPr wrap="square"/>
                    <a:lstStyle/>
                    <a:p>
                      <a:r>
                        <a:rPr sz="1200" b="1" i="0">
                          <a:solidFill>
                            <a:srgbClr val="1F2933"/>
                          </a:solidFill>
                          <a:latin typeface="Calibri"/>
                        </a:rPr>
                        <a:t>Local and Global Scopes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A room's own notepad against the hall's notice board.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88620">
                <a:tc>
                  <a:txBody>
                    <a:bodyPr wrap="square"/>
                    <a:lstStyle/>
                    <a:p>
                      <a:r>
                        <a:rPr sz="1200" b="1" i="0">
                          <a:solidFill>
                            <a:srgbClr val="1F2933"/>
                          </a:solidFill>
                          <a:latin typeface="Calibri"/>
                        </a:rPr>
                        <a:t>local scope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The notepad inside one room; it is thrown away when you leave.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88620">
                <a:tc>
                  <a:txBody>
                    <a:bodyPr wrap="square"/>
                    <a:lstStyle/>
                    <a:p>
                      <a:r>
                        <a:rPr sz="1200" b="1" i="0">
                          <a:solidFill>
                            <a:srgbClr val="1F2933"/>
                          </a:solidFill>
                          <a:latin typeface="Calibri"/>
                        </a:rPr>
                        <a:t>global scope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The notice board in the hall that every room can read.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88620">
                <a:tc>
                  <a:txBody>
                    <a:bodyPr wrap="square"/>
                    <a:lstStyle/>
                    <a:p>
                      <a:r>
                        <a:rPr sz="1200" b="1" i="0">
                          <a:solidFill>
                            <a:srgbClr val="1F2933"/>
                          </a:solidFill>
                          <a:latin typeface="Calibri"/>
                        </a:rPr>
                        <a:t>Scope Rules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Rooms read the hall, never each other's notepads.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88620">
                <a:tc>
                  <a:txBody>
                    <a:bodyPr wrap="square"/>
                    <a:lstStyle/>
                    <a:p>
                      <a:r>
                        <a:rPr sz="1200" b="1" i="0">
                          <a:solidFill>
                            <a:srgbClr val="1F2933"/>
                          </a:solidFill>
                          <a:latin typeface="Calibri"/>
                        </a:rPr>
                        <a:t>The global Statement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A permission slip to write on the hall board, not just read 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88620">
                <a:tc>
                  <a:txBody>
                    <a:bodyPr wrap="square"/>
                    <a:lstStyle/>
                    <a:p>
                      <a:r>
                        <a:rPr sz="1200" b="1" i="0">
                          <a:solidFill>
                            <a:srgbClr val="1F2933"/>
                          </a:solidFill>
                          <a:latin typeface="Calibri"/>
                        </a:rPr>
                        <a:t>global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The stamp on that slip: this name belongs to the board.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88620">
                <a:tc>
                  <a:txBody>
                    <a:bodyPr wrap="square"/>
                    <a:lstStyle/>
                    <a:p>
                      <a:r>
                        <a:rPr sz="1200" b="1" i="0">
                          <a:solidFill>
                            <a:srgbClr val="1F2933"/>
                          </a:solidFill>
                          <a:latin typeface="Calibri"/>
                        </a:rPr>
                        <a:t>Scope Identification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One pen stroke on a room's notepad makes it that room's own.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21 / 46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A local variable lives only during its call</a:t>
            </a:r>
          </a:p>
        </p:txBody>
      </p:sp>
      <p:sp>
        <p:nvSpPr>
          <p:cNvPr id="4" name="code"/>
          <p:cNvSpPr/>
          <p:nvPr/>
        </p:nvSpPr>
        <p:spPr>
          <a:xfrm>
            <a:off x="365760" y="841248"/>
            <a:ext cx="3525012" cy="78714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300" b="0" i="0">
                <a:solidFill>
                  <a:srgbClr val="8FA3B8"/>
                </a:solidFill>
                <a:latin typeface="Courier New"/>
              </a:rPr>
              <a:t>&gt;&gt;&gt; </a:t>
            </a:r>
            <a:r>
              <a:rPr sz="1300" b="0" i="0">
                <a:solidFill>
                  <a:srgbClr val="C9A0FF"/>
                </a:solidFill>
                <a:latin typeface="Courier New"/>
              </a:rPr>
              <a:t>def</a:t>
            </a:r>
            <a:r>
              <a:rPr sz="1300" b="0" i="0">
                <a:solidFill>
                  <a:srgbClr val="E6EDF3"/>
                </a:solidFill>
                <a:latin typeface="Courier New"/>
              </a:rPr>
              <a:t> </a:t>
            </a:r>
            <a:r>
              <a:rPr sz="1300" b="0" i="0">
                <a:solidFill>
                  <a:srgbClr val="E6EDF3"/>
                </a:solidFill>
                <a:latin typeface="Courier New"/>
              </a:rPr>
              <a:t>make</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a:t>
            </a:r>
          </a:p>
          <a:p>
            <a:pPr algn="l"/>
            <a:r>
              <a:rPr sz="1300" b="0" i="0">
                <a:solidFill>
                  <a:srgbClr val="8FA3B8"/>
                </a:solidFill>
                <a:latin typeface="Courier New"/>
              </a:rPr>
              <a:t>&gt;&gt;&gt; </a:t>
            </a:r>
            <a:r>
              <a:rPr sz="1300" b="0" i="0">
                <a:solidFill>
                  <a:srgbClr val="E6EDF3"/>
                </a:solidFill>
                <a:latin typeface="Courier New"/>
              </a:rPr>
              <a:t>    </a:t>
            </a:r>
            <a:r>
              <a:rPr sz="1300" b="0" i="0">
                <a:solidFill>
                  <a:srgbClr val="E6EDF3"/>
                </a:solidFill>
                <a:latin typeface="Courier New"/>
              </a:rPr>
              <a:t>eggs</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7CC4FF"/>
                </a:solidFill>
                <a:latin typeface="Courier New"/>
              </a:rPr>
              <a:t>99</a:t>
            </a:r>
          </a:p>
          <a:p>
            <a:pPr algn="l"/>
            <a:r>
              <a:rPr sz="1300" b="0" i="0">
                <a:solidFill>
                  <a:srgbClr val="8FA3B8"/>
                </a:solidFill>
                <a:latin typeface="Courier New"/>
              </a:rPr>
              <a:t>&gt;&gt;&gt; </a:t>
            </a:r>
            <a:r>
              <a:rPr sz="1300" b="0" i="0">
                <a:solidFill>
                  <a:srgbClr val="E6EDF3"/>
                </a:solidFill>
                <a:latin typeface="Courier New"/>
              </a:rPr>
              <a:t>    </a:t>
            </a:r>
            <a:r>
              <a:rPr sz="1300" b="0" i="0">
                <a:solidFill>
                  <a:srgbClr val="C9A0FF"/>
                </a:solidFill>
                <a:latin typeface="Courier New"/>
              </a:rPr>
              <a:t>return</a:t>
            </a:r>
            <a:r>
              <a:rPr sz="1300" b="0" i="0">
                <a:solidFill>
                  <a:srgbClr val="E6EDF3"/>
                </a:solidFill>
                <a:latin typeface="Courier New"/>
              </a:rPr>
              <a:t> </a:t>
            </a:r>
            <a:r>
              <a:rPr sz="1300" b="0" i="0">
                <a:solidFill>
                  <a:srgbClr val="E6EDF3"/>
                </a:solidFill>
                <a:latin typeface="Courier New"/>
              </a:rPr>
              <a:t>eggs</a:t>
            </a:r>
          </a:p>
        </p:txBody>
      </p:sp>
      <p:sp>
        <p:nvSpPr>
          <p:cNvPr id="5" name="explanation"/>
          <p:cNvSpPr txBox="1"/>
          <p:nvPr/>
        </p:nvSpPr>
        <p:spPr>
          <a:xfrm>
            <a:off x="3872484" y="841248"/>
            <a:ext cx="4905755" cy="787146"/>
          </a:xfrm>
          <a:prstGeom prst="rect">
            <a:avLst/>
          </a:prstGeom>
          <a:noFill/>
        </p:spPr>
        <p:txBody>
          <a:bodyPr wrap="square" lIns="128016" rIns="128016" tIns="18288" bIns="18288" anchor="ctr">
            <a:spAutoFit/>
          </a:bodyPr>
          <a:lstStyle/>
          <a:p>
            <a:r>
              <a:rPr sz="1250" b="0" i="0">
                <a:solidFill>
                  <a:srgbClr val="1F2933"/>
                </a:solidFill>
                <a:latin typeface="Calibri"/>
              </a:rPr>
              <a:t>eggs is created when make is called and thrown away when the call returns. It is a local variable.</a:t>
            </a:r>
          </a:p>
        </p:txBody>
      </p:sp>
      <p:sp>
        <p:nvSpPr>
          <p:cNvPr id="6" name="code"/>
          <p:cNvSpPr/>
          <p:nvPr/>
        </p:nvSpPr>
        <p:spPr>
          <a:xfrm>
            <a:off x="365760" y="1683258"/>
            <a:ext cx="3525012" cy="1189989"/>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300" b="0" i="0">
                <a:solidFill>
                  <a:srgbClr val="8FA3B8"/>
                </a:solidFill>
                <a:latin typeface="Courier New"/>
              </a:rPr>
              <a:t>&gt;&gt;&gt; </a:t>
            </a:r>
            <a:r>
              <a:rPr sz="1300" b="0" i="0">
                <a:solidFill>
                  <a:srgbClr val="C9A0FF"/>
                </a:solidFill>
                <a:latin typeface="Courier New"/>
              </a:rPr>
              <a:t>print</a:t>
            </a:r>
            <a:r>
              <a:rPr sz="1300" b="0" i="0">
                <a:solidFill>
                  <a:srgbClr val="E6EDF3"/>
                </a:solidFill>
                <a:latin typeface="Courier New"/>
              </a:rPr>
              <a:t>(</a:t>
            </a:r>
            <a:r>
              <a:rPr sz="1300" b="0" i="0">
                <a:solidFill>
                  <a:srgbClr val="E6EDF3"/>
                </a:solidFill>
                <a:latin typeface="Courier New"/>
              </a:rPr>
              <a:t>make</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a:t>
            </a:r>
          </a:p>
          <a:p>
            <a:pPr algn="l"/>
            <a:r>
              <a:rPr sz="1300" b="0" i="0">
                <a:solidFill>
                  <a:srgbClr val="8FA3B8"/>
                </a:solidFill>
                <a:latin typeface="Courier New"/>
              </a:rPr>
              <a:t>&gt;&gt;&gt; </a:t>
            </a:r>
            <a:r>
              <a:rPr sz="1300" b="0" i="0">
                <a:solidFill>
                  <a:srgbClr val="C9A0FF"/>
                </a:solidFill>
                <a:latin typeface="Courier New"/>
              </a:rPr>
              <a:t>try</a:t>
            </a:r>
            <a:r>
              <a:rPr sz="1300" b="0" i="0">
                <a:solidFill>
                  <a:srgbClr val="E6EDF3"/>
                </a:solidFill>
                <a:latin typeface="Courier New"/>
              </a:rPr>
              <a:t>:</a:t>
            </a:r>
          </a:p>
          <a:p>
            <a:pPr algn="l"/>
            <a:r>
              <a:rPr sz="1300" b="0" i="0">
                <a:solidFill>
                  <a:srgbClr val="8FA3B8"/>
                </a:solidFill>
                <a:latin typeface="Courier New"/>
              </a:rPr>
              <a:t>&gt;&gt;&gt; </a:t>
            </a:r>
            <a:r>
              <a:rPr sz="1300" b="0" i="0">
                <a:solidFill>
                  <a:srgbClr val="E6EDF3"/>
                </a:solidFill>
                <a:latin typeface="Courier New"/>
              </a:rPr>
              <a:t>    </a:t>
            </a:r>
            <a:r>
              <a:rPr sz="1300" b="0" i="0">
                <a:solidFill>
                  <a:srgbClr val="C9A0FF"/>
                </a:solidFill>
                <a:latin typeface="Courier New"/>
              </a:rPr>
              <a:t>print</a:t>
            </a:r>
            <a:r>
              <a:rPr sz="1300" b="0" i="0">
                <a:solidFill>
                  <a:srgbClr val="E6EDF3"/>
                </a:solidFill>
                <a:latin typeface="Courier New"/>
              </a:rPr>
              <a:t>(</a:t>
            </a:r>
            <a:r>
              <a:rPr sz="1300" b="0" i="0">
                <a:solidFill>
                  <a:srgbClr val="E6EDF3"/>
                </a:solidFill>
                <a:latin typeface="Courier New"/>
              </a:rPr>
              <a:t>eggs</a:t>
            </a:r>
            <a:r>
              <a:rPr sz="1300" b="0" i="0">
                <a:solidFill>
                  <a:srgbClr val="E6EDF3"/>
                </a:solidFill>
                <a:latin typeface="Courier New"/>
              </a:rPr>
              <a:t>)</a:t>
            </a:r>
          </a:p>
          <a:p>
            <a:pPr algn="l"/>
            <a:r>
              <a:rPr sz="1300" b="0" i="0">
                <a:solidFill>
                  <a:srgbClr val="8FA3B8"/>
                </a:solidFill>
                <a:latin typeface="Courier New"/>
              </a:rPr>
              <a:t>&gt;&gt;&gt; </a:t>
            </a:r>
            <a:r>
              <a:rPr sz="1300" b="0" i="0">
                <a:solidFill>
                  <a:srgbClr val="C9A0FF"/>
                </a:solidFill>
                <a:latin typeface="Courier New"/>
              </a:rPr>
              <a:t>except</a:t>
            </a:r>
            <a:r>
              <a:rPr sz="1300" b="0" i="0">
                <a:solidFill>
                  <a:srgbClr val="E6EDF3"/>
                </a:solidFill>
                <a:latin typeface="Courier New"/>
              </a:rPr>
              <a:t> </a:t>
            </a:r>
            <a:r>
              <a:rPr sz="1300" b="0" i="0">
                <a:solidFill>
                  <a:srgbClr val="E6EDF3"/>
                </a:solidFill>
                <a:latin typeface="Courier New"/>
              </a:rPr>
              <a:t>NameError</a:t>
            </a:r>
            <a:r>
              <a:rPr sz="1300" b="0" i="0">
                <a:solidFill>
                  <a:srgbClr val="E6EDF3"/>
                </a:solidFill>
                <a:latin typeface="Courier New"/>
              </a:rPr>
              <a:t> </a:t>
            </a:r>
            <a:r>
              <a:rPr sz="1300" b="0" i="0">
                <a:solidFill>
                  <a:srgbClr val="C9A0FF"/>
                </a:solidFill>
                <a:latin typeface="Courier New"/>
              </a:rPr>
              <a:t>as</a:t>
            </a:r>
            <a:r>
              <a:rPr sz="1300" b="0" i="0">
                <a:solidFill>
                  <a:srgbClr val="E6EDF3"/>
                </a:solidFill>
                <a:latin typeface="Courier New"/>
              </a:rPr>
              <a:t> </a:t>
            </a:r>
            <a:r>
              <a:rPr sz="1300" b="0" i="0">
                <a:solidFill>
                  <a:srgbClr val="E6EDF3"/>
                </a:solidFill>
                <a:latin typeface="Courier New"/>
              </a:rPr>
              <a:t>err</a:t>
            </a:r>
            <a:r>
              <a:rPr sz="1300" b="0" i="0">
                <a:solidFill>
                  <a:srgbClr val="E6EDF3"/>
                </a:solidFill>
                <a:latin typeface="Courier New"/>
              </a:rPr>
              <a:t>:</a:t>
            </a:r>
          </a:p>
          <a:p>
            <a:pPr algn="l"/>
            <a:r>
              <a:rPr sz="1300" b="0" i="0">
                <a:solidFill>
                  <a:srgbClr val="8FA3B8"/>
                </a:solidFill>
                <a:latin typeface="Courier New"/>
              </a:rPr>
              <a:t>&gt;&gt;&gt; </a:t>
            </a:r>
            <a:r>
              <a:rPr sz="1300" b="0" i="0">
                <a:solidFill>
                  <a:srgbClr val="E6EDF3"/>
                </a:solidFill>
                <a:latin typeface="Courier New"/>
              </a:rPr>
              <a:t>    </a:t>
            </a:r>
            <a:r>
              <a:rPr sz="1300" b="0" i="0">
                <a:solidFill>
                  <a:srgbClr val="C9A0FF"/>
                </a:solidFill>
                <a:latin typeface="Courier New"/>
              </a:rPr>
              <a:t>print</a:t>
            </a:r>
            <a:r>
              <a:rPr sz="1300" b="0" i="0">
                <a:solidFill>
                  <a:srgbClr val="E6EDF3"/>
                </a:solidFill>
                <a:latin typeface="Courier New"/>
              </a:rPr>
              <a:t>(</a:t>
            </a:r>
            <a:r>
              <a:rPr sz="1300" b="0" i="0">
                <a:solidFill>
                  <a:srgbClr val="E6EDF3"/>
                </a:solidFill>
                <a:latin typeface="Courier New"/>
              </a:rPr>
              <a:t>type</a:t>
            </a:r>
            <a:r>
              <a:rPr sz="1300" b="0" i="0">
                <a:solidFill>
                  <a:srgbClr val="E6EDF3"/>
                </a:solidFill>
                <a:latin typeface="Courier New"/>
              </a:rPr>
              <a:t>(</a:t>
            </a:r>
            <a:r>
              <a:rPr sz="1300" b="0" i="0">
                <a:solidFill>
                  <a:srgbClr val="E6EDF3"/>
                </a:solidFill>
                <a:latin typeface="Courier New"/>
              </a:rPr>
              <a:t>err</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__name__</a:t>
            </a:r>
            <a:r>
              <a:rPr sz="1300" b="0" i="0">
                <a:solidFill>
                  <a:srgbClr val="E6EDF3"/>
                </a:solidFill>
                <a:latin typeface="Courier New"/>
              </a:rPr>
              <a:t>)</a:t>
            </a:r>
          </a:p>
        </p:txBody>
      </p:sp>
      <p:sp>
        <p:nvSpPr>
          <p:cNvPr id="7" name="explanation"/>
          <p:cNvSpPr txBox="1"/>
          <p:nvPr/>
        </p:nvSpPr>
        <p:spPr>
          <a:xfrm>
            <a:off x="3872484" y="1683258"/>
            <a:ext cx="4905755" cy="1189989"/>
          </a:xfrm>
          <a:prstGeom prst="rect">
            <a:avLst/>
          </a:prstGeom>
          <a:noFill/>
        </p:spPr>
        <p:txBody>
          <a:bodyPr wrap="square" lIns="128016" rIns="128016" tIns="18288" bIns="18288" anchor="ctr">
            <a:spAutoFit/>
          </a:bodyPr>
          <a:lstStyle/>
          <a:p>
            <a:r>
              <a:rPr sz="1250" b="0" i="0">
                <a:solidFill>
                  <a:srgbClr val="1F2933"/>
                </a:solidFill>
                <a:latin typeface="Calibri"/>
              </a:rPr>
              <a:t>Outside the function the name eggs does not exist, so the lookup raises a NameError.</a:t>
            </a:r>
          </a:p>
        </p:txBody>
      </p:sp>
      <p:sp>
        <p:nvSpPr>
          <p:cNvPr id="8" name="result label"/>
          <p:cNvSpPr txBox="1"/>
          <p:nvPr/>
        </p:nvSpPr>
        <p:spPr>
          <a:xfrm>
            <a:off x="365760" y="2946399"/>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9" name="card"/>
          <p:cNvSpPr/>
          <p:nvPr/>
        </p:nvSpPr>
        <p:spPr>
          <a:xfrm>
            <a:off x="365760" y="3220719"/>
            <a:ext cx="3657600" cy="1280160"/>
          </a:xfrm>
          <a:prstGeom prst="roundRect">
            <a:avLst>
              <a:gd name="adj" fmla="val 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3248151"/>
            <a:ext cx="3474720" cy="237744"/>
          </a:xfrm>
          <a:prstGeom prst="rect">
            <a:avLst/>
          </a:prstGeom>
          <a:noFill/>
        </p:spPr>
        <p:txBody>
          <a:bodyPr wrap="square" lIns="45720" rIns="45720" tIns="27432" bIns="27432" anchor="t">
            <a:spAutoFit/>
          </a:bodyPr>
          <a:lstStyle/>
          <a:p>
            <a:r>
              <a:rPr sz="1100" b="1" i="0">
                <a:solidFill>
                  <a:srgbClr val="0E7C86"/>
                </a:solidFill>
                <a:latin typeface="Calibri"/>
              </a:rPr>
              <a:t>global scope</a:t>
            </a:r>
          </a:p>
        </p:txBody>
      </p:sp>
      <p:sp>
        <p:nvSpPr>
          <p:cNvPr id="11" name="Rounded Rectangle 10"/>
          <p:cNvSpPr/>
          <p:nvPr/>
        </p:nvSpPr>
        <p:spPr>
          <a:xfrm>
            <a:off x="502920" y="3531615"/>
            <a:ext cx="1371600" cy="310896"/>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make</a:t>
            </a:r>
          </a:p>
        </p:txBody>
      </p:sp>
      <p:sp>
        <p:nvSpPr>
          <p:cNvPr id="12" name="Rounded Rectangle 11"/>
          <p:cNvSpPr/>
          <p:nvPr/>
        </p:nvSpPr>
        <p:spPr>
          <a:xfrm>
            <a:off x="502920" y="3952239"/>
            <a:ext cx="3383280" cy="310896"/>
          </a:xfrm>
          <a:prstGeom prst="roundRect">
            <a:avLst>
              <a:gd name="adj" fmla="val 15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'eggs' in globals() is False</a:t>
            </a:r>
          </a:p>
        </p:txBody>
      </p:sp>
      <p:sp>
        <p:nvSpPr>
          <p:cNvPr id="13" name="card"/>
          <p:cNvSpPr/>
          <p:nvPr/>
        </p:nvSpPr>
        <p:spPr>
          <a:xfrm>
            <a:off x="4937760" y="3220719"/>
            <a:ext cx="3749039" cy="1280160"/>
          </a:xfrm>
          <a:prstGeom prst="roundRect">
            <a:avLst>
              <a:gd name="adj" fmla="val 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0" y="3248151"/>
            <a:ext cx="3566160" cy="237744"/>
          </a:xfrm>
          <a:prstGeom prst="rect">
            <a:avLst/>
          </a:prstGeom>
          <a:noFill/>
        </p:spPr>
        <p:txBody>
          <a:bodyPr wrap="square" lIns="45720" rIns="45720" tIns="27432" bIns="27432" anchor="t">
            <a:spAutoFit/>
          </a:bodyPr>
          <a:lstStyle/>
          <a:p>
            <a:r>
              <a:rPr sz="1100" b="1" i="0">
                <a:solidFill>
                  <a:srgbClr val="B7791F"/>
                </a:solidFill>
                <a:latin typeface="Calibri"/>
              </a:rPr>
              <a:t>local scope of one call of make()</a:t>
            </a:r>
          </a:p>
        </p:txBody>
      </p:sp>
      <p:sp>
        <p:nvSpPr>
          <p:cNvPr id="15" name="Rounded Rectangle 14"/>
          <p:cNvSpPr/>
          <p:nvPr/>
        </p:nvSpPr>
        <p:spPr>
          <a:xfrm>
            <a:off x="5074920" y="3531615"/>
            <a:ext cx="1737360" cy="310896"/>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eggs = 99</a:t>
            </a:r>
          </a:p>
        </p:txBody>
      </p:sp>
      <p:sp>
        <p:nvSpPr>
          <p:cNvPr id="16" name="Rounded Rectangle 15"/>
          <p:cNvSpPr/>
          <p:nvPr/>
        </p:nvSpPr>
        <p:spPr>
          <a:xfrm>
            <a:off x="5074920" y="3952239"/>
            <a:ext cx="3474720" cy="310896"/>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co_varnames = ('eggs',)</a:t>
            </a:r>
          </a:p>
        </p:txBody>
      </p:sp>
      <p:cxnSp>
        <p:nvCxnSpPr>
          <p:cNvPr id="17" name="arrow"/>
          <p:cNvCxnSpPr/>
          <p:nvPr/>
        </p:nvCxnSpPr>
        <p:spPr>
          <a:xfrm>
            <a:off x="4069080" y="3632199"/>
            <a:ext cx="822960" cy="0"/>
          </a:xfrm>
          <a:prstGeom prst="line">
            <a:avLst/>
          </a:prstGeom>
          <a:ln w="2032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023360" y="3312159"/>
            <a:ext cx="914400" cy="274320"/>
          </a:xfrm>
          <a:prstGeom prst="rect">
            <a:avLst/>
          </a:prstGeom>
          <a:noFill/>
        </p:spPr>
        <p:txBody>
          <a:bodyPr wrap="square" lIns="0" rIns="0" tIns="0" bIns="0" anchor="t">
            <a:spAutoFit/>
          </a:bodyPr>
          <a:lstStyle/>
          <a:p>
            <a:pPr algn="ctr"/>
            <a:r>
              <a:rPr sz="900" b="0" i="0">
                <a:solidFill>
                  <a:srgbClr val="0E7C86"/>
                </a:solidFill>
                <a:latin typeface="Calibri"/>
              </a:rPr>
              <a:t>call</a:t>
            </a:r>
          </a:p>
        </p:txBody>
      </p:sp>
      <p:cxnSp>
        <p:nvCxnSpPr>
          <p:cNvPr id="19" name="arrow"/>
          <p:cNvCxnSpPr/>
          <p:nvPr/>
        </p:nvCxnSpPr>
        <p:spPr>
          <a:xfrm flipH="1">
            <a:off x="4069080" y="4089399"/>
            <a:ext cx="822960" cy="0"/>
          </a:xfrm>
          <a:prstGeom prst="line">
            <a:avLst/>
          </a:prstGeom>
          <a:ln w="20320">
            <a:solidFill>
              <a:srgbClr val="2F85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023360" y="4116831"/>
            <a:ext cx="914400" cy="274320"/>
          </a:xfrm>
          <a:prstGeom prst="rect">
            <a:avLst/>
          </a:prstGeom>
          <a:noFill/>
        </p:spPr>
        <p:txBody>
          <a:bodyPr wrap="square" lIns="0" rIns="0" tIns="0" bIns="0" anchor="t">
            <a:spAutoFit/>
          </a:bodyPr>
          <a:lstStyle/>
          <a:p>
            <a:pPr algn="ctr"/>
            <a:r>
              <a:rPr sz="900" b="0" i="0">
                <a:solidFill>
                  <a:srgbClr val="2F855A"/>
                </a:solidFill>
                <a:latin typeface="Calibri"/>
              </a:rPr>
              <a:t>returns 99</a:t>
            </a:r>
          </a:p>
        </p:txBody>
      </p:sp>
      <p:sp>
        <p:nvSpPr>
          <p:cNvPr id="21" name="TextBox 20"/>
          <p:cNvSpPr txBox="1"/>
          <p:nvPr/>
        </p:nvSpPr>
        <p:spPr>
          <a:xfrm>
            <a:off x="365760" y="4546599"/>
            <a:ext cx="8412480" cy="237744"/>
          </a:xfrm>
          <a:prstGeom prst="rect">
            <a:avLst/>
          </a:prstGeom>
          <a:noFill/>
        </p:spPr>
        <p:txBody>
          <a:bodyPr wrap="square" lIns="45720" rIns="45720" tIns="27432" bIns="27432" anchor="t">
            <a:spAutoFit/>
          </a:bodyPr>
          <a:lstStyle/>
          <a:p>
            <a:r>
              <a:rPr sz="1000" b="0" i="1">
                <a:solidFill>
                  <a:srgbClr val="5B6773"/>
                </a:solidFill>
                <a:latin typeface="Calibri"/>
              </a:rPr>
              <a:t>outside the call, printing eggs raises NameError</a:t>
            </a:r>
          </a:p>
        </p:txBody>
      </p:sp>
      <p:sp>
        <p:nvSpPr>
          <p:cNvPr id="22"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local variable lives only while its call runs.</a:t>
            </a:r>
          </a:p>
        </p:txBody>
      </p:sp>
      <p:sp>
        <p:nvSpPr>
          <p:cNvPr id="2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22 / 46</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Local scopes are walled off; globals can be read</a:t>
            </a:r>
          </a:p>
        </p:txBody>
      </p:sp>
      <p:sp>
        <p:nvSpPr>
          <p:cNvPr id="4" name="code"/>
          <p:cNvSpPr/>
          <p:nvPr/>
        </p:nvSpPr>
        <p:spPr>
          <a:xfrm>
            <a:off x="365760" y="841248"/>
            <a:ext cx="4218432" cy="111252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E6EDF3"/>
                </a:solidFill>
                <a:latin typeface="Courier New"/>
              </a:rPr>
              <a:t>x</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'global x'</a:t>
            </a:r>
          </a:p>
          <a:p>
            <a:pPr algn="l"/>
            <a:r>
              <a:rPr sz="1000" b="0" i="0">
                <a:solidFill>
                  <a:srgbClr val="8FA3B8"/>
                </a:solidFill>
                <a:latin typeface="Courier New"/>
              </a:rPr>
              <a:t>&gt;&gt;&gt; </a:t>
            </a:r>
            <a:r>
              <a:rPr sz="1000" b="0" i="0">
                <a:solidFill>
                  <a:srgbClr val="C9A0FF"/>
                </a:solidFill>
                <a:latin typeface="Courier New"/>
              </a:rPr>
              <a:t>def</a:t>
            </a:r>
            <a:r>
              <a:rPr sz="1000" b="0" i="0">
                <a:solidFill>
                  <a:srgbClr val="E6EDF3"/>
                </a:solidFill>
                <a:latin typeface="Courier New"/>
              </a:rPr>
              <a:t> </a:t>
            </a:r>
            <a:r>
              <a:rPr sz="1000" b="0" i="0">
                <a:solidFill>
                  <a:srgbClr val="E6EDF3"/>
                </a:solidFill>
                <a:latin typeface="Courier New"/>
              </a:rPr>
              <a:t>f</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y</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'local y of f'</a:t>
            </a:r>
          </a:p>
          <a:p>
            <a:pPr algn="l"/>
            <a:r>
              <a:rPr sz="1000" b="0" i="0">
                <a:solidFill>
                  <a:srgbClr val="8FA3B8"/>
                </a:solidFill>
                <a:latin typeface="Courier New"/>
              </a:rPr>
              <a:t>&gt;&gt;&gt; </a:t>
            </a:r>
            <a:r>
              <a:rPr sz="1000" b="0" i="0">
                <a:solidFill>
                  <a:srgbClr val="E6EDF3"/>
                </a:solidFill>
                <a:latin typeface="Courier New"/>
              </a:rPr>
              <a:t>    </a:t>
            </a:r>
            <a:r>
              <a:rPr sz="1000" b="0" i="0">
                <a:solidFill>
                  <a:srgbClr val="C9A0FF"/>
                </a:solidFill>
                <a:latin typeface="Courier New"/>
              </a:rPr>
              <a:t>return</a:t>
            </a:r>
            <a:r>
              <a:rPr sz="1000" b="0" i="0">
                <a:solidFill>
                  <a:srgbClr val="E6EDF3"/>
                </a:solidFill>
                <a:latin typeface="Courier New"/>
              </a:rPr>
              <a:t> </a:t>
            </a:r>
            <a:r>
              <a:rPr sz="1000" b="0" i="0">
                <a:solidFill>
                  <a:srgbClr val="E6EDF3"/>
                </a:solidFill>
                <a:latin typeface="Courier New"/>
              </a:rPr>
              <a:t>x</a:t>
            </a:r>
          </a:p>
          <a:p>
            <a:pPr algn="l"/>
            <a:r>
              <a:rPr sz="1000" b="0" i="0">
                <a:solidFill>
                  <a:srgbClr val="8FA3B8"/>
                </a:solidFill>
                <a:latin typeface="Courier New"/>
              </a:rPr>
              <a:t>&gt;&gt;&gt; </a:t>
            </a:r>
            <a:r>
              <a:rPr sz="1000" b="0" i="0">
                <a:solidFill>
                  <a:srgbClr val="C9A0FF"/>
                </a:solidFill>
                <a:latin typeface="Courier New"/>
              </a:rPr>
              <a:t>def</a:t>
            </a:r>
            <a:r>
              <a:rPr sz="1000" b="0" i="0">
                <a:solidFill>
                  <a:srgbClr val="E6EDF3"/>
                </a:solidFill>
                <a:latin typeface="Courier New"/>
              </a:rPr>
              <a:t> </a:t>
            </a:r>
            <a:r>
              <a:rPr sz="1000" b="0" i="0">
                <a:solidFill>
                  <a:srgbClr val="E6EDF3"/>
                </a:solidFill>
                <a:latin typeface="Courier New"/>
              </a:rPr>
              <a:t>g</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C9A0FF"/>
                </a:solidFill>
                <a:latin typeface="Courier New"/>
              </a:rPr>
              <a:t>return</a:t>
            </a:r>
            <a:r>
              <a:rPr sz="1000" b="0" i="0">
                <a:solidFill>
                  <a:srgbClr val="E6EDF3"/>
                </a:solidFill>
                <a:latin typeface="Courier New"/>
              </a:rPr>
              <a:t> </a:t>
            </a:r>
            <a:r>
              <a:rPr sz="1000" b="0" i="0">
                <a:solidFill>
                  <a:srgbClr val="E6EDF3"/>
                </a:solidFill>
                <a:latin typeface="Courier New"/>
              </a:rPr>
              <a:t>y</a:t>
            </a:r>
          </a:p>
        </p:txBody>
      </p:sp>
      <p:sp>
        <p:nvSpPr>
          <p:cNvPr id="5" name="explanation"/>
          <p:cNvSpPr txBox="1"/>
          <p:nvPr/>
        </p:nvSpPr>
        <p:spPr>
          <a:xfrm>
            <a:off x="4565904" y="841248"/>
            <a:ext cx="4212335" cy="1112520"/>
          </a:xfrm>
          <a:prstGeom prst="rect">
            <a:avLst/>
          </a:prstGeom>
          <a:noFill/>
        </p:spPr>
        <p:txBody>
          <a:bodyPr wrap="square" lIns="128016" rIns="128016" tIns="18288" bIns="18288" anchor="ctr">
            <a:spAutoFit/>
          </a:bodyPr>
          <a:lstStyle/>
          <a:p>
            <a:r>
              <a:rPr sz="1100" b="0" i="0">
                <a:solidFill>
                  <a:srgbClr val="1F2933"/>
                </a:solidFill>
                <a:latin typeface="Calibri"/>
              </a:rPr>
              <a:t>f reads the global x. g tries to read y, but y belongs to the local scope of f, not to g.</a:t>
            </a:r>
          </a:p>
        </p:txBody>
      </p:sp>
      <p:sp>
        <p:nvSpPr>
          <p:cNvPr id="6" name="code"/>
          <p:cNvSpPr/>
          <p:nvPr/>
        </p:nvSpPr>
        <p:spPr>
          <a:xfrm>
            <a:off x="365760" y="2008632"/>
            <a:ext cx="4218432" cy="957579"/>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f</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try</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g</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except</a:t>
            </a:r>
            <a:r>
              <a:rPr sz="1000" b="0" i="0">
                <a:solidFill>
                  <a:srgbClr val="E6EDF3"/>
                </a:solidFill>
                <a:latin typeface="Courier New"/>
              </a:rPr>
              <a:t> </a:t>
            </a:r>
            <a:r>
              <a:rPr sz="1000" b="0" i="0">
                <a:solidFill>
                  <a:srgbClr val="E6EDF3"/>
                </a:solidFill>
                <a:latin typeface="Courier New"/>
              </a:rPr>
              <a:t>NameError</a:t>
            </a:r>
            <a:r>
              <a:rPr sz="1000" b="0" i="0">
                <a:solidFill>
                  <a:srgbClr val="E6EDF3"/>
                </a:solidFill>
                <a:latin typeface="Courier New"/>
              </a:rPr>
              <a:t> </a:t>
            </a:r>
            <a:r>
              <a:rPr sz="1000" b="0" i="0">
                <a:solidFill>
                  <a:srgbClr val="C9A0FF"/>
                </a:solidFill>
                <a:latin typeface="Courier New"/>
              </a:rPr>
              <a:t>as</a:t>
            </a:r>
            <a:r>
              <a:rPr sz="1000" b="0" i="0">
                <a:solidFill>
                  <a:srgbClr val="E6EDF3"/>
                </a:solidFill>
                <a:latin typeface="Courier New"/>
              </a:rPr>
              <a:t> </a:t>
            </a:r>
            <a:r>
              <a:rPr sz="1000" b="0" i="0">
                <a:solidFill>
                  <a:srgbClr val="E6EDF3"/>
                </a:solidFill>
                <a:latin typeface="Courier New"/>
              </a:rPr>
              <a:t>err</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C9A0FF"/>
                </a:solidFill>
                <a:latin typeface="Courier New"/>
              </a:rPr>
              <a:t>print</a:t>
            </a:r>
            <a:r>
              <a:rPr sz="1000" b="0" i="0">
                <a:solidFill>
                  <a:srgbClr val="E6EDF3"/>
                </a:solidFill>
                <a:latin typeface="Courier New"/>
              </a:rPr>
              <a:t>(</a:t>
            </a:r>
            <a:r>
              <a:rPr sz="1000" b="0" i="0">
                <a:solidFill>
                  <a:srgbClr val="9BE3A8"/>
                </a:solidFill>
                <a:latin typeface="Courier New"/>
              </a:rPr>
              <a:t>'g cannot see y:'</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type</a:t>
            </a:r>
            <a:r>
              <a:rPr sz="1000" b="0" i="0">
                <a:solidFill>
                  <a:srgbClr val="E6EDF3"/>
                </a:solidFill>
                <a:latin typeface="Courier New"/>
              </a:rPr>
              <a:t>(</a:t>
            </a:r>
            <a:r>
              <a:rPr sz="1000" b="0" i="0">
                <a:solidFill>
                  <a:srgbClr val="E6EDF3"/>
                </a:solidFill>
                <a:latin typeface="Courier New"/>
              </a:rPr>
              <a:t>err</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__name__</a:t>
            </a:r>
            <a:r>
              <a:rPr sz="1000" b="0" i="0">
                <a:solidFill>
                  <a:srgbClr val="E6EDF3"/>
                </a:solidFill>
                <a:latin typeface="Courier New"/>
              </a:rPr>
              <a:t>)</a:t>
            </a:r>
          </a:p>
        </p:txBody>
      </p:sp>
      <p:sp>
        <p:nvSpPr>
          <p:cNvPr id="7" name="explanation"/>
          <p:cNvSpPr txBox="1"/>
          <p:nvPr/>
        </p:nvSpPr>
        <p:spPr>
          <a:xfrm>
            <a:off x="4565904" y="2008632"/>
            <a:ext cx="4212335" cy="957579"/>
          </a:xfrm>
          <a:prstGeom prst="rect">
            <a:avLst/>
          </a:prstGeom>
          <a:noFill/>
        </p:spPr>
        <p:txBody>
          <a:bodyPr wrap="square" lIns="128016" rIns="128016" tIns="18288" bIns="18288" anchor="ctr">
            <a:spAutoFit/>
          </a:bodyPr>
          <a:lstStyle/>
          <a:p>
            <a:r>
              <a:rPr sz="1100" b="0" i="0">
                <a:solidFill>
                  <a:srgbClr val="1F2933"/>
                </a:solidFill>
                <a:latin typeface="Calibri"/>
              </a:rPr>
              <a:t>f works because globals are visible everywhere. g fails: one local scope cannot see another.</a:t>
            </a:r>
          </a:p>
        </p:txBody>
      </p:sp>
      <p:sp>
        <p:nvSpPr>
          <p:cNvPr id="8" name="result label"/>
          <p:cNvSpPr txBox="1"/>
          <p:nvPr/>
        </p:nvSpPr>
        <p:spPr>
          <a:xfrm>
            <a:off x="365760" y="3039363"/>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9" name="card"/>
          <p:cNvSpPr/>
          <p:nvPr/>
        </p:nvSpPr>
        <p:spPr>
          <a:xfrm>
            <a:off x="365760" y="3313683"/>
            <a:ext cx="2560320" cy="868680"/>
          </a:xfrm>
          <a:prstGeom prst="roundRect">
            <a:avLst>
              <a:gd name="adj" fmla="val 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8912" y="3341115"/>
            <a:ext cx="2414015" cy="237744"/>
          </a:xfrm>
          <a:prstGeom prst="rect">
            <a:avLst/>
          </a:prstGeom>
          <a:noFill/>
        </p:spPr>
        <p:txBody>
          <a:bodyPr wrap="square" lIns="45720" rIns="45720" tIns="27432" bIns="27432" anchor="t">
            <a:spAutoFit/>
          </a:bodyPr>
          <a:lstStyle/>
          <a:p>
            <a:r>
              <a:rPr sz="1100" b="1" i="0">
                <a:solidFill>
                  <a:srgbClr val="1F2933"/>
                </a:solidFill>
                <a:latin typeface="Calibri"/>
              </a:rPr>
              <a:t>global scope</a:t>
            </a:r>
          </a:p>
        </p:txBody>
      </p:sp>
      <p:sp>
        <p:nvSpPr>
          <p:cNvPr id="11" name="Rounded Rectangle 10"/>
          <p:cNvSpPr/>
          <p:nvPr/>
        </p:nvSpPr>
        <p:spPr>
          <a:xfrm>
            <a:off x="457200" y="3679443"/>
            <a:ext cx="2377439" cy="365760"/>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x = 'global x'</a:t>
            </a:r>
          </a:p>
        </p:txBody>
      </p:sp>
      <p:sp>
        <p:nvSpPr>
          <p:cNvPr id="12" name="card"/>
          <p:cNvSpPr/>
          <p:nvPr/>
        </p:nvSpPr>
        <p:spPr>
          <a:xfrm>
            <a:off x="3291839" y="3313683"/>
            <a:ext cx="2560320" cy="868680"/>
          </a:xfrm>
          <a:prstGeom prst="roundRect">
            <a:avLst>
              <a:gd name="adj" fmla="val 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64991" y="3341115"/>
            <a:ext cx="2414015" cy="237744"/>
          </a:xfrm>
          <a:prstGeom prst="rect">
            <a:avLst/>
          </a:prstGeom>
          <a:noFill/>
        </p:spPr>
        <p:txBody>
          <a:bodyPr wrap="square" lIns="45720" rIns="45720" tIns="27432" bIns="27432" anchor="t">
            <a:spAutoFit/>
          </a:bodyPr>
          <a:lstStyle/>
          <a:p>
            <a:r>
              <a:rPr sz="1100" b="1" i="0">
                <a:solidFill>
                  <a:srgbClr val="1F2933"/>
                </a:solidFill>
                <a:latin typeface="Calibri"/>
              </a:rPr>
              <a:t>local scope of f</a:t>
            </a:r>
          </a:p>
        </p:txBody>
      </p:sp>
      <p:sp>
        <p:nvSpPr>
          <p:cNvPr id="14" name="Rounded Rectangle 13"/>
          <p:cNvSpPr/>
          <p:nvPr/>
        </p:nvSpPr>
        <p:spPr>
          <a:xfrm>
            <a:off x="3383279" y="3679443"/>
            <a:ext cx="2377439" cy="365760"/>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y = 'local y of f'</a:t>
            </a:r>
          </a:p>
        </p:txBody>
      </p:sp>
      <p:sp>
        <p:nvSpPr>
          <p:cNvPr id="15" name="card"/>
          <p:cNvSpPr/>
          <p:nvPr/>
        </p:nvSpPr>
        <p:spPr>
          <a:xfrm>
            <a:off x="6217920" y="3313683"/>
            <a:ext cx="2560320" cy="868680"/>
          </a:xfrm>
          <a:prstGeom prst="roundRect">
            <a:avLst>
              <a:gd name="adj" fmla="val 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91072" y="3341115"/>
            <a:ext cx="2414015" cy="237744"/>
          </a:xfrm>
          <a:prstGeom prst="rect">
            <a:avLst/>
          </a:prstGeom>
          <a:noFill/>
        </p:spPr>
        <p:txBody>
          <a:bodyPr wrap="square" lIns="45720" rIns="45720" tIns="27432" bIns="27432" anchor="t">
            <a:spAutoFit/>
          </a:bodyPr>
          <a:lstStyle/>
          <a:p>
            <a:r>
              <a:rPr sz="1100" b="1" i="0">
                <a:solidFill>
                  <a:srgbClr val="1F2933"/>
                </a:solidFill>
                <a:latin typeface="Calibri"/>
              </a:rPr>
              <a:t>local scope of g</a:t>
            </a:r>
          </a:p>
        </p:txBody>
      </p:sp>
      <p:sp>
        <p:nvSpPr>
          <p:cNvPr id="17" name="Rounded Rectangle 16"/>
          <p:cNvSpPr/>
          <p:nvPr/>
        </p:nvSpPr>
        <p:spPr>
          <a:xfrm>
            <a:off x="6309359" y="3679443"/>
            <a:ext cx="2377439" cy="365760"/>
          </a:xfrm>
          <a:prstGeom prst="roundRect">
            <a:avLst>
              <a:gd name="adj" fmla="val 15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5B6773"/>
                </a:solidFill>
                <a:latin typeface="Courier New"/>
              </a:rPr>
              <a:t>no local names</a:t>
            </a:r>
          </a:p>
        </p:txBody>
      </p:sp>
      <p:cxnSp>
        <p:nvCxnSpPr>
          <p:cNvPr id="18" name="arrow"/>
          <p:cNvCxnSpPr/>
          <p:nvPr/>
        </p:nvCxnSpPr>
        <p:spPr>
          <a:xfrm flipH="1">
            <a:off x="2907791" y="3816603"/>
            <a:ext cx="402336" cy="0"/>
          </a:xfrm>
          <a:prstGeom prst="line">
            <a:avLst/>
          </a:prstGeom>
          <a:ln w="25400">
            <a:solidFill>
              <a:srgbClr val="2F85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arrow"/>
          <p:cNvCxnSpPr/>
          <p:nvPr/>
        </p:nvCxnSpPr>
        <p:spPr>
          <a:xfrm flipH="1">
            <a:off x="5833872" y="3816603"/>
            <a:ext cx="402335" cy="0"/>
          </a:xfrm>
          <a:prstGeom prst="line">
            <a:avLst/>
          </a:prstGeom>
          <a:ln w="25400">
            <a:solidFill>
              <a:srgbClr val="B83A1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2468879" y="4273804"/>
            <a:ext cx="2377440" cy="292608"/>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f() gives 'global x'</a:t>
            </a:r>
          </a:p>
        </p:txBody>
      </p:sp>
      <p:sp>
        <p:nvSpPr>
          <p:cNvPr id="21" name="Rounded Rectangle 20"/>
          <p:cNvSpPr/>
          <p:nvPr/>
        </p:nvSpPr>
        <p:spPr>
          <a:xfrm>
            <a:off x="5669280" y="4273804"/>
            <a:ext cx="2743200" cy="292608"/>
          </a:xfrm>
          <a:prstGeom prst="roundRect">
            <a:avLst>
              <a:gd name="adj" fmla="val 15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g() raises NameError</a:t>
            </a:r>
          </a:p>
        </p:txBody>
      </p:sp>
      <p:sp>
        <p:nvSpPr>
          <p:cNvPr id="22"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Read the hall freely; never the other room.</a:t>
            </a:r>
          </a:p>
        </p:txBody>
      </p:sp>
      <p:sp>
        <p:nvSpPr>
          <p:cNvPr id="2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23 / 46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The same name can be three different variables</a:t>
            </a:r>
          </a:p>
        </p:txBody>
      </p:sp>
      <p:sp>
        <p:nvSpPr>
          <p:cNvPr id="4" name="code"/>
          <p:cNvSpPr/>
          <p:nvPr/>
        </p:nvSpPr>
        <p:spPr>
          <a:xfrm>
            <a:off x="365760" y="841248"/>
            <a:ext cx="3128772" cy="1592833"/>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300" b="0" i="0">
                <a:solidFill>
                  <a:srgbClr val="8FA3B8"/>
                </a:solidFill>
                <a:latin typeface="Courier New"/>
              </a:rPr>
              <a:t>&gt;&gt;&gt; </a:t>
            </a:r>
            <a:r>
              <a:rPr sz="1300" b="0" i="0">
                <a:solidFill>
                  <a:srgbClr val="E6EDF3"/>
                </a:solidFill>
                <a:latin typeface="Courier New"/>
              </a:rPr>
              <a:t>spam</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9BE3A8"/>
                </a:solidFill>
                <a:latin typeface="Courier New"/>
              </a:rPr>
              <a:t>'global'</a:t>
            </a:r>
          </a:p>
          <a:p>
            <a:pPr algn="l"/>
            <a:r>
              <a:rPr sz="1300" b="0" i="0">
                <a:solidFill>
                  <a:srgbClr val="8FA3B8"/>
                </a:solidFill>
                <a:latin typeface="Courier New"/>
              </a:rPr>
              <a:t>&gt;&gt;&gt; </a:t>
            </a:r>
            <a:r>
              <a:rPr sz="1300" b="0" i="0">
                <a:solidFill>
                  <a:srgbClr val="C9A0FF"/>
                </a:solidFill>
                <a:latin typeface="Courier New"/>
              </a:rPr>
              <a:t>def</a:t>
            </a:r>
            <a:r>
              <a:rPr sz="1300" b="0" i="0">
                <a:solidFill>
                  <a:srgbClr val="E6EDF3"/>
                </a:solidFill>
                <a:latin typeface="Courier New"/>
              </a:rPr>
              <a:t> </a:t>
            </a:r>
            <a:r>
              <a:rPr sz="1300" b="0" i="0">
                <a:solidFill>
                  <a:srgbClr val="E6EDF3"/>
                </a:solidFill>
                <a:latin typeface="Courier New"/>
              </a:rPr>
              <a:t>one</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a:t>
            </a:r>
          </a:p>
          <a:p>
            <a:pPr algn="l"/>
            <a:r>
              <a:rPr sz="1300" b="0" i="0">
                <a:solidFill>
                  <a:srgbClr val="8FA3B8"/>
                </a:solidFill>
                <a:latin typeface="Courier New"/>
              </a:rPr>
              <a:t>&gt;&gt;&gt; </a:t>
            </a:r>
            <a:r>
              <a:rPr sz="1300" b="0" i="0">
                <a:solidFill>
                  <a:srgbClr val="E6EDF3"/>
                </a:solidFill>
                <a:latin typeface="Courier New"/>
              </a:rPr>
              <a:t>    </a:t>
            </a:r>
            <a:r>
              <a:rPr sz="1300" b="0" i="0">
                <a:solidFill>
                  <a:srgbClr val="E6EDF3"/>
                </a:solidFill>
                <a:latin typeface="Courier New"/>
              </a:rPr>
              <a:t>spam</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9BE3A8"/>
                </a:solidFill>
                <a:latin typeface="Courier New"/>
              </a:rPr>
              <a:t>'one'</a:t>
            </a:r>
          </a:p>
          <a:p>
            <a:pPr algn="l"/>
            <a:r>
              <a:rPr sz="1300" b="0" i="0">
                <a:solidFill>
                  <a:srgbClr val="8FA3B8"/>
                </a:solidFill>
                <a:latin typeface="Courier New"/>
              </a:rPr>
              <a:t>&gt;&gt;&gt; </a:t>
            </a:r>
            <a:r>
              <a:rPr sz="1300" b="0" i="0">
                <a:solidFill>
                  <a:srgbClr val="E6EDF3"/>
                </a:solidFill>
                <a:latin typeface="Courier New"/>
              </a:rPr>
              <a:t>    </a:t>
            </a:r>
            <a:r>
              <a:rPr sz="1300" b="0" i="0">
                <a:solidFill>
                  <a:srgbClr val="C9A0FF"/>
                </a:solidFill>
                <a:latin typeface="Courier New"/>
              </a:rPr>
              <a:t>return</a:t>
            </a:r>
            <a:r>
              <a:rPr sz="1300" b="0" i="0">
                <a:solidFill>
                  <a:srgbClr val="E6EDF3"/>
                </a:solidFill>
                <a:latin typeface="Courier New"/>
              </a:rPr>
              <a:t> </a:t>
            </a:r>
            <a:r>
              <a:rPr sz="1300" b="0" i="0">
                <a:solidFill>
                  <a:srgbClr val="E6EDF3"/>
                </a:solidFill>
                <a:latin typeface="Courier New"/>
              </a:rPr>
              <a:t>spam</a:t>
            </a:r>
          </a:p>
          <a:p>
            <a:pPr algn="l"/>
            <a:r>
              <a:rPr sz="1300" b="0" i="0">
                <a:solidFill>
                  <a:srgbClr val="8FA3B8"/>
                </a:solidFill>
                <a:latin typeface="Courier New"/>
              </a:rPr>
              <a:t>&gt;&gt;&gt; </a:t>
            </a:r>
            <a:r>
              <a:rPr sz="1300" b="0" i="0">
                <a:solidFill>
                  <a:srgbClr val="C9A0FF"/>
                </a:solidFill>
                <a:latin typeface="Courier New"/>
              </a:rPr>
              <a:t>def</a:t>
            </a:r>
            <a:r>
              <a:rPr sz="1300" b="0" i="0">
                <a:solidFill>
                  <a:srgbClr val="E6EDF3"/>
                </a:solidFill>
                <a:latin typeface="Courier New"/>
              </a:rPr>
              <a:t> </a:t>
            </a:r>
            <a:r>
              <a:rPr sz="1300" b="0" i="0">
                <a:solidFill>
                  <a:srgbClr val="E6EDF3"/>
                </a:solidFill>
                <a:latin typeface="Courier New"/>
              </a:rPr>
              <a:t>two</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a:t>
            </a:r>
          </a:p>
          <a:p>
            <a:pPr algn="l"/>
            <a:r>
              <a:rPr sz="1300" b="0" i="0">
                <a:solidFill>
                  <a:srgbClr val="8FA3B8"/>
                </a:solidFill>
                <a:latin typeface="Courier New"/>
              </a:rPr>
              <a:t>&gt;&gt;&gt; </a:t>
            </a:r>
            <a:r>
              <a:rPr sz="1300" b="0" i="0">
                <a:solidFill>
                  <a:srgbClr val="E6EDF3"/>
                </a:solidFill>
                <a:latin typeface="Courier New"/>
              </a:rPr>
              <a:t>    </a:t>
            </a:r>
            <a:r>
              <a:rPr sz="1300" b="0" i="0">
                <a:solidFill>
                  <a:srgbClr val="E6EDF3"/>
                </a:solidFill>
                <a:latin typeface="Courier New"/>
              </a:rPr>
              <a:t>spam</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9BE3A8"/>
                </a:solidFill>
                <a:latin typeface="Courier New"/>
              </a:rPr>
              <a:t>'two'</a:t>
            </a:r>
          </a:p>
          <a:p>
            <a:pPr algn="l"/>
            <a:r>
              <a:rPr sz="1300" b="0" i="0">
                <a:solidFill>
                  <a:srgbClr val="8FA3B8"/>
                </a:solidFill>
                <a:latin typeface="Courier New"/>
              </a:rPr>
              <a:t>&gt;&gt;&gt; </a:t>
            </a:r>
            <a:r>
              <a:rPr sz="1300" b="0" i="0">
                <a:solidFill>
                  <a:srgbClr val="E6EDF3"/>
                </a:solidFill>
                <a:latin typeface="Courier New"/>
              </a:rPr>
              <a:t>    </a:t>
            </a:r>
            <a:r>
              <a:rPr sz="1300" b="0" i="0">
                <a:solidFill>
                  <a:srgbClr val="C9A0FF"/>
                </a:solidFill>
                <a:latin typeface="Courier New"/>
              </a:rPr>
              <a:t>return</a:t>
            </a:r>
            <a:r>
              <a:rPr sz="1300" b="0" i="0">
                <a:solidFill>
                  <a:srgbClr val="E6EDF3"/>
                </a:solidFill>
                <a:latin typeface="Courier New"/>
              </a:rPr>
              <a:t> </a:t>
            </a:r>
            <a:r>
              <a:rPr sz="1300" b="0" i="0">
                <a:solidFill>
                  <a:srgbClr val="E6EDF3"/>
                </a:solidFill>
                <a:latin typeface="Courier New"/>
              </a:rPr>
              <a:t>spam</a:t>
            </a:r>
          </a:p>
        </p:txBody>
      </p:sp>
      <p:sp>
        <p:nvSpPr>
          <p:cNvPr id="5" name="explanation"/>
          <p:cNvSpPr txBox="1"/>
          <p:nvPr/>
        </p:nvSpPr>
        <p:spPr>
          <a:xfrm>
            <a:off x="3476244" y="841248"/>
            <a:ext cx="5301995" cy="1592833"/>
          </a:xfrm>
          <a:prstGeom prst="rect">
            <a:avLst/>
          </a:prstGeom>
          <a:noFill/>
        </p:spPr>
        <p:txBody>
          <a:bodyPr wrap="square" lIns="128016" rIns="128016" tIns="18288" bIns="18288" anchor="ctr">
            <a:spAutoFit/>
          </a:bodyPr>
          <a:lstStyle/>
          <a:p>
            <a:r>
              <a:rPr sz="1250" b="0" i="0">
                <a:solidFill>
                  <a:srgbClr val="1F2933"/>
                </a:solidFill>
                <a:latin typeface="Calibri"/>
              </a:rPr>
              <a:t>Each function assigns spam, so each gets its own local spam. The global spam is a third, separate variable.</a:t>
            </a:r>
          </a:p>
        </p:txBody>
      </p:sp>
      <p:sp>
        <p:nvSpPr>
          <p:cNvPr id="6" name="code"/>
          <p:cNvSpPr/>
          <p:nvPr/>
        </p:nvSpPr>
        <p:spPr>
          <a:xfrm>
            <a:off x="365760" y="2488946"/>
            <a:ext cx="3128772" cy="524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300" b="0" i="0">
                <a:solidFill>
                  <a:srgbClr val="8FA3B8"/>
                </a:solidFill>
                <a:latin typeface="Courier New"/>
              </a:rPr>
              <a:t>&gt;&gt;&gt; </a:t>
            </a:r>
            <a:r>
              <a:rPr sz="1300" b="0" i="0">
                <a:solidFill>
                  <a:srgbClr val="C9A0FF"/>
                </a:solidFill>
                <a:latin typeface="Courier New"/>
              </a:rPr>
              <a:t>print</a:t>
            </a:r>
            <a:r>
              <a:rPr sz="1300" b="0" i="0">
                <a:solidFill>
                  <a:srgbClr val="E6EDF3"/>
                </a:solidFill>
                <a:latin typeface="Courier New"/>
              </a:rPr>
              <a:t>(</a:t>
            </a:r>
            <a:r>
              <a:rPr sz="1300" b="0" i="0">
                <a:solidFill>
                  <a:srgbClr val="E6EDF3"/>
                </a:solidFill>
                <a:latin typeface="Courier New"/>
              </a:rPr>
              <a:t>one</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two</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spam</a:t>
            </a:r>
            <a:r>
              <a:rPr sz="1300" b="0" i="0">
                <a:solidFill>
                  <a:srgbClr val="E6EDF3"/>
                </a:solidFill>
                <a:latin typeface="Courier New"/>
              </a:rPr>
              <a:t>)</a:t>
            </a:r>
          </a:p>
        </p:txBody>
      </p:sp>
      <p:sp>
        <p:nvSpPr>
          <p:cNvPr id="7" name="explanation"/>
          <p:cNvSpPr txBox="1"/>
          <p:nvPr/>
        </p:nvSpPr>
        <p:spPr>
          <a:xfrm>
            <a:off x="3476244" y="2488946"/>
            <a:ext cx="5301995" cy="524891"/>
          </a:xfrm>
          <a:prstGeom prst="rect">
            <a:avLst/>
          </a:prstGeom>
          <a:noFill/>
        </p:spPr>
        <p:txBody>
          <a:bodyPr wrap="square" lIns="128016" rIns="128016" tIns="18288" bIns="18288" anchor="ctr">
            <a:spAutoFit/>
          </a:bodyPr>
          <a:lstStyle/>
          <a:p>
            <a:r>
              <a:rPr sz="1250" b="0" i="0">
                <a:solidFill>
                  <a:srgbClr val="1F2933"/>
                </a:solidFill>
                <a:latin typeface="Calibri"/>
              </a:rPr>
              <a:t>Three lookups of the name spam give three different values. They do not disturb each other.</a:t>
            </a:r>
          </a:p>
        </p:txBody>
      </p:sp>
      <p:sp>
        <p:nvSpPr>
          <p:cNvPr id="8" name="result label"/>
          <p:cNvSpPr txBox="1"/>
          <p:nvPr/>
        </p:nvSpPr>
        <p:spPr>
          <a:xfrm>
            <a:off x="365760" y="3086989"/>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3361309"/>
          <a:ext cx="8412480" cy="1316736"/>
        </p:xfrm>
        <a:graphic>
          <a:graphicData uri="http://schemas.openxmlformats.org/drawingml/2006/table">
            <a:tbl>
              <a:tblPr firstRow="0" bandRow="0"/>
              <a:tblGrid>
                <a:gridCol w="2926080"/>
                <a:gridCol w="3108960"/>
                <a:gridCol w="2377440"/>
              </a:tblGrid>
              <a:tr h="329184">
                <a:tc>
                  <a:txBody>
                    <a:bodyPr wrap="square"/>
                    <a:lstStyle/>
                    <a:p>
                      <a:r>
                        <a:rPr sz="1050" b="1" i="0">
                          <a:solidFill>
                            <a:srgbClr val="FFFFFF"/>
                          </a:solidFill>
                          <a:latin typeface="Calibri"/>
                        </a:rPr>
                        <a:t>Where the name spam lives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Local variables of the code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spam holds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29184">
                <a:tc>
                  <a:txBody>
                    <a:bodyPr wrap="square"/>
                    <a:lstStyle/>
                    <a:p>
                      <a:r>
                        <a:rPr sz="1050" b="0" i="0">
                          <a:solidFill>
                            <a:srgbClr val="1F2933"/>
                          </a:solidFill>
                          <a:latin typeface="Calibri"/>
                        </a:rPr>
                        <a:t>the global scope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(module level)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'global'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7EEF0"/>
                    </a:solidFill>
                  </a:tcPr>
                </a:tc>
              </a:tr>
              <a:tr h="329184">
                <a:tc>
                  <a:txBody>
                    <a:bodyPr wrap="square"/>
                    <a:lstStyle/>
                    <a:p>
                      <a:r>
                        <a:rPr sz="1050" b="0" i="0">
                          <a:solidFill>
                            <a:srgbClr val="1F2933"/>
                          </a:solidFill>
                          <a:latin typeface="Calibri"/>
                        </a:rPr>
                        <a:t>local scope of one()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('spam',)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'one'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r>
              <a:tr h="329184">
                <a:tc>
                  <a:txBody>
                    <a:bodyPr wrap="square"/>
                    <a:lstStyle/>
                    <a:p>
                      <a:r>
                        <a:rPr sz="1050" b="0" i="0">
                          <a:solidFill>
                            <a:srgbClr val="1F2933"/>
                          </a:solidFill>
                          <a:latin typeface="Calibri"/>
                        </a:rPr>
                        <a:t>local scope of two()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('spam',)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'two'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r>
            </a:tbl>
          </a:graphicData>
        </a:graphic>
      </p:graphicFrame>
      <p:sp>
        <p:nvSpPr>
          <p:cNvPr id="10"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One name, three scopes, three variables.</a:t>
            </a:r>
          </a:p>
        </p:txBody>
      </p:sp>
      <p:sp>
        <p:nvSpPr>
          <p:cNvPr id="12"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24 / 46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The global statement reaches the global variable</a:t>
            </a:r>
          </a:p>
        </p:txBody>
      </p:sp>
      <p:sp>
        <p:nvSpPr>
          <p:cNvPr id="4" name="code"/>
          <p:cNvSpPr/>
          <p:nvPr/>
        </p:nvSpPr>
        <p:spPr>
          <a:xfrm>
            <a:off x="365760" y="841248"/>
            <a:ext cx="3608831" cy="1205483"/>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E6EDF3"/>
                </a:solidFill>
                <a:latin typeface="Courier New"/>
              </a:rPr>
              <a:t>eggs</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'global'</a:t>
            </a:r>
          </a:p>
          <a:p>
            <a:pPr algn="l"/>
            <a:r>
              <a:rPr sz="1100" b="0" i="0">
                <a:solidFill>
                  <a:srgbClr val="8FA3B8"/>
                </a:solidFill>
                <a:latin typeface="Courier New"/>
              </a:rPr>
              <a:t>&gt;&gt;&gt; </a:t>
            </a:r>
            <a:r>
              <a:rPr sz="1100" b="0" i="0">
                <a:solidFill>
                  <a:srgbClr val="C9A0FF"/>
                </a:solidFill>
                <a:latin typeface="Courier New"/>
              </a:rPr>
              <a:t>def</a:t>
            </a:r>
            <a:r>
              <a:rPr sz="1100" b="0" i="0">
                <a:solidFill>
                  <a:srgbClr val="E6EDF3"/>
                </a:solidFill>
                <a:latin typeface="Courier New"/>
              </a:rPr>
              <a:t> </a:t>
            </a:r>
            <a:r>
              <a:rPr sz="1100" b="0" i="0">
                <a:solidFill>
                  <a:srgbClr val="E6EDF3"/>
                </a:solidFill>
                <a:latin typeface="Courier New"/>
              </a:rPr>
              <a:t>with_global</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C9A0FF"/>
                </a:solidFill>
                <a:latin typeface="Courier New"/>
              </a:rPr>
              <a:t>global</a:t>
            </a:r>
            <a:r>
              <a:rPr sz="1100" b="0" i="0">
                <a:solidFill>
                  <a:srgbClr val="E6EDF3"/>
                </a:solidFill>
                <a:latin typeface="Courier New"/>
              </a:rPr>
              <a:t> </a:t>
            </a:r>
            <a:r>
              <a:rPr sz="1100" b="0" i="0">
                <a:solidFill>
                  <a:srgbClr val="E6EDF3"/>
                </a:solidFill>
                <a:latin typeface="Courier New"/>
              </a:rPr>
              <a:t>eggs</a:t>
            </a:r>
          </a:p>
          <a:p>
            <a:pPr algn="l"/>
            <a:r>
              <a:rPr sz="1100" b="0" i="0">
                <a:solidFill>
                  <a:srgbClr val="8FA3B8"/>
                </a:solidFill>
                <a:latin typeface="Courier New"/>
              </a:rPr>
              <a:t>&gt;&gt;&gt; </a:t>
            </a:r>
            <a:r>
              <a:rPr sz="1100" b="0" i="0">
                <a:solidFill>
                  <a:srgbClr val="E6EDF3"/>
                </a:solidFill>
                <a:latin typeface="Courier New"/>
              </a:rPr>
              <a:t>    </a:t>
            </a:r>
            <a:r>
              <a:rPr sz="1100" b="0" i="0">
                <a:solidFill>
                  <a:srgbClr val="E6EDF3"/>
                </a:solidFill>
                <a:latin typeface="Courier New"/>
              </a:rPr>
              <a:t>eggs</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'changed by with_global'</a:t>
            </a:r>
          </a:p>
          <a:p>
            <a:pPr algn="l"/>
            <a:r>
              <a:rPr sz="1100" b="0" i="0">
                <a:solidFill>
                  <a:srgbClr val="8FA3B8"/>
                </a:solidFill>
                <a:latin typeface="Courier New"/>
              </a:rPr>
              <a:t>&gt;&gt;&gt; </a:t>
            </a:r>
            <a:r>
              <a:rPr sz="1100" b="0" i="0">
                <a:solidFill>
                  <a:srgbClr val="C9A0FF"/>
                </a:solidFill>
                <a:latin typeface="Courier New"/>
              </a:rPr>
              <a:t>def</a:t>
            </a:r>
            <a:r>
              <a:rPr sz="1100" b="0" i="0">
                <a:solidFill>
                  <a:srgbClr val="E6EDF3"/>
                </a:solidFill>
                <a:latin typeface="Courier New"/>
              </a:rPr>
              <a:t> </a:t>
            </a:r>
            <a:r>
              <a:rPr sz="1100" b="0" i="0">
                <a:solidFill>
                  <a:srgbClr val="E6EDF3"/>
                </a:solidFill>
                <a:latin typeface="Courier New"/>
              </a:rPr>
              <a:t>without_global</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E6EDF3"/>
                </a:solidFill>
                <a:latin typeface="Courier New"/>
              </a:rPr>
              <a:t>eggs</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'local to without_global'</a:t>
            </a:r>
          </a:p>
        </p:txBody>
      </p:sp>
      <p:sp>
        <p:nvSpPr>
          <p:cNvPr id="5" name="explanation"/>
          <p:cNvSpPr txBox="1"/>
          <p:nvPr/>
        </p:nvSpPr>
        <p:spPr>
          <a:xfrm>
            <a:off x="3956304" y="841248"/>
            <a:ext cx="4821935" cy="1205483"/>
          </a:xfrm>
          <a:prstGeom prst="rect">
            <a:avLst/>
          </a:prstGeom>
          <a:noFill/>
        </p:spPr>
        <p:txBody>
          <a:bodyPr wrap="square" lIns="128016" rIns="128016" tIns="18288" bIns="18288" anchor="ctr">
            <a:spAutoFit/>
          </a:bodyPr>
          <a:lstStyle/>
          <a:p>
            <a:r>
              <a:rPr sz="1200" b="0" i="0">
                <a:solidFill>
                  <a:srgbClr val="1F2933"/>
                </a:solidFill>
                <a:latin typeface="Calibri"/>
              </a:rPr>
              <a:t>global eggs says: this name means the global variable. Without it, an assignment makes a new local variable.</a:t>
            </a:r>
          </a:p>
        </p:txBody>
      </p:sp>
      <p:sp>
        <p:nvSpPr>
          <p:cNvPr id="6" name="code"/>
          <p:cNvSpPr/>
          <p:nvPr/>
        </p:nvSpPr>
        <p:spPr>
          <a:xfrm>
            <a:off x="365760" y="2101596"/>
            <a:ext cx="3608831" cy="864615"/>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E6EDF3"/>
                </a:solidFill>
                <a:latin typeface="Courier New"/>
              </a:rPr>
              <a:t>without_global</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eggs</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with_global</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eggs</a:t>
            </a:r>
            <a:r>
              <a:rPr sz="1100" b="0" i="0">
                <a:solidFill>
                  <a:srgbClr val="E6EDF3"/>
                </a:solidFill>
                <a:latin typeface="Courier New"/>
              </a:rPr>
              <a:t>)</a:t>
            </a:r>
          </a:p>
        </p:txBody>
      </p:sp>
      <p:sp>
        <p:nvSpPr>
          <p:cNvPr id="7" name="explanation"/>
          <p:cNvSpPr txBox="1"/>
          <p:nvPr/>
        </p:nvSpPr>
        <p:spPr>
          <a:xfrm>
            <a:off x="3956304" y="2101596"/>
            <a:ext cx="4821935" cy="864615"/>
          </a:xfrm>
          <a:prstGeom prst="rect">
            <a:avLst/>
          </a:prstGeom>
          <a:noFill/>
        </p:spPr>
        <p:txBody>
          <a:bodyPr wrap="square" lIns="128016" rIns="128016" tIns="18288" bIns="18288" anchor="ctr">
            <a:spAutoFit/>
          </a:bodyPr>
          <a:lstStyle/>
          <a:p>
            <a:r>
              <a:rPr sz="1200" b="0" i="0">
                <a:solidFill>
                  <a:srgbClr val="1F2933"/>
                </a:solidFill>
                <a:latin typeface="Calibri"/>
              </a:rPr>
              <a:t>The first call leaves the global variable untouched. The second call really changes it.</a:t>
            </a:r>
          </a:p>
        </p:txBody>
      </p:sp>
      <p:sp>
        <p:nvSpPr>
          <p:cNvPr id="8" name="result label"/>
          <p:cNvSpPr txBox="1"/>
          <p:nvPr/>
        </p:nvSpPr>
        <p:spPr>
          <a:xfrm>
            <a:off x="365760" y="3039363"/>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3313683"/>
          <a:ext cx="8412480" cy="1243584"/>
        </p:xfrm>
        <a:graphic>
          <a:graphicData uri="http://schemas.openxmlformats.org/drawingml/2006/table">
            <a:tbl>
              <a:tblPr firstRow="0" bandRow="0"/>
              <a:tblGrid>
                <a:gridCol w="2286000"/>
                <a:gridCol w="2560320"/>
                <a:gridCol w="3566160"/>
              </a:tblGrid>
              <a:tr h="310896">
                <a:tc>
                  <a:txBody>
                    <a:bodyPr wrap="square"/>
                    <a:lstStyle/>
                    <a:p>
                      <a:r>
                        <a:rPr sz="1050" b="1" i="0">
                          <a:solidFill>
                            <a:srgbClr val="FFFFFF"/>
                          </a:solidFill>
                          <a:latin typeface="Calibri"/>
                        </a:rPr>
                        <a:t>Moment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Global eggs holds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Why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10896">
                <a:tc>
                  <a:txBody>
                    <a:bodyPr wrap="square"/>
                    <a:lstStyle/>
                    <a:p>
                      <a:r>
                        <a:rPr sz="1050" b="0" i="0">
                          <a:solidFill>
                            <a:srgbClr val="1F2933"/>
                          </a:solidFill>
                          <a:latin typeface="Courier New"/>
                        </a:rPr>
                        <a:t>after the definitions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'global'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nothing has run yet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10896">
                <a:tc>
                  <a:txBody>
                    <a:bodyPr wrap="square"/>
                    <a:lstStyle/>
                    <a:p>
                      <a:r>
                        <a:rPr sz="1050" b="0" i="0">
                          <a:solidFill>
                            <a:srgbClr val="1F2933"/>
                          </a:solidFill>
                          <a:latin typeface="Courier New"/>
                        </a:rPr>
                        <a:t>after without_global()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'global'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the assignment made a new local variable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10896">
                <a:tc>
                  <a:txBody>
                    <a:bodyPr wrap="square"/>
                    <a:lstStyle/>
                    <a:p>
                      <a:r>
                        <a:rPr sz="1050" b="0" i="0">
                          <a:solidFill>
                            <a:srgbClr val="1F2933"/>
                          </a:solidFill>
                          <a:latin typeface="Courier New"/>
                        </a:rPr>
                        <a:t>after with_global()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'changed by with_global'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c>
                  <a:txBody>
                    <a:bodyPr wrap="square"/>
                    <a:lstStyle/>
                    <a:p>
                      <a:r>
                        <a:rPr sz="1050" b="0" i="0">
                          <a:solidFill>
                            <a:srgbClr val="1F2933"/>
                          </a:solidFill>
                          <a:latin typeface="Calibri"/>
                        </a:rPr>
                        <a:t>global eggs: the assignment reached the module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0"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global makes an assignment reach the module.</a:t>
            </a:r>
          </a:p>
        </p:txBody>
      </p:sp>
      <p:sp>
        <p:nvSpPr>
          <p:cNvPr id="12"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25 / 46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nonlocal: the middle case between local and global</a:t>
            </a:r>
          </a:p>
        </p:txBody>
      </p:sp>
      <p:sp>
        <p:nvSpPr>
          <p:cNvPr id="4" name="code"/>
          <p:cNvSpPr/>
          <p:nvPr/>
        </p:nvSpPr>
        <p:spPr>
          <a:xfrm>
            <a:off x="365760" y="841248"/>
            <a:ext cx="3525012" cy="1592833"/>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300" b="0" i="0">
                <a:solidFill>
                  <a:srgbClr val="8FA3B8"/>
                </a:solidFill>
                <a:latin typeface="Courier New"/>
              </a:rPr>
              <a:t>&gt;&gt;&gt; </a:t>
            </a:r>
            <a:r>
              <a:rPr sz="1300" b="0" i="0">
                <a:solidFill>
                  <a:srgbClr val="C9A0FF"/>
                </a:solidFill>
                <a:latin typeface="Courier New"/>
              </a:rPr>
              <a:t>def</a:t>
            </a:r>
            <a:r>
              <a:rPr sz="1300" b="0" i="0">
                <a:solidFill>
                  <a:srgbClr val="E6EDF3"/>
                </a:solidFill>
                <a:latin typeface="Courier New"/>
              </a:rPr>
              <a:t> </a:t>
            </a:r>
            <a:r>
              <a:rPr sz="1300" b="0" i="0">
                <a:solidFill>
                  <a:srgbClr val="E6EDF3"/>
                </a:solidFill>
                <a:latin typeface="Courier New"/>
              </a:rPr>
              <a:t>counter</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a:t>
            </a:r>
          </a:p>
          <a:p>
            <a:pPr algn="l"/>
            <a:r>
              <a:rPr sz="1300" b="0" i="0">
                <a:solidFill>
                  <a:srgbClr val="8FA3B8"/>
                </a:solidFill>
                <a:latin typeface="Courier New"/>
              </a:rPr>
              <a:t>&gt;&gt;&gt; </a:t>
            </a:r>
            <a:r>
              <a:rPr sz="1300" b="0" i="0">
                <a:solidFill>
                  <a:srgbClr val="E6EDF3"/>
                </a:solidFill>
                <a:latin typeface="Courier New"/>
              </a:rPr>
              <a:t>    </a:t>
            </a:r>
            <a:r>
              <a:rPr sz="1300" b="0" i="0">
                <a:solidFill>
                  <a:srgbClr val="E6EDF3"/>
                </a:solidFill>
                <a:latin typeface="Courier New"/>
              </a:rPr>
              <a:t>count</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7CC4FF"/>
                </a:solidFill>
                <a:latin typeface="Courier New"/>
              </a:rPr>
              <a:t>0</a:t>
            </a:r>
          </a:p>
          <a:p>
            <a:pPr algn="l"/>
            <a:r>
              <a:rPr sz="1300" b="0" i="0">
                <a:solidFill>
                  <a:srgbClr val="8FA3B8"/>
                </a:solidFill>
                <a:latin typeface="Courier New"/>
              </a:rPr>
              <a:t>&gt;&gt;&gt; </a:t>
            </a:r>
            <a:r>
              <a:rPr sz="1300" b="0" i="0">
                <a:solidFill>
                  <a:srgbClr val="E6EDF3"/>
                </a:solidFill>
                <a:latin typeface="Courier New"/>
              </a:rPr>
              <a:t>    </a:t>
            </a:r>
            <a:r>
              <a:rPr sz="1300" b="0" i="0">
                <a:solidFill>
                  <a:srgbClr val="C9A0FF"/>
                </a:solidFill>
                <a:latin typeface="Courier New"/>
              </a:rPr>
              <a:t>def</a:t>
            </a:r>
            <a:r>
              <a:rPr sz="1300" b="0" i="0">
                <a:solidFill>
                  <a:srgbClr val="E6EDF3"/>
                </a:solidFill>
                <a:latin typeface="Courier New"/>
              </a:rPr>
              <a:t> </a:t>
            </a:r>
            <a:r>
              <a:rPr sz="1300" b="0" i="0">
                <a:solidFill>
                  <a:srgbClr val="E6EDF3"/>
                </a:solidFill>
                <a:latin typeface="Courier New"/>
              </a:rPr>
              <a:t>step</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a:t>
            </a:r>
          </a:p>
          <a:p>
            <a:pPr algn="l"/>
            <a:r>
              <a:rPr sz="1300" b="0" i="0">
                <a:solidFill>
                  <a:srgbClr val="8FA3B8"/>
                </a:solidFill>
                <a:latin typeface="Courier New"/>
              </a:rPr>
              <a:t>&gt;&gt;&gt; </a:t>
            </a:r>
            <a:r>
              <a:rPr sz="1300" b="0" i="0">
                <a:solidFill>
                  <a:srgbClr val="E6EDF3"/>
                </a:solidFill>
                <a:latin typeface="Courier New"/>
              </a:rPr>
              <a:t>        </a:t>
            </a:r>
            <a:r>
              <a:rPr sz="1300" b="0" i="0">
                <a:solidFill>
                  <a:srgbClr val="C9A0FF"/>
                </a:solidFill>
                <a:latin typeface="Courier New"/>
              </a:rPr>
              <a:t>nonlocal</a:t>
            </a:r>
            <a:r>
              <a:rPr sz="1300" b="0" i="0">
                <a:solidFill>
                  <a:srgbClr val="E6EDF3"/>
                </a:solidFill>
                <a:latin typeface="Courier New"/>
              </a:rPr>
              <a:t> </a:t>
            </a:r>
            <a:r>
              <a:rPr sz="1300" b="0" i="0">
                <a:solidFill>
                  <a:srgbClr val="E6EDF3"/>
                </a:solidFill>
                <a:latin typeface="Courier New"/>
              </a:rPr>
              <a:t>count</a:t>
            </a:r>
          </a:p>
          <a:p>
            <a:pPr algn="l"/>
            <a:r>
              <a:rPr sz="1300" b="0" i="0">
                <a:solidFill>
                  <a:srgbClr val="8FA3B8"/>
                </a:solidFill>
                <a:latin typeface="Courier New"/>
              </a:rPr>
              <a:t>&gt;&gt;&gt; </a:t>
            </a:r>
            <a:r>
              <a:rPr sz="1300" b="0" i="0">
                <a:solidFill>
                  <a:srgbClr val="E6EDF3"/>
                </a:solidFill>
                <a:latin typeface="Courier New"/>
              </a:rPr>
              <a:t>        </a:t>
            </a:r>
            <a:r>
              <a:rPr sz="1300" b="0" i="0">
                <a:solidFill>
                  <a:srgbClr val="E6EDF3"/>
                </a:solidFill>
                <a:latin typeface="Courier New"/>
              </a:rPr>
              <a:t>count</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 </a:t>
            </a:r>
            <a:r>
              <a:rPr sz="1300" b="0" i="0">
                <a:solidFill>
                  <a:srgbClr val="7CC4FF"/>
                </a:solidFill>
                <a:latin typeface="Courier New"/>
              </a:rPr>
              <a:t>1</a:t>
            </a:r>
          </a:p>
          <a:p>
            <a:pPr algn="l"/>
            <a:r>
              <a:rPr sz="1300" b="0" i="0">
                <a:solidFill>
                  <a:srgbClr val="8FA3B8"/>
                </a:solidFill>
                <a:latin typeface="Courier New"/>
              </a:rPr>
              <a:t>&gt;&gt;&gt; </a:t>
            </a:r>
            <a:r>
              <a:rPr sz="1300" b="0" i="0">
                <a:solidFill>
                  <a:srgbClr val="E6EDF3"/>
                </a:solidFill>
                <a:latin typeface="Courier New"/>
              </a:rPr>
              <a:t>        </a:t>
            </a:r>
            <a:r>
              <a:rPr sz="1300" b="0" i="0">
                <a:solidFill>
                  <a:srgbClr val="C9A0FF"/>
                </a:solidFill>
                <a:latin typeface="Courier New"/>
              </a:rPr>
              <a:t>return</a:t>
            </a:r>
            <a:r>
              <a:rPr sz="1300" b="0" i="0">
                <a:solidFill>
                  <a:srgbClr val="E6EDF3"/>
                </a:solidFill>
                <a:latin typeface="Courier New"/>
              </a:rPr>
              <a:t> </a:t>
            </a:r>
            <a:r>
              <a:rPr sz="1300" b="0" i="0">
                <a:solidFill>
                  <a:srgbClr val="E6EDF3"/>
                </a:solidFill>
                <a:latin typeface="Courier New"/>
              </a:rPr>
              <a:t>count</a:t>
            </a:r>
          </a:p>
          <a:p>
            <a:pPr algn="l"/>
            <a:r>
              <a:rPr sz="1300" b="0" i="0">
                <a:solidFill>
                  <a:srgbClr val="8FA3B8"/>
                </a:solidFill>
                <a:latin typeface="Courier New"/>
              </a:rPr>
              <a:t>&gt;&gt;&gt; </a:t>
            </a:r>
            <a:r>
              <a:rPr sz="1300" b="0" i="0">
                <a:solidFill>
                  <a:srgbClr val="E6EDF3"/>
                </a:solidFill>
                <a:latin typeface="Courier New"/>
              </a:rPr>
              <a:t>    </a:t>
            </a:r>
            <a:r>
              <a:rPr sz="1300" b="0" i="0">
                <a:solidFill>
                  <a:srgbClr val="C9A0FF"/>
                </a:solidFill>
                <a:latin typeface="Courier New"/>
              </a:rPr>
              <a:t>return</a:t>
            </a:r>
            <a:r>
              <a:rPr sz="1300" b="0" i="0">
                <a:solidFill>
                  <a:srgbClr val="E6EDF3"/>
                </a:solidFill>
                <a:latin typeface="Courier New"/>
              </a:rPr>
              <a:t> </a:t>
            </a:r>
            <a:r>
              <a:rPr sz="1300" b="0" i="0">
                <a:solidFill>
                  <a:srgbClr val="E6EDF3"/>
                </a:solidFill>
                <a:latin typeface="Courier New"/>
              </a:rPr>
              <a:t>step</a:t>
            </a:r>
          </a:p>
        </p:txBody>
      </p:sp>
      <p:sp>
        <p:nvSpPr>
          <p:cNvPr id="5" name="explanation"/>
          <p:cNvSpPr txBox="1"/>
          <p:nvPr/>
        </p:nvSpPr>
        <p:spPr>
          <a:xfrm>
            <a:off x="3872484" y="841248"/>
            <a:ext cx="4905755" cy="1592833"/>
          </a:xfrm>
          <a:prstGeom prst="rect">
            <a:avLst/>
          </a:prstGeom>
          <a:noFill/>
        </p:spPr>
        <p:txBody>
          <a:bodyPr wrap="square" lIns="128016" rIns="128016" tIns="18288" bIns="18288" anchor="ctr">
            <a:spAutoFit/>
          </a:bodyPr>
          <a:lstStyle/>
          <a:p>
            <a:r>
              <a:rPr sz="1250" b="0" i="0">
                <a:solidFill>
                  <a:srgbClr val="1F2933"/>
                </a:solidFill>
                <a:latin typeface="Calibri"/>
              </a:rPr>
              <a:t>step changes count, a variable of the enclosing function. nonlocal says: not my own, and not global, but the one outside.</a:t>
            </a:r>
          </a:p>
        </p:txBody>
      </p:sp>
      <p:sp>
        <p:nvSpPr>
          <p:cNvPr id="6" name="code"/>
          <p:cNvSpPr/>
          <p:nvPr/>
        </p:nvSpPr>
        <p:spPr>
          <a:xfrm>
            <a:off x="365760" y="2488946"/>
            <a:ext cx="3525012" cy="585724"/>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300" b="0" i="0">
                <a:solidFill>
                  <a:srgbClr val="8FA3B8"/>
                </a:solidFill>
                <a:latin typeface="Courier New"/>
              </a:rPr>
              <a:t>&gt;&gt;&gt; </a:t>
            </a:r>
            <a:r>
              <a:rPr sz="1300" b="0" i="0">
                <a:solidFill>
                  <a:srgbClr val="E6EDF3"/>
                </a:solidFill>
                <a:latin typeface="Courier New"/>
              </a:rPr>
              <a:t>tick</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counter</a:t>
            </a:r>
            <a:r>
              <a:rPr sz="1300" b="0" i="0">
                <a:solidFill>
                  <a:srgbClr val="E6EDF3"/>
                </a:solidFill>
                <a:latin typeface="Courier New"/>
              </a:rPr>
              <a:t>(</a:t>
            </a:r>
            <a:r>
              <a:rPr sz="1300" b="0" i="0">
                <a:solidFill>
                  <a:srgbClr val="E6EDF3"/>
                </a:solidFill>
                <a:latin typeface="Courier New"/>
              </a:rPr>
              <a:t>)</a:t>
            </a:r>
          </a:p>
          <a:p>
            <a:pPr algn="l"/>
            <a:r>
              <a:rPr sz="1300" b="0" i="0">
                <a:solidFill>
                  <a:srgbClr val="8FA3B8"/>
                </a:solidFill>
                <a:latin typeface="Courier New"/>
              </a:rPr>
              <a:t>&gt;&gt;&gt; </a:t>
            </a:r>
            <a:r>
              <a:rPr sz="1300" b="0" i="0">
                <a:solidFill>
                  <a:srgbClr val="C9A0FF"/>
                </a:solidFill>
                <a:latin typeface="Courier New"/>
              </a:rPr>
              <a:t>print</a:t>
            </a:r>
            <a:r>
              <a:rPr sz="1300" b="0" i="0">
                <a:solidFill>
                  <a:srgbClr val="E6EDF3"/>
                </a:solidFill>
                <a:latin typeface="Courier New"/>
              </a:rPr>
              <a:t>(</a:t>
            </a:r>
            <a:r>
              <a:rPr sz="1300" b="0" i="0">
                <a:solidFill>
                  <a:srgbClr val="E6EDF3"/>
                </a:solidFill>
                <a:latin typeface="Courier New"/>
              </a:rPr>
              <a:t>tick</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tick</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tick</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a:t>
            </a:r>
          </a:p>
        </p:txBody>
      </p:sp>
      <p:sp>
        <p:nvSpPr>
          <p:cNvPr id="7" name="explanation"/>
          <p:cNvSpPr txBox="1"/>
          <p:nvPr/>
        </p:nvSpPr>
        <p:spPr>
          <a:xfrm>
            <a:off x="3872484" y="2488946"/>
            <a:ext cx="4905755" cy="585724"/>
          </a:xfrm>
          <a:prstGeom prst="rect">
            <a:avLst/>
          </a:prstGeom>
          <a:noFill/>
        </p:spPr>
        <p:txBody>
          <a:bodyPr wrap="square" lIns="128016" rIns="128016" tIns="18288" bIns="18288" anchor="ctr">
            <a:spAutoFit/>
          </a:bodyPr>
          <a:lstStyle/>
          <a:p>
            <a:r>
              <a:rPr sz="1250" b="0" i="0">
                <a:solidFill>
                  <a:srgbClr val="1F2933"/>
                </a:solidFill>
                <a:latin typeface="Calibri"/>
              </a:rPr>
              <a:t>The function step keeps its own count alive between calls. Each call adds one to that same variable.</a:t>
            </a:r>
          </a:p>
        </p:txBody>
      </p:sp>
      <p:sp>
        <p:nvSpPr>
          <p:cNvPr id="8" name="result label"/>
          <p:cNvSpPr txBox="1"/>
          <p:nvPr/>
        </p:nvSpPr>
        <p:spPr>
          <a:xfrm>
            <a:off x="365760" y="3147822"/>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3422141"/>
          <a:ext cx="5215736" cy="1170432"/>
        </p:xfrm>
        <a:graphic>
          <a:graphicData uri="http://schemas.openxmlformats.org/drawingml/2006/table">
            <a:tbl>
              <a:tblPr firstRow="0" bandRow="0"/>
              <a:tblGrid>
                <a:gridCol w="1792909"/>
                <a:gridCol w="1466926"/>
                <a:gridCol w="1955901"/>
              </a:tblGrid>
              <a:tr h="292608">
                <a:tc>
                  <a:txBody>
                    <a:bodyPr wrap="square"/>
                    <a:lstStyle/>
                    <a:p>
                      <a:r>
                        <a:rPr sz="1050" b="1" i="0">
                          <a:solidFill>
                            <a:srgbClr val="FFFFFF"/>
                          </a:solidFill>
                          <a:latin typeface="Calibri"/>
                        </a:rPr>
                        <a:t>Call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050" b="1" i="0">
                          <a:solidFill>
                            <a:srgbClr val="FFFFFF"/>
                          </a:solidFill>
                          <a:latin typeface="Calibri"/>
                        </a:rPr>
                        <a:t>tick() returns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050" b="1" i="0">
                          <a:solidFill>
                            <a:srgbClr val="FFFFFF"/>
                          </a:solidFill>
                          <a:latin typeface="Calibri"/>
                        </a:rPr>
                        <a:t>count inside step is now</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92608">
                <a:tc>
                  <a:txBody>
                    <a:bodyPr wrap="square"/>
                    <a:lstStyle/>
                    <a:p>
                      <a:r>
                        <a:rPr sz="1050" b="0" i="0">
                          <a:solidFill>
                            <a:srgbClr val="1F2933"/>
                          </a:solidFill>
                          <a:latin typeface="Calibri"/>
                        </a:rPr>
                        <a:t>call 1 of tick()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50" b="0" i="0">
                          <a:solidFill>
                            <a:srgbClr val="1F2933"/>
                          </a:solidFill>
                          <a:latin typeface="Courier New"/>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50" b="0" i="0">
                          <a:solidFill>
                            <a:srgbClr val="1F2933"/>
                          </a:solidFill>
                          <a:latin typeface="Courier New"/>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92608">
                <a:tc>
                  <a:txBody>
                    <a:bodyPr wrap="square"/>
                    <a:lstStyle/>
                    <a:p>
                      <a:r>
                        <a:rPr sz="1050" b="0" i="0">
                          <a:solidFill>
                            <a:srgbClr val="1F2933"/>
                          </a:solidFill>
                          <a:latin typeface="Calibri"/>
                        </a:rPr>
                        <a:t>call 2 of tick()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50" b="0" i="0">
                          <a:solidFill>
                            <a:srgbClr val="1F2933"/>
                          </a:solidFill>
                          <a:latin typeface="Courier New"/>
                        </a:rPr>
                        <a:t>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50" b="0" i="0">
                          <a:solidFill>
                            <a:srgbClr val="1F2933"/>
                          </a:solidFill>
                          <a:latin typeface="Courier New"/>
                        </a:rPr>
                        <a:t>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92608">
                <a:tc>
                  <a:txBody>
                    <a:bodyPr wrap="square"/>
                    <a:lstStyle/>
                    <a:p>
                      <a:r>
                        <a:rPr sz="1050" b="0" i="0">
                          <a:solidFill>
                            <a:srgbClr val="1F2933"/>
                          </a:solidFill>
                          <a:latin typeface="Calibri"/>
                        </a:rPr>
                        <a:t>call 3 of tick()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50" b="0" i="0">
                          <a:solidFill>
                            <a:srgbClr val="1F2933"/>
                          </a:solidFill>
                          <a:latin typeface="Courier New"/>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50" b="0" i="0">
                          <a:solidFill>
                            <a:srgbClr val="1F2933"/>
                          </a:solidFill>
                          <a:latin typeface="Courier New"/>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graphicFrame>
        <p:nvGraphicFramePr>
          <p:cNvPr id="10" name="chart"/>
          <p:cNvGraphicFramePr>
            <a:graphicFrameLocks noGrp="1"/>
          </p:cNvGraphicFramePr>
          <p:nvPr/>
        </p:nvGraphicFramePr>
        <p:xfrm>
          <a:off x="5917996" y="3422141"/>
          <a:ext cx="2860243" cy="1186434"/>
        </p:xfrm>
        <a:graphic>
          <a:graphicData uri="http://schemas.openxmlformats.org/drawingml/2006/chart">
            <c:chart xmlns:c="http://schemas.openxmlformats.org/drawingml/2006/chart" r:id="rId3"/>
          </a:graphicData>
        </a:graphic>
      </p:graphicFrame>
      <p:sp>
        <p:nvSpPr>
          <p:cNvPr id="11"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nonlocal reaches the enclosing function's variable.</a:t>
            </a:r>
          </a:p>
        </p:txBody>
      </p:sp>
      <p:sp>
        <p:nvSpPr>
          <p:cNvPr id="13"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26 / 46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Scope identification: does the body read or assign?</a:t>
            </a:r>
          </a:p>
        </p:txBody>
      </p:sp>
      <p:sp>
        <p:nvSpPr>
          <p:cNvPr id="4" name="code"/>
          <p:cNvSpPr/>
          <p:nvPr/>
        </p:nvSpPr>
        <p:spPr>
          <a:xfrm>
            <a:off x="365760" y="841248"/>
            <a:ext cx="4614671" cy="103505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E6EDF3"/>
                </a:solidFill>
                <a:latin typeface="Courier New"/>
              </a:rPr>
              <a:t>eggs</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7CC4FF"/>
                </a:solidFill>
                <a:latin typeface="Courier New"/>
              </a:rPr>
              <a:t>0</a:t>
            </a:r>
          </a:p>
          <a:p>
            <a:pPr algn="l"/>
            <a:r>
              <a:rPr sz="1100" b="0" i="0">
                <a:solidFill>
                  <a:srgbClr val="8FA3B8"/>
                </a:solidFill>
                <a:latin typeface="Courier New"/>
              </a:rPr>
              <a:t>&gt;&gt;&gt; </a:t>
            </a:r>
            <a:r>
              <a:rPr sz="1100" b="0" i="0">
                <a:solidFill>
                  <a:srgbClr val="C9A0FF"/>
                </a:solidFill>
                <a:latin typeface="Courier New"/>
              </a:rPr>
              <a:t>def</a:t>
            </a:r>
            <a:r>
              <a:rPr sz="1100" b="0" i="0">
                <a:solidFill>
                  <a:srgbClr val="E6EDF3"/>
                </a:solidFill>
                <a:latin typeface="Courier New"/>
              </a:rPr>
              <a:t> </a:t>
            </a:r>
            <a:r>
              <a:rPr sz="1100" b="0" i="0">
                <a:solidFill>
                  <a:srgbClr val="E6EDF3"/>
                </a:solidFill>
                <a:latin typeface="Courier New"/>
              </a:rPr>
              <a:t>reads</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C9A0FF"/>
                </a:solidFill>
                <a:latin typeface="Courier New"/>
              </a:rPr>
              <a:t>return</a:t>
            </a:r>
            <a:r>
              <a:rPr sz="1100" b="0" i="0">
                <a:solidFill>
                  <a:srgbClr val="E6EDF3"/>
                </a:solidFill>
                <a:latin typeface="Courier New"/>
              </a:rPr>
              <a:t> </a:t>
            </a:r>
            <a:r>
              <a:rPr sz="1100" b="0" i="0">
                <a:solidFill>
                  <a:srgbClr val="E6EDF3"/>
                </a:solidFill>
                <a:latin typeface="Courier New"/>
              </a:rPr>
              <a:t>eggs</a:t>
            </a:r>
          </a:p>
          <a:p>
            <a:pPr algn="l"/>
            <a:r>
              <a:rPr sz="1100" b="0" i="0">
                <a:solidFill>
                  <a:srgbClr val="8FA3B8"/>
                </a:solidFill>
                <a:latin typeface="Courier New"/>
              </a:rPr>
              <a:t>&gt;&gt;&gt; </a:t>
            </a:r>
            <a:r>
              <a:rPr sz="1100" b="0" i="0">
                <a:solidFill>
                  <a:srgbClr val="C9A0FF"/>
                </a:solidFill>
                <a:latin typeface="Courier New"/>
              </a:rPr>
              <a:t>def</a:t>
            </a:r>
            <a:r>
              <a:rPr sz="1100" b="0" i="0">
                <a:solidFill>
                  <a:srgbClr val="E6EDF3"/>
                </a:solidFill>
                <a:latin typeface="Courier New"/>
              </a:rPr>
              <a:t> </a:t>
            </a:r>
            <a:r>
              <a:rPr sz="1100" b="0" i="0">
                <a:solidFill>
                  <a:srgbClr val="E6EDF3"/>
                </a:solidFill>
                <a:latin typeface="Courier New"/>
              </a:rPr>
              <a:t>assigns</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E6EDF3"/>
                </a:solidFill>
                <a:latin typeface="Courier New"/>
              </a:rPr>
              <a:t>eggs</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7CC4FF"/>
                </a:solidFill>
                <a:latin typeface="Courier New"/>
              </a:rPr>
              <a:t>1</a:t>
            </a:r>
          </a:p>
        </p:txBody>
      </p:sp>
      <p:sp>
        <p:nvSpPr>
          <p:cNvPr id="5" name="explanation"/>
          <p:cNvSpPr txBox="1"/>
          <p:nvPr/>
        </p:nvSpPr>
        <p:spPr>
          <a:xfrm>
            <a:off x="4962144" y="841248"/>
            <a:ext cx="3816095" cy="1035050"/>
          </a:xfrm>
          <a:prstGeom prst="rect">
            <a:avLst/>
          </a:prstGeom>
          <a:noFill/>
        </p:spPr>
        <p:txBody>
          <a:bodyPr wrap="square" lIns="128016" rIns="128016" tIns="18288" bIns="18288" anchor="ctr">
            <a:spAutoFit/>
          </a:bodyPr>
          <a:lstStyle/>
          <a:p>
            <a:r>
              <a:rPr sz="1200" b="0" i="0">
                <a:solidFill>
                  <a:srgbClr val="1F2933"/>
                </a:solidFill>
                <a:latin typeface="Calibri"/>
              </a:rPr>
              <a:t>reads only looks at eggs. assigns gives eggs a value, which makes it local to assigns.</a:t>
            </a:r>
          </a:p>
        </p:txBody>
      </p:sp>
      <p:sp>
        <p:nvSpPr>
          <p:cNvPr id="6" name="code"/>
          <p:cNvSpPr/>
          <p:nvPr/>
        </p:nvSpPr>
        <p:spPr>
          <a:xfrm>
            <a:off x="365760" y="1931162"/>
            <a:ext cx="4614671" cy="1205483"/>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def</a:t>
            </a:r>
            <a:r>
              <a:rPr sz="1100" b="0" i="0">
                <a:solidFill>
                  <a:srgbClr val="E6EDF3"/>
                </a:solidFill>
                <a:latin typeface="Courier New"/>
              </a:rPr>
              <a:t> </a:t>
            </a:r>
            <a:r>
              <a:rPr sz="1100" b="0" i="0">
                <a:solidFill>
                  <a:srgbClr val="E6EDF3"/>
                </a:solidFill>
                <a:latin typeface="Courier New"/>
              </a:rPr>
              <a:t>declares</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C9A0FF"/>
                </a:solidFill>
                <a:latin typeface="Courier New"/>
              </a:rPr>
              <a:t>global</a:t>
            </a:r>
            <a:r>
              <a:rPr sz="1100" b="0" i="0">
                <a:solidFill>
                  <a:srgbClr val="E6EDF3"/>
                </a:solidFill>
                <a:latin typeface="Courier New"/>
              </a:rPr>
              <a:t> </a:t>
            </a:r>
            <a:r>
              <a:rPr sz="1100" b="0" i="0">
                <a:solidFill>
                  <a:srgbClr val="E6EDF3"/>
                </a:solidFill>
                <a:latin typeface="Courier New"/>
              </a:rPr>
              <a:t>eggs</a:t>
            </a:r>
          </a:p>
          <a:p>
            <a:pPr algn="l"/>
            <a:r>
              <a:rPr sz="1100" b="0" i="0">
                <a:solidFill>
                  <a:srgbClr val="8FA3B8"/>
                </a:solidFill>
                <a:latin typeface="Courier New"/>
              </a:rPr>
              <a:t>&gt;&gt;&gt; </a:t>
            </a:r>
            <a:r>
              <a:rPr sz="1100" b="0" i="0">
                <a:solidFill>
                  <a:srgbClr val="E6EDF3"/>
                </a:solidFill>
                <a:latin typeface="Courier New"/>
              </a:rPr>
              <a:t>    </a:t>
            </a:r>
            <a:r>
              <a:rPr sz="1100" b="0" i="0">
                <a:solidFill>
                  <a:srgbClr val="E6EDF3"/>
                </a:solidFill>
                <a:latin typeface="Courier New"/>
              </a:rPr>
              <a:t>eggs</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7CC4FF"/>
                </a:solidFill>
                <a:latin typeface="Courier New"/>
              </a:rPr>
              <a:t>2</a:t>
            </a:r>
          </a:p>
          <a:p>
            <a:pPr algn="l"/>
            <a:r>
              <a:rPr sz="1100" b="0" i="0">
                <a:solidFill>
                  <a:srgbClr val="8FA3B8"/>
                </a:solidFill>
                <a:latin typeface="Courier New"/>
              </a:rPr>
              <a:t>&gt;&gt;&gt; </a:t>
            </a:r>
            <a:r>
              <a:rPr sz="1100" b="0" i="0">
                <a:solidFill>
                  <a:srgbClr val="C9A0FF"/>
                </a:solidFill>
                <a:latin typeface="Courier New"/>
              </a:rPr>
              <a:t>for</a:t>
            </a:r>
            <a:r>
              <a:rPr sz="1100" b="0" i="0">
                <a:solidFill>
                  <a:srgbClr val="E6EDF3"/>
                </a:solidFill>
                <a:latin typeface="Courier New"/>
              </a:rPr>
              <a:t> </a:t>
            </a:r>
            <a:r>
              <a:rPr sz="1100" b="0" i="0">
                <a:solidFill>
                  <a:srgbClr val="E6EDF3"/>
                </a:solidFill>
                <a:latin typeface="Courier New"/>
              </a:rPr>
              <a:t>f</a:t>
            </a:r>
            <a:r>
              <a:rPr sz="1100" b="0" i="0">
                <a:solidFill>
                  <a:srgbClr val="E6EDF3"/>
                </a:solidFill>
                <a:latin typeface="Courier New"/>
              </a:rPr>
              <a:t> </a:t>
            </a:r>
            <a:r>
              <a:rPr sz="1100" b="0" i="0">
                <a:solidFill>
                  <a:srgbClr val="C9A0FF"/>
                </a:solidFill>
                <a:latin typeface="Courier New"/>
              </a:rPr>
              <a:t>in</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reads</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assigns</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declares</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E6EDF3"/>
                </a:solidFill>
                <a:latin typeface="Courier New"/>
              </a:rPr>
              <a:t>c</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f</a:t>
            </a:r>
            <a:r>
              <a:rPr sz="1100" b="0" i="0">
                <a:solidFill>
                  <a:srgbClr val="E6EDF3"/>
                </a:solidFill>
                <a:latin typeface="Courier New"/>
              </a:rPr>
              <a:t>.</a:t>
            </a:r>
            <a:r>
              <a:rPr sz="1100" b="0" i="0">
                <a:solidFill>
                  <a:srgbClr val="E6EDF3"/>
                </a:solidFill>
                <a:latin typeface="Courier New"/>
              </a:rPr>
              <a:t>__code__</a:t>
            </a:r>
          </a:p>
          <a:p>
            <a:pPr algn="l"/>
            <a:r>
              <a:rPr sz="1100" b="0" i="0">
                <a:solidFill>
                  <a:srgbClr val="8FA3B8"/>
                </a:solidFill>
                <a:latin typeface="Courier New"/>
              </a:rPr>
              <a:t>&gt;&gt;&gt; </a:t>
            </a:r>
            <a:r>
              <a:rPr sz="1100" b="0" i="0">
                <a:solidFill>
                  <a:srgbClr val="E6EDF3"/>
                </a:solidFill>
                <a:latin typeface="Courier New"/>
              </a:rPr>
              <a: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f</a:t>
            </a:r>
            <a:r>
              <a:rPr sz="1100" b="0" i="0">
                <a:solidFill>
                  <a:srgbClr val="E6EDF3"/>
                </a:solidFill>
                <a:latin typeface="Courier New"/>
              </a:rPr>
              <a:t>.</a:t>
            </a:r>
            <a:r>
              <a:rPr sz="1100" b="0" i="0">
                <a:solidFill>
                  <a:srgbClr val="E6EDF3"/>
                </a:solidFill>
                <a:latin typeface="Courier New"/>
              </a:rPr>
              <a:t>__name__</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c</a:t>
            </a:r>
            <a:r>
              <a:rPr sz="1100" b="0" i="0">
                <a:solidFill>
                  <a:srgbClr val="E6EDF3"/>
                </a:solidFill>
                <a:latin typeface="Courier New"/>
              </a:rPr>
              <a:t>.</a:t>
            </a:r>
            <a:r>
              <a:rPr sz="1100" b="0" i="0">
                <a:solidFill>
                  <a:srgbClr val="E6EDF3"/>
                </a:solidFill>
                <a:latin typeface="Courier New"/>
              </a:rPr>
              <a:t>co_varnames</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c</a:t>
            </a:r>
            <a:r>
              <a:rPr sz="1100" b="0" i="0">
                <a:solidFill>
                  <a:srgbClr val="E6EDF3"/>
                </a:solidFill>
                <a:latin typeface="Courier New"/>
              </a:rPr>
              <a:t>.</a:t>
            </a:r>
            <a:r>
              <a:rPr sz="1100" b="0" i="0">
                <a:solidFill>
                  <a:srgbClr val="E6EDF3"/>
                </a:solidFill>
                <a:latin typeface="Courier New"/>
              </a:rPr>
              <a:t>co_names</a:t>
            </a:r>
            <a:r>
              <a:rPr sz="1100" b="0" i="0">
                <a:solidFill>
                  <a:srgbClr val="E6EDF3"/>
                </a:solidFill>
                <a:latin typeface="Courier New"/>
              </a:rPr>
              <a:t>)</a:t>
            </a:r>
          </a:p>
        </p:txBody>
      </p:sp>
      <p:sp>
        <p:nvSpPr>
          <p:cNvPr id="7" name="explanation"/>
          <p:cNvSpPr txBox="1"/>
          <p:nvPr/>
        </p:nvSpPr>
        <p:spPr>
          <a:xfrm>
            <a:off x="4962144" y="1931162"/>
            <a:ext cx="3816095" cy="1205483"/>
          </a:xfrm>
          <a:prstGeom prst="rect">
            <a:avLst/>
          </a:prstGeom>
          <a:noFill/>
        </p:spPr>
        <p:txBody>
          <a:bodyPr wrap="square" lIns="128016" rIns="128016" tIns="18288" bIns="18288" anchor="ctr">
            <a:spAutoFit/>
          </a:bodyPr>
          <a:lstStyle/>
          <a:p>
            <a:r>
              <a:rPr sz="1200" b="0" i="0">
                <a:solidFill>
                  <a:srgbClr val="1F2933"/>
                </a:solidFill>
                <a:latin typeface="Calibri"/>
              </a:rPr>
              <a:t>co_varnames lists the local variables; co_names lists the global names a function uses. Python decides by scanning the body.</a:t>
            </a:r>
          </a:p>
        </p:txBody>
      </p:sp>
      <p:sp>
        <p:nvSpPr>
          <p:cNvPr id="8" name="result label"/>
          <p:cNvSpPr txBox="1"/>
          <p:nvPr/>
        </p:nvSpPr>
        <p:spPr>
          <a:xfrm>
            <a:off x="365760" y="3209798"/>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3484117"/>
          <a:ext cx="8412480" cy="1243584"/>
        </p:xfrm>
        <a:graphic>
          <a:graphicData uri="http://schemas.openxmlformats.org/drawingml/2006/table">
            <a:tbl>
              <a:tblPr firstRow="0" bandRow="0"/>
              <a:tblGrid>
                <a:gridCol w="1463040"/>
                <a:gridCol w="2560320"/>
                <a:gridCol w="2377440"/>
                <a:gridCol w="2011680"/>
              </a:tblGrid>
              <a:tr h="310896">
                <a:tc>
                  <a:txBody>
                    <a:bodyPr wrap="square"/>
                    <a:lstStyle/>
                    <a:p>
                      <a:r>
                        <a:rPr sz="1050" b="1" i="0">
                          <a:solidFill>
                            <a:srgbClr val="FFFFFF"/>
                          </a:solidFill>
                          <a:latin typeface="Calibri"/>
                        </a:rPr>
                        <a:t>Function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Local variables (co_varnames)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Global names (co_names)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Python treats eggs as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10896">
                <a:tc>
                  <a:txBody>
                    <a:bodyPr wrap="square"/>
                    <a:lstStyle/>
                    <a:p>
                      <a:r>
                        <a:rPr sz="1050" b="0" i="0">
                          <a:solidFill>
                            <a:srgbClr val="1F2933"/>
                          </a:solidFill>
                          <a:latin typeface="Courier New"/>
                        </a:rPr>
                        <a:t>reads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('eggs',)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global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7EEF0"/>
                    </a:solidFill>
                  </a:tcPr>
                </a:tc>
              </a:tr>
              <a:tr h="310896">
                <a:tc>
                  <a:txBody>
                    <a:bodyPr wrap="square"/>
                    <a:lstStyle/>
                    <a:p>
                      <a:r>
                        <a:rPr sz="1050" b="0" i="0">
                          <a:solidFill>
                            <a:srgbClr val="1F2933"/>
                          </a:solidFill>
                          <a:latin typeface="Courier New"/>
                        </a:rPr>
                        <a:t>assigns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('eggs',)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local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r>
              <a:tr h="310896">
                <a:tc>
                  <a:txBody>
                    <a:bodyPr wrap="square"/>
                    <a:lstStyle/>
                    <a:p>
                      <a:r>
                        <a:rPr sz="1050" b="0" i="0">
                          <a:solidFill>
                            <a:srgbClr val="1F2933"/>
                          </a:solidFill>
                          <a:latin typeface="Courier New"/>
                        </a:rPr>
                        <a:t>declares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('eggs',)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global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7EEF0"/>
                    </a:solidFill>
                  </a:tcPr>
                </a:tc>
              </a:tr>
            </a:tbl>
          </a:graphicData>
        </a:graphic>
      </p:graphicFrame>
      <p:sp>
        <p:nvSpPr>
          <p:cNvPr id="10"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Assigned in the body means local, unless declared global.</a:t>
            </a:r>
          </a:p>
        </p:txBody>
      </p:sp>
      <p:sp>
        <p:nvSpPr>
          <p:cNvPr id="12"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27 / 46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Assign later, crash earlier: UnboundLocalError</a:t>
            </a:r>
          </a:p>
        </p:txBody>
      </p:sp>
      <p:sp>
        <p:nvSpPr>
          <p:cNvPr id="4" name="code"/>
          <p:cNvSpPr/>
          <p:nvPr/>
        </p:nvSpPr>
        <p:spPr>
          <a:xfrm>
            <a:off x="365760" y="841248"/>
            <a:ext cx="4782312" cy="864615"/>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E6EDF3"/>
                </a:solidFill>
                <a:latin typeface="Courier New"/>
              </a:rPr>
              <a:t>eggs</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'global'</a:t>
            </a:r>
          </a:p>
          <a:p>
            <a:pPr algn="l"/>
            <a:r>
              <a:rPr sz="1100" b="0" i="0">
                <a:solidFill>
                  <a:srgbClr val="8FA3B8"/>
                </a:solidFill>
                <a:latin typeface="Courier New"/>
              </a:rPr>
              <a:t>&gt;&gt;&gt; </a:t>
            </a:r>
            <a:r>
              <a:rPr sz="1100" b="0" i="0">
                <a:solidFill>
                  <a:srgbClr val="C9A0FF"/>
                </a:solidFill>
                <a:latin typeface="Courier New"/>
              </a:rPr>
              <a:t>def</a:t>
            </a:r>
            <a:r>
              <a:rPr sz="1100" b="0" i="0">
                <a:solidFill>
                  <a:srgbClr val="E6EDF3"/>
                </a:solidFill>
                <a:latin typeface="Courier New"/>
              </a:rPr>
              <a:t> </a:t>
            </a:r>
            <a:r>
              <a:rPr sz="1100" b="0" i="0">
                <a:solidFill>
                  <a:srgbClr val="E6EDF3"/>
                </a:solidFill>
                <a:latin typeface="Courier New"/>
              </a:rPr>
              <a:t>broken</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eggs</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E6EDF3"/>
                </a:solidFill>
                <a:latin typeface="Courier New"/>
              </a:rPr>
              <a:t>eggs</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'local'</a:t>
            </a:r>
          </a:p>
        </p:txBody>
      </p:sp>
      <p:sp>
        <p:nvSpPr>
          <p:cNvPr id="5" name="explanation"/>
          <p:cNvSpPr txBox="1"/>
          <p:nvPr/>
        </p:nvSpPr>
        <p:spPr>
          <a:xfrm>
            <a:off x="5129784" y="841248"/>
            <a:ext cx="3648456" cy="864615"/>
          </a:xfrm>
          <a:prstGeom prst="rect">
            <a:avLst/>
          </a:prstGeom>
          <a:noFill/>
        </p:spPr>
        <p:txBody>
          <a:bodyPr wrap="square" lIns="128016" rIns="128016" tIns="18288" bIns="18288" anchor="ctr">
            <a:spAutoFit/>
          </a:bodyPr>
          <a:lstStyle/>
          <a:p>
            <a:r>
              <a:rPr sz="1200" b="0" i="0">
                <a:solidFill>
                  <a:srgbClr val="1F2933"/>
                </a:solidFill>
                <a:latin typeface="Calibri"/>
              </a:rPr>
              <a:t>The body assigns eggs, so the whole function treats eggs as local, even in the line before the assignment.</a:t>
            </a:r>
          </a:p>
        </p:txBody>
      </p:sp>
      <p:sp>
        <p:nvSpPr>
          <p:cNvPr id="6" name="code"/>
          <p:cNvSpPr/>
          <p:nvPr/>
        </p:nvSpPr>
        <p:spPr>
          <a:xfrm>
            <a:off x="365760" y="1760728"/>
            <a:ext cx="4782312" cy="103505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try</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E6EDF3"/>
                </a:solidFill>
                <a:latin typeface="Courier New"/>
              </a:rPr>
              <a:t>broken</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except</a:t>
            </a:r>
            <a:r>
              <a:rPr sz="1100" b="0" i="0">
                <a:solidFill>
                  <a:srgbClr val="E6EDF3"/>
                </a:solidFill>
                <a:latin typeface="Courier New"/>
              </a:rPr>
              <a:t> </a:t>
            </a:r>
            <a:r>
              <a:rPr sz="1100" b="0" i="0">
                <a:solidFill>
                  <a:srgbClr val="E6EDF3"/>
                </a:solidFill>
                <a:latin typeface="Courier New"/>
              </a:rPr>
              <a:t>NameError</a:t>
            </a:r>
            <a:r>
              <a:rPr sz="1100" b="0" i="0">
                <a:solidFill>
                  <a:srgbClr val="E6EDF3"/>
                </a:solidFill>
                <a:latin typeface="Courier New"/>
              </a:rPr>
              <a:t> </a:t>
            </a:r>
            <a:r>
              <a:rPr sz="1100" b="0" i="0">
                <a:solidFill>
                  <a:srgbClr val="C9A0FF"/>
                </a:solidFill>
                <a:latin typeface="Courier New"/>
              </a:rPr>
              <a:t>as</a:t>
            </a:r>
            <a:r>
              <a:rPr sz="1100" b="0" i="0">
                <a:solidFill>
                  <a:srgbClr val="E6EDF3"/>
                </a:solidFill>
                <a:latin typeface="Courier New"/>
              </a:rPr>
              <a:t> </a:t>
            </a:r>
            <a:r>
              <a:rPr sz="1100" b="0" i="0">
                <a:solidFill>
                  <a:srgbClr val="E6EDF3"/>
                </a:solidFill>
                <a:latin typeface="Courier New"/>
              </a:rPr>
              <a:t>err</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E6EDF3"/>
                </a:solidFill>
                <a:latin typeface="Courier New"/>
              </a:rPr>
              <a:t>kind</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type</a:t>
            </a:r>
            <a:r>
              <a:rPr sz="1100" b="0" i="0">
                <a:solidFill>
                  <a:srgbClr val="E6EDF3"/>
                </a:solidFill>
                <a:latin typeface="Courier New"/>
              </a:rPr>
              <a:t>(</a:t>
            </a:r>
            <a:r>
              <a:rPr sz="1100" b="0" i="0">
                <a:solidFill>
                  <a:srgbClr val="E6EDF3"/>
                </a:solidFill>
                <a:latin typeface="Courier New"/>
              </a:rPr>
              <a:t>err</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kind</a:t>
            </a:r>
            <a:r>
              <a:rPr sz="1100" b="0" i="0">
                <a:solidFill>
                  <a:srgbClr val="E6EDF3"/>
                </a:solidFill>
                <a:latin typeface="Courier New"/>
              </a:rPr>
              <a:t>.</a:t>
            </a:r>
            <a:r>
              <a:rPr sz="1100" b="0" i="0">
                <a:solidFill>
                  <a:srgbClr val="E6EDF3"/>
                </a:solidFill>
                <a:latin typeface="Courier New"/>
              </a:rPr>
              <a:t>__name__</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kind</a:t>
            </a:r>
            <a:r>
              <a:rPr sz="1100" b="0" i="0">
                <a:solidFill>
                  <a:srgbClr val="E6EDF3"/>
                </a:solidFill>
                <a:latin typeface="Courier New"/>
              </a:rPr>
              <a:t>.</a:t>
            </a:r>
            <a:r>
              <a:rPr sz="1100" b="0" i="0">
                <a:solidFill>
                  <a:srgbClr val="E6EDF3"/>
                </a:solidFill>
                <a:latin typeface="Courier New"/>
              </a:rPr>
              <a:t>__mro__</a:t>
            </a:r>
            <a:r>
              <a:rPr sz="1100" b="0" i="0">
                <a:solidFill>
                  <a:srgbClr val="E6EDF3"/>
                </a:solidFill>
                <a:latin typeface="Courier New"/>
              </a:rPr>
              <a:t>[</a:t>
            </a:r>
            <a:r>
              <a:rPr sz="1100" b="0" i="0">
                <a:solidFill>
                  <a:srgbClr val="7CC4FF"/>
                </a:solidFill>
                <a:latin typeface="Courier New"/>
              </a:rPr>
              <a:t>1</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__name__</a:t>
            </a:r>
            <a:r>
              <a:rPr sz="1100" b="0" i="0">
                <a:solidFill>
                  <a:srgbClr val="E6EDF3"/>
                </a:solidFill>
                <a:latin typeface="Courier New"/>
              </a:rPr>
              <a:t>)</a:t>
            </a:r>
          </a:p>
        </p:txBody>
      </p:sp>
      <p:sp>
        <p:nvSpPr>
          <p:cNvPr id="7" name="explanation"/>
          <p:cNvSpPr txBox="1"/>
          <p:nvPr/>
        </p:nvSpPr>
        <p:spPr>
          <a:xfrm>
            <a:off x="5129784" y="1760728"/>
            <a:ext cx="3648456" cy="1035050"/>
          </a:xfrm>
          <a:prstGeom prst="rect">
            <a:avLst/>
          </a:prstGeom>
          <a:noFill/>
        </p:spPr>
        <p:txBody>
          <a:bodyPr wrap="square" lIns="128016" rIns="128016" tIns="18288" bIns="18288" anchor="ctr">
            <a:spAutoFit/>
          </a:bodyPr>
          <a:lstStyle/>
          <a:p>
            <a:r>
              <a:rPr sz="1200" b="0" i="0">
                <a:solidFill>
                  <a:srgbClr val="1F2933"/>
                </a:solidFill>
                <a:latin typeface="Calibri"/>
              </a:rPr>
              <a:t>The read happens before any value exists. Python raises UnboundLocalError, and its parent class is NameError.</a:t>
            </a:r>
          </a:p>
        </p:txBody>
      </p:sp>
      <p:sp>
        <p:nvSpPr>
          <p:cNvPr id="8" name="result label"/>
          <p:cNvSpPr txBox="1"/>
          <p:nvPr/>
        </p:nvSpPr>
        <p:spPr>
          <a:xfrm>
            <a:off x="365760" y="2868929"/>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9" name="Rounded Rectangle 8"/>
          <p:cNvSpPr/>
          <p:nvPr/>
        </p:nvSpPr>
        <p:spPr>
          <a:xfrm>
            <a:off x="365760" y="3143249"/>
            <a:ext cx="1828800" cy="347472"/>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print(eggs)</a:t>
            </a:r>
          </a:p>
        </p:txBody>
      </p:sp>
      <p:sp>
        <p:nvSpPr>
          <p:cNvPr id="10" name="Rounded Rectangle 9"/>
          <p:cNvSpPr/>
          <p:nvPr/>
        </p:nvSpPr>
        <p:spPr>
          <a:xfrm>
            <a:off x="2523744" y="3143249"/>
            <a:ext cx="1828800" cy="347472"/>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eggs is local here</a:t>
            </a:r>
          </a:p>
        </p:txBody>
      </p:sp>
      <p:cxnSp>
        <p:nvCxnSpPr>
          <p:cNvPr id="11" name="arrow"/>
          <p:cNvCxnSpPr/>
          <p:nvPr/>
        </p:nvCxnSpPr>
        <p:spPr>
          <a:xfrm>
            <a:off x="2212848" y="3316985"/>
            <a:ext cx="292608"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681728" y="3143249"/>
            <a:ext cx="1828800" cy="347472"/>
          </a:xfrm>
          <a:prstGeom prst="roundRect">
            <a:avLst>
              <a:gd name="adj" fmla="val 15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5B6773"/>
                </a:solidFill>
                <a:latin typeface="Courier New"/>
              </a:rPr>
              <a:t>no value yet</a:t>
            </a:r>
          </a:p>
        </p:txBody>
      </p:sp>
      <p:cxnSp>
        <p:nvCxnSpPr>
          <p:cNvPr id="13" name="arrow"/>
          <p:cNvCxnSpPr/>
          <p:nvPr/>
        </p:nvCxnSpPr>
        <p:spPr>
          <a:xfrm>
            <a:off x="4370832" y="3316985"/>
            <a:ext cx="292608"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839712" y="3143249"/>
            <a:ext cx="1828800" cy="347472"/>
          </a:xfrm>
          <a:prstGeom prst="roundRect">
            <a:avLst>
              <a:gd name="adj" fmla="val 15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UnboundLocalError</a:t>
            </a:r>
          </a:p>
        </p:txBody>
      </p:sp>
      <p:cxnSp>
        <p:nvCxnSpPr>
          <p:cNvPr id="15" name="arrow"/>
          <p:cNvCxnSpPr/>
          <p:nvPr/>
        </p:nvCxnSpPr>
        <p:spPr>
          <a:xfrm>
            <a:off x="6528816" y="3316985"/>
            <a:ext cx="292608"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365760" y="3600449"/>
            <a:ext cx="3657600" cy="219456"/>
          </a:xfrm>
          <a:prstGeom prst="rect">
            <a:avLst/>
          </a:prstGeom>
          <a:noFill/>
        </p:spPr>
        <p:txBody>
          <a:bodyPr wrap="square" lIns="45720" rIns="45720" tIns="27432" bIns="27432" anchor="t">
            <a:spAutoFit/>
          </a:bodyPr>
          <a:lstStyle/>
          <a:p>
            <a:r>
              <a:rPr sz="1000" b="0" i="1">
                <a:solidFill>
                  <a:srgbClr val="5B6773"/>
                </a:solidFill>
                <a:latin typeface="Calibri"/>
              </a:rPr>
              <a:t>the family of that exception (parent class to the right)</a:t>
            </a:r>
          </a:p>
        </p:txBody>
      </p:sp>
      <p:sp>
        <p:nvSpPr>
          <p:cNvPr id="17" name="Rounded Rectangle 16"/>
          <p:cNvSpPr/>
          <p:nvPr/>
        </p:nvSpPr>
        <p:spPr>
          <a:xfrm>
            <a:off x="365760" y="3874770"/>
            <a:ext cx="1463040" cy="329184"/>
          </a:xfrm>
          <a:prstGeom prst="roundRect">
            <a:avLst>
              <a:gd name="adj" fmla="val 15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UnboundLocalError</a:t>
            </a:r>
          </a:p>
        </p:txBody>
      </p:sp>
      <p:sp>
        <p:nvSpPr>
          <p:cNvPr id="18" name="Rounded Rectangle 17"/>
          <p:cNvSpPr/>
          <p:nvPr/>
        </p:nvSpPr>
        <p:spPr>
          <a:xfrm>
            <a:off x="2057400" y="3874770"/>
            <a:ext cx="1463040" cy="329184"/>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NameError</a:t>
            </a:r>
          </a:p>
        </p:txBody>
      </p:sp>
      <p:cxnSp>
        <p:nvCxnSpPr>
          <p:cNvPr id="19" name="arrow"/>
          <p:cNvCxnSpPr/>
          <p:nvPr/>
        </p:nvCxnSpPr>
        <p:spPr>
          <a:xfrm>
            <a:off x="1856231" y="4039361"/>
            <a:ext cx="182881" cy="0"/>
          </a:xfrm>
          <a:prstGeom prst="line">
            <a:avLst/>
          </a:prstGeom>
          <a:ln w="1524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3749040" y="3874770"/>
            <a:ext cx="1463040" cy="329184"/>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Exception</a:t>
            </a:r>
          </a:p>
        </p:txBody>
      </p:sp>
      <p:cxnSp>
        <p:nvCxnSpPr>
          <p:cNvPr id="21" name="arrow"/>
          <p:cNvCxnSpPr/>
          <p:nvPr/>
        </p:nvCxnSpPr>
        <p:spPr>
          <a:xfrm>
            <a:off x="3547872" y="4039361"/>
            <a:ext cx="182880" cy="0"/>
          </a:xfrm>
          <a:prstGeom prst="line">
            <a:avLst/>
          </a:prstGeom>
          <a:ln w="1524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5440680" y="3874770"/>
            <a:ext cx="1463040" cy="329184"/>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BaseException</a:t>
            </a:r>
          </a:p>
        </p:txBody>
      </p:sp>
      <p:cxnSp>
        <p:nvCxnSpPr>
          <p:cNvPr id="23" name="arrow"/>
          <p:cNvCxnSpPr/>
          <p:nvPr/>
        </p:nvCxnSpPr>
        <p:spPr>
          <a:xfrm>
            <a:off x="5239512" y="4039361"/>
            <a:ext cx="182880" cy="0"/>
          </a:xfrm>
          <a:prstGeom prst="line">
            <a:avLst/>
          </a:prstGeom>
          <a:ln w="1524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7132320" y="3874770"/>
            <a:ext cx="1463040" cy="329184"/>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object</a:t>
            </a:r>
          </a:p>
        </p:txBody>
      </p:sp>
      <p:cxnSp>
        <p:nvCxnSpPr>
          <p:cNvPr id="25" name="arrow"/>
          <p:cNvCxnSpPr/>
          <p:nvPr/>
        </p:nvCxnSpPr>
        <p:spPr>
          <a:xfrm>
            <a:off x="6931152" y="4039361"/>
            <a:ext cx="182880" cy="0"/>
          </a:xfrm>
          <a:prstGeom prst="line">
            <a:avLst/>
          </a:prstGeom>
          <a:ln w="1524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Assigned anywhere in the body means local everywhere.</a:t>
            </a:r>
          </a:p>
        </p:txBody>
      </p:sp>
      <p:sp>
        <p:nvSpPr>
          <p:cNvPr id="28"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28 / 46</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3000" b="1" i="0">
                <a:solidFill>
                  <a:srgbClr val="1F2933"/>
                </a:solidFill>
                <a:latin typeface="Calibri"/>
              </a:rPr>
              <a:t>Part 3: Handling errors</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An error is an exception; try and except decide what happens next</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Exception</a:t>
            </a:r>
          </a:p>
        </p:txBody>
      </p:sp>
      <p:sp>
        <p:nvSpPr>
          <p:cNvPr id="6" name="meaning"/>
          <p:cNvSpPr txBox="1"/>
          <p:nvPr/>
        </p:nvSpPr>
        <p:spPr>
          <a:xfrm>
            <a:off x="2606040" y="1417320"/>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An event that stops the normal flow of a program.</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try and except</a:t>
            </a:r>
          </a:p>
        </p:txBody>
      </p:sp>
      <p:sp>
        <p:nvSpPr>
          <p:cNvPr id="8" name="meaning"/>
          <p:cNvSpPr txBox="1"/>
          <p:nvPr/>
        </p:nvSpPr>
        <p:spPr>
          <a:xfrm>
            <a:off x="2606040" y="2075688"/>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try marks the risky code; except says what to do.</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Placement</a:t>
            </a:r>
          </a:p>
        </p:txBody>
      </p:sp>
      <p:sp>
        <p:nvSpPr>
          <p:cNvPr id="10" name="meaning"/>
          <p:cNvSpPr txBox="1"/>
          <p:nvPr/>
        </p:nvSpPr>
        <p:spPr>
          <a:xfrm>
            <a:off x="2606040" y="2734056"/>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Where the try sits decides which statements still run.</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Traceback</a:t>
            </a:r>
          </a:p>
        </p:txBody>
      </p:sp>
      <p:sp>
        <p:nvSpPr>
          <p:cNvPr id="12" name="meaning"/>
          <p:cNvSpPr txBox="1"/>
          <p:nvPr/>
        </p:nvSpPr>
        <p:spPr>
          <a:xfrm>
            <a:off x="2606040" y="3392424"/>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The saved list of calls that led to the error.</a:t>
            </a:r>
          </a:p>
        </p:txBody>
      </p:sp>
      <p:graphicFrame>
        <p:nvGraphicFramePr>
          <p:cNvPr id="13" name="table"/>
          <p:cNvGraphicFramePr>
            <a:graphicFrameLocks noGrp="1"/>
          </p:cNvGraphicFramePr>
          <p:nvPr/>
        </p:nvGraphicFramePr>
        <p:xfrm>
          <a:off x="5303520" y="1417320"/>
          <a:ext cx="3474719" cy="2560320"/>
        </p:xfrm>
        <a:graphic>
          <a:graphicData uri="http://schemas.openxmlformats.org/drawingml/2006/table">
            <a:tbl>
              <a:tblPr firstRow="0" bandRow="0"/>
              <a:tblGrid>
                <a:gridCol w="507543"/>
                <a:gridCol w="2967176"/>
              </a:tblGrid>
              <a:tr h="365760">
                <a:tc>
                  <a:txBody>
                    <a:bodyPr wrap="square"/>
                    <a:lstStyle/>
                    <a:p>
                      <a:r>
                        <a:rPr sz="105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65760">
                <a:tc>
                  <a:txBody>
                    <a:bodyPr wrap="square"/>
                    <a:lstStyle/>
                    <a:p>
                      <a:r>
                        <a:rPr sz="1050" b="0" i="0">
                          <a:solidFill>
                            <a:srgbClr val="1F2933"/>
                          </a:solidFill>
                          <a:latin typeface="Calibri"/>
                        </a:rPr>
                        <a:t>31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try and except recover from an error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32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Where the try goes (1): inside the loop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50" b="0" i="0">
                          <a:solidFill>
                            <a:srgbClr val="1F2933"/>
                          </a:solidFill>
                          <a:latin typeface="Calibri"/>
                        </a:rPr>
                        <a:t>33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Where the try goes (2): around all the...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34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One except for several kinds of error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50" b="0" i="0">
                          <a:solidFill>
                            <a:srgbClr val="1F2933"/>
                          </a:solidFill>
                          <a:latin typeface="Calibri"/>
                        </a:rPr>
                        <a:t>35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A traceback lists the calls that led 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36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Story: except loses its parentheses in...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29 / 46</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errors</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548640"/>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Exception handling is a net under a trapeze: a fall is caught and the show goes on.</a:t>
            </a:r>
          </a:p>
        </p:txBody>
      </p:sp>
      <p:graphicFrame>
        <p:nvGraphicFramePr>
          <p:cNvPr id="6" name="table"/>
          <p:cNvGraphicFramePr>
            <a:graphicFrameLocks noGrp="1"/>
          </p:cNvGraphicFramePr>
          <p:nvPr/>
        </p:nvGraphicFramePr>
        <p:xfrm>
          <a:off x="365760" y="1463040"/>
          <a:ext cx="8412480" cy="2743200"/>
        </p:xfrm>
        <a:graphic>
          <a:graphicData uri="http://schemas.openxmlformats.org/drawingml/2006/table">
            <a:tbl>
              <a:tblPr firstRow="0" bandRow="0"/>
              <a:tblGrid>
                <a:gridCol w="3383280"/>
                <a:gridCol w="5029200"/>
              </a:tblGrid>
              <a:tr h="457200">
                <a:tc>
                  <a:txBody>
                    <a:bodyPr wrap="square"/>
                    <a:lstStyle/>
                    <a:p>
                      <a:r>
                        <a:rPr sz="12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2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457200">
                <a:tc>
                  <a:txBody>
                    <a:bodyPr wrap="square"/>
                    <a:lstStyle/>
                    <a:p>
                      <a:r>
                        <a:rPr sz="1200" b="1" i="0">
                          <a:solidFill>
                            <a:srgbClr val="1F2933"/>
                          </a:solidFill>
                          <a:latin typeface="Calibri"/>
                        </a:rPr>
                        <a:t>Exception Handling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The net and the plan that let the show carry 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200" b="1" i="0">
                          <a:solidFill>
                            <a:srgbClr val="1F2933"/>
                          </a:solidFill>
                          <a:latin typeface="Calibri"/>
                        </a:rPr>
                        <a:t>exception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The trapeze artist slipping: an event, not the end of the show.</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57200">
                <a:tc>
                  <a:txBody>
                    <a:bodyPr wrap="square"/>
                    <a:lstStyle/>
                    <a:p>
                      <a:r>
                        <a:rPr sz="1200" b="1" i="0">
                          <a:solidFill>
                            <a:srgbClr val="1F2933"/>
                          </a:solidFill>
                          <a:latin typeface="Calibri"/>
                        </a:rPr>
                        <a:t>traceback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The incident report that lists every act leading to the fall.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200" b="1" i="0">
                          <a:solidFill>
                            <a:srgbClr val="1F2933"/>
                          </a:solidFill>
                          <a:latin typeface="Calibri"/>
                        </a:rPr>
                        <a:t>try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The act on the trapeze, performed with the net spread below.</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57200">
                <a:tc>
                  <a:txBody>
                    <a:bodyPr wrap="square"/>
                    <a:lstStyle/>
                    <a:p>
                      <a:r>
                        <a:rPr sz="1200" b="1" i="0">
                          <a:solidFill>
                            <a:srgbClr val="1F2933"/>
                          </a:solidFill>
                          <a:latin typeface="Calibri"/>
                        </a:rPr>
                        <a:t>except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The net that catches one named kind of fall.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30 / 46</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try and except recover from an error</a:t>
            </a:r>
          </a:p>
        </p:txBody>
      </p:sp>
      <p:sp>
        <p:nvSpPr>
          <p:cNvPr id="4" name="code"/>
          <p:cNvSpPr/>
          <p:nvPr/>
        </p:nvSpPr>
        <p:spPr>
          <a:xfrm>
            <a:off x="365760" y="841248"/>
            <a:ext cx="4736591" cy="111252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&gt;&gt;&gt; </a:t>
            </a:r>
            <a:r>
              <a:rPr sz="1200" b="0" i="0">
                <a:solidFill>
                  <a:srgbClr val="C9A0FF"/>
                </a:solidFill>
                <a:latin typeface="Courier New"/>
              </a:rPr>
              <a:t>def</a:t>
            </a:r>
            <a:r>
              <a:rPr sz="1200" b="0" i="0">
                <a:solidFill>
                  <a:srgbClr val="E6EDF3"/>
                </a:solidFill>
                <a:latin typeface="Courier New"/>
              </a:rPr>
              <a:t> </a:t>
            </a:r>
            <a:r>
              <a:rPr sz="1200" b="0" i="0">
                <a:solidFill>
                  <a:srgbClr val="E6EDF3"/>
                </a:solidFill>
                <a:latin typeface="Courier New"/>
              </a:rPr>
              <a:t>spam</a:t>
            </a:r>
            <a:r>
              <a:rPr sz="1200" b="0" i="0">
                <a:solidFill>
                  <a:srgbClr val="E6EDF3"/>
                </a:solidFill>
                <a:latin typeface="Courier New"/>
              </a:rPr>
              <a:t>(</a:t>
            </a:r>
            <a:r>
              <a:rPr sz="1200" b="0" i="0">
                <a:solidFill>
                  <a:srgbClr val="E6EDF3"/>
                </a:solidFill>
                <a:latin typeface="Courier New"/>
              </a:rPr>
              <a:t>divide_by</a:t>
            </a:r>
            <a:r>
              <a:rPr sz="1200" b="0" i="0">
                <a:solidFill>
                  <a:srgbClr val="E6EDF3"/>
                </a:solidFill>
                <a:latin typeface="Courier New"/>
              </a:rPr>
              <a:t>)</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    </a:t>
            </a:r>
            <a:r>
              <a:rPr sz="1200" b="0" i="0">
                <a:solidFill>
                  <a:srgbClr val="C9A0FF"/>
                </a:solidFill>
                <a:latin typeface="Courier New"/>
              </a:rPr>
              <a:t>try</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        </a:t>
            </a:r>
            <a:r>
              <a:rPr sz="1200" b="0" i="0">
                <a:solidFill>
                  <a:srgbClr val="C9A0FF"/>
                </a:solidFill>
                <a:latin typeface="Courier New"/>
              </a:rPr>
              <a:t>return</a:t>
            </a:r>
            <a:r>
              <a:rPr sz="1200" b="0" i="0">
                <a:solidFill>
                  <a:srgbClr val="E6EDF3"/>
                </a:solidFill>
                <a:latin typeface="Courier New"/>
              </a:rPr>
              <a:t> </a:t>
            </a:r>
            <a:r>
              <a:rPr sz="1200" b="0" i="0">
                <a:solidFill>
                  <a:srgbClr val="7CC4FF"/>
                </a:solidFill>
                <a:latin typeface="Courier New"/>
              </a:rPr>
              <a:t>42</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divide_by</a:t>
            </a:r>
          </a:p>
          <a:p>
            <a:pPr algn="l"/>
            <a:r>
              <a:rPr sz="1200" b="0" i="0">
                <a:solidFill>
                  <a:srgbClr val="8FA3B8"/>
                </a:solidFill>
                <a:latin typeface="Courier New"/>
              </a:rPr>
              <a:t>&gt;&gt;&gt; </a:t>
            </a:r>
            <a:r>
              <a:rPr sz="1200" b="0" i="0">
                <a:solidFill>
                  <a:srgbClr val="E6EDF3"/>
                </a:solidFill>
                <a:latin typeface="Courier New"/>
              </a:rPr>
              <a:t>    </a:t>
            </a:r>
            <a:r>
              <a:rPr sz="1200" b="0" i="0">
                <a:solidFill>
                  <a:srgbClr val="C9A0FF"/>
                </a:solidFill>
                <a:latin typeface="Courier New"/>
              </a:rPr>
              <a:t>except</a:t>
            </a:r>
            <a:r>
              <a:rPr sz="1200" b="0" i="0">
                <a:solidFill>
                  <a:srgbClr val="E6EDF3"/>
                </a:solidFill>
                <a:latin typeface="Courier New"/>
              </a:rPr>
              <a:t> </a:t>
            </a:r>
            <a:r>
              <a:rPr sz="1200" b="0" i="0">
                <a:solidFill>
                  <a:srgbClr val="E6EDF3"/>
                </a:solidFill>
                <a:latin typeface="Courier New"/>
              </a:rPr>
              <a:t>ZeroDivisionError</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        </a:t>
            </a:r>
            <a:r>
              <a:rPr sz="1200" b="0" i="0">
                <a:solidFill>
                  <a:srgbClr val="C9A0FF"/>
                </a:solidFill>
                <a:latin typeface="Courier New"/>
              </a:rPr>
              <a:t>return</a:t>
            </a:r>
            <a:r>
              <a:rPr sz="1200" b="0" i="0">
                <a:solidFill>
                  <a:srgbClr val="E6EDF3"/>
                </a:solidFill>
                <a:latin typeface="Courier New"/>
              </a:rPr>
              <a:t> </a:t>
            </a:r>
            <a:r>
              <a:rPr sz="1200" b="0" i="0">
                <a:solidFill>
                  <a:srgbClr val="9BE3A8"/>
                </a:solidFill>
                <a:latin typeface="Courier New"/>
              </a:rPr>
              <a:t>'error: cannot divide by zero'</a:t>
            </a:r>
          </a:p>
        </p:txBody>
      </p:sp>
      <p:sp>
        <p:nvSpPr>
          <p:cNvPr id="5" name="explanation"/>
          <p:cNvSpPr txBox="1"/>
          <p:nvPr/>
        </p:nvSpPr>
        <p:spPr>
          <a:xfrm>
            <a:off x="5084064" y="841248"/>
            <a:ext cx="3694176" cy="1112520"/>
          </a:xfrm>
          <a:prstGeom prst="rect">
            <a:avLst/>
          </a:prstGeom>
          <a:noFill/>
        </p:spPr>
        <p:txBody>
          <a:bodyPr wrap="square" lIns="128016" rIns="128016" tIns="18288" bIns="18288" anchor="ctr">
            <a:spAutoFit/>
          </a:bodyPr>
          <a:lstStyle/>
          <a:p>
            <a:r>
              <a:rPr sz="1250" b="0" i="0">
                <a:solidFill>
                  <a:srgbClr val="1F2933"/>
                </a:solidFill>
                <a:latin typeface="Calibri"/>
              </a:rPr>
              <a:t>The try block runs normally. If it raises ZeroDivisionError, the except block runs instead of a crash.</a:t>
            </a:r>
          </a:p>
        </p:txBody>
      </p:sp>
      <p:sp>
        <p:nvSpPr>
          <p:cNvPr id="6" name="code"/>
          <p:cNvSpPr/>
          <p:nvPr/>
        </p:nvSpPr>
        <p:spPr>
          <a:xfrm>
            <a:off x="365760" y="2008632"/>
            <a:ext cx="4736591" cy="7233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&gt;&gt;&gt; </a:t>
            </a:r>
            <a:r>
              <a:rPr sz="1200" b="0" i="0">
                <a:solidFill>
                  <a:srgbClr val="C9A0FF"/>
                </a:solidFill>
                <a:latin typeface="Courier New"/>
              </a:rPr>
              <a:t>print</a:t>
            </a:r>
            <a:r>
              <a:rPr sz="1200" b="0" i="0">
                <a:solidFill>
                  <a:srgbClr val="E6EDF3"/>
                </a:solidFill>
                <a:latin typeface="Courier New"/>
              </a:rPr>
              <a:t>(</a:t>
            </a:r>
            <a:r>
              <a:rPr sz="1200" b="0" i="0">
                <a:solidFill>
                  <a:srgbClr val="E6EDF3"/>
                </a:solidFill>
                <a:latin typeface="Courier New"/>
              </a:rPr>
              <a:t>spam</a:t>
            </a:r>
            <a:r>
              <a:rPr sz="1200" b="0" i="0">
                <a:solidFill>
                  <a:srgbClr val="E6EDF3"/>
                </a:solidFill>
                <a:latin typeface="Courier New"/>
              </a:rPr>
              <a:t>(</a:t>
            </a:r>
            <a:r>
              <a:rPr sz="1200" b="0" i="0">
                <a:solidFill>
                  <a:srgbClr val="7CC4FF"/>
                </a:solidFill>
                <a:latin typeface="Courier New"/>
              </a:rPr>
              <a:t>2</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spam</a:t>
            </a:r>
            <a:r>
              <a:rPr sz="1200" b="0" i="0">
                <a:solidFill>
                  <a:srgbClr val="E6EDF3"/>
                </a:solidFill>
                <a:latin typeface="Courier New"/>
              </a:rPr>
              <a:t>(</a:t>
            </a:r>
            <a:r>
              <a:rPr sz="1200" b="0" i="0">
                <a:solidFill>
                  <a:srgbClr val="7CC4FF"/>
                </a:solidFill>
                <a:latin typeface="Courier New"/>
              </a:rPr>
              <a:t>12</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spam</a:t>
            </a:r>
            <a:r>
              <a:rPr sz="1200" b="0" i="0">
                <a:solidFill>
                  <a:srgbClr val="E6EDF3"/>
                </a:solidFill>
                <a:latin typeface="Courier New"/>
              </a:rPr>
              <a:t>(</a:t>
            </a:r>
            <a:r>
              <a:rPr sz="1200" b="0" i="0">
                <a:solidFill>
                  <a:srgbClr val="7CC4FF"/>
                </a:solidFill>
                <a:latin typeface="Courier New"/>
              </a:rPr>
              <a:t>0</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spam</a:t>
            </a:r>
            <a:r>
              <a:rPr sz="1200" b="0" i="0">
                <a:solidFill>
                  <a:srgbClr val="E6EDF3"/>
                </a:solidFill>
                <a:latin typeface="Courier New"/>
              </a:rPr>
              <a:t>(</a:t>
            </a:r>
            <a:r>
              <a:rPr sz="1200" b="0" i="0">
                <a:solidFill>
                  <a:srgbClr val="7CC4FF"/>
                </a:solidFill>
                <a:latin typeface="Courier New"/>
              </a:rPr>
              <a:t>1</a:t>
            </a:r>
            <a:r>
              <a:rPr sz="1200" b="0" i="0">
                <a:solidFill>
                  <a:srgbClr val="E6EDF3"/>
                </a:solidFill>
                <a:latin typeface="Courier New"/>
              </a:rPr>
              <a:t>)</a:t>
            </a:r>
            <a:r>
              <a:rPr sz="1200" b="0" i="0">
                <a:solidFill>
                  <a:srgbClr val="E6EDF3"/>
                </a:solidFill>
                <a:latin typeface="Courier New"/>
              </a:rPr>
              <a:t>)</a:t>
            </a:r>
          </a:p>
        </p:txBody>
      </p:sp>
      <p:sp>
        <p:nvSpPr>
          <p:cNvPr id="7" name="explanation"/>
          <p:cNvSpPr txBox="1"/>
          <p:nvPr/>
        </p:nvSpPr>
        <p:spPr>
          <a:xfrm>
            <a:off x="5084064" y="2008632"/>
            <a:ext cx="3694176" cy="723328"/>
          </a:xfrm>
          <a:prstGeom prst="rect">
            <a:avLst/>
          </a:prstGeom>
          <a:noFill/>
        </p:spPr>
        <p:txBody>
          <a:bodyPr wrap="square" lIns="128016" rIns="128016" tIns="18288" bIns="18288" anchor="ctr">
            <a:spAutoFit/>
          </a:bodyPr>
          <a:lstStyle/>
          <a:p>
            <a:r>
              <a:rPr sz="1250" b="0" i="0">
                <a:solidFill>
                  <a:srgbClr val="1F2933"/>
                </a:solidFill>
                <a:latin typeface="Calibri"/>
              </a:rPr>
              <a:t>The call with 0 does not stop the program. It hands back the message, and the next call still runs.</a:t>
            </a:r>
          </a:p>
        </p:txBody>
      </p:sp>
      <p:sp>
        <p:nvSpPr>
          <p:cNvPr id="8" name="result label"/>
          <p:cNvSpPr txBox="1"/>
          <p:nvPr/>
        </p:nvSpPr>
        <p:spPr>
          <a:xfrm>
            <a:off x="365760" y="2805112"/>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3079432"/>
          <a:ext cx="5720484" cy="1371600"/>
        </p:xfrm>
        <a:graphic>
          <a:graphicData uri="http://schemas.openxmlformats.org/drawingml/2006/table">
            <a:tbl>
              <a:tblPr firstRow="0" bandRow="0"/>
              <a:tblGrid>
                <a:gridCol w="1107190"/>
                <a:gridCol w="3137040"/>
                <a:gridCol w="1476254"/>
              </a:tblGrid>
              <a:tr h="274320">
                <a:tc>
                  <a:txBody>
                    <a:bodyPr wrap="square"/>
                    <a:lstStyle/>
                    <a:p>
                      <a:r>
                        <a:rPr sz="1050" b="1" i="0">
                          <a:solidFill>
                            <a:srgbClr val="FFFFFF"/>
                          </a:solidFill>
                          <a:latin typeface="Calibri"/>
                        </a:rPr>
                        <a:t>Call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Result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Which block ran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1050" b="0" i="0">
                          <a:solidFill>
                            <a:srgbClr val="1F2933"/>
                          </a:solidFill>
                          <a:latin typeface="Courier New"/>
                        </a:rPr>
                        <a:t>spam(2)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21.0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2F855A"/>
                          </a:solidFill>
                          <a:latin typeface="Courier New"/>
                        </a:rPr>
                        <a:t>try finished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1050" b="0" i="0">
                          <a:solidFill>
                            <a:srgbClr val="1F2933"/>
                          </a:solidFill>
                          <a:latin typeface="Courier New"/>
                        </a:rPr>
                        <a:t>spam(12)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3.5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2F855A"/>
                          </a:solidFill>
                          <a:latin typeface="Courier New"/>
                        </a:rPr>
                        <a:t>try finished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4320">
                <a:tc>
                  <a:txBody>
                    <a:bodyPr wrap="square"/>
                    <a:lstStyle/>
                    <a:p>
                      <a:r>
                        <a:rPr sz="1050" b="0" i="0">
                          <a:solidFill>
                            <a:srgbClr val="1F2933"/>
                          </a:solidFill>
                          <a:latin typeface="Courier New"/>
                        </a:rPr>
                        <a:t>spam(0)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'error: cannot divide by zero'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B83A1B"/>
                          </a:solidFill>
                          <a:latin typeface="Courier New"/>
                        </a:rPr>
                        <a:t>except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1050" b="0" i="0">
                          <a:solidFill>
                            <a:srgbClr val="1F2933"/>
                          </a:solidFill>
                          <a:latin typeface="Courier New"/>
                        </a:rPr>
                        <a:t>spam(1)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42.0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2F855A"/>
                          </a:solidFill>
                          <a:latin typeface="Courier New"/>
                        </a:rPr>
                        <a:t>try finished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graphicFrame>
        <p:nvGraphicFramePr>
          <p:cNvPr id="10" name="chart"/>
          <p:cNvGraphicFramePr>
            <a:graphicFrameLocks noGrp="1"/>
          </p:cNvGraphicFramePr>
          <p:nvPr/>
        </p:nvGraphicFramePr>
        <p:xfrm>
          <a:off x="6338620" y="3079432"/>
          <a:ext cx="2439619" cy="1371600"/>
        </p:xfrm>
        <a:graphic>
          <a:graphicData uri="http://schemas.openxmlformats.org/drawingml/2006/chart">
            <c:chart xmlns:c="http://schemas.openxmlformats.org/drawingml/2006/chart" r:id="rId3"/>
          </a:graphicData>
        </a:graphic>
      </p:graphicFrame>
      <p:sp>
        <p:nvSpPr>
          <p:cNvPr id="11"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try the risky code; except says what to do.</a:t>
            </a:r>
          </a:p>
        </p:txBody>
      </p:sp>
      <p:sp>
        <p:nvSpPr>
          <p:cNvPr id="13"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31 / 46</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Where the try goes (1): inside the loop</a:t>
            </a:r>
          </a:p>
        </p:txBody>
      </p:sp>
      <p:sp>
        <p:nvSpPr>
          <p:cNvPr id="4" name="code"/>
          <p:cNvSpPr/>
          <p:nvPr/>
        </p:nvSpPr>
        <p:spPr>
          <a:xfrm>
            <a:off x="365760" y="841248"/>
            <a:ext cx="5056631" cy="7233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C9A0FF"/>
                </a:solidFill>
                <a:latin typeface="Courier New"/>
              </a:rPr>
              <a:t>def</a:t>
            </a:r>
            <a:r>
              <a:rPr sz="1400" b="0" i="0">
                <a:solidFill>
                  <a:srgbClr val="E6EDF3"/>
                </a:solidFill>
                <a:latin typeface="Courier New"/>
              </a:rPr>
              <a:t> </a:t>
            </a:r>
            <a:r>
              <a:rPr sz="1400" b="0" i="0">
                <a:solidFill>
                  <a:srgbClr val="E6EDF3"/>
                </a:solidFill>
                <a:latin typeface="Courier New"/>
              </a:rPr>
              <a:t>spam</a:t>
            </a:r>
            <a:r>
              <a:rPr sz="1400" b="0" i="0">
                <a:solidFill>
                  <a:srgbClr val="E6EDF3"/>
                </a:solidFill>
                <a:latin typeface="Courier New"/>
              </a:rPr>
              <a:t>(</a:t>
            </a:r>
            <a:r>
              <a:rPr sz="1400" b="0" i="0">
                <a:solidFill>
                  <a:srgbClr val="E6EDF3"/>
                </a:solidFill>
                <a:latin typeface="Courier New"/>
              </a:rPr>
              <a:t>n</a:t>
            </a:r>
            <a:r>
              <a:rPr sz="1400" b="0" i="0">
                <a:solidFill>
                  <a:srgbClr val="E6EDF3"/>
                </a:solidFill>
                <a:latin typeface="Courier New"/>
              </a:rPr>
              <a:t>)</a:t>
            </a:r>
            <a:r>
              <a:rPr sz="1400" b="0" i="0">
                <a:solidFill>
                  <a:srgbClr val="E6EDF3"/>
                </a:solidFill>
                <a:latin typeface="Courier New"/>
              </a:rPr>
              <a:t>:</a:t>
            </a:r>
          </a:p>
          <a:p>
            <a:pPr algn="l"/>
            <a:r>
              <a:rPr sz="1400" b="0" i="0">
                <a:solidFill>
                  <a:srgbClr val="8FA3B8"/>
                </a:solidFill>
                <a:latin typeface="Courier New"/>
              </a:rPr>
              <a:t>&gt;&gt;&gt; </a:t>
            </a:r>
            <a:r>
              <a:rPr sz="1400" b="0" i="0">
                <a:solidFill>
                  <a:srgbClr val="E6EDF3"/>
                </a:solidFill>
                <a:latin typeface="Courier New"/>
              </a:rPr>
              <a:t>    </a:t>
            </a:r>
            <a:r>
              <a:rPr sz="1400" b="0" i="0">
                <a:solidFill>
                  <a:srgbClr val="C9A0FF"/>
                </a:solidFill>
                <a:latin typeface="Courier New"/>
              </a:rPr>
              <a:t>return</a:t>
            </a:r>
            <a:r>
              <a:rPr sz="1400" b="0" i="0">
                <a:solidFill>
                  <a:srgbClr val="E6EDF3"/>
                </a:solidFill>
                <a:latin typeface="Courier New"/>
              </a:rPr>
              <a:t> </a:t>
            </a:r>
            <a:r>
              <a:rPr sz="1400" b="0" i="0">
                <a:solidFill>
                  <a:srgbClr val="7CC4FF"/>
                </a:solidFill>
                <a:latin typeface="Courier New"/>
              </a:rPr>
              <a:t>42</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n</a:t>
            </a:r>
          </a:p>
        </p:txBody>
      </p:sp>
      <p:sp>
        <p:nvSpPr>
          <p:cNvPr id="5" name="explanation"/>
          <p:cNvSpPr txBox="1"/>
          <p:nvPr/>
        </p:nvSpPr>
        <p:spPr>
          <a:xfrm>
            <a:off x="5404104" y="841248"/>
            <a:ext cx="3374136" cy="723328"/>
          </a:xfrm>
          <a:prstGeom prst="rect">
            <a:avLst/>
          </a:prstGeom>
          <a:noFill/>
        </p:spPr>
        <p:txBody>
          <a:bodyPr wrap="square" lIns="128016" rIns="128016" tIns="18288" bIns="18288" anchor="ctr">
            <a:spAutoFit/>
          </a:bodyPr>
          <a:lstStyle/>
          <a:p>
            <a:r>
              <a:rPr sz="1250" b="0" i="0">
                <a:solidFill>
                  <a:srgbClr val="1F2933"/>
                </a:solidFill>
                <a:latin typeface="Calibri"/>
              </a:rPr>
              <a:t>This function has no try of its own, so an error inside it travels up to the caller.</a:t>
            </a:r>
          </a:p>
        </p:txBody>
      </p:sp>
      <p:sp>
        <p:nvSpPr>
          <p:cNvPr id="6" name="code"/>
          <p:cNvSpPr/>
          <p:nvPr/>
        </p:nvSpPr>
        <p:spPr>
          <a:xfrm>
            <a:off x="365760" y="1619440"/>
            <a:ext cx="5056631" cy="1267459"/>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C9A0FF"/>
                </a:solidFill>
                <a:latin typeface="Courier New"/>
              </a:rPr>
              <a:t>for</a:t>
            </a:r>
            <a:r>
              <a:rPr sz="1400" b="0" i="0">
                <a:solidFill>
                  <a:srgbClr val="E6EDF3"/>
                </a:solidFill>
                <a:latin typeface="Courier New"/>
              </a:rPr>
              <a:t> </a:t>
            </a:r>
            <a:r>
              <a:rPr sz="1400" b="0" i="0">
                <a:solidFill>
                  <a:srgbClr val="E6EDF3"/>
                </a:solidFill>
                <a:latin typeface="Courier New"/>
              </a:rPr>
              <a:t>n</a:t>
            </a:r>
            <a:r>
              <a:rPr sz="1400" b="0" i="0">
                <a:solidFill>
                  <a:srgbClr val="E6EDF3"/>
                </a:solidFill>
                <a:latin typeface="Courier New"/>
              </a:rPr>
              <a:t> </a:t>
            </a:r>
            <a:r>
              <a:rPr sz="1400" b="0" i="0">
                <a:solidFill>
                  <a:srgbClr val="C9A0FF"/>
                </a:solidFill>
                <a:latin typeface="Courier New"/>
              </a:rPr>
              <a:t>in</a:t>
            </a:r>
            <a:r>
              <a:rPr sz="1400" b="0" i="0">
                <a:solidFill>
                  <a:srgbClr val="E6EDF3"/>
                </a:solidFill>
                <a:latin typeface="Courier New"/>
              </a:rPr>
              <a:t> </a:t>
            </a:r>
            <a:r>
              <a:rPr sz="1400" b="0" i="0">
                <a:solidFill>
                  <a:srgbClr val="E6EDF3"/>
                </a:solidFill>
                <a:latin typeface="Courier New"/>
              </a:rPr>
              <a:t>(</a:t>
            </a:r>
            <a:r>
              <a:rPr sz="1400" b="0" i="0">
                <a:solidFill>
                  <a:srgbClr val="7CC4FF"/>
                </a:solidFill>
                <a:latin typeface="Courier New"/>
              </a:rPr>
              <a:t>2</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0</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1</a:t>
            </a:r>
            <a:r>
              <a:rPr sz="1400" b="0" i="0">
                <a:solidFill>
                  <a:srgbClr val="E6EDF3"/>
                </a:solidFill>
                <a:latin typeface="Courier New"/>
              </a:rPr>
              <a:t>)</a:t>
            </a:r>
            <a:r>
              <a:rPr sz="1400" b="0" i="0">
                <a:solidFill>
                  <a:srgbClr val="E6EDF3"/>
                </a:solidFill>
                <a:latin typeface="Courier New"/>
              </a:rPr>
              <a:t>:</a:t>
            </a:r>
          </a:p>
          <a:p>
            <a:pPr algn="l"/>
            <a:r>
              <a:rPr sz="1400" b="0" i="0">
                <a:solidFill>
                  <a:srgbClr val="8FA3B8"/>
                </a:solidFill>
                <a:latin typeface="Courier New"/>
              </a:rPr>
              <a:t>&gt;&gt;&gt; </a:t>
            </a:r>
            <a:r>
              <a:rPr sz="1400" b="0" i="0">
                <a:solidFill>
                  <a:srgbClr val="E6EDF3"/>
                </a:solidFill>
                <a:latin typeface="Courier New"/>
              </a:rPr>
              <a:t>    </a:t>
            </a:r>
            <a:r>
              <a:rPr sz="1400" b="0" i="0">
                <a:solidFill>
                  <a:srgbClr val="C9A0FF"/>
                </a:solidFill>
                <a:latin typeface="Courier New"/>
              </a:rPr>
              <a:t>try</a:t>
            </a:r>
            <a:r>
              <a:rPr sz="1400" b="0" i="0">
                <a:solidFill>
                  <a:srgbClr val="E6EDF3"/>
                </a:solidFill>
                <a:latin typeface="Courier New"/>
              </a:rPr>
              <a:t>:</a:t>
            </a:r>
          </a:p>
          <a:p>
            <a:pPr algn="l"/>
            <a:r>
              <a:rPr sz="1400" b="0" i="0">
                <a:solidFill>
                  <a:srgbClr val="8FA3B8"/>
                </a:solidFill>
                <a:latin typeface="Courier New"/>
              </a:rPr>
              <a:t>&gt;&gt;&gt; </a:t>
            </a:r>
            <a:r>
              <a:rPr sz="1400" b="0" i="0">
                <a:solidFill>
                  <a:srgbClr val="E6EDF3"/>
                </a:solidFill>
                <a:latin typeface="Courier New"/>
              </a:rPr>
              <a: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spam</a:t>
            </a:r>
            <a:r>
              <a:rPr sz="1400" b="0" i="0">
                <a:solidFill>
                  <a:srgbClr val="E6EDF3"/>
                </a:solidFill>
                <a:latin typeface="Courier New"/>
              </a:rPr>
              <a:t>(</a:t>
            </a:r>
            <a:r>
              <a:rPr sz="1400" b="0" i="0">
                <a:solidFill>
                  <a:srgbClr val="E6EDF3"/>
                </a:solidFill>
                <a:latin typeface="Courier New"/>
              </a:rPr>
              <a:t>n</a:t>
            </a:r>
            <a:r>
              <a:rPr sz="1400" b="0" i="0">
                <a:solidFill>
                  <a:srgbClr val="E6EDF3"/>
                </a:solidFill>
                <a:latin typeface="Courier New"/>
              </a:rPr>
              <a:t>)</a:t>
            </a:r>
            <a:r>
              <a:rPr sz="1400" b="0" i="0">
                <a:solidFill>
                  <a:srgbClr val="E6EDF3"/>
                </a:solidFill>
                <a:latin typeface="Courier New"/>
              </a:rPr>
              <a:t>)</a:t>
            </a:r>
          </a:p>
          <a:p>
            <a:pPr algn="l"/>
            <a:r>
              <a:rPr sz="1400" b="0" i="0">
                <a:solidFill>
                  <a:srgbClr val="8FA3B8"/>
                </a:solidFill>
                <a:latin typeface="Courier New"/>
              </a:rPr>
              <a:t>&gt;&gt;&gt; </a:t>
            </a:r>
            <a:r>
              <a:rPr sz="1400" b="0" i="0">
                <a:solidFill>
                  <a:srgbClr val="E6EDF3"/>
                </a:solidFill>
                <a:latin typeface="Courier New"/>
              </a:rPr>
              <a:t>    </a:t>
            </a:r>
            <a:r>
              <a:rPr sz="1400" b="0" i="0">
                <a:solidFill>
                  <a:srgbClr val="C9A0FF"/>
                </a:solidFill>
                <a:latin typeface="Courier New"/>
              </a:rPr>
              <a:t>except</a:t>
            </a:r>
            <a:r>
              <a:rPr sz="1400" b="0" i="0">
                <a:solidFill>
                  <a:srgbClr val="E6EDF3"/>
                </a:solidFill>
                <a:latin typeface="Courier New"/>
              </a:rPr>
              <a:t> </a:t>
            </a:r>
            <a:r>
              <a:rPr sz="1400" b="0" i="0">
                <a:solidFill>
                  <a:srgbClr val="E6EDF3"/>
                </a:solidFill>
                <a:latin typeface="Courier New"/>
              </a:rPr>
              <a:t>ZeroDivisionError</a:t>
            </a:r>
            <a:r>
              <a:rPr sz="1400" b="0" i="0">
                <a:solidFill>
                  <a:srgbClr val="E6EDF3"/>
                </a:solidFill>
                <a:latin typeface="Courier New"/>
              </a:rPr>
              <a:t>:</a:t>
            </a:r>
          </a:p>
          <a:p>
            <a:pPr algn="l"/>
            <a:r>
              <a:rPr sz="1400" b="0" i="0">
                <a:solidFill>
                  <a:srgbClr val="8FA3B8"/>
                </a:solidFill>
                <a:latin typeface="Courier New"/>
              </a:rPr>
              <a:t>&gt;&gt;&gt; </a:t>
            </a:r>
            <a:r>
              <a:rPr sz="1400" b="0" i="0">
                <a:solidFill>
                  <a:srgbClr val="E6EDF3"/>
                </a:solidFill>
                <a:latin typeface="Courier New"/>
              </a:rPr>
              <a:t>        </a:t>
            </a:r>
            <a:r>
              <a:rPr sz="1400" b="0" i="0">
                <a:solidFill>
                  <a:srgbClr val="C9A0FF"/>
                </a:solidFill>
                <a:latin typeface="Courier New"/>
              </a:rPr>
              <a:t>print</a:t>
            </a:r>
            <a:r>
              <a:rPr sz="1400" b="0" i="0">
                <a:solidFill>
                  <a:srgbClr val="E6EDF3"/>
                </a:solidFill>
                <a:latin typeface="Courier New"/>
              </a:rPr>
              <a:t>(</a:t>
            </a:r>
            <a:r>
              <a:rPr sz="1400" b="0" i="0">
                <a:solidFill>
                  <a:srgbClr val="9BE3A8"/>
                </a:solidFill>
                <a:latin typeface="Courier New"/>
              </a:rPr>
              <a:t>'Error: invalid argument.'</a:t>
            </a:r>
            <a:r>
              <a:rPr sz="1400" b="0" i="0">
                <a:solidFill>
                  <a:srgbClr val="E6EDF3"/>
                </a:solidFill>
                <a:latin typeface="Courier New"/>
              </a:rPr>
              <a:t>)</a:t>
            </a:r>
          </a:p>
        </p:txBody>
      </p:sp>
      <p:sp>
        <p:nvSpPr>
          <p:cNvPr id="7" name="explanation"/>
          <p:cNvSpPr txBox="1"/>
          <p:nvPr/>
        </p:nvSpPr>
        <p:spPr>
          <a:xfrm>
            <a:off x="5404104" y="1619440"/>
            <a:ext cx="3374136" cy="1267459"/>
          </a:xfrm>
          <a:prstGeom prst="rect">
            <a:avLst/>
          </a:prstGeom>
          <a:noFill/>
        </p:spPr>
        <p:txBody>
          <a:bodyPr wrap="square" lIns="128016" rIns="128016" tIns="18288" bIns="18288" anchor="ctr">
            <a:spAutoFit/>
          </a:bodyPr>
          <a:lstStyle/>
          <a:p>
            <a:r>
              <a:rPr sz="1250" b="0" i="0">
                <a:solidFill>
                  <a:srgbClr val="1F2933"/>
                </a:solidFill>
                <a:latin typeface="Calibri"/>
              </a:rPr>
              <a:t>try is inside the loop: n = 0 fails and is handled, and n = 1 still runs afterwards.</a:t>
            </a:r>
          </a:p>
        </p:txBody>
      </p:sp>
      <p:sp>
        <p:nvSpPr>
          <p:cNvPr id="8" name="result label"/>
          <p:cNvSpPr txBox="1"/>
          <p:nvPr/>
        </p:nvSpPr>
        <p:spPr>
          <a:xfrm>
            <a:off x="365760" y="2960052"/>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3234372"/>
          <a:ext cx="6056984" cy="1170432"/>
        </p:xfrm>
        <a:graphic>
          <a:graphicData uri="http://schemas.openxmlformats.org/drawingml/2006/table">
            <a:tbl>
              <a:tblPr firstRow="0" bandRow="0"/>
              <a:tblGrid>
                <a:gridCol w="458862"/>
                <a:gridCol w="2753175"/>
                <a:gridCol w="2844947"/>
              </a:tblGrid>
              <a:tr h="292608">
                <a:tc>
                  <a:txBody>
                    <a:bodyPr wrap="square"/>
                    <a:lstStyle/>
                    <a:p>
                      <a:pPr algn="ctr"/>
                      <a:r>
                        <a:rPr sz="1050" b="1" i="0">
                          <a:solidFill>
                            <a:srgbClr val="FFFFFF"/>
                          </a:solidFill>
                          <a:latin typeface="Calibri"/>
                        </a:rPr>
                        <a:t>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What happened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Printed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92608">
                <a:tc>
                  <a:txBody>
                    <a:bodyPr wrap="square"/>
                    <a:lstStyle/>
                    <a:p>
                      <a:pPr algn="ctr"/>
                      <a:r>
                        <a:rPr sz="1050" b="0" i="0">
                          <a:solidFill>
                            <a:srgbClr val="1F2933"/>
                          </a:solidFill>
                          <a:latin typeface="Courier New"/>
                        </a:rPr>
                        <a:t>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2F855A"/>
                          </a:solidFill>
                          <a:latin typeface="Calibri"/>
                        </a:rPr>
                        <a:t>try finished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21.0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92608">
                <a:tc>
                  <a:txBody>
                    <a:bodyPr wrap="square"/>
                    <a:lstStyle/>
                    <a:p>
                      <a:pPr algn="ctr"/>
                      <a:r>
                        <a:rPr sz="1050" b="0" i="0">
                          <a:solidFill>
                            <a:srgbClr val="1F2933"/>
                          </a:solidFill>
                          <a:latin typeface="Courier New"/>
                        </a:rPr>
                        <a:t>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B83A1B"/>
                          </a:solidFill>
                          <a:latin typeface="Calibri"/>
                        </a:rPr>
                        <a:t>except ran, the loop goes 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Error: invalid argument.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92608">
                <a:tc>
                  <a:txBody>
                    <a:bodyPr wrap="square"/>
                    <a:lstStyle/>
                    <a:p>
                      <a:pPr algn="ctr"/>
                      <a:r>
                        <a:rPr sz="1050" b="0" i="0">
                          <a:solidFill>
                            <a:srgbClr val="1F2933"/>
                          </a:solidFill>
                          <a:latin typeface="Courier New"/>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2F855A"/>
                          </a:solidFill>
                          <a:latin typeface="Calibri"/>
                        </a:rPr>
                        <a:t>try finished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42.0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graphicFrame>
        <p:nvGraphicFramePr>
          <p:cNvPr id="10" name="chart"/>
          <p:cNvGraphicFramePr>
            <a:graphicFrameLocks noGrp="1"/>
          </p:cNvGraphicFramePr>
          <p:nvPr/>
        </p:nvGraphicFramePr>
        <p:xfrm>
          <a:off x="6675120" y="3234372"/>
          <a:ext cx="2103120" cy="1280160"/>
        </p:xfrm>
        <a:graphic>
          <a:graphicData uri="http://schemas.openxmlformats.org/drawingml/2006/chart">
            <c:chart xmlns:c="http://schemas.openxmlformats.org/drawingml/2006/chart" r:id="rId3"/>
          </a:graphicData>
        </a:graphic>
      </p:graphicFrame>
      <p:sp>
        <p:nvSpPr>
          <p:cNvPr id="11"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try in the loop: each call is handled on its own.</a:t>
            </a:r>
          </a:p>
        </p:txBody>
      </p:sp>
      <p:sp>
        <p:nvSpPr>
          <p:cNvPr id="13"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32 / 46</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Where the try goes (2): around all the calls</a:t>
            </a:r>
          </a:p>
        </p:txBody>
      </p:sp>
      <p:sp>
        <p:nvSpPr>
          <p:cNvPr id="4" name="code"/>
          <p:cNvSpPr/>
          <p:nvPr/>
        </p:nvSpPr>
        <p:spPr>
          <a:xfrm>
            <a:off x="365760" y="841248"/>
            <a:ext cx="4317491" cy="585724"/>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300" b="0" i="0">
                <a:solidFill>
                  <a:srgbClr val="8FA3B8"/>
                </a:solidFill>
                <a:latin typeface="Courier New"/>
              </a:rPr>
              <a:t>&gt;&gt;&gt; </a:t>
            </a:r>
            <a:r>
              <a:rPr sz="1300" b="0" i="0">
                <a:solidFill>
                  <a:srgbClr val="C9A0FF"/>
                </a:solidFill>
                <a:latin typeface="Courier New"/>
              </a:rPr>
              <a:t>def</a:t>
            </a:r>
            <a:r>
              <a:rPr sz="1300" b="0" i="0">
                <a:solidFill>
                  <a:srgbClr val="E6EDF3"/>
                </a:solidFill>
                <a:latin typeface="Courier New"/>
              </a:rPr>
              <a:t> </a:t>
            </a:r>
            <a:r>
              <a:rPr sz="1300" b="0" i="0">
                <a:solidFill>
                  <a:srgbClr val="E6EDF3"/>
                </a:solidFill>
                <a:latin typeface="Courier New"/>
              </a:rPr>
              <a:t>spam</a:t>
            </a:r>
            <a:r>
              <a:rPr sz="1300" b="0" i="0">
                <a:solidFill>
                  <a:srgbClr val="E6EDF3"/>
                </a:solidFill>
                <a:latin typeface="Courier New"/>
              </a:rPr>
              <a:t>(</a:t>
            </a:r>
            <a:r>
              <a:rPr sz="1300" b="0" i="0">
                <a:solidFill>
                  <a:srgbClr val="E6EDF3"/>
                </a:solidFill>
                <a:latin typeface="Courier New"/>
              </a:rPr>
              <a:t>n</a:t>
            </a:r>
            <a:r>
              <a:rPr sz="1300" b="0" i="0">
                <a:solidFill>
                  <a:srgbClr val="E6EDF3"/>
                </a:solidFill>
                <a:latin typeface="Courier New"/>
              </a:rPr>
              <a:t>)</a:t>
            </a:r>
            <a:r>
              <a:rPr sz="1300" b="0" i="0">
                <a:solidFill>
                  <a:srgbClr val="E6EDF3"/>
                </a:solidFill>
                <a:latin typeface="Courier New"/>
              </a:rPr>
              <a:t>:</a:t>
            </a:r>
          </a:p>
          <a:p>
            <a:pPr algn="l"/>
            <a:r>
              <a:rPr sz="1300" b="0" i="0">
                <a:solidFill>
                  <a:srgbClr val="8FA3B8"/>
                </a:solidFill>
                <a:latin typeface="Courier New"/>
              </a:rPr>
              <a:t>&gt;&gt;&gt; </a:t>
            </a:r>
            <a:r>
              <a:rPr sz="1300" b="0" i="0">
                <a:solidFill>
                  <a:srgbClr val="E6EDF3"/>
                </a:solidFill>
                <a:latin typeface="Courier New"/>
              </a:rPr>
              <a:t>    </a:t>
            </a:r>
            <a:r>
              <a:rPr sz="1300" b="0" i="0">
                <a:solidFill>
                  <a:srgbClr val="C9A0FF"/>
                </a:solidFill>
                <a:latin typeface="Courier New"/>
              </a:rPr>
              <a:t>return</a:t>
            </a:r>
            <a:r>
              <a:rPr sz="1300" b="0" i="0">
                <a:solidFill>
                  <a:srgbClr val="E6EDF3"/>
                </a:solidFill>
                <a:latin typeface="Courier New"/>
              </a:rPr>
              <a:t> </a:t>
            </a:r>
            <a:r>
              <a:rPr sz="1300" b="0" i="0">
                <a:solidFill>
                  <a:srgbClr val="7CC4FF"/>
                </a:solidFill>
                <a:latin typeface="Courier New"/>
              </a:rPr>
              <a:t>42</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n</a:t>
            </a:r>
          </a:p>
        </p:txBody>
      </p:sp>
      <p:sp>
        <p:nvSpPr>
          <p:cNvPr id="5" name="explanation"/>
          <p:cNvSpPr txBox="1"/>
          <p:nvPr/>
        </p:nvSpPr>
        <p:spPr>
          <a:xfrm>
            <a:off x="4664964" y="841248"/>
            <a:ext cx="4113275" cy="585724"/>
          </a:xfrm>
          <a:prstGeom prst="rect">
            <a:avLst/>
          </a:prstGeom>
          <a:noFill/>
        </p:spPr>
        <p:txBody>
          <a:bodyPr wrap="square" lIns="128016" rIns="128016" tIns="18288" bIns="18288" anchor="ctr">
            <a:spAutoFit/>
          </a:bodyPr>
          <a:lstStyle/>
          <a:p>
            <a:r>
              <a:rPr sz="1250" b="0" i="0">
                <a:solidFill>
                  <a:srgbClr val="1F2933"/>
                </a:solidFill>
                <a:latin typeface="Calibri"/>
              </a:rPr>
              <a:t>The same function. This time the try sits outside, around three separate calls.</a:t>
            </a:r>
          </a:p>
        </p:txBody>
      </p:sp>
      <p:sp>
        <p:nvSpPr>
          <p:cNvPr id="6" name="code"/>
          <p:cNvSpPr/>
          <p:nvPr/>
        </p:nvSpPr>
        <p:spPr>
          <a:xfrm>
            <a:off x="365760" y="1481836"/>
            <a:ext cx="4317491" cy="139141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300" b="0" i="0">
                <a:solidFill>
                  <a:srgbClr val="8FA3B8"/>
                </a:solidFill>
                <a:latin typeface="Courier New"/>
              </a:rPr>
              <a:t>&gt;&gt;&gt; </a:t>
            </a:r>
            <a:r>
              <a:rPr sz="1300" b="0" i="0">
                <a:solidFill>
                  <a:srgbClr val="C9A0FF"/>
                </a:solidFill>
                <a:latin typeface="Courier New"/>
              </a:rPr>
              <a:t>try</a:t>
            </a:r>
            <a:r>
              <a:rPr sz="1300" b="0" i="0">
                <a:solidFill>
                  <a:srgbClr val="E6EDF3"/>
                </a:solidFill>
                <a:latin typeface="Courier New"/>
              </a:rPr>
              <a:t>:</a:t>
            </a:r>
          </a:p>
          <a:p>
            <a:pPr algn="l"/>
            <a:r>
              <a:rPr sz="1300" b="0" i="0">
                <a:solidFill>
                  <a:srgbClr val="8FA3B8"/>
                </a:solidFill>
                <a:latin typeface="Courier New"/>
              </a:rPr>
              <a:t>&gt;&gt;&gt; </a:t>
            </a:r>
            <a:r>
              <a:rPr sz="1300" b="0" i="0">
                <a:solidFill>
                  <a:srgbClr val="E6EDF3"/>
                </a:solidFill>
                <a:latin typeface="Courier New"/>
              </a:rPr>
              <a:t>    </a:t>
            </a:r>
            <a:r>
              <a:rPr sz="1300" b="0" i="0">
                <a:solidFill>
                  <a:srgbClr val="C9A0FF"/>
                </a:solidFill>
                <a:latin typeface="Courier New"/>
              </a:rPr>
              <a:t>print</a:t>
            </a:r>
            <a:r>
              <a:rPr sz="1300" b="0" i="0">
                <a:solidFill>
                  <a:srgbClr val="E6EDF3"/>
                </a:solidFill>
                <a:latin typeface="Courier New"/>
              </a:rPr>
              <a:t>(</a:t>
            </a:r>
            <a:r>
              <a:rPr sz="1300" b="0" i="0">
                <a:solidFill>
                  <a:srgbClr val="E6EDF3"/>
                </a:solidFill>
                <a:latin typeface="Courier New"/>
              </a:rPr>
              <a:t>spam</a:t>
            </a:r>
            <a:r>
              <a:rPr sz="1300" b="0" i="0">
                <a:solidFill>
                  <a:srgbClr val="E6EDF3"/>
                </a:solidFill>
                <a:latin typeface="Courier New"/>
              </a:rPr>
              <a:t>(</a:t>
            </a:r>
            <a:r>
              <a:rPr sz="1300" b="0" i="0">
                <a:solidFill>
                  <a:srgbClr val="7CC4FF"/>
                </a:solidFill>
                <a:latin typeface="Courier New"/>
              </a:rPr>
              <a:t>2</a:t>
            </a:r>
            <a:r>
              <a:rPr sz="1300" b="0" i="0">
                <a:solidFill>
                  <a:srgbClr val="E6EDF3"/>
                </a:solidFill>
                <a:latin typeface="Courier New"/>
              </a:rPr>
              <a:t>)</a:t>
            </a:r>
            <a:r>
              <a:rPr sz="1300" b="0" i="0">
                <a:solidFill>
                  <a:srgbClr val="E6EDF3"/>
                </a:solidFill>
                <a:latin typeface="Courier New"/>
              </a:rPr>
              <a:t>)</a:t>
            </a:r>
          </a:p>
          <a:p>
            <a:pPr algn="l"/>
            <a:r>
              <a:rPr sz="1300" b="0" i="0">
                <a:solidFill>
                  <a:srgbClr val="8FA3B8"/>
                </a:solidFill>
                <a:latin typeface="Courier New"/>
              </a:rPr>
              <a:t>&gt;&gt;&gt; </a:t>
            </a:r>
            <a:r>
              <a:rPr sz="1300" b="0" i="0">
                <a:solidFill>
                  <a:srgbClr val="E6EDF3"/>
                </a:solidFill>
                <a:latin typeface="Courier New"/>
              </a:rPr>
              <a:t>    </a:t>
            </a:r>
            <a:r>
              <a:rPr sz="1300" b="0" i="0">
                <a:solidFill>
                  <a:srgbClr val="C9A0FF"/>
                </a:solidFill>
                <a:latin typeface="Courier New"/>
              </a:rPr>
              <a:t>print</a:t>
            </a:r>
            <a:r>
              <a:rPr sz="1300" b="0" i="0">
                <a:solidFill>
                  <a:srgbClr val="E6EDF3"/>
                </a:solidFill>
                <a:latin typeface="Courier New"/>
              </a:rPr>
              <a:t>(</a:t>
            </a:r>
            <a:r>
              <a:rPr sz="1300" b="0" i="0">
                <a:solidFill>
                  <a:srgbClr val="E6EDF3"/>
                </a:solidFill>
                <a:latin typeface="Courier New"/>
              </a:rPr>
              <a:t>spam</a:t>
            </a:r>
            <a:r>
              <a:rPr sz="1300" b="0" i="0">
                <a:solidFill>
                  <a:srgbClr val="E6EDF3"/>
                </a:solidFill>
                <a:latin typeface="Courier New"/>
              </a:rPr>
              <a:t>(</a:t>
            </a:r>
            <a:r>
              <a:rPr sz="1300" b="0" i="0">
                <a:solidFill>
                  <a:srgbClr val="7CC4FF"/>
                </a:solidFill>
                <a:latin typeface="Courier New"/>
              </a:rPr>
              <a:t>0</a:t>
            </a:r>
            <a:r>
              <a:rPr sz="1300" b="0" i="0">
                <a:solidFill>
                  <a:srgbClr val="E6EDF3"/>
                </a:solidFill>
                <a:latin typeface="Courier New"/>
              </a:rPr>
              <a:t>)</a:t>
            </a:r>
            <a:r>
              <a:rPr sz="1300" b="0" i="0">
                <a:solidFill>
                  <a:srgbClr val="E6EDF3"/>
                </a:solidFill>
                <a:latin typeface="Courier New"/>
              </a:rPr>
              <a:t>)</a:t>
            </a:r>
          </a:p>
          <a:p>
            <a:pPr algn="l"/>
            <a:r>
              <a:rPr sz="1300" b="0" i="0">
                <a:solidFill>
                  <a:srgbClr val="8FA3B8"/>
                </a:solidFill>
                <a:latin typeface="Courier New"/>
              </a:rPr>
              <a:t>&gt;&gt;&gt; </a:t>
            </a:r>
            <a:r>
              <a:rPr sz="1300" b="0" i="0">
                <a:solidFill>
                  <a:srgbClr val="E6EDF3"/>
                </a:solidFill>
                <a:latin typeface="Courier New"/>
              </a:rPr>
              <a:t>    </a:t>
            </a:r>
            <a:r>
              <a:rPr sz="1300" b="0" i="0">
                <a:solidFill>
                  <a:srgbClr val="C9A0FF"/>
                </a:solidFill>
                <a:latin typeface="Courier New"/>
              </a:rPr>
              <a:t>print</a:t>
            </a:r>
            <a:r>
              <a:rPr sz="1300" b="0" i="0">
                <a:solidFill>
                  <a:srgbClr val="E6EDF3"/>
                </a:solidFill>
                <a:latin typeface="Courier New"/>
              </a:rPr>
              <a:t>(</a:t>
            </a:r>
            <a:r>
              <a:rPr sz="1300" b="0" i="0">
                <a:solidFill>
                  <a:srgbClr val="E6EDF3"/>
                </a:solidFill>
                <a:latin typeface="Courier New"/>
              </a:rPr>
              <a:t>spam</a:t>
            </a:r>
            <a:r>
              <a:rPr sz="1300" b="0" i="0">
                <a:solidFill>
                  <a:srgbClr val="E6EDF3"/>
                </a:solidFill>
                <a:latin typeface="Courier New"/>
              </a:rPr>
              <a:t>(</a:t>
            </a:r>
            <a:r>
              <a:rPr sz="1300" b="0" i="0">
                <a:solidFill>
                  <a:srgbClr val="7CC4FF"/>
                </a:solidFill>
                <a:latin typeface="Courier New"/>
              </a:rPr>
              <a:t>1</a:t>
            </a:r>
            <a:r>
              <a:rPr sz="1300" b="0" i="0">
                <a:solidFill>
                  <a:srgbClr val="E6EDF3"/>
                </a:solidFill>
                <a:latin typeface="Courier New"/>
              </a:rPr>
              <a:t>)</a:t>
            </a:r>
            <a:r>
              <a:rPr sz="1300" b="0" i="0">
                <a:solidFill>
                  <a:srgbClr val="E6EDF3"/>
                </a:solidFill>
                <a:latin typeface="Courier New"/>
              </a:rPr>
              <a:t>)</a:t>
            </a:r>
          </a:p>
          <a:p>
            <a:pPr algn="l"/>
            <a:r>
              <a:rPr sz="1300" b="0" i="0">
                <a:solidFill>
                  <a:srgbClr val="8FA3B8"/>
                </a:solidFill>
                <a:latin typeface="Courier New"/>
              </a:rPr>
              <a:t>&gt;&gt;&gt; </a:t>
            </a:r>
            <a:r>
              <a:rPr sz="1300" b="0" i="0">
                <a:solidFill>
                  <a:srgbClr val="C9A0FF"/>
                </a:solidFill>
                <a:latin typeface="Courier New"/>
              </a:rPr>
              <a:t>except</a:t>
            </a:r>
            <a:r>
              <a:rPr sz="1300" b="0" i="0">
                <a:solidFill>
                  <a:srgbClr val="E6EDF3"/>
                </a:solidFill>
                <a:latin typeface="Courier New"/>
              </a:rPr>
              <a:t> </a:t>
            </a:r>
            <a:r>
              <a:rPr sz="1300" b="0" i="0">
                <a:solidFill>
                  <a:srgbClr val="E6EDF3"/>
                </a:solidFill>
                <a:latin typeface="Courier New"/>
              </a:rPr>
              <a:t>ZeroDivisionError</a:t>
            </a:r>
            <a:r>
              <a:rPr sz="1300" b="0" i="0">
                <a:solidFill>
                  <a:srgbClr val="E6EDF3"/>
                </a:solidFill>
                <a:latin typeface="Courier New"/>
              </a:rPr>
              <a:t>:</a:t>
            </a:r>
          </a:p>
          <a:p>
            <a:pPr algn="l"/>
            <a:r>
              <a:rPr sz="1300" b="0" i="0">
                <a:solidFill>
                  <a:srgbClr val="8FA3B8"/>
                </a:solidFill>
                <a:latin typeface="Courier New"/>
              </a:rPr>
              <a:t>&gt;&gt;&gt; </a:t>
            </a:r>
            <a:r>
              <a:rPr sz="1300" b="0" i="0">
                <a:solidFill>
                  <a:srgbClr val="E6EDF3"/>
                </a:solidFill>
                <a:latin typeface="Courier New"/>
              </a:rPr>
              <a:t>    </a:t>
            </a:r>
            <a:r>
              <a:rPr sz="1300" b="0" i="0">
                <a:solidFill>
                  <a:srgbClr val="C9A0FF"/>
                </a:solidFill>
                <a:latin typeface="Courier New"/>
              </a:rPr>
              <a:t>print</a:t>
            </a:r>
            <a:r>
              <a:rPr sz="1300" b="0" i="0">
                <a:solidFill>
                  <a:srgbClr val="E6EDF3"/>
                </a:solidFill>
                <a:latin typeface="Courier New"/>
              </a:rPr>
              <a:t>(</a:t>
            </a:r>
            <a:r>
              <a:rPr sz="1300" b="0" i="0">
                <a:solidFill>
                  <a:srgbClr val="9BE3A8"/>
                </a:solidFill>
                <a:latin typeface="Courier New"/>
              </a:rPr>
              <a:t>'Error: invalid argument.'</a:t>
            </a:r>
            <a:r>
              <a:rPr sz="1300" b="0" i="0">
                <a:solidFill>
                  <a:srgbClr val="E6EDF3"/>
                </a:solidFill>
                <a:latin typeface="Courier New"/>
              </a:rPr>
              <a:t>)</a:t>
            </a:r>
          </a:p>
        </p:txBody>
      </p:sp>
      <p:sp>
        <p:nvSpPr>
          <p:cNvPr id="7" name="explanation"/>
          <p:cNvSpPr txBox="1"/>
          <p:nvPr/>
        </p:nvSpPr>
        <p:spPr>
          <a:xfrm>
            <a:off x="4664964" y="1481836"/>
            <a:ext cx="4113275" cy="1391411"/>
          </a:xfrm>
          <a:prstGeom prst="rect">
            <a:avLst/>
          </a:prstGeom>
          <a:noFill/>
        </p:spPr>
        <p:txBody>
          <a:bodyPr wrap="square" lIns="128016" rIns="128016" tIns="18288" bIns="18288" anchor="ctr">
            <a:spAutoFit/>
          </a:bodyPr>
          <a:lstStyle/>
          <a:p>
            <a:r>
              <a:rPr sz="1250" b="0" i="0">
                <a:solidFill>
                  <a:srgbClr val="1F2933"/>
                </a:solidFill>
                <a:latin typeface="Calibri"/>
              </a:rPr>
              <a:t>The failure of the second call jumps straight to except. The third call is never started.</a:t>
            </a:r>
          </a:p>
        </p:txBody>
      </p:sp>
      <p:sp>
        <p:nvSpPr>
          <p:cNvPr id="8" name="result label"/>
          <p:cNvSpPr txBox="1"/>
          <p:nvPr/>
        </p:nvSpPr>
        <p:spPr>
          <a:xfrm>
            <a:off x="365760" y="2946399"/>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9" name="Rounded Rectangle 8"/>
          <p:cNvSpPr/>
          <p:nvPr/>
        </p:nvSpPr>
        <p:spPr>
          <a:xfrm>
            <a:off x="365760" y="3220719"/>
            <a:ext cx="2651760" cy="365760"/>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spam(2): ran and printed</a:t>
            </a:r>
          </a:p>
        </p:txBody>
      </p:sp>
      <p:sp>
        <p:nvSpPr>
          <p:cNvPr id="10" name="Rounded Rectangle 9"/>
          <p:cNvSpPr/>
          <p:nvPr/>
        </p:nvSpPr>
        <p:spPr>
          <a:xfrm>
            <a:off x="3200400" y="3220719"/>
            <a:ext cx="2651760" cy="365760"/>
          </a:xfrm>
          <a:prstGeom prst="roundRect">
            <a:avLst>
              <a:gd name="adj" fmla="val 15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spam(0): raised: except ran</a:t>
            </a:r>
          </a:p>
        </p:txBody>
      </p:sp>
      <p:cxnSp>
        <p:nvCxnSpPr>
          <p:cNvPr id="11" name="arrow"/>
          <p:cNvCxnSpPr/>
          <p:nvPr/>
        </p:nvCxnSpPr>
        <p:spPr>
          <a:xfrm>
            <a:off x="3017520" y="3403599"/>
            <a:ext cx="164592" cy="0"/>
          </a:xfrm>
          <a:prstGeom prst="line">
            <a:avLst/>
          </a:prstGeom>
          <a:ln w="1524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035040" y="3220719"/>
            <a:ext cx="2651760" cy="365760"/>
          </a:xfrm>
          <a:prstGeom prst="roundRect">
            <a:avLst>
              <a:gd name="adj" fmla="val 15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5B6773"/>
                </a:solidFill>
                <a:latin typeface="Courier New"/>
              </a:rPr>
              <a:t>spam(1): never started</a:t>
            </a:r>
          </a:p>
        </p:txBody>
      </p:sp>
      <p:cxnSp>
        <p:nvCxnSpPr>
          <p:cNvPr id="13" name="arrow"/>
          <p:cNvCxnSpPr/>
          <p:nvPr/>
        </p:nvCxnSpPr>
        <p:spPr>
          <a:xfrm>
            <a:off x="5852160" y="3403599"/>
            <a:ext cx="164592" cy="0"/>
          </a:xfrm>
          <a:prstGeom prst="line">
            <a:avLst/>
          </a:prstGeom>
          <a:ln w="1524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graphicFrame>
        <p:nvGraphicFramePr>
          <p:cNvPr id="14" name="chart"/>
          <p:cNvGraphicFramePr>
            <a:graphicFrameLocks noGrp="1"/>
          </p:cNvGraphicFramePr>
          <p:nvPr/>
        </p:nvGraphicFramePr>
        <p:xfrm>
          <a:off x="365760" y="3723639"/>
          <a:ext cx="4206240" cy="884936"/>
        </p:xfrm>
        <a:graphic>
          <a:graphicData uri="http://schemas.openxmlformats.org/drawingml/2006/chart">
            <c:chart xmlns:c="http://schemas.openxmlformats.org/drawingml/2006/chart" r:id="rId3"/>
          </a:graphicData>
        </a:graphic>
      </p:graphicFrame>
      <p:sp>
        <p:nvSpPr>
          <p:cNvPr id="15" name="TextBox 14"/>
          <p:cNvSpPr txBox="1"/>
          <p:nvPr/>
        </p:nvSpPr>
        <p:spPr>
          <a:xfrm>
            <a:off x="4992624" y="3860799"/>
            <a:ext cx="3785615" cy="731520"/>
          </a:xfrm>
          <a:prstGeom prst="rect">
            <a:avLst/>
          </a:prstGeom>
          <a:noFill/>
        </p:spPr>
        <p:txBody>
          <a:bodyPr wrap="square" lIns="45720" rIns="45720" tIns="27432" bIns="27432" anchor="t">
            <a:spAutoFit/>
          </a:bodyPr>
          <a:lstStyle/>
          <a:p>
            <a:r>
              <a:rPr sz="1000" b="0" i="1">
                <a:solidFill>
                  <a:srgbClr val="5B6773"/>
                </a:solidFill>
                <a:latin typeface="Courier New"/>
              </a:rPr>
              <a:t>printed: 21.0 | Error: invalid argument.</a:t>
            </a:r>
          </a:p>
        </p:txBody>
      </p:sp>
      <p:sp>
        <p:nvSpPr>
          <p:cNvPr id="16"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try around all: the first error skips the rest.</a:t>
            </a:r>
          </a:p>
        </p:txBody>
      </p:sp>
      <p:sp>
        <p:nvSpPr>
          <p:cNvPr id="18"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33 / 46</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One except for several kinds of error</a:t>
            </a:r>
          </a:p>
        </p:txBody>
      </p:sp>
      <p:sp>
        <p:nvSpPr>
          <p:cNvPr id="4" name="code"/>
          <p:cNvSpPr/>
          <p:nvPr/>
        </p:nvSpPr>
        <p:spPr>
          <a:xfrm>
            <a:off x="365760" y="841248"/>
            <a:ext cx="4911851" cy="1189989"/>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300" b="0" i="0">
                <a:solidFill>
                  <a:srgbClr val="8FA3B8"/>
                </a:solidFill>
                <a:latin typeface="Courier New"/>
              </a:rPr>
              <a:t>&gt;&gt;&gt; </a:t>
            </a:r>
            <a:r>
              <a:rPr sz="1300" b="0" i="0">
                <a:solidFill>
                  <a:srgbClr val="C9A0FF"/>
                </a:solidFill>
                <a:latin typeface="Courier New"/>
              </a:rPr>
              <a:t>def</a:t>
            </a:r>
            <a:r>
              <a:rPr sz="1300" b="0" i="0">
                <a:solidFill>
                  <a:srgbClr val="E6EDF3"/>
                </a:solidFill>
                <a:latin typeface="Courier New"/>
              </a:rPr>
              <a:t> </a:t>
            </a:r>
            <a:r>
              <a:rPr sz="1300" b="0" i="0">
                <a:solidFill>
                  <a:srgbClr val="E6EDF3"/>
                </a:solidFill>
                <a:latin typeface="Courier New"/>
              </a:rPr>
              <a:t>parse</a:t>
            </a:r>
            <a:r>
              <a:rPr sz="1300" b="0" i="0">
                <a:solidFill>
                  <a:srgbClr val="E6EDF3"/>
                </a:solidFill>
                <a:latin typeface="Courier New"/>
              </a:rPr>
              <a:t>(</a:t>
            </a:r>
            <a:r>
              <a:rPr sz="1300" b="0" i="0">
                <a:solidFill>
                  <a:srgbClr val="E6EDF3"/>
                </a:solidFill>
                <a:latin typeface="Courier New"/>
              </a:rPr>
              <a:t>text</a:t>
            </a:r>
            <a:r>
              <a:rPr sz="1300" b="0" i="0">
                <a:solidFill>
                  <a:srgbClr val="E6EDF3"/>
                </a:solidFill>
                <a:latin typeface="Courier New"/>
              </a:rPr>
              <a:t>)</a:t>
            </a:r>
            <a:r>
              <a:rPr sz="1300" b="0" i="0">
                <a:solidFill>
                  <a:srgbClr val="E6EDF3"/>
                </a:solidFill>
                <a:latin typeface="Courier New"/>
              </a:rPr>
              <a:t>:</a:t>
            </a:r>
          </a:p>
          <a:p>
            <a:pPr algn="l"/>
            <a:r>
              <a:rPr sz="1300" b="0" i="0">
                <a:solidFill>
                  <a:srgbClr val="8FA3B8"/>
                </a:solidFill>
                <a:latin typeface="Courier New"/>
              </a:rPr>
              <a:t>&gt;&gt;&gt; </a:t>
            </a:r>
            <a:r>
              <a:rPr sz="1300" b="0" i="0">
                <a:solidFill>
                  <a:srgbClr val="E6EDF3"/>
                </a:solidFill>
                <a:latin typeface="Courier New"/>
              </a:rPr>
              <a:t>    </a:t>
            </a:r>
            <a:r>
              <a:rPr sz="1300" b="0" i="0">
                <a:solidFill>
                  <a:srgbClr val="C9A0FF"/>
                </a:solidFill>
                <a:latin typeface="Courier New"/>
              </a:rPr>
              <a:t>try</a:t>
            </a:r>
            <a:r>
              <a:rPr sz="1300" b="0" i="0">
                <a:solidFill>
                  <a:srgbClr val="E6EDF3"/>
                </a:solidFill>
                <a:latin typeface="Courier New"/>
              </a:rPr>
              <a:t>:</a:t>
            </a:r>
          </a:p>
          <a:p>
            <a:pPr algn="l"/>
            <a:r>
              <a:rPr sz="1300" b="0" i="0">
                <a:solidFill>
                  <a:srgbClr val="8FA3B8"/>
                </a:solidFill>
                <a:latin typeface="Courier New"/>
              </a:rPr>
              <a:t>&gt;&gt;&gt; </a:t>
            </a:r>
            <a:r>
              <a:rPr sz="1300" b="0" i="0">
                <a:solidFill>
                  <a:srgbClr val="E6EDF3"/>
                </a:solidFill>
                <a:latin typeface="Courier New"/>
              </a:rPr>
              <a:t>        </a:t>
            </a:r>
            <a:r>
              <a:rPr sz="1300" b="0" i="0">
                <a:solidFill>
                  <a:srgbClr val="C9A0FF"/>
                </a:solidFill>
                <a:latin typeface="Courier New"/>
              </a:rPr>
              <a:t>return</a:t>
            </a:r>
            <a:r>
              <a:rPr sz="1300" b="0" i="0">
                <a:solidFill>
                  <a:srgbClr val="E6EDF3"/>
                </a:solidFill>
                <a:latin typeface="Courier New"/>
              </a:rPr>
              <a:t> </a:t>
            </a:r>
            <a:r>
              <a:rPr sz="1300" b="0" i="0">
                <a:solidFill>
                  <a:srgbClr val="E6EDF3"/>
                </a:solidFill>
                <a:latin typeface="Courier New"/>
              </a:rPr>
              <a:t>int</a:t>
            </a:r>
            <a:r>
              <a:rPr sz="1300" b="0" i="0">
                <a:solidFill>
                  <a:srgbClr val="E6EDF3"/>
                </a:solidFill>
                <a:latin typeface="Courier New"/>
              </a:rPr>
              <a:t>(</a:t>
            </a:r>
            <a:r>
              <a:rPr sz="1300" b="0" i="0">
                <a:solidFill>
                  <a:srgbClr val="E6EDF3"/>
                </a:solidFill>
                <a:latin typeface="Courier New"/>
              </a:rPr>
              <a:t>text</a:t>
            </a:r>
            <a:r>
              <a:rPr sz="1300" b="0" i="0">
                <a:solidFill>
                  <a:srgbClr val="E6EDF3"/>
                </a:solidFill>
                <a:latin typeface="Courier New"/>
              </a:rPr>
              <a:t>)</a:t>
            </a:r>
          </a:p>
          <a:p>
            <a:pPr algn="l"/>
            <a:r>
              <a:rPr sz="1300" b="0" i="0">
                <a:solidFill>
                  <a:srgbClr val="8FA3B8"/>
                </a:solidFill>
                <a:latin typeface="Courier New"/>
              </a:rPr>
              <a:t>&gt;&gt;&gt; </a:t>
            </a:r>
            <a:r>
              <a:rPr sz="1300" b="0" i="0">
                <a:solidFill>
                  <a:srgbClr val="E6EDF3"/>
                </a:solidFill>
                <a:latin typeface="Courier New"/>
              </a:rPr>
              <a:t>    </a:t>
            </a:r>
            <a:r>
              <a:rPr sz="1300" b="0" i="0">
                <a:solidFill>
                  <a:srgbClr val="C9A0FF"/>
                </a:solidFill>
                <a:latin typeface="Courier New"/>
              </a:rPr>
              <a:t>except</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ValueError</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TypeError</a:t>
            </a:r>
            <a:r>
              <a:rPr sz="1300" b="0" i="0">
                <a:solidFill>
                  <a:srgbClr val="E6EDF3"/>
                </a:solidFill>
                <a:latin typeface="Courier New"/>
              </a:rPr>
              <a:t>)</a:t>
            </a:r>
            <a:r>
              <a:rPr sz="1300" b="0" i="0">
                <a:solidFill>
                  <a:srgbClr val="E6EDF3"/>
                </a:solidFill>
                <a:latin typeface="Courier New"/>
              </a:rPr>
              <a:t> </a:t>
            </a:r>
            <a:r>
              <a:rPr sz="1300" b="0" i="0">
                <a:solidFill>
                  <a:srgbClr val="C9A0FF"/>
                </a:solidFill>
                <a:latin typeface="Courier New"/>
              </a:rPr>
              <a:t>as</a:t>
            </a:r>
            <a:r>
              <a:rPr sz="1300" b="0" i="0">
                <a:solidFill>
                  <a:srgbClr val="E6EDF3"/>
                </a:solidFill>
                <a:latin typeface="Courier New"/>
              </a:rPr>
              <a:t> </a:t>
            </a:r>
            <a:r>
              <a:rPr sz="1300" b="0" i="0">
                <a:solidFill>
                  <a:srgbClr val="E6EDF3"/>
                </a:solidFill>
                <a:latin typeface="Courier New"/>
              </a:rPr>
              <a:t>err</a:t>
            </a:r>
            <a:r>
              <a:rPr sz="1300" b="0" i="0">
                <a:solidFill>
                  <a:srgbClr val="E6EDF3"/>
                </a:solidFill>
                <a:latin typeface="Courier New"/>
              </a:rPr>
              <a:t>:</a:t>
            </a:r>
          </a:p>
          <a:p>
            <a:pPr algn="l"/>
            <a:r>
              <a:rPr sz="1300" b="0" i="0">
                <a:solidFill>
                  <a:srgbClr val="8FA3B8"/>
                </a:solidFill>
                <a:latin typeface="Courier New"/>
              </a:rPr>
              <a:t>&gt;&gt;&gt; </a:t>
            </a:r>
            <a:r>
              <a:rPr sz="1300" b="0" i="0">
                <a:solidFill>
                  <a:srgbClr val="E6EDF3"/>
                </a:solidFill>
                <a:latin typeface="Courier New"/>
              </a:rPr>
              <a:t>        </a:t>
            </a:r>
            <a:r>
              <a:rPr sz="1300" b="0" i="0">
                <a:solidFill>
                  <a:srgbClr val="C9A0FF"/>
                </a:solidFill>
                <a:latin typeface="Courier New"/>
              </a:rPr>
              <a:t>return</a:t>
            </a:r>
            <a:r>
              <a:rPr sz="1300" b="0" i="0">
                <a:solidFill>
                  <a:srgbClr val="E6EDF3"/>
                </a:solidFill>
                <a:latin typeface="Courier New"/>
              </a:rPr>
              <a:t> </a:t>
            </a:r>
            <a:r>
              <a:rPr sz="1300" b="0" i="0">
                <a:solidFill>
                  <a:srgbClr val="E6EDF3"/>
                </a:solidFill>
                <a:latin typeface="Courier New"/>
              </a:rPr>
              <a:t>type</a:t>
            </a:r>
            <a:r>
              <a:rPr sz="1300" b="0" i="0">
                <a:solidFill>
                  <a:srgbClr val="E6EDF3"/>
                </a:solidFill>
                <a:latin typeface="Courier New"/>
              </a:rPr>
              <a:t>(</a:t>
            </a:r>
            <a:r>
              <a:rPr sz="1300" b="0" i="0">
                <a:solidFill>
                  <a:srgbClr val="E6EDF3"/>
                </a:solidFill>
                <a:latin typeface="Courier New"/>
              </a:rPr>
              <a:t>err</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__name__</a:t>
            </a:r>
          </a:p>
        </p:txBody>
      </p:sp>
      <p:sp>
        <p:nvSpPr>
          <p:cNvPr id="5" name="explanation"/>
          <p:cNvSpPr txBox="1"/>
          <p:nvPr/>
        </p:nvSpPr>
        <p:spPr>
          <a:xfrm>
            <a:off x="5259324" y="841248"/>
            <a:ext cx="3518916" cy="1189989"/>
          </a:xfrm>
          <a:prstGeom prst="rect">
            <a:avLst/>
          </a:prstGeom>
          <a:noFill/>
        </p:spPr>
        <p:txBody>
          <a:bodyPr wrap="square" lIns="128016" rIns="128016" tIns="18288" bIns="18288" anchor="ctr">
            <a:spAutoFit/>
          </a:bodyPr>
          <a:lstStyle/>
          <a:p>
            <a:r>
              <a:rPr sz="1250" b="0" i="0">
                <a:solidFill>
                  <a:srgbClr val="1F2933"/>
                </a:solidFill>
                <a:latin typeface="Calibri"/>
              </a:rPr>
              <a:t>A tuple of types catches either one. as err names the exception object so the handler can look at it.</a:t>
            </a:r>
          </a:p>
        </p:txBody>
      </p:sp>
      <p:sp>
        <p:nvSpPr>
          <p:cNvPr id="6" name="code"/>
          <p:cNvSpPr/>
          <p:nvPr/>
        </p:nvSpPr>
        <p:spPr>
          <a:xfrm>
            <a:off x="365760" y="2086102"/>
            <a:ext cx="4911851" cy="7233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300" b="0" i="0">
                <a:solidFill>
                  <a:srgbClr val="8FA3B8"/>
                </a:solidFill>
                <a:latin typeface="Courier New"/>
              </a:rPr>
              <a:t>&gt;&gt;&gt; </a:t>
            </a:r>
            <a:r>
              <a:rPr sz="1300" b="0" i="0">
                <a:solidFill>
                  <a:srgbClr val="C9A0FF"/>
                </a:solidFill>
                <a:latin typeface="Courier New"/>
              </a:rPr>
              <a:t>print</a:t>
            </a:r>
            <a:r>
              <a:rPr sz="1300" b="0" i="0">
                <a:solidFill>
                  <a:srgbClr val="E6EDF3"/>
                </a:solidFill>
                <a:latin typeface="Courier New"/>
              </a:rPr>
              <a:t>(</a:t>
            </a:r>
            <a:r>
              <a:rPr sz="1300" b="0" i="0">
                <a:solidFill>
                  <a:srgbClr val="E6EDF3"/>
                </a:solidFill>
                <a:latin typeface="Courier New"/>
              </a:rPr>
              <a:t>parse</a:t>
            </a:r>
            <a:r>
              <a:rPr sz="1300" b="0" i="0">
                <a:solidFill>
                  <a:srgbClr val="E6EDF3"/>
                </a:solidFill>
                <a:latin typeface="Courier New"/>
              </a:rPr>
              <a:t>(</a:t>
            </a:r>
            <a:r>
              <a:rPr sz="1300" b="0" i="0">
                <a:solidFill>
                  <a:srgbClr val="9BE3A8"/>
                </a:solidFill>
                <a:latin typeface="Courier New"/>
              </a:rPr>
              <a:t>'12'</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parse</a:t>
            </a:r>
            <a:r>
              <a:rPr sz="1300" b="0" i="0">
                <a:solidFill>
                  <a:srgbClr val="E6EDF3"/>
                </a:solidFill>
                <a:latin typeface="Courier New"/>
              </a:rPr>
              <a:t>(</a:t>
            </a:r>
            <a:r>
              <a:rPr sz="1300" b="0" i="0">
                <a:solidFill>
                  <a:srgbClr val="9BE3A8"/>
                </a:solidFill>
                <a:latin typeface="Courier New"/>
              </a:rPr>
              <a:t>'x'</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parse</a:t>
            </a:r>
            <a:r>
              <a:rPr sz="1300" b="0" i="0">
                <a:solidFill>
                  <a:srgbClr val="E6EDF3"/>
                </a:solidFill>
                <a:latin typeface="Courier New"/>
              </a:rPr>
              <a:t>(</a:t>
            </a:r>
            <a:r>
              <a:rPr sz="1300" b="0" i="0">
                <a:solidFill>
                  <a:srgbClr val="C9A0FF"/>
                </a:solidFill>
                <a:latin typeface="Courier New"/>
              </a:rPr>
              <a:t>None</a:t>
            </a:r>
            <a:r>
              <a:rPr sz="1300" b="0" i="0">
                <a:solidFill>
                  <a:srgbClr val="E6EDF3"/>
                </a:solidFill>
                <a:latin typeface="Courier New"/>
              </a:rPr>
              <a:t>)</a:t>
            </a:r>
            <a:r>
              <a:rPr sz="1300" b="0" i="0">
                <a:solidFill>
                  <a:srgbClr val="E6EDF3"/>
                </a:solidFill>
                <a:latin typeface="Courier New"/>
              </a:rPr>
              <a:t>)</a:t>
            </a:r>
          </a:p>
        </p:txBody>
      </p:sp>
      <p:sp>
        <p:nvSpPr>
          <p:cNvPr id="7" name="explanation"/>
          <p:cNvSpPr txBox="1"/>
          <p:nvPr/>
        </p:nvSpPr>
        <p:spPr>
          <a:xfrm>
            <a:off x="5259324" y="2086102"/>
            <a:ext cx="3518916" cy="723328"/>
          </a:xfrm>
          <a:prstGeom prst="rect">
            <a:avLst/>
          </a:prstGeom>
          <a:noFill/>
        </p:spPr>
        <p:txBody>
          <a:bodyPr wrap="square" lIns="128016" rIns="128016" tIns="18288" bIns="18288" anchor="ctr">
            <a:spAutoFit/>
          </a:bodyPr>
          <a:lstStyle/>
          <a:p>
            <a:r>
              <a:rPr sz="1250" b="0" i="0">
                <a:solidFill>
                  <a:srgbClr val="1F2933"/>
                </a:solidFill>
                <a:latin typeface="Calibri"/>
              </a:rPr>
              <a:t>The text 12 converts. The text x raises ValueError and None raises TypeError; both are handled.</a:t>
            </a:r>
          </a:p>
        </p:txBody>
      </p:sp>
      <p:sp>
        <p:nvSpPr>
          <p:cNvPr id="8" name="result label"/>
          <p:cNvSpPr txBox="1"/>
          <p:nvPr/>
        </p:nvSpPr>
        <p:spPr>
          <a:xfrm>
            <a:off x="365760" y="2882582"/>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3156902"/>
          <a:ext cx="6309358" cy="1243584"/>
        </p:xfrm>
        <a:graphic>
          <a:graphicData uri="http://schemas.openxmlformats.org/drawingml/2006/table">
            <a:tbl>
              <a:tblPr firstRow="0" bandRow="0"/>
              <a:tblGrid>
                <a:gridCol w="1424694"/>
                <a:gridCol w="2442332"/>
                <a:gridCol w="2442332"/>
              </a:tblGrid>
              <a:tr h="310896">
                <a:tc>
                  <a:txBody>
                    <a:bodyPr wrap="square"/>
                    <a:lstStyle/>
                    <a:p>
                      <a:r>
                        <a:rPr sz="1050" b="1" i="0">
                          <a:solidFill>
                            <a:srgbClr val="FFFFFF"/>
                          </a:solidFill>
                          <a:latin typeface="Calibri"/>
                        </a:rPr>
                        <a:t>Input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What int() raised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parse() returns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10896">
                <a:tc>
                  <a:txBody>
                    <a:bodyPr wrap="square"/>
                    <a:lstStyle/>
                    <a:p>
                      <a:r>
                        <a:rPr sz="1050" b="0" i="0">
                          <a:solidFill>
                            <a:srgbClr val="1F2933"/>
                          </a:solidFill>
                          <a:latin typeface="Courier New"/>
                        </a:rPr>
                        <a:t>'12'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2F855A"/>
                          </a:solidFill>
                          <a:latin typeface="Courier New"/>
                        </a:rPr>
                        <a:t>nothing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12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10896">
                <a:tc>
                  <a:txBody>
                    <a:bodyPr wrap="square"/>
                    <a:lstStyle/>
                    <a:p>
                      <a:r>
                        <a:rPr sz="1050" b="0" i="0">
                          <a:solidFill>
                            <a:srgbClr val="1F2933"/>
                          </a:solidFill>
                          <a:latin typeface="Courier New"/>
                        </a:rPr>
                        <a:t>'x'</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B83A1B"/>
                          </a:solidFill>
                          <a:latin typeface="Courier New"/>
                        </a:rPr>
                        <a:t>ValueError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'ValueError'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10896">
                <a:tc>
                  <a:txBody>
                    <a:bodyPr wrap="square"/>
                    <a:lstStyle/>
                    <a:p>
                      <a:r>
                        <a:rPr sz="1050" b="0" i="0">
                          <a:solidFill>
                            <a:srgbClr val="1F2933"/>
                          </a:solidFill>
                          <a:latin typeface="Courier New"/>
                        </a:rPr>
                        <a:t>None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B83A1B"/>
                          </a:solidFill>
                          <a:latin typeface="Courier New"/>
                        </a:rPr>
                        <a:t>TypeError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'TypeError'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0"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tuple of types catches several kinds.</a:t>
            </a:r>
          </a:p>
        </p:txBody>
      </p:sp>
      <p:sp>
        <p:nvSpPr>
          <p:cNvPr id="12"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34 / 46</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A traceback lists the calls that led to the error</a:t>
            </a:r>
          </a:p>
        </p:txBody>
      </p:sp>
      <p:sp>
        <p:nvSpPr>
          <p:cNvPr id="4" name="code"/>
          <p:cNvSpPr/>
          <p:nvPr/>
        </p:nvSpPr>
        <p:spPr>
          <a:xfrm>
            <a:off x="365760" y="841248"/>
            <a:ext cx="4614671" cy="103505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import</a:t>
            </a:r>
            <a:r>
              <a:rPr sz="1100" b="0" i="0">
                <a:solidFill>
                  <a:srgbClr val="E6EDF3"/>
                </a:solidFill>
                <a:latin typeface="Courier New"/>
              </a:rPr>
              <a:t> </a:t>
            </a:r>
            <a:r>
              <a:rPr sz="1100" b="0" i="0">
                <a:solidFill>
                  <a:srgbClr val="E6EDF3"/>
                </a:solidFill>
                <a:latin typeface="Courier New"/>
              </a:rPr>
              <a:t>traceback</a:t>
            </a:r>
          </a:p>
          <a:p>
            <a:pPr algn="l"/>
            <a:r>
              <a:rPr sz="1100" b="0" i="0">
                <a:solidFill>
                  <a:srgbClr val="8FA3B8"/>
                </a:solidFill>
                <a:latin typeface="Courier New"/>
              </a:rPr>
              <a:t>&gt;&gt;&gt; </a:t>
            </a:r>
            <a:r>
              <a:rPr sz="1100" b="0" i="0">
                <a:solidFill>
                  <a:srgbClr val="C9A0FF"/>
                </a:solidFill>
                <a:latin typeface="Courier New"/>
              </a:rPr>
              <a:t>def</a:t>
            </a:r>
            <a:r>
              <a:rPr sz="1100" b="0" i="0">
                <a:solidFill>
                  <a:srgbClr val="E6EDF3"/>
                </a:solidFill>
                <a:latin typeface="Courier New"/>
              </a:rPr>
              <a:t> </a:t>
            </a:r>
            <a:r>
              <a:rPr sz="1100" b="0" i="0">
                <a:solidFill>
                  <a:srgbClr val="E6EDF3"/>
                </a:solidFill>
                <a:latin typeface="Courier New"/>
              </a:rPr>
              <a:t>inner</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C9A0FF"/>
                </a:solidFill>
                <a:latin typeface="Courier New"/>
              </a:rPr>
              <a:t>return</a:t>
            </a:r>
            <a:r>
              <a:rPr sz="1100" b="0" i="0">
                <a:solidFill>
                  <a:srgbClr val="E6EDF3"/>
                </a:solidFill>
                <a:latin typeface="Courier New"/>
              </a:rPr>
              <a:t> </a:t>
            </a:r>
            <a:r>
              <a:rPr sz="1100" b="0" i="0">
                <a:solidFill>
                  <a:srgbClr val="7CC4FF"/>
                </a:solidFill>
                <a:latin typeface="Courier New"/>
              </a:rPr>
              <a:t>1</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7CC4FF"/>
                </a:solidFill>
                <a:latin typeface="Courier New"/>
              </a:rPr>
              <a:t>0</a:t>
            </a:r>
          </a:p>
          <a:p>
            <a:pPr algn="l"/>
            <a:r>
              <a:rPr sz="1100" b="0" i="0">
                <a:solidFill>
                  <a:srgbClr val="8FA3B8"/>
                </a:solidFill>
                <a:latin typeface="Courier New"/>
              </a:rPr>
              <a:t>&gt;&gt;&gt; </a:t>
            </a:r>
            <a:r>
              <a:rPr sz="1100" b="0" i="0">
                <a:solidFill>
                  <a:srgbClr val="C9A0FF"/>
                </a:solidFill>
                <a:latin typeface="Courier New"/>
              </a:rPr>
              <a:t>def</a:t>
            </a:r>
            <a:r>
              <a:rPr sz="1100" b="0" i="0">
                <a:solidFill>
                  <a:srgbClr val="E6EDF3"/>
                </a:solidFill>
                <a:latin typeface="Courier New"/>
              </a:rPr>
              <a:t> </a:t>
            </a:r>
            <a:r>
              <a:rPr sz="1100" b="0" i="0">
                <a:solidFill>
                  <a:srgbClr val="E6EDF3"/>
                </a:solidFill>
                <a:latin typeface="Courier New"/>
              </a:rPr>
              <a:t>outer</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C9A0FF"/>
                </a:solidFill>
                <a:latin typeface="Courier New"/>
              </a:rPr>
              <a:t>return</a:t>
            </a:r>
            <a:r>
              <a:rPr sz="1100" b="0" i="0">
                <a:solidFill>
                  <a:srgbClr val="E6EDF3"/>
                </a:solidFill>
                <a:latin typeface="Courier New"/>
              </a:rPr>
              <a:t> </a:t>
            </a:r>
            <a:r>
              <a:rPr sz="1100" b="0" i="0">
                <a:solidFill>
                  <a:srgbClr val="E6EDF3"/>
                </a:solidFill>
                <a:latin typeface="Courier New"/>
              </a:rPr>
              <a:t>inner</a:t>
            </a:r>
            <a:r>
              <a:rPr sz="1100" b="0" i="0">
                <a:solidFill>
                  <a:srgbClr val="E6EDF3"/>
                </a:solidFill>
                <a:latin typeface="Courier New"/>
              </a:rPr>
              <a:t>(</a:t>
            </a:r>
            <a:r>
              <a:rPr sz="1100" b="0" i="0">
                <a:solidFill>
                  <a:srgbClr val="E6EDF3"/>
                </a:solidFill>
                <a:latin typeface="Courier New"/>
              </a:rPr>
              <a:t>)</a:t>
            </a:r>
          </a:p>
        </p:txBody>
      </p:sp>
      <p:sp>
        <p:nvSpPr>
          <p:cNvPr id="5" name="explanation"/>
          <p:cNvSpPr txBox="1"/>
          <p:nvPr/>
        </p:nvSpPr>
        <p:spPr>
          <a:xfrm>
            <a:off x="4962144" y="841248"/>
            <a:ext cx="3816095" cy="1035050"/>
          </a:xfrm>
          <a:prstGeom prst="rect">
            <a:avLst/>
          </a:prstGeom>
          <a:noFill/>
        </p:spPr>
        <p:txBody>
          <a:bodyPr wrap="square" lIns="128016" rIns="128016" tIns="18288" bIns="18288" anchor="ctr">
            <a:spAutoFit/>
          </a:bodyPr>
          <a:lstStyle/>
          <a:p>
            <a:r>
              <a:rPr sz="1200" b="0" i="0">
                <a:solidFill>
                  <a:srgbClr val="1F2933"/>
                </a:solidFill>
                <a:latin typeface="Calibri"/>
              </a:rPr>
              <a:t>inner divides by zero. outer called inner, so both calls are on the path to the error.</a:t>
            </a:r>
          </a:p>
        </p:txBody>
      </p:sp>
      <p:sp>
        <p:nvSpPr>
          <p:cNvPr id="6" name="code"/>
          <p:cNvSpPr/>
          <p:nvPr/>
        </p:nvSpPr>
        <p:spPr>
          <a:xfrm>
            <a:off x="365760" y="1931162"/>
            <a:ext cx="4614671" cy="103505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try</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E6EDF3"/>
                </a:solidFill>
                <a:latin typeface="Courier New"/>
              </a:rPr>
              <a:t>outer</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except</a:t>
            </a:r>
            <a:r>
              <a:rPr sz="1100" b="0" i="0">
                <a:solidFill>
                  <a:srgbClr val="E6EDF3"/>
                </a:solidFill>
                <a:latin typeface="Courier New"/>
              </a:rPr>
              <a:t> </a:t>
            </a:r>
            <a:r>
              <a:rPr sz="1100" b="0" i="0">
                <a:solidFill>
                  <a:srgbClr val="E6EDF3"/>
                </a:solidFill>
                <a:latin typeface="Courier New"/>
              </a:rPr>
              <a:t>ZeroDivisionError</a:t>
            </a:r>
            <a:r>
              <a:rPr sz="1100" b="0" i="0">
                <a:solidFill>
                  <a:srgbClr val="E6EDF3"/>
                </a:solidFill>
                <a:latin typeface="Courier New"/>
              </a:rPr>
              <a:t> </a:t>
            </a:r>
            <a:r>
              <a:rPr sz="1100" b="0" i="0">
                <a:solidFill>
                  <a:srgbClr val="C9A0FF"/>
                </a:solidFill>
                <a:latin typeface="Courier New"/>
              </a:rPr>
              <a:t>as</a:t>
            </a:r>
            <a:r>
              <a:rPr sz="1100" b="0" i="0">
                <a:solidFill>
                  <a:srgbClr val="E6EDF3"/>
                </a:solidFill>
                <a:latin typeface="Courier New"/>
              </a:rPr>
              <a:t> </a:t>
            </a:r>
            <a:r>
              <a:rPr sz="1100" b="0" i="0">
                <a:solidFill>
                  <a:srgbClr val="E6EDF3"/>
                </a:solidFill>
                <a:latin typeface="Courier New"/>
              </a:rPr>
              <a:t>err</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E6EDF3"/>
                </a:solidFill>
                <a:latin typeface="Courier New"/>
              </a:rPr>
              <a:t>tb</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traceback</a:t>
            </a:r>
            <a:r>
              <a:rPr sz="1100" b="0" i="0">
                <a:solidFill>
                  <a:srgbClr val="E6EDF3"/>
                </a:solidFill>
                <a:latin typeface="Courier New"/>
              </a:rPr>
              <a:t>.</a:t>
            </a:r>
            <a:r>
              <a:rPr sz="1100" b="0" i="0">
                <a:solidFill>
                  <a:srgbClr val="E6EDF3"/>
                </a:solidFill>
                <a:latin typeface="Courier New"/>
              </a:rPr>
              <a:t>extract_tb</a:t>
            </a:r>
            <a:r>
              <a:rPr sz="1100" b="0" i="0">
                <a:solidFill>
                  <a:srgbClr val="E6EDF3"/>
                </a:solidFill>
                <a:latin typeface="Courier New"/>
              </a:rPr>
              <a:t>(</a:t>
            </a:r>
            <a:r>
              <a:rPr sz="1100" b="0" i="0">
                <a:solidFill>
                  <a:srgbClr val="E6EDF3"/>
                </a:solidFill>
                <a:latin typeface="Courier New"/>
              </a:rPr>
              <a:t>err</a:t>
            </a:r>
            <a:r>
              <a:rPr sz="1100" b="0" i="0">
                <a:solidFill>
                  <a:srgbClr val="E6EDF3"/>
                </a:solidFill>
                <a:latin typeface="Courier New"/>
              </a:rPr>
              <a:t>.</a:t>
            </a:r>
            <a:r>
              <a:rPr sz="1100" b="0" i="0">
                <a:solidFill>
                  <a:srgbClr val="E6EDF3"/>
                </a:solidFill>
                <a:latin typeface="Courier New"/>
              </a:rPr>
              <a:t>__traceback__</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f</a:t>
            </a:r>
            <a:r>
              <a:rPr sz="1100" b="0" i="0">
                <a:solidFill>
                  <a:srgbClr val="E6EDF3"/>
                </a:solidFill>
                <a:latin typeface="Courier New"/>
              </a:rPr>
              <a:t>.</a:t>
            </a:r>
            <a:r>
              <a:rPr sz="1100" b="0" i="0">
                <a:solidFill>
                  <a:srgbClr val="E6EDF3"/>
                </a:solidFill>
                <a:latin typeface="Courier New"/>
              </a:rPr>
              <a:t>name</a:t>
            </a:r>
            <a:r>
              <a:rPr sz="1100" b="0" i="0">
                <a:solidFill>
                  <a:srgbClr val="E6EDF3"/>
                </a:solidFill>
                <a:latin typeface="Courier New"/>
              </a:rPr>
              <a:t> </a:t>
            </a:r>
            <a:r>
              <a:rPr sz="1100" b="0" i="0">
                <a:solidFill>
                  <a:srgbClr val="C9A0FF"/>
                </a:solidFill>
                <a:latin typeface="Courier New"/>
              </a:rPr>
              <a:t>for</a:t>
            </a:r>
            <a:r>
              <a:rPr sz="1100" b="0" i="0">
                <a:solidFill>
                  <a:srgbClr val="E6EDF3"/>
                </a:solidFill>
                <a:latin typeface="Courier New"/>
              </a:rPr>
              <a:t> </a:t>
            </a:r>
            <a:r>
              <a:rPr sz="1100" b="0" i="0">
                <a:solidFill>
                  <a:srgbClr val="E6EDF3"/>
                </a:solidFill>
                <a:latin typeface="Courier New"/>
              </a:rPr>
              <a:t>f</a:t>
            </a:r>
            <a:r>
              <a:rPr sz="1100" b="0" i="0">
                <a:solidFill>
                  <a:srgbClr val="E6EDF3"/>
                </a:solidFill>
                <a:latin typeface="Courier New"/>
              </a:rPr>
              <a:t> </a:t>
            </a:r>
            <a:r>
              <a:rPr sz="1100" b="0" i="0">
                <a:solidFill>
                  <a:srgbClr val="C9A0FF"/>
                </a:solidFill>
                <a:latin typeface="Courier New"/>
              </a:rPr>
              <a:t>in</a:t>
            </a:r>
            <a:r>
              <a:rPr sz="1100" b="0" i="0">
                <a:solidFill>
                  <a:srgbClr val="E6EDF3"/>
                </a:solidFill>
                <a:latin typeface="Courier New"/>
              </a:rPr>
              <a:t> </a:t>
            </a:r>
            <a:r>
              <a:rPr sz="1100" b="0" i="0">
                <a:solidFill>
                  <a:srgbClr val="E6EDF3"/>
                </a:solidFill>
                <a:latin typeface="Courier New"/>
              </a:rPr>
              <a:t>tb</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r>
              <a:rPr sz="1100" b="0" i="0">
                <a:solidFill>
                  <a:srgbClr val="7CC4FF"/>
                </a:solidFill>
                <a:latin typeface="Courier New"/>
              </a:rPr>
              <a:t>2</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p>
        </p:txBody>
      </p:sp>
      <p:sp>
        <p:nvSpPr>
          <p:cNvPr id="7" name="explanation"/>
          <p:cNvSpPr txBox="1"/>
          <p:nvPr/>
        </p:nvSpPr>
        <p:spPr>
          <a:xfrm>
            <a:off x="4962144" y="1931162"/>
            <a:ext cx="3816095" cy="1035050"/>
          </a:xfrm>
          <a:prstGeom prst="rect">
            <a:avLst/>
          </a:prstGeom>
          <a:noFill/>
        </p:spPr>
        <p:txBody>
          <a:bodyPr wrap="square" lIns="128016" rIns="128016" tIns="18288" bIns="18288" anchor="ctr">
            <a:spAutoFit/>
          </a:bodyPr>
          <a:lstStyle/>
          <a:p>
            <a:r>
              <a:rPr sz="1200" b="0" i="0">
                <a:solidFill>
                  <a:srgbClr val="1F2933"/>
                </a:solidFill>
                <a:latin typeface="Calibri"/>
              </a:rPr>
              <a:t>The traceback is the saved stack of calls, oldest first. The slice [-2:] keeps the last two: outer and inner.</a:t>
            </a:r>
          </a:p>
        </p:txBody>
      </p:sp>
      <p:sp>
        <p:nvSpPr>
          <p:cNvPr id="8" name="result label"/>
          <p:cNvSpPr txBox="1"/>
          <p:nvPr/>
        </p:nvSpPr>
        <p:spPr>
          <a:xfrm>
            <a:off x="365760" y="3039364"/>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9" name="Rounded Rectangle 8"/>
          <p:cNvSpPr/>
          <p:nvPr/>
        </p:nvSpPr>
        <p:spPr>
          <a:xfrm>
            <a:off x="365760" y="3313684"/>
            <a:ext cx="1828800" cy="365760"/>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ourier New"/>
              </a:rPr>
              <a:t>outer()</a:t>
            </a:r>
          </a:p>
        </p:txBody>
      </p:sp>
      <p:sp>
        <p:nvSpPr>
          <p:cNvPr id="10" name="Rounded Rectangle 9"/>
          <p:cNvSpPr/>
          <p:nvPr/>
        </p:nvSpPr>
        <p:spPr>
          <a:xfrm>
            <a:off x="2542032" y="3313684"/>
            <a:ext cx="1828800" cy="365760"/>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ourier New"/>
              </a:rPr>
              <a:t>inner()</a:t>
            </a:r>
          </a:p>
        </p:txBody>
      </p:sp>
      <p:cxnSp>
        <p:nvCxnSpPr>
          <p:cNvPr id="11" name="arrow"/>
          <p:cNvCxnSpPr/>
          <p:nvPr/>
        </p:nvCxnSpPr>
        <p:spPr>
          <a:xfrm>
            <a:off x="2212848" y="3496564"/>
            <a:ext cx="310896"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718304" y="3313684"/>
            <a:ext cx="1828800" cy="365760"/>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ourier New"/>
              </a:rPr>
              <a:t>1 / 0</a:t>
            </a:r>
          </a:p>
        </p:txBody>
      </p:sp>
      <p:cxnSp>
        <p:nvCxnSpPr>
          <p:cNvPr id="13" name="arrow"/>
          <p:cNvCxnSpPr/>
          <p:nvPr/>
        </p:nvCxnSpPr>
        <p:spPr>
          <a:xfrm>
            <a:off x="4389120" y="3496564"/>
            <a:ext cx="310896"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894576" y="3313684"/>
            <a:ext cx="1828800" cy="365760"/>
          </a:xfrm>
          <a:prstGeom prst="roundRect">
            <a:avLst>
              <a:gd name="adj" fmla="val 15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ourier New"/>
              </a:rPr>
              <a:t>ZeroDivisionError</a:t>
            </a:r>
          </a:p>
        </p:txBody>
      </p:sp>
      <p:cxnSp>
        <p:nvCxnSpPr>
          <p:cNvPr id="15" name="arrow"/>
          <p:cNvCxnSpPr/>
          <p:nvPr/>
        </p:nvCxnSpPr>
        <p:spPr>
          <a:xfrm>
            <a:off x="6565392" y="3496564"/>
            <a:ext cx="310896"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graphicFrame>
        <p:nvGraphicFramePr>
          <p:cNvPr id="16" name="table"/>
          <p:cNvGraphicFramePr>
            <a:graphicFrameLocks noGrp="1"/>
          </p:cNvGraphicFramePr>
          <p:nvPr/>
        </p:nvGraphicFramePr>
        <p:xfrm>
          <a:off x="365760" y="3908044"/>
          <a:ext cx="4626863" cy="822960"/>
        </p:xfrm>
        <a:graphic>
          <a:graphicData uri="http://schemas.openxmlformats.org/drawingml/2006/table">
            <a:tbl>
              <a:tblPr firstRow="0" bandRow="0"/>
              <a:tblGrid>
                <a:gridCol w="2776118"/>
                <a:gridCol w="1850745"/>
              </a:tblGrid>
              <a:tr h="274320">
                <a:tc>
                  <a:txBody>
                    <a:bodyPr wrap="square"/>
                    <a:lstStyle/>
                    <a:p>
                      <a:r>
                        <a:rPr sz="1050" b="1" i="0">
                          <a:solidFill>
                            <a:srgbClr val="FFFFFF"/>
                          </a:solidFill>
                          <a:latin typeface="Calibri"/>
                        </a:rPr>
                        <a:t>Traceback entry (oldest first)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Function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1050" b="0" i="0">
                          <a:solidFill>
                            <a:srgbClr val="1F2933"/>
                          </a:solidFill>
                          <a:latin typeface="Calibri"/>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outer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1050" b="0" i="0">
                          <a:solidFill>
                            <a:srgbClr val="1F2933"/>
                          </a:solidFill>
                          <a:latin typeface="Calibri"/>
                        </a:rPr>
                        <a:t>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inner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7" name="TextBox 16"/>
          <p:cNvSpPr txBox="1"/>
          <p:nvPr/>
        </p:nvSpPr>
        <p:spPr>
          <a:xfrm>
            <a:off x="5244998" y="3953764"/>
            <a:ext cx="3364991" cy="548640"/>
          </a:xfrm>
          <a:prstGeom prst="rect">
            <a:avLst/>
          </a:prstGeom>
          <a:noFill/>
        </p:spPr>
        <p:txBody>
          <a:bodyPr wrap="square" lIns="45720" rIns="45720" tIns="27432" bIns="27432" anchor="t">
            <a:spAutoFit/>
          </a:bodyPr>
          <a:lstStyle/>
          <a:p>
            <a:r>
              <a:rPr sz="1000" b="0" i="1">
                <a:solidFill>
                  <a:srgbClr val="5B6773"/>
                </a:solidFill>
                <a:latin typeface="Calibri"/>
              </a:rPr>
              <a:t>the path to the error, as the exception saved it</a:t>
            </a:r>
          </a:p>
        </p:txBody>
      </p:sp>
      <p:sp>
        <p:nvSpPr>
          <p:cNvPr id="18"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traceback is the saved stack of calls.</a:t>
            </a:r>
          </a:p>
        </p:txBody>
      </p:sp>
      <p:sp>
        <p:nvSpPr>
          <p:cNvPr id="20"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35 / 46</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Story: except loses its parentheses in Python 3.14</a:t>
            </a:r>
          </a:p>
        </p:txBody>
      </p:sp>
      <p:pic>
        <p:nvPicPr>
          <p:cNvPr id="4" name="photo pep758" descr="Picture for the story: except loses its parentheses in Python 3.14"/>
          <p:cNvPicPr>
            <a:picLocks noChangeAspect="1"/>
          </p:cNvPicPr>
          <p:nvPr/>
        </p:nvPicPr>
        <p:blipFill>
          <a:blip r:embed="rId3"/>
          <a:stretch>
            <a:fillRect/>
          </a:stretch>
        </p:blipFill>
        <p:spPr>
          <a:xfrm>
            <a:off x="365759" y="1005839"/>
            <a:ext cx="2651760" cy="2651760"/>
          </a:xfrm>
          <a:prstGeom prst="rect">
            <a:avLst/>
          </a:prstGeom>
        </p:spPr>
      </p:pic>
      <p:sp>
        <p:nvSpPr>
          <p:cNvPr id="5" name="credit"/>
          <p:cNvSpPr txBox="1"/>
          <p:nvPr/>
        </p:nvSpPr>
        <p:spPr>
          <a:xfrm>
            <a:off x="365760" y="3840480"/>
            <a:ext cx="2651760" cy="731520"/>
          </a:xfrm>
          <a:prstGeom prst="rect">
            <a:avLst/>
          </a:prstGeom>
          <a:noFill/>
        </p:spPr>
        <p:txBody>
          <a:bodyPr wrap="square" lIns="45720" rIns="45720" tIns="27432" bIns="27432" anchor="t">
            <a:spAutoFit/>
          </a:bodyPr>
          <a:lstStyle/>
          <a:p>
            <a:r>
              <a:rPr sz="950" b="0" i="0">
                <a:solidFill>
                  <a:srgbClr val="5B6773"/>
                </a:solidFill>
                <a:latin typeface="Calibri"/>
              </a:rPr>
              <a:t>Python logo. Source: python.org, Python Software Foundation, used under its trademark policy.</a:t>
            </a:r>
          </a:p>
        </p:txBody>
      </p:sp>
      <p:sp>
        <p:nvSpPr>
          <p:cNvPr id="6" name="card"/>
          <p:cNvSpPr/>
          <p:nvPr/>
        </p:nvSpPr>
        <p:spPr>
          <a:xfrm>
            <a:off x="3200400" y="841248"/>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who"/>
          <p:cNvSpPr txBox="1"/>
          <p:nvPr/>
        </p:nvSpPr>
        <p:spPr>
          <a:xfrm>
            <a:off x="3246120" y="841248"/>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WHO  </a:t>
            </a:r>
            <a:r>
              <a:rPr sz="1300" b="0" i="0">
                <a:solidFill>
                  <a:srgbClr val="1F2933"/>
                </a:solidFill>
                <a:latin typeface="Calibri"/>
              </a:rPr>
              <a:t>Pablo Galindo Salgado and Brett Cannon, Python core developers, wrote PEP 758.</a:t>
            </a:r>
          </a:p>
        </p:txBody>
      </p:sp>
      <p:sp>
        <p:nvSpPr>
          <p:cNvPr id="8" name="card"/>
          <p:cNvSpPr/>
          <p:nvPr/>
        </p:nvSpPr>
        <p:spPr>
          <a:xfrm>
            <a:off x="3200400" y="1463040"/>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hat"/>
          <p:cNvSpPr txBox="1"/>
          <p:nvPr/>
        </p:nvSpPr>
        <p:spPr>
          <a:xfrm>
            <a:off x="3246120" y="1463040"/>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WHAT  </a:t>
            </a:r>
            <a:r>
              <a:rPr sz="1300" b="0" i="0">
                <a:solidFill>
                  <a:srgbClr val="1F2933"/>
                </a:solidFill>
                <a:latin typeface="Calibri"/>
              </a:rPr>
              <a:t>A change to the except clause: several exception types may be listed without parentheses when there is no as clause.</a:t>
            </a:r>
          </a:p>
        </p:txBody>
      </p:sp>
      <p:sp>
        <p:nvSpPr>
          <p:cNvPr id="10" name="card"/>
          <p:cNvSpPr/>
          <p:nvPr/>
        </p:nvSpPr>
        <p:spPr>
          <a:xfrm>
            <a:off x="3200400" y="2084832"/>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hen"/>
          <p:cNvSpPr txBox="1"/>
          <p:nvPr/>
        </p:nvSpPr>
        <p:spPr>
          <a:xfrm>
            <a:off x="3246120" y="2084832"/>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WHEN  </a:t>
            </a:r>
            <a:r>
              <a:rPr sz="1300" b="0" i="0">
                <a:solidFill>
                  <a:srgbClr val="1F2933"/>
                </a:solidFill>
                <a:latin typeface="Calibri"/>
              </a:rPr>
              <a:t>The PEP was created on 30 September 2024 and resolved on 14 March 2025; it ships in Python 3.14.</a:t>
            </a:r>
          </a:p>
        </p:txBody>
      </p:sp>
      <p:sp>
        <p:nvSpPr>
          <p:cNvPr id="12" name="card"/>
          <p:cNvSpPr/>
          <p:nvPr/>
        </p:nvSpPr>
        <p:spPr>
          <a:xfrm>
            <a:off x="3200400" y="2706624"/>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where"/>
          <p:cNvSpPr txBox="1"/>
          <p:nvPr/>
        </p:nvSpPr>
        <p:spPr>
          <a:xfrm>
            <a:off x="3246120" y="2706624"/>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WHERE  </a:t>
            </a:r>
            <a:r>
              <a:rPr sz="1300" b="0" i="0">
                <a:solidFill>
                  <a:srgbClr val="1F2933"/>
                </a:solidFill>
                <a:latin typeface="Calibri"/>
              </a:rPr>
              <a:t>The Python Enhancement Proposal process, published at peps.python.org; the change lives in CPython.</a:t>
            </a:r>
          </a:p>
        </p:txBody>
      </p:sp>
      <p:sp>
        <p:nvSpPr>
          <p:cNvPr id="14" name="card"/>
          <p:cNvSpPr/>
          <p:nvPr/>
        </p:nvSpPr>
        <p:spPr>
          <a:xfrm>
            <a:off x="3200400" y="3328415"/>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why"/>
          <p:cNvSpPr txBox="1"/>
          <p:nvPr/>
        </p:nvSpPr>
        <p:spPr>
          <a:xfrm>
            <a:off x="3246120" y="3328415"/>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WHY  </a:t>
            </a:r>
            <a:r>
              <a:rPr sz="1300" b="0" i="0">
                <a:solidFill>
                  <a:srgbClr val="1F2933"/>
                </a:solidFill>
                <a:latin typeface="Calibri"/>
              </a:rPr>
              <a:t>A common job gets fewer symbols: except ValueError, TypeError reads like the list it is.</a:t>
            </a:r>
          </a:p>
        </p:txBody>
      </p:sp>
      <p:sp>
        <p:nvSpPr>
          <p:cNvPr id="16" name="card"/>
          <p:cNvSpPr/>
          <p:nvPr/>
        </p:nvSpPr>
        <p:spPr>
          <a:xfrm>
            <a:off x="3200400" y="3950207"/>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ow"/>
          <p:cNvSpPr txBox="1"/>
          <p:nvPr/>
        </p:nvSpPr>
        <p:spPr>
          <a:xfrm>
            <a:off x="3246120" y="3950207"/>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HOW  </a:t>
            </a:r>
            <a:r>
              <a:rPr sz="1300" b="0" i="0">
                <a:solidFill>
                  <a:srgbClr val="1F2933"/>
                </a:solidFill>
                <a:latin typeface="Calibri"/>
              </a:rPr>
              <a:t>Python 3.13 and earlier reject the bare list, so the slide code keeps the parentheses that work everywhere.</a:t>
            </a:r>
          </a:p>
        </p:txBody>
      </p:sp>
      <p:sp>
        <p:nvSpPr>
          <p:cNvPr id="18" name="read"/>
          <p:cNvSpPr txBox="1"/>
          <p:nvPr/>
        </p:nvSpPr>
        <p:spPr>
          <a:xfrm>
            <a:off x="3200400" y="4590287"/>
            <a:ext cx="5577840" cy="329184"/>
          </a:xfrm>
          <a:prstGeom prst="rect">
            <a:avLst/>
          </a:prstGeom>
          <a:noFill/>
        </p:spPr>
        <p:txBody>
          <a:bodyPr wrap="square" lIns="45720" rIns="45720" tIns="27432" bIns="27432" anchor="t">
            <a:spAutoFit/>
          </a:bodyPr>
          <a:lstStyle/>
          <a:p>
            <a:r>
              <a:rPr sz="1300" b="1" i="0">
                <a:solidFill>
                  <a:srgbClr val="B7791F"/>
                </a:solidFill>
                <a:latin typeface="Calibri"/>
              </a:rPr>
              <a:t>READ  </a:t>
            </a:r>
            <a:r>
              <a:rPr sz="1300" b="0" i="0">
                <a:solidFill>
                  <a:srgbClr val="0E7C86"/>
                </a:solidFill>
                <a:latin typeface="Calibri"/>
                <a:hlinkClick r:id="rId4"/>
              </a:rPr>
              <a:t>PEP 758 (peps.python.org)</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36 / 46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3000" b="1" i="0">
                <a:solidFill>
                  <a:srgbClr val="1F2933"/>
                </a:solidFill>
                <a:latin typeface="Calibri"/>
              </a:rPr>
              <a:t>Part 4: Short programs</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Zigzag, Spike and the Collatz sequence</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Zigzag</a:t>
            </a:r>
          </a:p>
        </p:txBody>
      </p:sp>
      <p:sp>
        <p:nvSpPr>
          <p:cNvPr id="6" name="meaning"/>
          <p:cNvSpPr txBox="1"/>
          <p:nvPr/>
        </p:nvSpPr>
        <p:spPr>
          <a:xfrm>
            <a:off x="2606040" y="1417320"/>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A band that moves out to an edge and back again.</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Spike</a:t>
            </a:r>
          </a:p>
        </p:txBody>
      </p:sp>
      <p:sp>
        <p:nvSpPr>
          <p:cNvPr id="8" name="meaning"/>
          <p:cNvSpPr txBox="1"/>
          <p:nvPr/>
        </p:nvSpPr>
        <p:spPr>
          <a:xfrm>
            <a:off x="2606040" y="2075688"/>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Lines whose lengths grow as squares, then shrink.</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Collatz</a:t>
            </a:r>
          </a:p>
        </p:txBody>
      </p:sp>
      <p:sp>
        <p:nvSpPr>
          <p:cNvPr id="10" name="meaning"/>
          <p:cNvSpPr txBox="1"/>
          <p:nvPr/>
        </p:nvSpPr>
        <p:spPr>
          <a:xfrm>
            <a:off x="2606040" y="2734056"/>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One function is one step; a loop repeats it.</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Stories</a:t>
            </a:r>
          </a:p>
        </p:txBody>
      </p:sp>
      <p:sp>
        <p:nvSpPr>
          <p:cNvPr id="12" name="meaning"/>
          <p:cNvSpPr txBox="1"/>
          <p:nvPr/>
        </p:nvSpPr>
        <p:spPr>
          <a:xfrm>
            <a:off x="2606040" y="3392424"/>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Wheeler, Collatz and Erdős, and a new rule of Python 3.14.</a:t>
            </a:r>
          </a:p>
        </p:txBody>
      </p:sp>
      <p:graphicFrame>
        <p:nvGraphicFramePr>
          <p:cNvPr id="13" name="table"/>
          <p:cNvGraphicFramePr>
            <a:graphicFrameLocks noGrp="1"/>
          </p:cNvGraphicFramePr>
          <p:nvPr/>
        </p:nvGraphicFramePr>
        <p:xfrm>
          <a:off x="5303520" y="1417320"/>
          <a:ext cx="3474719" cy="1828800"/>
        </p:xfrm>
        <a:graphic>
          <a:graphicData uri="http://schemas.openxmlformats.org/drawingml/2006/table">
            <a:tbl>
              <a:tblPr firstRow="0" bandRow="0"/>
              <a:tblGrid>
                <a:gridCol w="507543"/>
                <a:gridCol w="2967176"/>
              </a:tblGrid>
              <a:tr h="365760">
                <a:tc>
                  <a:txBody>
                    <a:bodyPr wrap="square"/>
                    <a:lstStyle/>
                    <a:p>
                      <a:r>
                        <a:rPr sz="105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65760">
                <a:tc>
                  <a:txBody>
                    <a:bodyPr wrap="square"/>
                    <a:lstStyle/>
                    <a:p>
                      <a:r>
                        <a:rPr sz="1050" b="0" i="0">
                          <a:solidFill>
                            <a:srgbClr val="1F2933"/>
                          </a:solidFill>
                          <a:latin typeface="Calibri"/>
                        </a:rPr>
                        <a:t>39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Short program: Zigzag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40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Short program: Spike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50" b="0" i="0">
                          <a:solidFill>
                            <a:srgbClr val="1F2933"/>
                          </a:solidFill>
                          <a:latin typeface="Calibri"/>
                        </a:rPr>
                        <a:t>41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Practice program: the Collatz sequence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42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Story: an unsolved problem fits in a 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37 / 46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short programs</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548640"/>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Short programs are etudes: small pieces in which several skills play together.</a:t>
            </a:r>
          </a:p>
        </p:txBody>
      </p:sp>
      <p:graphicFrame>
        <p:nvGraphicFramePr>
          <p:cNvPr id="6" name="table"/>
          <p:cNvGraphicFramePr>
            <a:graphicFrameLocks noGrp="1"/>
          </p:cNvGraphicFramePr>
          <p:nvPr/>
        </p:nvGraphicFramePr>
        <p:xfrm>
          <a:off x="365760" y="1463040"/>
          <a:ext cx="8412480" cy="1371600"/>
        </p:xfrm>
        <a:graphic>
          <a:graphicData uri="http://schemas.openxmlformats.org/drawingml/2006/table">
            <a:tbl>
              <a:tblPr firstRow="0" bandRow="0"/>
              <a:tblGrid>
                <a:gridCol w="3383280"/>
                <a:gridCol w="5029200"/>
              </a:tblGrid>
              <a:tr h="457200">
                <a:tc>
                  <a:txBody>
                    <a:bodyPr wrap="square"/>
                    <a:lstStyle/>
                    <a:p>
                      <a:r>
                        <a:rPr sz="12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2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457200">
                <a:tc>
                  <a:txBody>
                    <a:bodyPr wrap="square"/>
                    <a:lstStyle/>
                    <a:p>
                      <a:r>
                        <a:rPr sz="1200" b="1" i="0">
                          <a:solidFill>
                            <a:srgbClr val="1F2933"/>
                          </a:solidFill>
                          <a:latin typeface="Calibri"/>
                        </a:rPr>
                        <a:t>A Short Program: Zigzag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A pendulum: out to a fixed point and back, again and again.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200" b="1" i="0">
                          <a:solidFill>
                            <a:srgbClr val="1F2933"/>
                          </a:solidFill>
                          <a:latin typeface="Calibri"/>
                        </a:rPr>
                        <a:t>A Short Program: Spike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Stairs whose steps grow like squares, then shrink again.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38 / 46</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Short program: Zigzag</a:t>
            </a:r>
          </a:p>
        </p:txBody>
      </p:sp>
      <p:sp>
        <p:nvSpPr>
          <p:cNvPr id="4" name="code"/>
          <p:cNvSpPr/>
          <p:nvPr/>
        </p:nvSpPr>
        <p:spPr>
          <a:xfrm>
            <a:off x="365760" y="841248"/>
            <a:ext cx="3380231" cy="957579"/>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def</a:t>
            </a:r>
            <a:r>
              <a:rPr sz="1000" b="0" i="0">
                <a:solidFill>
                  <a:srgbClr val="E6EDF3"/>
                </a:solidFill>
                <a:latin typeface="Courier New"/>
              </a:rPr>
              <a:t> </a:t>
            </a:r>
            <a:r>
              <a:rPr sz="1000" b="0" i="0">
                <a:solidFill>
                  <a:srgbClr val="E6EDF3"/>
                </a:solidFill>
                <a:latin typeface="Courier New"/>
              </a:rPr>
              <a:t>zigzag</a:t>
            </a:r>
            <a:r>
              <a:rPr sz="1000" b="0" i="0">
                <a:solidFill>
                  <a:srgbClr val="E6EDF3"/>
                </a:solidFill>
                <a:latin typeface="Courier New"/>
              </a:rPr>
              <a:t>(</a:t>
            </a:r>
            <a:r>
              <a:rPr sz="1000" b="0" i="0">
                <a:solidFill>
                  <a:srgbClr val="E6EDF3"/>
                </a:solidFill>
                <a:latin typeface="Courier New"/>
              </a:rPr>
              <a:t>steps</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width</a:t>
            </a:r>
            <a:r>
              <a:rPr sz="1000" b="0" i="0">
                <a:solidFill>
                  <a:srgbClr val="E6EDF3"/>
                </a:solidFill>
                <a:latin typeface="Courier New"/>
              </a:rPr>
              <a:t>=</a:t>
            </a:r>
            <a:r>
              <a:rPr sz="1000" b="0" i="0">
                <a:solidFill>
                  <a:srgbClr val="7CC4FF"/>
                </a:solidFill>
                <a:latin typeface="Courier New"/>
              </a:rPr>
              <a:t>20</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indent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move</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path</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0</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1</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C9A0FF"/>
                </a:solidFill>
                <a:latin typeface="Courier New"/>
              </a:rPr>
              <a:t>for</a:t>
            </a:r>
            <a:r>
              <a:rPr sz="1000" b="0" i="0">
                <a:solidFill>
                  <a:srgbClr val="E6EDF3"/>
                </a:solidFill>
                <a:latin typeface="Courier New"/>
              </a:rPr>
              <a:t> </a:t>
            </a:r>
            <a:r>
              <a:rPr sz="1000" b="0" i="0">
                <a:solidFill>
                  <a:srgbClr val="E6EDF3"/>
                </a:solidFill>
                <a:latin typeface="Courier New"/>
              </a:rPr>
              <a:t>_</a:t>
            </a:r>
            <a:r>
              <a:rPr sz="1000" b="0" i="0">
                <a:solidFill>
                  <a:srgbClr val="E6EDF3"/>
                </a:solidFill>
                <a:latin typeface="Courier New"/>
              </a:rPr>
              <a:t> </a:t>
            </a:r>
            <a:r>
              <a:rPr sz="1000" b="0" i="0">
                <a:solidFill>
                  <a:srgbClr val="C9A0FF"/>
                </a:solidFill>
                <a:latin typeface="Courier New"/>
              </a:rPr>
              <a:t>in</a:t>
            </a:r>
            <a:r>
              <a:rPr sz="1000" b="0" i="0">
                <a:solidFill>
                  <a:srgbClr val="E6EDF3"/>
                </a:solidFill>
                <a:latin typeface="Courier New"/>
              </a:rPr>
              <a:t> </a:t>
            </a:r>
            <a:r>
              <a:rPr sz="1000" b="0" i="0">
                <a:solidFill>
                  <a:srgbClr val="E6EDF3"/>
                </a:solidFill>
                <a:latin typeface="Courier New"/>
              </a:rPr>
              <a:t>range</a:t>
            </a:r>
            <a:r>
              <a:rPr sz="1000" b="0" i="0">
                <a:solidFill>
                  <a:srgbClr val="E6EDF3"/>
                </a:solidFill>
                <a:latin typeface="Courier New"/>
              </a:rPr>
              <a:t>(</a:t>
            </a:r>
            <a:r>
              <a:rPr sz="1000" b="0" i="0">
                <a:solidFill>
                  <a:srgbClr val="E6EDF3"/>
                </a:solidFill>
                <a:latin typeface="Courier New"/>
              </a:rPr>
              <a:t>steps</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path</a:t>
            </a:r>
            <a:r>
              <a:rPr sz="1000" b="0" i="0">
                <a:solidFill>
                  <a:srgbClr val="E6EDF3"/>
                </a:solidFill>
                <a:latin typeface="Courier New"/>
              </a:rPr>
              <a:t>.</a:t>
            </a:r>
            <a:r>
              <a:rPr sz="1000" b="0" i="0">
                <a:solidFill>
                  <a:srgbClr val="E6EDF3"/>
                </a:solidFill>
                <a:latin typeface="Courier New"/>
              </a:rPr>
              <a:t>append</a:t>
            </a:r>
            <a:r>
              <a:rPr sz="1000" b="0" i="0">
                <a:solidFill>
                  <a:srgbClr val="E6EDF3"/>
                </a:solidFill>
                <a:latin typeface="Courier New"/>
              </a:rPr>
              <a:t>(</a:t>
            </a:r>
            <a:r>
              <a:rPr sz="1000" b="0" i="0">
                <a:solidFill>
                  <a:srgbClr val="E6EDF3"/>
                </a:solidFill>
                <a:latin typeface="Courier New"/>
              </a:rPr>
              <a:t>indent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indent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move</a:t>
            </a:r>
          </a:p>
        </p:txBody>
      </p:sp>
      <p:sp>
        <p:nvSpPr>
          <p:cNvPr id="5" name="explanation"/>
          <p:cNvSpPr txBox="1"/>
          <p:nvPr/>
        </p:nvSpPr>
        <p:spPr>
          <a:xfrm>
            <a:off x="3727704" y="841248"/>
            <a:ext cx="5050535" cy="957579"/>
          </a:xfrm>
          <a:prstGeom prst="rect">
            <a:avLst/>
          </a:prstGeom>
          <a:noFill/>
        </p:spPr>
        <p:txBody>
          <a:bodyPr wrap="square" lIns="128016" rIns="128016" tIns="18288" bIns="18288" anchor="ctr">
            <a:spAutoFit/>
          </a:bodyPr>
          <a:lstStyle/>
          <a:p>
            <a:r>
              <a:rPr sz="1100" b="0" i="0">
                <a:solidFill>
                  <a:srgbClr val="1F2933"/>
                </a:solidFill>
                <a:latin typeface="Calibri"/>
              </a:rPr>
              <a:t>Each step records the indent of the band, then moves it one place in the current direction.</a:t>
            </a:r>
          </a:p>
        </p:txBody>
      </p:sp>
      <p:sp>
        <p:nvSpPr>
          <p:cNvPr id="6" name="code"/>
          <p:cNvSpPr/>
          <p:nvPr/>
        </p:nvSpPr>
        <p:spPr>
          <a:xfrm>
            <a:off x="365760" y="1853691"/>
            <a:ext cx="3380231" cy="647699"/>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E6EDF3"/>
                </a:solidFill>
                <a:latin typeface="Courier New"/>
              </a:rPr>
              <a:t>        </a:t>
            </a:r>
            <a:r>
              <a:rPr sz="1000" b="0" i="0">
                <a:solidFill>
                  <a:srgbClr val="C9A0FF"/>
                </a:solidFill>
                <a:latin typeface="Courier New"/>
              </a:rPr>
              <a:t>if</a:t>
            </a:r>
            <a:r>
              <a:rPr sz="1000" b="0" i="0">
                <a:solidFill>
                  <a:srgbClr val="E6EDF3"/>
                </a:solidFill>
                <a:latin typeface="Courier New"/>
              </a:rPr>
              <a:t> </a:t>
            </a:r>
            <a:r>
              <a:rPr sz="1000" b="0" i="0">
                <a:solidFill>
                  <a:srgbClr val="E6EDF3"/>
                </a:solidFill>
                <a:latin typeface="Courier New"/>
              </a:rPr>
              <a:t>indent</a:t>
            </a:r>
            <a:r>
              <a:rPr sz="1000" b="0" i="0">
                <a:solidFill>
                  <a:srgbClr val="E6EDF3"/>
                </a:solidFill>
                <a:latin typeface="Courier New"/>
              </a:rPr>
              <a:t> </a:t>
            </a:r>
            <a:r>
              <a:rPr sz="1000" b="0" i="0">
                <a:solidFill>
                  <a:srgbClr val="C9A0FF"/>
                </a:solidFill>
                <a:latin typeface="Courier New"/>
              </a:rPr>
              <a:t>in</a:t>
            </a:r>
            <a:r>
              <a:rPr sz="1000" b="0" i="0">
                <a:solidFill>
                  <a:srgbClr val="E6EDF3"/>
                </a:solidFill>
                <a:latin typeface="Courier New"/>
              </a:rPr>
              <a:t> </a:t>
            </a:r>
            <a:r>
              <a:rPr sz="1000" b="0" i="0">
                <a:solidFill>
                  <a:srgbClr val="E6EDF3"/>
                </a:solidFill>
                <a:latin typeface="Courier New"/>
              </a:rPr>
              <a:t>(</a:t>
            </a:r>
            <a:r>
              <a:rPr sz="1000" b="0" i="0">
                <a:solidFill>
                  <a:srgbClr val="7CC4FF"/>
                </a:solidFill>
                <a:latin typeface="Courier New"/>
              </a:rPr>
              <a:t>0</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width</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move</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move</a:t>
            </a:r>
          </a:p>
          <a:p>
            <a:pPr algn="l"/>
            <a:r>
              <a:rPr sz="1000" b="0" i="0">
                <a:solidFill>
                  <a:srgbClr val="8FA3B8"/>
                </a:solidFill>
                <a:latin typeface="Courier New"/>
              </a:rPr>
              <a:t>&gt;&gt;&gt; </a:t>
            </a:r>
            <a:r>
              <a:rPr sz="1000" b="0" i="0">
                <a:solidFill>
                  <a:srgbClr val="E6EDF3"/>
                </a:solidFill>
                <a:latin typeface="Courier New"/>
              </a:rPr>
              <a:t>    </a:t>
            </a:r>
            <a:r>
              <a:rPr sz="1000" b="0" i="0">
                <a:solidFill>
                  <a:srgbClr val="C9A0FF"/>
                </a:solidFill>
                <a:latin typeface="Courier New"/>
              </a:rPr>
              <a:t>return</a:t>
            </a:r>
            <a:r>
              <a:rPr sz="1000" b="0" i="0">
                <a:solidFill>
                  <a:srgbClr val="E6EDF3"/>
                </a:solidFill>
                <a:latin typeface="Courier New"/>
              </a:rPr>
              <a:t> </a:t>
            </a:r>
            <a:r>
              <a:rPr sz="1000" b="0" i="0">
                <a:solidFill>
                  <a:srgbClr val="E6EDF3"/>
                </a:solidFill>
                <a:latin typeface="Courier New"/>
              </a:rPr>
              <a:t>path</a:t>
            </a:r>
          </a:p>
        </p:txBody>
      </p:sp>
      <p:sp>
        <p:nvSpPr>
          <p:cNvPr id="7" name="explanation"/>
          <p:cNvSpPr txBox="1"/>
          <p:nvPr/>
        </p:nvSpPr>
        <p:spPr>
          <a:xfrm>
            <a:off x="3727704" y="1853691"/>
            <a:ext cx="5050535" cy="647699"/>
          </a:xfrm>
          <a:prstGeom prst="rect">
            <a:avLst/>
          </a:prstGeom>
          <a:noFill/>
        </p:spPr>
        <p:txBody>
          <a:bodyPr wrap="square" lIns="128016" rIns="128016" tIns="18288" bIns="18288" anchor="ctr">
            <a:spAutoFit/>
          </a:bodyPr>
          <a:lstStyle/>
          <a:p>
            <a:r>
              <a:rPr sz="1100" b="0" i="0">
                <a:solidFill>
                  <a:srgbClr val="1F2933"/>
                </a:solidFill>
                <a:latin typeface="Calibri"/>
              </a:rPr>
              <a:t>At the right edge or at zero the direction flips. The function returns the indent of every step.</a:t>
            </a:r>
          </a:p>
        </p:txBody>
      </p:sp>
      <p:sp>
        <p:nvSpPr>
          <p:cNvPr id="8" name="code"/>
          <p:cNvSpPr/>
          <p:nvPr/>
        </p:nvSpPr>
        <p:spPr>
          <a:xfrm>
            <a:off x="365760" y="2556256"/>
            <a:ext cx="3380231" cy="647699"/>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E6EDF3"/>
                </a:solidFill>
                <a:latin typeface="Courier New"/>
              </a:rPr>
              <a:t>path</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zigzag</a:t>
            </a:r>
            <a:r>
              <a:rPr sz="1000" b="0" i="0">
                <a:solidFill>
                  <a:srgbClr val="E6EDF3"/>
                </a:solidFill>
                <a:latin typeface="Courier New"/>
              </a:rPr>
              <a:t>(</a:t>
            </a:r>
            <a:r>
              <a:rPr sz="1000" b="0" i="0">
                <a:solidFill>
                  <a:srgbClr val="7CC4FF"/>
                </a:solidFill>
                <a:latin typeface="Courier New"/>
              </a:rPr>
              <a:t>42</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path</a:t>
            </a:r>
            <a:r>
              <a:rPr sz="1000" b="0" i="0">
                <a:solidFill>
                  <a:srgbClr val="E6EDF3"/>
                </a:solidFill>
                <a:latin typeface="Courier New"/>
              </a:rPr>
              <a:t>[</a:t>
            </a:r>
            <a:r>
              <a:rPr sz="1000" b="0" i="0">
                <a:solidFill>
                  <a:srgbClr val="E6EDF3"/>
                </a:solidFill>
                <a:latin typeface="Courier New"/>
              </a:rPr>
              <a:t>:</a:t>
            </a:r>
            <a:r>
              <a:rPr sz="1000" b="0" i="0">
                <a:solidFill>
                  <a:srgbClr val="7CC4FF"/>
                </a:solidFill>
                <a:latin typeface="Courier New"/>
              </a:rPr>
              <a:t>8</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max</a:t>
            </a:r>
            <a:r>
              <a:rPr sz="1000" b="0" i="0">
                <a:solidFill>
                  <a:srgbClr val="E6EDF3"/>
                </a:solidFill>
                <a:latin typeface="Courier New"/>
              </a:rPr>
              <a:t>(</a:t>
            </a:r>
            <a:r>
              <a:rPr sz="1000" b="0" i="0">
                <a:solidFill>
                  <a:srgbClr val="E6EDF3"/>
                </a:solidFill>
                <a:latin typeface="Courier New"/>
              </a:rPr>
              <a:t>path</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path</a:t>
            </a:r>
            <a:r>
              <a:rPr sz="1000" b="0" i="0">
                <a:solidFill>
                  <a:srgbClr val="E6EDF3"/>
                </a:solidFill>
                <a:latin typeface="Courier New"/>
              </a:rPr>
              <a:t>[</a:t>
            </a:r>
            <a:r>
              <a:rPr sz="1000" b="0" i="0">
                <a:solidFill>
                  <a:srgbClr val="E6EDF3"/>
                </a:solidFill>
                <a:latin typeface="Courier New"/>
              </a:rPr>
              <a:t>-</a:t>
            </a:r>
            <a:r>
              <a:rPr sz="1000" b="0" i="0">
                <a:solidFill>
                  <a:srgbClr val="7CC4FF"/>
                </a:solidFill>
                <a:latin typeface="Courier New"/>
              </a:rPr>
              <a:t>2</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9BE3A8"/>
                </a:solidFill>
                <a:latin typeface="Courier New"/>
              </a:rPr>
              <a:t>' '</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path</a:t>
            </a:r>
            <a:r>
              <a:rPr sz="1000" b="0" i="0">
                <a:solidFill>
                  <a:srgbClr val="E6EDF3"/>
                </a:solidFill>
                <a:latin typeface="Courier New"/>
              </a:rPr>
              <a:t>[</a:t>
            </a:r>
            <a:r>
              <a:rPr sz="1000" b="0" i="0">
                <a:solidFill>
                  <a:srgbClr val="7CC4FF"/>
                </a:solidFill>
                <a:latin typeface="Courier New"/>
              </a:rPr>
              <a:t>5</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8</a:t>
            </a:r>
            <a:r>
              <a:rPr sz="1000" b="0" i="0">
                <a:solidFill>
                  <a:srgbClr val="E6EDF3"/>
                </a:solidFill>
                <a:latin typeface="Courier New"/>
              </a:rPr>
              <a:t>)</a:t>
            </a:r>
          </a:p>
        </p:txBody>
      </p:sp>
      <p:sp>
        <p:nvSpPr>
          <p:cNvPr id="9" name="explanation"/>
          <p:cNvSpPr txBox="1"/>
          <p:nvPr/>
        </p:nvSpPr>
        <p:spPr>
          <a:xfrm>
            <a:off x="3727704" y="2556256"/>
            <a:ext cx="5050535" cy="647699"/>
          </a:xfrm>
          <a:prstGeom prst="rect">
            <a:avLst/>
          </a:prstGeom>
          <a:noFill/>
        </p:spPr>
        <p:txBody>
          <a:bodyPr wrap="square" lIns="128016" rIns="128016" tIns="18288" bIns="18288" anchor="ctr">
            <a:spAutoFit/>
          </a:bodyPr>
          <a:lstStyle/>
          <a:p>
            <a:r>
              <a:rPr sz="1100" b="0" i="0">
                <a:solidFill>
                  <a:srgbClr val="1F2933"/>
                </a:solidFill>
                <a:latin typeface="Calibri"/>
              </a:rPr>
              <a:t>42 steps make one sweep out and back. The last line draws the band of eight stars as it looks at step 5.</a:t>
            </a:r>
          </a:p>
        </p:txBody>
      </p:sp>
      <p:sp>
        <p:nvSpPr>
          <p:cNvPr id="10" name="result label"/>
          <p:cNvSpPr txBox="1"/>
          <p:nvPr/>
        </p:nvSpPr>
        <p:spPr>
          <a:xfrm>
            <a:off x="365760" y="3277108"/>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chart"/>
          <p:cNvGraphicFramePr>
            <a:graphicFrameLocks noGrp="1"/>
          </p:cNvGraphicFramePr>
          <p:nvPr/>
        </p:nvGraphicFramePr>
        <p:xfrm>
          <a:off x="365760" y="3551427"/>
          <a:ext cx="8412480" cy="1057148"/>
        </p:xfrm>
        <a:graphic>
          <a:graphicData uri="http://schemas.openxmlformats.org/drawingml/2006/chart">
            <c:chart xmlns:c="http://schemas.openxmlformats.org/drawingml/2006/chart" r:id="rId3"/>
          </a:graphicData>
        </a:graphic>
      </p:graphicFrame>
      <p:sp>
        <p:nvSpPr>
          <p:cNvPr id="12"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Record the indent; flip the direction at the edges.</a:t>
            </a:r>
          </a:p>
        </p:txBody>
      </p:sp>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39 / 46</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Short program: Spike</a:t>
            </a:r>
          </a:p>
        </p:txBody>
      </p:sp>
      <p:sp>
        <p:nvSpPr>
          <p:cNvPr id="4" name="code"/>
          <p:cNvSpPr/>
          <p:nvPr/>
        </p:nvSpPr>
        <p:spPr>
          <a:xfrm>
            <a:off x="365760" y="841248"/>
            <a:ext cx="8412480" cy="61671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E6EDF3"/>
                </a:solidFill>
                <a:latin typeface="Courier New"/>
              </a:rPr>
              <a:t>lengths</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i</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i</a:t>
            </a:r>
            <a:r>
              <a:rPr sz="1400" b="0" i="0">
                <a:solidFill>
                  <a:srgbClr val="E6EDF3"/>
                </a:solidFill>
                <a:latin typeface="Courier New"/>
              </a:rPr>
              <a:t> </a:t>
            </a:r>
            <a:r>
              <a:rPr sz="1400" b="0" i="0">
                <a:solidFill>
                  <a:srgbClr val="C9A0FF"/>
                </a:solidFill>
                <a:latin typeface="Courier New"/>
              </a:rPr>
              <a:t>for</a:t>
            </a:r>
            <a:r>
              <a:rPr sz="1400" b="0" i="0">
                <a:solidFill>
                  <a:srgbClr val="E6EDF3"/>
                </a:solidFill>
                <a:latin typeface="Courier New"/>
              </a:rPr>
              <a:t> </a:t>
            </a:r>
            <a:r>
              <a:rPr sz="1400" b="0" i="0">
                <a:solidFill>
                  <a:srgbClr val="E6EDF3"/>
                </a:solidFill>
                <a:latin typeface="Courier New"/>
              </a:rPr>
              <a:t>i</a:t>
            </a:r>
            <a:r>
              <a:rPr sz="1400" b="0" i="0">
                <a:solidFill>
                  <a:srgbClr val="E6EDF3"/>
                </a:solidFill>
                <a:latin typeface="Courier New"/>
              </a:rPr>
              <a:t> </a:t>
            </a:r>
            <a:r>
              <a:rPr sz="1400" b="0" i="0">
                <a:solidFill>
                  <a:srgbClr val="C9A0FF"/>
                </a:solidFill>
                <a:latin typeface="Courier New"/>
              </a:rPr>
              <a:t>in</a:t>
            </a:r>
            <a:r>
              <a:rPr sz="1400" b="0" i="0">
                <a:solidFill>
                  <a:srgbClr val="E6EDF3"/>
                </a:solidFill>
                <a:latin typeface="Courier New"/>
              </a:rPr>
              <a:t> </a:t>
            </a:r>
            <a:r>
              <a:rPr sz="1400" b="0" i="0">
                <a:solidFill>
                  <a:srgbClr val="E6EDF3"/>
                </a:solidFill>
                <a:latin typeface="Courier New"/>
              </a:rPr>
              <a:t>range</a:t>
            </a:r>
            <a:r>
              <a:rPr sz="1400" b="0" i="0">
                <a:solidFill>
                  <a:srgbClr val="E6EDF3"/>
                </a:solidFill>
                <a:latin typeface="Courier New"/>
              </a:rPr>
              <a:t>(</a:t>
            </a:r>
            <a:r>
              <a:rPr sz="1400" b="0" i="0">
                <a:solidFill>
                  <a:srgbClr val="7CC4FF"/>
                </a:solidFill>
                <a:latin typeface="Courier New"/>
              </a:rPr>
              <a:t>1</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9</a:t>
            </a:r>
            <a:r>
              <a:rPr sz="1400" b="0" i="0">
                <a:solidFill>
                  <a:srgbClr val="E6EDF3"/>
                </a:solidFill>
                <a:latin typeface="Courier New"/>
              </a:rPr>
              <a:t>)</a:t>
            </a:r>
            <a:r>
              <a:rPr sz="1400" b="0" i="0">
                <a:solidFill>
                  <a:srgbClr val="E6EDF3"/>
                </a:solidFill>
                <a:latin typeface="Courier New"/>
              </a:rPr>
              <a:t>]</a:t>
            </a:r>
          </a:p>
          <a:p>
            <a:pPr algn="l"/>
            <a:r>
              <a:rPr sz="1400" b="0" i="0">
                <a:solidFill>
                  <a:srgbClr val="8FA3B8"/>
                </a:solidFill>
                <a:latin typeface="Courier New"/>
              </a:rPr>
              <a:t>&gt;&gt;&gt; </a:t>
            </a:r>
            <a:r>
              <a:rPr sz="1400" b="0" i="0">
                <a:solidFill>
                  <a:srgbClr val="E6EDF3"/>
                </a:solidFill>
                <a:latin typeface="Courier New"/>
              </a:rPr>
              <a:t>lengths</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i</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i</a:t>
            </a:r>
            <a:r>
              <a:rPr sz="1400" b="0" i="0">
                <a:solidFill>
                  <a:srgbClr val="E6EDF3"/>
                </a:solidFill>
                <a:latin typeface="Courier New"/>
              </a:rPr>
              <a:t> </a:t>
            </a:r>
            <a:r>
              <a:rPr sz="1400" b="0" i="0">
                <a:solidFill>
                  <a:srgbClr val="C9A0FF"/>
                </a:solidFill>
                <a:latin typeface="Courier New"/>
              </a:rPr>
              <a:t>for</a:t>
            </a:r>
            <a:r>
              <a:rPr sz="1400" b="0" i="0">
                <a:solidFill>
                  <a:srgbClr val="E6EDF3"/>
                </a:solidFill>
                <a:latin typeface="Courier New"/>
              </a:rPr>
              <a:t> </a:t>
            </a:r>
            <a:r>
              <a:rPr sz="1400" b="0" i="0">
                <a:solidFill>
                  <a:srgbClr val="E6EDF3"/>
                </a:solidFill>
                <a:latin typeface="Courier New"/>
              </a:rPr>
              <a:t>i</a:t>
            </a:r>
            <a:r>
              <a:rPr sz="1400" b="0" i="0">
                <a:solidFill>
                  <a:srgbClr val="E6EDF3"/>
                </a:solidFill>
                <a:latin typeface="Courier New"/>
              </a:rPr>
              <a:t> </a:t>
            </a:r>
            <a:r>
              <a:rPr sz="1400" b="0" i="0">
                <a:solidFill>
                  <a:srgbClr val="C9A0FF"/>
                </a:solidFill>
                <a:latin typeface="Courier New"/>
              </a:rPr>
              <a:t>in</a:t>
            </a:r>
            <a:r>
              <a:rPr sz="1400" b="0" i="0">
                <a:solidFill>
                  <a:srgbClr val="E6EDF3"/>
                </a:solidFill>
                <a:latin typeface="Courier New"/>
              </a:rPr>
              <a:t> </a:t>
            </a:r>
            <a:r>
              <a:rPr sz="1400" b="0" i="0">
                <a:solidFill>
                  <a:srgbClr val="E6EDF3"/>
                </a:solidFill>
                <a:latin typeface="Courier New"/>
              </a:rPr>
              <a:t>range</a:t>
            </a:r>
            <a:r>
              <a:rPr sz="1400" b="0" i="0">
                <a:solidFill>
                  <a:srgbClr val="E6EDF3"/>
                </a:solidFill>
                <a:latin typeface="Courier New"/>
              </a:rPr>
              <a:t>(</a:t>
            </a:r>
            <a:r>
              <a:rPr sz="1400" b="0" i="0">
                <a:solidFill>
                  <a:srgbClr val="7CC4FF"/>
                </a:solidFill>
                <a:latin typeface="Courier New"/>
              </a:rPr>
              <a:t>7</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1</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a:t>
            </a:r>
            <a:r>
              <a:rPr sz="1400" b="0" i="0">
                <a:solidFill>
                  <a:srgbClr val="7CC4FF"/>
                </a:solidFill>
                <a:latin typeface="Courier New"/>
              </a:rPr>
              <a:t>1</a:t>
            </a:r>
            <a:r>
              <a:rPr sz="1400" b="0" i="0">
                <a:solidFill>
                  <a:srgbClr val="E6EDF3"/>
                </a:solidFill>
                <a:latin typeface="Courier New"/>
              </a:rPr>
              <a:t>)</a:t>
            </a:r>
            <a:r>
              <a:rPr sz="1400" b="0" i="0">
                <a:solidFill>
                  <a:srgbClr val="E6EDF3"/>
                </a:solidFill>
                <a:latin typeface="Courier New"/>
              </a:rPr>
              <a:t>]</a:t>
            </a:r>
          </a:p>
        </p:txBody>
      </p:sp>
      <p:sp>
        <p:nvSpPr>
          <p:cNvPr id="5" name="explanation"/>
          <p:cNvSpPr txBox="1"/>
          <p:nvPr/>
        </p:nvSpPr>
        <p:spPr>
          <a:xfrm>
            <a:off x="365760" y="1467104"/>
            <a:ext cx="8412480" cy="326453"/>
          </a:xfrm>
          <a:prstGeom prst="rect">
            <a:avLst/>
          </a:prstGeom>
          <a:noFill/>
        </p:spPr>
        <p:txBody>
          <a:bodyPr wrap="square" lIns="109728" rIns="109728" tIns="18288" bIns="18288" anchor="ctr">
            <a:spAutoFit/>
          </a:bodyPr>
          <a:lstStyle/>
          <a:p>
            <a:r>
              <a:rPr sz="1250" b="0" i="0">
                <a:solidFill>
                  <a:srgbClr val="1F2933"/>
                </a:solidFill>
                <a:latin typeface="Calibri"/>
              </a:rPr>
              <a:t>The lines of the spike grow as the squares 1 to 64 and shrink again from 49 down to 4.</a:t>
            </a:r>
          </a:p>
        </p:txBody>
      </p:sp>
      <p:sp>
        <p:nvSpPr>
          <p:cNvPr id="6" name="code"/>
          <p:cNvSpPr/>
          <p:nvPr/>
        </p:nvSpPr>
        <p:spPr>
          <a:xfrm>
            <a:off x="365760" y="1839277"/>
            <a:ext cx="8412480" cy="61671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lengths</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len</a:t>
            </a:r>
            <a:r>
              <a:rPr sz="1400" b="0" i="0">
                <a:solidFill>
                  <a:srgbClr val="E6EDF3"/>
                </a:solidFill>
                <a:latin typeface="Courier New"/>
              </a:rPr>
              <a:t>(</a:t>
            </a:r>
            <a:r>
              <a:rPr sz="1400" b="0" i="0">
                <a:solidFill>
                  <a:srgbClr val="E6EDF3"/>
                </a:solidFill>
                <a:latin typeface="Courier New"/>
              </a:rPr>
              <a:t>lengths</a:t>
            </a:r>
            <a:r>
              <a:rPr sz="1400" b="0" i="0">
                <a:solidFill>
                  <a:srgbClr val="E6EDF3"/>
                </a:solidFill>
                <a:latin typeface="Courier New"/>
              </a:rPr>
              <a:t>)</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9BE3A8"/>
                </a:solidFill>
                <a:latin typeface="Courier New"/>
              </a:rPr>
              <a:t>'-'</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lengths</a:t>
            </a:r>
            <a:r>
              <a:rPr sz="1400" b="0" i="0">
                <a:solidFill>
                  <a:srgbClr val="E6EDF3"/>
                </a:solidFill>
                <a:latin typeface="Courier New"/>
              </a:rPr>
              <a:t>[</a:t>
            </a:r>
            <a:r>
              <a:rPr sz="1400" b="0" i="0">
                <a:solidFill>
                  <a:srgbClr val="7CC4FF"/>
                </a:solidFill>
                <a:latin typeface="Courier New"/>
              </a:rPr>
              <a:t>3</a:t>
            </a:r>
            <a:r>
              <a:rPr sz="1400" b="0" i="0">
                <a:solidFill>
                  <a:srgbClr val="E6EDF3"/>
                </a:solidFill>
                <a:latin typeface="Courier New"/>
              </a:rPr>
              <a:t>]</a:t>
            </a:r>
            <a:r>
              <a:rPr sz="1400" b="0" i="0">
                <a:solidFill>
                  <a:srgbClr val="E6EDF3"/>
                </a:solidFill>
                <a:latin typeface="Courier New"/>
              </a:rPr>
              <a:t>)</a:t>
            </a:r>
          </a:p>
        </p:txBody>
      </p:sp>
      <p:sp>
        <p:nvSpPr>
          <p:cNvPr id="7" name="explanation"/>
          <p:cNvSpPr txBox="1"/>
          <p:nvPr/>
        </p:nvSpPr>
        <p:spPr>
          <a:xfrm>
            <a:off x="365760" y="2465133"/>
            <a:ext cx="8412480" cy="326453"/>
          </a:xfrm>
          <a:prstGeom prst="rect">
            <a:avLst/>
          </a:prstGeom>
          <a:noFill/>
        </p:spPr>
        <p:txBody>
          <a:bodyPr wrap="square" lIns="109728" rIns="109728" tIns="18288" bIns="18288" anchor="ctr">
            <a:spAutoFit/>
          </a:bodyPr>
          <a:lstStyle/>
          <a:p>
            <a:r>
              <a:rPr sz="1250" b="0" i="0">
                <a:solidFill>
                  <a:srgbClr val="1F2933"/>
                </a:solidFill>
                <a:latin typeface="Calibri"/>
              </a:rPr>
              <a:t>The string '-' repeated n times draws one line. Here is the line for the fourth square.</a:t>
            </a:r>
          </a:p>
        </p:txBody>
      </p:sp>
      <p:sp>
        <p:nvSpPr>
          <p:cNvPr id="8" name="result label"/>
          <p:cNvSpPr txBox="1"/>
          <p:nvPr/>
        </p:nvSpPr>
        <p:spPr>
          <a:xfrm>
            <a:off x="365760" y="2855595"/>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chart"/>
          <p:cNvGraphicFramePr>
            <a:graphicFrameLocks noGrp="1"/>
          </p:cNvGraphicFramePr>
          <p:nvPr/>
        </p:nvGraphicFramePr>
        <p:xfrm>
          <a:off x="365760" y="3129915"/>
          <a:ext cx="6056985" cy="1463040"/>
        </p:xfrm>
        <a:graphic>
          <a:graphicData uri="http://schemas.openxmlformats.org/drawingml/2006/chart">
            <c:chart xmlns:c="http://schemas.openxmlformats.org/drawingml/2006/chart" r:id="rId3"/>
          </a:graphicData>
        </a:graphic>
      </p:graphicFrame>
      <p:graphicFrame>
        <p:nvGraphicFramePr>
          <p:cNvPr id="10" name="table"/>
          <p:cNvGraphicFramePr>
            <a:graphicFrameLocks noGrp="1"/>
          </p:cNvGraphicFramePr>
          <p:nvPr/>
        </p:nvGraphicFramePr>
        <p:xfrm>
          <a:off x="6759244" y="3129915"/>
          <a:ext cx="2018995" cy="1097280"/>
        </p:xfrm>
        <a:graphic>
          <a:graphicData uri="http://schemas.openxmlformats.org/drawingml/2006/table">
            <a:tbl>
              <a:tblPr firstRow="0" bandRow="0"/>
              <a:tblGrid>
                <a:gridCol w="897331"/>
                <a:gridCol w="1121664"/>
              </a:tblGrid>
              <a:tr h="274320">
                <a:tc>
                  <a:txBody>
                    <a:bodyPr wrap="square"/>
                    <a:lstStyle/>
                    <a:p>
                      <a:pPr algn="ctr"/>
                      <a:r>
                        <a:rPr sz="1050" b="1" i="0">
                          <a:solidFill>
                            <a:srgbClr val="FFFFFF"/>
                          </a:solidFill>
                          <a:latin typeface="Calibri"/>
                        </a:rPr>
                        <a:t>Line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050" b="1" i="0">
                          <a:solidFill>
                            <a:srgbClr val="FFFFFF"/>
                          </a:solidFill>
                          <a:latin typeface="Calibri"/>
                        </a:rPr>
                        <a:t>Dashes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pPr algn="ctr"/>
                      <a:r>
                        <a:rPr sz="1050" b="0" i="0">
                          <a:solidFill>
                            <a:srgbClr val="1F2933"/>
                          </a:solidFill>
                          <a:latin typeface="Courier New"/>
                        </a:rPr>
                        <a:t>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50" b="0" i="0">
                          <a:solidFill>
                            <a:srgbClr val="1F2933"/>
                          </a:solidFill>
                          <a:latin typeface="Courier New"/>
                        </a:rPr>
                        <a:t>16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pPr algn="ctr"/>
                      <a:r>
                        <a:rPr sz="1050" b="0" i="0">
                          <a:solidFill>
                            <a:srgbClr val="1F2933"/>
                          </a:solidFill>
                          <a:latin typeface="Courier New"/>
                        </a:rPr>
                        <a:t>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50" b="0" i="0">
                          <a:solidFill>
                            <a:srgbClr val="1F2933"/>
                          </a:solidFill>
                          <a:latin typeface="Courier New"/>
                        </a:rPr>
                        <a:t>64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4320">
                <a:tc>
                  <a:txBody>
                    <a:bodyPr wrap="square"/>
                    <a:lstStyle/>
                    <a:p>
                      <a:pPr algn="ctr"/>
                      <a:r>
                        <a:rPr sz="1050" b="0" i="0">
                          <a:solidFill>
                            <a:srgbClr val="1F2933"/>
                          </a:solidFill>
                          <a:latin typeface="Courier New"/>
                        </a:rPr>
                        <a:t>14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50" b="0" i="0">
                          <a:solidFill>
                            <a:srgbClr val="1F2933"/>
                          </a:solidFill>
                          <a:latin typeface="Courier New"/>
                        </a:rPr>
                        <a:t>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1"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Squares grow and shrink; a string times n is a line.</a:t>
            </a:r>
          </a:p>
        </p:txBody>
      </p:sp>
      <p:sp>
        <p:nvSpPr>
          <p:cNvPr id="13"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40 / 46</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Practice program: the Collatz sequence</a:t>
            </a:r>
          </a:p>
        </p:txBody>
      </p:sp>
      <p:sp>
        <p:nvSpPr>
          <p:cNvPr id="4" name="code"/>
          <p:cNvSpPr/>
          <p:nvPr/>
        </p:nvSpPr>
        <p:spPr>
          <a:xfrm>
            <a:off x="365760" y="841248"/>
            <a:ext cx="2926080" cy="92659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&gt;&gt;&gt; </a:t>
            </a:r>
            <a:r>
              <a:rPr sz="1200" b="0" i="0">
                <a:solidFill>
                  <a:srgbClr val="C9A0FF"/>
                </a:solidFill>
                <a:latin typeface="Courier New"/>
              </a:rPr>
              <a:t>def</a:t>
            </a:r>
            <a:r>
              <a:rPr sz="1200" b="0" i="0">
                <a:solidFill>
                  <a:srgbClr val="E6EDF3"/>
                </a:solidFill>
                <a:latin typeface="Courier New"/>
              </a:rPr>
              <a:t> </a:t>
            </a:r>
            <a:r>
              <a:rPr sz="1200" b="0" i="0">
                <a:solidFill>
                  <a:srgbClr val="E6EDF3"/>
                </a:solidFill>
                <a:latin typeface="Courier New"/>
              </a:rPr>
              <a:t>collatz</a:t>
            </a:r>
            <a:r>
              <a:rPr sz="1200" b="0" i="0">
                <a:solidFill>
                  <a:srgbClr val="E6EDF3"/>
                </a:solidFill>
                <a:latin typeface="Courier New"/>
              </a:rPr>
              <a:t>(</a:t>
            </a:r>
            <a:r>
              <a:rPr sz="1200" b="0" i="0">
                <a:solidFill>
                  <a:srgbClr val="E6EDF3"/>
                </a:solidFill>
                <a:latin typeface="Courier New"/>
              </a:rPr>
              <a:t>n</a:t>
            </a:r>
            <a:r>
              <a:rPr sz="1200" b="0" i="0">
                <a:solidFill>
                  <a:srgbClr val="E6EDF3"/>
                </a:solidFill>
                <a:latin typeface="Courier New"/>
              </a:rPr>
              <a:t>)</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    </a:t>
            </a:r>
            <a:r>
              <a:rPr sz="1200" b="0" i="0">
                <a:solidFill>
                  <a:srgbClr val="C9A0FF"/>
                </a:solidFill>
                <a:latin typeface="Courier New"/>
              </a:rPr>
              <a:t>if</a:t>
            </a:r>
            <a:r>
              <a:rPr sz="1200" b="0" i="0">
                <a:solidFill>
                  <a:srgbClr val="E6EDF3"/>
                </a:solidFill>
                <a:latin typeface="Courier New"/>
              </a:rPr>
              <a:t> </a:t>
            </a:r>
            <a:r>
              <a:rPr sz="1200" b="0" i="0">
                <a:solidFill>
                  <a:srgbClr val="E6EDF3"/>
                </a:solidFill>
                <a:latin typeface="Courier New"/>
              </a:rPr>
              <a:t>n</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7CC4FF"/>
                </a:solidFill>
                <a:latin typeface="Courier New"/>
              </a:rPr>
              <a:t>2</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7CC4FF"/>
                </a:solidFill>
                <a:latin typeface="Courier New"/>
              </a:rPr>
              <a:t>0</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        </a:t>
            </a:r>
            <a:r>
              <a:rPr sz="1200" b="0" i="0">
                <a:solidFill>
                  <a:srgbClr val="C9A0FF"/>
                </a:solidFill>
                <a:latin typeface="Courier New"/>
              </a:rPr>
              <a:t>return</a:t>
            </a:r>
            <a:r>
              <a:rPr sz="1200" b="0" i="0">
                <a:solidFill>
                  <a:srgbClr val="E6EDF3"/>
                </a:solidFill>
                <a:latin typeface="Courier New"/>
              </a:rPr>
              <a:t> </a:t>
            </a:r>
            <a:r>
              <a:rPr sz="1200" b="0" i="0">
                <a:solidFill>
                  <a:srgbClr val="E6EDF3"/>
                </a:solidFill>
                <a:latin typeface="Courier New"/>
              </a:rPr>
              <a:t>n</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7CC4FF"/>
                </a:solidFill>
                <a:latin typeface="Courier New"/>
              </a:rPr>
              <a:t>2</a:t>
            </a:r>
          </a:p>
          <a:p>
            <a:pPr algn="l"/>
            <a:r>
              <a:rPr sz="1200" b="0" i="0">
                <a:solidFill>
                  <a:srgbClr val="8FA3B8"/>
                </a:solidFill>
                <a:latin typeface="Courier New"/>
              </a:rPr>
              <a:t>&gt;&gt;&gt; </a:t>
            </a:r>
            <a:r>
              <a:rPr sz="1200" b="0" i="0">
                <a:solidFill>
                  <a:srgbClr val="E6EDF3"/>
                </a:solidFill>
                <a:latin typeface="Courier New"/>
              </a:rPr>
              <a:t>    </a:t>
            </a:r>
            <a:r>
              <a:rPr sz="1200" b="0" i="0">
                <a:solidFill>
                  <a:srgbClr val="C9A0FF"/>
                </a:solidFill>
                <a:latin typeface="Courier New"/>
              </a:rPr>
              <a:t>return</a:t>
            </a:r>
            <a:r>
              <a:rPr sz="1200" b="0" i="0">
                <a:solidFill>
                  <a:srgbClr val="E6EDF3"/>
                </a:solidFill>
                <a:latin typeface="Courier New"/>
              </a:rPr>
              <a:t> </a:t>
            </a:r>
            <a:r>
              <a:rPr sz="1200" b="0" i="0">
                <a:solidFill>
                  <a:srgbClr val="7CC4FF"/>
                </a:solidFill>
                <a:latin typeface="Courier New"/>
              </a:rPr>
              <a:t>3</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n</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7CC4FF"/>
                </a:solidFill>
                <a:latin typeface="Courier New"/>
              </a:rPr>
              <a:t>1</a:t>
            </a:r>
          </a:p>
        </p:txBody>
      </p:sp>
      <p:sp>
        <p:nvSpPr>
          <p:cNvPr id="5" name="explanation"/>
          <p:cNvSpPr txBox="1"/>
          <p:nvPr/>
        </p:nvSpPr>
        <p:spPr>
          <a:xfrm>
            <a:off x="3273552" y="841248"/>
            <a:ext cx="5504687" cy="926592"/>
          </a:xfrm>
          <a:prstGeom prst="rect">
            <a:avLst/>
          </a:prstGeom>
          <a:noFill/>
        </p:spPr>
        <p:txBody>
          <a:bodyPr wrap="square" lIns="128016" rIns="128016" tIns="18288" bIns="18288" anchor="ctr">
            <a:spAutoFit/>
          </a:bodyPr>
          <a:lstStyle/>
          <a:p>
            <a:r>
              <a:rPr sz="1250" b="0" i="0">
                <a:solidFill>
                  <a:srgbClr val="1F2933"/>
                </a:solidFill>
                <a:latin typeface="Calibri"/>
              </a:rPr>
              <a:t>One step of the rule: halve an even number, otherwise triple it and add one.</a:t>
            </a:r>
          </a:p>
        </p:txBody>
      </p:sp>
      <p:sp>
        <p:nvSpPr>
          <p:cNvPr id="6" name="code"/>
          <p:cNvSpPr/>
          <p:nvPr/>
        </p:nvSpPr>
        <p:spPr>
          <a:xfrm>
            <a:off x="365760" y="1822704"/>
            <a:ext cx="2926080" cy="111252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&gt;&gt;&gt; </a:t>
            </a:r>
            <a:r>
              <a:rPr sz="1200" b="0" i="0">
                <a:solidFill>
                  <a:srgbClr val="E6EDF3"/>
                </a:solidFill>
                <a:latin typeface="Courier New"/>
              </a:rPr>
              <a:t>n</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seq</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7CC4FF"/>
                </a:solidFill>
                <a:latin typeface="Courier New"/>
              </a:rPr>
              <a:t>6</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r>
              <a:rPr sz="1200" b="0" i="0">
                <a:solidFill>
                  <a:srgbClr val="7CC4FF"/>
                </a:solidFill>
                <a:latin typeface="Courier New"/>
              </a:rPr>
              <a:t>6</a:t>
            </a:r>
            <a:r>
              <a:rPr sz="1200" b="0" i="0">
                <a:solidFill>
                  <a:srgbClr val="E6EDF3"/>
                </a:solidFill>
                <a:latin typeface="Courier New"/>
              </a:rPr>
              <a:t>]</a:t>
            </a:r>
          </a:p>
          <a:p>
            <a:pPr algn="l"/>
            <a:r>
              <a:rPr sz="1200" b="0" i="0">
                <a:solidFill>
                  <a:srgbClr val="8FA3B8"/>
                </a:solidFill>
                <a:latin typeface="Courier New"/>
              </a:rPr>
              <a:t>&gt;&gt;&gt; </a:t>
            </a:r>
            <a:r>
              <a:rPr sz="1200" b="0" i="0">
                <a:solidFill>
                  <a:srgbClr val="C9A0FF"/>
                </a:solidFill>
                <a:latin typeface="Courier New"/>
              </a:rPr>
              <a:t>while</a:t>
            </a:r>
            <a:r>
              <a:rPr sz="1200" b="0" i="0">
                <a:solidFill>
                  <a:srgbClr val="E6EDF3"/>
                </a:solidFill>
                <a:latin typeface="Courier New"/>
              </a:rPr>
              <a:t> </a:t>
            </a:r>
            <a:r>
              <a:rPr sz="1200" b="0" i="0">
                <a:solidFill>
                  <a:srgbClr val="E6EDF3"/>
                </a:solidFill>
                <a:latin typeface="Courier New"/>
              </a:rPr>
              <a:t>n</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7CC4FF"/>
                </a:solidFill>
                <a:latin typeface="Courier New"/>
              </a:rPr>
              <a:t>1</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    </a:t>
            </a:r>
            <a:r>
              <a:rPr sz="1200" b="0" i="0">
                <a:solidFill>
                  <a:srgbClr val="E6EDF3"/>
                </a:solidFill>
                <a:latin typeface="Courier New"/>
              </a:rPr>
              <a:t>n</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collatz</a:t>
            </a:r>
            <a:r>
              <a:rPr sz="1200" b="0" i="0">
                <a:solidFill>
                  <a:srgbClr val="E6EDF3"/>
                </a:solidFill>
                <a:latin typeface="Courier New"/>
              </a:rPr>
              <a:t>(</a:t>
            </a:r>
            <a:r>
              <a:rPr sz="1200" b="0" i="0">
                <a:solidFill>
                  <a:srgbClr val="E6EDF3"/>
                </a:solidFill>
                <a:latin typeface="Courier New"/>
              </a:rPr>
              <a:t>n</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    </a:t>
            </a:r>
            <a:r>
              <a:rPr sz="1200" b="0" i="0">
                <a:solidFill>
                  <a:srgbClr val="E6EDF3"/>
                </a:solidFill>
                <a:latin typeface="Courier New"/>
              </a:rPr>
              <a:t>seq</a:t>
            </a:r>
            <a:r>
              <a:rPr sz="1200" b="0" i="0">
                <a:solidFill>
                  <a:srgbClr val="E6EDF3"/>
                </a:solidFill>
                <a:latin typeface="Courier New"/>
              </a:rPr>
              <a:t>.</a:t>
            </a:r>
            <a:r>
              <a:rPr sz="1200" b="0" i="0">
                <a:solidFill>
                  <a:srgbClr val="E6EDF3"/>
                </a:solidFill>
                <a:latin typeface="Courier New"/>
              </a:rPr>
              <a:t>append</a:t>
            </a:r>
            <a:r>
              <a:rPr sz="1200" b="0" i="0">
                <a:solidFill>
                  <a:srgbClr val="E6EDF3"/>
                </a:solidFill>
                <a:latin typeface="Courier New"/>
              </a:rPr>
              <a:t>(</a:t>
            </a:r>
            <a:r>
              <a:rPr sz="1200" b="0" i="0">
                <a:solidFill>
                  <a:srgbClr val="E6EDF3"/>
                </a:solidFill>
                <a:latin typeface="Courier New"/>
              </a:rPr>
              <a:t>n</a:t>
            </a:r>
            <a:r>
              <a:rPr sz="1200" b="0" i="0">
                <a:solidFill>
                  <a:srgbClr val="E6EDF3"/>
                </a:solidFill>
                <a:latin typeface="Courier New"/>
              </a:rPr>
              <a:t>)</a:t>
            </a:r>
          </a:p>
          <a:p>
            <a:pPr algn="l"/>
            <a:r>
              <a:rPr sz="1200" b="0" i="0">
                <a:solidFill>
                  <a:srgbClr val="8FA3B8"/>
                </a:solidFill>
                <a:latin typeface="Courier New"/>
              </a:rPr>
              <a:t>&gt;&gt;&gt; </a:t>
            </a:r>
            <a:r>
              <a:rPr sz="1200" b="0" i="0">
                <a:solidFill>
                  <a:srgbClr val="C9A0FF"/>
                </a:solidFill>
                <a:latin typeface="Courier New"/>
              </a:rPr>
              <a:t>print</a:t>
            </a:r>
            <a:r>
              <a:rPr sz="1200" b="0" i="0">
                <a:solidFill>
                  <a:srgbClr val="E6EDF3"/>
                </a:solidFill>
                <a:latin typeface="Courier New"/>
              </a:rPr>
              <a:t>(</a:t>
            </a:r>
            <a:r>
              <a:rPr sz="1200" b="0" i="0">
                <a:solidFill>
                  <a:srgbClr val="E6EDF3"/>
                </a:solidFill>
                <a:latin typeface="Courier New"/>
              </a:rPr>
              <a:t>seq</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len</a:t>
            </a:r>
            <a:r>
              <a:rPr sz="1200" b="0" i="0">
                <a:solidFill>
                  <a:srgbClr val="E6EDF3"/>
                </a:solidFill>
                <a:latin typeface="Courier New"/>
              </a:rPr>
              <a:t>(</a:t>
            </a:r>
            <a:r>
              <a:rPr sz="1200" b="0" i="0">
                <a:solidFill>
                  <a:srgbClr val="E6EDF3"/>
                </a:solidFill>
                <a:latin typeface="Courier New"/>
              </a:rPr>
              <a:t>seq</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7CC4FF"/>
                </a:solidFill>
                <a:latin typeface="Courier New"/>
              </a:rPr>
              <a:t>1</a:t>
            </a:r>
            <a:r>
              <a:rPr sz="1200" b="0" i="0">
                <a:solidFill>
                  <a:srgbClr val="E6EDF3"/>
                </a:solidFill>
                <a:latin typeface="Courier New"/>
              </a:rPr>
              <a:t>)</a:t>
            </a:r>
          </a:p>
        </p:txBody>
      </p:sp>
      <p:sp>
        <p:nvSpPr>
          <p:cNvPr id="7" name="explanation"/>
          <p:cNvSpPr txBox="1"/>
          <p:nvPr/>
        </p:nvSpPr>
        <p:spPr>
          <a:xfrm>
            <a:off x="3273552" y="1822704"/>
            <a:ext cx="5504687" cy="1112520"/>
          </a:xfrm>
          <a:prstGeom prst="rect">
            <a:avLst/>
          </a:prstGeom>
          <a:noFill/>
        </p:spPr>
        <p:txBody>
          <a:bodyPr wrap="square" lIns="128016" rIns="128016" tIns="18288" bIns="18288" anchor="ctr">
            <a:spAutoFit/>
          </a:bodyPr>
          <a:lstStyle/>
          <a:p>
            <a:r>
              <a:rPr sz="1250" b="0" i="0">
                <a:solidFill>
                  <a:srgbClr val="1F2933"/>
                </a:solidFill>
                <a:latin typeface="Calibri"/>
              </a:rPr>
              <a:t>Repeat the step until the number reaches 1. Nobody has proved that every start ends there.</a:t>
            </a:r>
          </a:p>
        </p:txBody>
      </p:sp>
      <p:sp>
        <p:nvSpPr>
          <p:cNvPr id="8" name="result label"/>
          <p:cNvSpPr txBox="1"/>
          <p:nvPr/>
        </p:nvSpPr>
        <p:spPr>
          <a:xfrm>
            <a:off x="365760" y="3008376"/>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chart"/>
          <p:cNvGraphicFramePr>
            <a:graphicFrameLocks noGrp="1"/>
          </p:cNvGraphicFramePr>
          <p:nvPr/>
        </p:nvGraphicFramePr>
        <p:xfrm>
          <a:off x="365760" y="3282696"/>
          <a:ext cx="5215737" cy="1325880"/>
        </p:xfrm>
        <a:graphic>
          <a:graphicData uri="http://schemas.openxmlformats.org/drawingml/2006/chart">
            <c:chart xmlns:c="http://schemas.openxmlformats.org/drawingml/2006/chart" r:id="rId3"/>
          </a:graphicData>
        </a:graphic>
      </p:graphicFrame>
      <p:graphicFrame>
        <p:nvGraphicFramePr>
          <p:cNvPr id="10" name="table"/>
          <p:cNvGraphicFramePr>
            <a:graphicFrameLocks noGrp="1"/>
          </p:cNvGraphicFramePr>
          <p:nvPr/>
        </p:nvGraphicFramePr>
        <p:xfrm>
          <a:off x="5917996" y="3282696"/>
          <a:ext cx="2860242" cy="932688"/>
        </p:xfrm>
        <a:graphic>
          <a:graphicData uri="http://schemas.openxmlformats.org/drawingml/2006/table">
            <a:tbl>
              <a:tblPr firstRow="0" bandRow="0"/>
              <a:tblGrid>
                <a:gridCol w="1320112"/>
                <a:gridCol w="1540130"/>
              </a:tblGrid>
              <a:tr h="310896">
                <a:tc>
                  <a:txBody>
                    <a:bodyPr wrap="square"/>
                    <a:lstStyle/>
                    <a:p>
                      <a:r>
                        <a:rPr sz="1050" b="1" i="0">
                          <a:solidFill>
                            <a:srgbClr val="FFFFFF"/>
                          </a:solidFill>
                          <a:latin typeface="Calibri"/>
                        </a:rPr>
                        <a:t>The number is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Next number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10896">
                <a:tc>
                  <a:txBody>
                    <a:bodyPr wrap="square"/>
                    <a:lstStyle/>
                    <a:p>
                      <a:r>
                        <a:rPr sz="1050" b="0" i="0">
                          <a:solidFill>
                            <a:srgbClr val="1F2933"/>
                          </a:solidFill>
                          <a:latin typeface="Calibri"/>
                        </a:rPr>
                        <a:t>even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n // 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10896">
                <a:tc>
                  <a:txBody>
                    <a:bodyPr wrap="square"/>
                    <a:lstStyle/>
                    <a:p>
                      <a:r>
                        <a:rPr sz="1050" b="0" i="0">
                          <a:solidFill>
                            <a:srgbClr val="1F2933"/>
                          </a:solidFill>
                          <a:latin typeface="Calibri"/>
                        </a:rPr>
                        <a:t>odd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3 * n + 1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1" name="TextBox 10"/>
          <p:cNvSpPr txBox="1"/>
          <p:nvPr/>
        </p:nvSpPr>
        <p:spPr>
          <a:xfrm>
            <a:off x="5917996" y="4288536"/>
            <a:ext cx="2860243" cy="365760"/>
          </a:xfrm>
          <a:prstGeom prst="rect">
            <a:avLst/>
          </a:prstGeom>
          <a:noFill/>
        </p:spPr>
        <p:txBody>
          <a:bodyPr wrap="square" lIns="45720" rIns="45720" tIns="27432" bIns="27432" anchor="t">
            <a:spAutoFit/>
          </a:bodyPr>
          <a:lstStyle/>
          <a:p>
            <a:r>
              <a:rPr sz="1050" b="1" i="0">
                <a:solidFill>
                  <a:srgbClr val="1F2933"/>
                </a:solidFill>
                <a:latin typeface="Calibri"/>
              </a:rPr>
              <a:t>steps to reach 1: 8</a:t>
            </a:r>
          </a:p>
        </p:txBody>
      </p:sp>
      <p:sp>
        <p:nvSpPr>
          <p:cNvPr id="12"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One function is one step; a loop repeats it.</a:t>
            </a:r>
          </a:p>
        </p:txBody>
      </p:sp>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41 / 46</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Story: an unsolved problem fits in a small function</a:t>
            </a:r>
          </a:p>
        </p:txBody>
      </p:sp>
      <p:pic>
        <p:nvPicPr>
          <p:cNvPr id="4" name="photo collatz" descr="Picture for the story: an unsolved problem fits in a small function"/>
          <p:cNvPicPr>
            <a:picLocks noChangeAspect="1"/>
          </p:cNvPicPr>
          <p:nvPr/>
        </p:nvPicPr>
        <p:blipFill>
          <a:blip r:embed="rId3"/>
          <a:stretch>
            <a:fillRect/>
          </a:stretch>
        </p:blipFill>
        <p:spPr>
          <a:xfrm>
            <a:off x="397007" y="868680"/>
            <a:ext cx="2589265" cy="2926080"/>
          </a:xfrm>
          <a:prstGeom prst="rect">
            <a:avLst/>
          </a:prstGeom>
        </p:spPr>
      </p:pic>
      <p:sp>
        <p:nvSpPr>
          <p:cNvPr id="5" name="credit"/>
          <p:cNvSpPr txBox="1"/>
          <p:nvPr/>
        </p:nvSpPr>
        <p:spPr>
          <a:xfrm>
            <a:off x="365760" y="3840480"/>
            <a:ext cx="2651760" cy="731520"/>
          </a:xfrm>
          <a:prstGeom prst="rect">
            <a:avLst/>
          </a:prstGeom>
          <a:noFill/>
        </p:spPr>
        <p:txBody>
          <a:bodyPr wrap="square" lIns="45720" rIns="45720" tIns="27432" bIns="27432" anchor="t">
            <a:spAutoFit/>
          </a:bodyPr>
          <a:lstStyle/>
          <a:p>
            <a:r>
              <a:rPr sz="950" b="0" i="0">
                <a:solidFill>
                  <a:srgbClr val="5B6773"/>
                </a:solidFill>
                <a:latin typeface="Calibri"/>
              </a:rPr>
              <a:t>Paul Erdős, Budapest, autumn 1992. Photo: Topsy Kretts, CC BY 3.0, Wikimedia Commons.</a:t>
            </a:r>
          </a:p>
        </p:txBody>
      </p:sp>
      <p:sp>
        <p:nvSpPr>
          <p:cNvPr id="6" name="card"/>
          <p:cNvSpPr/>
          <p:nvPr/>
        </p:nvSpPr>
        <p:spPr>
          <a:xfrm>
            <a:off x="3200400" y="841248"/>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who"/>
          <p:cNvSpPr txBox="1"/>
          <p:nvPr/>
        </p:nvSpPr>
        <p:spPr>
          <a:xfrm>
            <a:off x="3246120" y="841248"/>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WHO  </a:t>
            </a:r>
            <a:r>
              <a:rPr sz="1300" b="0" i="0">
                <a:solidFill>
                  <a:srgbClr val="1F2933"/>
                </a:solidFill>
                <a:latin typeface="Calibri"/>
              </a:rPr>
              <a:t>Lothar Collatz, who posed the problem, and Paul Erdős, who judged it.</a:t>
            </a:r>
          </a:p>
        </p:txBody>
      </p:sp>
      <p:sp>
        <p:nvSpPr>
          <p:cNvPr id="8" name="card"/>
          <p:cNvSpPr/>
          <p:nvPr/>
        </p:nvSpPr>
        <p:spPr>
          <a:xfrm>
            <a:off x="3200400" y="1463040"/>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hat"/>
          <p:cNvSpPr txBox="1"/>
          <p:nvPr/>
        </p:nvSpPr>
        <p:spPr>
          <a:xfrm>
            <a:off x="3246120" y="1463040"/>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WHAT  </a:t>
            </a:r>
            <a:r>
              <a:rPr sz="1300" b="0" i="0">
                <a:solidFill>
                  <a:srgbClr val="1F2933"/>
                </a:solidFill>
                <a:latin typeface="Calibri"/>
              </a:rPr>
              <a:t>The rule: halve an even number, triple an odd number and add one. Does every start reach 1?</a:t>
            </a:r>
          </a:p>
        </p:txBody>
      </p:sp>
      <p:sp>
        <p:nvSpPr>
          <p:cNvPr id="10" name="card"/>
          <p:cNvSpPr/>
          <p:nvPr/>
        </p:nvSpPr>
        <p:spPr>
          <a:xfrm>
            <a:off x="3200400" y="2084832"/>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hen"/>
          <p:cNvSpPr txBox="1"/>
          <p:nvPr/>
        </p:nvSpPr>
        <p:spPr>
          <a:xfrm>
            <a:off x="3246120" y="2084832"/>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WHEN  </a:t>
            </a:r>
            <a:r>
              <a:rPr sz="1300" b="0" i="0">
                <a:solidFill>
                  <a:srgbClr val="1F2933"/>
                </a:solidFill>
                <a:latin typeface="Calibri"/>
              </a:rPr>
              <a:t>Introduced by Collatz in 1937, two years after his doctorate. Still unproved today.</a:t>
            </a:r>
          </a:p>
        </p:txBody>
      </p:sp>
      <p:sp>
        <p:nvSpPr>
          <p:cNvPr id="12" name="card"/>
          <p:cNvSpPr/>
          <p:nvPr/>
        </p:nvSpPr>
        <p:spPr>
          <a:xfrm>
            <a:off x="3200400" y="2706624"/>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where"/>
          <p:cNvSpPr txBox="1"/>
          <p:nvPr/>
        </p:nvSpPr>
        <p:spPr>
          <a:xfrm>
            <a:off x="3246120" y="2706624"/>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WHERE  </a:t>
            </a:r>
            <a:r>
              <a:rPr sz="1300" b="0" i="0">
                <a:solidFill>
                  <a:srgbClr val="1F2933"/>
                </a:solidFill>
                <a:latin typeface="Calibri"/>
              </a:rPr>
              <a:t>In mathematics papers worldwide; computers have checked every start up to about 2.36 times 10 to the 21.</a:t>
            </a:r>
          </a:p>
        </p:txBody>
      </p:sp>
      <p:sp>
        <p:nvSpPr>
          <p:cNvPr id="14" name="card"/>
          <p:cNvSpPr/>
          <p:nvPr/>
        </p:nvSpPr>
        <p:spPr>
          <a:xfrm>
            <a:off x="3200400" y="3328415"/>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why"/>
          <p:cNvSpPr txBox="1"/>
          <p:nvPr/>
        </p:nvSpPr>
        <p:spPr>
          <a:xfrm>
            <a:off x="3246120" y="3328415"/>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WHY  </a:t>
            </a:r>
            <a:r>
              <a:rPr sz="1300" b="0" i="0">
                <a:solidFill>
                  <a:srgbClr val="1F2933"/>
                </a:solidFill>
                <a:latin typeface="Calibri"/>
              </a:rPr>
              <a:t>A rule this simple should be easy to settle, yet no proof and no counterexample is known.</a:t>
            </a:r>
          </a:p>
        </p:txBody>
      </p:sp>
      <p:sp>
        <p:nvSpPr>
          <p:cNvPr id="16" name="card"/>
          <p:cNvSpPr/>
          <p:nvPr/>
        </p:nvSpPr>
        <p:spPr>
          <a:xfrm>
            <a:off x="3200400" y="3950207"/>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ow"/>
          <p:cNvSpPr txBox="1"/>
          <p:nvPr/>
        </p:nvSpPr>
        <p:spPr>
          <a:xfrm>
            <a:off x="3246120" y="3950207"/>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HOW  </a:t>
            </a:r>
            <a:r>
              <a:rPr sz="1300" b="0" i="0">
                <a:solidFill>
                  <a:srgbClr val="1F2933"/>
                </a:solidFill>
                <a:latin typeface="Calibri"/>
              </a:rPr>
              <a:t>Erdős said: Mathematics may not be ready for such problems. The function collatz() is the rule in four lines.</a:t>
            </a:r>
          </a:p>
        </p:txBody>
      </p:sp>
      <p:sp>
        <p:nvSpPr>
          <p:cNvPr id="18" name="read"/>
          <p:cNvSpPr txBox="1"/>
          <p:nvPr/>
        </p:nvSpPr>
        <p:spPr>
          <a:xfrm>
            <a:off x="3200400" y="4590287"/>
            <a:ext cx="5577840" cy="329184"/>
          </a:xfrm>
          <a:prstGeom prst="rect">
            <a:avLst/>
          </a:prstGeom>
          <a:noFill/>
        </p:spPr>
        <p:txBody>
          <a:bodyPr wrap="square" lIns="45720" rIns="45720" tIns="27432" bIns="27432" anchor="t">
            <a:spAutoFit/>
          </a:bodyPr>
          <a:lstStyle/>
          <a:p>
            <a:r>
              <a:rPr sz="1300" b="1" i="0">
                <a:solidFill>
                  <a:srgbClr val="B7791F"/>
                </a:solidFill>
                <a:latin typeface="Calibri"/>
              </a:rPr>
              <a:t>READ  </a:t>
            </a:r>
            <a:r>
              <a:rPr sz="1300" b="0" i="0">
                <a:solidFill>
                  <a:srgbClr val="0E7C86"/>
                </a:solidFill>
                <a:latin typeface="Calibri"/>
                <a:hlinkClick r:id="rId4"/>
              </a:rPr>
              <a:t>Collatz conjecture (Wikipedia)</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42 / 46</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Current Python adds more</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Features newer than the book, from the chapter research</a:t>
            </a:r>
          </a:p>
        </p:txBody>
      </p:sp>
      <p:graphicFrame>
        <p:nvGraphicFramePr>
          <p:cNvPr id="5" name="table"/>
          <p:cNvGraphicFramePr>
            <a:graphicFrameLocks noGrp="1"/>
          </p:cNvGraphicFramePr>
          <p:nvPr/>
        </p:nvGraphicFramePr>
        <p:xfrm>
          <a:off x="457200" y="1143000"/>
          <a:ext cx="8229598" cy="3520440"/>
        </p:xfrm>
        <a:graphic>
          <a:graphicData uri="http://schemas.openxmlformats.org/drawingml/2006/table">
            <a:tbl>
              <a:tblPr firstRow="0" bandRow="0"/>
              <a:tblGrid>
                <a:gridCol w="3749039"/>
                <a:gridCol w="731520"/>
                <a:gridCol w="3749039"/>
              </a:tblGrid>
              <a:tr h="502920">
                <a:tc>
                  <a:txBody>
                    <a:bodyPr wrap="square"/>
                    <a:lstStyle/>
                    <a:p>
                      <a:r>
                        <a:rPr sz="1100" b="1" i="0">
                          <a:solidFill>
                            <a:srgbClr val="FFFFFF"/>
                          </a:solidFill>
                          <a:latin typeface="Calibri"/>
                        </a:rPr>
                        <a:t>Feature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100" b="1" i="0">
                          <a:solidFill>
                            <a:srgbClr val="FFFFFF"/>
                          </a:solidFill>
                          <a:latin typeface="Calibri"/>
                        </a:rPr>
                        <a:t>Since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100" b="1" i="0">
                          <a:solidFill>
                            <a:srgbClr val="FFFFFF"/>
                          </a:solidFill>
                          <a:latin typeface="Calibri"/>
                        </a:rPr>
                        <a:t>What it gives you</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502920">
                <a:tc>
                  <a:txBody>
                    <a:bodyPr wrap="square"/>
                    <a:lstStyle/>
                    <a:p>
                      <a:r>
                        <a:rPr sz="1100" b="1" i="0">
                          <a:solidFill>
                            <a:srgbClr val="1F2933"/>
                          </a:solidFill>
                          <a:latin typeface="Calibri"/>
                        </a:rPr>
                        <a:t>The book prints 'referenced before assignment' for UnboundLocalError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100" b="0" i="0">
                          <a:solidFill>
                            <a:srgbClr val="1F2933"/>
                          </a:solidFill>
                          <a:latin typeface="Calibri"/>
                        </a:rPr>
                        <a:t>3.14.4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New wording: cannot access local variable ... not associated with a value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502920">
                <a:tc>
                  <a:txBody>
                    <a:bodyPr wrap="square"/>
                    <a:lstStyle/>
                    <a:p>
                      <a:r>
                        <a:rPr sz="1100" b="1" i="0">
                          <a:solidFill>
                            <a:srgbClr val="1F2933"/>
                          </a:solidFill>
                          <a:latin typeface="Calibri"/>
                        </a:rPr>
                        <a:t>Annotations are not evaluated when def runs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100" b="0" i="0">
                          <a:solidFill>
                            <a:srgbClr val="1F2933"/>
                          </a:solidFill>
                          <a:latin typeface="Calibri"/>
                        </a:rPr>
                        <a:t>3.14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A function may be annotated with names that do not exist yet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502920">
                <a:tc>
                  <a:txBody>
                    <a:bodyPr wrap="square"/>
                    <a:lstStyle/>
                    <a:p>
                      <a:r>
                        <a:rPr sz="1100" b="1" i="0">
                          <a:solidFill>
                            <a:srgbClr val="1F2933"/>
                          </a:solidFill>
                          <a:latin typeface="Calibri"/>
                        </a:rPr>
                        <a:t>except A, B without parentheses (PEP 758)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100" b="0" i="0">
                          <a:solidFill>
                            <a:srgbClr val="1F2933"/>
                          </a:solidFill>
                          <a:latin typeface="Calibri"/>
                        </a:rPr>
                        <a:t>3.14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Only without an as clause; Python 3.13 rejects 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502920">
                <a:tc>
                  <a:txBody>
                    <a:bodyPr wrap="square"/>
                    <a:lstStyle/>
                    <a:p>
                      <a:r>
                        <a:rPr sz="1100" b="1" i="0">
                          <a:solidFill>
                            <a:srgbClr val="1F2933"/>
                          </a:solidFill>
                          <a:latin typeface="Calibri"/>
                        </a:rPr>
                        <a:t>Positional-only parameters, marked by a slash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100" b="0" i="0">
                          <a:solidFill>
                            <a:srgbClr val="1F2933"/>
                          </a:solidFill>
                          <a:latin typeface="Calibri"/>
                        </a:rPr>
                        <a:t>3.8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Callers cannot name them (PEP 570)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502920">
                <a:tc>
                  <a:txBody>
                    <a:bodyPr wrap="square"/>
                    <a:lstStyle/>
                    <a:p>
                      <a:r>
                        <a:rPr sz="1100" b="1" i="0">
                          <a:solidFill>
                            <a:srgbClr val="1F2933"/>
                          </a:solidFill>
                          <a:latin typeface="Calibri"/>
                        </a:rPr>
                        <a:t>Keyword-only parameters, after a star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100" b="0" i="0">
                          <a:solidFill>
                            <a:srgbClr val="1F2933"/>
                          </a:solidFill>
                          <a:latin typeface="Calibri"/>
                        </a:rPr>
                        <a:t>3.0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Callers must name them (PEP 3102)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502920">
                <a:tc>
                  <a:txBody>
                    <a:bodyPr wrap="square"/>
                    <a:lstStyle/>
                    <a:p>
                      <a:r>
                        <a:rPr sz="1100" b="1" i="0">
                          <a:solidFill>
                            <a:srgbClr val="1F2933"/>
                          </a:solidFill>
                          <a:latin typeface="Calibri"/>
                        </a:rPr>
                        <a:t>nonlocal rebinds a name of the enclosing function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100" b="0" i="0">
                          <a:solidFill>
                            <a:srgbClr val="1F2933"/>
                          </a:solidFill>
                          <a:latin typeface="Calibri"/>
                        </a:rPr>
                        <a:t>3.0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The middle case between local and global (PEP 3104)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6"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Run what the book printed; then check what changed.</a:t>
            </a:r>
          </a:p>
        </p:txBody>
      </p:sp>
      <p:sp>
        <p:nvSpPr>
          <p:cNvPr id="8"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43 / 46</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Summary</a:t>
            </a:r>
          </a:p>
        </p:txBody>
      </p:sp>
      <p:sp>
        <p:nvSpPr>
          <p:cNvPr id="4" name="card"/>
          <p:cNvSpPr/>
          <p:nvPr/>
        </p:nvSpPr>
        <p:spPr>
          <a:xfrm>
            <a:off x="365760" y="749808"/>
            <a:ext cx="8412480" cy="457200"/>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438912"/>
          </a:xfrm>
          <a:prstGeom prst="rect">
            <a:avLst/>
          </a:prstGeom>
          <a:noFill/>
        </p:spPr>
        <p:txBody>
          <a:bodyPr wrap="square" lIns="45720" rIns="45720" tIns="27432" bIns="27432" anchor="ctr">
            <a:spAutoFit/>
          </a:bodyPr>
          <a:lstStyle/>
          <a:p>
            <a:r>
              <a:rPr sz="1300" b="1" i="0">
                <a:solidFill>
                  <a:srgbClr val="B7791F"/>
                </a:solidFill>
                <a:latin typeface="Calibri"/>
              </a:rPr>
              <a:t>ANALOGY  </a:t>
            </a:r>
            <a:r>
              <a:rPr sz="1300" b="0" i="0">
                <a:solidFill>
                  <a:srgbClr val="1F2933"/>
                </a:solidFill>
                <a:latin typeface="Calibri"/>
              </a:rPr>
              <a:t>A summary is a packing list: only what you really need goes into the bag.</a:t>
            </a:r>
          </a:p>
        </p:txBody>
      </p:sp>
      <p:sp>
        <p:nvSpPr>
          <p:cNvPr id="6" name="Rounded Rectangle 5"/>
          <p:cNvSpPr/>
          <p:nvPr/>
        </p:nvSpPr>
        <p:spPr>
          <a:xfrm>
            <a:off x="365760" y="140817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1</a:t>
            </a:r>
          </a:p>
        </p:txBody>
      </p:sp>
      <p:sp>
        <p:nvSpPr>
          <p:cNvPr id="7" name="point"/>
          <p:cNvSpPr txBox="1"/>
          <p:nvPr/>
        </p:nvSpPr>
        <p:spPr>
          <a:xfrm>
            <a:off x="822960" y="1371600"/>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def stores a function; a call runs it and may hand a value back.</a:t>
            </a:r>
          </a:p>
        </p:txBody>
      </p:sp>
      <p:sp>
        <p:nvSpPr>
          <p:cNvPr id="8" name="Rounded Rectangle 7"/>
          <p:cNvSpPr/>
          <p:nvPr/>
        </p:nvSpPr>
        <p:spPr>
          <a:xfrm>
            <a:off x="365760" y="1975104"/>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2</a:t>
            </a:r>
          </a:p>
        </p:txBody>
      </p:sp>
      <p:sp>
        <p:nvSpPr>
          <p:cNvPr id="9" name="point"/>
          <p:cNvSpPr txBox="1"/>
          <p:nvPr/>
        </p:nvSpPr>
        <p:spPr>
          <a:xfrm>
            <a:off x="822960" y="1938528"/>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Arguments fill parameters; no return statement means None.</a:t>
            </a:r>
          </a:p>
        </p:txBody>
      </p:sp>
      <p:sp>
        <p:nvSpPr>
          <p:cNvPr id="10" name="Rounded Rectangle 9"/>
          <p:cNvSpPr/>
          <p:nvPr/>
        </p:nvSpPr>
        <p:spPr>
          <a:xfrm>
            <a:off x="365760" y="2542032"/>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3</a:t>
            </a:r>
          </a:p>
        </p:txBody>
      </p:sp>
      <p:sp>
        <p:nvSpPr>
          <p:cNvPr id="11" name="point"/>
          <p:cNvSpPr txBox="1"/>
          <p:nvPr/>
        </p:nvSpPr>
        <p:spPr>
          <a:xfrm>
            <a:off x="822960" y="2505456"/>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Every active call has a frame on the call stack.</a:t>
            </a:r>
          </a:p>
        </p:txBody>
      </p:sp>
      <p:sp>
        <p:nvSpPr>
          <p:cNvPr id="12" name="Rounded Rectangle 11"/>
          <p:cNvSpPr/>
          <p:nvPr/>
        </p:nvSpPr>
        <p:spPr>
          <a:xfrm>
            <a:off x="365760" y="3108960"/>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4</a:t>
            </a:r>
          </a:p>
        </p:txBody>
      </p:sp>
      <p:sp>
        <p:nvSpPr>
          <p:cNvPr id="13" name="point"/>
          <p:cNvSpPr txBox="1"/>
          <p:nvPr/>
        </p:nvSpPr>
        <p:spPr>
          <a:xfrm>
            <a:off x="822960" y="3072384"/>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Names are local to a call or global; global lets a function assign one.</a:t>
            </a:r>
          </a:p>
        </p:txBody>
      </p:sp>
      <p:sp>
        <p:nvSpPr>
          <p:cNvPr id="14" name="Rounded Rectangle 13"/>
          <p:cNvSpPr/>
          <p:nvPr/>
        </p:nvSpPr>
        <p:spPr>
          <a:xfrm>
            <a:off x="365760" y="3675887"/>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5</a:t>
            </a:r>
          </a:p>
        </p:txBody>
      </p:sp>
      <p:sp>
        <p:nvSpPr>
          <p:cNvPr id="15" name="point"/>
          <p:cNvSpPr txBox="1"/>
          <p:nvPr/>
        </p:nvSpPr>
        <p:spPr>
          <a:xfrm>
            <a:off x="822960" y="3639312"/>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try and except catch an exception; their place decides what still runs.</a:t>
            </a:r>
          </a:p>
        </p:txBody>
      </p:sp>
      <p:sp>
        <p:nvSpPr>
          <p:cNvPr id="16" name="chart label"/>
          <p:cNvSpPr txBox="1"/>
          <p:nvPr/>
        </p:nvSpPr>
        <p:spPr>
          <a:xfrm>
            <a:off x="5212080" y="1280160"/>
            <a:ext cx="3566160" cy="457200"/>
          </a:xfrm>
          <a:prstGeom prst="rect">
            <a:avLst/>
          </a:prstGeom>
          <a:noFill/>
        </p:spPr>
        <p:txBody>
          <a:bodyPr wrap="square" lIns="45720" rIns="45720" tIns="27432" bIns="27432" anchor="t">
            <a:spAutoFit/>
          </a:bodyPr>
          <a:lstStyle/>
          <a:p>
            <a:r>
              <a:rPr sz="1050" b="1" i="0">
                <a:solidFill>
                  <a:srgbClr val="0E7C86"/>
                </a:solidFill>
                <a:latin typeface="Calibri"/>
              </a:rPr>
              <a:t>code examples in each part of this chapter</a:t>
            </a:r>
          </a:p>
        </p:txBody>
      </p:sp>
      <p:graphicFrame>
        <p:nvGraphicFramePr>
          <p:cNvPr id="17" name="chart"/>
          <p:cNvGraphicFramePr>
            <a:graphicFrameLocks noGrp="1"/>
          </p:cNvGraphicFramePr>
          <p:nvPr/>
        </p:nvGraphicFramePr>
        <p:xfrm>
          <a:off x="5120640" y="1783080"/>
          <a:ext cx="3657600" cy="2743200"/>
        </p:xfrm>
        <a:graphic>
          <a:graphicData uri="http://schemas.openxmlformats.org/drawingml/2006/chart">
            <c:chart xmlns:c="http://schemas.openxmlformats.org/drawingml/2006/chart" r:id="rId3"/>
          </a:graphicData>
        </a:graphic>
      </p:graphicFrame>
      <p:sp>
        <p:nvSpPr>
          <p:cNvPr id="18"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call passes values in, may hand one back, and may fail.</a:t>
            </a:r>
          </a:p>
        </p:txBody>
      </p:sp>
      <p:sp>
        <p:nvSpPr>
          <p:cNvPr id="20"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44 / 46</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Practice Questions</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Predict first, then run it on the chapter page</a:t>
            </a:r>
          </a:p>
        </p:txBody>
      </p:sp>
      <p:sp>
        <p:nvSpPr>
          <p:cNvPr id="5" name="card"/>
          <p:cNvSpPr/>
          <p:nvPr/>
        </p:nvSpPr>
        <p:spPr>
          <a:xfrm>
            <a:off x="365760" y="960120"/>
            <a:ext cx="8412480" cy="457200"/>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analogy"/>
          <p:cNvSpPr txBox="1"/>
          <p:nvPr/>
        </p:nvSpPr>
        <p:spPr>
          <a:xfrm>
            <a:off x="502920" y="969264"/>
            <a:ext cx="8138160" cy="438912"/>
          </a:xfrm>
          <a:prstGeom prst="rect">
            <a:avLst/>
          </a:prstGeom>
          <a:noFill/>
        </p:spPr>
        <p:txBody>
          <a:bodyPr wrap="square" lIns="45720" rIns="45720" tIns="27432" bIns="27432" anchor="ctr">
            <a:spAutoFit/>
          </a:bodyPr>
          <a:lstStyle/>
          <a:p>
            <a:r>
              <a:rPr sz="1300" b="1" i="0">
                <a:solidFill>
                  <a:srgbClr val="B7791F"/>
                </a:solidFill>
                <a:latin typeface="Calibri"/>
              </a:rPr>
              <a:t>ANALOGY  </a:t>
            </a:r>
            <a:r>
              <a:rPr sz="1300" b="0" i="0">
                <a:solidFill>
                  <a:srgbClr val="1F2933"/>
                </a:solidFill>
                <a:latin typeface="Calibri"/>
              </a:rPr>
              <a:t>Practice questions are finger scales for a pianist: short drills before the performance.</a:t>
            </a:r>
          </a:p>
        </p:txBody>
      </p:sp>
      <p:sp>
        <p:nvSpPr>
          <p:cNvPr id="7" name="card"/>
          <p:cNvSpPr/>
          <p:nvPr/>
        </p:nvSpPr>
        <p:spPr>
          <a:xfrm>
            <a:off x="365760" y="1645920"/>
            <a:ext cx="8412480" cy="621792"/>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2920" y="177393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1</a:t>
            </a:r>
          </a:p>
        </p:txBody>
      </p:sp>
      <p:sp>
        <p:nvSpPr>
          <p:cNvPr id="9" name="question"/>
          <p:cNvSpPr txBox="1"/>
          <p:nvPr/>
        </p:nvSpPr>
        <p:spPr>
          <a:xfrm>
            <a:off x="1005840" y="1682496"/>
            <a:ext cx="7680960" cy="548640"/>
          </a:xfrm>
          <a:prstGeom prst="rect">
            <a:avLst/>
          </a:prstGeom>
          <a:noFill/>
        </p:spPr>
        <p:txBody>
          <a:bodyPr wrap="square" lIns="45720" rIns="45720" tIns="27432" bIns="27432" anchor="ctr">
            <a:spAutoFit/>
          </a:bodyPr>
          <a:lstStyle/>
          <a:p>
            <a:r>
              <a:rPr sz="1300" b="0" i="0">
                <a:solidFill>
                  <a:srgbClr val="1F2933"/>
                </a:solidFill>
                <a:latin typeface="Calibri"/>
              </a:rPr>
              <a:t>Why do add_item('a') and add_item('b') share one list? Change the function so each call gets its own.</a:t>
            </a:r>
          </a:p>
        </p:txBody>
      </p:sp>
      <p:sp>
        <p:nvSpPr>
          <p:cNvPr id="10" name="card"/>
          <p:cNvSpPr/>
          <p:nvPr/>
        </p:nvSpPr>
        <p:spPr>
          <a:xfrm>
            <a:off x="365760" y="2377440"/>
            <a:ext cx="8412480" cy="621792"/>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02920" y="250545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2</a:t>
            </a:r>
          </a:p>
        </p:txBody>
      </p:sp>
      <p:sp>
        <p:nvSpPr>
          <p:cNvPr id="12" name="question"/>
          <p:cNvSpPr txBox="1"/>
          <p:nvPr/>
        </p:nvSpPr>
        <p:spPr>
          <a:xfrm>
            <a:off x="1005840" y="2414016"/>
            <a:ext cx="7680960" cy="548640"/>
          </a:xfrm>
          <a:prstGeom prst="rect">
            <a:avLst/>
          </a:prstGeom>
          <a:noFill/>
        </p:spPr>
        <p:txBody>
          <a:bodyPr wrap="square" lIns="45720" rIns="45720" tIns="27432" bIns="27432" anchor="ctr">
            <a:spAutoFit/>
          </a:bodyPr>
          <a:lstStyle/>
          <a:p>
            <a:r>
              <a:rPr sz="1300" b="0" i="0">
                <a:solidFill>
                  <a:srgbClr val="1F2933"/>
                </a:solidFill>
                <a:latin typeface="Calibri"/>
              </a:rPr>
              <a:t>What does a function without a return statement give back? Show it with is None.</a:t>
            </a:r>
          </a:p>
        </p:txBody>
      </p:sp>
      <p:sp>
        <p:nvSpPr>
          <p:cNvPr id="13" name="card"/>
          <p:cNvSpPr/>
          <p:nvPr/>
        </p:nvSpPr>
        <p:spPr>
          <a:xfrm>
            <a:off x="365760" y="3108960"/>
            <a:ext cx="8412480" cy="621792"/>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02920" y="323697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3</a:t>
            </a:r>
          </a:p>
        </p:txBody>
      </p:sp>
      <p:sp>
        <p:nvSpPr>
          <p:cNvPr id="15" name="question"/>
          <p:cNvSpPr txBox="1"/>
          <p:nvPr/>
        </p:nvSpPr>
        <p:spPr>
          <a:xfrm>
            <a:off x="1005840" y="3145536"/>
            <a:ext cx="7680960" cy="548640"/>
          </a:xfrm>
          <a:prstGeom prst="rect">
            <a:avLst/>
          </a:prstGeom>
          <a:noFill/>
        </p:spPr>
        <p:txBody>
          <a:bodyPr wrap="square" lIns="45720" rIns="45720" tIns="27432" bIns="27432" anchor="ctr">
            <a:spAutoFit/>
          </a:bodyPr>
          <a:lstStyle/>
          <a:p>
            <a:r>
              <a:rPr sz="1300" b="0" i="0">
                <a:solidFill>
                  <a:srgbClr val="1F2933"/>
                </a:solidFill>
                <a:latin typeface="Calibri"/>
              </a:rPr>
              <a:t>Which scope rule makes the first line of broken() fail, although eggs exists globally?</a:t>
            </a:r>
          </a:p>
        </p:txBody>
      </p:sp>
      <p:sp>
        <p:nvSpPr>
          <p:cNvPr id="16" name="card"/>
          <p:cNvSpPr/>
          <p:nvPr/>
        </p:nvSpPr>
        <p:spPr>
          <a:xfrm>
            <a:off x="365760" y="3840480"/>
            <a:ext cx="8412480" cy="621792"/>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02920" y="396849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4</a:t>
            </a:r>
          </a:p>
        </p:txBody>
      </p:sp>
      <p:sp>
        <p:nvSpPr>
          <p:cNvPr id="18" name="question"/>
          <p:cNvSpPr txBox="1"/>
          <p:nvPr/>
        </p:nvSpPr>
        <p:spPr>
          <a:xfrm>
            <a:off x="1005840" y="3877056"/>
            <a:ext cx="7680960" cy="548640"/>
          </a:xfrm>
          <a:prstGeom prst="rect">
            <a:avLst/>
          </a:prstGeom>
          <a:noFill/>
        </p:spPr>
        <p:txBody>
          <a:bodyPr wrap="square" lIns="45720" rIns="45720" tIns="27432" bIns="27432" anchor="ctr">
            <a:spAutoFit/>
          </a:bodyPr>
          <a:lstStyle/>
          <a:p>
            <a:r>
              <a:rPr sz="1300" b="0" i="0">
                <a:solidFill>
                  <a:srgbClr val="1F2933"/>
                </a:solidFill>
                <a:latin typeface="Calibri"/>
              </a:rPr>
              <a:t>Where would you put the try so that the remaining calls still run after one failure?</a:t>
            </a:r>
          </a:p>
        </p:txBody>
      </p:sp>
      <p:sp>
        <p:nvSpPr>
          <p:cNvPr id="19"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Each answer fits in a few lines you can run.</a:t>
            </a:r>
          </a:p>
        </p:txBody>
      </p:sp>
      <p:sp>
        <p:nvSpPr>
          <p:cNvPr id="21"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45 / 46</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Resources: where to go next</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Reading and watching, chosen for this chapter; every link is live</a:t>
            </a:r>
          </a:p>
        </p:txBody>
      </p:sp>
      <p:sp>
        <p:nvSpPr>
          <p:cNvPr id="5" name="card"/>
          <p:cNvSpPr/>
          <p:nvPr/>
        </p:nvSpPr>
        <p:spPr>
          <a:xfrm>
            <a:off x="365760" y="1005840"/>
            <a:ext cx="4114800" cy="47548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source"/>
          <p:cNvSpPr txBox="1"/>
          <p:nvPr/>
        </p:nvSpPr>
        <p:spPr>
          <a:xfrm>
            <a:off x="438912" y="1005840"/>
            <a:ext cx="3977639" cy="475488"/>
          </a:xfrm>
          <a:prstGeom prst="rect">
            <a:avLst/>
          </a:prstGeom>
          <a:noFill/>
        </p:spPr>
        <p:txBody>
          <a:bodyPr wrap="square" lIns="45720" rIns="45720" tIns="27432" bIns="27432" anchor="ctr">
            <a:spAutoFit/>
          </a:bodyPr>
          <a:lstStyle/>
          <a:p>
            <a:r>
              <a:rPr sz="1050" b="1" i="0">
                <a:solidFill>
                  <a:srgbClr val="1F2933"/>
                </a:solidFill>
                <a:latin typeface="Calibri"/>
              </a:rPr>
              <a:t>Book: Automate the Boring Stuff, 3rd edition, chapter 4</a:t>
            </a:r>
          </a:p>
          <a:p>
            <a:r>
              <a:rPr sz="900" b="0" i="0">
                <a:solidFill>
                  <a:srgbClr val="0E7C86"/>
                </a:solidFill>
                <a:latin typeface="Calibri"/>
                <a:hlinkClick r:id="rId3"/>
              </a:rPr>
              <a:t>https://automatetheboringstuff.com/3e/chapter4.html</a:t>
            </a:r>
          </a:p>
        </p:txBody>
      </p:sp>
      <p:sp>
        <p:nvSpPr>
          <p:cNvPr id="7" name="card"/>
          <p:cNvSpPr/>
          <p:nvPr/>
        </p:nvSpPr>
        <p:spPr>
          <a:xfrm>
            <a:off x="365760" y="1527048"/>
            <a:ext cx="4114800" cy="47548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source"/>
          <p:cNvSpPr txBox="1"/>
          <p:nvPr/>
        </p:nvSpPr>
        <p:spPr>
          <a:xfrm>
            <a:off x="438912" y="1527048"/>
            <a:ext cx="3977639" cy="475488"/>
          </a:xfrm>
          <a:prstGeom prst="rect">
            <a:avLst/>
          </a:prstGeom>
          <a:noFill/>
        </p:spPr>
        <p:txBody>
          <a:bodyPr wrap="square" lIns="45720" rIns="45720" tIns="27432" bIns="27432" anchor="ctr">
            <a:spAutoFit/>
          </a:bodyPr>
          <a:lstStyle/>
          <a:p>
            <a:r>
              <a:rPr sz="1050" b="1" i="0">
                <a:solidFill>
                  <a:srgbClr val="1F2933"/>
                </a:solidFill>
                <a:latin typeface="Calibri"/>
              </a:rPr>
              <a:t>Python tutorial: defining functions, default and keyword arguments</a:t>
            </a:r>
          </a:p>
          <a:p>
            <a:r>
              <a:rPr sz="900" b="0" i="0">
                <a:solidFill>
                  <a:srgbClr val="0E7C86"/>
                </a:solidFill>
                <a:latin typeface="Calibri"/>
                <a:hlinkClick r:id="rId4"/>
              </a:rPr>
              <a:t>https://docs.python.org/3/tutorial/controlflow.html</a:t>
            </a:r>
          </a:p>
        </p:txBody>
      </p:sp>
      <p:sp>
        <p:nvSpPr>
          <p:cNvPr id="9" name="card"/>
          <p:cNvSpPr/>
          <p:nvPr/>
        </p:nvSpPr>
        <p:spPr>
          <a:xfrm>
            <a:off x="365760" y="2048256"/>
            <a:ext cx="4114800" cy="47548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source"/>
          <p:cNvSpPr txBox="1"/>
          <p:nvPr/>
        </p:nvSpPr>
        <p:spPr>
          <a:xfrm>
            <a:off x="438912" y="2048256"/>
            <a:ext cx="3977639" cy="475488"/>
          </a:xfrm>
          <a:prstGeom prst="rect">
            <a:avLst/>
          </a:prstGeom>
          <a:noFill/>
        </p:spPr>
        <p:txBody>
          <a:bodyPr wrap="square" lIns="45720" rIns="45720" tIns="27432" bIns="27432" anchor="ctr">
            <a:spAutoFit/>
          </a:bodyPr>
          <a:lstStyle/>
          <a:p>
            <a:r>
              <a:rPr sz="1050" b="1" i="0">
                <a:solidFill>
                  <a:srgbClr val="1F2933"/>
                </a:solidFill>
                <a:latin typeface="Calibri"/>
              </a:rPr>
              <a:t>Python tutorial: errors and exceptions</a:t>
            </a:r>
          </a:p>
          <a:p>
            <a:r>
              <a:rPr sz="900" b="0" i="0">
                <a:solidFill>
                  <a:srgbClr val="0E7C86"/>
                </a:solidFill>
                <a:latin typeface="Calibri"/>
                <a:hlinkClick r:id="rId5"/>
              </a:rPr>
              <a:t>https://docs.python.org/3/tutorial/errors.html</a:t>
            </a:r>
          </a:p>
        </p:txBody>
      </p:sp>
      <p:sp>
        <p:nvSpPr>
          <p:cNvPr id="11" name="card"/>
          <p:cNvSpPr/>
          <p:nvPr/>
        </p:nvSpPr>
        <p:spPr>
          <a:xfrm>
            <a:off x="365760" y="2569464"/>
            <a:ext cx="4114800" cy="47548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source"/>
          <p:cNvSpPr txBox="1"/>
          <p:nvPr/>
        </p:nvSpPr>
        <p:spPr>
          <a:xfrm>
            <a:off x="438912" y="2569464"/>
            <a:ext cx="3977639" cy="475488"/>
          </a:xfrm>
          <a:prstGeom prst="rect">
            <a:avLst/>
          </a:prstGeom>
          <a:noFill/>
        </p:spPr>
        <p:txBody>
          <a:bodyPr wrap="square" lIns="45720" rIns="45720" tIns="27432" bIns="27432" anchor="ctr">
            <a:spAutoFit/>
          </a:bodyPr>
          <a:lstStyle/>
          <a:p>
            <a:r>
              <a:rPr sz="1050" b="1" i="0">
                <a:solidFill>
                  <a:srgbClr val="1F2933"/>
                </a:solidFill>
                <a:latin typeface="Calibri"/>
              </a:rPr>
              <a:t>Language reference: naming and binding, scope</a:t>
            </a:r>
          </a:p>
          <a:p>
            <a:r>
              <a:rPr sz="900" b="0" i="0">
                <a:solidFill>
                  <a:srgbClr val="0E7C86"/>
                </a:solidFill>
                <a:latin typeface="Calibri"/>
                <a:hlinkClick r:id="rId6"/>
              </a:rPr>
              <a:t>https://docs.python.org/3/reference/executionmodel.html</a:t>
            </a:r>
          </a:p>
        </p:txBody>
      </p:sp>
      <p:sp>
        <p:nvSpPr>
          <p:cNvPr id="13" name="card"/>
          <p:cNvSpPr/>
          <p:nvPr/>
        </p:nvSpPr>
        <p:spPr>
          <a:xfrm>
            <a:off x="365760" y="3090672"/>
            <a:ext cx="4114800" cy="47548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source"/>
          <p:cNvSpPr txBox="1"/>
          <p:nvPr/>
        </p:nvSpPr>
        <p:spPr>
          <a:xfrm>
            <a:off x="438912" y="3090672"/>
            <a:ext cx="3977639" cy="475488"/>
          </a:xfrm>
          <a:prstGeom prst="rect">
            <a:avLst/>
          </a:prstGeom>
          <a:noFill/>
        </p:spPr>
        <p:txBody>
          <a:bodyPr wrap="square" lIns="45720" rIns="45720" tIns="27432" bIns="27432" anchor="ctr">
            <a:spAutoFit/>
          </a:bodyPr>
          <a:lstStyle/>
          <a:p>
            <a:r>
              <a:rPr sz="1050" b="1" i="0">
                <a:solidFill>
                  <a:srgbClr val="1F2933"/>
                </a:solidFill>
                <a:latin typeface="Calibri"/>
              </a:rPr>
              <a:t>Language reference: return, global and nonlocal</a:t>
            </a:r>
          </a:p>
          <a:p>
            <a:r>
              <a:rPr sz="900" b="0" i="0">
                <a:solidFill>
                  <a:srgbClr val="0E7C86"/>
                </a:solidFill>
                <a:latin typeface="Calibri"/>
                <a:hlinkClick r:id="rId7"/>
              </a:rPr>
              <a:t>https://docs.python.org/3/reference/simple_stmts.html</a:t>
            </a:r>
          </a:p>
        </p:txBody>
      </p:sp>
      <p:sp>
        <p:nvSpPr>
          <p:cNvPr id="15" name="card"/>
          <p:cNvSpPr/>
          <p:nvPr/>
        </p:nvSpPr>
        <p:spPr>
          <a:xfrm>
            <a:off x="365760" y="3611879"/>
            <a:ext cx="4114800" cy="47548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source"/>
          <p:cNvSpPr txBox="1"/>
          <p:nvPr/>
        </p:nvSpPr>
        <p:spPr>
          <a:xfrm>
            <a:off x="438912" y="3611879"/>
            <a:ext cx="3977639" cy="475488"/>
          </a:xfrm>
          <a:prstGeom prst="rect">
            <a:avLst/>
          </a:prstGeom>
          <a:noFill/>
        </p:spPr>
        <p:txBody>
          <a:bodyPr wrap="square" lIns="45720" rIns="45720" tIns="27432" bIns="27432" anchor="ctr">
            <a:spAutoFit/>
          </a:bodyPr>
          <a:lstStyle/>
          <a:p>
            <a:r>
              <a:rPr sz="1050" b="1" i="0">
                <a:solidFill>
                  <a:srgbClr val="1F2933"/>
                </a:solidFill>
                <a:latin typeface="Calibri"/>
              </a:rPr>
              <a:t>Programming FAQ: why an UnboundLocalError</a:t>
            </a:r>
          </a:p>
          <a:p>
            <a:r>
              <a:rPr sz="900" b="0" i="0">
                <a:solidFill>
                  <a:srgbClr val="0E7C86"/>
                </a:solidFill>
                <a:latin typeface="Calibri"/>
                <a:hlinkClick r:id="rId8"/>
              </a:rPr>
              <a:t>https://docs.python.org/3/faq/programming.html</a:t>
            </a:r>
          </a:p>
        </p:txBody>
      </p:sp>
      <p:sp>
        <p:nvSpPr>
          <p:cNvPr id="17" name="card"/>
          <p:cNvSpPr/>
          <p:nvPr/>
        </p:nvSpPr>
        <p:spPr>
          <a:xfrm>
            <a:off x="365760" y="4133087"/>
            <a:ext cx="4114800" cy="47548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source"/>
          <p:cNvSpPr txBox="1"/>
          <p:nvPr/>
        </p:nvSpPr>
        <p:spPr>
          <a:xfrm>
            <a:off x="438912" y="4133087"/>
            <a:ext cx="3977639" cy="475488"/>
          </a:xfrm>
          <a:prstGeom prst="rect">
            <a:avLst/>
          </a:prstGeom>
          <a:noFill/>
        </p:spPr>
        <p:txBody>
          <a:bodyPr wrap="square" lIns="45720" rIns="45720" tIns="27432" bIns="27432" anchor="ctr">
            <a:spAutoFit/>
          </a:bodyPr>
          <a:lstStyle/>
          <a:p>
            <a:r>
              <a:rPr sz="1050" b="1" i="0">
                <a:solidFill>
                  <a:srgbClr val="1F2933"/>
                </a:solidFill>
                <a:latin typeface="Calibri"/>
              </a:rPr>
              <a:t>Library: traceback, print or retrieve a stack traceback</a:t>
            </a:r>
          </a:p>
          <a:p>
            <a:r>
              <a:rPr sz="900" b="0" i="0">
                <a:solidFill>
                  <a:srgbClr val="0E7C86"/>
                </a:solidFill>
                <a:latin typeface="Calibri"/>
                <a:hlinkClick r:id="rId9"/>
              </a:rPr>
              <a:t>https://docs.python.org/3/library/traceback.html</a:t>
            </a:r>
          </a:p>
        </p:txBody>
      </p:sp>
      <p:sp>
        <p:nvSpPr>
          <p:cNvPr id="19" name="card"/>
          <p:cNvSpPr/>
          <p:nvPr/>
        </p:nvSpPr>
        <p:spPr>
          <a:xfrm>
            <a:off x="4663440" y="1005840"/>
            <a:ext cx="4114800" cy="47548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source"/>
          <p:cNvSpPr txBox="1"/>
          <p:nvPr/>
        </p:nvSpPr>
        <p:spPr>
          <a:xfrm>
            <a:off x="4736592" y="1005840"/>
            <a:ext cx="3977639" cy="475488"/>
          </a:xfrm>
          <a:prstGeom prst="rect">
            <a:avLst/>
          </a:prstGeom>
          <a:noFill/>
        </p:spPr>
        <p:txBody>
          <a:bodyPr wrap="square" lIns="45720" rIns="45720" tIns="27432" bIns="27432" anchor="ctr">
            <a:spAutoFit/>
          </a:bodyPr>
          <a:lstStyle/>
          <a:p>
            <a:r>
              <a:rPr sz="1050" b="1" i="0">
                <a:solidFill>
                  <a:srgbClr val="1F2933"/>
                </a:solidFill>
                <a:latin typeface="Calibri"/>
              </a:rPr>
              <a:t>Library: inspect, look at live objects and frames</a:t>
            </a:r>
          </a:p>
          <a:p>
            <a:r>
              <a:rPr sz="900" b="0" i="0">
                <a:solidFill>
                  <a:srgbClr val="0E7C86"/>
                </a:solidFill>
                <a:latin typeface="Calibri"/>
                <a:hlinkClick r:id="rId10"/>
              </a:rPr>
              <a:t>https://docs.python.org/3/library/inspect.html</a:t>
            </a:r>
          </a:p>
        </p:txBody>
      </p:sp>
      <p:sp>
        <p:nvSpPr>
          <p:cNvPr id="21" name="card"/>
          <p:cNvSpPr/>
          <p:nvPr/>
        </p:nvSpPr>
        <p:spPr>
          <a:xfrm>
            <a:off x="4663440" y="1527048"/>
            <a:ext cx="4114800" cy="47548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source"/>
          <p:cNvSpPr txBox="1"/>
          <p:nvPr/>
        </p:nvSpPr>
        <p:spPr>
          <a:xfrm>
            <a:off x="4736592" y="1527048"/>
            <a:ext cx="3977639" cy="475488"/>
          </a:xfrm>
          <a:prstGeom prst="rect">
            <a:avLst/>
          </a:prstGeom>
          <a:noFill/>
        </p:spPr>
        <p:txBody>
          <a:bodyPr wrap="square" lIns="45720" rIns="45720" tIns="27432" bIns="27432" anchor="ctr">
            <a:spAutoFit/>
          </a:bodyPr>
          <a:lstStyle/>
          <a:p>
            <a:r>
              <a:rPr sz="1050" b="1" i="0">
                <a:solidFill>
                  <a:srgbClr val="1F2933"/>
                </a:solidFill>
                <a:latin typeface="Calibri"/>
              </a:rPr>
              <a:t>What's new in Python 3.14</a:t>
            </a:r>
          </a:p>
          <a:p>
            <a:r>
              <a:rPr sz="900" b="0" i="0">
                <a:solidFill>
                  <a:srgbClr val="0E7C86"/>
                </a:solidFill>
                <a:latin typeface="Calibri"/>
                <a:hlinkClick r:id="rId11"/>
              </a:rPr>
              <a:t>https://docs.python.org/3/whatsnew/3.14.html</a:t>
            </a:r>
          </a:p>
        </p:txBody>
      </p:sp>
      <p:sp>
        <p:nvSpPr>
          <p:cNvPr id="23" name="card"/>
          <p:cNvSpPr/>
          <p:nvPr/>
        </p:nvSpPr>
        <p:spPr>
          <a:xfrm>
            <a:off x="4663440" y="2048256"/>
            <a:ext cx="4114800" cy="47548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source"/>
          <p:cNvSpPr txBox="1"/>
          <p:nvPr/>
        </p:nvSpPr>
        <p:spPr>
          <a:xfrm>
            <a:off x="4736592" y="2048256"/>
            <a:ext cx="3977639" cy="475488"/>
          </a:xfrm>
          <a:prstGeom prst="rect">
            <a:avLst/>
          </a:prstGeom>
          <a:noFill/>
        </p:spPr>
        <p:txBody>
          <a:bodyPr wrap="square" lIns="45720" rIns="45720" tIns="27432" bIns="27432" anchor="ctr">
            <a:spAutoFit/>
          </a:bodyPr>
          <a:lstStyle/>
          <a:p>
            <a:r>
              <a:rPr sz="1050" b="1" i="0">
                <a:solidFill>
                  <a:srgbClr val="1F2933"/>
                </a:solidFill>
                <a:latin typeface="Calibri"/>
              </a:rPr>
              <a:t>PEP 758: except without parentheses</a:t>
            </a:r>
          </a:p>
          <a:p>
            <a:r>
              <a:rPr sz="900" b="0" i="0">
                <a:solidFill>
                  <a:srgbClr val="0E7C86"/>
                </a:solidFill>
                <a:latin typeface="Calibri"/>
                <a:hlinkClick r:id="rId12"/>
              </a:rPr>
              <a:t>https://peps.python.org/pep-0758/</a:t>
            </a:r>
          </a:p>
        </p:txBody>
      </p:sp>
      <p:sp>
        <p:nvSpPr>
          <p:cNvPr id="25" name="card"/>
          <p:cNvSpPr/>
          <p:nvPr/>
        </p:nvSpPr>
        <p:spPr>
          <a:xfrm>
            <a:off x="4663440" y="2569464"/>
            <a:ext cx="4114800" cy="47548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source"/>
          <p:cNvSpPr txBox="1"/>
          <p:nvPr/>
        </p:nvSpPr>
        <p:spPr>
          <a:xfrm>
            <a:off x="4736592" y="2569464"/>
            <a:ext cx="3977639" cy="475488"/>
          </a:xfrm>
          <a:prstGeom prst="rect">
            <a:avLst/>
          </a:prstGeom>
          <a:noFill/>
        </p:spPr>
        <p:txBody>
          <a:bodyPr wrap="square" lIns="45720" rIns="45720" tIns="27432" bIns="27432" anchor="ctr">
            <a:spAutoFit/>
          </a:bodyPr>
          <a:lstStyle/>
          <a:p>
            <a:r>
              <a:rPr sz="1050" b="1" i="0">
                <a:solidFill>
                  <a:srgbClr val="1F2933"/>
                </a:solidFill>
                <a:latin typeface="Calibri"/>
              </a:rPr>
              <a:t>PEP 570 and PEP 3102: positional-only and keyword-only</a:t>
            </a:r>
          </a:p>
          <a:p>
            <a:r>
              <a:rPr sz="900" b="0" i="0">
                <a:solidFill>
                  <a:srgbClr val="0E7C86"/>
                </a:solidFill>
                <a:latin typeface="Calibri"/>
                <a:hlinkClick r:id="rId13"/>
              </a:rPr>
              <a:t>https://peps.python.org/pep-3102/</a:t>
            </a:r>
          </a:p>
        </p:txBody>
      </p:sp>
      <p:sp>
        <p:nvSpPr>
          <p:cNvPr id="27" name="card"/>
          <p:cNvSpPr/>
          <p:nvPr/>
        </p:nvSpPr>
        <p:spPr>
          <a:xfrm>
            <a:off x="4663440" y="3090672"/>
            <a:ext cx="4114800" cy="47548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source"/>
          <p:cNvSpPr txBox="1"/>
          <p:nvPr/>
        </p:nvSpPr>
        <p:spPr>
          <a:xfrm>
            <a:off x="4736592" y="3090672"/>
            <a:ext cx="3977639" cy="475488"/>
          </a:xfrm>
          <a:prstGeom prst="rect">
            <a:avLst/>
          </a:prstGeom>
          <a:noFill/>
        </p:spPr>
        <p:txBody>
          <a:bodyPr wrap="square" lIns="45720" rIns="45720" tIns="27432" bIns="27432" anchor="ctr">
            <a:spAutoFit/>
          </a:bodyPr>
          <a:lstStyle/>
          <a:p>
            <a:r>
              <a:rPr sz="1050" b="1" i="0">
                <a:solidFill>
                  <a:srgbClr val="1F2933"/>
                </a:solidFill>
                <a:latin typeface="Calibri"/>
              </a:rPr>
              <a:t>David Wheeler on Wikipedia</a:t>
            </a:r>
          </a:p>
          <a:p>
            <a:r>
              <a:rPr sz="900" b="0" i="0">
                <a:solidFill>
                  <a:srgbClr val="0E7C86"/>
                </a:solidFill>
                <a:latin typeface="Calibri"/>
                <a:hlinkClick r:id="rId14"/>
              </a:rPr>
              <a:t>wikipedia.org</a:t>
            </a:r>
          </a:p>
        </p:txBody>
      </p:sp>
      <p:sp>
        <p:nvSpPr>
          <p:cNvPr id="29" name="card"/>
          <p:cNvSpPr/>
          <p:nvPr/>
        </p:nvSpPr>
        <p:spPr>
          <a:xfrm>
            <a:off x="4663440" y="3611879"/>
            <a:ext cx="4114800" cy="47548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source"/>
          <p:cNvSpPr txBox="1"/>
          <p:nvPr/>
        </p:nvSpPr>
        <p:spPr>
          <a:xfrm>
            <a:off x="4736592" y="3611879"/>
            <a:ext cx="3977639" cy="475488"/>
          </a:xfrm>
          <a:prstGeom prst="rect">
            <a:avLst/>
          </a:prstGeom>
          <a:noFill/>
        </p:spPr>
        <p:txBody>
          <a:bodyPr wrap="square" lIns="45720" rIns="45720" tIns="27432" bIns="27432" anchor="ctr">
            <a:spAutoFit/>
          </a:bodyPr>
          <a:lstStyle/>
          <a:p>
            <a:r>
              <a:rPr sz="1050" b="1" i="0">
                <a:solidFill>
                  <a:srgbClr val="1F2933"/>
                </a:solidFill>
                <a:latin typeface="Calibri"/>
              </a:rPr>
              <a:t>The Collatz conjecture on Wikipedia</a:t>
            </a:r>
          </a:p>
          <a:p>
            <a:r>
              <a:rPr sz="900" b="0" i="0">
                <a:solidFill>
                  <a:srgbClr val="0E7C86"/>
                </a:solidFill>
                <a:latin typeface="Calibri"/>
                <a:hlinkClick r:id="rId15"/>
              </a:rPr>
              <a:t>https://en.wikipedia.org/wiki/Collatz_conjecture</a:t>
            </a:r>
          </a:p>
        </p:txBody>
      </p:sp>
      <p:sp>
        <p:nvSpPr>
          <p:cNvPr id="31" name="card"/>
          <p:cNvSpPr/>
          <p:nvPr/>
        </p:nvSpPr>
        <p:spPr>
          <a:xfrm>
            <a:off x="4663440" y="4133087"/>
            <a:ext cx="4114800" cy="47548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source"/>
          <p:cNvSpPr txBox="1"/>
          <p:nvPr/>
        </p:nvSpPr>
        <p:spPr>
          <a:xfrm>
            <a:off x="4736592" y="4133087"/>
            <a:ext cx="3977639" cy="475488"/>
          </a:xfrm>
          <a:prstGeom prst="rect">
            <a:avLst/>
          </a:prstGeom>
          <a:noFill/>
        </p:spPr>
        <p:txBody>
          <a:bodyPr wrap="square" lIns="45720" rIns="45720" tIns="27432" bIns="27432" anchor="ctr">
            <a:spAutoFit/>
          </a:bodyPr>
          <a:lstStyle/>
          <a:p>
            <a:r>
              <a:rPr sz="1050" b="1" i="0">
                <a:solidFill>
                  <a:srgbClr val="1F2933"/>
                </a:solidFill>
                <a:latin typeface="Calibri"/>
              </a:rPr>
              <a:t>Python Tutor: watch the call stack and frames run step by step</a:t>
            </a:r>
          </a:p>
          <a:p>
            <a:r>
              <a:rPr sz="900" b="0" i="0">
                <a:solidFill>
                  <a:srgbClr val="0E7C86"/>
                </a:solidFill>
                <a:latin typeface="Calibri"/>
                <a:hlinkClick r:id="rId16"/>
              </a:rPr>
              <a:t>https://pythontutor.com</a:t>
            </a:r>
          </a:p>
        </p:txBody>
      </p:sp>
      <p:sp>
        <p:nvSpPr>
          <p:cNvPr id="3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Pick one link and read it before the next class.</a:t>
            </a:r>
          </a:p>
        </p:txBody>
      </p:sp>
      <p:sp>
        <p:nvSpPr>
          <p:cNvPr id="3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46 / 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SEN0414 Chapter 4: Functions (lecture deck 3.0.0)</dc:title>
  <dc:subject/>
  <dc:creator>Yusuf Altunel</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