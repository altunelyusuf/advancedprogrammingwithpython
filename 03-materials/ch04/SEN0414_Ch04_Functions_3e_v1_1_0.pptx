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Lst>
  <p:notesMasterIdLst>
    <p:notesMasterId r:id="rId10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notesMaster" Target="notesMasters/notesMaster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chapter 4 of Automate the Boring Stuff with Python, 3rd edition (Sweigart, 2025), rebuilt for an advanced course from the chapter corpus: 76 concepts, each explained in its own paragraphs, with every printed result on these slides produced by running the code under Python 3.14.4 rather than copied from the book. This document renews chapter 4 of the 3rd edition for an advanced course: functions, return values, the call stack, scope, exception handling and the modern Python around them (Sweigart, 2025). Say at the start that the interactive page for this chapter carries the same taxonomy, the same examples and a question bank, so nothing shown here is unavailable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before any code. The left column is what the chapter is about and where its content comes from; the right column is the book's own table of contents for chapter 4, taken from the textbook ontology, so students can line the lecture up against their reading. Concepts are corpus-derived from the 3rd edition's chapter 4 through the Stage 1 research artefact (version 1.1.0); the concepts that the chapter's text uses without explaining them, and the modern-practice branch, are drawn from that artefact's secondary sources (the Python documentation and the PEPs), not from the book. Emphasise that where this lecture goes beyond the book it says so on the slide and names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out: they are what the week is marked against, and the exam questions for this chapter are written to them. Be straight with the room about where these come from: the course has eight approved learning outcomes, and the chapter page's objectives record states that none of them is specific to functions, because chapter 4 is the language groundwork the later, library-centred outcomes are built on. These five chapter objectives are what this week is marked against, and the work they prepare is every outcome that asks students to build something. Click them in one at a time so the room has a moment on each, and tell students the chapter page lists the same objectives beside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next three hours, and it is the chapter's own taxonomy, not a summary written for the slides: the interactive page draws the same tree. Each column is a branch, each box under it a sub-branch, and the number is how many concepts sit inside it. Tell students that every box becomes a slide, that the order on this map is the order of the lecture, and that when they lose the thread they should ask which box we are in. Click the branches in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is a named piece of code that a program can run whenever it needs that work done, from as many places as it likes. The textbook describes it as a mini program within a program (Sweigart, 2025), and the Python glossary states the same idea more formally: a series of statements which returns some value to a caller, and which can also be passed zero or more arguments that are used while its body runs (Python Software Foundation, 2026). The values passed in are called arguments, and the code that runs is called the body; both terms are defined carefully in the sections that follow. Without functions, every task that a program repeats would have to be written out again at each place that needs it, and a correction would have to be made in every copy. A function lets the programmer give the task a name, write it once and use the name from then on. The chapter adds a second reason: the variables created inside a function stay inside it, so a function can do its work and interact with the rest of the program only through the values it receives and the value it gives back, which narrows down the lines of code that can be responsible when something goes wrong (Sweigart, 2025). Functions are already familiar from chapter 1, where print, input and len were used as built-in functions that Python provides ready to use. This chapter shows how to write new ones with the def statement, how to call them, how to pass values in and get a value out, and what happens in the computer while one function waits for another to finish. Everything a Python program does beyond a few lines is organised into functions, whether the author wrote them or imported them from a module. The chapter is easiest to follow in the order of its own sections. Creating and calling a function comes first, then the two ways of passing values in (as parameters and as arguments), then the return value that comes out and the special value None. After that the call stack explains how Python finds its way back from a call, the scope rules explain which variable a name refers to inside and outside a function, and exception handling explains how a program can recover when a function fails. Two short animation programs and a note on current Python close the material. Two ideas that sound alike must be kept apart: the function itself, which is created once by a def statement, and a function call, which is each occasion on which that function runs. The practice questions of the chapter ask for exactly this difference (Sweigart, 2025), and most of the confusing error messages in the sections ahead come from mixing the two up.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branch covers how a function is created and how it is run. A function is created by a def statement, which names the function and gives it a body; it is run by a function call, which names the function again and supplies any arguments (Sweigart, 2025). Between the two lies a function object, the thing Python actually builds when it meets the def statement. Almost every misunderstanding about functions can be traced to the gap between defining and calling. A learner who keeps the two moments apart can predict when the code in a body runs, in what order a program prints its lines, and why a function must exist before the line that calls it executes. The sections of this branch go from the statement to the object to the call, and then to the reason for all of it. The def statement, the body, the function object and the keyword def come first, followed by the call, the call of a function that lives in a module, the lambda expression as a short way of writing a small function, and the function written inside another function. The branch ends with deduplication, the practical benefit that the textbook uses to justify functions.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def, a program could use only the functions that Python already provides. With it, the programmer names a piece of work once and every place that needs the work can use the name. The language reference calls a function definition an executable statement, which means that the function comes into existence at the moment the program reaches the def line and not before (Python Software Foundation, 2026). A def statement is found near the top of nearly every program that is longer than a few lines, usually above the code that calls the function. It can be typed in a file or in the interactive shell, and it can also appear inside the body of another function, which makes a nested function. When execution reaches a def statement, Python builds a function object and binds the function's name to it in the current namespace. It does not run the body; the reference states that the function definition does not execute the function body, which is executed only when the function is called (Python Software Foundation, 2026). A program that defines hello with a print inside and then runs print('before') prints only the word before, because the greeting inside hello is never asked for. A function must be defined before the line that calls it runs. A program whose first line is hello() and which defines hello underneath stops with NameError: name 'hello' is not defined, because at that moment the def statement below has not been executed yet. The colon at the end of the def line and the indented body under it are both required, and the next section on the function body explains the error that follows when the body is missing.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has no braces and no closing keyword to mark where a function stops, so the indentation is the only boundary. A line that is indented under the def line belongs to the function, and the first line that returns to the left margin belongs to the code that follows. Reading the indentation correctly is therefore the first step in reading any function. Every function has a body, and the body can contain any statement from the earlier chapters: calls to print, assignments, if statements with their elif and else parts, and loops. It can also contain a return statement, which ends the call, and further def statements, which create functions inside the function. The body is not executed when the function is defined. Each time the function is called, Python starts at the first line of the body and runs downward until it reaches the end of the block or a return statement, and then the execution continues on the line after the call (Sweigart, 2025). Variables that the body creates belong to that one call and disappear when it ends. A body must contain at least one statement; the statement pass does nothing and exists for the case in which a statement is required but no action is, such as a placeholder for a function that is still to be written (Python Software Foundation, 2026). A def line followed by no indented line, or by a line that is not indented, stops the program with IndentationError: expected an indented block after function definition on line 1. Equally easy to miss is a line that is indented by mistake: a statement meant to run once after the function but typed at the body's indentation becomes part of the body and runs only when the function is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Seeing a function as an object explains behaviour that would otherwise look arbitrary. The name can be copied to another name, passed to other functions, or reused for something else, because a function is a value like the numbers and strings of chapter 1. The reference makes the same point when it says that functions are first-class objects, which can be returned or passed around (Python Software Foundation, 2026). The object is visible whenever a function is named without being called. The call type(hello).__name__ gives 'function', callable(hello) gives True, and after same = hello the test same is hello is also True, because both names refer to one object. The same test works on a built-in function: callable(len) is also True. A built-in function such as len is reported as a built-in function or method instead, since it was not made by a def statement. The tutorial puts it plainly: a function definition associates the function name with the function object in the current symbol table, and other names can also point to that same function object and be used to access the function (Python Software Foundation, 2026). A function object also carries information about itself; its name is stored under the attribute __name__, an attribute being a named piece of information that is attached to an object and reached with a dot. Because the name is only a label, assigning to it replaces the function. After def hello(): and then hello = 5, the call hello() stops with TypeError: 'int' object is not callable. Writing the bare name hello with no parentheses does not call anything; it only refers to the object, so the line has no visible effect.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learner meets keywords as the words that start statements. Knowing that they are reserved explains an error message that would otherwise be puzzling: a program that tries to use def as a variable name, as in def = 3, stops with SyntaxError: invalid syntax, because the word already means something else. The textbook mentions keywords only to dismiss a confusion. It says that named parameters, which it also calls keyword arguments, have nothing to do with Python keywords (Sweigart, 2025). The word keyword in keyword argument means that the argument is given with the name of a parameter; the word keyword in def or return means a reserved word of the language. Whether a word is a keyword is a fixed fact about the language, and the keyword module can answer it. print is not on the list: keyword.iskeyword('print') is False, because print is a built-in function that can be given a new meaning, while def, return, global, nonlocal, try and except are all in keyword.kwlist and keyword.iskeyword('None') is True. The style guide adds that when a parameter name would clash with a keyword, a single trailing underscore is better than an abbreviation, so class_ is preferred to clss (Van Rossum et al., 2001). Do not confuse a keyword with a built-in name. A built-in name such as len can be reassigned by accident, which silently hides the function, whereas a keyword cannot be reassigned at all. The two situations produce different errors, and the section on the built-in scope returns to the first.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def statement needs a name and several lines, which is more than a one-line calculation deserves when the function is used only once. A lambda expression can be written exactly where the function is needed. This course uses it mainly in examples, where it keeps a demonstration of parameters or return values to a single line that can be typed into the interactive shell. The expression (lambda a, b: a + b)(2, 3) evaluates to 5: the first pair of parentheses holds the function and the second pair calls it with two arguments. The language reference explains that the expression is shorthand for a simplified function definition and behaves like a def of a function named &lt;lambda&gt; whose body is a return statement (Python Software Foundation, 2026). The body of a lambda is one expression and nothing else. The reference states that functions created with lambda expressions cannot contain statements or annotations, so lambda: pass is rejected with SyntaxError (Python Software Foundation, 2026). The result is an ordinary function object, which has the name &lt;lambda&gt; instead of a name chosen by the programmer. The style guide advises against binding a lambda to a name with an assignment such as f = lambda x: 2*x and recommends a def statement, because the def form gives the function the name f instead of the generic &lt;lambda&gt; that appears in tracebacks and string representations (Van Rossum et al., 2001). In the program that assigns the lambda to add, add.__name__ is '&lt;lambda&gt;' while a def function called add2 reports 'add2'.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Nested functions let a helper stay next to the only code that needs it, without adding another name to the whole program. They also lead to the case of the scope rules that sits between a purely local and a purely global variable: a variable of the outer function, which the inner function can read and, with the nonlocal statement, can change. A small helper that is meaningful only inside one function is a typical nested function, and so is any function that builds and returns another function. Most beginner programs do not need them, but the nonlocal statement of this chapter and the lookup rule for names cannot be understood without them. Executing the outer function runs the inner def statement each time, so the inner function object is created anew on every call of the outer one. In the program that defines outer with a variable n set to 21 and an inner function that returns n * 2, calling outer() prints 42. Because the inner name is local to the outer function, using inner after outer has returned raises NameError: name 'inner' is not defined. Defining a function inside another one does not run it. The inner function runs only when it is called, and the outer function has to call it or hand it on. A nested function can read the variables of the outer function freely, but an assignment inside it creates a new local variable instead of changing the outer one, which is the reason the nonlocal statement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 is what makes a function do any work, because a definition alone runs nothing. It is also an expression: a call such as max(3, 7) evaluates to the value the function gives back, so it can be used wherever a value can, which later sections develop. Calls are the commonest construct in a program. The program in the textbook calls hello three times and prints ten lines, three greetings, the line ONE MORE TIME! and three greetings again (Sweigart, 2025). Calls to the functions of modules are written with the module's name and a dot in front, and the next section shows that form. The reference describes the order of events: every argument expression is evaluated before the call is attempted, and the thing being called must be a callable object, a function being the usual case (Python Software Foundation, 2026). Python then places the arguments into the parameters, runs the body, and returns to the line after the call when the body ends or a return statement is reached (Sweigart, 2025). The parentheses are what make it a call. A line that contains only hello does nothing visible, as the section on the function object shows. The number of arguments must also fit the definition: calling a function defined as hello() with one argument, as in hello('Alice'), stops with TypeError: hello() takes 0 positional arguments but 1 was given.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usefulness of Python lies in functions that other people have already written and placed in modules. The glossary notes that writing random.seed() makes it clear which module implements the function, and that the module's namespace prevents two functions with the same name from colliding (Python Software Foundation, 2026). The library documentation defines random.randint(a, b) as returning a random integer N such that a &lt;= N &lt;= b (Python Software Foundation, 2026). The call random.randint(5, 5) therefore always gives 5, and random.randint(1, 9) gives a number from 1 to 9 inclusive, which is how the fortune program picks one of its nine answers. The import statement of chapter 3 binds the module's name in the current namespace; the dotted name then looks up the function inside that module. Without the import line, the name random is simply undefined, and a program that calls random.randint(1, 6) first stops with NameError: name 'random' is not defined. Arguments given in the wrong order matter here, as they do everywhere. The textbook points out that random.randint(1, 10) is different from random.randint(10, 1): the first gives a random integer between 1 and 10 and the second causes an error (Sweigart, 2025). Running the second form under Python 3.12 and 3.14 raises ValueError in both, although the wording of its message differs between the two releases.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Copies drift apart. If a bug is found in code that was pasted three times, the textbook warns, you must remember to change every place where you copied it. A function turns the three copies into one body and three short calls, so a correction is made once and is seen by every call. The chapter demonstrates the point with the greeting program. The version with a function has the three greetings written once and called three times; the pasted version spells out every print line, which makes it ten lines of print instead of four. Counting in the two sources, the text Good evening! occurs once in the function version and three times in the pasted version. The chapter's own pasted listing contains an example of the hazard it warns against. Its last line is print(' Good evening!') with a space before the G, so running the two programs gives outputs that differ in exactly that line: the function version prints Good evening! and the pasted version prints a line that begins with a space. Both outputs have ten lines, so the difference is easy to overlook, which is precisely the risk of duplicated code. A function is not the answer to every repetition. If the same few lines differ slightly each time, the differences should become parameters, which the next branch explains; if the repetition is a loop over the same steps, a loop from chapter 3 may be simpler than a function.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own pasted listing contains an example of the hazard it warns against. Its last line is print(' Good evening!') with a space before the G, so running the two programs gives outputs that differ in exactly that line: the function version prints Good evening! and the pasted version prints a line that begins with a space. Both outputs have ten lines, so the difference is easy to overlook, which is precisely the risk of duplicated code. A function is not the answer to every repetition. If the same few lines differ slightly each time, the differences should become parameters, which the next branch explains; if the repetition is a loop over the same steps, a loop from chapter 3 may be simpler than a function.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are the way values get into a function. A function definition lists the names that will receive the values, and each call supplies the values themselves. The textbook covers the plain form first, in the sections on arguments and parameters, and then the form in which an argument is identified by name, in the section on named parameters (Sweigart, 2025). A function that always did exactly the same thing would be of limited use. Parameters let one body serve many situations, such as greeting any person by name or dividing 42 by any number, so that the function stays short while the calls differ. They are also the controlled doorway through which a function receives information, because a function's own variables cannot be seen from outside. The branch begins with the vocabulary of define, call, pass, argument and parameter, then separates the two ways of matching an argument to a parameter, by position and by name. It continues with the two ways of forcing one of them, the slash that makes parameters positional-only and the star that makes them keyword-only, and ends with default values, which let a call omit an argument. The tutorial summarises the whole family in one definition line, def f(pos1, pos2, /, pos_or_kwd, *, kwd1, kwd2), where each marker restricts how the arguments that follow it may be passed (Python Software Foundation, 2026).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words are used constantly in documentation, error messages and conversation, and they name two different things that are easy to swap. Using them correctly is what lets a learner read a sentence such as the third argument is not accepted by the second parameter without hesitation, and it is what the textbook means when it says that keeping these terms straight ensures that you know precisely what the text means (Sweigart, 2025). Every call in this chapter has both. The call say_hello_to('Alice') passes one argument, and the function prints three greetings that begin Good morning, Alice and end with Good evening, Alice; a second call with 'Bob' prints three more lines for Bob. The built-in call round(3.14159, 2) passes two arguments, the number and the digits to keep, and evaluates to 3.14. The textbook lists four verbs: to define a function is to create it, as an assignment statement like spam = 42 creates the spam variable, to call it is to send the execution to the top of its code, and to pass a value is to hand it to the function in the call. The arguments are then assigned to local variables called parameters (Sweigart, 2025). The reference adds that a function call always assigns values to all parameters mentioned in the parameter list, whether from positional arguments, from keyword arguments or from default values (Python Software Foundation, 2026). A parameter lives only as long as the call. The textbook points out that the value stored in a parameter is forgotten when the function returns, so print(name) after say_hello_to('Bob') stops with NameError: name 'name' is not defined (Sweigart, 2025). The number of arguments must also match the parameters: calling say_hello_to() with none stops with TypeError: say_hello_to() missing 1 required positional argument: 'name'.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lists four verbs: to define a function is to create it, as an assignment statement like spam = 42 creates the spam variable, to call it is to send the execution to the top of its code, and to pass a value is to hand it to the function in the call. The arguments are then assigned to local variables called parameters (Sweigart, 2025). The reference adds that a function call always assigns values to all parameters mentioned in the parameter list, whether from positional arguments, from keyword arguments or from default values (Python Software Foundation, 2026). A parameter lives only as long as the call. The textbook points out that the value stored in a parameter is forgotten when the function returns, so print(name) after say_hello_to('Bob') stops with NameError: name 'name' is not defined (Sweigart, 2025). The number of arguments must also match the parameters: calling say_hello_to() with none stops with TypeError: say_hello_to() missing 1 required positional argument: 'name'.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is the shortest way to write a call, and it is the form every function accepts unless its definition restricts it. It also means that the order of the arguments is part of the meaning of the call, so a learner who ignores the order will get wrong results or errors without any warning. The built-in divmod takes two numbers and returns a pair consisting of their quotient and remainder under integer division, which for integers is the same as (a // b, a % b) (Python Software Foundation, 2026); the two operators were introduced in chapter 1. divmod(7, 2) gives (3, 1), while the same two numbers in the other order, divmod(2, 7), give (0, 2), and divmod(17, 5) gives (3, 2). The textbook's own example is random.randint(1, 10), which is different from random.randint(10, 1) (Sweigart, 2025). The language reference describes the matching as a list of unfilled slots, one for each formal parameter: if there are N positional arguments, they are placed in the first N slots, and only then are keyword arguments assigned to slots by name (Python Software Foundation, 2026). A slot that receives two values raises TypeError, and a slot that is never filled and has no default value also raises TypeError. A positional argument may not follow a keyword argument in a call. The tutorial states that in a function call, keyword arguments must follow positional arguments (Python Software Foundation, 2026), and a call such as print('a', sep=',', 'b') is rejected before the program runs, with SyntaxError: positional argument follows keyword argument.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make a call readable and let optional values be left out. The textbook says that programmers often use named parameters to provide optional arguments, and the clearest case is print: it has the optional parameters end and sep, which choose what is printed at the end of its output and between its arguments (Sweigart, 2025). A reader who sees end='' knows what it means without opening the documentation. Without any naming, print('Hello') followed by print('World') puts the two words on separate lines, because print adds a newline character at the end. With print('Hello', end='') the first call prints nothing at its end, so the output is HelloWorld on one line. The call print('cats', 'dogs', 'mice') prints cats dogs mice with spaces between the words, and adding sep=',' prints cats,dogs,mice. The coin-flip program of the textbook uses end=' ' so that the H and T results appear on one compact line, and two such calls followed by a bare print() give the line H T with a space after the T. The library reference defines print with the parameters sep, whose default is a single space, end, whose default is a newline, file and flush, and adds that sep, end, file and flush, if present, must be given as keyword arguments (Python Software Foundation, 2026). In an ordinary function, a parameter can be matched either way, so int('ff', base=16) and int('ff', 16) both give 255. When both a positional and a keyword argument try to fill the same parameter, as in f(0, a=0), the call stops with TypeError: f() got multiple values for argument 'a' (Python Software Foundation, 2026). A name that the function does not know is an error: print('a', separator=',') raises TypeError, and the wording of the message differs between Python 3.12 and 3.14. Because sep, end, file and flush are keyword-only in print, writing the separator as a plain extra argument does not set it; print('cats', 'dogs', ',') simply prints the comma as a third word, giving cats dogs , with spaces.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reference defines print with the parameters sep, whose default is a single space, end, whose default is a newline, file and flush, and adds that sep, end, file and flush, if present, must be given as keyword arguments (Python Software Foundation, 2026). In an ordinary function, a parameter can be matched either way, so int('ff', base=16) and int('ff', 16) both give 255. When both a positional and a keyword argument try to fill the same parameter, as in f(0, a=0), the call stops with TypeError: f() got multiple values for argument 'a' (Python Software Foundation, 2026). A name that the function does not know is an error: print('a', separator=',') raises TypeError, and the wording of the message differs between Python 3.12 and 3.14. Because sep, end, file and flush are keyword-only in print, writing the separator as a plain extra argument does not set it; print('cats', 'dogs', ',') simply prints the comma as a third word, giving cats dogs , with spaces.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570 states the starting point: positional-only parameters have no externally usable name (Hastings et al., 2018). The tutorial's guidance lists the situations in which they fit: when parameter names have no real meaning, when the order of the arguments should be enforced, and, for an API (application programming interface, the set of functions that a library offers to other programs), to prevent breaking changes if the parameter's name is modified in the future (Python Software Foundation, 2026). Many built-in functions work this way. The call len(obj='abc') stops with TypeError: len() takes no keyword arguments, because the argument of len cannot be given by name. The reference notes that in CPython this is true of functions implemented in C that do not give their positional parameters names (Python Software Foundation, 2026). For a function defined as def f(a, /, b): return a * b, the call f(3, 4) and the call f(3, b=4) both give 12, because b may be passed either way. The call f(a=3, b=4) stops with TypeError: f() got some positional-only arguments passed as keyword arguments: 'a', which names the parameter that was misused. The worked example of this concept writes the same function as a lambda expression, which the section on lambda expressions explains. The slash separates parameters by how they may be passed, not by which ones are required. Everything before it is positional-only and everything after it, unless a star follows, can be passed either way. Introducing a slash into an existing function breaks any caller that used the name, so it is normally chosen when the function is first written.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570 states the starting point: positional-only parameters have no externally usable name (Hastings et al., 2018). The tutorial's guidance lists the situations in which they fit: when parameter names have no real meaning, when the order of the arguments should be enforced, and, for an API (application programming interface, the set of functions that a library offers to other programs), to prevent breaking changes if the parameter's name is modified in the future (Python Software Foundation, 2026). Many built-in functions work this way. The call len(obj='abc') stops with TypeError: len() takes no keyword arguments, because the argument of len cannot be given by name. The reference notes that in CPython this is true of functions implemented in C that do not give their positional parameters names (Python Software Foundation, 2026). For a function defined as def f(a, /, b): return a * b, the call f(3, 4) and the call f(3, b=4) both give 12, because b may be passed either way. The call f(a=3, b=4) stops with TypeError: f() got some positional-only arguments passed as keyword arguments: 'a', which names the parameter that was misused. The worked example of this concept writes the same function as a lambda expression, which the section on lambda expressions explains. The slash separates parameters by how they may be passed, not by which ones are required. Everything before it is positional-only and everything after it, unless a star follows, can be passed either way. Introducing a slash into an existing function breaks any caller that used the name, so it is normally chosen when the function is first written.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Requiring the name makes a call self-explanatory and removes a whole class of mistakes. The tutorial recommends keyword-only parameters when names have meaning and the function definition is more understandable by being explicit with names, or when users should be prevented from relying on the position of an argument (Python Software Foundation, 2026). The built-in print is the example learners meet first: its documentation states that sep, end, file and flush must be given as keyword arguments (Python Software Foundation, 2026). In the textbook's examples this is why the separator and the end string are always written with their names. For a function defined as def f(a, *, b=2): return a + b, the call f(1, b=5) gives 6 and the call f(1) gives 3, because b has the default value 2. The call f(1, 5) stops with TypeError: f() takes 1 positional argument but 2 were given, since the second value has no positional slot to fill. A star must come before the keyword-only parameters, and the keyword-only parameters are not required to have a default value: for def f(*, b), the call f(b=1) works and the call f() stops with TypeError: f() missing 1 required keyword-only argument: 'b'. The slash and the star can be combined in one definition, with positional-only parameters before the slash, keyword-only ones after the star and ordinary parameters between them (Python Software Foundation, 2026).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function defined as def f(a, *, b=2): return a + b, the call f(1, b=5) gives 6 and the call f(1) gives 3, because b has the default value 2. The call f(1, 5) stops with TypeError: f() takes 1 positional argument but 2 were given, since the second value has no positional slot to fill. A star must come before the keyword-only parameters, and the keyword-only parameters are not required to have a default value: for def f(*, b), the call f(b=1) works and the call f() stops with TypeError: f() missing 1 required keyword-only argument: 'b'. The slash and the star can be combined in one definition, with positional-only parameters before the slash, keyword-only ones after the star and ordinary parameters between them (Python Software Foundation, 2026).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Defaults make the common case short and the unusual case possible. The call greet('Ada') returns Hello, Ada, greet('Ada', 'Hi') returns Hi, Ada and greet('Ada', greeting='Hey') returns Hey, Ada, so one function serves three styles of call. This is how the optional sep and end of print work. Defaults appear in the signatures of many library functions, and in the functions a program defines itself whenever a setting nearly always has the same value. The language also requires an order: if a parameter has a default value, all following parameters up to the star must also have one, and def bad(a=1, b) is rejected with SyntaxError: parameter without a default follows parameter with a default (Python Software Foundation, 2026). The default expression is evaluated once, when the def statement is executed, and the same value is then used for each call. The tutorial's example sets i = 5, defines def f(arg=i), then sets i = 6; calling f() still returns 5 and f(7) returns 7 (Python Software Foundation, 2026). For the common values of chapter 1 this is invisible, but it matters when the default is a mutable object, an object that can be changed in place, such as a list. A list is an ordered collection of values that chapter 6 introduces. A default of def f(a, L=[]) that appends to L makes the one list be shared by all calls, so the calls f(1), f(2) and f(3) print [1], then [1, 2], then [1, 2, 3] (Python Software Foundation, 2026). The tutorial's remedy is a default of None that the function replaces with a new list when it is None, after which g(1) and g(2) print [1] and [2] separately. The test is written with is, which the section on identity explains.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expression is evaluated once, when the def statement is executed, and the same value is then used for each call. The tutorial's example sets i = 5, defines def f(arg=i), then sets i = 6; calling f() still returns 5 and f(7) returns 7 (Python Software Foundation, 2026). For the common values of chapter 1 this is invisible, but it matters when the default is a mutable object, an object that can be changed in place, such as a list. A list is an ordered collection of values that chapter 6 introduces. A default of def f(a, L=[]) that appends to L makes the one list be shared by all calls, so the calls f(1), f(2) and f(3) print [1], then [1, 2], then [1, 2, 3] (Python Software Foundation, 2026). The tutorial's remedy is a default of None that the function replaces with a new list when it is None, after which g(1) and g(2) print [1] and [2] separately. The test is written with is, which the section on identity explains.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of a function is what a call evaluates to once the body has finished. In everyday speech a function gives something back; in Python terms the call is replaced, inside the expression that contains it, by the function's return value. The textbook introduces the idea with a familiar case: when len is called with 'Hello', the call evaluates to the integer 5, and in general the value to which a function call evaluates is called the return value of the function (Sweigart, 2025). Parameters bring information into a function and the result carries information out. Together they make a function a small machine with inputs and an output, and this is what allows one function to be built on the results of another. A function that gives nothing back can still be useful for what it does, such as printing, but it cannot take part in a calculation. The branch has two parts. The first, about the return value, covers the return statement, the value that Python supplies when a function has no return statement, and the use of a call as an expression. The second, about the None value, covers the special value that stands for no value at all and the way to test for it. A function chooses its result with a return statement. If it never reaches one, Python supplies None. Either way the call can then be stored in a variable, printed, passed on as an argument or combined with operators, since a call evaluates to its return value.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return value is the value that a function call evaluates to. It is produced by the function's return statement or, when there is none, by the value None that Python supplies. The three sections of this branch follow that order: the statement that chooses the value, the value supplied when no statement is written, and the use of the call itself as an expression. Understanding the return value separates two things that beginners often mix up, printing a result and returning it. A function that prints can only be read by a person, while a function that returns can be used by the rest of the program in arithmetic, comparisons and further calls. The reference puts the rule in one sentence: return leaves the current function call with the expression list, or None, as return value (Python Software Foundation, 2026). Everything else in the branch is a consequence of that sentence.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return, a function could only act on the outside world, for example by printing. With it, a function can compute something and hand it to the caller, which is how most of the functions in a real program are used. The textbook's fortune program is a typical case: get_answer receives a number and returns one of nine strings, and the main program prints the string it receives (Sweigart, 2025). The chapter's divide function is the simplest example. After def spam(divide_by): return 42 / divide_by, the calls spam(2), spam(12) and spam(1) evaluate to 21.0, 3.5 and 42.0, and spam(2) + spam(12) evaluates to 24.5, because the calls are values and can be added. In the fortune function, get_answer(1) returns 'It is certain' and get_answer(9) returns 'Very doubtful'. Executing return does two things at once: it computes the value and it leaves the function immediately. In a function whose first statement is return 'first' and whose second is print('never printed'), the call returns 'first' and nothing is printed, because the second statement is never reached. The program then continues at the line that made the call, and the call is replaced by the value. A return statement can appear several times, but only one of them is executed per call. In get_answer the nine return statements sit in an if and elif chain, and each call reaches exactly one; if no branch matches, as for get_answer(10), the function finishes without a return and the call evaluates to None. Any statement placed after a return in the same block can never run, as the print('never printed') example shows.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Executing return does two things at once: it computes the value and it leaves the function immediately. In a function whose first statement is return 'first' and whose second is print('never printed'), the call returns 'first' and nothing is printed, because the second statement is never reached. The program then continues at the line that made the call, and the call is replaced by the value. A return statement can appear several times, but only one of them is executed per call. In get_answer the nine return statements sit in an if and elif chain, and each call reaches exactly one; if no branch matches, as for get_answer(10), the function finishes without a return and the call evaluates to None. Any statement placed after a return in the same block can never run, as the print('never printed') example shows.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call evaluates to a value, so every function must have some return value, and None is the choice that means nothing useful. It is the reason print can be used in an expression at all: the textbook explains that print displays text and does not need to return anything, but since all function calls need to evaluate to a return value, print returns None (Sweigart, 2025). The case appears whenever a function only performs an action, such as printing, and in every function whose last branch forgets to return. The tutorial's rule has two parts: a return without an expression argument returns None, and falling off the end of a function also returns None (Python Software Foundation, 2026). The textbook also mentions that functions return None if you use a return statement without a value, that is, just the return keyword by itself (Sweigart, 2025). For def f(): pass and def g(): return the calls f() and g() both evaluate to None, and type(f()).__name__ gives 'NoneType'. The same is true of def add(a, b): a + b, which computes the sum and throws it away: add(2, 3) is None. The rule holds for built-in functions and methods too: [2, 1].sort() is None is True, because sorting a list in place hands nothing back. The interpreter normally suppresses None when it is the only value to be written, so in the interactive shell nothing appears after a call that returns it, but print(f()) writes it. A missing return is one of the most frequent mistakes in beginners' programs. The symptom is a calculation that seems to work but delivers None, followed by an error when None is added to a number or compared with one. When a function is supposed to give a value back, check that every path through it ends in a return.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behind the shortcut is the definition of an expression from chapter 1. The textbook reminds the reader that expressions consist of values and operators, and that you can use a function call in an expression because the call evaluates to its return value (Sweigart, 2025). A call is therefore just another value-producing piece of code, and it can be combined with every other one. Nested calls are read from the inside out. In len(str(42 / 2)), the division is evaluated first and gives 21.0, the call str turns it into the text '21.0', and len counts four characters, so the whole expression evaluates to 4. Calls also take part in arithmetic, as spam(2) + spam(12) does when it evaluates to 24.5. The language reference states the order: all argument expressions are evaluated before the call is attempted (Python Software Foundation, 2026). In print(get_answer(random.randint(1, 9))), Python first calls random.randint, passes its result to get_answer, passes that result to print and finally prints it. Each inner call has returned before the next outer call begins. Long nested calls are short to write but harder to debug, because no intermediate value is stored where it can be inspected. When a nested line does not behave, split it back into separate assignments as in the textbook's three-line version and print each stage.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NoneType is the data type of the single value None. The branch explains the value and the right way to test for it. Both points matter in this chapter because None is what every function returns when it has nothing else to give back. A language needs a way to say that there is no value, distinct from every real value including zero and the empty string. Python uses None for this, where other languages use null, nil or undefined, as the textbook mentions (Sweigart, 2025). The first section describes the value and where it comes from, with print as the standard example. The second section explains the test that decides whether a value is None, which uses the operator is instead of the equality sign.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is useful when a variable has to hold something that shouldn't be confused for a real value (Sweigart, 2025). A function that searches for a result can return None to mean that nothing was found, a parameter can use it as a default to mean that the caller gave no argument, and a variable can start as None until its real value is known. The first place a learner meets it is the return value of print. After spam = print('Hello!'), the text Hello! is printed and spam holds None; printing spam then shows None, and the check None == spam gives True (Sweigart, 2025). The interpreter normally suppresses None when it would be the only value written, so a call to print typed into the interactive shell shows only its text (Python Software Foundation, 2026). The expression type(None).__name__ evaluates to 'NoneType', and the reference confirms that None is the sole instance of the NoneType type, that is, the only value of that type (Python Software Foundation, 2026). Because it is the only value of its type, any two Nones are the same object, which is the fact that the identity test of the next section relies on. None is also a keyword: keyword.iskeyword('None') is True, so a program that tries None = 3 stops with SyntaxError: cannot assign to None. None is not zero, not an empty string and not False, even though a test in an if statement treats all of them as false. The reference lists the values interpreted as false as False, None, numeric zero of all types and empty strings and containers (Python Software Foundation, 2026). The difference matters when a function must tell a missing value from a real zero, as the next section shows.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None the identity test is the correct and the safest question. The style guide states that comparisons to singletons like None should always be done with is or is not, never the equality operators (Van Rossum et al., 2001). Since there is exactly one None, saying that a name is None is the same as saying that it refers to that one object. The textbook compares with equality, writing None == spam, which gives True and is not wrong in that example (Sweigart, 2025); the style guide asks that real programs use spam is None instead. The test appears in the default-argument pattern of this chapter, if L is None:, and in any function that must tell whether a caller supplied an argument. The same value can be tested in two ways, and only one of them asks the right question. A function describe(x) that answers 'missing' if x is None else 'given' reports 'given' for the argument 0, since 0 is a real value. A careless version written as 'missing' if not x else 'given' reports 'missing' for both 0 and None, because the reference counts numeric zero as false as well (Python Software Foundation, 2026). The style guide warns of exactly this trap: beware of writing if x when you really mean if x is not None (Van Rossum et al., 2001). It also asks for is not instead of not ... is, which is easier to read. Do not use is to compare numbers or strings: it tests identity, not equality, and Python even warns when it is written with a literal number.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frame is the record that Python keeps for one running function call, and the call stack is the pile of such records that exist at a given moment. The language reference explains that a code block is executed in an execution frame, which contains some administrative information and determines where and how execution continues after the block's execution has completed (Python Software Foundation, 2026). The chapter turns this machinery into a picture that a beginner can hold in mind. Every call has to return to the place that made it, and a function may be called from many different places. Python can only manage this if it remembers, for each call that is still running, where to go back to. The frames and the stack are how it remembers, and they also explain two things that look unrelated: why each call has its own variables, and why an endless chain of calls ends with an error instead of running forever. The textbook compares the call stack with a meandering conversation. You talk about Alice, are reminded of a story about Bob, and must first explain something about Carol; when the story about Carol ends you return to Bob and later to Alice. In a stack, items get added or removed from the top only, and the current topic is always at the top of the stack (Sweigart, 2025). The branch has one group, the call stack, with four sections. The first gives the order in which calls start and return, the second names the frame object that records each call, the third shows how a program can look at the frames it is running inside, and the fourth treats recursion, in which a function calls itself and the stack grows deep. The textbook itself says that the call stack is a technical detail that you don't strictly need to know about to write programs, and that it is enough to understand that function calls return to the line number they were called from (Sweigart, 2025). The reason to learn it anyway is that it makes the local and global scopes of the next branch easy to understand.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stack is the stack of frames, one for each function call that has started and not yet returned. It is not a variable in the program; the textbook describes it as a section of your computer's memory that Python handles automatically behind the scenes (Sweigart, 2025). The stack explains the order of the output of any program with nested calls, and it is the reason an error deep inside one function can be traced back through the functions that led to it. Every concept in this branch is a view of the same stack: its order, its records, the way a program can inspect it and the way it can overflow. The sections of the branch take the stack in turn. They start with the order in which it grows and shrinks, continue with the frame object that is stored for each call, then show how to list the frames and how Python limits the depth, and finish with recursion.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stack, nested calls could not work. A function such as a() that calls b() must continue where it stopped once b() is done, and b() may in turn have called c() in the meantime. The stack keeps those waiting calls in the right order, with the function currently running at the top. The textbook's program abcdCallStack.py defines four functions: a() calls b() and then d(), and b() calls c(). Running it prints eight lines in this order: a() starts, b() starts, c() starts, c() returns, b() returns, d() starts, d() returns and a() returns (Sweigart, 2025). The nesting of the output is the nesting of the calls: c() finishes first, although a() started first. When the program calls a(), Python adds a frame for a at the top of the stack. The call to b() adds a frame above it, and the call to c() another one. When c() returns, its frame is removed from the top and execution continues in b() at the line after the call; the textbook stresses that frame objects always get added and removed from the top of the stack, and not from any other place (Sweigart, 2025). The top of the call stack is the currently executing function, and an empty call stack means that the execution is on a line outside all functions (Sweigart, 2025). A function that returns does not skip the functions that are waiting below it. Execution comes back to the immediate caller, never directly to the first one, which is why the lines c() returns, b() returns and a() returns appear in that order and not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stack, nested calls could not work. A function such as a() that calls b() must continue where it stopped once b() is done, and b() may in turn have called c() in the meantime. The stack keeps those waiting calls in the right order, with the function currently running at the top. The textbook's program abcdCallStack.py defines four functions: a() calls b() and then d(), and b() calls c(). Running it prints eight lines in this order: a() starts, b() starts, c() starts, c() returns, b() returns, d() starts, d() returns and a() returns (Sweigart, 2025). The nesting of the output is the nesting of the calls: c() finishes first, although a() started first. When the program calls a(), Python adds a frame for a at the top of the stack. The call to b() adds a frame above it, and the call to c() another one. When c() returns, its frame is removed from the top and execution continues in b() at the line after the call; the textbook stresses that frame objects always get added and removed from the top of the stack, and not from any other place (Sweigart, 2025). The top of the call stack is the currently executing function, and an empty call stack means that the execution is on a line outside all functions (Sweigart, 2025). A function that returns does not skip the functions that are waiting below it. Execution comes back to the immediate caller, never directly to the first one, which is why the lines c() returns, b() returns and a() returns appear in that order and not at once.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record of the caller, a function would have no way back. The frame is that record, and because each call gets its own frame, each call also gets its own set of local variables, which is how the same function can be running several times at once without the runs disturbing each other. A program can look at its own frames with the inspect module. In a function show defined as f = inspect.currentframe() followed by return f.f_lineno, f.f_back.f_lineno, the first number is the line currently being executed in that function and the second is the line of the caller; for the example program they are 9 and 10, the second being the line that contains the call x = show(). The documentation describes f_lineno as the current line number in Python source code and f_back as the next outer frame, the frame's caller (Python Software Foundation, 2026). When a function is called, Python creates a frame object on top of the call stack; when the call returns, it removes that frame object and moves the execution to the line number stored in it (Sweigart, 2025). The reference adds that a frame's f_back attribute points to the previous stack frame, towards the caller, or to None if this is the bottom stack frame (Python Software Foundation, 2026). In the program in which inner() is called from outer(), the code name of the caller found through f_back is 'outer', and for a call made at the top level of the file it is '&lt;module&gt;'. Frames belong to Python's internals. The documentation of the inspect module warns that keeping references to frame objects can make the objects they reach live much longer than expected, and advises removing the reference once the work with the frame is done (Python Software Foundation, 2026). Ordinary programs never need to touch a frame; it is a tool for debuggers and for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normally invisible, so being able to print it turns the textbook's picture into something a student can check. It is also how error reports are built: the lines of a traceback are the frames of the stack at the moment of the error, a point the exception section returns to. In a program where a() returns b(), b() returns c(), and c() returns the names of the frames from traceback.extract_stack(), the list is ['&lt;module&gt;', 'a', 'b', 'c']. The bottom entry is the top level of the file, then each waiting function, and the last name is the function that asked: c, the top of the stack. The interpreter also limits the depth of the stack. The documentation of sys.getrecursionlimit() calls the value the maximum depth of the Python interpreter stack and says that the limit prevents infinite recursion from causing an overflow of the C stack and crashing Python (Python Software Foundation, 2026). Under both Python 3.12 and 3.14 it is 1000, as the example evaluates. A stack that grows past the limit does not crash the program silently; Python raises RecursionError. The exceptions documentation says that it is derived from RuntimeError and is raised when the interpreter detects that the maximum recursion depth is exceeded (Python Software Foundation, 2026). Derived from means that RecursionError is a more specific kind of RuntimeError, so a program prepared for the general kind is prepared for the specific one as well; the exceptions branch calls this relation a subclass. The limit is a safety net and not a number to rely on: code that needs more than a few hundred nested calls is usually better written with a loop.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interpreter also limits the depth of the stack. The documentation of sys.getrecursionlimit() calls the value the maximum depth of the Python interpreter stack and says that the limit prevents infinite recursion from causing an overflow of the C stack and crashing Python (Python Software Foundation, 2026). Under both Python 3.12 and 3.14 it is 1000, as the example evaluates. A stack that grows past the limit does not crash the program silently; Python raises RecursionError. The exceptions documentation says that it is derived from RuntimeError and is raised when the interpreter detects that the maximum recursion depth is exceeded (Python Software Foundation, 2026). Derived from means that RecursionError is a more specific kind of RuntimeError, so a program prepared for the general kind is prepared for the specific one as well; the exceptions branch calls this relation a subclass. The limit is a safety net and not a number to rely on: code that needs more than a few hundred nested calls is usually better written with a loop.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problems are naturally defined in terms of smaller versions of themselves. The factorial of 5 is 5 times the factorial of 4, which is a definition that translates directly into a function that calls itself with a smaller number. Recursion is also the clearest way to see the call stack at work, because the stack gets as deep as the chain of calls. For def factorial(n) that returns 1 when n &lt;= 1 and otherwise returns n * factorial(n - 1), the call factorial(5) gives 120 and factorial(10) gives 3628800. Five frames for factorial exist at the deepest moment of factorial(5), and they are removed one after another as the results are multiplied on the way back. A recursive function needs a base case, a branch that returns without calling itself, so that the chain ends. The call stack holds one frame for each pending call, and each frame has its own value of n. When the deepest call returns 1, the frames below it are completed in reverse order, each multiplying its n by the value it receives. A recursive function without a base case never ends. For def forever(): return forever(), the stack grows until Python stops it with RecursionError and the message maximum recursion depth exceeded; RecursionError is a subclass of RuntimeError. A base case that is never reached because the argument does not shrink has the same effect as having none.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scope is the part of a program in which a name can be used, and the scope of a variable decides which variable a name refers to. The textbook asks the reader to think of a scope as a container for variables (Sweigart, 2025), and the language reference defines it as what determines the visibility of a name within a block (Python Software Foundation, 2026). This branch of the chapter explains the containers that exist, the rules that connect names with them, and the statements that bend the rules. Scopes are what keep a large program understandable. The textbook explains that Python uses scoping because it enables a function to modify its variables, yet interact with the rest of the program through its parameters and its return value only, which narrows down the number of lines of code that might be causing a bug (Sweigart, 2025). A bad value in a local variable can be hunted inside one function; a bad value in a variable that every part of the program can change could have been set from anywhere. Every program with a function has at least two scopes: the global scope that holds the names created outside all functions, and one local scope for each function call that is running. Beyond the textbook, a function defined inside another function has the outer function's scope around it, and every program can see the built-in names such as print and len. The branch starts with the containers, which the reference calls namespaces: the local scope, the global scope, the enclosing scope of a nested function and the built-in scope. It continues with the rules that decide which of them a name belongs to: the four rules of the textbook, the lookup order behind them, the statements global and nonlocal, the symbol table that applies the rules before the program runs, and two error messages, NameError and UnboundLocalError. The textbook allows global variables in small programs but calls it a bad habit to rely on them as programs get larger (Sweigart, 2025). The same habit is the main source of the surprising errors in this branch, because most of them happen when a function that reads a name is changed so that it also assigns it.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namespace is the place where a variable is stored. The glossary adds that namespaces are implemented as dictionaries, which are tables that pair a name with a value, and that there are the local, global and built-in namespaces as well as nested namespaces in objects (Python Software Foundation, 2026). A scope is the region of the program from which a namespace is visible, and in everyday speech the two words are used for the same container. Namespaces support modularity by preventing naming conflicts: the glossary's example is that the functions builtins.open and os.open() are distinguished by their namespaces (Python Software Foundation, 2026). The same idea lets two functions use the name eggs for different variables without disturbing each other. The sections of this group describe the namespaces one by one: the local scope that every call creates, the single global scope, the scope of an enclosing function, the built-in scope, and the confusing but legal situation in which the same name is used in several of them.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local scope gives each call its own workspace. Because the workspace disappears afterwards, a function cannot leave clutter behind, and a variable called result in one function cannot be confused with a variable called result in another. This is the mechanism behind the textbook's image of a function as a black box. In the program that defines spam with the line eggs = 'sss' and calls spam(), the variable eggs exists only while spam runs. The textbook explains that a new local scope gets created whenever a program calls a function, and that when the function returns the local scope gets destroyed, along with these variables (Sweigart, 2025). The destruction has a visible effect. After the call, print(eggs) at the top level stops with NameError: name 'eggs' is not defined, because there is no variable of that name any more. A function that sets n = 0 and adds one to it always starts fresh: calling counter() twice gives 1 and 1, not 1 and 2, since the second call receives a new local scope in which n starts again. Values that must survive from one call to the next cannot live in a local variable. They can be returned to the caller, which stores them, or they can live in a global variable, which brings the risks that the global scope section describes. The parameters of a function also belong to its local scope and are forgotten at the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global variable is the simplest way for different functions to share a value, which is why beginners reach for it first. It is also the reason the textbook recommends caution: when every function can change a variable, a bug caused by a bad value gives no hint about where the value was set. The program that sets eggs = 'GLOBALGLOBAL' at the top level and then calls a function that prints eggs shows the usual use: the function does not assign the name, so it reads the global one and prints GLOBALGLOBAL. There is only one global scope. It is created when the program begins and destroyed when the program terminates, at which time all its variables are forgotten, whereas a new local scope is created for every call (Sweigart, 2025). Code in a function can read a global variable freely; changing it needs the global statement that a later section describes. The global scope is not the same as the built-in scope. A name such as print is found in neither the local nor the global scope of the program, and yet it works, because the built-in scope is searched last. Mixing the two up leads to the mistake of redefining a built-in name as a global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is what makes functions independent. A programmer writing spam does not need to know whether bacon already uses the name eggs. The cost is that a reader can be confused about which eggs is meant at a given line, which the FAQ describes by saying that an assignment to a variable in a scope makes it local to that scope and shadows any similarly named variable in the outer scope (Python Software Foundation, 2026). The textbook's program localGlobalSameName.py defines spam with its own eggs set to 'spam local', and bacon with another eggs set to 'bacon local' that calls spam and prints its own eggs again; at the top level eggs is 'global'. Calling bacon() and then printing eggs gives four lines: bacon local, spam local, bacon local and global (Sweigart, 2025). The program contains three different variables that are all named eggs: one in the local scope of spam, one in the local scope of bacon, and one in the global scope (Sweigart, 2025). While spam runs, the eggs of bacon still exists, waiting on the call stack, and it has not been changed. When bacon prints eggs for the second time it still shows its own value. Legal does not mean advisable. The textbook's advice is that, to simplify your life, you should avoid using the same name in different scopes and give all variables unique names, even when they appear in different scopes (Sweigart, 2025). In practice, this means that a function should not reuse the name of a global variable for something else.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enclosing scope completes the picture of where a name can be found. A name used inside a nested function is searched in its own local scope first, then in the enclosing scopes from the nearest to the farthest, then in the global scope, and finally in the built-in scope, as the tutorial describes (Python Software Foundation, 2026). In the program in which outer sets n = 21 and defines an inner function that returns n * 2, the call outer() evaluates to 42: the inner function has no n of its own and finds the one in outer. The worked example of this concept builds the same structure from two lambda expressions and evaluates to 42. The glossary notes that nested scopes by default work only for reference and not for assignment: local variables both read and write in the innermost scope, and the nonlocal statement allows writing to outer scopes (Python Software Foundation, 2026). In other words, an inner function reads the variables of its enclosing function freely, but an assignment inside it creates a new local variable. A name read from an enclosing scope is looked up when the inner function runs, not when it is defined. If the outer variable changes in between, the inner function sees the new value. The FAQ shows the surprising consequence for functions created in a loop, which all see the final value of the loop variable (Python Software Foundation, 2026).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print works without any definition and without an import, even though the program never created that name. It is also why the FAQ can say that if global were required for all global references, you would have to declare as global every reference to a built-in function or to a component of an imported module (Python Software Foundation, 2026). The tutorial puts the built-ins at the end of the lookup order: variable references first look in the local symbol table, then in the local symbol tables of enclosing functions, then in the global symbol table, and finally in the table of built-in names (Python Software Foundation, 2026). The check builtins.len is len evaluates to True, which shows that the len that a program sees is the one in the builtins module. A function such as reads_len that returns len('abc') finds len in none of the scopes it owns, so the search ends in the built-in scope and the call evaluates to 3. A name assigned in a nearer scope hides the built-in one: inside a function, len = 3 makes len a local variable that equals 3, and the real len is untouched for the rest of the program. Hiding a built-in name at the top level breaks every later use of it. After len = 3 at the top level of a program, the call len('abc') stops with TypeError: 'int' object is not callable, since the name now refers to the number 3. Avoid using built-in names such as len, print, max or type for variables.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rules are the statements that decide whether a name in a function is local or global, and what happens when a program breaks them. The textbook states two sets of rules: four rules that say what code can use which variables, and four rules for identifying whether a variable belongs to a local or the global scope (Sweigart, 2025). Following the rules is the difference between a program that works and one that stops with an error that looks arbitrary. The rules also explain a surprising fact: whether a name is local is decided from the text of the whole function, not from the line that is running. The sections cover what code can reach which scope, the lookup order behind it, the two statements that change the rules, the table in which the compiler, the part of Python that translates the program into bytecode, records its decisions, and the two errors that appear when a name cannot be found. A last section covers the statement nonlocal, which the textbook omits.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Isolation is what makes a function a black box. A function can be rewritten, renamed or have its variables changed without affecting any other part of the program, because no other part can see them. In the first case a function spam assigns eggs = 'sss', and the line print(eggs) after the call stops with NameError: name 'eggs' is not defined. In the second case spam sets eggs to 'SPAMSPAM' and calls bacon, which sets its own eggs to 'BACONBACON' and a variable ham; back in spam, print(eggs) shows SPAMSPAM, because bacon's variables are in another scope (Sweigart, 2025). Python creates a new local scope whenever a program calls a function, even when the function is called from another function, and multiple local scopes can exist at the same time (Sweigart, 2025). The variable ham of bacon exists only during that call. If a third function tries to print ham, it stops with NameError: name 'ham' is not defined. The only legitimate ways to move information between functions are the parameters and the return value. A learner who wants to read another function's variable should return it from that function, or pass it as an argument, and not reach for a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this rule every function would need to be handed every constant, setting and helper function as a parameter. The FAQ gives the reason that the default is the way it is: if global were required for all global references, you'd be using global all the time (Python Software Foundation, 2026). In the program where eggs = 'GLOBALGLOBAL' is assigned at the top level and spam only prints eggs, the call spam() prints GLOBALGLOBAL. The practice questions of the chapter use the same rule: a program assigns random_number = random.randint(1, 6) once at the top level and defines a function that only returns random_number (Sweigart, 2025). That function returns the same number on every call, because the random choice was made once, when the global variable was assigned, and the function only reads it. Counting the different values among four calls gives 1. Calling randint inside the function would have chosen a new number each time. Reading a global is allowed, but the first assignment inside the function changes the meaning of every use in that function. The FAQ states the rule briefly: variables that are only referenced inside a function are implicitly global, and if a variable is assigned a value anywhere within the function's body, it's assumed to be a local unless explicitly declared as global (Python Software Foundation,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rule is easier to remember and to apply than a list of exceptions. Once the order is known, every scope question can be answered by walking through the scopes from the nearest outward and stopping at the first one that has the name. The tutorial gives the order: first the local symbol table, then the symbol tables of enclosing functions, then the global symbol table, and finally the table of built-in names (Python Software Foundation, 2026). In the program with a global x set to 'global', an outer function that sets x = 'enclosing', and an inner function that only returns x, the inner function returns 'enclosing', a second inner function that assigns x = 'local' returns 'local', and the global x is still 'global'. The search finds the name in the nearest scope that has it and stops there. If the name is not found in any scope, the reference says that a NameError exception is raised (Python Software Foundation, 2026). If the name was bound in the current function but not yet given a value at the moment of use, an UnboundLocalError is raised instead, which is the subject of a later section. Resolution depends on the structure of the program text, not on the order in which lines happen to run. A name is resolved in the local scope if the function assigns it anywhere, even in a branch that never executes, and then it is a local variable for the whole function, as the section on the symbol table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rule is easier to remember and to apply than a list of exceptions. Once the order is known, every scope question can be answered by walking through the scopes from the nearest outward and stopping at the first one that has the name. The tutorial gives the order: first the local symbol table, then the symbol tables of enclosing functions, then the global symbol table, and finally the table of built-in names (Python Software Foundation, 2026). In the program with a global x set to 'global', an outer function that sets x = 'enclosing', and an inner function that only returns x, the inner function returns 'enclosing', a second inner function that assigns x = 'local' returns 'local', and the global x is still 'global'. The search finds the name in the nearest scope that has it and stops there. If the name is not found in any scope, the reference says that a NameError exception is raised (Python Software Foundation, 2026). If the name was bound in the current function but not yet given a value at the moment of use, an UnboundLocalError is raised instead, which is the subject of a later section. Resolution depends on the structure of the program text, not on the order in which lines happen to run. A name is resolved in the local scope if the function assigns it anywhere, even in a branch that never executes, and then it is a local variable for the whole function, as the section on the symbol table shows.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the commonest error in beginners' programs and the one that the scope rules most directly explain. Reading the message correctly, a learner can tell at once whether the name was misspelled, used before it was created, or created in a scope that the line cannot see. The chapter shows it in the first scope rule: print(eggs) at the top level, after a function has assigned eggs locally, gives NameError: name 'eggs' is not defined. A misspelled or differently capitalised name behaves the same way, since Python distinguishes capitals: after def Hello(), the call hello() reports that the name hello is not defined, and recent releases add the hint Did you mean: 'Hello'? The reference says that when a name is not found at all, a NameError exception is raised (Python Software Foundation, 2026). Several of the situations in this chapter reach it by different roads: a call before the def statement has run, a variable that exists only in another function, a parameter used after its call has returned, and a function name that is only defined inside another function. UnboundLocalError is a subclass of NameError, so an except clause for NameError also catches it. The two should not be confused when reading a message: NameError says there is no such name at all, while UnboundLocalError says that the name exists in the function but has no value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 global needs no declaration, but changing one does: the reference notes that it would be impossible to assign to a global variable without global (Python Software Foundation, 2026). The requirement is deliberate, since the FAQ says that requiring global for assigned variables provides a bar against unintended side-effects (Python Software Foundation, 2026). In the textbook's globalStatement.py, the function spam declares global eggs and then assigns eggs = 'spam'. After the top-level eggs was set to 'global', calling spam() and printing eggs gives spam, because no local eggs is ever created (Sweigart, 2025). The statement applies to the entire current scope, and a SyntaxError is raised if the variable is used or assigned to before its global declaration in that scope (Python Software Foundation, 2026). A function that assigns eggs = 1 and only afterwards declares global eggs is rejected with SyntaxError: name 'eggs' is assigned to before global declaration, before the program runs. Needing global is a hint that the design may be wrong. The textbook says that writing functions without global variables is encouraged, which makes it possible to treat each function as a black box (Sweigart, 2025). Pass values in as parameters and take results out as return values, and keep the global statement for the few cases that truly need it.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rules turn the earlier discussion into a procedure that a student can carry out on paper. Looking at a function, one finds first any global statement, then any assignment, and the name is classified accordingly. The rules also fit into the one lookup rule of the previous section. The textbook's sameNameLocalGlobal.py has three functions that use the name eggs. In spam, which declares global eggs, it is the global variable; in bacon, which assigns eggs = 'bacon', it is local; and in ham, which only prints eggs, it is the global variable (Sweigart, 2025). Running spam(), printing eggs, then running bacon() and printing eggs, then ham() prints spam three times, because only spam changes the global. The decision does not depend on the order of the lines. The reference explains that the local variables of a code block can be determined by scanning the entire text of the block for name binding operations (Python Software Foundation, 2026), and the symbol table of the next but one section shows the result: the same name eggs is global in spam, local in bacon and global in ham. Rule 4 has a trap that rule 3 creates: a function that only uses a name is reading the global one, but adding one assignment anywhere in the function turns every use of that name in it into the local variable. This is the origin of the error described in the section on UnboundLocalError.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rules turn the earlier discussion into a procedure that a student can carry out on paper. Looking at a function, one finds first any global statement, then any assignment, and the name is classified accordingly. The rules also fit into the one lookup rule of the previous section. The textbook's sameNameLocalGlobal.py has three functions that use the name eggs. In spam, which declares global eggs, it is the global variable; in bacon, which assigns eggs = 'bacon', it is local; and in ham, which only prints eggs, it is the global variable (Sweigart, 2025). Running spam(), printing eggs, then running bacon() and printing eggs, then ham() prints spam three times, because only spam changes the global. The decision does not depend on the order of the lines. The reference explains that the local variables of a code block can be determined by scanning the entire text of the block for name binding operations (Python Software Foundation, 2026), and the symbol table of the next but one section shows the result: the same name eggs is global in spam, local in bacon and global in ham. Rule 4 has a trap that rule 3 creates: a function that only uses a name is reading the global one, but adding one assignment anywhere in the function turns every use of that name in it into the local variable. This is the origin of the error described in the section on UnboundLocalError.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explains why the scope rules look at the text of a function and not at what is executed. Python decides which names are local before the first line of the function runs, so no behaviour at run time can change the decision. The module symtable lets a program read the compiler's decisions. For a source with spam declaring global eggs, bacon assigning eggs and ham only printing it, the table lists eggs as global for spam, local for bacon and global for ham, which agrees with the textbook's four rules. The decision is made for the whole function body at once. In a function that contains if False: followed by an indented assignment x = 'local', and then returns x, the assignment never runs, and yet x is a local variable of the function, so the call stops with UnboundLocalError: cannot access local variable 'x' where it is not associated with a value. The global x that was set earlier is not used. The symbol table is an inspection tool and not part of normal programming. Its structure can change between releases: in Python 3.14 every function in this example also has a separate block for its annotations, which the example filters out by name. Rely on the rules of the language, not on the layout of the table.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is made for the whole function body at once. In a function that contains if False: followed by an indented assignment x = 'local', and then returns x, the assignment never runs, and yet x is a local variable of the function, so the call stops with UnboundLocalError: cannot access local variable 'x' where it is not associated with a value. The global x that was set earlier is not used. The symbol table is an inspection tool and not part of normal programming. Its structure can change between releases: in Python 3.14 every function in this example also has a separate block for its annotations, which the example filters out by name. Rely on the rules of the language, not on the layout of the table.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is confusing because the name does exist in the program: a global variable of the same name was perhaps assigned earlier. It appears exactly when the rule of scope identification and the order of the lines disagree, and understanding it is the best test of whether a learner has understood how Python classifies names. The textbook's sameNameError.py prints eggs on its first line and assigns eggs = 'spam local' on its second, while a global eggs exists. Python sees the assignment and therefore considers any mention of eggs in spam to be a local variable; because print(eggs) runs first, the local variable does not exist yet, and Python won't fall back to using the global eggs (Sweigart, 2025). The FAQ gives a second form of the same mistake: with a global x = 10, a function that prints x and then executes x += 1 fails, because the assignment x += 1 makes x local (Python Software Foundation, 2026). Declaring global x repairs it when the global is meant, as does a nonlocal declaration for the variable of an enclosing function; renaming the local variable repairs it when it is not. The wording of the message has changed. The textbook prints local variable 'eggs' referenced before assignment, which is what Python 3.10 prints for the program, but Python 3.11 and every later release, including 3.12 and 3.14, print cannot access local variable 'eggs' where it is not associated with a value. The kind of error, which Python calls its class, and the cause are the same, so a program must match the class and never the message.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completes the set of choices for where an assignment goes. An assignment inside a function normally creates a local variable, global makes it go to the module's variable, and nonlocal makes it go to the nearest enclosing function's variable. PEP 3104 gives the historical reason: before it, Python code could refer to a name in any enclosing scope, but could only rebind names in two scopes, the local scope and the module-global scope (Yee, 2006). In outer, set n = 0 and define inner with the line nonlocal n and the statement n += 1. After outer calls inner twice and returns n, it returns 2. Without the nonlocal line, the statement n += 1 would make n a local variable of inner, which has no value yet, and the call stops with UnboundLocalError. If a name is bound in more than one nonlocal scope, the nearest binding is used (Python Software Foundation, 2026). The statement applies to the entire scope of the function and must come before any use of the name there. If the name is not bound in any enclosing function, the program is rejected before it runs with SyntaxError: no binding for nonlocal 'q' found. Do not use nonlocal when a return value would do. Like global, it makes a function depend on state outside itself, and a reader has to look at the enclosing function to understand it. It is useful mainly for small helper functions that keep a counter or a running total for their enclosing function.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handling is the part of a program that decides what happens when something goes wrong. In Python an error that stops a statement is called an exception, and the language has two statements for dealing with it: try marks the code that might fail, and except says what to do when it does. The textbook puts the problem plainly: right now, getting an error, or exception, in a Python program means the entire program will crash (Sweigart, 2025). A program that crashes on the first unexpected input cannot be used for real work. The textbook says that in real-world programs you want the program to detect errors, handle them, and then continue to run (Sweigart, 2025), and its chapter summary adds that the try and except statements make programs more resilient to common error cases. A program that handles an error can also give a useful message, such as asking the user to type a number again, where an unhandled error shows a traceback that only a programmer can read. The branch has one group, Exceptions. It begins with the try and except statements themselves, follows an error out of a function into the code that called it, and covers the newest change to the except line. It then looks at the objects that carry an error, the report Python prints when nobody handles one, the divide-by-zero error that the chapter uses as its example, and the family tree that decides which except clause catches which error. When a statement raises an exception, Python stops running the block it is in and looks for a handler: an except clause, on a try statement, that names a matching exception. If one is found its block runs and the program continues after the try statement. If none is found anywhere in the chain of calls, the program ends with a traceback (Python Software Foundation, 2026). The textbook points out that most of the time exceptions indicate a bug in your code that you need to fix (Sweigart, 2025). Handling an error is the right tool for failures that can be expected and recovered from, such as a missing file or text that is not a number, and the wrong tool for hiding a mistake in the program itself.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exception is Python's way of reporting that a statement could not be carried out. The tutorial separates two kinds of mistake: syntax errors, also known as parsing errors, and errors detected during execution, which are called exceptions and are not unconditionally fatal (Python Software Foundation, 2026). This group is about the second kind, and about the statements that let a program survive them. The tutorial notes that most exceptions are not handled by programs, however, and result in error messages (Python Software Foundation, 2026). Knowing how an exception travels, what it carries and which handler catches it turns those messages from a source of panic into a description of what happened, and lets a program choose to recover when recovery makes sense. The sections follow the life of one exception: the statements that catch it, the way it leaves a function, the spelling for catching several kinds at once, the object that Python creates for it, the report printed when it is not caught, the arithmetic error used as the chapter's example, and the hierarchy of classes that organises all of them.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handler, the first error ends the program. With one, the program can report a problem in its own words and go on with its work. The textbook motivates this with a later chapter, in which a missing file raises FileNotFoundError and the program may ask the user for the filename again rather than crash (Sweigart, 2025). The textbook puts the divide-by-zero code of its function spam inside a try clause, with the line except ZeroDivisionError: below it. Called with 2, 12, 0 and 1, the program prints 21.0, then 3.5, then Error: Invalid argument., then None, then 42.0. The None comes from the third call, because the handler prints a message but the function then ends without a return statement and supplies None, which print shows. The tutorial gives the rules. First the try clause is executed. If no exception occurs the except clause is skipped. If an exception occurs, the rest of the try clause is skipped, and if its type matches the exception named after the except keyword, the except clause is executed and execution continues after the try and except block. If the type does not match, the exception is passed on to outer try statements, and if no handler is found, it is an unhandled exception and execution stops with an error message (Python Software Foundation, 2026). An exception that does not match is not swallowed. When spam is called with the text 'a' instead of a number, the division raises a TypeError, which the clause for ZeroDivisionError does not match, and the program ends with the message unsupported operand type(s) for /: 'int' and 'str'. The tutorial adds that a handler only handles exceptions that occur in the corresponding try clause, not in other handlers of the same try statement (Python Software Foundation, 2026).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lets one handler protect many calls, and it keeps the error handling in the place where the program knows what to do about the error. A function such as spam can stay short and simply fail; the code that called it decides whether failure means a message, a second attempt or a clean exit. In the textbook's second version of the divide-by-zero program, spam only divides, and the four print(spam(...)) lines are inside the try clause. The output is 21.0, then 3.5, then Error: Invalid argument. The fourth call, print(spam(1)), is never executed. The textbook explains why: once the execution jumps to the code in the except clause, it does not return to the try clause, but continues moving down the program as normal (Sweigart, 2025). The error leaves spam and passes to the code that called it. The traceback of the unhandled version shows the two frames the error passed through, the line in the main program that called spam and the line inside spam that divided; the handler of the second version belongs to the first of them, the main program. Where the try statement is placed decides how much code is skipped. With the try inside spam, as in the first version, the failing call returns None and the program goes on to the fourth call, so 42.0 is printed. With the try around all four calls, the program skips the fourth call as well. Neither placement is wrong; they answer different questions, which are whether each call is allowed to fail alone and whether the first failure ends the whole group of calls.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comes from PEP 758, whose abstract says that it allows unparenthesized except and except* blocks only when not using the as clause. Its authors call the brackets a Python 2 remnant and argue that dropping them makes the syntax more consistent with other parts of the language where parentheses are optional (Galindo Salgado and Cannon, 2024). Take a function that divides 10 by int(x) and should answer bad for both a zero and a text that is not a number. The call with '2' gives 5.0, and the calls with '0' and 'puppy' each give bad. With the names in brackets the function works in Python 3.12 and 3.14. Written as except ZeroDivisionError, ValueError: it gives the same results in Python 3.14, while Python 3.12 refuses to run the program and reports SyntaxError: multiple exception types must be parenthesized. The semantics are unchanged: the interpreter will catch any of the listed exceptions, whether or not they are in brackets (Galindo Salgado and Cannon, 2024). A separate except clause for each type is the other choice, and it is the right one when the types need different responses. With one clause for ZeroDivisionError returning zero and one for ValueError returning not a number, the same three calls give 5.0, zero and not a number. The tutorial notes that a try statement may have more than one except clause and at most one handler will be executed (Python Software Foundation, 2026). Brackets are still required with the as clause. In Python 3.14 the line except ZeroDivisionError, ValueError as e: is a syntax error with the message multiple exception types must be parenthesized when using 'as'. PEP 758 also warns that in Python 2 the unparenthesized form meant something else, with the first name as the exception type and the second as the variable that receives the exception. The new form does not reintroduce that meaning (Galindo Salgado and Cannon, 2024). A program that must run on a release before 3.14 should keep the brackets.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Catching an error is often not enough, since the program or its user also wants to know what went wrong. The object carries that information: its type says what kind of failure it was, and its arguments hold the details, usually a message in words. A program can print the message, write it to a file or look at its parts, which the textbook's examples do not do. For try: 1 / 0 followed by except ZeroDivisionError as e:, the type's name is ZeroDivisionError, the text of e is division by zero, and e.args is ('division by zero',), a tuple, which is a fixed group of values written in brackets. The same pattern with int('puppy') gives a ValueError whose text is invalid literal for int() with base 10: 'puppy'. The tutorial notes that built-in exception types define __str__() to print all the arguments without explicitly accessing .args (Python Software Foundation, 2026). That is why print(e) shows the message alone. The library reference describes args as the tuple of arguments given when the exception object is created, and says that some built-in exceptions expect a certain number of arguments while others are usually called only with a single string giving an error message (Python Software Foundation, 2026). The name after as does not survive the except clause. The reference says that when an exception has been assigned using as target, it is cleared at the end of the except clause, so the exception must be assigned to a different name to be able to refer to it after the clause (Python Software Foundation, 2026). A program that prints e after the clause fails with NameError: name 'e' is not defined, while a program that first stores e in another name, as in saved = e, can still read saved.args.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traceback is the first tool for finding a bug, because it says both what failed and where. The textbook uses it in just this way: from the line number given in the error message, you know that the return statement in spam() is causing the error (Sweigart, 2025). Reading it from the bottom up, first the message and then the lines above it, is quicker than reading the program from the top. For the textbook's zeroDivide.py, the traceback has a first line, Traceback (most recent call last):, then one pair of lines for each call the error passed through, and last the line ZeroDivisionError: division by zero. Run as a program, the two calls it lists are the call print(spam(0)) at line 6 of the main program and the statement return 42 / divide_by at line 2 inside spam. The traceback is the call stack written out. The call that was running when the error happened comes last, which is what the words most recent call last refer to. Each pair of lines names a file, a line number and the function in which the line sits, followed by the source line. The main program is shown as &lt;module&gt;. A program that ends this way also ends with exit status 1, the number that a program hands to the system when it ends, where zero means success. The printed form is not identical between releases. The textbook's listing shows a Windows path, and your own file names will differ. The tutorial's examples also show marker lines under the source line, which the textbook's listing does not have, and the wording of some messages changed between 3.12 and 3.14, so a program should not compare the text of a traceback.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Division by zero has no answer, so the language cannot return a value, and the only honest choices are to stop or to hand the decision to the program. Making it an exception that can be caught lets the code that knows the meaning of the division decide what to do, as the chapter's function spam does with a message. The chapter's function returns 42 / divide_by. Called with 2 it gives 21.0 and with 12 it gives 3.5, and with 0 it raises ZeroDivisionError: division by zero. The statements 1 // 0 and 1 % 0 raise the same exception, because floor division and modulo also have a second operand that must not be zero. The check is made when the operation runs, not when the program is read, so a program that contains 42 / 0 starts normally and fails only when that line is reached. The exception object is created, the statement stops and the search for a handler begins, as for every exception. ZeroDivisionError is a subclass of ArithmeticError, so a handler written for ArithmeticError would catch it too. The wording of the message depends on the release. In Python 3.14 the statements 1 / 0, 1 // 0 and 1 % 0 all end with division by zero. In Python 3.12 the same statements end with division by zero, integer division or modulo by zero, and integer modulo by zero. A program should catch the type of the exception, which is stable, and should not compare the text.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decides which handler catches which error. The tutorial states the rule: a class in an except clause matches exceptions which are instances of the class itself or one of its derived classes, but not the other way around, so an except clause listing a derived class does not match instances of its base classes (Python Software Foundation, 2026). A programmer can therefore choose how wide a handler is, from one exact error to a whole family. In the chapter, UnboundLocalError is a subclass of NameError and RecursionError is a subclass of RuntimeError, which is why a handler for NameError also catches a local variable used too early. A program that divides by zero inside try, and has except ArithmeticError, prints the type ZeroDivisionError for what it caught. A handler for KeyError does not catch it, and the error passes to the outer handler. When an exception is raised, Python goes through the except clauses of the try statement from top to bottom, and the first matching clause is triggered (Python Software Foundation, 2026). A narrow class must therefore be written before a broad one, because a broad class written first matches everything below it. If a clause for ArithmeticError is written before a clause for ZeroDivisionError, the narrow clause never runs, because dividing by zero is already handled by the first. The tutorial shows the same effect with three classes: listed from the base class first, its example prints B three times instead of B, C, D. Not every exception is under Exception. KeyboardInterrupt and SystemExit are direct subclasses of BaseException, and the reference gives the reason: they inherit from BaseException so as not to be accidentally caught by code that catches Exception and thus prevent the interpreter from exiting (Python Software Foundation, 2026). A handler written for Exception is therefore the widest handler that is normally safe. The widest of all, for BaseException, would also stop a user from pressing Ctrl-C to end the program.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decides which handler catches which error. The tutorial states the rule: a class in an except clause matches exceptions which are instances of the class itself or one of its derived classes, but not the other way around, so an except clause listing a derived class does not match instances of its base classes (Python Software Foundation, 2026). A programmer can therefore choose how wide a handler is, from one exact error to a whole family. In the chapter, UnboundLocalError is a subclass of NameError and RecursionError is a subclass of RuntimeError, which is why a handler for NameError also catches a local variable used too early. A program that divides by zero inside try, and has except ArithmeticError, prints the type ZeroDivisionError for what it caught. A handler for KeyError does not catch it, and the error passes to the outer handler. When an exception is raised, Python goes through the except clauses of the try statement from top to bottom, and the first matching clause is triggered (Python Software Foundation, 2026). A narrow class must therefore be written before a broad one, because a broad class written first matches everything below it. If a clause for ArithmeticError is written before a clause for ZeroDivisionError, the narrow clause never runs, because dividing by zero is already handled by the first. The tutorial shows the same effect with three classes: listed from the base class first, its example prints B three times instead of B, C, D. Not every exception is under Exception. KeyboardInterrupt and SystemExit are direct subclasses of BaseException, and the reference gives the reason: they inherit from BaseException so as not to be accidentally caught by code that catches Exception and thus prevent the interpreter from exiting (Python Software Foundation, 2026). A handler written for Exception is therefore the widest handler that is normally safe. The widest of all, for BaseException, would also stop a user from pressing Ctrl-C to end the program.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collects the programs that the chapter uses to put its ideas to work. Two of them are short animation programs, zigzag and spike, which print lines of characters until the user stops them. Two are practice programs, the Collatz sequence and input validation, which the textbook leaves to the reader. Each program is built from parts that have already been explained: functions, loops, string replication, try and except. The textbook introduces the first program with the words that it will use the programming concepts you have learned so far to create a small animation program (Sweigart, 2025). Writing a whole program is the real test of understanding, because it shows whether the pieces fit together, which a single statement cannot show. The programs also bring in three small tools that the chapter has not met yet, the time.sleep function, the KeyboardInterrupt exception and the sys.exit function. The branch has two groups. Animation covers zigzag and spike and the three tools they need. Practice programs covers the Collatz sequence and the extra step of making that program safe against wrong input. Every program here has the same shape: an import line, a block of work that may repeat, and a try statement whose except clause deals with the one event that the program expects, the user pressing Ctrl-C. Reading them as variations of that shape makes each one shorter to understand. The animation programs never end by themselves, so they cannot be run to completion in a test. The numbers quoted in this branch come from the same logic executed for a fixed number of steps, without the pause, and are labelled as such.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animation program draws something new at regular intervals, so that the output seems to move. The textbook's two examples need no graphics: each prints a line of characters, waits one tenth of a second and prints the next, and the changing position or length of the lines makes a pattern that scrolls up the screen (Sweigart, 2025). These programs show a loop that does not stop, and the problem that follows from it: a program that never ends needs a way for the user to end it. The solution the textbook gives is the same in both programs, and it is the reason that this group also contains the sections on waiting, on interruption and on exiting. The sections follow the order of the textbook: the zigzag program, the spike program, the time.sleep function both programs use for their pause, the KeyboardInterrupt exception that Ctrl-C raises, and the sys.exit function that the exception handler calls.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shows how a few lines of state can produce a changing picture. Nothing in it is complicated, but it uses a main loop, a decision that changes direction at two limits, and string replication in one place, which makes it a good first program that combines the tools of the earlier chapters. The first three lines it prints are the eight asterisks with no indent, one space and two spaces. The main loop is while True. In each pass print(' ' * indent, end='') prints the spaces and, because end is an empty string, no newline, and then a second print prints the asterisks. If indent_increasing is true, indent grows by 1, and when it reaches 20 the flag is set to false; otherwise indent shrinks by 1, and when it reaches 0 the flag is set to true. Executed for 41 passes without the pause, and numbering the passes from 0, the indent is 0 in pass 0, 1 in pass 1, 19 in pass 19, 20 in pass 20, 19 in pass 21, 1 in pass 39 and 0 in pass 40. The largest value is 20, so one trip there and back takes 40 passes. The program is wrapped in a try statement so that Ctrl-C can end it, which the sections on KeyboardInterrupt and sys.exit explain. Without the wrapper, the same keypress would end the program with a traceback. The upper limit, 20, is written into the program as a plain number, so changing how far the band travels means changing that number in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 short example of how the range function controls a loop. The two loops differ only in their range, and each print uses the same expression, '-' * (i * i), so the shape of the whole picture is decided by two lines of numbers. The first loop uses range(1, 9), which gives 1 through 8, and the second uses range(7, 1, -1), which gives 7 down to 2. The lengths of the printed lines are therefore 1, 4, 9, 16, 25, 36, 49, 64, 49, 36, 25, 16, 9 and 4, which is fourteen lines for each trip through the main loop. In each pass of a loop the variable i takes the next value from its range, and the string '-' is replicated i * i times. The textbook points out that the range of the second loop starts at 7, so the longest line, 64, is printed once, and that it counts down to 1, not including 1, so the shortest line of the second half is 4. The textbook also says that you can modify the 9 and the 7 values if you want to change how wide the spike becomes (Sweigart, 2025). The textbook calls the lengths exponentially longer, but squares grow more slowly than that. The differences between neighbouring lengths in the first half are 3, 5, 7, 9, 11, 13 and 15, which grow by a steady 2, a pattern of quadratic growth. Each trip through the main loop prints 8 lines from the first range and 6 from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pause, a program that prints a line in every pass of a loop would run so fast that the whole animation would fly past in an instant. A short pause gives the eye time to follow the pattern. The function is also used wherever a program has to wait, for example between attempts to reach something that is not ready. Both animation programs call time.sleep(0.1) in every pass of their main loop, after the print call. The function belongs to the time module, so the program needs the line import time first, and the call is written with the module name in front, like the other module functions of this chapter. The call returns None, as print does, and it returns after the pause. A program that measures the time with time.perf_counter() around time.sleep(0.1) finds that at least a tenth of a second passed and, on an ordinary run, well under a second. The reference says that perf_counter includes time elapsed during sleep (Python Software Foundation, 2026). The pause is not exact. The reference says that the suspension time may be longer than requested by an arbitrary amount, because of the scheduling of other activity in the system (Python Software Foundation, 2026). A program should not use the pause as a clock. The pause also does not block Ctrl-C: when an interrupt arrives during a five second sleep, the sleep ends early with KeyboardInterrupt, and in the check the program ended in under three seconds.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that never ends by itself needs a way out. The user can always end it with the interrupt key, but if the exception is not caught, the textbook says the program crashes with an ugly error message (Sweigart, 2025). Catching it lets the program stop in the way the programmer chooses. In the zigzag and spike programs, the whole loop is inside a try clause, and the except clause at the end names KeyboardInterrupt and calls sys.exit(). When an interrupt arrives while the program sleeps, the handler runs and prints its message. The check in this corpus starts a second program that is sleeping, sends it the interrupt and observes that its handler ran. The reference notes that during execution, a check for interrupts is made regularly (Python Software Foundation, 2026). Where the interrupt is noticed, it is raised like any other exception, so it travels outwards through the frames until a handler for KeyboardInterrupt is found. The animation programs put the try statement outside the loop, so the handler is found no matter in which pass the key was pressed. KeyboardInterrupt is not an Exception. The reference says that it inherits from BaseException so as to not be accidentally caught by code that catches Exception and thus prevent the interpreter from exiting (Python Software Foundation, 2026). A handler written as except Exception does not catch the interrupt, and the interrupt passes on to an outer KeyboardInterrupt handler. A handler for BaseException would catch it, which is why that class is the wrong target for a handler meant for ordinary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needs a deliberate way to finish from the middle of its code, for instance when it has detected a problem or when the user asks to stop. The optional argument tells the operating system and other programs whether the run succeeded, which matters as soon as a program is started by another one. Called with no argument, sys.exit() ends the program with exit status 0, which the reference calls successful termination. Called with an integer such as 2, the status is 2, and any nonzero value is considered abnormal termination. Called with a string, as in sys.exit('bye'), the string is printed to the error stream, the channel on which error messages are written, and the exit status is 1. The reference calls the last form a quick way to exit a program when an error occurs (Python Software Foundation, 2026). Since the function only raises an exception, the program does not end at once: the exception travels outwards like any other. The reference says that cleanup actions specified by finally clauses of try statements are honored, and that it is possible to intercept the exit attempt at an outer level (Python Software Foundation, 2026). A handler for SystemExit can read the status from the code attribute of the exception, which is None when no argument was given, and the program then keeps running. A handler for Exception does not intercept the exit, because SystemExit inherits from BaseException so that it is not accidentally caught by code that catches Exception (Python Software Foundation, 2026). The reverse mistake is easy too: a program that catches SystemExit and does nothing with it will not end, which is what the reference means by intercepting the exit attempt.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ends the chapter with practice programs: tasks for the reader to write without a model solution (Sweigart, 2025). The two tasks in this chapter build on one another. The first asks for a function named collatz and a program that calls it, and the second adds try and except statements to that program. Practice programs turn the chapter's concepts into habits. The first needs a function with a parameter and a return value, the second needs error handling around user input, so between them they use almost every idea of the chapter. The sections of this group present the two tasks, say what each one needs from the chapter, and point out where the textbook's wording needs a correction or a limit that the reader would otherwise find the hard way.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practises the main ideas of the chapter in a few lines: a parameter, a return value that is used in the next call, and a loop that stops on a condition. It is also a famous problem. The textbook calls it the simplest impossible math problem, and says that even mathematicians are not sure why the sequence reaches 1 (Sweigart, 2025). Starting at 3, the program prints 3 10 5 16 8 4 2 1, as in the textbook's sample, and the rule used is the same on every step: 3 is odd, so the next value is 3 * 3 + 1, which is 10; 10 is even, so the next is 5. Counting the steps, the start 3 reaches 1 in 7 steps and its largest value is 16, while the start 27 needs 111 steps and reaches 9232 on the way. A number is even if number % 2 == 0, which is the hint the textbook gives. The program stores the returned value back in the same variable, n = collatz(n), and the loop condition is n != 1. To print all the values on one line, the print calls need the named parameter end=' ' so that a space replaces the newline. The textbook's hint names sep=' ' for this, but sep only changes what goes between several values in one call, and with a single value in each call it changes nothing: printing 3 and then 10 with sep=' ' still gives two lines. The textbook says that the sequence works for any integer, but the loop does not end for all of them. For 0 the rule gives 0 // 2, which is 0 again, and for -1 it gives -2 and then -1 again, so after 1000 steps the values are still 0 and -1 and a program that waits for 1 would never finish. The sequence is a question about positive integers. Input from the user should therefore also be checked for being greater than zero, not only for being a number.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number is even if number % 2 == 0, which is the hint the textbook gives. The program stores the returned value back in the same variable, n = collatz(n), and the loop condition is n != 1. To print all the values on one line, the print calls need the named parameter end=' ' so that a space replaces the newline. The textbook's hint names sep=' ' for this, but sep only changes what goes between several values in one call, and with a single value in each call it changes nothing: printing 3 and then 10 with sep=' ' still gives two lines. The textbook says that the sequence works for any integer, but the loop does not end for all of them. For 0 the rule gives 0 // 2, which is 0 again, and for -1 it gives -2 and then -1 again, so after 1000 steps the values are still 0 and -1 and a program that waits for 1 would never finish. The sequence is a question about positive integers. Input from the user should therefore also be checked for being greater than zero, not only for being a number.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is the least predictable part of a program. The program of the previous section works when the user types a number and ends with a traceback when the user types a word. A handler around the conversion turns that traceback into a message the user can act on, and a program can then ask again. For int('puppy') the handler receives a ValueError whose text is invalid literal for int() with base 10: 'puppy'. In the textbook's wording, the except clause then prints a message to the user saying they must enter an integer. A small function can wrap the idea: to_int returns int(text) inside a try clause, prints You must enter an integer. in the except clause for ValueError, and so returns 42 for '42' and None for 'puppy'. Only the line that does the conversion belongs in the try clause, and the exception type to name is the one that int raises. The None from the failed conversion is the value Python supplies when a function ends without a return statement, which means the code that uses the result must be ready for it. The handler catches only ValueError. A user who just presses Enter gives int an empty string, which is also a ValueError, but a value of another type, such as None passed by mistake, would raise a TypeError and the program would still crash. Also, as the previous section noted, an integer is not always a valid input: 0 and negative integers pass the conversion and still never reach 1 in the sequence.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line that does the conversion belongs in the try clause, and the exception type to name is the one that int raises. The None from the failed conversion is the value Python supplies when a function ends without a return statement, which means the code that uses the result must be ready for it. The handler catches only ValueError. A user who just presses Enter gives int an empty string, which is also a ValueError, but a value of another type, such as None passed by mistake, would raise a TypeError and the program would still crash. Also, as the previous section noted, an integer is not always a valid input: 0 and negative integers pass the conversion and still never reach 1 in the sequence.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practice is the part of the chapter that goes beyond the textbook's list of topics to what a programmer needs around functions today. It has two groups. The first, Annotations, is about the notes that can be written on a function's parameters and result, and about the way Python 3.14 stores them. The second, Style, is about the habits that make a function easy to use and to read: treating it as a black box, naming it well and commenting it. An advanced course reads code written by other people, and that code uses all of these. Annotations appear in the signature of almost every function in a modern library, and the change in Python 3.14 decides whether code that uses them runs at all on a given release. Style is not decoration: the black box idea is the reason that functions are useful, and PEP 8 is the style guide for the code of Python's standard library (Van Rossum et al., 2001). A function from a current library may look like def add(a: int, b: int = 0) -&gt; int:, with a note after each parameter and one after the arrow. The same function is used by its callers without reading its body, is named in lowercase words joined by underscores, and has comments only where the code needs them. The sections follow the order in which a reader meets the ideas: first what an annotation is and what Python does with it, then the 3.14 change that postpones the evaluation, then the three style topics. Each section marks the release in which its behaviour holds. Annotations are the area where releases differ most, since the behaviour of a definition with an undefined name in its annotation changed between Python 3.12 and 3.14. The sections state the release for every claim. This divider is the branch's own description from the chapter corpus; the boxes under it name every concept in the branch, so the room can see how far there is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annotation is an expression written next to a parameter or after the arrow that follows the parameter list. PEP 3107 defines function annotations, both for parameters and return values, as completely optional and as nothing more than a way of associating arbitrary Python expressions with various parts of a function at compile-time (Winter and Lownds, 2006). The usual expression is the name of a type, such as int. A note on what a function expects and gives back is information for the reader, for the editor and for tools that check programs, and it needs no comment to keep it in step with the code. Python 3.14 changes when the notes are evaluated, which is why this group has two sections: the notation itself and its newest behaviour. The first section describes the notation and what Python does with it, which is almost nothing. The second describes deferred evaluation, adopted in Python 3.14, under which a note may name something that does not exist yet.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Annotations let a function state its contract in its own signature. A reader sees at once that add expects two integers and gives back an integer, without opening the body. Editors and checking programs can use the same notes to warn about a call that does not fit. For def add(a: int, b: int = 0) -&gt; int: return a + b, Python stores the notes and add.__annotations__ shows that a, b and the result are all marked with the type int. Calling add(2, 3) gives 5. Calling add('x', 'y') also works and gives 'xy', although the notes say int. PEP 3107 states that, by itself, Python does not attach any particular meaning or significance to annotations; it simply makes the expressions available in the function's __annotations__ attribute, and the only way that annotations take on meaning is when they are interpreted by third-party libraries (Winter and Lownds, 2006). The attribute pairs each parameter name with its note, and the note for the result is stored under the name return. In Python 3.12 all annotation expressions were evaluated when the function definition was executed, just like default values. A note is not a check. The call add('x', 'y') above shows that Python runs the function whatever the notes say. A lambda expression cannot carry annotations, which the language reference states and the lambda section of this chapter shows. And since the notes are real expressions, a wrong or misspelled name inside one is a real error in Python 3.12, which is the problem the next section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change, a note that named something defined later in the file had to be written as a string, so that its evaluation would not fail. What's New says that it is no longer necessary to enclose annotations in strings if they contain forward references (Python Software Foundation, 2026). The change also lowers the cost of defining a function, since its notes are not evaluated until they are wanted. The line def f(x: Undefined) -&gt; Missing: return x defines a function with two names that do not exist. Under Python 3.12 the definition itself fails with NameError: name 'Undefined' is not defined. Under Python 3.14 the definition succeeds, and f(3) returns 3. Asking for f.__annotations__ then raises the NameError, because that is the moment when the names are evaluated. The standard library module annotationlib reads the notes in one of three formats. The VALUE format evaluates them, as earlier releases did and fails on an undefined name; the FORWARDREF format replaces undefined names with special markers; and the STRING format returns the annotations as strings (Python Software Foundation, 2026). For the function above, the FORWARDREF format gives entries for x and the result without raising an error, and the STRING format gives the text Undefined for x and Missing for the result. Under Python 3.12 the module annotationlib does not exist. The change is a reason to read the release notes before moving a program between versions. A program written for 3.14 that relies on an annotation naming something defined later runs only on 3.14 and later; run by 3.12 it stops at the def line. What's New adds that in the majority of cases code will continue working as-is (Python Software Foundation, 2026), and code that reads __annotations__ directly is the code that needs a second look. Every printed result on this slide was produced by running the code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library module annotationlib reads the notes in one of three formats. The VALUE format evaluates them, as earlier releases did and fails on an undefined name; the FORWARDREF format replaces undefined names with special markers; and the STRING format returns the annotations as strings (Python Software Foundation, 2026). For the function above, the FORWARDREF format gives entries for x and the result without raising an error, and the STRING format gives the text Undefined for x and Missing for the result. Under Python 3.12 the module annotationlib does not exist. The change is a reason to read the release notes before moving a program between versions. A program written for 3.14 that relies on an annotation naming something defined later runs only on 3.14 and later; run by 3.12 it stops at the def line. What's New adds that in the majority of cases code will continue working as-is (Python Software Foundation, 2026), and code that reads __annotations__ directly is the code that needs a second look. Every printed result on this slide was produced by running the code under Python 3.14.4. Walk the program line by line before clicking the transcript, and ask the room to predict the output; then click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Style means the habits of writing and using a function that go beyond making it work. The textbook has one such idea, the black box, and PEP 8 is the style guide for the code in Python's standard library (Van Rossum et al., 2001). This group treats three habits: using a function without reading it, naming it and commenting it. How a function is meant to be used matters as much as how it is written. A program is read many more times than it is written, and each habit reduces the amount that a reader has to hold in mind: the black box lets the reader skip the body, a good name tells what the function does, and a good comment explains what the code cannot say. The three sections apply to the same small functions that the chapter has used: a function that doubles a number, a function that divides, a function that prints a greeting. Each states the rule of the style guide or the textbook that supports it, and shows what happens when the rule is broken. Use this slide to say what the next few slides are for before any of them appears: the table on the right is exactly the concepts that follow, each with the example the chapter uses for it. Click the rows in one at a time if the room is new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what makes large programs possible. The textbook calls it fundamental to modern programming, because later chapters show modules with functions written by other people, which can be used without knowing how they work (Sweigart, 2025). A reader who may rely on a function's inputs and output only has far less to understand than one who must follow every line. In the program x = 1, then def f(): x = 99 and return x * 2, then print(f(), x), the function returns 198 and the global x is still 1. The assignment inside f created a local variable and left the global one alone, so nothing outside f can tell how f got its result. The idea rests on the scope rules of this chapter. Variables assigned in a function are local, so they disappear when the call ends, and a function that has no global statement cannot change a global variable. What goes in is the arguments, and what comes out is the return value. The textbook adds that because writing functions without global variables is encouraged, you usually do not have to worry about the function's code interacting with the rest of your program (Sweigart, 2025). The box is only as sealed as its author made it. A function that uses a global statement, or that reads a global variable that others may change, depends on something that is not in its parameters, and then the call f(2) no longer says everything about what the result will be. Printing instead of returning is the other leak: the output reaches a person but cannot be used by the caller.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is called many more times than it is defined, so its name is what most readers see. A name that says what the function does lets a reader follow a program without opening the functions, which is the black box idea in practice. A common convention also lets a reader guess the name of a function, without looking it up. Python tells names apart by case. If the program defines Hello and then calls hello(), the call fails with NameError: name 'hello' is not defined, since no function with that exact name exists. A name that is a reserved keyword is rejected before the program runs: the line def = 3 gives SyntaxError: invalid syntax. PEP 8 also covers the case in which the best name is a keyword. If a function argument's name clashes with a reserved keyword, it is generally better to append a single trailing underscore rather than use an abbreviation or spelling corruption, so class_ is better than clss (Van Rossum et al., 2001). The check keyword.iskeyword tells whether a name is reserved: it says yes for def and for None and for lambda, and no for print, which is an ordinary function. The guide is a convention, not a rule enforced by Python: a function named Hello works exactly as well as one named hello, provided the calls use the same spelling. PEP 8 also warns that the guide is about consistency, and has a section titled A Foolish Consistency is the Hobgoblin of Little Minds, which says that in some cases the guide does not apply. The guide itself says that consistency within a project is more important than consistency with the guide (Van Rossum et al., 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says what it does; a comment can say why. The textbook's examples use comments in this way, such as the one inside the try clause that tells the reader that any code in the block that causes ZeroDivisionError will not crash the program (Sweigart, 2025). PEP 8 adds a warning about the cost: comments that contradict the code are worse than no comments, and keeping them up to date when the code changes is a priority (Van Rossum et al., 2001). In the line print('# not a comment')  # this is a comment, the first hash is inside quotes and is part of the text, and the second one starts a comment. The program prints # not a comment. A line that starts with # is skipped completely, so a statement placed behind a hash, such as # print('hidden'), does not run. PEP 8 distinguishes two kinds. Block comments generally apply to some or all of the code that follows them and are indented to the same level as that code; each line starts with a # and a single space. Inline comments are on the same line as a statement, are separated from it by at least two spaces, and should be used sparingly (Van Rossum et al., 2001). Comments should be complete sentences. A comment that restates the code adds noise. PEP 8 gives the example x = x + 1 with the comment Increment x, and calls such comments unnecessary and in fact distracting, whereas a comment such as Compensate for border is useful (Van Rossum et al., 2001). A hash inside a string literal does not start a comment, which is the mistake the example above demonstrates.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read each objective again and ask the room, for each one, which slide answered it. Be straight with the room about where these come from: the course has eight approved learning outcomes, and the chapter page's objectives record states that none of them is specific to functions, because chapter 4 is the language groundwork the later, library-centred outcomes are built on. These five chapter objectives are what this week is marked against, and the work they prepare is every outcome that asks students to build something. Anything the room cannot answer is what to send them back to the chapter page for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is the main idea of a function in this chapter? The answer is: A named block of code that can be run from many places, take values in and hand a value back The chapter gives a block of code a name so it can be run from many places, with values passed in and a value coming out. 2. Which keyword begins the statement that creates a new function? The answer is: def Creating Functions introduces the def statement, which is followed by a call that runs the function. 3. When does the body of a function run? The answer is: Each time the function is called, and not when the def statement is executed A def statement only creates the function and binds its name; the indented body executes when the function is called. 4. What does a function call evaluate to? The answer is: Its return value, so the call can be used wherever a value can Return values describe what a call evaluates to, which lets a call stand in for a value. 5. What does this program print? The answer is: 12 The inner call returns 6 and that value is the argument of the outer call, which returns 12. Let the room answer before each click. The full bank of 142 questions for this chapter, with a reason for every wrong option, is on the chapter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What does a return statement with no expression after it give back? The answer is: None If an expression list is present it is evaluated, else None is substituted, and control leaves the function. 7. Which question does the call stack answer? The answer is: Where execution goes back to when a function returns The Call Stack explains where execution goes when a function returns. 8. Why does Python remember the line that made a call? The answer is: So that execution can return there when the function ends Python remembers the line that called the function, so the call does not send execution one way to the top of the body. 9. Where are frame objects added to and removed from the call stack? The answer is: Only at the top Frame objects are added to and removed from the top of the call stack only, and the top frame is the function currently running. 10. Which question do the scope topics answer? The answer is: Which variable a name refers to Local and global scopes, the scope rules and the global statement say which variable a name refers to. Let the room answer before each click. The full bank of 142 questions for this chapter, with a reason for every wrong option, is on the chapter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When is the scope of a function created and destroyed? The answer is: Created when the function is called and destroyed when it returns Scopes are containers created when a program starts or a function is called; a function's local scope is destroyed when the call returns. 12. What happens to a variable assigned inside a function when the function returns? The answer is: It is destroyed with the local scope of that call A variable assigned inside a function exists in that call's local scope, which is destroyed when the function returns. 13. What does exception handling change about an error in a program? The answer is: It turns a crash into something the program can recover from Exception handling turns an error from a crash into something a program can recover from. 14. Which statements decide what happens after an error raises an exception? The answer is: try and except An error raises an exception, and try and except statements decide what happens next. 15. What happens to the rest of a try clause after one of its lines raises a matching exception? The answer is: It is skipped, the except clause runs, and execution continues after the try statement When an exception occurs the rest of the try clause is skipped and, if the type matches, the except clause runs. Let the room answer before each click. The full bank of 142 questions for this chapter, with a reason for every wrong option, is on the chapter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Which tools do the chapter's short programs bring in that the chapter had not covered yet? The answer is: time.sleep, KeyboardInterrupt and sys.exit The animation programs pause with time.sleep and stop on Ctrl-C by catching KeyboardInterrupt and calling sys.exit. 17. Why do the zigzag and spike programs put their loop inside a try statement? The answer is: So that Ctrl-C can end the endless loop without an ugly error The loop never ends by itself, and the except clause for KeyboardInterrupt calls sys.exit to stop it cleanly. 18. What does the variable indent_increasing decide in the zigzag program? The answer is: Whether indent grows or shrinks on the next pass of the loop It is True while the band moves right and is switched when indent reaches 20 or 0. 19. What is the point of the modern-practice topics next to the chapter's functions? The answer is: They add what current Python offers around functions An advanced course pairs the chapter's functions with what current Python adds around them. 20. Which function header carries annotations on a parameter and on the result? The answer is: def area(w: int, h: int) -&gt; int: Annotations on a function's parameters and result are written with a colon after a parameter and an arrow before the final colon. Let the room answer before each click. The full bank of 142 questions for this chapter, with a reason for every wrong option, is on the chapter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What does Python do with the annotation int in def f(a: int)? The answer is: Stores it with the function but does not check the arguments against it Annotations are kept in the function's __annotations__ and have no effect on the call unless a tool reads them. Let the room answer before each click. The full bank of 142 questions for this chapter, with a reason for every wrong option, is on the chapter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verified list, with the time each page was read, is in 03-materials/ch04/rdodi/sen0414_ch04_research_v1_1_0.ttl. The first entry is the primary source, the chapter itself; the rest are the Python documentation pages and the language proposals that this lecture cites where it goes beyond the book. Tell students that the chapter page's own resources tab links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verified list, with the time each page was read, is in 03-materials/ch04/rdodi/sen0414_ch04_research_v1_1_0.ttl. The first entry is the primary source, the chapter itself; the rest are the Python documentation pages and the language proposals that this lecture cites where it goes beyond the book. Tell students that the chapter page's own resources tab links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verified list, with the time each page was read, is in 03-materials/ch04/rdodi/sen0414_ch04_research_v1_1_0.ttl. The first entry is the primary source, the chapter itself; the rest are the Python documentation pages and the language proposals that this lecture cites where it goes beyond the book. Tell students that the chapter page's own resources tab links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the 3rd edition is Debugging, and it is the natural sequel: this week built functions, next week finds out what they are really doing. Ask for questions, and point students at the chapter page, whose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0584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0584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1874520"/>
            <a:ext cx="804672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Chapter 4: Functions</a:t>
            </a:r>
            <a:endParaRPr lang="en-US" sz="3600" dirty="0"/>
          </a:p>
        </p:txBody>
      </p:sp>
      <p:sp>
        <p:nvSpPr>
          <p:cNvPr id="5" name="x"/>
          <p:cNvSpPr txBox="1"/>
          <p:nvPr/>
        </p:nvSpPr>
        <p:spPr>
          <a:xfrm>
            <a:off x="548640" y="2697480"/>
            <a:ext cx="8046720" cy="548640"/>
          </a:xfrm>
          <a:prstGeom prst="rect">
            <a:avLst/>
          </a:prstGeom>
          <a:noFill/>
          <a:ln/>
        </p:spPr>
        <p:txBody>
          <a:bodyPr wrap="square" lIns="0" tIns="0" rIns="0" bIns="0" rtlCol="0" anchor="t"/>
          <a:lstStyle/>
          <a:p>
            <a:pPr indent="0" marL="0">
              <a:buNone/>
            </a:pPr>
            <a:r>
              <a:rPr lang="en-US" sz="1700" i="1" dirty="0">
                <a:solidFill>
                  <a:srgbClr val="FFD43B"/>
                </a:solidFill>
                <a:latin typeface="Calibri" pitchFamily="34" charset="0"/>
                <a:ea typeface="Calibri" pitchFamily="34" charset="-122"/>
                <a:cs typeface="Calibri" pitchFamily="34" charset="-120"/>
              </a:rPr>
              <a:t>Defining, calling, returning - and what decides which variable a name means</a:t>
            </a:r>
            <a:endParaRPr lang="en-US" sz="1700" dirty="0"/>
          </a:p>
        </p:txBody>
      </p:sp>
      <p:sp>
        <p:nvSpPr>
          <p:cNvPr id="6" name="x"/>
          <p:cNvSpPr txBox="1"/>
          <p:nvPr/>
        </p:nvSpPr>
        <p:spPr>
          <a:xfrm>
            <a:off x="548640" y="393192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Kultur University</a:t>
            </a:r>
            <a:endParaRPr lang="en-US" sz="1300" dirty="0"/>
          </a:p>
        </p:txBody>
      </p:sp>
      <p:sp>
        <p:nvSpPr>
          <p:cNvPr id="7" name="x"/>
          <p:cNvSpPr txBox="1"/>
          <p:nvPr/>
        </p:nvSpPr>
        <p:spPr>
          <a:xfrm>
            <a:off x="548640" y="4315968"/>
            <a:ext cx="8046720" cy="365760"/>
          </a:xfrm>
          <a:prstGeom prst="rect">
            <a:avLst/>
          </a:prstGeom>
          <a:noFill/>
          <a:ln/>
        </p:spPr>
        <p:txBody>
          <a:bodyPr wrap="square" lIns="0" tIns="0" rIns="0" bIns="0" rtlCol="0" anchor="ctr"/>
          <a:lstStyle/>
          <a:p>
            <a:pPr indent="0" marL="0">
              <a:buNone/>
            </a:pPr>
            <a:r>
              <a:rPr lang="en-US" sz="1100" i="1" dirty="0">
                <a:solidFill>
                  <a:srgbClr val="8FA3B8"/>
                </a:solidFill>
                <a:latin typeface="Calibri" pitchFamily="34" charset="0"/>
                <a:ea typeface="Calibri" pitchFamily="34" charset="-122"/>
                <a:cs typeface="Calibri" pitchFamily="34" charset="-120"/>
              </a:rPr>
              <a:t>Functions for an advanced course  |  76 concepts, 57 of them worked through, all results re-run under Python 3.14.4</a:t>
            </a:r>
            <a:endParaRPr lang="en-US" sz="11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What this chapter covers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book's own sections, and what this lecture adds to them</a:t>
            </a:r>
            <a:endParaRPr lang="en-US" sz="1400" dirty="0"/>
          </a:p>
        </p:txBody>
      </p:sp>
      <p:sp>
        <p:nvSpPr>
          <p:cNvPr id="6" name="prose"/>
          <p:cNvSpPr txBox="1"/>
          <p:nvPr/>
        </p:nvSpPr>
        <p:spPr>
          <a:xfrm>
            <a:off x="411480" y="1207008"/>
            <a:ext cx="4846320" cy="228600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This document renews chapter 4 of the 3rd edition for an advanced course: functions, return values, the call stack, scope, exception handling and the modern Python around them (Sweigart, 2025).</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Concepts are corpus-derived from the 3rd edition's chapter 4 through the Stage 1 research artefact (version 1.1.0); the concepts that the chapter's text uses without explaining them, and the modern-practice branch, are drawn from that artefact's secondary sources (the Python documentation and the PEPs), not from the book.</a:t>
            </a:r>
            <a:endParaRPr lang="en-US" sz="1350" dirty="0"/>
          </a:p>
        </p:txBody>
      </p:sp>
      <p:sp>
        <p:nvSpPr>
          <p:cNvPr id="7" name="band|b1"/>
          <p:cNvSpPr/>
          <p:nvPr/>
        </p:nvSpPr>
        <p:spPr>
          <a:xfrm>
            <a:off x="411480" y="3657600"/>
            <a:ext cx="4846320" cy="914400"/>
          </a:xfrm>
          <a:prstGeom prst="roundRect">
            <a:avLst>
              <a:gd name="adj" fmla="val 10000"/>
            </a:avLst>
          </a:prstGeom>
          <a:solidFill>
            <a:srgbClr val="E3EEF8"/>
          </a:solidFill>
          <a:ln w="25400">
            <a:solidFill>
              <a:srgbClr val="306998"/>
            </a:solidFill>
            <a:prstDash val="solid"/>
          </a:ln>
        </p:spPr>
      </p:sp>
      <p:sp>
        <p:nvSpPr>
          <p:cNvPr id="8" name="bandt|b1"/>
          <p:cNvSpPr txBox="1"/>
          <p:nvPr/>
        </p:nvSpPr>
        <p:spPr>
          <a:xfrm>
            <a:off x="576072" y="3712464"/>
            <a:ext cx="4517136" cy="804672"/>
          </a:xfrm>
          <a:prstGeom prst="rect">
            <a:avLst/>
          </a:prstGeom>
          <a:noFill/>
          <a:ln/>
        </p:spPr>
        <p:txBody>
          <a:bodyPr wrap="square" lIns="0" tIns="0" rIns="0" bIns="0" rtlCol="0" anchor="t"/>
          <a:lstStyle/>
          <a:p>
            <a:pPr indent="0" marL="0">
              <a:buNone/>
            </a:pPr>
            <a:r>
              <a:rPr lang="en-US" sz="1250" b="1" dirty="0">
                <a:solidFill>
                  <a:srgbClr val="306998"/>
                </a:solidFill>
                <a:latin typeface="Cambria" pitchFamily="34" charset="0"/>
                <a:ea typeface="Cambria" pitchFamily="34" charset="-122"/>
                <a:cs typeface="Cambria" pitchFamily="34" charset="-120"/>
              </a:rPr>
              <a:t>Read with it  </a:t>
            </a:r>
            <a:r>
              <a:rPr lang="en-US" sz="1250" dirty="0">
                <a:solidFill>
                  <a:srgbClr val="1F2933"/>
                </a:solidFill>
                <a:latin typeface="Calibri" pitchFamily="34" charset="0"/>
                <a:ea typeface="Calibri" pitchFamily="34" charset="-122"/>
                <a:cs typeface="Calibri" pitchFamily="34" charset="-120"/>
              </a:rPr>
              <a:t>The chapter page for this chapter carries the same concepts, the same executed examples and a question bank; the chapter document carries every paragraph in full.</a:t>
            </a:r>
            <a:endParaRPr lang="en-US" sz="1300" dirty="0"/>
          </a:p>
        </p:txBody>
      </p:sp>
      <p:sp>
        <p:nvSpPr>
          <p:cNvPr id="9" name="bsh"/>
          <p:cNvSpPr txBox="1"/>
          <p:nvPr/>
        </p:nvSpPr>
        <p:spPr>
          <a:xfrm>
            <a:off x="5532120" y="1152144"/>
            <a:ext cx="3200400" cy="329184"/>
          </a:xfrm>
          <a:prstGeom prst="rect">
            <a:avLst/>
          </a:prstGeom>
          <a:noFill/>
          <a:ln/>
        </p:spPr>
        <p:txBody>
          <a:bodyPr wrap="square" lIns="0" tIns="0" rIns="0" bIns="0" rtlCol="0" anchor="ctr"/>
          <a:lstStyle/>
          <a:p>
            <a:pPr indent="0" marL="0">
              <a:buNone/>
            </a:pPr>
            <a:r>
              <a:rPr lang="en-US" sz="1000" b="1" dirty="0">
                <a:solidFill>
                  <a:srgbClr val="1E2A3A"/>
                </a:solidFill>
                <a:latin typeface="Calibri" pitchFamily="34" charset="0"/>
                <a:ea typeface="Calibri" pitchFamily="34" charset="-122"/>
                <a:cs typeface="Calibri" pitchFamily="34" charset="-120"/>
              </a:rPr>
              <a:t>The sections of chapter 4, as the book sets them out</a:t>
            </a:r>
            <a:endParaRPr lang="en-US" sz="1000" dirty="0"/>
          </a:p>
        </p:txBody>
      </p:sp>
      <p:sp>
        <p:nvSpPr>
          <p:cNvPr id="10" name="bs"/>
          <p:cNvSpPr/>
          <p:nvPr/>
        </p:nvSpPr>
        <p:spPr>
          <a:xfrm>
            <a:off x="5532120" y="1554480"/>
            <a:ext cx="3200400" cy="204685"/>
          </a:xfrm>
          <a:prstGeom prst="rect">
            <a:avLst/>
          </a:prstGeom>
          <a:solidFill>
            <a:srgbClr val="E3EEF8"/>
          </a:solidFill>
          <a:ln w="12700">
            <a:solidFill>
              <a:srgbClr val="E3EEF8"/>
            </a:solidFill>
            <a:prstDash val="solid"/>
          </a:ln>
        </p:spPr>
      </p:sp>
      <p:sp>
        <p:nvSpPr>
          <p:cNvPr id="11" name="bst"/>
          <p:cNvSpPr txBox="1"/>
          <p:nvPr/>
        </p:nvSpPr>
        <p:spPr>
          <a:xfrm>
            <a:off x="5623560" y="1554480"/>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  Creating Functions</a:t>
            </a:r>
            <a:endParaRPr lang="en-US" sz="1100" dirty="0"/>
          </a:p>
        </p:txBody>
      </p:sp>
      <p:sp>
        <p:nvSpPr>
          <p:cNvPr id="12" name="bs"/>
          <p:cNvSpPr/>
          <p:nvPr/>
        </p:nvSpPr>
        <p:spPr>
          <a:xfrm>
            <a:off x="5532120" y="1786597"/>
            <a:ext cx="3200400" cy="204685"/>
          </a:xfrm>
          <a:prstGeom prst="rect">
            <a:avLst/>
          </a:prstGeom>
          <a:solidFill>
            <a:srgbClr val="F1F4F8"/>
          </a:solidFill>
          <a:ln w="12700">
            <a:solidFill>
              <a:srgbClr val="F1F4F8"/>
            </a:solidFill>
            <a:prstDash val="solid"/>
          </a:ln>
        </p:spPr>
      </p:sp>
      <p:sp>
        <p:nvSpPr>
          <p:cNvPr id="13" name="bst"/>
          <p:cNvSpPr txBox="1"/>
          <p:nvPr/>
        </p:nvSpPr>
        <p:spPr>
          <a:xfrm>
            <a:off x="5623560" y="1786597"/>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  Arguments and Parameters</a:t>
            </a:r>
            <a:endParaRPr lang="en-US" sz="1100" dirty="0"/>
          </a:p>
        </p:txBody>
      </p:sp>
      <p:sp>
        <p:nvSpPr>
          <p:cNvPr id="14" name="bs"/>
          <p:cNvSpPr/>
          <p:nvPr/>
        </p:nvSpPr>
        <p:spPr>
          <a:xfrm>
            <a:off x="5532120" y="2018714"/>
            <a:ext cx="3200400" cy="204685"/>
          </a:xfrm>
          <a:prstGeom prst="rect">
            <a:avLst/>
          </a:prstGeom>
          <a:solidFill>
            <a:srgbClr val="E3EEF8"/>
          </a:solidFill>
          <a:ln w="12700">
            <a:solidFill>
              <a:srgbClr val="E3EEF8"/>
            </a:solidFill>
            <a:prstDash val="solid"/>
          </a:ln>
        </p:spPr>
      </p:sp>
      <p:sp>
        <p:nvSpPr>
          <p:cNvPr id="15" name="bst"/>
          <p:cNvSpPr txBox="1"/>
          <p:nvPr/>
        </p:nvSpPr>
        <p:spPr>
          <a:xfrm>
            <a:off x="5623560" y="2018714"/>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  Return Values and return Statements</a:t>
            </a:r>
            <a:endParaRPr lang="en-US" sz="1100" dirty="0"/>
          </a:p>
        </p:txBody>
      </p:sp>
      <p:sp>
        <p:nvSpPr>
          <p:cNvPr id="16" name="bs"/>
          <p:cNvSpPr/>
          <p:nvPr/>
        </p:nvSpPr>
        <p:spPr>
          <a:xfrm>
            <a:off x="5532120" y="2250831"/>
            <a:ext cx="3200400" cy="204685"/>
          </a:xfrm>
          <a:prstGeom prst="rect">
            <a:avLst/>
          </a:prstGeom>
          <a:solidFill>
            <a:srgbClr val="F1F4F8"/>
          </a:solidFill>
          <a:ln w="12700">
            <a:solidFill>
              <a:srgbClr val="F1F4F8"/>
            </a:solidFill>
            <a:prstDash val="solid"/>
          </a:ln>
        </p:spPr>
      </p:sp>
      <p:sp>
        <p:nvSpPr>
          <p:cNvPr id="17" name="bst"/>
          <p:cNvSpPr txBox="1"/>
          <p:nvPr/>
        </p:nvSpPr>
        <p:spPr>
          <a:xfrm>
            <a:off x="5623560" y="2250831"/>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4.  The None Value</a:t>
            </a:r>
            <a:endParaRPr lang="en-US" sz="1100" dirty="0"/>
          </a:p>
        </p:txBody>
      </p:sp>
      <p:sp>
        <p:nvSpPr>
          <p:cNvPr id="18" name="bs"/>
          <p:cNvSpPr/>
          <p:nvPr/>
        </p:nvSpPr>
        <p:spPr>
          <a:xfrm>
            <a:off x="5532120" y="2482948"/>
            <a:ext cx="3200400" cy="204685"/>
          </a:xfrm>
          <a:prstGeom prst="rect">
            <a:avLst/>
          </a:prstGeom>
          <a:solidFill>
            <a:srgbClr val="E3EEF8"/>
          </a:solidFill>
          <a:ln w="12700">
            <a:solidFill>
              <a:srgbClr val="E3EEF8"/>
            </a:solidFill>
            <a:prstDash val="solid"/>
          </a:ln>
        </p:spPr>
      </p:sp>
      <p:sp>
        <p:nvSpPr>
          <p:cNvPr id="19" name="bst"/>
          <p:cNvSpPr txBox="1"/>
          <p:nvPr/>
        </p:nvSpPr>
        <p:spPr>
          <a:xfrm>
            <a:off x="5623560" y="2482948"/>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5.  Named Parameters</a:t>
            </a:r>
            <a:endParaRPr lang="en-US" sz="1100" dirty="0"/>
          </a:p>
        </p:txBody>
      </p:sp>
      <p:sp>
        <p:nvSpPr>
          <p:cNvPr id="20" name="bs"/>
          <p:cNvSpPr/>
          <p:nvPr/>
        </p:nvSpPr>
        <p:spPr>
          <a:xfrm>
            <a:off x="5532120" y="2715065"/>
            <a:ext cx="3200400" cy="204685"/>
          </a:xfrm>
          <a:prstGeom prst="rect">
            <a:avLst/>
          </a:prstGeom>
          <a:solidFill>
            <a:srgbClr val="F1F4F8"/>
          </a:solidFill>
          <a:ln w="12700">
            <a:solidFill>
              <a:srgbClr val="F1F4F8"/>
            </a:solidFill>
            <a:prstDash val="solid"/>
          </a:ln>
        </p:spPr>
      </p:sp>
      <p:sp>
        <p:nvSpPr>
          <p:cNvPr id="21" name="bst"/>
          <p:cNvSpPr txBox="1"/>
          <p:nvPr/>
        </p:nvSpPr>
        <p:spPr>
          <a:xfrm>
            <a:off x="5623560" y="2715065"/>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6.  The Call Stack</a:t>
            </a:r>
            <a:endParaRPr lang="en-US" sz="1100" dirty="0"/>
          </a:p>
        </p:txBody>
      </p:sp>
      <p:sp>
        <p:nvSpPr>
          <p:cNvPr id="22" name="bs"/>
          <p:cNvSpPr/>
          <p:nvPr/>
        </p:nvSpPr>
        <p:spPr>
          <a:xfrm>
            <a:off x="5532120" y="2947182"/>
            <a:ext cx="3200400" cy="204685"/>
          </a:xfrm>
          <a:prstGeom prst="rect">
            <a:avLst/>
          </a:prstGeom>
          <a:solidFill>
            <a:srgbClr val="E3EEF8"/>
          </a:solidFill>
          <a:ln w="12700">
            <a:solidFill>
              <a:srgbClr val="E3EEF8"/>
            </a:solidFill>
            <a:prstDash val="solid"/>
          </a:ln>
        </p:spPr>
      </p:sp>
      <p:sp>
        <p:nvSpPr>
          <p:cNvPr id="23" name="bst"/>
          <p:cNvSpPr txBox="1"/>
          <p:nvPr/>
        </p:nvSpPr>
        <p:spPr>
          <a:xfrm>
            <a:off x="5623560" y="2947182"/>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7.  Local and Global Scopes</a:t>
            </a:r>
            <a:endParaRPr lang="en-US" sz="1100" dirty="0"/>
          </a:p>
        </p:txBody>
      </p:sp>
      <p:sp>
        <p:nvSpPr>
          <p:cNvPr id="24" name="bs"/>
          <p:cNvSpPr/>
          <p:nvPr/>
        </p:nvSpPr>
        <p:spPr>
          <a:xfrm>
            <a:off x="5532120" y="3179298"/>
            <a:ext cx="3200400" cy="204685"/>
          </a:xfrm>
          <a:prstGeom prst="rect">
            <a:avLst/>
          </a:prstGeom>
          <a:solidFill>
            <a:srgbClr val="F1F4F8"/>
          </a:solidFill>
          <a:ln w="12700">
            <a:solidFill>
              <a:srgbClr val="F1F4F8"/>
            </a:solidFill>
            <a:prstDash val="solid"/>
          </a:ln>
        </p:spPr>
      </p:sp>
      <p:sp>
        <p:nvSpPr>
          <p:cNvPr id="25" name="bst"/>
          <p:cNvSpPr txBox="1"/>
          <p:nvPr/>
        </p:nvSpPr>
        <p:spPr>
          <a:xfrm>
            <a:off x="5623560" y="3179298"/>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8.  Exception Handling</a:t>
            </a:r>
            <a:endParaRPr lang="en-US" sz="1100" dirty="0"/>
          </a:p>
        </p:txBody>
      </p:sp>
      <p:sp>
        <p:nvSpPr>
          <p:cNvPr id="26" name="bs"/>
          <p:cNvSpPr/>
          <p:nvPr/>
        </p:nvSpPr>
        <p:spPr>
          <a:xfrm>
            <a:off x="5532120" y="3411415"/>
            <a:ext cx="3200400" cy="204685"/>
          </a:xfrm>
          <a:prstGeom prst="rect">
            <a:avLst/>
          </a:prstGeom>
          <a:solidFill>
            <a:srgbClr val="E3EEF8"/>
          </a:solidFill>
          <a:ln w="12700">
            <a:solidFill>
              <a:srgbClr val="E3EEF8"/>
            </a:solidFill>
            <a:prstDash val="solid"/>
          </a:ln>
        </p:spPr>
      </p:sp>
      <p:sp>
        <p:nvSpPr>
          <p:cNvPr id="27" name="bst"/>
          <p:cNvSpPr txBox="1"/>
          <p:nvPr/>
        </p:nvSpPr>
        <p:spPr>
          <a:xfrm>
            <a:off x="5623560" y="3411415"/>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9.  A Short Program: Zigzag</a:t>
            </a:r>
            <a:endParaRPr lang="en-US" sz="1100" dirty="0"/>
          </a:p>
        </p:txBody>
      </p:sp>
      <p:sp>
        <p:nvSpPr>
          <p:cNvPr id="28" name="bs"/>
          <p:cNvSpPr/>
          <p:nvPr/>
        </p:nvSpPr>
        <p:spPr>
          <a:xfrm>
            <a:off x="5532120" y="3643532"/>
            <a:ext cx="3200400" cy="204685"/>
          </a:xfrm>
          <a:prstGeom prst="rect">
            <a:avLst/>
          </a:prstGeom>
          <a:solidFill>
            <a:srgbClr val="F1F4F8"/>
          </a:solidFill>
          <a:ln w="12700">
            <a:solidFill>
              <a:srgbClr val="F1F4F8"/>
            </a:solidFill>
            <a:prstDash val="solid"/>
          </a:ln>
        </p:spPr>
      </p:sp>
      <p:sp>
        <p:nvSpPr>
          <p:cNvPr id="29" name="bst"/>
          <p:cNvSpPr txBox="1"/>
          <p:nvPr/>
        </p:nvSpPr>
        <p:spPr>
          <a:xfrm>
            <a:off x="5623560" y="3643532"/>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10.  A Short Program: Spike</a:t>
            </a:r>
            <a:endParaRPr lang="en-US" sz="1100" dirty="0"/>
          </a:p>
        </p:txBody>
      </p:sp>
      <p:sp>
        <p:nvSpPr>
          <p:cNvPr id="30" name="bs"/>
          <p:cNvSpPr/>
          <p:nvPr/>
        </p:nvSpPr>
        <p:spPr>
          <a:xfrm>
            <a:off x="5532120" y="3875649"/>
            <a:ext cx="3200400" cy="204685"/>
          </a:xfrm>
          <a:prstGeom prst="rect">
            <a:avLst/>
          </a:prstGeom>
          <a:solidFill>
            <a:srgbClr val="E3EEF8"/>
          </a:solidFill>
          <a:ln w="12700">
            <a:solidFill>
              <a:srgbClr val="E3EEF8"/>
            </a:solidFill>
            <a:prstDash val="solid"/>
          </a:ln>
        </p:spPr>
      </p:sp>
      <p:sp>
        <p:nvSpPr>
          <p:cNvPr id="31" name="bst"/>
          <p:cNvSpPr txBox="1"/>
          <p:nvPr/>
        </p:nvSpPr>
        <p:spPr>
          <a:xfrm>
            <a:off x="5623560" y="3875649"/>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11.  Summary</a:t>
            </a:r>
            <a:endParaRPr lang="en-US" sz="1100" dirty="0"/>
          </a:p>
        </p:txBody>
      </p:sp>
      <p:sp>
        <p:nvSpPr>
          <p:cNvPr id="32" name="bs"/>
          <p:cNvSpPr/>
          <p:nvPr/>
        </p:nvSpPr>
        <p:spPr>
          <a:xfrm>
            <a:off x="5532120" y="4107766"/>
            <a:ext cx="3200400" cy="204685"/>
          </a:xfrm>
          <a:prstGeom prst="rect">
            <a:avLst/>
          </a:prstGeom>
          <a:solidFill>
            <a:srgbClr val="F1F4F8"/>
          </a:solidFill>
          <a:ln w="12700">
            <a:solidFill>
              <a:srgbClr val="F1F4F8"/>
            </a:solidFill>
            <a:prstDash val="solid"/>
          </a:ln>
        </p:spPr>
      </p:sp>
      <p:sp>
        <p:nvSpPr>
          <p:cNvPr id="33" name="bst"/>
          <p:cNvSpPr txBox="1"/>
          <p:nvPr/>
        </p:nvSpPr>
        <p:spPr>
          <a:xfrm>
            <a:off x="5623560" y="4107766"/>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12.  Practice Questions</a:t>
            </a:r>
            <a:endParaRPr lang="en-US" sz="1100" dirty="0"/>
          </a:p>
        </p:txBody>
      </p:sp>
      <p:sp>
        <p:nvSpPr>
          <p:cNvPr id="34" name="bs"/>
          <p:cNvSpPr/>
          <p:nvPr/>
        </p:nvSpPr>
        <p:spPr>
          <a:xfrm>
            <a:off x="5532120" y="4339883"/>
            <a:ext cx="3200400" cy="204685"/>
          </a:xfrm>
          <a:prstGeom prst="rect">
            <a:avLst/>
          </a:prstGeom>
          <a:solidFill>
            <a:srgbClr val="E3EEF8"/>
          </a:solidFill>
          <a:ln w="12700">
            <a:solidFill>
              <a:srgbClr val="E3EEF8"/>
            </a:solidFill>
            <a:prstDash val="solid"/>
          </a:ln>
        </p:spPr>
      </p:sp>
      <p:sp>
        <p:nvSpPr>
          <p:cNvPr id="35" name="bst"/>
          <p:cNvSpPr txBox="1"/>
          <p:nvPr/>
        </p:nvSpPr>
        <p:spPr>
          <a:xfrm>
            <a:off x="5623560" y="4339883"/>
            <a:ext cx="3017520" cy="204685"/>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13.  Practice Programs</a:t>
            </a:r>
            <a:endParaRPr lang="en-US" sz="1100" dirty="0"/>
          </a:p>
        </p:txBody>
      </p:sp>
      <p:sp>
        <p:nvSpPr>
          <p:cNvPr id="36"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Source: sen0414_ch04_corpus_v1_0_0.py and the textbook ontology for the 3rd edition</a:t>
            </a:r>
            <a:endParaRPr lang="en-US" sz="950" dirty="0"/>
          </a:p>
        </p:txBody>
      </p:sp>
      <p:sp>
        <p:nvSpPr>
          <p:cNvPr id="37"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What you should be able to do afterwards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five objectives this chapter is taught and assessed against</a:t>
            </a:r>
            <a:endParaRPr lang="en-US" sz="1400" dirty="0"/>
          </a:p>
        </p:txBody>
      </p:sp>
      <p:sp>
        <p:nvSpPr>
          <p:cNvPr id="6" name="ob|b1"/>
          <p:cNvSpPr/>
          <p:nvPr/>
        </p:nvSpPr>
        <p:spPr>
          <a:xfrm>
            <a:off x="411480" y="1207008"/>
            <a:ext cx="868680" cy="640080"/>
          </a:xfrm>
          <a:prstGeom prst="roundRect">
            <a:avLst>
              <a:gd name="adj" fmla="val 11429"/>
            </a:avLst>
          </a:prstGeom>
          <a:solidFill>
            <a:srgbClr val="306998"/>
          </a:solidFill>
          <a:ln w="12700">
            <a:solidFill>
              <a:srgbClr val="306998"/>
            </a:solidFill>
            <a:prstDash val="solid"/>
          </a:ln>
        </p:spPr>
      </p:sp>
      <p:sp>
        <p:nvSpPr>
          <p:cNvPr id="7" name="obc|b1"/>
          <p:cNvSpPr txBox="1"/>
          <p:nvPr/>
        </p:nvSpPr>
        <p:spPr>
          <a:xfrm>
            <a:off x="411480" y="1207008"/>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CO1</a:t>
            </a:r>
            <a:endParaRPr lang="en-US" sz="1600" dirty="0"/>
          </a:p>
        </p:txBody>
      </p:sp>
      <p:sp>
        <p:nvSpPr>
          <p:cNvPr id="8" name="obb|b1"/>
          <p:cNvSpPr/>
          <p:nvPr/>
        </p:nvSpPr>
        <p:spPr>
          <a:xfrm>
            <a:off x="1371600" y="1207008"/>
            <a:ext cx="6172200" cy="640080"/>
          </a:xfrm>
          <a:prstGeom prst="roundRect">
            <a:avLst>
              <a:gd name="adj" fmla="val 11429"/>
            </a:avLst>
          </a:prstGeom>
          <a:solidFill>
            <a:srgbClr val="F1F4F8"/>
          </a:solidFill>
          <a:ln w="12700">
            <a:solidFill>
              <a:srgbClr val="F1F4F8"/>
            </a:solidFill>
            <a:prstDash val="solid"/>
          </a:ln>
        </p:spPr>
      </p:sp>
      <p:sp>
        <p:nvSpPr>
          <p:cNvPr id="9" name="obt|b1"/>
          <p:cNvSpPr txBox="1"/>
          <p:nvPr/>
        </p:nvSpPr>
        <p:spPr>
          <a:xfrm>
            <a:off x="1481328" y="1207008"/>
            <a:ext cx="594360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Write and call a function with def, and trace what the call and the return do</a:t>
            </a:r>
            <a:endParaRPr lang="en-US" sz="1350" dirty="0"/>
          </a:p>
        </p:txBody>
      </p:sp>
      <p:sp>
        <p:nvSpPr>
          <p:cNvPr id="10" name="obl|b1"/>
          <p:cNvSpPr/>
          <p:nvPr/>
        </p:nvSpPr>
        <p:spPr>
          <a:xfrm>
            <a:off x="7635240" y="1207008"/>
            <a:ext cx="1097280" cy="640080"/>
          </a:xfrm>
          <a:prstGeom prst="roundRect">
            <a:avLst>
              <a:gd name="adj" fmla="val 11429"/>
            </a:avLst>
          </a:prstGeom>
          <a:solidFill>
            <a:srgbClr val="FCEFD0"/>
          </a:solidFill>
          <a:ln w="12700">
            <a:solidFill>
              <a:srgbClr val="B7791F"/>
            </a:solidFill>
            <a:prstDash val="solid"/>
          </a:ln>
        </p:spPr>
      </p:sp>
      <p:sp>
        <p:nvSpPr>
          <p:cNvPr id="11" name="oblt|b1"/>
          <p:cNvSpPr txBox="1"/>
          <p:nvPr/>
        </p:nvSpPr>
        <p:spPr>
          <a:xfrm>
            <a:off x="7635240" y="1207008"/>
            <a:ext cx="1097280" cy="640080"/>
          </a:xfrm>
          <a:prstGeom prst="rect">
            <a:avLst/>
          </a:prstGeom>
          <a:noFill/>
          <a:ln/>
        </p:spPr>
        <p:txBody>
          <a:bodyPr wrap="square" lIns="0" tIns="0" rIns="0" bIns="0" rtlCol="0" anchor="ctr"/>
          <a:lstStyle/>
          <a:p>
            <a:pPr algn="ctr" indent="0" marL="0">
              <a:buNone/>
            </a:pPr>
            <a:r>
              <a:rPr lang="en-US" sz="1150" b="1" dirty="0">
                <a:solidFill>
                  <a:srgbClr val="B7791F"/>
                </a:solidFill>
                <a:latin typeface="Calibri" pitchFamily="34" charset="0"/>
                <a:ea typeface="Calibri" pitchFamily="34" charset="-122"/>
                <a:cs typeface="Calibri" pitchFamily="34" charset="-120"/>
              </a:rPr>
              <a:t>Apply</a:t>
            </a:r>
            <a:endParaRPr lang="en-US" sz="1150" dirty="0"/>
          </a:p>
        </p:txBody>
      </p:sp>
      <p:sp>
        <p:nvSpPr>
          <p:cNvPr id="12" name="ob|b2"/>
          <p:cNvSpPr/>
          <p:nvPr/>
        </p:nvSpPr>
        <p:spPr>
          <a:xfrm>
            <a:off x="411480" y="1901952"/>
            <a:ext cx="868680" cy="640080"/>
          </a:xfrm>
          <a:prstGeom prst="roundRect">
            <a:avLst>
              <a:gd name="adj" fmla="val 11429"/>
            </a:avLst>
          </a:prstGeom>
          <a:solidFill>
            <a:srgbClr val="306998"/>
          </a:solidFill>
          <a:ln w="12700">
            <a:solidFill>
              <a:srgbClr val="306998"/>
            </a:solidFill>
            <a:prstDash val="solid"/>
          </a:ln>
        </p:spPr>
      </p:sp>
      <p:sp>
        <p:nvSpPr>
          <p:cNvPr id="13" name="obc|b2"/>
          <p:cNvSpPr txBox="1"/>
          <p:nvPr/>
        </p:nvSpPr>
        <p:spPr>
          <a:xfrm>
            <a:off x="411480" y="1901952"/>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CO2</a:t>
            </a:r>
            <a:endParaRPr lang="en-US" sz="1600" dirty="0"/>
          </a:p>
        </p:txBody>
      </p:sp>
      <p:sp>
        <p:nvSpPr>
          <p:cNvPr id="14" name="obb|b2"/>
          <p:cNvSpPr/>
          <p:nvPr/>
        </p:nvSpPr>
        <p:spPr>
          <a:xfrm>
            <a:off x="1371600" y="1901952"/>
            <a:ext cx="6172200" cy="640080"/>
          </a:xfrm>
          <a:prstGeom prst="roundRect">
            <a:avLst>
              <a:gd name="adj" fmla="val 11429"/>
            </a:avLst>
          </a:prstGeom>
          <a:solidFill>
            <a:srgbClr val="F1F4F8"/>
          </a:solidFill>
          <a:ln w="12700">
            <a:solidFill>
              <a:srgbClr val="F1F4F8"/>
            </a:solidFill>
            <a:prstDash val="solid"/>
          </a:ln>
        </p:spPr>
      </p:sp>
      <p:sp>
        <p:nvSpPr>
          <p:cNvPr id="15" name="obt|b2"/>
          <p:cNvSpPr txBox="1"/>
          <p:nvPr/>
        </p:nvSpPr>
        <p:spPr>
          <a:xfrm>
            <a:off x="1481328" y="1901952"/>
            <a:ext cx="594360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Choose between positional, keyword, default, keyword-only and positional-only parameters for a given call</a:t>
            </a:r>
            <a:endParaRPr lang="en-US" sz="1350" dirty="0"/>
          </a:p>
        </p:txBody>
      </p:sp>
      <p:sp>
        <p:nvSpPr>
          <p:cNvPr id="16" name="obl|b2"/>
          <p:cNvSpPr/>
          <p:nvPr/>
        </p:nvSpPr>
        <p:spPr>
          <a:xfrm>
            <a:off x="7635240" y="1901952"/>
            <a:ext cx="1097280" cy="640080"/>
          </a:xfrm>
          <a:prstGeom prst="roundRect">
            <a:avLst>
              <a:gd name="adj" fmla="val 11429"/>
            </a:avLst>
          </a:prstGeom>
          <a:solidFill>
            <a:srgbClr val="FCEFD0"/>
          </a:solidFill>
          <a:ln w="12700">
            <a:solidFill>
              <a:srgbClr val="B7791F"/>
            </a:solidFill>
            <a:prstDash val="solid"/>
          </a:ln>
        </p:spPr>
      </p:sp>
      <p:sp>
        <p:nvSpPr>
          <p:cNvPr id="17" name="oblt|b2"/>
          <p:cNvSpPr txBox="1"/>
          <p:nvPr/>
        </p:nvSpPr>
        <p:spPr>
          <a:xfrm>
            <a:off x="7635240" y="1901952"/>
            <a:ext cx="1097280" cy="640080"/>
          </a:xfrm>
          <a:prstGeom prst="rect">
            <a:avLst/>
          </a:prstGeom>
          <a:noFill/>
          <a:ln/>
        </p:spPr>
        <p:txBody>
          <a:bodyPr wrap="square" lIns="0" tIns="0" rIns="0" bIns="0" rtlCol="0" anchor="ctr"/>
          <a:lstStyle/>
          <a:p>
            <a:pPr algn="ctr" indent="0" marL="0">
              <a:buNone/>
            </a:pPr>
            <a:r>
              <a:rPr lang="en-US" sz="1150" b="1" dirty="0">
                <a:solidFill>
                  <a:srgbClr val="B7791F"/>
                </a:solidFill>
                <a:latin typeface="Calibri" pitchFamily="34" charset="0"/>
                <a:ea typeface="Calibri" pitchFamily="34" charset="-122"/>
                <a:cs typeface="Calibri" pitchFamily="34" charset="-120"/>
              </a:rPr>
              <a:t>Apply</a:t>
            </a:r>
            <a:endParaRPr lang="en-US" sz="1150" dirty="0"/>
          </a:p>
        </p:txBody>
      </p:sp>
      <p:sp>
        <p:nvSpPr>
          <p:cNvPr id="18" name="ob|b3"/>
          <p:cNvSpPr/>
          <p:nvPr/>
        </p:nvSpPr>
        <p:spPr>
          <a:xfrm>
            <a:off x="411480" y="2596896"/>
            <a:ext cx="868680" cy="640080"/>
          </a:xfrm>
          <a:prstGeom prst="roundRect">
            <a:avLst>
              <a:gd name="adj" fmla="val 11429"/>
            </a:avLst>
          </a:prstGeom>
          <a:solidFill>
            <a:srgbClr val="306998"/>
          </a:solidFill>
          <a:ln w="12700">
            <a:solidFill>
              <a:srgbClr val="306998"/>
            </a:solidFill>
            <a:prstDash val="solid"/>
          </a:ln>
        </p:spPr>
      </p:sp>
      <p:sp>
        <p:nvSpPr>
          <p:cNvPr id="19" name="obc|b3"/>
          <p:cNvSpPr txBox="1"/>
          <p:nvPr/>
        </p:nvSpPr>
        <p:spPr>
          <a:xfrm>
            <a:off x="411480" y="2596896"/>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CO3</a:t>
            </a:r>
            <a:endParaRPr lang="en-US" sz="1600" dirty="0"/>
          </a:p>
        </p:txBody>
      </p:sp>
      <p:sp>
        <p:nvSpPr>
          <p:cNvPr id="20" name="obb|b3"/>
          <p:cNvSpPr/>
          <p:nvPr/>
        </p:nvSpPr>
        <p:spPr>
          <a:xfrm>
            <a:off x="1371600" y="2596896"/>
            <a:ext cx="6172200" cy="640080"/>
          </a:xfrm>
          <a:prstGeom prst="roundRect">
            <a:avLst>
              <a:gd name="adj" fmla="val 11429"/>
            </a:avLst>
          </a:prstGeom>
          <a:solidFill>
            <a:srgbClr val="F1F4F8"/>
          </a:solidFill>
          <a:ln w="12700">
            <a:solidFill>
              <a:srgbClr val="F1F4F8"/>
            </a:solidFill>
            <a:prstDash val="solid"/>
          </a:ln>
        </p:spPr>
      </p:sp>
      <p:sp>
        <p:nvSpPr>
          <p:cNvPr id="21" name="obt|b3"/>
          <p:cNvSpPr txBox="1"/>
          <p:nvPr/>
        </p:nvSpPr>
        <p:spPr>
          <a:xfrm>
            <a:off x="1481328" y="2596896"/>
            <a:ext cx="594360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Predict what a function returns, including None, and explain how the call stack and the recursion limit bound nested calls</a:t>
            </a:r>
            <a:endParaRPr lang="en-US" sz="1350" dirty="0"/>
          </a:p>
        </p:txBody>
      </p:sp>
      <p:sp>
        <p:nvSpPr>
          <p:cNvPr id="22" name="obl|b3"/>
          <p:cNvSpPr/>
          <p:nvPr/>
        </p:nvSpPr>
        <p:spPr>
          <a:xfrm>
            <a:off x="7635240" y="2596896"/>
            <a:ext cx="1097280" cy="640080"/>
          </a:xfrm>
          <a:prstGeom prst="roundRect">
            <a:avLst>
              <a:gd name="adj" fmla="val 11429"/>
            </a:avLst>
          </a:prstGeom>
          <a:solidFill>
            <a:srgbClr val="FCEFD0"/>
          </a:solidFill>
          <a:ln w="12700">
            <a:solidFill>
              <a:srgbClr val="B7791F"/>
            </a:solidFill>
            <a:prstDash val="solid"/>
          </a:ln>
        </p:spPr>
      </p:sp>
      <p:sp>
        <p:nvSpPr>
          <p:cNvPr id="23" name="oblt|b3"/>
          <p:cNvSpPr txBox="1"/>
          <p:nvPr/>
        </p:nvSpPr>
        <p:spPr>
          <a:xfrm>
            <a:off x="7635240" y="2596896"/>
            <a:ext cx="1097280" cy="640080"/>
          </a:xfrm>
          <a:prstGeom prst="rect">
            <a:avLst/>
          </a:prstGeom>
          <a:noFill/>
          <a:ln/>
        </p:spPr>
        <p:txBody>
          <a:bodyPr wrap="square" lIns="0" tIns="0" rIns="0" bIns="0" rtlCol="0" anchor="ctr"/>
          <a:lstStyle/>
          <a:p>
            <a:pPr algn="ctr" indent="0" marL="0">
              <a:buNone/>
            </a:pPr>
            <a:r>
              <a:rPr lang="en-US" sz="1150" b="1" dirty="0">
                <a:solidFill>
                  <a:srgbClr val="B7791F"/>
                </a:solidFill>
                <a:latin typeface="Calibri" pitchFamily="34" charset="0"/>
                <a:ea typeface="Calibri" pitchFamily="34" charset="-122"/>
                <a:cs typeface="Calibri" pitchFamily="34" charset="-120"/>
              </a:rPr>
              <a:t>Apply</a:t>
            </a:r>
            <a:endParaRPr lang="en-US" sz="1150" dirty="0"/>
          </a:p>
        </p:txBody>
      </p:sp>
      <p:sp>
        <p:nvSpPr>
          <p:cNvPr id="24" name="ob|b4"/>
          <p:cNvSpPr/>
          <p:nvPr/>
        </p:nvSpPr>
        <p:spPr>
          <a:xfrm>
            <a:off x="411480" y="3291840"/>
            <a:ext cx="868680" cy="640080"/>
          </a:xfrm>
          <a:prstGeom prst="roundRect">
            <a:avLst>
              <a:gd name="adj" fmla="val 11429"/>
            </a:avLst>
          </a:prstGeom>
          <a:solidFill>
            <a:srgbClr val="306998"/>
          </a:solidFill>
          <a:ln w="12700">
            <a:solidFill>
              <a:srgbClr val="306998"/>
            </a:solidFill>
            <a:prstDash val="solid"/>
          </a:ln>
        </p:spPr>
      </p:sp>
      <p:sp>
        <p:nvSpPr>
          <p:cNvPr id="25" name="obc|b4"/>
          <p:cNvSpPr txBox="1"/>
          <p:nvPr/>
        </p:nvSpPr>
        <p:spPr>
          <a:xfrm>
            <a:off x="411480" y="3291840"/>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CO4</a:t>
            </a:r>
            <a:endParaRPr lang="en-US" sz="1600" dirty="0"/>
          </a:p>
        </p:txBody>
      </p:sp>
      <p:sp>
        <p:nvSpPr>
          <p:cNvPr id="26" name="obb|b4"/>
          <p:cNvSpPr/>
          <p:nvPr/>
        </p:nvSpPr>
        <p:spPr>
          <a:xfrm>
            <a:off x="1371600" y="3291840"/>
            <a:ext cx="6172200" cy="640080"/>
          </a:xfrm>
          <a:prstGeom prst="roundRect">
            <a:avLst>
              <a:gd name="adj" fmla="val 11429"/>
            </a:avLst>
          </a:prstGeom>
          <a:solidFill>
            <a:srgbClr val="F1F4F8"/>
          </a:solidFill>
          <a:ln w="12700">
            <a:solidFill>
              <a:srgbClr val="F1F4F8"/>
            </a:solidFill>
            <a:prstDash val="solid"/>
          </a:ln>
        </p:spPr>
      </p:sp>
      <p:sp>
        <p:nvSpPr>
          <p:cNvPr id="27" name="obt|b4"/>
          <p:cNvSpPr txBox="1"/>
          <p:nvPr/>
        </p:nvSpPr>
        <p:spPr>
          <a:xfrm>
            <a:off x="1481328" y="3291840"/>
            <a:ext cx="594360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Decide whether a name is local or global, and repair an UnboundLocalError with global or nonlocal</a:t>
            </a:r>
            <a:endParaRPr lang="en-US" sz="1350" dirty="0"/>
          </a:p>
        </p:txBody>
      </p:sp>
      <p:sp>
        <p:nvSpPr>
          <p:cNvPr id="28" name="obl|b4"/>
          <p:cNvSpPr/>
          <p:nvPr/>
        </p:nvSpPr>
        <p:spPr>
          <a:xfrm>
            <a:off x="7635240" y="3291840"/>
            <a:ext cx="1097280" cy="640080"/>
          </a:xfrm>
          <a:prstGeom prst="roundRect">
            <a:avLst>
              <a:gd name="adj" fmla="val 11429"/>
            </a:avLst>
          </a:prstGeom>
          <a:solidFill>
            <a:srgbClr val="FCEFD0"/>
          </a:solidFill>
          <a:ln w="12700">
            <a:solidFill>
              <a:srgbClr val="B7791F"/>
            </a:solidFill>
            <a:prstDash val="solid"/>
          </a:ln>
        </p:spPr>
      </p:sp>
      <p:sp>
        <p:nvSpPr>
          <p:cNvPr id="29" name="oblt|b4"/>
          <p:cNvSpPr txBox="1"/>
          <p:nvPr/>
        </p:nvSpPr>
        <p:spPr>
          <a:xfrm>
            <a:off x="7635240" y="3291840"/>
            <a:ext cx="1097280" cy="640080"/>
          </a:xfrm>
          <a:prstGeom prst="rect">
            <a:avLst/>
          </a:prstGeom>
          <a:noFill/>
          <a:ln/>
        </p:spPr>
        <p:txBody>
          <a:bodyPr wrap="square" lIns="0" tIns="0" rIns="0" bIns="0" rtlCol="0" anchor="ctr"/>
          <a:lstStyle/>
          <a:p>
            <a:pPr algn="ctr" indent="0" marL="0">
              <a:buNone/>
            </a:pPr>
            <a:r>
              <a:rPr lang="en-US" sz="1150" b="1" dirty="0">
                <a:solidFill>
                  <a:srgbClr val="B7791F"/>
                </a:solidFill>
                <a:latin typeface="Calibri" pitchFamily="34" charset="0"/>
                <a:ea typeface="Calibri" pitchFamily="34" charset="-122"/>
                <a:cs typeface="Calibri" pitchFamily="34" charset="-120"/>
              </a:rPr>
              <a:t>Apply</a:t>
            </a:r>
            <a:endParaRPr lang="en-US" sz="1150" dirty="0"/>
          </a:p>
        </p:txBody>
      </p:sp>
      <p:sp>
        <p:nvSpPr>
          <p:cNvPr id="30" name="ob|b5"/>
          <p:cNvSpPr/>
          <p:nvPr/>
        </p:nvSpPr>
        <p:spPr>
          <a:xfrm>
            <a:off x="411480" y="3986784"/>
            <a:ext cx="868680" cy="640080"/>
          </a:xfrm>
          <a:prstGeom prst="roundRect">
            <a:avLst>
              <a:gd name="adj" fmla="val 11429"/>
            </a:avLst>
          </a:prstGeom>
          <a:solidFill>
            <a:srgbClr val="306998"/>
          </a:solidFill>
          <a:ln w="12700">
            <a:solidFill>
              <a:srgbClr val="306998"/>
            </a:solidFill>
            <a:prstDash val="solid"/>
          </a:ln>
        </p:spPr>
      </p:sp>
      <p:sp>
        <p:nvSpPr>
          <p:cNvPr id="31" name="obc|b5"/>
          <p:cNvSpPr txBox="1"/>
          <p:nvPr/>
        </p:nvSpPr>
        <p:spPr>
          <a:xfrm>
            <a:off x="411480" y="3986784"/>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CO5</a:t>
            </a:r>
            <a:endParaRPr lang="en-US" sz="1600" dirty="0"/>
          </a:p>
        </p:txBody>
      </p:sp>
      <p:sp>
        <p:nvSpPr>
          <p:cNvPr id="32" name="obb|b5"/>
          <p:cNvSpPr/>
          <p:nvPr/>
        </p:nvSpPr>
        <p:spPr>
          <a:xfrm>
            <a:off x="1371600" y="3986784"/>
            <a:ext cx="6172200" cy="640080"/>
          </a:xfrm>
          <a:prstGeom prst="roundRect">
            <a:avLst>
              <a:gd name="adj" fmla="val 11429"/>
            </a:avLst>
          </a:prstGeom>
          <a:solidFill>
            <a:srgbClr val="F1F4F8"/>
          </a:solidFill>
          <a:ln w="12700">
            <a:solidFill>
              <a:srgbClr val="F1F4F8"/>
            </a:solidFill>
            <a:prstDash val="solid"/>
          </a:ln>
        </p:spPr>
      </p:sp>
      <p:sp>
        <p:nvSpPr>
          <p:cNvPr id="33" name="obt|b5"/>
          <p:cNvSpPr txBox="1"/>
          <p:nvPr/>
        </p:nvSpPr>
        <p:spPr>
          <a:xfrm>
            <a:off x="1481328" y="3986784"/>
            <a:ext cx="594360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Handle an error raised inside a call with try/except, for one or several exception types</a:t>
            </a:r>
            <a:endParaRPr lang="en-US" sz="1350" dirty="0"/>
          </a:p>
        </p:txBody>
      </p:sp>
      <p:sp>
        <p:nvSpPr>
          <p:cNvPr id="34" name="obl|b5"/>
          <p:cNvSpPr/>
          <p:nvPr/>
        </p:nvSpPr>
        <p:spPr>
          <a:xfrm>
            <a:off x="7635240" y="3986784"/>
            <a:ext cx="1097280" cy="640080"/>
          </a:xfrm>
          <a:prstGeom prst="roundRect">
            <a:avLst>
              <a:gd name="adj" fmla="val 11429"/>
            </a:avLst>
          </a:prstGeom>
          <a:solidFill>
            <a:srgbClr val="FCEFD0"/>
          </a:solidFill>
          <a:ln w="12700">
            <a:solidFill>
              <a:srgbClr val="B7791F"/>
            </a:solidFill>
            <a:prstDash val="solid"/>
          </a:ln>
        </p:spPr>
      </p:sp>
      <p:sp>
        <p:nvSpPr>
          <p:cNvPr id="35" name="oblt|b5"/>
          <p:cNvSpPr txBox="1"/>
          <p:nvPr/>
        </p:nvSpPr>
        <p:spPr>
          <a:xfrm>
            <a:off x="7635240" y="3986784"/>
            <a:ext cx="1097280" cy="640080"/>
          </a:xfrm>
          <a:prstGeom prst="rect">
            <a:avLst/>
          </a:prstGeom>
          <a:noFill/>
          <a:ln/>
        </p:spPr>
        <p:txBody>
          <a:bodyPr wrap="square" lIns="0" tIns="0" rIns="0" bIns="0" rtlCol="0" anchor="ctr"/>
          <a:lstStyle/>
          <a:p>
            <a:pPr algn="ctr" indent="0" marL="0">
              <a:buNone/>
            </a:pPr>
            <a:r>
              <a:rPr lang="en-US" sz="1150" b="1" dirty="0">
                <a:solidFill>
                  <a:srgbClr val="B7791F"/>
                </a:solidFill>
                <a:latin typeface="Calibri" pitchFamily="34" charset="0"/>
                <a:ea typeface="Calibri" pitchFamily="34" charset="-122"/>
                <a:cs typeface="Calibri" pitchFamily="34" charset="-120"/>
              </a:rPr>
              <a:t>Apply</a:t>
            </a:r>
            <a:endParaRPr lang="en-US" sz="1150" dirty="0"/>
          </a:p>
        </p:txBody>
      </p:sp>
      <p:sp>
        <p:nvSpPr>
          <p:cNvPr id="36"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Source: objectives_v1_0_0.json and 01-outcomes/sen0414_outcomes_v1_0_0.ttl</a:t>
            </a:r>
            <a:endParaRPr lang="en-US" sz="950" dirty="0"/>
          </a:p>
        </p:txBody>
      </p:sp>
      <p:sp>
        <p:nvSpPr>
          <p:cNvPr id="37"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the level on the right is the Bloom level the objective is written at</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childTnLst>
                          </p:cTn>
                        </p:par>
                      </p:childTnLst>
                    </p:cTn>
                  </p:par>
                  <p:par>
                    <p:cTn id="101" fill="hold">
                      <p:stCondLst>
                        <p:cond delay="indefinite"/>
                      </p:stCondLst>
                      <p:childTnLst>
                        <p:par>
                          <p:cTn id="10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0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00"/>
                                        <p:tgtEl>
                                          <p:spTgt spid="31"/>
                                        </p:tgtEl>
                                      </p:cBhvr>
                                    </p:animEffect>
                                  </p:childTnLst>
                                </p:cTn>
                              </p:par>
                              <p:par>
                                <p:cTn id="89" presetID="10" presetClass="entr" presetSubtype="0" fill="hold"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0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00"/>
                                        <p:tgtEl>
                                          <p:spTgt spid="33"/>
                                        </p:tgtEl>
                                      </p:cBhvr>
                                    </p:animEffect>
                                  </p:childTnLst>
                                </p:cTn>
                              </p:par>
                              <p:par>
                                <p:cTn id="95" presetID="10" presetClass="entr" presetSubtype="0" fill="hold"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The chapter as one tree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Every concept this lecture teaches, in the order it teaches them; the number in each box is how many concepts it holds</a:t>
            </a:r>
            <a:endParaRPr lang="en-US" sz="1300" dirty="0"/>
          </a:p>
        </p:txBody>
      </p:sp>
      <p:sp>
        <p:nvSpPr>
          <p:cNvPr id="6" name="tree1|b1"/>
          <p:cNvSpPr/>
          <p:nvPr/>
        </p:nvSpPr>
        <p:spPr>
          <a:xfrm>
            <a:off x="365760" y="1325880"/>
            <a:ext cx="1107730" cy="512064"/>
          </a:xfrm>
          <a:prstGeom prst="roundRect">
            <a:avLst>
              <a:gd name="adj" fmla="val 14286"/>
            </a:avLst>
          </a:prstGeom>
          <a:solidFill>
            <a:srgbClr val="306998"/>
          </a:solidFill>
          <a:ln w="12700">
            <a:solidFill>
              <a:srgbClr val="306998"/>
            </a:solidFill>
            <a:prstDash val="solid"/>
          </a:ln>
        </p:spPr>
      </p:sp>
      <p:sp>
        <p:nvSpPr>
          <p:cNvPr id="7" name="tree1t|b1"/>
          <p:cNvSpPr txBox="1"/>
          <p:nvPr/>
        </p:nvSpPr>
        <p:spPr>
          <a:xfrm>
            <a:off x="402336" y="1325880"/>
            <a:ext cx="103457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Function</a:t>
            </a:r>
            <a:endParaRPr lang="en-US" sz="1300" dirty="0"/>
          </a:p>
        </p:txBody>
      </p:sp>
      <p:sp>
        <p:nvSpPr>
          <p:cNvPr id="8" name="arrow|b1"/>
          <p:cNvSpPr/>
          <p:nvPr/>
        </p:nvSpPr>
        <p:spPr>
          <a:xfrm>
            <a:off x="919625" y="1837944"/>
            <a:ext cx="0" cy="146304"/>
          </a:xfrm>
          <a:prstGeom prst="line">
            <a:avLst/>
          </a:prstGeom>
          <a:noFill/>
          <a:ln w="12700">
            <a:solidFill>
              <a:srgbClr val="9AA8B8"/>
            </a:solidFill>
            <a:prstDash val="solid"/>
          </a:ln>
        </p:spPr>
      </p:sp>
      <p:sp>
        <p:nvSpPr>
          <p:cNvPr id="9" name="tree2|b1"/>
          <p:cNvSpPr/>
          <p:nvPr/>
        </p:nvSpPr>
        <p:spPr>
          <a:xfrm>
            <a:off x="393192" y="1984248"/>
            <a:ext cx="1052866" cy="475488"/>
          </a:xfrm>
          <a:prstGeom prst="roundRect">
            <a:avLst>
              <a:gd name="adj" fmla="val 11538"/>
            </a:avLst>
          </a:prstGeom>
          <a:solidFill>
            <a:srgbClr val="E3EEF8"/>
          </a:solidFill>
          <a:ln w="12700">
            <a:solidFill>
              <a:srgbClr val="306998"/>
            </a:solidFill>
            <a:prstDash val="solid"/>
          </a:ln>
        </p:spPr>
      </p:sp>
      <p:sp>
        <p:nvSpPr>
          <p:cNvPr id="10" name="tree2t|b1"/>
          <p:cNvSpPr txBox="1"/>
          <p:nvPr/>
        </p:nvSpPr>
        <p:spPr>
          <a:xfrm>
            <a:off x="420624" y="1984248"/>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Definition  (9)</a:t>
            </a:r>
            <a:endParaRPr lang="en-US" sz="1100" dirty="0"/>
          </a:p>
        </p:txBody>
      </p:sp>
      <p:sp>
        <p:nvSpPr>
          <p:cNvPr id="11" name="arrow|b1"/>
          <p:cNvSpPr/>
          <p:nvPr/>
        </p:nvSpPr>
        <p:spPr>
          <a:xfrm>
            <a:off x="919625" y="2459736"/>
            <a:ext cx="0" cy="109728"/>
          </a:xfrm>
          <a:prstGeom prst="line">
            <a:avLst/>
          </a:prstGeom>
          <a:noFill/>
          <a:ln w="12700">
            <a:solidFill>
              <a:srgbClr val="9AA8B8"/>
            </a:solidFill>
            <a:prstDash val="solid"/>
          </a:ln>
        </p:spPr>
      </p:sp>
      <p:sp>
        <p:nvSpPr>
          <p:cNvPr id="12" name="tree2|b1"/>
          <p:cNvSpPr/>
          <p:nvPr/>
        </p:nvSpPr>
        <p:spPr>
          <a:xfrm>
            <a:off x="393192" y="2569464"/>
            <a:ext cx="1052866" cy="475488"/>
          </a:xfrm>
          <a:prstGeom prst="roundRect">
            <a:avLst>
              <a:gd name="adj" fmla="val 11538"/>
            </a:avLst>
          </a:prstGeom>
          <a:solidFill>
            <a:srgbClr val="E3EEF8"/>
          </a:solidFill>
          <a:ln w="12700">
            <a:solidFill>
              <a:srgbClr val="306998"/>
            </a:solidFill>
            <a:prstDash val="solid"/>
          </a:ln>
        </p:spPr>
      </p:sp>
      <p:sp>
        <p:nvSpPr>
          <p:cNvPr id="13" name="tree2t|b1"/>
          <p:cNvSpPr txBox="1"/>
          <p:nvPr/>
        </p:nvSpPr>
        <p:spPr>
          <a:xfrm>
            <a:off x="420624" y="2569464"/>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Parameters  (6)</a:t>
            </a:r>
            <a:endParaRPr lang="en-US" sz="1100" dirty="0"/>
          </a:p>
        </p:txBody>
      </p:sp>
      <p:sp>
        <p:nvSpPr>
          <p:cNvPr id="14" name="tree1|b2"/>
          <p:cNvSpPr/>
          <p:nvPr/>
        </p:nvSpPr>
        <p:spPr>
          <a:xfrm>
            <a:off x="1583218" y="1325880"/>
            <a:ext cx="1107730" cy="512064"/>
          </a:xfrm>
          <a:prstGeom prst="roundRect">
            <a:avLst>
              <a:gd name="adj" fmla="val 14286"/>
            </a:avLst>
          </a:prstGeom>
          <a:solidFill>
            <a:srgbClr val="306998"/>
          </a:solidFill>
          <a:ln w="12700">
            <a:solidFill>
              <a:srgbClr val="306998"/>
            </a:solidFill>
            <a:prstDash val="solid"/>
          </a:ln>
        </p:spPr>
      </p:sp>
      <p:sp>
        <p:nvSpPr>
          <p:cNvPr id="15" name="tree1t|b2"/>
          <p:cNvSpPr txBox="1"/>
          <p:nvPr/>
        </p:nvSpPr>
        <p:spPr>
          <a:xfrm>
            <a:off x="1619794" y="1325880"/>
            <a:ext cx="103457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Result</a:t>
            </a:r>
            <a:endParaRPr lang="en-US" sz="1300" dirty="0"/>
          </a:p>
        </p:txBody>
      </p:sp>
      <p:sp>
        <p:nvSpPr>
          <p:cNvPr id="16" name="arrow|b2"/>
          <p:cNvSpPr/>
          <p:nvPr/>
        </p:nvSpPr>
        <p:spPr>
          <a:xfrm>
            <a:off x="2137083" y="1837944"/>
            <a:ext cx="0" cy="146304"/>
          </a:xfrm>
          <a:prstGeom prst="line">
            <a:avLst/>
          </a:prstGeom>
          <a:noFill/>
          <a:ln w="12700">
            <a:solidFill>
              <a:srgbClr val="9AA8B8"/>
            </a:solidFill>
            <a:prstDash val="solid"/>
          </a:ln>
        </p:spPr>
      </p:sp>
      <p:sp>
        <p:nvSpPr>
          <p:cNvPr id="17" name="tree2|b2"/>
          <p:cNvSpPr/>
          <p:nvPr/>
        </p:nvSpPr>
        <p:spPr>
          <a:xfrm>
            <a:off x="1610650" y="1984248"/>
            <a:ext cx="1052866" cy="475488"/>
          </a:xfrm>
          <a:prstGeom prst="roundRect">
            <a:avLst>
              <a:gd name="adj" fmla="val 11538"/>
            </a:avLst>
          </a:prstGeom>
          <a:solidFill>
            <a:srgbClr val="E3EEF8"/>
          </a:solidFill>
          <a:ln w="12700">
            <a:solidFill>
              <a:srgbClr val="306998"/>
            </a:solidFill>
            <a:prstDash val="solid"/>
          </a:ln>
        </p:spPr>
      </p:sp>
      <p:sp>
        <p:nvSpPr>
          <p:cNvPr id="18" name="tree2t|b2"/>
          <p:cNvSpPr txBox="1"/>
          <p:nvPr/>
        </p:nvSpPr>
        <p:spPr>
          <a:xfrm>
            <a:off x="1638082" y="1984248"/>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Return value  (3)</a:t>
            </a:r>
            <a:endParaRPr lang="en-US" sz="1100" dirty="0"/>
          </a:p>
        </p:txBody>
      </p:sp>
      <p:sp>
        <p:nvSpPr>
          <p:cNvPr id="19" name="arrow|b2"/>
          <p:cNvSpPr/>
          <p:nvPr/>
        </p:nvSpPr>
        <p:spPr>
          <a:xfrm>
            <a:off x="2137083" y="2459736"/>
            <a:ext cx="0" cy="109728"/>
          </a:xfrm>
          <a:prstGeom prst="line">
            <a:avLst/>
          </a:prstGeom>
          <a:noFill/>
          <a:ln w="12700">
            <a:solidFill>
              <a:srgbClr val="9AA8B8"/>
            </a:solidFill>
            <a:prstDash val="solid"/>
          </a:ln>
        </p:spPr>
      </p:sp>
      <p:sp>
        <p:nvSpPr>
          <p:cNvPr id="20" name="tree2|b2"/>
          <p:cNvSpPr/>
          <p:nvPr/>
        </p:nvSpPr>
        <p:spPr>
          <a:xfrm>
            <a:off x="1610650" y="2569464"/>
            <a:ext cx="1052866" cy="475488"/>
          </a:xfrm>
          <a:prstGeom prst="roundRect">
            <a:avLst>
              <a:gd name="adj" fmla="val 11538"/>
            </a:avLst>
          </a:prstGeom>
          <a:solidFill>
            <a:srgbClr val="E3EEF8"/>
          </a:solidFill>
          <a:ln w="12700">
            <a:solidFill>
              <a:srgbClr val="306998"/>
            </a:solidFill>
            <a:prstDash val="solid"/>
          </a:ln>
        </p:spPr>
      </p:sp>
      <p:sp>
        <p:nvSpPr>
          <p:cNvPr id="21" name="tree2t|b2"/>
          <p:cNvSpPr txBox="1"/>
          <p:nvPr/>
        </p:nvSpPr>
        <p:spPr>
          <a:xfrm>
            <a:off x="1638082" y="2569464"/>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NoneType  (2)</a:t>
            </a:r>
            <a:endParaRPr lang="en-US" sz="1100" dirty="0"/>
          </a:p>
        </p:txBody>
      </p:sp>
      <p:sp>
        <p:nvSpPr>
          <p:cNvPr id="22" name="tree1|b3"/>
          <p:cNvSpPr/>
          <p:nvPr/>
        </p:nvSpPr>
        <p:spPr>
          <a:xfrm>
            <a:off x="2800677" y="1325880"/>
            <a:ext cx="1107730" cy="512064"/>
          </a:xfrm>
          <a:prstGeom prst="roundRect">
            <a:avLst>
              <a:gd name="adj" fmla="val 14286"/>
            </a:avLst>
          </a:prstGeom>
          <a:solidFill>
            <a:srgbClr val="306998"/>
          </a:solidFill>
          <a:ln w="12700">
            <a:solidFill>
              <a:srgbClr val="306998"/>
            </a:solidFill>
            <a:prstDash val="solid"/>
          </a:ln>
        </p:spPr>
      </p:sp>
      <p:sp>
        <p:nvSpPr>
          <p:cNvPr id="23" name="tree1t|b3"/>
          <p:cNvSpPr txBox="1"/>
          <p:nvPr/>
        </p:nvSpPr>
        <p:spPr>
          <a:xfrm>
            <a:off x="2837253" y="1325880"/>
            <a:ext cx="1034578"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Frames and the call stack</a:t>
            </a:r>
            <a:endParaRPr lang="en-US" sz="1000" dirty="0"/>
          </a:p>
        </p:txBody>
      </p:sp>
      <p:sp>
        <p:nvSpPr>
          <p:cNvPr id="24" name="arrow|b3"/>
          <p:cNvSpPr/>
          <p:nvPr/>
        </p:nvSpPr>
        <p:spPr>
          <a:xfrm>
            <a:off x="3354542" y="1837944"/>
            <a:ext cx="0" cy="146304"/>
          </a:xfrm>
          <a:prstGeom prst="line">
            <a:avLst/>
          </a:prstGeom>
          <a:noFill/>
          <a:ln w="12700">
            <a:solidFill>
              <a:srgbClr val="9AA8B8"/>
            </a:solidFill>
            <a:prstDash val="solid"/>
          </a:ln>
        </p:spPr>
      </p:sp>
      <p:sp>
        <p:nvSpPr>
          <p:cNvPr id="25" name="tree2|b3"/>
          <p:cNvSpPr/>
          <p:nvPr/>
        </p:nvSpPr>
        <p:spPr>
          <a:xfrm>
            <a:off x="2828109" y="1984248"/>
            <a:ext cx="1052866" cy="475488"/>
          </a:xfrm>
          <a:prstGeom prst="roundRect">
            <a:avLst>
              <a:gd name="adj" fmla="val 11538"/>
            </a:avLst>
          </a:prstGeom>
          <a:solidFill>
            <a:srgbClr val="E3EEF8"/>
          </a:solidFill>
          <a:ln w="12700">
            <a:solidFill>
              <a:srgbClr val="306998"/>
            </a:solidFill>
            <a:prstDash val="solid"/>
          </a:ln>
        </p:spPr>
      </p:sp>
      <p:sp>
        <p:nvSpPr>
          <p:cNvPr id="26" name="tree2t|b3"/>
          <p:cNvSpPr txBox="1"/>
          <p:nvPr/>
        </p:nvSpPr>
        <p:spPr>
          <a:xfrm>
            <a:off x="2855541" y="1984248"/>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Call stack  (4)</a:t>
            </a:r>
            <a:endParaRPr lang="en-US" sz="1100" dirty="0"/>
          </a:p>
        </p:txBody>
      </p:sp>
      <p:sp>
        <p:nvSpPr>
          <p:cNvPr id="27" name="tree1|b4"/>
          <p:cNvSpPr/>
          <p:nvPr/>
        </p:nvSpPr>
        <p:spPr>
          <a:xfrm>
            <a:off x="4018135" y="1325880"/>
            <a:ext cx="1107730" cy="512064"/>
          </a:xfrm>
          <a:prstGeom prst="roundRect">
            <a:avLst>
              <a:gd name="adj" fmla="val 14286"/>
            </a:avLst>
          </a:prstGeom>
          <a:solidFill>
            <a:srgbClr val="306998"/>
          </a:solidFill>
          <a:ln w="12700">
            <a:solidFill>
              <a:srgbClr val="306998"/>
            </a:solidFill>
            <a:prstDash val="solid"/>
          </a:ln>
        </p:spPr>
      </p:sp>
      <p:sp>
        <p:nvSpPr>
          <p:cNvPr id="28" name="tree1t|b4"/>
          <p:cNvSpPr txBox="1"/>
          <p:nvPr/>
        </p:nvSpPr>
        <p:spPr>
          <a:xfrm>
            <a:off x="4054711" y="1325880"/>
            <a:ext cx="103457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Scope</a:t>
            </a:r>
            <a:endParaRPr lang="en-US" sz="1300" dirty="0"/>
          </a:p>
        </p:txBody>
      </p:sp>
      <p:sp>
        <p:nvSpPr>
          <p:cNvPr id="29" name="arrow|b4"/>
          <p:cNvSpPr/>
          <p:nvPr/>
        </p:nvSpPr>
        <p:spPr>
          <a:xfrm>
            <a:off x="4572000" y="1837944"/>
            <a:ext cx="0" cy="146304"/>
          </a:xfrm>
          <a:prstGeom prst="line">
            <a:avLst/>
          </a:prstGeom>
          <a:noFill/>
          <a:ln w="12700">
            <a:solidFill>
              <a:srgbClr val="9AA8B8"/>
            </a:solidFill>
            <a:prstDash val="solid"/>
          </a:ln>
        </p:spPr>
      </p:sp>
      <p:sp>
        <p:nvSpPr>
          <p:cNvPr id="30" name="tree2|b4"/>
          <p:cNvSpPr/>
          <p:nvPr/>
        </p:nvSpPr>
        <p:spPr>
          <a:xfrm>
            <a:off x="4045567" y="1984248"/>
            <a:ext cx="1052866" cy="475488"/>
          </a:xfrm>
          <a:prstGeom prst="roundRect">
            <a:avLst>
              <a:gd name="adj" fmla="val 11538"/>
            </a:avLst>
          </a:prstGeom>
          <a:solidFill>
            <a:srgbClr val="E3EEF8"/>
          </a:solidFill>
          <a:ln w="12700">
            <a:solidFill>
              <a:srgbClr val="306998"/>
            </a:solidFill>
            <a:prstDash val="solid"/>
          </a:ln>
        </p:spPr>
      </p:sp>
      <p:sp>
        <p:nvSpPr>
          <p:cNvPr id="31" name="tree2t|b4"/>
          <p:cNvSpPr txBox="1"/>
          <p:nvPr/>
        </p:nvSpPr>
        <p:spPr>
          <a:xfrm>
            <a:off x="4072999" y="1984248"/>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Namespaces  (5)</a:t>
            </a:r>
            <a:endParaRPr lang="en-US" sz="1100" dirty="0"/>
          </a:p>
        </p:txBody>
      </p:sp>
      <p:sp>
        <p:nvSpPr>
          <p:cNvPr id="32" name="arrow|b4"/>
          <p:cNvSpPr/>
          <p:nvPr/>
        </p:nvSpPr>
        <p:spPr>
          <a:xfrm>
            <a:off x="4572000" y="2459736"/>
            <a:ext cx="0" cy="109728"/>
          </a:xfrm>
          <a:prstGeom prst="line">
            <a:avLst/>
          </a:prstGeom>
          <a:noFill/>
          <a:ln w="12700">
            <a:solidFill>
              <a:srgbClr val="9AA8B8"/>
            </a:solidFill>
            <a:prstDash val="solid"/>
          </a:ln>
        </p:spPr>
      </p:sp>
      <p:sp>
        <p:nvSpPr>
          <p:cNvPr id="33" name="tree2|b4"/>
          <p:cNvSpPr/>
          <p:nvPr/>
        </p:nvSpPr>
        <p:spPr>
          <a:xfrm>
            <a:off x="4045567" y="2569464"/>
            <a:ext cx="1052866" cy="475488"/>
          </a:xfrm>
          <a:prstGeom prst="roundRect">
            <a:avLst>
              <a:gd name="adj" fmla="val 11538"/>
            </a:avLst>
          </a:prstGeom>
          <a:solidFill>
            <a:srgbClr val="E3EEF8"/>
          </a:solidFill>
          <a:ln w="12700">
            <a:solidFill>
              <a:srgbClr val="306998"/>
            </a:solidFill>
            <a:prstDash val="solid"/>
          </a:ln>
        </p:spPr>
      </p:sp>
      <p:sp>
        <p:nvSpPr>
          <p:cNvPr id="34" name="tree2t|b4"/>
          <p:cNvSpPr txBox="1"/>
          <p:nvPr/>
        </p:nvSpPr>
        <p:spPr>
          <a:xfrm>
            <a:off x="4072999" y="2569464"/>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Scope rules  (9)</a:t>
            </a:r>
            <a:endParaRPr lang="en-US" sz="1100" dirty="0"/>
          </a:p>
        </p:txBody>
      </p:sp>
      <p:sp>
        <p:nvSpPr>
          <p:cNvPr id="35" name="tree1|b5"/>
          <p:cNvSpPr/>
          <p:nvPr/>
        </p:nvSpPr>
        <p:spPr>
          <a:xfrm>
            <a:off x="5235593" y="1325880"/>
            <a:ext cx="1107730" cy="512064"/>
          </a:xfrm>
          <a:prstGeom prst="roundRect">
            <a:avLst>
              <a:gd name="adj" fmla="val 14286"/>
            </a:avLst>
          </a:prstGeom>
          <a:solidFill>
            <a:srgbClr val="306998"/>
          </a:solidFill>
          <a:ln w="12700">
            <a:solidFill>
              <a:srgbClr val="306998"/>
            </a:solidFill>
            <a:prstDash val="solid"/>
          </a:ln>
        </p:spPr>
      </p:sp>
      <p:sp>
        <p:nvSpPr>
          <p:cNvPr id="36" name="tree1t|b5"/>
          <p:cNvSpPr txBox="1"/>
          <p:nvPr/>
        </p:nvSpPr>
        <p:spPr>
          <a:xfrm>
            <a:off x="5272169" y="1325880"/>
            <a:ext cx="103457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Error handling</a:t>
            </a:r>
            <a:endParaRPr lang="en-US" sz="1300" dirty="0"/>
          </a:p>
        </p:txBody>
      </p:sp>
      <p:sp>
        <p:nvSpPr>
          <p:cNvPr id="37" name="arrow|b5"/>
          <p:cNvSpPr/>
          <p:nvPr/>
        </p:nvSpPr>
        <p:spPr>
          <a:xfrm>
            <a:off x="5789458" y="1837944"/>
            <a:ext cx="0" cy="146304"/>
          </a:xfrm>
          <a:prstGeom prst="line">
            <a:avLst/>
          </a:prstGeom>
          <a:noFill/>
          <a:ln w="12700">
            <a:solidFill>
              <a:srgbClr val="9AA8B8"/>
            </a:solidFill>
            <a:prstDash val="solid"/>
          </a:ln>
        </p:spPr>
      </p:sp>
      <p:sp>
        <p:nvSpPr>
          <p:cNvPr id="38" name="tree2|b5"/>
          <p:cNvSpPr/>
          <p:nvPr/>
        </p:nvSpPr>
        <p:spPr>
          <a:xfrm>
            <a:off x="5263025" y="1984248"/>
            <a:ext cx="1052866" cy="475488"/>
          </a:xfrm>
          <a:prstGeom prst="roundRect">
            <a:avLst>
              <a:gd name="adj" fmla="val 11538"/>
            </a:avLst>
          </a:prstGeom>
          <a:solidFill>
            <a:srgbClr val="E3EEF8"/>
          </a:solidFill>
          <a:ln w="12700">
            <a:solidFill>
              <a:srgbClr val="306998"/>
            </a:solidFill>
            <a:prstDash val="solid"/>
          </a:ln>
        </p:spPr>
      </p:sp>
      <p:sp>
        <p:nvSpPr>
          <p:cNvPr id="39" name="tree2t|b5"/>
          <p:cNvSpPr txBox="1"/>
          <p:nvPr/>
        </p:nvSpPr>
        <p:spPr>
          <a:xfrm>
            <a:off x="5290457" y="1984248"/>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Exceptions  (7)</a:t>
            </a:r>
            <a:endParaRPr lang="en-US" sz="1100" dirty="0"/>
          </a:p>
        </p:txBody>
      </p:sp>
      <p:sp>
        <p:nvSpPr>
          <p:cNvPr id="40" name="tree1|b6"/>
          <p:cNvSpPr/>
          <p:nvPr/>
        </p:nvSpPr>
        <p:spPr>
          <a:xfrm>
            <a:off x="6453051" y="1325880"/>
            <a:ext cx="1107730" cy="512064"/>
          </a:xfrm>
          <a:prstGeom prst="roundRect">
            <a:avLst>
              <a:gd name="adj" fmla="val 14286"/>
            </a:avLst>
          </a:prstGeom>
          <a:solidFill>
            <a:srgbClr val="306998"/>
          </a:solidFill>
          <a:ln w="12700">
            <a:solidFill>
              <a:srgbClr val="306998"/>
            </a:solidFill>
            <a:prstDash val="solid"/>
          </a:ln>
        </p:spPr>
      </p:sp>
      <p:sp>
        <p:nvSpPr>
          <p:cNvPr id="41" name="tree1t|b6"/>
          <p:cNvSpPr txBox="1"/>
          <p:nvPr/>
        </p:nvSpPr>
        <p:spPr>
          <a:xfrm>
            <a:off x="6489627" y="1325880"/>
            <a:ext cx="103457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Short programs</a:t>
            </a:r>
            <a:endParaRPr lang="en-US" sz="1300" dirty="0"/>
          </a:p>
        </p:txBody>
      </p:sp>
      <p:sp>
        <p:nvSpPr>
          <p:cNvPr id="42" name="arrow|b6"/>
          <p:cNvSpPr/>
          <p:nvPr/>
        </p:nvSpPr>
        <p:spPr>
          <a:xfrm>
            <a:off x="7006917" y="1837944"/>
            <a:ext cx="0" cy="146304"/>
          </a:xfrm>
          <a:prstGeom prst="line">
            <a:avLst/>
          </a:prstGeom>
          <a:noFill/>
          <a:ln w="12700">
            <a:solidFill>
              <a:srgbClr val="9AA8B8"/>
            </a:solidFill>
            <a:prstDash val="solid"/>
          </a:ln>
        </p:spPr>
      </p:sp>
      <p:sp>
        <p:nvSpPr>
          <p:cNvPr id="43" name="tree2|b6"/>
          <p:cNvSpPr/>
          <p:nvPr/>
        </p:nvSpPr>
        <p:spPr>
          <a:xfrm>
            <a:off x="6480483" y="1984248"/>
            <a:ext cx="1052866" cy="475488"/>
          </a:xfrm>
          <a:prstGeom prst="roundRect">
            <a:avLst>
              <a:gd name="adj" fmla="val 11538"/>
            </a:avLst>
          </a:prstGeom>
          <a:solidFill>
            <a:srgbClr val="E3EEF8"/>
          </a:solidFill>
          <a:ln w="12700">
            <a:solidFill>
              <a:srgbClr val="306998"/>
            </a:solidFill>
            <a:prstDash val="solid"/>
          </a:ln>
        </p:spPr>
      </p:sp>
      <p:sp>
        <p:nvSpPr>
          <p:cNvPr id="44" name="tree2t|b6"/>
          <p:cNvSpPr txBox="1"/>
          <p:nvPr/>
        </p:nvSpPr>
        <p:spPr>
          <a:xfrm>
            <a:off x="6507915" y="1984248"/>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Animation programs  (5)</a:t>
            </a:r>
            <a:endParaRPr lang="en-US" sz="1100" dirty="0"/>
          </a:p>
        </p:txBody>
      </p:sp>
      <p:sp>
        <p:nvSpPr>
          <p:cNvPr id="45" name="arrow|b6"/>
          <p:cNvSpPr/>
          <p:nvPr/>
        </p:nvSpPr>
        <p:spPr>
          <a:xfrm>
            <a:off x="7006917" y="2459736"/>
            <a:ext cx="0" cy="109728"/>
          </a:xfrm>
          <a:prstGeom prst="line">
            <a:avLst/>
          </a:prstGeom>
          <a:noFill/>
          <a:ln w="12700">
            <a:solidFill>
              <a:srgbClr val="9AA8B8"/>
            </a:solidFill>
            <a:prstDash val="solid"/>
          </a:ln>
        </p:spPr>
      </p:sp>
      <p:sp>
        <p:nvSpPr>
          <p:cNvPr id="46" name="tree2|b6"/>
          <p:cNvSpPr/>
          <p:nvPr/>
        </p:nvSpPr>
        <p:spPr>
          <a:xfrm>
            <a:off x="6480483" y="2569464"/>
            <a:ext cx="1052866" cy="475488"/>
          </a:xfrm>
          <a:prstGeom prst="roundRect">
            <a:avLst>
              <a:gd name="adj" fmla="val 11538"/>
            </a:avLst>
          </a:prstGeom>
          <a:solidFill>
            <a:srgbClr val="E3EEF8"/>
          </a:solidFill>
          <a:ln w="12700">
            <a:solidFill>
              <a:srgbClr val="306998"/>
            </a:solidFill>
            <a:prstDash val="solid"/>
          </a:ln>
        </p:spPr>
      </p:sp>
      <p:sp>
        <p:nvSpPr>
          <p:cNvPr id="47" name="tree2t|b6"/>
          <p:cNvSpPr txBox="1"/>
          <p:nvPr/>
        </p:nvSpPr>
        <p:spPr>
          <a:xfrm>
            <a:off x="6507915" y="2569464"/>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Practice programs  (2)</a:t>
            </a:r>
            <a:endParaRPr lang="en-US" sz="1100" dirty="0"/>
          </a:p>
        </p:txBody>
      </p:sp>
      <p:sp>
        <p:nvSpPr>
          <p:cNvPr id="48" name="tree1|b7"/>
          <p:cNvSpPr/>
          <p:nvPr/>
        </p:nvSpPr>
        <p:spPr>
          <a:xfrm>
            <a:off x="7670510" y="1325880"/>
            <a:ext cx="1107730" cy="512064"/>
          </a:xfrm>
          <a:prstGeom prst="roundRect">
            <a:avLst>
              <a:gd name="adj" fmla="val 14286"/>
            </a:avLst>
          </a:prstGeom>
          <a:solidFill>
            <a:srgbClr val="306998"/>
          </a:solidFill>
          <a:ln w="12700">
            <a:solidFill>
              <a:srgbClr val="306998"/>
            </a:solidFill>
            <a:prstDash val="solid"/>
          </a:ln>
        </p:spPr>
      </p:sp>
      <p:sp>
        <p:nvSpPr>
          <p:cNvPr id="49" name="tree1t|b7"/>
          <p:cNvSpPr txBox="1"/>
          <p:nvPr/>
        </p:nvSpPr>
        <p:spPr>
          <a:xfrm>
            <a:off x="7707086" y="1325880"/>
            <a:ext cx="1034578"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Modern practice</a:t>
            </a:r>
            <a:endParaRPr lang="en-US" sz="1300" dirty="0"/>
          </a:p>
        </p:txBody>
      </p:sp>
      <p:sp>
        <p:nvSpPr>
          <p:cNvPr id="50" name="arrow|b7"/>
          <p:cNvSpPr/>
          <p:nvPr/>
        </p:nvSpPr>
        <p:spPr>
          <a:xfrm>
            <a:off x="8224375" y="1837944"/>
            <a:ext cx="0" cy="146304"/>
          </a:xfrm>
          <a:prstGeom prst="line">
            <a:avLst/>
          </a:prstGeom>
          <a:noFill/>
          <a:ln w="12700">
            <a:solidFill>
              <a:srgbClr val="9AA8B8"/>
            </a:solidFill>
            <a:prstDash val="solid"/>
          </a:ln>
        </p:spPr>
      </p:sp>
      <p:sp>
        <p:nvSpPr>
          <p:cNvPr id="51" name="tree2|b7"/>
          <p:cNvSpPr/>
          <p:nvPr/>
        </p:nvSpPr>
        <p:spPr>
          <a:xfrm>
            <a:off x="7697942" y="1984248"/>
            <a:ext cx="1052866" cy="475488"/>
          </a:xfrm>
          <a:prstGeom prst="roundRect">
            <a:avLst>
              <a:gd name="adj" fmla="val 11538"/>
            </a:avLst>
          </a:prstGeom>
          <a:solidFill>
            <a:srgbClr val="E3EEF8"/>
          </a:solidFill>
          <a:ln w="12700">
            <a:solidFill>
              <a:srgbClr val="306998"/>
            </a:solidFill>
            <a:prstDash val="solid"/>
          </a:ln>
        </p:spPr>
      </p:sp>
      <p:sp>
        <p:nvSpPr>
          <p:cNvPr id="52" name="tree2t|b7"/>
          <p:cNvSpPr txBox="1"/>
          <p:nvPr/>
        </p:nvSpPr>
        <p:spPr>
          <a:xfrm>
            <a:off x="7725374" y="1984248"/>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Annotations  (2)</a:t>
            </a:r>
            <a:endParaRPr lang="en-US" sz="1100" dirty="0"/>
          </a:p>
        </p:txBody>
      </p:sp>
      <p:sp>
        <p:nvSpPr>
          <p:cNvPr id="53" name="arrow|b7"/>
          <p:cNvSpPr/>
          <p:nvPr/>
        </p:nvSpPr>
        <p:spPr>
          <a:xfrm>
            <a:off x="8224375" y="2459736"/>
            <a:ext cx="0" cy="109728"/>
          </a:xfrm>
          <a:prstGeom prst="line">
            <a:avLst/>
          </a:prstGeom>
          <a:noFill/>
          <a:ln w="12700">
            <a:solidFill>
              <a:srgbClr val="9AA8B8"/>
            </a:solidFill>
            <a:prstDash val="solid"/>
          </a:ln>
        </p:spPr>
      </p:sp>
      <p:sp>
        <p:nvSpPr>
          <p:cNvPr id="54" name="tree2|b7"/>
          <p:cNvSpPr/>
          <p:nvPr/>
        </p:nvSpPr>
        <p:spPr>
          <a:xfrm>
            <a:off x="7697942" y="2569464"/>
            <a:ext cx="1052866" cy="475488"/>
          </a:xfrm>
          <a:prstGeom prst="roundRect">
            <a:avLst>
              <a:gd name="adj" fmla="val 11538"/>
            </a:avLst>
          </a:prstGeom>
          <a:solidFill>
            <a:srgbClr val="E3EEF8"/>
          </a:solidFill>
          <a:ln w="12700">
            <a:solidFill>
              <a:srgbClr val="306998"/>
            </a:solidFill>
            <a:prstDash val="solid"/>
          </a:ln>
        </p:spPr>
      </p:sp>
      <p:sp>
        <p:nvSpPr>
          <p:cNvPr id="55" name="tree2t|b7"/>
          <p:cNvSpPr txBox="1"/>
          <p:nvPr/>
        </p:nvSpPr>
        <p:spPr>
          <a:xfrm>
            <a:off x="7725374" y="2569464"/>
            <a:ext cx="998002" cy="475488"/>
          </a:xfrm>
          <a:prstGeom prst="rect">
            <a:avLst/>
          </a:prstGeom>
          <a:noFill/>
          <a:ln/>
        </p:spPr>
        <p:txBody>
          <a:bodyPr wrap="square" lIns="0" tIns="0" rIns="0" bIns="0" rtlCol="0" anchor="ctr"/>
          <a:lstStyle/>
          <a:p>
            <a:pPr algn="ctr" indent="0" marL="0">
              <a:buNone/>
            </a:pPr>
            <a:r>
              <a:rPr lang="en-US" sz="1100" b="1" dirty="0">
                <a:solidFill>
                  <a:srgbClr val="1E2A3A"/>
                </a:solidFill>
                <a:latin typeface="Calibri" pitchFamily="34" charset="0"/>
                <a:ea typeface="Calibri" pitchFamily="34" charset="-122"/>
                <a:cs typeface="Calibri" pitchFamily="34" charset="-120"/>
              </a:rPr>
              <a:t>Style  (3)</a:t>
            </a:r>
            <a:endParaRPr lang="en-US" sz="1100" dirty="0"/>
          </a:p>
        </p:txBody>
      </p:sp>
      <p:sp>
        <p:nvSpPr>
          <p:cNvPr id="56"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sen0414_ch04_corpus_v1_0_0.py, the same taxonomy the chapter page draws</a:t>
            </a:r>
            <a:endParaRPr lang="en-US" sz="950" dirty="0"/>
          </a:p>
        </p:txBody>
      </p:sp>
      <p:sp>
        <p:nvSpPr>
          <p:cNvPr id="57"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childTnLst>
                          </p:cTn>
                        </p:par>
                      </p:childTnLst>
                    </p:cTn>
                  </p:par>
                  <p:par>
                    <p:cTn id="70" fill="hold">
                      <p:stCondLst>
                        <p:cond delay="indefinite"/>
                      </p:stCondLst>
                      <p:childTnLst>
                        <p:par>
                          <p:cTn id="71"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6" fill="hold">
                      <p:stCondLst>
                        <p:cond delay="indefinite"/>
                      </p:stCondLst>
                      <p:childTnLst>
                        <p:par>
                          <p:cTn id="97"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par>
                                <p:cTn id="90" presetID="10" presetClass="entr" presetSubtype="0" fill="hold"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00"/>
                                        <p:tgtEl>
                                          <p:spTgt spid="3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400"/>
                                        <p:tgtEl>
                                          <p:spTgt spid="34"/>
                                        </p:tgtEl>
                                      </p:cBhvr>
                                    </p:animEffect>
                                  </p:childTnLst>
                                </p:cTn>
                              </p:par>
                            </p:childTnLst>
                          </p:cTn>
                        </p:par>
                      </p:childTnLst>
                    </p:cTn>
                  </p:par>
                  <p:par>
                    <p:cTn id="113" fill="hold">
                      <p:stCondLst>
                        <p:cond delay="indefinite"/>
                      </p:stCondLst>
                      <p:childTnLst>
                        <p:par>
                          <p:cTn id="114"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0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00"/>
                                        <p:tgtEl>
                                          <p:spTgt spid="36"/>
                                        </p:tgtEl>
                                      </p:cBhvr>
                                    </p:animEffect>
                                  </p:childTnLst>
                                </p:cTn>
                              </p:par>
                              <p:par>
                                <p:cTn id="104" presetID="10" presetClass="entr" presetSubtype="0" fill="hold"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00"/>
                                        <p:tgtEl>
                                          <p:spTgt spid="37"/>
                                        </p:tgtEl>
                                      </p:cBhvr>
                                    </p:animEffect>
                                  </p:childTnLst>
                                </p:cTn>
                              </p:par>
                              <p:par>
                                <p:cTn id="107" presetID="10" presetClass="entr" presetSubtype="0" fill="hold"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400"/>
                                        <p:tgtEl>
                                          <p:spTgt spid="3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400"/>
                                        <p:tgtEl>
                                          <p:spTgt spid="39"/>
                                        </p:tgtEl>
                                      </p:cBhvr>
                                    </p:animEffect>
                                  </p:childTnLst>
                                </p:cTn>
                              </p:par>
                            </p:childTnLst>
                          </p:cTn>
                        </p:par>
                      </p:childTnLst>
                    </p:cTn>
                  </p:par>
                  <p:par>
                    <p:cTn id="139" fill="hold">
                      <p:stCondLst>
                        <p:cond delay="indefinite"/>
                      </p:stCondLst>
                      <p:childTnLst>
                        <p:par>
                          <p:cTn id="140"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400"/>
                                        <p:tgtEl>
                                          <p:spTgt spid="41"/>
                                        </p:tgtEl>
                                      </p:cBhvr>
                                    </p:animEffect>
                                  </p:childTnLst>
                                </p:cTn>
                              </p:par>
                              <p:par>
                                <p:cTn id="121" presetID="10" presetClass="entr" presetSubtype="0" fill="hold" nodeType="with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400"/>
                                        <p:tgtEl>
                                          <p:spTgt spid="42"/>
                                        </p:tgtEl>
                                      </p:cBhvr>
                                    </p:animEffect>
                                  </p:childTnLst>
                                </p:cTn>
                              </p:par>
                              <p:par>
                                <p:cTn id="124" presetID="10" presetClass="entr" presetSubtype="0" fill="hold" nodeType="with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400"/>
                                        <p:tgtEl>
                                          <p:spTgt spid="43"/>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400"/>
                                        <p:tgtEl>
                                          <p:spTgt spid="44"/>
                                        </p:tgtEl>
                                      </p:cBhvr>
                                    </p:animEffect>
                                  </p:childTnLst>
                                </p:cTn>
                              </p:par>
                              <p:par>
                                <p:cTn id="130" presetID="10" presetClass="entr" presetSubtype="0" fill="hold" nodeType="with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400"/>
                                        <p:tgtEl>
                                          <p:spTgt spid="45"/>
                                        </p:tgtEl>
                                      </p:cBhvr>
                                    </p:animEffect>
                                  </p:childTnLst>
                                </p:cTn>
                              </p:par>
                              <p:par>
                                <p:cTn id="133" presetID="10" presetClass="entr" presetSubtype="0" fill="hold" nodeType="withEffect">
                                  <p:stCondLst>
                                    <p:cond delay="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400"/>
                                        <p:tgtEl>
                                          <p:spTgt spid="46"/>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400"/>
                                        <p:tgtEl>
                                          <p:spTgt spid="47"/>
                                        </p:tgtEl>
                                      </p:cBhvr>
                                    </p:animEffect>
                                  </p:childTnLst>
                                </p:cTn>
                              </p:par>
                            </p:childTnLst>
                          </p:cTn>
                        </p:par>
                      </p:childTnLst>
                    </p:cTn>
                  </p:par>
                  <p:par>
                    <p:cTn id="165" fill="hold">
                      <p:stCondLst>
                        <p:cond delay="indefinite"/>
                      </p:stCondLst>
                      <p:childTnLst>
                        <p:par>
                          <p:cTn id="166"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48"/>
                                        </p:tgtEl>
                                        <p:attrNameLst>
                                          <p:attrName>style.visibility</p:attrName>
                                        </p:attrNameLst>
                                      </p:cBhvr>
                                      <p:to>
                                        <p:strVal val="visible"/>
                                      </p:to>
                                    </p:set>
                                    <p:animEffect transition="in" filter="fade">
                                      <p:cBhvr>
                                        <p:cTn id="143" dur="400"/>
                                        <p:tgtEl>
                                          <p:spTgt spid="48"/>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9"/>
                                        </p:tgtEl>
                                        <p:attrNameLst>
                                          <p:attrName>style.visibility</p:attrName>
                                        </p:attrNameLst>
                                      </p:cBhvr>
                                      <p:to>
                                        <p:strVal val="visible"/>
                                      </p:to>
                                    </p:set>
                                    <p:animEffect transition="in" filter="fade">
                                      <p:cBhvr>
                                        <p:cTn id="146" dur="400"/>
                                        <p:tgtEl>
                                          <p:spTgt spid="49"/>
                                        </p:tgtEl>
                                      </p:cBhvr>
                                    </p:animEffect>
                                  </p:childTnLst>
                                </p:cTn>
                              </p:par>
                              <p:par>
                                <p:cTn id="147" presetID="10" presetClass="entr" presetSubtype="0" fill="hold" nodeType="withEffect">
                                  <p:stCondLst>
                                    <p:cond delay="0"/>
                                  </p:stCondLst>
                                  <p:childTnLst>
                                    <p:set>
                                      <p:cBhvr>
                                        <p:cTn id="148" dur="1" fill="hold">
                                          <p:stCondLst>
                                            <p:cond delay="0"/>
                                          </p:stCondLst>
                                        </p:cTn>
                                        <p:tgtEl>
                                          <p:spTgt spid="50"/>
                                        </p:tgtEl>
                                        <p:attrNameLst>
                                          <p:attrName>style.visibility</p:attrName>
                                        </p:attrNameLst>
                                      </p:cBhvr>
                                      <p:to>
                                        <p:strVal val="visible"/>
                                      </p:to>
                                    </p:set>
                                    <p:animEffect transition="in" filter="fade">
                                      <p:cBhvr>
                                        <p:cTn id="149" dur="400"/>
                                        <p:tgtEl>
                                          <p:spTgt spid="50"/>
                                        </p:tgtEl>
                                      </p:cBhvr>
                                    </p:animEffect>
                                  </p:childTnLst>
                                </p:cTn>
                              </p:par>
                              <p:par>
                                <p:cTn id="150" presetID="10" presetClass="entr" presetSubtype="0" fill="hold" nodeType="withEffect">
                                  <p:stCondLst>
                                    <p:cond delay="0"/>
                                  </p:stCondLst>
                                  <p:childTnLst>
                                    <p:set>
                                      <p:cBhvr>
                                        <p:cTn id="151" dur="1" fill="hold">
                                          <p:stCondLst>
                                            <p:cond delay="0"/>
                                          </p:stCondLst>
                                        </p:cTn>
                                        <p:tgtEl>
                                          <p:spTgt spid="51"/>
                                        </p:tgtEl>
                                        <p:attrNameLst>
                                          <p:attrName>style.visibility</p:attrName>
                                        </p:attrNameLst>
                                      </p:cBhvr>
                                      <p:to>
                                        <p:strVal val="visible"/>
                                      </p:to>
                                    </p:set>
                                    <p:animEffect transition="in" filter="fade">
                                      <p:cBhvr>
                                        <p:cTn id="152" dur="400"/>
                                        <p:tgtEl>
                                          <p:spTgt spid="51"/>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2"/>
                                        </p:tgtEl>
                                        <p:attrNameLst>
                                          <p:attrName>style.visibility</p:attrName>
                                        </p:attrNameLst>
                                      </p:cBhvr>
                                      <p:to>
                                        <p:strVal val="visible"/>
                                      </p:to>
                                    </p:set>
                                    <p:animEffect transition="in" filter="fade">
                                      <p:cBhvr>
                                        <p:cTn id="155" dur="400"/>
                                        <p:tgtEl>
                                          <p:spTgt spid="52"/>
                                        </p:tgtEl>
                                      </p:cBhvr>
                                    </p:animEffect>
                                  </p:childTnLst>
                                </p:cTn>
                              </p:par>
                              <p:par>
                                <p:cTn id="156" presetID="10" presetClass="entr" presetSubtype="0" fill="hold" nodeType="withEffect">
                                  <p:stCondLst>
                                    <p:cond delay="0"/>
                                  </p:stCondLst>
                                  <p:childTnLst>
                                    <p:set>
                                      <p:cBhvr>
                                        <p:cTn id="157" dur="1" fill="hold">
                                          <p:stCondLst>
                                            <p:cond delay="0"/>
                                          </p:stCondLst>
                                        </p:cTn>
                                        <p:tgtEl>
                                          <p:spTgt spid="53"/>
                                        </p:tgtEl>
                                        <p:attrNameLst>
                                          <p:attrName>style.visibility</p:attrName>
                                        </p:attrNameLst>
                                      </p:cBhvr>
                                      <p:to>
                                        <p:strVal val="visible"/>
                                      </p:to>
                                    </p:set>
                                    <p:animEffect transition="in" filter="fade">
                                      <p:cBhvr>
                                        <p:cTn id="158" dur="400"/>
                                        <p:tgtEl>
                                          <p:spTgt spid="53"/>
                                        </p:tgtEl>
                                      </p:cBhvr>
                                    </p:animEffect>
                                  </p:childTnLst>
                                </p:cTn>
                              </p:par>
                              <p:par>
                                <p:cTn id="159" presetID="10" presetClass="entr" presetSubtype="0" fill="hold" nodeType="withEffect">
                                  <p:stCondLst>
                                    <p:cond delay="0"/>
                                  </p:stCondLst>
                                  <p:childTnLst>
                                    <p:set>
                                      <p:cBhvr>
                                        <p:cTn id="160" dur="1" fill="hold">
                                          <p:stCondLst>
                                            <p:cond delay="0"/>
                                          </p:stCondLst>
                                        </p:cTn>
                                        <p:tgtEl>
                                          <p:spTgt spid="54"/>
                                        </p:tgtEl>
                                        <p:attrNameLst>
                                          <p:attrName>style.visibility</p:attrName>
                                        </p:attrNameLst>
                                      </p:cBhvr>
                                      <p:to>
                                        <p:strVal val="visible"/>
                                      </p:to>
                                    </p:set>
                                    <p:animEffect transition="in" filter="fade">
                                      <p:cBhvr>
                                        <p:cTn id="161" dur="400"/>
                                        <p:tgtEl>
                                          <p:spTgt spid="54"/>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5"/>
                                        </p:tgtEl>
                                        <p:attrNameLst>
                                          <p:attrName>style.visibility</p:attrName>
                                        </p:attrNameLst>
                                      </p:cBhvr>
                                      <p:to>
                                        <p:strVal val="visible"/>
                                      </p:to>
                                    </p:set>
                                    <p:animEffect transition="in" filter="fade">
                                      <p:cBhvr>
                                        <p:cTn id="164"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15" grpId="0" animBg="1"/>
      <p:bldP spid="18" grpId="0" animBg="1"/>
      <p:bldP spid="21" grpId="0" animBg="1"/>
      <p:bldP spid="23" grpId="0" animBg="1"/>
      <p:bldP spid="26" grpId="0" animBg="1"/>
      <p:bldP spid="28" grpId="0" animBg="1"/>
      <p:bldP spid="31" grpId="0" animBg="1"/>
      <p:bldP spid="34" grpId="0" animBg="1"/>
      <p:bldP spid="36" grpId="0" animBg="1"/>
      <p:bldP spid="39" grpId="0" animBg="1"/>
      <p:bldP spid="41" grpId="0" animBg="1"/>
      <p:bldP spid="44" grpId="0" animBg="1"/>
      <p:bldP spid="47" grpId="0" animBg="1"/>
      <p:bldP spid="49" grpId="0" animBg="1"/>
      <p:bldP spid="52" grpId="0" animBg="1"/>
      <p:bldP spid="5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Function</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A function is a named piece of code that a program can run whenever it needs that work done, from as many places as it likes.</a:t>
            </a:r>
            <a:endParaRPr lang="en-US" sz="1150" dirty="0"/>
          </a:p>
        </p:txBody>
      </p:sp>
      <p:sp>
        <p:nvSpPr>
          <p:cNvPr id="4" name="br1|b1"/>
          <p:cNvSpPr/>
          <p:nvPr/>
        </p:nvSpPr>
        <p:spPr>
          <a:xfrm>
            <a:off x="457200" y="1828800"/>
            <a:ext cx="4050792"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Definition</a:t>
            </a:r>
            <a:endParaRPr lang="en-US" sz="1400" dirty="0"/>
          </a:p>
        </p:txBody>
      </p:sp>
      <p:sp>
        <p:nvSpPr>
          <p:cNvPr id="6" name="br2|b1"/>
          <p:cNvSpPr/>
          <p:nvPr/>
        </p:nvSpPr>
        <p:spPr>
          <a:xfrm>
            <a:off x="457200" y="2359152"/>
            <a:ext cx="4050792"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Def statement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Function body</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Function object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Reserved keyword</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Lambda expression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Nested function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Function call</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Module function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Deduplication</a:t>
            </a:r>
            <a:endParaRPr lang="en-US" sz="1200" dirty="0"/>
          </a:p>
        </p:txBody>
      </p:sp>
      <p:sp>
        <p:nvSpPr>
          <p:cNvPr id="8" name="br1|b2"/>
          <p:cNvSpPr/>
          <p:nvPr/>
        </p:nvSpPr>
        <p:spPr>
          <a:xfrm>
            <a:off x="4636008" y="1828800"/>
            <a:ext cx="4050792" cy="457200"/>
          </a:xfrm>
          <a:prstGeom prst="roundRect">
            <a:avLst>
              <a:gd name="adj" fmla="val 16000"/>
            </a:avLst>
          </a:prstGeom>
          <a:solidFill>
            <a:srgbClr val="FFD43B"/>
          </a:solidFill>
          <a:ln w="12700">
            <a:solidFill>
              <a:srgbClr val="FFD43B"/>
            </a:solidFill>
            <a:prstDash val="solid"/>
          </a:ln>
        </p:spPr>
      </p:sp>
      <p:sp>
        <p:nvSpPr>
          <p:cNvPr id="9" name="br1t|b2"/>
          <p:cNvSpPr txBox="1"/>
          <p:nvPr/>
        </p:nvSpPr>
        <p:spPr>
          <a:xfrm>
            <a:off x="4672584"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Parameters</a:t>
            </a:r>
            <a:endParaRPr lang="en-US" sz="1400" dirty="0"/>
          </a:p>
        </p:txBody>
      </p:sp>
      <p:sp>
        <p:nvSpPr>
          <p:cNvPr id="10" name="br2|b2"/>
          <p:cNvSpPr/>
          <p:nvPr/>
        </p:nvSpPr>
        <p:spPr>
          <a:xfrm>
            <a:off x="4636008" y="2359152"/>
            <a:ext cx="4050792" cy="2121408"/>
          </a:xfrm>
          <a:prstGeom prst="roundRect">
            <a:avLst>
              <a:gd name="adj" fmla="val 3448"/>
            </a:avLst>
          </a:prstGeom>
          <a:solidFill>
            <a:srgbClr val="27374B"/>
          </a:solidFill>
          <a:ln w="12700">
            <a:solidFill>
              <a:srgbClr val="3B5B87"/>
            </a:solidFill>
            <a:prstDash val="solid"/>
          </a:ln>
        </p:spPr>
      </p:sp>
      <p:sp>
        <p:nvSpPr>
          <p:cNvPr id="11" name="br2t|b2"/>
          <p:cNvSpPr txBox="1"/>
          <p:nvPr/>
        </p:nvSpPr>
        <p:spPr>
          <a:xfrm>
            <a:off x="4727448"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Parameter and argument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Positional argument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Named parameter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Positional-only parameter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Keyword-only parameter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Default argument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Definition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definition branch covers how a function is created and how it is run.</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Almost every misunderstanding about functions can be traced to the gap between defining and calling. A learner who keeps the two moments apart can predict when the code in a body runs, in what order a program prints its lines, and why a function must exist before the line that calls it executes.</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sections of this branch go from the statement to the object to the call, and then to the reason for all of it. The def statement, the body, the function object and the keyword def come first, followed by the call, the call of a function that lives in a module, the lambda expression as a short way of writing a small function, and the function written inside another function. The branch ends with deduplication, the practical benefit that the textbook uses to justify functions.</a:t>
            </a:r>
            <a:endParaRPr lang="en-US" sz="130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28854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Def statement</a:t>
            </a:r>
            <a:endParaRPr lang="en-US" sz="1200" dirty="0"/>
          </a:p>
        </p:txBody>
      </p:sp>
      <p:sp>
        <p:nvSpPr>
          <p:cNvPr id="13" name="ltb|b1"/>
          <p:cNvSpPr/>
          <p:nvPr/>
        </p:nvSpPr>
        <p:spPr>
          <a:xfrm>
            <a:off x="6493154" y="1581912"/>
            <a:ext cx="2239366" cy="28854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def hello():</a:t>
            </a:r>
            <a:endParaRPr lang="en-US" sz="1100" dirty="0"/>
          </a:p>
        </p:txBody>
      </p:sp>
      <p:sp>
        <p:nvSpPr>
          <p:cNvPr id="15" name="ltb|b2"/>
          <p:cNvSpPr/>
          <p:nvPr/>
        </p:nvSpPr>
        <p:spPr>
          <a:xfrm>
            <a:off x="5120640" y="1907032"/>
            <a:ext cx="1335938" cy="288544"/>
          </a:xfrm>
          <a:prstGeom prst="rect">
            <a:avLst/>
          </a:prstGeom>
          <a:solidFill>
            <a:srgbClr val="E3EEF8"/>
          </a:solidFill>
          <a:ln w="12700">
            <a:solidFill>
              <a:srgbClr val="E3EEF8"/>
            </a:solidFill>
            <a:prstDash val="solid"/>
          </a:ln>
        </p:spPr>
      </p:sp>
      <p:sp>
        <p:nvSpPr>
          <p:cNvPr id="16" name="lta|b2"/>
          <p:cNvSpPr txBox="1"/>
          <p:nvPr/>
        </p:nvSpPr>
        <p:spPr>
          <a:xfrm>
            <a:off x="5184648" y="190703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Function body</a:t>
            </a:r>
            <a:endParaRPr lang="en-US" sz="1200" dirty="0"/>
          </a:p>
        </p:txBody>
      </p:sp>
      <p:sp>
        <p:nvSpPr>
          <p:cNvPr id="17" name="ltb|b2"/>
          <p:cNvSpPr/>
          <p:nvPr/>
        </p:nvSpPr>
        <p:spPr>
          <a:xfrm>
            <a:off x="6493154" y="1907032"/>
            <a:ext cx="2239366" cy="288544"/>
          </a:xfrm>
          <a:prstGeom prst="rect">
            <a:avLst/>
          </a:prstGeom>
          <a:solidFill>
            <a:srgbClr val="F1F4F8"/>
          </a:solidFill>
          <a:ln w="12700">
            <a:solidFill>
              <a:srgbClr val="F1F4F8"/>
            </a:solidFill>
            <a:prstDash val="solid"/>
          </a:ln>
        </p:spPr>
      </p:sp>
      <p:sp>
        <p:nvSpPr>
          <p:cNvPr id="18" name="ltb2|b2"/>
          <p:cNvSpPr txBox="1"/>
          <p:nvPr/>
        </p:nvSpPr>
        <p:spPr>
          <a:xfrm>
            <a:off x="6557162" y="1907032"/>
            <a:ext cx="2074774" cy="288544"/>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the indented block under def</a:t>
            </a:r>
            <a:endParaRPr lang="en-US" sz="950" dirty="0"/>
          </a:p>
        </p:txBody>
      </p:sp>
      <p:sp>
        <p:nvSpPr>
          <p:cNvPr id="19" name="ltb|b3"/>
          <p:cNvSpPr/>
          <p:nvPr/>
        </p:nvSpPr>
        <p:spPr>
          <a:xfrm>
            <a:off x="5120640" y="2232152"/>
            <a:ext cx="1335938" cy="288544"/>
          </a:xfrm>
          <a:prstGeom prst="rect">
            <a:avLst/>
          </a:prstGeom>
          <a:solidFill>
            <a:srgbClr val="E3EEF8"/>
          </a:solidFill>
          <a:ln w="12700">
            <a:solidFill>
              <a:srgbClr val="E3EEF8"/>
            </a:solidFill>
            <a:prstDash val="solid"/>
          </a:ln>
        </p:spPr>
      </p:sp>
      <p:sp>
        <p:nvSpPr>
          <p:cNvPr id="20" name="lta|b3"/>
          <p:cNvSpPr txBox="1"/>
          <p:nvPr/>
        </p:nvSpPr>
        <p:spPr>
          <a:xfrm>
            <a:off x="5184648" y="223215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Function object</a:t>
            </a:r>
            <a:endParaRPr lang="en-US" sz="1200" dirty="0"/>
          </a:p>
        </p:txBody>
      </p:sp>
      <p:sp>
        <p:nvSpPr>
          <p:cNvPr id="21" name="ltb|b3"/>
          <p:cNvSpPr/>
          <p:nvPr/>
        </p:nvSpPr>
        <p:spPr>
          <a:xfrm>
            <a:off x="6493154" y="2232152"/>
            <a:ext cx="2239366" cy="288544"/>
          </a:xfrm>
          <a:prstGeom prst="rect">
            <a:avLst/>
          </a:prstGeom>
          <a:solidFill>
            <a:srgbClr val="F1F4F8"/>
          </a:solidFill>
          <a:ln w="12700">
            <a:solidFill>
              <a:srgbClr val="F1F4F8"/>
            </a:solidFill>
            <a:prstDash val="solid"/>
          </a:ln>
        </p:spPr>
      </p:sp>
      <p:sp>
        <p:nvSpPr>
          <p:cNvPr id="22" name="ltb2|b3"/>
          <p:cNvSpPr txBox="1"/>
          <p:nvPr/>
        </p:nvSpPr>
        <p:spPr>
          <a:xfrm>
            <a:off x="6557162" y="223215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type(hello)</a:t>
            </a:r>
            <a:endParaRPr lang="en-US" sz="1100" dirty="0"/>
          </a:p>
        </p:txBody>
      </p:sp>
      <p:sp>
        <p:nvSpPr>
          <p:cNvPr id="23" name="ltb|b4"/>
          <p:cNvSpPr/>
          <p:nvPr/>
        </p:nvSpPr>
        <p:spPr>
          <a:xfrm>
            <a:off x="5120640" y="2557272"/>
            <a:ext cx="1335938" cy="288544"/>
          </a:xfrm>
          <a:prstGeom prst="rect">
            <a:avLst/>
          </a:prstGeom>
          <a:solidFill>
            <a:srgbClr val="E3EEF8"/>
          </a:solidFill>
          <a:ln w="12700">
            <a:solidFill>
              <a:srgbClr val="E3EEF8"/>
            </a:solidFill>
            <a:prstDash val="solid"/>
          </a:ln>
        </p:spPr>
      </p:sp>
      <p:sp>
        <p:nvSpPr>
          <p:cNvPr id="24" name="lta|b4"/>
          <p:cNvSpPr txBox="1"/>
          <p:nvPr/>
        </p:nvSpPr>
        <p:spPr>
          <a:xfrm>
            <a:off x="5184648" y="2557272"/>
            <a:ext cx="1207922" cy="288544"/>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Reserved keyword</a:t>
            </a:r>
            <a:endParaRPr lang="en-US" sz="1100" dirty="0"/>
          </a:p>
        </p:txBody>
      </p:sp>
      <p:sp>
        <p:nvSpPr>
          <p:cNvPr id="25" name="ltb|b4"/>
          <p:cNvSpPr/>
          <p:nvPr/>
        </p:nvSpPr>
        <p:spPr>
          <a:xfrm>
            <a:off x="6493154" y="2557272"/>
            <a:ext cx="2239366" cy="288544"/>
          </a:xfrm>
          <a:prstGeom prst="rect">
            <a:avLst/>
          </a:prstGeom>
          <a:solidFill>
            <a:srgbClr val="F1F4F8"/>
          </a:solidFill>
          <a:ln w="12700">
            <a:solidFill>
              <a:srgbClr val="F1F4F8"/>
            </a:solidFill>
            <a:prstDash val="solid"/>
          </a:ln>
        </p:spPr>
      </p:sp>
      <p:sp>
        <p:nvSpPr>
          <p:cNvPr id="26" name="ltb2|b4"/>
          <p:cNvSpPr txBox="1"/>
          <p:nvPr/>
        </p:nvSpPr>
        <p:spPr>
          <a:xfrm>
            <a:off x="6557162" y="2557272"/>
            <a:ext cx="2074774" cy="288544"/>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def, return, global, nonlocal, try, except</a:t>
            </a:r>
            <a:endParaRPr lang="en-US" sz="850" dirty="0"/>
          </a:p>
        </p:txBody>
      </p:sp>
      <p:sp>
        <p:nvSpPr>
          <p:cNvPr id="27" name="ltb|b5"/>
          <p:cNvSpPr/>
          <p:nvPr/>
        </p:nvSpPr>
        <p:spPr>
          <a:xfrm>
            <a:off x="5120640" y="2882392"/>
            <a:ext cx="1335938" cy="288544"/>
          </a:xfrm>
          <a:prstGeom prst="rect">
            <a:avLst/>
          </a:prstGeom>
          <a:solidFill>
            <a:srgbClr val="E3EEF8"/>
          </a:solidFill>
          <a:ln w="12700">
            <a:solidFill>
              <a:srgbClr val="E3EEF8"/>
            </a:solidFill>
            <a:prstDash val="solid"/>
          </a:ln>
        </p:spPr>
      </p:sp>
      <p:sp>
        <p:nvSpPr>
          <p:cNvPr id="28" name="lta|b5"/>
          <p:cNvSpPr txBox="1"/>
          <p:nvPr/>
        </p:nvSpPr>
        <p:spPr>
          <a:xfrm>
            <a:off x="5184648" y="2882392"/>
            <a:ext cx="1207922" cy="288544"/>
          </a:xfrm>
          <a:prstGeom prst="rect">
            <a:avLst/>
          </a:prstGeom>
          <a:noFill/>
          <a:ln/>
        </p:spPr>
        <p:txBody>
          <a:bodyPr wrap="square" lIns="0" tIns="0" rIns="0" bIns="0" rtlCol="0" anchor="ctr"/>
          <a:lstStyle/>
          <a:p>
            <a:pPr indent="0" marL="0">
              <a:buNone/>
            </a:pPr>
            <a:r>
              <a:rPr lang="en-US" sz="1050" b="1" dirty="0">
                <a:solidFill>
                  <a:srgbClr val="1E2A3A"/>
                </a:solidFill>
                <a:latin typeface="Calibri" pitchFamily="34" charset="0"/>
                <a:ea typeface="Calibri" pitchFamily="34" charset="-122"/>
                <a:cs typeface="Calibri" pitchFamily="34" charset="-120"/>
              </a:rPr>
              <a:t>Lambda expression</a:t>
            </a:r>
            <a:endParaRPr lang="en-US" sz="1050" dirty="0"/>
          </a:p>
        </p:txBody>
      </p:sp>
      <p:sp>
        <p:nvSpPr>
          <p:cNvPr id="29" name="ltb|b5"/>
          <p:cNvSpPr/>
          <p:nvPr/>
        </p:nvSpPr>
        <p:spPr>
          <a:xfrm>
            <a:off x="6493154" y="2882392"/>
            <a:ext cx="2239366" cy="288544"/>
          </a:xfrm>
          <a:prstGeom prst="rect">
            <a:avLst/>
          </a:prstGeom>
          <a:solidFill>
            <a:srgbClr val="F1F4F8"/>
          </a:solidFill>
          <a:ln w="12700">
            <a:solidFill>
              <a:srgbClr val="F1F4F8"/>
            </a:solidFill>
            <a:prstDash val="solid"/>
          </a:ln>
        </p:spPr>
      </p:sp>
      <p:sp>
        <p:nvSpPr>
          <p:cNvPr id="30" name="ltb2|b5"/>
          <p:cNvSpPr txBox="1"/>
          <p:nvPr/>
        </p:nvSpPr>
        <p:spPr>
          <a:xfrm>
            <a:off x="6557162" y="288239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lambda a, b: a + b</a:t>
            </a:r>
            <a:endParaRPr lang="en-US" sz="1100" dirty="0"/>
          </a:p>
        </p:txBody>
      </p:sp>
      <p:sp>
        <p:nvSpPr>
          <p:cNvPr id="31" name="ltb|b6"/>
          <p:cNvSpPr/>
          <p:nvPr/>
        </p:nvSpPr>
        <p:spPr>
          <a:xfrm>
            <a:off x="5120640" y="3207512"/>
            <a:ext cx="1335938" cy="288544"/>
          </a:xfrm>
          <a:prstGeom prst="rect">
            <a:avLst/>
          </a:prstGeom>
          <a:solidFill>
            <a:srgbClr val="E3EEF8"/>
          </a:solidFill>
          <a:ln w="12700">
            <a:solidFill>
              <a:srgbClr val="E3EEF8"/>
            </a:solidFill>
            <a:prstDash val="solid"/>
          </a:ln>
        </p:spPr>
      </p:sp>
      <p:sp>
        <p:nvSpPr>
          <p:cNvPr id="32" name="lta|b6"/>
          <p:cNvSpPr txBox="1"/>
          <p:nvPr/>
        </p:nvSpPr>
        <p:spPr>
          <a:xfrm>
            <a:off x="5184648" y="320751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Nested function</a:t>
            </a:r>
            <a:endParaRPr lang="en-US" sz="1200" dirty="0"/>
          </a:p>
        </p:txBody>
      </p:sp>
      <p:sp>
        <p:nvSpPr>
          <p:cNvPr id="33" name="ltb|b6"/>
          <p:cNvSpPr/>
          <p:nvPr/>
        </p:nvSpPr>
        <p:spPr>
          <a:xfrm>
            <a:off x="6493154" y="3207512"/>
            <a:ext cx="2239366" cy="288544"/>
          </a:xfrm>
          <a:prstGeom prst="rect">
            <a:avLst/>
          </a:prstGeom>
          <a:solidFill>
            <a:srgbClr val="F1F4F8"/>
          </a:solidFill>
          <a:ln w="12700">
            <a:solidFill>
              <a:srgbClr val="F1F4F8"/>
            </a:solidFill>
            <a:prstDash val="solid"/>
          </a:ln>
        </p:spPr>
      </p:sp>
      <p:sp>
        <p:nvSpPr>
          <p:cNvPr id="34" name="ltb2|b6"/>
          <p:cNvSpPr txBox="1"/>
          <p:nvPr/>
        </p:nvSpPr>
        <p:spPr>
          <a:xfrm>
            <a:off x="6557162" y="320751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a def inside a def</a:t>
            </a:r>
            <a:endParaRPr lang="en-US" sz="1100" dirty="0"/>
          </a:p>
        </p:txBody>
      </p:sp>
      <p:sp>
        <p:nvSpPr>
          <p:cNvPr id="35" name="ltb|b7"/>
          <p:cNvSpPr/>
          <p:nvPr/>
        </p:nvSpPr>
        <p:spPr>
          <a:xfrm>
            <a:off x="5120640" y="3532632"/>
            <a:ext cx="1335938" cy="288544"/>
          </a:xfrm>
          <a:prstGeom prst="rect">
            <a:avLst/>
          </a:prstGeom>
          <a:solidFill>
            <a:srgbClr val="E3EEF8"/>
          </a:solidFill>
          <a:ln w="12700">
            <a:solidFill>
              <a:srgbClr val="E3EEF8"/>
            </a:solidFill>
            <a:prstDash val="solid"/>
          </a:ln>
        </p:spPr>
      </p:sp>
      <p:sp>
        <p:nvSpPr>
          <p:cNvPr id="36" name="lta|b7"/>
          <p:cNvSpPr txBox="1"/>
          <p:nvPr/>
        </p:nvSpPr>
        <p:spPr>
          <a:xfrm>
            <a:off x="5184648" y="353263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Function call</a:t>
            </a:r>
            <a:endParaRPr lang="en-US" sz="1200" dirty="0"/>
          </a:p>
        </p:txBody>
      </p:sp>
      <p:sp>
        <p:nvSpPr>
          <p:cNvPr id="37" name="ltb|b7"/>
          <p:cNvSpPr/>
          <p:nvPr/>
        </p:nvSpPr>
        <p:spPr>
          <a:xfrm>
            <a:off x="6493154" y="3532632"/>
            <a:ext cx="2239366" cy="288544"/>
          </a:xfrm>
          <a:prstGeom prst="rect">
            <a:avLst/>
          </a:prstGeom>
          <a:solidFill>
            <a:srgbClr val="F1F4F8"/>
          </a:solidFill>
          <a:ln w="12700">
            <a:solidFill>
              <a:srgbClr val="F1F4F8"/>
            </a:solidFill>
            <a:prstDash val="solid"/>
          </a:ln>
        </p:spPr>
      </p:sp>
      <p:sp>
        <p:nvSpPr>
          <p:cNvPr id="38" name="ltb2|b7"/>
          <p:cNvSpPr txBox="1"/>
          <p:nvPr/>
        </p:nvSpPr>
        <p:spPr>
          <a:xfrm>
            <a:off x="6557162" y="353263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hello()</a:t>
            </a:r>
            <a:endParaRPr lang="en-US" sz="1100" dirty="0"/>
          </a:p>
        </p:txBody>
      </p:sp>
      <p:sp>
        <p:nvSpPr>
          <p:cNvPr id="39" name="ltb|b8"/>
          <p:cNvSpPr/>
          <p:nvPr/>
        </p:nvSpPr>
        <p:spPr>
          <a:xfrm>
            <a:off x="5120640" y="3857752"/>
            <a:ext cx="1335938" cy="288544"/>
          </a:xfrm>
          <a:prstGeom prst="rect">
            <a:avLst/>
          </a:prstGeom>
          <a:solidFill>
            <a:srgbClr val="E3EEF8"/>
          </a:solidFill>
          <a:ln w="12700">
            <a:solidFill>
              <a:srgbClr val="E3EEF8"/>
            </a:solidFill>
            <a:prstDash val="solid"/>
          </a:ln>
        </p:spPr>
      </p:sp>
      <p:sp>
        <p:nvSpPr>
          <p:cNvPr id="40" name="lta|b8"/>
          <p:cNvSpPr txBox="1"/>
          <p:nvPr/>
        </p:nvSpPr>
        <p:spPr>
          <a:xfrm>
            <a:off x="5184648" y="385775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Module function</a:t>
            </a:r>
            <a:endParaRPr lang="en-US" sz="1200" dirty="0"/>
          </a:p>
        </p:txBody>
      </p:sp>
      <p:sp>
        <p:nvSpPr>
          <p:cNvPr id="41" name="ltb|b8"/>
          <p:cNvSpPr/>
          <p:nvPr/>
        </p:nvSpPr>
        <p:spPr>
          <a:xfrm>
            <a:off x="6493154" y="3857752"/>
            <a:ext cx="2239366" cy="288544"/>
          </a:xfrm>
          <a:prstGeom prst="rect">
            <a:avLst/>
          </a:prstGeom>
          <a:solidFill>
            <a:srgbClr val="F1F4F8"/>
          </a:solidFill>
          <a:ln w="12700">
            <a:solidFill>
              <a:srgbClr val="F1F4F8"/>
            </a:solidFill>
            <a:prstDash val="solid"/>
          </a:ln>
        </p:spPr>
      </p:sp>
      <p:sp>
        <p:nvSpPr>
          <p:cNvPr id="42" name="ltb2|b8"/>
          <p:cNvSpPr txBox="1"/>
          <p:nvPr/>
        </p:nvSpPr>
        <p:spPr>
          <a:xfrm>
            <a:off x="6557162" y="385775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random.randint(1, 9)</a:t>
            </a:r>
            <a:endParaRPr lang="en-US" sz="1100" dirty="0"/>
          </a:p>
        </p:txBody>
      </p:sp>
      <p:sp>
        <p:nvSpPr>
          <p:cNvPr id="43" name="ltb|b9"/>
          <p:cNvSpPr/>
          <p:nvPr/>
        </p:nvSpPr>
        <p:spPr>
          <a:xfrm>
            <a:off x="5120640" y="4182872"/>
            <a:ext cx="1335938" cy="288544"/>
          </a:xfrm>
          <a:prstGeom prst="rect">
            <a:avLst/>
          </a:prstGeom>
          <a:solidFill>
            <a:srgbClr val="E3EEF8"/>
          </a:solidFill>
          <a:ln w="12700">
            <a:solidFill>
              <a:srgbClr val="E3EEF8"/>
            </a:solidFill>
            <a:prstDash val="solid"/>
          </a:ln>
        </p:spPr>
      </p:sp>
      <p:sp>
        <p:nvSpPr>
          <p:cNvPr id="44" name="lta|b9"/>
          <p:cNvSpPr txBox="1"/>
          <p:nvPr/>
        </p:nvSpPr>
        <p:spPr>
          <a:xfrm>
            <a:off x="5184648" y="418287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Deduplication</a:t>
            </a:r>
            <a:endParaRPr lang="en-US" sz="1200" dirty="0"/>
          </a:p>
        </p:txBody>
      </p:sp>
      <p:sp>
        <p:nvSpPr>
          <p:cNvPr id="45" name="ltb|b9"/>
          <p:cNvSpPr/>
          <p:nvPr/>
        </p:nvSpPr>
        <p:spPr>
          <a:xfrm>
            <a:off x="6493154" y="4182872"/>
            <a:ext cx="2239366" cy="288544"/>
          </a:xfrm>
          <a:prstGeom prst="rect">
            <a:avLst/>
          </a:prstGeom>
          <a:solidFill>
            <a:srgbClr val="F1F4F8"/>
          </a:solidFill>
          <a:ln w="12700">
            <a:solidFill>
              <a:srgbClr val="F1F4F8"/>
            </a:solidFill>
            <a:prstDash val="solid"/>
          </a:ln>
        </p:spPr>
      </p:sp>
      <p:sp>
        <p:nvSpPr>
          <p:cNvPr id="46" name="ltb2|b9"/>
          <p:cNvSpPr txBox="1"/>
          <p:nvPr/>
        </p:nvSpPr>
        <p:spPr>
          <a:xfrm>
            <a:off x="6557162" y="418287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one def, three calls</a:t>
            </a:r>
            <a:endParaRPr lang="en-US" sz="1100" dirty="0"/>
          </a:p>
        </p:txBody>
      </p:sp>
      <p:sp>
        <p:nvSpPr>
          <p:cNvPr id="47"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48"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par>
                    <p:cTn id="85" fill="hold">
                      <p:stCondLst>
                        <p:cond delay="indefinite"/>
                      </p:stCondLst>
                      <p:childTnLst>
                        <p:par>
                          <p:cTn id="86"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00"/>
                                        <p:tgtEl>
                                          <p:spTgt spid="3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0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0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9" fill="hold">
                      <p:stCondLst>
                        <p:cond delay="indefinite"/>
                      </p:stCondLst>
                      <p:childTnLst>
                        <p:par>
                          <p:cTn id="100"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400"/>
                                        <p:tgtEl>
                                          <p:spTgt spid="3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400"/>
                                        <p:tgtEl>
                                          <p:spTgt spid="36"/>
                                        </p:tgtEl>
                                      </p:cBhvr>
                                    </p:animEffect>
                                  </p:childTnLst>
                                </p:cTn>
                              </p:par>
                              <p:par>
                                <p:cTn id="93" presetID="10" presetClass="entr" presetSubtype="0" fill="hold"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400"/>
                                        <p:tgtEl>
                                          <p:spTgt spid="3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childTnLst>
                          </p:cTn>
                        </p:par>
                      </p:childTnLst>
                    </p:cTn>
                  </p:par>
                  <p:par>
                    <p:cTn id="113" fill="hold">
                      <p:stCondLst>
                        <p:cond delay="indefinite"/>
                      </p:stCondLst>
                      <p:childTnLst>
                        <p:par>
                          <p:cTn id="114"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39"/>
                                        </p:tgtEl>
                                        <p:attrNameLst>
                                          <p:attrName>style.visibility</p:attrName>
                                        </p:attrNameLst>
                                      </p:cBhvr>
                                      <p:to>
                                        <p:strVal val="visible"/>
                                      </p:to>
                                    </p:set>
                                    <p:animEffect transition="in" filter="fade">
                                      <p:cBhvr>
                                        <p:cTn id="103" dur="400"/>
                                        <p:tgtEl>
                                          <p:spTgt spid="3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0"/>
                                        </p:tgtEl>
                                        <p:attrNameLst>
                                          <p:attrName>style.visibility</p:attrName>
                                        </p:attrNameLst>
                                      </p:cBhvr>
                                      <p:to>
                                        <p:strVal val="visible"/>
                                      </p:to>
                                    </p:set>
                                    <p:animEffect transition="in" filter="fade">
                                      <p:cBhvr>
                                        <p:cTn id="106" dur="400"/>
                                        <p:tgtEl>
                                          <p:spTgt spid="40"/>
                                        </p:tgtEl>
                                      </p:cBhvr>
                                    </p:animEffect>
                                  </p:childTnLst>
                                </p:cTn>
                              </p:par>
                              <p:par>
                                <p:cTn id="107" presetID="10" presetClass="entr" presetSubtype="0" fill="hold" nodeType="with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400"/>
                                        <p:tgtEl>
                                          <p:spTgt spid="4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2"/>
                                        </p:tgtEl>
                                        <p:attrNameLst>
                                          <p:attrName>style.visibility</p:attrName>
                                        </p:attrNameLst>
                                      </p:cBhvr>
                                      <p:to>
                                        <p:strVal val="visible"/>
                                      </p:to>
                                    </p:set>
                                    <p:animEffect transition="in" filter="fade">
                                      <p:cBhvr>
                                        <p:cTn id="112" dur="400"/>
                                        <p:tgtEl>
                                          <p:spTgt spid="42"/>
                                        </p:tgtEl>
                                      </p:cBhvr>
                                    </p:animEffect>
                                  </p:childTnLst>
                                </p:cTn>
                              </p:par>
                            </p:childTnLst>
                          </p:cTn>
                        </p:par>
                      </p:childTnLst>
                    </p:cTn>
                  </p:par>
                  <p:par>
                    <p:cTn id="127" fill="hold">
                      <p:stCondLst>
                        <p:cond delay="indefinite"/>
                      </p:stCondLst>
                      <p:childTnLst>
                        <p:par>
                          <p:cTn id="128"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4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400"/>
                                        <p:tgtEl>
                                          <p:spTgt spid="44"/>
                                        </p:tgtEl>
                                      </p:cBhvr>
                                    </p:animEffect>
                                  </p:childTnLst>
                                </p:cTn>
                              </p:par>
                              <p:par>
                                <p:cTn id="121" presetID="10" presetClass="entr" presetSubtype="0" fill="hold"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4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Def statement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def statement creates a function and binds its name; the body runs when the function is called, not when it is defined.</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def statement is the construct with which a Python program creates a function of its own. It is written with the keyword def, the name chosen for the function, a pair of parentheses and a colon, and it is followed by an indented block of statements that forms the body. The textbook introduces it with a function named hello that prints three greetings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When execution reaches a def statement, Python builds a function object and binds the function's name to it in the current namespace.</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function must be defined before the line that calls it runs.</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hello():</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print('Good morning!')</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print('Good evening!')</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hello()</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print('ONE MORE TIME!')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hello()</a:t>
            </a:r>
            <a:endParaRPr lang="en-US" sz="11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hello_v1_0_0.py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900" dirty="0">
                <a:solidFill>
                  <a:srgbClr val="1F2933"/>
                </a:solidFill>
                <a:latin typeface="Courier New" pitchFamily="34" charset="0"/>
                <a:ea typeface="Courier New" pitchFamily="34" charset="-122"/>
                <a:cs typeface="Courier New" pitchFamily="34" charset="-120"/>
              </a:rPr>
              <a:t>Good morning!</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Good evening!</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ONE MORE TIME!</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Good morning!</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Good evening!</a:t>
            </a:r>
            <a:endParaRPr lang="en-US" sz="9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def hello():</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Function body</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block of indented statements after the colon of the def line; it runs on each call, from its first line to the end or to a return statement.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body of a function is the block of indented statements that follows the colon of the def line. The textbook puts it directly: the code in the block that follows the def statement is the body of the function (Sweigart, 2025). The body is the description of what the function does, and the def line is the description of what it is called and what it expects.</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body is not executed when the function is defined. Each time the function is called, Python starts at the first line of the body and runs downward until it reaches the end of the block or a return statement, and then the execution continues on the line after the call (Sweigart, 2025). Variables that the body creates belong to that one call and disappear when it ends. A body must contain at least one statement; the statement pass does nothing and exists for the case in which a statement is required but no action is, such as a placeholder for a function that is still to be written (Python Software Foundation, 2026).</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50" b="1" dirty="0">
                <a:solidFill>
                  <a:srgbClr val="B7791F"/>
                </a:solidFill>
                <a:latin typeface="Cambria" pitchFamily="34" charset="0"/>
                <a:ea typeface="Cambria" pitchFamily="34" charset="-122"/>
                <a:cs typeface="Cambria" pitchFamily="34" charset="-120"/>
              </a:rPr>
              <a:t>Watch out  </a:t>
            </a:r>
            <a:r>
              <a:rPr lang="en-US" sz="1150" dirty="0">
                <a:solidFill>
                  <a:srgbClr val="1F2933"/>
                </a:solidFill>
                <a:latin typeface="Calibri" pitchFamily="34" charset="0"/>
                <a:ea typeface="Calibri" pitchFamily="34" charset="-122"/>
                <a:cs typeface="Calibri" pitchFamily="34" charset="-120"/>
              </a:rPr>
              <a:t>A def line followed by no indented line, or by a line that is not indented, stops the program with IndentationError: expected an indented block after function definition on line 1. Equally easy to miss is a line that is indented by mistake: a statement meant to run once after the function but typed at the body's indentation becomes part of the body and runs only when the function is called.</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the indented block under def</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Function object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What a def statement actually creates: a value of type function, which the function's name refers to and which can be given other names.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function object is the value that Python builds when it executes a def statement. The language reference describes the execution of the statement as binding the function name in the current local namespace to a function object, a wrapper around the executable code for the function (Python Software Foundation, 2026). The name hello is therefore only a label, and the function itself is the object that the label refers to.</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tutorial puts it plainly: a function definition associates the function name with the function object in the current symbol table, and other names can also point to that same function object and be used to access the function (Python Software Foundation, 2026).</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Because the name is only a label, assigning to it replaces the function. After def hello(): and then hello = 5, the call hello() stops with TypeError: 'int' object is not callable.</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callable(len)</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object is visible whenever a function is named without being called. The call type(hello).__name__ gives 'function', callable(hello) gives True, and after same = hello the test same is hello is also True, because both names refer to one object. The same test works on a built-in function: callable(len) is also True.</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type(hello)</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Reserved keyword</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word that has a fixed meaning in the Python language and cannot be used as a name; def, return, global, nonlocal, try and except are keywords.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keyword is a word that has a fixed meaning in the Python language, which is why it cannot be chosen as the name of a variable or function. The words def, return, global, nonlocal, try and except that this chapter introduces are all keywords. The standard module keyword lists them in keyword.kwlist and tests a word with keyword.iskeyword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Whether a word is a keyword is a fixed fact about the language, and the keyword module can answer it. print is not on the list: keyword.iskeyword('print') is False, because print is a built-in function that can be given a new meaning, while def, return, global, nonlocal, try and except are all in keyword.kwlist and ...</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Do not confuse a keyword with a built-in name. A built-in name such as len can be reassigned by accident, which silently hides the function, whereas a keyword cannot be reassigned at all.</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750" b="1" dirty="0">
                <a:solidFill>
                  <a:srgbClr val="FFD43B"/>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__import__('keyword').iskeyword('def')</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textbook mentions keywords only to dismiss a confusion. It says that named parameters, which it also calls keyword arguments, have nothing to do with Python keywords (Sweigart, 2025). The word keyword in keyword argument means that the argument is given with the name of a parameter; the word keyword in def or return means a reserved word of the language.</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def, return, global, nonlocal, try, except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Lambda expression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way to write a small function as a single expression; it has no name of its own and its body is one expression.</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lambda expression creates a small function in the middle of another expression. The glossary calls it an anonymous inline function consisting of a single expression which is evaluated when the function is called, written as lambda parameters: expression (Python Software Foundation, 2026). The expression lambda a, b: a + b therefore stands for a function that receives two values and gives back their sum.</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body of a lambda is one expression and nothing else. The reference states that functions created with lambda expressions cannot contain statements or annotations, so lambda: pass is rejected with SyntaxError (Python Software Foundation, 2026).</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he style guide advises against binding a lambda to a name with an assignment such as f = lambda x: 2*x and recommends a def statement, because the def form gives the function the name f instead of the generic &lt;lambda&gt; that appears in tracebacks and string ...</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(lambda a, b: a + b)(2, 3)</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a:t>
            </a:r>
            <a:endParaRPr lang="en-US" sz="105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expression (lambda a, b: a + b)(2, 3) evaluates to 5: the first pair of parentheses holds the function and the second pair calls it with two arguments.</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lambda a, b: a + b</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Nested function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function defined inside the body of another function; it exists only while the outer function runs and can read the outer function's variables.</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A nested function is a function that is defined inside the body of another function. The reference notes that a def statement executed inside a function definition defines a local function that can be returned or passed around, and that such a function can use the local variables of the function containing the def (Python Software Foundation, 2026).</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Executing the outer function runs the inner def statement each time, so the inner function object is created anew on every call of the outer one. In the program that defines outer with a variable n set to 21 and an inner function that returns n * 2, calling outer() prints 42. Because the inner name is local to the outer function, using inner after outer has returned raises NameError: name 'inner' is not defined.</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Defining a function inside another one does not run it. The inner function runs only when it is called, and the outer function has to call it or hand it on. A nested function can read the variables of the outer function freely, but an assignment inside it creates a new local variable instead of changing the outer one, which is the reason the nonlocal statement exists.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 def inside a def</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Function call</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call is the function's name followed by parentheses, with any arguments inside, and execution jumps into the body and comes back.</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function call is the function's name followed by parentheses, with the arguments, if there are any, written between them. The textbook states that when the program execution reaches such a call it will jump to the first line in the function and begin executing the code there (Sweigart, 2025). The same notation was used in chapter 1 to call print, input and len.</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reference describes the order of events: every argument expression is evaluated before the call is attempted, and the thing being called must be a callable object, a function being the usual case (Python Software Foundation, 2026).</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parentheses are what make it a call. A line that contains only hello does nothing visible, as the section on the function object shows.</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max(3, 7)</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7</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Calls are the commonest construct in a program. The program in the textbook calls hello three times and prints ten lines, three greetings, the line ONE MORE TIME! and three greetings again (Sweigart, 2025). Calls to the functions of modules are written with the module's name and a dot in front, and the next section shows that form.</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hello()</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Module function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function that lives in a module is called with the module's name and a dot in front, after the module has been imported.</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module function is a function that is defined in a module and used after importing that module. The chapter's fortune-telling program imports the module random and then calls random.randint(1, 9), whose two arguments are the smallest and the largest number that may come back (Sweigart, 2025). A module, as chapter 1 explained, is an object that serves as an organisational unit of Python code.</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import statement of chapter 3 binds the module's name in the current namespace; the dotted name then looks up the function inside that module. Without the import line, the name random is simply undefined, and a program that calls random.randint(1, 6) first stops with NameError: name 'random' is not defined.</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Arguments given in the wrong order matter here, as they do everywhere. The textbook points out that random.randint(1, 10) is different from random.randint(10, 1): the first gives a random integer between 1 and 10 and the second causes an error (Sweigart, 2025).</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__import__('math').floor(7.5)</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a:t>
            </a:r>
            <a:endParaRPr lang="en-US" sz="9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library documentation defines random.randint(a, b) as returning a random integer N such that a &lt;= N &lt;= b (Python Software Foundation, 2026). The call random.randint(5, 5) therefore always gives 5, and random.randint(1, 9) gives a number from 1 to 9 inclusive, which is how the fortune program picks one of its nine answers.</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random.randint(1, 9)</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Deduplication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function groups code that runs more than once, so a fix is made in one place instead of in every pasted copy.</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Deduplication means getting rid of copied-and-pasted code, and the chapter names it as a major purpose of functions. The textbook explains that without a function you would have to copy and paste the code each time you wanted to run it, and that deduplication makes programs shorter, easier to read and easier to update (Sweigart, 2025).</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chapter's own pasted listing contains an example of the hazard it warns against. Its last line is print(' Good evening!') with a space before the G, so running the two programs gives outputs that differ in exactly that line: the function version prints Good evening! and the pasted version prints a line that begins with a space. Both outputs have ten lines, so the difference is easy to overlook, which is precisely the risk of duplicated code.</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A function is not the answer to every repetition. If the same few lines differ slightly each time, the differences should become parameters, which the next branch explains; if the repetition is a loop over the same steps, a loop from chapter 3 may be simpler than a function.</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one def, three calls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Deduplication: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550" dirty="0">
                <a:solidFill>
                  <a:srgbClr val="E6EDF3"/>
                </a:solidFill>
                <a:latin typeface="Courier New" pitchFamily="34" charset="0"/>
                <a:ea typeface="Courier New" pitchFamily="34" charset="-122"/>
                <a:cs typeface="Courier New" pitchFamily="34" charset="-120"/>
              </a:rPr>
              <a:t>pasted = ['Good morning!', 'Good afternoon!', 'Good evening!'] * 2 + ['ONE MORE TIME!', 'Good morning!', 'Good afternoon!', ' Good evening!']</a:t>
            </a:r>
            <a:endParaRPr lang="en-US" sz="550" dirty="0"/>
          </a:p>
          <a:p>
            <a:pPr indent="0" marL="0">
              <a:buNone/>
            </a:pPr>
            <a:r>
              <a:rPr lang="en-US" sz="550" dirty="0">
                <a:solidFill>
                  <a:srgbClr val="E6EDF3"/>
                </a:solidFill>
                <a:latin typeface="Courier New" pitchFamily="34" charset="0"/>
                <a:ea typeface="Courier New" pitchFamily="34" charset="-122"/>
                <a:cs typeface="Courier New" pitchFamily="34" charset="-120"/>
              </a:rPr>
              <a:t>called = ['Good morning!', 'Good afternoon!', 'Good evening!'] * 2 + ['ONE MORE TIME!', 'Good morning!', 'Good afternoon!', 'Good evening!']</a:t>
            </a:r>
            <a:endParaRPr lang="en-US" sz="550" dirty="0"/>
          </a:p>
          <a:p>
            <a:pPr indent="0" marL="0">
              <a:buNone/>
            </a:pPr>
            <a:r>
              <a:rPr lang="en-US" sz="550" dirty="0">
                <a:solidFill>
                  <a:srgbClr val="E6EDF3"/>
                </a:solidFill>
                <a:latin typeface="Courier New" pitchFamily="34" charset="0"/>
                <a:ea typeface="Courier New" pitchFamily="34" charset="-122"/>
                <a:cs typeface="Courier New" pitchFamily="34" charset="-120"/>
              </a:rPr>
              <a:t>for one, other in zip(pasted, called):</a:t>
            </a:r>
            <a:endParaRPr lang="en-US" sz="550" dirty="0"/>
          </a:p>
          <a:p>
            <a:pPr indent="0" marL="0">
              <a:buNone/>
            </a:pPr>
            <a:r>
              <a:rPr lang="en-US" sz="550" dirty="0">
                <a:solidFill>
                  <a:srgbClr val="E6EDF3"/>
                </a:solidFill>
                <a:latin typeface="Courier New" pitchFamily="34" charset="0"/>
                <a:ea typeface="Courier New" pitchFamily="34" charset="-122"/>
                <a:cs typeface="Courier New" pitchFamily="34" charset="-120"/>
              </a:rPr>
              <a:t>    if one != other:</a:t>
            </a:r>
            <a:endParaRPr lang="en-US" sz="550" dirty="0"/>
          </a:p>
          <a:p>
            <a:pPr indent="0" marL="0">
              <a:buNone/>
            </a:pPr>
            <a:r>
              <a:rPr lang="en-US" sz="550" dirty="0">
                <a:solidFill>
                  <a:srgbClr val="E6EDF3"/>
                </a:solidFill>
                <a:latin typeface="Courier New" pitchFamily="34" charset="0"/>
                <a:ea typeface="Courier New" pitchFamily="34" charset="-122"/>
                <a:cs typeface="Courier New" pitchFamily="34" charset="-120"/>
              </a:rPr>
              <a:t>        print(repr(one), 'is not', repr(other))</a:t>
            </a:r>
            <a:endParaRPr lang="en-US" sz="55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pasted_v1_0_0.py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900" dirty="0">
                <a:solidFill>
                  <a:srgbClr val="1F2933"/>
                </a:solidFill>
                <a:latin typeface="Courier New" pitchFamily="34" charset="0"/>
                <a:ea typeface="Courier New" pitchFamily="34" charset="-122"/>
                <a:cs typeface="Courier New" pitchFamily="34" charset="-120"/>
              </a:rPr>
              <a:t>' Good evening!' is not 'Good evening!'</a:t>
            </a:r>
            <a:endParaRPr lang="en-US" sz="9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chapter's own pasted listing contains an example of the hazard it warns against.</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Definition</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Parameters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Parameters are the way values get into a function.</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A function that always did exactly the same thing would be of limited use. Parameters let one body serve many situations, such as greeting any person by name or dividing 42 by any number, so that the function stays short while the calls differ. They are also the controlled doorway through which a function receives information, because a function's own variables cannot be seen from outside.</a:t>
            </a:r>
            <a:endParaRPr lang="en-US" sz="1150" dirty="0"/>
          </a:p>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The branch begins with the vocabulary of define, call, pass, argument and parameter, then separates the two ways of matching an argument to a parameter, by position and by name. It continues with the two ways of forcing one of them, the slash that makes parameters positional-only and the star that makes them keyword-only, and ends with default values, which let a call omit an argument. The tutorial summarises the whole family in one definition line, def f(pos1, pos2, /, pos_or_kwd, *, kwd1, kwd2), where each marker restricts how the arguments that follow it may be passed (Python Software Foundation, 2026).</a:t>
            </a:r>
            <a:endParaRPr lang="en-US" sz="11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Parameter and argument</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say_hello_to('Alice')</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Positional argument</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divmod(17, 5)</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Named parameter</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print('a', 'b', sep=',')</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Positional-only parameter</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def f(a, /, b):</a:t>
            </a:r>
            <a:endParaRPr lang="en-US" sz="1100" dirty="0"/>
          </a:p>
        </p:txBody>
      </p:sp>
      <p:sp>
        <p:nvSpPr>
          <p:cNvPr id="27" name="ltb|b5"/>
          <p:cNvSpPr/>
          <p:nvPr/>
        </p:nvSpPr>
        <p:spPr>
          <a:xfrm>
            <a:off x="5120640" y="3410712"/>
            <a:ext cx="1335938" cy="420624"/>
          </a:xfrm>
          <a:prstGeom prst="rect">
            <a:avLst/>
          </a:prstGeom>
          <a:solidFill>
            <a:srgbClr val="E3EEF8"/>
          </a:solidFill>
          <a:ln w="12700">
            <a:solidFill>
              <a:srgbClr val="E3EEF8"/>
            </a:solidFill>
            <a:prstDash val="solid"/>
          </a:ln>
        </p:spPr>
      </p:sp>
      <p:sp>
        <p:nvSpPr>
          <p:cNvPr id="28" name="lta|b5"/>
          <p:cNvSpPr txBox="1"/>
          <p:nvPr/>
        </p:nvSpPr>
        <p:spPr>
          <a:xfrm>
            <a:off x="5184648" y="34107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Keyword-only parameter</a:t>
            </a:r>
            <a:endParaRPr lang="en-US" sz="1200" dirty="0"/>
          </a:p>
        </p:txBody>
      </p:sp>
      <p:sp>
        <p:nvSpPr>
          <p:cNvPr id="29" name="ltb|b5"/>
          <p:cNvSpPr/>
          <p:nvPr/>
        </p:nvSpPr>
        <p:spPr>
          <a:xfrm>
            <a:off x="6493154" y="3410712"/>
            <a:ext cx="2239366" cy="420624"/>
          </a:xfrm>
          <a:prstGeom prst="rect">
            <a:avLst/>
          </a:prstGeom>
          <a:solidFill>
            <a:srgbClr val="F1F4F8"/>
          </a:solidFill>
          <a:ln w="12700">
            <a:solidFill>
              <a:srgbClr val="F1F4F8"/>
            </a:solidFill>
            <a:prstDash val="solid"/>
          </a:ln>
        </p:spPr>
      </p:sp>
      <p:sp>
        <p:nvSpPr>
          <p:cNvPr id="30" name="ltb2|b5"/>
          <p:cNvSpPr txBox="1"/>
          <p:nvPr/>
        </p:nvSpPr>
        <p:spPr>
          <a:xfrm>
            <a:off x="6557162" y="34107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def f(a, *, b=2):</a:t>
            </a:r>
            <a:endParaRPr lang="en-US" sz="1100" dirty="0"/>
          </a:p>
        </p:txBody>
      </p:sp>
      <p:sp>
        <p:nvSpPr>
          <p:cNvPr id="31" name="ltb|b6"/>
          <p:cNvSpPr/>
          <p:nvPr/>
        </p:nvSpPr>
        <p:spPr>
          <a:xfrm>
            <a:off x="5120640" y="3867912"/>
            <a:ext cx="1335938" cy="420624"/>
          </a:xfrm>
          <a:prstGeom prst="rect">
            <a:avLst/>
          </a:prstGeom>
          <a:solidFill>
            <a:srgbClr val="E3EEF8"/>
          </a:solidFill>
          <a:ln w="12700">
            <a:solidFill>
              <a:srgbClr val="E3EEF8"/>
            </a:solidFill>
            <a:prstDash val="solid"/>
          </a:ln>
        </p:spPr>
      </p:sp>
      <p:sp>
        <p:nvSpPr>
          <p:cNvPr id="32" name="lta|b6"/>
          <p:cNvSpPr txBox="1"/>
          <p:nvPr/>
        </p:nvSpPr>
        <p:spPr>
          <a:xfrm>
            <a:off x="5184648" y="3867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Default argument</a:t>
            </a:r>
            <a:endParaRPr lang="en-US" sz="1200" dirty="0"/>
          </a:p>
        </p:txBody>
      </p:sp>
      <p:sp>
        <p:nvSpPr>
          <p:cNvPr id="33" name="ltb|b6"/>
          <p:cNvSpPr/>
          <p:nvPr/>
        </p:nvSpPr>
        <p:spPr>
          <a:xfrm>
            <a:off x="6493154" y="3867912"/>
            <a:ext cx="2239366" cy="420624"/>
          </a:xfrm>
          <a:prstGeom prst="rect">
            <a:avLst/>
          </a:prstGeom>
          <a:solidFill>
            <a:srgbClr val="F1F4F8"/>
          </a:solidFill>
          <a:ln w="12700">
            <a:solidFill>
              <a:srgbClr val="F1F4F8"/>
            </a:solidFill>
            <a:prstDash val="solid"/>
          </a:ln>
        </p:spPr>
      </p:sp>
      <p:sp>
        <p:nvSpPr>
          <p:cNvPr id="34" name="ltb2|b6"/>
          <p:cNvSpPr txBox="1"/>
          <p:nvPr/>
        </p:nvSpPr>
        <p:spPr>
          <a:xfrm>
            <a:off x="6557162" y="3867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def f(a, L=None):</a:t>
            </a:r>
            <a:endParaRPr lang="en-US" sz="1100" dirty="0"/>
          </a:p>
        </p:txBody>
      </p:sp>
      <p:sp>
        <p:nvSpPr>
          <p:cNvPr id="3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3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par>
                    <p:cTn id="85" fill="hold">
                      <p:stCondLst>
                        <p:cond delay="indefinite"/>
                      </p:stCondLst>
                      <p:childTnLst>
                        <p:par>
                          <p:cTn id="86"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00"/>
                                        <p:tgtEl>
                                          <p:spTgt spid="3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0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0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Parameter and argument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argument is the value passed in a call, a parameter is the variable that receives it, and the parameter is forgotten when the function returns.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argument is a value that is passed to a function in a call, and a parameter is the variable in the function definition that receives it. The textbook defines the pair with one example: in def say_hello_to(name) the name is a parameter, and in the call say_hello_to('Al') the string 'Al' is an argument that is assigned to the parameter (Sweigart, 2025). The glossary agrees that an argument is a value passed to a function when calling it and that a parameter is a named entity in a function definition that specifies an argument the function can accept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textbook lists four verbs: to define a function is to create ...</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parameter lives only as long as the call. The textbook points out that the value stored in a parameter is forgotten when the function returns, so print(name) after say_hello_to('Bob') stops with NameError: name 'name' is not defined (Sweigart, 2025).</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round(3.14159, 2)</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3.14</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Every call in this chapter has both. The call say_hello_to('Alice') passes one argument, and the function prints three greetings that begin Good morning, Alice and end with Good evening, Alice; a second call with 'Bob' prints three more lines for Bob.</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say_hello_to('Alice')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1800" b="1" dirty="0">
                <a:solidFill>
                  <a:srgbClr val="1E2A3A"/>
                </a:solidFill>
                <a:latin typeface="Cambria" pitchFamily="34" charset="0"/>
                <a:ea typeface="Cambria" pitchFamily="34" charset="-122"/>
                <a:cs typeface="Cambria" pitchFamily="34" charset="-120"/>
              </a:rPr>
              <a:t>Parameter and argument: the program, and what it really prints</a:t>
            </a:r>
            <a:endParaRPr lang="en-US" sz="18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say_hello_to(name):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print('Good morning, ' + 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say_hello_to('Alice')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say_hello_to('Bob')</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except NameError as error: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print(error)</a:t>
            </a:r>
            <a:endParaRPr lang="en-US" sz="12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params_v1_0_0.py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Good morning, Alice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Good morning, Bob</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name 'name' is not defined</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textbook lists four verbs: to define a function is to create it, as an assignment statement like spam = 42 creates the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Positional argument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argument matched to a parameter by its position in the call, so swapping two arguments changes the result.</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positional argument is an argument that Python matches to a parameter by its place in the call: the first argument goes to the first parameter, the second to the second, and so on. The glossary defines it negatively but precisely, as an argument that is not a keyword argument, one that appears at the beginning of an argument list (Python Software Foundation, 2026). The textbook states the rule in its section on named parameters: Python identifies most arguments by their position in the function call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language reference describes the matching as a list of unfilled slots, one for each formal parameter: if there are N positional arguments, they are placed in the first N slots, and only then ...</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positional argument may not follow a keyword argument in a call.</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divmod(17, 5)</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(3, 2)</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built-in divmod takes two numbers and returns a pair consisting of their quotient and remainder under integer division, which for integers is the same as (a // b, a % b) (Python Software Foundation, 2026); the two operators were introduced in chapter 1. divmod(7, 2) gives (3, 1), while the same two numbers in the other order, divmod(2, 7), give (0, 2), and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divmod(17, 5)</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Named parameter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named parameter is identified by its name in the call rather than its position; print's sep and end are two.</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named parameter is a parameter whose argument is identified by the name written before it in the call, as in sep=',', and not by its position. The textbook adds that you will also hear named parameters called keyword parameters or keyword arguments, though they have nothing to do with Python keywords (Sweigart, 2025). The tutorial gives the general form kwarg=value and notes that keyword parameters are also referred to as named parameters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library reference defines print with the parameters sep, whose default is a single space, end, whose default is a newline, file and flush, and adds that sep, end, file and flush, if present, must ...</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name that the function does not know is an error: print('a', separator=',') raises TypeError, and the wording of the message differs between Python 3.12 and 3.14.</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int('ff', base=16)</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255</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Without any naming, print('Hello') followed by print('World') puts the two words on separate lines, because print adds a newline character at the end. With print('Hello', end='') the first call prints nothing at its end, so the output is HelloWorld on one line.</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print('a', 'b', sep=',')</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Named parameter: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print('Hello', end='')</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print('World')</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print('cats', 'dogs', 'mice', sep=',')</a:t>
            </a:r>
            <a:endParaRPr lang="en-US" sz="12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named_v1_0_0.py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HelloWorld</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cats,dogs,mice</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library reference defines print with the parameters sep, whose default is a single space, end, whose default is a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Positional-only parameter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Parameters before a slash can only be passed by position; passing one by name raises a TypeError.</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positional-only parameter is a parameter that can receive its argument only by position and never by name. It is marked by placing a slash in the parameter list: every parameter before the slash is positional-only. The glossary gives the same definition, with def func(posonly1, posonly2, /, positional_or_keyword) as its example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For a function defined as def f(a, /, b): return a * b, the call f(3, 4) and the call f(3, b=4) both give 12, because b may be passed either way. The call f(a=3, b=4) stops with TypeError: f() got some positional-only arguments passed as keyword arguments: 'a', which names the parameter that was misused.</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slash separates parameters by how they may be passed, not by which ones are required. Everything before it is positional-only and everything after it, unless a star follows, can be passed either way.</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900" b="1" dirty="0">
                <a:solidFill>
                  <a:srgbClr val="FFD43B"/>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(lambda a, /, b: a * b)(3, b=4)</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12</a:t>
            </a:r>
            <a:endParaRPr lang="en-US" sz="9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Many built-in functions work this way. The call len(obj='abc') stops with TypeError: len() takes no keyword arguments, because the argument of len cannot be given by name. The reference notes that in CPython this is true of functions implemented in C that do not give their positional parameters names (Python Software Foundation, 2026).</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def f(a, /, b):</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Positional-only parameter: drawn from a real run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Parameters before a slash can only be passed by position; passing one by name raises a TypeError.</a:t>
            </a:r>
            <a:endParaRPr lang="en-US" sz="1300" dirty="0"/>
          </a:p>
        </p:txBody>
      </p:sp>
      <p:sp>
        <p:nvSpPr>
          <p:cNvPr id="6" name="prose"/>
          <p:cNvSpPr txBox="1"/>
          <p:nvPr/>
        </p:nvSpPr>
        <p:spPr>
          <a:xfrm>
            <a:off x="411480" y="1207008"/>
            <a:ext cx="3840480" cy="170078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positional-only parameter is a parameter that can receive its argument only by position and never by name. It is marked by placing a slash in the parameter list: every parameter before the slash is positional-only. The glossary gives the same definition, with def func(posonly1, posonly2, /, positional_or_keyword) as its example (Python Software Foundation, 2026).</a:t>
            </a:r>
            <a:endParaRPr lang="en-US" sz="1200" dirty="0"/>
          </a:p>
        </p:txBody>
      </p:sp>
      <p:sp>
        <p:nvSpPr>
          <p:cNvPr id="7" name="pkb"/>
          <p:cNvSpPr/>
          <p:nvPr/>
        </p:nvSpPr>
        <p:spPr>
          <a:xfrm>
            <a:off x="411480" y="2999232"/>
            <a:ext cx="3840480" cy="1005840"/>
          </a:xfrm>
          <a:prstGeom prst="roundRect">
            <a:avLst>
              <a:gd name="adj" fmla="val 9091"/>
            </a:avLst>
          </a:prstGeom>
          <a:solidFill>
            <a:srgbClr val="17202B"/>
          </a:solidFill>
          <a:ln w="12700">
            <a:solidFill>
              <a:srgbClr val="17202B"/>
            </a:solidFill>
            <a:prstDash val="solid"/>
          </a:ln>
        </p:spPr>
      </p:sp>
      <p:sp>
        <p:nvSpPr>
          <p:cNvPr id="8" name="pkcode"/>
          <p:cNvSpPr txBox="1"/>
          <p:nvPr/>
        </p:nvSpPr>
        <p:spPr>
          <a:xfrm>
            <a:off x="548640" y="3072384"/>
            <a:ext cx="3566160" cy="868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def scale(value, /, factor=2):</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value * factor</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def area(width, *, height):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width * height</a:t>
            </a:r>
            <a:endParaRPr lang="en-US" sz="1000" dirty="0"/>
          </a:p>
        </p:txBody>
      </p:sp>
      <p:sp>
        <p:nvSpPr>
          <p:cNvPr id="9" name="pkc|b2"/>
          <p:cNvSpPr/>
          <p:nvPr/>
        </p:nvSpPr>
        <p:spPr>
          <a:xfrm>
            <a:off x="4526280" y="1207008"/>
            <a:ext cx="1600200" cy="530352"/>
          </a:xfrm>
          <a:prstGeom prst="roundRect">
            <a:avLst>
              <a:gd name="adj" fmla="val 8621"/>
            </a:avLst>
          </a:prstGeom>
          <a:solidFill>
            <a:srgbClr val="17202B"/>
          </a:solidFill>
          <a:ln w="12700">
            <a:solidFill>
              <a:srgbClr val="17202B"/>
            </a:solidFill>
            <a:prstDash val="solid"/>
          </a:ln>
        </p:spPr>
      </p:sp>
      <p:sp>
        <p:nvSpPr>
          <p:cNvPr id="10" name="pkct|b2"/>
          <p:cNvSpPr txBox="1"/>
          <p:nvPr/>
        </p:nvSpPr>
        <p:spPr>
          <a:xfrm>
            <a:off x="4581144" y="1207008"/>
            <a:ext cx="1490472" cy="530352"/>
          </a:xfrm>
          <a:prstGeom prst="rect">
            <a:avLst/>
          </a:prstGeom>
          <a:noFill/>
          <a:ln/>
        </p:spPr>
        <p:txBody>
          <a:bodyPr wrap="square" lIns="0" tIns="0" rIns="0" bIns="0" rtlCol="0" anchor="ctr"/>
          <a:lstStyle/>
          <a:p>
            <a:pPr indent="0" marL="0">
              <a:buNone/>
            </a:pPr>
            <a:r>
              <a:rPr lang="en-US" sz="1100" dirty="0">
                <a:solidFill>
                  <a:srgbClr val="FFD43B"/>
                </a:solidFill>
                <a:latin typeface="Courier New" pitchFamily="34" charset="0"/>
                <a:ea typeface="Courier New" pitchFamily="34" charset="-122"/>
                <a:cs typeface="Courier New" pitchFamily="34" charset="-120"/>
              </a:rPr>
              <a:t>scale(3)</a:t>
            </a:r>
            <a:endParaRPr lang="en-US" sz="1100" dirty="0"/>
          </a:p>
        </p:txBody>
      </p:sp>
      <p:sp>
        <p:nvSpPr>
          <p:cNvPr id="11" name="pkr|b2"/>
          <p:cNvSpPr/>
          <p:nvPr/>
        </p:nvSpPr>
        <p:spPr>
          <a:xfrm>
            <a:off x="6190488" y="1207008"/>
            <a:ext cx="2542032" cy="530352"/>
          </a:xfrm>
          <a:prstGeom prst="roundRect">
            <a:avLst>
              <a:gd name="adj" fmla="val 8621"/>
            </a:avLst>
          </a:prstGeom>
          <a:solidFill>
            <a:srgbClr val="DDF3E6"/>
          </a:solidFill>
          <a:ln w="12700">
            <a:solidFill>
              <a:srgbClr val="2E9E5B"/>
            </a:solidFill>
            <a:prstDash val="solid"/>
          </a:ln>
        </p:spPr>
      </p:sp>
      <p:sp>
        <p:nvSpPr>
          <p:cNvPr id="12" name="pkrt|b2"/>
          <p:cNvSpPr txBox="1"/>
          <p:nvPr/>
        </p:nvSpPr>
        <p:spPr>
          <a:xfrm>
            <a:off x="6263640" y="1207008"/>
            <a:ext cx="2377440" cy="530352"/>
          </a:xfrm>
          <a:prstGeom prst="rect">
            <a:avLst/>
          </a:prstGeom>
          <a:noFill/>
          <a:ln/>
        </p:spPr>
        <p:txBody>
          <a:bodyPr wrap="square" lIns="0" tIns="0" rIns="0" bIns="0" rtlCol="0" anchor="ctr"/>
          <a:lstStyle/>
          <a:p>
            <a:pPr indent="0" marL="0">
              <a:buNone/>
            </a:pPr>
            <a:r>
              <a:rPr lang="en-US" sz="1050" b="1" dirty="0">
                <a:solidFill>
                  <a:srgbClr val="2E9E5B"/>
                </a:solidFill>
                <a:latin typeface="Courier New" pitchFamily="34" charset="0"/>
                <a:ea typeface="Courier New" pitchFamily="34" charset="-122"/>
                <a:cs typeface="Courier New" pitchFamily="34" charset="-120"/>
              </a:rPr>
              <a:t>6</a:t>
            </a:r>
            <a:endParaRPr lang="en-US" sz="1050" dirty="0"/>
          </a:p>
        </p:txBody>
      </p:sp>
      <p:sp>
        <p:nvSpPr>
          <p:cNvPr id="13" name="pkc|b3"/>
          <p:cNvSpPr/>
          <p:nvPr/>
        </p:nvSpPr>
        <p:spPr>
          <a:xfrm>
            <a:off x="4526280" y="1773936"/>
            <a:ext cx="1600200" cy="530352"/>
          </a:xfrm>
          <a:prstGeom prst="roundRect">
            <a:avLst>
              <a:gd name="adj" fmla="val 8621"/>
            </a:avLst>
          </a:prstGeom>
          <a:solidFill>
            <a:srgbClr val="17202B"/>
          </a:solidFill>
          <a:ln w="12700">
            <a:solidFill>
              <a:srgbClr val="17202B"/>
            </a:solidFill>
            <a:prstDash val="solid"/>
          </a:ln>
        </p:spPr>
      </p:sp>
      <p:sp>
        <p:nvSpPr>
          <p:cNvPr id="14" name="pkct|b3"/>
          <p:cNvSpPr txBox="1"/>
          <p:nvPr/>
        </p:nvSpPr>
        <p:spPr>
          <a:xfrm>
            <a:off x="4581144" y="1773936"/>
            <a:ext cx="1490472" cy="530352"/>
          </a:xfrm>
          <a:prstGeom prst="rect">
            <a:avLst/>
          </a:prstGeom>
          <a:noFill/>
          <a:ln/>
        </p:spPr>
        <p:txBody>
          <a:bodyPr wrap="square" lIns="0" tIns="0" rIns="0" bIns="0" rtlCol="0" anchor="ctr"/>
          <a:lstStyle/>
          <a:p>
            <a:pPr indent="0" marL="0">
              <a:buNone/>
            </a:pPr>
            <a:r>
              <a:rPr lang="en-US" sz="1100" dirty="0">
                <a:solidFill>
                  <a:srgbClr val="FFD43B"/>
                </a:solidFill>
                <a:latin typeface="Courier New" pitchFamily="34" charset="0"/>
                <a:ea typeface="Courier New" pitchFamily="34" charset="-122"/>
                <a:cs typeface="Courier New" pitchFamily="34" charset="-120"/>
              </a:rPr>
              <a:t>scale(3, 4)</a:t>
            </a:r>
            <a:endParaRPr lang="en-US" sz="1100" dirty="0"/>
          </a:p>
        </p:txBody>
      </p:sp>
      <p:sp>
        <p:nvSpPr>
          <p:cNvPr id="15" name="pkr|b3"/>
          <p:cNvSpPr/>
          <p:nvPr/>
        </p:nvSpPr>
        <p:spPr>
          <a:xfrm>
            <a:off x="6190488" y="1773936"/>
            <a:ext cx="2542032" cy="530352"/>
          </a:xfrm>
          <a:prstGeom prst="roundRect">
            <a:avLst>
              <a:gd name="adj" fmla="val 8621"/>
            </a:avLst>
          </a:prstGeom>
          <a:solidFill>
            <a:srgbClr val="DDF3E6"/>
          </a:solidFill>
          <a:ln w="12700">
            <a:solidFill>
              <a:srgbClr val="2E9E5B"/>
            </a:solidFill>
            <a:prstDash val="solid"/>
          </a:ln>
        </p:spPr>
      </p:sp>
      <p:sp>
        <p:nvSpPr>
          <p:cNvPr id="16" name="pkrt|b3"/>
          <p:cNvSpPr txBox="1"/>
          <p:nvPr/>
        </p:nvSpPr>
        <p:spPr>
          <a:xfrm>
            <a:off x="6263640" y="1773936"/>
            <a:ext cx="2377440" cy="530352"/>
          </a:xfrm>
          <a:prstGeom prst="rect">
            <a:avLst/>
          </a:prstGeom>
          <a:noFill/>
          <a:ln/>
        </p:spPr>
        <p:txBody>
          <a:bodyPr wrap="square" lIns="0" tIns="0" rIns="0" bIns="0" rtlCol="0" anchor="ctr"/>
          <a:lstStyle/>
          <a:p>
            <a:pPr indent="0" marL="0">
              <a:buNone/>
            </a:pPr>
            <a:r>
              <a:rPr lang="en-US" sz="1050" b="1" dirty="0">
                <a:solidFill>
                  <a:srgbClr val="2E9E5B"/>
                </a:solidFill>
                <a:latin typeface="Courier New" pitchFamily="34" charset="0"/>
                <a:ea typeface="Courier New" pitchFamily="34" charset="-122"/>
                <a:cs typeface="Courier New" pitchFamily="34" charset="-120"/>
              </a:rPr>
              <a:t>12</a:t>
            </a:r>
            <a:endParaRPr lang="en-US" sz="1050" dirty="0"/>
          </a:p>
        </p:txBody>
      </p:sp>
      <p:sp>
        <p:nvSpPr>
          <p:cNvPr id="17" name="pkc|b4"/>
          <p:cNvSpPr/>
          <p:nvPr/>
        </p:nvSpPr>
        <p:spPr>
          <a:xfrm>
            <a:off x="4526280" y="2340864"/>
            <a:ext cx="1600200" cy="530352"/>
          </a:xfrm>
          <a:prstGeom prst="roundRect">
            <a:avLst>
              <a:gd name="adj" fmla="val 8621"/>
            </a:avLst>
          </a:prstGeom>
          <a:solidFill>
            <a:srgbClr val="17202B"/>
          </a:solidFill>
          <a:ln w="12700">
            <a:solidFill>
              <a:srgbClr val="17202B"/>
            </a:solidFill>
            <a:prstDash val="solid"/>
          </a:ln>
        </p:spPr>
      </p:sp>
      <p:sp>
        <p:nvSpPr>
          <p:cNvPr id="18" name="pkct|b4"/>
          <p:cNvSpPr txBox="1"/>
          <p:nvPr/>
        </p:nvSpPr>
        <p:spPr>
          <a:xfrm>
            <a:off x="4581144" y="2340864"/>
            <a:ext cx="1490472" cy="530352"/>
          </a:xfrm>
          <a:prstGeom prst="rect">
            <a:avLst/>
          </a:prstGeom>
          <a:noFill/>
          <a:ln/>
        </p:spPr>
        <p:txBody>
          <a:bodyPr wrap="square" lIns="0" tIns="0" rIns="0" bIns="0" rtlCol="0" anchor="ctr"/>
          <a:lstStyle/>
          <a:p>
            <a:pPr indent="0" marL="0">
              <a:buNone/>
            </a:pPr>
            <a:r>
              <a:rPr lang="en-US" sz="1100" dirty="0">
                <a:solidFill>
                  <a:srgbClr val="FFD43B"/>
                </a:solidFill>
                <a:latin typeface="Courier New" pitchFamily="34" charset="0"/>
                <a:ea typeface="Courier New" pitchFamily="34" charset="-122"/>
                <a:cs typeface="Courier New" pitchFamily="34" charset="-120"/>
              </a:rPr>
              <a:t>scale(value=3)</a:t>
            </a:r>
            <a:endParaRPr lang="en-US" sz="1100" dirty="0"/>
          </a:p>
        </p:txBody>
      </p:sp>
      <p:sp>
        <p:nvSpPr>
          <p:cNvPr id="19" name="pkr|b4"/>
          <p:cNvSpPr/>
          <p:nvPr/>
        </p:nvSpPr>
        <p:spPr>
          <a:xfrm>
            <a:off x="6190488" y="2340864"/>
            <a:ext cx="2542032" cy="530352"/>
          </a:xfrm>
          <a:prstGeom prst="roundRect">
            <a:avLst>
              <a:gd name="adj" fmla="val 8621"/>
            </a:avLst>
          </a:prstGeom>
          <a:solidFill>
            <a:srgbClr val="FBE1E1"/>
          </a:solidFill>
          <a:ln w="12700">
            <a:solidFill>
              <a:srgbClr val="D64545"/>
            </a:solidFill>
            <a:prstDash val="solid"/>
          </a:ln>
        </p:spPr>
      </p:sp>
      <p:sp>
        <p:nvSpPr>
          <p:cNvPr id="20" name="pkrt|b4"/>
          <p:cNvSpPr txBox="1"/>
          <p:nvPr/>
        </p:nvSpPr>
        <p:spPr>
          <a:xfrm>
            <a:off x="6263640" y="2340864"/>
            <a:ext cx="2377440" cy="530352"/>
          </a:xfrm>
          <a:prstGeom prst="rect">
            <a:avLst/>
          </a:prstGeom>
          <a:noFill/>
          <a:ln/>
        </p:spPr>
        <p:txBody>
          <a:bodyPr wrap="square" lIns="0" tIns="0" rIns="0" bIns="0" rtlCol="0" anchor="ctr"/>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scale() got some positional-only arguments passed as keyword arguments: 'value'</a:t>
            </a:r>
            <a:endParaRPr lang="en-US" sz="950" dirty="0"/>
          </a:p>
        </p:txBody>
      </p:sp>
      <p:sp>
        <p:nvSpPr>
          <p:cNvPr id="21" name="pkc|b5"/>
          <p:cNvSpPr/>
          <p:nvPr/>
        </p:nvSpPr>
        <p:spPr>
          <a:xfrm>
            <a:off x="4526280" y="2907792"/>
            <a:ext cx="1600200" cy="530352"/>
          </a:xfrm>
          <a:prstGeom prst="roundRect">
            <a:avLst>
              <a:gd name="adj" fmla="val 8621"/>
            </a:avLst>
          </a:prstGeom>
          <a:solidFill>
            <a:srgbClr val="17202B"/>
          </a:solidFill>
          <a:ln w="12700">
            <a:solidFill>
              <a:srgbClr val="17202B"/>
            </a:solidFill>
            <a:prstDash val="solid"/>
          </a:ln>
        </p:spPr>
      </p:sp>
      <p:sp>
        <p:nvSpPr>
          <p:cNvPr id="22" name="pkct|b5"/>
          <p:cNvSpPr txBox="1"/>
          <p:nvPr/>
        </p:nvSpPr>
        <p:spPr>
          <a:xfrm>
            <a:off x="4581144" y="2907792"/>
            <a:ext cx="1490472" cy="530352"/>
          </a:xfrm>
          <a:prstGeom prst="rect">
            <a:avLst/>
          </a:prstGeom>
          <a:noFill/>
          <a:ln/>
        </p:spPr>
        <p:txBody>
          <a:bodyPr wrap="square" lIns="0" tIns="0" rIns="0" bIns="0" rtlCol="0" anchor="ctr"/>
          <a:lstStyle/>
          <a:p>
            <a:pPr indent="0" marL="0">
              <a:buNone/>
            </a:pPr>
            <a:r>
              <a:rPr lang="en-US" sz="1100" dirty="0">
                <a:solidFill>
                  <a:srgbClr val="FFD43B"/>
                </a:solidFill>
                <a:latin typeface="Courier New" pitchFamily="34" charset="0"/>
                <a:ea typeface="Courier New" pitchFamily="34" charset="-122"/>
                <a:cs typeface="Courier New" pitchFamily="34" charset="-120"/>
              </a:rPr>
              <a:t>area(2, height=5)</a:t>
            </a:r>
            <a:endParaRPr lang="en-US" sz="1100" dirty="0"/>
          </a:p>
        </p:txBody>
      </p:sp>
      <p:sp>
        <p:nvSpPr>
          <p:cNvPr id="23" name="pkr|b5"/>
          <p:cNvSpPr/>
          <p:nvPr/>
        </p:nvSpPr>
        <p:spPr>
          <a:xfrm>
            <a:off x="6190488" y="2907792"/>
            <a:ext cx="2542032" cy="530352"/>
          </a:xfrm>
          <a:prstGeom prst="roundRect">
            <a:avLst>
              <a:gd name="adj" fmla="val 8621"/>
            </a:avLst>
          </a:prstGeom>
          <a:solidFill>
            <a:srgbClr val="DDF3E6"/>
          </a:solidFill>
          <a:ln w="12700">
            <a:solidFill>
              <a:srgbClr val="2E9E5B"/>
            </a:solidFill>
            <a:prstDash val="solid"/>
          </a:ln>
        </p:spPr>
      </p:sp>
      <p:sp>
        <p:nvSpPr>
          <p:cNvPr id="24" name="pkrt|b5"/>
          <p:cNvSpPr txBox="1"/>
          <p:nvPr/>
        </p:nvSpPr>
        <p:spPr>
          <a:xfrm>
            <a:off x="6263640" y="2907792"/>
            <a:ext cx="2377440" cy="530352"/>
          </a:xfrm>
          <a:prstGeom prst="rect">
            <a:avLst/>
          </a:prstGeom>
          <a:noFill/>
          <a:ln/>
        </p:spPr>
        <p:txBody>
          <a:bodyPr wrap="square" lIns="0" tIns="0" rIns="0" bIns="0" rtlCol="0" anchor="ctr"/>
          <a:lstStyle/>
          <a:p>
            <a:pPr indent="0" marL="0">
              <a:buNone/>
            </a:pPr>
            <a:r>
              <a:rPr lang="en-US" sz="1050" b="1" dirty="0">
                <a:solidFill>
                  <a:srgbClr val="2E9E5B"/>
                </a:solidFill>
                <a:latin typeface="Courier New" pitchFamily="34" charset="0"/>
                <a:ea typeface="Courier New" pitchFamily="34" charset="-122"/>
                <a:cs typeface="Courier New" pitchFamily="34" charset="-120"/>
              </a:rPr>
              <a:t>10</a:t>
            </a:r>
            <a:endParaRPr lang="en-US" sz="1050" dirty="0"/>
          </a:p>
        </p:txBody>
      </p:sp>
      <p:sp>
        <p:nvSpPr>
          <p:cNvPr id="25" name="pkc|b6"/>
          <p:cNvSpPr/>
          <p:nvPr/>
        </p:nvSpPr>
        <p:spPr>
          <a:xfrm>
            <a:off x="4526280" y="3474720"/>
            <a:ext cx="1600200" cy="530352"/>
          </a:xfrm>
          <a:prstGeom prst="roundRect">
            <a:avLst>
              <a:gd name="adj" fmla="val 8621"/>
            </a:avLst>
          </a:prstGeom>
          <a:solidFill>
            <a:srgbClr val="17202B"/>
          </a:solidFill>
          <a:ln w="12700">
            <a:solidFill>
              <a:srgbClr val="17202B"/>
            </a:solidFill>
            <a:prstDash val="solid"/>
          </a:ln>
        </p:spPr>
      </p:sp>
      <p:sp>
        <p:nvSpPr>
          <p:cNvPr id="26" name="pkct|b6"/>
          <p:cNvSpPr txBox="1"/>
          <p:nvPr/>
        </p:nvSpPr>
        <p:spPr>
          <a:xfrm>
            <a:off x="4581144" y="3474720"/>
            <a:ext cx="1490472" cy="530352"/>
          </a:xfrm>
          <a:prstGeom prst="rect">
            <a:avLst/>
          </a:prstGeom>
          <a:noFill/>
          <a:ln/>
        </p:spPr>
        <p:txBody>
          <a:bodyPr wrap="square" lIns="0" tIns="0" rIns="0" bIns="0" rtlCol="0" anchor="ctr"/>
          <a:lstStyle/>
          <a:p>
            <a:pPr indent="0" marL="0">
              <a:buNone/>
            </a:pPr>
            <a:r>
              <a:rPr lang="en-US" sz="1100" dirty="0">
                <a:solidFill>
                  <a:srgbClr val="FFD43B"/>
                </a:solidFill>
                <a:latin typeface="Courier New" pitchFamily="34" charset="0"/>
                <a:ea typeface="Courier New" pitchFamily="34" charset="-122"/>
                <a:cs typeface="Courier New" pitchFamily="34" charset="-120"/>
              </a:rPr>
              <a:t>area(2, 5)</a:t>
            </a:r>
            <a:endParaRPr lang="en-US" sz="1100" dirty="0"/>
          </a:p>
        </p:txBody>
      </p:sp>
      <p:sp>
        <p:nvSpPr>
          <p:cNvPr id="27" name="pkr|b6"/>
          <p:cNvSpPr/>
          <p:nvPr/>
        </p:nvSpPr>
        <p:spPr>
          <a:xfrm>
            <a:off x="6190488" y="3474720"/>
            <a:ext cx="2542032" cy="530352"/>
          </a:xfrm>
          <a:prstGeom prst="roundRect">
            <a:avLst>
              <a:gd name="adj" fmla="val 8621"/>
            </a:avLst>
          </a:prstGeom>
          <a:solidFill>
            <a:srgbClr val="FBE1E1"/>
          </a:solidFill>
          <a:ln w="12700">
            <a:solidFill>
              <a:srgbClr val="D64545"/>
            </a:solidFill>
            <a:prstDash val="solid"/>
          </a:ln>
        </p:spPr>
      </p:sp>
      <p:sp>
        <p:nvSpPr>
          <p:cNvPr id="28" name="pkrt|b6"/>
          <p:cNvSpPr txBox="1"/>
          <p:nvPr/>
        </p:nvSpPr>
        <p:spPr>
          <a:xfrm>
            <a:off x="6263640" y="3474720"/>
            <a:ext cx="2377440" cy="530352"/>
          </a:xfrm>
          <a:prstGeom prst="rect">
            <a:avLst/>
          </a:prstGeom>
          <a:noFill/>
          <a:ln/>
        </p:spPr>
        <p:txBody>
          <a:bodyPr wrap="square" lIns="0" tIns="0" rIns="0" bIns="0" rtlCol="0" anchor="ctr"/>
          <a:lstStyle/>
          <a:p>
            <a:pPr indent="0" marL="0">
              <a:buNone/>
            </a:pPr>
            <a:r>
              <a:rPr lang="en-US" sz="1050" dirty="0">
                <a:solidFill>
                  <a:srgbClr val="D64545"/>
                </a:solidFill>
                <a:latin typeface="Courier New" pitchFamily="34" charset="0"/>
                <a:ea typeface="Courier New" pitchFamily="34" charset="-122"/>
                <a:cs typeface="Courier New" pitchFamily="34" charset="-120"/>
              </a:rPr>
              <a:t>TypeError: area() takes 1 positional argument but 2 were given</a:t>
            </a:r>
            <a:endParaRPr lang="en-US" sz="1050" dirty="0"/>
          </a:p>
        </p:txBody>
      </p:sp>
      <p:sp>
        <p:nvSpPr>
          <p:cNvPr id="29" name="band|b7"/>
          <p:cNvSpPr/>
          <p:nvPr/>
        </p:nvSpPr>
        <p:spPr>
          <a:xfrm>
            <a:off x="4526280" y="4133088"/>
            <a:ext cx="4206240" cy="438912"/>
          </a:xfrm>
          <a:prstGeom prst="roundRect">
            <a:avLst>
              <a:gd name="adj" fmla="val 20833"/>
            </a:avLst>
          </a:prstGeom>
          <a:solidFill>
            <a:srgbClr val="E3EEF8"/>
          </a:solidFill>
          <a:ln w="25400">
            <a:solidFill>
              <a:srgbClr val="306998"/>
            </a:solidFill>
            <a:prstDash val="solid"/>
          </a:ln>
        </p:spPr>
      </p:sp>
      <p:sp>
        <p:nvSpPr>
          <p:cNvPr id="30" name="bandt|b7"/>
          <p:cNvSpPr txBox="1"/>
          <p:nvPr/>
        </p:nvSpPr>
        <p:spPr>
          <a:xfrm>
            <a:off x="4690872" y="4187952"/>
            <a:ext cx="3877056" cy="329184"/>
          </a:xfrm>
          <a:prstGeom prst="rect">
            <a:avLst/>
          </a:prstGeom>
          <a:noFill/>
          <a:ln/>
        </p:spPr>
        <p:txBody>
          <a:bodyPr wrap="square" lIns="0" tIns="0" rIns="0" bIns="0" rtlCol="0" anchor="t"/>
          <a:lstStyle/>
          <a:p>
            <a:pPr indent="0" marL="0">
              <a:buNone/>
            </a:pPr>
            <a:r>
              <a:rPr lang="en-US" sz="1050" b="1" dirty="0">
                <a:solidFill>
                  <a:srgbClr val="306998"/>
                </a:solidFill>
                <a:latin typeface="Cambria" pitchFamily="34" charset="0"/>
                <a:ea typeface="Cambria" pitchFamily="34" charset="-122"/>
                <a:cs typeface="Cambria" pitchFamily="34" charset="-120"/>
              </a:rPr>
              <a:t>The rule  </a:t>
            </a:r>
            <a:r>
              <a:rPr lang="en-US" sz="1050" dirty="0">
                <a:solidFill>
                  <a:srgbClr val="1F2933"/>
                </a:solidFill>
                <a:latin typeface="Calibri" pitchFamily="34" charset="0"/>
                <a:ea typeface="Calibri" pitchFamily="34" charset="-122"/>
                <a:cs typeface="Calibri" pitchFamily="34" charset="-120"/>
              </a:rPr>
              <a:t> slash closes the parameters before it to ...</a:t>
            </a:r>
            <a:endParaRPr lang="en-US" sz="130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00"/>
                                        <p:tgtEl>
                                          <p:spTgt spid="18"/>
                                        </p:tgtEl>
                                      </p:cBhvr>
                                    </p:animEffect>
                                  </p:childTnLst>
                                </p:cTn>
                              </p:par>
                              <p:par>
                                <p:cTn id="37" presetID="10"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00"/>
                                        <p:tgtEl>
                                          <p:spTgt spid="20"/>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00"/>
                                        <p:tgtEl>
                                          <p:spTgt spid="22"/>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00"/>
                                        <p:tgtEl>
                                          <p:spTgt spid="2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par>
                                <p:cTn id="65" presetID="10" presetClass="entr" presetSubtype="0" fill="hold"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00"/>
                                        <p:tgtEl>
                                          <p:spTgt spid="2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00"/>
                                        <p:tgtEl>
                                          <p:spTgt spid="28"/>
                                        </p:tgtEl>
                                      </p:cBhvr>
                                    </p:animEffect>
                                  </p:childTnLst>
                                </p:cTn>
                              </p:par>
                            </p:childTnLst>
                          </p:cTn>
                        </p:par>
                      </p:childTnLst>
                    </p:cTn>
                  </p:par>
                  <p:par>
                    <p:cTn id="79" fill="hold">
                      <p:stCondLst>
                        <p:cond delay="indefinite"/>
                      </p:stCondLst>
                      <p:childTnLst>
                        <p:par>
                          <p:cTn id="80"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0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Keyword-only parameter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Parameters after a star can only be passed by name, so a call cannot get them wrong by position.</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A keyword-only parameter is a parameter that can receive its argument only by name. It is marked by a star in the parameter list: every parameter after the bare star is keyword-only. PEP 3102 introduced the idea as arguments that can only be supplied by keyword and which will never be automatically filled in by a positional argument (Talin, 2006).</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For a function defined as def f(a, *, b=2): return a + b, the call f(1, b=5) gives 6 and the call f(1) gives 3, because b has the default value 2. The call f(1, 5) stops with TypeError: f() takes 1 positional argument but 2 were given, since the second value has no positional slot to fill.</a:t>
            </a:r>
            <a:endParaRPr lang="en-US" sz="13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star must come before the keyword-only parameters, and the keyword-only parameters are not required to have a default value: for def f(*, b), the call f(b=1) works and the call f() stops with TypeError: f() missing 1 required keyword-only argument: 'b'.</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850" b="1" dirty="0">
                <a:solidFill>
                  <a:srgbClr val="FFD43B"/>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(lambda a, *, b=2: a + b)(1, b=5)</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a:t>
            </a:r>
            <a:endParaRPr lang="en-US" sz="8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The built-in print is the example learners meet first: its documentation states that sep, end, file and flush must be given as keyword arguments (Python Software Foundation, 2026). In the textbook's examples this is why the separator and the end string are always written with their names.</a:t>
            </a:r>
            <a:endParaRPr lang="en-US" sz="11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def f(a, *, b=2):</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1800" b="1" dirty="0">
                <a:solidFill>
                  <a:srgbClr val="1E2A3A"/>
                </a:solidFill>
                <a:latin typeface="Cambria" pitchFamily="34" charset="0"/>
                <a:ea typeface="Cambria" pitchFamily="34" charset="-122"/>
                <a:cs typeface="Cambria" pitchFamily="34" charset="-120"/>
              </a:rPr>
              <a:t>Keyword-only parameter: the program, and what it really prints</a:t>
            </a:r>
            <a:endParaRPr lang="en-US" sz="18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050" dirty="0">
                <a:solidFill>
                  <a:srgbClr val="E6EDF3"/>
                </a:solidFill>
                <a:latin typeface="Courier New" pitchFamily="34" charset="0"/>
                <a:ea typeface="Courier New" pitchFamily="34" charset="-122"/>
                <a:cs typeface="Courier New" pitchFamily="34" charset="-120"/>
              </a:rPr>
              <a:t>def scale(value, /, factor=2):</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return value * factor</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def area(width, *, height):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return width * height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print(scale(3), scale(3, factor=4), area(2, height=5))</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for call in (lambda: scale(value=3), lambda: area(2, 5)):</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try:</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call()</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except TypeError as error:</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print(error)</a:t>
            </a:r>
            <a:endParaRPr lang="en-US" sz="105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kinds_v1_0_0.py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550" dirty="0">
                <a:solidFill>
                  <a:srgbClr val="1F2933"/>
                </a:solidFill>
                <a:latin typeface="Courier New" pitchFamily="34" charset="0"/>
                <a:ea typeface="Courier New" pitchFamily="34" charset="-122"/>
                <a:cs typeface="Courier New" pitchFamily="34" charset="-120"/>
              </a:rPr>
              <a:t>6 12 10</a:t>
            </a:r>
            <a:endParaRPr lang="en-US" sz="550" dirty="0"/>
          </a:p>
          <a:p>
            <a:pPr indent="0" marL="0">
              <a:buNone/>
            </a:pPr>
            <a:r>
              <a:rPr lang="en-US" sz="550" dirty="0">
                <a:solidFill>
                  <a:srgbClr val="1F2933"/>
                </a:solidFill>
                <a:latin typeface="Courier New" pitchFamily="34" charset="0"/>
                <a:ea typeface="Courier New" pitchFamily="34" charset="-122"/>
                <a:cs typeface="Courier New" pitchFamily="34" charset="-120"/>
              </a:rPr>
              <a:t>scale() got some positional-only arguments passed as keyword arguments: 'value'</a:t>
            </a:r>
            <a:endParaRPr lang="en-US" sz="550" dirty="0"/>
          </a:p>
          <a:p>
            <a:pPr indent="0" marL="0">
              <a:buNone/>
            </a:pPr>
            <a:r>
              <a:rPr lang="en-US" sz="550" dirty="0">
                <a:solidFill>
                  <a:srgbClr val="1F2933"/>
                </a:solidFill>
                <a:latin typeface="Courier New" pitchFamily="34" charset="0"/>
                <a:ea typeface="Courier New" pitchFamily="34" charset="-122"/>
                <a:cs typeface="Courier New" pitchFamily="34" charset="-120"/>
              </a:rPr>
              <a:t>area() takes 1 positional argument but 2 were given</a:t>
            </a:r>
            <a:endParaRPr lang="en-US" sz="55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For a function defined as def f(a, *, b=2): return a + b, the call f(1, b=5) gives 6 and the call f(1) gives 3, because b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Default argument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default value is evaluated once, when the function is defined, so a mutable default is shared between calls; the tutorial's remedy is a default of None.</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default argument value is a value written in the definition, as in def greet(name, greeting='Hello'), which Python uses when a call leaves that argument out. The reference says that a parameter written as parameter = expression gives the function default parameter values and that the corresponding argument may then be omitted from a call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default expression is evaluated once, when the def statement is executed, and the same value is then used for each call. The tutorial's example sets i = 5, defines def f(arg=i), then sets i = 6; calling f() still returns 5 and f(7) returns 7 (Python Software Foundation, 2026).</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list is an ordered collection of values that chapter 6 introduces.</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(lambda x, y=10: x + y)(1)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11</a:t>
            </a:r>
            <a:endParaRPr lang="en-US" sz="105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Defaults appear in the signatures of many library functions, and in the functions a program defines itself whenever a setting nearly always has the same value.</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def f(a, L=None):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Default argument: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collect(item, box=[]):</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box.append(item)</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box</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print(collect(1))</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print(collect(2))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def collect_safely(item, box=None):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if box is None: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box = []</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box.append(item)</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box</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print(collect_safely(1))</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print(collect_safely(2))</a:t>
            </a:r>
            <a:endParaRPr lang="en-US" sz="12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defaults_v1_0_0.py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[1, 2]</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default expression is evaluated once, when the def statement is executed, and the same value is then used for each call.</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Function  &gt;  Parameters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Result</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400" i="1" dirty="0">
                <a:solidFill>
                  <a:srgbClr val="FFD43B"/>
                </a:solidFill>
                <a:latin typeface="Calibri" pitchFamily="34" charset="0"/>
                <a:ea typeface="Calibri" pitchFamily="34" charset="-122"/>
                <a:cs typeface="Calibri" pitchFamily="34" charset="-120"/>
              </a:rPr>
              <a:t>The result of a function is what a call evaluates to once the body has finished. In everyday speech a function gives something back; in Python terms the call is replaced, inside the expression that contains it, by the function's return value.</a:t>
            </a:r>
            <a:endParaRPr lang="en-US" sz="1400" dirty="0"/>
          </a:p>
        </p:txBody>
      </p:sp>
      <p:sp>
        <p:nvSpPr>
          <p:cNvPr id="4" name="br1|b1"/>
          <p:cNvSpPr/>
          <p:nvPr/>
        </p:nvSpPr>
        <p:spPr>
          <a:xfrm>
            <a:off x="457200" y="1828800"/>
            <a:ext cx="4050792"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Return value</a:t>
            </a:r>
            <a:endParaRPr lang="en-US" sz="1400" dirty="0"/>
          </a:p>
        </p:txBody>
      </p:sp>
      <p:sp>
        <p:nvSpPr>
          <p:cNvPr id="6" name="br2|b1"/>
          <p:cNvSpPr/>
          <p:nvPr/>
        </p:nvSpPr>
        <p:spPr>
          <a:xfrm>
            <a:off x="457200" y="2359152"/>
            <a:ext cx="4050792"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Return statement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Implicit None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Call as expression</a:t>
            </a:r>
            <a:endParaRPr lang="en-US" sz="1200" dirty="0"/>
          </a:p>
        </p:txBody>
      </p:sp>
      <p:sp>
        <p:nvSpPr>
          <p:cNvPr id="8" name="br1|b2"/>
          <p:cNvSpPr/>
          <p:nvPr/>
        </p:nvSpPr>
        <p:spPr>
          <a:xfrm>
            <a:off x="4636008" y="1828800"/>
            <a:ext cx="4050792" cy="457200"/>
          </a:xfrm>
          <a:prstGeom prst="roundRect">
            <a:avLst>
              <a:gd name="adj" fmla="val 16000"/>
            </a:avLst>
          </a:prstGeom>
          <a:solidFill>
            <a:srgbClr val="FFD43B"/>
          </a:solidFill>
          <a:ln w="12700">
            <a:solidFill>
              <a:srgbClr val="FFD43B"/>
            </a:solidFill>
            <a:prstDash val="solid"/>
          </a:ln>
        </p:spPr>
      </p:sp>
      <p:sp>
        <p:nvSpPr>
          <p:cNvPr id="9" name="br1t|b2"/>
          <p:cNvSpPr txBox="1"/>
          <p:nvPr/>
        </p:nvSpPr>
        <p:spPr>
          <a:xfrm>
            <a:off x="4672584"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NoneType</a:t>
            </a:r>
            <a:endParaRPr lang="en-US" sz="1400" dirty="0"/>
          </a:p>
        </p:txBody>
      </p:sp>
      <p:sp>
        <p:nvSpPr>
          <p:cNvPr id="10" name="br2|b2"/>
          <p:cNvSpPr/>
          <p:nvPr/>
        </p:nvSpPr>
        <p:spPr>
          <a:xfrm>
            <a:off x="4636008" y="2359152"/>
            <a:ext cx="4050792" cy="2121408"/>
          </a:xfrm>
          <a:prstGeom prst="roundRect">
            <a:avLst>
              <a:gd name="adj" fmla="val 3448"/>
            </a:avLst>
          </a:prstGeom>
          <a:solidFill>
            <a:srgbClr val="27374B"/>
          </a:solidFill>
          <a:ln w="12700">
            <a:solidFill>
              <a:srgbClr val="3B5B87"/>
            </a:solidFill>
            <a:prstDash val="solid"/>
          </a:ln>
        </p:spPr>
      </p:sp>
      <p:sp>
        <p:nvSpPr>
          <p:cNvPr id="11" name="br2t|b2"/>
          <p:cNvSpPr txBox="1"/>
          <p:nvPr/>
        </p:nvSpPr>
        <p:spPr>
          <a:xfrm>
            <a:off x="4727448"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None value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Identity test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Return value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return value is the value that a function call evaluates to.</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Understanding the return value separates two things that beginners often mix up, printing a result and returning it. A function that prints can only be read by a person, while a function that returns can be used by the rest of the program in arithmetic, comparisons and further calls.</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reference puts the rule in one sentence: return leaves the current function call with the expression list, or None, as return value (Python Software Foundation, 2026). Everything else in the branch is a consequence of that sentence.</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Return statement</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return 42 / divide_by</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Implicit None</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def f(): pass</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Call as expression</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print(get_answer(random.randint(1, 9)))</a:t>
            </a:r>
            <a:endParaRPr lang="en-US" sz="1100" dirty="0"/>
          </a:p>
        </p:txBody>
      </p:sp>
      <p:sp>
        <p:nvSpPr>
          <p:cNvPr id="23"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Result  &gt;  Return value</a:t>
            </a:r>
            <a:endParaRPr lang="en-US" sz="950" dirty="0"/>
          </a:p>
        </p:txBody>
      </p:sp>
      <p:sp>
        <p:nvSpPr>
          <p:cNvPr id="24"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Return statement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return statement leaves the function with the value of its expression, so a call can be used wherever a value can.</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return statement ends a function call and chooses the value that the call evaluates to. The textbook says that it consists of the return keyword and the value or expression that the function should return (Sweigart, 2025). The language reference gives the same rule in its own words: if an expression list is present it is evaluated, else None is substituted, and return leaves the current function call with it as the return value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Executing return does two things at once: it computes the value and it leaves the function immediately.</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return statement can appear several times, but only one of them is executed per call.</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(lambda d: 42 / d)(2)</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21.0</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chapter's divide function is the simplest example. After def spam(divide_by): return 42 / divide_by, the calls spam(2), spam(12) and spam(1) evaluate to 21.0, 3.5 and 42.0, and spam(2) + spam(12) evaluates to 24.5, because the calls are values and can be added.</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Result  &gt;  Return value</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return 42 / divide_by</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Return statement: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area(width, height):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width * height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def shout(text):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print(text.upper())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print(area(3, 4) + area(1, 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result = shout('hi')</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print(result is None)</a:t>
            </a:r>
            <a:endParaRPr lang="en-US" sz="12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returns_v1_0_0.py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14</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HI</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True</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Executing return does two things at once: it computes the value and it leaves the function immediately.</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Result  &gt;  Return value</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Implicit None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 function without a return statement, or with a bare return, returns None.</a:t>
            </a:r>
            <a:endParaRPr lang="en-US" sz="14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function that never executes a return statement with a value still returns something: it returns None. The tutorial answers an objection that people from other languages raise, that such a function is a procedure and not a function, by stating that even functions without a return statement do return a value, albeit a rather boring one, and that this value is called None (Python Software Foundation, 2026). The textbook describes it from the inside: behind the scenes Python adds return None to the end of any function definition with no return statement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For def f(): pass and def g(): return the calls f() and g() both evaluate to None, and type(f()).__name__ gives 'NoneType'.</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missing return is one of the most frequent mistakes in beginners' programs. The symptom is a calculation that seems to work but delivers None, followed by an error when None is added to a number or compared with one.</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[2, 1].sort() is None</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case appears whenever a function only performs an action, such as printing, and in every function whose last branch forgets to return. The tutorial's rule has two parts: a return without an expression argument returns None, and falling off the end of a function also returns None (Python Software Foundation, 2026).</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Result  &gt;  Return value</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def f(): pass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Call as expression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Because a call evaluates to its return value, a call can be used as an argument of another call or as an operand in a larger expression.</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Using a call as an expression means putting a function call wherever a value is expected, for instance inside the parentheses of another call. The textbook notes that because you can pass return values as arguments to other function calls, the three lines r = random.randint(1, 9), fortune = get_answer(r) and print(fortune) can be shortened to the single equivalent line print(get_answer(random.randint(1, 9)))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language reference states the order: all argument expressions are evaluated before the call is attempted (Python Software Foundation, 2026).</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Long nested calls are short to write but harder to debug, because no intermediate value is stored where it can be inspected.</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len(str(42 / 2))</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4</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Nested calls are read from the inside out. In len(str(42 / 2)), the division is evaluated first and gives 21.0, the call str turns it into the text '21.0', and len counts four characters, so the whole expression evaluates to 4. Calls also take part in arithmetic, as spam(2) + spam(12) does when it evaluates to 24.5.</a:t>
            </a:r>
            <a:endParaRPr lang="en-US" sz="10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Result  &gt;  Return value</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print(get_answer(random.randint(1, 9)))</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NoneType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NoneType is the data type of the single value None.</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A language needs a way to say that there is no value, distinct from every real value including zero and the empty string. Python uses None for this, where other languages use null, nil or undefined, as the textbook mentions (Sweigart, 2025).</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first section describes the value and where it comes from, with print as the standard example. The second section explains the test that decides whether a value is None, which uses the operator is instead of the equality sign.</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None value</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spam = print('Hello!')</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Identity test</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x is None</a:t>
            </a:r>
            <a:endParaRPr lang="en-US" sz="1100" dirty="0"/>
          </a:p>
        </p:txBody>
      </p:sp>
      <p:sp>
        <p:nvSpPr>
          <p:cNvPr id="1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Result  &gt;  NoneType</a:t>
            </a:r>
            <a:endParaRPr lang="en-US" sz="950" dirty="0"/>
          </a:p>
        </p:txBody>
      </p:sp>
      <p:sp>
        <p:nvSpPr>
          <p:cNvPr id="2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None value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None is the only value of NoneType and stands for the absence of a value; print returns it, and PEP 8 says to compare with is.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None is a value that represents the absence of a value. The textbook states that it is the only value of the NoneType data type, that other programming languages might call it null, nil or undefined, and that it must always be written with a capital N, just like the Booleans True and False (Sweigart, 2025). The library reference describes it as an object frequently used to represent the absence of a value, as when default arguments are not passed to a function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expression type(None).__name__ evaluates to 'NoneType', and the reference confirms that None is the sole instance of the NoneType type, that is, the only value of that type (Python Software ...</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None is not zero, not an empty string and not False, even though a test in an if statement treats all of them as false.</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type(None).__name__</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'NoneType'</a:t>
            </a:r>
            <a:endParaRPr lang="en-US" sz="130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first place a learner meets it is the return value of print. After spam = print('Hello!'), the text Hello! is printed and spam holds None; printing spam then shows None, and the check None == spam gives True (Sweigart, 2025).</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Result  &gt;  NoneType</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spam = print('Hello!')</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Identity test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operators is and is not test whether two names refer to the very same object; PEP 8 says to compare with None this way.</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identity test asks whether two names refer to the very same object. The operators is and is not perform it: the language reference says that x is y is true if and only if x and y are the same object (Python Software Foundation, 2026). The test is different from equality, which asks whether two values are equal in content.</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same value can be tested in two ways, and only one of them asks the right question. A function describe(x) that answers 'missing' if x is None else 'given' reports 'given' for the argument 0, since 0 is a real value.</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style guide warns of exactly this trap: beware of writing if x when you really mean if x is not None (Van Rossum et al., 2001). It also asks for is not instead of not ... is, which is easier to read.</a:t>
            </a:r>
            <a:endParaRPr lang="en-US" sz="1300" dirty="0"/>
          </a:p>
        </p:txBody>
      </p:sp>
      <p:sp>
        <p:nvSpPr>
          <p:cNvPr id="9" name="codebox|b1"/>
          <p:cNvSpPr/>
          <p:nvPr/>
        </p:nvSpPr>
        <p:spPr>
          <a:xfrm>
            <a:off x="5897880" y="1243584"/>
            <a:ext cx="2834640" cy="658368"/>
          </a:xfrm>
          <a:prstGeom prst="roundRect">
            <a:avLst>
              <a:gd name="adj" fmla="val 13889"/>
            </a:avLst>
          </a:prstGeom>
          <a:solidFill>
            <a:srgbClr val="17202B"/>
          </a:solidFill>
          <a:ln w="12700">
            <a:solidFill>
              <a:srgbClr val="17202B"/>
            </a:solidFill>
            <a:prstDash val="solid"/>
          </a:ln>
        </p:spPr>
      </p:sp>
      <p:sp>
        <p:nvSpPr>
          <p:cNvPr id="10" name="codecard|b1"/>
          <p:cNvSpPr txBox="1"/>
          <p:nvPr/>
        </p:nvSpPr>
        <p:spPr>
          <a:xfrm>
            <a:off x="6053328" y="1335024"/>
            <a:ext cx="2523744" cy="475488"/>
          </a:xfrm>
          <a:prstGeom prst="rect">
            <a:avLst/>
          </a:prstGeom>
          <a:noFill/>
          <a:ln/>
        </p:spPr>
        <p:txBody>
          <a:bodyPr wrap="square" lIns="0" tIns="0" rIns="0" bIns="0" rtlCol="0" anchor="t"/>
          <a:lstStyle/>
          <a:p>
            <a:pPr indent="0" marL="0">
              <a:buNone/>
            </a:pPr>
            <a:r>
              <a:rPr lang="en-US" sz="1150" b="1" dirty="0">
                <a:solidFill>
                  <a:srgbClr val="FFD43B"/>
                </a:solidFill>
                <a:latin typeface="Courier New" pitchFamily="34" charset="0"/>
                <a:ea typeface="Courier New" pitchFamily="34" charset="-122"/>
                <a:cs typeface="Courier New" pitchFamily="34" charset="-120"/>
              </a:rPr>
              <a:t>&gt;&gt;&gt; </a:t>
            </a:r>
            <a:r>
              <a:rPr lang="en-US" sz="1150" dirty="0">
                <a:solidFill>
                  <a:srgbClr val="E6EDF3"/>
                </a:solidFill>
                <a:latin typeface="Courier New" pitchFamily="34" charset="0"/>
                <a:ea typeface="Courier New" pitchFamily="34" charset="-122"/>
                <a:cs typeface="Courier New" pitchFamily="34" charset="-120"/>
              </a:rPr>
              <a:t>(lambda x: x is None)(0)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False</a:t>
            </a:r>
            <a:endParaRPr lang="en-US" sz="1150" dirty="0"/>
          </a:p>
        </p:txBody>
      </p:sp>
      <p:sp>
        <p:nvSpPr>
          <p:cNvPr id="11" name="codecap|b1"/>
          <p:cNvSpPr txBox="1"/>
          <p:nvPr/>
        </p:nvSpPr>
        <p:spPr>
          <a:xfrm>
            <a:off x="5897880" y="1920240"/>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textbook compares with equality, writing None == spam, which gives True and is not wrong in that example (Sweigart, 2025); the style guide asks that real programs use spam is None instead. The test appears in the default-argument pattern of this chapter, if L is None:, and in any function that must tell whether a caller supplied an argument.</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Result  &gt;  NoneType</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x is None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Frames and the call stack</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A frame is the record that Python keeps for one running function call, and the call stack is the pile of such records that exist at a given moment.</a:t>
            </a:r>
            <a:endParaRPr lang="en-US" sz="1150" dirty="0"/>
          </a:p>
        </p:txBody>
      </p:sp>
      <p:sp>
        <p:nvSpPr>
          <p:cNvPr id="4" name="br1|b1"/>
          <p:cNvSpPr/>
          <p:nvPr/>
        </p:nvSpPr>
        <p:spPr>
          <a:xfrm>
            <a:off x="457200" y="1828800"/>
            <a:ext cx="8229600"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8156448"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Call stack</a:t>
            </a:r>
            <a:endParaRPr lang="en-US" sz="1400" dirty="0"/>
          </a:p>
        </p:txBody>
      </p:sp>
      <p:sp>
        <p:nvSpPr>
          <p:cNvPr id="6" name="br2|b1"/>
          <p:cNvSpPr/>
          <p:nvPr/>
        </p:nvSpPr>
        <p:spPr>
          <a:xfrm>
            <a:off x="457200" y="2359152"/>
            <a:ext cx="8229600"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8046720"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Call stack order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Frame object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Stack inspection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Recursion</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Call stack</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call stack is the stack of frames, one for each function call that has started and not yet returned.</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stack explains the order of the output of any program with nested calls, and it is the reason an error deep inside one function can be traced back through the functions that led to it. Every concept in this branch is a view of the same stack: its order, its records, the way a program can inspect it and the way it can overflow.</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sections of the branch take the stack in turn. They start with the order in which it grows and shrinks, continue with the frame object that is stored for each call, then show how to list the frames and how Python limits the depth, and finish with recursion.</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Call stack order</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a() calls b() calls c()</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Frame object</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inspect.currentframe()</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Stack inspection</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traceback.extract_stack()</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Recursion</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def factorial(n): ... n * factorial(n - 1)</a:t>
            </a:r>
            <a:endParaRPr lang="en-US" sz="1100" dirty="0"/>
          </a:p>
        </p:txBody>
      </p:sp>
      <p:sp>
        <p:nvSpPr>
          <p:cNvPr id="27"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Frames and the call stack  &gt;  Call stack</a:t>
            </a:r>
            <a:endParaRPr lang="en-US" sz="950" dirty="0"/>
          </a:p>
        </p:txBody>
      </p:sp>
      <p:sp>
        <p:nvSpPr>
          <p:cNvPr id="28"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Call stack order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Python remembers which line called a function so that execution returns there, keeping the waiting calls on a stack of frames.</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call stack order is the order in which function calls start and finish when some of them call others. The textbook states the rule: calling a function doesn't send the execution on a one-way trip to the top of a function, because Python will remember which line of code called the function so that the execution can return there when it encounters a return statement (Sweigart, 2025).</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When the program calls a(), Python adds a frame for a at the top of the stack. The call to b() adds a frame above it, and the call to c() another one. When c() returns, its frame is removed from the top and execution continues in b() at the line after the call; the textbook stresses that frame objects always get added and removed from the top of the stack, and not from any other place (Sweigart, 2025). The top of the call stack is the currently executing function, and an empty call stack means that the execution is on a line outside all functions (Sweigart, 2025).</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300" b="1" dirty="0">
                <a:solidFill>
                  <a:srgbClr val="B7791F"/>
                </a:solidFill>
                <a:latin typeface="Cambria" pitchFamily="34" charset="0"/>
                <a:ea typeface="Cambria" pitchFamily="34" charset="-122"/>
                <a:cs typeface="Cambria" pitchFamily="34" charset="-120"/>
              </a:rPr>
              <a:t>Watch out  </a:t>
            </a:r>
            <a:r>
              <a:rPr lang="en-US" sz="1300" dirty="0">
                <a:solidFill>
                  <a:srgbClr val="1F2933"/>
                </a:solidFill>
                <a:latin typeface="Calibri" pitchFamily="34" charset="0"/>
                <a:ea typeface="Calibri" pitchFamily="34" charset="-122"/>
                <a:cs typeface="Calibri" pitchFamily="34" charset="-120"/>
              </a:rPr>
              <a:t>A function that returns does not skip the functions that are waiting below it. Execution comes back to the immediate caller, never directly to the first one, which is why the lines c() returns, b() returns and a() returns appear in that order and not at once.</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Frames and the call stack  &gt;  Call stack</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a() calls b() calls c()</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Call stack order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Python remembers which line called a function so that execution returns there, keeping the waiting calls on a stack of frames.</a:t>
            </a:r>
            <a:endParaRPr lang="en-US" sz="1300" dirty="0"/>
          </a:p>
        </p:txBody>
      </p:sp>
      <p:sp>
        <p:nvSpPr>
          <p:cNvPr id="6" name="prose"/>
          <p:cNvSpPr txBox="1"/>
          <p:nvPr/>
        </p:nvSpPr>
        <p:spPr>
          <a:xfrm>
            <a:off x="411480" y="1207008"/>
            <a:ext cx="8321040" cy="548640"/>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The call stack order is the order in which function calls start and finish when some of them call others.</a:t>
            </a:r>
            <a:endParaRPr lang="en-US" sz="1150" dirty="0"/>
          </a:p>
        </p:txBody>
      </p:sp>
      <p:sp>
        <p:nvSpPr>
          <p:cNvPr id="7" name="csh|b1"/>
          <p:cNvSpPr/>
          <p:nvPr/>
        </p:nvSpPr>
        <p:spPr>
          <a:xfrm>
            <a:off x="411480" y="1828800"/>
            <a:ext cx="1295400" cy="274320"/>
          </a:xfrm>
          <a:prstGeom prst="roundRect">
            <a:avLst>
              <a:gd name="adj" fmla="val 16667"/>
            </a:avLst>
          </a:prstGeom>
          <a:solidFill>
            <a:srgbClr val="DDF3E6"/>
          </a:solidFill>
          <a:ln w="12700">
            <a:solidFill>
              <a:srgbClr val="2E9E5B"/>
            </a:solidFill>
            <a:prstDash val="solid"/>
          </a:ln>
        </p:spPr>
      </p:sp>
      <p:sp>
        <p:nvSpPr>
          <p:cNvPr id="8" name="csht|b1"/>
          <p:cNvSpPr txBox="1"/>
          <p:nvPr/>
        </p:nvSpPr>
        <p:spPr>
          <a:xfrm>
            <a:off x="438912" y="1828800"/>
            <a:ext cx="1240536" cy="274320"/>
          </a:xfrm>
          <a:prstGeom prst="rect">
            <a:avLst/>
          </a:prstGeom>
          <a:noFill/>
          <a:ln/>
        </p:spPr>
        <p:txBody>
          <a:bodyPr wrap="square" lIns="0" tIns="0" rIns="0" bIns="0" rtlCol="0" anchor="ctr"/>
          <a:lstStyle/>
          <a:p>
            <a:pPr algn="ctr" indent="0" marL="0">
              <a:buNone/>
            </a:pPr>
            <a:r>
              <a:rPr lang="en-US" sz="1000" b="1" dirty="0">
                <a:solidFill>
                  <a:srgbClr val="2E9E5B"/>
                </a:solidFill>
                <a:latin typeface="Calibri" pitchFamily="34" charset="0"/>
                <a:ea typeface="Calibri" pitchFamily="34" charset="-122"/>
                <a:cs typeface="Calibri" pitchFamily="34" charset="-120"/>
              </a:rPr>
              <a:t>call outer()</a:t>
            </a:r>
            <a:endParaRPr lang="en-US" sz="1000" dirty="0"/>
          </a:p>
        </p:txBody>
      </p:sp>
      <p:sp>
        <p:nvSpPr>
          <p:cNvPr id="9" name="csf|b1"/>
          <p:cNvSpPr/>
          <p:nvPr/>
        </p:nvSpPr>
        <p:spPr>
          <a:xfrm>
            <a:off x="411480" y="3291840"/>
            <a:ext cx="1295400" cy="329184"/>
          </a:xfrm>
          <a:prstGeom prst="roundRect">
            <a:avLst>
              <a:gd name="adj" fmla="val 13889"/>
            </a:avLst>
          </a:prstGeom>
          <a:solidFill>
            <a:srgbClr val="E3EEF8"/>
          </a:solidFill>
          <a:ln w="12700">
            <a:solidFill>
              <a:srgbClr val="306998"/>
            </a:solidFill>
            <a:prstDash val="solid"/>
          </a:ln>
        </p:spPr>
      </p:sp>
      <p:sp>
        <p:nvSpPr>
          <p:cNvPr id="10" name="csft|b1"/>
          <p:cNvSpPr txBox="1"/>
          <p:nvPr/>
        </p:nvSpPr>
        <p:spPr>
          <a:xfrm>
            <a:off x="438912" y="3291840"/>
            <a:ext cx="1240536" cy="329184"/>
          </a:xfrm>
          <a:prstGeom prst="rect">
            <a:avLst/>
          </a:prstGeom>
          <a:noFill/>
          <a:ln/>
        </p:spPr>
        <p:txBody>
          <a:bodyPr wrap="square" lIns="0" tIns="0" rIns="0" bIns="0" rtlCol="0" anchor="ctr"/>
          <a:lstStyle/>
          <a:p>
            <a:pPr algn="ctr" indent="0" marL="0">
              <a:buNone/>
            </a:pPr>
            <a:r>
              <a:rPr lang="en-US" sz="1000" dirty="0">
                <a:solidFill>
                  <a:srgbClr val="1E2A3A"/>
                </a:solidFill>
                <a:latin typeface="Courier New" pitchFamily="34" charset="0"/>
                <a:ea typeface="Courier New" pitchFamily="34" charset="-122"/>
                <a:cs typeface="Courier New" pitchFamily="34" charset="-120"/>
              </a:rPr>
              <a:t>the program</a:t>
            </a:r>
            <a:endParaRPr lang="en-US" sz="1000" dirty="0"/>
          </a:p>
        </p:txBody>
      </p:sp>
      <p:sp>
        <p:nvSpPr>
          <p:cNvPr id="11" name="csf|b1"/>
          <p:cNvSpPr/>
          <p:nvPr/>
        </p:nvSpPr>
        <p:spPr>
          <a:xfrm>
            <a:off x="411480" y="2926080"/>
            <a:ext cx="1295400" cy="329184"/>
          </a:xfrm>
          <a:prstGeom prst="roundRect">
            <a:avLst>
              <a:gd name="adj" fmla="val 13889"/>
            </a:avLst>
          </a:prstGeom>
          <a:solidFill>
            <a:srgbClr val="306998"/>
          </a:solidFill>
          <a:ln w="12700">
            <a:solidFill>
              <a:srgbClr val="306998"/>
            </a:solidFill>
            <a:prstDash val="solid"/>
          </a:ln>
        </p:spPr>
      </p:sp>
      <p:sp>
        <p:nvSpPr>
          <p:cNvPr id="12" name="csft|b1"/>
          <p:cNvSpPr txBox="1"/>
          <p:nvPr/>
        </p:nvSpPr>
        <p:spPr>
          <a:xfrm>
            <a:off x="438912" y="2926080"/>
            <a:ext cx="12405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outer()</a:t>
            </a:r>
            <a:endParaRPr lang="en-US" sz="1000" dirty="0"/>
          </a:p>
        </p:txBody>
      </p:sp>
      <p:sp>
        <p:nvSpPr>
          <p:cNvPr id="13" name="cso|b1"/>
          <p:cNvSpPr txBox="1"/>
          <p:nvPr/>
        </p:nvSpPr>
        <p:spPr>
          <a:xfrm>
            <a:off x="411480" y="3712464"/>
            <a:ext cx="1295400" cy="512064"/>
          </a:xfrm>
          <a:prstGeom prst="rect">
            <a:avLst/>
          </a:prstGeom>
          <a:noFill/>
          <a:ln/>
        </p:spPr>
        <p:txBody>
          <a:bodyPr wrap="square" lIns="0" tIns="0" rIns="0" bIns="0" rtlCol="0" anchor="t"/>
          <a:lstStyle/>
          <a:p>
            <a:pPr algn="ctr" indent="0" marL="0">
              <a:buNone/>
            </a:pPr>
            <a:r>
              <a:rPr lang="en-US" sz="800" dirty="0">
                <a:solidFill>
                  <a:srgbClr val="5B6B7B"/>
                </a:solidFill>
                <a:latin typeface="Courier New" pitchFamily="34" charset="0"/>
                <a:ea typeface="Courier New" pitchFamily="34" charset="-122"/>
                <a:cs typeface="Courier New" pitchFamily="34" charset="-120"/>
              </a:rPr>
              <a:t>(nothing yet)</a:t>
            </a:r>
            <a:endParaRPr lang="en-US" sz="800" dirty="0"/>
          </a:p>
        </p:txBody>
      </p:sp>
      <p:sp>
        <p:nvSpPr>
          <p:cNvPr id="14" name="csh|b2"/>
          <p:cNvSpPr/>
          <p:nvPr/>
        </p:nvSpPr>
        <p:spPr>
          <a:xfrm>
            <a:off x="1816608" y="1828800"/>
            <a:ext cx="1295400" cy="274320"/>
          </a:xfrm>
          <a:prstGeom prst="roundRect">
            <a:avLst>
              <a:gd name="adj" fmla="val 16667"/>
            </a:avLst>
          </a:prstGeom>
          <a:solidFill>
            <a:srgbClr val="DDF3E6"/>
          </a:solidFill>
          <a:ln w="12700">
            <a:solidFill>
              <a:srgbClr val="2E9E5B"/>
            </a:solidFill>
            <a:prstDash val="solid"/>
          </a:ln>
        </p:spPr>
      </p:sp>
      <p:sp>
        <p:nvSpPr>
          <p:cNvPr id="15" name="csht|b2"/>
          <p:cNvSpPr txBox="1"/>
          <p:nvPr/>
        </p:nvSpPr>
        <p:spPr>
          <a:xfrm>
            <a:off x="1844040" y="1828800"/>
            <a:ext cx="1240536" cy="274320"/>
          </a:xfrm>
          <a:prstGeom prst="rect">
            <a:avLst/>
          </a:prstGeom>
          <a:noFill/>
          <a:ln/>
        </p:spPr>
        <p:txBody>
          <a:bodyPr wrap="square" lIns="0" tIns="0" rIns="0" bIns="0" rtlCol="0" anchor="ctr"/>
          <a:lstStyle/>
          <a:p>
            <a:pPr algn="ctr" indent="0" marL="0">
              <a:buNone/>
            </a:pPr>
            <a:r>
              <a:rPr lang="en-US" sz="1000" b="1" dirty="0">
                <a:solidFill>
                  <a:srgbClr val="2E9E5B"/>
                </a:solidFill>
                <a:latin typeface="Calibri" pitchFamily="34" charset="0"/>
                <a:ea typeface="Calibri" pitchFamily="34" charset="-122"/>
                <a:cs typeface="Calibri" pitchFamily="34" charset="-120"/>
              </a:rPr>
              <a:t>call middle()</a:t>
            </a:r>
            <a:endParaRPr lang="en-US" sz="1000" dirty="0"/>
          </a:p>
        </p:txBody>
      </p:sp>
      <p:sp>
        <p:nvSpPr>
          <p:cNvPr id="16" name="csf|b2"/>
          <p:cNvSpPr/>
          <p:nvPr/>
        </p:nvSpPr>
        <p:spPr>
          <a:xfrm>
            <a:off x="1816608" y="3291840"/>
            <a:ext cx="1295400" cy="329184"/>
          </a:xfrm>
          <a:prstGeom prst="roundRect">
            <a:avLst>
              <a:gd name="adj" fmla="val 13889"/>
            </a:avLst>
          </a:prstGeom>
          <a:solidFill>
            <a:srgbClr val="E3EEF8"/>
          </a:solidFill>
          <a:ln w="12700">
            <a:solidFill>
              <a:srgbClr val="306998"/>
            </a:solidFill>
            <a:prstDash val="solid"/>
          </a:ln>
        </p:spPr>
      </p:sp>
      <p:sp>
        <p:nvSpPr>
          <p:cNvPr id="17" name="csft|b2"/>
          <p:cNvSpPr txBox="1"/>
          <p:nvPr/>
        </p:nvSpPr>
        <p:spPr>
          <a:xfrm>
            <a:off x="1844040" y="3291840"/>
            <a:ext cx="1240536" cy="329184"/>
          </a:xfrm>
          <a:prstGeom prst="rect">
            <a:avLst/>
          </a:prstGeom>
          <a:noFill/>
          <a:ln/>
        </p:spPr>
        <p:txBody>
          <a:bodyPr wrap="square" lIns="0" tIns="0" rIns="0" bIns="0" rtlCol="0" anchor="ctr"/>
          <a:lstStyle/>
          <a:p>
            <a:pPr algn="ctr" indent="0" marL="0">
              <a:buNone/>
            </a:pPr>
            <a:r>
              <a:rPr lang="en-US" sz="1000" dirty="0">
                <a:solidFill>
                  <a:srgbClr val="1E2A3A"/>
                </a:solidFill>
                <a:latin typeface="Courier New" pitchFamily="34" charset="0"/>
                <a:ea typeface="Courier New" pitchFamily="34" charset="-122"/>
                <a:cs typeface="Courier New" pitchFamily="34" charset="-120"/>
              </a:rPr>
              <a:t>the program</a:t>
            </a:r>
            <a:endParaRPr lang="en-US" sz="1000" dirty="0"/>
          </a:p>
        </p:txBody>
      </p:sp>
      <p:sp>
        <p:nvSpPr>
          <p:cNvPr id="18" name="csf|b2"/>
          <p:cNvSpPr/>
          <p:nvPr/>
        </p:nvSpPr>
        <p:spPr>
          <a:xfrm>
            <a:off x="1816608" y="2926080"/>
            <a:ext cx="1295400" cy="329184"/>
          </a:xfrm>
          <a:prstGeom prst="roundRect">
            <a:avLst>
              <a:gd name="adj" fmla="val 13889"/>
            </a:avLst>
          </a:prstGeom>
          <a:solidFill>
            <a:srgbClr val="E3EEF8"/>
          </a:solidFill>
          <a:ln w="12700">
            <a:solidFill>
              <a:srgbClr val="306998"/>
            </a:solidFill>
            <a:prstDash val="solid"/>
          </a:ln>
        </p:spPr>
      </p:sp>
      <p:sp>
        <p:nvSpPr>
          <p:cNvPr id="19" name="csft|b2"/>
          <p:cNvSpPr txBox="1"/>
          <p:nvPr/>
        </p:nvSpPr>
        <p:spPr>
          <a:xfrm>
            <a:off x="1844040" y="2926080"/>
            <a:ext cx="1240536" cy="329184"/>
          </a:xfrm>
          <a:prstGeom prst="rect">
            <a:avLst/>
          </a:prstGeom>
          <a:noFill/>
          <a:ln/>
        </p:spPr>
        <p:txBody>
          <a:bodyPr wrap="square" lIns="0" tIns="0" rIns="0" bIns="0" rtlCol="0" anchor="ctr"/>
          <a:lstStyle/>
          <a:p>
            <a:pPr algn="ctr" indent="0" marL="0">
              <a:buNone/>
            </a:pPr>
            <a:r>
              <a:rPr lang="en-US" sz="1000" dirty="0">
                <a:solidFill>
                  <a:srgbClr val="1E2A3A"/>
                </a:solidFill>
                <a:latin typeface="Courier New" pitchFamily="34" charset="0"/>
                <a:ea typeface="Courier New" pitchFamily="34" charset="-122"/>
                <a:cs typeface="Courier New" pitchFamily="34" charset="-120"/>
              </a:rPr>
              <a:t>outer()</a:t>
            </a:r>
            <a:endParaRPr lang="en-US" sz="1000" dirty="0"/>
          </a:p>
        </p:txBody>
      </p:sp>
      <p:sp>
        <p:nvSpPr>
          <p:cNvPr id="20" name="csf|b2"/>
          <p:cNvSpPr/>
          <p:nvPr/>
        </p:nvSpPr>
        <p:spPr>
          <a:xfrm>
            <a:off x="1816608" y="2560320"/>
            <a:ext cx="1295400" cy="329184"/>
          </a:xfrm>
          <a:prstGeom prst="roundRect">
            <a:avLst>
              <a:gd name="adj" fmla="val 13889"/>
            </a:avLst>
          </a:prstGeom>
          <a:solidFill>
            <a:srgbClr val="306998"/>
          </a:solidFill>
          <a:ln w="12700">
            <a:solidFill>
              <a:srgbClr val="306998"/>
            </a:solidFill>
            <a:prstDash val="solid"/>
          </a:ln>
        </p:spPr>
      </p:sp>
      <p:sp>
        <p:nvSpPr>
          <p:cNvPr id="21" name="csft|b2"/>
          <p:cNvSpPr txBox="1"/>
          <p:nvPr/>
        </p:nvSpPr>
        <p:spPr>
          <a:xfrm>
            <a:off x="1844040" y="2560320"/>
            <a:ext cx="12405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middle()</a:t>
            </a:r>
            <a:endParaRPr lang="en-US" sz="1000" dirty="0"/>
          </a:p>
        </p:txBody>
      </p:sp>
      <p:sp>
        <p:nvSpPr>
          <p:cNvPr id="22" name="cso|b2"/>
          <p:cNvSpPr txBox="1"/>
          <p:nvPr/>
        </p:nvSpPr>
        <p:spPr>
          <a:xfrm>
            <a:off x="1816608" y="3712464"/>
            <a:ext cx="1295400" cy="512064"/>
          </a:xfrm>
          <a:prstGeom prst="rect">
            <a:avLst/>
          </a:prstGeom>
          <a:noFill/>
          <a:ln/>
        </p:spPr>
        <p:txBody>
          <a:bodyPr wrap="square" lIns="0" tIns="0" rIns="0" bIns="0" rtlCol="0" anchor="t"/>
          <a:lstStyle/>
          <a:p>
            <a:pPr algn="ctr" indent="0" marL="0">
              <a:buNone/>
            </a:pPr>
            <a:r>
              <a:rPr lang="en-US" sz="800" dirty="0">
                <a:solidFill>
                  <a:srgbClr val="5B6B7B"/>
                </a:solidFill>
                <a:latin typeface="Courier New" pitchFamily="34" charset="0"/>
                <a:ea typeface="Courier New" pitchFamily="34" charset="-122"/>
                <a:cs typeface="Courier New" pitchFamily="34" charset="-120"/>
              </a:rPr>
              <a:t>outer starts</a:t>
            </a:r>
            <a:endParaRPr lang="en-US" sz="800" dirty="0"/>
          </a:p>
        </p:txBody>
      </p:sp>
      <p:sp>
        <p:nvSpPr>
          <p:cNvPr id="23" name="csh|b3"/>
          <p:cNvSpPr/>
          <p:nvPr/>
        </p:nvSpPr>
        <p:spPr>
          <a:xfrm>
            <a:off x="3221736" y="1828800"/>
            <a:ext cx="1295400" cy="274320"/>
          </a:xfrm>
          <a:prstGeom prst="roundRect">
            <a:avLst>
              <a:gd name="adj" fmla="val 16667"/>
            </a:avLst>
          </a:prstGeom>
          <a:solidFill>
            <a:srgbClr val="DDF3E6"/>
          </a:solidFill>
          <a:ln w="12700">
            <a:solidFill>
              <a:srgbClr val="2E9E5B"/>
            </a:solidFill>
            <a:prstDash val="solid"/>
          </a:ln>
        </p:spPr>
      </p:sp>
      <p:sp>
        <p:nvSpPr>
          <p:cNvPr id="24" name="csht|b3"/>
          <p:cNvSpPr txBox="1"/>
          <p:nvPr/>
        </p:nvSpPr>
        <p:spPr>
          <a:xfrm>
            <a:off x="3249168" y="1828800"/>
            <a:ext cx="1240536" cy="274320"/>
          </a:xfrm>
          <a:prstGeom prst="rect">
            <a:avLst/>
          </a:prstGeom>
          <a:noFill/>
          <a:ln/>
        </p:spPr>
        <p:txBody>
          <a:bodyPr wrap="square" lIns="0" tIns="0" rIns="0" bIns="0" rtlCol="0" anchor="ctr"/>
          <a:lstStyle/>
          <a:p>
            <a:pPr algn="ctr" indent="0" marL="0">
              <a:buNone/>
            </a:pPr>
            <a:r>
              <a:rPr lang="en-US" sz="1000" b="1" dirty="0">
                <a:solidFill>
                  <a:srgbClr val="2E9E5B"/>
                </a:solidFill>
                <a:latin typeface="Calibri" pitchFamily="34" charset="0"/>
                <a:ea typeface="Calibri" pitchFamily="34" charset="-122"/>
                <a:cs typeface="Calibri" pitchFamily="34" charset="-120"/>
              </a:rPr>
              <a:t>call inner()</a:t>
            </a:r>
            <a:endParaRPr lang="en-US" sz="1000" dirty="0"/>
          </a:p>
        </p:txBody>
      </p:sp>
      <p:sp>
        <p:nvSpPr>
          <p:cNvPr id="25" name="csf|b3"/>
          <p:cNvSpPr/>
          <p:nvPr/>
        </p:nvSpPr>
        <p:spPr>
          <a:xfrm>
            <a:off x="3221736" y="3291840"/>
            <a:ext cx="1295400" cy="329184"/>
          </a:xfrm>
          <a:prstGeom prst="roundRect">
            <a:avLst>
              <a:gd name="adj" fmla="val 13889"/>
            </a:avLst>
          </a:prstGeom>
          <a:solidFill>
            <a:srgbClr val="E3EEF8"/>
          </a:solidFill>
          <a:ln w="12700">
            <a:solidFill>
              <a:srgbClr val="306998"/>
            </a:solidFill>
            <a:prstDash val="solid"/>
          </a:ln>
        </p:spPr>
      </p:sp>
      <p:sp>
        <p:nvSpPr>
          <p:cNvPr id="26" name="csft|b3"/>
          <p:cNvSpPr txBox="1"/>
          <p:nvPr/>
        </p:nvSpPr>
        <p:spPr>
          <a:xfrm>
            <a:off x="3249168" y="3291840"/>
            <a:ext cx="1240536" cy="329184"/>
          </a:xfrm>
          <a:prstGeom prst="rect">
            <a:avLst/>
          </a:prstGeom>
          <a:noFill/>
          <a:ln/>
        </p:spPr>
        <p:txBody>
          <a:bodyPr wrap="square" lIns="0" tIns="0" rIns="0" bIns="0" rtlCol="0" anchor="ctr"/>
          <a:lstStyle/>
          <a:p>
            <a:pPr algn="ctr" indent="0" marL="0">
              <a:buNone/>
            </a:pPr>
            <a:r>
              <a:rPr lang="en-US" sz="1000" dirty="0">
                <a:solidFill>
                  <a:srgbClr val="1E2A3A"/>
                </a:solidFill>
                <a:latin typeface="Courier New" pitchFamily="34" charset="0"/>
                <a:ea typeface="Courier New" pitchFamily="34" charset="-122"/>
                <a:cs typeface="Courier New" pitchFamily="34" charset="-120"/>
              </a:rPr>
              <a:t>the program</a:t>
            </a:r>
            <a:endParaRPr lang="en-US" sz="1000" dirty="0"/>
          </a:p>
        </p:txBody>
      </p:sp>
      <p:sp>
        <p:nvSpPr>
          <p:cNvPr id="27" name="csf|b3"/>
          <p:cNvSpPr/>
          <p:nvPr/>
        </p:nvSpPr>
        <p:spPr>
          <a:xfrm>
            <a:off x="3221736" y="2926080"/>
            <a:ext cx="1295400" cy="329184"/>
          </a:xfrm>
          <a:prstGeom prst="roundRect">
            <a:avLst>
              <a:gd name="adj" fmla="val 13889"/>
            </a:avLst>
          </a:prstGeom>
          <a:solidFill>
            <a:srgbClr val="E3EEF8"/>
          </a:solidFill>
          <a:ln w="12700">
            <a:solidFill>
              <a:srgbClr val="306998"/>
            </a:solidFill>
            <a:prstDash val="solid"/>
          </a:ln>
        </p:spPr>
      </p:sp>
      <p:sp>
        <p:nvSpPr>
          <p:cNvPr id="28" name="csft|b3"/>
          <p:cNvSpPr txBox="1"/>
          <p:nvPr/>
        </p:nvSpPr>
        <p:spPr>
          <a:xfrm>
            <a:off x="3249168" y="2926080"/>
            <a:ext cx="1240536" cy="329184"/>
          </a:xfrm>
          <a:prstGeom prst="rect">
            <a:avLst/>
          </a:prstGeom>
          <a:noFill/>
          <a:ln/>
        </p:spPr>
        <p:txBody>
          <a:bodyPr wrap="square" lIns="0" tIns="0" rIns="0" bIns="0" rtlCol="0" anchor="ctr"/>
          <a:lstStyle/>
          <a:p>
            <a:pPr algn="ctr" indent="0" marL="0">
              <a:buNone/>
            </a:pPr>
            <a:r>
              <a:rPr lang="en-US" sz="1000" dirty="0">
                <a:solidFill>
                  <a:srgbClr val="1E2A3A"/>
                </a:solidFill>
                <a:latin typeface="Courier New" pitchFamily="34" charset="0"/>
                <a:ea typeface="Courier New" pitchFamily="34" charset="-122"/>
                <a:cs typeface="Courier New" pitchFamily="34" charset="-120"/>
              </a:rPr>
              <a:t>outer()</a:t>
            </a:r>
            <a:endParaRPr lang="en-US" sz="1000" dirty="0"/>
          </a:p>
        </p:txBody>
      </p:sp>
      <p:sp>
        <p:nvSpPr>
          <p:cNvPr id="29" name="csf|b3"/>
          <p:cNvSpPr/>
          <p:nvPr/>
        </p:nvSpPr>
        <p:spPr>
          <a:xfrm>
            <a:off x="3221736" y="2560320"/>
            <a:ext cx="1295400" cy="329184"/>
          </a:xfrm>
          <a:prstGeom prst="roundRect">
            <a:avLst>
              <a:gd name="adj" fmla="val 13889"/>
            </a:avLst>
          </a:prstGeom>
          <a:solidFill>
            <a:srgbClr val="E3EEF8"/>
          </a:solidFill>
          <a:ln w="12700">
            <a:solidFill>
              <a:srgbClr val="306998"/>
            </a:solidFill>
            <a:prstDash val="solid"/>
          </a:ln>
        </p:spPr>
      </p:sp>
      <p:sp>
        <p:nvSpPr>
          <p:cNvPr id="30" name="csft|b3"/>
          <p:cNvSpPr txBox="1"/>
          <p:nvPr/>
        </p:nvSpPr>
        <p:spPr>
          <a:xfrm>
            <a:off x="3249168" y="2560320"/>
            <a:ext cx="1240536" cy="329184"/>
          </a:xfrm>
          <a:prstGeom prst="rect">
            <a:avLst/>
          </a:prstGeom>
          <a:noFill/>
          <a:ln/>
        </p:spPr>
        <p:txBody>
          <a:bodyPr wrap="square" lIns="0" tIns="0" rIns="0" bIns="0" rtlCol="0" anchor="ctr"/>
          <a:lstStyle/>
          <a:p>
            <a:pPr algn="ctr" indent="0" marL="0">
              <a:buNone/>
            </a:pPr>
            <a:r>
              <a:rPr lang="en-US" sz="1000" dirty="0">
                <a:solidFill>
                  <a:srgbClr val="1E2A3A"/>
                </a:solidFill>
                <a:latin typeface="Courier New" pitchFamily="34" charset="0"/>
                <a:ea typeface="Courier New" pitchFamily="34" charset="-122"/>
                <a:cs typeface="Courier New" pitchFamily="34" charset="-120"/>
              </a:rPr>
              <a:t>middle()</a:t>
            </a:r>
            <a:endParaRPr lang="en-US" sz="1000" dirty="0"/>
          </a:p>
        </p:txBody>
      </p:sp>
      <p:sp>
        <p:nvSpPr>
          <p:cNvPr id="31" name="csf|b3"/>
          <p:cNvSpPr/>
          <p:nvPr/>
        </p:nvSpPr>
        <p:spPr>
          <a:xfrm>
            <a:off x="3221736" y="2194560"/>
            <a:ext cx="1295400" cy="329184"/>
          </a:xfrm>
          <a:prstGeom prst="roundRect">
            <a:avLst>
              <a:gd name="adj" fmla="val 13889"/>
            </a:avLst>
          </a:prstGeom>
          <a:solidFill>
            <a:srgbClr val="306998"/>
          </a:solidFill>
          <a:ln w="12700">
            <a:solidFill>
              <a:srgbClr val="306998"/>
            </a:solidFill>
            <a:prstDash val="solid"/>
          </a:ln>
        </p:spPr>
      </p:sp>
      <p:sp>
        <p:nvSpPr>
          <p:cNvPr id="32" name="csft|b3"/>
          <p:cNvSpPr txBox="1"/>
          <p:nvPr/>
        </p:nvSpPr>
        <p:spPr>
          <a:xfrm>
            <a:off x="3249168" y="2194560"/>
            <a:ext cx="12405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inner()</a:t>
            </a:r>
            <a:endParaRPr lang="en-US" sz="1000" dirty="0"/>
          </a:p>
        </p:txBody>
      </p:sp>
      <p:sp>
        <p:nvSpPr>
          <p:cNvPr id="33" name="cso|b3"/>
          <p:cNvSpPr txBox="1"/>
          <p:nvPr/>
        </p:nvSpPr>
        <p:spPr>
          <a:xfrm>
            <a:off x="3221736" y="3712464"/>
            <a:ext cx="1295400" cy="512064"/>
          </a:xfrm>
          <a:prstGeom prst="rect">
            <a:avLst/>
          </a:prstGeom>
          <a:noFill/>
          <a:ln/>
        </p:spPr>
        <p:txBody>
          <a:bodyPr wrap="square" lIns="0" tIns="0" rIns="0" bIns="0" rtlCol="0" anchor="t"/>
          <a:lstStyle/>
          <a:p>
            <a:pPr algn="ctr" indent="0" marL="0">
              <a:buNone/>
            </a:pPr>
            <a:r>
              <a:rPr lang="en-US" sz="800" dirty="0">
                <a:solidFill>
                  <a:srgbClr val="5B6B7B"/>
                </a:solidFill>
                <a:latin typeface="Courier New" pitchFamily="34" charset="0"/>
                <a:ea typeface="Courier New" pitchFamily="34" charset="-122"/>
                <a:cs typeface="Courier New" pitchFamily="34" charset="-120"/>
              </a:rPr>
              <a:t>outer starts / middle starts</a:t>
            </a:r>
            <a:endParaRPr lang="en-US" sz="800" dirty="0"/>
          </a:p>
        </p:txBody>
      </p:sp>
      <p:sp>
        <p:nvSpPr>
          <p:cNvPr id="34" name="csh|b4"/>
          <p:cNvSpPr/>
          <p:nvPr/>
        </p:nvSpPr>
        <p:spPr>
          <a:xfrm>
            <a:off x="4626864" y="1828800"/>
            <a:ext cx="1295400" cy="274320"/>
          </a:xfrm>
          <a:prstGeom prst="roundRect">
            <a:avLst>
              <a:gd name="adj" fmla="val 16667"/>
            </a:avLst>
          </a:prstGeom>
          <a:solidFill>
            <a:srgbClr val="FBE1E1"/>
          </a:solidFill>
          <a:ln w="12700">
            <a:solidFill>
              <a:srgbClr val="D64545"/>
            </a:solidFill>
            <a:prstDash val="solid"/>
          </a:ln>
        </p:spPr>
      </p:sp>
      <p:sp>
        <p:nvSpPr>
          <p:cNvPr id="35" name="csht|b4"/>
          <p:cNvSpPr txBox="1"/>
          <p:nvPr/>
        </p:nvSpPr>
        <p:spPr>
          <a:xfrm>
            <a:off x="4654296" y="1828800"/>
            <a:ext cx="1240536" cy="274320"/>
          </a:xfrm>
          <a:prstGeom prst="rect">
            <a:avLst/>
          </a:prstGeom>
          <a:noFill/>
          <a:ln/>
        </p:spPr>
        <p:txBody>
          <a:bodyPr wrap="square" lIns="0" tIns="0" rIns="0" bIns="0" rtlCol="0" anchor="ctr"/>
          <a:lstStyle/>
          <a:p>
            <a:pPr algn="ctr" indent="0" marL="0">
              <a:buNone/>
            </a:pPr>
            <a:r>
              <a:rPr lang="en-US" sz="950" b="1" dirty="0">
                <a:solidFill>
                  <a:srgbClr val="D64545"/>
                </a:solidFill>
                <a:latin typeface="Calibri" pitchFamily="34" charset="0"/>
                <a:ea typeface="Calibri" pitchFamily="34" charset="-122"/>
                <a:cs typeface="Calibri" pitchFamily="34" charset="-120"/>
              </a:rPr>
              <a:t>return from inner()</a:t>
            </a:r>
            <a:endParaRPr lang="en-US" sz="950" dirty="0"/>
          </a:p>
        </p:txBody>
      </p:sp>
      <p:sp>
        <p:nvSpPr>
          <p:cNvPr id="36" name="csf|b4"/>
          <p:cNvSpPr/>
          <p:nvPr/>
        </p:nvSpPr>
        <p:spPr>
          <a:xfrm>
            <a:off x="4626864" y="3291840"/>
            <a:ext cx="1295400" cy="329184"/>
          </a:xfrm>
          <a:prstGeom prst="roundRect">
            <a:avLst>
              <a:gd name="adj" fmla="val 13889"/>
            </a:avLst>
          </a:prstGeom>
          <a:solidFill>
            <a:srgbClr val="E3EEF8"/>
          </a:solidFill>
          <a:ln w="12700">
            <a:solidFill>
              <a:srgbClr val="306998"/>
            </a:solidFill>
            <a:prstDash val="solid"/>
          </a:ln>
        </p:spPr>
      </p:sp>
      <p:sp>
        <p:nvSpPr>
          <p:cNvPr id="37" name="csft|b4"/>
          <p:cNvSpPr txBox="1"/>
          <p:nvPr/>
        </p:nvSpPr>
        <p:spPr>
          <a:xfrm>
            <a:off x="4654296" y="3291840"/>
            <a:ext cx="1240536" cy="329184"/>
          </a:xfrm>
          <a:prstGeom prst="rect">
            <a:avLst/>
          </a:prstGeom>
          <a:noFill/>
          <a:ln/>
        </p:spPr>
        <p:txBody>
          <a:bodyPr wrap="square" lIns="0" tIns="0" rIns="0" bIns="0" rtlCol="0" anchor="ctr"/>
          <a:lstStyle/>
          <a:p>
            <a:pPr algn="ctr" indent="0" marL="0">
              <a:buNone/>
            </a:pPr>
            <a:r>
              <a:rPr lang="en-US" sz="1000" dirty="0">
                <a:solidFill>
                  <a:srgbClr val="1E2A3A"/>
                </a:solidFill>
                <a:latin typeface="Courier New" pitchFamily="34" charset="0"/>
                <a:ea typeface="Courier New" pitchFamily="34" charset="-122"/>
                <a:cs typeface="Courier New" pitchFamily="34" charset="-120"/>
              </a:rPr>
              <a:t>the program</a:t>
            </a:r>
            <a:endParaRPr lang="en-US" sz="1000" dirty="0"/>
          </a:p>
        </p:txBody>
      </p:sp>
      <p:sp>
        <p:nvSpPr>
          <p:cNvPr id="38" name="csf|b4"/>
          <p:cNvSpPr/>
          <p:nvPr/>
        </p:nvSpPr>
        <p:spPr>
          <a:xfrm>
            <a:off x="4626864" y="2926080"/>
            <a:ext cx="1295400" cy="329184"/>
          </a:xfrm>
          <a:prstGeom prst="roundRect">
            <a:avLst>
              <a:gd name="adj" fmla="val 13889"/>
            </a:avLst>
          </a:prstGeom>
          <a:solidFill>
            <a:srgbClr val="E3EEF8"/>
          </a:solidFill>
          <a:ln w="12700">
            <a:solidFill>
              <a:srgbClr val="306998"/>
            </a:solidFill>
            <a:prstDash val="solid"/>
          </a:ln>
        </p:spPr>
      </p:sp>
      <p:sp>
        <p:nvSpPr>
          <p:cNvPr id="39" name="csft|b4"/>
          <p:cNvSpPr txBox="1"/>
          <p:nvPr/>
        </p:nvSpPr>
        <p:spPr>
          <a:xfrm>
            <a:off x="4654296" y="2926080"/>
            <a:ext cx="1240536" cy="329184"/>
          </a:xfrm>
          <a:prstGeom prst="rect">
            <a:avLst/>
          </a:prstGeom>
          <a:noFill/>
          <a:ln/>
        </p:spPr>
        <p:txBody>
          <a:bodyPr wrap="square" lIns="0" tIns="0" rIns="0" bIns="0" rtlCol="0" anchor="ctr"/>
          <a:lstStyle/>
          <a:p>
            <a:pPr algn="ctr" indent="0" marL="0">
              <a:buNone/>
            </a:pPr>
            <a:r>
              <a:rPr lang="en-US" sz="1000" dirty="0">
                <a:solidFill>
                  <a:srgbClr val="1E2A3A"/>
                </a:solidFill>
                <a:latin typeface="Courier New" pitchFamily="34" charset="0"/>
                <a:ea typeface="Courier New" pitchFamily="34" charset="-122"/>
                <a:cs typeface="Courier New" pitchFamily="34" charset="-120"/>
              </a:rPr>
              <a:t>outer()</a:t>
            </a:r>
            <a:endParaRPr lang="en-US" sz="1000" dirty="0"/>
          </a:p>
        </p:txBody>
      </p:sp>
      <p:sp>
        <p:nvSpPr>
          <p:cNvPr id="40" name="csf|b4"/>
          <p:cNvSpPr/>
          <p:nvPr/>
        </p:nvSpPr>
        <p:spPr>
          <a:xfrm>
            <a:off x="4626864" y="2560320"/>
            <a:ext cx="1295400" cy="329184"/>
          </a:xfrm>
          <a:prstGeom prst="roundRect">
            <a:avLst>
              <a:gd name="adj" fmla="val 13889"/>
            </a:avLst>
          </a:prstGeom>
          <a:solidFill>
            <a:srgbClr val="306998"/>
          </a:solidFill>
          <a:ln w="12700">
            <a:solidFill>
              <a:srgbClr val="306998"/>
            </a:solidFill>
            <a:prstDash val="solid"/>
          </a:ln>
        </p:spPr>
      </p:sp>
      <p:sp>
        <p:nvSpPr>
          <p:cNvPr id="41" name="csft|b4"/>
          <p:cNvSpPr txBox="1"/>
          <p:nvPr/>
        </p:nvSpPr>
        <p:spPr>
          <a:xfrm>
            <a:off x="4654296" y="2560320"/>
            <a:ext cx="12405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middle()</a:t>
            </a:r>
            <a:endParaRPr lang="en-US" sz="1000" dirty="0"/>
          </a:p>
        </p:txBody>
      </p:sp>
      <p:sp>
        <p:nvSpPr>
          <p:cNvPr id="42" name="cso|b4"/>
          <p:cNvSpPr txBox="1"/>
          <p:nvPr/>
        </p:nvSpPr>
        <p:spPr>
          <a:xfrm>
            <a:off x="4626864" y="3712464"/>
            <a:ext cx="1295400" cy="512064"/>
          </a:xfrm>
          <a:prstGeom prst="rect">
            <a:avLst/>
          </a:prstGeom>
          <a:noFill/>
          <a:ln/>
        </p:spPr>
        <p:txBody>
          <a:bodyPr wrap="square" lIns="0" tIns="0" rIns="0" bIns="0" rtlCol="0" anchor="t"/>
          <a:lstStyle/>
          <a:p>
            <a:pPr algn="ctr" indent="0" marL="0">
              <a:buNone/>
            </a:pPr>
            <a:r>
              <a:rPr lang="en-US" sz="800" dirty="0">
                <a:solidFill>
                  <a:srgbClr val="5B6B7B"/>
                </a:solidFill>
                <a:latin typeface="Courier New" pitchFamily="34" charset="0"/>
                <a:ea typeface="Courier New" pitchFamily="34" charset="-122"/>
                <a:cs typeface="Courier New" pitchFamily="34" charset="-120"/>
              </a:rPr>
              <a:t>outer starts / middle starts / inner runs</a:t>
            </a:r>
            <a:endParaRPr lang="en-US" sz="800" dirty="0"/>
          </a:p>
        </p:txBody>
      </p:sp>
      <p:sp>
        <p:nvSpPr>
          <p:cNvPr id="43" name="csh|b5"/>
          <p:cNvSpPr/>
          <p:nvPr/>
        </p:nvSpPr>
        <p:spPr>
          <a:xfrm>
            <a:off x="6031992" y="1828800"/>
            <a:ext cx="1295400" cy="274320"/>
          </a:xfrm>
          <a:prstGeom prst="roundRect">
            <a:avLst>
              <a:gd name="adj" fmla="val 16667"/>
            </a:avLst>
          </a:prstGeom>
          <a:solidFill>
            <a:srgbClr val="FBE1E1"/>
          </a:solidFill>
          <a:ln w="12700">
            <a:solidFill>
              <a:srgbClr val="D64545"/>
            </a:solidFill>
            <a:prstDash val="solid"/>
          </a:ln>
        </p:spPr>
      </p:sp>
      <p:sp>
        <p:nvSpPr>
          <p:cNvPr id="44" name="csht|b5"/>
          <p:cNvSpPr txBox="1"/>
          <p:nvPr/>
        </p:nvSpPr>
        <p:spPr>
          <a:xfrm>
            <a:off x="6059424" y="1828800"/>
            <a:ext cx="1240536" cy="274320"/>
          </a:xfrm>
          <a:prstGeom prst="rect">
            <a:avLst/>
          </a:prstGeom>
          <a:noFill/>
          <a:ln/>
        </p:spPr>
        <p:txBody>
          <a:bodyPr wrap="square" lIns="0" tIns="0" rIns="0" bIns="0" rtlCol="0" anchor="ctr"/>
          <a:lstStyle/>
          <a:p>
            <a:pPr algn="ctr" indent="0" marL="0">
              <a:buNone/>
            </a:pPr>
            <a:r>
              <a:rPr lang="en-US" sz="900" b="1" dirty="0">
                <a:solidFill>
                  <a:srgbClr val="D64545"/>
                </a:solidFill>
                <a:latin typeface="Calibri" pitchFamily="34" charset="0"/>
                <a:ea typeface="Calibri" pitchFamily="34" charset="-122"/>
                <a:cs typeface="Calibri" pitchFamily="34" charset="-120"/>
              </a:rPr>
              <a:t>return from middle()</a:t>
            </a:r>
            <a:endParaRPr lang="en-US" sz="900" dirty="0"/>
          </a:p>
        </p:txBody>
      </p:sp>
      <p:sp>
        <p:nvSpPr>
          <p:cNvPr id="45" name="csf|b5"/>
          <p:cNvSpPr/>
          <p:nvPr/>
        </p:nvSpPr>
        <p:spPr>
          <a:xfrm>
            <a:off x="6031992" y="3291840"/>
            <a:ext cx="1295400" cy="329184"/>
          </a:xfrm>
          <a:prstGeom prst="roundRect">
            <a:avLst>
              <a:gd name="adj" fmla="val 13889"/>
            </a:avLst>
          </a:prstGeom>
          <a:solidFill>
            <a:srgbClr val="E3EEF8"/>
          </a:solidFill>
          <a:ln w="12700">
            <a:solidFill>
              <a:srgbClr val="306998"/>
            </a:solidFill>
            <a:prstDash val="solid"/>
          </a:ln>
        </p:spPr>
      </p:sp>
      <p:sp>
        <p:nvSpPr>
          <p:cNvPr id="46" name="csft|b5"/>
          <p:cNvSpPr txBox="1"/>
          <p:nvPr/>
        </p:nvSpPr>
        <p:spPr>
          <a:xfrm>
            <a:off x="6059424" y="3291840"/>
            <a:ext cx="1240536" cy="329184"/>
          </a:xfrm>
          <a:prstGeom prst="rect">
            <a:avLst/>
          </a:prstGeom>
          <a:noFill/>
          <a:ln/>
        </p:spPr>
        <p:txBody>
          <a:bodyPr wrap="square" lIns="0" tIns="0" rIns="0" bIns="0" rtlCol="0" anchor="ctr"/>
          <a:lstStyle/>
          <a:p>
            <a:pPr algn="ctr" indent="0" marL="0">
              <a:buNone/>
            </a:pPr>
            <a:r>
              <a:rPr lang="en-US" sz="1000" dirty="0">
                <a:solidFill>
                  <a:srgbClr val="1E2A3A"/>
                </a:solidFill>
                <a:latin typeface="Courier New" pitchFamily="34" charset="0"/>
                <a:ea typeface="Courier New" pitchFamily="34" charset="-122"/>
                <a:cs typeface="Courier New" pitchFamily="34" charset="-120"/>
              </a:rPr>
              <a:t>the program</a:t>
            </a:r>
            <a:endParaRPr lang="en-US" sz="1000" dirty="0"/>
          </a:p>
        </p:txBody>
      </p:sp>
      <p:sp>
        <p:nvSpPr>
          <p:cNvPr id="47" name="csf|b5"/>
          <p:cNvSpPr/>
          <p:nvPr/>
        </p:nvSpPr>
        <p:spPr>
          <a:xfrm>
            <a:off x="6031992" y="2926080"/>
            <a:ext cx="1295400" cy="329184"/>
          </a:xfrm>
          <a:prstGeom prst="roundRect">
            <a:avLst>
              <a:gd name="adj" fmla="val 13889"/>
            </a:avLst>
          </a:prstGeom>
          <a:solidFill>
            <a:srgbClr val="306998"/>
          </a:solidFill>
          <a:ln w="12700">
            <a:solidFill>
              <a:srgbClr val="306998"/>
            </a:solidFill>
            <a:prstDash val="solid"/>
          </a:ln>
        </p:spPr>
      </p:sp>
      <p:sp>
        <p:nvSpPr>
          <p:cNvPr id="48" name="csft|b5"/>
          <p:cNvSpPr txBox="1"/>
          <p:nvPr/>
        </p:nvSpPr>
        <p:spPr>
          <a:xfrm>
            <a:off x="6059424" y="2926080"/>
            <a:ext cx="12405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outer()</a:t>
            </a:r>
            <a:endParaRPr lang="en-US" sz="1000" dirty="0"/>
          </a:p>
        </p:txBody>
      </p:sp>
      <p:sp>
        <p:nvSpPr>
          <p:cNvPr id="49" name="cso|b5"/>
          <p:cNvSpPr txBox="1"/>
          <p:nvPr/>
        </p:nvSpPr>
        <p:spPr>
          <a:xfrm>
            <a:off x="6031992" y="3712464"/>
            <a:ext cx="1295400" cy="512064"/>
          </a:xfrm>
          <a:prstGeom prst="rect">
            <a:avLst/>
          </a:prstGeom>
          <a:noFill/>
          <a:ln/>
        </p:spPr>
        <p:txBody>
          <a:bodyPr wrap="square" lIns="0" tIns="0" rIns="0" bIns="0" rtlCol="0" anchor="t"/>
          <a:lstStyle/>
          <a:p>
            <a:pPr algn="ctr" indent="0" marL="0">
              <a:buNone/>
            </a:pPr>
            <a:r>
              <a:rPr lang="en-US" sz="800" dirty="0">
                <a:solidFill>
                  <a:srgbClr val="5B6B7B"/>
                </a:solidFill>
                <a:latin typeface="Courier New" pitchFamily="34" charset="0"/>
                <a:ea typeface="Courier New" pitchFamily="34" charset="-122"/>
                <a:cs typeface="Courier New" pitchFamily="34" charset="-120"/>
              </a:rPr>
              <a:t>outer starts / middle starts / inner runs / middle returns</a:t>
            </a:r>
            <a:endParaRPr lang="en-US" sz="800" dirty="0"/>
          </a:p>
        </p:txBody>
      </p:sp>
      <p:sp>
        <p:nvSpPr>
          <p:cNvPr id="50" name="csh|b6"/>
          <p:cNvSpPr/>
          <p:nvPr/>
        </p:nvSpPr>
        <p:spPr>
          <a:xfrm>
            <a:off x="7437120" y="1828800"/>
            <a:ext cx="1295400" cy="274320"/>
          </a:xfrm>
          <a:prstGeom prst="roundRect">
            <a:avLst>
              <a:gd name="adj" fmla="val 16667"/>
            </a:avLst>
          </a:prstGeom>
          <a:solidFill>
            <a:srgbClr val="FBE1E1"/>
          </a:solidFill>
          <a:ln w="12700">
            <a:solidFill>
              <a:srgbClr val="D64545"/>
            </a:solidFill>
            <a:prstDash val="solid"/>
          </a:ln>
        </p:spPr>
      </p:sp>
      <p:sp>
        <p:nvSpPr>
          <p:cNvPr id="51" name="csht|b6"/>
          <p:cNvSpPr txBox="1"/>
          <p:nvPr/>
        </p:nvSpPr>
        <p:spPr>
          <a:xfrm>
            <a:off x="7464552" y="1828800"/>
            <a:ext cx="1240536" cy="274320"/>
          </a:xfrm>
          <a:prstGeom prst="rect">
            <a:avLst/>
          </a:prstGeom>
          <a:noFill/>
          <a:ln/>
        </p:spPr>
        <p:txBody>
          <a:bodyPr wrap="square" lIns="0" tIns="0" rIns="0" bIns="0" rtlCol="0" anchor="ctr"/>
          <a:lstStyle/>
          <a:p>
            <a:pPr algn="ctr" indent="0" marL="0">
              <a:buNone/>
            </a:pPr>
            <a:r>
              <a:rPr lang="en-US" sz="950" b="1" dirty="0">
                <a:solidFill>
                  <a:srgbClr val="D64545"/>
                </a:solidFill>
                <a:latin typeface="Calibri" pitchFamily="34" charset="0"/>
                <a:ea typeface="Calibri" pitchFamily="34" charset="-122"/>
                <a:cs typeface="Calibri" pitchFamily="34" charset="-120"/>
              </a:rPr>
              <a:t>return from outer()</a:t>
            </a:r>
            <a:endParaRPr lang="en-US" sz="950" dirty="0"/>
          </a:p>
        </p:txBody>
      </p:sp>
      <p:sp>
        <p:nvSpPr>
          <p:cNvPr id="52" name="csf|b6"/>
          <p:cNvSpPr/>
          <p:nvPr/>
        </p:nvSpPr>
        <p:spPr>
          <a:xfrm>
            <a:off x="7437120" y="3291840"/>
            <a:ext cx="1295400" cy="329184"/>
          </a:xfrm>
          <a:prstGeom prst="roundRect">
            <a:avLst>
              <a:gd name="adj" fmla="val 13889"/>
            </a:avLst>
          </a:prstGeom>
          <a:solidFill>
            <a:srgbClr val="306998"/>
          </a:solidFill>
          <a:ln w="12700">
            <a:solidFill>
              <a:srgbClr val="306998"/>
            </a:solidFill>
            <a:prstDash val="solid"/>
          </a:ln>
        </p:spPr>
      </p:sp>
      <p:sp>
        <p:nvSpPr>
          <p:cNvPr id="53" name="csft|b6"/>
          <p:cNvSpPr txBox="1"/>
          <p:nvPr/>
        </p:nvSpPr>
        <p:spPr>
          <a:xfrm>
            <a:off x="7464552" y="3291840"/>
            <a:ext cx="12405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the program</a:t>
            </a:r>
            <a:endParaRPr lang="en-US" sz="1000" dirty="0"/>
          </a:p>
        </p:txBody>
      </p:sp>
      <p:sp>
        <p:nvSpPr>
          <p:cNvPr id="54" name="cso|b6"/>
          <p:cNvSpPr txBox="1"/>
          <p:nvPr/>
        </p:nvSpPr>
        <p:spPr>
          <a:xfrm>
            <a:off x="7437120" y="3712464"/>
            <a:ext cx="1295400" cy="512064"/>
          </a:xfrm>
          <a:prstGeom prst="rect">
            <a:avLst/>
          </a:prstGeom>
          <a:noFill/>
          <a:ln/>
        </p:spPr>
        <p:txBody>
          <a:bodyPr wrap="square" lIns="0" tIns="0" rIns="0" bIns="0" rtlCol="0" anchor="t"/>
          <a:lstStyle/>
          <a:p>
            <a:pPr algn="ctr" indent="0" marL="0">
              <a:buNone/>
            </a:pPr>
            <a:r>
              <a:rPr lang="en-US" sz="750" dirty="0">
                <a:solidFill>
                  <a:srgbClr val="5B6B7B"/>
                </a:solidFill>
                <a:latin typeface="Courier New" pitchFamily="34" charset="0"/>
                <a:ea typeface="Courier New" pitchFamily="34" charset="-122"/>
                <a:cs typeface="Courier New" pitchFamily="34" charset="-120"/>
              </a:rPr>
              <a:t>outer starts / middle starts / inner runs / middle returns / outer returns</a:t>
            </a:r>
            <a:endParaRPr lang="en-US" sz="750" dirty="0"/>
          </a:p>
        </p:txBody>
      </p:sp>
      <p:sp>
        <p:nvSpPr>
          <p:cNvPr id="55" name="band|b7"/>
          <p:cNvSpPr/>
          <p:nvPr/>
        </p:nvSpPr>
        <p:spPr>
          <a:xfrm>
            <a:off x="411480" y="4261104"/>
            <a:ext cx="8321040" cy="329184"/>
          </a:xfrm>
          <a:prstGeom prst="roundRect">
            <a:avLst>
              <a:gd name="adj" fmla="val 27778"/>
            </a:avLst>
          </a:prstGeom>
          <a:solidFill>
            <a:srgbClr val="E3EEF8"/>
          </a:solidFill>
          <a:ln w="25400">
            <a:solidFill>
              <a:srgbClr val="306998"/>
            </a:solidFill>
            <a:prstDash val="solid"/>
          </a:ln>
        </p:spPr>
      </p:sp>
      <p:sp>
        <p:nvSpPr>
          <p:cNvPr id="56" name="bandt|b7"/>
          <p:cNvSpPr txBox="1"/>
          <p:nvPr/>
        </p:nvSpPr>
        <p:spPr>
          <a:xfrm>
            <a:off x="576072" y="4315968"/>
            <a:ext cx="7991856" cy="219456"/>
          </a:xfrm>
          <a:prstGeom prst="rect">
            <a:avLst/>
          </a:prstGeom>
          <a:noFill/>
          <a:ln/>
        </p:spPr>
        <p:txBody>
          <a:bodyPr wrap="square" lIns="0" tIns="0" rIns="0" bIns="0" rtlCol="0" anchor="t"/>
          <a:lstStyle/>
          <a:p>
            <a:pPr indent="0" marL="0">
              <a:buNone/>
            </a:pPr>
            <a:r>
              <a:rPr lang="en-US" sz="1050" b="1" dirty="0">
                <a:solidFill>
                  <a:srgbClr val="306998"/>
                </a:solidFill>
                <a:latin typeface="Cambria" pitchFamily="34" charset="0"/>
                <a:ea typeface="Cambria" pitchFamily="34" charset="-122"/>
                <a:cs typeface="Cambria" pitchFamily="34" charset="-120"/>
              </a:rPr>
              <a:t>Read it as  </a:t>
            </a:r>
            <a:r>
              <a:rPr lang="en-US" sz="1050" dirty="0">
                <a:solidFill>
                  <a:srgbClr val="1F2933"/>
                </a:solidFill>
                <a:latin typeface="Calibri" pitchFamily="34" charset="0"/>
                <a:ea typeface="Calibri" pitchFamily="34" charset="-122"/>
                <a:cs typeface="Calibri" pitchFamily="34" charset="-120"/>
              </a:rPr>
              <a:t>very call pushes a frame and every return pops one; the stack is what Python uses to find its way ...</a:t>
            </a:r>
            <a:endParaRPr lang="en-US" sz="1300" dirty="0"/>
          </a:p>
        </p:txBody>
      </p:sp>
      <p:sp>
        <p:nvSpPr>
          <p:cNvPr id="57"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Frames and the call stack  &gt;  Call stack</a:t>
            </a:r>
            <a:endParaRPr lang="en-US" sz="950" dirty="0"/>
          </a:p>
        </p:txBody>
      </p:sp>
      <p:sp>
        <p:nvSpPr>
          <p:cNvPr id="58"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childTnLst>
                          </p:cTn>
                        </p:par>
                      </p:childTnLst>
                    </p:cTn>
                  </p:par>
                  <p:par>
                    <p:cTn id="53" fill="hold">
                      <p:stCondLst>
                        <p:cond delay="indefinite"/>
                      </p:stCondLst>
                      <p:childTnLst>
                        <p:par>
                          <p:cTn id="54"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00"/>
                                        <p:tgtEl>
                                          <p:spTgt spid="17"/>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childTnLst>
                          </p:cTn>
                        </p:par>
                      </p:childTnLst>
                    </p:cTn>
                  </p:par>
                  <p:par>
                    <p:cTn id="88" fill="hold">
                      <p:stCondLst>
                        <p:cond delay="indefinite"/>
                      </p:stCondLst>
                      <p:childTnLst>
                        <p:par>
                          <p:cTn id="89"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0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00"/>
                                        <p:tgtEl>
                                          <p:spTgt spid="26"/>
                                        </p:tgtEl>
                                      </p:cBhvr>
                                    </p:animEffect>
                                  </p:childTnLst>
                                </p:cTn>
                              </p:par>
                              <p:par>
                                <p:cTn id="67" presetID="10" presetClass="entr" presetSubtype="0" fill="hold"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00"/>
                                        <p:tgtEl>
                                          <p:spTgt spid="28"/>
                                        </p:tgtEl>
                                      </p:cBhvr>
                                    </p:animEffect>
                                  </p:childTnLst>
                                </p:cTn>
                              </p:par>
                              <p:par>
                                <p:cTn id="73" presetID="10" presetClass="entr" presetSubtype="0"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0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400"/>
                                        <p:tgtEl>
                                          <p:spTgt spid="30"/>
                                        </p:tgtEl>
                                      </p:cBhvr>
                                    </p:animEffect>
                                  </p:childTnLst>
                                </p:cTn>
                              </p:par>
                              <p:par>
                                <p:cTn id="79" presetID="10" presetClass="entr" presetSubtype="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400"/>
                                        <p:tgtEl>
                                          <p:spTgt spid="3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00"/>
                                        <p:tgtEl>
                                          <p:spTgt spid="3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400"/>
                                        <p:tgtEl>
                                          <p:spTgt spid="33"/>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40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400"/>
                                        <p:tgtEl>
                                          <p:spTgt spid="35"/>
                                        </p:tgtEl>
                                      </p:cBhvr>
                                    </p:animEffect>
                                  </p:childTnLst>
                                </p:cTn>
                              </p:par>
                              <p:par>
                                <p:cTn id="96" presetID="10" presetClass="entr" presetSubtype="0" fill="hold"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0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400"/>
                                        <p:tgtEl>
                                          <p:spTgt spid="37"/>
                                        </p:tgtEl>
                                      </p:cBhvr>
                                    </p:animEffect>
                                  </p:childTnLst>
                                </p:cTn>
                              </p:par>
                              <p:par>
                                <p:cTn id="102" presetID="10" presetClass="entr" presetSubtype="0" fill="hold"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40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400"/>
                                        <p:tgtEl>
                                          <p:spTgt spid="39"/>
                                        </p:tgtEl>
                                      </p:cBhvr>
                                    </p:animEffect>
                                  </p:childTnLst>
                                </p:cTn>
                              </p:par>
                              <p:par>
                                <p:cTn id="108" presetID="10" presetClass="entr" presetSubtype="0" fill="hold"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40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400"/>
                                        <p:tgtEl>
                                          <p:spTgt spid="4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400"/>
                                        <p:tgtEl>
                                          <p:spTgt spid="42"/>
                                        </p:tgtEl>
                                      </p:cBhvr>
                                    </p:animEffect>
                                  </p:childTnLst>
                                </p:cTn>
                              </p:par>
                            </p:childTnLst>
                          </p:cTn>
                        </p:par>
                      </p:childTnLst>
                    </p:cTn>
                  </p:par>
                  <p:par>
                    <p:cTn id="140" fill="hold">
                      <p:stCondLst>
                        <p:cond delay="indefinite"/>
                      </p:stCondLst>
                      <p:childTnLst>
                        <p:par>
                          <p:cTn id="141"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00"/>
                                        <p:tgtEl>
                                          <p:spTgt spid="4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00"/>
                                        <p:tgtEl>
                                          <p:spTgt spid="44"/>
                                        </p:tgtEl>
                                      </p:cBhvr>
                                    </p:animEffect>
                                  </p:childTnLst>
                                </p:cTn>
                              </p:par>
                              <p:par>
                                <p:cTn id="125" presetID="10" presetClass="entr" presetSubtype="0" fill="hold" nodeType="withEffect">
                                  <p:stCondLst>
                                    <p:cond delay="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400"/>
                                        <p:tgtEl>
                                          <p:spTgt spid="45"/>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400"/>
                                        <p:tgtEl>
                                          <p:spTgt spid="46"/>
                                        </p:tgtEl>
                                      </p:cBhvr>
                                    </p:animEffect>
                                  </p:childTnLst>
                                </p:cTn>
                              </p:par>
                              <p:par>
                                <p:cTn id="131" presetID="10" presetClass="entr" presetSubtype="0" fill="hold" nodeType="withEffect">
                                  <p:stCondLst>
                                    <p:cond delay="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400"/>
                                        <p:tgtEl>
                                          <p:spTgt spid="47"/>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400"/>
                                        <p:tgtEl>
                                          <p:spTgt spid="48"/>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400"/>
                                        <p:tgtEl>
                                          <p:spTgt spid="49"/>
                                        </p:tgtEl>
                                      </p:cBhvr>
                                    </p:animEffect>
                                  </p:childTnLst>
                                </p:cTn>
                              </p:par>
                            </p:childTnLst>
                          </p:cTn>
                        </p:par>
                      </p:childTnLst>
                    </p:cTn>
                  </p:par>
                  <p:par>
                    <p:cTn id="157" fill="hold">
                      <p:stCondLst>
                        <p:cond delay="indefinite"/>
                      </p:stCondLst>
                      <p:childTnLst>
                        <p:par>
                          <p:cTn id="158" fill="hold">
                            <p:stCondLst>
                              <p:cond delay="0"/>
                            </p:stCondLst>
                            <p:childTnLst>
                              <p:par>
                                <p:cTn id="142" presetID="10" presetClass="entr" presetSubtype="0" fill="hold" nodeType="clickEffect">
                                  <p:stCondLst>
                                    <p:cond delay="0"/>
                                  </p:stCondLst>
                                  <p:childTnLst>
                                    <p:set>
                                      <p:cBhvr>
                                        <p:cTn id="143" dur="1" fill="hold">
                                          <p:stCondLst>
                                            <p:cond delay="0"/>
                                          </p:stCondLst>
                                        </p:cTn>
                                        <p:tgtEl>
                                          <p:spTgt spid="50"/>
                                        </p:tgtEl>
                                        <p:attrNameLst>
                                          <p:attrName>style.visibility</p:attrName>
                                        </p:attrNameLst>
                                      </p:cBhvr>
                                      <p:to>
                                        <p:strVal val="visible"/>
                                      </p:to>
                                    </p:set>
                                    <p:animEffect transition="in" filter="fade">
                                      <p:cBhvr>
                                        <p:cTn id="144" dur="400"/>
                                        <p:tgtEl>
                                          <p:spTgt spid="50"/>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1"/>
                                        </p:tgtEl>
                                        <p:attrNameLst>
                                          <p:attrName>style.visibility</p:attrName>
                                        </p:attrNameLst>
                                      </p:cBhvr>
                                      <p:to>
                                        <p:strVal val="visible"/>
                                      </p:to>
                                    </p:set>
                                    <p:animEffect transition="in" filter="fade">
                                      <p:cBhvr>
                                        <p:cTn id="147" dur="400"/>
                                        <p:tgtEl>
                                          <p:spTgt spid="51"/>
                                        </p:tgtEl>
                                      </p:cBhvr>
                                    </p:animEffect>
                                  </p:childTnLst>
                                </p:cTn>
                              </p:par>
                              <p:par>
                                <p:cTn id="148" presetID="10" presetClass="entr" presetSubtype="0" fill="hold" nodeType="withEffect">
                                  <p:stCondLst>
                                    <p:cond delay="0"/>
                                  </p:stCondLst>
                                  <p:childTnLst>
                                    <p:set>
                                      <p:cBhvr>
                                        <p:cTn id="149" dur="1" fill="hold">
                                          <p:stCondLst>
                                            <p:cond delay="0"/>
                                          </p:stCondLst>
                                        </p:cTn>
                                        <p:tgtEl>
                                          <p:spTgt spid="52"/>
                                        </p:tgtEl>
                                        <p:attrNameLst>
                                          <p:attrName>style.visibility</p:attrName>
                                        </p:attrNameLst>
                                      </p:cBhvr>
                                      <p:to>
                                        <p:strVal val="visible"/>
                                      </p:to>
                                    </p:set>
                                    <p:animEffect transition="in" filter="fade">
                                      <p:cBhvr>
                                        <p:cTn id="150" dur="400"/>
                                        <p:tgtEl>
                                          <p:spTgt spid="52"/>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3"/>
                                        </p:tgtEl>
                                        <p:attrNameLst>
                                          <p:attrName>style.visibility</p:attrName>
                                        </p:attrNameLst>
                                      </p:cBhvr>
                                      <p:to>
                                        <p:strVal val="visible"/>
                                      </p:to>
                                    </p:set>
                                    <p:animEffect transition="in" filter="fade">
                                      <p:cBhvr>
                                        <p:cTn id="153" dur="400"/>
                                        <p:tgtEl>
                                          <p:spTgt spid="53"/>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4"/>
                                        </p:tgtEl>
                                        <p:attrNameLst>
                                          <p:attrName>style.visibility</p:attrName>
                                        </p:attrNameLst>
                                      </p:cBhvr>
                                      <p:to>
                                        <p:strVal val="visible"/>
                                      </p:to>
                                    </p:set>
                                    <p:animEffect transition="in" filter="fade">
                                      <p:cBhvr>
                                        <p:cTn id="156" dur="400"/>
                                        <p:tgtEl>
                                          <p:spTgt spid="54"/>
                                        </p:tgtEl>
                                      </p:cBhvr>
                                    </p:animEffect>
                                  </p:childTnLst>
                                </p:cTn>
                              </p:par>
                            </p:childTnLst>
                          </p:cTn>
                        </p:par>
                      </p:childTnLst>
                    </p:cTn>
                  </p:par>
                  <p:par>
                    <p:cTn id="165" fill="hold">
                      <p:stCondLst>
                        <p:cond delay="indefinite"/>
                      </p:stCondLst>
                      <p:childTnLst>
                        <p:par>
                          <p:cTn id="166" fill="hold">
                            <p:stCondLst>
                              <p:cond delay="0"/>
                            </p:stCondLst>
                            <p:childTnLst>
                              <p:par>
                                <p:cTn id="159" presetID="10" presetClass="entr" presetSubtype="0" fill="hold" nodeType="clickEffect">
                                  <p:stCondLst>
                                    <p:cond delay="0"/>
                                  </p:stCondLst>
                                  <p:childTnLst>
                                    <p:set>
                                      <p:cBhvr>
                                        <p:cTn id="160" dur="1" fill="hold">
                                          <p:stCondLst>
                                            <p:cond delay="0"/>
                                          </p:stCondLst>
                                        </p:cTn>
                                        <p:tgtEl>
                                          <p:spTgt spid="55"/>
                                        </p:tgtEl>
                                        <p:attrNameLst>
                                          <p:attrName>style.visibility</p:attrName>
                                        </p:attrNameLst>
                                      </p:cBhvr>
                                      <p:to>
                                        <p:strVal val="visible"/>
                                      </p:to>
                                    </p:set>
                                    <p:animEffect transition="in" filter="fade">
                                      <p:cBhvr>
                                        <p:cTn id="161" dur="400"/>
                                        <p:tgtEl>
                                          <p:spTgt spid="55"/>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6"/>
                                        </p:tgtEl>
                                        <p:attrNameLst>
                                          <p:attrName>style.visibility</p:attrName>
                                        </p:attrNameLst>
                                      </p:cBhvr>
                                      <p:to>
                                        <p:strVal val="visible"/>
                                      </p:to>
                                    </p:set>
                                    <p:animEffect transition="in" filter="fade">
                                      <p:cBhvr>
                                        <p:cTn id="164"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3" grpId="0" animBg="1"/>
      <p:bldP spid="15" grpId="0" animBg="1"/>
      <p:bldP spid="17" grpId="0" animBg="1"/>
      <p:bldP spid="19" grpId="0" animBg="1"/>
      <p:bldP spid="21" grpId="0" animBg="1"/>
      <p:bldP spid="22" grpId="0" animBg="1"/>
      <p:bldP spid="24" grpId="0" animBg="1"/>
      <p:bldP spid="26" grpId="0" animBg="1"/>
      <p:bldP spid="28" grpId="0" animBg="1"/>
      <p:bldP spid="30" grpId="0" animBg="1"/>
      <p:bldP spid="32" grpId="0" animBg="1"/>
      <p:bldP spid="33" grpId="0" animBg="1"/>
      <p:bldP spid="35" grpId="0" animBg="1"/>
      <p:bldP spid="37" grpId="0" animBg="1"/>
      <p:bldP spid="39" grpId="0" animBg="1"/>
      <p:bldP spid="41" grpId="0" animBg="1"/>
      <p:bldP spid="42" grpId="0" animBg="1"/>
      <p:bldP spid="44" grpId="0" animBg="1"/>
      <p:bldP spid="46" grpId="0" animBg="1"/>
      <p:bldP spid="48" grpId="0" animBg="1"/>
      <p:bldP spid="49" grpId="0" animBg="1"/>
      <p:bldP spid="51" grpId="0" animBg="1"/>
      <p:bldP spid="53" grpId="0" animBg="1"/>
      <p:bldP spid="54" grpId="0" animBg="1"/>
      <p:bldP spid="5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Frame object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record Python creates for one call; it stores where the call came from, so execution can return there.</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A frame object is the record that Python creates for a function call and places on the call stack. The textbook says that frame objects store the line number of the original function call so that Python can remember where to return (Sweigart, 2025). The data model of the language describes frame objects as representing execution frames (Python Software Foundation, 2026).</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When a function is called, Python creates a frame object on top of the call stack; when the call returns, it removes that frame object and moves the execution to the line number stored in it (Sweigart, 2025). The reference adds that a frame's f_back attribute points to the previous stack frame, towards the caller, or to None if this is the bottom stack frame (Python Software Foundation, 2026). In the program in which inner() is called from outer(), the code name of the caller found through f_back is 'outer', and for a call made at the top level of the file it is '&lt;module&gt;'.</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50" b="1" dirty="0">
                <a:solidFill>
                  <a:srgbClr val="B7791F"/>
                </a:solidFill>
                <a:latin typeface="Cambria" pitchFamily="34" charset="0"/>
                <a:ea typeface="Cambria" pitchFamily="34" charset="-122"/>
                <a:cs typeface="Cambria" pitchFamily="34" charset="-120"/>
              </a:rPr>
              <a:t>Watch out  </a:t>
            </a:r>
            <a:r>
              <a:rPr lang="en-US" sz="1150" dirty="0">
                <a:solidFill>
                  <a:srgbClr val="1F2933"/>
                </a:solidFill>
                <a:latin typeface="Calibri" pitchFamily="34" charset="0"/>
                <a:ea typeface="Calibri" pitchFamily="34" charset="-122"/>
                <a:cs typeface="Calibri" pitchFamily="34" charset="-120"/>
              </a:rPr>
              <a:t>Frames belong to Python's internals. The documentation of the inspect module warns that keeping references to frame objects can make the objects they reach live much longer than expected, and advises removing the reference once the work with the frame is done (Python Software Foundation, 2026). Ordinary programs never need to touch a frame; it is a tool for debuggers and for understanding.</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Frames and the call stack  &gt;  Call stack</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inspect.currentframe()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Stack inspection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program can list the frames it is running inside, and the interpreter stops a runaway chain of calls with a RecursionError.</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Stack inspection means reading the call stack from within the program. The traceback module offers traceback.extract_stack(), which the documentation describes as extracting the raw traceback from the current stack frame (Python Software Foundation, 2026). The result is a list of entries, one per frame, each with the name of the function that frame belongs to.</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interpreter also limits the depth of the stack. The documentation of sys.getrecursionlimit() calls the value the maximum depth of the Python interpreter stack and says that the limit prevents infinite recursion from causing an overflow of the C stack and crashing Python (Python Software Foundation, 2026).</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stack that grows past the limit does not crash the program silently; Python raises RecursionError.</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750" b="1" dirty="0">
                <a:solidFill>
                  <a:srgbClr val="FFD43B"/>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__import__('sys').getrecursionlimit()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1000</a:t>
            </a:r>
            <a:endParaRPr lang="en-US" sz="7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In a program where a() returns b(), b() returns c(), and c() returns the names of the frames from traceback.extract_stack(), the list is ['&lt;module&gt;', 'a', 'b', 'c']. The bottom entry is the top level of the file, then each waiting function, and the last name is the function that asked: c, the top of the stack.</a:t>
            </a:r>
            <a:endParaRPr lang="en-US" sz="10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Frames and the call stack  &gt;  Call stack</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traceback.extract_stack()</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Stack inspection: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650" dirty="0">
                <a:solidFill>
                  <a:srgbClr val="E6EDF3"/>
                </a:solidFill>
                <a:latin typeface="Courier New" pitchFamily="34" charset="0"/>
                <a:ea typeface="Courier New" pitchFamily="34" charset="-122"/>
                <a:cs typeface="Courier New" pitchFamily="34" charset="-120"/>
              </a:rPr>
              <a:t>import traceback</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def outer():</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    print('outer starts')</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    middle()</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    print('outer returns')</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def middle():</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    print('middle starts')</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    inner()</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    print('middle returns')</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def inner():</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    print('inner: frames are', [frame.name for frame in traceback.extract_stack()][-3:])</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outer()</a:t>
            </a:r>
            <a:endParaRPr lang="en-US" sz="65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stack_v1_0_0.py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800" dirty="0">
                <a:solidFill>
                  <a:srgbClr val="1F2933"/>
                </a:solidFill>
                <a:latin typeface="Courier New" pitchFamily="34" charset="0"/>
                <a:ea typeface="Courier New" pitchFamily="34" charset="-122"/>
                <a:cs typeface="Courier New" pitchFamily="34" charset="-120"/>
              </a:rPr>
              <a:t>outer starts</a:t>
            </a:r>
            <a:endParaRPr lang="en-US" sz="800" dirty="0"/>
          </a:p>
          <a:p>
            <a:pPr indent="0" marL="0">
              <a:buNone/>
            </a:pPr>
            <a:r>
              <a:rPr lang="en-US" sz="800" dirty="0">
                <a:solidFill>
                  <a:srgbClr val="1F2933"/>
                </a:solidFill>
                <a:latin typeface="Courier New" pitchFamily="34" charset="0"/>
                <a:ea typeface="Courier New" pitchFamily="34" charset="-122"/>
                <a:cs typeface="Courier New" pitchFamily="34" charset="-120"/>
              </a:rPr>
              <a:t>middle starts</a:t>
            </a:r>
            <a:endParaRPr lang="en-US" sz="800" dirty="0"/>
          </a:p>
          <a:p>
            <a:pPr indent="0" marL="0">
              <a:buNone/>
            </a:pPr>
            <a:r>
              <a:rPr lang="en-US" sz="800" dirty="0">
                <a:solidFill>
                  <a:srgbClr val="1F2933"/>
                </a:solidFill>
                <a:latin typeface="Courier New" pitchFamily="34" charset="0"/>
                <a:ea typeface="Courier New" pitchFamily="34" charset="-122"/>
                <a:cs typeface="Courier New" pitchFamily="34" charset="-120"/>
              </a:rPr>
              <a:t>inner: frames are ['outer', 'middle', 'inner']</a:t>
            </a:r>
            <a:endParaRPr lang="en-US" sz="800" dirty="0"/>
          </a:p>
          <a:p>
            <a:pPr indent="0" marL="0">
              <a:buNone/>
            </a:pPr>
            <a:r>
              <a:rPr lang="en-US" sz="800" dirty="0">
                <a:solidFill>
                  <a:srgbClr val="1F2933"/>
                </a:solidFill>
                <a:latin typeface="Courier New" pitchFamily="34" charset="0"/>
                <a:ea typeface="Courier New" pitchFamily="34" charset="-122"/>
                <a:cs typeface="Courier New" pitchFamily="34" charset="-120"/>
              </a:rPr>
              <a:t>middle returns</a:t>
            </a:r>
            <a:endParaRPr lang="en-US" sz="800" dirty="0"/>
          </a:p>
          <a:p>
            <a:pPr indent="0" marL="0">
              <a:buNone/>
            </a:pPr>
            <a:r>
              <a:rPr lang="en-US" sz="800" dirty="0">
                <a:solidFill>
                  <a:srgbClr val="1F2933"/>
                </a:solidFill>
                <a:latin typeface="Courier New" pitchFamily="34" charset="0"/>
                <a:ea typeface="Courier New" pitchFamily="34" charset="-122"/>
                <a:cs typeface="Courier New" pitchFamily="34" charset="-120"/>
              </a:rPr>
              <a:t>outer returns</a:t>
            </a:r>
            <a:endParaRPr lang="en-US" sz="8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interpreter also limits the depth of the stack.</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Frames and the call stack  &gt;  Call stack</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Recursion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function that calls itself; each call has its own frame, and a base case must end the chain or RecursionError follows.</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Recursion is the situation in which a function calls itself. The tutorial mentions it in passing: when a function calls another function, or calls itself recursively, a new local symbol table is created for that call (Python Software Foundation, 2026). Each call is therefore independent of the others, even though they all run the same body.</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recursive function needs a base case, a branch that returns without calling itself, so that the chain ends.</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recursive function without a base case never ends.</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sys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forever():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forever()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forever()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except RecursionError as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print(sys.getrecursionlimit(), error)</a:t>
            </a:r>
            <a:endParaRPr lang="en-US" sz="11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recursion_v1_0_0.py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1000 maximum recursion depth exceeded</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Frames and the call stack  &gt;  Call stack</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def factorial(n): ... n * factorial(n - 1)</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Scope</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A scope is the part of a program in which a name can be used, and the scope of a variable decides which variable a name refers to.</a:t>
            </a:r>
            <a:endParaRPr lang="en-US" sz="1150" dirty="0"/>
          </a:p>
        </p:txBody>
      </p:sp>
      <p:sp>
        <p:nvSpPr>
          <p:cNvPr id="4" name="br1|b1"/>
          <p:cNvSpPr/>
          <p:nvPr/>
        </p:nvSpPr>
        <p:spPr>
          <a:xfrm>
            <a:off x="457200" y="1828800"/>
            <a:ext cx="4050792"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Namespaces</a:t>
            </a:r>
            <a:endParaRPr lang="en-US" sz="1400" dirty="0"/>
          </a:p>
        </p:txBody>
      </p:sp>
      <p:sp>
        <p:nvSpPr>
          <p:cNvPr id="6" name="br2|b1"/>
          <p:cNvSpPr/>
          <p:nvPr/>
        </p:nvSpPr>
        <p:spPr>
          <a:xfrm>
            <a:off x="457200" y="2359152"/>
            <a:ext cx="4050792"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Local scope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Global scope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Same-name variables</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Enclosing scope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Built-in scope</a:t>
            </a:r>
            <a:endParaRPr lang="en-US" sz="1200" dirty="0"/>
          </a:p>
        </p:txBody>
      </p:sp>
      <p:sp>
        <p:nvSpPr>
          <p:cNvPr id="8" name="br1|b2"/>
          <p:cNvSpPr/>
          <p:nvPr/>
        </p:nvSpPr>
        <p:spPr>
          <a:xfrm>
            <a:off x="4636008" y="1828800"/>
            <a:ext cx="4050792" cy="457200"/>
          </a:xfrm>
          <a:prstGeom prst="roundRect">
            <a:avLst>
              <a:gd name="adj" fmla="val 16000"/>
            </a:avLst>
          </a:prstGeom>
          <a:solidFill>
            <a:srgbClr val="FFD43B"/>
          </a:solidFill>
          <a:ln w="12700">
            <a:solidFill>
              <a:srgbClr val="FFD43B"/>
            </a:solidFill>
            <a:prstDash val="solid"/>
          </a:ln>
        </p:spPr>
      </p:sp>
      <p:sp>
        <p:nvSpPr>
          <p:cNvPr id="9" name="br1t|b2"/>
          <p:cNvSpPr txBox="1"/>
          <p:nvPr/>
        </p:nvSpPr>
        <p:spPr>
          <a:xfrm>
            <a:off x="4672584"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Scope rules</a:t>
            </a:r>
            <a:endParaRPr lang="en-US" sz="1400" dirty="0"/>
          </a:p>
        </p:txBody>
      </p:sp>
      <p:sp>
        <p:nvSpPr>
          <p:cNvPr id="10" name="br2|b2"/>
          <p:cNvSpPr/>
          <p:nvPr/>
        </p:nvSpPr>
        <p:spPr>
          <a:xfrm>
            <a:off x="4636008" y="2359152"/>
            <a:ext cx="4050792" cy="2121408"/>
          </a:xfrm>
          <a:prstGeom prst="roundRect">
            <a:avLst>
              <a:gd name="adj" fmla="val 3448"/>
            </a:avLst>
          </a:prstGeom>
          <a:solidFill>
            <a:srgbClr val="27374B"/>
          </a:solidFill>
          <a:ln w="12700">
            <a:solidFill>
              <a:srgbClr val="3B5B87"/>
            </a:solidFill>
            <a:prstDash val="solid"/>
          </a:ln>
        </p:spPr>
      </p:sp>
      <p:sp>
        <p:nvSpPr>
          <p:cNvPr id="11" name="br2t|b2"/>
          <p:cNvSpPr txBox="1"/>
          <p:nvPr/>
        </p:nvSpPr>
        <p:spPr>
          <a:xfrm>
            <a:off x="4727448"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Local isolation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Global access</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Name resolution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NameError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Global statement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Scope identification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Symbol table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UnboundLocalError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Nonlocal statement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Namespaces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 namespace is the place where a variable is stored.</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Namespaces support modularity by preventing naming conflicts: the glossary's example is that the functions builtins.open and os.open() are distinguished by their namespaces (Python Software Foundation, 2026). The same idea lets two functions use the name eggs for different variables without disturbing each other.</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sections of this group describe the namespaces one by one: the local scope that every call creates, the single global scope, the scope of an enclosing function, the built-in scope, and the confusing but legal situation in which the same name is used in several of them.</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Local scope</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eggs = 'sss' inside spam()</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Global scope</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eggs = 'global' outside all functions</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Same-name variables</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three variables named eggs</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Enclosing scope</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(lambda n: (lambda: n * 2)())(21)</a:t>
            </a:r>
            <a:endParaRPr lang="en-US" sz="1100" dirty="0"/>
          </a:p>
        </p:txBody>
      </p:sp>
      <p:sp>
        <p:nvSpPr>
          <p:cNvPr id="27" name="ltb|b5"/>
          <p:cNvSpPr/>
          <p:nvPr/>
        </p:nvSpPr>
        <p:spPr>
          <a:xfrm>
            <a:off x="5120640" y="3410712"/>
            <a:ext cx="1335938" cy="420624"/>
          </a:xfrm>
          <a:prstGeom prst="rect">
            <a:avLst/>
          </a:prstGeom>
          <a:solidFill>
            <a:srgbClr val="E3EEF8"/>
          </a:solidFill>
          <a:ln w="12700">
            <a:solidFill>
              <a:srgbClr val="E3EEF8"/>
            </a:solidFill>
            <a:prstDash val="solid"/>
          </a:ln>
        </p:spPr>
      </p:sp>
      <p:sp>
        <p:nvSpPr>
          <p:cNvPr id="28" name="lta|b5"/>
          <p:cNvSpPr txBox="1"/>
          <p:nvPr/>
        </p:nvSpPr>
        <p:spPr>
          <a:xfrm>
            <a:off x="5184648" y="34107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Built-in scope</a:t>
            </a:r>
            <a:endParaRPr lang="en-US" sz="1200" dirty="0"/>
          </a:p>
        </p:txBody>
      </p:sp>
      <p:sp>
        <p:nvSpPr>
          <p:cNvPr id="29" name="ltb|b5"/>
          <p:cNvSpPr/>
          <p:nvPr/>
        </p:nvSpPr>
        <p:spPr>
          <a:xfrm>
            <a:off x="6493154" y="3410712"/>
            <a:ext cx="2239366" cy="420624"/>
          </a:xfrm>
          <a:prstGeom prst="rect">
            <a:avLst/>
          </a:prstGeom>
          <a:solidFill>
            <a:srgbClr val="F1F4F8"/>
          </a:solidFill>
          <a:ln w="12700">
            <a:solidFill>
              <a:srgbClr val="F1F4F8"/>
            </a:solidFill>
            <a:prstDash val="solid"/>
          </a:ln>
        </p:spPr>
      </p:sp>
      <p:sp>
        <p:nvSpPr>
          <p:cNvPr id="30" name="ltb2|b5"/>
          <p:cNvSpPr txBox="1"/>
          <p:nvPr/>
        </p:nvSpPr>
        <p:spPr>
          <a:xfrm>
            <a:off x="6557162" y="34107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builtins</a:t>
            </a:r>
            <a:endParaRPr lang="en-US" sz="110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Namespaces</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Local scope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variable assigned inside a function exists only in that call's local scope and is destroyed when the call returns.</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local scope of a function call is the container for the parameters and for the variables assigned in the function while it runs. The textbook says that only code within a called function can access the parameters and variables assigned in that function, and that such a variable is called a local variable (Sweigart, 2025).</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destruction has a visible effect. After the call, print(eggs) at the top level stops with NameError: name 'eggs' is not defined, because there is no variable of that name any more. A function that sets n = 0 and adds one to it always starts fresh: calling counter() twice gives 1 and 1, not 1 and 2, since the second call receives a new local scope in which n starts again.</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Values that must survive from one call to the next cannot live in a local variable. They can be returned to the caller, which stores them, or they can live in a global variable, which brings the risks that the global scope section describes. The parameters of a function also belong to its local scope and are forgotten at the return.</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Namespaces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eggs = 'sss' inside spam()</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Global scope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There is one global scope, created when the program begins and destroyed when it ends, and code in any function can read its variables.</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global scope is the container for the variables assigned outside all functions. The textbook says that code anywhere in a program can access such variables, which are called global variables, and that a variable must be local or global; it cannot be both (Sweigart, 2025). The reference describes the same container as the namespace of the module that contains the code (Python Software Foundation, 2026).</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There is only one global scope. It is created when the program begins and destroyed when the program terminates, at which time all its variables are forgotten, whereas a new local scope is created for every call (Sweigart, 2025). Code in a function can read a global variable freely; changing it needs the global statement that a later section describes.</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 global scope is not the same as the built-in scope. A name such as print is found in neither the local nor the global scope of the program, and yet it works, because the built-in scope is searched last. Mixing the two up leads to the mistake of redefining a built-in name as a global variable.</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Namespaces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eggs = 'global' outside all functions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Same-name variables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same name in different scopes gives different variables; the book advises unique names to keep track of them.</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Variables with the same name can exist in different scopes at the same time, and they are different variables. The textbook states the fourth scope rule in these words: you can use the same name for different variables if they are in different scopes (Sweigart, 2025). A variable that hides another one of the same name in an outer scope is said to shadow it.</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program contains three different variables that are all named eggs: one in the local scope of spam, one in the local scope of bacon, and one in the ...</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Legal does not mean advisable.</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def inner():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name = 'inner local'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print(name)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def outer():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name = 'outer local'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print(name)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inner()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print(name)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name = 'global'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outer()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print(name)</a:t>
            </a:r>
            <a:endParaRPr lang="en-US" sz="10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scopes_v1_0_0.py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outer local</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inner local</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outer local</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global</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Namespaces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three variables named eggs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Enclosing scope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local scope of the function around a nested function; the inner function can read its variables.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An enclosing scope is the local scope of the function inside which another function is defined. The glossary calls the ability to refer to a variable in an enclosing definition a nested scope, and gives the example of a function defined inside another function referring to variables in the outer function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glossary notes that nested scopes by default work only for reference and not for assignment: local variables both read and write in the innermost scope, and the nonlocal statement allows writing to outer scopes (Python Software Foundation, 2026).</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name read from an enclosing scope is looked up when the inner function runs, not when it is defined. If the outer variable changes in between, the inner function sees the new value.</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850" b="1" dirty="0">
                <a:solidFill>
                  <a:srgbClr val="FFD43B"/>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(lambda n: (lambda: n * 2)())(21)</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42</a:t>
            </a:r>
            <a:endParaRPr lang="en-US" sz="8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In the program in which outer sets n = 21 and defines an inner function that returns n * 2, the call outer() evaluates to 42: the inner function has no n of its own and finds the one in outer. The worked example of this concept builds the same structure from two lambda expressions and evaluates to 42.</a:t>
            </a:r>
            <a:endParaRPr lang="en-US" sz="10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Namespaces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(lambda n: (lambda: n * 2)())(21)</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Built-in scope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scope searched last for a name; it holds print, len and the other built-in functions, which is why they work without being defined.</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built-in scope is the namespace that holds the names Python provides in every program, such as print, input, len and int. The language reference calls it the builtins namespace, the namespace of the module builtins, and says that names are resolved by searching the global namespace first and the builtins namespace next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function such as reads_len that returns len('abc') finds len in none of the scopes it owns, so the search ends in the built-in scope and the call evaluates to 3.</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Hiding a built-in name at the top level breaks every later use of it. After len = 3 at the top level of a program, the call len('abc') stops with TypeError: 'int' object is not callable, since the name now refers to the number 3.</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850" b="1" dirty="0">
                <a:solidFill>
                  <a:srgbClr val="FFD43B"/>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__import__('builtins').len is len</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tutorial puts the built-ins at the end of the lookup order: variable references first look in the local symbol table, then in the local symbol tables of enclosing functions, then in the global symbol table, and finally in the table of built-in names (Python Software Foundation, 2026).</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Namespaces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builtins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Scope rules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scope rules are the statements that decide whether a name in a function is local or global, and what happens when a program breaks them.</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Following the rules is the difference between a program that works and one that stops with an error that looks arbitrary. The rules also explain a surprising fact: whether a name is local is decided from the text of the whole function, not from the line that is running.</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sections cover what code can reach which scope, the lookup order behind it, the two statements that change the rules, the table in which the compiler, the part of Python that translates the program into bytecode, records its decisions, and the two errors that appear when a name cannot be found. A last section covers the statement nonlocal, which the textbook omits.</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28854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Local isolation</a:t>
            </a:r>
            <a:endParaRPr lang="en-US" sz="1200" dirty="0"/>
          </a:p>
        </p:txBody>
      </p:sp>
      <p:sp>
        <p:nvSpPr>
          <p:cNvPr id="13" name="ltb|b1"/>
          <p:cNvSpPr/>
          <p:nvPr/>
        </p:nvSpPr>
        <p:spPr>
          <a:xfrm>
            <a:off x="6493154" y="1581912"/>
            <a:ext cx="2239366" cy="28854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288544"/>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print(ham) in another function</a:t>
            </a:r>
            <a:endParaRPr lang="en-US" sz="850" dirty="0"/>
          </a:p>
        </p:txBody>
      </p:sp>
      <p:sp>
        <p:nvSpPr>
          <p:cNvPr id="15" name="ltb|b2"/>
          <p:cNvSpPr/>
          <p:nvPr/>
        </p:nvSpPr>
        <p:spPr>
          <a:xfrm>
            <a:off x="5120640" y="1907032"/>
            <a:ext cx="1335938" cy="288544"/>
          </a:xfrm>
          <a:prstGeom prst="rect">
            <a:avLst/>
          </a:prstGeom>
          <a:solidFill>
            <a:srgbClr val="E3EEF8"/>
          </a:solidFill>
          <a:ln w="12700">
            <a:solidFill>
              <a:srgbClr val="E3EEF8"/>
            </a:solidFill>
            <a:prstDash val="solid"/>
          </a:ln>
        </p:spPr>
      </p:sp>
      <p:sp>
        <p:nvSpPr>
          <p:cNvPr id="16" name="lta|b2"/>
          <p:cNvSpPr txBox="1"/>
          <p:nvPr/>
        </p:nvSpPr>
        <p:spPr>
          <a:xfrm>
            <a:off x="5184648" y="190703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Global access</a:t>
            </a:r>
            <a:endParaRPr lang="en-US" sz="1200" dirty="0"/>
          </a:p>
        </p:txBody>
      </p:sp>
      <p:sp>
        <p:nvSpPr>
          <p:cNvPr id="17" name="ltb|b2"/>
          <p:cNvSpPr/>
          <p:nvPr/>
        </p:nvSpPr>
        <p:spPr>
          <a:xfrm>
            <a:off x="6493154" y="1907032"/>
            <a:ext cx="2239366" cy="288544"/>
          </a:xfrm>
          <a:prstGeom prst="rect">
            <a:avLst/>
          </a:prstGeom>
          <a:solidFill>
            <a:srgbClr val="F1F4F8"/>
          </a:solidFill>
          <a:ln w="12700">
            <a:solidFill>
              <a:srgbClr val="F1F4F8"/>
            </a:solidFill>
            <a:prstDash val="solid"/>
          </a:ln>
        </p:spPr>
      </p:sp>
      <p:sp>
        <p:nvSpPr>
          <p:cNvPr id="18" name="ltb2|b2"/>
          <p:cNvSpPr txBox="1"/>
          <p:nvPr/>
        </p:nvSpPr>
        <p:spPr>
          <a:xfrm>
            <a:off x="6557162" y="1907032"/>
            <a:ext cx="2074774" cy="288544"/>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print(eggs) inside spam() with no eggs of its own</a:t>
            </a:r>
            <a:endParaRPr lang="en-US" sz="850" dirty="0"/>
          </a:p>
        </p:txBody>
      </p:sp>
      <p:sp>
        <p:nvSpPr>
          <p:cNvPr id="19" name="ltb|b3"/>
          <p:cNvSpPr/>
          <p:nvPr/>
        </p:nvSpPr>
        <p:spPr>
          <a:xfrm>
            <a:off x="5120640" y="2232152"/>
            <a:ext cx="1335938" cy="288544"/>
          </a:xfrm>
          <a:prstGeom prst="rect">
            <a:avLst/>
          </a:prstGeom>
          <a:solidFill>
            <a:srgbClr val="E3EEF8"/>
          </a:solidFill>
          <a:ln w="12700">
            <a:solidFill>
              <a:srgbClr val="E3EEF8"/>
            </a:solidFill>
            <a:prstDash val="solid"/>
          </a:ln>
        </p:spPr>
      </p:sp>
      <p:sp>
        <p:nvSpPr>
          <p:cNvPr id="20" name="lta|b3"/>
          <p:cNvSpPr txBox="1"/>
          <p:nvPr/>
        </p:nvSpPr>
        <p:spPr>
          <a:xfrm>
            <a:off x="5184648" y="223215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Name resolution</a:t>
            </a:r>
            <a:endParaRPr lang="en-US" sz="1200" dirty="0"/>
          </a:p>
        </p:txBody>
      </p:sp>
      <p:sp>
        <p:nvSpPr>
          <p:cNvPr id="21" name="ltb|b3"/>
          <p:cNvSpPr/>
          <p:nvPr/>
        </p:nvSpPr>
        <p:spPr>
          <a:xfrm>
            <a:off x="6493154" y="2232152"/>
            <a:ext cx="2239366" cy="288544"/>
          </a:xfrm>
          <a:prstGeom prst="rect">
            <a:avLst/>
          </a:prstGeom>
          <a:solidFill>
            <a:srgbClr val="F1F4F8"/>
          </a:solidFill>
          <a:ln w="12700">
            <a:solidFill>
              <a:srgbClr val="F1F4F8"/>
            </a:solidFill>
            <a:prstDash val="solid"/>
          </a:ln>
        </p:spPr>
      </p:sp>
      <p:sp>
        <p:nvSpPr>
          <p:cNvPr id="22" name="ltb2|b3"/>
          <p:cNvSpPr txBox="1"/>
          <p:nvPr/>
        </p:nvSpPr>
        <p:spPr>
          <a:xfrm>
            <a:off x="6557162" y="223215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looking up eggs</a:t>
            </a:r>
            <a:endParaRPr lang="en-US" sz="1100" dirty="0"/>
          </a:p>
        </p:txBody>
      </p:sp>
      <p:sp>
        <p:nvSpPr>
          <p:cNvPr id="23" name="ltb|b4"/>
          <p:cNvSpPr/>
          <p:nvPr/>
        </p:nvSpPr>
        <p:spPr>
          <a:xfrm>
            <a:off x="5120640" y="2557272"/>
            <a:ext cx="1335938" cy="288544"/>
          </a:xfrm>
          <a:prstGeom prst="rect">
            <a:avLst/>
          </a:prstGeom>
          <a:solidFill>
            <a:srgbClr val="E3EEF8"/>
          </a:solidFill>
          <a:ln w="12700">
            <a:solidFill>
              <a:srgbClr val="E3EEF8"/>
            </a:solidFill>
            <a:prstDash val="solid"/>
          </a:ln>
        </p:spPr>
      </p:sp>
      <p:sp>
        <p:nvSpPr>
          <p:cNvPr id="24" name="lta|b4"/>
          <p:cNvSpPr txBox="1"/>
          <p:nvPr/>
        </p:nvSpPr>
        <p:spPr>
          <a:xfrm>
            <a:off x="5184648" y="255727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NameError</a:t>
            </a:r>
            <a:endParaRPr lang="en-US" sz="1200" dirty="0"/>
          </a:p>
        </p:txBody>
      </p:sp>
      <p:sp>
        <p:nvSpPr>
          <p:cNvPr id="25" name="ltb|b4"/>
          <p:cNvSpPr/>
          <p:nvPr/>
        </p:nvSpPr>
        <p:spPr>
          <a:xfrm>
            <a:off x="6493154" y="2557272"/>
            <a:ext cx="2239366" cy="288544"/>
          </a:xfrm>
          <a:prstGeom prst="rect">
            <a:avLst/>
          </a:prstGeom>
          <a:solidFill>
            <a:srgbClr val="F1F4F8"/>
          </a:solidFill>
          <a:ln w="12700">
            <a:solidFill>
              <a:srgbClr val="F1F4F8"/>
            </a:solidFill>
            <a:prstDash val="solid"/>
          </a:ln>
        </p:spPr>
      </p:sp>
      <p:sp>
        <p:nvSpPr>
          <p:cNvPr id="26" name="ltb2|b4"/>
          <p:cNvSpPr txBox="1"/>
          <p:nvPr/>
        </p:nvSpPr>
        <p:spPr>
          <a:xfrm>
            <a:off x="6557162" y="255727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eggs</a:t>
            </a:r>
            <a:endParaRPr lang="en-US" sz="1100" dirty="0"/>
          </a:p>
        </p:txBody>
      </p:sp>
      <p:sp>
        <p:nvSpPr>
          <p:cNvPr id="27" name="ltb|b5"/>
          <p:cNvSpPr/>
          <p:nvPr/>
        </p:nvSpPr>
        <p:spPr>
          <a:xfrm>
            <a:off x="5120640" y="2882392"/>
            <a:ext cx="1335938" cy="288544"/>
          </a:xfrm>
          <a:prstGeom prst="rect">
            <a:avLst/>
          </a:prstGeom>
          <a:solidFill>
            <a:srgbClr val="E3EEF8"/>
          </a:solidFill>
          <a:ln w="12700">
            <a:solidFill>
              <a:srgbClr val="E3EEF8"/>
            </a:solidFill>
            <a:prstDash val="solid"/>
          </a:ln>
        </p:spPr>
      </p:sp>
      <p:sp>
        <p:nvSpPr>
          <p:cNvPr id="28" name="lta|b5"/>
          <p:cNvSpPr txBox="1"/>
          <p:nvPr/>
        </p:nvSpPr>
        <p:spPr>
          <a:xfrm>
            <a:off x="5184648" y="2882392"/>
            <a:ext cx="1207922" cy="288544"/>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Global statement</a:t>
            </a:r>
            <a:endParaRPr lang="en-US" sz="1100" dirty="0"/>
          </a:p>
        </p:txBody>
      </p:sp>
      <p:sp>
        <p:nvSpPr>
          <p:cNvPr id="29" name="ltb|b5"/>
          <p:cNvSpPr/>
          <p:nvPr/>
        </p:nvSpPr>
        <p:spPr>
          <a:xfrm>
            <a:off x="6493154" y="2882392"/>
            <a:ext cx="2239366" cy="288544"/>
          </a:xfrm>
          <a:prstGeom prst="rect">
            <a:avLst/>
          </a:prstGeom>
          <a:solidFill>
            <a:srgbClr val="F1F4F8"/>
          </a:solidFill>
          <a:ln w="12700">
            <a:solidFill>
              <a:srgbClr val="F1F4F8"/>
            </a:solidFill>
            <a:prstDash val="solid"/>
          </a:ln>
        </p:spPr>
      </p:sp>
      <p:sp>
        <p:nvSpPr>
          <p:cNvPr id="30" name="ltb2|b5"/>
          <p:cNvSpPr txBox="1"/>
          <p:nvPr/>
        </p:nvSpPr>
        <p:spPr>
          <a:xfrm>
            <a:off x="6557162" y="288239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global eggs</a:t>
            </a:r>
            <a:endParaRPr lang="en-US" sz="1100" dirty="0"/>
          </a:p>
        </p:txBody>
      </p:sp>
      <p:sp>
        <p:nvSpPr>
          <p:cNvPr id="31" name="ltb|b6"/>
          <p:cNvSpPr/>
          <p:nvPr/>
        </p:nvSpPr>
        <p:spPr>
          <a:xfrm>
            <a:off x="5120640" y="3207512"/>
            <a:ext cx="1335938" cy="288544"/>
          </a:xfrm>
          <a:prstGeom prst="rect">
            <a:avLst/>
          </a:prstGeom>
          <a:solidFill>
            <a:srgbClr val="E3EEF8"/>
          </a:solidFill>
          <a:ln w="12700">
            <a:solidFill>
              <a:srgbClr val="E3EEF8"/>
            </a:solidFill>
            <a:prstDash val="solid"/>
          </a:ln>
        </p:spPr>
      </p:sp>
      <p:sp>
        <p:nvSpPr>
          <p:cNvPr id="32" name="lta|b6"/>
          <p:cNvSpPr txBox="1"/>
          <p:nvPr/>
        </p:nvSpPr>
        <p:spPr>
          <a:xfrm>
            <a:off x="5184648" y="3207512"/>
            <a:ext cx="1207922" cy="288544"/>
          </a:xfrm>
          <a:prstGeom prst="rect">
            <a:avLst/>
          </a:prstGeom>
          <a:noFill/>
          <a:ln/>
        </p:spPr>
        <p:txBody>
          <a:bodyPr wrap="square" lIns="0" tIns="0" rIns="0" bIns="0" rtlCol="0" anchor="ctr"/>
          <a:lstStyle/>
          <a:p>
            <a:pPr indent="0" marL="0">
              <a:buNone/>
            </a:pPr>
            <a:r>
              <a:rPr lang="en-US" sz="900" b="1" dirty="0">
                <a:solidFill>
                  <a:srgbClr val="1E2A3A"/>
                </a:solidFill>
                <a:latin typeface="Calibri" pitchFamily="34" charset="0"/>
                <a:ea typeface="Calibri" pitchFamily="34" charset="-122"/>
                <a:cs typeface="Calibri" pitchFamily="34" charset="-120"/>
              </a:rPr>
              <a:t>Scope identification</a:t>
            </a:r>
            <a:endParaRPr lang="en-US" sz="900" dirty="0"/>
          </a:p>
        </p:txBody>
      </p:sp>
      <p:sp>
        <p:nvSpPr>
          <p:cNvPr id="33" name="ltb|b6"/>
          <p:cNvSpPr/>
          <p:nvPr/>
        </p:nvSpPr>
        <p:spPr>
          <a:xfrm>
            <a:off x="6493154" y="3207512"/>
            <a:ext cx="2239366" cy="288544"/>
          </a:xfrm>
          <a:prstGeom prst="rect">
            <a:avLst/>
          </a:prstGeom>
          <a:solidFill>
            <a:srgbClr val="F1F4F8"/>
          </a:solidFill>
          <a:ln w="12700">
            <a:solidFill>
              <a:srgbClr val="F1F4F8"/>
            </a:solidFill>
            <a:prstDash val="solid"/>
          </a:ln>
        </p:spPr>
      </p:sp>
      <p:sp>
        <p:nvSpPr>
          <p:cNvPr id="34" name="ltb2|b6"/>
          <p:cNvSpPr txBox="1"/>
          <p:nvPr/>
        </p:nvSpPr>
        <p:spPr>
          <a:xfrm>
            <a:off x="6557162" y="320751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four rules for eggs</a:t>
            </a:r>
            <a:endParaRPr lang="en-US" sz="1100" dirty="0"/>
          </a:p>
        </p:txBody>
      </p:sp>
      <p:sp>
        <p:nvSpPr>
          <p:cNvPr id="35" name="ltb|b7"/>
          <p:cNvSpPr/>
          <p:nvPr/>
        </p:nvSpPr>
        <p:spPr>
          <a:xfrm>
            <a:off x="5120640" y="3532632"/>
            <a:ext cx="1335938" cy="288544"/>
          </a:xfrm>
          <a:prstGeom prst="rect">
            <a:avLst/>
          </a:prstGeom>
          <a:solidFill>
            <a:srgbClr val="E3EEF8"/>
          </a:solidFill>
          <a:ln w="12700">
            <a:solidFill>
              <a:srgbClr val="E3EEF8"/>
            </a:solidFill>
            <a:prstDash val="solid"/>
          </a:ln>
        </p:spPr>
      </p:sp>
      <p:sp>
        <p:nvSpPr>
          <p:cNvPr id="36" name="lta|b7"/>
          <p:cNvSpPr txBox="1"/>
          <p:nvPr/>
        </p:nvSpPr>
        <p:spPr>
          <a:xfrm>
            <a:off x="5184648" y="353263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Symbol table</a:t>
            </a:r>
            <a:endParaRPr lang="en-US" sz="1200" dirty="0"/>
          </a:p>
        </p:txBody>
      </p:sp>
      <p:sp>
        <p:nvSpPr>
          <p:cNvPr id="37" name="ltb|b7"/>
          <p:cNvSpPr/>
          <p:nvPr/>
        </p:nvSpPr>
        <p:spPr>
          <a:xfrm>
            <a:off x="6493154" y="3532632"/>
            <a:ext cx="2239366" cy="288544"/>
          </a:xfrm>
          <a:prstGeom prst="rect">
            <a:avLst/>
          </a:prstGeom>
          <a:solidFill>
            <a:srgbClr val="F1F4F8"/>
          </a:solidFill>
          <a:ln w="12700">
            <a:solidFill>
              <a:srgbClr val="F1F4F8"/>
            </a:solidFill>
            <a:prstDash val="solid"/>
          </a:ln>
        </p:spPr>
      </p:sp>
      <p:sp>
        <p:nvSpPr>
          <p:cNvPr id="38" name="ltb2|b7"/>
          <p:cNvSpPr txBox="1"/>
          <p:nvPr/>
        </p:nvSpPr>
        <p:spPr>
          <a:xfrm>
            <a:off x="6557162" y="3532632"/>
            <a:ext cx="2074774" cy="288544"/>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symtable.symtable(code, filename, 'exec')</a:t>
            </a:r>
            <a:endParaRPr lang="en-US" sz="850" dirty="0"/>
          </a:p>
        </p:txBody>
      </p:sp>
      <p:sp>
        <p:nvSpPr>
          <p:cNvPr id="39" name="ltb|b8"/>
          <p:cNvSpPr/>
          <p:nvPr/>
        </p:nvSpPr>
        <p:spPr>
          <a:xfrm>
            <a:off x="5120640" y="3857752"/>
            <a:ext cx="1335938" cy="288544"/>
          </a:xfrm>
          <a:prstGeom prst="rect">
            <a:avLst/>
          </a:prstGeom>
          <a:solidFill>
            <a:srgbClr val="E3EEF8"/>
          </a:solidFill>
          <a:ln w="12700">
            <a:solidFill>
              <a:srgbClr val="E3EEF8"/>
            </a:solidFill>
            <a:prstDash val="solid"/>
          </a:ln>
        </p:spPr>
      </p:sp>
      <p:sp>
        <p:nvSpPr>
          <p:cNvPr id="40" name="lta|b8"/>
          <p:cNvSpPr txBox="1"/>
          <p:nvPr/>
        </p:nvSpPr>
        <p:spPr>
          <a:xfrm>
            <a:off x="5184648" y="3857752"/>
            <a:ext cx="1207922" cy="28854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UnboundLocalError</a:t>
            </a:r>
            <a:endParaRPr lang="en-US" sz="1200" dirty="0"/>
          </a:p>
        </p:txBody>
      </p:sp>
      <p:sp>
        <p:nvSpPr>
          <p:cNvPr id="41" name="ltb|b8"/>
          <p:cNvSpPr/>
          <p:nvPr/>
        </p:nvSpPr>
        <p:spPr>
          <a:xfrm>
            <a:off x="6493154" y="3857752"/>
            <a:ext cx="2239366" cy="288544"/>
          </a:xfrm>
          <a:prstGeom prst="rect">
            <a:avLst/>
          </a:prstGeom>
          <a:solidFill>
            <a:srgbClr val="F1F4F8"/>
          </a:solidFill>
          <a:ln w="12700">
            <a:solidFill>
              <a:srgbClr val="F1F4F8"/>
            </a:solidFill>
            <a:prstDash val="solid"/>
          </a:ln>
        </p:spPr>
      </p:sp>
      <p:sp>
        <p:nvSpPr>
          <p:cNvPr id="42" name="ltb2|b8"/>
          <p:cNvSpPr txBox="1"/>
          <p:nvPr/>
        </p:nvSpPr>
        <p:spPr>
          <a:xfrm>
            <a:off x="6557162" y="3857752"/>
            <a:ext cx="2074774" cy="288544"/>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print(eggs) before eggs = 'spam local'</a:t>
            </a:r>
            <a:endParaRPr lang="en-US" sz="850" dirty="0"/>
          </a:p>
        </p:txBody>
      </p:sp>
      <p:sp>
        <p:nvSpPr>
          <p:cNvPr id="43" name="ltb|b9"/>
          <p:cNvSpPr/>
          <p:nvPr/>
        </p:nvSpPr>
        <p:spPr>
          <a:xfrm>
            <a:off x="5120640" y="4182872"/>
            <a:ext cx="1335938" cy="288544"/>
          </a:xfrm>
          <a:prstGeom prst="rect">
            <a:avLst/>
          </a:prstGeom>
          <a:solidFill>
            <a:srgbClr val="E3EEF8"/>
          </a:solidFill>
          <a:ln w="12700">
            <a:solidFill>
              <a:srgbClr val="E3EEF8"/>
            </a:solidFill>
            <a:prstDash val="solid"/>
          </a:ln>
        </p:spPr>
      </p:sp>
      <p:sp>
        <p:nvSpPr>
          <p:cNvPr id="44" name="lta|b9"/>
          <p:cNvSpPr txBox="1"/>
          <p:nvPr/>
        </p:nvSpPr>
        <p:spPr>
          <a:xfrm>
            <a:off x="5184648" y="4182872"/>
            <a:ext cx="1207922" cy="288544"/>
          </a:xfrm>
          <a:prstGeom prst="rect">
            <a:avLst/>
          </a:prstGeom>
          <a:noFill/>
          <a:ln/>
        </p:spPr>
        <p:txBody>
          <a:bodyPr wrap="square" lIns="0" tIns="0" rIns="0" bIns="0" rtlCol="0" anchor="ctr"/>
          <a:lstStyle/>
          <a:p>
            <a:pPr indent="0" marL="0">
              <a:buNone/>
            </a:pPr>
            <a:r>
              <a:rPr lang="en-US" sz="1000" b="1" dirty="0">
                <a:solidFill>
                  <a:srgbClr val="1E2A3A"/>
                </a:solidFill>
                <a:latin typeface="Calibri" pitchFamily="34" charset="0"/>
                <a:ea typeface="Calibri" pitchFamily="34" charset="-122"/>
                <a:cs typeface="Calibri" pitchFamily="34" charset="-120"/>
              </a:rPr>
              <a:t>Nonlocal statement</a:t>
            </a:r>
            <a:endParaRPr lang="en-US" sz="1000" dirty="0"/>
          </a:p>
        </p:txBody>
      </p:sp>
      <p:sp>
        <p:nvSpPr>
          <p:cNvPr id="45" name="ltb|b9"/>
          <p:cNvSpPr/>
          <p:nvPr/>
        </p:nvSpPr>
        <p:spPr>
          <a:xfrm>
            <a:off x="6493154" y="4182872"/>
            <a:ext cx="2239366" cy="288544"/>
          </a:xfrm>
          <a:prstGeom prst="rect">
            <a:avLst/>
          </a:prstGeom>
          <a:solidFill>
            <a:srgbClr val="F1F4F8"/>
          </a:solidFill>
          <a:ln w="12700">
            <a:solidFill>
              <a:srgbClr val="F1F4F8"/>
            </a:solidFill>
            <a:prstDash val="solid"/>
          </a:ln>
        </p:spPr>
      </p:sp>
      <p:sp>
        <p:nvSpPr>
          <p:cNvPr id="46" name="ltb2|b9"/>
          <p:cNvSpPr txBox="1"/>
          <p:nvPr/>
        </p:nvSpPr>
        <p:spPr>
          <a:xfrm>
            <a:off x="6557162" y="4182872"/>
            <a:ext cx="2074774" cy="28854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nonlocal n</a:t>
            </a:r>
            <a:endParaRPr lang="en-US" sz="1100" dirty="0"/>
          </a:p>
        </p:txBody>
      </p:sp>
      <p:sp>
        <p:nvSpPr>
          <p:cNvPr id="47"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48"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par>
                    <p:cTn id="85" fill="hold">
                      <p:stCondLst>
                        <p:cond delay="indefinite"/>
                      </p:stCondLst>
                      <p:childTnLst>
                        <p:par>
                          <p:cTn id="86"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00"/>
                                        <p:tgtEl>
                                          <p:spTgt spid="3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0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0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9" fill="hold">
                      <p:stCondLst>
                        <p:cond delay="indefinite"/>
                      </p:stCondLst>
                      <p:childTnLst>
                        <p:par>
                          <p:cTn id="100"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400"/>
                                        <p:tgtEl>
                                          <p:spTgt spid="3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400"/>
                                        <p:tgtEl>
                                          <p:spTgt spid="36"/>
                                        </p:tgtEl>
                                      </p:cBhvr>
                                    </p:animEffect>
                                  </p:childTnLst>
                                </p:cTn>
                              </p:par>
                              <p:par>
                                <p:cTn id="93" presetID="10" presetClass="entr" presetSubtype="0" fill="hold"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400"/>
                                        <p:tgtEl>
                                          <p:spTgt spid="3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childTnLst>
                          </p:cTn>
                        </p:par>
                      </p:childTnLst>
                    </p:cTn>
                  </p:par>
                  <p:par>
                    <p:cTn id="113" fill="hold">
                      <p:stCondLst>
                        <p:cond delay="indefinite"/>
                      </p:stCondLst>
                      <p:childTnLst>
                        <p:par>
                          <p:cTn id="114"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39"/>
                                        </p:tgtEl>
                                        <p:attrNameLst>
                                          <p:attrName>style.visibility</p:attrName>
                                        </p:attrNameLst>
                                      </p:cBhvr>
                                      <p:to>
                                        <p:strVal val="visible"/>
                                      </p:to>
                                    </p:set>
                                    <p:animEffect transition="in" filter="fade">
                                      <p:cBhvr>
                                        <p:cTn id="103" dur="400"/>
                                        <p:tgtEl>
                                          <p:spTgt spid="3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0"/>
                                        </p:tgtEl>
                                        <p:attrNameLst>
                                          <p:attrName>style.visibility</p:attrName>
                                        </p:attrNameLst>
                                      </p:cBhvr>
                                      <p:to>
                                        <p:strVal val="visible"/>
                                      </p:to>
                                    </p:set>
                                    <p:animEffect transition="in" filter="fade">
                                      <p:cBhvr>
                                        <p:cTn id="106" dur="400"/>
                                        <p:tgtEl>
                                          <p:spTgt spid="40"/>
                                        </p:tgtEl>
                                      </p:cBhvr>
                                    </p:animEffect>
                                  </p:childTnLst>
                                </p:cTn>
                              </p:par>
                              <p:par>
                                <p:cTn id="107" presetID="10" presetClass="entr" presetSubtype="0" fill="hold" nodeType="with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400"/>
                                        <p:tgtEl>
                                          <p:spTgt spid="4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2"/>
                                        </p:tgtEl>
                                        <p:attrNameLst>
                                          <p:attrName>style.visibility</p:attrName>
                                        </p:attrNameLst>
                                      </p:cBhvr>
                                      <p:to>
                                        <p:strVal val="visible"/>
                                      </p:to>
                                    </p:set>
                                    <p:animEffect transition="in" filter="fade">
                                      <p:cBhvr>
                                        <p:cTn id="112" dur="400"/>
                                        <p:tgtEl>
                                          <p:spTgt spid="42"/>
                                        </p:tgtEl>
                                      </p:cBhvr>
                                    </p:animEffect>
                                  </p:childTnLst>
                                </p:cTn>
                              </p:par>
                            </p:childTnLst>
                          </p:cTn>
                        </p:par>
                      </p:childTnLst>
                    </p:cTn>
                  </p:par>
                  <p:par>
                    <p:cTn id="127" fill="hold">
                      <p:stCondLst>
                        <p:cond delay="indefinite"/>
                      </p:stCondLst>
                      <p:childTnLst>
                        <p:par>
                          <p:cTn id="128"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4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400"/>
                                        <p:tgtEl>
                                          <p:spTgt spid="44"/>
                                        </p:tgtEl>
                                      </p:cBhvr>
                                    </p:animEffect>
                                  </p:childTnLst>
                                </p:cTn>
                              </p:par>
                              <p:par>
                                <p:cTn id="121" presetID="10" presetClass="entr" presetSubtype="0" fill="hold"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4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Local isolation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Code in the global scope cannot use a local variable, and one function's local scope cannot use variables in another local scope.</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Local isolation is the pair of rules that keeps the local variables of a function private. The textbook states them as: code that is in the global scope, outside all functions, can't use local variables; and code that is in one function's local scope can't use variables in any other local scope (Sweigart, 2025).</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Python creates a new local scope whenever a program calls a function, even when the function is called from another function, and multiple local scopes can exist at the same time (Sweigart, 2025). The variable ham of bacon exists only during that call. If a third function tries to print ham, it stops with NameError: name 'ham' is not defined.</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300" b="1" dirty="0">
                <a:solidFill>
                  <a:srgbClr val="B7791F"/>
                </a:solidFill>
                <a:latin typeface="Cambria" pitchFamily="34" charset="0"/>
                <a:ea typeface="Cambria" pitchFamily="34" charset="-122"/>
                <a:cs typeface="Cambria" pitchFamily="34" charset="-120"/>
              </a:rPr>
              <a:t>Watch out  </a:t>
            </a:r>
            <a:r>
              <a:rPr lang="en-US" sz="1300" dirty="0">
                <a:solidFill>
                  <a:srgbClr val="1F2933"/>
                </a:solidFill>
                <a:latin typeface="Calibri" pitchFamily="34" charset="0"/>
                <a:ea typeface="Calibri" pitchFamily="34" charset="-122"/>
                <a:cs typeface="Calibri" pitchFamily="34" charset="-120"/>
              </a:rPr>
              <a:t>The only legitimate ways to move information between functions are the parameters and the return value. A learner who wants to read another function's variable should return it from that function, or pass it as an argument, and not reach for a global.</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print(ham) in another function</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Global access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Code in a local scope can read global variables when it has no local variable of that name.</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Global access is the rule that code in a local scope can read global variables. The textbook gives the condition: because the function has no parameter with that name, nor any code that assigns the name a value, Python considers the function's use of the name to be a reference to the global variable (Sweigart, 2025).</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That function returns the same number on every call, because the random choice was made once, when the global variable was assigned, and the function only reads it. Counting the different values among four calls gives 1. Calling randint inside the function would have chosen a new number each time.</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00" b="1" dirty="0">
                <a:solidFill>
                  <a:srgbClr val="B7791F"/>
                </a:solidFill>
                <a:latin typeface="Cambria" pitchFamily="34" charset="0"/>
                <a:ea typeface="Cambria" pitchFamily="34" charset="-122"/>
                <a:cs typeface="Cambria" pitchFamily="34" charset="-120"/>
              </a:rPr>
              <a:t>Watch out  </a:t>
            </a:r>
            <a:r>
              <a:rPr lang="en-US" sz="1100" dirty="0">
                <a:solidFill>
                  <a:srgbClr val="1F2933"/>
                </a:solidFill>
                <a:latin typeface="Calibri" pitchFamily="34" charset="0"/>
                <a:ea typeface="Calibri" pitchFamily="34" charset="-122"/>
                <a:cs typeface="Calibri" pitchFamily="34" charset="-120"/>
              </a:rPr>
              <a:t>Reading a global is allowed, but the first assignment inside the function changes the meaning of every use in that function. The FAQ states the rule briefly: variables that are only referenced inside a function are implicitly global, and if a variable is assigned a value anywhere within the function's body, it's assumed to be a local unless explicitly declared as global (Python Software Foundation, 2026).</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example: print(eggs) inside spam() with no eggs of its own</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Name resolution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lookup rule behind the scope rules: a name is resolved in the nearest enclosing scope, in the order local, enclosing, global, built-in.</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Name resolution is the process by which Python decides which variable a name refers to. The language reference states it in one sentence: when a name is used in a code block, it is resolved using the nearest enclosing scope (Python Software Foundation, 2026). The textbook's four rules for scopes are the special cases of this one rule.</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search finds the name in the nearest scope that has it and stops there. If the name is not found in any scope, the reference says that a NameError exception is raised (Python Software Foundation, 2026). If the name was bound in the current function but not yet given a value at the moment of use, an UnboundLocalError is raised instead, which is the subject of a later section.</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Resolution depends on the structure of the program text, not on the order in which lines happen to run. A name is resolved in the local scope if the function assigns it anywhere, even in a branch that never executes, and then it is a local variable for the whole function, as the section on the symbol table shows.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looking up eggs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Name resolution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lookup rule behind the scope rules: a name is resolved in the nearest enclosing scope, in the order local, enclosing, global, built-in.</a:t>
            </a:r>
            <a:endParaRPr lang="en-US" sz="1300" dirty="0"/>
          </a:p>
        </p:txBody>
      </p:sp>
      <p:sp>
        <p:nvSpPr>
          <p:cNvPr id="6" name="prose"/>
          <p:cNvSpPr txBox="1"/>
          <p:nvPr/>
        </p:nvSpPr>
        <p:spPr>
          <a:xfrm>
            <a:off x="411480" y="1207008"/>
            <a:ext cx="8321040" cy="493776"/>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Name resolution is the process by which Python decides which variable a name refers to.</a:t>
            </a:r>
            <a:endParaRPr lang="en-US" sz="1150" dirty="0"/>
          </a:p>
        </p:txBody>
      </p:sp>
      <p:sp>
        <p:nvSpPr>
          <p:cNvPr id="7" name="nrh|b1"/>
          <p:cNvSpPr/>
          <p:nvPr/>
        </p:nvSpPr>
        <p:spPr>
          <a:xfrm>
            <a:off x="411480" y="1773936"/>
            <a:ext cx="1977390" cy="384048"/>
          </a:xfrm>
          <a:prstGeom prst="roundRect">
            <a:avLst>
              <a:gd name="adj" fmla="val 14286"/>
            </a:avLst>
          </a:prstGeom>
          <a:solidFill>
            <a:srgbClr val="306998"/>
          </a:solidFill>
          <a:ln w="12700">
            <a:solidFill>
              <a:srgbClr val="306998"/>
            </a:solidFill>
            <a:prstDash val="solid"/>
          </a:ln>
        </p:spPr>
      </p:sp>
      <p:sp>
        <p:nvSpPr>
          <p:cNvPr id="8" name="nrht|b1"/>
          <p:cNvSpPr txBox="1"/>
          <p:nvPr/>
        </p:nvSpPr>
        <p:spPr>
          <a:xfrm>
            <a:off x="457200" y="1773936"/>
            <a:ext cx="188595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the function's own body</a:t>
            </a:r>
            <a:endParaRPr lang="en-US" sz="1100" dirty="0"/>
          </a:p>
        </p:txBody>
      </p:sp>
      <p:sp>
        <p:nvSpPr>
          <p:cNvPr id="9" name="nrc|b1"/>
          <p:cNvSpPr/>
          <p:nvPr/>
        </p:nvSpPr>
        <p:spPr>
          <a:xfrm>
            <a:off x="411480" y="2194560"/>
            <a:ext cx="1977390" cy="1417320"/>
          </a:xfrm>
          <a:prstGeom prst="roundRect">
            <a:avLst>
              <a:gd name="adj" fmla="val 3871"/>
            </a:avLst>
          </a:prstGeom>
          <a:solidFill>
            <a:srgbClr val="17202B"/>
          </a:solidFill>
          <a:ln w="12700">
            <a:solidFill>
              <a:srgbClr val="17202B"/>
            </a:solidFill>
            <a:prstDash val="solid"/>
          </a:ln>
        </p:spPr>
      </p:sp>
      <p:sp>
        <p:nvSpPr>
          <p:cNvPr id="10" name="nrct|b1"/>
          <p:cNvSpPr txBox="1"/>
          <p:nvPr/>
        </p:nvSpPr>
        <p:spPr>
          <a:xfrm>
            <a:off x="502920" y="2249424"/>
            <a:ext cx="1794510" cy="1307592"/>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def look():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where = 'local'</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where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print(look())</a:t>
            </a:r>
            <a:endParaRPr lang="en-US" sz="950" dirty="0"/>
          </a:p>
        </p:txBody>
      </p:sp>
      <p:sp>
        <p:nvSpPr>
          <p:cNvPr id="11" name="nrf|b1"/>
          <p:cNvSpPr/>
          <p:nvPr/>
        </p:nvSpPr>
        <p:spPr>
          <a:xfrm>
            <a:off x="411480" y="3657600"/>
            <a:ext cx="1977390" cy="347472"/>
          </a:xfrm>
          <a:prstGeom prst="roundRect">
            <a:avLst>
              <a:gd name="adj" fmla="val 15789"/>
            </a:avLst>
          </a:prstGeom>
          <a:solidFill>
            <a:srgbClr val="DDF3E6"/>
          </a:solidFill>
          <a:ln w="12700">
            <a:solidFill>
              <a:srgbClr val="2E9E5B"/>
            </a:solidFill>
            <a:prstDash val="solid"/>
          </a:ln>
        </p:spPr>
      </p:sp>
      <p:sp>
        <p:nvSpPr>
          <p:cNvPr id="12" name="nrft|b1"/>
          <p:cNvSpPr txBox="1"/>
          <p:nvPr/>
        </p:nvSpPr>
        <p:spPr>
          <a:xfrm>
            <a:off x="457200" y="3657600"/>
            <a:ext cx="1885950" cy="347472"/>
          </a:xfrm>
          <a:prstGeom prst="rect">
            <a:avLst/>
          </a:prstGeom>
          <a:noFill/>
          <a:ln/>
        </p:spPr>
        <p:txBody>
          <a:bodyPr wrap="square" lIns="0" tIns="0" rIns="0" bIns="0" rtlCol="0" anchor="ct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found: local</a:t>
            </a:r>
            <a:endParaRPr lang="en-US" sz="1000" dirty="0"/>
          </a:p>
        </p:txBody>
      </p:sp>
      <p:sp>
        <p:nvSpPr>
          <p:cNvPr id="13" name="nrh|b2"/>
          <p:cNvSpPr/>
          <p:nvPr/>
        </p:nvSpPr>
        <p:spPr>
          <a:xfrm>
            <a:off x="2526030" y="1773936"/>
            <a:ext cx="1977390" cy="384048"/>
          </a:xfrm>
          <a:prstGeom prst="roundRect">
            <a:avLst>
              <a:gd name="adj" fmla="val 14286"/>
            </a:avLst>
          </a:prstGeom>
          <a:solidFill>
            <a:srgbClr val="306998"/>
          </a:solidFill>
          <a:ln w="12700">
            <a:solidFill>
              <a:srgbClr val="306998"/>
            </a:solidFill>
            <a:prstDash val="solid"/>
          </a:ln>
        </p:spPr>
      </p:sp>
      <p:sp>
        <p:nvSpPr>
          <p:cNvPr id="14" name="nrht|b2"/>
          <p:cNvSpPr txBox="1"/>
          <p:nvPr/>
        </p:nvSpPr>
        <p:spPr>
          <a:xfrm>
            <a:off x="2571750" y="1773936"/>
            <a:ext cx="188595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the function around it</a:t>
            </a:r>
            <a:endParaRPr lang="en-US" sz="1100" dirty="0"/>
          </a:p>
        </p:txBody>
      </p:sp>
      <p:sp>
        <p:nvSpPr>
          <p:cNvPr id="15" name="nrc|b2"/>
          <p:cNvSpPr/>
          <p:nvPr/>
        </p:nvSpPr>
        <p:spPr>
          <a:xfrm>
            <a:off x="2526030" y="2194560"/>
            <a:ext cx="1977390" cy="1417320"/>
          </a:xfrm>
          <a:prstGeom prst="roundRect">
            <a:avLst>
              <a:gd name="adj" fmla="val 3871"/>
            </a:avLst>
          </a:prstGeom>
          <a:solidFill>
            <a:srgbClr val="17202B"/>
          </a:solidFill>
          <a:ln w="12700">
            <a:solidFill>
              <a:srgbClr val="17202B"/>
            </a:solidFill>
            <a:prstDash val="solid"/>
          </a:ln>
        </p:spPr>
      </p:sp>
      <p:sp>
        <p:nvSpPr>
          <p:cNvPr id="16" name="nrct|b2"/>
          <p:cNvSpPr txBox="1"/>
          <p:nvPr/>
        </p:nvSpPr>
        <p:spPr>
          <a:xfrm>
            <a:off x="2617470" y="2249424"/>
            <a:ext cx="1794510" cy="1307592"/>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def outside():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where = 'enclosing'</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def look():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where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look()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print(outside())</a:t>
            </a:r>
            <a:endParaRPr lang="en-US" sz="950" dirty="0"/>
          </a:p>
        </p:txBody>
      </p:sp>
      <p:sp>
        <p:nvSpPr>
          <p:cNvPr id="17" name="nrf|b2"/>
          <p:cNvSpPr/>
          <p:nvPr/>
        </p:nvSpPr>
        <p:spPr>
          <a:xfrm>
            <a:off x="2526030" y="3657600"/>
            <a:ext cx="1977390" cy="347472"/>
          </a:xfrm>
          <a:prstGeom prst="roundRect">
            <a:avLst>
              <a:gd name="adj" fmla="val 15789"/>
            </a:avLst>
          </a:prstGeom>
          <a:solidFill>
            <a:srgbClr val="DDF3E6"/>
          </a:solidFill>
          <a:ln w="12700">
            <a:solidFill>
              <a:srgbClr val="2E9E5B"/>
            </a:solidFill>
            <a:prstDash val="solid"/>
          </a:ln>
        </p:spPr>
      </p:sp>
      <p:sp>
        <p:nvSpPr>
          <p:cNvPr id="18" name="nrft|b2"/>
          <p:cNvSpPr txBox="1"/>
          <p:nvPr/>
        </p:nvSpPr>
        <p:spPr>
          <a:xfrm>
            <a:off x="2571750" y="3657600"/>
            <a:ext cx="1885950" cy="347472"/>
          </a:xfrm>
          <a:prstGeom prst="rect">
            <a:avLst/>
          </a:prstGeom>
          <a:noFill/>
          <a:ln/>
        </p:spPr>
        <p:txBody>
          <a:bodyPr wrap="square" lIns="0" tIns="0" rIns="0" bIns="0" rtlCol="0" anchor="ct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found: enclosing</a:t>
            </a:r>
            <a:endParaRPr lang="en-US" sz="1000" dirty="0"/>
          </a:p>
        </p:txBody>
      </p:sp>
      <p:sp>
        <p:nvSpPr>
          <p:cNvPr id="19" name="nrh|b3"/>
          <p:cNvSpPr/>
          <p:nvPr/>
        </p:nvSpPr>
        <p:spPr>
          <a:xfrm>
            <a:off x="4640580" y="1773936"/>
            <a:ext cx="1977390" cy="384048"/>
          </a:xfrm>
          <a:prstGeom prst="roundRect">
            <a:avLst>
              <a:gd name="adj" fmla="val 14286"/>
            </a:avLst>
          </a:prstGeom>
          <a:solidFill>
            <a:srgbClr val="306998"/>
          </a:solidFill>
          <a:ln w="12700">
            <a:solidFill>
              <a:srgbClr val="306998"/>
            </a:solidFill>
            <a:prstDash val="solid"/>
          </a:ln>
        </p:spPr>
      </p:sp>
      <p:sp>
        <p:nvSpPr>
          <p:cNvPr id="20" name="nrht|b3"/>
          <p:cNvSpPr txBox="1"/>
          <p:nvPr/>
        </p:nvSpPr>
        <p:spPr>
          <a:xfrm>
            <a:off x="4686300" y="1773936"/>
            <a:ext cx="188595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the file, outside every function</a:t>
            </a:r>
            <a:endParaRPr lang="en-US" sz="1100" dirty="0"/>
          </a:p>
        </p:txBody>
      </p:sp>
      <p:sp>
        <p:nvSpPr>
          <p:cNvPr id="21" name="nrc|b3"/>
          <p:cNvSpPr/>
          <p:nvPr/>
        </p:nvSpPr>
        <p:spPr>
          <a:xfrm>
            <a:off x="4640580" y="2194560"/>
            <a:ext cx="1977390" cy="1417320"/>
          </a:xfrm>
          <a:prstGeom prst="roundRect">
            <a:avLst>
              <a:gd name="adj" fmla="val 3871"/>
            </a:avLst>
          </a:prstGeom>
          <a:solidFill>
            <a:srgbClr val="17202B"/>
          </a:solidFill>
          <a:ln w="12700">
            <a:solidFill>
              <a:srgbClr val="17202B"/>
            </a:solidFill>
            <a:prstDash val="solid"/>
          </a:ln>
        </p:spPr>
      </p:sp>
      <p:sp>
        <p:nvSpPr>
          <p:cNvPr id="22" name="nrct|b3"/>
          <p:cNvSpPr txBox="1"/>
          <p:nvPr/>
        </p:nvSpPr>
        <p:spPr>
          <a:xfrm>
            <a:off x="4732020" y="2249424"/>
            <a:ext cx="1794510" cy="1307592"/>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where = 'global'</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look():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where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print(look())</a:t>
            </a:r>
            <a:endParaRPr lang="en-US" sz="950" dirty="0"/>
          </a:p>
        </p:txBody>
      </p:sp>
      <p:sp>
        <p:nvSpPr>
          <p:cNvPr id="23" name="nrf|b3"/>
          <p:cNvSpPr/>
          <p:nvPr/>
        </p:nvSpPr>
        <p:spPr>
          <a:xfrm>
            <a:off x="4640580" y="3657600"/>
            <a:ext cx="1977390" cy="347472"/>
          </a:xfrm>
          <a:prstGeom prst="roundRect">
            <a:avLst>
              <a:gd name="adj" fmla="val 15789"/>
            </a:avLst>
          </a:prstGeom>
          <a:solidFill>
            <a:srgbClr val="DDF3E6"/>
          </a:solidFill>
          <a:ln w="12700">
            <a:solidFill>
              <a:srgbClr val="2E9E5B"/>
            </a:solidFill>
            <a:prstDash val="solid"/>
          </a:ln>
        </p:spPr>
      </p:sp>
      <p:sp>
        <p:nvSpPr>
          <p:cNvPr id="24" name="nrft|b3"/>
          <p:cNvSpPr txBox="1"/>
          <p:nvPr/>
        </p:nvSpPr>
        <p:spPr>
          <a:xfrm>
            <a:off x="4686300" y="3657600"/>
            <a:ext cx="1885950" cy="347472"/>
          </a:xfrm>
          <a:prstGeom prst="rect">
            <a:avLst/>
          </a:prstGeom>
          <a:noFill/>
          <a:ln/>
        </p:spPr>
        <p:txBody>
          <a:bodyPr wrap="square" lIns="0" tIns="0" rIns="0" bIns="0" rtlCol="0" anchor="ct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found: global</a:t>
            </a:r>
            <a:endParaRPr lang="en-US" sz="1000" dirty="0"/>
          </a:p>
        </p:txBody>
      </p:sp>
      <p:sp>
        <p:nvSpPr>
          <p:cNvPr id="25" name="nrh|b4"/>
          <p:cNvSpPr/>
          <p:nvPr/>
        </p:nvSpPr>
        <p:spPr>
          <a:xfrm>
            <a:off x="6755130" y="1773936"/>
            <a:ext cx="1977390" cy="384048"/>
          </a:xfrm>
          <a:prstGeom prst="roundRect">
            <a:avLst>
              <a:gd name="adj" fmla="val 14286"/>
            </a:avLst>
          </a:prstGeom>
          <a:solidFill>
            <a:srgbClr val="306998"/>
          </a:solidFill>
          <a:ln w="12700">
            <a:solidFill>
              <a:srgbClr val="306998"/>
            </a:solidFill>
            <a:prstDash val="solid"/>
          </a:ln>
        </p:spPr>
      </p:sp>
      <p:sp>
        <p:nvSpPr>
          <p:cNvPr id="26" name="nrht|b4"/>
          <p:cNvSpPr txBox="1"/>
          <p:nvPr/>
        </p:nvSpPr>
        <p:spPr>
          <a:xfrm>
            <a:off x="6800850" y="1773936"/>
            <a:ext cx="188595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the built-in names Python always has</a:t>
            </a:r>
            <a:endParaRPr lang="en-US" sz="1100" dirty="0"/>
          </a:p>
        </p:txBody>
      </p:sp>
      <p:sp>
        <p:nvSpPr>
          <p:cNvPr id="27" name="nrc|b4"/>
          <p:cNvSpPr/>
          <p:nvPr/>
        </p:nvSpPr>
        <p:spPr>
          <a:xfrm>
            <a:off x="6755130" y="2194560"/>
            <a:ext cx="1977390" cy="1417320"/>
          </a:xfrm>
          <a:prstGeom prst="roundRect">
            <a:avLst>
              <a:gd name="adj" fmla="val 3871"/>
            </a:avLst>
          </a:prstGeom>
          <a:solidFill>
            <a:srgbClr val="17202B"/>
          </a:solidFill>
          <a:ln w="12700">
            <a:solidFill>
              <a:srgbClr val="17202B"/>
            </a:solidFill>
            <a:prstDash val="solid"/>
          </a:ln>
        </p:spPr>
      </p:sp>
      <p:sp>
        <p:nvSpPr>
          <p:cNvPr id="28" name="nrct|b4"/>
          <p:cNvSpPr txBox="1"/>
          <p:nvPr/>
        </p:nvSpPr>
        <p:spPr>
          <a:xfrm>
            <a:off x="6846570" y="2249424"/>
            <a:ext cx="1794510" cy="1307592"/>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def look():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len.__name__</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print(look())</a:t>
            </a:r>
            <a:endParaRPr lang="en-US" sz="950" dirty="0"/>
          </a:p>
        </p:txBody>
      </p:sp>
      <p:sp>
        <p:nvSpPr>
          <p:cNvPr id="29" name="nrf|b4"/>
          <p:cNvSpPr/>
          <p:nvPr/>
        </p:nvSpPr>
        <p:spPr>
          <a:xfrm>
            <a:off x="6755130" y="3657600"/>
            <a:ext cx="1977390" cy="347472"/>
          </a:xfrm>
          <a:prstGeom prst="roundRect">
            <a:avLst>
              <a:gd name="adj" fmla="val 15789"/>
            </a:avLst>
          </a:prstGeom>
          <a:solidFill>
            <a:srgbClr val="DDF3E6"/>
          </a:solidFill>
          <a:ln w="12700">
            <a:solidFill>
              <a:srgbClr val="2E9E5B"/>
            </a:solidFill>
            <a:prstDash val="solid"/>
          </a:ln>
        </p:spPr>
      </p:sp>
      <p:sp>
        <p:nvSpPr>
          <p:cNvPr id="30" name="nrft|b4"/>
          <p:cNvSpPr txBox="1"/>
          <p:nvPr/>
        </p:nvSpPr>
        <p:spPr>
          <a:xfrm>
            <a:off x="6800850" y="3657600"/>
            <a:ext cx="1885950" cy="347472"/>
          </a:xfrm>
          <a:prstGeom prst="rect">
            <a:avLst/>
          </a:prstGeom>
          <a:noFill/>
          <a:ln/>
        </p:spPr>
        <p:txBody>
          <a:bodyPr wrap="square" lIns="0" tIns="0" rIns="0" bIns="0" rtlCol="0" anchor="ct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found: len</a:t>
            </a:r>
            <a:endParaRPr lang="en-US" sz="1000" dirty="0"/>
          </a:p>
        </p:txBody>
      </p:sp>
      <p:sp>
        <p:nvSpPr>
          <p:cNvPr id="31" name="band|b5"/>
          <p:cNvSpPr/>
          <p:nvPr/>
        </p:nvSpPr>
        <p:spPr>
          <a:xfrm>
            <a:off x="411480" y="4096512"/>
            <a:ext cx="8321040" cy="475488"/>
          </a:xfrm>
          <a:prstGeom prst="roundRect">
            <a:avLst>
              <a:gd name="adj" fmla="val 19231"/>
            </a:avLst>
          </a:prstGeom>
          <a:solidFill>
            <a:srgbClr val="FCEFD0"/>
          </a:solidFill>
          <a:ln w="25400">
            <a:solidFill>
              <a:srgbClr val="B7791F"/>
            </a:solidFill>
            <a:prstDash val="solid"/>
          </a:ln>
        </p:spPr>
      </p:sp>
      <p:sp>
        <p:nvSpPr>
          <p:cNvPr id="32" name="bandt|b5"/>
          <p:cNvSpPr txBox="1"/>
          <p:nvPr/>
        </p:nvSpPr>
        <p:spPr>
          <a:xfrm>
            <a:off x="576072" y="4151376"/>
            <a:ext cx="7991856" cy="365760"/>
          </a:xfrm>
          <a:prstGeom prst="rect">
            <a:avLst/>
          </a:prstGeom>
          <a:noFill/>
          <a:ln/>
        </p:spPr>
        <p:txBody>
          <a:bodyPr wrap="square" lIns="0" tIns="0" rIns="0" bIns="0" rtlCol="0" anchor="t"/>
          <a:lstStyle/>
          <a:p>
            <a:pPr indent="0" marL="0">
              <a:buNone/>
            </a:pPr>
            <a:r>
              <a:rPr lang="en-US" sz="1100" b="1" dirty="0">
                <a:solidFill>
                  <a:srgbClr val="B7791F"/>
                </a:solidFill>
                <a:latin typeface="Cambria" pitchFamily="34" charset="0"/>
                <a:ea typeface="Cambria" pitchFamily="34" charset="-122"/>
                <a:cs typeface="Cambria" pitchFamily="34" charset="-120"/>
              </a:rPr>
              <a:t>The order  </a:t>
            </a:r>
            <a:r>
              <a:rPr lang="en-US" sz="1100" dirty="0">
                <a:solidFill>
                  <a:srgbClr val="1F2933"/>
                </a:solidFill>
                <a:latin typeface="Calibri" pitchFamily="34" charset="0"/>
                <a:ea typeface="Calibri" pitchFamily="34" charset="-122"/>
                <a:cs typeface="Calibri" pitchFamily="34" charset="-120"/>
              </a:rPr>
              <a:t>Python looks for a name in the function first, then in any function around it, then in the file, and last among the built-in names. The first place that has the name wins.</a:t>
            </a:r>
            <a:endParaRPr lang="en-US" sz="1300" dirty="0"/>
          </a:p>
        </p:txBody>
      </p:sp>
      <p:sp>
        <p:nvSpPr>
          <p:cNvPr id="33"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34"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0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00"/>
                                        <p:tgtEl>
                                          <p:spTgt spid="24"/>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0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00"/>
                                        <p:tgtEl>
                                          <p:spTgt spid="26"/>
                                        </p:tgtEl>
                                      </p:cBhvr>
                                    </p:animEffect>
                                  </p:childTnLst>
                                </p:cTn>
                              </p:par>
                              <p:par>
                                <p:cTn id="69" presetID="10"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0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par>
                                <p:cTn id="75" presetID="10" presetClass="entr" presetSubtype="0" fill="hold"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0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400"/>
                                        <p:tgtEl>
                                          <p:spTgt spid="30"/>
                                        </p:tgtEl>
                                      </p:cBhvr>
                                    </p:animEffect>
                                  </p:childTnLst>
                                </p:cTn>
                              </p:par>
                            </p:childTnLst>
                          </p:cTn>
                        </p:par>
                      </p:childTnLst>
                    </p:cTn>
                  </p:par>
                  <p:par>
                    <p:cTn id="89" fill="hold">
                      <p:stCondLst>
                        <p:cond delay="indefinite"/>
                      </p:stCondLst>
                      <p:childTnLst>
                        <p:par>
                          <p:cTn id="90"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400"/>
                                        <p:tgtEl>
                                          <p:spTgt spid="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NameError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error raised when a name is not found in any scope; its message includes the name, as in name 'eggs' is not defined.</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NameError is the exception that Python raises when a name is used and no scope contains it. The library reference describes it as raised when a local or global name is not found, and states that the associated value is an error message that includes the name that could not be found (Python Software Foundation, 2026).</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reference says that when a name is not found at all, a NameError exception is raised (Python Software Foundation, 2026). Several of the situations in this chapter reach it by different roads: a call before the def statement has run, a variable that exists only in another function, a parameter used after its call has returned, and a function name that is only defined inside another function.</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UnboundLocalError is a subclass of NameError, so an except clause for NameError also catches it. The two should not be confused when reading a message: NameError says there is no such name at all, while UnboundLocalError says that the name exists in the function but has no value yet.</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eggs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Global statement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global statement makes a name in the function refer to the global variable, so assigning to it changes the global.</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global statement tells Python that a name inside a function refers to the global variable. The textbook explains that a line such as global eggs at the top of a function tells Python: in this function, eggs refers to the global variable, so don't create a local variable with this name (Sweigart, 2025). The language reference defines it as causing the listed identifiers to be interpreted as globals (Python Software Foundation, 2026).</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statement applies to the entire current scope, and a SyntaxError is raised if the variable is ...</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Needing global is a hint that the design may be wrong. The textbook says that writing functions without global variables is encouraged, which makes it possible to treat each function as a black box (Sweigart, 2025).</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change():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global mood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mood = 'changed'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shadow():</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mood = 'local only'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mood = 'original'</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shadow()</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print(mood)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change()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print(mood)</a:t>
            </a:r>
            <a:endParaRPr lang="en-US" sz="11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globalstmt_v1_0_0.py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original</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changed</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global eggs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Scope identification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name is global if used outside all functions or declared global, local if the function assigns it, and global if the function only reads it.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Scope identification is the set of four rules with which the textbook decides whether a variable belongs to a local scope or the global scope. A variable in the global scope, outside all functions, is always a global variable; a variable in a function with a global statement is a global variable in that function; otherwise, if a function uses a variable in an assignment statement, it is a local variable; however, if the function uses a variable but never in an assignment statement, it is a global variable (Sweigart, 2025).</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decision does not depend on the order of the lines. The reference explains that the local variables of a code block can be determined by scanning the entire text of the block for name binding operations (Python Software Foundation, 2026), and the symbol table of the next but one section shows the result: the same name eggs is global in spam, local in bacon and global in ham.</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Rule 4 has a trap that rule 3 creates: a function that only uses a name is reading the global one, but adding one assignment anywhere in the function turns every use of that name in it into the local variable. This is the origin of the error described in the section on UnboundLocalError.</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four rules for eggs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Scope identification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name is global if used outside all functions or declared global, local if the function assigns it, and global if the function only reads it.</a:t>
            </a:r>
            <a:endParaRPr lang="en-US" sz="1300" dirty="0"/>
          </a:p>
        </p:txBody>
      </p:sp>
      <p:sp>
        <p:nvSpPr>
          <p:cNvPr id="6" name="prose"/>
          <p:cNvSpPr txBox="1"/>
          <p:nvPr/>
        </p:nvSpPr>
        <p:spPr>
          <a:xfrm>
            <a:off x="411480" y="1207008"/>
            <a:ext cx="3977640" cy="1627632"/>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Scope identification is the set of four rules with which the textbook decides whether a variable belongs to a local scope or the global scope.</a:t>
            </a:r>
            <a:endParaRPr lang="en-US" sz="1150" dirty="0"/>
          </a:p>
        </p:txBody>
      </p:sp>
      <p:sp>
        <p:nvSpPr>
          <p:cNvPr id="7" name="scb"/>
          <p:cNvSpPr/>
          <p:nvPr/>
        </p:nvSpPr>
        <p:spPr>
          <a:xfrm>
            <a:off x="411480" y="2907792"/>
            <a:ext cx="3977640" cy="1463040"/>
          </a:xfrm>
          <a:prstGeom prst="roundRect">
            <a:avLst>
              <a:gd name="adj" fmla="val 6250"/>
            </a:avLst>
          </a:prstGeom>
          <a:solidFill>
            <a:srgbClr val="17202B"/>
          </a:solidFill>
          <a:ln w="12700">
            <a:solidFill>
              <a:srgbClr val="17202B"/>
            </a:solidFill>
            <a:prstDash val="solid"/>
          </a:ln>
        </p:spPr>
      </p:sp>
      <p:sp>
        <p:nvSpPr>
          <p:cNvPr id="8" name="scode"/>
          <p:cNvSpPr txBox="1"/>
          <p:nvPr/>
        </p:nvSpPr>
        <p:spPr>
          <a:xfrm>
            <a:off x="548640" y="2980944"/>
            <a:ext cx="3703320" cy="1316736"/>
          </a:xfrm>
          <a:prstGeom prst="rect">
            <a:avLst/>
          </a:prstGeom>
          <a:noFill/>
          <a:ln/>
        </p:spPr>
        <p:txBody>
          <a:bodyPr wrap="square" lIns="0" tIns="0" rIns="0" bIns="0" rtlCol="0" anchor="t"/>
          <a:lstStyle/>
          <a:p>
            <a:pPr indent="0" marL="0">
              <a:buNone/>
            </a:pPr>
            <a:r>
              <a:rPr lang="en-US" sz="600" dirty="0">
                <a:solidFill>
                  <a:srgbClr val="E6EDF3"/>
                </a:solidFill>
                <a:latin typeface="Courier New" pitchFamily="34" charset="0"/>
                <a:ea typeface="Courier New" pitchFamily="34" charset="-122"/>
                <a:cs typeface="Courier New" pitchFamily="34" charset="-120"/>
              </a:rPr>
              <a:t>def reads_global():</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print(eggs)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def makes_local():</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eggs = 'local'</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print(eggs)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def declares_global():</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global eggs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eggs = 'changed'</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def uses_before_assigning():</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print(eggs)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eggs = 'local'</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eggs = 'global'</a:t>
            </a:r>
            <a:endParaRPr lang="en-US" sz="600" dirty="0"/>
          </a:p>
        </p:txBody>
      </p:sp>
      <p:sp>
        <p:nvSpPr>
          <p:cNvPr id="9" name="sccap"/>
          <p:cNvSpPr txBox="1"/>
          <p:nvPr/>
        </p:nvSpPr>
        <p:spPr>
          <a:xfrm>
            <a:off x="411480" y="4389120"/>
            <a:ext cx="3977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the program the symbol table was read from</a:t>
            </a:r>
            <a:endParaRPr lang="en-US" sz="850" dirty="0"/>
          </a:p>
        </p:txBody>
      </p:sp>
      <p:sp>
        <p:nvSpPr>
          <p:cNvPr id="10" name="srb|b1"/>
          <p:cNvSpPr/>
          <p:nvPr/>
        </p:nvSpPr>
        <p:spPr>
          <a:xfrm>
            <a:off x="4617720" y="1207008"/>
            <a:ext cx="3154680" cy="566928"/>
          </a:xfrm>
          <a:prstGeom prst="roundRect">
            <a:avLst>
              <a:gd name="adj" fmla="val 9677"/>
            </a:avLst>
          </a:prstGeom>
          <a:solidFill>
            <a:srgbClr val="F1F4F8"/>
          </a:solidFill>
          <a:ln w="12700">
            <a:solidFill>
              <a:srgbClr val="9AA8B8"/>
            </a:solidFill>
            <a:prstDash val="solid"/>
          </a:ln>
        </p:spPr>
      </p:sp>
      <p:sp>
        <p:nvSpPr>
          <p:cNvPr id="11" name="srt|b1"/>
          <p:cNvSpPr txBox="1"/>
          <p:nvPr/>
        </p:nvSpPr>
        <p:spPr>
          <a:xfrm>
            <a:off x="4709160" y="1207008"/>
            <a:ext cx="2971800" cy="56692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reads_global() - uses eggs, never assigns it, and declares nothing</a:t>
            </a:r>
            <a:endParaRPr lang="en-US" sz="1050" dirty="0"/>
          </a:p>
        </p:txBody>
      </p:sp>
      <p:sp>
        <p:nvSpPr>
          <p:cNvPr id="12" name="srv|b1"/>
          <p:cNvSpPr/>
          <p:nvPr/>
        </p:nvSpPr>
        <p:spPr>
          <a:xfrm>
            <a:off x="7836408" y="1207008"/>
            <a:ext cx="896112" cy="566928"/>
          </a:xfrm>
          <a:prstGeom prst="roundRect">
            <a:avLst>
              <a:gd name="adj" fmla="val 9677"/>
            </a:avLst>
          </a:prstGeom>
          <a:solidFill>
            <a:srgbClr val="E3EEF8"/>
          </a:solidFill>
          <a:ln w="12700">
            <a:solidFill>
              <a:srgbClr val="306998"/>
            </a:solidFill>
            <a:prstDash val="solid"/>
          </a:ln>
        </p:spPr>
      </p:sp>
      <p:sp>
        <p:nvSpPr>
          <p:cNvPr id="13" name="srvt|b1"/>
          <p:cNvSpPr txBox="1"/>
          <p:nvPr/>
        </p:nvSpPr>
        <p:spPr>
          <a:xfrm>
            <a:off x="7836408" y="1207008"/>
            <a:ext cx="896112" cy="566928"/>
          </a:xfrm>
          <a:prstGeom prst="rect">
            <a:avLst/>
          </a:prstGeom>
          <a:noFill/>
          <a:ln/>
        </p:spPr>
        <p:txBody>
          <a:bodyPr wrap="square" lIns="0" tIns="0" rIns="0" bIns="0" rtlCol="0" anchor="ctr"/>
          <a:lstStyle/>
          <a:p>
            <a:pPr algn="ctr" indent="0" marL="0">
              <a:buNone/>
            </a:pPr>
            <a:r>
              <a:rPr lang="en-US" sz="1200" b="1" dirty="0">
                <a:solidFill>
                  <a:srgbClr val="306998"/>
                </a:solidFill>
                <a:latin typeface="Calibri" pitchFamily="34" charset="0"/>
                <a:ea typeface="Calibri" pitchFamily="34" charset="-122"/>
                <a:cs typeface="Calibri" pitchFamily="34" charset="-120"/>
              </a:rPr>
              <a:t>global</a:t>
            </a:r>
            <a:endParaRPr lang="en-US" sz="1200" dirty="0"/>
          </a:p>
        </p:txBody>
      </p:sp>
      <p:sp>
        <p:nvSpPr>
          <p:cNvPr id="14" name="srb|b2"/>
          <p:cNvSpPr/>
          <p:nvPr/>
        </p:nvSpPr>
        <p:spPr>
          <a:xfrm>
            <a:off x="4617720" y="1847088"/>
            <a:ext cx="3154680" cy="566928"/>
          </a:xfrm>
          <a:prstGeom prst="roundRect">
            <a:avLst>
              <a:gd name="adj" fmla="val 9677"/>
            </a:avLst>
          </a:prstGeom>
          <a:solidFill>
            <a:srgbClr val="F1F4F8"/>
          </a:solidFill>
          <a:ln w="12700">
            <a:solidFill>
              <a:srgbClr val="9AA8B8"/>
            </a:solidFill>
            <a:prstDash val="solid"/>
          </a:ln>
        </p:spPr>
      </p:sp>
      <p:sp>
        <p:nvSpPr>
          <p:cNvPr id="15" name="srt|b2"/>
          <p:cNvSpPr txBox="1"/>
          <p:nvPr/>
        </p:nvSpPr>
        <p:spPr>
          <a:xfrm>
            <a:off x="4709160" y="1847088"/>
            <a:ext cx="2971800" cy="56692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makes_local() - assigns eggs inside the function</a:t>
            </a:r>
            <a:endParaRPr lang="en-US" sz="1050" dirty="0"/>
          </a:p>
        </p:txBody>
      </p:sp>
      <p:sp>
        <p:nvSpPr>
          <p:cNvPr id="16" name="srv|b2"/>
          <p:cNvSpPr/>
          <p:nvPr/>
        </p:nvSpPr>
        <p:spPr>
          <a:xfrm>
            <a:off x="7836408" y="1847088"/>
            <a:ext cx="896112" cy="566928"/>
          </a:xfrm>
          <a:prstGeom prst="roundRect">
            <a:avLst>
              <a:gd name="adj" fmla="val 9677"/>
            </a:avLst>
          </a:prstGeom>
          <a:solidFill>
            <a:srgbClr val="DDF3E6"/>
          </a:solidFill>
          <a:ln w="12700">
            <a:solidFill>
              <a:srgbClr val="2E9E5B"/>
            </a:solidFill>
            <a:prstDash val="solid"/>
          </a:ln>
        </p:spPr>
      </p:sp>
      <p:sp>
        <p:nvSpPr>
          <p:cNvPr id="17" name="srvt|b2"/>
          <p:cNvSpPr txBox="1"/>
          <p:nvPr/>
        </p:nvSpPr>
        <p:spPr>
          <a:xfrm>
            <a:off x="7836408" y="1847088"/>
            <a:ext cx="896112" cy="566928"/>
          </a:xfrm>
          <a:prstGeom prst="rect">
            <a:avLst/>
          </a:prstGeom>
          <a:noFill/>
          <a:ln/>
        </p:spPr>
        <p:txBody>
          <a:bodyPr wrap="square" lIns="0" tIns="0" rIns="0" bIns="0" rtlCol="0" anchor="ctr"/>
          <a:lstStyle/>
          <a:p>
            <a:pPr algn="ctr" indent="0" marL="0">
              <a:buNone/>
            </a:pPr>
            <a:r>
              <a:rPr lang="en-US" sz="1200" b="1" dirty="0">
                <a:solidFill>
                  <a:srgbClr val="2E9E5B"/>
                </a:solidFill>
                <a:latin typeface="Calibri" pitchFamily="34" charset="0"/>
                <a:ea typeface="Calibri" pitchFamily="34" charset="-122"/>
                <a:cs typeface="Calibri" pitchFamily="34" charset="-120"/>
              </a:rPr>
              <a:t>local</a:t>
            </a:r>
            <a:endParaRPr lang="en-US" sz="1200" dirty="0"/>
          </a:p>
        </p:txBody>
      </p:sp>
      <p:sp>
        <p:nvSpPr>
          <p:cNvPr id="18" name="srb|b3"/>
          <p:cNvSpPr/>
          <p:nvPr/>
        </p:nvSpPr>
        <p:spPr>
          <a:xfrm>
            <a:off x="4617720" y="2487168"/>
            <a:ext cx="3154680" cy="566928"/>
          </a:xfrm>
          <a:prstGeom prst="roundRect">
            <a:avLst>
              <a:gd name="adj" fmla="val 9677"/>
            </a:avLst>
          </a:prstGeom>
          <a:solidFill>
            <a:srgbClr val="F1F4F8"/>
          </a:solidFill>
          <a:ln w="12700">
            <a:solidFill>
              <a:srgbClr val="9AA8B8"/>
            </a:solidFill>
            <a:prstDash val="solid"/>
          </a:ln>
        </p:spPr>
      </p:sp>
      <p:sp>
        <p:nvSpPr>
          <p:cNvPr id="19" name="srt|b3"/>
          <p:cNvSpPr txBox="1"/>
          <p:nvPr/>
        </p:nvSpPr>
        <p:spPr>
          <a:xfrm>
            <a:off x="4709160" y="2487168"/>
            <a:ext cx="2971800" cy="56692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declares_global() - declares global eggs and then assigns it</a:t>
            </a:r>
            <a:endParaRPr lang="en-US" sz="1050" dirty="0"/>
          </a:p>
        </p:txBody>
      </p:sp>
      <p:sp>
        <p:nvSpPr>
          <p:cNvPr id="20" name="srv|b3"/>
          <p:cNvSpPr/>
          <p:nvPr/>
        </p:nvSpPr>
        <p:spPr>
          <a:xfrm>
            <a:off x="7836408" y="2487168"/>
            <a:ext cx="896112" cy="566928"/>
          </a:xfrm>
          <a:prstGeom prst="roundRect">
            <a:avLst>
              <a:gd name="adj" fmla="val 9677"/>
            </a:avLst>
          </a:prstGeom>
          <a:solidFill>
            <a:srgbClr val="E3EEF8"/>
          </a:solidFill>
          <a:ln w="12700">
            <a:solidFill>
              <a:srgbClr val="306998"/>
            </a:solidFill>
            <a:prstDash val="solid"/>
          </a:ln>
        </p:spPr>
      </p:sp>
      <p:sp>
        <p:nvSpPr>
          <p:cNvPr id="21" name="srvt|b3"/>
          <p:cNvSpPr txBox="1"/>
          <p:nvPr/>
        </p:nvSpPr>
        <p:spPr>
          <a:xfrm>
            <a:off x="7836408" y="2487168"/>
            <a:ext cx="896112" cy="566928"/>
          </a:xfrm>
          <a:prstGeom prst="rect">
            <a:avLst/>
          </a:prstGeom>
          <a:noFill/>
          <a:ln/>
        </p:spPr>
        <p:txBody>
          <a:bodyPr wrap="square" lIns="0" tIns="0" rIns="0" bIns="0" rtlCol="0" anchor="ctr"/>
          <a:lstStyle/>
          <a:p>
            <a:pPr algn="ctr" indent="0" marL="0">
              <a:buNone/>
            </a:pPr>
            <a:r>
              <a:rPr lang="en-US" sz="1200" b="1" dirty="0">
                <a:solidFill>
                  <a:srgbClr val="306998"/>
                </a:solidFill>
                <a:latin typeface="Calibri" pitchFamily="34" charset="0"/>
                <a:ea typeface="Calibri" pitchFamily="34" charset="-122"/>
                <a:cs typeface="Calibri" pitchFamily="34" charset="-120"/>
              </a:rPr>
              <a:t>global</a:t>
            </a:r>
            <a:endParaRPr lang="en-US" sz="1200" dirty="0"/>
          </a:p>
        </p:txBody>
      </p:sp>
      <p:sp>
        <p:nvSpPr>
          <p:cNvPr id="22" name="srb|b4"/>
          <p:cNvSpPr/>
          <p:nvPr/>
        </p:nvSpPr>
        <p:spPr>
          <a:xfrm>
            <a:off x="4617720" y="3127248"/>
            <a:ext cx="3154680" cy="566928"/>
          </a:xfrm>
          <a:prstGeom prst="roundRect">
            <a:avLst>
              <a:gd name="adj" fmla="val 9677"/>
            </a:avLst>
          </a:prstGeom>
          <a:solidFill>
            <a:srgbClr val="F1F4F8"/>
          </a:solidFill>
          <a:ln w="12700">
            <a:solidFill>
              <a:srgbClr val="9AA8B8"/>
            </a:solidFill>
            <a:prstDash val="solid"/>
          </a:ln>
        </p:spPr>
      </p:sp>
      <p:sp>
        <p:nvSpPr>
          <p:cNvPr id="23" name="srt|b4"/>
          <p:cNvSpPr txBox="1"/>
          <p:nvPr/>
        </p:nvSpPr>
        <p:spPr>
          <a:xfrm>
            <a:off x="4709160" y="3127248"/>
            <a:ext cx="2971800" cy="56692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uses_before_assigning() - assigns eggs somewhere in the function, but reads it first</a:t>
            </a:r>
            <a:endParaRPr lang="en-US" sz="1050" dirty="0"/>
          </a:p>
        </p:txBody>
      </p:sp>
      <p:sp>
        <p:nvSpPr>
          <p:cNvPr id="24" name="srv|b4"/>
          <p:cNvSpPr/>
          <p:nvPr/>
        </p:nvSpPr>
        <p:spPr>
          <a:xfrm>
            <a:off x="7836408" y="3127248"/>
            <a:ext cx="896112" cy="566928"/>
          </a:xfrm>
          <a:prstGeom prst="roundRect">
            <a:avLst>
              <a:gd name="adj" fmla="val 9677"/>
            </a:avLst>
          </a:prstGeom>
          <a:solidFill>
            <a:srgbClr val="DDF3E6"/>
          </a:solidFill>
          <a:ln w="12700">
            <a:solidFill>
              <a:srgbClr val="2E9E5B"/>
            </a:solidFill>
            <a:prstDash val="solid"/>
          </a:ln>
        </p:spPr>
      </p:sp>
      <p:sp>
        <p:nvSpPr>
          <p:cNvPr id="25" name="srvt|b4"/>
          <p:cNvSpPr txBox="1"/>
          <p:nvPr/>
        </p:nvSpPr>
        <p:spPr>
          <a:xfrm>
            <a:off x="7836408" y="3127248"/>
            <a:ext cx="896112" cy="566928"/>
          </a:xfrm>
          <a:prstGeom prst="rect">
            <a:avLst/>
          </a:prstGeom>
          <a:noFill/>
          <a:ln/>
        </p:spPr>
        <p:txBody>
          <a:bodyPr wrap="square" lIns="0" tIns="0" rIns="0" bIns="0" rtlCol="0" anchor="ctr"/>
          <a:lstStyle/>
          <a:p>
            <a:pPr algn="ctr" indent="0" marL="0">
              <a:buNone/>
            </a:pPr>
            <a:r>
              <a:rPr lang="en-US" sz="1200" b="1" dirty="0">
                <a:solidFill>
                  <a:srgbClr val="2E9E5B"/>
                </a:solidFill>
                <a:latin typeface="Calibri" pitchFamily="34" charset="0"/>
                <a:ea typeface="Calibri" pitchFamily="34" charset="-122"/>
                <a:cs typeface="Calibri" pitchFamily="34" charset="-120"/>
              </a:rPr>
              <a:t>local</a:t>
            </a:r>
            <a:endParaRPr lang="en-US" sz="1200" dirty="0"/>
          </a:p>
        </p:txBody>
      </p:sp>
      <p:sp>
        <p:nvSpPr>
          <p:cNvPr id="26" name="band|b5"/>
          <p:cNvSpPr/>
          <p:nvPr/>
        </p:nvSpPr>
        <p:spPr>
          <a:xfrm>
            <a:off x="4617720" y="3840480"/>
            <a:ext cx="4114800" cy="713232"/>
          </a:xfrm>
          <a:prstGeom prst="roundRect">
            <a:avLst>
              <a:gd name="adj" fmla="val 12821"/>
            </a:avLst>
          </a:prstGeom>
          <a:solidFill>
            <a:srgbClr val="FCEFD0"/>
          </a:solidFill>
          <a:ln w="25400">
            <a:solidFill>
              <a:srgbClr val="B7791F"/>
            </a:solidFill>
            <a:prstDash val="solid"/>
          </a:ln>
        </p:spPr>
      </p:sp>
      <p:sp>
        <p:nvSpPr>
          <p:cNvPr id="27" name="bandt|b5"/>
          <p:cNvSpPr txBox="1"/>
          <p:nvPr/>
        </p:nvSpPr>
        <p:spPr>
          <a:xfrm>
            <a:off x="4782312" y="3895344"/>
            <a:ext cx="3785616" cy="60350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How it was decided  </a:t>
            </a:r>
            <a:r>
              <a:rPr lang="en-US" sz="1050" dirty="0">
                <a:solidFill>
                  <a:srgbClr val="1F2933"/>
                </a:solidFill>
                <a:latin typeface="Calibri" pitchFamily="34" charset="0"/>
                <a:ea typeface="Calibri" pitchFamily="34" charset="-122"/>
                <a:cs typeface="Calibri" pitchFamily="34" charset="-120"/>
              </a:rPr>
              <a:t>he verdict in each row is the compiler's own, read back from the symbol table of this program; nothing here is a reading of the ...</a:t>
            </a:r>
            <a:endParaRPr lang="en-US" sz="1300" dirty="0"/>
          </a:p>
        </p:txBody>
      </p:sp>
      <p:sp>
        <p:nvSpPr>
          <p:cNvPr id="28"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29"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00"/>
                                        <p:tgtEl>
                                          <p:spTgt spid="19"/>
                                        </p:tgtEl>
                                      </p:cBhvr>
                                    </p:animEffect>
                                  </p:childTnLst>
                                </p:cTn>
                              </p:par>
                              <p:par>
                                <p:cTn id="37" presetID="10"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00"/>
                                        <p:tgtEl>
                                          <p:spTgt spid="2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400"/>
                                        <p:tgtEl>
                                          <p:spTgt spid="23"/>
                                        </p:tgtEl>
                                      </p:cBhvr>
                                    </p:animEffect>
                                  </p:childTnLst>
                                </p:cTn>
                              </p:par>
                              <p:par>
                                <p:cTn id="51" presetID="10" presetClass="entr" presetSubtype="0" fill="hold"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4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P spid="17" grpId="0" animBg="1"/>
      <p:bldP spid="19" grpId="0" animBg="1"/>
      <p:bldP spid="21" grpId="0" animBg="1"/>
      <p:bldP spid="23" grpId="0" animBg="1"/>
      <p:bldP spid="25" grpId="0" animBg="1"/>
      <p:bldP spid="2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Symbol table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compiler's table recording whether each name in a block is local or global, built before the program runs; the symtable module can show it.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A symbol table is the table in which the Python compiler records every name used in a block and what kind of name it is. The documentation of the symtable module says that symbol tables are generated by the compiler from the syntax tree, the structured form of the program text, just before bytecode is generated, and that the symbol table is responsible for calculating the scope of every identifier in the code (Python Software Foundation, 2026). The tutorial uses the same term: the execution of a function introduces a new symbol table used for the local variables of the function (Python Software Foundation, 2026).</a:t>
            </a:r>
            <a:endParaRPr lang="en-US" sz="1250" dirty="0"/>
          </a:p>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The decision is made for the whole function body at once. In a function that contains if False: followed by an indented assignment x = 'local', and then returns x, the assignment never runs, and yet x is a local variable of the function, so the call stops with UnboundLocalError: cannot access local variable 'x' where it is not associated with a value. The global x that was set earlier is not used.</a:t>
            </a:r>
            <a:endParaRPr lang="en-US" sz="125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 symbol table is an inspection tool and not part of normal programming. Its structure can change between releases: in Python 3.14 every function in this example also has a separate block for its annotations, which the example filters out by name. Rely on the rules of the language, not on the layout of the table.</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symtable.symtable(code, filename, 'exec')</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Symbol table: the program, and what it really prints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600" dirty="0">
                <a:solidFill>
                  <a:srgbClr val="E6EDF3"/>
                </a:solidFill>
                <a:latin typeface="Courier New" pitchFamily="34" charset="0"/>
                <a:ea typeface="Courier New" pitchFamily="34" charset="-122"/>
                <a:cs typeface="Courier New" pitchFamily="34" charset="-120"/>
              </a:rPr>
              <a:t>import symtable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source = 'def a():\n    global x\n    x = 1\ndef b():\n    x = 2\ndef c():\n    print(x)\nx = 3\n'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table = symtable.symtable(source, 'demo', 'exec')</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for function in table.get_children():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if function.get_name() in ('a', 'b', 'c'):</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symbol = function.lookup('x')</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print(function.get_name(), 'global' if symbol.is_global() else 'local')</a:t>
            </a:r>
            <a:endParaRPr lang="en-US" sz="6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symtable_v1_0_0.py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a global</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b local</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c global</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decision is made for the whole function body at once.</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UnboundLocalError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Using a local variable before it is assigned raises UnboundLocalError; since Python 3.11 the message reads cannot access local variable where it is not associated with a value.</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UnboundLocalError is the exception raised when a function uses a local variable before any value has been assigned to it. The library reference describes it as raised when a reference is made to a local variable in a function or method, but no value has been bound to that variable, and states that it is a subclass of NameError (Python Software Foundation, 2026). The textbook explains the name: in Python, binding is another way of saying assigning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FAQ gives a second form of the same ...</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wording of the message has changed.</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show():</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print(count)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count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count = 0</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show()</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except UnboundLocalError as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print(type(error).__name__ + ':', error)</a:t>
            </a:r>
            <a:endParaRPr lang="en-US" sz="11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unbound_v1_0_0.py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550" dirty="0">
                <a:solidFill>
                  <a:srgbClr val="1F2933"/>
                </a:solidFill>
                <a:latin typeface="Courier New" pitchFamily="34" charset="0"/>
                <a:ea typeface="Courier New" pitchFamily="34" charset="-122"/>
                <a:cs typeface="Courier New" pitchFamily="34" charset="-120"/>
              </a:rPr>
              <a:t>UnboundLocalError: cannot access local variable 'count' where it is not associated with a value</a:t>
            </a:r>
            <a:endParaRPr lang="en-US" sz="55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print(eggs) before eggs = 'spam local'</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Nonlocal statement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nonlocal statement lets an inner function rebind a name of the enclosing function, between the local and the global case.</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nonlocal statement lets a nested function assign to a variable of the function around it. The language reference says that it causes the listed identifiers to refer to names previously bound in nonlocal scopes, which are the local scopes of the enclosing functions, and that it allows encapsulated code to rebind such nonlocal identifiers (Python Software Foundation, 2026). The textbook does not cover it.</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If a name is bound in more than one nonlocal scope, the nearest binding is used (Python Software ...</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Do not use nonlocal when a return value would do. Like global, it makes a function depend on state outside itself, and a reader has to look at the enclosing function to understand it.</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counter():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total = 0</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def add():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nonlocal total</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total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add()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add()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total</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print(counter())</a:t>
            </a:r>
            <a:endParaRPr lang="en-US" sz="11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nonlocal_v1_0_0.py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Scope  &gt;  Scope rules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nonlocal n</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Error handling</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200" i="1" dirty="0">
                <a:solidFill>
                  <a:srgbClr val="FFD43B"/>
                </a:solidFill>
                <a:latin typeface="Calibri" pitchFamily="34" charset="0"/>
                <a:ea typeface="Calibri" pitchFamily="34" charset="-122"/>
                <a:cs typeface="Calibri" pitchFamily="34" charset="-120"/>
              </a:rPr>
              <a:t>Error handling is the part of a program that decides what happens when something goes wrong. In Python an error that stops a statement is called an exception, and the language has two statements for dealing with it: try marks the code that might fail, and except says what to do when it does.</a:t>
            </a:r>
            <a:endParaRPr lang="en-US" sz="1200" dirty="0"/>
          </a:p>
        </p:txBody>
      </p:sp>
      <p:sp>
        <p:nvSpPr>
          <p:cNvPr id="4" name="br1|b1"/>
          <p:cNvSpPr/>
          <p:nvPr/>
        </p:nvSpPr>
        <p:spPr>
          <a:xfrm>
            <a:off x="457200" y="1828800"/>
            <a:ext cx="8229600"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8156448"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Exceptions</a:t>
            </a:r>
            <a:endParaRPr lang="en-US" sz="1400" dirty="0"/>
          </a:p>
        </p:txBody>
      </p:sp>
      <p:sp>
        <p:nvSpPr>
          <p:cNvPr id="6" name="br2|b1"/>
          <p:cNvSpPr/>
          <p:nvPr/>
        </p:nvSpPr>
        <p:spPr>
          <a:xfrm>
            <a:off x="457200" y="2359152"/>
            <a:ext cx="8229600"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8046720"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Try and except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Error in a called function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Several exception types in one except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Exception object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Traceback</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ZeroDivisionError</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Exception hierarchy</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Exceptions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An exception is Python's way of reporting that a statement could not be carried out.</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tutorial notes that most exceptions are not handled by programs, however, and result in error messages (Python Software Foundation, 2026). Knowing how an exception travels, what it carries and which handler catches it turns those messages from a source of panic into a description of what happened, and lets a program choose to recover when recovery makes sense.</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sections follow the life of one exception: the statements that catch it, the way it leaves a function, the spelling for catching several kinds at once, the object that Python creates for it, the report printed when it is not caught, the arithmetic error used as the chapter's example, and the hierarchy of classes that organises all of them.</a:t>
            </a:r>
            <a:endParaRPr lang="en-US" sz="130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381435"/>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381435"/>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Try and except</a:t>
            </a:r>
            <a:endParaRPr lang="en-US" sz="1200" dirty="0"/>
          </a:p>
        </p:txBody>
      </p:sp>
      <p:sp>
        <p:nvSpPr>
          <p:cNvPr id="13" name="ltb|b1"/>
          <p:cNvSpPr/>
          <p:nvPr/>
        </p:nvSpPr>
        <p:spPr>
          <a:xfrm>
            <a:off x="6493154" y="1581912"/>
            <a:ext cx="2239366" cy="381435"/>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381435"/>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try: ... except ZeroDivisionError:</a:t>
            </a:r>
            <a:endParaRPr lang="en-US" sz="1100" dirty="0"/>
          </a:p>
        </p:txBody>
      </p:sp>
      <p:sp>
        <p:nvSpPr>
          <p:cNvPr id="15" name="ltb|b2"/>
          <p:cNvSpPr/>
          <p:nvPr/>
        </p:nvSpPr>
        <p:spPr>
          <a:xfrm>
            <a:off x="5120640" y="1999923"/>
            <a:ext cx="1335938" cy="381435"/>
          </a:xfrm>
          <a:prstGeom prst="rect">
            <a:avLst/>
          </a:prstGeom>
          <a:solidFill>
            <a:srgbClr val="E3EEF8"/>
          </a:solidFill>
          <a:ln w="12700">
            <a:solidFill>
              <a:srgbClr val="E3EEF8"/>
            </a:solidFill>
            <a:prstDash val="solid"/>
          </a:ln>
        </p:spPr>
      </p:sp>
      <p:sp>
        <p:nvSpPr>
          <p:cNvPr id="16" name="lta|b2"/>
          <p:cNvSpPr txBox="1"/>
          <p:nvPr/>
        </p:nvSpPr>
        <p:spPr>
          <a:xfrm>
            <a:off x="5184648" y="1999923"/>
            <a:ext cx="1207922" cy="381435"/>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Error in a called function</a:t>
            </a:r>
            <a:endParaRPr lang="en-US" sz="1100" dirty="0"/>
          </a:p>
        </p:txBody>
      </p:sp>
      <p:sp>
        <p:nvSpPr>
          <p:cNvPr id="17" name="ltb|b2"/>
          <p:cNvSpPr/>
          <p:nvPr/>
        </p:nvSpPr>
        <p:spPr>
          <a:xfrm>
            <a:off x="6493154" y="1999923"/>
            <a:ext cx="2239366" cy="381435"/>
          </a:xfrm>
          <a:prstGeom prst="rect">
            <a:avLst/>
          </a:prstGeom>
          <a:solidFill>
            <a:srgbClr val="F1F4F8"/>
          </a:solidFill>
          <a:ln w="12700">
            <a:solidFill>
              <a:srgbClr val="F1F4F8"/>
            </a:solidFill>
            <a:prstDash val="solid"/>
          </a:ln>
        </p:spPr>
      </p:sp>
      <p:sp>
        <p:nvSpPr>
          <p:cNvPr id="18" name="ltb2|b2"/>
          <p:cNvSpPr txBox="1"/>
          <p:nvPr/>
        </p:nvSpPr>
        <p:spPr>
          <a:xfrm>
            <a:off x="6557162" y="1999923"/>
            <a:ext cx="2074774" cy="381435"/>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the try block around spam(0)</a:t>
            </a:r>
            <a:endParaRPr lang="en-US" sz="1100" dirty="0"/>
          </a:p>
        </p:txBody>
      </p:sp>
      <p:sp>
        <p:nvSpPr>
          <p:cNvPr id="19" name="ltb|b3"/>
          <p:cNvSpPr/>
          <p:nvPr/>
        </p:nvSpPr>
        <p:spPr>
          <a:xfrm>
            <a:off x="5120640" y="2417935"/>
            <a:ext cx="1335938" cy="381435"/>
          </a:xfrm>
          <a:prstGeom prst="rect">
            <a:avLst/>
          </a:prstGeom>
          <a:solidFill>
            <a:srgbClr val="E3EEF8"/>
          </a:solidFill>
          <a:ln w="12700">
            <a:solidFill>
              <a:srgbClr val="E3EEF8"/>
            </a:solidFill>
            <a:prstDash val="solid"/>
          </a:ln>
        </p:spPr>
      </p:sp>
      <p:sp>
        <p:nvSpPr>
          <p:cNvPr id="20" name="lta|b3"/>
          <p:cNvSpPr txBox="1"/>
          <p:nvPr/>
        </p:nvSpPr>
        <p:spPr>
          <a:xfrm>
            <a:off x="5184648" y="2417935"/>
            <a:ext cx="1207922" cy="381435"/>
          </a:xfrm>
          <a:prstGeom prst="rect">
            <a:avLst/>
          </a:prstGeom>
          <a:noFill/>
          <a:ln/>
        </p:spPr>
        <p:txBody>
          <a:bodyPr wrap="square" lIns="0" tIns="0" rIns="0" bIns="0" rtlCol="0" anchor="ctr"/>
          <a:lstStyle/>
          <a:p>
            <a:pPr indent="0" marL="0">
              <a:buNone/>
            </a:pPr>
            <a:r>
              <a:rPr lang="en-US" sz="950" b="1" dirty="0">
                <a:solidFill>
                  <a:srgbClr val="1E2A3A"/>
                </a:solidFill>
                <a:latin typeface="Calibri" pitchFamily="34" charset="0"/>
                <a:ea typeface="Calibri" pitchFamily="34" charset="-122"/>
                <a:cs typeface="Calibri" pitchFamily="34" charset="-120"/>
              </a:rPr>
              <a:t>Several exception types in one except</a:t>
            </a:r>
            <a:endParaRPr lang="en-US" sz="950" dirty="0"/>
          </a:p>
        </p:txBody>
      </p:sp>
      <p:sp>
        <p:nvSpPr>
          <p:cNvPr id="21" name="ltb|b3"/>
          <p:cNvSpPr/>
          <p:nvPr/>
        </p:nvSpPr>
        <p:spPr>
          <a:xfrm>
            <a:off x="6493154" y="2417935"/>
            <a:ext cx="2239366" cy="381435"/>
          </a:xfrm>
          <a:prstGeom prst="rect">
            <a:avLst/>
          </a:prstGeom>
          <a:solidFill>
            <a:srgbClr val="F1F4F8"/>
          </a:solidFill>
          <a:ln w="12700">
            <a:solidFill>
              <a:srgbClr val="F1F4F8"/>
            </a:solidFill>
            <a:prstDash val="solid"/>
          </a:ln>
        </p:spPr>
      </p:sp>
      <p:sp>
        <p:nvSpPr>
          <p:cNvPr id="22" name="ltb2|b3"/>
          <p:cNvSpPr txBox="1"/>
          <p:nvPr/>
        </p:nvSpPr>
        <p:spPr>
          <a:xfrm>
            <a:off x="6557162" y="2417935"/>
            <a:ext cx="2074774" cy="381435"/>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except A, B:</a:t>
            </a:r>
            <a:endParaRPr lang="en-US" sz="1100" dirty="0"/>
          </a:p>
        </p:txBody>
      </p:sp>
      <p:sp>
        <p:nvSpPr>
          <p:cNvPr id="23" name="ltb|b4"/>
          <p:cNvSpPr/>
          <p:nvPr/>
        </p:nvSpPr>
        <p:spPr>
          <a:xfrm>
            <a:off x="5120640" y="2835946"/>
            <a:ext cx="1335938" cy="381435"/>
          </a:xfrm>
          <a:prstGeom prst="rect">
            <a:avLst/>
          </a:prstGeom>
          <a:solidFill>
            <a:srgbClr val="E3EEF8"/>
          </a:solidFill>
          <a:ln w="12700">
            <a:solidFill>
              <a:srgbClr val="E3EEF8"/>
            </a:solidFill>
            <a:prstDash val="solid"/>
          </a:ln>
        </p:spPr>
      </p:sp>
      <p:sp>
        <p:nvSpPr>
          <p:cNvPr id="24" name="lta|b4"/>
          <p:cNvSpPr txBox="1"/>
          <p:nvPr/>
        </p:nvSpPr>
        <p:spPr>
          <a:xfrm>
            <a:off x="5184648" y="2835946"/>
            <a:ext cx="1207922" cy="381435"/>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Exception object</a:t>
            </a:r>
            <a:endParaRPr lang="en-US" sz="1100" dirty="0"/>
          </a:p>
        </p:txBody>
      </p:sp>
      <p:sp>
        <p:nvSpPr>
          <p:cNvPr id="25" name="ltb|b4"/>
          <p:cNvSpPr/>
          <p:nvPr/>
        </p:nvSpPr>
        <p:spPr>
          <a:xfrm>
            <a:off x="6493154" y="2835946"/>
            <a:ext cx="2239366" cy="381435"/>
          </a:xfrm>
          <a:prstGeom prst="rect">
            <a:avLst/>
          </a:prstGeom>
          <a:solidFill>
            <a:srgbClr val="F1F4F8"/>
          </a:solidFill>
          <a:ln w="12700">
            <a:solidFill>
              <a:srgbClr val="F1F4F8"/>
            </a:solidFill>
            <a:prstDash val="solid"/>
          </a:ln>
        </p:spPr>
      </p:sp>
      <p:sp>
        <p:nvSpPr>
          <p:cNvPr id="26" name="ltb2|b4"/>
          <p:cNvSpPr txBox="1"/>
          <p:nvPr/>
        </p:nvSpPr>
        <p:spPr>
          <a:xfrm>
            <a:off x="6557162" y="2835946"/>
            <a:ext cx="2074774" cy="381435"/>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except ZeroDivisionError as e:</a:t>
            </a:r>
            <a:endParaRPr lang="en-US" sz="1100" dirty="0"/>
          </a:p>
        </p:txBody>
      </p:sp>
      <p:sp>
        <p:nvSpPr>
          <p:cNvPr id="27" name="ltb|b5"/>
          <p:cNvSpPr/>
          <p:nvPr/>
        </p:nvSpPr>
        <p:spPr>
          <a:xfrm>
            <a:off x="5120640" y="3253958"/>
            <a:ext cx="1335938" cy="381435"/>
          </a:xfrm>
          <a:prstGeom prst="rect">
            <a:avLst/>
          </a:prstGeom>
          <a:solidFill>
            <a:srgbClr val="E3EEF8"/>
          </a:solidFill>
          <a:ln w="12700">
            <a:solidFill>
              <a:srgbClr val="E3EEF8"/>
            </a:solidFill>
            <a:prstDash val="solid"/>
          </a:ln>
        </p:spPr>
      </p:sp>
      <p:sp>
        <p:nvSpPr>
          <p:cNvPr id="28" name="lta|b5"/>
          <p:cNvSpPr txBox="1"/>
          <p:nvPr/>
        </p:nvSpPr>
        <p:spPr>
          <a:xfrm>
            <a:off x="5184648" y="3253958"/>
            <a:ext cx="1207922" cy="381435"/>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Traceback</a:t>
            </a:r>
            <a:endParaRPr lang="en-US" sz="1200" dirty="0"/>
          </a:p>
        </p:txBody>
      </p:sp>
      <p:sp>
        <p:nvSpPr>
          <p:cNvPr id="29" name="ltb|b5"/>
          <p:cNvSpPr/>
          <p:nvPr/>
        </p:nvSpPr>
        <p:spPr>
          <a:xfrm>
            <a:off x="6493154" y="3253958"/>
            <a:ext cx="2239366" cy="381435"/>
          </a:xfrm>
          <a:prstGeom prst="rect">
            <a:avLst/>
          </a:prstGeom>
          <a:solidFill>
            <a:srgbClr val="F1F4F8"/>
          </a:solidFill>
          <a:ln w="12700">
            <a:solidFill>
              <a:srgbClr val="F1F4F8"/>
            </a:solidFill>
            <a:prstDash val="solid"/>
          </a:ln>
        </p:spPr>
      </p:sp>
      <p:sp>
        <p:nvSpPr>
          <p:cNvPr id="30" name="ltb2|b5"/>
          <p:cNvSpPr txBox="1"/>
          <p:nvPr/>
        </p:nvSpPr>
        <p:spPr>
          <a:xfrm>
            <a:off x="6557162" y="3253958"/>
            <a:ext cx="2074774" cy="381435"/>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Traceback (most recent call last):</a:t>
            </a:r>
            <a:endParaRPr lang="en-US" sz="1100" dirty="0"/>
          </a:p>
        </p:txBody>
      </p:sp>
      <p:sp>
        <p:nvSpPr>
          <p:cNvPr id="31" name="ltb|b6"/>
          <p:cNvSpPr/>
          <p:nvPr/>
        </p:nvSpPr>
        <p:spPr>
          <a:xfrm>
            <a:off x="5120640" y="3671969"/>
            <a:ext cx="1335938" cy="381435"/>
          </a:xfrm>
          <a:prstGeom prst="rect">
            <a:avLst/>
          </a:prstGeom>
          <a:solidFill>
            <a:srgbClr val="E3EEF8"/>
          </a:solidFill>
          <a:ln w="12700">
            <a:solidFill>
              <a:srgbClr val="E3EEF8"/>
            </a:solidFill>
            <a:prstDash val="solid"/>
          </a:ln>
        </p:spPr>
      </p:sp>
      <p:sp>
        <p:nvSpPr>
          <p:cNvPr id="32" name="lta|b6"/>
          <p:cNvSpPr txBox="1"/>
          <p:nvPr/>
        </p:nvSpPr>
        <p:spPr>
          <a:xfrm>
            <a:off x="5184648" y="3671969"/>
            <a:ext cx="1207922" cy="381435"/>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ZeroDivisionError</a:t>
            </a:r>
            <a:endParaRPr lang="en-US" sz="1200" dirty="0"/>
          </a:p>
        </p:txBody>
      </p:sp>
      <p:sp>
        <p:nvSpPr>
          <p:cNvPr id="33" name="ltb|b6"/>
          <p:cNvSpPr/>
          <p:nvPr/>
        </p:nvSpPr>
        <p:spPr>
          <a:xfrm>
            <a:off x="6493154" y="3671969"/>
            <a:ext cx="2239366" cy="381435"/>
          </a:xfrm>
          <a:prstGeom prst="rect">
            <a:avLst/>
          </a:prstGeom>
          <a:solidFill>
            <a:srgbClr val="F1F4F8"/>
          </a:solidFill>
          <a:ln w="12700">
            <a:solidFill>
              <a:srgbClr val="F1F4F8"/>
            </a:solidFill>
            <a:prstDash val="solid"/>
          </a:ln>
        </p:spPr>
      </p:sp>
      <p:sp>
        <p:nvSpPr>
          <p:cNvPr id="34" name="ltb2|b6"/>
          <p:cNvSpPr txBox="1"/>
          <p:nvPr/>
        </p:nvSpPr>
        <p:spPr>
          <a:xfrm>
            <a:off x="6557162" y="3671969"/>
            <a:ext cx="2074774" cy="381435"/>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42 / 0</a:t>
            </a:r>
            <a:endParaRPr lang="en-US" sz="1100" dirty="0"/>
          </a:p>
        </p:txBody>
      </p:sp>
      <p:sp>
        <p:nvSpPr>
          <p:cNvPr id="35" name="ltb|b7"/>
          <p:cNvSpPr/>
          <p:nvPr/>
        </p:nvSpPr>
        <p:spPr>
          <a:xfrm>
            <a:off x="5120640" y="4089981"/>
            <a:ext cx="1335938" cy="381435"/>
          </a:xfrm>
          <a:prstGeom prst="rect">
            <a:avLst/>
          </a:prstGeom>
          <a:solidFill>
            <a:srgbClr val="E3EEF8"/>
          </a:solidFill>
          <a:ln w="12700">
            <a:solidFill>
              <a:srgbClr val="E3EEF8"/>
            </a:solidFill>
            <a:prstDash val="solid"/>
          </a:ln>
        </p:spPr>
      </p:sp>
      <p:sp>
        <p:nvSpPr>
          <p:cNvPr id="36" name="lta|b7"/>
          <p:cNvSpPr txBox="1"/>
          <p:nvPr/>
        </p:nvSpPr>
        <p:spPr>
          <a:xfrm>
            <a:off x="5184648" y="4089981"/>
            <a:ext cx="1207922" cy="381435"/>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Exception hierarchy</a:t>
            </a:r>
            <a:endParaRPr lang="en-US" sz="1100" dirty="0"/>
          </a:p>
        </p:txBody>
      </p:sp>
      <p:sp>
        <p:nvSpPr>
          <p:cNvPr id="37" name="ltb|b7"/>
          <p:cNvSpPr/>
          <p:nvPr/>
        </p:nvSpPr>
        <p:spPr>
          <a:xfrm>
            <a:off x="6493154" y="4089981"/>
            <a:ext cx="2239366" cy="381435"/>
          </a:xfrm>
          <a:prstGeom prst="rect">
            <a:avLst/>
          </a:prstGeom>
          <a:solidFill>
            <a:srgbClr val="F1F4F8"/>
          </a:solidFill>
          <a:ln w="12700">
            <a:solidFill>
              <a:srgbClr val="F1F4F8"/>
            </a:solidFill>
            <a:prstDash val="solid"/>
          </a:ln>
        </p:spPr>
      </p:sp>
      <p:sp>
        <p:nvSpPr>
          <p:cNvPr id="38" name="ltb2|b7"/>
          <p:cNvSpPr txBox="1"/>
          <p:nvPr/>
        </p:nvSpPr>
        <p:spPr>
          <a:xfrm>
            <a:off x="6557162" y="4089981"/>
            <a:ext cx="2074774" cy="381435"/>
          </a:xfrm>
          <a:prstGeom prst="rect">
            <a:avLst/>
          </a:prstGeom>
          <a:noFill/>
          <a:ln/>
        </p:spPr>
        <p:txBody>
          <a:bodyPr wrap="square" lIns="0" tIns="0" rIns="0" bIns="0" rtlCol="0" anchor="ctr"/>
          <a:lstStyle/>
          <a:p>
            <a:pPr indent="0" marL="0">
              <a:buNone/>
            </a:pPr>
            <a:r>
              <a:rPr lang="en-US" sz="950" dirty="0">
                <a:solidFill>
                  <a:srgbClr val="1F2933"/>
                </a:solidFill>
                <a:latin typeface="Courier New" pitchFamily="34" charset="0"/>
                <a:ea typeface="Courier New" pitchFamily="34" charset="-122"/>
                <a:cs typeface="Courier New" pitchFamily="34" charset="-120"/>
              </a:rPr>
              <a:t>ZeroDivisionError &lt; ArithmeticError &lt; Exception</a:t>
            </a:r>
            <a:endParaRPr lang="en-US" sz="950" dirty="0"/>
          </a:p>
        </p:txBody>
      </p:sp>
      <p:sp>
        <p:nvSpPr>
          <p:cNvPr id="3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handling  &gt;  Exceptions</a:t>
            </a:r>
            <a:endParaRPr lang="en-US" sz="950" dirty="0"/>
          </a:p>
        </p:txBody>
      </p:sp>
      <p:sp>
        <p:nvSpPr>
          <p:cNvPr id="4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par>
                    <p:cTn id="85" fill="hold">
                      <p:stCondLst>
                        <p:cond delay="indefinite"/>
                      </p:stCondLst>
                      <p:childTnLst>
                        <p:par>
                          <p:cTn id="86"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00"/>
                                        <p:tgtEl>
                                          <p:spTgt spid="3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0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0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9" fill="hold">
                      <p:stCondLst>
                        <p:cond delay="indefinite"/>
                      </p:stCondLst>
                      <p:childTnLst>
                        <p:par>
                          <p:cTn id="100"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400"/>
                                        <p:tgtEl>
                                          <p:spTgt spid="3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400"/>
                                        <p:tgtEl>
                                          <p:spTgt spid="36"/>
                                        </p:tgtEl>
                                      </p:cBhvr>
                                    </p:animEffect>
                                  </p:childTnLst>
                                </p:cTn>
                              </p:par>
                              <p:par>
                                <p:cTn id="93" presetID="10" presetClass="entr" presetSubtype="0" fill="hold"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400"/>
                                        <p:tgtEl>
                                          <p:spTgt spid="3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Try and except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Code in a try clause that raises an error jumps to the matching except clause, and execution continues after the try statement.</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try statement has two parts. The code that could potentially have an error is put in a try clause, and the program execution moves to the start of a following except clause if an error happens (Sweigart, 2025). The except line names the kind of error it handles, and the block under it holds the code that deals with that error.</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tutorial gives the rules. First the try clause is executed. If no exception occurs the except clause is skipped.</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An exception that does not match is not swallowed.</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divide(by):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42 / by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except ZeroDivisionError: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print('Error: Invalid argument.')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print(divide(2))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print(divide(0))</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print(divide(1))</a:t>
            </a:r>
            <a:endParaRPr lang="en-US" sz="11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inside_v1_0_0.py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21.0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Error: Invalid argument.</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None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42.0</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handling  &gt;  Exceptions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try: ... except ZeroDivisionError: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Error in a called function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error raised inside a function called from a try clause is caught by that clause, and execution does not return into the try clause.</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try clause also catches the errors of the functions it calls. The textbook says that any errors that occur in function calls in a try block will also be caught (Sweigart, 2025), so the try statement does not have to be in the same function as the statement that fails.</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textbook explains why: once the execution jumps to the code in the except clause, it does not return to the try clause, but continues moving down the program as normal (Sweigart, 2025). The error leaves spam and passes to the code that called it.</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Where the try statement is placed decides how much code is skipped. With the try inside spam, as in the first version, the failing call returns None and the program goes on to the fourth call, so 42.0 is printed.</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divide(by):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42 / by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print(divide(2))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print(divide(0))</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print(divide(1))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except ZeroDivisionError: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print('Error: Invalid argument.')</a:t>
            </a:r>
            <a:endParaRPr lang="en-US" sz="11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outside_v1_0_0.py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21.0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Error: Invalid argument.</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handling  &gt;  Exceptions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the try block around spam(0)</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Several exception types in one except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Since Python 3.14 an except clause can list several exception types without brackets when it has no as clause.</a:t>
            </a:r>
            <a:endParaRPr lang="en-US" sz="1300" dirty="0"/>
          </a:p>
        </p:txBody>
      </p:sp>
      <p:sp>
        <p:nvSpPr>
          <p:cNvPr id="6" name="prose"/>
          <p:cNvSpPr txBox="1"/>
          <p:nvPr/>
        </p:nvSpPr>
        <p:spPr>
          <a:xfrm>
            <a:off x="411480" y="1207008"/>
            <a:ext cx="3977640" cy="2249424"/>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One except clause can name several exception types, so that the same block of code handles any of them. The tutorial's try statement says that an except clause may name multiple exceptions and shows the form except RuntimeError, TypeError, NameError: with no brackets around the names (Python Software Foundation, 2026). That form is new in Python 3.14, and the older form, which puts the names in brackets, separated by commas, still works.</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semantics are unchanged: the interpreter will catch any of the listed exceptions, whether or ...</a:t>
            </a:r>
            <a:endParaRPr lang="en-US" sz="1200" dirty="0"/>
          </a:p>
        </p:txBody>
      </p:sp>
      <p:sp>
        <p:nvSpPr>
          <p:cNvPr id="7" name="band|b2"/>
          <p:cNvSpPr/>
          <p:nvPr/>
        </p:nvSpPr>
        <p:spPr>
          <a:xfrm>
            <a:off x="411480" y="3566160"/>
            <a:ext cx="3977640" cy="987552"/>
          </a:xfrm>
          <a:prstGeom prst="roundRect">
            <a:avLst>
              <a:gd name="adj" fmla="val 9259"/>
            </a:avLst>
          </a:prstGeom>
          <a:solidFill>
            <a:srgbClr val="FCEFD0"/>
          </a:solidFill>
          <a:ln w="25400">
            <a:solidFill>
              <a:srgbClr val="B7791F"/>
            </a:solidFill>
            <a:prstDash val="solid"/>
          </a:ln>
        </p:spPr>
      </p:sp>
      <p:sp>
        <p:nvSpPr>
          <p:cNvPr id="8" name="bandt|b2"/>
          <p:cNvSpPr txBox="1"/>
          <p:nvPr/>
        </p:nvSpPr>
        <p:spPr>
          <a:xfrm>
            <a:off x="576072" y="3621024"/>
            <a:ext cx="3648456" cy="87782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Brackets are still required with the as clause. In Python 3.14 the line except ZeroDivisionError, ValueError as e: is a syntax error with the message multiple exception types must be parenthesized when using 'as'.</a:t>
            </a:r>
            <a:endParaRPr lang="en-US" sz="1300" dirty="0"/>
          </a:p>
        </p:txBody>
      </p:sp>
      <p:sp>
        <p:nvSpPr>
          <p:cNvPr id="9" name="progbox|b1"/>
          <p:cNvSpPr/>
          <p:nvPr/>
        </p:nvSpPr>
        <p:spPr>
          <a:xfrm>
            <a:off x="4663440" y="1207008"/>
            <a:ext cx="4069080" cy="2066544"/>
          </a:xfrm>
          <a:prstGeom prst="roundRect">
            <a:avLst>
              <a:gd name="adj" fmla="val 4425"/>
            </a:avLst>
          </a:prstGeom>
          <a:solidFill>
            <a:srgbClr val="17202B"/>
          </a:solidFill>
          <a:ln w="12700">
            <a:solidFill>
              <a:srgbClr val="17202B"/>
            </a:solidFill>
            <a:prstDash val="solid"/>
          </a:ln>
        </p:spPr>
      </p:sp>
      <p:sp>
        <p:nvSpPr>
          <p:cNvPr id="10" name="prog|b1"/>
          <p:cNvSpPr txBox="1"/>
          <p:nvPr/>
        </p:nvSpPr>
        <p:spPr>
          <a:xfrm>
            <a:off x="4818888" y="1289304"/>
            <a:ext cx="3758184" cy="1901952"/>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int('puppy')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except ValueError, TypeError: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print('caught either one')</a:t>
            </a:r>
            <a:endParaRPr lang="en-US" sz="1100" dirty="0"/>
          </a:p>
        </p:txBody>
      </p:sp>
      <p:sp>
        <p:nvSpPr>
          <p:cNvPr id="11" name="progcap|b1"/>
          <p:cNvSpPr txBox="1"/>
          <p:nvPr/>
        </p:nvSpPr>
        <p:spPr>
          <a:xfrm>
            <a:off x="4663440" y="3291840"/>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except758_v1_0_0.py</a:t>
            </a:r>
            <a:endParaRPr lang="en-US" sz="850" dirty="0"/>
          </a:p>
        </p:txBody>
      </p:sp>
      <p:sp>
        <p:nvSpPr>
          <p:cNvPr id="12" name="transbox|b3"/>
          <p:cNvSpPr/>
          <p:nvPr/>
        </p:nvSpPr>
        <p:spPr>
          <a:xfrm>
            <a:off x="4663440" y="3529584"/>
            <a:ext cx="4069080" cy="914400"/>
          </a:xfrm>
          <a:prstGeom prst="roundRect">
            <a:avLst>
              <a:gd name="adj" fmla="val 10000"/>
            </a:avLst>
          </a:prstGeom>
          <a:solidFill>
            <a:srgbClr val="F1F4F8"/>
          </a:solidFill>
          <a:ln w="12700">
            <a:solidFill>
              <a:srgbClr val="F1F4F8"/>
            </a:solidFill>
            <a:prstDash val="solid"/>
          </a:ln>
        </p:spPr>
      </p:sp>
      <p:sp>
        <p:nvSpPr>
          <p:cNvPr id="13" name="trans|b3"/>
          <p:cNvSpPr txBox="1"/>
          <p:nvPr/>
        </p:nvSpPr>
        <p:spPr>
          <a:xfrm>
            <a:off x="4791456" y="3593592"/>
            <a:ext cx="3813048" cy="786384"/>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caught either one</a:t>
            </a:r>
            <a:endParaRPr lang="en-US" sz="1100" dirty="0"/>
          </a:p>
        </p:txBody>
      </p:sp>
      <p:sp>
        <p:nvSpPr>
          <p:cNvPr id="14" name="transcap|b3"/>
          <p:cNvSpPr txBox="1"/>
          <p:nvPr/>
        </p:nvSpPr>
        <p:spPr>
          <a:xfrm>
            <a:off x="4663440" y="4462272"/>
            <a:ext cx="406908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handling  &gt;  Exceptions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except A, B:</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Exception object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Python creates an object for every exception; as binds it to a name, and its args and its text describe what went wrong.</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An exception is an object. The tutorial explains that when an exception occurs it may have associated values, also known as the exception's arguments, and that an except clause may specify a variable after the exception name; the variable is bound to the exception instance, the object created for this occurrence of the error, which typically has an args attribute that stores the arguments (Python Software Foundation, 2026). An attribute here is a named piece of data that belongs to an object and is reached with a dot.</a:t>
            </a:r>
            <a:endParaRPr lang="en-US" sz="1250" dirty="0"/>
          </a:p>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The tutorial notes that built-in exception types define __str__() to print all the arguments without explicitly accessing .args (Python Software Foundation, 2026). That is why print(e) shows the message alone. The library reference describes args as the tuple of arguments given when the exception object is created, and says that some built-in exceptions expect a certain number of arguments while others are usually called only with a single string giving an error message (Python Software Foundation, 2026).</a:t>
            </a:r>
            <a:endParaRPr lang="en-US" sz="125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name after as does not survive the except clause. The reference says that when an exception has been assigned using as target, it is cleared at the end of the except clause, so the exception must be assigned to a different name to be able to refer to it after the clause (Python Software Foundation, 2026).</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handling  &gt;  Exceptions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except ZeroDivisionError as 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Traceback</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report Python prints when an exception is not handled: the lines of the calls it passed through, and last the exception's type and message.</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A traceback is the report that Python prints when an exception is not handled. The tutorial describes its two parts: the last line indicates what happened, naming the exception type and giving detail, and the preceding part shows the context where the exception occurred, in the form of a stack traceback listing source lines (Python Software Foundation, 2026).</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traceback is the call stack written out. The call that was running when the error happened comes last, which is what the words most recent call last refer to. Each pair of lines names a file, a line number and the function in which the line sits, followed by the source line. The main program is shown as &lt;module&gt;. A program that ends this way also ends with exit status 1, the number that a program hands to the system when it ends, where zero means success.</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 printed form is not identical between releases. The textbook's listing shows a Windows path, and your own file names will differ. The tutorial's examples also show marker lines under the source line, which the textbook's listing does not have, and the wording of some messages changed between 3.12 and 3.14, so a program should not compare the text of a traceback.</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handling  &gt;  Exceptions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Traceback (most recent call last):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ZeroDivisionError</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exception raised when the second operand of a division or a modulo operation is zero.</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ZeroDivisionError is the exception that Python raises when you divide by zero. The library reference describes it as raised when the second argument of a division or modulo operation is zero, and says the associated value is a string indicating the type of the operands and the operation (Python Software Foundation, 2026). The textbook introduces it in one sentence: a ZeroDivisionError happens whenever you try to divide a number by zero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check is made when the operation runs, not when the program is read, so a program that contains 42 / 0 starts normally and fails only when that line is reached.</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wording of the message depends on the release. In Python 3.14 the statements 1 / 0, 1 // 0 and 1 % 0 all end with division by zero. In Python 3.12 the same statements end with division by zero, integer division or modulo by zero, and integer modulo by zero.</a:t>
            </a:r>
            <a:endParaRPr lang="en-US" sz="1300" dirty="0"/>
          </a:p>
        </p:txBody>
      </p:sp>
      <p:sp>
        <p:nvSpPr>
          <p:cNvPr id="9" name="codebox|b1"/>
          <p:cNvSpPr/>
          <p:nvPr/>
        </p:nvSpPr>
        <p:spPr>
          <a:xfrm>
            <a:off x="5897880" y="1243584"/>
            <a:ext cx="2834640" cy="1005840"/>
          </a:xfrm>
          <a:prstGeom prst="roundRect">
            <a:avLst>
              <a:gd name="adj" fmla="val 9091"/>
            </a:avLst>
          </a:prstGeom>
          <a:solidFill>
            <a:srgbClr val="17202B"/>
          </a:solidFill>
          <a:ln w="12700">
            <a:solidFill>
              <a:srgbClr val="17202B"/>
            </a:solidFill>
            <a:prstDash val="solid"/>
          </a:ln>
        </p:spPr>
      </p:sp>
      <p:sp>
        <p:nvSpPr>
          <p:cNvPr id="10" name="codecard|b1"/>
          <p:cNvSpPr txBox="1"/>
          <p:nvPr/>
        </p:nvSpPr>
        <p:spPr>
          <a:xfrm>
            <a:off x="6053328" y="1335024"/>
            <a:ext cx="2523744" cy="822960"/>
          </a:xfrm>
          <a:prstGeom prst="rect">
            <a:avLst/>
          </a:prstGeom>
          <a:noFill/>
          <a:ln/>
        </p:spPr>
        <p:txBody>
          <a:bodyPr wrap="square" lIns="0" tIns="0" rIns="0" bIns="0" rtlCol="0" anchor="t"/>
          <a:lstStyle/>
          <a:p>
            <a:pPr indent="0" marL="0">
              <a:buNone/>
            </a:pPr>
            <a:r>
              <a:rPr lang="en-US" sz="650" b="1" dirty="0">
                <a:solidFill>
                  <a:srgbClr val="FFD43B"/>
                </a:solidFill>
                <a:latin typeface="Courier New" pitchFamily="34" charset="0"/>
                <a:ea typeface="Courier New" pitchFamily="34" charset="-122"/>
                <a:cs typeface="Courier New" pitchFamily="34" charset="-120"/>
              </a:rPr>
              <a:t>&gt;&gt;&gt; </a:t>
            </a:r>
            <a:r>
              <a:rPr lang="en-US" sz="650" dirty="0">
                <a:solidFill>
                  <a:srgbClr val="E6EDF3"/>
                </a:solidFill>
                <a:latin typeface="Courier New" pitchFamily="34" charset="0"/>
                <a:ea typeface="Courier New" pitchFamily="34" charset="-122"/>
                <a:cs typeface="Courier New" pitchFamily="34" charset="-120"/>
              </a:rPr>
              <a:t>issubclass(ZeroDivisionError, ArithmeticError)</a:t>
            </a:r>
            <a:endParaRPr lang="en-US" sz="650" dirty="0"/>
          </a:p>
          <a:p>
            <a:pPr indent="0" marL="0">
              <a:buNone/>
            </a:pPr>
            <a:r>
              <a:rPr lang="en-US" sz="650" dirty="0">
                <a:solidFill>
                  <a:srgbClr val="7EE787"/>
                </a:solidFill>
                <a:latin typeface="Courier New" pitchFamily="34" charset="0"/>
                <a:ea typeface="Courier New" pitchFamily="34" charset="-122"/>
                <a:cs typeface="Courier New" pitchFamily="34" charset="-120"/>
              </a:rPr>
              <a:t>True</a:t>
            </a:r>
            <a:endParaRPr lang="en-US" sz="650" dirty="0"/>
          </a:p>
        </p:txBody>
      </p:sp>
      <p:sp>
        <p:nvSpPr>
          <p:cNvPr id="11" name="codecap|b1"/>
          <p:cNvSpPr txBox="1"/>
          <p:nvPr/>
        </p:nvSpPr>
        <p:spPr>
          <a:xfrm>
            <a:off x="5897880" y="226771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The chapter's function returns 42 / divide_by. Called with 2 it gives 21.0 and with 12 it gives 3.5, and with 0 it raises ZeroDivisionError: division by zero. The statements 1 // 0 and 1 % 0 raise the same exception, because floor division and modulo also have a second operand that must not be zero.</a:t>
            </a:r>
            <a:endParaRPr lang="en-US" sz="11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handling  &gt;  Exceptions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42 / 0</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Exception hierarchy</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Exception classes form a family tree, and an except clause catches the named class and all classes derived from it.</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built-in exceptions are classes, kinds of object like the int and str of chapter 1, arranged in a tree, and the library reference lists the whole tree. An exception object is an instance of its class, the way the number 5 is an instance of int. A class that is lower in the tree is a subclass of the classes above it. ZeroDivisionError sits under ArithmeticError, which sits under Exception, which sits under BaseException (Python Software Foundation, 2026). The reference says that ArithmeticError is the base class for the built-in exceptions raised for various arithmetic errors, namely OverflowError, ZeroDivisionError and FloatingPointError.</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Not every exception is under Exception.</a:t>
            </a:r>
            <a:endParaRPr lang="en-US" sz="1300" dirty="0"/>
          </a:p>
        </p:txBody>
      </p:sp>
      <p:sp>
        <p:nvSpPr>
          <p:cNvPr id="9" name="codebox|b1"/>
          <p:cNvSpPr/>
          <p:nvPr/>
        </p:nvSpPr>
        <p:spPr>
          <a:xfrm>
            <a:off x="5897880" y="1243584"/>
            <a:ext cx="2834640" cy="1005840"/>
          </a:xfrm>
          <a:prstGeom prst="roundRect">
            <a:avLst>
              <a:gd name="adj" fmla="val 9091"/>
            </a:avLst>
          </a:prstGeom>
          <a:solidFill>
            <a:srgbClr val="17202B"/>
          </a:solidFill>
          <a:ln w="12700">
            <a:solidFill>
              <a:srgbClr val="17202B"/>
            </a:solidFill>
            <a:prstDash val="solid"/>
          </a:ln>
        </p:spPr>
      </p:sp>
      <p:sp>
        <p:nvSpPr>
          <p:cNvPr id="10" name="codecard|b1"/>
          <p:cNvSpPr txBox="1"/>
          <p:nvPr/>
        </p:nvSpPr>
        <p:spPr>
          <a:xfrm>
            <a:off x="6053328" y="1335024"/>
            <a:ext cx="2523744" cy="822960"/>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issubclass(KeyboardInterrupt, Exception)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False</a:t>
            </a:r>
            <a:endParaRPr lang="en-US" sz="700" dirty="0"/>
          </a:p>
        </p:txBody>
      </p:sp>
      <p:sp>
        <p:nvSpPr>
          <p:cNvPr id="11" name="codecap|b1"/>
          <p:cNvSpPr txBox="1"/>
          <p:nvPr/>
        </p:nvSpPr>
        <p:spPr>
          <a:xfrm>
            <a:off x="5897880" y="226771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In the chapter, UnboundLocalError is a subclass of NameError and RecursionError is a subclass of RuntimeError, which is why a handler for NameError also catches a local variable used too early. A program that divides by zero inside try, and has except ArithmeticError, prints the type ZeroDivisionError for what it caught.</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handling  &gt;  Exceptions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50" dirty="0">
                <a:solidFill>
                  <a:srgbClr val="5B6B7B"/>
                </a:solidFill>
                <a:latin typeface="Calibri" pitchFamily="34" charset="0"/>
                <a:ea typeface="Calibri" pitchFamily="34" charset="-122"/>
                <a:cs typeface="Calibri" pitchFamily="34" charset="-120"/>
              </a:rPr>
              <a:t>example: ZeroDivisionError &lt; ArithmeticError &lt; Exception</a:t>
            </a:r>
            <a:endParaRPr lang="en-US" sz="8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Exception hierarchy: drawn from a real run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Exception classes form a family tree, and an except clause catches the named class and all classes derived from it.</a:t>
            </a:r>
            <a:endParaRPr lang="en-US" sz="1300" dirty="0"/>
          </a:p>
        </p:txBody>
      </p:sp>
      <p:sp>
        <p:nvSpPr>
          <p:cNvPr id="6" name="prose"/>
          <p:cNvSpPr txBox="1"/>
          <p:nvPr/>
        </p:nvSpPr>
        <p:spPr>
          <a:xfrm>
            <a:off x="411480" y="1207008"/>
            <a:ext cx="8321040" cy="548640"/>
          </a:xfrm>
          <a:prstGeom prst="rect">
            <a:avLst/>
          </a:prstGeom>
          <a:noFill/>
          <a:ln/>
        </p:spPr>
        <p:txBody>
          <a:bodyPr wrap="square" lIns="0" tIns="0" rIns="0" bIns="0" rtlCol="0" anchor="t"/>
          <a:lstStyle/>
          <a:p>
            <a:pPr indent="0" marL="0">
              <a:spcAft>
                <a:spcPts val="700"/>
              </a:spcAft>
              <a:buNone/>
            </a:pPr>
            <a:r>
              <a:rPr lang="en-US" sz="1150" dirty="0">
                <a:solidFill>
                  <a:srgbClr val="1F2933"/>
                </a:solidFill>
                <a:latin typeface="Calibri" pitchFamily="34" charset="0"/>
                <a:ea typeface="Calibri" pitchFamily="34" charset="-122"/>
                <a:cs typeface="Calibri" pitchFamily="34" charset="-120"/>
              </a:rPr>
              <a:t>The built-in exceptions are classes, kinds of object like the int and str of chapter 1, arranged in a tree, and the library reference lists the whole tree. An exception object is an instance of its class, the way the number 5 is an instance of int. A class that is lower in the tree is a subclass of the classes above it.</a:t>
            </a:r>
            <a:endParaRPr lang="en-US" sz="1150" dirty="0"/>
          </a:p>
        </p:txBody>
      </p:sp>
      <p:sp>
        <p:nvSpPr>
          <p:cNvPr id="7" name="ehb|b2"/>
          <p:cNvSpPr/>
          <p:nvPr/>
        </p:nvSpPr>
        <p:spPr>
          <a:xfrm>
            <a:off x="411480" y="1828800"/>
            <a:ext cx="1901952" cy="256032"/>
          </a:xfrm>
          <a:prstGeom prst="roundRect">
            <a:avLst>
              <a:gd name="adj" fmla="val 17857"/>
            </a:avLst>
          </a:prstGeom>
          <a:solidFill>
            <a:srgbClr val="E3EEF8"/>
          </a:solidFill>
          <a:ln w="12700">
            <a:solidFill>
              <a:srgbClr val="306998"/>
            </a:solidFill>
            <a:prstDash val="solid"/>
          </a:ln>
        </p:spPr>
      </p:sp>
      <p:sp>
        <p:nvSpPr>
          <p:cNvPr id="8" name="eht|b2"/>
          <p:cNvSpPr txBox="1"/>
          <p:nvPr/>
        </p:nvSpPr>
        <p:spPr>
          <a:xfrm>
            <a:off x="448056" y="1828800"/>
            <a:ext cx="1828800" cy="256032"/>
          </a:xfrm>
          <a:prstGeom prst="rect">
            <a:avLst/>
          </a:prstGeom>
          <a:noFill/>
          <a:ln/>
        </p:spPr>
        <p:txBody>
          <a:bodyPr wrap="square" lIns="0" tIns="0" rIns="0" bIns="0" rtlCol="0" anchor="ct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ZeroDivisionError</a:t>
            </a:r>
            <a:endParaRPr lang="en-US" sz="1000" dirty="0"/>
          </a:p>
        </p:txBody>
      </p:sp>
      <p:sp>
        <p:nvSpPr>
          <p:cNvPr id="9" name="arrow|b2"/>
          <p:cNvSpPr/>
          <p:nvPr/>
        </p:nvSpPr>
        <p:spPr>
          <a:xfrm>
            <a:off x="2313432" y="1956816"/>
            <a:ext cx="91440" cy="0"/>
          </a:xfrm>
          <a:prstGeom prst="line">
            <a:avLst/>
          </a:prstGeom>
          <a:noFill/>
          <a:ln w="12700">
            <a:solidFill>
              <a:srgbClr val="9AA8B8"/>
            </a:solidFill>
            <a:prstDash val="solid"/>
            <a:tailEnd type="triangle"/>
          </a:ln>
        </p:spPr>
      </p:sp>
      <p:sp>
        <p:nvSpPr>
          <p:cNvPr id="10" name="ehb|b2"/>
          <p:cNvSpPr/>
          <p:nvPr/>
        </p:nvSpPr>
        <p:spPr>
          <a:xfrm>
            <a:off x="2404872" y="1828800"/>
            <a:ext cx="1901952" cy="256032"/>
          </a:xfrm>
          <a:prstGeom prst="roundRect">
            <a:avLst>
              <a:gd name="adj" fmla="val 17857"/>
            </a:avLst>
          </a:prstGeom>
          <a:solidFill>
            <a:srgbClr val="F1F4F8"/>
          </a:solidFill>
          <a:ln w="12700">
            <a:solidFill>
              <a:srgbClr val="9AA8B8"/>
            </a:solidFill>
            <a:prstDash val="solid"/>
          </a:ln>
        </p:spPr>
      </p:sp>
      <p:sp>
        <p:nvSpPr>
          <p:cNvPr id="11" name="eht|b2"/>
          <p:cNvSpPr txBox="1"/>
          <p:nvPr/>
        </p:nvSpPr>
        <p:spPr>
          <a:xfrm>
            <a:off x="2441448" y="1828800"/>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ArithmeticError</a:t>
            </a:r>
            <a:endParaRPr lang="en-US" sz="1000" dirty="0"/>
          </a:p>
        </p:txBody>
      </p:sp>
      <p:sp>
        <p:nvSpPr>
          <p:cNvPr id="12" name="arrow|b2"/>
          <p:cNvSpPr/>
          <p:nvPr/>
        </p:nvSpPr>
        <p:spPr>
          <a:xfrm>
            <a:off x="4306824" y="1956816"/>
            <a:ext cx="91440" cy="0"/>
          </a:xfrm>
          <a:prstGeom prst="line">
            <a:avLst/>
          </a:prstGeom>
          <a:noFill/>
          <a:ln w="12700">
            <a:solidFill>
              <a:srgbClr val="9AA8B8"/>
            </a:solidFill>
            <a:prstDash val="solid"/>
            <a:tailEnd type="triangle"/>
          </a:ln>
        </p:spPr>
      </p:sp>
      <p:sp>
        <p:nvSpPr>
          <p:cNvPr id="13" name="ehb|b2"/>
          <p:cNvSpPr/>
          <p:nvPr/>
        </p:nvSpPr>
        <p:spPr>
          <a:xfrm>
            <a:off x="4398264" y="1828800"/>
            <a:ext cx="1901952" cy="256032"/>
          </a:xfrm>
          <a:prstGeom prst="roundRect">
            <a:avLst>
              <a:gd name="adj" fmla="val 17857"/>
            </a:avLst>
          </a:prstGeom>
          <a:solidFill>
            <a:srgbClr val="F1F4F8"/>
          </a:solidFill>
          <a:ln w="12700">
            <a:solidFill>
              <a:srgbClr val="9AA8B8"/>
            </a:solidFill>
            <a:prstDash val="solid"/>
          </a:ln>
        </p:spPr>
      </p:sp>
      <p:sp>
        <p:nvSpPr>
          <p:cNvPr id="14" name="eht|b2"/>
          <p:cNvSpPr txBox="1"/>
          <p:nvPr/>
        </p:nvSpPr>
        <p:spPr>
          <a:xfrm>
            <a:off x="4434840" y="1828800"/>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Exception</a:t>
            </a:r>
            <a:endParaRPr lang="en-US" sz="1000" dirty="0"/>
          </a:p>
        </p:txBody>
      </p:sp>
      <p:sp>
        <p:nvSpPr>
          <p:cNvPr id="15" name="arrow|b2"/>
          <p:cNvSpPr/>
          <p:nvPr/>
        </p:nvSpPr>
        <p:spPr>
          <a:xfrm>
            <a:off x="6300216" y="1956816"/>
            <a:ext cx="91440" cy="0"/>
          </a:xfrm>
          <a:prstGeom prst="line">
            <a:avLst/>
          </a:prstGeom>
          <a:noFill/>
          <a:ln w="12700">
            <a:solidFill>
              <a:srgbClr val="9AA8B8"/>
            </a:solidFill>
            <a:prstDash val="solid"/>
            <a:tailEnd type="triangle"/>
          </a:ln>
        </p:spPr>
      </p:sp>
      <p:sp>
        <p:nvSpPr>
          <p:cNvPr id="16" name="ehb|b2"/>
          <p:cNvSpPr/>
          <p:nvPr/>
        </p:nvSpPr>
        <p:spPr>
          <a:xfrm>
            <a:off x="6391656" y="1828800"/>
            <a:ext cx="1901952" cy="256032"/>
          </a:xfrm>
          <a:prstGeom prst="roundRect">
            <a:avLst>
              <a:gd name="adj" fmla="val 17857"/>
            </a:avLst>
          </a:prstGeom>
          <a:solidFill>
            <a:srgbClr val="F1F4F8"/>
          </a:solidFill>
          <a:ln w="12700">
            <a:solidFill>
              <a:srgbClr val="9AA8B8"/>
            </a:solidFill>
            <a:prstDash val="solid"/>
          </a:ln>
        </p:spPr>
      </p:sp>
      <p:sp>
        <p:nvSpPr>
          <p:cNvPr id="17" name="eht|b2"/>
          <p:cNvSpPr txBox="1"/>
          <p:nvPr/>
        </p:nvSpPr>
        <p:spPr>
          <a:xfrm>
            <a:off x="6428232" y="1828800"/>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BaseException</a:t>
            </a:r>
            <a:endParaRPr lang="en-US" sz="1000" dirty="0"/>
          </a:p>
        </p:txBody>
      </p:sp>
      <p:sp>
        <p:nvSpPr>
          <p:cNvPr id="18" name="ehb|b3"/>
          <p:cNvSpPr/>
          <p:nvPr/>
        </p:nvSpPr>
        <p:spPr>
          <a:xfrm>
            <a:off x="411480" y="2130552"/>
            <a:ext cx="1901952" cy="256032"/>
          </a:xfrm>
          <a:prstGeom prst="roundRect">
            <a:avLst>
              <a:gd name="adj" fmla="val 17857"/>
            </a:avLst>
          </a:prstGeom>
          <a:solidFill>
            <a:srgbClr val="E3EEF8"/>
          </a:solidFill>
          <a:ln w="12700">
            <a:solidFill>
              <a:srgbClr val="306998"/>
            </a:solidFill>
            <a:prstDash val="solid"/>
          </a:ln>
        </p:spPr>
      </p:sp>
      <p:sp>
        <p:nvSpPr>
          <p:cNvPr id="19" name="eht|b3"/>
          <p:cNvSpPr txBox="1"/>
          <p:nvPr/>
        </p:nvSpPr>
        <p:spPr>
          <a:xfrm>
            <a:off x="448056" y="2130552"/>
            <a:ext cx="1828800" cy="256032"/>
          </a:xfrm>
          <a:prstGeom prst="rect">
            <a:avLst/>
          </a:prstGeom>
          <a:noFill/>
          <a:ln/>
        </p:spPr>
        <p:txBody>
          <a:bodyPr wrap="square" lIns="0" tIns="0" rIns="0" bIns="0" rtlCol="0" anchor="ct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ValueError</a:t>
            </a:r>
            <a:endParaRPr lang="en-US" sz="1000" dirty="0"/>
          </a:p>
        </p:txBody>
      </p:sp>
      <p:sp>
        <p:nvSpPr>
          <p:cNvPr id="20" name="arrow|b3"/>
          <p:cNvSpPr/>
          <p:nvPr/>
        </p:nvSpPr>
        <p:spPr>
          <a:xfrm>
            <a:off x="2313432" y="2258568"/>
            <a:ext cx="91440" cy="0"/>
          </a:xfrm>
          <a:prstGeom prst="line">
            <a:avLst/>
          </a:prstGeom>
          <a:noFill/>
          <a:ln w="12700">
            <a:solidFill>
              <a:srgbClr val="9AA8B8"/>
            </a:solidFill>
            <a:prstDash val="solid"/>
            <a:tailEnd type="triangle"/>
          </a:ln>
        </p:spPr>
      </p:sp>
      <p:sp>
        <p:nvSpPr>
          <p:cNvPr id="21" name="ehb|b3"/>
          <p:cNvSpPr/>
          <p:nvPr/>
        </p:nvSpPr>
        <p:spPr>
          <a:xfrm>
            <a:off x="2404872" y="2130552"/>
            <a:ext cx="1901952" cy="256032"/>
          </a:xfrm>
          <a:prstGeom prst="roundRect">
            <a:avLst>
              <a:gd name="adj" fmla="val 17857"/>
            </a:avLst>
          </a:prstGeom>
          <a:solidFill>
            <a:srgbClr val="F1F4F8"/>
          </a:solidFill>
          <a:ln w="12700">
            <a:solidFill>
              <a:srgbClr val="9AA8B8"/>
            </a:solidFill>
            <a:prstDash val="solid"/>
          </a:ln>
        </p:spPr>
      </p:sp>
      <p:sp>
        <p:nvSpPr>
          <p:cNvPr id="22" name="eht|b3"/>
          <p:cNvSpPr txBox="1"/>
          <p:nvPr/>
        </p:nvSpPr>
        <p:spPr>
          <a:xfrm>
            <a:off x="2441448" y="2130552"/>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Exception</a:t>
            </a:r>
            <a:endParaRPr lang="en-US" sz="1000" dirty="0"/>
          </a:p>
        </p:txBody>
      </p:sp>
      <p:sp>
        <p:nvSpPr>
          <p:cNvPr id="23" name="arrow|b3"/>
          <p:cNvSpPr/>
          <p:nvPr/>
        </p:nvSpPr>
        <p:spPr>
          <a:xfrm>
            <a:off x="4306824" y="2258568"/>
            <a:ext cx="91440" cy="0"/>
          </a:xfrm>
          <a:prstGeom prst="line">
            <a:avLst/>
          </a:prstGeom>
          <a:noFill/>
          <a:ln w="12700">
            <a:solidFill>
              <a:srgbClr val="9AA8B8"/>
            </a:solidFill>
            <a:prstDash val="solid"/>
            <a:tailEnd type="triangle"/>
          </a:ln>
        </p:spPr>
      </p:sp>
      <p:sp>
        <p:nvSpPr>
          <p:cNvPr id="24" name="ehb|b3"/>
          <p:cNvSpPr/>
          <p:nvPr/>
        </p:nvSpPr>
        <p:spPr>
          <a:xfrm>
            <a:off x="4398264" y="2130552"/>
            <a:ext cx="1901952" cy="256032"/>
          </a:xfrm>
          <a:prstGeom prst="roundRect">
            <a:avLst>
              <a:gd name="adj" fmla="val 17857"/>
            </a:avLst>
          </a:prstGeom>
          <a:solidFill>
            <a:srgbClr val="F1F4F8"/>
          </a:solidFill>
          <a:ln w="12700">
            <a:solidFill>
              <a:srgbClr val="9AA8B8"/>
            </a:solidFill>
            <a:prstDash val="solid"/>
          </a:ln>
        </p:spPr>
      </p:sp>
      <p:sp>
        <p:nvSpPr>
          <p:cNvPr id="25" name="eht|b3"/>
          <p:cNvSpPr txBox="1"/>
          <p:nvPr/>
        </p:nvSpPr>
        <p:spPr>
          <a:xfrm>
            <a:off x="4434840" y="2130552"/>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BaseException</a:t>
            </a:r>
            <a:endParaRPr lang="en-US" sz="1000" dirty="0"/>
          </a:p>
        </p:txBody>
      </p:sp>
      <p:sp>
        <p:nvSpPr>
          <p:cNvPr id="26" name="ehb|b4"/>
          <p:cNvSpPr/>
          <p:nvPr/>
        </p:nvSpPr>
        <p:spPr>
          <a:xfrm>
            <a:off x="411480" y="2432304"/>
            <a:ext cx="1901952" cy="256032"/>
          </a:xfrm>
          <a:prstGeom prst="roundRect">
            <a:avLst>
              <a:gd name="adj" fmla="val 17857"/>
            </a:avLst>
          </a:prstGeom>
          <a:solidFill>
            <a:srgbClr val="E3EEF8"/>
          </a:solidFill>
          <a:ln w="12700">
            <a:solidFill>
              <a:srgbClr val="306998"/>
            </a:solidFill>
            <a:prstDash val="solid"/>
          </a:ln>
        </p:spPr>
      </p:sp>
      <p:sp>
        <p:nvSpPr>
          <p:cNvPr id="27" name="eht|b4"/>
          <p:cNvSpPr txBox="1"/>
          <p:nvPr/>
        </p:nvSpPr>
        <p:spPr>
          <a:xfrm>
            <a:off x="448056" y="2432304"/>
            <a:ext cx="1828800" cy="256032"/>
          </a:xfrm>
          <a:prstGeom prst="rect">
            <a:avLst/>
          </a:prstGeom>
          <a:noFill/>
          <a:ln/>
        </p:spPr>
        <p:txBody>
          <a:bodyPr wrap="square" lIns="0" tIns="0" rIns="0" bIns="0" rtlCol="0" anchor="ct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NameError</a:t>
            </a:r>
            <a:endParaRPr lang="en-US" sz="1000" dirty="0"/>
          </a:p>
        </p:txBody>
      </p:sp>
      <p:sp>
        <p:nvSpPr>
          <p:cNvPr id="28" name="arrow|b4"/>
          <p:cNvSpPr/>
          <p:nvPr/>
        </p:nvSpPr>
        <p:spPr>
          <a:xfrm>
            <a:off x="2313432" y="2560320"/>
            <a:ext cx="91440" cy="0"/>
          </a:xfrm>
          <a:prstGeom prst="line">
            <a:avLst/>
          </a:prstGeom>
          <a:noFill/>
          <a:ln w="12700">
            <a:solidFill>
              <a:srgbClr val="9AA8B8"/>
            </a:solidFill>
            <a:prstDash val="solid"/>
            <a:tailEnd type="triangle"/>
          </a:ln>
        </p:spPr>
      </p:sp>
      <p:sp>
        <p:nvSpPr>
          <p:cNvPr id="29" name="ehb|b4"/>
          <p:cNvSpPr/>
          <p:nvPr/>
        </p:nvSpPr>
        <p:spPr>
          <a:xfrm>
            <a:off x="2404872" y="2432304"/>
            <a:ext cx="1901952" cy="256032"/>
          </a:xfrm>
          <a:prstGeom prst="roundRect">
            <a:avLst>
              <a:gd name="adj" fmla="val 17857"/>
            </a:avLst>
          </a:prstGeom>
          <a:solidFill>
            <a:srgbClr val="F1F4F8"/>
          </a:solidFill>
          <a:ln w="12700">
            <a:solidFill>
              <a:srgbClr val="9AA8B8"/>
            </a:solidFill>
            <a:prstDash val="solid"/>
          </a:ln>
        </p:spPr>
      </p:sp>
      <p:sp>
        <p:nvSpPr>
          <p:cNvPr id="30" name="eht|b4"/>
          <p:cNvSpPr txBox="1"/>
          <p:nvPr/>
        </p:nvSpPr>
        <p:spPr>
          <a:xfrm>
            <a:off x="2441448" y="2432304"/>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Exception</a:t>
            </a:r>
            <a:endParaRPr lang="en-US" sz="1000" dirty="0"/>
          </a:p>
        </p:txBody>
      </p:sp>
      <p:sp>
        <p:nvSpPr>
          <p:cNvPr id="31" name="arrow|b4"/>
          <p:cNvSpPr/>
          <p:nvPr/>
        </p:nvSpPr>
        <p:spPr>
          <a:xfrm>
            <a:off x="4306824" y="2560320"/>
            <a:ext cx="91440" cy="0"/>
          </a:xfrm>
          <a:prstGeom prst="line">
            <a:avLst/>
          </a:prstGeom>
          <a:noFill/>
          <a:ln w="12700">
            <a:solidFill>
              <a:srgbClr val="9AA8B8"/>
            </a:solidFill>
            <a:prstDash val="solid"/>
            <a:tailEnd type="triangle"/>
          </a:ln>
        </p:spPr>
      </p:sp>
      <p:sp>
        <p:nvSpPr>
          <p:cNvPr id="32" name="ehb|b4"/>
          <p:cNvSpPr/>
          <p:nvPr/>
        </p:nvSpPr>
        <p:spPr>
          <a:xfrm>
            <a:off x="4398264" y="2432304"/>
            <a:ext cx="1901952" cy="256032"/>
          </a:xfrm>
          <a:prstGeom prst="roundRect">
            <a:avLst>
              <a:gd name="adj" fmla="val 17857"/>
            </a:avLst>
          </a:prstGeom>
          <a:solidFill>
            <a:srgbClr val="F1F4F8"/>
          </a:solidFill>
          <a:ln w="12700">
            <a:solidFill>
              <a:srgbClr val="9AA8B8"/>
            </a:solidFill>
            <a:prstDash val="solid"/>
          </a:ln>
        </p:spPr>
      </p:sp>
      <p:sp>
        <p:nvSpPr>
          <p:cNvPr id="33" name="eht|b4"/>
          <p:cNvSpPr txBox="1"/>
          <p:nvPr/>
        </p:nvSpPr>
        <p:spPr>
          <a:xfrm>
            <a:off x="4434840" y="2432304"/>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BaseException</a:t>
            </a:r>
            <a:endParaRPr lang="en-US" sz="1000" dirty="0"/>
          </a:p>
        </p:txBody>
      </p:sp>
      <p:sp>
        <p:nvSpPr>
          <p:cNvPr id="34" name="ehb|b5"/>
          <p:cNvSpPr/>
          <p:nvPr/>
        </p:nvSpPr>
        <p:spPr>
          <a:xfrm>
            <a:off x="411480" y="2734056"/>
            <a:ext cx="1901952" cy="256032"/>
          </a:xfrm>
          <a:prstGeom prst="roundRect">
            <a:avLst>
              <a:gd name="adj" fmla="val 17857"/>
            </a:avLst>
          </a:prstGeom>
          <a:solidFill>
            <a:srgbClr val="E3EEF8"/>
          </a:solidFill>
          <a:ln w="12700">
            <a:solidFill>
              <a:srgbClr val="306998"/>
            </a:solidFill>
            <a:prstDash val="solid"/>
          </a:ln>
        </p:spPr>
      </p:sp>
      <p:sp>
        <p:nvSpPr>
          <p:cNvPr id="35" name="eht|b5"/>
          <p:cNvSpPr txBox="1"/>
          <p:nvPr/>
        </p:nvSpPr>
        <p:spPr>
          <a:xfrm>
            <a:off x="448056" y="2734056"/>
            <a:ext cx="1828800" cy="256032"/>
          </a:xfrm>
          <a:prstGeom prst="rect">
            <a:avLst/>
          </a:prstGeom>
          <a:noFill/>
          <a:ln/>
        </p:spPr>
        <p:txBody>
          <a:bodyPr wrap="square" lIns="0" tIns="0" rIns="0" bIns="0" rtlCol="0" anchor="ct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UnboundLocalError</a:t>
            </a:r>
            <a:endParaRPr lang="en-US" sz="1000" dirty="0"/>
          </a:p>
        </p:txBody>
      </p:sp>
      <p:sp>
        <p:nvSpPr>
          <p:cNvPr id="36" name="arrow|b5"/>
          <p:cNvSpPr/>
          <p:nvPr/>
        </p:nvSpPr>
        <p:spPr>
          <a:xfrm>
            <a:off x="2313432" y="2862072"/>
            <a:ext cx="91440" cy="0"/>
          </a:xfrm>
          <a:prstGeom prst="line">
            <a:avLst/>
          </a:prstGeom>
          <a:noFill/>
          <a:ln w="12700">
            <a:solidFill>
              <a:srgbClr val="9AA8B8"/>
            </a:solidFill>
            <a:prstDash val="solid"/>
            <a:tailEnd type="triangle"/>
          </a:ln>
        </p:spPr>
      </p:sp>
      <p:sp>
        <p:nvSpPr>
          <p:cNvPr id="37" name="ehb|b5"/>
          <p:cNvSpPr/>
          <p:nvPr/>
        </p:nvSpPr>
        <p:spPr>
          <a:xfrm>
            <a:off x="2404872" y="2734056"/>
            <a:ext cx="1901952" cy="256032"/>
          </a:xfrm>
          <a:prstGeom prst="roundRect">
            <a:avLst>
              <a:gd name="adj" fmla="val 17857"/>
            </a:avLst>
          </a:prstGeom>
          <a:solidFill>
            <a:srgbClr val="F1F4F8"/>
          </a:solidFill>
          <a:ln w="12700">
            <a:solidFill>
              <a:srgbClr val="9AA8B8"/>
            </a:solidFill>
            <a:prstDash val="solid"/>
          </a:ln>
        </p:spPr>
      </p:sp>
      <p:sp>
        <p:nvSpPr>
          <p:cNvPr id="38" name="eht|b5"/>
          <p:cNvSpPr txBox="1"/>
          <p:nvPr/>
        </p:nvSpPr>
        <p:spPr>
          <a:xfrm>
            <a:off x="2441448" y="2734056"/>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NameError</a:t>
            </a:r>
            <a:endParaRPr lang="en-US" sz="1000" dirty="0"/>
          </a:p>
        </p:txBody>
      </p:sp>
      <p:sp>
        <p:nvSpPr>
          <p:cNvPr id="39" name="arrow|b5"/>
          <p:cNvSpPr/>
          <p:nvPr/>
        </p:nvSpPr>
        <p:spPr>
          <a:xfrm>
            <a:off x="4306824" y="2862072"/>
            <a:ext cx="91440" cy="0"/>
          </a:xfrm>
          <a:prstGeom prst="line">
            <a:avLst/>
          </a:prstGeom>
          <a:noFill/>
          <a:ln w="12700">
            <a:solidFill>
              <a:srgbClr val="9AA8B8"/>
            </a:solidFill>
            <a:prstDash val="solid"/>
            <a:tailEnd type="triangle"/>
          </a:ln>
        </p:spPr>
      </p:sp>
      <p:sp>
        <p:nvSpPr>
          <p:cNvPr id="40" name="ehb|b5"/>
          <p:cNvSpPr/>
          <p:nvPr/>
        </p:nvSpPr>
        <p:spPr>
          <a:xfrm>
            <a:off x="4398264" y="2734056"/>
            <a:ext cx="1901952" cy="256032"/>
          </a:xfrm>
          <a:prstGeom prst="roundRect">
            <a:avLst>
              <a:gd name="adj" fmla="val 17857"/>
            </a:avLst>
          </a:prstGeom>
          <a:solidFill>
            <a:srgbClr val="F1F4F8"/>
          </a:solidFill>
          <a:ln w="12700">
            <a:solidFill>
              <a:srgbClr val="9AA8B8"/>
            </a:solidFill>
            <a:prstDash val="solid"/>
          </a:ln>
        </p:spPr>
      </p:sp>
      <p:sp>
        <p:nvSpPr>
          <p:cNvPr id="41" name="eht|b5"/>
          <p:cNvSpPr txBox="1"/>
          <p:nvPr/>
        </p:nvSpPr>
        <p:spPr>
          <a:xfrm>
            <a:off x="4434840" y="2734056"/>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Exception</a:t>
            </a:r>
            <a:endParaRPr lang="en-US" sz="1000" dirty="0"/>
          </a:p>
        </p:txBody>
      </p:sp>
      <p:sp>
        <p:nvSpPr>
          <p:cNvPr id="42" name="arrow|b5"/>
          <p:cNvSpPr/>
          <p:nvPr/>
        </p:nvSpPr>
        <p:spPr>
          <a:xfrm>
            <a:off x="6300216" y="2862072"/>
            <a:ext cx="91440" cy="0"/>
          </a:xfrm>
          <a:prstGeom prst="line">
            <a:avLst/>
          </a:prstGeom>
          <a:noFill/>
          <a:ln w="12700">
            <a:solidFill>
              <a:srgbClr val="9AA8B8"/>
            </a:solidFill>
            <a:prstDash val="solid"/>
            <a:tailEnd type="triangle"/>
          </a:ln>
        </p:spPr>
      </p:sp>
      <p:sp>
        <p:nvSpPr>
          <p:cNvPr id="43" name="ehb|b5"/>
          <p:cNvSpPr/>
          <p:nvPr/>
        </p:nvSpPr>
        <p:spPr>
          <a:xfrm>
            <a:off x="6391656" y="2734056"/>
            <a:ext cx="1901952" cy="256032"/>
          </a:xfrm>
          <a:prstGeom prst="roundRect">
            <a:avLst>
              <a:gd name="adj" fmla="val 17857"/>
            </a:avLst>
          </a:prstGeom>
          <a:solidFill>
            <a:srgbClr val="F1F4F8"/>
          </a:solidFill>
          <a:ln w="12700">
            <a:solidFill>
              <a:srgbClr val="9AA8B8"/>
            </a:solidFill>
            <a:prstDash val="solid"/>
          </a:ln>
        </p:spPr>
      </p:sp>
      <p:sp>
        <p:nvSpPr>
          <p:cNvPr id="44" name="eht|b5"/>
          <p:cNvSpPr txBox="1"/>
          <p:nvPr/>
        </p:nvSpPr>
        <p:spPr>
          <a:xfrm>
            <a:off x="6428232" y="2734056"/>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BaseException</a:t>
            </a:r>
            <a:endParaRPr lang="en-US" sz="1000" dirty="0"/>
          </a:p>
        </p:txBody>
      </p:sp>
      <p:sp>
        <p:nvSpPr>
          <p:cNvPr id="45" name="ehb|b6"/>
          <p:cNvSpPr/>
          <p:nvPr/>
        </p:nvSpPr>
        <p:spPr>
          <a:xfrm>
            <a:off x="411480" y="3035808"/>
            <a:ext cx="1901952" cy="256032"/>
          </a:xfrm>
          <a:prstGeom prst="roundRect">
            <a:avLst>
              <a:gd name="adj" fmla="val 17857"/>
            </a:avLst>
          </a:prstGeom>
          <a:solidFill>
            <a:srgbClr val="FBE1E1"/>
          </a:solidFill>
          <a:ln w="12700">
            <a:solidFill>
              <a:srgbClr val="D64545"/>
            </a:solidFill>
            <a:prstDash val="solid"/>
          </a:ln>
        </p:spPr>
      </p:sp>
      <p:sp>
        <p:nvSpPr>
          <p:cNvPr id="46" name="eht|b6"/>
          <p:cNvSpPr txBox="1"/>
          <p:nvPr/>
        </p:nvSpPr>
        <p:spPr>
          <a:xfrm>
            <a:off x="448056" y="3035808"/>
            <a:ext cx="1828800" cy="256032"/>
          </a:xfrm>
          <a:prstGeom prst="rect">
            <a:avLst/>
          </a:prstGeom>
          <a:noFill/>
          <a:ln/>
        </p:spPr>
        <p:txBody>
          <a:bodyPr wrap="square" lIns="0" tIns="0" rIns="0" bIns="0" rtlCol="0" anchor="ct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KeyboardInterrupt</a:t>
            </a:r>
            <a:endParaRPr lang="en-US" sz="1000" dirty="0"/>
          </a:p>
        </p:txBody>
      </p:sp>
      <p:sp>
        <p:nvSpPr>
          <p:cNvPr id="47" name="arrow|b6"/>
          <p:cNvSpPr/>
          <p:nvPr/>
        </p:nvSpPr>
        <p:spPr>
          <a:xfrm>
            <a:off x="2313432" y="3163824"/>
            <a:ext cx="91440" cy="0"/>
          </a:xfrm>
          <a:prstGeom prst="line">
            <a:avLst/>
          </a:prstGeom>
          <a:noFill/>
          <a:ln w="12700">
            <a:solidFill>
              <a:srgbClr val="9AA8B8"/>
            </a:solidFill>
            <a:prstDash val="solid"/>
            <a:tailEnd type="triangle"/>
          </a:ln>
        </p:spPr>
      </p:sp>
      <p:sp>
        <p:nvSpPr>
          <p:cNvPr id="48" name="ehb|b6"/>
          <p:cNvSpPr/>
          <p:nvPr/>
        </p:nvSpPr>
        <p:spPr>
          <a:xfrm>
            <a:off x="2404872" y="3035808"/>
            <a:ext cx="1901952" cy="256032"/>
          </a:xfrm>
          <a:prstGeom prst="roundRect">
            <a:avLst>
              <a:gd name="adj" fmla="val 17857"/>
            </a:avLst>
          </a:prstGeom>
          <a:solidFill>
            <a:srgbClr val="F1F4F8"/>
          </a:solidFill>
          <a:ln w="12700">
            <a:solidFill>
              <a:srgbClr val="9AA8B8"/>
            </a:solidFill>
            <a:prstDash val="solid"/>
          </a:ln>
        </p:spPr>
      </p:sp>
      <p:sp>
        <p:nvSpPr>
          <p:cNvPr id="49" name="eht|b6"/>
          <p:cNvSpPr txBox="1"/>
          <p:nvPr/>
        </p:nvSpPr>
        <p:spPr>
          <a:xfrm>
            <a:off x="2441448" y="3035808"/>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BaseException</a:t>
            </a:r>
            <a:endParaRPr lang="en-US" sz="1000" dirty="0"/>
          </a:p>
        </p:txBody>
      </p:sp>
      <p:sp>
        <p:nvSpPr>
          <p:cNvPr id="50" name="ehb|b7"/>
          <p:cNvSpPr/>
          <p:nvPr/>
        </p:nvSpPr>
        <p:spPr>
          <a:xfrm>
            <a:off x="411480" y="3337560"/>
            <a:ext cx="1901952" cy="256032"/>
          </a:xfrm>
          <a:prstGeom prst="roundRect">
            <a:avLst>
              <a:gd name="adj" fmla="val 17857"/>
            </a:avLst>
          </a:prstGeom>
          <a:solidFill>
            <a:srgbClr val="FBE1E1"/>
          </a:solidFill>
          <a:ln w="12700">
            <a:solidFill>
              <a:srgbClr val="D64545"/>
            </a:solidFill>
            <a:prstDash val="solid"/>
          </a:ln>
        </p:spPr>
      </p:sp>
      <p:sp>
        <p:nvSpPr>
          <p:cNvPr id="51" name="eht|b7"/>
          <p:cNvSpPr txBox="1"/>
          <p:nvPr/>
        </p:nvSpPr>
        <p:spPr>
          <a:xfrm>
            <a:off x="448056" y="3337560"/>
            <a:ext cx="1828800" cy="256032"/>
          </a:xfrm>
          <a:prstGeom prst="rect">
            <a:avLst/>
          </a:prstGeom>
          <a:noFill/>
          <a:ln/>
        </p:spPr>
        <p:txBody>
          <a:bodyPr wrap="square" lIns="0" tIns="0" rIns="0" bIns="0" rtlCol="0" anchor="ct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SystemExit</a:t>
            </a:r>
            <a:endParaRPr lang="en-US" sz="1000" dirty="0"/>
          </a:p>
        </p:txBody>
      </p:sp>
      <p:sp>
        <p:nvSpPr>
          <p:cNvPr id="52" name="arrow|b7"/>
          <p:cNvSpPr/>
          <p:nvPr/>
        </p:nvSpPr>
        <p:spPr>
          <a:xfrm>
            <a:off x="2313432" y="3465576"/>
            <a:ext cx="91440" cy="0"/>
          </a:xfrm>
          <a:prstGeom prst="line">
            <a:avLst/>
          </a:prstGeom>
          <a:noFill/>
          <a:ln w="12700">
            <a:solidFill>
              <a:srgbClr val="9AA8B8"/>
            </a:solidFill>
            <a:prstDash val="solid"/>
            <a:tailEnd type="triangle"/>
          </a:ln>
        </p:spPr>
      </p:sp>
      <p:sp>
        <p:nvSpPr>
          <p:cNvPr id="53" name="ehb|b7"/>
          <p:cNvSpPr/>
          <p:nvPr/>
        </p:nvSpPr>
        <p:spPr>
          <a:xfrm>
            <a:off x="2404872" y="3337560"/>
            <a:ext cx="1901952" cy="256032"/>
          </a:xfrm>
          <a:prstGeom prst="roundRect">
            <a:avLst>
              <a:gd name="adj" fmla="val 17857"/>
            </a:avLst>
          </a:prstGeom>
          <a:solidFill>
            <a:srgbClr val="F1F4F8"/>
          </a:solidFill>
          <a:ln w="12700">
            <a:solidFill>
              <a:srgbClr val="9AA8B8"/>
            </a:solidFill>
            <a:prstDash val="solid"/>
          </a:ln>
        </p:spPr>
      </p:sp>
      <p:sp>
        <p:nvSpPr>
          <p:cNvPr id="54" name="eht|b7"/>
          <p:cNvSpPr txBox="1"/>
          <p:nvPr/>
        </p:nvSpPr>
        <p:spPr>
          <a:xfrm>
            <a:off x="2441448" y="3337560"/>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BaseException</a:t>
            </a:r>
            <a:endParaRPr lang="en-US" sz="1000" dirty="0"/>
          </a:p>
        </p:txBody>
      </p:sp>
      <p:sp>
        <p:nvSpPr>
          <p:cNvPr id="55" name="ehb|b8"/>
          <p:cNvSpPr/>
          <p:nvPr/>
        </p:nvSpPr>
        <p:spPr>
          <a:xfrm>
            <a:off x="411480" y="3639312"/>
            <a:ext cx="1901952" cy="256032"/>
          </a:xfrm>
          <a:prstGeom prst="roundRect">
            <a:avLst>
              <a:gd name="adj" fmla="val 17857"/>
            </a:avLst>
          </a:prstGeom>
          <a:solidFill>
            <a:srgbClr val="E3EEF8"/>
          </a:solidFill>
          <a:ln w="12700">
            <a:solidFill>
              <a:srgbClr val="306998"/>
            </a:solidFill>
            <a:prstDash val="solid"/>
          </a:ln>
        </p:spPr>
      </p:sp>
      <p:sp>
        <p:nvSpPr>
          <p:cNvPr id="56" name="eht|b8"/>
          <p:cNvSpPr txBox="1"/>
          <p:nvPr/>
        </p:nvSpPr>
        <p:spPr>
          <a:xfrm>
            <a:off x="448056" y="3639312"/>
            <a:ext cx="1828800" cy="256032"/>
          </a:xfrm>
          <a:prstGeom prst="rect">
            <a:avLst/>
          </a:prstGeom>
          <a:noFill/>
          <a:ln/>
        </p:spPr>
        <p:txBody>
          <a:bodyPr wrap="square" lIns="0" tIns="0" rIns="0" bIns="0" rtlCol="0" anchor="ct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RecursionError</a:t>
            </a:r>
            <a:endParaRPr lang="en-US" sz="1000" dirty="0"/>
          </a:p>
        </p:txBody>
      </p:sp>
      <p:sp>
        <p:nvSpPr>
          <p:cNvPr id="57" name="arrow|b8"/>
          <p:cNvSpPr/>
          <p:nvPr/>
        </p:nvSpPr>
        <p:spPr>
          <a:xfrm>
            <a:off x="2313432" y="3767328"/>
            <a:ext cx="91440" cy="0"/>
          </a:xfrm>
          <a:prstGeom prst="line">
            <a:avLst/>
          </a:prstGeom>
          <a:noFill/>
          <a:ln w="12700">
            <a:solidFill>
              <a:srgbClr val="9AA8B8"/>
            </a:solidFill>
            <a:prstDash val="solid"/>
            <a:tailEnd type="triangle"/>
          </a:ln>
        </p:spPr>
      </p:sp>
      <p:sp>
        <p:nvSpPr>
          <p:cNvPr id="58" name="ehb|b8"/>
          <p:cNvSpPr/>
          <p:nvPr/>
        </p:nvSpPr>
        <p:spPr>
          <a:xfrm>
            <a:off x="2404872" y="3639312"/>
            <a:ext cx="1901952" cy="256032"/>
          </a:xfrm>
          <a:prstGeom prst="roundRect">
            <a:avLst>
              <a:gd name="adj" fmla="val 17857"/>
            </a:avLst>
          </a:prstGeom>
          <a:solidFill>
            <a:srgbClr val="F1F4F8"/>
          </a:solidFill>
          <a:ln w="12700">
            <a:solidFill>
              <a:srgbClr val="9AA8B8"/>
            </a:solidFill>
            <a:prstDash val="solid"/>
          </a:ln>
        </p:spPr>
      </p:sp>
      <p:sp>
        <p:nvSpPr>
          <p:cNvPr id="59" name="eht|b8"/>
          <p:cNvSpPr txBox="1"/>
          <p:nvPr/>
        </p:nvSpPr>
        <p:spPr>
          <a:xfrm>
            <a:off x="2441448" y="3639312"/>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RuntimeError</a:t>
            </a:r>
            <a:endParaRPr lang="en-US" sz="1000" dirty="0"/>
          </a:p>
        </p:txBody>
      </p:sp>
      <p:sp>
        <p:nvSpPr>
          <p:cNvPr id="60" name="arrow|b8"/>
          <p:cNvSpPr/>
          <p:nvPr/>
        </p:nvSpPr>
        <p:spPr>
          <a:xfrm>
            <a:off x="4306824" y="3767328"/>
            <a:ext cx="91440" cy="0"/>
          </a:xfrm>
          <a:prstGeom prst="line">
            <a:avLst/>
          </a:prstGeom>
          <a:noFill/>
          <a:ln w="12700">
            <a:solidFill>
              <a:srgbClr val="9AA8B8"/>
            </a:solidFill>
            <a:prstDash val="solid"/>
            <a:tailEnd type="triangle"/>
          </a:ln>
        </p:spPr>
      </p:sp>
      <p:sp>
        <p:nvSpPr>
          <p:cNvPr id="61" name="ehb|b8"/>
          <p:cNvSpPr/>
          <p:nvPr/>
        </p:nvSpPr>
        <p:spPr>
          <a:xfrm>
            <a:off x="4398264" y="3639312"/>
            <a:ext cx="1901952" cy="256032"/>
          </a:xfrm>
          <a:prstGeom prst="roundRect">
            <a:avLst>
              <a:gd name="adj" fmla="val 17857"/>
            </a:avLst>
          </a:prstGeom>
          <a:solidFill>
            <a:srgbClr val="F1F4F8"/>
          </a:solidFill>
          <a:ln w="12700">
            <a:solidFill>
              <a:srgbClr val="9AA8B8"/>
            </a:solidFill>
            <a:prstDash val="solid"/>
          </a:ln>
        </p:spPr>
      </p:sp>
      <p:sp>
        <p:nvSpPr>
          <p:cNvPr id="62" name="eht|b8"/>
          <p:cNvSpPr txBox="1"/>
          <p:nvPr/>
        </p:nvSpPr>
        <p:spPr>
          <a:xfrm>
            <a:off x="4434840" y="3639312"/>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Exception</a:t>
            </a:r>
            <a:endParaRPr lang="en-US" sz="1000" dirty="0"/>
          </a:p>
        </p:txBody>
      </p:sp>
      <p:sp>
        <p:nvSpPr>
          <p:cNvPr id="63" name="arrow|b8"/>
          <p:cNvSpPr/>
          <p:nvPr/>
        </p:nvSpPr>
        <p:spPr>
          <a:xfrm>
            <a:off x="6300216" y="3767328"/>
            <a:ext cx="91440" cy="0"/>
          </a:xfrm>
          <a:prstGeom prst="line">
            <a:avLst/>
          </a:prstGeom>
          <a:noFill/>
          <a:ln w="12700">
            <a:solidFill>
              <a:srgbClr val="9AA8B8"/>
            </a:solidFill>
            <a:prstDash val="solid"/>
            <a:tailEnd type="triangle"/>
          </a:ln>
        </p:spPr>
      </p:sp>
      <p:sp>
        <p:nvSpPr>
          <p:cNvPr id="64" name="ehb|b8"/>
          <p:cNvSpPr/>
          <p:nvPr/>
        </p:nvSpPr>
        <p:spPr>
          <a:xfrm>
            <a:off x="6391656" y="3639312"/>
            <a:ext cx="1901952" cy="256032"/>
          </a:xfrm>
          <a:prstGeom prst="roundRect">
            <a:avLst>
              <a:gd name="adj" fmla="val 17857"/>
            </a:avLst>
          </a:prstGeom>
          <a:solidFill>
            <a:srgbClr val="F1F4F8"/>
          </a:solidFill>
          <a:ln w="12700">
            <a:solidFill>
              <a:srgbClr val="9AA8B8"/>
            </a:solidFill>
            <a:prstDash val="solid"/>
          </a:ln>
        </p:spPr>
      </p:sp>
      <p:sp>
        <p:nvSpPr>
          <p:cNvPr id="65" name="eht|b8"/>
          <p:cNvSpPr txBox="1"/>
          <p:nvPr/>
        </p:nvSpPr>
        <p:spPr>
          <a:xfrm>
            <a:off x="6428232" y="3639312"/>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BaseException</a:t>
            </a:r>
            <a:endParaRPr lang="en-US" sz="1000" dirty="0"/>
          </a:p>
        </p:txBody>
      </p:sp>
      <p:sp>
        <p:nvSpPr>
          <p:cNvPr id="66" name="ehb|b9"/>
          <p:cNvSpPr/>
          <p:nvPr/>
        </p:nvSpPr>
        <p:spPr>
          <a:xfrm>
            <a:off x="411480" y="3941064"/>
            <a:ext cx="1901952" cy="256032"/>
          </a:xfrm>
          <a:prstGeom prst="roundRect">
            <a:avLst>
              <a:gd name="adj" fmla="val 17857"/>
            </a:avLst>
          </a:prstGeom>
          <a:solidFill>
            <a:srgbClr val="E3EEF8"/>
          </a:solidFill>
          <a:ln w="12700">
            <a:solidFill>
              <a:srgbClr val="306998"/>
            </a:solidFill>
            <a:prstDash val="solid"/>
          </a:ln>
        </p:spPr>
      </p:sp>
      <p:sp>
        <p:nvSpPr>
          <p:cNvPr id="67" name="eht|b9"/>
          <p:cNvSpPr txBox="1"/>
          <p:nvPr/>
        </p:nvSpPr>
        <p:spPr>
          <a:xfrm>
            <a:off x="448056" y="3941064"/>
            <a:ext cx="1828800" cy="256032"/>
          </a:xfrm>
          <a:prstGeom prst="rect">
            <a:avLst/>
          </a:prstGeom>
          <a:noFill/>
          <a:ln/>
        </p:spPr>
        <p:txBody>
          <a:bodyPr wrap="square" lIns="0" tIns="0" rIns="0" bIns="0" rtlCol="0" anchor="ct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TypeError</a:t>
            </a:r>
            <a:endParaRPr lang="en-US" sz="1000" dirty="0"/>
          </a:p>
        </p:txBody>
      </p:sp>
      <p:sp>
        <p:nvSpPr>
          <p:cNvPr id="68" name="arrow|b9"/>
          <p:cNvSpPr/>
          <p:nvPr/>
        </p:nvSpPr>
        <p:spPr>
          <a:xfrm>
            <a:off x="2313432" y="4069080"/>
            <a:ext cx="91440" cy="0"/>
          </a:xfrm>
          <a:prstGeom prst="line">
            <a:avLst/>
          </a:prstGeom>
          <a:noFill/>
          <a:ln w="12700">
            <a:solidFill>
              <a:srgbClr val="9AA8B8"/>
            </a:solidFill>
            <a:prstDash val="solid"/>
            <a:tailEnd type="triangle"/>
          </a:ln>
        </p:spPr>
      </p:sp>
      <p:sp>
        <p:nvSpPr>
          <p:cNvPr id="69" name="ehb|b9"/>
          <p:cNvSpPr/>
          <p:nvPr/>
        </p:nvSpPr>
        <p:spPr>
          <a:xfrm>
            <a:off x="2404872" y="3941064"/>
            <a:ext cx="1901952" cy="256032"/>
          </a:xfrm>
          <a:prstGeom prst="roundRect">
            <a:avLst>
              <a:gd name="adj" fmla="val 17857"/>
            </a:avLst>
          </a:prstGeom>
          <a:solidFill>
            <a:srgbClr val="F1F4F8"/>
          </a:solidFill>
          <a:ln w="12700">
            <a:solidFill>
              <a:srgbClr val="9AA8B8"/>
            </a:solidFill>
            <a:prstDash val="solid"/>
          </a:ln>
        </p:spPr>
      </p:sp>
      <p:sp>
        <p:nvSpPr>
          <p:cNvPr id="70" name="eht|b9"/>
          <p:cNvSpPr txBox="1"/>
          <p:nvPr/>
        </p:nvSpPr>
        <p:spPr>
          <a:xfrm>
            <a:off x="2441448" y="3941064"/>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Exception</a:t>
            </a:r>
            <a:endParaRPr lang="en-US" sz="1000" dirty="0"/>
          </a:p>
        </p:txBody>
      </p:sp>
      <p:sp>
        <p:nvSpPr>
          <p:cNvPr id="71" name="arrow|b9"/>
          <p:cNvSpPr/>
          <p:nvPr/>
        </p:nvSpPr>
        <p:spPr>
          <a:xfrm>
            <a:off x="4306824" y="4069080"/>
            <a:ext cx="91440" cy="0"/>
          </a:xfrm>
          <a:prstGeom prst="line">
            <a:avLst/>
          </a:prstGeom>
          <a:noFill/>
          <a:ln w="12700">
            <a:solidFill>
              <a:srgbClr val="9AA8B8"/>
            </a:solidFill>
            <a:prstDash val="solid"/>
            <a:tailEnd type="triangle"/>
          </a:ln>
        </p:spPr>
      </p:sp>
      <p:sp>
        <p:nvSpPr>
          <p:cNvPr id="72" name="ehb|b9"/>
          <p:cNvSpPr/>
          <p:nvPr/>
        </p:nvSpPr>
        <p:spPr>
          <a:xfrm>
            <a:off x="4398264" y="3941064"/>
            <a:ext cx="1901952" cy="256032"/>
          </a:xfrm>
          <a:prstGeom prst="roundRect">
            <a:avLst>
              <a:gd name="adj" fmla="val 17857"/>
            </a:avLst>
          </a:prstGeom>
          <a:solidFill>
            <a:srgbClr val="F1F4F8"/>
          </a:solidFill>
          <a:ln w="12700">
            <a:solidFill>
              <a:srgbClr val="9AA8B8"/>
            </a:solidFill>
            <a:prstDash val="solid"/>
          </a:ln>
        </p:spPr>
      </p:sp>
      <p:sp>
        <p:nvSpPr>
          <p:cNvPr id="73" name="eht|b9"/>
          <p:cNvSpPr txBox="1"/>
          <p:nvPr/>
        </p:nvSpPr>
        <p:spPr>
          <a:xfrm>
            <a:off x="4434840" y="3941064"/>
            <a:ext cx="1828800" cy="256032"/>
          </a:xfrm>
          <a:prstGeom prst="rect">
            <a:avLst/>
          </a:prstGeom>
          <a:noFill/>
          <a:ln/>
        </p:spPr>
        <p:txBody>
          <a:bodyPr wrap="square" lIns="0" tIns="0" rIns="0" bIns="0" rtlCol="0" anchor="ctr"/>
          <a:lstStyle/>
          <a:p>
            <a:pPr algn="ctr" indent="0" marL="0">
              <a:buNone/>
            </a:pPr>
            <a:r>
              <a:rPr lang="en-US" sz="1000" dirty="0">
                <a:solidFill>
                  <a:srgbClr val="1F2933"/>
                </a:solidFill>
                <a:latin typeface="Courier New" pitchFamily="34" charset="0"/>
                <a:ea typeface="Courier New" pitchFamily="34" charset="-122"/>
                <a:cs typeface="Courier New" pitchFamily="34" charset="-120"/>
              </a:rPr>
              <a:t>BaseException</a:t>
            </a:r>
            <a:endParaRPr lang="en-US" sz="1000" dirty="0"/>
          </a:p>
        </p:txBody>
      </p:sp>
      <p:sp>
        <p:nvSpPr>
          <p:cNvPr id="74" name="ehcap|b10"/>
          <p:cNvSpPr txBox="1"/>
          <p:nvPr/>
        </p:nvSpPr>
        <p:spPr>
          <a:xfrm>
            <a:off x="411480" y="4279392"/>
            <a:ext cx="8321040" cy="310896"/>
          </a:xfrm>
          <a:prstGeom prst="rect">
            <a:avLst/>
          </a:prstGeom>
          <a:noFill/>
          <a:ln/>
        </p:spPr>
        <p:txBody>
          <a:bodyPr wrap="square" lIns="0" tIns="0" rIns="0" bIns="0" rtlCol="0" anchor="ctr"/>
          <a:lstStyle/>
          <a:p>
            <a:pPr indent="0" marL="0">
              <a:buNone/>
            </a:pPr>
            <a:r>
              <a:rPr lang="en-US" sz="950" b="1" dirty="0">
                <a:solidFill>
                  <a:srgbClr val="B7791F"/>
                </a:solidFill>
                <a:latin typeface="Calibri" pitchFamily="34" charset="0"/>
                <a:ea typeface="Calibri" pitchFamily="34" charset="-122"/>
                <a:cs typeface="Calibri" pitchFamily="34" charset="-120"/>
              </a:rPr>
              <a:t>Read each row from the left: the class, then every class it is a kind of. Only the two on the right of the line are outside Exception, which is why except Exception does not catch them.</a:t>
            </a:r>
            <a:endParaRPr lang="en-US" sz="950" dirty="0"/>
          </a:p>
        </p:txBody>
      </p:sp>
      <p:sp>
        <p:nvSpPr>
          <p:cNvPr id="7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Error handling  &gt;  Exceptions</a:t>
            </a:r>
            <a:endParaRPr lang="en-US" sz="950" dirty="0"/>
          </a:p>
        </p:txBody>
      </p:sp>
      <p:sp>
        <p:nvSpPr>
          <p:cNvPr id="7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drawn from a 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childTnLst>
                          </p:cTn>
                        </p:par>
                      </p:childTnLst>
                    </p:cTn>
                  </p:par>
                  <p:par>
                    <p:cTn id="62" fill="hold">
                      <p:stCondLst>
                        <p:cond delay="indefinite"/>
                      </p:stCondLst>
                      <p:childTnLst>
                        <p:par>
                          <p:cTn id="63"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par>
                                <p:cTn id="47" presetID="10"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childTnLst>
                          </p:cTn>
                        </p:par>
                      </p:childTnLst>
                    </p:cTn>
                  </p:par>
                  <p:par>
                    <p:cTn id="88" fill="hold">
                      <p:stCondLst>
                        <p:cond delay="indefinite"/>
                      </p:stCondLst>
                      <p:childTnLst>
                        <p:par>
                          <p:cTn id="89"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00"/>
                                        <p:tgtEl>
                                          <p:spTgt spid="27"/>
                                        </p:tgtEl>
                                      </p:cBhvr>
                                    </p:animEffect>
                                  </p:childTnLst>
                                </p:cTn>
                              </p:par>
                              <p:par>
                                <p:cTn id="70" presetID="10" presetClass="entr" presetSubtype="0" fill="hold"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00"/>
                                        <p:tgtEl>
                                          <p:spTgt spid="28"/>
                                        </p:tgtEl>
                                      </p:cBhvr>
                                    </p:animEffect>
                                  </p:childTnLst>
                                </p:cTn>
                              </p:par>
                              <p:par>
                                <p:cTn id="73" presetID="10" presetClass="entr" presetSubtype="0"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0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400"/>
                                        <p:tgtEl>
                                          <p:spTgt spid="30"/>
                                        </p:tgtEl>
                                      </p:cBhvr>
                                    </p:animEffect>
                                  </p:childTnLst>
                                </p:cTn>
                              </p:par>
                              <p:par>
                                <p:cTn id="79" presetID="10" presetClass="entr" presetSubtype="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400"/>
                                        <p:tgtEl>
                                          <p:spTgt spid="31"/>
                                        </p:tgtEl>
                                      </p:cBhvr>
                                    </p:animEffect>
                                  </p:childTnLst>
                                </p:cTn>
                              </p:par>
                              <p:par>
                                <p:cTn id="82" presetID="10" presetClass="entr" presetSubtype="0" fill="hold"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00"/>
                                        <p:tgtEl>
                                          <p:spTgt spid="3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400"/>
                                        <p:tgtEl>
                                          <p:spTgt spid="33"/>
                                        </p:tgtEl>
                                      </p:cBhvr>
                                    </p:animEffect>
                                  </p:childTnLst>
                                </p:cTn>
                              </p:par>
                            </p:childTnLst>
                          </p:cTn>
                        </p:par>
                      </p:childTnLst>
                    </p:cTn>
                  </p:par>
                  <p:par>
                    <p:cTn id="123" fill="hold">
                      <p:stCondLst>
                        <p:cond delay="indefinite"/>
                      </p:stCondLst>
                      <p:childTnLst>
                        <p:par>
                          <p:cTn id="124"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40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400"/>
                                        <p:tgtEl>
                                          <p:spTgt spid="35"/>
                                        </p:tgtEl>
                                      </p:cBhvr>
                                    </p:animEffect>
                                  </p:childTnLst>
                                </p:cTn>
                              </p:par>
                              <p:par>
                                <p:cTn id="96" presetID="10" presetClass="entr" presetSubtype="0" fill="hold"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00"/>
                                        <p:tgtEl>
                                          <p:spTgt spid="36"/>
                                        </p:tgtEl>
                                      </p:cBhvr>
                                    </p:animEffect>
                                  </p:childTnLst>
                                </p:cTn>
                              </p:par>
                              <p:par>
                                <p:cTn id="99" presetID="10" presetClass="entr" presetSubtype="0" fill="hold"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400"/>
                                        <p:tgtEl>
                                          <p:spTgt spid="3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400"/>
                                        <p:tgtEl>
                                          <p:spTgt spid="38"/>
                                        </p:tgtEl>
                                      </p:cBhvr>
                                    </p:animEffect>
                                  </p:childTnLst>
                                </p:cTn>
                              </p:par>
                              <p:par>
                                <p:cTn id="105" presetID="10" presetClass="entr" presetSubtype="0" fill="hold"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400"/>
                                        <p:tgtEl>
                                          <p:spTgt spid="39"/>
                                        </p:tgtEl>
                                      </p:cBhvr>
                                    </p:animEffect>
                                  </p:childTnLst>
                                </p:cTn>
                              </p:par>
                              <p:par>
                                <p:cTn id="108" presetID="10" presetClass="entr" presetSubtype="0" fill="hold"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40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400"/>
                                        <p:tgtEl>
                                          <p:spTgt spid="41"/>
                                        </p:tgtEl>
                                      </p:cBhvr>
                                    </p:animEffect>
                                  </p:childTnLst>
                                </p:cTn>
                              </p:par>
                              <p:par>
                                <p:cTn id="114" presetID="10" presetClass="entr" presetSubtype="0" fill="hold"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400"/>
                                        <p:tgtEl>
                                          <p:spTgt spid="42"/>
                                        </p:tgtEl>
                                      </p:cBhvr>
                                    </p:animEffect>
                                  </p:childTnLst>
                                </p:cTn>
                              </p:par>
                              <p:par>
                                <p:cTn id="117" presetID="10" presetClass="entr" presetSubtype="0" fill="hold" nodeType="with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400"/>
                                        <p:tgtEl>
                                          <p:spTgt spid="4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400"/>
                                        <p:tgtEl>
                                          <p:spTgt spid="44"/>
                                        </p:tgtEl>
                                      </p:cBhvr>
                                    </p:animEffect>
                                  </p:childTnLst>
                                </p:cTn>
                              </p:par>
                            </p:childTnLst>
                          </p:cTn>
                        </p:par>
                      </p:childTnLst>
                    </p:cTn>
                  </p:par>
                  <p:par>
                    <p:cTn id="140" fill="hold">
                      <p:stCondLst>
                        <p:cond delay="indefinite"/>
                      </p:stCondLst>
                      <p:childTnLst>
                        <p:par>
                          <p:cTn id="141"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400"/>
                                        <p:tgtEl>
                                          <p:spTgt spid="45"/>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400"/>
                                        <p:tgtEl>
                                          <p:spTgt spid="46"/>
                                        </p:tgtEl>
                                      </p:cBhvr>
                                    </p:animEffect>
                                  </p:childTnLst>
                                </p:cTn>
                              </p:par>
                              <p:par>
                                <p:cTn id="131" presetID="10" presetClass="entr" presetSubtype="0" fill="hold" nodeType="withEffect">
                                  <p:stCondLst>
                                    <p:cond delay="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400"/>
                                        <p:tgtEl>
                                          <p:spTgt spid="47"/>
                                        </p:tgtEl>
                                      </p:cBhvr>
                                    </p:animEffect>
                                  </p:childTnLst>
                                </p:cTn>
                              </p:par>
                              <p:par>
                                <p:cTn id="134" presetID="10" presetClass="entr" presetSubtype="0" fill="hold" nodeType="withEffect">
                                  <p:stCondLst>
                                    <p:cond delay="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400"/>
                                        <p:tgtEl>
                                          <p:spTgt spid="48"/>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400"/>
                                        <p:tgtEl>
                                          <p:spTgt spid="49"/>
                                        </p:tgtEl>
                                      </p:cBhvr>
                                    </p:animEffect>
                                  </p:childTnLst>
                                </p:cTn>
                              </p:par>
                            </p:childTnLst>
                          </p:cTn>
                        </p:par>
                      </p:childTnLst>
                    </p:cTn>
                  </p:par>
                  <p:par>
                    <p:cTn id="157" fill="hold">
                      <p:stCondLst>
                        <p:cond delay="indefinite"/>
                      </p:stCondLst>
                      <p:childTnLst>
                        <p:par>
                          <p:cTn id="158" fill="hold">
                            <p:stCondLst>
                              <p:cond delay="0"/>
                            </p:stCondLst>
                            <p:childTnLst>
                              <p:par>
                                <p:cTn id="142" presetID="10" presetClass="entr" presetSubtype="0" fill="hold" nodeType="clickEffect">
                                  <p:stCondLst>
                                    <p:cond delay="0"/>
                                  </p:stCondLst>
                                  <p:childTnLst>
                                    <p:set>
                                      <p:cBhvr>
                                        <p:cTn id="143" dur="1" fill="hold">
                                          <p:stCondLst>
                                            <p:cond delay="0"/>
                                          </p:stCondLst>
                                        </p:cTn>
                                        <p:tgtEl>
                                          <p:spTgt spid="50"/>
                                        </p:tgtEl>
                                        <p:attrNameLst>
                                          <p:attrName>style.visibility</p:attrName>
                                        </p:attrNameLst>
                                      </p:cBhvr>
                                      <p:to>
                                        <p:strVal val="visible"/>
                                      </p:to>
                                    </p:set>
                                    <p:animEffect transition="in" filter="fade">
                                      <p:cBhvr>
                                        <p:cTn id="144" dur="400"/>
                                        <p:tgtEl>
                                          <p:spTgt spid="50"/>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1"/>
                                        </p:tgtEl>
                                        <p:attrNameLst>
                                          <p:attrName>style.visibility</p:attrName>
                                        </p:attrNameLst>
                                      </p:cBhvr>
                                      <p:to>
                                        <p:strVal val="visible"/>
                                      </p:to>
                                    </p:set>
                                    <p:animEffect transition="in" filter="fade">
                                      <p:cBhvr>
                                        <p:cTn id="147" dur="400"/>
                                        <p:tgtEl>
                                          <p:spTgt spid="51"/>
                                        </p:tgtEl>
                                      </p:cBhvr>
                                    </p:animEffect>
                                  </p:childTnLst>
                                </p:cTn>
                              </p:par>
                              <p:par>
                                <p:cTn id="148" presetID="10" presetClass="entr" presetSubtype="0" fill="hold" nodeType="withEffect">
                                  <p:stCondLst>
                                    <p:cond delay="0"/>
                                  </p:stCondLst>
                                  <p:childTnLst>
                                    <p:set>
                                      <p:cBhvr>
                                        <p:cTn id="149" dur="1" fill="hold">
                                          <p:stCondLst>
                                            <p:cond delay="0"/>
                                          </p:stCondLst>
                                        </p:cTn>
                                        <p:tgtEl>
                                          <p:spTgt spid="52"/>
                                        </p:tgtEl>
                                        <p:attrNameLst>
                                          <p:attrName>style.visibility</p:attrName>
                                        </p:attrNameLst>
                                      </p:cBhvr>
                                      <p:to>
                                        <p:strVal val="visible"/>
                                      </p:to>
                                    </p:set>
                                    <p:animEffect transition="in" filter="fade">
                                      <p:cBhvr>
                                        <p:cTn id="150" dur="400"/>
                                        <p:tgtEl>
                                          <p:spTgt spid="52"/>
                                        </p:tgtEl>
                                      </p:cBhvr>
                                    </p:animEffect>
                                  </p:childTnLst>
                                </p:cTn>
                              </p:par>
                              <p:par>
                                <p:cTn id="151" presetID="10" presetClass="entr" presetSubtype="0" fill="hold" nodeType="withEffect">
                                  <p:stCondLst>
                                    <p:cond delay="0"/>
                                  </p:stCondLst>
                                  <p:childTnLst>
                                    <p:set>
                                      <p:cBhvr>
                                        <p:cTn id="152" dur="1" fill="hold">
                                          <p:stCondLst>
                                            <p:cond delay="0"/>
                                          </p:stCondLst>
                                        </p:cTn>
                                        <p:tgtEl>
                                          <p:spTgt spid="53"/>
                                        </p:tgtEl>
                                        <p:attrNameLst>
                                          <p:attrName>style.visibility</p:attrName>
                                        </p:attrNameLst>
                                      </p:cBhvr>
                                      <p:to>
                                        <p:strVal val="visible"/>
                                      </p:to>
                                    </p:set>
                                    <p:animEffect transition="in" filter="fade">
                                      <p:cBhvr>
                                        <p:cTn id="153" dur="400"/>
                                        <p:tgtEl>
                                          <p:spTgt spid="53"/>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4"/>
                                        </p:tgtEl>
                                        <p:attrNameLst>
                                          <p:attrName>style.visibility</p:attrName>
                                        </p:attrNameLst>
                                      </p:cBhvr>
                                      <p:to>
                                        <p:strVal val="visible"/>
                                      </p:to>
                                    </p:set>
                                    <p:animEffect transition="in" filter="fade">
                                      <p:cBhvr>
                                        <p:cTn id="156" dur="400"/>
                                        <p:tgtEl>
                                          <p:spTgt spid="54"/>
                                        </p:tgtEl>
                                      </p:cBhvr>
                                    </p:animEffect>
                                  </p:childTnLst>
                                </p:cTn>
                              </p:par>
                            </p:childTnLst>
                          </p:cTn>
                        </p:par>
                      </p:childTnLst>
                    </p:cTn>
                  </p:par>
                  <p:par>
                    <p:cTn id="192" fill="hold">
                      <p:stCondLst>
                        <p:cond delay="indefinite"/>
                      </p:stCondLst>
                      <p:childTnLst>
                        <p:par>
                          <p:cTn id="193" fill="hold">
                            <p:stCondLst>
                              <p:cond delay="0"/>
                            </p:stCondLst>
                            <p:childTnLst>
                              <p:par>
                                <p:cTn id="159" presetID="10" presetClass="entr" presetSubtype="0" fill="hold" nodeType="clickEffect">
                                  <p:stCondLst>
                                    <p:cond delay="0"/>
                                  </p:stCondLst>
                                  <p:childTnLst>
                                    <p:set>
                                      <p:cBhvr>
                                        <p:cTn id="160" dur="1" fill="hold">
                                          <p:stCondLst>
                                            <p:cond delay="0"/>
                                          </p:stCondLst>
                                        </p:cTn>
                                        <p:tgtEl>
                                          <p:spTgt spid="55"/>
                                        </p:tgtEl>
                                        <p:attrNameLst>
                                          <p:attrName>style.visibility</p:attrName>
                                        </p:attrNameLst>
                                      </p:cBhvr>
                                      <p:to>
                                        <p:strVal val="visible"/>
                                      </p:to>
                                    </p:set>
                                    <p:animEffect transition="in" filter="fade">
                                      <p:cBhvr>
                                        <p:cTn id="161" dur="400"/>
                                        <p:tgtEl>
                                          <p:spTgt spid="55"/>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6"/>
                                        </p:tgtEl>
                                        <p:attrNameLst>
                                          <p:attrName>style.visibility</p:attrName>
                                        </p:attrNameLst>
                                      </p:cBhvr>
                                      <p:to>
                                        <p:strVal val="visible"/>
                                      </p:to>
                                    </p:set>
                                    <p:animEffect transition="in" filter="fade">
                                      <p:cBhvr>
                                        <p:cTn id="164" dur="400"/>
                                        <p:tgtEl>
                                          <p:spTgt spid="56"/>
                                        </p:tgtEl>
                                      </p:cBhvr>
                                    </p:animEffect>
                                  </p:childTnLst>
                                </p:cTn>
                              </p:par>
                              <p:par>
                                <p:cTn id="165" presetID="10" presetClass="entr" presetSubtype="0" fill="hold" nodeType="withEffect">
                                  <p:stCondLst>
                                    <p:cond delay="0"/>
                                  </p:stCondLst>
                                  <p:childTnLst>
                                    <p:set>
                                      <p:cBhvr>
                                        <p:cTn id="166" dur="1" fill="hold">
                                          <p:stCondLst>
                                            <p:cond delay="0"/>
                                          </p:stCondLst>
                                        </p:cTn>
                                        <p:tgtEl>
                                          <p:spTgt spid="57"/>
                                        </p:tgtEl>
                                        <p:attrNameLst>
                                          <p:attrName>style.visibility</p:attrName>
                                        </p:attrNameLst>
                                      </p:cBhvr>
                                      <p:to>
                                        <p:strVal val="visible"/>
                                      </p:to>
                                    </p:set>
                                    <p:animEffect transition="in" filter="fade">
                                      <p:cBhvr>
                                        <p:cTn id="167" dur="400"/>
                                        <p:tgtEl>
                                          <p:spTgt spid="57"/>
                                        </p:tgtEl>
                                      </p:cBhvr>
                                    </p:animEffect>
                                  </p:childTnLst>
                                </p:cTn>
                              </p:par>
                              <p:par>
                                <p:cTn id="168" presetID="10" presetClass="entr" presetSubtype="0" fill="hold" nodeType="withEffect">
                                  <p:stCondLst>
                                    <p:cond delay="0"/>
                                  </p:stCondLst>
                                  <p:childTnLst>
                                    <p:set>
                                      <p:cBhvr>
                                        <p:cTn id="169" dur="1" fill="hold">
                                          <p:stCondLst>
                                            <p:cond delay="0"/>
                                          </p:stCondLst>
                                        </p:cTn>
                                        <p:tgtEl>
                                          <p:spTgt spid="58"/>
                                        </p:tgtEl>
                                        <p:attrNameLst>
                                          <p:attrName>style.visibility</p:attrName>
                                        </p:attrNameLst>
                                      </p:cBhvr>
                                      <p:to>
                                        <p:strVal val="visible"/>
                                      </p:to>
                                    </p:set>
                                    <p:animEffect transition="in" filter="fade">
                                      <p:cBhvr>
                                        <p:cTn id="170" dur="400"/>
                                        <p:tgtEl>
                                          <p:spTgt spid="58"/>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59"/>
                                        </p:tgtEl>
                                        <p:attrNameLst>
                                          <p:attrName>style.visibility</p:attrName>
                                        </p:attrNameLst>
                                      </p:cBhvr>
                                      <p:to>
                                        <p:strVal val="visible"/>
                                      </p:to>
                                    </p:set>
                                    <p:animEffect transition="in" filter="fade">
                                      <p:cBhvr>
                                        <p:cTn id="173" dur="400"/>
                                        <p:tgtEl>
                                          <p:spTgt spid="59"/>
                                        </p:tgtEl>
                                      </p:cBhvr>
                                    </p:animEffect>
                                  </p:childTnLst>
                                </p:cTn>
                              </p:par>
                              <p:par>
                                <p:cTn id="174" presetID="10" presetClass="entr" presetSubtype="0" fill="hold" nodeType="withEffect">
                                  <p:stCondLst>
                                    <p:cond delay="0"/>
                                  </p:stCondLst>
                                  <p:childTnLst>
                                    <p:set>
                                      <p:cBhvr>
                                        <p:cTn id="175" dur="1" fill="hold">
                                          <p:stCondLst>
                                            <p:cond delay="0"/>
                                          </p:stCondLst>
                                        </p:cTn>
                                        <p:tgtEl>
                                          <p:spTgt spid="60"/>
                                        </p:tgtEl>
                                        <p:attrNameLst>
                                          <p:attrName>style.visibility</p:attrName>
                                        </p:attrNameLst>
                                      </p:cBhvr>
                                      <p:to>
                                        <p:strVal val="visible"/>
                                      </p:to>
                                    </p:set>
                                    <p:animEffect transition="in" filter="fade">
                                      <p:cBhvr>
                                        <p:cTn id="176" dur="400"/>
                                        <p:tgtEl>
                                          <p:spTgt spid="60"/>
                                        </p:tgtEl>
                                      </p:cBhvr>
                                    </p:animEffect>
                                  </p:childTnLst>
                                </p:cTn>
                              </p:par>
                              <p:par>
                                <p:cTn id="177" presetID="10" presetClass="entr" presetSubtype="0" fill="hold" nodeType="withEffect">
                                  <p:stCondLst>
                                    <p:cond delay="0"/>
                                  </p:stCondLst>
                                  <p:childTnLst>
                                    <p:set>
                                      <p:cBhvr>
                                        <p:cTn id="178" dur="1" fill="hold">
                                          <p:stCondLst>
                                            <p:cond delay="0"/>
                                          </p:stCondLst>
                                        </p:cTn>
                                        <p:tgtEl>
                                          <p:spTgt spid="61"/>
                                        </p:tgtEl>
                                        <p:attrNameLst>
                                          <p:attrName>style.visibility</p:attrName>
                                        </p:attrNameLst>
                                      </p:cBhvr>
                                      <p:to>
                                        <p:strVal val="visible"/>
                                      </p:to>
                                    </p:set>
                                    <p:animEffect transition="in" filter="fade">
                                      <p:cBhvr>
                                        <p:cTn id="179" dur="400"/>
                                        <p:tgtEl>
                                          <p:spTgt spid="6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2"/>
                                        </p:tgtEl>
                                        <p:attrNameLst>
                                          <p:attrName>style.visibility</p:attrName>
                                        </p:attrNameLst>
                                      </p:cBhvr>
                                      <p:to>
                                        <p:strVal val="visible"/>
                                      </p:to>
                                    </p:set>
                                    <p:animEffect transition="in" filter="fade">
                                      <p:cBhvr>
                                        <p:cTn id="182" dur="400"/>
                                        <p:tgtEl>
                                          <p:spTgt spid="62"/>
                                        </p:tgtEl>
                                      </p:cBhvr>
                                    </p:animEffect>
                                  </p:childTnLst>
                                </p:cTn>
                              </p:par>
                              <p:par>
                                <p:cTn id="183" presetID="10" presetClass="entr" presetSubtype="0" fill="hold" nodeType="withEffect">
                                  <p:stCondLst>
                                    <p:cond delay="0"/>
                                  </p:stCondLst>
                                  <p:childTnLst>
                                    <p:set>
                                      <p:cBhvr>
                                        <p:cTn id="184" dur="1" fill="hold">
                                          <p:stCondLst>
                                            <p:cond delay="0"/>
                                          </p:stCondLst>
                                        </p:cTn>
                                        <p:tgtEl>
                                          <p:spTgt spid="63"/>
                                        </p:tgtEl>
                                        <p:attrNameLst>
                                          <p:attrName>style.visibility</p:attrName>
                                        </p:attrNameLst>
                                      </p:cBhvr>
                                      <p:to>
                                        <p:strVal val="visible"/>
                                      </p:to>
                                    </p:set>
                                    <p:animEffect transition="in" filter="fade">
                                      <p:cBhvr>
                                        <p:cTn id="185" dur="400"/>
                                        <p:tgtEl>
                                          <p:spTgt spid="63"/>
                                        </p:tgtEl>
                                      </p:cBhvr>
                                    </p:animEffect>
                                  </p:childTnLst>
                                </p:cTn>
                              </p:par>
                              <p:par>
                                <p:cTn id="186" presetID="10" presetClass="entr" presetSubtype="0" fill="hold" nodeType="withEffect">
                                  <p:stCondLst>
                                    <p:cond delay="0"/>
                                  </p:stCondLst>
                                  <p:childTnLst>
                                    <p:set>
                                      <p:cBhvr>
                                        <p:cTn id="187" dur="1" fill="hold">
                                          <p:stCondLst>
                                            <p:cond delay="0"/>
                                          </p:stCondLst>
                                        </p:cTn>
                                        <p:tgtEl>
                                          <p:spTgt spid="64"/>
                                        </p:tgtEl>
                                        <p:attrNameLst>
                                          <p:attrName>style.visibility</p:attrName>
                                        </p:attrNameLst>
                                      </p:cBhvr>
                                      <p:to>
                                        <p:strVal val="visible"/>
                                      </p:to>
                                    </p:set>
                                    <p:animEffect transition="in" filter="fade">
                                      <p:cBhvr>
                                        <p:cTn id="188" dur="400"/>
                                        <p:tgtEl>
                                          <p:spTgt spid="64"/>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65"/>
                                        </p:tgtEl>
                                        <p:attrNameLst>
                                          <p:attrName>style.visibility</p:attrName>
                                        </p:attrNameLst>
                                      </p:cBhvr>
                                      <p:to>
                                        <p:strVal val="visible"/>
                                      </p:to>
                                    </p:set>
                                    <p:animEffect transition="in" filter="fade">
                                      <p:cBhvr>
                                        <p:cTn id="191" dur="400"/>
                                        <p:tgtEl>
                                          <p:spTgt spid="65"/>
                                        </p:tgtEl>
                                      </p:cBhvr>
                                    </p:animEffect>
                                  </p:childTnLst>
                                </p:cTn>
                              </p:par>
                            </p:childTnLst>
                          </p:cTn>
                        </p:par>
                      </p:childTnLst>
                    </p:cTn>
                  </p:par>
                  <p:par>
                    <p:cTn id="218" fill="hold">
                      <p:stCondLst>
                        <p:cond delay="indefinite"/>
                      </p:stCondLst>
                      <p:childTnLst>
                        <p:par>
                          <p:cTn id="219" fill="hold">
                            <p:stCondLst>
                              <p:cond delay="0"/>
                            </p:stCondLst>
                            <p:childTnLst>
                              <p:par>
                                <p:cTn id="194" presetID="10" presetClass="entr" presetSubtype="0" fill="hold" nodeType="clickEffect">
                                  <p:stCondLst>
                                    <p:cond delay="0"/>
                                  </p:stCondLst>
                                  <p:childTnLst>
                                    <p:set>
                                      <p:cBhvr>
                                        <p:cTn id="195" dur="1" fill="hold">
                                          <p:stCondLst>
                                            <p:cond delay="0"/>
                                          </p:stCondLst>
                                        </p:cTn>
                                        <p:tgtEl>
                                          <p:spTgt spid="66"/>
                                        </p:tgtEl>
                                        <p:attrNameLst>
                                          <p:attrName>style.visibility</p:attrName>
                                        </p:attrNameLst>
                                      </p:cBhvr>
                                      <p:to>
                                        <p:strVal val="visible"/>
                                      </p:to>
                                    </p:set>
                                    <p:animEffect transition="in" filter="fade">
                                      <p:cBhvr>
                                        <p:cTn id="196" dur="400"/>
                                        <p:tgtEl>
                                          <p:spTgt spid="66"/>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67"/>
                                        </p:tgtEl>
                                        <p:attrNameLst>
                                          <p:attrName>style.visibility</p:attrName>
                                        </p:attrNameLst>
                                      </p:cBhvr>
                                      <p:to>
                                        <p:strVal val="visible"/>
                                      </p:to>
                                    </p:set>
                                    <p:animEffect transition="in" filter="fade">
                                      <p:cBhvr>
                                        <p:cTn id="199" dur="400"/>
                                        <p:tgtEl>
                                          <p:spTgt spid="67"/>
                                        </p:tgtEl>
                                      </p:cBhvr>
                                    </p:animEffect>
                                  </p:childTnLst>
                                </p:cTn>
                              </p:par>
                              <p:par>
                                <p:cTn id="200" presetID="10" presetClass="entr" presetSubtype="0" fill="hold" nodeType="withEffect">
                                  <p:stCondLst>
                                    <p:cond delay="0"/>
                                  </p:stCondLst>
                                  <p:childTnLst>
                                    <p:set>
                                      <p:cBhvr>
                                        <p:cTn id="201" dur="1" fill="hold">
                                          <p:stCondLst>
                                            <p:cond delay="0"/>
                                          </p:stCondLst>
                                        </p:cTn>
                                        <p:tgtEl>
                                          <p:spTgt spid="68"/>
                                        </p:tgtEl>
                                        <p:attrNameLst>
                                          <p:attrName>style.visibility</p:attrName>
                                        </p:attrNameLst>
                                      </p:cBhvr>
                                      <p:to>
                                        <p:strVal val="visible"/>
                                      </p:to>
                                    </p:set>
                                    <p:animEffect transition="in" filter="fade">
                                      <p:cBhvr>
                                        <p:cTn id="202" dur="400"/>
                                        <p:tgtEl>
                                          <p:spTgt spid="68"/>
                                        </p:tgtEl>
                                      </p:cBhvr>
                                    </p:animEffect>
                                  </p:childTnLst>
                                </p:cTn>
                              </p:par>
                              <p:par>
                                <p:cTn id="203" presetID="10" presetClass="entr" presetSubtype="0" fill="hold" nodeType="withEffect">
                                  <p:stCondLst>
                                    <p:cond delay="0"/>
                                  </p:stCondLst>
                                  <p:childTnLst>
                                    <p:set>
                                      <p:cBhvr>
                                        <p:cTn id="204" dur="1" fill="hold">
                                          <p:stCondLst>
                                            <p:cond delay="0"/>
                                          </p:stCondLst>
                                        </p:cTn>
                                        <p:tgtEl>
                                          <p:spTgt spid="69"/>
                                        </p:tgtEl>
                                        <p:attrNameLst>
                                          <p:attrName>style.visibility</p:attrName>
                                        </p:attrNameLst>
                                      </p:cBhvr>
                                      <p:to>
                                        <p:strVal val="visible"/>
                                      </p:to>
                                    </p:set>
                                    <p:animEffect transition="in" filter="fade">
                                      <p:cBhvr>
                                        <p:cTn id="205" dur="400"/>
                                        <p:tgtEl>
                                          <p:spTgt spid="69"/>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70"/>
                                        </p:tgtEl>
                                        <p:attrNameLst>
                                          <p:attrName>style.visibility</p:attrName>
                                        </p:attrNameLst>
                                      </p:cBhvr>
                                      <p:to>
                                        <p:strVal val="visible"/>
                                      </p:to>
                                    </p:set>
                                    <p:animEffect transition="in" filter="fade">
                                      <p:cBhvr>
                                        <p:cTn id="208" dur="400"/>
                                        <p:tgtEl>
                                          <p:spTgt spid="70"/>
                                        </p:tgtEl>
                                      </p:cBhvr>
                                    </p:animEffect>
                                  </p:childTnLst>
                                </p:cTn>
                              </p:par>
                              <p:par>
                                <p:cTn id="209" presetID="10" presetClass="entr" presetSubtype="0" fill="hold" nodeType="withEffect">
                                  <p:stCondLst>
                                    <p:cond delay="0"/>
                                  </p:stCondLst>
                                  <p:childTnLst>
                                    <p:set>
                                      <p:cBhvr>
                                        <p:cTn id="210" dur="1" fill="hold">
                                          <p:stCondLst>
                                            <p:cond delay="0"/>
                                          </p:stCondLst>
                                        </p:cTn>
                                        <p:tgtEl>
                                          <p:spTgt spid="71"/>
                                        </p:tgtEl>
                                        <p:attrNameLst>
                                          <p:attrName>style.visibility</p:attrName>
                                        </p:attrNameLst>
                                      </p:cBhvr>
                                      <p:to>
                                        <p:strVal val="visible"/>
                                      </p:to>
                                    </p:set>
                                    <p:animEffect transition="in" filter="fade">
                                      <p:cBhvr>
                                        <p:cTn id="211" dur="400"/>
                                        <p:tgtEl>
                                          <p:spTgt spid="71"/>
                                        </p:tgtEl>
                                      </p:cBhvr>
                                    </p:animEffect>
                                  </p:childTnLst>
                                </p:cTn>
                              </p:par>
                              <p:par>
                                <p:cTn id="212" presetID="10" presetClass="entr" presetSubtype="0" fill="hold" nodeType="withEffect">
                                  <p:stCondLst>
                                    <p:cond delay="0"/>
                                  </p:stCondLst>
                                  <p:childTnLst>
                                    <p:set>
                                      <p:cBhvr>
                                        <p:cTn id="213" dur="1" fill="hold">
                                          <p:stCondLst>
                                            <p:cond delay="0"/>
                                          </p:stCondLst>
                                        </p:cTn>
                                        <p:tgtEl>
                                          <p:spTgt spid="72"/>
                                        </p:tgtEl>
                                        <p:attrNameLst>
                                          <p:attrName>style.visibility</p:attrName>
                                        </p:attrNameLst>
                                      </p:cBhvr>
                                      <p:to>
                                        <p:strVal val="visible"/>
                                      </p:to>
                                    </p:set>
                                    <p:animEffect transition="in" filter="fade">
                                      <p:cBhvr>
                                        <p:cTn id="214" dur="400"/>
                                        <p:tgtEl>
                                          <p:spTgt spid="72"/>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73"/>
                                        </p:tgtEl>
                                        <p:attrNameLst>
                                          <p:attrName>style.visibility</p:attrName>
                                        </p:attrNameLst>
                                      </p:cBhvr>
                                      <p:to>
                                        <p:strVal val="visible"/>
                                      </p:to>
                                    </p:set>
                                    <p:animEffect transition="in" filter="fade">
                                      <p:cBhvr>
                                        <p:cTn id="217" dur="400"/>
                                        <p:tgtEl>
                                          <p:spTgt spid="73"/>
                                        </p:tgtEl>
                                      </p:cBhvr>
                                    </p:animEffect>
                                  </p:childTnLst>
                                </p:cTn>
                              </p:par>
                            </p:childTnLst>
                          </p:cTn>
                        </p:par>
                      </p:childTnLst>
                    </p:cTn>
                  </p:par>
                  <p:par>
                    <p:cTn id="223" fill="hold">
                      <p:stCondLst>
                        <p:cond delay="indefinite"/>
                      </p:stCondLst>
                      <p:childTnLst>
                        <p:par>
                          <p:cTn id="224" fill="hold">
                            <p:stCondLst>
                              <p:cond delay="0"/>
                            </p:stCondLst>
                            <p:childTnLst>
                              <p:par>
                                <p:cTn id="220" presetID="10" presetClass="entr" presetSubtype="0" fill="hold" grpId="0" nodeType="clickEffect">
                                  <p:stCondLst>
                                    <p:cond delay="0"/>
                                  </p:stCondLst>
                                  <p:childTnLst>
                                    <p:set>
                                      <p:cBhvr>
                                        <p:cTn id="221" dur="1" fill="hold">
                                          <p:stCondLst>
                                            <p:cond delay="0"/>
                                          </p:stCondLst>
                                        </p:cTn>
                                        <p:tgtEl>
                                          <p:spTgt spid="74"/>
                                        </p:tgtEl>
                                        <p:attrNameLst>
                                          <p:attrName>style.visibility</p:attrName>
                                        </p:attrNameLst>
                                      </p:cBhvr>
                                      <p:to>
                                        <p:strVal val="visible"/>
                                      </p:to>
                                    </p:set>
                                    <p:animEffect transition="in" filter="fade">
                                      <p:cBhvr>
                                        <p:cTn id="222"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7" grpId="0" animBg="1"/>
      <p:bldP spid="19" grpId="0" animBg="1"/>
      <p:bldP spid="22" grpId="0" animBg="1"/>
      <p:bldP spid="25" grpId="0" animBg="1"/>
      <p:bldP spid="27" grpId="0" animBg="1"/>
      <p:bldP spid="30" grpId="0" animBg="1"/>
      <p:bldP spid="33" grpId="0" animBg="1"/>
      <p:bldP spid="35" grpId="0" animBg="1"/>
      <p:bldP spid="38" grpId="0" animBg="1"/>
      <p:bldP spid="41" grpId="0" animBg="1"/>
      <p:bldP spid="44" grpId="0" animBg="1"/>
      <p:bldP spid="46" grpId="0" animBg="1"/>
      <p:bldP spid="49" grpId="0" animBg="1"/>
      <p:bldP spid="51" grpId="0" animBg="1"/>
      <p:bldP spid="54" grpId="0" animBg="1"/>
      <p:bldP spid="56" grpId="0" animBg="1"/>
      <p:bldP spid="59" grpId="0" animBg="1"/>
      <p:bldP spid="62" grpId="0" animBg="1"/>
      <p:bldP spid="65" grpId="0" animBg="1"/>
      <p:bldP spid="67" grpId="0" animBg="1"/>
      <p:bldP spid="70" grpId="0" animBg="1"/>
      <p:bldP spid="73" grpId="0" animBg="1"/>
      <p:bldP spid="7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Short programs</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400" i="1" dirty="0">
                <a:solidFill>
                  <a:srgbClr val="FFD43B"/>
                </a:solidFill>
                <a:latin typeface="Calibri" pitchFamily="34" charset="0"/>
                <a:ea typeface="Calibri" pitchFamily="34" charset="-122"/>
                <a:cs typeface="Calibri" pitchFamily="34" charset="-120"/>
              </a:rPr>
              <a:t>This branch collects the programs that the chapter uses to put its ideas to work. Two of them are short animation programs, zigzag and spike, which print lines of characters until the user stops them.</a:t>
            </a:r>
            <a:endParaRPr lang="en-US" sz="1400" dirty="0"/>
          </a:p>
        </p:txBody>
      </p:sp>
      <p:sp>
        <p:nvSpPr>
          <p:cNvPr id="4" name="br1|b1"/>
          <p:cNvSpPr/>
          <p:nvPr/>
        </p:nvSpPr>
        <p:spPr>
          <a:xfrm>
            <a:off x="457200" y="1828800"/>
            <a:ext cx="4050792"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Animation programs</a:t>
            </a:r>
            <a:endParaRPr lang="en-US" sz="1400" dirty="0"/>
          </a:p>
        </p:txBody>
      </p:sp>
      <p:sp>
        <p:nvSpPr>
          <p:cNvPr id="6" name="br2|b1"/>
          <p:cNvSpPr/>
          <p:nvPr/>
        </p:nvSpPr>
        <p:spPr>
          <a:xfrm>
            <a:off x="457200" y="2359152"/>
            <a:ext cx="4050792"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Zigzag program</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Spike program</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The time.sleep function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KeyboardInterrupt</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The sys.exit function</a:t>
            </a:r>
            <a:endParaRPr lang="en-US" sz="1200" dirty="0"/>
          </a:p>
        </p:txBody>
      </p:sp>
      <p:sp>
        <p:nvSpPr>
          <p:cNvPr id="8" name="br1|b2"/>
          <p:cNvSpPr/>
          <p:nvPr/>
        </p:nvSpPr>
        <p:spPr>
          <a:xfrm>
            <a:off x="4636008" y="1828800"/>
            <a:ext cx="4050792" cy="457200"/>
          </a:xfrm>
          <a:prstGeom prst="roundRect">
            <a:avLst>
              <a:gd name="adj" fmla="val 16000"/>
            </a:avLst>
          </a:prstGeom>
          <a:solidFill>
            <a:srgbClr val="FFD43B"/>
          </a:solidFill>
          <a:ln w="12700">
            <a:solidFill>
              <a:srgbClr val="FFD43B"/>
            </a:solidFill>
            <a:prstDash val="solid"/>
          </a:ln>
        </p:spPr>
      </p:sp>
      <p:sp>
        <p:nvSpPr>
          <p:cNvPr id="9" name="br1t|b2"/>
          <p:cNvSpPr txBox="1"/>
          <p:nvPr/>
        </p:nvSpPr>
        <p:spPr>
          <a:xfrm>
            <a:off x="4672584"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Practice programs</a:t>
            </a:r>
            <a:endParaRPr lang="en-US" sz="1400" dirty="0"/>
          </a:p>
        </p:txBody>
      </p:sp>
      <p:sp>
        <p:nvSpPr>
          <p:cNvPr id="10" name="br2|b2"/>
          <p:cNvSpPr/>
          <p:nvPr/>
        </p:nvSpPr>
        <p:spPr>
          <a:xfrm>
            <a:off x="4636008" y="2359152"/>
            <a:ext cx="4050792" cy="2121408"/>
          </a:xfrm>
          <a:prstGeom prst="roundRect">
            <a:avLst>
              <a:gd name="adj" fmla="val 3448"/>
            </a:avLst>
          </a:prstGeom>
          <a:solidFill>
            <a:srgbClr val="27374B"/>
          </a:solidFill>
          <a:ln w="12700">
            <a:solidFill>
              <a:srgbClr val="3B5B87"/>
            </a:solidFill>
            <a:prstDash val="solid"/>
          </a:ln>
        </p:spPr>
      </p:sp>
      <p:sp>
        <p:nvSpPr>
          <p:cNvPr id="11" name="br2t|b2"/>
          <p:cNvSpPr txBox="1"/>
          <p:nvPr/>
        </p:nvSpPr>
        <p:spPr>
          <a:xfrm>
            <a:off x="4727448"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Collatz sequence</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Input validation</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Animation programs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animation program draws something new at regular intervals, so that the output seems to move.</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These programs show a loop that does not stop, and the problem that follows from it: a program that never ends needs a way for the user to end it. The solution the textbook gives is the same in both programs, and it is the reason that this group also contains the sections on waiting, on interruption and on exiting.</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sections follow the order of the textbook: the zigzag program, the spike program, the time.sleep function both programs use for their pause, the KeyboardInterrupt exception that Ctrl-C raises, and the sys.exit function that the exception handler calls.</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Zigzag program</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indent and indent_increasing</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Spike program</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 * (i * i)</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The time.sleep function</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time.sleep(0.1)</a:t>
            </a:r>
            <a:endParaRPr lang="en-US" sz="1100" dirty="0"/>
          </a:p>
        </p:txBody>
      </p:sp>
      <p:sp>
        <p:nvSpPr>
          <p:cNvPr id="23" name="ltb|b4"/>
          <p:cNvSpPr/>
          <p:nvPr/>
        </p:nvSpPr>
        <p:spPr>
          <a:xfrm>
            <a:off x="5120640" y="2953512"/>
            <a:ext cx="1335938" cy="420624"/>
          </a:xfrm>
          <a:prstGeom prst="rect">
            <a:avLst/>
          </a:prstGeom>
          <a:solidFill>
            <a:srgbClr val="E3EEF8"/>
          </a:solidFill>
          <a:ln w="12700">
            <a:solidFill>
              <a:srgbClr val="E3EEF8"/>
            </a:solidFill>
            <a:prstDash val="solid"/>
          </a:ln>
        </p:spPr>
      </p:sp>
      <p:sp>
        <p:nvSpPr>
          <p:cNvPr id="24" name="lta|b4"/>
          <p:cNvSpPr txBox="1"/>
          <p:nvPr/>
        </p:nvSpPr>
        <p:spPr>
          <a:xfrm>
            <a:off x="5184648" y="29535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KeyboardInterrupt</a:t>
            </a:r>
            <a:endParaRPr lang="en-US" sz="1200" dirty="0"/>
          </a:p>
        </p:txBody>
      </p:sp>
      <p:sp>
        <p:nvSpPr>
          <p:cNvPr id="25" name="ltb|b4"/>
          <p:cNvSpPr/>
          <p:nvPr/>
        </p:nvSpPr>
        <p:spPr>
          <a:xfrm>
            <a:off x="6493154" y="2953512"/>
            <a:ext cx="2239366" cy="420624"/>
          </a:xfrm>
          <a:prstGeom prst="rect">
            <a:avLst/>
          </a:prstGeom>
          <a:solidFill>
            <a:srgbClr val="F1F4F8"/>
          </a:solidFill>
          <a:ln w="12700">
            <a:solidFill>
              <a:srgbClr val="F1F4F8"/>
            </a:solidFill>
            <a:prstDash val="solid"/>
          </a:ln>
        </p:spPr>
      </p:sp>
      <p:sp>
        <p:nvSpPr>
          <p:cNvPr id="26" name="ltb2|b4"/>
          <p:cNvSpPr txBox="1"/>
          <p:nvPr/>
        </p:nvSpPr>
        <p:spPr>
          <a:xfrm>
            <a:off x="6557162" y="29535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except KeyboardInterrupt:</a:t>
            </a:r>
            <a:endParaRPr lang="en-US" sz="1100" dirty="0"/>
          </a:p>
        </p:txBody>
      </p:sp>
      <p:sp>
        <p:nvSpPr>
          <p:cNvPr id="27" name="ltb|b5"/>
          <p:cNvSpPr/>
          <p:nvPr/>
        </p:nvSpPr>
        <p:spPr>
          <a:xfrm>
            <a:off x="5120640" y="3410712"/>
            <a:ext cx="1335938" cy="420624"/>
          </a:xfrm>
          <a:prstGeom prst="rect">
            <a:avLst/>
          </a:prstGeom>
          <a:solidFill>
            <a:srgbClr val="E3EEF8"/>
          </a:solidFill>
          <a:ln w="12700">
            <a:solidFill>
              <a:srgbClr val="E3EEF8"/>
            </a:solidFill>
            <a:prstDash val="solid"/>
          </a:ln>
        </p:spPr>
      </p:sp>
      <p:sp>
        <p:nvSpPr>
          <p:cNvPr id="28" name="lta|b5"/>
          <p:cNvSpPr txBox="1"/>
          <p:nvPr/>
        </p:nvSpPr>
        <p:spPr>
          <a:xfrm>
            <a:off x="5184648" y="34107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The sys.exit function</a:t>
            </a:r>
            <a:endParaRPr lang="en-US" sz="1200" dirty="0"/>
          </a:p>
        </p:txBody>
      </p:sp>
      <p:sp>
        <p:nvSpPr>
          <p:cNvPr id="29" name="ltb|b5"/>
          <p:cNvSpPr/>
          <p:nvPr/>
        </p:nvSpPr>
        <p:spPr>
          <a:xfrm>
            <a:off x="6493154" y="3410712"/>
            <a:ext cx="2239366" cy="420624"/>
          </a:xfrm>
          <a:prstGeom prst="rect">
            <a:avLst/>
          </a:prstGeom>
          <a:solidFill>
            <a:srgbClr val="F1F4F8"/>
          </a:solidFill>
          <a:ln w="12700">
            <a:solidFill>
              <a:srgbClr val="F1F4F8"/>
            </a:solidFill>
            <a:prstDash val="solid"/>
          </a:ln>
        </p:spPr>
      </p:sp>
      <p:sp>
        <p:nvSpPr>
          <p:cNvPr id="30" name="ltb2|b5"/>
          <p:cNvSpPr txBox="1"/>
          <p:nvPr/>
        </p:nvSpPr>
        <p:spPr>
          <a:xfrm>
            <a:off x="6557162" y="34107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sys.exit()</a:t>
            </a:r>
            <a:endParaRPr lang="en-US" sz="110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Animation programs</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Zigzag program</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loop that prints eight asterisks, indented by a number that grows to 20 and then shrinks to 0, again and again.</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The zigzag program prints a band of eight asterisks over and over, moving it to the right until it is 20 spaces in, then back to the left, forever. The textbook says that the program creates a back-and-forth zigzag pattern until the user stops it (Sweigart, 2025). It keeps two variables: indent counts the spaces before the band, and indent_increasing holds a Boolean value that says whether the indentation is growing or shrinking.</a:t>
            </a:r>
            <a:endParaRPr lang="en-US" sz="1250" dirty="0"/>
          </a:p>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The main loop is while True. In each pass print(' ' * indent, end='') prints the spaces and, because end is an empty string, no newline, and then a second print prints the asterisks. If indent_increasing is true, indent grows by 1, and when it reaches 20 the flag is set to false; otherwise indent shrinks by 1, and when it reaches 0 the flag is set to true. Executed for 41 passes without the pause, and numbering the passes from 0, the indent is 0 in pass 0, 1 in pass 1, 19 in pass 19, 20 in pass 20, 19 in pass 21, 1 in pass 39 and 0 in pass 40. The largest value is 20, so one trip there and back takes 40 passes.</a:t>
            </a:r>
            <a:endParaRPr lang="en-US" sz="125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 program is wrapped in a try statement so that Ctrl-C can end it, which the sections on KeyboardInterrupt and sys.exit explain. Without the wrapper, the same keypress would end the program with a traceback. The upper limit, 20, is written into the program as a plain number, so changing how far the band travels means changing that number in the test.</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Animation programs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indent and indent_increasing</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Spike program</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Two for loops print lines of dashes whose lengths are the squares from 1 to 64 and back down to 4, again and again.</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spike program draws a triangular spike of dashes that scrolls up the screen, forever. The textbook describes it as a program that uses string replication and nested loops to draw spikes (Sweigart, 2025). Its first for loop prints lines with increasing length and its second prints lines with decreasing length.</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In each pass of a loop the variable i takes the next value from its range, and the string '-' is replicated i * i times. The textbook points out that the range of the second loop starts at 7, so the longest line, 64, is printed once, and that it counts down to 1, not including 1, so the shortest line of the second half is 4. The textbook also says that you can modify the 9 and the 7 values if you want to change how wide the spike becomes (Sweigart, 2025).</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The textbook calls the lengths exponentially longer, but squares grow more slowly than that. The differences between neighbouring lengths in the first half are 3, 5, 7, 9, 11, 13 and 15, which grow by a steady 2, a pattern of quadratic growth. Each trip through the main loop prints 8 lines from the first range and 6 from the second.</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Animation programs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 * (i * i)</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The time.sleep function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function from the time module that pauses the program for the given number of seconds.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function time.sleep pauses a program. The library reference says that it suspends execution of the calling thread for the given number of seconds, and that the argument may be a floating-point number to indicate a more precise sleep time (Python Software Foundation, 2026). The textbook admits that it has not discussed the function yet and says that it introduces a one-tenth-of-a-second pause in the program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call returns None, as print does, and it returns after the pause. A program that measures the time with time.perf_counter() around time.sleep(0.1) finds that at least a tenth of a second passed and, on an ordinary run, well under a second.</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pause is not exact. The reference says that the suspension time may be longer than requested by an arbitrary amount, because of the scheduling of other activity in the system (Python Software Foundation, 2026).</a:t>
            </a:r>
            <a:endParaRPr lang="en-US" sz="1300" dirty="0"/>
          </a:p>
        </p:txBody>
      </p:sp>
      <p:sp>
        <p:nvSpPr>
          <p:cNvPr id="9" name="codebox|b1"/>
          <p:cNvSpPr/>
          <p:nvPr/>
        </p:nvSpPr>
        <p:spPr>
          <a:xfrm>
            <a:off x="5897880" y="1243584"/>
            <a:ext cx="2834640" cy="1005840"/>
          </a:xfrm>
          <a:prstGeom prst="roundRect">
            <a:avLst>
              <a:gd name="adj" fmla="val 9091"/>
            </a:avLst>
          </a:prstGeom>
          <a:solidFill>
            <a:srgbClr val="17202B"/>
          </a:solidFill>
          <a:ln w="12700">
            <a:solidFill>
              <a:srgbClr val="17202B"/>
            </a:solidFill>
            <a:prstDash val="solid"/>
          </a:ln>
        </p:spPr>
      </p:sp>
      <p:sp>
        <p:nvSpPr>
          <p:cNvPr id="10" name="codecard|b1"/>
          <p:cNvSpPr txBox="1"/>
          <p:nvPr/>
        </p:nvSpPr>
        <p:spPr>
          <a:xfrm>
            <a:off x="6053328" y="1335024"/>
            <a:ext cx="2523744" cy="822960"/>
          </a:xfrm>
          <a:prstGeom prst="rect">
            <a:avLst/>
          </a:prstGeom>
          <a:noFill/>
          <a:ln/>
        </p:spPr>
        <p:txBody>
          <a:bodyPr wrap="square" lIns="0" tIns="0" rIns="0" bIns="0" rtlCol="0" anchor="t"/>
          <a:lstStyle/>
          <a:p>
            <a:pPr indent="0" marL="0">
              <a:buNone/>
            </a:pPr>
            <a:r>
              <a:rPr lang="en-US" sz="750" b="1" dirty="0">
                <a:solidFill>
                  <a:srgbClr val="FFD43B"/>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__import__('time').sleep(0.0) is None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11" name="codecap|b1"/>
          <p:cNvSpPr txBox="1"/>
          <p:nvPr/>
        </p:nvSpPr>
        <p:spPr>
          <a:xfrm>
            <a:off x="5897880" y="226771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Both animation programs call time.sleep(0.1) in every pass of their main loop, after the print call. The function belongs to the time module, so the program needs the line import time first, and the call is written with the module name in front, like the other module functions of this chapter.</a:t>
            </a:r>
            <a:endParaRPr lang="en-US" sz="11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Animation programs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time.sleep(0.1)</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KeyboardInterrupt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exception raised when the user presses Ctrl-C; the animation programs catch it to stop cleanly.</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KeyboardInterrupt is the exception that Python raises when the user presses Ctrl-C while a program is running. The textbook says exactly this: when the user presses CTRL-C while a Python program is running, Python raises the KeyboardInterrupt exception (Sweigart, 2025). The library reference words it as raised when the user hits the interrupt key, normally Control-C or Delete (Python Software Foundation, 2026).</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The reference notes that during execution, a check for interrupts is made regularly (Python Software Foundation, 2026). Where the interrupt is noticed, it is raised like any other exception, so it travels outwards through the frames until a handler for KeyboardInterrupt is found. The animation programs put the try statement outside the loop, so the handler is found no matter in which pass the key was pressed.</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KeyboardInterrupt is not an Exception. The reference says that it inherits from BaseException so as to not be accidentally caught by code that catches Exception and thus prevent the interpreter from exiting (Python Software Foundation, 2026). A handler written as except Exception does not catch the interrupt, and the interrupt passes on to an outer KeyboardInterrupt handler.</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Animation programs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except KeyboardInterrupt: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The sys.exit function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function from the sys module that ends the program by raising SystemExit; an argument sets the exit status.</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function sys.exit ends a program. The library reference says that it raises a SystemExit exception, signaling an intention to exit the interpreter (Python Software Foundation, 2026). The textbook's animation programs call it from the except clause for KeyboardInterrupt, so that the program ends without an error message (Sweigart, 2025).</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Since the function only raises an exception, the program does not end at once: the exception travels outwards like any other. The reference says that cleanup actions specified by finally clauses of try statements are honored, and that it is possible to intercept the exit attempt at an outer level (Python Software Foundation, 2026).</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A handler for Exception does not intercept the exit, because SystemExit inherits from BaseException so that it is not accidentally caught by code that catches Exception (Python Software Foundation, 2026).</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750" b="1" dirty="0">
                <a:solidFill>
                  <a:srgbClr val="FFD43B"/>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issubclass(SystemExit, BaseException)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Called with no argument, sys.exit() ends the program with exit status 0, which the reference calls successful termination. Called with an integer such as 2, the status is 2, and any nonzero value is considered abnormal termination.</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Animation programs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sys.exit()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Practice programs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The textbook ends the chapter with practice programs: tasks for the reader to write without a model solution (Sweigart, 2025).</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Practice programs turn the chapter's concepts into habits. The first needs a function with a parameter and a return value, the second needs error handling around user input, so between them they use almost every idea of the chapter.</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sections of this group present the two tasks, say what each one needs from the chapter, and point out where the textbook's wording needs a correction or a limit that the reader would otherwise find the hard way.</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Collatz sequence</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collatz(number)</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Input validation</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int('puppy')</a:t>
            </a:r>
            <a:endParaRPr lang="en-US" sz="1100" dirty="0"/>
          </a:p>
        </p:txBody>
      </p:sp>
      <p:sp>
        <p:nvSpPr>
          <p:cNvPr id="1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Practice programs</a:t>
            </a:r>
            <a:endParaRPr lang="en-US" sz="950" dirty="0"/>
          </a:p>
        </p:txBody>
      </p:sp>
      <p:sp>
        <p:nvSpPr>
          <p:cNvPr id="2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Collatz sequence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function that prints and returns number // 2 for an even number and 3 * number + 1 for an odd one, called until the value is 1.</a:t>
            </a:r>
            <a:endParaRPr lang="en-US" sz="1300" dirty="0"/>
          </a:p>
        </p:txBody>
      </p:sp>
      <p:sp>
        <p:nvSpPr>
          <p:cNvPr id="6" name="prose"/>
          <p:cNvSpPr txBox="1"/>
          <p:nvPr/>
        </p:nvSpPr>
        <p:spPr>
          <a:xfrm>
            <a:off x="411480" y="1207008"/>
            <a:ext cx="5257800" cy="2331720"/>
          </a:xfrm>
          <a:prstGeom prst="rect">
            <a:avLst/>
          </a:prstGeom>
          <a:noFill/>
          <a:ln/>
        </p:spPr>
        <p:txBody>
          <a:bodyPr wrap="square" lIns="0" tIns="0" rIns="0" bIns="0" rtlCol="0" anchor="t"/>
          <a:lstStyle/>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The Collatz sequence is the first practice program. The textbook asks for a function named collatz that has one parameter named number: if number is even, the function should print number // 2 and return this value, and if number is odd, it should print and return 3 * number + 1 (Sweigart, 2025). The program then keeps calling the function on the result until it returns 1.</a:t>
            </a:r>
            <a:endParaRPr lang="en-US" sz="1200" dirty="0"/>
          </a:p>
          <a:p>
            <a:pPr indent="0" marL="0">
              <a:spcAft>
                <a:spcPts val="700"/>
              </a:spcAft>
              <a:buNone/>
            </a:pPr>
            <a:r>
              <a:rPr lang="en-US" sz="1200" dirty="0">
                <a:solidFill>
                  <a:srgbClr val="1F2933"/>
                </a:solidFill>
                <a:latin typeface="Calibri" pitchFamily="34" charset="0"/>
                <a:ea typeface="Calibri" pitchFamily="34" charset="-122"/>
                <a:cs typeface="Calibri" pitchFamily="34" charset="-120"/>
              </a:rPr>
              <a:t>A number is even if number % 2 == 0, which is the hint the textbook gives. The program stores the returned value back in the same variable, n = collatz(n), and the loop condition is n != 1. To print all the values on one line, the print calls need the named parameter end=' ' so that a space replaces the newline.</a:t>
            </a:r>
            <a:endParaRPr lang="en-US" sz="1200" dirty="0"/>
          </a:p>
        </p:txBody>
      </p:sp>
      <p:sp>
        <p:nvSpPr>
          <p:cNvPr id="7" name="band|b2"/>
          <p:cNvSpPr/>
          <p:nvPr/>
        </p:nvSpPr>
        <p:spPr>
          <a:xfrm>
            <a:off x="411480" y="3675888"/>
            <a:ext cx="5257800" cy="896112"/>
          </a:xfrm>
          <a:prstGeom prst="roundRect">
            <a:avLst>
              <a:gd name="adj" fmla="val 10204"/>
            </a:avLst>
          </a:prstGeom>
          <a:solidFill>
            <a:srgbClr val="FCEFD0"/>
          </a:solidFill>
          <a:ln w="25400">
            <a:solidFill>
              <a:srgbClr val="B7791F"/>
            </a:solidFill>
            <a:prstDash val="solid"/>
          </a:ln>
        </p:spPr>
      </p:sp>
      <p:sp>
        <p:nvSpPr>
          <p:cNvPr id="8" name="bandt|b2"/>
          <p:cNvSpPr txBox="1"/>
          <p:nvPr/>
        </p:nvSpPr>
        <p:spPr>
          <a:xfrm>
            <a:off x="576072" y="3730752"/>
            <a:ext cx="492861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textbook says that the sequence works for any integer, but the loop does not end for all of them.</a:t>
            </a:r>
            <a:endParaRPr lang="en-US" sz="1300" dirty="0"/>
          </a:p>
        </p:txBody>
      </p:sp>
      <p:sp>
        <p:nvSpPr>
          <p:cNvPr id="9" name="codebox|b1"/>
          <p:cNvSpPr/>
          <p:nvPr/>
        </p:nvSpPr>
        <p:spPr>
          <a:xfrm>
            <a:off x="5897880" y="1243584"/>
            <a:ext cx="2834640" cy="822960"/>
          </a:xfrm>
          <a:prstGeom prst="roundRect">
            <a:avLst>
              <a:gd name="adj" fmla="val 11111"/>
            </a:avLst>
          </a:prstGeom>
          <a:solidFill>
            <a:srgbClr val="17202B"/>
          </a:solidFill>
          <a:ln w="12700">
            <a:solidFill>
              <a:srgbClr val="17202B"/>
            </a:solidFill>
            <a:prstDash val="solid"/>
          </a:ln>
        </p:spPr>
      </p:sp>
      <p:sp>
        <p:nvSpPr>
          <p:cNvPr id="10" name="codecard|b1"/>
          <p:cNvSpPr txBox="1"/>
          <p:nvPr/>
        </p:nvSpPr>
        <p:spPr>
          <a:xfrm>
            <a:off x="6053328" y="1335024"/>
            <a:ext cx="2523744" cy="640080"/>
          </a:xfrm>
          <a:prstGeom prst="rect">
            <a:avLst/>
          </a:prstGeom>
          <a:noFill/>
          <a:ln/>
        </p:spPr>
        <p:txBody>
          <a:bodyPr wrap="square" lIns="0" tIns="0" rIns="0" bIns="0" rtlCol="0" anchor="t"/>
          <a:lstStyle/>
          <a:p>
            <a:pPr indent="0" marL="0">
              <a:buNone/>
            </a:pPr>
            <a:r>
              <a:rPr lang="en-US" sz="600" b="1" dirty="0">
                <a:solidFill>
                  <a:srgbClr val="FFD43B"/>
                </a:solidFill>
                <a:latin typeface="Courier New" pitchFamily="34" charset="0"/>
                <a:ea typeface="Courier New" pitchFamily="34" charset="-122"/>
                <a:cs typeface="Courier New" pitchFamily="34" charset="-120"/>
              </a:rPr>
              <a:t>&gt;&gt;&gt; </a:t>
            </a:r>
            <a:r>
              <a:rPr lang="en-US" sz="600" dirty="0">
                <a:solidFill>
                  <a:srgbClr val="E6EDF3"/>
                </a:solidFill>
                <a:latin typeface="Courier New" pitchFamily="34" charset="0"/>
                <a:ea typeface="Courier New" pitchFamily="34" charset="-122"/>
                <a:cs typeface="Courier New" pitchFamily="34" charset="-120"/>
              </a:rPr>
              <a:t>(lambda n: n // 2 if n % 2 == 0 else 3 * n + 1)(3)</a:t>
            </a:r>
            <a:endParaRPr lang="en-US" sz="600" dirty="0"/>
          </a:p>
          <a:p>
            <a:pPr indent="0" marL="0">
              <a:buNone/>
            </a:pPr>
            <a:r>
              <a:rPr lang="en-US" sz="600" dirty="0">
                <a:solidFill>
                  <a:srgbClr val="7EE787"/>
                </a:solidFill>
                <a:latin typeface="Courier New" pitchFamily="34" charset="0"/>
                <a:ea typeface="Courier New" pitchFamily="34" charset="-122"/>
                <a:cs typeface="Courier New" pitchFamily="34" charset="-120"/>
              </a:rPr>
              <a:t>10</a:t>
            </a:r>
            <a:endParaRPr lang="en-US" sz="600" dirty="0"/>
          </a:p>
        </p:txBody>
      </p:sp>
      <p:sp>
        <p:nvSpPr>
          <p:cNvPr id="11" name="codecap|b1"/>
          <p:cNvSpPr txBox="1"/>
          <p:nvPr/>
        </p:nvSpPr>
        <p:spPr>
          <a:xfrm>
            <a:off x="5897880" y="2084832"/>
            <a:ext cx="283464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run under Python 3.14.4</a:t>
            </a:r>
            <a:endParaRPr lang="en-US" sz="850" dirty="0"/>
          </a:p>
        </p:txBody>
      </p:sp>
      <p:sp>
        <p:nvSpPr>
          <p:cNvPr id="12" name="card|b3"/>
          <p:cNvSpPr/>
          <p:nvPr/>
        </p:nvSpPr>
        <p:spPr>
          <a:xfrm>
            <a:off x="5897880" y="2523744"/>
            <a:ext cx="2834640" cy="2048256"/>
          </a:xfrm>
          <a:prstGeom prst="roundRect">
            <a:avLst>
              <a:gd name="adj" fmla="val 4464"/>
            </a:avLst>
          </a:prstGeom>
          <a:solidFill>
            <a:srgbClr val="F1F4F8"/>
          </a:solidFill>
          <a:ln w="12700">
            <a:solidFill>
              <a:srgbClr val="F1F4F8"/>
            </a:solidFill>
            <a:prstDash val="solid"/>
          </a:ln>
        </p:spPr>
      </p:sp>
      <p:sp>
        <p:nvSpPr>
          <p:cNvPr id="13" name="cardhead|b3"/>
          <p:cNvSpPr txBox="1"/>
          <p:nvPr/>
        </p:nvSpPr>
        <p:spPr>
          <a:xfrm>
            <a:off x="6044184" y="2596896"/>
            <a:ext cx="2542032" cy="292608"/>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Where you meet it</a:t>
            </a:r>
            <a:endParaRPr lang="en-US" sz="1500" dirty="0"/>
          </a:p>
        </p:txBody>
      </p:sp>
      <p:sp>
        <p:nvSpPr>
          <p:cNvPr id="14" name="cardbody|b3"/>
          <p:cNvSpPr txBox="1"/>
          <p:nvPr/>
        </p:nvSpPr>
        <p:spPr>
          <a:xfrm>
            <a:off x="6044184" y="2926080"/>
            <a:ext cx="2542032" cy="157276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Starting at 3, the program prints 3 10 5 16 8 4 2 1, as in the textbook's sample, and the rule used is the same on every step: 3 is odd, so the next value is 3 * 3 + 1, which is 10; 10 is even, so the next is 5. Counting the steps, the start 3 reaches 1 in 7 steps and its largest value is 16, while the start 27 needs 111 steps and reaches 9232 on the way.</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Practice programs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collatz(number)</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Collatz sequence: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collatz(number):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if number % 2 == 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result = number // 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else: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result = 3 * number + 1</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print(result, end=' ')</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result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number = int(input('Enter number: '))</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print(number, end=' ')</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while number != 1:</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number = collatz(number)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a:t>
            </a:r>
            <a:endParaRPr lang="en-US" sz="120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collatz_v1_0_0.py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Enter number: </a:t>
            </a:r>
            <a:r>
              <a:rPr lang="en-US" sz="1100" b="1" dirty="0">
                <a:solidFill>
                  <a:srgbClr val="306998"/>
                </a:solidFill>
                <a:latin typeface="Courier New" pitchFamily="34" charset="0"/>
                <a:ea typeface="Courier New" pitchFamily="34" charset="-122"/>
                <a:cs typeface="Courier New" pitchFamily="34" charset="-120"/>
              </a:rPr>
              <a:t>3</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3 10 5 16 8 4 2 1 </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3.14.4 - typed input in blue</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A number is even if number % 2 == 0, which is the hint the textbook gives.</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Practice programs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Input validation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Wrapping the conversion of the user's text in try and except, so that text that is not an integer produces a message instead of a crash.</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Input validation means checking what the user typed before using it. The second practice task asks the reader to add try and except statements to the previous project to detect whether the user entered a non-integer string (Sweigart, 2025). The tool is the conversion function int, which converts text to an integer and, in the textbook's words, normally raises a ValueError if it is passed a non-integer string, as in int('puppy').</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Only the line that does the conversion belongs in the try clause, and the exception type to name is the one that int raises. The None from the failed conversion is the value Python supplies when a function ends without a return statement, which means the code that uses the result must be ready for it.</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00" b="1" dirty="0">
                <a:solidFill>
                  <a:srgbClr val="B7791F"/>
                </a:solidFill>
                <a:latin typeface="Cambria" pitchFamily="34" charset="0"/>
                <a:ea typeface="Cambria" pitchFamily="34" charset="-122"/>
                <a:cs typeface="Cambria" pitchFamily="34" charset="-120"/>
              </a:rPr>
              <a:t>Watch out  </a:t>
            </a:r>
            <a:r>
              <a:rPr lang="en-US" sz="1100" dirty="0">
                <a:solidFill>
                  <a:srgbClr val="1F2933"/>
                </a:solidFill>
                <a:latin typeface="Calibri" pitchFamily="34" charset="0"/>
                <a:ea typeface="Calibri" pitchFamily="34" charset="-122"/>
                <a:cs typeface="Calibri" pitchFamily="34" charset="-120"/>
              </a:rPr>
              <a:t>The handler catches only ValueError. A user who just presses Enter gives int an empty string, which is also a ValueError, but a value of another type, such as None passed by mistake, would raise a TypeError and the program would still crash. Also, as the previous section noted, an integer is not always a valid input: 0 and negative integers pass the conversion and still never reach 1 in the sequence.</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Practice programs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int('puppy')</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000" b="1" dirty="0">
                <a:solidFill>
                  <a:srgbClr val="1E2A3A"/>
                </a:solidFill>
                <a:latin typeface="Cambria" pitchFamily="34" charset="0"/>
                <a:ea typeface="Cambria" pitchFamily="34" charset="-122"/>
                <a:cs typeface="Cambria" pitchFamily="34" charset="-120"/>
              </a:rPr>
              <a:t>Input validation: the program, and what it really prints</a:t>
            </a:r>
            <a:endParaRPr lang="en-US" sz="20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def collatz(number):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result = number // 2 if number % 2 == 0 else 3 * number + 1</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print(result, end='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result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while True: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try: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number = int(input('Enter number: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break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except ValueError: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print('Please enter a whole number.')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print(number, end='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while number != 1:</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number = collatz(number)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print()</a:t>
            </a:r>
            <a:endParaRPr lang="en-US" sz="95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validated_v1_0_0.py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Enter number: </a:t>
            </a:r>
            <a:r>
              <a:rPr lang="en-US" sz="1100" b="1" dirty="0">
                <a:solidFill>
                  <a:srgbClr val="306998"/>
                </a:solidFill>
                <a:latin typeface="Courier New" pitchFamily="34" charset="0"/>
                <a:ea typeface="Courier New" pitchFamily="34" charset="-122"/>
                <a:cs typeface="Courier New" pitchFamily="34" charset="-120"/>
              </a:rPr>
              <a:t>puppy</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Please enter a whole number.</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Enter number: </a:t>
            </a:r>
            <a:r>
              <a:rPr lang="en-US" sz="1100" b="1" dirty="0">
                <a:solidFill>
                  <a:srgbClr val="306998"/>
                </a:solidFill>
                <a:latin typeface="Courier New" pitchFamily="34" charset="0"/>
                <a:ea typeface="Courier New" pitchFamily="34" charset="-122"/>
                <a:cs typeface="Courier New" pitchFamily="34" charset="-120"/>
              </a:rPr>
              <a:t>6</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6 3 10 5 16 8 4 2 1 </a:t>
            </a:r>
            <a:endParaRPr lang="en-US" sz="11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3.14.4 - typed input in blue</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Only the line that does the conversion belongs in the try clause, and the exception type to name is the one that ...</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Short programs  &gt;  Practice programs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347472"/>
            <a:ext cx="80467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Modern practice</a:t>
            </a:r>
            <a:endParaRPr lang="en-US" sz="3000" dirty="0"/>
          </a:p>
        </p:txBody>
      </p:sp>
      <p:sp>
        <p:nvSpPr>
          <p:cNvPr id="3" name="brlead"/>
          <p:cNvSpPr txBox="1"/>
          <p:nvPr/>
        </p:nvSpPr>
        <p:spPr>
          <a:xfrm>
            <a:off x="548640" y="1024128"/>
            <a:ext cx="8046720" cy="676656"/>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Modern practice is the part of the chapter that goes beyond the textbook's list of topics to what a programmer needs around functions today. It has two groups.</a:t>
            </a:r>
            <a:endParaRPr lang="en-US" sz="1500" dirty="0"/>
          </a:p>
        </p:txBody>
      </p:sp>
      <p:sp>
        <p:nvSpPr>
          <p:cNvPr id="4" name="br1|b1"/>
          <p:cNvSpPr/>
          <p:nvPr/>
        </p:nvSpPr>
        <p:spPr>
          <a:xfrm>
            <a:off x="457200" y="1828800"/>
            <a:ext cx="4050792" cy="457200"/>
          </a:xfrm>
          <a:prstGeom prst="roundRect">
            <a:avLst>
              <a:gd name="adj" fmla="val 16000"/>
            </a:avLst>
          </a:prstGeom>
          <a:solidFill>
            <a:srgbClr val="FFD43B"/>
          </a:solidFill>
          <a:ln w="12700">
            <a:solidFill>
              <a:srgbClr val="FFD43B"/>
            </a:solidFill>
            <a:prstDash val="solid"/>
          </a:ln>
        </p:spPr>
      </p:sp>
      <p:sp>
        <p:nvSpPr>
          <p:cNvPr id="5" name="br1t|b1"/>
          <p:cNvSpPr txBox="1"/>
          <p:nvPr/>
        </p:nvSpPr>
        <p:spPr>
          <a:xfrm>
            <a:off x="493776"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Annotations</a:t>
            </a:r>
            <a:endParaRPr lang="en-US" sz="1400" dirty="0"/>
          </a:p>
        </p:txBody>
      </p:sp>
      <p:sp>
        <p:nvSpPr>
          <p:cNvPr id="6" name="br2|b1"/>
          <p:cNvSpPr/>
          <p:nvPr/>
        </p:nvSpPr>
        <p:spPr>
          <a:xfrm>
            <a:off x="457200" y="2359152"/>
            <a:ext cx="4050792" cy="2121408"/>
          </a:xfrm>
          <a:prstGeom prst="roundRect">
            <a:avLst>
              <a:gd name="adj" fmla="val 3448"/>
            </a:avLst>
          </a:prstGeom>
          <a:solidFill>
            <a:srgbClr val="27374B"/>
          </a:solidFill>
          <a:ln w="12700">
            <a:solidFill>
              <a:srgbClr val="3B5B87"/>
            </a:solidFill>
            <a:prstDash val="solid"/>
          </a:ln>
        </p:spPr>
      </p:sp>
      <p:sp>
        <p:nvSpPr>
          <p:cNvPr id="7" name="br2t|b1"/>
          <p:cNvSpPr txBox="1"/>
          <p:nvPr/>
        </p:nvSpPr>
        <p:spPr>
          <a:xfrm>
            <a:off x="548640"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Function annotation</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Deferred annotations</a:t>
            </a:r>
            <a:endParaRPr lang="en-US" sz="1200" dirty="0"/>
          </a:p>
        </p:txBody>
      </p:sp>
      <p:sp>
        <p:nvSpPr>
          <p:cNvPr id="8" name="br1|b2"/>
          <p:cNvSpPr/>
          <p:nvPr/>
        </p:nvSpPr>
        <p:spPr>
          <a:xfrm>
            <a:off x="4636008" y="1828800"/>
            <a:ext cx="4050792" cy="457200"/>
          </a:xfrm>
          <a:prstGeom prst="roundRect">
            <a:avLst>
              <a:gd name="adj" fmla="val 16000"/>
            </a:avLst>
          </a:prstGeom>
          <a:solidFill>
            <a:srgbClr val="FFD43B"/>
          </a:solidFill>
          <a:ln w="12700">
            <a:solidFill>
              <a:srgbClr val="FFD43B"/>
            </a:solidFill>
            <a:prstDash val="solid"/>
          </a:ln>
        </p:spPr>
      </p:sp>
      <p:sp>
        <p:nvSpPr>
          <p:cNvPr id="9" name="br1t|b2"/>
          <p:cNvSpPr txBox="1"/>
          <p:nvPr/>
        </p:nvSpPr>
        <p:spPr>
          <a:xfrm>
            <a:off x="4672584" y="1828800"/>
            <a:ext cx="397764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Style</a:t>
            </a:r>
            <a:endParaRPr lang="en-US" sz="1400" dirty="0"/>
          </a:p>
        </p:txBody>
      </p:sp>
      <p:sp>
        <p:nvSpPr>
          <p:cNvPr id="10" name="br2|b2"/>
          <p:cNvSpPr/>
          <p:nvPr/>
        </p:nvSpPr>
        <p:spPr>
          <a:xfrm>
            <a:off x="4636008" y="2359152"/>
            <a:ext cx="4050792" cy="2121408"/>
          </a:xfrm>
          <a:prstGeom prst="roundRect">
            <a:avLst>
              <a:gd name="adj" fmla="val 3448"/>
            </a:avLst>
          </a:prstGeom>
          <a:solidFill>
            <a:srgbClr val="27374B"/>
          </a:solidFill>
          <a:ln w="12700">
            <a:solidFill>
              <a:srgbClr val="3B5B87"/>
            </a:solidFill>
            <a:prstDash val="solid"/>
          </a:ln>
        </p:spPr>
      </p:sp>
      <p:sp>
        <p:nvSpPr>
          <p:cNvPr id="11" name="br2t|b2"/>
          <p:cNvSpPr txBox="1"/>
          <p:nvPr/>
        </p:nvSpPr>
        <p:spPr>
          <a:xfrm>
            <a:off x="4727448" y="2432304"/>
            <a:ext cx="3867912" cy="1975104"/>
          </a:xfrm>
          <a:prstGeom prst="rect">
            <a:avLst/>
          </a:prstGeom>
          <a:noFill/>
          <a:ln/>
        </p:spPr>
        <p:txBody>
          <a:bodyPr wrap="square" lIns="0" tIns="0" rIns="0" bIns="0" rtlCol="0" anchor="t"/>
          <a:lstStyle/>
          <a:p>
            <a:pPr indent="0" marL="0">
              <a:buNone/>
            </a:pPr>
            <a:r>
              <a:rPr lang="en-US" sz="1200" dirty="0">
                <a:solidFill>
                  <a:srgbClr val="DCE6F2"/>
                </a:solidFill>
                <a:latin typeface="Calibri" pitchFamily="34" charset="0"/>
                <a:ea typeface="Calibri" pitchFamily="34" charset="-122"/>
                <a:cs typeface="Calibri" pitchFamily="34" charset="-120"/>
              </a:rPr>
              <a:t>Function as a black box</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Function naming</a:t>
            </a:r>
            <a:endParaRPr lang="en-US" sz="1200" dirty="0"/>
          </a:p>
          <a:p>
            <a:pPr indent="0" marL="0">
              <a:buNone/>
            </a:pPr>
            <a:r>
              <a:rPr lang="en-US" sz="1200" dirty="0">
                <a:solidFill>
                  <a:srgbClr val="DCE6F2"/>
                </a:solidFill>
                <a:latin typeface="Calibri" pitchFamily="34" charset="0"/>
                <a:ea typeface="Calibri" pitchFamily="34" charset="-122"/>
                <a:cs typeface="Calibri" pitchFamily="34" charset="-120"/>
              </a:rPr>
              <a:t>Comment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Annotations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An annotation is an expression written next to a parameter or after the arrow that follows the parameter list.</a:t>
            </a:r>
            <a:endParaRPr lang="en-US" sz="13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A note on what a function expects and gives back is information for the reader, for the editor and for tools that check programs, and it needs no comment to keep it in step with the code. Python 3.14 changes when the notes are evaluated, which is why this group has two sections: the notation itself and its newest behaviour.</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first section describes the notation and what Python does with it, which is almost nothing. The second describes deferred evaluation, adopted in Python 3.14, under which a note may name something that does not exist yet.</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Function annotation</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def add(a: int, b: int = 0) -&gt; int:</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Deferred annotations</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def f(x: Undefined):</a:t>
            </a:r>
            <a:endParaRPr lang="en-US" sz="1100" dirty="0"/>
          </a:p>
        </p:txBody>
      </p:sp>
      <p:sp>
        <p:nvSpPr>
          <p:cNvPr id="1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Annotations</a:t>
            </a:r>
            <a:endParaRPr lang="en-US" sz="950" dirty="0"/>
          </a:p>
        </p:txBody>
      </p:sp>
      <p:sp>
        <p:nvSpPr>
          <p:cNvPr id="2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Function annotation</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note on a parameter or on the result, written after a colon or an arrow; Python stores it but does not enforce it.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A function annotation is a note attached to a parameter or to the return value. For a parameter it follows the name after a colon, and for the result it follows an arrow made of a hyphen and a greater-than sign, placed before the colon that ends the def line. PEP 3107 gives the pseudo-grammar of a parameter as the name, then an optional expression after a colon, then an optional default value, so the note always comes before the default (Winter and Lownds, 2006).</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PEP 3107 states that, by itself, Python does not attach any particular meaning or significance to annotations; it simply makes the expressions available in the function's __annotations__ attribute, and the only way that annotations take on meaning is when they are interpreted by third-party libraries (Winter and Lownds, 2006). The attribute pairs each parameter name with its note, and the note for the result is stored under the name return. In Python 3.12 all annotation expressions were evaluated when the function definition was executed, just like default values.</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00" b="1" dirty="0">
                <a:solidFill>
                  <a:srgbClr val="B7791F"/>
                </a:solidFill>
                <a:latin typeface="Cambria" pitchFamily="34" charset="0"/>
                <a:ea typeface="Cambria" pitchFamily="34" charset="-122"/>
                <a:cs typeface="Cambria" pitchFamily="34" charset="-120"/>
              </a:rPr>
              <a:t>Watch out  </a:t>
            </a:r>
            <a:r>
              <a:rPr lang="en-US" sz="1100" dirty="0">
                <a:solidFill>
                  <a:srgbClr val="1F2933"/>
                </a:solidFill>
                <a:latin typeface="Calibri" pitchFamily="34" charset="0"/>
                <a:ea typeface="Calibri" pitchFamily="34" charset="-122"/>
                <a:cs typeface="Calibri" pitchFamily="34" charset="-120"/>
              </a:rPr>
              <a:t>A note is not a check. The call add('x', 'y') above shows that Python runs the function whatever the notes say. A lambda expression cannot carry annotations, which the language reference states and the lambda section of this chapter shows. And since the notes are real expressions, a wrong or misspelled name inside one is a real error in Python 3.12, which is the problem the next section addresses.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Annotations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def add(a: int, b: int = 0) -&gt; int: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Deferred annotations</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Since Python 3.14 a function's annotations are not evaluated at definition, so names that do not exist yet can be used and are looked up only on request.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Deferred evaluation means that Python 3.14 does not work out an annotation when the function is defined, but stores it and works it out only when somebody asks. What's New in Python 3.14 states it: the annotations on functions, classes and modules are no longer evaluated eagerly; instead they are stored in special-purpose annotate functions and evaluated only when necessary (Python Software Foundation, 2026). PEP 649 proposed the change (Hastings, 2021).</a:t>
            </a:r>
            <a:endParaRPr lang="en-US" sz="1250" dirty="0"/>
          </a:p>
          <a:p>
            <a:pPr indent="0" marL="0">
              <a:spcAft>
                <a:spcPts val="700"/>
              </a:spcAft>
              <a:buNone/>
            </a:pPr>
            <a:r>
              <a:rPr lang="en-US" sz="1250" dirty="0">
                <a:solidFill>
                  <a:srgbClr val="1F2933"/>
                </a:solidFill>
                <a:latin typeface="Calibri" pitchFamily="34" charset="0"/>
                <a:ea typeface="Calibri" pitchFamily="34" charset="-122"/>
                <a:cs typeface="Calibri" pitchFamily="34" charset="-120"/>
              </a:rPr>
              <a:t>The standard library module annotationlib reads the notes in one of three formats. The VALUE format evaluates them, as earlier releases did and fails on an undefined name; the FORWARDREF format replaces undefined names with special markers; and the STRING format returns the annotations as strings (Python Software Foundation, 2026). For the function above, the FORWARDREF format gives entries for x and the result without raising an error, and the STRING format gives the text Undefined for x and Missing for the result. Under Python 3.12 the module annotationlib does not exist.</a:t>
            </a:r>
            <a:endParaRPr lang="en-US" sz="125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change is a reason to read the release notes before moving a program between versions. A program written for 3.14 that relies on an annotation naming something defined later runs only on 3.14 and later; run by 3.12 it stops at the def line.</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Annotations</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def f(x: Undefined):</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1800" b="1" dirty="0">
                <a:solidFill>
                  <a:srgbClr val="1E2A3A"/>
                </a:solidFill>
                <a:latin typeface="Cambria" pitchFamily="34" charset="0"/>
                <a:ea typeface="Cambria" pitchFamily="34" charset="-122"/>
                <a:cs typeface="Cambria" pitchFamily="34" charset="-120"/>
              </a:rPr>
              <a:t>Deferred annotations: the program, and what it really prints</a:t>
            </a:r>
            <a:endParaRPr lang="en-US" sz="18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whole program, and the transcript of running it</a:t>
            </a:r>
            <a:endParaRPr lang="en-US" sz="1400" dirty="0"/>
          </a:p>
        </p:txBody>
      </p:sp>
      <p:sp>
        <p:nvSpPr>
          <p:cNvPr id="6" name="progbox"/>
          <p:cNvSpPr/>
          <p:nvPr/>
        </p:nvSpPr>
        <p:spPr>
          <a:xfrm>
            <a:off x="411480" y="1234440"/>
            <a:ext cx="5029200" cy="3127248"/>
          </a:xfrm>
          <a:prstGeom prst="roundRect">
            <a:avLst>
              <a:gd name="adj" fmla="val 2924"/>
            </a:avLst>
          </a:prstGeom>
          <a:solidFill>
            <a:srgbClr val="17202B"/>
          </a:solidFill>
          <a:ln w="12700">
            <a:solidFill>
              <a:srgbClr val="17202B"/>
            </a:solidFill>
            <a:prstDash val="solid"/>
          </a:ln>
        </p:spPr>
      </p:sp>
      <p:sp>
        <p:nvSpPr>
          <p:cNvPr id="7" name="prog"/>
          <p:cNvSpPr txBox="1"/>
          <p:nvPr/>
        </p:nvSpPr>
        <p:spPr>
          <a:xfrm>
            <a:off x="566928" y="1316736"/>
            <a:ext cx="4718304" cy="2962656"/>
          </a:xfrm>
          <a:prstGeom prst="rect">
            <a:avLst/>
          </a:prstGeom>
          <a:noFill/>
          <a:ln/>
        </p:spPr>
        <p:txBody>
          <a:bodyPr wrap="square" lIns="0" tIns="0" rIns="0" bIns="0" rtlCol="0" anchor="t"/>
          <a:lstStyle/>
          <a:p>
            <a:pPr indent="0" marL="0">
              <a:buNone/>
            </a:pPr>
            <a:r>
              <a:rPr lang="en-US" sz="650" dirty="0">
                <a:solidFill>
                  <a:srgbClr val="E6EDF3"/>
                </a:solidFill>
                <a:latin typeface="Courier New" pitchFamily="34" charset="0"/>
                <a:ea typeface="Courier New" pitchFamily="34" charset="-122"/>
                <a:cs typeface="Courier New" pitchFamily="34" charset="-120"/>
              </a:rPr>
              <a:t>import annotationlib</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def parse(text: Document) -&gt; Result:</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    return text</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print(parse('ok'))</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try:</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    parse.__annotations__</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except NameError as error:</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    print('NameError:', error)</a:t>
            </a:r>
            <a:endParaRPr lang="en-US" sz="650" dirty="0"/>
          </a:p>
          <a:p>
            <a:pPr indent="0" marL="0">
              <a:buNone/>
            </a:pPr>
            <a:r>
              <a:rPr lang="en-US" sz="650" dirty="0">
                <a:solidFill>
                  <a:srgbClr val="E6EDF3"/>
                </a:solidFill>
                <a:latin typeface="Courier New" pitchFamily="34" charset="0"/>
                <a:ea typeface="Courier New" pitchFamily="34" charset="-122"/>
                <a:cs typeface="Courier New" pitchFamily="34" charset="-120"/>
              </a:rPr>
              <a:t>print(sorted(annotationlib.get_annotations(parse, format=annotationlib.Format.FORWARDREF)))</a:t>
            </a:r>
            <a:endParaRPr lang="en-US" sz="650" dirty="0"/>
          </a:p>
        </p:txBody>
      </p:sp>
      <p:sp>
        <p:nvSpPr>
          <p:cNvPr id="8" name="progcap"/>
          <p:cNvSpPr txBox="1"/>
          <p:nvPr/>
        </p:nvSpPr>
        <p:spPr>
          <a:xfrm>
            <a:off x="411480" y="4379976"/>
            <a:ext cx="502920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annotations_v1_0_0.py</a:t>
            </a:r>
            <a:endParaRPr lang="en-US" sz="850" dirty="0"/>
          </a:p>
        </p:txBody>
      </p:sp>
      <p:sp>
        <p:nvSpPr>
          <p:cNvPr id="9" name="transbox|b1"/>
          <p:cNvSpPr/>
          <p:nvPr/>
        </p:nvSpPr>
        <p:spPr>
          <a:xfrm>
            <a:off x="5623560" y="1234440"/>
            <a:ext cx="3108960" cy="1993392"/>
          </a:xfrm>
          <a:prstGeom prst="roundRect">
            <a:avLst>
              <a:gd name="adj" fmla="val 4587"/>
            </a:avLst>
          </a:prstGeom>
          <a:solidFill>
            <a:srgbClr val="F1F4F8"/>
          </a:solidFill>
          <a:ln w="12700">
            <a:solidFill>
              <a:srgbClr val="F1F4F8"/>
            </a:solidFill>
            <a:prstDash val="solid"/>
          </a:ln>
        </p:spPr>
      </p:sp>
      <p:sp>
        <p:nvSpPr>
          <p:cNvPr id="10" name="trans|b1"/>
          <p:cNvSpPr txBox="1"/>
          <p:nvPr/>
        </p:nvSpPr>
        <p:spPr>
          <a:xfrm>
            <a:off x="5751576" y="1298448"/>
            <a:ext cx="2852928" cy="1865376"/>
          </a:xfrm>
          <a:prstGeom prst="rect">
            <a:avLst/>
          </a:prstGeom>
          <a:noFill/>
          <a:ln/>
        </p:spPr>
        <p:txBody>
          <a:bodyPr wrap="square" lIns="0" tIns="0" rIns="0" bIns="0" rtlCol="0" anchor="t"/>
          <a:lstStyle/>
          <a:p>
            <a:pPr indent="0" marL="0">
              <a:buNone/>
            </a:pPr>
            <a:r>
              <a:rPr lang="en-US" sz="900" dirty="0">
                <a:solidFill>
                  <a:srgbClr val="1F2933"/>
                </a:solidFill>
                <a:latin typeface="Courier New" pitchFamily="34" charset="0"/>
                <a:ea typeface="Courier New" pitchFamily="34" charset="-122"/>
                <a:cs typeface="Courier New" pitchFamily="34" charset="-120"/>
              </a:rPr>
              <a:t>ok</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NameError: name 'Document' is not defined</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['return', 'text']</a:t>
            </a:r>
            <a:endParaRPr lang="en-US" sz="900" dirty="0"/>
          </a:p>
        </p:txBody>
      </p:sp>
      <p:sp>
        <p:nvSpPr>
          <p:cNvPr id="11" name="transcap|b1"/>
          <p:cNvSpPr txBox="1"/>
          <p:nvPr/>
        </p:nvSpPr>
        <p:spPr>
          <a:xfrm>
            <a:off x="5623560" y="3246120"/>
            <a:ext cx="3108960" cy="182880"/>
          </a:xfrm>
          <a:prstGeom prst="rect">
            <a:avLst/>
          </a:prstGeom>
          <a:noFill/>
          <a:ln/>
        </p:spPr>
        <p:txBody>
          <a:bodyPr wrap="square" lIns="0" tIns="0" rIns="0" bIns="0" rtlCol="0" anchor="ctr"/>
          <a:lstStyle/>
          <a:p>
            <a:pPr algn="r" indent="0" marL="0">
              <a:buNone/>
            </a:pPr>
            <a:r>
              <a:rPr lang="en-US" sz="850" i="1" dirty="0">
                <a:solidFill>
                  <a:srgbClr val="5B6B7B"/>
                </a:solidFill>
                <a:latin typeface="Calibri" pitchFamily="34" charset="0"/>
                <a:ea typeface="Calibri" pitchFamily="34" charset="-122"/>
                <a:cs typeface="Calibri" pitchFamily="34" charset="-120"/>
              </a:rPr>
              <a:t>real run under Python 3.14.4</a:t>
            </a:r>
            <a:endParaRPr lang="en-US" sz="850" dirty="0"/>
          </a:p>
        </p:txBody>
      </p:sp>
      <p:sp>
        <p:nvSpPr>
          <p:cNvPr id="12" name="card|b2"/>
          <p:cNvSpPr/>
          <p:nvPr/>
        </p:nvSpPr>
        <p:spPr>
          <a:xfrm>
            <a:off x="5623560" y="3502152"/>
            <a:ext cx="3108960" cy="1069848"/>
          </a:xfrm>
          <a:prstGeom prst="roundRect">
            <a:avLst>
              <a:gd name="adj" fmla="val 8547"/>
            </a:avLst>
          </a:prstGeom>
          <a:solidFill>
            <a:srgbClr val="F1F4F8"/>
          </a:solidFill>
          <a:ln w="12700">
            <a:solidFill>
              <a:srgbClr val="F1F4F8"/>
            </a:solidFill>
            <a:prstDash val="solid"/>
          </a:ln>
        </p:spPr>
      </p:sp>
      <p:sp>
        <p:nvSpPr>
          <p:cNvPr id="13" name="cardhead|b2"/>
          <p:cNvSpPr txBox="1"/>
          <p:nvPr/>
        </p:nvSpPr>
        <p:spPr>
          <a:xfrm>
            <a:off x="5769864" y="3575304"/>
            <a:ext cx="2816352"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What to look at</a:t>
            </a:r>
            <a:endParaRPr lang="en-US" sz="1500" dirty="0"/>
          </a:p>
        </p:txBody>
      </p:sp>
      <p:sp>
        <p:nvSpPr>
          <p:cNvPr id="14" name="cardbody|b2"/>
          <p:cNvSpPr txBox="1"/>
          <p:nvPr/>
        </p:nvSpPr>
        <p:spPr>
          <a:xfrm>
            <a:off x="5769864" y="3904488"/>
            <a:ext cx="2816352" cy="59436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standard library module annotationlib reads the notes in one of three formats.</a:t>
            </a:r>
            <a:endParaRPr lang="en-US" sz="1000" dirty="0"/>
          </a:p>
        </p:txBody>
      </p:sp>
      <p:sp>
        <p:nvSpPr>
          <p:cNvPr id="15"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Annotations</a:t>
            </a:r>
            <a:endParaRPr lang="en-US" sz="950" dirty="0"/>
          </a:p>
        </p:txBody>
      </p:sp>
      <p:sp>
        <p:nvSpPr>
          <p:cNvPr id="16"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real run under Python 3.14.4</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Style</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Style means the habits of writing and using a function that go beyond making it work.</a:t>
            </a:r>
            <a:endParaRPr lang="en-US" sz="1400" dirty="0"/>
          </a:p>
        </p:txBody>
      </p:sp>
      <p:sp>
        <p:nvSpPr>
          <p:cNvPr id="6" name="prose"/>
          <p:cNvSpPr txBox="1"/>
          <p:nvPr/>
        </p:nvSpPr>
        <p:spPr>
          <a:xfrm>
            <a:off x="411480" y="1207008"/>
            <a:ext cx="4480560" cy="338328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How a function is meant to be used matters as much as how it is written. A program is read many more times than it is written, and each habit reduces the amount that a reader has to hold in mind: the black box lets the reader skip the body, a good name tells what the function does, and a good comment explains what the code cannot say.</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The three sections apply to the same small functions that the chapter has used: a function that doubles a number, a function that divides, a function that prints a greeting. Each states the rule of the style guide or the textbook that supports it, and shows what happens when the rule is broken.</a:t>
            </a:r>
            <a:endParaRPr lang="en-US" sz="1350" dirty="0"/>
          </a:p>
        </p:txBody>
      </p:sp>
      <p:sp>
        <p:nvSpPr>
          <p:cNvPr id="7" name="lt"/>
          <p:cNvSpPr/>
          <p:nvPr/>
        </p:nvSpPr>
        <p:spPr>
          <a:xfrm>
            <a:off x="5120640" y="1234440"/>
            <a:ext cx="1335938" cy="310896"/>
          </a:xfrm>
          <a:prstGeom prst="rect">
            <a:avLst/>
          </a:prstGeom>
          <a:solidFill>
            <a:srgbClr val="1E2A3A"/>
          </a:solidFill>
          <a:ln w="12700">
            <a:solidFill>
              <a:srgbClr val="1E2A3A"/>
            </a:solidFill>
            <a:prstDash val="solid"/>
          </a:ln>
        </p:spPr>
      </p:sp>
      <p:sp>
        <p:nvSpPr>
          <p:cNvPr id="8" name="lth1"/>
          <p:cNvSpPr txBox="1"/>
          <p:nvPr/>
        </p:nvSpPr>
        <p:spPr>
          <a:xfrm>
            <a:off x="5184648" y="1234440"/>
            <a:ext cx="1207922"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9" name="lt"/>
          <p:cNvSpPr/>
          <p:nvPr/>
        </p:nvSpPr>
        <p:spPr>
          <a:xfrm>
            <a:off x="6493154" y="1234440"/>
            <a:ext cx="2239366" cy="310896"/>
          </a:xfrm>
          <a:prstGeom prst="rect">
            <a:avLst/>
          </a:prstGeom>
          <a:solidFill>
            <a:srgbClr val="1E2A3A"/>
          </a:solidFill>
          <a:ln w="12700">
            <a:solidFill>
              <a:srgbClr val="1E2A3A"/>
            </a:solidFill>
            <a:prstDash val="solid"/>
          </a:ln>
        </p:spPr>
      </p:sp>
      <p:sp>
        <p:nvSpPr>
          <p:cNvPr id="10" name="lth2"/>
          <p:cNvSpPr txBox="1"/>
          <p:nvPr/>
        </p:nvSpPr>
        <p:spPr>
          <a:xfrm>
            <a:off x="6557162" y="1234440"/>
            <a:ext cx="207477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The example the chapter uses for it</a:t>
            </a:r>
            <a:endParaRPr lang="en-US" sz="900" dirty="0"/>
          </a:p>
        </p:txBody>
      </p:sp>
      <p:sp>
        <p:nvSpPr>
          <p:cNvPr id="11" name="ltb|b1"/>
          <p:cNvSpPr/>
          <p:nvPr/>
        </p:nvSpPr>
        <p:spPr>
          <a:xfrm>
            <a:off x="5120640" y="1581912"/>
            <a:ext cx="1335938" cy="420624"/>
          </a:xfrm>
          <a:prstGeom prst="rect">
            <a:avLst/>
          </a:prstGeom>
          <a:solidFill>
            <a:srgbClr val="E3EEF8"/>
          </a:solidFill>
          <a:ln w="12700">
            <a:solidFill>
              <a:srgbClr val="E3EEF8"/>
            </a:solidFill>
            <a:prstDash val="solid"/>
          </a:ln>
        </p:spPr>
      </p:sp>
      <p:sp>
        <p:nvSpPr>
          <p:cNvPr id="12" name="lta|b1"/>
          <p:cNvSpPr txBox="1"/>
          <p:nvPr/>
        </p:nvSpPr>
        <p:spPr>
          <a:xfrm>
            <a:off x="5184648" y="15819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Function as a black box</a:t>
            </a:r>
            <a:endParaRPr lang="en-US" sz="1200" dirty="0"/>
          </a:p>
        </p:txBody>
      </p:sp>
      <p:sp>
        <p:nvSpPr>
          <p:cNvPr id="13" name="ltb|b1"/>
          <p:cNvSpPr/>
          <p:nvPr/>
        </p:nvSpPr>
        <p:spPr>
          <a:xfrm>
            <a:off x="6493154" y="1581912"/>
            <a:ext cx="2239366" cy="420624"/>
          </a:xfrm>
          <a:prstGeom prst="rect">
            <a:avLst/>
          </a:prstGeom>
          <a:solidFill>
            <a:srgbClr val="F1F4F8"/>
          </a:solidFill>
          <a:ln w="12700">
            <a:solidFill>
              <a:srgbClr val="F1F4F8"/>
            </a:solidFill>
            <a:prstDash val="solid"/>
          </a:ln>
        </p:spPr>
      </p:sp>
      <p:sp>
        <p:nvSpPr>
          <p:cNvPr id="14" name="ltb2|b1"/>
          <p:cNvSpPr txBox="1"/>
          <p:nvPr/>
        </p:nvSpPr>
        <p:spPr>
          <a:xfrm>
            <a:off x="6557162" y="15819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use it without reading it</a:t>
            </a:r>
            <a:endParaRPr lang="en-US" sz="1100" dirty="0"/>
          </a:p>
        </p:txBody>
      </p:sp>
      <p:sp>
        <p:nvSpPr>
          <p:cNvPr id="15" name="ltb|b2"/>
          <p:cNvSpPr/>
          <p:nvPr/>
        </p:nvSpPr>
        <p:spPr>
          <a:xfrm>
            <a:off x="5120640" y="2039112"/>
            <a:ext cx="1335938" cy="420624"/>
          </a:xfrm>
          <a:prstGeom prst="rect">
            <a:avLst/>
          </a:prstGeom>
          <a:solidFill>
            <a:srgbClr val="E3EEF8"/>
          </a:solidFill>
          <a:ln w="12700">
            <a:solidFill>
              <a:srgbClr val="E3EEF8"/>
            </a:solidFill>
            <a:prstDash val="solid"/>
          </a:ln>
        </p:spPr>
      </p:sp>
      <p:sp>
        <p:nvSpPr>
          <p:cNvPr id="16" name="lta|b2"/>
          <p:cNvSpPr txBox="1"/>
          <p:nvPr/>
        </p:nvSpPr>
        <p:spPr>
          <a:xfrm>
            <a:off x="5184648" y="20391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Function naming</a:t>
            </a:r>
            <a:endParaRPr lang="en-US" sz="1200" dirty="0"/>
          </a:p>
        </p:txBody>
      </p:sp>
      <p:sp>
        <p:nvSpPr>
          <p:cNvPr id="17" name="ltb|b2"/>
          <p:cNvSpPr/>
          <p:nvPr/>
        </p:nvSpPr>
        <p:spPr>
          <a:xfrm>
            <a:off x="6493154" y="2039112"/>
            <a:ext cx="2239366" cy="420624"/>
          </a:xfrm>
          <a:prstGeom prst="rect">
            <a:avLst/>
          </a:prstGeom>
          <a:solidFill>
            <a:srgbClr val="F1F4F8"/>
          </a:solidFill>
          <a:ln w="12700">
            <a:solidFill>
              <a:srgbClr val="F1F4F8"/>
            </a:solidFill>
            <a:prstDash val="solid"/>
          </a:ln>
        </p:spPr>
      </p:sp>
      <p:sp>
        <p:nvSpPr>
          <p:cNvPr id="18" name="ltb2|b2"/>
          <p:cNvSpPr txBox="1"/>
          <p:nvPr/>
        </p:nvSpPr>
        <p:spPr>
          <a:xfrm>
            <a:off x="6557162" y="20391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say_hello_to</a:t>
            </a:r>
            <a:endParaRPr lang="en-US" sz="1100" dirty="0"/>
          </a:p>
        </p:txBody>
      </p:sp>
      <p:sp>
        <p:nvSpPr>
          <p:cNvPr id="19" name="ltb|b3"/>
          <p:cNvSpPr/>
          <p:nvPr/>
        </p:nvSpPr>
        <p:spPr>
          <a:xfrm>
            <a:off x="5120640" y="2496312"/>
            <a:ext cx="1335938" cy="420624"/>
          </a:xfrm>
          <a:prstGeom prst="rect">
            <a:avLst/>
          </a:prstGeom>
          <a:solidFill>
            <a:srgbClr val="E3EEF8"/>
          </a:solidFill>
          <a:ln w="12700">
            <a:solidFill>
              <a:srgbClr val="E3EEF8"/>
            </a:solidFill>
            <a:prstDash val="solid"/>
          </a:ln>
        </p:spPr>
      </p:sp>
      <p:sp>
        <p:nvSpPr>
          <p:cNvPr id="20" name="lta|b3"/>
          <p:cNvSpPr txBox="1"/>
          <p:nvPr/>
        </p:nvSpPr>
        <p:spPr>
          <a:xfrm>
            <a:off x="5184648" y="2496312"/>
            <a:ext cx="1207922" cy="420624"/>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Comment</a:t>
            </a:r>
            <a:endParaRPr lang="en-US" sz="1200" dirty="0"/>
          </a:p>
        </p:txBody>
      </p:sp>
      <p:sp>
        <p:nvSpPr>
          <p:cNvPr id="21" name="ltb|b3"/>
          <p:cNvSpPr/>
          <p:nvPr/>
        </p:nvSpPr>
        <p:spPr>
          <a:xfrm>
            <a:off x="6493154" y="2496312"/>
            <a:ext cx="2239366" cy="420624"/>
          </a:xfrm>
          <a:prstGeom prst="rect">
            <a:avLst/>
          </a:prstGeom>
          <a:solidFill>
            <a:srgbClr val="F1F4F8"/>
          </a:solidFill>
          <a:ln w="12700">
            <a:solidFill>
              <a:srgbClr val="F1F4F8"/>
            </a:solidFill>
            <a:prstDash val="solid"/>
          </a:ln>
        </p:spPr>
      </p:sp>
      <p:sp>
        <p:nvSpPr>
          <p:cNvPr id="22" name="ltb2|b3"/>
          <p:cNvSpPr txBox="1"/>
          <p:nvPr/>
        </p:nvSpPr>
        <p:spPr>
          <a:xfrm>
            <a:off x="6557162" y="2496312"/>
            <a:ext cx="2074774" cy="420624"/>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 this is a comment</a:t>
            </a:r>
            <a:endParaRPr lang="en-US" sz="1100" dirty="0"/>
          </a:p>
        </p:txBody>
      </p:sp>
      <p:sp>
        <p:nvSpPr>
          <p:cNvPr id="23"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Style</a:t>
            </a:r>
            <a:endParaRPr lang="en-US" sz="950" dirty="0"/>
          </a:p>
        </p:txBody>
      </p:sp>
      <p:sp>
        <p:nvSpPr>
          <p:cNvPr id="24"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Function as a black box</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A function can be treated as a black box: its parameters go in, its return value comes out, and its local variables affect nothing else.</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A black box is a function used through its inputs and its output alone. The textbook says that often all you need to know about a function are its inputs, the parameters, and its output value, and that thinking of a function in this high-level way is called treating it as a black box (Sweigart, 2025). The chapter summary repeats the idea: the inputs are in the form of parameters, the outputs are return values, and the code in them does not affect variables in other functions.</a:t>
            </a:r>
            <a:endParaRPr lang="en-US" sz="1300" dirty="0"/>
          </a:p>
          <a:p>
            <a:pPr indent="0" marL="0">
              <a:spcAft>
                <a:spcPts val="700"/>
              </a:spcAft>
              <a:buNone/>
            </a:pPr>
            <a:r>
              <a:rPr lang="en-US" sz="1300" dirty="0">
                <a:solidFill>
                  <a:srgbClr val="1F2933"/>
                </a:solidFill>
                <a:latin typeface="Calibri" pitchFamily="34" charset="0"/>
                <a:ea typeface="Calibri" pitchFamily="34" charset="-122"/>
                <a:cs typeface="Calibri" pitchFamily="34" charset="-120"/>
              </a:rPr>
              <a:t>The idea rests on the scope rules of this chapter. Variables assigned in a function are local, so they disappear when the call ends, and a function that has no global statement cannot change a global variable. What goes in is the arguments, and what comes out is the return value. The textbook adds that because writing functions without global variables is encouraged, you usually do not have to worry about the function's code interacting with the rest of your program (Sweigart, 2025).</a:t>
            </a:r>
            <a:endParaRPr lang="en-US" sz="13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150" b="1" dirty="0">
                <a:solidFill>
                  <a:srgbClr val="B7791F"/>
                </a:solidFill>
                <a:latin typeface="Cambria" pitchFamily="34" charset="0"/>
                <a:ea typeface="Cambria" pitchFamily="34" charset="-122"/>
                <a:cs typeface="Cambria" pitchFamily="34" charset="-120"/>
              </a:rPr>
              <a:t>Watch out  </a:t>
            </a:r>
            <a:r>
              <a:rPr lang="en-US" sz="1150" dirty="0">
                <a:solidFill>
                  <a:srgbClr val="1F2933"/>
                </a:solidFill>
                <a:latin typeface="Calibri" pitchFamily="34" charset="0"/>
                <a:ea typeface="Calibri" pitchFamily="34" charset="-122"/>
                <a:cs typeface="Calibri" pitchFamily="34" charset="-120"/>
              </a:rPr>
              <a:t>The box is only as sealed as its author made it. A function that uses a global statement, or that reads a global variable that others may change, depends on something that is not in its parameters, and then the call f(2) no longer says everything about what the result will be. Printing instead of returning is the other leak: the output reaches a person but cannot be used by the caller.</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Style</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use it without reading it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Function naming</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PEP 8 asks for lowercase function names with words separated by underscores; Python tells names apart by case, so the call must match the definition.</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A function name is an identifier chosen by the programmer, and PEP 8 has a rule for it. Function names should be lowercase, with words separated by underscores as necessary to improve readability, and variable names follow the same convention; mixedCase is allowed only in contexts where that is already the prevailing style (Van Rossum et al., 2001). The chapter's own names, such as say_hello_to, follow it.</a:t>
            </a:r>
            <a:endParaRPr lang="en-US" sz="1350" dirty="0"/>
          </a:p>
          <a:p>
            <a:pPr indent="0" marL="0">
              <a:spcAft>
                <a:spcPts val="700"/>
              </a:spcAft>
              <a:buNone/>
            </a:pPr>
            <a:r>
              <a:rPr lang="en-US" sz="1350" dirty="0">
                <a:solidFill>
                  <a:srgbClr val="1F2933"/>
                </a:solidFill>
                <a:latin typeface="Calibri" pitchFamily="34" charset="0"/>
                <a:ea typeface="Calibri" pitchFamily="34" charset="-122"/>
                <a:cs typeface="Calibri" pitchFamily="34" charset="-120"/>
              </a:rPr>
              <a:t>PEP 8 also covers the case in which the best name is a keyword. If a function argument's name clashes with a reserved keyword, it is generally better to append a single trailing underscore rather than use an abbreviation or spelling corruption, so class_ is better than clss (Van Rossum et al., 2001). The check keyword.iskeyword tells whether a name is reserved: it says yes for def and for None and for lambda, and no for print, which is an ordinary function.</a:t>
            </a:r>
            <a:endParaRPr lang="en-US" sz="135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050" b="1" dirty="0">
                <a:solidFill>
                  <a:srgbClr val="B7791F"/>
                </a:solidFill>
                <a:latin typeface="Cambria" pitchFamily="34" charset="0"/>
                <a:ea typeface="Cambria" pitchFamily="34" charset="-122"/>
                <a:cs typeface="Cambria" pitchFamily="34" charset="-120"/>
              </a:rPr>
              <a:t>Watch out  </a:t>
            </a:r>
            <a:r>
              <a:rPr lang="en-US" sz="1050" dirty="0">
                <a:solidFill>
                  <a:srgbClr val="1F2933"/>
                </a:solidFill>
                <a:latin typeface="Calibri" pitchFamily="34" charset="0"/>
                <a:ea typeface="Calibri" pitchFamily="34" charset="-122"/>
                <a:cs typeface="Calibri" pitchFamily="34" charset="-120"/>
              </a:rPr>
              <a:t>The guide is a convention, not a rule enforced by Python: a function named Hello works exactly as well as one named hello, provided the calls use the same spelling. PEP 8 also warns that the guide is about consistency, and has a section titled A Foolish Consistency is the Hobgoblin of Little Minds, which says that in some cases the guide does not apply.</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Style</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say_hello_to</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Comment</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Text that starts with a hash character and runs to the end of the line; Python ignores it.</a:t>
            </a:r>
            <a:endParaRPr lang="en-US" sz="1300" dirty="0"/>
          </a:p>
        </p:txBody>
      </p:sp>
      <p:sp>
        <p:nvSpPr>
          <p:cNvPr id="6" name="prose"/>
          <p:cNvSpPr txBox="1"/>
          <p:nvPr/>
        </p:nvSpPr>
        <p:spPr>
          <a:xfrm>
            <a:off x="411480" y="1207008"/>
            <a:ext cx="8321040" cy="2377440"/>
          </a:xfrm>
          <a:prstGeom prst="rect">
            <a:avLst/>
          </a:prstGeom>
          <a:noFill/>
          <a:ln/>
        </p:spPr>
        <p:txBody>
          <a:bodyPr wrap="square" lIns="0" tIns="0" rIns="0" bIns="0" rtlCol="0" anchor="t"/>
          <a:lstStyle/>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A comment is a note for the human reader that Python does not execute. The tutorial says that comments in Python start with the hash character, #, and extend to the end of the physical line, that a comment may appear at the start of a line or following whitespace or code, and that since comments are to clarify code and are not interpreted by Python, they may be omitted when typing in examples (Python Software Foundation, 2026).</a:t>
            </a:r>
            <a:endParaRPr lang="en-US" sz="1400" dirty="0"/>
          </a:p>
          <a:p>
            <a:pPr indent="0" marL="0">
              <a:spcAft>
                <a:spcPts val="700"/>
              </a:spcAft>
              <a:buNone/>
            </a:pPr>
            <a:r>
              <a:rPr lang="en-US" sz="1400" dirty="0">
                <a:solidFill>
                  <a:srgbClr val="1F2933"/>
                </a:solidFill>
                <a:latin typeface="Calibri" pitchFamily="34" charset="0"/>
                <a:ea typeface="Calibri" pitchFamily="34" charset="-122"/>
                <a:cs typeface="Calibri" pitchFamily="34" charset="-120"/>
              </a:rPr>
              <a:t>PEP 8 distinguishes two kinds. Block comments generally apply to some or all of the code that follows them and are indented to the same level as that code; each line starts with a # and a single space. Inline comments are on the same line as a statement, are separated from it by at least two spaces, and should be used sparingly (Van Rossum et al., 2001). Comments should be complete sentences.</a:t>
            </a:r>
            <a:endParaRPr lang="en-US" sz="1400" dirty="0"/>
          </a:p>
        </p:txBody>
      </p:sp>
      <p:sp>
        <p:nvSpPr>
          <p:cNvPr id="7" name="band|b1"/>
          <p:cNvSpPr/>
          <p:nvPr/>
        </p:nvSpPr>
        <p:spPr>
          <a:xfrm>
            <a:off x="411480" y="3675888"/>
            <a:ext cx="8321040" cy="896112"/>
          </a:xfrm>
          <a:prstGeom prst="roundRect">
            <a:avLst>
              <a:gd name="adj" fmla="val 10204"/>
            </a:avLst>
          </a:prstGeom>
          <a:solidFill>
            <a:srgbClr val="FCEFD0"/>
          </a:solidFill>
          <a:ln w="25400">
            <a:solidFill>
              <a:srgbClr val="B7791F"/>
            </a:solidFill>
            <a:prstDash val="solid"/>
          </a:ln>
        </p:spPr>
      </p:sp>
      <p:sp>
        <p:nvSpPr>
          <p:cNvPr id="8" name="bandt|b1"/>
          <p:cNvSpPr txBox="1"/>
          <p:nvPr/>
        </p:nvSpPr>
        <p:spPr>
          <a:xfrm>
            <a:off x="576072" y="3730752"/>
            <a:ext cx="7991856" cy="786384"/>
          </a:xfrm>
          <a:prstGeom prst="rect">
            <a:avLst/>
          </a:prstGeom>
          <a:noFill/>
          <a:ln/>
        </p:spPr>
        <p:txBody>
          <a:bodyPr wrap="square" lIns="0" tIns="0" rIns="0" bIns="0" rtlCol="0" anchor="t"/>
          <a:lstStyle/>
          <a:p>
            <a:pPr indent="0" marL="0">
              <a:buNone/>
            </a:pPr>
            <a:r>
              <a:rPr lang="en-US" sz="1200" b="1" dirty="0">
                <a:solidFill>
                  <a:srgbClr val="B7791F"/>
                </a:solidFill>
                <a:latin typeface="Cambria" pitchFamily="34" charset="0"/>
                <a:ea typeface="Cambria" pitchFamily="34" charset="-122"/>
                <a:cs typeface="Cambria" pitchFamily="34" charset="-120"/>
              </a:rPr>
              <a:t>Watch out  </a:t>
            </a:r>
            <a:r>
              <a:rPr lang="en-US" sz="1200" dirty="0">
                <a:solidFill>
                  <a:srgbClr val="1F2933"/>
                </a:solidFill>
                <a:latin typeface="Calibri" pitchFamily="34" charset="0"/>
                <a:ea typeface="Calibri" pitchFamily="34" charset="-122"/>
                <a:cs typeface="Calibri" pitchFamily="34" charset="-120"/>
              </a:rPr>
              <a:t>A comment that restates the code adds noise. PEP 8 gives the example x = x + 1 with the comment Increment x, and calls such comments unnecessary and in fact distracting, whereas a comment such as Compensate for border is useful (Van Rossum et al., 2001). A hash inside a string literal does not start a comment, which is the mistake the example above demonstrates.</a:t>
            </a:r>
            <a:endParaRPr lang="en-US" sz="130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Modern practice  &gt;  Style</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950" dirty="0">
                <a:solidFill>
                  <a:srgbClr val="5B6B7B"/>
                </a:solidFill>
                <a:latin typeface="Calibri" pitchFamily="34" charset="0"/>
                <a:ea typeface="Calibri" pitchFamily="34" charset="-122"/>
                <a:cs typeface="Calibri" pitchFamily="34" charset="-120"/>
              </a:rPr>
              <a:t>example: # this is a comment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The chapter closed against the objectives it opened with</a:t>
            </a:r>
            <a:endParaRPr lang="en-US" sz="1400" dirty="0"/>
          </a:p>
        </p:txBody>
      </p:sp>
      <p:sp>
        <p:nvSpPr>
          <p:cNvPr id="6" name="rc|b1"/>
          <p:cNvSpPr/>
          <p:nvPr/>
        </p:nvSpPr>
        <p:spPr>
          <a:xfrm>
            <a:off x="411480" y="1207008"/>
            <a:ext cx="868680" cy="640080"/>
          </a:xfrm>
          <a:prstGeom prst="roundRect">
            <a:avLst>
              <a:gd name="adj" fmla="val 11429"/>
            </a:avLst>
          </a:prstGeom>
          <a:solidFill>
            <a:srgbClr val="2E9E5B"/>
          </a:solidFill>
          <a:ln w="12700">
            <a:solidFill>
              <a:srgbClr val="2E9E5B"/>
            </a:solidFill>
            <a:prstDash val="solid"/>
          </a:ln>
        </p:spPr>
      </p:sp>
      <p:sp>
        <p:nvSpPr>
          <p:cNvPr id="7" name="rcc|b1"/>
          <p:cNvSpPr txBox="1"/>
          <p:nvPr/>
        </p:nvSpPr>
        <p:spPr>
          <a:xfrm>
            <a:off x="411480" y="1207008"/>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CO1</a:t>
            </a:r>
            <a:endParaRPr lang="en-US" sz="1600" dirty="0"/>
          </a:p>
        </p:txBody>
      </p:sp>
      <p:sp>
        <p:nvSpPr>
          <p:cNvPr id="8" name="rct|b1"/>
          <p:cNvSpPr txBox="1"/>
          <p:nvPr/>
        </p:nvSpPr>
        <p:spPr>
          <a:xfrm>
            <a:off x="1463040" y="1207008"/>
            <a:ext cx="726948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Write and call a function with def, and trace what the call and the return do</a:t>
            </a:r>
            <a:endParaRPr lang="en-US" sz="1400" dirty="0"/>
          </a:p>
        </p:txBody>
      </p:sp>
      <p:sp>
        <p:nvSpPr>
          <p:cNvPr id="9" name="rc|b2"/>
          <p:cNvSpPr/>
          <p:nvPr/>
        </p:nvSpPr>
        <p:spPr>
          <a:xfrm>
            <a:off x="411480" y="1901952"/>
            <a:ext cx="868680" cy="640080"/>
          </a:xfrm>
          <a:prstGeom prst="roundRect">
            <a:avLst>
              <a:gd name="adj" fmla="val 11429"/>
            </a:avLst>
          </a:prstGeom>
          <a:solidFill>
            <a:srgbClr val="2E9E5B"/>
          </a:solidFill>
          <a:ln w="12700">
            <a:solidFill>
              <a:srgbClr val="2E9E5B"/>
            </a:solidFill>
            <a:prstDash val="solid"/>
          </a:ln>
        </p:spPr>
      </p:sp>
      <p:sp>
        <p:nvSpPr>
          <p:cNvPr id="10" name="rcc|b2"/>
          <p:cNvSpPr txBox="1"/>
          <p:nvPr/>
        </p:nvSpPr>
        <p:spPr>
          <a:xfrm>
            <a:off x="411480" y="1901952"/>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CO2</a:t>
            </a:r>
            <a:endParaRPr lang="en-US" sz="1600" dirty="0"/>
          </a:p>
        </p:txBody>
      </p:sp>
      <p:sp>
        <p:nvSpPr>
          <p:cNvPr id="11" name="rct|b2"/>
          <p:cNvSpPr txBox="1"/>
          <p:nvPr/>
        </p:nvSpPr>
        <p:spPr>
          <a:xfrm>
            <a:off x="1463040" y="1901952"/>
            <a:ext cx="726948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Choose between positional, keyword, default, keyword-only and positional-only parameters for a given call</a:t>
            </a:r>
            <a:endParaRPr lang="en-US" sz="1400" dirty="0"/>
          </a:p>
        </p:txBody>
      </p:sp>
      <p:sp>
        <p:nvSpPr>
          <p:cNvPr id="12" name="rc|b3"/>
          <p:cNvSpPr/>
          <p:nvPr/>
        </p:nvSpPr>
        <p:spPr>
          <a:xfrm>
            <a:off x="411480" y="2596896"/>
            <a:ext cx="868680" cy="640080"/>
          </a:xfrm>
          <a:prstGeom prst="roundRect">
            <a:avLst>
              <a:gd name="adj" fmla="val 11429"/>
            </a:avLst>
          </a:prstGeom>
          <a:solidFill>
            <a:srgbClr val="2E9E5B"/>
          </a:solidFill>
          <a:ln w="12700">
            <a:solidFill>
              <a:srgbClr val="2E9E5B"/>
            </a:solidFill>
            <a:prstDash val="solid"/>
          </a:ln>
        </p:spPr>
      </p:sp>
      <p:sp>
        <p:nvSpPr>
          <p:cNvPr id="13" name="rcc|b3"/>
          <p:cNvSpPr txBox="1"/>
          <p:nvPr/>
        </p:nvSpPr>
        <p:spPr>
          <a:xfrm>
            <a:off x="411480" y="2596896"/>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CO3</a:t>
            </a:r>
            <a:endParaRPr lang="en-US" sz="1600" dirty="0"/>
          </a:p>
        </p:txBody>
      </p:sp>
      <p:sp>
        <p:nvSpPr>
          <p:cNvPr id="14" name="rct|b3"/>
          <p:cNvSpPr txBox="1"/>
          <p:nvPr/>
        </p:nvSpPr>
        <p:spPr>
          <a:xfrm>
            <a:off x="1463040" y="2596896"/>
            <a:ext cx="726948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Predict what a function returns, including None, and explain how the call stack and the recursion limit bound nested calls</a:t>
            </a:r>
            <a:endParaRPr lang="en-US" sz="1400" dirty="0"/>
          </a:p>
        </p:txBody>
      </p:sp>
      <p:sp>
        <p:nvSpPr>
          <p:cNvPr id="15" name="rc|b4"/>
          <p:cNvSpPr/>
          <p:nvPr/>
        </p:nvSpPr>
        <p:spPr>
          <a:xfrm>
            <a:off x="411480" y="3291840"/>
            <a:ext cx="868680" cy="640080"/>
          </a:xfrm>
          <a:prstGeom prst="roundRect">
            <a:avLst>
              <a:gd name="adj" fmla="val 11429"/>
            </a:avLst>
          </a:prstGeom>
          <a:solidFill>
            <a:srgbClr val="2E9E5B"/>
          </a:solidFill>
          <a:ln w="12700">
            <a:solidFill>
              <a:srgbClr val="2E9E5B"/>
            </a:solidFill>
            <a:prstDash val="solid"/>
          </a:ln>
        </p:spPr>
      </p:sp>
      <p:sp>
        <p:nvSpPr>
          <p:cNvPr id="16" name="rcc|b4"/>
          <p:cNvSpPr txBox="1"/>
          <p:nvPr/>
        </p:nvSpPr>
        <p:spPr>
          <a:xfrm>
            <a:off x="411480" y="3291840"/>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CO4</a:t>
            </a:r>
            <a:endParaRPr lang="en-US" sz="1600" dirty="0"/>
          </a:p>
        </p:txBody>
      </p:sp>
      <p:sp>
        <p:nvSpPr>
          <p:cNvPr id="17" name="rct|b4"/>
          <p:cNvSpPr txBox="1"/>
          <p:nvPr/>
        </p:nvSpPr>
        <p:spPr>
          <a:xfrm>
            <a:off x="1463040" y="3291840"/>
            <a:ext cx="726948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Decide whether a name is local or global, and repair an UnboundLocalError with global or nonlocal</a:t>
            </a:r>
            <a:endParaRPr lang="en-US" sz="1400" dirty="0"/>
          </a:p>
        </p:txBody>
      </p:sp>
      <p:sp>
        <p:nvSpPr>
          <p:cNvPr id="18" name="rc|b5"/>
          <p:cNvSpPr/>
          <p:nvPr/>
        </p:nvSpPr>
        <p:spPr>
          <a:xfrm>
            <a:off x="411480" y="3986784"/>
            <a:ext cx="868680" cy="640080"/>
          </a:xfrm>
          <a:prstGeom prst="roundRect">
            <a:avLst>
              <a:gd name="adj" fmla="val 11429"/>
            </a:avLst>
          </a:prstGeom>
          <a:solidFill>
            <a:srgbClr val="2E9E5B"/>
          </a:solidFill>
          <a:ln w="12700">
            <a:solidFill>
              <a:srgbClr val="2E9E5B"/>
            </a:solidFill>
            <a:prstDash val="solid"/>
          </a:ln>
        </p:spPr>
      </p:sp>
      <p:sp>
        <p:nvSpPr>
          <p:cNvPr id="19" name="rcc|b5"/>
          <p:cNvSpPr txBox="1"/>
          <p:nvPr/>
        </p:nvSpPr>
        <p:spPr>
          <a:xfrm>
            <a:off x="411480" y="3986784"/>
            <a:ext cx="868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CO5</a:t>
            </a:r>
            <a:endParaRPr lang="en-US" sz="1600" dirty="0"/>
          </a:p>
        </p:txBody>
      </p:sp>
      <p:sp>
        <p:nvSpPr>
          <p:cNvPr id="20" name="rct|b5"/>
          <p:cNvSpPr txBox="1"/>
          <p:nvPr/>
        </p:nvSpPr>
        <p:spPr>
          <a:xfrm>
            <a:off x="1463040" y="3986784"/>
            <a:ext cx="726948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Handle an error raised inside a call with try/except, for one or several exception types</a:t>
            </a:r>
            <a:endParaRPr lang="en-US" sz="1400" dirty="0"/>
          </a:p>
        </p:txBody>
      </p:sp>
      <p:sp>
        <p:nvSpPr>
          <p:cNvPr id="2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Source: objectives_v1_0_0.json</a:t>
            </a:r>
            <a:endParaRPr lang="en-US" sz="950" dirty="0"/>
          </a:p>
        </p:txBody>
      </p:sp>
      <p:sp>
        <p:nvSpPr>
          <p:cNvPr id="2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(1 of 5)</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then click for the answer; the reason for each is in the notes</a:t>
            </a:r>
            <a:endParaRPr lang="en-US" sz="1400" dirty="0"/>
          </a:p>
        </p:txBody>
      </p:sp>
      <p:sp>
        <p:nvSpPr>
          <p:cNvPr id="6" name="qn"/>
          <p:cNvSpPr/>
          <p:nvPr/>
        </p:nvSpPr>
        <p:spPr>
          <a:xfrm>
            <a:off x="411480" y="1243584"/>
            <a:ext cx="402336" cy="402336"/>
          </a:xfrm>
          <a:prstGeom prst="ellipse">
            <a:avLst/>
          </a:prstGeom>
          <a:solidFill>
            <a:srgbClr val="FFD43B"/>
          </a:solidFill>
          <a:ln w="12700">
            <a:solidFill>
              <a:srgbClr val="FFD43B"/>
            </a:solidFill>
            <a:prstDash val="solid"/>
          </a:ln>
        </p:spPr>
      </p:sp>
      <p:sp>
        <p:nvSpPr>
          <p:cNvPr id="7" name="qnt"/>
          <p:cNvSpPr txBox="1"/>
          <p:nvPr/>
        </p:nvSpPr>
        <p:spPr>
          <a:xfrm>
            <a:off x="411480" y="1243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a:t>
            </a:r>
            <a:endParaRPr lang="en-US" sz="1400" dirty="0"/>
          </a:p>
        </p:txBody>
      </p:sp>
      <p:sp>
        <p:nvSpPr>
          <p:cNvPr id="8" name="qq"/>
          <p:cNvSpPr txBox="1"/>
          <p:nvPr/>
        </p:nvSpPr>
        <p:spPr>
          <a:xfrm>
            <a:off x="914400" y="1207008"/>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is the main idea of a function in this chapter?</a:t>
            </a:r>
            <a:endParaRPr lang="en-US" sz="1250" dirty="0"/>
          </a:p>
        </p:txBody>
      </p:sp>
      <p:sp>
        <p:nvSpPr>
          <p:cNvPr id="9" name="qa|b1"/>
          <p:cNvSpPr/>
          <p:nvPr/>
        </p:nvSpPr>
        <p:spPr>
          <a:xfrm>
            <a:off x="5257800" y="1225296"/>
            <a:ext cx="3474720" cy="585216"/>
          </a:xfrm>
          <a:prstGeom prst="roundRect">
            <a:avLst>
              <a:gd name="adj" fmla="val 12500"/>
            </a:avLst>
          </a:prstGeom>
          <a:solidFill>
            <a:srgbClr val="DDF3E6"/>
          </a:solidFill>
          <a:ln w="12700">
            <a:solidFill>
              <a:srgbClr val="2E9E5B"/>
            </a:solidFill>
            <a:prstDash val="solid"/>
          </a:ln>
        </p:spPr>
      </p:sp>
      <p:sp>
        <p:nvSpPr>
          <p:cNvPr id="10" name="qat|b1"/>
          <p:cNvSpPr txBox="1"/>
          <p:nvPr/>
        </p:nvSpPr>
        <p:spPr>
          <a:xfrm>
            <a:off x="5367528" y="1225296"/>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A named block of code that can be run from many places, take values in and hand a value back</a:t>
            </a:r>
            <a:endParaRPr lang="en-US" sz="1150" dirty="0"/>
          </a:p>
        </p:txBody>
      </p:sp>
      <p:sp>
        <p:nvSpPr>
          <p:cNvPr id="11" name="qn"/>
          <p:cNvSpPr/>
          <p:nvPr/>
        </p:nvSpPr>
        <p:spPr>
          <a:xfrm>
            <a:off x="411480" y="1911096"/>
            <a:ext cx="402336" cy="402336"/>
          </a:xfrm>
          <a:prstGeom prst="ellipse">
            <a:avLst/>
          </a:prstGeom>
          <a:solidFill>
            <a:srgbClr val="FFD43B"/>
          </a:solidFill>
          <a:ln w="12700">
            <a:solidFill>
              <a:srgbClr val="FFD43B"/>
            </a:solidFill>
            <a:prstDash val="solid"/>
          </a:ln>
        </p:spPr>
      </p:sp>
      <p:sp>
        <p:nvSpPr>
          <p:cNvPr id="12" name="qnt"/>
          <p:cNvSpPr txBox="1"/>
          <p:nvPr/>
        </p:nvSpPr>
        <p:spPr>
          <a:xfrm>
            <a:off x="411480" y="191109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a:t>
            </a:r>
            <a:endParaRPr lang="en-US" sz="1400" dirty="0"/>
          </a:p>
        </p:txBody>
      </p:sp>
      <p:sp>
        <p:nvSpPr>
          <p:cNvPr id="13" name="qq"/>
          <p:cNvSpPr txBox="1"/>
          <p:nvPr/>
        </p:nvSpPr>
        <p:spPr>
          <a:xfrm>
            <a:off x="914400" y="1874520"/>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keyword begins the statement that creates a new function?</a:t>
            </a:r>
            <a:endParaRPr lang="en-US" sz="1250" dirty="0"/>
          </a:p>
        </p:txBody>
      </p:sp>
      <p:sp>
        <p:nvSpPr>
          <p:cNvPr id="14" name="qa|b2"/>
          <p:cNvSpPr/>
          <p:nvPr/>
        </p:nvSpPr>
        <p:spPr>
          <a:xfrm>
            <a:off x="5257800" y="1892808"/>
            <a:ext cx="3474720" cy="585216"/>
          </a:xfrm>
          <a:prstGeom prst="roundRect">
            <a:avLst>
              <a:gd name="adj" fmla="val 12500"/>
            </a:avLst>
          </a:prstGeom>
          <a:solidFill>
            <a:srgbClr val="DDF3E6"/>
          </a:solidFill>
          <a:ln w="12700">
            <a:solidFill>
              <a:srgbClr val="2E9E5B"/>
            </a:solidFill>
            <a:prstDash val="solid"/>
          </a:ln>
        </p:spPr>
      </p:sp>
      <p:sp>
        <p:nvSpPr>
          <p:cNvPr id="15" name="qat|b2"/>
          <p:cNvSpPr txBox="1"/>
          <p:nvPr/>
        </p:nvSpPr>
        <p:spPr>
          <a:xfrm>
            <a:off x="5367528" y="1892808"/>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def</a:t>
            </a:r>
            <a:endParaRPr lang="en-US" sz="1150" dirty="0"/>
          </a:p>
        </p:txBody>
      </p:sp>
      <p:sp>
        <p:nvSpPr>
          <p:cNvPr id="16" name="qn"/>
          <p:cNvSpPr/>
          <p:nvPr/>
        </p:nvSpPr>
        <p:spPr>
          <a:xfrm>
            <a:off x="411480" y="2578608"/>
            <a:ext cx="402336" cy="402336"/>
          </a:xfrm>
          <a:prstGeom prst="ellipse">
            <a:avLst/>
          </a:prstGeom>
          <a:solidFill>
            <a:srgbClr val="FFD43B"/>
          </a:solidFill>
          <a:ln w="12700">
            <a:solidFill>
              <a:srgbClr val="FFD43B"/>
            </a:solidFill>
            <a:prstDash val="solid"/>
          </a:ln>
        </p:spPr>
      </p:sp>
      <p:sp>
        <p:nvSpPr>
          <p:cNvPr id="17" name="qnt"/>
          <p:cNvSpPr txBox="1"/>
          <p:nvPr/>
        </p:nvSpPr>
        <p:spPr>
          <a:xfrm>
            <a:off x="411480" y="257860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3</a:t>
            </a:r>
            <a:endParaRPr lang="en-US" sz="1400" dirty="0"/>
          </a:p>
        </p:txBody>
      </p:sp>
      <p:sp>
        <p:nvSpPr>
          <p:cNvPr id="18" name="qq"/>
          <p:cNvSpPr txBox="1"/>
          <p:nvPr/>
        </p:nvSpPr>
        <p:spPr>
          <a:xfrm>
            <a:off x="914400" y="2542032"/>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When does the body of a function run?</a:t>
            </a:r>
            <a:endParaRPr lang="en-US" sz="1250" dirty="0"/>
          </a:p>
        </p:txBody>
      </p:sp>
      <p:sp>
        <p:nvSpPr>
          <p:cNvPr id="19" name="qa|b3"/>
          <p:cNvSpPr/>
          <p:nvPr/>
        </p:nvSpPr>
        <p:spPr>
          <a:xfrm>
            <a:off x="5257800" y="2560320"/>
            <a:ext cx="3474720" cy="585216"/>
          </a:xfrm>
          <a:prstGeom prst="roundRect">
            <a:avLst>
              <a:gd name="adj" fmla="val 12500"/>
            </a:avLst>
          </a:prstGeom>
          <a:solidFill>
            <a:srgbClr val="DDF3E6"/>
          </a:solidFill>
          <a:ln w="12700">
            <a:solidFill>
              <a:srgbClr val="2E9E5B"/>
            </a:solidFill>
            <a:prstDash val="solid"/>
          </a:ln>
        </p:spPr>
      </p:sp>
      <p:sp>
        <p:nvSpPr>
          <p:cNvPr id="20" name="qat|b3"/>
          <p:cNvSpPr txBox="1"/>
          <p:nvPr/>
        </p:nvSpPr>
        <p:spPr>
          <a:xfrm>
            <a:off x="5367528" y="2560320"/>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Each time the function is called, and not when the def statement is executed</a:t>
            </a:r>
            <a:endParaRPr lang="en-US" sz="1150" dirty="0"/>
          </a:p>
        </p:txBody>
      </p:sp>
      <p:sp>
        <p:nvSpPr>
          <p:cNvPr id="21" name="qn"/>
          <p:cNvSpPr/>
          <p:nvPr/>
        </p:nvSpPr>
        <p:spPr>
          <a:xfrm>
            <a:off x="411480" y="3246120"/>
            <a:ext cx="402336" cy="402336"/>
          </a:xfrm>
          <a:prstGeom prst="ellipse">
            <a:avLst/>
          </a:prstGeom>
          <a:solidFill>
            <a:srgbClr val="FFD43B"/>
          </a:solidFill>
          <a:ln w="12700">
            <a:solidFill>
              <a:srgbClr val="FFD43B"/>
            </a:solidFill>
            <a:prstDash val="solid"/>
          </a:ln>
        </p:spPr>
      </p:sp>
      <p:sp>
        <p:nvSpPr>
          <p:cNvPr id="22" name="qnt"/>
          <p:cNvSpPr txBox="1"/>
          <p:nvPr/>
        </p:nvSpPr>
        <p:spPr>
          <a:xfrm>
            <a:off x="411480" y="324612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4</a:t>
            </a:r>
            <a:endParaRPr lang="en-US" sz="1400" dirty="0"/>
          </a:p>
        </p:txBody>
      </p:sp>
      <p:sp>
        <p:nvSpPr>
          <p:cNvPr id="23" name="qq"/>
          <p:cNvSpPr txBox="1"/>
          <p:nvPr/>
        </p:nvSpPr>
        <p:spPr>
          <a:xfrm>
            <a:off x="914400" y="3209544"/>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a function call evaluate to?</a:t>
            </a:r>
            <a:endParaRPr lang="en-US" sz="1250" dirty="0"/>
          </a:p>
        </p:txBody>
      </p:sp>
      <p:sp>
        <p:nvSpPr>
          <p:cNvPr id="24" name="qa|b4"/>
          <p:cNvSpPr/>
          <p:nvPr/>
        </p:nvSpPr>
        <p:spPr>
          <a:xfrm>
            <a:off x="5257800" y="3227832"/>
            <a:ext cx="3474720" cy="585216"/>
          </a:xfrm>
          <a:prstGeom prst="roundRect">
            <a:avLst>
              <a:gd name="adj" fmla="val 12500"/>
            </a:avLst>
          </a:prstGeom>
          <a:solidFill>
            <a:srgbClr val="DDF3E6"/>
          </a:solidFill>
          <a:ln w="12700">
            <a:solidFill>
              <a:srgbClr val="2E9E5B"/>
            </a:solidFill>
            <a:prstDash val="solid"/>
          </a:ln>
        </p:spPr>
      </p:sp>
      <p:sp>
        <p:nvSpPr>
          <p:cNvPr id="25" name="qat|b4"/>
          <p:cNvSpPr txBox="1"/>
          <p:nvPr/>
        </p:nvSpPr>
        <p:spPr>
          <a:xfrm>
            <a:off x="5367528" y="3227832"/>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Its return value, so the call can be used wherever a value can</a:t>
            </a:r>
            <a:endParaRPr lang="en-US" sz="1150" dirty="0"/>
          </a:p>
        </p:txBody>
      </p:sp>
      <p:sp>
        <p:nvSpPr>
          <p:cNvPr id="26" name="qn"/>
          <p:cNvSpPr/>
          <p:nvPr/>
        </p:nvSpPr>
        <p:spPr>
          <a:xfrm>
            <a:off x="411480" y="3913632"/>
            <a:ext cx="402336" cy="402336"/>
          </a:xfrm>
          <a:prstGeom prst="ellipse">
            <a:avLst/>
          </a:prstGeom>
          <a:solidFill>
            <a:srgbClr val="FFD43B"/>
          </a:solidFill>
          <a:ln w="12700">
            <a:solidFill>
              <a:srgbClr val="FFD43B"/>
            </a:solidFill>
            <a:prstDash val="solid"/>
          </a:ln>
        </p:spPr>
      </p:sp>
      <p:sp>
        <p:nvSpPr>
          <p:cNvPr id="27" name="qnt"/>
          <p:cNvSpPr txBox="1"/>
          <p:nvPr/>
        </p:nvSpPr>
        <p:spPr>
          <a:xfrm>
            <a:off x="411480" y="391363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5</a:t>
            </a:r>
            <a:endParaRPr lang="en-US" sz="1400" dirty="0"/>
          </a:p>
        </p:txBody>
      </p:sp>
      <p:sp>
        <p:nvSpPr>
          <p:cNvPr id="28" name="qq"/>
          <p:cNvSpPr txBox="1"/>
          <p:nvPr/>
        </p:nvSpPr>
        <p:spPr>
          <a:xfrm>
            <a:off x="914400" y="3877056"/>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this program print?</a:t>
            </a:r>
            <a:endParaRPr lang="en-US" sz="1250" dirty="0"/>
          </a:p>
        </p:txBody>
      </p:sp>
      <p:sp>
        <p:nvSpPr>
          <p:cNvPr id="29" name="qa|b5"/>
          <p:cNvSpPr/>
          <p:nvPr/>
        </p:nvSpPr>
        <p:spPr>
          <a:xfrm>
            <a:off x="5257800" y="3895344"/>
            <a:ext cx="3474720" cy="585216"/>
          </a:xfrm>
          <a:prstGeom prst="roundRect">
            <a:avLst>
              <a:gd name="adj" fmla="val 12500"/>
            </a:avLst>
          </a:prstGeom>
          <a:solidFill>
            <a:srgbClr val="DDF3E6"/>
          </a:solidFill>
          <a:ln w="12700">
            <a:solidFill>
              <a:srgbClr val="2E9E5B"/>
            </a:solidFill>
            <a:prstDash val="solid"/>
          </a:ln>
        </p:spPr>
      </p:sp>
      <p:sp>
        <p:nvSpPr>
          <p:cNvPr id="30" name="qat|b5"/>
          <p:cNvSpPr txBox="1"/>
          <p:nvPr/>
        </p:nvSpPr>
        <p:spPr>
          <a:xfrm>
            <a:off x="5367528" y="3895344"/>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12</a:t>
            </a:r>
            <a:endParaRPr lang="en-US" sz="115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question_bank_v1_1_0.json, the chapter's own question bank</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(2 of 5)</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then click for the answer; the reason for each is in the notes</a:t>
            </a:r>
            <a:endParaRPr lang="en-US" sz="1400" dirty="0"/>
          </a:p>
        </p:txBody>
      </p:sp>
      <p:sp>
        <p:nvSpPr>
          <p:cNvPr id="6" name="qn"/>
          <p:cNvSpPr/>
          <p:nvPr/>
        </p:nvSpPr>
        <p:spPr>
          <a:xfrm>
            <a:off x="411480" y="1243584"/>
            <a:ext cx="402336" cy="402336"/>
          </a:xfrm>
          <a:prstGeom prst="ellipse">
            <a:avLst/>
          </a:prstGeom>
          <a:solidFill>
            <a:srgbClr val="FFD43B"/>
          </a:solidFill>
          <a:ln w="12700">
            <a:solidFill>
              <a:srgbClr val="FFD43B"/>
            </a:solidFill>
            <a:prstDash val="solid"/>
          </a:ln>
        </p:spPr>
      </p:sp>
      <p:sp>
        <p:nvSpPr>
          <p:cNvPr id="7" name="qnt"/>
          <p:cNvSpPr txBox="1"/>
          <p:nvPr/>
        </p:nvSpPr>
        <p:spPr>
          <a:xfrm>
            <a:off x="411480" y="1243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6</a:t>
            </a:r>
            <a:endParaRPr lang="en-US" sz="1400" dirty="0"/>
          </a:p>
        </p:txBody>
      </p:sp>
      <p:sp>
        <p:nvSpPr>
          <p:cNvPr id="8" name="qq"/>
          <p:cNvSpPr txBox="1"/>
          <p:nvPr/>
        </p:nvSpPr>
        <p:spPr>
          <a:xfrm>
            <a:off x="914400" y="1207008"/>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a return statement with no expression after it give back?</a:t>
            </a:r>
            <a:endParaRPr lang="en-US" sz="1250" dirty="0"/>
          </a:p>
        </p:txBody>
      </p:sp>
      <p:sp>
        <p:nvSpPr>
          <p:cNvPr id="9" name="qa|b1"/>
          <p:cNvSpPr/>
          <p:nvPr/>
        </p:nvSpPr>
        <p:spPr>
          <a:xfrm>
            <a:off x="5257800" y="1225296"/>
            <a:ext cx="3474720" cy="585216"/>
          </a:xfrm>
          <a:prstGeom prst="roundRect">
            <a:avLst>
              <a:gd name="adj" fmla="val 12500"/>
            </a:avLst>
          </a:prstGeom>
          <a:solidFill>
            <a:srgbClr val="DDF3E6"/>
          </a:solidFill>
          <a:ln w="12700">
            <a:solidFill>
              <a:srgbClr val="2E9E5B"/>
            </a:solidFill>
            <a:prstDash val="solid"/>
          </a:ln>
        </p:spPr>
      </p:sp>
      <p:sp>
        <p:nvSpPr>
          <p:cNvPr id="10" name="qat|b1"/>
          <p:cNvSpPr txBox="1"/>
          <p:nvPr/>
        </p:nvSpPr>
        <p:spPr>
          <a:xfrm>
            <a:off x="5367528" y="1225296"/>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None</a:t>
            </a:r>
            <a:endParaRPr lang="en-US" sz="1150" dirty="0"/>
          </a:p>
        </p:txBody>
      </p:sp>
      <p:sp>
        <p:nvSpPr>
          <p:cNvPr id="11" name="qn"/>
          <p:cNvSpPr/>
          <p:nvPr/>
        </p:nvSpPr>
        <p:spPr>
          <a:xfrm>
            <a:off x="411480" y="1911096"/>
            <a:ext cx="402336" cy="402336"/>
          </a:xfrm>
          <a:prstGeom prst="ellipse">
            <a:avLst/>
          </a:prstGeom>
          <a:solidFill>
            <a:srgbClr val="FFD43B"/>
          </a:solidFill>
          <a:ln w="12700">
            <a:solidFill>
              <a:srgbClr val="FFD43B"/>
            </a:solidFill>
            <a:prstDash val="solid"/>
          </a:ln>
        </p:spPr>
      </p:sp>
      <p:sp>
        <p:nvSpPr>
          <p:cNvPr id="12" name="qnt"/>
          <p:cNvSpPr txBox="1"/>
          <p:nvPr/>
        </p:nvSpPr>
        <p:spPr>
          <a:xfrm>
            <a:off x="411480" y="191109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7</a:t>
            </a:r>
            <a:endParaRPr lang="en-US" sz="1400" dirty="0"/>
          </a:p>
        </p:txBody>
      </p:sp>
      <p:sp>
        <p:nvSpPr>
          <p:cNvPr id="13" name="qq"/>
          <p:cNvSpPr txBox="1"/>
          <p:nvPr/>
        </p:nvSpPr>
        <p:spPr>
          <a:xfrm>
            <a:off x="914400" y="1874520"/>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question does the call stack answer?</a:t>
            </a:r>
            <a:endParaRPr lang="en-US" sz="1250" dirty="0"/>
          </a:p>
        </p:txBody>
      </p:sp>
      <p:sp>
        <p:nvSpPr>
          <p:cNvPr id="14" name="qa|b2"/>
          <p:cNvSpPr/>
          <p:nvPr/>
        </p:nvSpPr>
        <p:spPr>
          <a:xfrm>
            <a:off x="5257800" y="1892808"/>
            <a:ext cx="3474720" cy="585216"/>
          </a:xfrm>
          <a:prstGeom prst="roundRect">
            <a:avLst>
              <a:gd name="adj" fmla="val 12500"/>
            </a:avLst>
          </a:prstGeom>
          <a:solidFill>
            <a:srgbClr val="DDF3E6"/>
          </a:solidFill>
          <a:ln w="12700">
            <a:solidFill>
              <a:srgbClr val="2E9E5B"/>
            </a:solidFill>
            <a:prstDash val="solid"/>
          </a:ln>
        </p:spPr>
      </p:sp>
      <p:sp>
        <p:nvSpPr>
          <p:cNvPr id="15" name="qat|b2"/>
          <p:cNvSpPr txBox="1"/>
          <p:nvPr/>
        </p:nvSpPr>
        <p:spPr>
          <a:xfrm>
            <a:off x="5367528" y="1892808"/>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Where execution goes back to when a function returns</a:t>
            </a:r>
            <a:endParaRPr lang="en-US" sz="1150" dirty="0"/>
          </a:p>
        </p:txBody>
      </p:sp>
      <p:sp>
        <p:nvSpPr>
          <p:cNvPr id="16" name="qn"/>
          <p:cNvSpPr/>
          <p:nvPr/>
        </p:nvSpPr>
        <p:spPr>
          <a:xfrm>
            <a:off x="411480" y="2578608"/>
            <a:ext cx="402336" cy="402336"/>
          </a:xfrm>
          <a:prstGeom prst="ellipse">
            <a:avLst/>
          </a:prstGeom>
          <a:solidFill>
            <a:srgbClr val="FFD43B"/>
          </a:solidFill>
          <a:ln w="12700">
            <a:solidFill>
              <a:srgbClr val="FFD43B"/>
            </a:solidFill>
            <a:prstDash val="solid"/>
          </a:ln>
        </p:spPr>
      </p:sp>
      <p:sp>
        <p:nvSpPr>
          <p:cNvPr id="17" name="qnt"/>
          <p:cNvSpPr txBox="1"/>
          <p:nvPr/>
        </p:nvSpPr>
        <p:spPr>
          <a:xfrm>
            <a:off x="411480" y="257860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8</a:t>
            </a:r>
            <a:endParaRPr lang="en-US" sz="1400" dirty="0"/>
          </a:p>
        </p:txBody>
      </p:sp>
      <p:sp>
        <p:nvSpPr>
          <p:cNvPr id="18" name="qq"/>
          <p:cNvSpPr txBox="1"/>
          <p:nvPr/>
        </p:nvSpPr>
        <p:spPr>
          <a:xfrm>
            <a:off x="914400" y="2542032"/>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Why does Python remember the line that made a call?</a:t>
            </a:r>
            <a:endParaRPr lang="en-US" sz="1250" dirty="0"/>
          </a:p>
        </p:txBody>
      </p:sp>
      <p:sp>
        <p:nvSpPr>
          <p:cNvPr id="19" name="qa|b3"/>
          <p:cNvSpPr/>
          <p:nvPr/>
        </p:nvSpPr>
        <p:spPr>
          <a:xfrm>
            <a:off x="5257800" y="2560320"/>
            <a:ext cx="3474720" cy="585216"/>
          </a:xfrm>
          <a:prstGeom prst="roundRect">
            <a:avLst>
              <a:gd name="adj" fmla="val 12500"/>
            </a:avLst>
          </a:prstGeom>
          <a:solidFill>
            <a:srgbClr val="DDF3E6"/>
          </a:solidFill>
          <a:ln w="12700">
            <a:solidFill>
              <a:srgbClr val="2E9E5B"/>
            </a:solidFill>
            <a:prstDash val="solid"/>
          </a:ln>
        </p:spPr>
      </p:sp>
      <p:sp>
        <p:nvSpPr>
          <p:cNvPr id="20" name="qat|b3"/>
          <p:cNvSpPr txBox="1"/>
          <p:nvPr/>
        </p:nvSpPr>
        <p:spPr>
          <a:xfrm>
            <a:off x="5367528" y="2560320"/>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So that execution can return there when the function ends</a:t>
            </a:r>
            <a:endParaRPr lang="en-US" sz="1150" dirty="0"/>
          </a:p>
        </p:txBody>
      </p:sp>
      <p:sp>
        <p:nvSpPr>
          <p:cNvPr id="21" name="qn"/>
          <p:cNvSpPr/>
          <p:nvPr/>
        </p:nvSpPr>
        <p:spPr>
          <a:xfrm>
            <a:off x="411480" y="3246120"/>
            <a:ext cx="402336" cy="402336"/>
          </a:xfrm>
          <a:prstGeom prst="ellipse">
            <a:avLst/>
          </a:prstGeom>
          <a:solidFill>
            <a:srgbClr val="FFD43B"/>
          </a:solidFill>
          <a:ln w="12700">
            <a:solidFill>
              <a:srgbClr val="FFD43B"/>
            </a:solidFill>
            <a:prstDash val="solid"/>
          </a:ln>
        </p:spPr>
      </p:sp>
      <p:sp>
        <p:nvSpPr>
          <p:cNvPr id="22" name="qnt"/>
          <p:cNvSpPr txBox="1"/>
          <p:nvPr/>
        </p:nvSpPr>
        <p:spPr>
          <a:xfrm>
            <a:off x="411480" y="324612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9</a:t>
            </a:r>
            <a:endParaRPr lang="en-US" sz="1400" dirty="0"/>
          </a:p>
        </p:txBody>
      </p:sp>
      <p:sp>
        <p:nvSpPr>
          <p:cNvPr id="23" name="qq"/>
          <p:cNvSpPr txBox="1"/>
          <p:nvPr/>
        </p:nvSpPr>
        <p:spPr>
          <a:xfrm>
            <a:off x="914400" y="3209544"/>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Where are frame objects added to and removed from the call stack?</a:t>
            </a:r>
            <a:endParaRPr lang="en-US" sz="1250" dirty="0"/>
          </a:p>
        </p:txBody>
      </p:sp>
      <p:sp>
        <p:nvSpPr>
          <p:cNvPr id="24" name="qa|b4"/>
          <p:cNvSpPr/>
          <p:nvPr/>
        </p:nvSpPr>
        <p:spPr>
          <a:xfrm>
            <a:off x="5257800" y="3227832"/>
            <a:ext cx="3474720" cy="585216"/>
          </a:xfrm>
          <a:prstGeom prst="roundRect">
            <a:avLst>
              <a:gd name="adj" fmla="val 12500"/>
            </a:avLst>
          </a:prstGeom>
          <a:solidFill>
            <a:srgbClr val="DDF3E6"/>
          </a:solidFill>
          <a:ln w="12700">
            <a:solidFill>
              <a:srgbClr val="2E9E5B"/>
            </a:solidFill>
            <a:prstDash val="solid"/>
          </a:ln>
        </p:spPr>
      </p:sp>
      <p:sp>
        <p:nvSpPr>
          <p:cNvPr id="25" name="qat|b4"/>
          <p:cNvSpPr txBox="1"/>
          <p:nvPr/>
        </p:nvSpPr>
        <p:spPr>
          <a:xfrm>
            <a:off x="5367528" y="3227832"/>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Only at the top</a:t>
            </a:r>
            <a:endParaRPr lang="en-US" sz="1150" dirty="0"/>
          </a:p>
        </p:txBody>
      </p:sp>
      <p:sp>
        <p:nvSpPr>
          <p:cNvPr id="26" name="qn"/>
          <p:cNvSpPr/>
          <p:nvPr/>
        </p:nvSpPr>
        <p:spPr>
          <a:xfrm>
            <a:off x="411480" y="3913632"/>
            <a:ext cx="402336" cy="402336"/>
          </a:xfrm>
          <a:prstGeom prst="ellipse">
            <a:avLst/>
          </a:prstGeom>
          <a:solidFill>
            <a:srgbClr val="FFD43B"/>
          </a:solidFill>
          <a:ln w="12700">
            <a:solidFill>
              <a:srgbClr val="FFD43B"/>
            </a:solidFill>
            <a:prstDash val="solid"/>
          </a:ln>
        </p:spPr>
      </p:sp>
      <p:sp>
        <p:nvSpPr>
          <p:cNvPr id="27" name="qnt"/>
          <p:cNvSpPr txBox="1"/>
          <p:nvPr/>
        </p:nvSpPr>
        <p:spPr>
          <a:xfrm>
            <a:off x="411480" y="391363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10</a:t>
            </a:r>
            <a:endParaRPr lang="en-US" sz="1400" dirty="0"/>
          </a:p>
        </p:txBody>
      </p:sp>
      <p:sp>
        <p:nvSpPr>
          <p:cNvPr id="28" name="qq"/>
          <p:cNvSpPr txBox="1"/>
          <p:nvPr/>
        </p:nvSpPr>
        <p:spPr>
          <a:xfrm>
            <a:off x="914400" y="3877056"/>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question do the scope topics answer?</a:t>
            </a:r>
            <a:endParaRPr lang="en-US" sz="1250" dirty="0"/>
          </a:p>
        </p:txBody>
      </p:sp>
      <p:sp>
        <p:nvSpPr>
          <p:cNvPr id="29" name="qa|b5"/>
          <p:cNvSpPr/>
          <p:nvPr/>
        </p:nvSpPr>
        <p:spPr>
          <a:xfrm>
            <a:off x="5257800" y="3895344"/>
            <a:ext cx="3474720" cy="585216"/>
          </a:xfrm>
          <a:prstGeom prst="roundRect">
            <a:avLst>
              <a:gd name="adj" fmla="val 12500"/>
            </a:avLst>
          </a:prstGeom>
          <a:solidFill>
            <a:srgbClr val="DDF3E6"/>
          </a:solidFill>
          <a:ln w="12700">
            <a:solidFill>
              <a:srgbClr val="2E9E5B"/>
            </a:solidFill>
            <a:prstDash val="solid"/>
          </a:ln>
        </p:spPr>
      </p:sp>
      <p:sp>
        <p:nvSpPr>
          <p:cNvPr id="30" name="qat|b5"/>
          <p:cNvSpPr txBox="1"/>
          <p:nvPr/>
        </p:nvSpPr>
        <p:spPr>
          <a:xfrm>
            <a:off x="5367528" y="3895344"/>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Which variable a name refers to</a:t>
            </a:r>
            <a:endParaRPr lang="en-US" sz="115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question_bank_v1_1_0.json, the chapter's own question bank</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(3 of 5)</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then click for the answer; the reason for each is in the notes</a:t>
            </a:r>
            <a:endParaRPr lang="en-US" sz="1400" dirty="0"/>
          </a:p>
        </p:txBody>
      </p:sp>
      <p:sp>
        <p:nvSpPr>
          <p:cNvPr id="6" name="qn"/>
          <p:cNvSpPr/>
          <p:nvPr/>
        </p:nvSpPr>
        <p:spPr>
          <a:xfrm>
            <a:off x="411480" y="1243584"/>
            <a:ext cx="402336" cy="402336"/>
          </a:xfrm>
          <a:prstGeom prst="ellipse">
            <a:avLst/>
          </a:prstGeom>
          <a:solidFill>
            <a:srgbClr val="FFD43B"/>
          </a:solidFill>
          <a:ln w="12700">
            <a:solidFill>
              <a:srgbClr val="FFD43B"/>
            </a:solidFill>
            <a:prstDash val="solid"/>
          </a:ln>
        </p:spPr>
      </p:sp>
      <p:sp>
        <p:nvSpPr>
          <p:cNvPr id="7" name="qnt"/>
          <p:cNvSpPr txBox="1"/>
          <p:nvPr/>
        </p:nvSpPr>
        <p:spPr>
          <a:xfrm>
            <a:off x="411480" y="1243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11</a:t>
            </a:r>
            <a:endParaRPr lang="en-US" sz="1400" dirty="0"/>
          </a:p>
        </p:txBody>
      </p:sp>
      <p:sp>
        <p:nvSpPr>
          <p:cNvPr id="8" name="qq"/>
          <p:cNvSpPr txBox="1"/>
          <p:nvPr/>
        </p:nvSpPr>
        <p:spPr>
          <a:xfrm>
            <a:off x="914400" y="1207008"/>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When is the scope of a function created and destroyed?</a:t>
            </a:r>
            <a:endParaRPr lang="en-US" sz="1250" dirty="0"/>
          </a:p>
        </p:txBody>
      </p:sp>
      <p:sp>
        <p:nvSpPr>
          <p:cNvPr id="9" name="qa|b1"/>
          <p:cNvSpPr/>
          <p:nvPr/>
        </p:nvSpPr>
        <p:spPr>
          <a:xfrm>
            <a:off x="5257800" y="1225296"/>
            <a:ext cx="3474720" cy="585216"/>
          </a:xfrm>
          <a:prstGeom prst="roundRect">
            <a:avLst>
              <a:gd name="adj" fmla="val 12500"/>
            </a:avLst>
          </a:prstGeom>
          <a:solidFill>
            <a:srgbClr val="DDF3E6"/>
          </a:solidFill>
          <a:ln w="12700">
            <a:solidFill>
              <a:srgbClr val="2E9E5B"/>
            </a:solidFill>
            <a:prstDash val="solid"/>
          </a:ln>
        </p:spPr>
      </p:sp>
      <p:sp>
        <p:nvSpPr>
          <p:cNvPr id="10" name="qat|b1"/>
          <p:cNvSpPr txBox="1"/>
          <p:nvPr/>
        </p:nvSpPr>
        <p:spPr>
          <a:xfrm>
            <a:off x="5367528" y="1225296"/>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Created when the function is called and destroyed when it returns</a:t>
            </a:r>
            <a:endParaRPr lang="en-US" sz="1150" dirty="0"/>
          </a:p>
        </p:txBody>
      </p:sp>
      <p:sp>
        <p:nvSpPr>
          <p:cNvPr id="11" name="qn"/>
          <p:cNvSpPr/>
          <p:nvPr/>
        </p:nvSpPr>
        <p:spPr>
          <a:xfrm>
            <a:off x="411480" y="1911096"/>
            <a:ext cx="402336" cy="402336"/>
          </a:xfrm>
          <a:prstGeom prst="ellipse">
            <a:avLst/>
          </a:prstGeom>
          <a:solidFill>
            <a:srgbClr val="FFD43B"/>
          </a:solidFill>
          <a:ln w="12700">
            <a:solidFill>
              <a:srgbClr val="FFD43B"/>
            </a:solidFill>
            <a:prstDash val="solid"/>
          </a:ln>
        </p:spPr>
      </p:sp>
      <p:sp>
        <p:nvSpPr>
          <p:cNvPr id="12" name="qnt"/>
          <p:cNvSpPr txBox="1"/>
          <p:nvPr/>
        </p:nvSpPr>
        <p:spPr>
          <a:xfrm>
            <a:off x="411480" y="191109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12</a:t>
            </a:r>
            <a:endParaRPr lang="en-US" sz="1400" dirty="0"/>
          </a:p>
        </p:txBody>
      </p:sp>
      <p:sp>
        <p:nvSpPr>
          <p:cNvPr id="13" name="qq"/>
          <p:cNvSpPr txBox="1"/>
          <p:nvPr/>
        </p:nvSpPr>
        <p:spPr>
          <a:xfrm>
            <a:off x="914400" y="1874520"/>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happens to a variable assigned inside a function when the function returns?</a:t>
            </a:r>
            <a:endParaRPr lang="en-US" sz="1250" dirty="0"/>
          </a:p>
        </p:txBody>
      </p:sp>
      <p:sp>
        <p:nvSpPr>
          <p:cNvPr id="14" name="qa|b2"/>
          <p:cNvSpPr/>
          <p:nvPr/>
        </p:nvSpPr>
        <p:spPr>
          <a:xfrm>
            <a:off x="5257800" y="1892808"/>
            <a:ext cx="3474720" cy="585216"/>
          </a:xfrm>
          <a:prstGeom prst="roundRect">
            <a:avLst>
              <a:gd name="adj" fmla="val 12500"/>
            </a:avLst>
          </a:prstGeom>
          <a:solidFill>
            <a:srgbClr val="DDF3E6"/>
          </a:solidFill>
          <a:ln w="12700">
            <a:solidFill>
              <a:srgbClr val="2E9E5B"/>
            </a:solidFill>
            <a:prstDash val="solid"/>
          </a:ln>
        </p:spPr>
      </p:sp>
      <p:sp>
        <p:nvSpPr>
          <p:cNvPr id="15" name="qat|b2"/>
          <p:cNvSpPr txBox="1"/>
          <p:nvPr/>
        </p:nvSpPr>
        <p:spPr>
          <a:xfrm>
            <a:off x="5367528" y="1892808"/>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It is destroyed with the local scope of that call</a:t>
            </a:r>
            <a:endParaRPr lang="en-US" sz="1150" dirty="0"/>
          </a:p>
        </p:txBody>
      </p:sp>
      <p:sp>
        <p:nvSpPr>
          <p:cNvPr id="16" name="qn"/>
          <p:cNvSpPr/>
          <p:nvPr/>
        </p:nvSpPr>
        <p:spPr>
          <a:xfrm>
            <a:off x="411480" y="2578608"/>
            <a:ext cx="402336" cy="402336"/>
          </a:xfrm>
          <a:prstGeom prst="ellipse">
            <a:avLst/>
          </a:prstGeom>
          <a:solidFill>
            <a:srgbClr val="FFD43B"/>
          </a:solidFill>
          <a:ln w="12700">
            <a:solidFill>
              <a:srgbClr val="FFD43B"/>
            </a:solidFill>
            <a:prstDash val="solid"/>
          </a:ln>
        </p:spPr>
      </p:sp>
      <p:sp>
        <p:nvSpPr>
          <p:cNvPr id="17" name="qnt"/>
          <p:cNvSpPr txBox="1"/>
          <p:nvPr/>
        </p:nvSpPr>
        <p:spPr>
          <a:xfrm>
            <a:off x="411480" y="257860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13</a:t>
            </a:r>
            <a:endParaRPr lang="en-US" sz="1400" dirty="0"/>
          </a:p>
        </p:txBody>
      </p:sp>
      <p:sp>
        <p:nvSpPr>
          <p:cNvPr id="18" name="qq"/>
          <p:cNvSpPr txBox="1"/>
          <p:nvPr/>
        </p:nvSpPr>
        <p:spPr>
          <a:xfrm>
            <a:off x="914400" y="2542032"/>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exception handling change about an error in a program?</a:t>
            </a:r>
            <a:endParaRPr lang="en-US" sz="1250" dirty="0"/>
          </a:p>
        </p:txBody>
      </p:sp>
      <p:sp>
        <p:nvSpPr>
          <p:cNvPr id="19" name="qa|b3"/>
          <p:cNvSpPr/>
          <p:nvPr/>
        </p:nvSpPr>
        <p:spPr>
          <a:xfrm>
            <a:off x="5257800" y="2560320"/>
            <a:ext cx="3474720" cy="585216"/>
          </a:xfrm>
          <a:prstGeom prst="roundRect">
            <a:avLst>
              <a:gd name="adj" fmla="val 12500"/>
            </a:avLst>
          </a:prstGeom>
          <a:solidFill>
            <a:srgbClr val="DDF3E6"/>
          </a:solidFill>
          <a:ln w="12700">
            <a:solidFill>
              <a:srgbClr val="2E9E5B"/>
            </a:solidFill>
            <a:prstDash val="solid"/>
          </a:ln>
        </p:spPr>
      </p:sp>
      <p:sp>
        <p:nvSpPr>
          <p:cNvPr id="20" name="qat|b3"/>
          <p:cNvSpPr txBox="1"/>
          <p:nvPr/>
        </p:nvSpPr>
        <p:spPr>
          <a:xfrm>
            <a:off x="5367528" y="2560320"/>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It turns a crash into something the program can recover from</a:t>
            </a:r>
            <a:endParaRPr lang="en-US" sz="1150" dirty="0"/>
          </a:p>
        </p:txBody>
      </p:sp>
      <p:sp>
        <p:nvSpPr>
          <p:cNvPr id="21" name="qn"/>
          <p:cNvSpPr/>
          <p:nvPr/>
        </p:nvSpPr>
        <p:spPr>
          <a:xfrm>
            <a:off x="411480" y="3246120"/>
            <a:ext cx="402336" cy="402336"/>
          </a:xfrm>
          <a:prstGeom prst="ellipse">
            <a:avLst/>
          </a:prstGeom>
          <a:solidFill>
            <a:srgbClr val="FFD43B"/>
          </a:solidFill>
          <a:ln w="12700">
            <a:solidFill>
              <a:srgbClr val="FFD43B"/>
            </a:solidFill>
            <a:prstDash val="solid"/>
          </a:ln>
        </p:spPr>
      </p:sp>
      <p:sp>
        <p:nvSpPr>
          <p:cNvPr id="22" name="qnt"/>
          <p:cNvSpPr txBox="1"/>
          <p:nvPr/>
        </p:nvSpPr>
        <p:spPr>
          <a:xfrm>
            <a:off x="411480" y="324612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14</a:t>
            </a:r>
            <a:endParaRPr lang="en-US" sz="1400" dirty="0"/>
          </a:p>
        </p:txBody>
      </p:sp>
      <p:sp>
        <p:nvSpPr>
          <p:cNvPr id="23" name="qq"/>
          <p:cNvSpPr txBox="1"/>
          <p:nvPr/>
        </p:nvSpPr>
        <p:spPr>
          <a:xfrm>
            <a:off x="914400" y="3209544"/>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statements decide what happens after an error raises an exception?</a:t>
            </a:r>
            <a:endParaRPr lang="en-US" sz="1250" dirty="0"/>
          </a:p>
        </p:txBody>
      </p:sp>
      <p:sp>
        <p:nvSpPr>
          <p:cNvPr id="24" name="qa|b4"/>
          <p:cNvSpPr/>
          <p:nvPr/>
        </p:nvSpPr>
        <p:spPr>
          <a:xfrm>
            <a:off x="5257800" y="3227832"/>
            <a:ext cx="3474720" cy="585216"/>
          </a:xfrm>
          <a:prstGeom prst="roundRect">
            <a:avLst>
              <a:gd name="adj" fmla="val 12500"/>
            </a:avLst>
          </a:prstGeom>
          <a:solidFill>
            <a:srgbClr val="DDF3E6"/>
          </a:solidFill>
          <a:ln w="12700">
            <a:solidFill>
              <a:srgbClr val="2E9E5B"/>
            </a:solidFill>
            <a:prstDash val="solid"/>
          </a:ln>
        </p:spPr>
      </p:sp>
      <p:sp>
        <p:nvSpPr>
          <p:cNvPr id="25" name="qat|b4"/>
          <p:cNvSpPr txBox="1"/>
          <p:nvPr/>
        </p:nvSpPr>
        <p:spPr>
          <a:xfrm>
            <a:off x="5367528" y="3227832"/>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try and except</a:t>
            </a:r>
            <a:endParaRPr lang="en-US" sz="1150" dirty="0"/>
          </a:p>
        </p:txBody>
      </p:sp>
      <p:sp>
        <p:nvSpPr>
          <p:cNvPr id="26" name="qn"/>
          <p:cNvSpPr/>
          <p:nvPr/>
        </p:nvSpPr>
        <p:spPr>
          <a:xfrm>
            <a:off x="411480" y="3913632"/>
            <a:ext cx="402336" cy="402336"/>
          </a:xfrm>
          <a:prstGeom prst="ellipse">
            <a:avLst/>
          </a:prstGeom>
          <a:solidFill>
            <a:srgbClr val="FFD43B"/>
          </a:solidFill>
          <a:ln w="12700">
            <a:solidFill>
              <a:srgbClr val="FFD43B"/>
            </a:solidFill>
            <a:prstDash val="solid"/>
          </a:ln>
        </p:spPr>
      </p:sp>
      <p:sp>
        <p:nvSpPr>
          <p:cNvPr id="27" name="qnt"/>
          <p:cNvSpPr txBox="1"/>
          <p:nvPr/>
        </p:nvSpPr>
        <p:spPr>
          <a:xfrm>
            <a:off x="411480" y="391363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15</a:t>
            </a:r>
            <a:endParaRPr lang="en-US" sz="1400" dirty="0"/>
          </a:p>
        </p:txBody>
      </p:sp>
      <p:sp>
        <p:nvSpPr>
          <p:cNvPr id="28" name="qq"/>
          <p:cNvSpPr txBox="1"/>
          <p:nvPr/>
        </p:nvSpPr>
        <p:spPr>
          <a:xfrm>
            <a:off x="914400" y="3877056"/>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happens to the rest of a try clause after one of its lines raises a matching exception?</a:t>
            </a:r>
            <a:endParaRPr lang="en-US" sz="1250" dirty="0"/>
          </a:p>
        </p:txBody>
      </p:sp>
      <p:sp>
        <p:nvSpPr>
          <p:cNvPr id="29" name="qa|b5"/>
          <p:cNvSpPr/>
          <p:nvPr/>
        </p:nvSpPr>
        <p:spPr>
          <a:xfrm>
            <a:off x="5257800" y="3895344"/>
            <a:ext cx="3474720" cy="585216"/>
          </a:xfrm>
          <a:prstGeom prst="roundRect">
            <a:avLst>
              <a:gd name="adj" fmla="val 12500"/>
            </a:avLst>
          </a:prstGeom>
          <a:solidFill>
            <a:srgbClr val="DDF3E6"/>
          </a:solidFill>
          <a:ln w="12700">
            <a:solidFill>
              <a:srgbClr val="2E9E5B"/>
            </a:solidFill>
            <a:prstDash val="solid"/>
          </a:ln>
        </p:spPr>
      </p:sp>
      <p:sp>
        <p:nvSpPr>
          <p:cNvPr id="30" name="qat|b5"/>
          <p:cNvSpPr txBox="1"/>
          <p:nvPr/>
        </p:nvSpPr>
        <p:spPr>
          <a:xfrm>
            <a:off x="5367528" y="3895344"/>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It is skipped, the except clause runs, and execution continues after the try statement</a:t>
            </a:r>
            <a:endParaRPr lang="en-US" sz="115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question_bank_v1_1_0.json, the chapter's own question bank</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(4 of 5)</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then click for the answer; the reason for each is in the notes</a:t>
            </a:r>
            <a:endParaRPr lang="en-US" sz="1400" dirty="0"/>
          </a:p>
        </p:txBody>
      </p:sp>
      <p:sp>
        <p:nvSpPr>
          <p:cNvPr id="6" name="qn"/>
          <p:cNvSpPr/>
          <p:nvPr/>
        </p:nvSpPr>
        <p:spPr>
          <a:xfrm>
            <a:off x="411480" y="1243584"/>
            <a:ext cx="402336" cy="402336"/>
          </a:xfrm>
          <a:prstGeom prst="ellipse">
            <a:avLst/>
          </a:prstGeom>
          <a:solidFill>
            <a:srgbClr val="FFD43B"/>
          </a:solidFill>
          <a:ln w="12700">
            <a:solidFill>
              <a:srgbClr val="FFD43B"/>
            </a:solidFill>
            <a:prstDash val="solid"/>
          </a:ln>
        </p:spPr>
      </p:sp>
      <p:sp>
        <p:nvSpPr>
          <p:cNvPr id="7" name="qnt"/>
          <p:cNvSpPr txBox="1"/>
          <p:nvPr/>
        </p:nvSpPr>
        <p:spPr>
          <a:xfrm>
            <a:off x="411480" y="1243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16</a:t>
            </a:r>
            <a:endParaRPr lang="en-US" sz="1400" dirty="0"/>
          </a:p>
        </p:txBody>
      </p:sp>
      <p:sp>
        <p:nvSpPr>
          <p:cNvPr id="8" name="qq"/>
          <p:cNvSpPr txBox="1"/>
          <p:nvPr/>
        </p:nvSpPr>
        <p:spPr>
          <a:xfrm>
            <a:off x="914400" y="1207008"/>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tools do the chapter's short programs bring in that the chapter had not covered yet?</a:t>
            </a:r>
            <a:endParaRPr lang="en-US" sz="1250" dirty="0"/>
          </a:p>
        </p:txBody>
      </p:sp>
      <p:sp>
        <p:nvSpPr>
          <p:cNvPr id="9" name="qa|b1"/>
          <p:cNvSpPr/>
          <p:nvPr/>
        </p:nvSpPr>
        <p:spPr>
          <a:xfrm>
            <a:off x="5257800" y="1225296"/>
            <a:ext cx="3474720" cy="585216"/>
          </a:xfrm>
          <a:prstGeom prst="roundRect">
            <a:avLst>
              <a:gd name="adj" fmla="val 12500"/>
            </a:avLst>
          </a:prstGeom>
          <a:solidFill>
            <a:srgbClr val="DDF3E6"/>
          </a:solidFill>
          <a:ln w="12700">
            <a:solidFill>
              <a:srgbClr val="2E9E5B"/>
            </a:solidFill>
            <a:prstDash val="solid"/>
          </a:ln>
        </p:spPr>
      </p:sp>
      <p:sp>
        <p:nvSpPr>
          <p:cNvPr id="10" name="qat|b1"/>
          <p:cNvSpPr txBox="1"/>
          <p:nvPr/>
        </p:nvSpPr>
        <p:spPr>
          <a:xfrm>
            <a:off x="5367528" y="1225296"/>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time.sleep, KeyboardInterrupt and sys.exit</a:t>
            </a:r>
            <a:endParaRPr lang="en-US" sz="1150" dirty="0"/>
          </a:p>
        </p:txBody>
      </p:sp>
      <p:sp>
        <p:nvSpPr>
          <p:cNvPr id="11" name="qn"/>
          <p:cNvSpPr/>
          <p:nvPr/>
        </p:nvSpPr>
        <p:spPr>
          <a:xfrm>
            <a:off x="411480" y="1911096"/>
            <a:ext cx="402336" cy="402336"/>
          </a:xfrm>
          <a:prstGeom prst="ellipse">
            <a:avLst/>
          </a:prstGeom>
          <a:solidFill>
            <a:srgbClr val="FFD43B"/>
          </a:solidFill>
          <a:ln w="12700">
            <a:solidFill>
              <a:srgbClr val="FFD43B"/>
            </a:solidFill>
            <a:prstDash val="solid"/>
          </a:ln>
        </p:spPr>
      </p:sp>
      <p:sp>
        <p:nvSpPr>
          <p:cNvPr id="12" name="qnt"/>
          <p:cNvSpPr txBox="1"/>
          <p:nvPr/>
        </p:nvSpPr>
        <p:spPr>
          <a:xfrm>
            <a:off x="411480" y="191109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17</a:t>
            </a:r>
            <a:endParaRPr lang="en-US" sz="1400" dirty="0"/>
          </a:p>
        </p:txBody>
      </p:sp>
      <p:sp>
        <p:nvSpPr>
          <p:cNvPr id="13" name="qq"/>
          <p:cNvSpPr txBox="1"/>
          <p:nvPr/>
        </p:nvSpPr>
        <p:spPr>
          <a:xfrm>
            <a:off x="914400" y="1874520"/>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Why do the zigzag and spike programs put their loop inside a try statement?</a:t>
            </a:r>
            <a:endParaRPr lang="en-US" sz="1250" dirty="0"/>
          </a:p>
        </p:txBody>
      </p:sp>
      <p:sp>
        <p:nvSpPr>
          <p:cNvPr id="14" name="qa|b2"/>
          <p:cNvSpPr/>
          <p:nvPr/>
        </p:nvSpPr>
        <p:spPr>
          <a:xfrm>
            <a:off x="5257800" y="1892808"/>
            <a:ext cx="3474720" cy="585216"/>
          </a:xfrm>
          <a:prstGeom prst="roundRect">
            <a:avLst>
              <a:gd name="adj" fmla="val 12500"/>
            </a:avLst>
          </a:prstGeom>
          <a:solidFill>
            <a:srgbClr val="DDF3E6"/>
          </a:solidFill>
          <a:ln w="12700">
            <a:solidFill>
              <a:srgbClr val="2E9E5B"/>
            </a:solidFill>
            <a:prstDash val="solid"/>
          </a:ln>
        </p:spPr>
      </p:sp>
      <p:sp>
        <p:nvSpPr>
          <p:cNvPr id="15" name="qat|b2"/>
          <p:cNvSpPr txBox="1"/>
          <p:nvPr/>
        </p:nvSpPr>
        <p:spPr>
          <a:xfrm>
            <a:off x="5367528" y="1892808"/>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So that Ctrl-C can end the endless loop without an ugly error</a:t>
            </a:r>
            <a:endParaRPr lang="en-US" sz="1150" dirty="0"/>
          </a:p>
        </p:txBody>
      </p:sp>
      <p:sp>
        <p:nvSpPr>
          <p:cNvPr id="16" name="qn"/>
          <p:cNvSpPr/>
          <p:nvPr/>
        </p:nvSpPr>
        <p:spPr>
          <a:xfrm>
            <a:off x="411480" y="2578608"/>
            <a:ext cx="402336" cy="402336"/>
          </a:xfrm>
          <a:prstGeom prst="ellipse">
            <a:avLst/>
          </a:prstGeom>
          <a:solidFill>
            <a:srgbClr val="FFD43B"/>
          </a:solidFill>
          <a:ln w="12700">
            <a:solidFill>
              <a:srgbClr val="FFD43B"/>
            </a:solidFill>
            <a:prstDash val="solid"/>
          </a:ln>
        </p:spPr>
      </p:sp>
      <p:sp>
        <p:nvSpPr>
          <p:cNvPr id="17" name="qnt"/>
          <p:cNvSpPr txBox="1"/>
          <p:nvPr/>
        </p:nvSpPr>
        <p:spPr>
          <a:xfrm>
            <a:off x="411480" y="257860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18</a:t>
            </a:r>
            <a:endParaRPr lang="en-US" sz="1400" dirty="0"/>
          </a:p>
        </p:txBody>
      </p:sp>
      <p:sp>
        <p:nvSpPr>
          <p:cNvPr id="18" name="qq"/>
          <p:cNvSpPr txBox="1"/>
          <p:nvPr/>
        </p:nvSpPr>
        <p:spPr>
          <a:xfrm>
            <a:off x="914400" y="2542032"/>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the variable indent_increasing decide in the zigzag program?</a:t>
            </a:r>
            <a:endParaRPr lang="en-US" sz="1250" dirty="0"/>
          </a:p>
        </p:txBody>
      </p:sp>
      <p:sp>
        <p:nvSpPr>
          <p:cNvPr id="19" name="qa|b3"/>
          <p:cNvSpPr/>
          <p:nvPr/>
        </p:nvSpPr>
        <p:spPr>
          <a:xfrm>
            <a:off x="5257800" y="2560320"/>
            <a:ext cx="3474720" cy="585216"/>
          </a:xfrm>
          <a:prstGeom prst="roundRect">
            <a:avLst>
              <a:gd name="adj" fmla="val 12500"/>
            </a:avLst>
          </a:prstGeom>
          <a:solidFill>
            <a:srgbClr val="DDF3E6"/>
          </a:solidFill>
          <a:ln w="12700">
            <a:solidFill>
              <a:srgbClr val="2E9E5B"/>
            </a:solidFill>
            <a:prstDash val="solid"/>
          </a:ln>
        </p:spPr>
      </p:sp>
      <p:sp>
        <p:nvSpPr>
          <p:cNvPr id="20" name="qat|b3"/>
          <p:cNvSpPr txBox="1"/>
          <p:nvPr/>
        </p:nvSpPr>
        <p:spPr>
          <a:xfrm>
            <a:off x="5367528" y="2560320"/>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Whether indent grows or shrinks on the next pass of the loop</a:t>
            </a:r>
            <a:endParaRPr lang="en-US" sz="1150" dirty="0"/>
          </a:p>
        </p:txBody>
      </p:sp>
      <p:sp>
        <p:nvSpPr>
          <p:cNvPr id="21" name="qn"/>
          <p:cNvSpPr/>
          <p:nvPr/>
        </p:nvSpPr>
        <p:spPr>
          <a:xfrm>
            <a:off x="411480" y="3246120"/>
            <a:ext cx="402336" cy="402336"/>
          </a:xfrm>
          <a:prstGeom prst="ellipse">
            <a:avLst/>
          </a:prstGeom>
          <a:solidFill>
            <a:srgbClr val="FFD43B"/>
          </a:solidFill>
          <a:ln w="12700">
            <a:solidFill>
              <a:srgbClr val="FFD43B"/>
            </a:solidFill>
            <a:prstDash val="solid"/>
          </a:ln>
        </p:spPr>
      </p:sp>
      <p:sp>
        <p:nvSpPr>
          <p:cNvPr id="22" name="qnt"/>
          <p:cNvSpPr txBox="1"/>
          <p:nvPr/>
        </p:nvSpPr>
        <p:spPr>
          <a:xfrm>
            <a:off x="411480" y="324612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19</a:t>
            </a:r>
            <a:endParaRPr lang="en-US" sz="1400" dirty="0"/>
          </a:p>
        </p:txBody>
      </p:sp>
      <p:sp>
        <p:nvSpPr>
          <p:cNvPr id="23" name="qq"/>
          <p:cNvSpPr txBox="1"/>
          <p:nvPr/>
        </p:nvSpPr>
        <p:spPr>
          <a:xfrm>
            <a:off x="914400" y="3209544"/>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is the point of the modern-practice topics next to the chapter's functions?</a:t>
            </a:r>
            <a:endParaRPr lang="en-US" sz="1250" dirty="0"/>
          </a:p>
        </p:txBody>
      </p:sp>
      <p:sp>
        <p:nvSpPr>
          <p:cNvPr id="24" name="qa|b4"/>
          <p:cNvSpPr/>
          <p:nvPr/>
        </p:nvSpPr>
        <p:spPr>
          <a:xfrm>
            <a:off x="5257800" y="3227832"/>
            <a:ext cx="3474720" cy="585216"/>
          </a:xfrm>
          <a:prstGeom prst="roundRect">
            <a:avLst>
              <a:gd name="adj" fmla="val 12500"/>
            </a:avLst>
          </a:prstGeom>
          <a:solidFill>
            <a:srgbClr val="DDF3E6"/>
          </a:solidFill>
          <a:ln w="12700">
            <a:solidFill>
              <a:srgbClr val="2E9E5B"/>
            </a:solidFill>
            <a:prstDash val="solid"/>
          </a:ln>
        </p:spPr>
      </p:sp>
      <p:sp>
        <p:nvSpPr>
          <p:cNvPr id="25" name="qat|b4"/>
          <p:cNvSpPr txBox="1"/>
          <p:nvPr/>
        </p:nvSpPr>
        <p:spPr>
          <a:xfrm>
            <a:off x="5367528" y="3227832"/>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They add what current Python offers around functions</a:t>
            </a:r>
            <a:endParaRPr lang="en-US" sz="1150" dirty="0"/>
          </a:p>
        </p:txBody>
      </p:sp>
      <p:sp>
        <p:nvSpPr>
          <p:cNvPr id="26" name="qn"/>
          <p:cNvSpPr/>
          <p:nvPr/>
        </p:nvSpPr>
        <p:spPr>
          <a:xfrm>
            <a:off x="411480" y="3913632"/>
            <a:ext cx="402336" cy="402336"/>
          </a:xfrm>
          <a:prstGeom prst="ellipse">
            <a:avLst/>
          </a:prstGeom>
          <a:solidFill>
            <a:srgbClr val="FFD43B"/>
          </a:solidFill>
          <a:ln w="12700">
            <a:solidFill>
              <a:srgbClr val="FFD43B"/>
            </a:solidFill>
            <a:prstDash val="solid"/>
          </a:ln>
        </p:spPr>
      </p:sp>
      <p:sp>
        <p:nvSpPr>
          <p:cNvPr id="27" name="qnt"/>
          <p:cNvSpPr txBox="1"/>
          <p:nvPr/>
        </p:nvSpPr>
        <p:spPr>
          <a:xfrm>
            <a:off x="411480" y="391363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20</a:t>
            </a:r>
            <a:endParaRPr lang="en-US" sz="1400" dirty="0"/>
          </a:p>
        </p:txBody>
      </p:sp>
      <p:sp>
        <p:nvSpPr>
          <p:cNvPr id="28" name="qq"/>
          <p:cNvSpPr txBox="1"/>
          <p:nvPr/>
        </p:nvSpPr>
        <p:spPr>
          <a:xfrm>
            <a:off x="914400" y="3877056"/>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function header carries annotations on a parameter and on the result?</a:t>
            </a:r>
            <a:endParaRPr lang="en-US" sz="1250" dirty="0"/>
          </a:p>
        </p:txBody>
      </p:sp>
      <p:sp>
        <p:nvSpPr>
          <p:cNvPr id="29" name="qa|b5"/>
          <p:cNvSpPr/>
          <p:nvPr/>
        </p:nvSpPr>
        <p:spPr>
          <a:xfrm>
            <a:off x="5257800" y="3895344"/>
            <a:ext cx="3474720" cy="585216"/>
          </a:xfrm>
          <a:prstGeom prst="roundRect">
            <a:avLst>
              <a:gd name="adj" fmla="val 12500"/>
            </a:avLst>
          </a:prstGeom>
          <a:solidFill>
            <a:srgbClr val="DDF3E6"/>
          </a:solidFill>
          <a:ln w="12700">
            <a:solidFill>
              <a:srgbClr val="2E9E5B"/>
            </a:solidFill>
            <a:prstDash val="solid"/>
          </a:ln>
        </p:spPr>
      </p:sp>
      <p:sp>
        <p:nvSpPr>
          <p:cNvPr id="30" name="qat|b5"/>
          <p:cNvSpPr txBox="1"/>
          <p:nvPr/>
        </p:nvSpPr>
        <p:spPr>
          <a:xfrm>
            <a:off x="5367528" y="3895344"/>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def area(w: int, h: int) -&gt; int:</a:t>
            </a:r>
            <a:endParaRPr lang="en-US" sz="1150" dirty="0"/>
          </a:p>
        </p:txBody>
      </p:sp>
      <p:sp>
        <p:nvSpPr>
          <p:cNvPr id="3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question_bank_v1_1_0.json, the chapter's own question bank</a:t>
            </a:r>
            <a:endParaRPr lang="en-US" sz="950" dirty="0"/>
          </a:p>
        </p:txBody>
      </p:sp>
      <p:sp>
        <p:nvSpPr>
          <p:cNvPr id="3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(5 of 5)</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then click for the answer; the reason for each is in the notes</a:t>
            </a:r>
            <a:endParaRPr lang="en-US" sz="1400" dirty="0"/>
          </a:p>
        </p:txBody>
      </p:sp>
      <p:sp>
        <p:nvSpPr>
          <p:cNvPr id="6" name="qn"/>
          <p:cNvSpPr/>
          <p:nvPr/>
        </p:nvSpPr>
        <p:spPr>
          <a:xfrm>
            <a:off x="411480" y="1243584"/>
            <a:ext cx="402336" cy="402336"/>
          </a:xfrm>
          <a:prstGeom prst="ellipse">
            <a:avLst/>
          </a:prstGeom>
          <a:solidFill>
            <a:srgbClr val="FFD43B"/>
          </a:solidFill>
          <a:ln w="12700">
            <a:solidFill>
              <a:srgbClr val="FFD43B"/>
            </a:solidFill>
            <a:prstDash val="solid"/>
          </a:ln>
        </p:spPr>
      </p:sp>
      <p:sp>
        <p:nvSpPr>
          <p:cNvPr id="7" name="qnt"/>
          <p:cNvSpPr txBox="1"/>
          <p:nvPr/>
        </p:nvSpPr>
        <p:spPr>
          <a:xfrm>
            <a:off x="411480" y="1243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21</a:t>
            </a:r>
            <a:endParaRPr lang="en-US" sz="1400" dirty="0"/>
          </a:p>
        </p:txBody>
      </p:sp>
      <p:sp>
        <p:nvSpPr>
          <p:cNvPr id="8" name="qq"/>
          <p:cNvSpPr txBox="1"/>
          <p:nvPr/>
        </p:nvSpPr>
        <p:spPr>
          <a:xfrm>
            <a:off x="914400" y="1207008"/>
            <a:ext cx="4206240" cy="621792"/>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Python do with the annotation int in def f(a: int)?</a:t>
            </a:r>
            <a:endParaRPr lang="en-US" sz="1250" dirty="0"/>
          </a:p>
        </p:txBody>
      </p:sp>
      <p:sp>
        <p:nvSpPr>
          <p:cNvPr id="9" name="qa|b1"/>
          <p:cNvSpPr/>
          <p:nvPr/>
        </p:nvSpPr>
        <p:spPr>
          <a:xfrm>
            <a:off x="5257800" y="1225296"/>
            <a:ext cx="3474720" cy="585216"/>
          </a:xfrm>
          <a:prstGeom prst="roundRect">
            <a:avLst>
              <a:gd name="adj" fmla="val 12500"/>
            </a:avLst>
          </a:prstGeom>
          <a:solidFill>
            <a:srgbClr val="DDF3E6"/>
          </a:solidFill>
          <a:ln w="12700">
            <a:solidFill>
              <a:srgbClr val="2E9E5B"/>
            </a:solidFill>
            <a:prstDash val="solid"/>
          </a:ln>
        </p:spPr>
      </p:sp>
      <p:sp>
        <p:nvSpPr>
          <p:cNvPr id="10" name="qat|b1"/>
          <p:cNvSpPr txBox="1"/>
          <p:nvPr/>
        </p:nvSpPr>
        <p:spPr>
          <a:xfrm>
            <a:off x="5367528" y="1225296"/>
            <a:ext cx="3255264" cy="585216"/>
          </a:xfrm>
          <a:prstGeom prst="rect">
            <a:avLst/>
          </a:prstGeom>
          <a:noFill/>
          <a:ln/>
        </p:spPr>
        <p:txBody>
          <a:bodyPr wrap="square" lIns="0" tIns="0" rIns="0" bIns="0" rtlCol="0" anchor="ctr"/>
          <a:lstStyle/>
          <a:p>
            <a:pPr indent="0" marL="0">
              <a:buNone/>
            </a:pPr>
            <a:r>
              <a:rPr lang="en-US" sz="1150" b="1" dirty="0">
                <a:solidFill>
                  <a:srgbClr val="2E9E5B"/>
                </a:solidFill>
                <a:latin typeface="Calibri" pitchFamily="34" charset="0"/>
                <a:ea typeface="Calibri" pitchFamily="34" charset="-122"/>
                <a:cs typeface="Calibri" pitchFamily="34" charset="-120"/>
              </a:rPr>
              <a:t>Stores it with the function but does not check the arguments against it</a:t>
            </a:r>
            <a:endParaRPr lang="en-US" sz="1150" dirty="0"/>
          </a:p>
        </p:txBody>
      </p:sp>
      <p:sp>
        <p:nvSpPr>
          <p:cNvPr id="1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Drawn from question_bank_v1_1_0.json, the chapter's own question bank</a:t>
            </a:r>
            <a:endParaRPr lang="en-US" sz="950" dirty="0"/>
          </a:p>
        </p:txBody>
      </p:sp>
      <p:sp>
        <p:nvSpPr>
          <p:cNvPr id="1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Sources (1 of 3)</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Every source below was opened and verified for this chapter; the record is sen0414_ch04_research_v1_1_0.ttl</a:t>
            </a:r>
            <a:endParaRPr lang="en-US" sz="1300" dirty="0"/>
          </a:p>
        </p:txBody>
      </p:sp>
      <p:sp>
        <p:nvSpPr>
          <p:cNvPr id="6" name="src"/>
          <p:cNvSpPr txBox="1"/>
          <p:nvPr/>
        </p:nvSpPr>
        <p:spPr>
          <a:xfrm>
            <a:off x="411480" y="1207008"/>
            <a:ext cx="832104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Automate the Boring Stuff with Python, 3rd edition - Chapter 4, Functions (Al Sweigart, No Starch Press, 2025)</a:t>
            </a:r>
            <a:endParaRPr lang="en-US" sz="1100" dirty="0"/>
          </a:p>
        </p:txBody>
      </p:sp>
      <p:sp>
        <p:nvSpPr>
          <p:cNvPr id="7" name="src"/>
          <p:cNvSpPr txBox="1"/>
          <p:nvPr/>
        </p:nvSpPr>
        <p:spPr>
          <a:xfrm>
            <a:off x="411480" y="1408176"/>
            <a:ext cx="8321040" cy="201168"/>
          </a:xfrm>
          <a:prstGeom prst="rect">
            <a:avLst/>
          </a:prstGeom>
          <a:noFill/>
          <a:ln/>
        </p:spPr>
        <p:txBody>
          <a:bodyPr wrap="square" lIns="0" tIns="0" rIns="0" bIns="0" rtlCol="0" anchor="ctr"/>
          <a:lstStyle/>
          <a:p>
            <a:pPr indent="0" marL="0">
              <a:buNone/>
            </a:pPr>
            <a:r>
              <a:rPr lang="en-US" sz="750" dirty="0">
                <a:solidFill>
                  <a:srgbClr val="1F2933"/>
                </a:solidFill>
                <a:latin typeface="Calibri" pitchFamily="34" charset="0"/>
                <a:ea typeface="Calibri" pitchFamily="34" charset="-122"/>
                <a:cs typeface="Calibri" pitchFamily="34" charset="-120"/>
              </a:rPr>
              <a:t>The Python Tutorial, 4. More Control Flow Tools - defining functions, default argument values, keyword arguments, special parameters (Python 3.14.4 documentation source)</a:t>
            </a:r>
            <a:endParaRPr lang="en-US" sz="750" dirty="0"/>
          </a:p>
        </p:txBody>
      </p:sp>
      <p:sp>
        <p:nvSpPr>
          <p:cNvPr id="8" name="src"/>
          <p:cNvSpPr txBox="1"/>
          <p:nvPr/>
        </p:nvSpPr>
        <p:spPr>
          <a:xfrm>
            <a:off x="411480" y="1609344"/>
            <a:ext cx="8321040" cy="201168"/>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The Python Language Reference, 4. Execution model - naming and binding, resolution of names (Python 3.14.4 documentation source)</a:t>
            </a:r>
            <a:endParaRPr lang="en-US" sz="1000" dirty="0"/>
          </a:p>
        </p:txBody>
      </p:sp>
      <p:sp>
        <p:nvSpPr>
          <p:cNvPr id="9" name="src"/>
          <p:cNvSpPr txBox="1"/>
          <p:nvPr/>
        </p:nvSpPr>
        <p:spPr>
          <a:xfrm>
            <a:off x="411480" y="1810512"/>
            <a:ext cx="8321040" cy="201168"/>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Python Frequently Asked Questions, Programming FAQ - Why am I getting an UnboundLocalError (Python 3.14.4 documentation source)</a:t>
            </a:r>
            <a:endParaRPr lang="en-US" sz="1000" dirty="0"/>
          </a:p>
        </p:txBody>
      </p:sp>
      <p:sp>
        <p:nvSpPr>
          <p:cNvPr id="10" name="src"/>
          <p:cNvSpPr txBox="1"/>
          <p:nvPr/>
        </p:nvSpPr>
        <p:spPr>
          <a:xfrm>
            <a:off x="411480" y="2011680"/>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The Python Language Reference, 7. Simple statements - return, global and nonlocal (Python 3.14.4 documentation source)</a:t>
            </a:r>
            <a:endParaRPr lang="en-US" sz="1100" dirty="0"/>
          </a:p>
        </p:txBody>
      </p:sp>
      <p:sp>
        <p:nvSpPr>
          <p:cNvPr id="11" name="src"/>
          <p:cNvSpPr txBox="1"/>
          <p:nvPr/>
        </p:nvSpPr>
        <p:spPr>
          <a:xfrm>
            <a:off x="411480" y="2212848"/>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The Python Standard Library, sys - getrecursionlimit (Python 3.14.4 documentation source)</a:t>
            </a:r>
            <a:endParaRPr lang="en-US" sz="1100" dirty="0"/>
          </a:p>
        </p:txBody>
      </p:sp>
      <p:sp>
        <p:nvSpPr>
          <p:cNvPr id="12" name="src"/>
          <p:cNvSpPr txBox="1"/>
          <p:nvPr/>
        </p:nvSpPr>
        <p:spPr>
          <a:xfrm>
            <a:off x="411480" y="2414016"/>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The Python Standard Library, Built-in Functions - print (Python 3.14.4 documentation source)</a:t>
            </a:r>
            <a:endParaRPr lang="en-US" sz="1100" dirty="0"/>
          </a:p>
        </p:txBody>
      </p:sp>
      <p:sp>
        <p:nvSpPr>
          <p:cNvPr id="13" name="src"/>
          <p:cNvSpPr txBox="1"/>
          <p:nvPr/>
        </p:nvSpPr>
        <p:spPr>
          <a:xfrm>
            <a:off x="411480" y="2615184"/>
            <a:ext cx="8321040" cy="201168"/>
          </a:xfrm>
          <a:prstGeom prst="rect">
            <a:avLst/>
          </a:prstGeom>
          <a:noFill/>
          <a:ln/>
        </p:spPr>
        <p:txBody>
          <a:bodyPr wrap="square" lIns="0" tIns="0" rIns="0" bIns="0" rtlCol="0" anchor="ctr"/>
          <a:lstStyle/>
          <a:p>
            <a:pPr indent="0" marL="0">
              <a:buNone/>
            </a:pPr>
            <a:r>
              <a:rPr lang="en-US" sz="900" dirty="0">
                <a:solidFill>
                  <a:srgbClr val="1F2933"/>
                </a:solidFill>
                <a:latin typeface="Calibri" pitchFamily="34" charset="0"/>
                <a:ea typeface="Calibri" pitchFamily="34" charset="-122"/>
                <a:cs typeface="Calibri" pitchFamily="34" charset="-120"/>
              </a:rPr>
              <a:t>The Python Standard Library, Built-in Exceptions - UnboundLocalError, RecursionError, ZeroDivisionError (Python 3.14.4 documentation source)</a:t>
            </a:r>
            <a:endParaRPr lang="en-US" sz="900" dirty="0"/>
          </a:p>
        </p:txBody>
      </p:sp>
      <p:sp>
        <p:nvSpPr>
          <p:cNvPr id="14" name="src"/>
          <p:cNvSpPr txBox="1"/>
          <p:nvPr/>
        </p:nvSpPr>
        <p:spPr>
          <a:xfrm>
            <a:off x="411480" y="2816352"/>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The Python Tutorial, 8. Errors and Exceptions - handling exceptions (Python 3.14.4 documentation source)</a:t>
            </a:r>
            <a:endParaRPr lang="en-US" sz="1100" dirty="0"/>
          </a:p>
        </p:txBody>
      </p:sp>
      <p:sp>
        <p:nvSpPr>
          <p:cNvPr id="15" name="src"/>
          <p:cNvSpPr txBox="1"/>
          <p:nvPr/>
        </p:nvSpPr>
        <p:spPr>
          <a:xfrm>
            <a:off x="411480" y="3017520"/>
            <a:ext cx="8321040" cy="201168"/>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What's New In Python 3.14 - PEP 649 and PEP 749 deferred annotations, PEP 758 except without brackets (Python documentation source)</a:t>
            </a:r>
            <a:endParaRPr lang="en-US" sz="950" dirty="0"/>
          </a:p>
        </p:txBody>
      </p:sp>
      <p:sp>
        <p:nvSpPr>
          <p:cNvPr id="16" name="src"/>
          <p:cNvSpPr txBox="1"/>
          <p:nvPr/>
        </p:nvSpPr>
        <p:spPr>
          <a:xfrm>
            <a:off x="411480" y="3218688"/>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649 - Deferred Evaluation Of Annotations Using Descriptors (Hastings, 2021; Python 3.14)</a:t>
            </a:r>
            <a:endParaRPr lang="en-US" sz="1100" dirty="0"/>
          </a:p>
        </p:txBody>
      </p:sp>
      <p:sp>
        <p:nvSpPr>
          <p:cNvPr id="17" name="src"/>
          <p:cNvSpPr txBox="1"/>
          <p:nvPr/>
        </p:nvSpPr>
        <p:spPr>
          <a:xfrm>
            <a:off x="411480" y="3419856"/>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758 - Allow except and except* expressions without parentheses (Galindo Salgado and Cannon, 2024; Python 3.14)</a:t>
            </a:r>
            <a:endParaRPr lang="en-US" sz="1100" dirty="0"/>
          </a:p>
        </p:txBody>
      </p:sp>
      <p:sp>
        <p:nvSpPr>
          <p:cNvPr id="18" name="src"/>
          <p:cNvSpPr txBox="1"/>
          <p:nvPr/>
        </p:nvSpPr>
        <p:spPr>
          <a:xfrm>
            <a:off x="411480" y="3621024"/>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570 - Python Positional-Only Parameters (Hastings et al., 2018; Python 3.8)</a:t>
            </a:r>
            <a:endParaRPr lang="en-US" sz="1100" dirty="0"/>
          </a:p>
        </p:txBody>
      </p:sp>
      <p:sp>
        <p:nvSpPr>
          <p:cNvPr id="19" name="src"/>
          <p:cNvSpPr txBox="1"/>
          <p:nvPr/>
        </p:nvSpPr>
        <p:spPr>
          <a:xfrm>
            <a:off x="411480" y="3822192"/>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3102 - Keyword-Only Arguments (Talin, 2006; Python 3.0)</a:t>
            </a:r>
            <a:endParaRPr lang="en-US" sz="1100" dirty="0"/>
          </a:p>
        </p:txBody>
      </p:sp>
      <p:sp>
        <p:nvSpPr>
          <p:cNvPr id="20" name="src"/>
          <p:cNvSpPr txBox="1"/>
          <p:nvPr/>
        </p:nvSpPr>
        <p:spPr>
          <a:xfrm>
            <a:off x="411480" y="4023360"/>
            <a:ext cx="8321040" cy="2011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3104 - Access to Names in Outer Scopes (Yee, 2006; Python 3.0)</a:t>
            </a:r>
            <a:endParaRPr lang="en-US" sz="1100" dirty="0"/>
          </a:p>
        </p:txBody>
      </p:sp>
      <p:sp>
        <p:nvSpPr>
          <p:cNvPr id="21" name="lic"/>
          <p:cNvSpPr txBox="1"/>
          <p:nvPr/>
        </p:nvSpPr>
        <p:spPr>
          <a:xfrm>
            <a:off x="411480" y="4315968"/>
            <a:ext cx="8321040" cy="274320"/>
          </a:xfrm>
          <a:prstGeom prst="rect">
            <a:avLst/>
          </a:prstGeom>
          <a:noFill/>
          <a:ln/>
        </p:spPr>
        <p:txBody>
          <a:bodyPr wrap="square" lIns="0" tIns="0" rIns="0" bIns="0" rtlCol="0" anchor="ctr"/>
          <a:lstStyle/>
          <a:p>
            <a:pPr indent="0" marL="0">
              <a:buNone/>
            </a:pPr>
            <a:r>
              <a:rPr lang="en-US" sz="95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950" dirty="0"/>
          </a:p>
        </p:txBody>
      </p:sp>
      <p:sp>
        <p:nvSpPr>
          <p:cNvPr id="22"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Research record: 03-materials/ch04/rdodi/sen0414_ch04_research_v1_1_0.ttl</a:t>
            </a:r>
            <a:endParaRPr lang="en-US" sz="950" dirty="0"/>
          </a:p>
        </p:txBody>
      </p:sp>
      <p:sp>
        <p:nvSpPr>
          <p:cNvPr id="23"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Sources (2 of 3)</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Every source below was opened and verified for this chapter; the record is sen0414_ch04_research_v1_1_0.ttl</a:t>
            </a:r>
            <a:endParaRPr lang="en-US" sz="1300" dirty="0"/>
          </a:p>
        </p:txBody>
      </p:sp>
      <p:sp>
        <p:nvSpPr>
          <p:cNvPr id="6" name="src"/>
          <p:cNvSpPr txBox="1"/>
          <p:nvPr/>
        </p:nvSpPr>
        <p:spPr>
          <a:xfrm>
            <a:off x="411480" y="1207008"/>
            <a:ext cx="8321040" cy="215537"/>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8 - Style Guide for Python Code (van Rossum, Warsaw and Coghlan, 2001)</a:t>
            </a:r>
            <a:endParaRPr lang="en-US" sz="1100" dirty="0"/>
          </a:p>
        </p:txBody>
      </p:sp>
      <p:sp>
        <p:nvSpPr>
          <p:cNvPr id="7" name="src"/>
          <p:cNvSpPr txBox="1"/>
          <p:nvPr/>
        </p:nvSpPr>
        <p:spPr>
          <a:xfrm>
            <a:off x="411480" y="1422545"/>
            <a:ext cx="8321040" cy="215537"/>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Glossary (Python 3.14.8 documentation, Python Software Foundation, 2026)</a:t>
            </a:r>
            <a:endParaRPr lang="en-US" sz="1100" dirty="0"/>
          </a:p>
        </p:txBody>
      </p:sp>
      <p:sp>
        <p:nvSpPr>
          <p:cNvPr id="8" name="src"/>
          <p:cNvSpPr txBox="1"/>
          <p:nvPr/>
        </p:nvSpPr>
        <p:spPr>
          <a:xfrm>
            <a:off x="411480" y="1638082"/>
            <a:ext cx="8321040" cy="215537"/>
          </a:xfrm>
          <a:prstGeom prst="rect">
            <a:avLst/>
          </a:prstGeom>
          <a:noFill/>
          <a:ln/>
        </p:spPr>
        <p:txBody>
          <a:bodyPr wrap="square" lIns="0" tIns="0" rIns="0" bIns="0" rtlCol="0" anchor="ctr"/>
          <a:lstStyle/>
          <a:p>
            <a:pPr indent="0" marL="0">
              <a:buNone/>
            </a:pPr>
            <a:r>
              <a:rPr lang="en-US" sz="750" dirty="0">
                <a:solidFill>
                  <a:srgbClr val="1F2933"/>
                </a:solidFill>
                <a:latin typeface="Calibri" pitchFamily="34" charset="0"/>
                <a:ea typeface="Calibri" pitchFamily="34" charset="-122"/>
                <a:cs typeface="Calibri" pitchFamily="34" charset="-120"/>
              </a:rPr>
              <a:t>The Python Language Reference, 8. Compound statements - function definitions, the try statement, lambda (Python 3.14.8 documentation, Python Software Foundation, 2026)</a:t>
            </a:r>
            <a:endParaRPr lang="en-US" sz="750" dirty="0"/>
          </a:p>
        </p:txBody>
      </p:sp>
      <p:sp>
        <p:nvSpPr>
          <p:cNvPr id="9" name="src"/>
          <p:cNvSpPr txBox="1"/>
          <p:nvPr/>
        </p:nvSpPr>
        <p:spPr>
          <a:xfrm>
            <a:off x="411480" y="1853619"/>
            <a:ext cx="8321040" cy="215537"/>
          </a:xfrm>
          <a:prstGeom prst="rect">
            <a:avLst/>
          </a:prstGeom>
          <a:noFill/>
          <a:ln/>
        </p:spPr>
        <p:txBody>
          <a:bodyPr wrap="square" lIns="0" tIns="0" rIns="0" bIns="0" rtlCol="0" anchor="ctr"/>
          <a:lstStyle/>
          <a:p>
            <a:pPr indent="0" marL="0">
              <a:buNone/>
            </a:pPr>
            <a:r>
              <a:rPr lang="en-US" sz="900" dirty="0">
                <a:solidFill>
                  <a:srgbClr val="1F2933"/>
                </a:solidFill>
                <a:latin typeface="Calibri" pitchFamily="34" charset="0"/>
                <a:ea typeface="Calibri" pitchFamily="34" charset="-122"/>
                <a:cs typeface="Calibri" pitchFamily="34" charset="-120"/>
              </a:rPr>
              <a:t>The Python Language Reference, 6. Expressions - calls, lambda, comparisons (Python 3.14.8 documentation, Python Software Foundation, 2026)</a:t>
            </a:r>
            <a:endParaRPr lang="en-US" sz="900" dirty="0"/>
          </a:p>
        </p:txBody>
      </p:sp>
      <p:sp>
        <p:nvSpPr>
          <p:cNvPr id="10" name="src"/>
          <p:cNvSpPr txBox="1"/>
          <p:nvPr/>
        </p:nvSpPr>
        <p:spPr>
          <a:xfrm>
            <a:off x="411480" y="2069157"/>
            <a:ext cx="8321040" cy="215537"/>
          </a:xfrm>
          <a:prstGeom prst="rect">
            <a:avLst/>
          </a:prstGeom>
          <a:noFill/>
          <a:ln/>
        </p:spPr>
        <p:txBody>
          <a:bodyPr wrap="square" lIns="0" tIns="0" rIns="0" bIns="0" rtlCol="0" anchor="ctr"/>
          <a:lstStyle/>
          <a:p>
            <a:pPr indent="0" marL="0">
              <a:buNone/>
            </a:pPr>
            <a:r>
              <a:rPr lang="en-US" sz="850" dirty="0">
                <a:solidFill>
                  <a:srgbClr val="1F2933"/>
                </a:solidFill>
                <a:latin typeface="Calibri" pitchFamily="34" charset="0"/>
                <a:ea typeface="Calibri" pitchFamily="34" charset="-122"/>
                <a:cs typeface="Calibri" pitchFamily="34" charset="-120"/>
              </a:rPr>
              <a:t>The Python Language Reference, 3. Data model - function objects, frame objects, NoneType (Python 3.14.8 documentation, Python Software Foundation, 2026)</a:t>
            </a:r>
            <a:endParaRPr lang="en-US" sz="850" dirty="0"/>
          </a:p>
        </p:txBody>
      </p:sp>
      <p:sp>
        <p:nvSpPr>
          <p:cNvPr id="11" name="src"/>
          <p:cNvSpPr txBox="1"/>
          <p:nvPr/>
        </p:nvSpPr>
        <p:spPr>
          <a:xfrm>
            <a:off x="411480" y="2284694"/>
            <a:ext cx="8321040" cy="215537"/>
          </a:xfrm>
          <a:prstGeom prst="rect">
            <a:avLst/>
          </a:prstGeom>
          <a:noFill/>
          <a:ln/>
        </p:spPr>
        <p:txBody>
          <a:bodyPr wrap="square" lIns="0" tIns="0" rIns="0" bIns="0" rtlCol="0" anchor="ctr"/>
          <a:lstStyle/>
          <a:p>
            <a:pPr indent="0" marL="0">
              <a:buNone/>
            </a:pPr>
            <a:r>
              <a:rPr lang="en-US" sz="900" dirty="0">
                <a:solidFill>
                  <a:srgbClr val="1F2933"/>
                </a:solidFill>
                <a:latin typeface="Calibri" pitchFamily="34" charset="0"/>
                <a:ea typeface="Calibri" pitchFamily="34" charset="-122"/>
                <a:cs typeface="Calibri" pitchFamily="34" charset="-120"/>
              </a:rPr>
              <a:t>The Python Standard Library, traceback - Print or retrieve a stack traceback (Python 3.14.8 documentation, Python Software Foundation, 2026)</a:t>
            </a:r>
            <a:endParaRPr lang="en-US" sz="900" dirty="0"/>
          </a:p>
        </p:txBody>
      </p:sp>
      <p:sp>
        <p:nvSpPr>
          <p:cNvPr id="12" name="src"/>
          <p:cNvSpPr txBox="1"/>
          <p:nvPr/>
        </p:nvSpPr>
        <p:spPr>
          <a:xfrm>
            <a:off x="411480" y="2500231"/>
            <a:ext cx="8321040" cy="215537"/>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The Python Standard Library, inspect - Inspect live objects (Python 3.14.8 documentation, Python Software Foundation, 2026)</a:t>
            </a:r>
            <a:endParaRPr lang="en-US" sz="1050" dirty="0"/>
          </a:p>
        </p:txBody>
      </p:sp>
      <p:sp>
        <p:nvSpPr>
          <p:cNvPr id="13" name="src"/>
          <p:cNvSpPr txBox="1"/>
          <p:nvPr/>
        </p:nvSpPr>
        <p:spPr>
          <a:xfrm>
            <a:off x="411480" y="2715768"/>
            <a:ext cx="8321040" cy="215537"/>
          </a:xfrm>
          <a:prstGeom prst="rect">
            <a:avLst/>
          </a:prstGeom>
          <a:noFill/>
          <a:ln/>
        </p:spPr>
        <p:txBody>
          <a:bodyPr wrap="square" lIns="0" tIns="0" rIns="0" bIns="0" rtlCol="0" anchor="ctr"/>
          <a:lstStyle/>
          <a:p>
            <a:pPr indent="0" marL="0">
              <a:buNone/>
            </a:pPr>
            <a:r>
              <a:rPr lang="en-US" sz="900" dirty="0">
                <a:solidFill>
                  <a:srgbClr val="1F2933"/>
                </a:solidFill>
                <a:latin typeface="Calibri" pitchFamily="34" charset="0"/>
                <a:ea typeface="Calibri" pitchFamily="34" charset="-122"/>
                <a:cs typeface="Calibri" pitchFamily="34" charset="-120"/>
              </a:rPr>
              <a:t>The Python Standard Library, symtable - Access to the compiler's symbol tables (Python 3.14.8 documentation, Python Software Foundation, 2026)</a:t>
            </a:r>
            <a:endParaRPr lang="en-US" sz="900" dirty="0"/>
          </a:p>
        </p:txBody>
      </p:sp>
      <p:sp>
        <p:nvSpPr>
          <p:cNvPr id="14" name="src"/>
          <p:cNvSpPr txBox="1"/>
          <p:nvPr/>
        </p:nvSpPr>
        <p:spPr>
          <a:xfrm>
            <a:off x="411480" y="2931305"/>
            <a:ext cx="8321040" cy="215537"/>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The Python Standard Library, time - Time access and conversions (Python 3.14.8 documentation, Python Software Foundation, 2026)</a:t>
            </a:r>
            <a:endParaRPr lang="en-US" sz="1000" dirty="0"/>
          </a:p>
        </p:txBody>
      </p:sp>
      <p:sp>
        <p:nvSpPr>
          <p:cNvPr id="15" name="src"/>
          <p:cNvSpPr txBox="1"/>
          <p:nvPr/>
        </p:nvSpPr>
        <p:spPr>
          <a:xfrm>
            <a:off x="411480" y="3146842"/>
            <a:ext cx="8321040" cy="215537"/>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The Python Standard Library, random - Generate pseudo-random numbers (Python 3.14.8 documentation, Python Software Foundation, 2026)</a:t>
            </a:r>
            <a:endParaRPr lang="en-US" sz="950" dirty="0"/>
          </a:p>
        </p:txBody>
      </p:sp>
      <p:sp>
        <p:nvSpPr>
          <p:cNvPr id="16" name="src"/>
          <p:cNvSpPr txBox="1"/>
          <p:nvPr/>
        </p:nvSpPr>
        <p:spPr>
          <a:xfrm>
            <a:off x="411480" y="3362379"/>
            <a:ext cx="8321040" cy="215537"/>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The Python Standard Library, keyword - Testing for Python keywords (Python 3.14.8 documentation, Python Software Foundation, 2026)</a:t>
            </a:r>
            <a:endParaRPr lang="en-US" sz="1000" dirty="0"/>
          </a:p>
        </p:txBody>
      </p:sp>
      <p:sp>
        <p:nvSpPr>
          <p:cNvPr id="17" name="src"/>
          <p:cNvSpPr txBox="1"/>
          <p:nvPr/>
        </p:nvSpPr>
        <p:spPr>
          <a:xfrm>
            <a:off x="411480" y="3577917"/>
            <a:ext cx="8321040" cy="215537"/>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The Python Standard Library, Built-in Constants (Python 3.14.8 documentation, Python Software Foundation, 2026)</a:t>
            </a:r>
            <a:endParaRPr lang="en-US" sz="1100" dirty="0"/>
          </a:p>
        </p:txBody>
      </p:sp>
      <p:sp>
        <p:nvSpPr>
          <p:cNvPr id="18" name="src"/>
          <p:cNvSpPr txBox="1"/>
          <p:nvPr/>
        </p:nvSpPr>
        <p:spPr>
          <a:xfrm>
            <a:off x="411480" y="3793454"/>
            <a:ext cx="8321040" cy="215537"/>
          </a:xfrm>
          <a:prstGeom prst="rect">
            <a:avLst/>
          </a:prstGeom>
          <a:noFill/>
          <a:ln/>
        </p:spPr>
        <p:txBody>
          <a:bodyPr wrap="square" lIns="0" tIns="0" rIns="0" bIns="0" rtlCol="0" anchor="ctr"/>
          <a:lstStyle/>
          <a:p>
            <a:pPr indent="0" marL="0">
              <a:buNone/>
            </a:pPr>
            <a:r>
              <a:rPr lang="en-US" sz="850" dirty="0">
                <a:solidFill>
                  <a:srgbClr val="1F2933"/>
                </a:solidFill>
                <a:latin typeface="Calibri" pitchFamily="34" charset="0"/>
                <a:ea typeface="Calibri" pitchFamily="34" charset="-122"/>
                <a:cs typeface="Calibri" pitchFamily="34" charset="-120"/>
              </a:rPr>
              <a:t>The Python Standard Library, annotationlib - Functionality for introspecting annotations (Python 3.14.8 documentation, Python Software Foundation, 2026)</a:t>
            </a:r>
            <a:endParaRPr lang="en-US" sz="850" dirty="0"/>
          </a:p>
        </p:txBody>
      </p:sp>
      <p:sp>
        <p:nvSpPr>
          <p:cNvPr id="19" name="src"/>
          <p:cNvSpPr txBox="1"/>
          <p:nvPr/>
        </p:nvSpPr>
        <p:spPr>
          <a:xfrm>
            <a:off x="411480" y="4008991"/>
            <a:ext cx="8321040" cy="215537"/>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The Python Tutorial, 3. An Informal Introduction to Python - comments (Python 3.14.8 documentation, Python Software Foundation, 2026)</a:t>
            </a:r>
            <a:endParaRPr lang="en-US" sz="950" dirty="0"/>
          </a:p>
        </p:txBody>
      </p:sp>
      <p:sp>
        <p:nvSpPr>
          <p:cNvPr id="20" name="lic"/>
          <p:cNvSpPr txBox="1"/>
          <p:nvPr/>
        </p:nvSpPr>
        <p:spPr>
          <a:xfrm>
            <a:off x="411480" y="4315968"/>
            <a:ext cx="8321040" cy="274320"/>
          </a:xfrm>
          <a:prstGeom prst="rect">
            <a:avLst/>
          </a:prstGeom>
          <a:noFill/>
          <a:ln/>
        </p:spPr>
        <p:txBody>
          <a:bodyPr wrap="square" lIns="0" tIns="0" rIns="0" bIns="0" rtlCol="0" anchor="ctr"/>
          <a:lstStyle/>
          <a:p>
            <a:pPr indent="0" marL="0">
              <a:buNone/>
            </a:pPr>
            <a:r>
              <a:rPr lang="en-US" sz="95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950" dirty="0"/>
          </a:p>
        </p:txBody>
      </p:sp>
      <p:sp>
        <p:nvSpPr>
          <p:cNvPr id="21"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Research record: 03-materials/ch04/rdodi/sen0414_ch04_research_v1_1_0.ttl</a:t>
            </a:r>
            <a:endParaRPr lang="en-US" sz="950" dirty="0"/>
          </a:p>
        </p:txBody>
      </p:sp>
      <p:sp>
        <p:nvSpPr>
          <p:cNvPr id="22"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80960" cy="548640"/>
          </a:xfrm>
          <a:prstGeom prst="rect">
            <a:avLst/>
          </a:prstGeom>
          <a:noFill/>
          <a:ln/>
        </p:spPr>
        <p:txBody>
          <a:bodyPr wrap="square" lIns="0" tIns="0" rIns="0" bIns="0" rtlCol="0" anchor="ctr"/>
          <a:lstStyle/>
          <a:p>
            <a:pPr indent="0" marL="0">
              <a:buNone/>
            </a:pPr>
            <a:r>
              <a:rPr lang="en-US" sz="2200" b="1" dirty="0">
                <a:solidFill>
                  <a:srgbClr val="1E2A3A"/>
                </a:solidFill>
                <a:latin typeface="Cambria" pitchFamily="34" charset="0"/>
                <a:ea typeface="Cambria" pitchFamily="34" charset="-122"/>
                <a:cs typeface="Cambria" pitchFamily="34" charset="-120"/>
              </a:rPr>
              <a:t>Sources (3 of 3)</a:t>
            </a:r>
            <a:endParaRPr lang="en-US" sz="2200" dirty="0"/>
          </a:p>
        </p:txBody>
      </p:sp>
      <p:sp>
        <p:nvSpPr>
          <p:cNvPr id="5" name="subtitle"/>
          <p:cNvSpPr txBox="1"/>
          <p:nvPr/>
        </p:nvSpPr>
        <p:spPr>
          <a:xfrm>
            <a:off x="1097280" y="731520"/>
            <a:ext cx="7680960" cy="420624"/>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Every source below was opened and verified for this chapter; the record is sen0414_ch04_research_v1_1_0.ttl</a:t>
            </a:r>
            <a:endParaRPr lang="en-US" sz="1300" dirty="0"/>
          </a:p>
        </p:txBody>
      </p:sp>
      <p:sp>
        <p:nvSpPr>
          <p:cNvPr id="6" name="src"/>
          <p:cNvSpPr txBox="1"/>
          <p:nvPr/>
        </p:nvSpPr>
        <p:spPr>
          <a:xfrm>
            <a:off x="411480" y="1207008"/>
            <a:ext cx="8321040" cy="219456"/>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3107 - Function Annotations (Winter and Lownds, 2006; Python 3.0)</a:t>
            </a:r>
            <a:endParaRPr lang="en-US" sz="1100" dirty="0"/>
          </a:p>
        </p:txBody>
      </p:sp>
      <p:sp>
        <p:nvSpPr>
          <p:cNvPr id="7" name="src"/>
          <p:cNvSpPr txBox="1"/>
          <p:nvPr/>
        </p:nvSpPr>
        <p:spPr>
          <a:xfrm>
            <a:off x="411480" y="1426464"/>
            <a:ext cx="8321040" cy="219456"/>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PEP 8 - Style Guide for Python Code, the sections on comments and on function names (Van Rossum et al., 2001)</a:t>
            </a:r>
            <a:endParaRPr lang="en-US" sz="1100" dirty="0"/>
          </a:p>
        </p:txBody>
      </p:sp>
      <p:sp>
        <p:nvSpPr>
          <p:cNvPr id="8" name="lic"/>
          <p:cNvSpPr txBox="1"/>
          <p:nvPr/>
        </p:nvSpPr>
        <p:spPr>
          <a:xfrm>
            <a:off x="411480" y="4315968"/>
            <a:ext cx="8321040" cy="274320"/>
          </a:xfrm>
          <a:prstGeom prst="rect">
            <a:avLst/>
          </a:prstGeom>
          <a:noFill/>
          <a:ln/>
        </p:spPr>
        <p:txBody>
          <a:bodyPr wrap="square" lIns="0" tIns="0" rIns="0" bIns="0" rtlCol="0" anchor="ctr"/>
          <a:lstStyle/>
          <a:p>
            <a:pPr indent="0" marL="0">
              <a:buNone/>
            </a:pPr>
            <a:r>
              <a:rPr lang="en-US" sz="95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950" dirty="0"/>
          </a:p>
        </p:txBody>
      </p:sp>
      <p:sp>
        <p:nvSpPr>
          <p:cNvPr id="9" name="crumb"/>
          <p:cNvSpPr txBox="1"/>
          <p:nvPr/>
        </p:nvSpPr>
        <p:spPr>
          <a:xfrm>
            <a:off x="411480" y="4690872"/>
            <a:ext cx="512064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Research record: 03-materials/ch04/rdodi/sen0414_ch04_research_v1_1_0.ttl</a:t>
            </a:r>
            <a:endParaRPr lang="en-US" sz="950" dirty="0"/>
          </a:p>
        </p:txBody>
      </p:sp>
      <p:sp>
        <p:nvSpPr>
          <p:cNvPr id="10" name="cite"/>
          <p:cNvSpPr txBox="1"/>
          <p:nvPr/>
        </p:nvSpPr>
        <p:spPr>
          <a:xfrm>
            <a:off x="5577840" y="4690872"/>
            <a:ext cx="3154680" cy="27432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chapter 4 of Automate the Boring Stuff with Python, 3rd edition (Sweigart, 2025)</a:t>
            </a:r>
            <a:endParaRPr lang="en-US" sz="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37160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5 - Debugging</a:t>
            </a:r>
            <a:endParaRPr lang="en-US" sz="3000" dirty="0"/>
          </a:p>
        </p:txBody>
      </p:sp>
      <p:sp>
        <p:nvSpPr>
          <p:cNvPr id="3" name="x"/>
          <p:cNvSpPr txBox="1"/>
          <p:nvPr/>
        </p:nvSpPr>
        <p:spPr>
          <a:xfrm>
            <a:off x="548640" y="2286000"/>
            <a:ext cx="8046720" cy="1188720"/>
          </a:xfrm>
          <a:prstGeom prst="rect">
            <a:avLst/>
          </a:prstGeom>
          <a:noFill/>
          <a:ln/>
        </p:spPr>
        <p:txBody>
          <a:bodyPr wrap="square" lIns="0" tIns="0" rIns="0" bIns="0" rtlCol="0" anchor="t"/>
          <a:lstStyle/>
          <a:p>
            <a:pPr indent="0" marL="0">
              <a:buNone/>
            </a:pPr>
            <a:r>
              <a:rPr lang="en-US" sz="1600" dirty="0">
                <a:solidFill>
                  <a:srgbClr val="FFD43B"/>
                </a:solidFill>
                <a:latin typeface="Calibri" pitchFamily="34" charset="0"/>
                <a:ea typeface="Calibri" pitchFamily="34" charset="-122"/>
                <a:cs typeface="Calibri" pitchFamily="34" charset="-120"/>
              </a:rPr>
              <a:t>Before then: work through the chapter 4 interactive page - the same taxonomy you saw today, with the examples runnable, a question bank and a subject agent for each branch. Bring one function of your own that misbehaves.</a:t>
            </a:r>
            <a:endParaRPr lang="en-US" sz="16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106</Slides>
  <Notes>106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106</vt:i4>
      </vt:variant>
    </vt:vector>
  </HeadingPairs>
  <TitlesOfParts>
    <vt:vector size="10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4 - Functions</dc:title>
  <dc:subject>PptxGenJS Presentation</dc:subject>
  <dc:creator>Yusuf Altunel</dc:creator>
  <cp:lastModifiedBy>Yusuf Altunel</cp:lastModifiedBy>
  <cp:revision>1</cp:revision>
  <dcterms:created xsi:type="dcterms:W3CDTF">2026-10-04T18:44:55Z</dcterms:created>
  <dcterms:modified xsi:type="dcterms:W3CDTF">2026-10-04T18:44:55Z</dcterms:modified>
  <cp:version>1.1.0</cp:version>
</cp:coreProperties>
</file>