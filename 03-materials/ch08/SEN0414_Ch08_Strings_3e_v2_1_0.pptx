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pieces</c:v>
                </c:pt>
              </c:strCache>
            </c:strRef>
          </c:tx>
          <c:spPr>
            <a:solidFill>
              <a:srgbClr val="0E7C86"/>
            </a:solidFill>
          </c:spPr>
          <c:cat>
            <c:strRef>
              <c:f>Sheet1!$A$2:$A$6</c:f>
              <c:strCache>
                <c:ptCount val="5"/>
                <c:pt idx="0">
                  <c:v>partition(' ')</c:v>
                </c:pt>
                <c:pt idx="1">
                  <c:v>splitlines()</c:v>
                </c:pt>
                <c:pt idx="2">
                  <c:v>split()</c:v>
                </c:pt>
                <c:pt idx="3">
                  <c:v>split('m')</c:v>
                </c:pt>
                <c:pt idx="4">
                  <c:v>join(...)</c:v>
                </c:pt>
              </c:strCache>
            </c:strRef>
          </c:cat>
          <c:val>
            <c:numRef>
              <c:f>Sheet1!$B$2:$B$6</c:f>
              <c:numCache>
                <c:formatCode>General</c:formatCode>
                <c:ptCount val="5"/>
                <c:pt idx="0">
                  <c:v>3</c:v>
                </c:pt>
                <c:pt idx="1">
                  <c:v>3</c:v>
                </c:pt>
                <c:pt idx="2">
                  <c:v>4</c:v>
                </c:pt>
                <c:pt idx="3">
                  <c:v>3</c:v>
                </c:pt>
                <c:pt idx="4">
                  <c:v>1</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in val="0.0"/>
        </c:scaling>
        <c:delete val="0"/>
        <c:axPos val="b"/>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characters</c:v>
                </c:pt>
              </c:strCache>
            </c:strRef>
          </c:tx>
          <c:spPr>
            <a:solidFill>
              <a:srgbClr val="0E7C86"/>
            </a:solidFill>
          </c:spPr>
          <c:cat>
            <c:strRef>
              <c:f>Sheet1!$A$2:$A$5</c:f>
              <c:strCache>
                <c:ptCount val="4"/>
                <c:pt idx="0">
                  <c:v>s</c:v>
                </c:pt>
                <c:pt idx="1">
                  <c:v>s.strip()</c:v>
                </c:pt>
                <c:pt idx="2">
                  <c:v>s.lstrip()</c:v>
                </c:pt>
                <c:pt idx="3">
                  <c:v>s.rstrip()</c:v>
                </c:pt>
              </c:strCache>
            </c:strRef>
          </c:cat>
          <c:val>
            <c:numRef>
              <c:f>Sheet1!$B$2:$B$5</c:f>
              <c:numCache>
                <c:formatCode>General</c:formatCode>
                <c:ptCount val="4"/>
                <c:pt idx="0">
                  <c:v>20</c:v>
                </c:pt>
                <c:pt idx="1">
                  <c:v>12</c:v>
                </c:pt>
                <c:pt idx="2">
                  <c:v>16</c:v>
                </c:pt>
                <c:pt idx="3">
                  <c:v>16</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code point</c:v>
                </c:pt>
              </c:strCache>
            </c:strRef>
          </c:tx>
          <c:spPr>
            <a:solidFill>
              <a:srgbClr val="0E7C86"/>
            </a:solidFill>
          </c:spPr>
          <c:cat>
            <c:strRef>
              <c:f>Sheet1!$A$2:$A$6</c:f>
              <c:strCache>
                <c:ptCount val="5"/>
                <c:pt idx="0">
                  <c:v>H</c:v>
                </c:pt>
                <c:pt idx="1">
                  <c:v>e</c:v>
                </c:pt>
                <c:pt idx="2">
                  <c:v>l</c:v>
                </c:pt>
                <c:pt idx="3">
                  <c:v>l</c:v>
                </c:pt>
                <c:pt idx="4">
                  <c:v>o</c:v>
                </c:pt>
              </c:strCache>
            </c:strRef>
          </c:cat>
          <c:val>
            <c:numRef>
              <c:f>Sheet1!$B$2:$B$6</c:f>
              <c:numCache>
                <c:formatCode>General</c:formatCode>
                <c:ptCount val="5"/>
                <c:pt idx="0">
                  <c:v>72</c:v>
                </c:pt>
                <c:pt idx="1">
                  <c:v>101</c:v>
                </c:pt>
                <c:pt idx="2">
                  <c:v>108</c:v>
                </c:pt>
                <c:pt idx="3">
                  <c:v>108</c:v>
                </c:pt>
                <c:pt idx="4">
                  <c:v>111</c:v>
                </c:pt>
              </c:numCache>
            </c:numRef>
          </c:val>
        </c:ser>
        <c:dLbls>
          <c:numFmt formatCode="General" sourceLinked="0"/>
          <c:txPr>
            <a:bodyPr/>
            <a:lstStyle/>
            <a:p>
              <a:pPr>
                <a:defRPr sz="11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100"/>
            </a:pPr>
          </a:p>
        </c:txPr>
        <c:crossAx val="-2113994440"/>
        <c:crosses val="autoZero"/>
        <c:auto val="1"/>
        <c:lblAlgn val="ctr"/>
        <c:lblOffset val="100"/>
        <c:noMultiLvlLbl val="0"/>
      </c:catAx>
      <c:valAx>
        <c:axId val="-2113994440"/>
        <c:scaling>
          <c:max val="140.0"/>
          <c:min val="0.0"/>
        </c:scaling>
        <c:delete val="0"/>
        <c:axPos val="l"/>
        <c:majorGridlines>
          <c:spPr>
            <a:ln>
              <a:solidFill>
                <a:srgbClr val="D9D2C3"/>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bytes in UTF-8</c:v>
                </c:pt>
              </c:strCache>
            </c:strRef>
          </c:tx>
          <c:spPr>
            <a:solidFill>
              <a:srgbClr val="0E7C86"/>
            </a:solidFill>
          </c:spPr>
          <c:cat>
            <c:strRef>
              <c:f>Sheet1!$A$2:$A$4</c:f>
              <c:strCache>
                <c:ptCount val="3"/>
                <c:pt idx="0">
                  <c:v>a</c:v>
                </c:pt>
                <c:pt idx="1">
                  <c:v>€</c:v>
                </c:pt>
                <c:pt idx="2">
                  <c:v>é</c:v>
                </c:pt>
              </c:strCache>
            </c:strRef>
          </c:cat>
          <c:val>
            <c:numRef>
              <c:f>Sheet1!$B$2:$B$4</c:f>
              <c:numCache>
                <c:formatCode>General</c:formatCode>
                <c:ptCount val="3"/>
                <c:pt idx="0">
                  <c:v>1</c:v>
                </c:pt>
                <c:pt idx="1">
                  <c:v>3</c:v>
                </c:pt>
                <c:pt idx="2">
                  <c:v>2</c:v>
                </c:pt>
              </c:numCache>
            </c:numRef>
          </c:val>
        </c:ser>
        <c:dLbls>
          <c:numFmt formatCode="General"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100"/>
            </a:pPr>
          </a:p>
        </c:txPr>
        <c:crossAx val="-2113994440"/>
        <c:crosses val="autoZero"/>
        <c:auto val="1"/>
        <c:lblAlgn val="ctr"/>
        <c:lblOffset val="100"/>
        <c:noMultiLvlLbl val="0"/>
      </c:catAx>
      <c:valAx>
        <c:axId val="-2113994440"/>
        <c:scaling>
          <c:max val="5.0"/>
          <c:min val="0.0"/>
        </c:scaling>
        <c:delete val="0"/>
        <c:axPos val="l"/>
        <c:majorGridlines>
          <c:spPr>
            <a:ln>
              <a:solidFill>
                <a:srgbClr val="D9D2C3"/>
              </a:solidFill>
            </a:ln>
          </c:spPr>
        </c:majorGridlines>
        <c:majorTickMark val="out"/>
        <c:minorTickMark val="none"/>
        <c:tickLblPos val="nextTo"/>
        <c:spPr>
          <a:ln>
            <a:noFill/>
          </a:ln>
        </c:spPr>
        <c:txPr>
          <a:bodyPr/>
          <a:lstStyle/>
          <a:p>
            <a:pPr>
              <a:defRPr sz="1100"/>
            </a:pPr>
          </a:p>
        </c:txPr>
        <c:crossAx val="-2068027336"/>
        <c:crosses val="autoZero"/>
        <c:majorUnit val="1.0"/>
      </c:valAx>
    </c:plotArea>
    <c:dispBlanksAs val="gap"/>
  </c:chart>
  <c:txPr>
    <a:bodyPr/>
    <a:lstStyle/>
    <a:p>
      <a:pPr>
        <a:defRPr sz="11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Book prints</c:v>
                </c:pt>
              </c:strCache>
            </c:strRef>
          </c:tx>
          <c:spPr>
            <a:solidFill>
              <a:srgbClr val="0E7C86"/>
            </a:solidFill>
          </c:spPr>
          <c:cat>
            <c:strRef>
              <c:f>Sheet1!$A$2:$A$3</c:f>
              <c:strCache>
                <c:ptCount val="2"/>
                <c:pt idx="0">
                  <c:v>'Hello'.rjust(20)</c:v>
                </c:pt>
                <c:pt idx="1">
                  <c:v>'Hello, World'.rjust(20)</c:v>
                </c:pt>
              </c:strCache>
            </c:strRef>
          </c:cat>
          <c:val>
            <c:numRef>
              <c:f>Sheet1!$B$2:$B$3</c:f>
              <c:numCache>
                <c:formatCode>General</c:formatCode>
                <c:ptCount val="2"/>
                <c:pt idx="0">
                  <c:v>14</c:v>
                </c:pt>
                <c:pt idx="1">
                  <c:v>9</c:v>
                </c:pt>
              </c:numCache>
            </c:numRef>
          </c:val>
        </c:ser>
        <c:ser>
          <c:idx val="1"/>
          <c:order val="1"/>
          <c:tx>
            <c:strRef>
              <c:f>Sheet1!$C$1</c:f>
              <c:strCache>
                <c:ptCount val="1"/>
                <c:pt idx="0">
                  <c:v>Python gives</c:v>
                </c:pt>
              </c:strCache>
            </c:strRef>
          </c:tx>
          <c:spPr>
            <a:solidFill>
              <a:srgbClr val="B7791F"/>
            </a:solidFill>
          </c:spPr>
          <c:cat>
            <c:strRef>
              <c:f>Sheet1!$A$2:$A$3</c:f>
              <c:strCache>
                <c:ptCount val="2"/>
                <c:pt idx="0">
                  <c:v>'Hello'.rjust(20)</c:v>
                </c:pt>
                <c:pt idx="1">
                  <c:v>'Hello, World'.rjust(20)</c:v>
                </c:pt>
              </c:strCache>
            </c:strRef>
          </c:cat>
          <c:val>
            <c:numRef>
              <c:f>Sheet1!$C$2:$C$3</c:f>
              <c:numCache>
                <c:formatCode>General</c:formatCode>
                <c:ptCount val="2"/>
                <c:pt idx="0">
                  <c:v>15</c:v>
                </c:pt>
                <c:pt idx="1">
                  <c:v>8</c:v>
                </c:pt>
              </c:numCache>
            </c:numRef>
          </c:val>
        </c:ser>
        <c:dLbls>
          <c:numFmt formatCode="General" sourceLinked="0"/>
          <c:txPr>
            <a:bodyPr/>
            <a:lstStyle/>
            <a:p>
              <a:pPr>
                <a:defRPr sz="105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5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50"/>
            </a:pPr>
          </a:p>
        </c:txPr>
        <c:crossAx val="-2068027336"/>
        <c:crosses val="autoZero"/>
      </c:valAx>
    </c:plotArea>
    <c:legend>
      <c:legendPos val="t"/>
      <c:overlay val="0"/>
      <c:txPr>
        <a:bodyPr/>
        <a:lstStyle/>
        <a:p>
          <a:pPr>
            <a:defRPr sz="1050"/>
          </a:pPr>
        </a:p>
      </c:txPr>
    </c:legend>
    <c:dispBlanksAs val="gap"/>
  </c:chart>
  <c:txPr>
    <a:bodyPr/>
    <a:lstStyle/>
    <a:p>
      <a:pPr>
        <a:defRPr sz="105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width</c:v>
                </c:pt>
              </c:strCache>
            </c:strRef>
          </c:tx>
          <c:spPr>
            <a:solidFill>
              <a:srgbClr val="0E7C86"/>
            </a:solidFill>
          </c:spPr>
          <c:cat>
            <c:strRef>
              <c:f>Sheet1!$A$2:$A$4</c:f>
              <c:strCache>
                <c:ptCount val="3"/>
                <c:pt idx="0">
                  <c:v>column 1</c:v>
                </c:pt>
                <c:pt idx="1">
                  <c:v>column 2</c:v>
                </c:pt>
                <c:pt idx="2">
                  <c:v>column 3</c:v>
                </c:pt>
              </c:strCache>
            </c:strRef>
          </c:cat>
          <c:val>
            <c:numRef>
              <c:f>Sheet1!$B$2:$B$4</c:f>
              <c:numCache>
                <c:formatCode>General</c:formatCode>
                <c:ptCount val="3"/>
                <c:pt idx="0">
                  <c:v>8</c:v>
                </c:pt>
                <c:pt idx="1">
                  <c:v>5</c:v>
                </c:pt>
                <c:pt idx="2">
                  <c:v>5</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methods</c:v>
                </c:pt>
              </c:strCache>
            </c:strRef>
          </c:tx>
          <c:spPr>
            <a:solidFill>
              <a:srgbClr val="0E7C86"/>
            </a:solidFill>
          </c:spPr>
          <c:cat>
            <c:strRef>
              <c:f>Sheet1!$A$2:$A$4</c:f>
              <c:strCache>
                <c:ptCount val="3"/>
                <c:pt idx="0">
                  <c:v>New string</c:v>
                </c:pt>
                <c:pt idx="1">
                  <c:v>True or False</c:v>
                </c:pt>
                <c:pt idx="2">
                  <c:v>Number or pieces</c:v>
                </c:pt>
              </c:strCache>
            </c:strRef>
          </c:cat>
          <c:val>
            <c:numRef>
              <c:f>Sheet1!$B$2:$B$4</c:f>
              <c:numCache>
                <c:formatCode>General</c:formatCode>
                <c:ptCount val="3"/>
                <c:pt idx="0">
                  <c:v>13</c:v>
                </c:pt>
                <c:pt idx="1">
                  <c:v>9</c:v>
                </c:pt>
                <c:pt idx="2">
                  <c:v>5</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6.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treats text as data you can cut, test, format and count. Every concept has an idea, an everyday picture, a drawn mechanism, the code and what the run printed. The same examples run on the chapter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each a run of slides you can jump to. Every code example sits in the chapter-code tab of the page in this same order. Example: part three has seven examples about methods. Ask the class: which part do you expect to be hardest, and why?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guide the chapter. Which operations make a new string and which only test it? Which printed results differ in current Python? Example: upper makes a new string, isalpha only answers. Ask the class to guess the answer to the first question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literal is how you write text in code. An index and a slice read pieces of it. The in operator asks whether one text sits in another. Watch how the backslash changes meaning.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row aloud and let the class add a picture of their own. The point is that a string behaves like a fixed object: you read it and copy it, but never edit it in place. Example: the necklace. Question: what would a new necklace cost?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literal is text between quotes in code. The two quote styles exist so one kind can hold the other. Example: Alice's cat in double quotes. Ask the class: how many characters does Bob's cat hold when typed with a backslash?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code and compare the two lengths. The backslash is typed but never stored. The prefix b makes bytes and the prefix r keeps text. Ask the class to predict each length before the run, then check the 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escape sequence is two typed symbols that become one stored character. Example: backslash and t become one tab. Ask the class: how many characters does the typed pair backslash and n count in a plain string, and what in a raw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escape in the table is one character long. Splitting on the new line cuts the text into two lines. Ask the class which escape they would need to print a path with a backslash, then run it. Change one value in the code, predict the new result, then run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raw string keeps every backslash; triple quotes keep line breaks and both quote kinds. Example: a Windows path. Ask the class: why would a file path in a plain string go wrong with the folder name new? Let one student retell the four steps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r and the plain literal in the picture: two characters against one. Then read the triple-quoted note, which needs no escapes. Ask the class to change the path to a folder starting with n and predict the length. Ask a student to read the result picture aloud before you run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cinema row has numbered seats. The index names one seat; a slice names a block, and the stop seat is not included. The in operator is a yes or no search. Example: seat 4 of Hello is o. Question: which seat is last?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is a position, counted from zero on the left and from minus one on the right. Example: Hello has H at index 0 and o at index 4. Ask the class: what index reaches the last letter without knowing the length?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highlighted cells in the picture: index 0, 4 and minus 1. The last index is the length minus one. Ask the class to predict greeting at index 13 and then run it to see the error. Run the example on the chapter page and compare it with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slice cuts a run of characters; the stop index is not included. Example: zero to five of Hello, world gives Hello. Ask the class: what does leaving out both numbers give, and what does a step of minus one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marks the two slices in colour. Leaving a side empty runs to the edge, and a step of minus one reverses the text. Ask the class to write the slice that returns the word world. Change one value in the code, predict the new result, then run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 operator answers True or False. A string never changes in place, so every edit builds a new string. Example: Zophie a cat becomes Zophie the cat. Ask the class: why does the empty string count as inside every string?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answer table row by row. The in test is case sensitive. The first line shows an edit made by slicing, not by changing the original. Ask the class which row surprised them most. Ask a student to read the result picture aloud before you run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Formatting puts values into text. The f-string is the modern way; the older styles still appear in existing code. The text after a colon shapes the value.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Formatting is mail-merge. You write the pattern once and the blanks fill themselves from variables. The older styles fill blanks in order or by number. Example: a form letter with the name field. Question: what happens if a blank has no value?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PEP 498 was created on 1 August 2015 and reached Python 3.6. Open the proposal page and show the date. Tell the class the f-string keeps text and values together. Ask: what went wrong in older code when the text and the values drifted apart?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f-string runs the expression in each brace and pastes the answer. Example: the age plus ten inside the sentence. Ask the class: how would you print a literal brace inside an f-string, and why did we double it? Point at the drawing and read its four steps aloud, from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arrows in the picture from each hole to its value. Even a sum works inside braces. Doubled braces print one brace. Ask the class to change the age and predict the new sentence before running. Run the example on the chapter page and compare it with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 after the colon shapes the value: two decimals, a width, centred, a comma for thousands, hexadecimal. Example: 3.14159 with .2f shows 3.14. Ask the class: which specifier would you choose to print a price in a receipt? Draw the four steps on the board, then compare them with the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lists each specifier, its meaning and what it showed. The equals sign prints the name and the value, which is the quickest debugging aid. Ask the class to format their own phone number with a width of 12.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percent operator and the format method came before f-strings and you will meet them in old code. Example: the percent s slot fills in order. Ask the class: which of the four styles is easiest to read, and why?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shows that all four styles give the same sentence. Notice that format uses numbered slots, so the order can change. Ask the class to rewrite one of the old lines as an f-string. Ask a student to read the result picture aloud before you run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Methods either make a new string, test the string, or cut it. None changes the original. Keep that rule in mind and the long method list becomes short.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methods are a photocopier: the original page stays as it was, and you get a copy. The is-tests are a checklist that returns True or False for the whole string. Example: upper on hello. Question: does the original change?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upper and lower return a copy and leave the original alone. Example: Hello, world in capitals. Ask the class: if the original does not change, what must you write to keep the new version? Point at the drawing and read its four steps aloud, from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shows each call and that s was unchanged after all of them. casefold goes further than lower. Ask the class to explain why comparing after lower ignores the case of both texts. Run the example on the chapter page and compare it with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is-tests answer for the whole string, so one failing character makes the answer False. Example: abc123 is alphanumeric but not alphabetic. Ask the class: which of these tests would you use to validate a PIN? Draw the four steps on the board, then compare them with the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grid: green means True. Notice the lone blank passes only isspace. The empty string would fail every test. Ask the class to add a sixth sample and predict its row. Change one value in the code, predict the new result, then run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isupper and islower need at least one letter, and digits have no case. Example: 123 is neither upper nor lower. Ask the class: why is Hello World a title but HELLO is not? Let one student retell the four steps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grid shows which sample passes which test. Look at the digit row: all False. Ask the class to predict the row for the text Hello world with a small w and then run it. Ask a student to read the result picture aloud before you run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cuts, join ties. Start and end tests look at one edge only. Example: split a sentence into words, then join them with dashes. Ask the class which is-test fits a PIN, a book title and an empty line. Ask a volunteer to answer before you click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startswith and endswith test an edge; removeprefix and removesuffix cut exactly that text. Example: report.txt without .txt is report. Ask the class: how is removesuffix different from strip with the same letters? Point at the drawing and read its four steps aloud, from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shows the cut text in red and the kept text in teal. A tuple lets endswith accept several endings. Ask the class to cut the prefix test_ from three file names and print them. Run the example on the chapter page and compare it with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cuts a string into a list; join glues a list into a string. Example: a sentence into four words. Ask the class: what does split do when you call it with no argument, and why is that useful? Draw the four steps on the board, then compare them with the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counts the pieces each call returned. Notice split on the letter m cuts inside words. partition cuts once and keeps the separator. Ask the class to join the words with a dash and predict the result. Change one value in the code, predict the new result, then run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Padding puts spaces around a word so columns line up. Strip removes the spaces again, from one end or from both. Example: a price list with right-aligned numbers. Ask the class where they have seen padded columns, for example on a receipt.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rjust, ljust and center pad to a width, with an optional fill character. Example: Hello padded to ten characters. Ask the class: what happens when the width is smaller than the word, and why? Let one student retell the four steps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of the picture shows the letters in teal and the padding in grey. The bar after each line makes trailing spaces visible. Ask the class to centre their own name in thirty characters with a star as filler.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strip removes blanks at both ends; with an argument it removes any of those characters, not a word. Example: SpamSpamBacon with strip of ampS leaves Bacon. Ask the class: why does strip not remove the m in the middle? Point at the drawing and read its four steps aloud, from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shows the length before and after each call: twenty, twelve, sixteen and sixteen. The table says which border each call cuts. Ask the class to predict what strip of a single letter does to the word. Run the example on the chapter page and compare it with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returns the index of the first match or minus one; count tallies matches; replace returns a copy. Example: spam appears twice in the sample. Ask the class: why does a start argument of one skip the first match? Draw the four steps on the board, then compare them with the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highlights both matches and marks where find lands. replace with a limit of one changes only the first. Ask the class what find returns for a missing word, then run it to confirm. Change one value in the code, predict the new result, then run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Characters are numbers; bytes are how those numbers are stored. ord and chr switch between character and number. The encoding decides the byte count.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character is a locker with a number. The encoding is the box used to ship that number. UTF-8 uses one to four boxes. Example: the letter A is locker 65. Ask the class how many boxes the euro sign needs.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19 February 1991 nine companies announced Unicode Inc. Every ord and chr call reads from the table this group keeps. Name one company from the list. Ask the class: which character that is not on your keyboard would you want in a table?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character has a number called its code point. ord goes from character to number; chr goes back. Example: ord of A is 65. Ask the class: why is the code of a small a larger than a capital A by 32?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plots the code point of each letter of Hello. The table shows ord and chr as a pair. Ask the class to compute the code of the letter Z by hand and then check it with ord. Ask a student to read the result picture aloud before you run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 Pike wrote that UTF-8 was sketched on a diner placemat in New Jersey in September 1992. Plain ASCII text stays valid. Show the café example that follows. Ask the class: why must a new encoding keep old ASCII files readable?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encoding turns code points into bytes. In UTF-8 a character takes one to four bytes. Example: café is four characters but five bytes. Ask the class: why can ASCII not hold the letter é? Point at the drawing and read its four steps aloud, from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counts the bytes of each character. The picture splits café into its bytes, with the two-byte é in amber. Ask the class which of the three sample characters costs the most bytes. Run the example on the chapter page and compare it with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book can print a result that differs from the Python you run. The proof is to measure. Example: the padding added by rjust. Ask the class: when your run disagrees with a book, whom do you trust, and what do you do next?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sets the book's figures next to the figures Python gave. The difference is one space in each case. Ask the class to explain how the code counts the padding instead of reading it by eye. Change one value in the code, predict the new result, then run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Three small programs and the clipboard idea. Each one uses only what parts one to four taught. Predict the output before you run it.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clipboard is a one-slot shelf. Copy replaces what is there; paste only reads. A clipboard program reads the shelf, changes the text and puts it back. Example: adding a star to each line. Question: what would a second copy do?</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program changes the case by position. A function holds the rule; enumerate supplies each position. Example: the first letter has position zero, so it goes lower. Ask the class: which positions become capitals? Let one student retell the four steps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shows each input letter, an arrow, and the output letter, with colour for upper and lower. Ask the class to change the rule so that odd positions go lower and predict the new output. Ask a student to read the result picture aloud before you run it.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Pig Latin moves the opening consonants to the end and adds ay. A word that starts with a vowel just gets yay. Example: name becomes amenay. Ask the class: what does the function cut return for the word apple? Point at the drawing and read its four steps aloud, from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splits each word into its opening consonants and the rest, then shows the result. Ask the class to change the program so a word that starts with a vowel gets way instead of yay. Run the example on the chapter page and compare it with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table is a list of columns. Each column is as wide as its longest string, and rjust pads each cell to that width. Example: the column of fruits is eight characters wide. Ask the class: why do we measure first?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shows the printed result and the chart shows the three column widths. Notice zip turns columns into rows. Ask the class to add a fourth column and predict what changes. Change one value in the code, predict the new result, then run it.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Larry Tesler brought cut, copy and paste to computing at Xerox PARC in 1973. The clipboard program of this chapter makes the same three moves in code. Ask the class: which of the three moves, select, hold or insert, does pyperclip.paste do?</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clipboard program has three steps: paste, change, copy. Here a one-item list stands in for the clipboard so the program runs everywhere. Example: a star in front of each line. Ask the class: which step does pyperclip.copy replace? Let one student retell the four steps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follows the text through five steps, from paste to copy. The printed result shows the starred lines. Ask the class to change the star into a dash and predict the new output. Ask a student to read the result picture aloud before you run it.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and these features are newer than the book. Example: the debug specifier prints a name and its value, and template strings need Python 3.14. Ask the class which of these features they would use first, and which version of Python they have installed.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No string operation changes a string in place. The chart sorts the methods of this chapter by what they give back. Example: strip gives a new string, isalpha gives True or False. Ask: which method here would you use for a PIN check?</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on the chapter page. Example: reversing a split with a step of minus one. Ask each student to explain one answer in a single sentence to the neighbour, and then compare the explanations. Ask a volunteer to answer before you click 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then the Python documentation. The stories link to first-hand sources and a video explains Unicode. Example: Rob Pike's own account of UTF-8. Ask the class to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hyperlink" Target="https://peps.python.org/pep-0498/"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chart" Target="../charts/char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chart" Target="../charts/char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png"/><Relationship Id="rId4" Type="http://schemas.openxmlformats.org/officeDocument/2006/relationships/hyperlink" Target="https://www.unicode.org/history/first-pr.htm"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chart" Target="../charts/char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3.jpg"/><Relationship Id="rId4" Type="http://schemas.openxmlformats.org/officeDocument/2006/relationships/hyperlink" Target="https://doc.cat-v.org/bell_labs/utf-8_history"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chart" Target="../charts/char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chart" Target="../charts/char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chart" Target="../charts/char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4.jpg"/><Relationship Id="rId4" Type="http://schemas.openxmlformats.org/officeDocument/2006/relationships/hyperlink" Target="https://en.wikipedia.org/wiki/Larry_Tesler"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chart" Target="../charts/char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hyperlink" Target="https://automatetheboringstuff.com/3e/chapter8.html" TargetMode="External"/><Relationship Id="rId4" Type="http://schemas.openxmlformats.org/officeDocument/2006/relationships/hyperlink" Target="https://docs.python.org/3/library/stdtypes.html#string-methods" TargetMode="External"/><Relationship Id="rId5" Type="http://schemas.openxmlformats.org/officeDocument/2006/relationships/hyperlink" Target="https://docs.python.org/3/tutorial/introduction.html#text" TargetMode="External"/><Relationship Id="rId6" Type="http://schemas.openxmlformats.org/officeDocument/2006/relationships/hyperlink" Target="https://docs.python.org/3/library/string.html#format-specification-mini-language" TargetMode="External"/><Relationship Id="rId7" Type="http://schemas.openxmlformats.org/officeDocument/2006/relationships/hyperlink" Target="https://docs.python.org/3/howto/unicode.html" TargetMode="External"/><Relationship Id="rId8" Type="http://schemas.openxmlformats.org/officeDocument/2006/relationships/hyperlink" Target="https://peps.python.org/pep-0498/" TargetMode="External"/><Relationship Id="rId9" Type="http://schemas.openxmlformats.org/officeDocument/2006/relationships/hyperlink" Target="https://peps.python.org/pep-0750/" TargetMode="External"/><Relationship Id="rId10" Type="http://schemas.openxmlformats.org/officeDocument/2006/relationships/hyperlink" Target="https://doc.cat-v.org/bell_labs/utf-8_history" TargetMode="External"/><Relationship Id="rId11" Type="http://schemas.openxmlformats.org/officeDocument/2006/relationships/hyperlink" Target="https://www.unicode.org/history/first-pr.htm" TargetMode="External"/><Relationship Id="rId12" Type="http://schemas.openxmlformats.org/officeDocument/2006/relationships/hyperlink" Target="https://en.wikipedia.org/wiki/Larry_Tesler" TargetMode="External"/><Relationship Id="rId13" Type="http://schemas.openxmlformats.org/officeDocument/2006/relationships/hyperlink" Target="https://www.youtube.com/watch?v=MijmeoH9LT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Strings and Text Editing</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8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24</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4</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told with real names, dates and places</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57</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72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683565"/>
                <a:gridCol w="983973"/>
                <a:gridCol w="1162878"/>
                <a:gridCol w="3399182"/>
              </a:tblGrid>
              <a:tr h="502920">
                <a:tc>
                  <a:txBody>
                    <a:bodyPr wrap="square"/>
                    <a:lstStyle/>
                    <a:p>
                      <a:r>
                        <a:rPr sz="13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50" b="1" i="0">
                          <a:solidFill>
                            <a:srgbClr val="1F2933"/>
                          </a:solidFill>
                          <a:latin typeface="Calibri"/>
                        </a:rPr>
                        <a:t>Literals and reading a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4 - 18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quotes, escapes, slices,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Formatting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19 - 27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f-strings, format specs, older styles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String methods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28 - 47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case, tests, split, join, padding, strip, find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Characters and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48 - 57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ord, chr, UTF-8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Programs and the clipboard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58 - 68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alternating case, Pig Latin, table printer, clipboard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69 - 72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24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operations on a string make a new string, which only test it, and why can none of them change it?</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70: none changes it; each makes a new string or answers.</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printed outputs and concepts of the book differ in current Python, and on what source?</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slides 57 and 69: the rjust lines and the newer features.</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Strings never change; operations make new strings or answers.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72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Literals and reading a string</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How to write text in code, and how to read pieces of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String literal</a:t>
            </a:r>
          </a:p>
        </p:txBody>
      </p:sp>
      <p:sp>
        <p:nvSpPr>
          <p:cNvPr id="6" name="meaning"/>
          <p:cNvSpPr txBox="1"/>
          <p:nvPr/>
        </p:nvSpPr>
        <p:spPr>
          <a:xfrm>
            <a:off x="2606040" y="1417320"/>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Text written between quotes in the code.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Escape sequence</a:t>
            </a:r>
          </a:p>
        </p:txBody>
      </p:sp>
      <p:sp>
        <p:nvSpPr>
          <p:cNvPr id="8" name="meaning"/>
          <p:cNvSpPr txBox="1"/>
          <p:nvPr/>
        </p:nvSpPr>
        <p:spPr>
          <a:xfrm>
            <a:off x="2606040" y="2075688"/>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 backslash code for a character you cannot type.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Raw string</a:t>
            </a:r>
          </a:p>
        </p:txBody>
      </p:sp>
      <p:sp>
        <p:nvSpPr>
          <p:cNvPr id="10" name="meaning"/>
          <p:cNvSpPr txBox="1"/>
          <p:nvPr/>
        </p:nvSpPr>
        <p:spPr>
          <a:xfrm>
            <a:off x="2606040" y="2734056"/>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 literal that keeps every backslash as typed.</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Index and slice</a:t>
            </a:r>
          </a:p>
        </p:txBody>
      </p:sp>
      <p:sp>
        <p:nvSpPr>
          <p:cNvPr id="12" name="meaning"/>
          <p:cNvSpPr txBox="1"/>
          <p:nvPr/>
        </p:nvSpPr>
        <p:spPr>
          <a:xfrm>
            <a:off x="2606040" y="3392424"/>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 number for one character, and a range of them.</a:t>
            </a:r>
          </a:p>
        </p:txBody>
      </p:sp>
      <p:sp>
        <p:nvSpPr>
          <p:cNvPr id="13" name="Rounded Rectangle 12"/>
          <p:cNvSpPr/>
          <p:nvPr/>
        </p:nvSpPr>
        <p:spPr>
          <a:xfrm>
            <a:off x="457200" y="4050791"/>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The in operator</a:t>
            </a:r>
          </a:p>
        </p:txBody>
      </p:sp>
      <p:sp>
        <p:nvSpPr>
          <p:cNvPr id="14" name="meaning"/>
          <p:cNvSpPr txBox="1"/>
          <p:nvPr/>
        </p:nvSpPr>
        <p:spPr>
          <a:xfrm>
            <a:off x="2606040" y="4050791"/>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 yes-or-no test for text inside text.</a:t>
            </a:r>
          </a:p>
        </p:txBody>
      </p:sp>
      <p:graphicFrame>
        <p:nvGraphicFramePr>
          <p:cNvPr id="15" name="table"/>
          <p:cNvGraphicFramePr>
            <a:graphicFrameLocks noGrp="1"/>
          </p:cNvGraphicFramePr>
          <p:nvPr/>
        </p:nvGraphicFramePr>
        <p:xfrm>
          <a:off x="5760720" y="1417320"/>
          <a:ext cx="3017519" cy="3246120"/>
        </p:xfrm>
        <a:graphic>
          <a:graphicData uri="http://schemas.openxmlformats.org/drawingml/2006/table">
            <a:tbl>
              <a:tblPr firstRow="0" bandRow="0"/>
              <a:tblGrid>
                <a:gridCol w="484293"/>
                <a:gridCol w="2533226"/>
              </a:tblGrid>
              <a:tr h="360680">
                <a:tc>
                  <a:txBody>
                    <a:bodyPr wrap="square"/>
                    <a:lstStyle/>
                    <a:p>
                      <a:r>
                        <a:rPr sz="12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0680">
                <a:tc>
                  <a:txBody>
                    <a:bodyPr wrap="square"/>
                    <a:lstStyle/>
                    <a:p>
                      <a:r>
                        <a:rPr sz="12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Everyday pictures: literals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Two kinds of quotes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Escape sequences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Raw strings and triple quotes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Everyday pictures: reading a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Indexes: a number for every character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Slices: cutting out a piece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in, not in and strings that never change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72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literals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string is a necklace of beads: you can read every bead, but you cannot swap one in place.</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405765">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05765">
                <a:tc>
                  <a:txBody>
                    <a:bodyPr wrap="square"/>
                    <a:lstStyle/>
                    <a:p>
                      <a:r>
                        <a:rPr sz="1300" b="1" i="0">
                          <a:solidFill>
                            <a:srgbClr val="1F2933"/>
                          </a:solidFill>
                          <a:latin typeface="Calibri"/>
                        </a:rPr>
                        <a:t>Working with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necklace of letters. You can look at any bead, count them, or make a new necklace.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String Literals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sign written exactly as it will hang on the shop door.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Double Quotes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bigger envelope, with room inside for an apostrophe.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Escape Sequences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stage direction in a script: it says 'tab here' instead of being spoken.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Raw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photocopy: every mark, every backslash, is copied as it stands.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Multiline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notepad: the line breaks you press stay on the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Multiline Comments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sticky note on the code that Python never reads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72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Quotes: how text is written in code</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string literal is text written between quotes. Python reads it and creates a string object that holds those characters.</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Code needs a clear border between text and instructions. Two quote styles exist so that one kind can sit inside the other.</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string literal is a sign written exactly as it will hang on the shop door.</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You type</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"Alice's cat" or 'Bob\'s cat'</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Python reads</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the quotes only mark the border</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Python stores</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Alice's cat, 11 characters</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print shows</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the text without the quotes</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backslash is typed but never stored.</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72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kinds of quotes</a:t>
            </a:r>
          </a:p>
        </p:txBody>
      </p:sp>
      <p:sp>
        <p:nvSpPr>
          <p:cNvPr id="4" name="code"/>
          <p:cNvSpPr/>
          <p:nvPr/>
        </p:nvSpPr>
        <p:spPr>
          <a:xfrm>
            <a:off x="365760" y="841248"/>
            <a:ext cx="4645151" cy="1861756"/>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 double quotes may hold an apostrophe</a:t>
            </a:r>
          </a:p>
          <a:p>
            <a:pPr algn="l"/>
            <a:r>
              <a:rPr sz="1200" b="0" i="0">
                <a:solidFill>
                  <a:srgbClr val="E6EDF3"/>
                </a:solidFill>
                <a:latin typeface="Courier New"/>
              </a:rPr>
              <a:t>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"Alice's cat"</a:t>
            </a:r>
          </a:p>
          <a:p>
            <a:pPr algn="l"/>
            <a:r>
              <a:rPr sz="1200" b="0" i="0">
                <a:solidFill>
                  <a:srgbClr val="8FA3B8"/>
                </a:solidFill>
                <a:latin typeface="Courier New"/>
              </a:rPr>
              <a:t># in single quotes a backslash escapes it</a:t>
            </a:r>
          </a:p>
          <a:p>
            <a:pPr algn="l"/>
            <a:r>
              <a:rPr sz="1200" b="0" i="0">
                <a:solidFill>
                  <a:srgbClr val="E6EDF3"/>
                </a:solidFill>
                <a:latin typeface="Courier New"/>
              </a:rPr>
              <a:t>b</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'Bob\'s cat'</a:t>
            </a:r>
          </a:p>
          <a:p>
            <a:pPr algn="l"/>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len</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a:t>
            </a:r>
          </a:p>
          <a:p>
            <a:pPr algn="l"/>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b</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len</a:t>
            </a:r>
            <a:r>
              <a:rPr sz="1200" b="0" i="0">
                <a:solidFill>
                  <a:srgbClr val="E6EDF3"/>
                </a:solidFill>
                <a:latin typeface="Courier New"/>
              </a:rPr>
              <a:t>(</a:t>
            </a:r>
            <a:r>
              <a:rPr sz="1200" b="0" i="0">
                <a:solidFill>
                  <a:srgbClr val="E6EDF3"/>
                </a:solidFill>
                <a:latin typeface="Courier New"/>
              </a:rPr>
              <a:t>b</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 b makes bytes, r still makes text</a:t>
            </a:r>
          </a:p>
          <a:p>
            <a:pPr algn="l"/>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type</a:t>
            </a:r>
            <a:r>
              <a:rPr sz="1200" b="0" i="0">
                <a:solidFill>
                  <a:srgbClr val="E6EDF3"/>
                </a:solidFill>
                <a:latin typeface="Courier New"/>
              </a:rPr>
              <a:t>(</a:t>
            </a:r>
            <a:r>
              <a:rPr sz="1200" b="0" i="0">
                <a:solidFill>
                  <a:srgbClr val="E6EDF3"/>
                </a:solidFill>
                <a:latin typeface="Courier New"/>
              </a:rPr>
              <a:t>b</a:t>
            </a:r>
            <a:r>
              <a:rPr sz="1200" b="0" i="0">
                <a:solidFill>
                  <a:srgbClr val="9BE3A8"/>
                </a:solidFill>
                <a:latin typeface="Courier New"/>
              </a:rPr>
              <a:t>'a'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type</a:t>
            </a:r>
            <a:r>
              <a:rPr sz="1200" b="0" i="0">
                <a:solidFill>
                  <a:srgbClr val="E6EDF3"/>
                </a:solidFill>
                <a:latin typeface="Courier New"/>
              </a:rPr>
              <a:t>(</a:t>
            </a:r>
            <a:r>
              <a:rPr sz="1200" b="0" i="0">
                <a:solidFill>
                  <a:srgbClr val="E6EDF3"/>
                </a:solidFill>
                <a:latin typeface="Courier New"/>
              </a:rPr>
              <a:t>r</a:t>
            </a:r>
            <a:r>
              <a:rPr sz="1200" b="0" i="0">
                <a:solidFill>
                  <a:srgbClr val="9BE3A8"/>
                </a:solidFill>
                <a:latin typeface="Courier New"/>
              </a:rPr>
              <a:t>'a'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p>
        </p:txBody>
      </p:sp>
      <p:sp>
        <p:nvSpPr>
          <p:cNvPr id="5" name="note card"/>
          <p:cNvSpPr/>
          <p:nvPr/>
        </p:nvSpPr>
        <p:spPr>
          <a:xfrm>
            <a:off x="5120640" y="841248"/>
            <a:ext cx="3657600" cy="516255"/>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166359" y="841248"/>
            <a:ext cx="3566160" cy="516255"/>
          </a:xfrm>
          <a:prstGeom prst="rect">
            <a:avLst/>
          </a:prstGeom>
          <a:noFill/>
        </p:spPr>
        <p:txBody>
          <a:bodyPr wrap="square" lIns="45720" rIns="45720" tIns="27432" bIns="27432" anchor="ctr">
            <a:spAutoFit/>
          </a:bodyPr>
          <a:lstStyle/>
          <a:p>
            <a:r>
              <a:rPr sz="1050" b="0" i="0">
                <a:solidFill>
                  <a:srgbClr val="1F2933"/>
                </a:solidFill>
                <a:latin typeface="Calibri"/>
              </a:rPr>
              <a:t>Double quotes let an apostrophe sit inside the text. In single quotes a backslash escapes it.</a:t>
            </a:r>
          </a:p>
        </p:txBody>
      </p:sp>
      <p:sp>
        <p:nvSpPr>
          <p:cNvPr id="7" name="note card"/>
          <p:cNvSpPr/>
          <p:nvPr/>
        </p:nvSpPr>
        <p:spPr>
          <a:xfrm>
            <a:off x="5120640" y="1430655"/>
            <a:ext cx="3657600" cy="68294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166359" y="1430655"/>
            <a:ext cx="3566160" cy="682942"/>
          </a:xfrm>
          <a:prstGeom prst="rect">
            <a:avLst/>
          </a:prstGeom>
          <a:noFill/>
        </p:spPr>
        <p:txBody>
          <a:bodyPr wrap="square" lIns="45720" rIns="45720" tIns="27432" bIns="27432" anchor="ctr">
            <a:spAutoFit/>
          </a:bodyPr>
          <a:lstStyle/>
          <a:p>
            <a:r>
              <a:rPr sz="1050" b="0" i="0">
                <a:solidFill>
                  <a:srgbClr val="1F2933"/>
                </a:solidFill>
                <a:latin typeface="Calibri"/>
              </a:rPr>
              <a:t>Both strings hold a plain apostrophe. The backslash is not stored, so lengths count real characters only.</a:t>
            </a:r>
          </a:p>
        </p:txBody>
      </p:sp>
      <p:sp>
        <p:nvSpPr>
          <p:cNvPr id="9" name="note card"/>
          <p:cNvSpPr/>
          <p:nvPr/>
        </p:nvSpPr>
        <p:spPr>
          <a:xfrm>
            <a:off x="5120640" y="2186749"/>
            <a:ext cx="3657600" cy="516255"/>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166359" y="2186749"/>
            <a:ext cx="3566160" cy="516255"/>
          </a:xfrm>
          <a:prstGeom prst="rect">
            <a:avLst/>
          </a:prstGeom>
          <a:noFill/>
        </p:spPr>
        <p:txBody>
          <a:bodyPr wrap="square" lIns="45720" rIns="45720" tIns="27432" bIns="27432" anchor="ctr">
            <a:spAutoFit/>
          </a:bodyPr>
          <a:lstStyle/>
          <a:p>
            <a:r>
              <a:rPr sz="1050" b="0" i="0">
                <a:solidFill>
                  <a:srgbClr val="1F2933"/>
                </a:solidFill>
                <a:latin typeface="Calibri"/>
              </a:rPr>
              <a:t>A b prefix builds bytes, not text. An r prefix still builds an ordinary str.</a:t>
            </a:r>
          </a:p>
        </p:txBody>
      </p:sp>
      <p:sp>
        <p:nvSpPr>
          <p:cNvPr id="11" name="result label"/>
          <p:cNvSpPr txBox="1"/>
          <p:nvPr/>
        </p:nvSpPr>
        <p:spPr>
          <a:xfrm>
            <a:off x="365760" y="277615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2" name="table"/>
          <p:cNvGraphicFramePr>
            <a:graphicFrameLocks noGrp="1"/>
          </p:cNvGraphicFramePr>
          <p:nvPr/>
        </p:nvGraphicFramePr>
        <p:xfrm>
          <a:off x="365760" y="3050476"/>
          <a:ext cx="8412479" cy="1558095"/>
        </p:xfrm>
        <a:graphic>
          <a:graphicData uri="http://schemas.openxmlformats.org/drawingml/2006/table">
            <a:tbl>
              <a:tblPr firstRow="0" bandRow="0"/>
              <a:tblGrid>
                <a:gridCol w="3282919"/>
                <a:gridCol w="2667371"/>
                <a:gridCol w="1025912"/>
                <a:gridCol w="1436277"/>
              </a:tblGrid>
              <a:tr h="311619">
                <a:tc>
                  <a:txBody>
                    <a:bodyPr wrap="square"/>
                    <a:lstStyle/>
                    <a:p>
                      <a:r>
                        <a:rPr sz="1100" b="1" i="0">
                          <a:solidFill>
                            <a:srgbClr val="FFFFFF"/>
                          </a:solidFill>
                          <a:latin typeface="Calibri"/>
                        </a:rPr>
                        <a:t>Literal you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Text it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Length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1619">
                <a:tc>
                  <a:txBody>
                    <a:bodyPr wrap="square"/>
                    <a:lstStyle/>
                    <a:p>
                      <a:r>
                        <a:rPr sz="1100" b="0" i="0">
                          <a:solidFill>
                            <a:srgbClr val="1F2933"/>
                          </a:solidFill>
                          <a:latin typeface="Courier New"/>
                        </a:rPr>
                        <a:t>"Alice's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ourier New"/>
                        </a:rPr>
                        <a:t>Alice's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1619">
                <a:tc>
                  <a:txBody>
                    <a:bodyPr wrap="square"/>
                    <a:lstStyle/>
                    <a:p>
                      <a:r>
                        <a:rPr sz="1100" b="0" i="0">
                          <a:solidFill>
                            <a:srgbClr val="1F2933"/>
                          </a:solidFill>
                          <a:latin typeface="Courier New"/>
                        </a:rPr>
                        <a:t>'Bob\'s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ourier New"/>
                        </a:rPr>
                        <a:t>Bob's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1619">
                <a:tc>
                  <a:txBody>
                    <a:bodyPr wrap="square"/>
                    <a:lstStyle/>
                    <a:p>
                      <a:r>
                        <a:rPr sz="1100" b="0" i="0">
                          <a:solidFill>
                            <a:srgbClr val="1F2933"/>
                          </a:solidFill>
                          <a:latin typeface="Courier New"/>
                        </a:rPr>
                        <a:t>b'a'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ourier New"/>
                        </a:rPr>
                        <a:t>b'a'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1619">
                <a:tc>
                  <a:txBody>
                    <a:bodyPr wrap="square"/>
                    <a:lstStyle/>
                    <a:p>
                      <a:r>
                        <a:rPr sz="1100" b="0" i="0">
                          <a:solidFill>
                            <a:srgbClr val="1F2933"/>
                          </a:solidFill>
                          <a:latin typeface="Courier New"/>
                        </a:rPr>
                        <a:t>r'a'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backslash is typed but never stored.</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72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Escape sequences: characters you cannot type</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An escape sequence is a backslash plus one letter or symbol. Python turns the pair into a single character such as a tab or a new line.</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Some characters, like a line break, cannot sit inside a one-line literal. The backslash is a signal that the next symbol has a special meaning.</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An escape sequence is a stage direction in a script: it says tab here, and nobody speaks it.</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You type</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two symbols: \ and t</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Python sees</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the backslash starts a code</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Python stores</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one tab character</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len counts</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1, not 2</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escape is two typed characters and one stored character.</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72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Escape sequences</a:t>
            </a:r>
          </a:p>
        </p:txBody>
      </p:sp>
      <p:sp>
        <p:nvSpPr>
          <p:cNvPr id="4" name="code"/>
          <p:cNvSpPr/>
          <p:nvPr/>
        </p:nvSpPr>
        <p:spPr>
          <a:xfrm>
            <a:off x="365760" y="841248"/>
            <a:ext cx="5056631" cy="1629537"/>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 a tab and a newline are one character each</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'a\tb'</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'a\tb'</a:t>
            </a:r>
            <a:r>
              <a:rPr sz="1400" b="0" i="0">
                <a:solidFill>
                  <a:srgbClr val="E6EDF3"/>
                </a:solidFill>
                <a:latin typeface="Courier New"/>
              </a:rPr>
              <a:t>)</a:t>
            </a:r>
            <a:r>
              <a:rPr sz="1400" b="0" i="0">
                <a:solidFill>
                  <a:srgbClr val="E6EDF3"/>
                </a:solidFill>
                <a:latin typeface="Courier New"/>
              </a:rPr>
              <a:t>)</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'line1\nline2'</a:t>
            </a:r>
            <a:r>
              <a:rPr sz="1400" b="0" i="0">
                <a:solidFill>
                  <a:srgbClr val="E6EDF3"/>
                </a:solidFill>
                <a:latin typeface="Courier New"/>
              </a:rPr>
              <a:t>.</a:t>
            </a:r>
            <a:r>
              <a:rPr sz="1400" b="0" i="0">
                <a:solidFill>
                  <a:srgbClr val="E6EDF3"/>
                </a:solidFill>
                <a:latin typeface="Courier New"/>
              </a:rPr>
              <a:t>split</a:t>
            </a:r>
            <a:r>
              <a:rPr sz="1400" b="0" i="0">
                <a:solidFill>
                  <a:srgbClr val="E6EDF3"/>
                </a:solidFill>
                <a:latin typeface="Courier New"/>
              </a:rPr>
              <a:t>(</a:t>
            </a:r>
            <a:r>
              <a:rPr sz="1400" b="0" i="0">
                <a:solidFill>
                  <a:srgbClr val="9BE3A8"/>
                </a:solidFill>
                <a:latin typeface="Courier New"/>
              </a:rPr>
              <a:t>'\n'</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 so are an escaped backslash and quotes</a:t>
            </a:r>
          </a:p>
          <a:p>
            <a:pPr algn="l"/>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5" name="note card"/>
          <p:cNvSpPr/>
          <p:nvPr/>
        </p:nvSpPr>
        <p:spPr>
          <a:xfrm>
            <a:off x="5532120" y="841248"/>
            <a:ext cx="3246120" cy="77819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577840" y="841248"/>
            <a:ext cx="3154679" cy="778192"/>
          </a:xfrm>
          <a:prstGeom prst="rect">
            <a:avLst/>
          </a:prstGeom>
          <a:noFill/>
        </p:spPr>
        <p:txBody>
          <a:bodyPr wrap="square" lIns="45720" rIns="45720" tIns="27432" bIns="27432" anchor="ctr">
            <a:spAutoFit/>
          </a:bodyPr>
          <a:lstStyle/>
          <a:p>
            <a:r>
              <a:rPr sz="1250" b="0" i="0">
                <a:solidFill>
                  <a:srgbClr val="1F2933"/>
                </a:solidFill>
                <a:latin typeface="Calibri"/>
              </a:rPr>
              <a:t>A tab and a newline each count as one character. Splitting on the newline cuts the text into two lines.</a:t>
            </a:r>
          </a:p>
        </p:txBody>
      </p:sp>
      <p:sp>
        <p:nvSpPr>
          <p:cNvPr id="7" name="note card"/>
          <p:cNvSpPr/>
          <p:nvPr/>
        </p:nvSpPr>
        <p:spPr>
          <a:xfrm>
            <a:off x="5532120" y="1692592"/>
            <a:ext cx="3246120" cy="77819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577840" y="1692592"/>
            <a:ext cx="3154679" cy="778192"/>
          </a:xfrm>
          <a:prstGeom prst="rect">
            <a:avLst/>
          </a:prstGeom>
          <a:noFill/>
        </p:spPr>
        <p:txBody>
          <a:bodyPr wrap="square" lIns="45720" rIns="45720" tIns="27432" bIns="27432" anchor="ctr">
            <a:spAutoFit/>
          </a:bodyPr>
          <a:lstStyle/>
          <a:p>
            <a:r>
              <a:rPr sz="1250" b="0" i="0">
                <a:solidFill>
                  <a:srgbClr val="1F2933"/>
                </a:solidFill>
                <a:latin typeface="Calibri"/>
              </a:rPr>
              <a:t>An escaped backslash or quote is also one character. The backslash only tells Python what comes next.</a:t>
            </a:r>
          </a:p>
        </p:txBody>
      </p:sp>
      <p:sp>
        <p:nvSpPr>
          <p:cNvPr id="9" name="result label"/>
          <p:cNvSpPr txBox="1"/>
          <p:nvPr/>
        </p:nvSpPr>
        <p:spPr>
          <a:xfrm>
            <a:off x="365760" y="254393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0" name="table"/>
          <p:cNvGraphicFramePr>
            <a:graphicFrameLocks noGrp="1"/>
          </p:cNvGraphicFramePr>
          <p:nvPr/>
        </p:nvGraphicFramePr>
        <p:xfrm>
          <a:off x="365760" y="2818257"/>
          <a:ext cx="8412477" cy="1152144"/>
        </p:xfrm>
        <a:graphic>
          <a:graphicData uri="http://schemas.openxmlformats.org/drawingml/2006/table">
            <a:tbl>
              <a:tblPr firstRow="0" bandRow="0"/>
              <a:tblGrid>
                <a:gridCol w="1242752"/>
                <a:gridCol w="1433945"/>
                <a:gridCol w="1433945"/>
                <a:gridCol w="1433945"/>
                <a:gridCol w="1433945"/>
                <a:gridCol w="1433945"/>
              </a:tblGrid>
              <a:tr h="384048">
                <a:tc>
                  <a:txBody>
                    <a:bodyPr wrap="square"/>
                    <a:lstStyle/>
                    <a:p>
                      <a:r>
                        <a:rPr sz="1300" b="1" i="0">
                          <a:solidFill>
                            <a:srgbClr val="FFFFFF"/>
                          </a:solidFill>
                          <a:latin typeface="Calibri"/>
                        </a:rPr>
                        <a:t>Escape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4048">
                <a:tc>
                  <a:txBody>
                    <a:bodyPr wrap="square"/>
                    <a:lstStyle/>
                    <a:p>
                      <a:r>
                        <a:rPr sz="1300" b="1" i="0">
                          <a:solidFill>
                            <a:srgbClr val="1F2933"/>
                          </a:solidFill>
                          <a:latin typeface="Calibri"/>
                        </a:rPr>
                        <a:t>Makes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apostrophe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double quote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tab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new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backslash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4048">
                <a:tc>
                  <a:txBody>
                    <a:bodyPr wrap="square"/>
                    <a:lstStyle/>
                    <a:p>
                      <a:r>
                        <a:rPr sz="1300" b="1" i="0">
                          <a:solidFill>
                            <a:srgbClr val="1F2933"/>
                          </a:solidFill>
                          <a:latin typeface="Calibri"/>
                        </a:rPr>
                        <a:t>Characters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escape is two typed characters and one stored character.</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72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Raw strings and triple quotes</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raw string, written with an r before the quote, keeps every backslash as typed. Triple quotes let a literal run over many lines.</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File paths and patterns are full of backslashes. Long text with quotes inside is painful to escape one by one.</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raw string is a photocopy: every mark, every backslash, is copied as it stands.</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Plain literal</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backslash plus n becomes one line break</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Raw literal</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backslash plus n stays two characters</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Triple quotes</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both quote kinds and line breaks allowed</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Result</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len shows 2 for raw, 1 for plain</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Raw keeps backslashes; triple quotes keep line breaks.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72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Raw strings and triple quotes</a:t>
            </a:r>
          </a:p>
        </p:txBody>
      </p:sp>
      <p:sp>
        <p:nvSpPr>
          <p:cNvPr id="4" name="code"/>
          <p:cNvSpPr/>
          <p:nvPr/>
        </p:nvSpPr>
        <p:spPr>
          <a:xfrm>
            <a:off x="365760" y="841248"/>
            <a:ext cx="4629911" cy="1701291"/>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 raw: every backslash stays as typed</a:t>
            </a:r>
          </a:p>
          <a:p>
            <a:pPr algn="l"/>
            <a:r>
              <a:rPr sz="1400" b="0" i="0">
                <a:solidFill>
                  <a:srgbClr val="E6EDF3"/>
                </a:solidFill>
                <a:latin typeface="Courier New"/>
              </a:rPr>
              <a:t>path</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r</a:t>
            </a:r>
            <a:r>
              <a:rPr sz="1400" b="0" i="0">
                <a:solidFill>
                  <a:srgbClr val="9BE3A8"/>
                </a:solidFill>
                <a:latin typeface="Courier New"/>
              </a:rPr>
              <a:t>'C:\Users\Alice\Desktop'</a:t>
            </a:r>
          </a:p>
          <a:p>
            <a:pPr algn="l"/>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path</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path</a:t>
            </a:r>
            <a:r>
              <a:rPr sz="1400" b="0" i="0">
                <a:solidFill>
                  <a:srgbClr val="E6EDF3"/>
                </a:solidFill>
                <a:latin typeface="Courier New"/>
              </a:rPr>
              <a:t>)</a:t>
            </a:r>
            <a:r>
              <a:rPr sz="1400" b="0" i="0">
                <a:solidFill>
                  <a:srgbClr val="E6EDF3"/>
                </a:solidFill>
                <a:latin typeface="Courier New"/>
              </a:rPr>
              <a:t>)</a:t>
            </a:r>
          </a:p>
          <a:p>
            <a:pPr algn="l"/>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r</a:t>
            </a:r>
            <a:r>
              <a:rPr sz="1400" b="0" i="0">
                <a:solidFill>
                  <a:srgbClr val="9BE3A8"/>
                </a:solidFill>
                <a:latin typeface="Courier New"/>
              </a:rPr>
              <a:t>'\n'</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'\n'</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 triple quotes hold both kinds of quote</a:t>
            </a:r>
          </a:p>
          <a:p>
            <a:pPr algn="l"/>
            <a:r>
              <a:rPr sz="1400" b="0" i="0">
                <a:solidFill>
                  <a:srgbClr val="E6EDF3"/>
                </a:solidFill>
                <a:latin typeface="Courier New"/>
              </a:rPr>
              <a:t>note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'''She said "it's fine"'''</a:t>
            </a:r>
          </a:p>
          <a:p>
            <a:pPr algn="l"/>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note</a:t>
            </a:r>
            <a:r>
              <a:rPr sz="1400" b="0" i="0">
                <a:solidFill>
                  <a:srgbClr val="E6EDF3"/>
                </a:solidFill>
                <a:latin typeface="Courier New"/>
              </a:rPr>
              <a:t>)</a:t>
            </a:r>
          </a:p>
        </p:txBody>
      </p:sp>
      <p:sp>
        <p:nvSpPr>
          <p:cNvPr id="5" name="note card"/>
          <p:cNvSpPr/>
          <p:nvPr/>
        </p:nvSpPr>
        <p:spPr>
          <a:xfrm>
            <a:off x="5105400" y="841248"/>
            <a:ext cx="3672840" cy="814069"/>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151120" y="841248"/>
            <a:ext cx="3581400" cy="814069"/>
          </a:xfrm>
          <a:prstGeom prst="rect">
            <a:avLst/>
          </a:prstGeom>
          <a:noFill/>
        </p:spPr>
        <p:txBody>
          <a:bodyPr wrap="square" lIns="45720" rIns="45720" tIns="27432" bIns="27432" anchor="ctr">
            <a:spAutoFit/>
          </a:bodyPr>
          <a:lstStyle/>
          <a:p>
            <a:r>
              <a:rPr sz="1250" b="0" i="0">
                <a:solidFill>
                  <a:srgbClr val="1F2933"/>
                </a:solidFill>
                <a:latin typeface="Calibri"/>
              </a:rPr>
              <a:t>A raw string keeps every backslash as typed. So r'\n' has two characters, while '\n' has one.</a:t>
            </a:r>
          </a:p>
        </p:txBody>
      </p:sp>
      <p:sp>
        <p:nvSpPr>
          <p:cNvPr id="7" name="note card"/>
          <p:cNvSpPr/>
          <p:nvPr/>
        </p:nvSpPr>
        <p:spPr>
          <a:xfrm>
            <a:off x="5105400" y="1728469"/>
            <a:ext cx="3672840" cy="814069"/>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151120" y="1728469"/>
            <a:ext cx="3581400" cy="814069"/>
          </a:xfrm>
          <a:prstGeom prst="rect">
            <a:avLst/>
          </a:prstGeom>
          <a:noFill/>
        </p:spPr>
        <p:txBody>
          <a:bodyPr wrap="square" lIns="45720" rIns="45720" tIns="27432" bIns="27432" anchor="ctr">
            <a:spAutoFit/>
          </a:bodyPr>
          <a:lstStyle/>
          <a:p>
            <a:r>
              <a:rPr sz="1250" b="0" i="0">
                <a:solidFill>
                  <a:srgbClr val="1F2933"/>
                </a:solidFill>
                <a:latin typeface="Calibri"/>
              </a:rPr>
              <a:t>Triple quotes may hold both kinds of quote, and real line breaks too. No escapes are needed inside.</a:t>
            </a:r>
          </a:p>
        </p:txBody>
      </p:sp>
      <p:sp>
        <p:nvSpPr>
          <p:cNvPr id="9" name="result label"/>
          <p:cNvSpPr txBox="1"/>
          <p:nvPr/>
        </p:nvSpPr>
        <p:spPr>
          <a:xfrm>
            <a:off x="365760" y="261569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Rounded Rectangle 9"/>
          <p:cNvSpPr/>
          <p:nvPr/>
        </p:nvSpPr>
        <p:spPr>
          <a:xfrm>
            <a:off x="365760" y="2890012"/>
            <a:ext cx="1371600" cy="5029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alibri"/>
              </a:rPr>
              <a:t>r'\n'</a:t>
            </a:r>
          </a:p>
        </p:txBody>
      </p:sp>
      <p:cxnSp>
        <p:nvCxnSpPr>
          <p:cNvPr id="11" name="arrow"/>
          <p:cNvCxnSpPr/>
          <p:nvPr/>
        </p:nvCxnSpPr>
        <p:spPr>
          <a:xfrm>
            <a:off x="1783080" y="3141471"/>
            <a:ext cx="64008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514600" y="2890012"/>
            <a:ext cx="502920" cy="5029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a:t>
            </a:r>
          </a:p>
        </p:txBody>
      </p:sp>
      <p:sp>
        <p:nvSpPr>
          <p:cNvPr id="13" name="Rounded Rectangle 12"/>
          <p:cNvSpPr/>
          <p:nvPr/>
        </p:nvSpPr>
        <p:spPr>
          <a:xfrm>
            <a:off x="3081528" y="2890012"/>
            <a:ext cx="502920" cy="5029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n</a:t>
            </a:r>
          </a:p>
        </p:txBody>
      </p:sp>
      <p:sp>
        <p:nvSpPr>
          <p:cNvPr id="14" name="TextBox 13"/>
          <p:cNvSpPr txBox="1"/>
          <p:nvPr/>
        </p:nvSpPr>
        <p:spPr>
          <a:xfrm>
            <a:off x="3785615" y="2890012"/>
            <a:ext cx="4389120" cy="502920"/>
          </a:xfrm>
          <a:prstGeom prst="rect">
            <a:avLst/>
          </a:prstGeom>
          <a:noFill/>
        </p:spPr>
        <p:txBody>
          <a:bodyPr wrap="square" lIns="45720" rIns="45720" tIns="27432" bIns="27432" anchor="ctr">
            <a:spAutoFit/>
          </a:bodyPr>
          <a:lstStyle/>
          <a:p>
            <a:r>
              <a:rPr sz="1200" b="0" i="0">
                <a:solidFill>
                  <a:srgbClr val="1F2933"/>
                </a:solidFill>
                <a:latin typeface="Calibri"/>
              </a:rPr>
              <a:t>2 characters - the backslash is kept</a:t>
            </a:r>
          </a:p>
        </p:txBody>
      </p:sp>
      <p:sp>
        <p:nvSpPr>
          <p:cNvPr id="15" name="Rounded Rectangle 14"/>
          <p:cNvSpPr/>
          <p:nvPr/>
        </p:nvSpPr>
        <p:spPr>
          <a:xfrm>
            <a:off x="365760" y="3484371"/>
            <a:ext cx="1371600" cy="5029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alibri"/>
              </a:rPr>
              <a:t>'\n'</a:t>
            </a:r>
          </a:p>
        </p:txBody>
      </p:sp>
      <p:cxnSp>
        <p:nvCxnSpPr>
          <p:cNvPr id="16" name="arrow"/>
          <p:cNvCxnSpPr/>
          <p:nvPr/>
        </p:nvCxnSpPr>
        <p:spPr>
          <a:xfrm>
            <a:off x="1783080" y="3735832"/>
            <a:ext cx="64008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514600" y="3484371"/>
            <a:ext cx="502920" cy="5029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a:t>
            </a:r>
          </a:p>
        </p:txBody>
      </p:sp>
      <p:sp>
        <p:nvSpPr>
          <p:cNvPr id="18" name="TextBox 17"/>
          <p:cNvSpPr txBox="1"/>
          <p:nvPr/>
        </p:nvSpPr>
        <p:spPr>
          <a:xfrm>
            <a:off x="3218688" y="3484371"/>
            <a:ext cx="4389120" cy="502920"/>
          </a:xfrm>
          <a:prstGeom prst="rect">
            <a:avLst/>
          </a:prstGeom>
          <a:noFill/>
        </p:spPr>
        <p:txBody>
          <a:bodyPr wrap="square" lIns="45720" rIns="45720" tIns="27432" bIns="27432" anchor="ctr">
            <a:spAutoFit/>
          </a:bodyPr>
          <a:lstStyle/>
          <a:p>
            <a:r>
              <a:rPr sz="1200" b="0" i="0">
                <a:solidFill>
                  <a:srgbClr val="1F2933"/>
                </a:solidFill>
                <a:latin typeface="Calibri"/>
              </a:rPr>
              <a:t>1 character - one line break</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Raw keeps backslashes; triple quotes keep line breaks.</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72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reading a string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An index is the number on a cinema seat; a slice is a block of neighbouring seats.</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405765">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05765">
                <a:tc>
                  <a:txBody>
                    <a:bodyPr wrap="square"/>
                    <a:lstStyle/>
                    <a:p>
                      <a:r>
                        <a:rPr sz="1300" b="1" i="0">
                          <a:solidFill>
                            <a:srgbClr val="1F2933"/>
                          </a:solidFill>
                          <a:latin typeface="Calibri"/>
                        </a:rPr>
                        <a:t>Indexes and Slices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Seat numbers in one row, counted from the left or back from the right wall.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Index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number on a coat-check ticket: it leads you to exactly one coat.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Slice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piece of cake cut between two marks; the second mark is not included.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The in and not in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Ctrl+F on a page: it only answers yes or 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len()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Counting the beads on the necklace.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notice board: whatever you pin up is shown to everyone.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input()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question at a reception desk: the program waits for the 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72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Indexes: a number for every character</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An index is the position of one character in a string. Counting starts at 0, and negative numbers count back from the end.</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program must say which character it wants. A number is the shortest and safest way to point at one.</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An index is the number on a coat-check ticket: it leads you to exactly one coat.</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The string</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Hello, world! has 13 characters</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From the left</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index 0 is H, index 4 is o</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From the right</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index -1 is the last character</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The limit</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the last index is len minus 1</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Index 0 is first, index -1 is last.</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72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Indexes: a number for every character</a:t>
            </a:r>
          </a:p>
        </p:txBody>
      </p:sp>
      <p:sp>
        <p:nvSpPr>
          <p:cNvPr id="4" name="code"/>
          <p:cNvSpPr/>
          <p:nvPr/>
        </p:nvSpPr>
        <p:spPr>
          <a:xfrm>
            <a:off x="365760" y="841248"/>
            <a:ext cx="5209032" cy="1772412"/>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E6EDF3"/>
                </a:solidFill>
                <a:latin typeface="Courier New"/>
              </a:rPr>
              <a:t>greeting</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'Hello, world!'</a:t>
            </a:r>
          </a:p>
          <a:p>
            <a:pPr algn="l"/>
            <a:r>
              <a:rPr sz="1300" b="0" i="0">
                <a:solidFill>
                  <a:srgbClr val="8FA3B8"/>
                </a:solidFill>
                <a:latin typeface="Courier New"/>
              </a:rPr>
              <a:t># counting starts at 0; -1 is the last character</a:t>
            </a:r>
          </a:p>
          <a:p>
            <a:pPr algn="l"/>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greeting</a:t>
            </a:r>
            <a:r>
              <a:rPr sz="1300" b="0" i="0">
                <a:solidFill>
                  <a:srgbClr val="E6EDF3"/>
                </a:solidFill>
                <a:latin typeface="Courier New"/>
              </a:rPr>
              <a:t>[</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greeting</a:t>
            </a:r>
            <a:r>
              <a:rPr sz="1300" b="0" i="0">
                <a:solidFill>
                  <a:srgbClr val="E6EDF3"/>
                </a:solidFill>
                <a:latin typeface="Courier New"/>
              </a:rPr>
              <a:t>[</a:t>
            </a:r>
            <a:r>
              <a:rPr sz="1300" b="0" i="0">
                <a:solidFill>
                  <a:srgbClr val="7CC4FF"/>
                </a:solidFill>
                <a:latin typeface="Courier New"/>
              </a:rPr>
              <a:t>4</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greeting</a:t>
            </a:r>
            <a:r>
              <a:rPr sz="1300" b="0" i="0">
                <a:solidFill>
                  <a:srgbClr val="E6EDF3"/>
                </a:solidFill>
                <a:latin typeface="Courier New"/>
              </a:rPr>
              <a:t>[</a:t>
            </a:r>
            <a:r>
              <a:rPr sz="1300" b="0" i="0">
                <a:solidFill>
                  <a:srgbClr val="E6EDF3"/>
                </a:solidFill>
                <a:latin typeface="Courier New"/>
              </a:rPr>
              <a:t>-</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 the last index is the length minus one</a:t>
            </a:r>
          </a:p>
          <a:p>
            <a:pPr algn="l"/>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len</a:t>
            </a:r>
            <a:r>
              <a:rPr sz="1300" b="0" i="0">
                <a:solidFill>
                  <a:srgbClr val="E6EDF3"/>
                </a:solidFill>
                <a:latin typeface="Courier New"/>
              </a:rPr>
              <a:t>(</a:t>
            </a:r>
            <a:r>
              <a:rPr sz="1300" b="0" i="0">
                <a:solidFill>
                  <a:srgbClr val="E6EDF3"/>
                </a:solidFill>
                <a:latin typeface="Courier New"/>
              </a:rPr>
              <a:t>greeting</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greeting</a:t>
            </a:r>
            <a:r>
              <a:rPr sz="1300" b="0" i="0">
                <a:solidFill>
                  <a:srgbClr val="E6EDF3"/>
                </a:solidFill>
                <a:latin typeface="Courier New"/>
              </a:rPr>
              <a:t>[</a:t>
            </a:r>
            <a:r>
              <a:rPr sz="1300" b="0" i="0">
                <a:solidFill>
                  <a:srgbClr val="E6EDF3"/>
                </a:solidFill>
                <a:latin typeface="Courier New"/>
              </a:rPr>
              <a:t>len</a:t>
            </a:r>
            <a:r>
              <a:rPr sz="1300" b="0" i="0">
                <a:solidFill>
                  <a:srgbClr val="E6EDF3"/>
                </a:solidFill>
                <a:latin typeface="Courier New"/>
              </a:rPr>
              <a:t>(</a:t>
            </a:r>
            <a:r>
              <a:rPr sz="1300" b="0" i="0">
                <a:solidFill>
                  <a:srgbClr val="E6EDF3"/>
                </a:solidFill>
                <a:latin typeface="Courier New"/>
              </a:rPr>
              <a:t>greeting</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a:t>
            </a:r>
          </a:p>
        </p:txBody>
      </p:sp>
      <p:sp>
        <p:nvSpPr>
          <p:cNvPr id="5" name="note card"/>
          <p:cNvSpPr/>
          <p:nvPr/>
        </p:nvSpPr>
        <p:spPr>
          <a:xfrm>
            <a:off x="5684520" y="841248"/>
            <a:ext cx="3093719" cy="9448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730240" y="841248"/>
            <a:ext cx="3002279" cy="944880"/>
          </a:xfrm>
          <a:prstGeom prst="rect">
            <a:avLst/>
          </a:prstGeom>
          <a:noFill/>
        </p:spPr>
        <p:txBody>
          <a:bodyPr wrap="square" lIns="45720" rIns="45720" tIns="27432" bIns="27432" anchor="ctr">
            <a:spAutoFit/>
          </a:bodyPr>
          <a:lstStyle/>
          <a:p>
            <a:r>
              <a:rPr sz="1200" b="0" i="0">
                <a:solidFill>
                  <a:srgbClr val="1F2933"/>
                </a:solidFill>
                <a:latin typeface="Calibri"/>
              </a:rPr>
              <a:t>Counting starts at 0 on the left. Negative numbers count back from the end, so -1 is the last character.</a:t>
            </a:r>
          </a:p>
        </p:txBody>
      </p:sp>
      <p:sp>
        <p:nvSpPr>
          <p:cNvPr id="7" name="note card"/>
          <p:cNvSpPr/>
          <p:nvPr/>
        </p:nvSpPr>
        <p:spPr>
          <a:xfrm>
            <a:off x="5684520" y="1859280"/>
            <a:ext cx="3093719" cy="7543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730240" y="1859280"/>
            <a:ext cx="3002279" cy="754380"/>
          </a:xfrm>
          <a:prstGeom prst="rect">
            <a:avLst/>
          </a:prstGeom>
          <a:noFill/>
        </p:spPr>
        <p:txBody>
          <a:bodyPr wrap="square" lIns="45720" rIns="45720" tIns="27432" bIns="27432" anchor="ctr">
            <a:spAutoFit/>
          </a:bodyPr>
          <a:lstStyle/>
          <a:p>
            <a:r>
              <a:rPr sz="1200" b="0" i="0">
                <a:solidFill>
                  <a:srgbClr val="1F2933"/>
                </a:solidFill>
                <a:latin typeface="Calibri"/>
              </a:rPr>
              <a:t>The last index is the length minus one. Index -1 reaches the same character without any arithmetic.</a:t>
            </a:r>
          </a:p>
        </p:txBody>
      </p:sp>
      <p:sp>
        <p:nvSpPr>
          <p:cNvPr id="9" name="result label"/>
          <p:cNvSpPr txBox="1"/>
          <p:nvPr/>
        </p:nvSpPr>
        <p:spPr>
          <a:xfrm>
            <a:off x="365760" y="268681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Rounded Rectangle 9"/>
          <p:cNvSpPr/>
          <p:nvPr/>
        </p:nvSpPr>
        <p:spPr>
          <a:xfrm>
            <a:off x="1005839" y="3528060"/>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H</a:t>
            </a:r>
          </a:p>
        </p:txBody>
      </p:sp>
      <p:sp>
        <p:nvSpPr>
          <p:cNvPr id="11" name="TextBox 10"/>
          <p:cNvSpPr txBox="1"/>
          <p:nvPr/>
        </p:nvSpPr>
        <p:spPr>
          <a:xfrm>
            <a:off x="1005839"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0</a:t>
            </a:r>
          </a:p>
        </p:txBody>
      </p:sp>
      <p:sp>
        <p:nvSpPr>
          <p:cNvPr id="12" name="TextBox 11"/>
          <p:cNvSpPr txBox="1"/>
          <p:nvPr/>
        </p:nvSpPr>
        <p:spPr>
          <a:xfrm>
            <a:off x="1005839"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-13</a:t>
            </a:r>
          </a:p>
        </p:txBody>
      </p:sp>
      <p:sp>
        <p:nvSpPr>
          <p:cNvPr id="13" name="Rounded Rectangle 12"/>
          <p:cNvSpPr/>
          <p:nvPr/>
        </p:nvSpPr>
        <p:spPr>
          <a:xfrm>
            <a:off x="1554479" y="3528060"/>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e</a:t>
            </a:r>
          </a:p>
        </p:txBody>
      </p:sp>
      <p:sp>
        <p:nvSpPr>
          <p:cNvPr id="14" name="TextBox 13"/>
          <p:cNvSpPr txBox="1"/>
          <p:nvPr/>
        </p:nvSpPr>
        <p:spPr>
          <a:xfrm>
            <a:off x="1554479"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1</a:t>
            </a:r>
          </a:p>
        </p:txBody>
      </p:sp>
      <p:sp>
        <p:nvSpPr>
          <p:cNvPr id="15" name="TextBox 14"/>
          <p:cNvSpPr txBox="1"/>
          <p:nvPr/>
        </p:nvSpPr>
        <p:spPr>
          <a:xfrm>
            <a:off x="1554479"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-12</a:t>
            </a:r>
          </a:p>
        </p:txBody>
      </p:sp>
      <p:sp>
        <p:nvSpPr>
          <p:cNvPr id="16" name="Rounded Rectangle 15"/>
          <p:cNvSpPr/>
          <p:nvPr/>
        </p:nvSpPr>
        <p:spPr>
          <a:xfrm>
            <a:off x="2103120" y="3528060"/>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l</a:t>
            </a:r>
          </a:p>
        </p:txBody>
      </p:sp>
      <p:sp>
        <p:nvSpPr>
          <p:cNvPr id="17" name="TextBox 16"/>
          <p:cNvSpPr txBox="1"/>
          <p:nvPr/>
        </p:nvSpPr>
        <p:spPr>
          <a:xfrm>
            <a:off x="2103120"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2</a:t>
            </a:r>
          </a:p>
        </p:txBody>
      </p:sp>
      <p:sp>
        <p:nvSpPr>
          <p:cNvPr id="18" name="TextBox 17"/>
          <p:cNvSpPr txBox="1"/>
          <p:nvPr/>
        </p:nvSpPr>
        <p:spPr>
          <a:xfrm>
            <a:off x="2103120"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-11</a:t>
            </a:r>
          </a:p>
        </p:txBody>
      </p:sp>
      <p:sp>
        <p:nvSpPr>
          <p:cNvPr id="19" name="Rounded Rectangle 18"/>
          <p:cNvSpPr/>
          <p:nvPr/>
        </p:nvSpPr>
        <p:spPr>
          <a:xfrm>
            <a:off x="2651759" y="3528060"/>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l</a:t>
            </a:r>
          </a:p>
        </p:txBody>
      </p:sp>
      <p:sp>
        <p:nvSpPr>
          <p:cNvPr id="20" name="TextBox 19"/>
          <p:cNvSpPr txBox="1"/>
          <p:nvPr/>
        </p:nvSpPr>
        <p:spPr>
          <a:xfrm>
            <a:off x="2651759"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3</a:t>
            </a:r>
          </a:p>
        </p:txBody>
      </p:sp>
      <p:sp>
        <p:nvSpPr>
          <p:cNvPr id="21" name="TextBox 20"/>
          <p:cNvSpPr txBox="1"/>
          <p:nvPr/>
        </p:nvSpPr>
        <p:spPr>
          <a:xfrm>
            <a:off x="2651759"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-10</a:t>
            </a:r>
          </a:p>
        </p:txBody>
      </p:sp>
      <p:sp>
        <p:nvSpPr>
          <p:cNvPr id="22" name="Rounded Rectangle 21"/>
          <p:cNvSpPr/>
          <p:nvPr/>
        </p:nvSpPr>
        <p:spPr>
          <a:xfrm>
            <a:off x="3200399" y="3528060"/>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o</a:t>
            </a:r>
          </a:p>
        </p:txBody>
      </p:sp>
      <p:sp>
        <p:nvSpPr>
          <p:cNvPr id="23" name="TextBox 22"/>
          <p:cNvSpPr txBox="1"/>
          <p:nvPr/>
        </p:nvSpPr>
        <p:spPr>
          <a:xfrm>
            <a:off x="3200399"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4</a:t>
            </a:r>
          </a:p>
        </p:txBody>
      </p:sp>
      <p:sp>
        <p:nvSpPr>
          <p:cNvPr id="24" name="TextBox 23"/>
          <p:cNvSpPr txBox="1"/>
          <p:nvPr/>
        </p:nvSpPr>
        <p:spPr>
          <a:xfrm>
            <a:off x="3200399"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-9</a:t>
            </a:r>
          </a:p>
        </p:txBody>
      </p:sp>
      <p:sp>
        <p:nvSpPr>
          <p:cNvPr id="25" name="Rounded Rectangle 24"/>
          <p:cNvSpPr/>
          <p:nvPr/>
        </p:nvSpPr>
        <p:spPr>
          <a:xfrm>
            <a:off x="3749039" y="3528060"/>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a:t>
            </a:r>
          </a:p>
        </p:txBody>
      </p:sp>
      <p:sp>
        <p:nvSpPr>
          <p:cNvPr id="26" name="TextBox 25"/>
          <p:cNvSpPr txBox="1"/>
          <p:nvPr/>
        </p:nvSpPr>
        <p:spPr>
          <a:xfrm>
            <a:off x="3749039"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5</a:t>
            </a:r>
          </a:p>
        </p:txBody>
      </p:sp>
      <p:sp>
        <p:nvSpPr>
          <p:cNvPr id="27" name="TextBox 26"/>
          <p:cNvSpPr txBox="1"/>
          <p:nvPr/>
        </p:nvSpPr>
        <p:spPr>
          <a:xfrm>
            <a:off x="3749039"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-8</a:t>
            </a:r>
          </a:p>
        </p:txBody>
      </p:sp>
      <p:sp>
        <p:nvSpPr>
          <p:cNvPr id="28" name="Rounded Rectangle 27"/>
          <p:cNvSpPr/>
          <p:nvPr/>
        </p:nvSpPr>
        <p:spPr>
          <a:xfrm>
            <a:off x="4297679" y="3528060"/>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a:t>
            </a:r>
          </a:p>
        </p:txBody>
      </p:sp>
      <p:sp>
        <p:nvSpPr>
          <p:cNvPr id="29" name="TextBox 28"/>
          <p:cNvSpPr txBox="1"/>
          <p:nvPr/>
        </p:nvSpPr>
        <p:spPr>
          <a:xfrm>
            <a:off x="4297679"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6</a:t>
            </a:r>
          </a:p>
        </p:txBody>
      </p:sp>
      <p:sp>
        <p:nvSpPr>
          <p:cNvPr id="30" name="TextBox 29"/>
          <p:cNvSpPr txBox="1"/>
          <p:nvPr/>
        </p:nvSpPr>
        <p:spPr>
          <a:xfrm>
            <a:off x="4297679"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-7</a:t>
            </a:r>
          </a:p>
        </p:txBody>
      </p:sp>
      <p:sp>
        <p:nvSpPr>
          <p:cNvPr id="31" name="Rounded Rectangle 30"/>
          <p:cNvSpPr/>
          <p:nvPr/>
        </p:nvSpPr>
        <p:spPr>
          <a:xfrm>
            <a:off x="4846320" y="3528060"/>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w</a:t>
            </a:r>
          </a:p>
        </p:txBody>
      </p:sp>
      <p:sp>
        <p:nvSpPr>
          <p:cNvPr id="32" name="TextBox 31"/>
          <p:cNvSpPr txBox="1"/>
          <p:nvPr/>
        </p:nvSpPr>
        <p:spPr>
          <a:xfrm>
            <a:off x="4846320"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7</a:t>
            </a:r>
          </a:p>
        </p:txBody>
      </p:sp>
      <p:sp>
        <p:nvSpPr>
          <p:cNvPr id="33" name="TextBox 32"/>
          <p:cNvSpPr txBox="1"/>
          <p:nvPr/>
        </p:nvSpPr>
        <p:spPr>
          <a:xfrm>
            <a:off x="4846320"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-6</a:t>
            </a:r>
          </a:p>
        </p:txBody>
      </p:sp>
      <p:sp>
        <p:nvSpPr>
          <p:cNvPr id="34" name="Rounded Rectangle 33"/>
          <p:cNvSpPr/>
          <p:nvPr/>
        </p:nvSpPr>
        <p:spPr>
          <a:xfrm>
            <a:off x="5394959" y="3528060"/>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o</a:t>
            </a:r>
          </a:p>
        </p:txBody>
      </p:sp>
      <p:sp>
        <p:nvSpPr>
          <p:cNvPr id="35" name="TextBox 34"/>
          <p:cNvSpPr txBox="1"/>
          <p:nvPr/>
        </p:nvSpPr>
        <p:spPr>
          <a:xfrm>
            <a:off x="5394959"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8</a:t>
            </a:r>
          </a:p>
        </p:txBody>
      </p:sp>
      <p:sp>
        <p:nvSpPr>
          <p:cNvPr id="36" name="TextBox 35"/>
          <p:cNvSpPr txBox="1"/>
          <p:nvPr/>
        </p:nvSpPr>
        <p:spPr>
          <a:xfrm>
            <a:off x="5394959"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-5</a:t>
            </a:r>
          </a:p>
        </p:txBody>
      </p:sp>
      <p:sp>
        <p:nvSpPr>
          <p:cNvPr id="37" name="Rounded Rectangle 36"/>
          <p:cNvSpPr/>
          <p:nvPr/>
        </p:nvSpPr>
        <p:spPr>
          <a:xfrm>
            <a:off x="5943599" y="3528060"/>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r</a:t>
            </a:r>
          </a:p>
        </p:txBody>
      </p:sp>
      <p:sp>
        <p:nvSpPr>
          <p:cNvPr id="38" name="TextBox 37"/>
          <p:cNvSpPr txBox="1"/>
          <p:nvPr/>
        </p:nvSpPr>
        <p:spPr>
          <a:xfrm>
            <a:off x="5943599"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9</a:t>
            </a:r>
          </a:p>
        </p:txBody>
      </p:sp>
      <p:sp>
        <p:nvSpPr>
          <p:cNvPr id="39" name="TextBox 38"/>
          <p:cNvSpPr txBox="1"/>
          <p:nvPr/>
        </p:nvSpPr>
        <p:spPr>
          <a:xfrm>
            <a:off x="5943599"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-4</a:t>
            </a:r>
          </a:p>
        </p:txBody>
      </p:sp>
      <p:sp>
        <p:nvSpPr>
          <p:cNvPr id="40" name="Rounded Rectangle 39"/>
          <p:cNvSpPr/>
          <p:nvPr/>
        </p:nvSpPr>
        <p:spPr>
          <a:xfrm>
            <a:off x="6492240" y="3528060"/>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l</a:t>
            </a:r>
          </a:p>
        </p:txBody>
      </p:sp>
      <p:sp>
        <p:nvSpPr>
          <p:cNvPr id="41" name="TextBox 40"/>
          <p:cNvSpPr txBox="1"/>
          <p:nvPr/>
        </p:nvSpPr>
        <p:spPr>
          <a:xfrm>
            <a:off x="6492240"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10</a:t>
            </a:r>
          </a:p>
        </p:txBody>
      </p:sp>
      <p:sp>
        <p:nvSpPr>
          <p:cNvPr id="42" name="TextBox 41"/>
          <p:cNvSpPr txBox="1"/>
          <p:nvPr/>
        </p:nvSpPr>
        <p:spPr>
          <a:xfrm>
            <a:off x="6492240"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-3</a:t>
            </a:r>
          </a:p>
        </p:txBody>
      </p:sp>
      <p:sp>
        <p:nvSpPr>
          <p:cNvPr id="43" name="Rounded Rectangle 42"/>
          <p:cNvSpPr/>
          <p:nvPr/>
        </p:nvSpPr>
        <p:spPr>
          <a:xfrm>
            <a:off x="7040879" y="3528060"/>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d</a:t>
            </a:r>
          </a:p>
        </p:txBody>
      </p:sp>
      <p:sp>
        <p:nvSpPr>
          <p:cNvPr id="44" name="TextBox 43"/>
          <p:cNvSpPr txBox="1"/>
          <p:nvPr/>
        </p:nvSpPr>
        <p:spPr>
          <a:xfrm>
            <a:off x="7040879"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11</a:t>
            </a:r>
          </a:p>
        </p:txBody>
      </p:sp>
      <p:sp>
        <p:nvSpPr>
          <p:cNvPr id="45" name="TextBox 44"/>
          <p:cNvSpPr txBox="1"/>
          <p:nvPr/>
        </p:nvSpPr>
        <p:spPr>
          <a:xfrm>
            <a:off x="7040879"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-2</a:t>
            </a:r>
          </a:p>
        </p:txBody>
      </p:sp>
      <p:sp>
        <p:nvSpPr>
          <p:cNvPr id="46" name="Rounded Rectangle 45"/>
          <p:cNvSpPr/>
          <p:nvPr/>
        </p:nvSpPr>
        <p:spPr>
          <a:xfrm>
            <a:off x="7589519" y="3528060"/>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a:t>
            </a:r>
          </a:p>
        </p:txBody>
      </p:sp>
      <p:sp>
        <p:nvSpPr>
          <p:cNvPr id="47" name="TextBox 46"/>
          <p:cNvSpPr txBox="1"/>
          <p:nvPr/>
        </p:nvSpPr>
        <p:spPr>
          <a:xfrm>
            <a:off x="7589519" y="3912108"/>
            <a:ext cx="521207" cy="182880"/>
          </a:xfrm>
          <a:prstGeom prst="rect">
            <a:avLst/>
          </a:prstGeom>
          <a:noFill/>
        </p:spPr>
        <p:txBody>
          <a:bodyPr wrap="square" lIns="0" rIns="0" tIns="0" bIns="0" anchor="t">
            <a:spAutoFit/>
          </a:bodyPr>
          <a:lstStyle/>
          <a:p>
            <a:pPr algn="ctr"/>
            <a:r>
              <a:rPr sz="900" b="0" i="0">
                <a:solidFill>
                  <a:srgbClr val="5B6773"/>
                </a:solidFill>
                <a:latin typeface="Calibri"/>
              </a:rPr>
              <a:t>12</a:t>
            </a:r>
          </a:p>
        </p:txBody>
      </p:sp>
      <p:sp>
        <p:nvSpPr>
          <p:cNvPr id="48" name="TextBox 47"/>
          <p:cNvSpPr txBox="1"/>
          <p:nvPr/>
        </p:nvSpPr>
        <p:spPr>
          <a:xfrm>
            <a:off x="7589519" y="4067556"/>
            <a:ext cx="521207" cy="182880"/>
          </a:xfrm>
          <a:prstGeom prst="rect">
            <a:avLst/>
          </a:prstGeom>
          <a:noFill/>
        </p:spPr>
        <p:txBody>
          <a:bodyPr wrap="square" lIns="0" rIns="0" tIns="0" bIns="0" anchor="t">
            <a:spAutoFit/>
          </a:bodyPr>
          <a:lstStyle/>
          <a:p>
            <a:pPr algn="ctr"/>
            <a:r>
              <a:rPr sz="900" b="0" i="0">
                <a:solidFill>
                  <a:srgbClr val="B83A1B"/>
                </a:solidFill>
                <a:latin typeface="Calibri"/>
              </a:rPr>
              <a:t>-1</a:t>
            </a:r>
          </a:p>
        </p:txBody>
      </p:sp>
      <p:sp>
        <p:nvSpPr>
          <p:cNvPr id="49" name="Rounded Rectangle 48"/>
          <p:cNvSpPr/>
          <p:nvPr/>
        </p:nvSpPr>
        <p:spPr>
          <a:xfrm>
            <a:off x="475487" y="2961132"/>
            <a:ext cx="155448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greeting[0] = 'H'</a:t>
            </a:r>
          </a:p>
        </p:txBody>
      </p:sp>
      <p:cxnSp>
        <p:nvCxnSpPr>
          <p:cNvPr id="50" name="arrow"/>
          <p:cNvCxnSpPr/>
          <p:nvPr/>
        </p:nvCxnSpPr>
        <p:spPr>
          <a:xfrm>
            <a:off x="1252727" y="3244596"/>
            <a:ext cx="0" cy="265176"/>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2670047" y="2961132"/>
            <a:ext cx="155448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greeting[4] = 'o'</a:t>
            </a:r>
          </a:p>
        </p:txBody>
      </p:sp>
      <p:cxnSp>
        <p:nvCxnSpPr>
          <p:cNvPr id="52" name="arrow"/>
          <p:cNvCxnSpPr/>
          <p:nvPr/>
        </p:nvCxnSpPr>
        <p:spPr>
          <a:xfrm>
            <a:off x="3447287" y="3244596"/>
            <a:ext cx="0" cy="265176"/>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7059168" y="2961132"/>
            <a:ext cx="155448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greeting[-1] = '!'</a:t>
            </a:r>
          </a:p>
        </p:txBody>
      </p:sp>
      <p:cxnSp>
        <p:nvCxnSpPr>
          <p:cNvPr id="54" name="arrow"/>
          <p:cNvCxnSpPr/>
          <p:nvPr/>
        </p:nvCxnSpPr>
        <p:spPr>
          <a:xfrm>
            <a:off x="7836408" y="3244596"/>
            <a:ext cx="0" cy="265176"/>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Index 0 is first, index -1 is last.</a:t>
            </a:r>
          </a:p>
        </p:txBody>
      </p:sp>
      <p:sp>
        <p:nvSpPr>
          <p:cNvPr id="5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72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Slices: cutting out a piece</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slice takes a run of characters, written start, colon, stop. The character at stop is not included, and a step can skip or reverse.</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Programs often need a part of a text, such as a prefix or an ending. A slice cuts it without a loop.</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slice is a piece of cake cut between two marks; the second mark is not included.</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Choose marks</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start 0, stop 5</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Python cuts</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characters 0 up to 4</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A new string</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Hello</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Step -1</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walks backwards and reverses</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slice stops before its stop index.</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72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Slices: cutting out a piece</a:t>
            </a:r>
          </a:p>
        </p:txBody>
      </p:sp>
      <p:sp>
        <p:nvSpPr>
          <p:cNvPr id="4" name="code"/>
          <p:cNvSpPr/>
          <p:nvPr/>
        </p:nvSpPr>
        <p:spPr>
          <a:xfrm>
            <a:off x="365760" y="841248"/>
            <a:ext cx="5209032" cy="1629537"/>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E6EDF3"/>
                </a:solidFill>
                <a:latin typeface="Courier New"/>
              </a:rPr>
              <a:t>greeting</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'Hello, world!'</a:t>
            </a:r>
          </a:p>
          <a:p>
            <a:pPr algn="l"/>
            <a:r>
              <a:rPr sz="1300" b="0" i="0">
                <a:solidFill>
                  <a:srgbClr val="8FA3B8"/>
                </a:solidFill>
                <a:latin typeface="Courier New"/>
              </a:rPr>
              <a:t># from start up to, but not including, stop</a:t>
            </a:r>
          </a:p>
          <a:p>
            <a:pPr algn="l"/>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greeting</a:t>
            </a:r>
            <a:r>
              <a:rPr sz="1300" b="0" i="0">
                <a:solidFill>
                  <a:srgbClr val="E6EDF3"/>
                </a:solidFill>
                <a:latin typeface="Courier New"/>
              </a:rPr>
              <a:t>[</a:t>
            </a:r>
            <a:r>
              <a:rPr sz="1300" b="0" i="0">
                <a:solidFill>
                  <a:srgbClr val="7CC4FF"/>
                </a:solidFill>
                <a:latin typeface="Courier New"/>
              </a:rPr>
              <a:t>0</a:t>
            </a:r>
            <a:r>
              <a:rPr sz="1300" b="0" i="0">
                <a:solidFill>
                  <a:srgbClr val="E6EDF3"/>
                </a:solidFill>
                <a:latin typeface="Courier New"/>
              </a:rPr>
              <a:t>:</a:t>
            </a:r>
            <a:r>
              <a:rPr sz="1300" b="0" i="0">
                <a:solidFill>
                  <a:srgbClr val="7CC4FF"/>
                </a:solidFill>
                <a:latin typeface="Courier New"/>
              </a:rPr>
              <a:t>5</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greeting</a:t>
            </a:r>
            <a:r>
              <a:rPr sz="1300" b="0" i="0">
                <a:solidFill>
                  <a:srgbClr val="E6EDF3"/>
                </a:solidFill>
                <a:latin typeface="Courier New"/>
              </a:rPr>
              <a:t>[</a:t>
            </a:r>
            <a:r>
              <a:rPr sz="1300" b="0" i="0">
                <a:solidFill>
                  <a:srgbClr val="7CC4FF"/>
                </a:solidFill>
                <a:latin typeface="Courier New"/>
              </a:rPr>
              <a:t>7</a:t>
            </a:r>
            <a:r>
              <a:rPr sz="1300" b="0" i="0">
                <a:solidFill>
                  <a:srgbClr val="E6EDF3"/>
                </a:solidFill>
                <a:latin typeface="Courier New"/>
              </a:rPr>
              <a:t>:</a:t>
            </a:r>
            <a:r>
              <a:rPr sz="1300" b="0" i="0">
                <a:solidFill>
                  <a:srgbClr val="E6EDF3"/>
                </a:solidFill>
                <a:latin typeface="Courier New"/>
              </a:rPr>
              <a:t>-</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 leave a side empty to run to the edge</a:t>
            </a:r>
          </a:p>
          <a:p>
            <a:pPr algn="l"/>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greeting</a:t>
            </a:r>
            <a:r>
              <a:rPr sz="1300" b="0" i="0">
                <a:solidFill>
                  <a:srgbClr val="E6EDF3"/>
                </a:solidFill>
                <a:latin typeface="Courier New"/>
              </a:rPr>
              <a:t>[</a:t>
            </a:r>
            <a:r>
              <a:rPr sz="1300" b="0" i="0">
                <a:solidFill>
                  <a:srgbClr val="E6EDF3"/>
                </a:solidFill>
                <a:latin typeface="Courier New"/>
              </a:rPr>
              <a:t>:</a:t>
            </a:r>
            <a:r>
              <a:rPr sz="1300" b="0" i="0">
                <a:solidFill>
                  <a:srgbClr val="7CC4FF"/>
                </a:solidFill>
                <a:latin typeface="Courier New"/>
              </a:rPr>
              <a:t>5</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greeting</a:t>
            </a:r>
            <a:r>
              <a:rPr sz="1300" b="0" i="0">
                <a:solidFill>
                  <a:srgbClr val="E6EDF3"/>
                </a:solidFill>
                <a:latin typeface="Courier New"/>
              </a:rPr>
              <a:t>[</a:t>
            </a:r>
            <a:r>
              <a:rPr sz="1300" b="0" i="0">
                <a:solidFill>
                  <a:srgbClr val="7CC4FF"/>
                </a:solidFill>
                <a:latin typeface="Courier New"/>
              </a:rPr>
              <a:t>7</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greeting</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a:t>
            </a:r>
          </a:p>
        </p:txBody>
      </p:sp>
      <p:sp>
        <p:nvSpPr>
          <p:cNvPr id="5" name="note card"/>
          <p:cNvSpPr/>
          <p:nvPr/>
        </p:nvSpPr>
        <p:spPr>
          <a:xfrm>
            <a:off x="5684520" y="841248"/>
            <a:ext cx="3093719" cy="77819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730240" y="841248"/>
            <a:ext cx="3002279" cy="778192"/>
          </a:xfrm>
          <a:prstGeom prst="rect">
            <a:avLst/>
          </a:prstGeom>
          <a:noFill/>
        </p:spPr>
        <p:txBody>
          <a:bodyPr wrap="square" lIns="45720" rIns="45720" tIns="27432" bIns="27432" anchor="ctr">
            <a:spAutoFit/>
          </a:bodyPr>
          <a:lstStyle/>
          <a:p>
            <a:r>
              <a:rPr sz="1250" b="0" i="0">
                <a:solidFill>
                  <a:srgbClr val="1F2933"/>
                </a:solidFill>
                <a:latin typeface="Calibri"/>
              </a:rPr>
              <a:t>A slice takes the characters from start up to, but not including, stop.</a:t>
            </a:r>
          </a:p>
        </p:txBody>
      </p:sp>
      <p:sp>
        <p:nvSpPr>
          <p:cNvPr id="7" name="note card"/>
          <p:cNvSpPr/>
          <p:nvPr/>
        </p:nvSpPr>
        <p:spPr>
          <a:xfrm>
            <a:off x="5684520" y="1692592"/>
            <a:ext cx="3093719" cy="77819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730240" y="1692592"/>
            <a:ext cx="3002279" cy="778192"/>
          </a:xfrm>
          <a:prstGeom prst="rect">
            <a:avLst/>
          </a:prstGeom>
          <a:noFill/>
        </p:spPr>
        <p:txBody>
          <a:bodyPr wrap="square" lIns="45720" rIns="45720" tIns="27432" bIns="27432" anchor="ctr">
            <a:spAutoFit/>
          </a:bodyPr>
          <a:lstStyle/>
          <a:p>
            <a:r>
              <a:rPr sz="1250" b="0" i="0">
                <a:solidFill>
                  <a:srgbClr val="1F2933"/>
                </a:solidFill>
                <a:latin typeface="Calibri"/>
              </a:rPr>
              <a:t>Leave out start or stop to run to an edge. A step of -1 walks backwards and reverses the text.</a:t>
            </a:r>
          </a:p>
        </p:txBody>
      </p:sp>
      <p:sp>
        <p:nvSpPr>
          <p:cNvPr id="9" name="result label"/>
          <p:cNvSpPr txBox="1"/>
          <p:nvPr/>
        </p:nvSpPr>
        <p:spPr>
          <a:xfrm>
            <a:off x="365760" y="254393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Rounded Rectangle 9"/>
          <p:cNvSpPr/>
          <p:nvPr/>
        </p:nvSpPr>
        <p:spPr>
          <a:xfrm>
            <a:off x="1005839" y="3321177"/>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H</a:t>
            </a:r>
          </a:p>
        </p:txBody>
      </p:sp>
      <p:sp>
        <p:nvSpPr>
          <p:cNvPr id="11" name="TextBox 10"/>
          <p:cNvSpPr txBox="1"/>
          <p:nvPr/>
        </p:nvSpPr>
        <p:spPr>
          <a:xfrm>
            <a:off x="1005839"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0</a:t>
            </a:r>
          </a:p>
        </p:txBody>
      </p:sp>
      <p:sp>
        <p:nvSpPr>
          <p:cNvPr id="12" name="TextBox 11"/>
          <p:cNvSpPr txBox="1"/>
          <p:nvPr/>
        </p:nvSpPr>
        <p:spPr>
          <a:xfrm>
            <a:off x="1005839"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-13</a:t>
            </a:r>
          </a:p>
        </p:txBody>
      </p:sp>
      <p:sp>
        <p:nvSpPr>
          <p:cNvPr id="13" name="Rounded Rectangle 12"/>
          <p:cNvSpPr/>
          <p:nvPr/>
        </p:nvSpPr>
        <p:spPr>
          <a:xfrm>
            <a:off x="1554479" y="3321177"/>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e</a:t>
            </a:r>
          </a:p>
        </p:txBody>
      </p:sp>
      <p:sp>
        <p:nvSpPr>
          <p:cNvPr id="14" name="TextBox 13"/>
          <p:cNvSpPr txBox="1"/>
          <p:nvPr/>
        </p:nvSpPr>
        <p:spPr>
          <a:xfrm>
            <a:off x="1554479"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1</a:t>
            </a:r>
          </a:p>
        </p:txBody>
      </p:sp>
      <p:sp>
        <p:nvSpPr>
          <p:cNvPr id="15" name="TextBox 14"/>
          <p:cNvSpPr txBox="1"/>
          <p:nvPr/>
        </p:nvSpPr>
        <p:spPr>
          <a:xfrm>
            <a:off x="1554479"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-12</a:t>
            </a:r>
          </a:p>
        </p:txBody>
      </p:sp>
      <p:sp>
        <p:nvSpPr>
          <p:cNvPr id="16" name="Rounded Rectangle 15"/>
          <p:cNvSpPr/>
          <p:nvPr/>
        </p:nvSpPr>
        <p:spPr>
          <a:xfrm>
            <a:off x="2103120" y="3321177"/>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l</a:t>
            </a:r>
          </a:p>
        </p:txBody>
      </p:sp>
      <p:sp>
        <p:nvSpPr>
          <p:cNvPr id="17" name="TextBox 16"/>
          <p:cNvSpPr txBox="1"/>
          <p:nvPr/>
        </p:nvSpPr>
        <p:spPr>
          <a:xfrm>
            <a:off x="2103120"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2</a:t>
            </a:r>
          </a:p>
        </p:txBody>
      </p:sp>
      <p:sp>
        <p:nvSpPr>
          <p:cNvPr id="18" name="TextBox 17"/>
          <p:cNvSpPr txBox="1"/>
          <p:nvPr/>
        </p:nvSpPr>
        <p:spPr>
          <a:xfrm>
            <a:off x="2103120"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-11</a:t>
            </a:r>
          </a:p>
        </p:txBody>
      </p:sp>
      <p:sp>
        <p:nvSpPr>
          <p:cNvPr id="19" name="Rounded Rectangle 18"/>
          <p:cNvSpPr/>
          <p:nvPr/>
        </p:nvSpPr>
        <p:spPr>
          <a:xfrm>
            <a:off x="2651759" y="3321177"/>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l</a:t>
            </a:r>
          </a:p>
        </p:txBody>
      </p:sp>
      <p:sp>
        <p:nvSpPr>
          <p:cNvPr id="20" name="TextBox 19"/>
          <p:cNvSpPr txBox="1"/>
          <p:nvPr/>
        </p:nvSpPr>
        <p:spPr>
          <a:xfrm>
            <a:off x="2651759"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3</a:t>
            </a:r>
          </a:p>
        </p:txBody>
      </p:sp>
      <p:sp>
        <p:nvSpPr>
          <p:cNvPr id="21" name="TextBox 20"/>
          <p:cNvSpPr txBox="1"/>
          <p:nvPr/>
        </p:nvSpPr>
        <p:spPr>
          <a:xfrm>
            <a:off x="2651759"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-10</a:t>
            </a:r>
          </a:p>
        </p:txBody>
      </p:sp>
      <p:sp>
        <p:nvSpPr>
          <p:cNvPr id="22" name="Rounded Rectangle 21"/>
          <p:cNvSpPr/>
          <p:nvPr/>
        </p:nvSpPr>
        <p:spPr>
          <a:xfrm>
            <a:off x="3200399" y="3321177"/>
            <a:ext cx="521207"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o</a:t>
            </a:r>
          </a:p>
        </p:txBody>
      </p:sp>
      <p:sp>
        <p:nvSpPr>
          <p:cNvPr id="23" name="TextBox 22"/>
          <p:cNvSpPr txBox="1"/>
          <p:nvPr/>
        </p:nvSpPr>
        <p:spPr>
          <a:xfrm>
            <a:off x="3200399"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4</a:t>
            </a:r>
          </a:p>
        </p:txBody>
      </p:sp>
      <p:sp>
        <p:nvSpPr>
          <p:cNvPr id="24" name="TextBox 23"/>
          <p:cNvSpPr txBox="1"/>
          <p:nvPr/>
        </p:nvSpPr>
        <p:spPr>
          <a:xfrm>
            <a:off x="3200399"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-9</a:t>
            </a:r>
          </a:p>
        </p:txBody>
      </p:sp>
      <p:sp>
        <p:nvSpPr>
          <p:cNvPr id="25" name="Rounded Rectangle 24"/>
          <p:cNvSpPr/>
          <p:nvPr/>
        </p:nvSpPr>
        <p:spPr>
          <a:xfrm>
            <a:off x="3749039" y="3321177"/>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a:t>
            </a:r>
          </a:p>
        </p:txBody>
      </p:sp>
      <p:sp>
        <p:nvSpPr>
          <p:cNvPr id="26" name="TextBox 25"/>
          <p:cNvSpPr txBox="1"/>
          <p:nvPr/>
        </p:nvSpPr>
        <p:spPr>
          <a:xfrm>
            <a:off x="3749039"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5</a:t>
            </a:r>
          </a:p>
        </p:txBody>
      </p:sp>
      <p:sp>
        <p:nvSpPr>
          <p:cNvPr id="27" name="TextBox 26"/>
          <p:cNvSpPr txBox="1"/>
          <p:nvPr/>
        </p:nvSpPr>
        <p:spPr>
          <a:xfrm>
            <a:off x="3749039"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-8</a:t>
            </a:r>
          </a:p>
        </p:txBody>
      </p:sp>
      <p:sp>
        <p:nvSpPr>
          <p:cNvPr id="28" name="Rounded Rectangle 27"/>
          <p:cNvSpPr/>
          <p:nvPr/>
        </p:nvSpPr>
        <p:spPr>
          <a:xfrm>
            <a:off x="4297679" y="3321177"/>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a:t>
            </a:r>
          </a:p>
        </p:txBody>
      </p:sp>
      <p:sp>
        <p:nvSpPr>
          <p:cNvPr id="29" name="TextBox 28"/>
          <p:cNvSpPr txBox="1"/>
          <p:nvPr/>
        </p:nvSpPr>
        <p:spPr>
          <a:xfrm>
            <a:off x="4297679"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6</a:t>
            </a:r>
          </a:p>
        </p:txBody>
      </p:sp>
      <p:sp>
        <p:nvSpPr>
          <p:cNvPr id="30" name="TextBox 29"/>
          <p:cNvSpPr txBox="1"/>
          <p:nvPr/>
        </p:nvSpPr>
        <p:spPr>
          <a:xfrm>
            <a:off x="4297679"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-7</a:t>
            </a:r>
          </a:p>
        </p:txBody>
      </p:sp>
      <p:sp>
        <p:nvSpPr>
          <p:cNvPr id="31" name="Rounded Rectangle 30"/>
          <p:cNvSpPr/>
          <p:nvPr/>
        </p:nvSpPr>
        <p:spPr>
          <a:xfrm>
            <a:off x="4846320" y="3321177"/>
            <a:ext cx="521207"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w</a:t>
            </a:r>
          </a:p>
        </p:txBody>
      </p:sp>
      <p:sp>
        <p:nvSpPr>
          <p:cNvPr id="32" name="TextBox 31"/>
          <p:cNvSpPr txBox="1"/>
          <p:nvPr/>
        </p:nvSpPr>
        <p:spPr>
          <a:xfrm>
            <a:off x="4846320"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7</a:t>
            </a:r>
          </a:p>
        </p:txBody>
      </p:sp>
      <p:sp>
        <p:nvSpPr>
          <p:cNvPr id="33" name="TextBox 32"/>
          <p:cNvSpPr txBox="1"/>
          <p:nvPr/>
        </p:nvSpPr>
        <p:spPr>
          <a:xfrm>
            <a:off x="4846320"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-6</a:t>
            </a:r>
          </a:p>
        </p:txBody>
      </p:sp>
      <p:sp>
        <p:nvSpPr>
          <p:cNvPr id="34" name="Rounded Rectangle 33"/>
          <p:cNvSpPr/>
          <p:nvPr/>
        </p:nvSpPr>
        <p:spPr>
          <a:xfrm>
            <a:off x="5394959" y="3321177"/>
            <a:ext cx="521207"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o</a:t>
            </a:r>
          </a:p>
        </p:txBody>
      </p:sp>
      <p:sp>
        <p:nvSpPr>
          <p:cNvPr id="35" name="TextBox 34"/>
          <p:cNvSpPr txBox="1"/>
          <p:nvPr/>
        </p:nvSpPr>
        <p:spPr>
          <a:xfrm>
            <a:off x="5394959"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8</a:t>
            </a:r>
          </a:p>
        </p:txBody>
      </p:sp>
      <p:sp>
        <p:nvSpPr>
          <p:cNvPr id="36" name="TextBox 35"/>
          <p:cNvSpPr txBox="1"/>
          <p:nvPr/>
        </p:nvSpPr>
        <p:spPr>
          <a:xfrm>
            <a:off x="5394959"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-5</a:t>
            </a:r>
          </a:p>
        </p:txBody>
      </p:sp>
      <p:sp>
        <p:nvSpPr>
          <p:cNvPr id="37" name="Rounded Rectangle 36"/>
          <p:cNvSpPr/>
          <p:nvPr/>
        </p:nvSpPr>
        <p:spPr>
          <a:xfrm>
            <a:off x="5943599" y="3321177"/>
            <a:ext cx="521207"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r</a:t>
            </a:r>
          </a:p>
        </p:txBody>
      </p:sp>
      <p:sp>
        <p:nvSpPr>
          <p:cNvPr id="38" name="TextBox 37"/>
          <p:cNvSpPr txBox="1"/>
          <p:nvPr/>
        </p:nvSpPr>
        <p:spPr>
          <a:xfrm>
            <a:off x="5943599"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9</a:t>
            </a:r>
          </a:p>
        </p:txBody>
      </p:sp>
      <p:sp>
        <p:nvSpPr>
          <p:cNvPr id="39" name="TextBox 38"/>
          <p:cNvSpPr txBox="1"/>
          <p:nvPr/>
        </p:nvSpPr>
        <p:spPr>
          <a:xfrm>
            <a:off x="5943599"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-4</a:t>
            </a:r>
          </a:p>
        </p:txBody>
      </p:sp>
      <p:sp>
        <p:nvSpPr>
          <p:cNvPr id="40" name="Rounded Rectangle 39"/>
          <p:cNvSpPr/>
          <p:nvPr/>
        </p:nvSpPr>
        <p:spPr>
          <a:xfrm>
            <a:off x="6492240" y="3321177"/>
            <a:ext cx="521207"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l</a:t>
            </a:r>
          </a:p>
        </p:txBody>
      </p:sp>
      <p:sp>
        <p:nvSpPr>
          <p:cNvPr id="41" name="TextBox 40"/>
          <p:cNvSpPr txBox="1"/>
          <p:nvPr/>
        </p:nvSpPr>
        <p:spPr>
          <a:xfrm>
            <a:off x="6492240"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10</a:t>
            </a:r>
          </a:p>
        </p:txBody>
      </p:sp>
      <p:sp>
        <p:nvSpPr>
          <p:cNvPr id="42" name="TextBox 41"/>
          <p:cNvSpPr txBox="1"/>
          <p:nvPr/>
        </p:nvSpPr>
        <p:spPr>
          <a:xfrm>
            <a:off x="6492240"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-3</a:t>
            </a:r>
          </a:p>
        </p:txBody>
      </p:sp>
      <p:sp>
        <p:nvSpPr>
          <p:cNvPr id="43" name="Rounded Rectangle 42"/>
          <p:cNvSpPr/>
          <p:nvPr/>
        </p:nvSpPr>
        <p:spPr>
          <a:xfrm>
            <a:off x="7040879" y="3321177"/>
            <a:ext cx="521207"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d</a:t>
            </a:r>
          </a:p>
        </p:txBody>
      </p:sp>
      <p:sp>
        <p:nvSpPr>
          <p:cNvPr id="44" name="TextBox 43"/>
          <p:cNvSpPr txBox="1"/>
          <p:nvPr/>
        </p:nvSpPr>
        <p:spPr>
          <a:xfrm>
            <a:off x="7040879"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11</a:t>
            </a:r>
          </a:p>
        </p:txBody>
      </p:sp>
      <p:sp>
        <p:nvSpPr>
          <p:cNvPr id="45" name="TextBox 44"/>
          <p:cNvSpPr txBox="1"/>
          <p:nvPr/>
        </p:nvSpPr>
        <p:spPr>
          <a:xfrm>
            <a:off x="7040879"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-2</a:t>
            </a:r>
          </a:p>
        </p:txBody>
      </p:sp>
      <p:sp>
        <p:nvSpPr>
          <p:cNvPr id="46" name="Rounded Rectangle 45"/>
          <p:cNvSpPr/>
          <p:nvPr/>
        </p:nvSpPr>
        <p:spPr>
          <a:xfrm>
            <a:off x="7589519" y="3321177"/>
            <a:ext cx="521207"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600" b="0" i="0">
                <a:solidFill>
                  <a:srgbClr val="1F2933"/>
                </a:solidFill>
                <a:latin typeface="Calibri"/>
              </a:rPr>
              <a:t>!</a:t>
            </a:r>
          </a:p>
        </p:txBody>
      </p:sp>
      <p:sp>
        <p:nvSpPr>
          <p:cNvPr id="47" name="TextBox 46"/>
          <p:cNvSpPr txBox="1"/>
          <p:nvPr/>
        </p:nvSpPr>
        <p:spPr>
          <a:xfrm>
            <a:off x="7589519" y="3705224"/>
            <a:ext cx="521207" cy="182880"/>
          </a:xfrm>
          <a:prstGeom prst="rect">
            <a:avLst/>
          </a:prstGeom>
          <a:noFill/>
        </p:spPr>
        <p:txBody>
          <a:bodyPr wrap="square" lIns="0" rIns="0" tIns="0" bIns="0" anchor="t">
            <a:spAutoFit/>
          </a:bodyPr>
          <a:lstStyle/>
          <a:p>
            <a:pPr algn="ctr"/>
            <a:r>
              <a:rPr sz="900" b="0" i="0">
                <a:solidFill>
                  <a:srgbClr val="5B6773"/>
                </a:solidFill>
                <a:latin typeface="Calibri"/>
              </a:rPr>
              <a:t>12</a:t>
            </a:r>
          </a:p>
        </p:txBody>
      </p:sp>
      <p:sp>
        <p:nvSpPr>
          <p:cNvPr id="48" name="TextBox 47"/>
          <p:cNvSpPr txBox="1"/>
          <p:nvPr/>
        </p:nvSpPr>
        <p:spPr>
          <a:xfrm>
            <a:off x="7589519" y="3860672"/>
            <a:ext cx="521207" cy="182880"/>
          </a:xfrm>
          <a:prstGeom prst="rect">
            <a:avLst/>
          </a:prstGeom>
          <a:noFill/>
        </p:spPr>
        <p:txBody>
          <a:bodyPr wrap="square" lIns="0" rIns="0" tIns="0" bIns="0" anchor="t">
            <a:spAutoFit/>
          </a:bodyPr>
          <a:lstStyle/>
          <a:p>
            <a:pPr algn="ctr"/>
            <a:r>
              <a:rPr sz="900" b="0" i="0">
                <a:solidFill>
                  <a:srgbClr val="B83A1B"/>
                </a:solidFill>
                <a:latin typeface="Calibri"/>
              </a:rPr>
              <a:t>-1</a:t>
            </a:r>
          </a:p>
        </p:txBody>
      </p:sp>
      <p:sp>
        <p:nvSpPr>
          <p:cNvPr id="49" name="Rounded Rectangle 48"/>
          <p:cNvSpPr/>
          <p:nvPr/>
        </p:nvSpPr>
        <p:spPr>
          <a:xfrm>
            <a:off x="1161287" y="2818257"/>
            <a:ext cx="237744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greeting[0:5] = 'Hello'</a:t>
            </a:r>
          </a:p>
        </p:txBody>
      </p:sp>
      <p:cxnSp>
        <p:nvCxnSpPr>
          <p:cNvPr id="50" name="arrow"/>
          <p:cNvCxnSpPr/>
          <p:nvPr/>
        </p:nvCxnSpPr>
        <p:spPr>
          <a:xfrm>
            <a:off x="2350008" y="3101721"/>
            <a:ext cx="0" cy="201168"/>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4910327" y="2818257"/>
            <a:ext cx="25603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greeting[7:-1] = 'world'</a:t>
            </a:r>
          </a:p>
        </p:txBody>
      </p:sp>
      <p:cxnSp>
        <p:nvCxnSpPr>
          <p:cNvPr id="52" name="arrow"/>
          <p:cNvCxnSpPr/>
          <p:nvPr/>
        </p:nvCxnSpPr>
        <p:spPr>
          <a:xfrm>
            <a:off x="6190488" y="3101721"/>
            <a:ext cx="0" cy="201168"/>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1005839" y="4189857"/>
            <a:ext cx="6035040" cy="27432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alibri"/>
              </a:rPr>
              <a:t>greeting[::-1] = '!dlrow ,olleH'  (step -1 walks backwards)</a:t>
            </a:r>
          </a:p>
        </p:txBody>
      </p:sp>
      <p:sp>
        <p:nvSpPr>
          <p:cNvPr id="5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slice stops before its stop index.</a:t>
            </a:r>
          </a:p>
        </p:txBody>
      </p:sp>
      <p:sp>
        <p:nvSpPr>
          <p:cNvPr id="5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72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in operator and strings that never change</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The in operator answers True or False: does one text sit inside another? A string itself can never be changed in place.</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Searching is the most common question about text. Fixed strings are safe to share, so edits always make a new string.</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The in operator is Ctrl+F on a page: it only answers yes or no.</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Ask</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'Hello' in 'Hello, World'</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Python scans</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case sensitive, left to right</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Answer</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True or False, never a position</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To edit</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build a new string from slices</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Strings never change; you build new ones.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72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 not in and strings that never change</a:t>
            </a:r>
          </a:p>
        </p:txBody>
      </p:sp>
      <p:sp>
        <p:nvSpPr>
          <p:cNvPr id="4" name="code"/>
          <p:cNvSpPr/>
          <p:nvPr/>
        </p:nvSpPr>
        <p:spPr>
          <a:xfrm>
            <a:off x="365760" y="841248"/>
            <a:ext cx="5285231" cy="1827974"/>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E6EDF3"/>
                </a:solidFill>
                <a:latin typeface="Courier New"/>
              </a:rPr>
              <a:t>name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'Zophie a cat'</a:t>
            </a:r>
          </a:p>
          <a:p>
            <a:pPr algn="l"/>
            <a:r>
              <a:rPr sz="1100" b="0" i="0">
                <a:solidFill>
                  <a:srgbClr val="8FA3B8"/>
                </a:solidFill>
                <a:latin typeface="Courier New"/>
              </a:rPr>
              <a:t># a string never changes: build a new one from slices</a:t>
            </a:r>
          </a:p>
          <a:p>
            <a:pPr algn="l"/>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7CC4FF"/>
                </a:solidFill>
                <a:latin typeface="Courier New"/>
              </a:rPr>
              <a:t>7</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'the'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a:t>
            </a:r>
            <a:r>
              <a:rPr sz="1100" b="0" i="0">
                <a:solidFill>
                  <a:srgbClr val="7CC4FF"/>
                </a:solidFill>
                <a:latin typeface="Courier New"/>
              </a:rPr>
              <a:t>8</a:t>
            </a:r>
            <a:r>
              <a:rPr sz="1100" b="0" i="0">
                <a:solidFill>
                  <a:srgbClr val="E6EDF3"/>
                </a:solidFill>
                <a:latin typeface="Courier New"/>
              </a:rPr>
              <a:t>:</a:t>
            </a:r>
            <a:r>
              <a:rPr sz="1100" b="0" i="0">
                <a:solidFill>
                  <a:srgbClr val="7CC4FF"/>
                </a:solidFill>
                <a:latin typeface="Courier New"/>
              </a:rPr>
              <a:t>12</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 in asks whether text sits inside text</a:t>
            </a:r>
          </a:p>
          <a:p>
            <a:pPr algn="l"/>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'Hello'</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9BE3A8"/>
                </a:solidFill>
                <a:latin typeface="Courier New"/>
              </a:rPr>
              <a:t>'Hello, World'</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'HELLO'</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9BE3A8"/>
                </a:solidFill>
                <a:latin typeface="Courier New"/>
              </a:rPr>
              <a:t>'Hello, World'</a:t>
            </a:r>
            <a:r>
              <a:rPr sz="1100" b="0" i="0">
                <a:solidFill>
                  <a:srgbClr val="E6EDF3"/>
                </a:solidFill>
                <a:latin typeface="Courier New"/>
              </a:rPr>
              <a:t>)</a:t>
            </a:r>
          </a:p>
          <a:p>
            <a:pPr algn="l"/>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9BE3A8"/>
                </a:solidFill>
                <a:latin typeface="Courier New"/>
              </a:rPr>
              <a:t>'spam'</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'cats'</a:t>
            </a:r>
            <a:r>
              <a:rPr sz="1100" b="0" i="0">
                <a:solidFill>
                  <a:srgbClr val="E6EDF3"/>
                </a:solidFill>
                <a:latin typeface="Courier New"/>
              </a:rPr>
              <a:t> </a:t>
            </a:r>
            <a:r>
              <a:rPr sz="1100" b="0" i="0">
                <a:solidFill>
                  <a:srgbClr val="C9A0FF"/>
                </a:solidFill>
                <a:latin typeface="Courier New"/>
              </a:rPr>
              <a:t>not</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9BE3A8"/>
                </a:solidFill>
                <a:latin typeface="Courier New"/>
              </a:rPr>
              <a:t>'cats and dogs'</a:t>
            </a:r>
            <a:r>
              <a:rPr sz="1100" b="0" i="0">
                <a:solidFill>
                  <a:srgbClr val="E6EDF3"/>
                </a:solidFill>
                <a:latin typeface="Courier New"/>
              </a:rPr>
              <a:t>)</a:t>
            </a:r>
          </a:p>
        </p:txBody>
      </p:sp>
      <p:sp>
        <p:nvSpPr>
          <p:cNvPr id="5" name="note card"/>
          <p:cNvSpPr/>
          <p:nvPr/>
        </p:nvSpPr>
        <p:spPr>
          <a:xfrm>
            <a:off x="5760720" y="841248"/>
            <a:ext cx="3017520" cy="77819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806440" y="841248"/>
            <a:ext cx="2926079" cy="778192"/>
          </a:xfrm>
          <a:prstGeom prst="rect">
            <a:avLst/>
          </a:prstGeom>
          <a:noFill/>
        </p:spPr>
        <p:txBody>
          <a:bodyPr wrap="square" lIns="45720" rIns="45720" tIns="27432" bIns="27432" anchor="ctr">
            <a:spAutoFit/>
          </a:bodyPr>
          <a:lstStyle/>
          <a:p>
            <a:r>
              <a:rPr sz="1250" b="0" i="0">
                <a:solidFill>
                  <a:srgbClr val="1F2933"/>
                </a:solidFill>
                <a:latin typeface="Calibri"/>
              </a:rPr>
              <a:t>A string cannot be changed in place. To edit it, build a new string from slices of the old one.</a:t>
            </a:r>
          </a:p>
        </p:txBody>
      </p:sp>
      <p:sp>
        <p:nvSpPr>
          <p:cNvPr id="7" name="note card"/>
          <p:cNvSpPr/>
          <p:nvPr/>
        </p:nvSpPr>
        <p:spPr>
          <a:xfrm>
            <a:off x="5760720" y="1692592"/>
            <a:ext cx="3017520" cy="97663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806440" y="1692592"/>
            <a:ext cx="2926079" cy="976630"/>
          </a:xfrm>
          <a:prstGeom prst="rect">
            <a:avLst/>
          </a:prstGeom>
          <a:noFill/>
        </p:spPr>
        <p:txBody>
          <a:bodyPr wrap="square" lIns="45720" rIns="45720" tIns="27432" bIns="27432" anchor="ctr">
            <a:spAutoFit/>
          </a:bodyPr>
          <a:lstStyle/>
          <a:p>
            <a:r>
              <a:rPr sz="1250" b="0" i="0">
                <a:solidFill>
                  <a:srgbClr val="1F2933"/>
                </a:solidFill>
                <a:latin typeface="Calibri"/>
              </a:rPr>
              <a:t>The in operator asks whether one text sits inside another, and it is case sensitive. The empty string is inside every string.</a:t>
            </a:r>
          </a:p>
        </p:txBody>
      </p:sp>
      <p:sp>
        <p:nvSpPr>
          <p:cNvPr id="9" name="result label"/>
          <p:cNvSpPr txBox="1"/>
          <p:nvPr/>
        </p:nvSpPr>
        <p:spPr>
          <a:xfrm>
            <a:off x="365760" y="274237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0" name="table"/>
          <p:cNvGraphicFramePr>
            <a:graphicFrameLocks noGrp="1"/>
          </p:cNvGraphicFramePr>
          <p:nvPr/>
        </p:nvGraphicFramePr>
        <p:xfrm>
          <a:off x="365760" y="3016694"/>
          <a:ext cx="8412479" cy="1591878"/>
        </p:xfrm>
        <a:graphic>
          <a:graphicData uri="http://schemas.openxmlformats.org/drawingml/2006/table">
            <a:tbl>
              <a:tblPr firstRow="0" bandRow="0"/>
              <a:tblGrid>
                <a:gridCol w="5334743"/>
                <a:gridCol w="3077736"/>
              </a:tblGrid>
              <a:tr h="265313">
                <a:tc>
                  <a:txBody>
                    <a:bodyPr wrap="square"/>
                    <a:lstStyle/>
                    <a:p>
                      <a:r>
                        <a:rPr sz="100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Python answers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65313">
                <a:tc>
                  <a:txBody>
                    <a:bodyPr wrap="square"/>
                    <a:lstStyle/>
                    <a:p>
                      <a:r>
                        <a:rPr sz="1000" b="0" i="0">
                          <a:solidFill>
                            <a:srgbClr val="1F2933"/>
                          </a:solidFill>
                          <a:latin typeface="Courier New"/>
                        </a:rPr>
                        <a:t>'Hello' in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5313">
                <a:tc>
                  <a:txBody>
                    <a:bodyPr wrap="square"/>
                    <a:lstStyle/>
                    <a:p>
                      <a:r>
                        <a:rPr sz="1000" b="0" i="0">
                          <a:solidFill>
                            <a:srgbClr val="1F2933"/>
                          </a:solidFill>
                          <a:latin typeface="Courier New"/>
                        </a:rPr>
                        <a:t>'HELLO' in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5313">
                <a:tc>
                  <a:txBody>
                    <a:bodyPr wrap="square"/>
                    <a:lstStyle/>
                    <a:p>
                      <a:r>
                        <a:rPr sz="1000" b="0" i="0">
                          <a:solidFill>
                            <a:srgbClr val="1F2933"/>
                          </a:solidFill>
                          <a:latin typeface="Courier New"/>
                        </a:rPr>
                        <a:t>'' in 'spam'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5313">
                <a:tc>
                  <a:txBody>
                    <a:bodyPr wrap="square"/>
                    <a:lstStyle/>
                    <a:p>
                      <a:r>
                        <a:rPr sz="1000" b="0" i="0">
                          <a:solidFill>
                            <a:srgbClr val="1F2933"/>
                          </a:solidFill>
                          <a:latin typeface="Courier New"/>
                        </a:rPr>
                        <a:t>'cats' not in 'cats and dogs'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5313">
                <a:tc>
                  <a:txBody>
                    <a:bodyPr wrap="square"/>
                    <a:lstStyle/>
                    <a:p>
                      <a:r>
                        <a:rPr sz="1000" b="0" i="0">
                          <a:solidFill>
                            <a:srgbClr val="1F2933"/>
                          </a:solidFill>
                          <a:latin typeface="Courier New"/>
                        </a:rPr>
                        <a:t>name[0:7] + 'the' + name[8:12]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'Zophie the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Strings never change; you build new ones.</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72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Formatting text</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Putting values into text: f-strings and the older styles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F-string</a:t>
            </a:r>
          </a:p>
        </p:txBody>
      </p:sp>
      <p:sp>
        <p:nvSpPr>
          <p:cNvPr id="6" name="meaning"/>
          <p:cNvSpPr txBox="1"/>
          <p:nvPr/>
        </p:nvSpPr>
        <p:spPr>
          <a:xfrm>
            <a:off x="2606040" y="1417320"/>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Text with holes that fill themselves from variables.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Format specifier</a:t>
            </a:r>
          </a:p>
        </p:txBody>
      </p:sp>
      <p:sp>
        <p:nvSpPr>
          <p:cNvPr id="8" name="meaning"/>
          <p:cNvSpPr txBox="1"/>
          <p:nvPr/>
        </p:nvSpPr>
        <p:spPr>
          <a:xfrm>
            <a:off x="2606040" y="2075688"/>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 code after a colon for decimals, width and alignment.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Debug specifier</a:t>
            </a:r>
          </a:p>
        </p:txBody>
      </p:sp>
      <p:sp>
        <p:nvSpPr>
          <p:cNvPr id="10" name="meaning"/>
          <p:cNvSpPr txBox="1"/>
          <p:nvPr/>
        </p:nvSpPr>
        <p:spPr>
          <a:xfrm>
            <a:off x="2606040" y="2734056"/>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An equals sign that prints the name and the value.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Older styles</a:t>
            </a:r>
          </a:p>
        </p:txBody>
      </p:sp>
      <p:sp>
        <p:nvSpPr>
          <p:cNvPr id="12" name="meaning"/>
          <p:cNvSpPr txBox="1"/>
          <p:nvPr/>
        </p:nvSpPr>
        <p:spPr>
          <a:xfrm>
            <a:off x="2606040" y="3392424"/>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The percent operator and format() still fill slots.</a:t>
            </a:r>
          </a:p>
        </p:txBody>
      </p:sp>
      <p:graphicFrame>
        <p:nvGraphicFramePr>
          <p:cNvPr id="13" name="table"/>
          <p:cNvGraphicFramePr>
            <a:graphicFrameLocks noGrp="1"/>
          </p:cNvGraphicFramePr>
          <p:nvPr/>
        </p:nvGraphicFramePr>
        <p:xfrm>
          <a:off x="5760720" y="1417320"/>
          <a:ext cx="3017519" cy="2194560"/>
        </p:xfrm>
        <a:graphic>
          <a:graphicData uri="http://schemas.openxmlformats.org/drawingml/2006/table">
            <a:tbl>
              <a:tblPr firstRow="0" bandRow="0"/>
              <a:tblGrid>
                <a:gridCol w="484293"/>
                <a:gridCol w="2533226"/>
              </a:tblGrid>
              <a:tr h="365760">
                <a:tc>
                  <a:txBody>
                    <a:bodyPr wrap="square"/>
                    <a:lstStyle/>
                    <a:p>
                      <a:r>
                        <a:rPr sz="12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2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Everyday pictures: formatting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Story: one proposal gave Python the f-string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F-strings: text with holes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Format specifications after the colon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Older styles: %s, format() and plus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72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formatting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An f-string is a form letter whose blanks fill themselves from your address book.</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F-Strings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form letter: write {name} once and every copy gets the right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F-String Alternatives: %s and format()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Mail-merge with slots: the values wait in a queue, or in numbered mailboxes.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format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numbered mailbox: each value waits in its slot until the text asks for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Useful String Methods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Tools on a workbench: each hands back a new piece and leaves the original alone.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72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one proposal gave Python the f-string</a:t>
            </a:r>
          </a:p>
        </p:txBody>
      </p:sp>
      <p:pic>
        <p:nvPicPr>
          <p:cNvPr id="4" name="photo pep498" descr="Picture for the story: one proposal gave Python the f-string"/>
          <p:cNvPicPr>
            <a:picLocks noChangeAspect="1"/>
          </p:cNvPicPr>
          <p:nvPr/>
        </p:nvPicPr>
        <p:blipFill>
          <a:blip r:embed="rId3"/>
          <a:stretch>
            <a:fillRect/>
          </a:stretch>
        </p:blipFill>
        <p:spPr>
          <a:xfrm>
            <a:off x="365759" y="1005839"/>
            <a:ext cx="2651760" cy="265176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Python logo. Source: python.org, Python Software Foundation, used under its trademark policy.</a:t>
            </a:r>
          </a:p>
        </p:txBody>
      </p:sp>
      <p:sp>
        <p:nvSpPr>
          <p:cNvPr id="6" name="card"/>
          <p:cNvSpPr/>
          <p:nvPr/>
        </p:nvSpPr>
        <p:spPr>
          <a:xfrm>
            <a:off x="3200400" y="868680"/>
            <a:ext cx="5577840" cy="115214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ory"/>
          <p:cNvSpPr txBox="1"/>
          <p:nvPr/>
        </p:nvSpPr>
        <p:spPr>
          <a:xfrm>
            <a:off x="3273552" y="868680"/>
            <a:ext cx="5440680" cy="1152144"/>
          </a:xfrm>
          <a:prstGeom prst="rect">
            <a:avLst/>
          </a:prstGeom>
          <a:noFill/>
        </p:spPr>
        <p:txBody>
          <a:bodyPr wrap="square" lIns="45720" rIns="45720" tIns="27432" bIns="27432" anchor="ctr">
            <a:spAutoFit/>
          </a:bodyPr>
          <a:lstStyle/>
          <a:p>
            <a:r>
              <a:rPr sz="1400" b="0" i="0">
                <a:solidFill>
                  <a:srgbClr val="1F2933"/>
                </a:solidFill>
                <a:latin typeface="Calibri"/>
              </a:rPr>
              <a:t>Eric V. Smith wrote PEP 498, Literal String Interpolation, and created the proposal on 1 August 2015. It lives in the Python Enhancement Proposal index at peps.python.org.</a:t>
            </a:r>
          </a:p>
        </p:txBody>
      </p:sp>
      <p:sp>
        <p:nvSpPr>
          <p:cNvPr id="8" name="card"/>
          <p:cNvSpPr/>
          <p:nvPr/>
        </p:nvSpPr>
        <p:spPr>
          <a:xfrm>
            <a:off x="3200400" y="2112264"/>
            <a:ext cx="5577840" cy="90525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ory"/>
          <p:cNvSpPr txBox="1"/>
          <p:nvPr/>
        </p:nvSpPr>
        <p:spPr>
          <a:xfrm>
            <a:off x="3273552" y="2112264"/>
            <a:ext cx="5440680" cy="905256"/>
          </a:xfrm>
          <a:prstGeom prst="rect">
            <a:avLst/>
          </a:prstGeom>
          <a:noFill/>
        </p:spPr>
        <p:txBody>
          <a:bodyPr wrap="square" lIns="45720" rIns="45720" tIns="27432" bIns="27432" anchor="ctr">
            <a:spAutoFit/>
          </a:bodyPr>
          <a:lstStyle/>
          <a:p>
            <a:r>
              <a:rPr sz="1400" b="0" i="0">
                <a:solidFill>
                  <a:srgbClr val="1F2933"/>
                </a:solidFill>
                <a:latin typeface="Calibri"/>
              </a:rPr>
              <a:t>Older styles keep the text and its values apart. One literal with expressions inside braces keeps them together, and Python 3.6 shipped it.</a:t>
            </a:r>
          </a:p>
        </p:txBody>
      </p:sp>
      <p:sp>
        <p:nvSpPr>
          <p:cNvPr id="10" name="card"/>
          <p:cNvSpPr/>
          <p:nvPr/>
        </p:nvSpPr>
        <p:spPr>
          <a:xfrm>
            <a:off x="3200400" y="3108960"/>
            <a:ext cx="5577840" cy="65836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ory"/>
          <p:cNvSpPr txBox="1"/>
          <p:nvPr/>
        </p:nvSpPr>
        <p:spPr>
          <a:xfrm>
            <a:off x="3273552" y="3108960"/>
            <a:ext cx="5440680" cy="658368"/>
          </a:xfrm>
          <a:prstGeom prst="rect">
            <a:avLst/>
          </a:prstGeom>
          <a:noFill/>
        </p:spPr>
        <p:txBody>
          <a:bodyPr wrap="square" lIns="45720" rIns="45720" tIns="27432" bIns="27432" anchor="ctr">
            <a:spAutoFit/>
          </a:bodyPr>
          <a:lstStyle/>
          <a:p>
            <a:r>
              <a:rPr sz="1400" b="0" i="0">
                <a:solidFill>
                  <a:srgbClr val="1F2933"/>
                </a:solidFill>
                <a:latin typeface="Calibri"/>
              </a:rPr>
              <a:t>f'My name is {name}' has worked the same way in every Python release since 3.6.</a:t>
            </a:r>
          </a:p>
        </p:txBody>
      </p:sp>
      <p:sp>
        <p:nvSpPr>
          <p:cNvPr id="12" name="link"/>
          <p:cNvSpPr txBox="1"/>
          <p:nvPr/>
        </p:nvSpPr>
        <p:spPr>
          <a:xfrm>
            <a:off x="3200400" y="3877056"/>
            <a:ext cx="5577840" cy="329184"/>
          </a:xfrm>
          <a:prstGeom prst="rect">
            <a:avLst/>
          </a:prstGeom>
          <a:noFill/>
        </p:spPr>
        <p:txBody>
          <a:bodyPr wrap="square" lIns="45720" rIns="45720" tIns="27432" bIns="27432" anchor="t">
            <a:spAutoFit/>
          </a:bodyPr>
          <a:lstStyle/>
          <a:p>
            <a:r>
              <a:rPr sz="1300" b="1" i="0">
                <a:solidFill>
                  <a:srgbClr val="0E7C86"/>
                </a:solidFill>
                <a:latin typeface="Calibri"/>
                <a:hlinkClick r:id="rId4"/>
              </a:rPr>
              <a:t>Read PEP 498 (peps.python.org)</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72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F-strings: text with holes</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An f-string is a literal that starts with f. Each pair of braces holds an expression that Python runs and pastes into the text.</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Joining text and values with plus is clumsy and error prone. An f-string keeps the sentence and its values together.</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An f-string is a form letter whose blanks fill themselves from your address book.</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Write</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f'I am {age} years old'</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Python evaluates</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age is 4000</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Python pastes</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the value into the hole</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Result</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I am 4000 years old</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Braces run Python and paste the answer.</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72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F-strings: text with holes</a:t>
            </a:r>
          </a:p>
        </p:txBody>
      </p:sp>
      <p:sp>
        <p:nvSpPr>
          <p:cNvPr id="4" name="code"/>
          <p:cNvSpPr/>
          <p:nvPr/>
        </p:nvSpPr>
        <p:spPr>
          <a:xfrm>
            <a:off x="365760" y="841248"/>
            <a:ext cx="5193791" cy="1629537"/>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E6EDF3"/>
                </a:solidFill>
                <a:latin typeface="Courier New"/>
              </a:rPr>
              <a:t>name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'Al'</a:t>
            </a:r>
          </a:p>
          <a:p>
            <a:pPr algn="l"/>
            <a:r>
              <a:rPr sz="1200" b="0" i="0">
                <a:solidFill>
                  <a:srgbClr val="E6EDF3"/>
                </a:solidFill>
                <a:latin typeface="Courier New"/>
              </a:rPr>
              <a:t>age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4000</a:t>
            </a:r>
          </a:p>
          <a:p>
            <a:pPr algn="l"/>
            <a:r>
              <a:rPr sz="1200" b="0" i="0">
                <a:solidFill>
                  <a:srgbClr val="8FA3B8"/>
                </a:solidFill>
                <a:latin typeface="Courier New"/>
              </a:rPr>
              <a:t># each brace is evaluated and pasted in</a:t>
            </a:r>
          </a:p>
          <a:p>
            <a:pPr algn="l"/>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f'My name is {name}. I am {age} years old.'</a:t>
            </a:r>
            <a:r>
              <a:rPr sz="1200" b="0" i="0">
                <a:solidFill>
                  <a:srgbClr val="E6EDF3"/>
                </a:solidFill>
                <a:latin typeface="Courier New"/>
              </a:rPr>
              <a:t>)</a:t>
            </a:r>
          </a:p>
          <a:p>
            <a:pPr algn="l"/>
            <a:r>
              <a:rPr sz="1200" b="0" i="0">
                <a:solidFill>
                  <a:srgbClr val="8FA3B8"/>
                </a:solidFill>
                <a:latin typeface="Courier New"/>
              </a:rPr>
              <a:t># a sum works too; doubled braces print one brace</a:t>
            </a:r>
          </a:p>
          <a:p>
            <a:pPr algn="l"/>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f'In ten years I will be {age + 10}. {{name}}'</a:t>
            </a:r>
            <a:r>
              <a:rPr sz="1200" b="0" i="0">
                <a:solidFill>
                  <a:srgbClr val="E6EDF3"/>
                </a:solidFill>
                <a:latin typeface="Courier New"/>
              </a:rPr>
              <a:t>)</a:t>
            </a:r>
          </a:p>
        </p:txBody>
      </p:sp>
      <p:sp>
        <p:nvSpPr>
          <p:cNvPr id="5" name="note card"/>
          <p:cNvSpPr/>
          <p:nvPr/>
        </p:nvSpPr>
        <p:spPr>
          <a:xfrm>
            <a:off x="5669279" y="841248"/>
            <a:ext cx="3108960" cy="579755"/>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714999" y="841248"/>
            <a:ext cx="3017520" cy="579755"/>
          </a:xfrm>
          <a:prstGeom prst="rect">
            <a:avLst/>
          </a:prstGeom>
          <a:noFill/>
        </p:spPr>
        <p:txBody>
          <a:bodyPr wrap="square" lIns="45720" rIns="45720" tIns="27432" bIns="27432" anchor="ctr">
            <a:spAutoFit/>
          </a:bodyPr>
          <a:lstStyle/>
          <a:p>
            <a:r>
              <a:rPr sz="1250" b="0" i="0">
                <a:solidFill>
                  <a:srgbClr val="1F2933"/>
                </a:solidFill>
                <a:latin typeface="Calibri"/>
              </a:rPr>
              <a:t>Two ordinary variables. An f-string will reach into them by name.</a:t>
            </a:r>
          </a:p>
        </p:txBody>
      </p:sp>
      <p:sp>
        <p:nvSpPr>
          <p:cNvPr id="7" name="note card"/>
          <p:cNvSpPr/>
          <p:nvPr/>
        </p:nvSpPr>
        <p:spPr>
          <a:xfrm>
            <a:off x="5669279" y="1494155"/>
            <a:ext cx="3108960" cy="97663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714999" y="1494155"/>
            <a:ext cx="3017520" cy="976630"/>
          </a:xfrm>
          <a:prstGeom prst="rect">
            <a:avLst/>
          </a:prstGeom>
          <a:noFill/>
        </p:spPr>
        <p:txBody>
          <a:bodyPr wrap="square" lIns="45720" rIns="45720" tIns="27432" bIns="27432" anchor="ctr">
            <a:spAutoFit/>
          </a:bodyPr>
          <a:lstStyle/>
          <a:p>
            <a:r>
              <a:rPr sz="1250" b="0" i="0">
                <a:solidFill>
                  <a:srgbClr val="1F2933"/>
                </a:solidFill>
                <a:latin typeface="Calibri"/>
              </a:rPr>
              <a:t>Anything inside braces is evaluated and pasted in, even a sum. Doubled braces print one literal brace.</a:t>
            </a:r>
          </a:p>
        </p:txBody>
      </p:sp>
      <p:sp>
        <p:nvSpPr>
          <p:cNvPr id="9" name="result label"/>
          <p:cNvSpPr txBox="1"/>
          <p:nvPr/>
        </p:nvSpPr>
        <p:spPr>
          <a:xfrm>
            <a:off x="365760" y="254393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Rounded Rectangle 9"/>
          <p:cNvSpPr/>
          <p:nvPr/>
        </p:nvSpPr>
        <p:spPr>
          <a:xfrm>
            <a:off x="365760" y="2818257"/>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My name is </a:t>
            </a:r>
          </a:p>
        </p:txBody>
      </p:sp>
      <p:sp>
        <p:nvSpPr>
          <p:cNvPr id="11" name="Rounded Rectangle 10"/>
          <p:cNvSpPr/>
          <p:nvPr/>
        </p:nvSpPr>
        <p:spPr>
          <a:xfrm>
            <a:off x="365760" y="3686937"/>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My name is </a:t>
            </a:r>
          </a:p>
        </p:txBody>
      </p:sp>
      <p:cxnSp>
        <p:nvCxnSpPr>
          <p:cNvPr id="12" name="arrow"/>
          <p:cNvCxnSpPr/>
          <p:nvPr/>
        </p:nvCxnSpPr>
        <p:spPr>
          <a:xfrm>
            <a:off x="1163116" y="3184017"/>
            <a:ext cx="0" cy="484632"/>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070201" y="2818257"/>
            <a:ext cx="1594713"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{name}</a:t>
            </a:r>
          </a:p>
        </p:txBody>
      </p:sp>
      <p:sp>
        <p:nvSpPr>
          <p:cNvPr id="14" name="Rounded Rectangle 13"/>
          <p:cNvSpPr/>
          <p:nvPr/>
        </p:nvSpPr>
        <p:spPr>
          <a:xfrm>
            <a:off x="2070201" y="3686937"/>
            <a:ext cx="1594713"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Al</a:t>
            </a:r>
          </a:p>
        </p:txBody>
      </p:sp>
      <p:cxnSp>
        <p:nvCxnSpPr>
          <p:cNvPr id="15" name="arrow"/>
          <p:cNvCxnSpPr/>
          <p:nvPr/>
        </p:nvCxnSpPr>
        <p:spPr>
          <a:xfrm>
            <a:off x="2867558" y="3184017"/>
            <a:ext cx="0" cy="484632"/>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774643" y="2818257"/>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 I am </a:t>
            </a:r>
          </a:p>
        </p:txBody>
      </p:sp>
      <p:sp>
        <p:nvSpPr>
          <p:cNvPr id="17" name="Rounded Rectangle 16"/>
          <p:cNvSpPr/>
          <p:nvPr/>
        </p:nvSpPr>
        <p:spPr>
          <a:xfrm>
            <a:off x="3774643" y="3686937"/>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 I am </a:t>
            </a:r>
          </a:p>
        </p:txBody>
      </p:sp>
      <p:cxnSp>
        <p:nvCxnSpPr>
          <p:cNvPr id="18" name="arrow"/>
          <p:cNvCxnSpPr/>
          <p:nvPr/>
        </p:nvCxnSpPr>
        <p:spPr>
          <a:xfrm>
            <a:off x="4572000" y="3184017"/>
            <a:ext cx="0" cy="484632"/>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79084" y="2818257"/>
            <a:ext cx="1594713"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{age}</a:t>
            </a:r>
          </a:p>
        </p:txBody>
      </p:sp>
      <p:sp>
        <p:nvSpPr>
          <p:cNvPr id="20" name="Rounded Rectangle 19"/>
          <p:cNvSpPr/>
          <p:nvPr/>
        </p:nvSpPr>
        <p:spPr>
          <a:xfrm>
            <a:off x="5479084" y="3686937"/>
            <a:ext cx="1594713"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4000</a:t>
            </a:r>
          </a:p>
        </p:txBody>
      </p:sp>
      <p:cxnSp>
        <p:nvCxnSpPr>
          <p:cNvPr id="21" name="arrow"/>
          <p:cNvCxnSpPr/>
          <p:nvPr/>
        </p:nvCxnSpPr>
        <p:spPr>
          <a:xfrm>
            <a:off x="6276441" y="3184017"/>
            <a:ext cx="0" cy="484632"/>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183526" y="2818257"/>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 years old.</a:t>
            </a:r>
          </a:p>
        </p:txBody>
      </p:sp>
      <p:sp>
        <p:nvSpPr>
          <p:cNvPr id="23" name="Rounded Rectangle 22"/>
          <p:cNvSpPr/>
          <p:nvPr/>
        </p:nvSpPr>
        <p:spPr>
          <a:xfrm>
            <a:off x="7183526" y="3686937"/>
            <a:ext cx="1594713"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 years old.</a:t>
            </a:r>
          </a:p>
        </p:txBody>
      </p:sp>
      <p:cxnSp>
        <p:nvCxnSpPr>
          <p:cNvPr id="24" name="arrow"/>
          <p:cNvCxnSpPr/>
          <p:nvPr/>
        </p:nvCxnSpPr>
        <p:spPr>
          <a:xfrm>
            <a:off x="7980883" y="3184017"/>
            <a:ext cx="0" cy="484632"/>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5760" y="3229737"/>
            <a:ext cx="2743200" cy="228600"/>
          </a:xfrm>
          <a:prstGeom prst="rect">
            <a:avLst/>
          </a:prstGeom>
          <a:noFill/>
        </p:spPr>
        <p:txBody>
          <a:bodyPr wrap="square" lIns="45720" rIns="45720" tIns="27432" bIns="27432" anchor="t">
            <a:spAutoFit/>
          </a:bodyPr>
          <a:lstStyle/>
          <a:p>
            <a:r>
              <a:rPr sz="900" b="0" i="1">
                <a:solidFill>
                  <a:srgbClr val="5B6773"/>
                </a:solidFill>
                <a:latin typeface="Calibri"/>
              </a:rPr>
              <a:t>template</a:t>
            </a:r>
          </a:p>
        </p:txBody>
      </p:sp>
      <p:sp>
        <p:nvSpPr>
          <p:cNvPr id="26" name="TextBox 25"/>
          <p:cNvSpPr txBox="1"/>
          <p:nvPr/>
        </p:nvSpPr>
        <p:spPr>
          <a:xfrm>
            <a:off x="365760" y="4070985"/>
            <a:ext cx="2743200" cy="228600"/>
          </a:xfrm>
          <a:prstGeom prst="rect">
            <a:avLst/>
          </a:prstGeom>
          <a:noFill/>
        </p:spPr>
        <p:txBody>
          <a:bodyPr wrap="square" lIns="45720" rIns="45720" tIns="27432" bIns="27432" anchor="t">
            <a:spAutoFit/>
          </a:bodyPr>
          <a:lstStyle/>
          <a:p>
            <a:r>
              <a:rPr sz="900" b="0" i="1">
                <a:solidFill>
                  <a:srgbClr val="5B6773"/>
                </a:solidFill>
                <a:latin typeface="Calibri"/>
              </a:rPr>
              <a:t>what is printed</a:t>
            </a:r>
          </a:p>
        </p:txBody>
      </p:sp>
      <p:sp>
        <p:nvSpPr>
          <p:cNvPr id="2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Braces run Python and paste the answer.</a:t>
            </a:r>
          </a:p>
        </p:txBody>
      </p:sp>
      <p:sp>
        <p:nvSpPr>
          <p:cNvPr id="2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72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Format specifications after the colon</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Inside a brace, the text after a colon says how to show the value: decimals, width, alignment, separators. An equals sign shows the name too.</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Numbers must line up in reports and be readable. The specifier shapes them without extra functions.</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format specifier is the style menu of a spreadsheet cell: the number stays, the look changes.</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Value</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3.14159</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Specifier</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.2f after the colon</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Python formats</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rounds to two decimals</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Shown</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3.14</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After the colon: decimals, width, alignment, separators.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72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Format specifications after the colon</a:t>
            </a:r>
          </a:p>
        </p:txBody>
      </p:sp>
      <p:sp>
        <p:nvSpPr>
          <p:cNvPr id="4" name="code"/>
          <p:cNvSpPr/>
          <p:nvPr/>
        </p:nvSpPr>
        <p:spPr>
          <a:xfrm>
            <a:off x="365760" y="841248"/>
            <a:ext cx="5483351" cy="1772412"/>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 after the colon: decimals, width, alignment</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f'{3.14159:.2f}|{42:&gt;6}|{42:^6}|'</a:t>
            </a:r>
            <a:r>
              <a:rPr sz="1400" b="0" i="0">
                <a:solidFill>
                  <a:srgbClr val="E6EDF3"/>
                </a:solidFill>
                <a:latin typeface="Courier New"/>
              </a:rPr>
              <a:t>)</a:t>
            </a:r>
          </a:p>
          <a:p>
            <a:pPr algn="l"/>
            <a:r>
              <a:rPr sz="1400" b="0" i="0">
                <a:solidFill>
                  <a:srgbClr val="8FA3B8"/>
                </a:solidFill>
                <a:latin typeface="Courier New"/>
              </a:rPr>
              <a:t># a comma groups thousands; #x gives hexadecimal</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f'{1234567:,}|{255:#x}'</a:t>
            </a:r>
            <a:r>
              <a:rPr sz="1400" b="0" i="0">
                <a:solidFill>
                  <a:srgbClr val="E6EDF3"/>
                </a:solidFill>
                <a:latin typeface="Courier New"/>
              </a:rPr>
              <a:t>)</a:t>
            </a:r>
          </a:p>
          <a:p>
            <a:pPr algn="l"/>
            <a:r>
              <a:rPr sz="1400" b="0" i="0">
                <a:solidFill>
                  <a:srgbClr val="E6EDF3"/>
                </a:solidFill>
                <a:latin typeface="Courier New"/>
              </a:rPr>
              <a:t>n</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p>
          <a:p>
            <a:pPr algn="l"/>
            <a:r>
              <a:rPr sz="1400" b="0" i="0">
                <a:solidFill>
                  <a:srgbClr val="8FA3B8"/>
                </a:solidFill>
                <a:latin typeface="Courier New"/>
              </a:rPr>
              <a:t># the equals sign prints the name and the value</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f'{n=}'</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f'{n + 1 = }'</a:t>
            </a:r>
            <a:r>
              <a:rPr sz="1400" b="0" i="0">
                <a:solidFill>
                  <a:srgbClr val="E6EDF3"/>
                </a:solidFill>
                <a:latin typeface="Courier New"/>
              </a:rPr>
              <a:t>)</a:t>
            </a:r>
          </a:p>
        </p:txBody>
      </p:sp>
      <p:sp>
        <p:nvSpPr>
          <p:cNvPr id="5" name="note card"/>
          <p:cNvSpPr/>
          <p:nvPr/>
        </p:nvSpPr>
        <p:spPr>
          <a:xfrm>
            <a:off x="5958840" y="841248"/>
            <a:ext cx="2819399" cy="9448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6004560" y="841248"/>
            <a:ext cx="2727959" cy="944880"/>
          </a:xfrm>
          <a:prstGeom prst="rect">
            <a:avLst/>
          </a:prstGeom>
          <a:noFill/>
        </p:spPr>
        <p:txBody>
          <a:bodyPr wrap="square" lIns="45720" rIns="45720" tIns="27432" bIns="27432" anchor="ctr">
            <a:spAutoFit/>
          </a:bodyPr>
          <a:lstStyle/>
          <a:p>
            <a:r>
              <a:rPr sz="1200" b="0" i="0">
                <a:solidFill>
                  <a:srgbClr val="1F2933"/>
                </a:solidFill>
                <a:latin typeface="Calibri"/>
              </a:rPr>
              <a:t>The text after a colon says how to show the value: decimals, width, alignment, separators, hexadecimal.</a:t>
            </a:r>
          </a:p>
        </p:txBody>
      </p:sp>
      <p:sp>
        <p:nvSpPr>
          <p:cNvPr id="7" name="note card"/>
          <p:cNvSpPr/>
          <p:nvPr/>
        </p:nvSpPr>
        <p:spPr>
          <a:xfrm>
            <a:off x="5958840" y="1859280"/>
            <a:ext cx="2819399" cy="7543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6004560" y="1859280"/>
            <a:ext cx="2727959" cy="754380"/>
          </a:xfrm>
          <a:prstGeom prst="rect">
            <a:avLst/>
          </a:prstGeom>
          <a:noFill/>
        </p:spPr>
        <p:txBody>
          <a:bodyPr wrap="square" lIns="45720" rIns="45720" tIns="27432" bIns="27432" anchor="ctr">
            <a:spAutoFit/>
          </a:bodyPr>
          <a:lstStyle/>
          <a:p>
            <a:r>
              <a:rPr sz="1200" b="0" i="0">
                <a:solidFill>
                  <a:srgbClr val="1F2933"/>
                </a:solidFill>
                <a:latin typeface="Calibri"/>
              </a:rPr>
              <a:t>An equals sign prints the expression and its value. It is the quickest way to debug a value.</a:t>
            </a:r>
          </a:p>
        </p:txBody>
      </p:sp>
      <p:sp>
        <p:nvSpPr>
          <p:cNvPr id="9" name="result label"/>
          <p:cNvSpPr txBox="1"/>
          <p:nvPr/>
        </p:nvSpPr>
        <p:spPr>
          <a:xfrm>
            <a:off x="365760" y="268681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0" name="table"/>
          <p:cNvGraphicFramePr>
            <a:graphicFrameLocks noGrp="1"/>
          </p:cNvGraphicFramePr>
          <p:nvPr/>
        </p:nvGraphicFramePr>
        <p:xfrm>
          <a:off x="365760" y="2961132"/>
          <a:ext cx="8412478" cy="1647443"/>
        </p:xfrm>
        <a:graphic>
          <a:graphicData uri="http://schemas.openxmlformats.org/drawingml/2006/table">
            <a:tbl>
              <a:tblPr firstRow="0" bandRow="0"/>
              <a:tblGrid>
                <a:gridCol w="1520327"/>
                <a:gridCol w="2027103"/>
                <a:gridCol w="2837945"/>
                <a:gridCol w="2027103"/>
              </a:tblGrid>
              <a:tr h="235349">
                <a:tc>
                  <a:txBody>
                    <a:bodyPr wrap="square"/>
                    <a:lstStyle/>
                    <a:p>
                      <a:r>
                        <a:rPr sz="100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After the colon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Meaning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Shown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5349">
                <a:tc>
                  <a:txBody>
                    <a:bodyPr wrap="square"/>
                    <a:lstStyle/>
                    <a:p>
                      <a:r>
                        <a:rPr sz="1000" b="0" i="0">
                          <a:solidFill>
                            <a:srgbClr val="1F2933"/>
                          </a:solidFill>
                          <a:latin typeface="Courier New"/>
                        </a:rPr>
                        <a:t>3.14159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.2f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2 decimals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5349">
                <a:tc>
                  <a:txBody>
                    <a:bodyPr wrap="square"/>
                    <a:lstStyle/>
                    <a:p>
                      <a:r>
                        <a:rPr sz="1000" b="0" i="0">
                          <a:solidFill>
                            <a:srgbClr val="1F2933"/>
                          </a:solidFill>
                          <a:latin typeface="Courier New"/>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&gt;6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width 6, right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    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5349">
                <a:tc>
                  <a:txBody>
                    <a:bodyPr wrap="square"/>
                    <a:lstStyle/>
                    <a:p>
                      <a:r>
                        <a:rPr sz="1000" b="0" i="0">
                          <a:solidFill>
                            <a:srgbClr val="1F2933"/>
                          </a:solidFill>
                          <a:latin typeface="Courier New"/>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width 6, centred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  42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5349">
                <a:tc>
                  <a:txBody>
                    <a:bodyPr wrap="square"/>
                    <a:lstStyle/>
                    <a:p>
                      <a:r>
                        <a:rPr sz="1000" b="0" i="0">
                          <a:solidFill>
                            <a:srgbClr val="1F2933"/>
                          </a:solidFill>
                          <a:latin typeface="Courier New"/>
                        </a:rPr>
                        <a:t>1234567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thousands comma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'1,234,567'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5349">
                <a:tc>
                  <a:txBody>
                    <a:bodyPr wrap="square"/>
                    <a:lstStyle/>
                    <a:p>
                      <a:r>
                        <a:rPr sz="1000" b="0" i="0">
                          <a:solidFill>
                            <a:srgbClr val="1F2933"/>
                          </a:solidFill>
                          <a:latin typeface="Courier New"/>
                        </a:rPr>
                        <a:t>255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hexadecimal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'0xff'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5349">
                <a:tc>
                  <a:txBody>
                    <a:bodyPr wrap="square"/>
                    <a:lstStyle/>
                    <a:p>
                      <a:r>
                        <a:rPr sz="1000" b="0" i="0">
                          <a:solidFill>
                            <a:srgbClr val="1F2933"/>
                          </a:solidFill>
                          <a:latin typeface="Courier New"/>
                        </a:rPr>
                        <a:t>n = 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 (as {n=})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name and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After the colon: decimals, width, alignment, separators.</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72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Older styles: percent, format() and plus</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Before f-strings Python used the percent operator, the format method and plain joining. They still fill slots with values.</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You will meet them in existing code, so you must read them. New code should prefer the f-string.</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The older styles are mail-merge with slots: the values wait in a queue, or in numbered mailboxes.</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Percent s</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slots filled in order</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format()</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slots filled by position</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Plus</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joins pieces, numbers need str</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All four</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print the same sentence</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Four styles, one result; prefer the f-string.</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72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Older styles: %s, format() and plus</a:t>
            </a:r>
          </a:p>
        </p:txBody>
      </p:sp>
      <p:sp>
        <p:nvSpPr>
          <p:cNvPr id="4" name="code"/>
          <p:cNvSpPr/>
          <p:nvPr/>
        </p:nvSpPr>
        <p:spPr>
          <a:xfrm>
            <a:off x="365760" y="841248"/>
            <a:ext cx="5468112" cy="2028444"/>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E6EDF3"/>
                </a:solidFill>
                <a:latin typeface="Courier New"/>
              </a:rPr>
              <a:t>name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'Al'</a:t>
            </a:r>
          </a:p>
          <a:p>
            <a:pPr algn="l"/>
            <a:r>
              <a:rPr sz="1200" b="0" i="0">
                <a:solidFill>
                  <a:srgbClr val="E6EDF3"/>
                </a:solidFill>
                <a:latin typeface="Courier New"/>
              </a:rPr>
              <a:t>age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4000</a:t>
            </a:r>
          </a:p>
          <a:p>
            <a:pPr algn="l"/>
            <a:r>
              <a:rPr sz="1200" b="0" i="0">
                <a:solidFill>
                  <a:srgbClr val="8FA3B8"/>
                </a:solidFill>
                <a:latin typeface="Courier New"/>
              </a:rPr>
              <a:t># percent s slots take values in order</a:t>
            </a:r>
          </a:p>
          <a:p>
            <a:pPr algn="l"/>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'My name is %s. I am %s years old.'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age</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 numbered brace slots take values by position</a:t>
            </a:r>
          </a:p>
          <a:p>
            <a:pPr algn="l"/>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'{1} years ago, {0} was born.'</a:t>
            </a:r>
            <a:r>
              <a:rPr sz="1200" b="0" i="0">
                <a:solidFill>
                  <a:srgbClr val="E6EDF3"/>
                </a:solidFill>
                <a:latin typeface="Courier New"/>
              </a:rPr>
              <a:t>.</a:t>
            </a:r>
            <a:r>
              <a:rPr sz="1200" b="0" i="0">
                <a:solidFill>
                  <a:srgbClr val="E6EDF3"/>
                </a:solidFill>
                <a:latin typeface="Courier New"/>
              </a:rPr>
              <a:t>format</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age</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 neighbours join, star repeats, plus joins</a:t>
            </a:r>
          </a:p>
          <a:p>
            <a:pPr algn="l"/>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'Py'</a:t>
            </a:r>
            <a:r>
              <a:rPr sz="1200" b="0" i="0">
                <a:solidFill>
                  <a:srgbClr val="E6EDF3"/>
                </a:solidFill>
                <a:latin typeface="Courier New"/>
              </a:rPr>
              <a:t> </a:t>
            </a:r>
            <a:r>
              <a:rPr sz="1200" b="0" i="0">
                <a:solidFill>
                  <a:srgbClr val="9BE3A8"/>
                </a:solidFill>
                <a:latin typeface="Courier New"/>
              </a:rPr>
              <a:t>'thon'</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3</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'un'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'ium'</a:t>
            </a:r>
            <a:r>
              <a:rPr sz="1200" b="0" i="0">
                <a:solidFill>
                  <a:srgbClr val="E6EDF3"/>
                </a:solidFill>
                <a:latin typeface="Courier New"/>
              </a:rPr>
              <a:t>)</a:t>
            </a:r>
          </a:p>
        </p:txBody>
      </p:sp>
      <p:sp>
        <p:nvSpPr>
          <p:cNvPr id="5" name="note card"/>
          <p:cNvSpPr/>
          <p:nvPr/>
        </p:nvSpPr>
        <p:spPr>
          <a:xfrm>
            <a:off x="5943600" y="841248"/>
            <a:ext cx="2834639" cy="516255"/>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989320" y="841248"/>
            <a:ext cx="2743199" cy="516255"/>
          </a:xfrm>
          <a:prstGeom prst="rect">
            <a:avLst/>
          </a:prstGeom>
          <a:noFill/>
        </p:spPr>
        <p:txBody>
          <a:bodyPr wrap="square" lIns="45720" rIns="45720" tIns="27432" bIns="27432" anchor="ctr">
            <a:spAutoFit/>
          </a:bodyPr>
          <a:lstStyle/>
          <a:p>
            <a:r>
              <a:rPr sz="1050" b="0" i="0">
                <a:solidFill>
                  <a:srgbClr val="1F2933"/>
                </a:solidFill>
                <a:latin typeface="Calibri"/>
              </a:rPr>
              <a:t>The same two variables, now used by the older formatting styles.</a:t>
            </a:r>
          </a:p>
        </p:txBody>
      </p:sp>
      <p:sp>
        <p:nvSpPr>
          <p:cNvPr id="7" name="note card"/>
          <p:cNvSpPr/>
          <p:nvPr/>
        </p:nvSpPr>
        <p:spPr>
          <a:xfrm>
            <a:off x="5943600" y="1430655"/>
            <a:ext cx="2834639" cy="68294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989320" y="1430655"/>
            <a:ext cx="2743199" cy="682942"/>
          </a:xfrm>
          <a:prstGeom prst="rect">
            <a:avLst/>
          </a:prstGeom>
          <a:noFill/>
        </p:spPr>
        <p:txBody>
          <a:bodyPr wrap="square" lIns="45720" rIns="45720" tIns="27432" bIns="27432" anchor="ctr">
            <a:spAutoFit/>
          </a:bodyPr>
          <a:lstStyle/>
          <a:p>
            <a:r>
              <a:rPr sz="1050" b="0" i="0">
                <a:solidFill>
                  <a:srgbClr val="1F2933"/>
                </a:solidFill>
                <a:latin typeface="Calibri"/>
              </a:rPr>
              <a:t>A percent s slot takes values in order. A numbered brace slot takes values by position, in any order.</a:t>
            </a:r>
          </a:p>
        </p:txBody>
      </p:sp>
      <p:sp>
        <p:nvSpPr>
          <p:cNvPr id="9" name="note card"/>
          <p:cNvSpPr/>
          <p:nvPr/>
        </p:nvSpPr>
        <p:spPr>
          <a:xfrm>
            <a:off x="5943600" y="2186749"/>
            <a:ext cx="2834639" cy="68294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989320" y="2186749"/>
            <a:ext cx="2743199" cy="682942"/>
          </a:xfrm>
          <a:prstGeom prst="rect">
            <a:avLst/>
          </a:prstGeom>
          <a:noFill/>
        </p:spPr>
        <p:txBody>
          <a:bodyPr wrap="square" lIns="45720" rIns="45720" tIns="27432" bIns="27432" anchor="ctr">
            <a:spAutoFit/>
          </a:bodyPr>
          <a:lstStyle/>
          <a:p>
            <a:r>
              <a:rPr sz="1050" b="0" i="0">
                <a:solidFill>
                  <a:srgbClr val="1F2933"/>
                </a:solidFill>
                <a:latin typeface="Calibri"/>
              </a:rPr>
              <a:t>Neighbouring literals join. The star repeats a string, and plus joins two.</a:t>
            </a:r>
          </a:p>
        </p:txBody>
      </p:sp>
      <p:sp>
        <p:nvSpPr>
          <p:cNvPr id="11" name="result label"/>
          <p:cNvSpPr txBox="1"/>
          <p:nvPr/>
        </p:nvSpPr>
        <p:spPr>
          <a:xfrm>
            <a:off x="365760" y="294284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2" name="table"/>
          <p:cNvGraphicFramePr>
            <a:graphicFrameLocks noGrp="1"/>
          </p:cNvGraphicFramePr>
          <p:nvPr/>
        </p:nvGraphicFramePr>
        <p:xfrm>
          <a:off x="365760" y="3217164"/>
          <a:ext cx="8412479" cy="1391410"/>
        </p:xfrm>
        <a:graphic>
          <a:graphicData uri="http://schemas.openxmlformats.org/drawingml/2006/table">
            <a:tbl>
              <a:tblPr firstRow="0" bandRow="0"/>
              <a:tblGrid>
                <a:gridCol w="1301931"/>
                <a:gridCol w="6008914"/>
                <a:gridCol w="1101634"/>
              </a:tblGrid>
              <a:tr h="278282">
                <a:tc>
                  <a:txBody>
                    <a:bodyPr wrap="square"/>
                    <a:lstStyle/>
                    <a:p>
                      <a:r>
                        <a:rPr sz="1000" b="1" i="0">
                          <a:solidFill>
                            <a:srgbClr val="FFFFFF"/>
                          </a:solidFill>
                          <a:latin typeface="Calibri"/>
                        </a:rPr>
                        <a:t>Style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you write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Same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8282">
                <a:tc>
                  <a:txBody>
                    <a:bodyPr wrap="square"/>
                    <a:lstStyle/>
                    <a:p>
                      <a:r>
                        <a:rPr sz="1000" b="1" i="0">
                          <a:solidFill>
                            <a:srgbClr val="1F2933"/>
                          </a:solidFill>
                          <a:latin typeface="Calibri"/>
                        </a:rPr>
                        <a:t>f-string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f'My name is {name}. I am {age} years old.'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8282">
                <a:tc>
                  <a:txBody>
                    <a:bodyPr wrap="square"/>
                    <a:lstStyle/>
                    <a:p>
                      <a:r>
                        <a:rPr sz="1000" b="1" i="0">
                          <a:solidFill>
                            <a:srgbClr val="1F2933"/>
                          </a:solidFill>
                          <a:latin typeface="Calibri"/>
                        </a:rPr>
                        <a:t>% operator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'My name is %s. I am %s years old.' % (name, 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8282">
                <a:tc>
                  <a:txBody>
                    <a:bodyPr wrap="square"/>
                    <a:lstStyle/>
                    <a:p>
                      <a:r>
                        <a:rPr sz="1000" b="1" i="0">
                          <a:solidFill>
                            <a:srgbClr val="1F2933"/>
                          </a:solidFill>
                          <a:latin typeface="Calibri"/>
                        </a:rPr>
                        <a:t>format()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'My name is {}. I am {} years old.'.format(name, 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8282">
                <a:tc>
                  <a:txBody>
                    <a:bodyPr wrap="square"/>
                    <a:lstStyle/>
                    <a:p>
                      <a:r>
                        <a:rPr sz="1000" b="1" i="0">
                          <a:solidFill>
                            <a:srgbClr val="1F2933"/>
                          </a:solidFill>
                          <a:latin typeface="Calibri"/>
                        </a:rPr>
                        <a:t>plus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'My name is ' + name + '. I am ' + str(age) + ' years...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Four styles, one result; prefer the f-string.</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72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String methods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Methods that make a new string, test the string, or cut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Make a new string</a:t>
            </a:r>
          </a:p>
        </p:txBody>
      </p:sp>
      <p:sp>
        <p:nvSpPr>
          <p:cNvPr id="6" name="meaning"/>
          <p:cNvSpPr txBox="1"/>
          <p:nvPr/>
        </p:nvSpPr>
        <p:spPr>
          <a:xfrm>
            <a:off x="2606040" y="1417320"/>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upper, lower, strip and rjust return a changed copy.</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Test the string</a:t>
            </a:r>
          </a:p>
        </p:txBody>
      </p:sp>
      <p:sp>
        <p:nvSpPr>
          <p:cNvPr id="8" name="meaning"/>
          <p:cNvSpPr txBox="1"/>
          <p:nvPr/>
        </p:nvSpPr>
        <p:spPr>
          <a:xfrm>
            <a:off x="2606040" y="2075688"/>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isalpha, isdecimal and startswith answer True or False.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Cut and join</a:t>
            </a:r>
          </a:p>
        </p:txBody>
      </p:sp>
      <p:sp>
        <p:nvSpPr>
          <p:cNvPr id="10" name="meaning"/>
          <p:cNvSpPr txBox="1"/>
          <p:nvPr/>
        </p:nvSpPr>
        <p:spPr>
          <a:xfrm>
            <a:off x="2606040" y="2734056"/>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split, partition and join take text apart and back.</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Find and replace</a:t>
            </a:r>
          </a:p>
        </p:txBody>
      </p:sp>
      <p:sp>
        <p:nvSpPr>
          <p:cNvPr id="12" name="meaning"/>
          <p:cNvSpPr txBox="1"/>
          <p:nvPr/>
        </p:nvSpPr>
        <p:spPr>
          <a:xfrm>
            <a:off x="2606040" y="3392424"/>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find, count and replace search inside the text.</a:t>
            </a:r>
          </a:p>
        </p:txBody>
      </p:sp>
      <p:graphicFrame>
        <p:nvGraphicFramePr>
          <p:cNvPr id="13" name="table"/>
          <p:cNvGraphicFramePr>
            <a:graphicFrameLocks noGrp="1"/>
          </p:cNvGraphicFramePr>
          <p:nvPr/>
        </p:nvGraphicFramePr>
        <p:xfrm>
          <a:off x="5760720" y="1417320"/>
          <a:ext cx="3017519" cy="3246120"/>
        </p:xfrm>
        <a:graphic>
          <a:graphicData uri="http://schemas.openxmlformats.org/drawingml/2006/table">
            <a:tbl>
              <a:tblPr firstRow="0" bandRow="0"/>
              <a:tblGrid>
                <a:gridCol w="484293"/>
                <a:gridCol w="2533226"/>
              </a:tblGrid>
              <a:tr h="27051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0510">
                <a:tc>
                  <a:txBody>
                    <a:bodyPr wrap="square"/>
                    <a:lstStyle/>
                    <a:p>
                      <a:r>
                        <a:rPr sz="100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case and tests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0510">
                <a:tc>
                  <a:txBody>
                    <a:bodyPr wrap="square"/>
                    <a:lstStyle/>
                    <a:p>
                      <a:r>
                        <a:rPr sz="10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Changing the case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0510">
                <a:tc>
                  <a:txBody>
                    <a:bodyPr wrap="square"/>
                    <a:lstStyle/>
                    <a:p>
                      <a:r>
                        <a:rPr sz="100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Testing what a string is made of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0510">
                <a:tc>
                  <a:txBody>
                    <a:bodyPr wrap="square"/>
                    <a:lstStyle/>
                    <a:p>
                      <a:r>
                        <a:rPr sz="100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Testing upper, lower and title case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0510">
                <a:tc>
                  <a:txBody>
                    <a:bodyPr wrap="square"/>
                    <a:lstStyle/>
                    <a:p>
                      <a:r>
                        <a:rPr sz="100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tests, join and split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0510">
                <a:tc>
                  <a:txBody>
                    <a:bodyPr wrap="square"/>
                    <a:lstStyle/>
                    <a:p>
                      <a:r>
                        <a:rPr sz="10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Start, end and affixes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0510">
                <a:tc>
                  <a:txBody>
                    <a:bodyPr wrap="square"/>
                    <a:lstStyle/>
                    <a:p>
                      <a:r>
                        <a:rPr sz="100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Joining and splitting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0510">
                <a:tc>
                  <a:txBody>
                    <a:bodyPr wrap="square"/>
                    <a:lstStyle/>
                    <a:p>
                      <a:r>
                        <a:rPr sz="100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padding and trimming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0510">
                <a:tc>
                  <a:txBody>
                    <a:bodyPr wrap="square"/>
                    <a:lstStyle/>
                    <a:p>
                      <a:r>
                        <a:rPr sz="100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Justifying and centring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0510">
                <a:tc>
                  <a:txBody>
                    <a:bodyPr wrap="square"/>
                    <a:lstStyle/>
                    <a:p>
                      <a:r>
                        <a:rPr sz="1000" b="0" i="0">
                          <a:solidFill>
                            <a:srgbClr val="1F2933"/>
                          </a:solidFill>
                          <a:latin typeface="Calibri"/>
                        </a:rPr>
                        <a:t>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Removing whitespace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0510">
                <a:tc>
                  <a:txBody>
                    <a:bodyPr wrap="square"/>
                    <a:lstStyle/>
                    <a:p>
                      <a:r>
                        <a:rPr sz="1000" b="0" i="0">
                          <a:solidFill>
                            <a:srgbClr val="1F2933"/>
                          </a:solidFill>
                          <a:latin typeface="Calibri"/>
                        </a:rPr>
                        <a: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Finding, counting and replacing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72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case and tests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upper and lower are a photocopier with a stamp: the original sheet stays as it was.</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360680">
                <a:tc>
                  <a:txBody>
                    <a:bodyPr wrap="square"/>
                    <a:lstStyle/>
                    <a:p>
                      <a:r>
                        <a:rPr sz="125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0680">
                <a:tc>
                  <a:txBody>
                    <a:bodyPr wrap="square"/>
                    <a:lstStyle/>
                    <a:p>
                      <a:r>
                        <a:rPr sz="1250" b="1" i="0">
                          <a:solidFill>
                            <a:srgbClr val="1F2933"/>
                          </a:solidFill>
                          <a:latin typeface="Calibri"/>
                        </a:rPr>
                        <a:t>Changing the Case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Photocopying a letter with a capitals stamp. The original letter is untouched.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upper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 megaphone: the same words, shouted in capitals.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 whisper: the same words, all in small letters.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Checking String Characteristics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 bouncer with a checklist: letters only? digits only? all capitals?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isupper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Asks: is every letter shouting?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islower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Asks: is every letter whispering?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isalpha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 crossword box that accepts letters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isalnum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 licence plate: letters and digits, nothing else.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72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Changing the case</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The methods upper and lower return a copy of the string in capitals or small letters. The original string stays exactly as it was.</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Users type text in any case. Changing the case lets a program compare text fairly.</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upper and lower are a photocopier with a stamp: the original sheet stays as it was.</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Original s</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Hello, world!</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s.upper()</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makes a new copy in capitals</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s.lower()</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makes a new copy in small letters</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 itself</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is unchanged</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method returns a new string; the original stays.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72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Changing the case</a:t>
            </a:r>
          </a:p>
        </p:txBody>
      </p:sp>
      <p:sp>
        <p:nvSpPr>
          <p:cNvPr id="4" name="code"/>
          <p:cNvSpPr/>
          <p:nvPr/>
        </p:nvSpPr>
        <p:spPr>
          <a:xfrm>
            <a:off x="365760" y="841248"/>
            <a:ext cx="5193791" cy="1670304"/>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E6EDF3"/>
                </a:solidFill>
                <a:latin typeface="Courier New"/>
              </a:rPr>
              <a:t>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'Hello, world!'</a:t>
            </a:r>
          </a:p>
          <a:p>
            <a:pPr algn="l"/>
            <a:r>
              <a:rPr sz="1200" b="0" i="0">
                <a:solidFill>
                  <a:srgbClr val="8FA3B8"/>
                </a:solidFill>
                <a:latin typeface="Courier New"/>
              </a:rPr>
              <a:t># each call returns a new string; s stays as it was</a:t>
            </a:r>
          </a:p>
          <a:p>
            <a:pPr algn="l"/>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s</a:t>
            </a:r>
            <a:r>
              <a:rPr sz="1200" b="0" i="0">
                <a:solidFill>
                  <a:srgbClr val="E6EDF3"/>
                </a:solidFill>
                <a:latin typeface="Courier New"/>
              </a:rPr>
              <a:t>.</a:t>
            </a:r>
            <a:r>
              <a:rPr sz="1200" b="0" i="0">
                <a:solidFill>
                  <a:srgbClr val="E6EDF3"/>
                </a:solidFill>
                <a:latin typeface="Courier New"/>
              </a:rPr>
              <a:t>upper</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s</a:t>
            </a:r>
            <a:r>
              <a:rPr sz="1200" b="0" i="0">
                <a:solidFill>
                  <a:srgbClr val="E6EDF3"/>
                </a:solidFill>
                <a:latin typeface="Courier New"/>
              </a:rPr>
              <a:t>.</a:t>
            </a:r>
            <a:r>
              <a:rPr sz="1200" b="0" i="0">
                <a:solidFill>
                  <a:srgbClr val="E6EDF3"/>
                </a:solidFill>
                <a:latin typeface="Courier New"/>
              </a:rPr>
              <a:t>lower</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 compare after lowering to ignore case</a:t>
            </a:r>
          </a:p>
          <a:p>
            <a:pPr algn="l"/>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'great'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'GREat'</a:t>
            </a:r>
            <a:r>
              <a:rPr sz="1200" b="0" i="0">
                <a:solidFill>
                  <a:srgbClr val="E6EDF3"/>
                </a:solidFill>
                <a:latin typeface="Courier New"/>
              </a:rPr>
              <a:t>.</a:t>
            </a:r>
            <a:r>
              <a:rPr sz="1200" b="0" i="0">
                <a:solidFill>
                  <a:srgbClr val="E6EDF3"/>
                </a:solidFill>
                <a:latin typeface="Courier New"/>
              </a:rPr>
              <a:t>lower</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 casefold goes further: the German sharp s equals ss</a:t>
            </a:r>
          </a:p>
          <a:p>
            <a:pPr algn="l"/>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'straße'</a:t>
            </a:r>
            <a:r>
              <a:rPr sz="1200" b="0" i="0">
                <a:solidFill>
                  <a:srgbClr val="E6EDF3"/>
                </a:solidFill>
                <a:latin typeface="Courier New"/>
              </a:rPr>
              <a:t>.</a:t>
            </a:r>
            <a:r>
              <a:rPr sz="1200" b="0" i="0">
                <a:solidFill>
                  <a:srgbClr val="E6EDF3"/>
                </a:solidFill>
                <a:latin typeface="Courier New"/>
              </a:rPr>
              <a:t>casefold</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'strasse'</a:t>
            </a:r>
            <a:r>
              <a:rPr sz="1200" b="0" i="0">
                <a:solidFill>
                  <a:srgbClr val="E6EDF3"/>
                </a:solidFill>
                <a:latin typeface="Courier New"/>
              </a:rPr>
              <a:t>)</a:t>
            </a:r>
          </a:p>
        </p:txBody>
      </p:sp>
      <p:sp>
        <p:nvSpPr>
          <p:cNvPr id="5" name="note card"/>
          <p:cNvSpPr/>
          <p:nvPr/>
        </p:nvSpPr>
        <p:spPr>
          <a:xfrm>
            <a:off x="5669279" y="841248"/>
            <a:ext cx="3108960" cy="798576"/>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714999" y="841248"/>
            <a:ext cx="3017520" cy="798576"/>
          </a:xfrm>
          <a:prstGeom prst="rect">
            <a:avLst/>
          </a:prstGeom>
          <a:noFill/>
        </p:spPr>
        <p:txBody>
          <a:bodyPr wrap="square" lIns="45720" rIns="45720" tIns="27432" bIns="27432" anchor="ctr">
            <a:spAutoFit/>
          </a:bodyPr>
          <a:lstStyle/>
          <a:p>
            <a:r>
              <a:rPr sz="1250" b="0" i="0">
                <a:solidFill>
                  <a:srgbClr val="1F2933"/>
                </a:solidFill>
                <a:latin typeface="Calibri"/>
              </a:rPr>
              <a:t>upper and lower never change s. Each returns a new string, so you must keep or print the result.</a:t>
            </a:r>
          </a:p>
        </p:txBody>
      </p:sp>
      <p:sp>
        <p:nvSpPr>
          <p:cNvPr id="7" name="note card"/>
          <p:cNvSpPr/>
          <p:nvPr/>
        </p:nvSpPr>
        <p:spPr>
          <a:xfrm>
            <a:off x="5669279" y="1712976"/>
            <a:ext cx="3108960" cy="798576"/>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714999" y="1712976"/>
            <a:ext cx="3017520" cy="798576"/>
          </a:xfrm>
          <a:prstGeom prst="rect">
            <a:avLst/>
          </a:prstGeom>
          <a:noFill/>
        </p:spPr>
        <p:txBody>
          <a:bodyPr wrap="square" lIns="45720" rIns="45720" tIns="27432" bIns="27432" anchor="ctr">
            <a:spAutoFit/>
          </a:bodyPr>
          <a:lstStyle/>
          <a:p>
            <a:r>
              <a:rPr sz="1250" b="0" i="0">
                <a:solidFill>
                  <a:srgbClr val="1F2933"/>
                </a:solidFill>
                <a:latin typeface="Calibri"/>
              </a:rPr>
              <a:t>Compare after lowering to ignore case. casefold goes further: the German sharp s equals ss.</a:t>
            </a:r>
          </a:p>
        </p:txBody>
      </p:sp>
      <p:sp>
        <p:nvSpPr>
          <p:cNvPr id="9" name="result label"/>
          <p:cNvSpPr txBox="1"/>
          <p:nvPr/>
        </p:nvSpPr>
        <p:spPr>
          <a:xfrm>
            <a:off x="365760" y="25847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0" name="table"/>
          <p:cNvGraphicFramePr>
            <a:graphicFrameLocks noGrp="1"/>
          </p:cNvGraphicFramePr>
          <p:nvPr/>
        </p:nvGraphicFramePr>
        <p:xfrm>
          <a:off x="365760" y="2859024"/>
          <a:ext cx="8412479" cy="1749552"/>
        </p:xfrm>
        <a:graphic>
          <a:graphicData uri="http://schemas.openxmlformats.org/drawingml/2006/table">
            <a:tbl>
              <a:tblPr firstRow="0" bandRow="0"/>
              <a:tblGrid>
                <a:gridCol w="4015047"/>
                <a:gridCol w="3059083"/>
                <a:gridCol w="1338349"/>
              </a:tblGrid>
              <a:tr h="291592">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Python answers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 changed?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1592">
                <a:tc>
                  <a:txBody>
                    <a:bodyPr wrap="square"/>
                    <a:lstStyle/>
                    <a:p>
                      <a:r>
                        <a:rPr sz="1000" b="0" i="0">
                          <a:solidFill>
                            <a:srgbClr val="1F2933"/>
                          </a:solidFill>
                          <a:latin typeface="Courier New"/>
                        </a:rPr>
                        <a:t>s.upper()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1592">
                <a:tc>
                  <a:txBody>
                    <a:bodyPr wrap="square"/>
                    <a:lstStyle/>
                    <a:p>
                      <a:r>
                        <a:rPr sz="1000" b="0" i="0">
                          <a:solidFill>
                            <a:srgbClr val="1F2933"/>
                          </a:solidFill>
                          <a:latin typeface="Courier New"/>
                        </a:rPr>
                        <a:t>s.lower()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1592">
                <a:tc>
                  <a:txBody>
                    <a:bodyPr wrap="square"/>
                    <a:lstStyle/>
                    <a:p>
                      <a:r>
                        <a:rPr sz="1000" b="0" i="0">
                          <a:solidFill>
                            <a:srgbClr val="1F2933"/>
                          </a:solidFill>
                          <a:latin typeface="Courier New"/>
                        </a:rPr>
                        <a:t>'great' == 'GREat'.lower()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1592">
                <a:tc>
                  <a:txBody>
                    <a:bodyPr wrap="square"/>
                    <a:lstStyle/>
                    <a:p>
                      <a:r>
                        <a:rPr sz="1000" b="0" i="0">
                          <a:solidFill>
                            <a:srgbClr val="1F2933"/>
                          </a:solidFill>
                          <a:latin typeface="Courier New"/>
                        </a:rPr>
                        <a:t>'straße'.casefold() == 'strasse'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1592">
                <a:tc>
                  <a:txBody>
                    <a:bodyPr wrap="square"/>
                    <a:lstStyle/>
                    <a:p>
                      <a:r>
                        <a:rPr sz="1000" b="0" i="0">
                          <a:solidFill>
                            <a:srgbClr val="1F2933"/>
                          </a:solidFill>
                          <a:latin typeface="Courier New"/>
                        </a:rPr>
                        <a:t>s (after all calls)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method returns a new string; the original stays.</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72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Testing what a string is made of</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Methods such as isalpha, isalnum, isdecimal and isspace answer True or False for the whole string, not for one character.</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Programs must check input before they trust it, for example that a PIN holds only digits.</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These tests are a bouncer with a checklist: letters only? digits only? blanks only?</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Take a string</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abc123</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Test every character</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is each one a letter? a digit?</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All must agree</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one failure makes it False</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Answer</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isalpha False, isalnum True</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test answers for the whole string.</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72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Testing what a string is made of</a:t>
            </a:r>
          </a:p>
        </p:txBody>
      </p:sp>
      <p:sp>
        <p:nvSpPr>
          <p:cNvPr id="4" name="code"/>
          <p:cNvSpPr/>
          <p:nvPr/>
        </p:nvSpPr>
        <p:spPr>
          <a:xfrm>
            <a:off x="365760" y="841248"/>
            <a:ext cx="4527042" cy="1861756"/>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 letters, a capital, letters with digits, digits, a blank</a:t>
            </a:r>
          </a:p>
          <a:p>
            <a:pPr algn="l"/>
            <a:r>
              <a:rPr sz="950" b="0" i="0">
                <a:solidFill>
                  <a:srgbClr val="E6EDF3"/>
                </a:solidFill>
                <a:latin typeface="Courier New"/>
              </a:rPr>
              <a:t>words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'hello'</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'Hello'</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'abc123'</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'123'</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 '</a:t>
            </a:r>
            <a:r>
              <a:rPr sz="950" b="0" i="0">
                <a:solidFill>
                  <a:srgbClr val="E6EDF3"/>
                </a:solidFill>
                <a:latin typeface="Courier New"/>
              </a:rPr>
              <a:t>]</a:t>
            </a:r>
          </a:p>
          <a:p>
            <a:pPr algn="l"/>
            <a:r>
              <a:rPr sz="950" b="0" i="0">
                <a:solidFill>
                  <a:srgbClr val="8FA3B8"/>
                </a:solidFill>
                <a:latin typeface="Courier New"/>
              </a:rPr>
              <a:t># letters only, then letters or digits</a:t>
            </a:r>
          </a:p>
          <a:p>
            <a:pPr algn="l"/>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isalpha</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w</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words</a:t>
            </a:r>
            <a:r>
              <a:rPr sz="950" b="0" i="0">
                <a:solidFill>
                  <a:srgbClr val="E6EDF3"/>
                </a:solidFill>
                <a:latin typeface="Courier New"/>
              </a:rPr>
              <a:t>]</a:t>
            </a:r>
            <a:r>
              <a:rPr sz="950" b="0" i="0">
                <a:solidFill>
                  <a:srgbClr val="E6EDF3"/>
                </a:solidFill>
                <a:latin typeface="Courier New"/>
              </a:rPr>
              <a:t>)</a:t>
            </a:r>
          </a:p>
          <a:p>
            <a:pPr algn="l"/>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isalnum</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w</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words</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 digits only, then blanks only</a:t>
            </a:r>
          </a:p>
          <a:p>
            <a:pPr algn="l"/>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isdecimal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w</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words</a:t>
            </a:r>
            <a:r>
              <a:rPr sz="950" b="0" i="0">
                <a:solidFill>
                  <a:srgbClr val="E6EDF3"/>
                </a:solidFill>
                <a:latin typeface="Courier New"/>
              </a:rPr>
              <a:t>]</a:t>
            </a:r>
            <a:r>
              <a:rPr sz="950" b="0" i="0">
                <a:solidFill>
                  <a:srgbClr val="E6EDF3"/>
                </a:solidFill>
                <a:latin typeface="Courier New"/>
              </a:rPr>
              <a:t>)</a:t>
            </a:r>
          </a:p>
          <a:p>
            <a:pPr algn="l"/>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isspace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w</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words</a:t>
            </a:r>
            <a:r>
              <a:rPr sz="950" b="0" i="0">
                <a:solidFill>
                  <a:srgbClr val="E6EDF3"/>
                </a:solidFill>
                <a:latin typeface="Courier New"/>
              </a:rPr>
              <a:t>]</a:t>
            </a:r>
            <a:r>
              <a:rPr sz="950" b="0" i="0">
                <a:solidFill>
                  <a:srgbClr val="E6EDF3"/>
                </a:solidFill>
                <a:latin typeface="Courier New"/>
              </a:rPr>
              <a:t>)</a:t>
            </a:r>
          </a:p>
        </p:txBody>
      </p:sp>
      <p:sp>
        <p:nvSpPr>
          <p:cNvPr id="5" name="note card"/>
          <p:cNvSpPr/>
          <p:nvPr/>
        </p:nvSpPr>
        <p:spPr>
          <a:xfrm>
            <a:off x="5002530" y="841248"/>
            <a:ext cx="3775709" cy="516255"/>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048250" y="841248"/>
            <a:ext cx="3684269" cy="516255"/>
          </a:xfrm>
          <a:prstGeom prst="rect">
            <a:avLst/>
          </a:prstGeom>
          <a:noFill/>
        </p:spPr>
        <p:txBody>
          <a:bodyPr wrap="square" lIns="45720" rIns="45720" tIns="27432" bIns="27432" anchor="ctr">
            <a:spAutoFit/>
          </a:bodyPr>
          <a:lstStyle/>
          <a:p>
            <a:r>
              <a:rPr sz="1050" b="0" i="0">
                <a:solidFill>
                  <a:srgbClr val="1F2933"/>
                </a:solidFill>
                <a:latin typeface="Calibri"/>
              </a:rPr>
              <a:t>Five sample strings: letters, a capital, letters with digits, digits only and a single space.</a:t>
            </a:r>
          </a:p>
        </p:txBody>
      </p:sp>
      <p:sp>
        <p:nvSpPr>
          <p:cNvPr id="7" name="note card"/>
          <p:cNvSpPr/>
          <p:nvPr/>
        </p:nvSpPr>
        <p:spPr>
          <a:xfrm>
            <a:off x="5002530" y="1430655"/>
            <a:ext cx="3775709" cy="68294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048250" y="1430655"/>
            <a:ext cx="3684269" cy="682942"/>
          </a:xfrm>
          <a:prstGeom prst="rect">
            <a:avLst/>
          </a:prstGeom>
          <a:noFill/>
        </p:spPr>
        <p:txBody>
          <a:bodyPr wrap="square" lIns="45720" rIns="45720" tIns="27432" bIns="27432" anchor="ctr">
            <a:spAutoFit/>
          </a:bodyPr>
          <a:lstStyle/>
          <a:p>
            <a:r>
              <a:rPr sz="1050" b="0" i="0">
                <a:solidFill>
                  <a:srgbClr val="1F2933"/>
                </a:solidFill>
                <a:latin typeface="Calibri"/>
              </a:rPr>
              <a:t>isalpha wants letters only. isalnum also accepts digits. Each test returns True or False for the whole string.</a:t>
            </a:r>
          </a:p>
        </p:txBody>
      </p:sp>
      <p:sp>
        <p:nvSpPr>
          <p:cNvPr id="9" name="note card"/>
          <p:cNvSpPr/>
          <p:nvPr/>
        </p:nvSpPr>
        <p:spPr>
          <a:xfrm>
            <a:off x="5002530" y="2186749"/>
            <a:ext cx="3775709" cy="516255"/>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048250" y="2186749"/>
            <a:ext cx="3684269" cy="516255"/>
          </a:xfrm>
          <a:prstGeom prst="rect">
            <a:avLst/>
          </a:prstGeom>
          <a:noFill/>
        </p:spPr>
        <p:txBody>
          <a:bodyPr wrap="square" lIns="45720" rIns="45720" tIns="27432" bIns="27432" anchor="ctr">
            <a:spAutoFit/>
          </a:bodyPr>
          <a:lstStyle/>
          <a:p>
            <a:r>
              <a:rPr sz="1050" b="0" i="0">
                <a:solidFill>
                  <a:srgbClr val="1F2933"/>
                </a:solidFill>
                <a:latin typeface="Calibri"/>
              </a:rPr>
              <a:t>isdecimal wants digits only. isspace wants nothing but blanks, tabs and line breaks.</a:t>
            </a:r>
          </a:p>
        </p:txBody>
      </p:sp>
      <p:sp>
        <p:nvSpPr>
          <p:cNvPr id="11" name="result label"/>
          <p:cNvSpPr txBox="1"/>
          <p:nvPr/>
        </p:nvSpPr>
        <p:spPr>
          <a:xfrm>
            <a:off x="365760" y="277615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2" name="table"/>
          <p:cNvGraphicFramePr>
            <a:graphicFrameLocks noGrp="1"/>
          </p:cNvGraphicFramePr>
          <p:nvPr/>
        </p:nvGraphicFramePr>
        <p:xfrm>
          <a:off x="365760" y="3050476"/>
          <a:ext cx="8412475" cy="1558098"/>
        </p:xfrm>
        <a:graphic>
          <a:graphicData uri="http://schemas.openxmlformats.org/drawingml/2006/table">
            <a:tbl>
              <a:tblPr firstRow="0" bandRow="0"/>
              <a:tblGrid>
                <a:gridCol w="2072639"/>
                <a:gridCol w="1584959"/>
                <a:gridCol w="1584959"/>
                <a:gridCol w="1584959"/>
                <a:gridCol w="1584959"/>
              </a:tblGrid>
              <a:tr h="259683">
                <a:tc>
                  <a:txBody>
                    <a:bodyPr wrap="square"/>
                    <a:lstStyle/>
                    <a:p>
                      <a:r>
                        <a:rPr sz="1000" b="1" i="0">
                          <a:solidFill>
                            <a:srgbClr val="FFFFFF"/>
                          </a:solidFill>
                          <a:latin typeface="Calibri"/>
                        </a:rPr>
                        <a:t>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isalpha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isalnum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isdecimal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9683">
                <a:tc>
                  <a:txBody>
                    <a:bodyPr wrap="square"/>
                    <a:lstStyle/>
                    <a:p>
                      <a:r>
                        <a:rPr sz="10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9683">
                <a:tc>
                  <a:txBody>
                    <a:bodyPr wrap="square"/>
                    <a:lstStyle/>
                    <a:p>
                      <a:r>
                        <a:rPr sz="10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9683">
                <a:tc>
                  <a:txBody>
                    <a:bodyPr wrap="square"/>
                    <a:lstStyle/>
                    <a:p>
                      <a:r>
                        <a:rPr sz="1000" b="0" i="0">
                          <a:solidFill>
                            <a:srgbClr val="1F2933"/>
                          </a:solidFill>
                          <a:latin typeface="Courier New"/>
                        </a:rPr>
                        <a:t>'abc123'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9683">
                <a:tc>
                  <a:txBody>
                    <a:bodyPr wrap="square"/>
                    <a:lstStyle/>
                    <a:p>
                      <a:r>
                        <a:rPr sz="1000" b="0" i="0">
                          <a:solidFill>
                            <a:srgbClr val="1F2933"/>
                          </a:solidFill>
                          <a:latin typeface="Courier New"/>
                        </a:rPr>
                        <a:t>'123'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9683">
                <a:tc>
                  <a:txBody>
                    <a:bodyPr wrap="square"/>
                    <a:lstStyle/>
                    <a:p>
                      <a:r>
                        <a:rPr sz="100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test answers for the whole string.</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72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Testing upper, lower and title case</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isupper, islower and istitle ask how the letters are cased. Each needs at least one letter, and digits have no case.</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Knowing the case tells a program whether text is shouted, whispered or written like a title.</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isupper asks: is every letter shouting? istitle asks: does every word start like a book title?</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Look at letters</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ignore digits and blanks</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isupper</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all letters capitals</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islower</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all letters small</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istitle</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each word starts with a capital</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Digits have no case.</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72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Testing upper, lower and title case</a:t>
            </a:r>
          </a:p>
        </p:txBody>
      </p:sp>
      <p:sp>
        <p:nvSpPr>
          <p:cNvPr id="4" name="code"/>
          <p:cNvSpPr/>
          <p:nvPr/>
        </p:nvSpPr>
        <p:spPr>
          <a:xfrm>
            <a:off x="365760" y="841248"/>
            <a:ext cx="5338572" cy="1827974"/>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 digits have no case at all</a:t>
            </a:r>
          </a:p>
          <a:p>
            <a:pPr algn="l"/>
            <a:r>
              <a:rPr sz="1150" b="0" i="0">
                <a:solidFill>
                  <a:srgbClr val="E6EDF3"/>
                </a:solidFill>
                <a:latin typeface="Courier New"/>
              </a:rPr>
              <a:t>words</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9BE3A8"/>
                </a:solidFill>
                <a:latin typeface="Courier New"/>
              </a:rPr>
              <a:t>'hello'</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'Hello'</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'HELLO'</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'Hello World'</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'123'</a:t>
            </a:r>
            <a:r>
              <a:rPr sz="1150" b="0" i="0">
                <a:solidFill>
                  <a:srgbClr val="E6EDF3"/>
                </a:solidFill>
                <a:latin typeface="Courier New"/>
              </a:rPr>
              <a:t>]</a:t>
            </a:r>
          </a:p>
          <a:p>
            <a:pPr algn="l"/>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w</a:t>
            </a:r>
            <a:r>
              <a:rPr sz="1150" b="0" i="0">
                <a:solidFill>
                  <a:srgbClr val="E6EDF3"/>
                </a:solidFill>
                <a:latin typeface="Courier New"/>
              </a:rPr>
              <a:t>.</a:t>
            </a:r>
            <a:r>
              <a:rPr sz="1150" b="0" i="0">
                <a:solidFill>
                  <a:srgbClr val="E6EDF3"/>
                </a:solidFill>
                <a:latin typeface="Courier New"/>
              </a:rPr>
              <a:t>isupper</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 </a:t>
            </a:r>
            <a:r>
              <a:rPr sz="1150" b="0" i="0">
                <a:solidFill>
                  <a:srgbClr val="C9A0FF"/>
                </a:solidFill>
                <a:latin typeface="Courier New"/>
              </a:rPr>
              <a:t>for</a:t>
            </a:r>
            <a:r>
              <a:rPr sz="1150" b="0" i="0">
                <a:solidFill>
                  <a:srgbClr val="E6EDF3"/>
                </a:solidFill>
                <a:latin typeface="Courier New"/>
              </a:rPr>
              <a:t> </a:t>
            </a:r>
            <a:r>
              <a:rPr sz="1150" b="0" i="0">
                <a:solidFill>
                  <a:srgbClr val="E6EDF3"/>
                </a:solidFill>
                <a:latin typeface="Courier New"/>
              </a:rPr>
              <a:t>w</a:t>
            </a:r>
            <a:r>
              <a:rPr sz="1150" b="0" i="0">
                <a:solidFill>
                  <a:srgbClr val="E6EDF3"/>
                </a:solidFill>
                <a:latin typeface="Courier New"/>
              </a:rPr>
              <a:t> </a:t>
            </a:r>
            <a:r>
              <a:rPr sz="1150" b="0" i="0">
                <a:solidFill>
                  <a:srgbClr val="C9A0FF"/>
                </a:solidFill>
                <a:latin typeface="Courier New"/>
              </a:rPr>
              <a:t>in</a:t>
            </a:r>
            <a:r>
              <a:rPr sz="1150" b="0" i="0">
                <a:solidFill>
                  <a:srgbClr val="E6EDF3"/>
                </a:solidFill>
                <a:latin typeface="Courier New"/>
              </a:rPr>
              <a:t> </a:t>
            </a:r>
            <a:r>
              <a:rPr sz="1150" b="0" i="0">
                <a:solidFill>
                  <a:srgbClr val="E6EDF3"/>
                </a:solidFill>
                <a:latin typeface="Courier New"/>
              </a:rPr>
              <a:t>words</a:t>
            </a:r>
            <a:r>
              <a:rPr sz="1150" b="0" i="0">
                <a:solidFill>
                  <a:srgbClr val="E6EDF3"/>
                </a:solidFill>
                <a:latin typeface="Courier New"/>
              </a:rPr>
              <a:t>]</a:t>
            </a:r>
            <a:r>
              <a:rPr sz="1150" b="0" i="0">
                <a:solidFill>
                  <a:srgbClr val="E6EDF3"/>
                </a:solidFill>
                <a:latin typeface="Courier New"/>
              </a:rPr>
              <a:t>)</a:t>
            </a:r>
          </a:p>
          <a:p>
            <a:pPr algn="l"/>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w</a:t>
            </a:r>
            <a:r>
              <a:rPr sz="1150" b="0" i="0">
                <a:solidFill>
                  <a:srgbClr val="E6EDF3"/>
                </a:solidFill>
                <a:latin typeface="Courier New"/>
              </a:rPr>
              <a:t>.</a:t>
            </a:r>
            <a:r>
              <a:rPr sz="1150" b="0" i="0">
                <a:solidFill>
                  <a:srgbClr val="E6EDF3"/>
                </a:solidFill>
                <a:latin typeface="Courier New"/>
              </a:rPr>
              <a:t>islower</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 </a:t>
            </a:r>
            <a:r>
              <a:rPr sz="1150" b="0" i="0">
                <a:solidFill>
                  <a:srgbClr val="C9A0FF"/>
                </a:solidFill>
                <a:latin typeface="Courier New"/>
              </a:rPr>
              <a:t>for</a:t>
            </a:r>
            <a:r>
              <a:rPr sz="1150" b="0" i="0">
                <a:solidFill>
                  <a:srgbClr val="E6EDF3"/>
                </a:solidFill>
                <a:latin typeface="Courier New"/>
              </a:rPr>
              <a:t> </a:t>
            </a:r>
            <a:r>
              <a:rPr sz="1150" b="0" i="0">
                <a:solidFill>
                  <a:srgbClr val="E6EDF3"/>
                </a:solidFill>
                <a:latin typeface="Courier New"/>
              </a:rPr>
              <a:t>w</a:t>
            </a:r>
            <a:r>
              <a:rPr sz="1150" b="0" i="0">
                <a:solidFill>
                  <a:srgbClr val="E6EDF3"/>
                </a:solidFill>
                <a:latin typeface="Courier New"/>
              </a:rPr>
              <a:t> </a:t>
            </a:r>
            <a:r>
              <a:rPr sz="1150" b="0" i="0">
                <a:solidFill>
                  <a:srgbClr val="C9A0FF"/>
                </a:solidFill>
                <a:latin typeface="Courier New"/>
              </a:rPr>
              <a:t>in</a:t>
            </a:r>
            <a:r>
              <a:rPr sz="1150" b="0" i="0">
                <a:solidFill>
                  <a:srgbClr val="E6EDF3"/>
                </a:solidFill>
                <a:latin typeface="Courier New"/>
              </a:rPr>
              <a:t> </a:t>
            </a:r>
            <a:r>
              <a:rPr sz="1150" b="0" i="0">
                <a:solidFill>
                  <a:srgbClr val="E6EDF3"/>
                </a:solidFill>
                <a:latin typeface="Courier New"/>
              </a:rPr>
              <a:t>words</a:t>
            </a:r>
            <a:r>
              <a:rPr sz="1150" b="0" i="0">
                <a:solidFill>
                  <a:srgbClr val="E6EDF3"/>
                </a:solidFill>
                <a:latin typeface="Courier New"/>
              </a:rPr>
              <a:t>]</a:t>
            </a:r>
            <a:r>
              <a:rPr sz="1150" b="0" i="0">
                <a:solidFill>
                  <a:srgbClr val="E6EDF3"/>
                </a:solidFill>
                <a:latin typeface="Courier New"/>
              </a:rPr>
              <a:t>)</a:t>
            </a:r>
          </a:p>
          <a:p>
            <a:pPr algn="l"/>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w</a:t>
            </a:r>
            <a:r>
              <a:rPr sz="1150" b="0" i="0">
                <a:solidFill>
                  <a:srgbClr val="E6EDF3"/>
                </a:solidFill>
                <a:latin typeface="Courier New"/>
              </a:rPr>
              <a:t>.</a:t>
            </a:r>
            <a:r>
              <a:rPr sz="1150" b="0" i="0">
                <a:solidFill>
                  <a:srgbClr val="E6EDF3"/>
                </a:solidFill>
                <a:latin typeface="Courier New"/>
              </a:rPr>
              <a:t>istitle</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 </a:t>
            </a:r>
            <a:r>
              <a:rPr sz="1150" b="0" i="0">
                <a:solidFill>
                  <a:srgbClr val="C9A0FF"/>
                </a:solidFill>
                <a:latin typeface="Courier New"/>
              </a:rPr>
              <a:t>for</a:t>
            </a:r>
            <a:r>
              <a:rPr sz="1150" b="0" i="0">
                <a:solidFill>
                  <a:srgbClr val="E6EDF3"/>
                </a:solidFill>
                <a:latin typeface="Courier New"/>
              </a:rPr>
              <a:t> </a:t>
            </a:r>
            <a:r>
              <a:rPr sz="1150" b="0" i="0">
                <a:solidFill>
                  <a:srgbClr val="E6EDF3"/>
                </a:solidFill>
                <a:latin typeface="Courier New"/>
              </a:rPr>
              <a:t>w</a:t>
            </a:r>
            <a:r>
              <a:rPr sz="1150" b="0" i="0">
                <a:solidFill>
                  <a:srgbClr val="E6EDF3"/>
                </a:solidFill>
                <a:latin typeface="Courier New"/>
              </a:rPr>
              <a:t> </a:t>
            </a:r>
            <a:r>
              <a:rPr sz="1150" b="0" i="0">
                <a:solidFill>
                  <a:srgbClr val="C9A0FF"/>
                </a:solidFill>
                <a:latin typeface="Courier New"/>
              </a:rPr>
              <a:t>in</a:t>
            </a:r>
            <a:r>
              <a:rPr sz="1150" b="0" i="0">
                <a:solidFill>
                  <a:srgbClr val="E6EDF3"/>
                </a:solidFill>
                <a:latin typeface="Courier New"/>
              </a:rPr>
              <a:t> </a:t>
            </a:r>
            <a:r>
              <a:rPr sz="1150" b="0" i="0">
                <a:solidFill>
                  <a:srgbClr val="E6EDF3"/>
                </a:solidFill>
                <a:latin typeface="Courier New"/>
              </a:rPr>
              <a:t>words</a:t>
            </a:r>
            <a:r>
              <a:rPr sz="1150" b="0" i="0">
                <a:solidFill>
                  <a:srgbClr val="E6EDF3"/>
                </a:solidFill>
                <a:latin typeface="Courier New"/>
              </a:rPr>
              <a:t>]</a:t>
            </a:r>
            <a:r>
              <a:rPr sz="1150" b="0" i="0">
                <a:solidFill>
                  <a:srgbClr val="E6EDF3"/>
                </a:solidFill>
                <a:latin typeface="Courier New"/>
              </a:rPr>
              <a:t>)</a:t>
            </a:r>
          </a:p>
        </p:txBody>
      </p:sp>
      <p:sp>
        <p:nvSpPr>
          <p:cNvPr id="5" name="note card"/>
          <p:cNvSpPr/>
          <p:nvPr/>
        </p:nvSpPr>
        <p:spPr>
          <a:xfrm>
            <a:off x="5814060" y="841248"/>
            <a:ext cx="2964179" cy="77819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859780" y="841248"/>
            <a:ext cx="2872739" cy="778192"/>
          </a:xfrm>
          <a:prstGeom prst="rect">
            <a:avLst/>
          </a:prstGeom>
          <a:noFill/>
        </p:spPr>
        <p:txBody>
          <a:bodyPr wrap="square" lIns="45720" rIns="45720" tIns="27432" bIns="27432" anchor="ctr">
            <a:spAutoFit/>
          </a:bodyPr>
          <a:lstStyle/>
          <a:p>
            <a:r>
              <a:rPr sz="1250" b="0" i="0">
                <a:solidFill>
                  <a:srgbClr val="1F2933"/>
                </a:solidFill>
                <a:latin typeface="Calibri"/>
              </a:rPr>
              <a:t>Five samples. Digits have no case at all, which matters for the tests below.</a:t>
            </a:r>
          </a:p>
        </p:txBody>
      </p:sp>
      <p:sp>
        <p:nvSpPr>
          <p:cNvPr id="7" name="note card"/>
          <p:cNvSpPr/>
          <p:nvPr/>
        </p:nvSpPr>
        <p:spPr>
          <a:xfrm>
            <a:off x="5814060" y="1692592"/>
            <a:ext cx="2964179" cy="97663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859780" y="1692592"/>
            <a:ext cx="2872739" cy="976630"/>
          </a:xfrm>
          <a:prstGeom prst="rect">
            <a:avLst/>
          </a:prstGeom>
          <a:noFill/>
        </p:spPr>
        <p:txBody>
          <a:bodyPr wrap="square" lIns="45720" rIns="45720" tIns="27432" bIns="27432" anchor="ctr">
            <a:spAutoFit/>
          </a:bodyPr>
          <a:lstStyle/>
          <a:p>
            <a:r>
              <a:rPr sz="1250" b="0" i="0">
                <a:solidFill>
                  <a:srgbClr val="1F2933"/>
                </a:solidFill>
                <a:latin typeface="Calibri"/>
              </a:rPr>
              <a:t>isupper and islower need at least one letter and all letters in that case. istitle wants every word capitalised.</a:t>
            </a:r>
          </a:p>
        </p:txBody>
      </p:sp>
      <p:sp>
        <p:nvSpPr>
          <p:cNvPr id="9" name="result label"/>
          <p:cNvSpPr txBox="1"/>
          <p:nvPr/>
        </p:nvSpPr>
        <p:spPr>
          <a:xfrm>
            <a:off x="365760" y="274237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0" name="table"/>
          <p:cNvGraphicFramePr>
            <a:graphicFrameLocks noGrp="1"/>
          </p:cNvGraphicFramePr>
          <p:nvPr/>
        </p:nvGraphicFramePr>
        <p:xfrm>
          <a:off x="365760" y="3016694"/>
          <a:ext cx="8412479" cy="1591878"/>
        </p:xfrm>
        <a:graphic>
          <a:graphicData uri="http://schemas.openxmlformats.org/drawingml/2006/table">
            <a:tbl>
              <a:tblPr firstRow="0" bandRow="0"/>
              <a:tblGrid>
                <a:gridCol w="2553788"/>
                <a:gridCol w="1952897"/>
                <a:gridCol w="1952897"/>
                <a:gridCol w="1952897"/>
              </a:tblGrid>
              <a:tr h="265313">
                <a:tc>
                  <a:txBody>
                    <a:bodyPr wrap="square"/>
                    <a:lstStyle/>
                    <a:p>
                      <a:r>
                        <a:rPr sz="1000" b="1" i="0">
                          <a:solidFill>
                            <a:srgbClr val="FFFFFF"/>
                          </a:solidFill>
                          <a:latin typeface="Calibri"/>
                        </a:rPr>
                        <a:t>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isupper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istitle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65313">
                <a:tc>
                  <a:txBody>
                    <a:bodyPr wrap="square"/>
                    <a:lstStyle/>
                    <a:p>
                      <a:r>
                        <a:rPr sz="10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5313">
                <a:tc>
                  <a:txBody>
                    <a:bodyPr wrap="square"/>
                    <a:lstStyle/>
                    <a:p>
                      <a:r>
                        <a:rPr sz="10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65313">
                <a:tc>
                  <a:txBody>
                    <a:bodyPr wrap="square"/>
                    <a:lstStyle/>
                    <a:p>
                      <a:r>
                        <a:rPr sz="10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5313">
                <a:tc>
                  <a:txBody>
                    <a:bodyPr wrap="square"/>
                    <a:lstStyle/>
                    <a:p>
                      <a:r>
                        <a:rPr sz="1000" b="0" i="0">
                          <a:solidFill>
                            <a:srgbClr val="1F2933"/>
                          </a:solidFill>
                          <a:latin typeface="Courier New"/>
                        </a:rPr>
                        <a: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65313">
                <a:tc>
                  <a:txBody>
                    <a:bodyPr wrap="square"/>
                    <a:lstStyle/>
                    <a:p>
                      <a:r>
                        <a:rPr sz="1000" b="0" i="0">
                          <a:solidFill>
                            <a:srgbClr val="1F2933"/>
                          </a:solidFill>
                          <a:latin typeface="Courier New"/>
                        </a:rPr>
                        <a:t>'123'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alibri"/>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Digits have no case.</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72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tests, join and split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split is a pair of scissors; join is a thread that ties the pieces together again.</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324612">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4612">
                <a:tc>
                  <a:txBody>
                    <a:bodyPr wrap="square"/>
                    <a:lstStyle/>
                    <a:p>
                      <a:r>
                        <a:rPr sz="1100" b="1" i="0">
                          <a:solidFill>
                            <a:srgbClr val="1F2933"/>
                          </a:solidFill>
                          <a:latin typeface="Calibri"/>
                        </a:rPr>
                        <a:t>isdecimal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PIN pad: digits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4612">
                <a:tc>
                  <a:txBody>
                    <a:bodyPr wrap="square"/>
                    <a:lstStyle/>
                    <a:p>
                      <a:r>
                        <a:rPr sz="1100" b="1" i="0">
                          <a:solidFill>
                            <a:srgbClr val="1F2933"/>
                          </a:solidFill>
                          <a:latin typeface="Calibri"/>
                        </a:rPr>
                        <a:t>isspace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An empty page: nothing but blanks.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4612">
                <a:tc>
                  <a:txBody>
                    <a:bodyPr wrap="square"/>
                    <a:lstStyle/>
                    <a:p>
                      <a:r>
                        <a:rPr sz="1100" b="1" i="0">
                          <a:solidFill>
                            <a:srgbClr val="1F2933"/>
                          </a:solidFill>
                          <a:latin typeface="Calibri"/>
                        </a:rPr>
                        <a:t>istitle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book title: every word starts with a capital.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4612">
                <a:tc>
                  <a:txBody>
                    <a:bodyPr wrap="square"/>
                    <a:lstStyle/>
                    <a:p>
                      <a:r>
                        <a:rPr sz="1100" b="1" i="0">
                          <a:solidFill>
                            <a:srgbClr val="1F2933"/>
                          </a:solidFill>
                          <a:latin typeface="Calibri"/>
                        </a:rPr>
                        <a:t>Checking the Start or End of a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Reading only the first or last word on an envelope.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4612">
                <a:tc>
                  <a:txBody>
                    <a:bodyPr wrap="square"/>
                    <a:lstStyle/>
                    <a:p>
                      <a:r>
                        <a:rPr sz="1100" b="1" i="0">
                          <a:solidFill>
                            <a:srgbClr val="1F2933"/>
                          </a:solidFill>
                          <a:latin typeface="Calibri"/>
                        </a:rPr>
                        <a:t>startswith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Glancing at the greeting at the top of a letter.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4612">
                <a:tc>
                  <a:txBody>
                    <a:bodyPr wrap="square"/>
                    <a:lstStyle/>
                    <a:p>
                      <a:r>
                        <a:rPr sz="1100" b="1" i="0">
                          <a:solidFill>
                            <a:srgbClr val="1F2933"/>
                          </a:solidFill>
                          <a:latin typeface="Calibri"/>
                        </a:rPr>
                        <a:t>endswith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Checking the stamp on a parcel, or the extension on a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4612">
                <a:tc>
                  <a:txBody>
                    <a:bodyPr wrap="square"/>
                    <a:lstStyle/>
                    <a:p>
                      <a:r>
                        <a:rPr sz="1100" b="1" i="0">
                          <a:solidFill>
                            <a:srgbClr val="1F2933"/>
                          </a:solidFill>
                          <a:latin typeface="Calibri"/>
                        </a:rPr>
                        <a:t>Joining and Splitting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Cutting a loaf into slices, and threading beads back onto a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4612">
                <a:tc>
                  <a:txBody>
                    <a:bodyPr wrap="square"/>
                    <a:lstStyle/>
                    <a:p>
                      <a:r>
                        <a:rPr sz="1100" b="1" i="0">
                          <a:solidFill>
                            <a:srgbClr val="1F2933"/>
                          </a:solidFill>
                          <a:latin typeface="Calibri"/>
                        </a:rPr>
                        <a:t>join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thread between beads: you choose what goes between them.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4612">
                <a:tc>
                  <a:txBody>
                    <a:bodyPr wrap="square"/>
                    <a:lstStyle/>
                    <a:p>
                      <a:r>
                        <a:rPr sz="1100" b="1" i="0">
                          <a:solidFill>
                            <a:srgbClr val="1F2933"/>
                          </a:solidFill>
                          <a:latin typeface="Calibri"/>
                        </a:rPr>
                        <a:t>split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Scissors that cut wherever the marker appears.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72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Start, end and affixes</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startswith and endswith test one edge of a string. removeprefix and removesuffix cut off exactly that text from the edge.</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File names and messages are often recognised by their beginning or ending, such as .txt.</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startswith is glancing at the greeting on a letter; endswith is checking the stamp on a parcel.</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Name</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report.txt</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endswith('.txt')</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True</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removesuffix('.txt')</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cuts those four characters</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New string</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report</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Cut exact text with removeprefix and removesuffix.</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72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Start, end and affixes</a:t>
            </a:r>
          </a:p>
        </p:txBody>
      </p:sp>
      <p:sp>
        <p:nvSpPr>
          <p:cNvPr id="4" name="code"/>
          <p:cNvSpPr/>
          <p:nvPr/>
        </p:nvSpPr>
        <p:spPr>
          <a:xfrm>
            <a:off x="365760" y="841248"/>
            <a:ext cx="5056631" cy="1701291"/>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 test one end of the string</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 world!'</a:t>
            </a:r>
            <a:r>
              <a:rPr sz="1400" b="0" i="0">
                <a:solidFill>
                  <a:srgbClr val="E6EDF3"/>
                </a:solidFill>
                <a:latin typeface="Courier New"/>
              </a:rPr>
              <a:t>.</a:t>
            </a:r>
            <a:r>
              <a:rPr sz="1400" b="0" i="0">
                <a:solidFill>
                  <a:srgbClr val="E6EDF3"/>
                </a:solidFill>
                <a:latin typeface="Courier New"/>
              </a:rPr>
              <a:t>startswith</a:t>
            </a:r>
            <a:r>
              <a:rPr sz="1400" b="0" i="0">
                <a:solidFill>
                  <a:srgbClr val="E6EDF3"/>
                </a:solidFill>
                <a:latin typeface="Courier New"/>
              </a:rPr>
              <a:t>(</a:t>
            </a:r>
            <a:r>
              <a:rPr sz="1400" b="0" i="0">
                <a:solidFill>
                  <a:srgbClr val="9BE3A8"/>
                </a:solidFill>
                <a:latin typeface="Courier New"/>
              </a:rPr>
              <a:t>'Hello'</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 a tuple accepts several endings</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'notes.txt'</a:t>
            </a:r>
            <a:r>
              <a:rPr sz="1400" b="0" i="0">
                <a:solidFill>
                  <a:srgbClr val="E6EDF3"/>
                </a:solidFill>
                <a:latin typeface="Courier New"/>
              </a:rPr>
              <a:t>.</a:t>
            </a:r>
            <a:r>
              <a:rPr sz="1400" b="0" i="0">
                <a:solidFill>
                  <a:srgbClr val="E6EDF3"/>
                </a:solidFill>
                <a:latin typeface="Courier New"/>
              </a:rPr>
              <a:t>endswith</a:t>
            </a:r>
            <a:r>
              <a:rPr sz="1400" b="0" i="0">
                <a:solidFill>
                  <a:srgbClr val="E6EDF3"/>
                </a:solidFill>
                <a:latin typeface="Courier New"/>
              </a:rPr>
              <a:t>(</a:t>
            </a:r>
            <a:r>
              <a:rPr sz="1400" b="0" i="0">
                <a:solidFill>
                  <a:srgbClr val="E6EDF3"/>
                </a:solidFill>
                <a:latin typeface="Courier New"/>
              </a:rPr>
              <a:t>(</a:t>
            </a:r>
            <a:r>
              <a:rPr sz="1400" b="0" i="0">
                <a:solidFill>
                  <a:srgbClr val="9BE3A8"/>
                </a:solidFill>
                <a:latin typeface="Courier New"/>
              </a:rPr>
              <a:t>'.py'</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'.txt'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 cut off exactly that text, once</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'report.txt'</a:t>
            </a:r>
            <a:r>
              <a:rPr sz="1400" b="0" i="0">
                <a:solidFill>
                  <a:srgbClr val="E6EDF3"/>
                </a:solidFill>
                <a:latin typeface="Courier New"/>
              </a:rPr>
              <a:t>.</a:t>
            </a:r>
            <a:r>
              <a:rPr sz="1400" b="0" i="0">
                <a:solidFill>
                  <a:srgbClr val="E6EDF3"/>
                </a:solidFill>
                <a:latin typeface="Courier New"/>
              </a:rPr>
              <a:t>removesuffix</a:t>
            </a:r>
            <a:r>
              <a:rPr sz="1400" b="0" i="0">
                <a:solidFill>
                  <a:srgbClr val="E6EDF3"/>
                </a:solidFill>
                <a:latin typeface="Courier New"/>
              </a:rPr>
              <a:t>(</a:t>
            </a:r>
            <a:r>
              <a:rPr sz="1400" b="0" i="0">
                <a:solidFill>
                  <a:srgbClr val="9BE3A8"/>
                </a:solidFill>
                <a:latin typeface="Courier New"/>
              </a:rPr>
              <a:t>'.txt'</a:t>
            </a:r>
            <a:r>
              <a:rPr sz="1400" b="0" i="0">
                <a:solidFill>
                  <a:srgbClr val="E6EDF3"/>
                </a:solidFill>
                <a:latin typeface="Courier New"/>
              </a:rPr>
              <a:t>)</a:t>
            </a:r>
            <a:r>
              <a:rPr sz="1400" b="0" i="0">
                <a:solidFill>
                  <a:srgbClr val="E6EDF3"/>
                </a:solidFill>
                <a:latin typeface="Courier New"/>
              </a:rPr>
              <a:t>)</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'test_a.py'</a:t>
            </a:r>
            <a:r>
              <a:rPr sz="1400" b="0" i="0">
                <a:solidFill>
                  <a:srgbClr val="E6EDF3"/>
                </a:solidFill>
                <a:latin typeface="Courier New"/>
              </a:rPr>
              <a:t>.</a:t>
            </a:r>
            <a:r>
              <a:rPr sz="1400" b="0" i="0">
                <a:solidFill>
                  <a:srgbClr val="E6EDF3"/>
                </a:solidFill>
                <a:latin typeface="Courier New"/>
              </a:rPr>
              <a:t>removeprefix</a:t>
            </a:r>
            <a:r>
              <a:rPr sz="1400" b="0" i="0">
                <a:solidFill>
                  <a:srgbClr val="E6EDF3"/>
                </a:solidFill>
                <a:latin typeface="Courier New"/>
              </a:rPr>
              <a:t>(</a:t>
            </a:r>
            <a:r>
              <a:rPr sz="1400" b="0" i="0">
                <a:solidFill>
                  <a:srgbClr val="9BE3A8"/>
                </a:solidFill>
                <a:latin typeface="Courier New"/>
              </a:rPr>
              <a:t>'test_'</a:t>
            </a:r>
            <a:r>
              <a:rPr sz="1400" b="0" i="0">
                <a:solidFill>
                  <a:srgbClr val="E6EDF3"/>
                </a:solidFill>
                <a:latin typeface="Courier New"/>
              </a:rPr>
              <a:t>)</a:t>
            </a:r>
            <a:r>
              <a:rPr sz="1400" b="0" i="0">
                <a:solidFill>
                  <a:srgbClr val="E6EDF3"/>
                </a:solidFill>
                <a:latin typeface="Courier New"/>
              </a:rPr>
              <a:t>)</a:t>
            </a:r>
          </a:p>
        </p:txBody>
      </p:sp>
      <p:sp>
        <p:nvSpPr>
          <p:cNvPr id="5" name="note card"/>
          <p:cNvSpPr/>
          <p:nvPr/>
        </p:nvSpPr>
        <p:spPr>
          <a:xfrm>
            <a:off x="5532120" y="841248"/>
            <a:ext cx="3246120" cy="814069"/>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577840" y="841248"/>
            <a:ext cx="3154679" cy="814069"/>
          </a:xfrm>
          <a:prstGeom prst="rect">
            <a:avLst/>
          </a:prstGeom>
          <a:noFill/>
        </p:spPr>
        <p:txBody>
          <a:bodyPr wrap="square" lIns="45720" rIns="45720" tIns="27432" bIns="27432" anchor="ctr">
            <a:spAutoFit/>
          </a:bodyPr>
          <a:lstStyle/>
          <a:p>
            <a:r>
              <a:rPr sz="1250" b="0" i="0">
                <a:solidFill>
                  <a:srgbClr val="1F2933"/>
                </a:solidFill>
                <a:latin typeface="Calibri"/>
              </a:rPr>
              <a:t>startswith and endswith test one end of a string. Give endswith a tuple to accept several endings.</a:t>
            </a:r>
          </a:p>
        </p:txBody>
      </p:sp>
      <p:sp>
        <p:nvSpPr>
          <p:cNvPr id="7" name="note card"/>
          <p:cNvSpPr/>
          <p:nvPr/>
        </p:nvSpPr>
        <p:spPr>
          <a:xfrm>
            <a:off x="5532120" y="1728469"/>
            <a:ext cx="3246120" cy="814069"/>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577840" y="1728469"/>
            <a:ext cx="3154679" cy="814069"/>
          </a:xfrm>
          <a:prstGeom prst="rect">
            <a:avLst/>
          </a:prstGeom>
          <a:noFill/>
        </p:spPr>
        <p:txBody>
          <a:bodyPr wrap="square" lIns="45720" rIns="45720" tIns="27432" bIns="27432" anchor="ctr">
            <a:spAutoFit/>
          </a:bodyPr>
          <a:lstStyle/>
          <a:p>
            <a:r>
              <a:rPr sz="1250" b="0" i="0">
                <a:solidFill>
                  <a:srgbClr val="1F2933"/>
                </a:solidFill>
                <a:latin typeface="Calibri"/>
              </a:rPr>
              <a:t>removesuffix and removeprefix cut off exactly that text, once. strip would remove a set of characters.</a:t>
            </a:r>
          </a:p>
        </p:txBody>
      </p:sp>
      <p:sp>
        <p:nvSpPr>
          <p:cNvPr id="9" name="result label"/>
          <p:cNvSpPr txBox="1"/>
          <p:nvPr/>
        </p:nvSpPr>
        <p:spPr>
          <a:xfrm>
            <a:off x="365760" y="261569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Rounded Rectangle 9"/>
          <p:cNvSpPr/>
          <p:nvPr/>
        </p:nvSpPr>
        <p:spPr>
          <a:xfrm>
            <a:off x="365760" y="2890012"/>
            <a:ext cx="100584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report.txt</a:t>
            </a:r>
          </a:p>
        </p:txBody>
      </p:sp>
      <p:sp>
        <p:nvSpPr>
          <p:cNvPr id="11" name="Rounded Rectangle 10"/>
          <p:cNvSpPr/>
          <p:nvPr/>
        </p:nvSpPr>
        <p:spPr>
          <a:xfrm>
            <a:off x="1463040" y="2890012"/>
            <a:ext cx="749808"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report</a:t>
            </a:r>
          </a:p>
        </p:txBody>
      </p:sp>
      <p:sp>
        <p:nvSpPr>
          <p:cNvPr id="12" name="Rounded Rectangle 11"/>
          <p:cNvSpPr/>
          <p:nvPr/>
        </p:nvSpPr>
        <p:spPr>
          <a:xfrm>
            <a:off x="2258568" y="2890012"/>
            <a:ext cx="68580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.txt</a:t>
            </a:r>
          </a:p>
        </p:txBody>
      </p:sp>
      <p:cxnSp>
        <p:nvCxnSpPr>
          <p:cNvPr id="13" name="arrow"/>
          <p:cNvCxnSpPr/>
          <p:nvPr/>
        </p:nvCxnSpPr>
        <p:spPr>
          <a:xfrm>
            <a:off x="3035808" y="3054604"/>
            <a:ext cx="15361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617720" y="2890012"/>
            <a:ext cx="2011680" cy="329184"/>
          </a:xfrm>
          <a:prstGeom prst="rect">
            <a:avLst/>
          </a:prstGeom>
          <a:noFill/>
        </p:spPr>
        <p:txBody>
          <a:bodyPr wrap="square" lIns="45720" rIns="45720" tIns="27432" bIns="27432" anchor="ctr">
            <a:spAutoFit/>
          </a:bodyPr>
          <a:lstStyle/>
          <a:p>
            <a:r>
              <a:rPr sz="1050" b="0" i="0">
                <a:solidFill>
                  <a:srgbClr val="5B6773"/>
                </a:solidFill>
                <a:latin typeface="Calibri"/>
              </a:rPr>
              <a:t>.removesuffix('.txt')</a:t>
            </a:r>
          </a:p>
        </p:txBody>
      </p:sp>
      <p:cxnSp>
        <p:nvCxnSpPr>
          <p:cNvPr id="15" name="arrow"/>
          <p:cNvCxnSpPr/>
          <p:nvPr/>
        </p:nvCxnSpPr>
        <p:spPr>
          <a:xfrm>
            <a:off x="6629400" y="3054604"/>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995160" y="2890012"/>
            <a:ext cx="1280160" cy="329184"/>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report</a:t>
            </a:r>
          </a:p>
        </p:txBody>
      </p:sp>
      <p:sp>
        <p:nvSpPr>
          <p:cNvPr id="17" name="Rounded Rectangle 16"/>
          <p:cNvSpPr/>
          <p:nvPr/>
        </p:nvSpPr>
        <p:spPr>
          <a:xfrm>
            <a:off x="365760" y="3347212"/>
            <a:ext cx="100584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test_a.py</a:t>
            </a:r>
          </a:p>
        </p:txBody>
      </p:sp>
      <p:sp>
        <p:nvSpPr>
          <p:cNvPr id="18" name="Rounded Rectangle 17"/>
          <p:cNvSpPr/>
          <p:nvPr/>
        </p:nvSpPr>
        <p:spPr>
          <a:xfrm>
            <a:off x="1463040" y="3347212"/>
            <a:ext cx="68580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test_</a:t>
            </a:r>
          </a:p>
        </p:txBody>
      </p:sp>
      <p:sp>
        <p:nvSpPr>
          <p:cNvPr id="19" name="Rounded Rectangle 18"/>
          <p:cNvSpPr/>
          <p:nvPr/>
        </p:nvSpPr>
        <p:spPr>
          <a:xfrm>
            <a:off x="2194560" y="3347212"/>
            <a:ext cx="68580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a.py</a:t>
            </a:r>
          </a:p>
        </p:txBody>
      </p:sp>
      <p:cxnSp>
        <p:nvCxnSpPr>
          <p:cNvPr id="20" name="arrow"/>
          <p:cNvCxnSpPr/>
          <p:nvPr/>
        </p:nvCxnSpPr>
        <p:spPr>
          <a:xfrm>
            <a:off x="2971800" y="3511804"/>
            <a:ext cx="160020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617720" y="3347212"/>
            <a:ext cx="2011680" cy="329184"/>
          </a:xfrm>
          <a:prstGeom prst="rect">
            <a:avLst/>
          </a:prstGeom>
          <a:noFill/>
        </p:spPr>
        <p:txBody>
          <a:bodyPr wrap="square" lIns="45720" rIns="45720" tIns="27432" bIns="27432" anchor="ctr">
            <a:spAutoFit/>
          </a:bodyPr>
          <a:lstStyle/>
          <a:p>
            <a:r>
              <a:rPr sz="1050" b="0" i="0">
                <a:solidFill>
                  <a:srgbClr val="5B6773"/>
                </a:solidFill>
                <a:latin typeface="Calibri"/>
              </a:rPr>
              <a:t>.removeprefix('test_')</a:t>
            </a:r>
          </a:p>
        </p:txBody>
      </p:sp>
      <p:cxnSp>
        <p:nvCxnSpPr>
          <p:cNvPr id="22" name="arrow"/>
          <p:cNvCxnSpPr/>
          <p:nvPr/>
        </p:nvCxnSpPr>
        <p:spPr>
          <a:xfrm>
            <a:off x="6629400" y="3511804"/>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995160" y="3347212"/>
            <a:ext cx="1280160" cy="329184"/>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a.py</a:t>
            </a:r>
          </a:p>
        </p:txBody>
      </p:sp>
      <p:sp>
        <p:nvSpPr>
          <p:cNvPr id="24" name="Rounded Rectangle 23"/>
          <p:cNvSpPr/>
          <p:nvPr/>
        </p:nvSpPr>
        <p:spPr>
          <a:xfrm>
            <a:off x="365760" y="3850132"/>
            <a:ext cx="384048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alibri"/>
              </a:rPr>
              <a:t>startswith('Hello') on 'Hello, world!'  -&gt;  True</a:t>
            </a:r>
          </a:p>
        </p:txBody>
      </p:sp>
      <p:sp>
        <p:nvSpPr>
          <p:cNvPr id="25" name="Rounded Rectangle 24"/>
          <p:cNvSpPr/>
          <p:nvPr/>
        </p:nvSpPr>
        <p:spPr>
          <a:xfrm>
            <a:off x="4389120" y="3850132"/>
            <a:ext cx="384048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alibri"/>
              </a:rPr>
              <a:t>'notes.txt'.endswith(('.py', '.txt'))  -&gt;  True</a:t>
            </a:r>
          </a:p>
        </p:txBody>
      </p:sp>
      <p:sp>
        <p:nvSpPr>
          <p:cNvPr id="2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Cut exact text with removeprefix and removesuffix.</a:t>
            </a:r>
          </a:p>
        </p:txBody>
      </p:sp>
      <p:sp>
        <p:nvSpPr>
          <p:cNvPr id="2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72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Joining and splitting</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split cuts a string into a list of pieces at a marker. join does the reverse and glues a list into one string.</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Text arrives as one long string, but programs work on words and lines. Splitting and joining convert between the two.</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split is a pair of scissors; join is a thread that ties the pieces together again.</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One string</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My name is Simon</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split()</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cuts at every blank</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A list</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four words</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 '.join(list)</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ties them back into one string</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split cuts, join ties.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72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Joining and splitting</a:t>
            </a:r>
          </a:p>
        </p:txBody>
      </p:sp>
      <p:sp>
        <p:nvSpPr>
          <p:cNvPr id="4" name="code"/>
          <p:cNvSpPr/>
          <p:nvPr/>
        </p:nvSpPr>
        <p:spPr>
          <a:xfrm>
            <a:off x="365760" y="841248"/>
            <a:ext cx="4816601" cy="1695069"/>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 join glues a list with the string between the pieces</a:t>
            </a:r>
          </a:p>
          <a:p>
            <a:pPr algn="l"/>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 '</a:t>
            </a:r>
            <a:r>
              <a:rPr sz="1050" b="0" i="0">
                <a:solidFill>
                  <a:srgbClr val="E6EDF3"/>
                </a:solidFill>
                <a:latin typeface="Courier New"/>
              </a:rPr>
              <a:t>.</a:t>
            </a:r>
            <a:r>
              <a:rPr sz="1050" b="0" i="0">
                <a:solidFill>
                  <a:srgbClr val="E6EDF3"/>
                </a:solidFill>
                <a:latin typeface="Courier New"/>
              </a:rPr>
              <a:t>join</a:t>
            </a:r>
            <a:r>
              <a:rPr sz="1050" b="0" i="0">
                <a:solidFill>
                  <a:srgbClr val="E6EDF3"/>
                </a:solidFill>
                <a:latin typeface="Courier New"/>
              </a:rPr>
              <a:t>(</a:t>
            </a:r>
            <a:r>
              <a:rPr sz="1050" b="0" i="0">
                <a:solidFill>
                  <a:srgbClr val="E6EDF3"/>
                </a:solidFill>
                <a:latin typeface="Courier New"/>
              </a:rPr>
              <a:t>[</a:t>
            </a:r>
            <a:r>
              <a:rPr sz="1050" b="0" i="0">
                <a:solidFill>
                  <a:srgbClr val="9BE3A8"/>
                </a:solidFill>
                <a:latin typeface="Courier New"/>
              </a:rPr>
              <a:t>'cats'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'rats'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'bats'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 split cuts at a chosen text, or at whitespace</a:t>
            </a:r>
          </a:p>
          <a:p>
            <a:pPr algn="l"/>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'My name is Simon'</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9BE3A8"/>
                </a:solidFill>
                <a:latin typeface="Courier New"/>
              </a:rPr>
              <a:t>'m'</a:t>
            </a:r>
            <a:r>
              <a:rPr sz="1050" b="0" i="0">
                <a:solidFill>
                  <a:srgbClr val="E6EDF3"/>
                </a:solidFill>
                <a:latin typeface="Courier New"/>
              </a:rPr>
              <a:t>)</a:t>
            </a:r>
            <a:r>
              <a:rPr sz="1050" b="0" i="0">
                <a:solidFill>
                  <a:srgbClr val="E6EDF3"/>
                </a:solidFill>
                <a:latin typeface="Courier New"/>
              </a:rPr>
              <a:t>)</a:t>
            </a:r>
          </a:p>
          <a:p>
            <a:pPr algn="l"/>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'My name is Simon'</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 splitlines knows every line break; partition cuts once</a:t>
            </a:r>
          </a:p>
          <a:p>
            <a:pPr algn="l"/>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'one\r\ntwo\nthree'</a:t>
            </a:r>
            <a:r>
              <a:rPr sz="1050" b="0" i="0">
                <a:solidFill>
                  <a:srgbClr val="E6EDF3"/>
                </a:solidFill>
                <a:latin typeface="Courier New"/>
              </a:rPr>
              <a:t>.</a:t>
            </a:r>
            <a:r>
              <a:rPr sz="1050" b="0" i="0">
                <a:solidFill>
                  <a:srgbClr val="E6EDF3"/>
                </a:solidFill>
                <a:latin typeface="Courier New"/>
              </a:rPr>
              <a:t>splitlines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'Monty Python'</a:t>
            </a:r>
            <a:r>
              <a:rPr sz="1050" b="0" i="0">
                <a:solidFill>
                  <a:srgbClr val="E6EDF3"/>
                </a:solidFill>
                <a:latin typeface="Courier New"/>
              </a:rPr>
              <a:t>.</a:t>
            </a:r>
            <a:r>
              <a:rPr sz="1050" b="0" i="0">
                <a:solidFill>
                  <a:srgbClr val="E6EDF3"/>
                </a:solidFill>
                <a:latin typeface="Courier New"/>
              </a:rPr>
              <a:t>partition</a:t>
            </a:r>
            <a:r>
              <a:rPr sz="1050" b="0" i="0">
                <a:solidFill>
                  <a:srgbClr val="E6EDF3"/>
                </a:solidFill>
                <a:latin typeface="Courier New"/>
              </a:rPr>
              <a:t>(</a:t>
            </a:r>
            <a:r>
              <a:rPr sz="1050" b="0" i="0">
                <a:solidFill>
                  <a:srgbClr val="9BE3A8"/>
                </a:solidFill>
                <a:latin typeface="Courier New"/>
              </a:rPr>
              <a:t>' '</a:t>
            </a:r>
            <a:r>
              <a:rPr sz="1050" b="0" i="0">
                <a:solidFill>
                  <a:srgbClr val="E6EDF3"/>
                </a:solidFill>
                <a:latin typeface="Courier New"/>
              </a:rPr>
              <a:t>)</a:t>
            </a:r>
            <a:r>
              <a:rPr sz="1050" b="0" i="0">
                <a:solidFill>
                  <a:srgbClr val="E6EDF3"/>
                </a:solidFill>
                <a:latin typeface="Courier New"/>
              </a:rPr>
              <a:t>)</a:t>
            </a:r>
          </a:p>
        </p:txBody>
      </p:sp>
      <p:sp>
        <p:nvSpPr>
          <p:cNvPr id="5" name="note card"/>
          <p:cNvSpPr/>
          <p:nvPr/>
        </p:nvSpPr>
        <p:spPr>
          <a:xfrm>
            <a:off x="5292090" y="841248"/>
            <a:ext cx="3486150" cy="516255"/>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337809" y="841248"/>
            <a:ext cx="3394710" cy="516255"/>
          </a:xfrm>
          <a:prstGeom prst="rect">
            <a:avLst/>
          </a:prstGeom>
          <a:noFill/>
        </p:spPr>
        <p:txBody>
          <a:bodyPr wrap="square" lIns="45720" rIns="45720" tIns="27432" bIns="27432" anchor="ctr">
            <a:spAutoFit/>
          </a:bodyPr>
          <a:lstStyle/>
          <a:p>
            <a:r>
              <a:rPr sz="1050" b="0" i="0">
                <a:solidFill>
                  <a:srgbClr val="1F2933"/>
                </a:solidFill>
                <a:latin typeface="Calibri"/>
              </a:rPr>
              <a:t>join glues a list of strings with the string it is called on between them.</a:t>
            </a:r>
          </a:p>
        </p:txBody>
      </p:sp>
      <p:sp>
        <p:nvSpPr>
          <p:cNvPr id="7" name="note card"/>
          <p:cNvSpPr/>
          <p:nvPr/>
        </p:nvSpPr>
        <p:spPr>
          <a:xfrm>
            <a:off x="5292090" y="1430655"/>
            <a:ext cx="3486150" cy="516255"/>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337809" y="1430655"/>
            <a:ext cx="3394710" cy="516255"/>
          </a:xfrm>
          <a:prstGeom prst="rect">
            <a:avLst/>
          </a:prstGeom>
          <a:noFill/>
        </p:spPr>
        <p:txBody>
          <a:bodyPr wrap="square" lIns="45720" rIns="45720" tIns="27432" bIns="27432" anchor="ctr">
            <a:spAutoFit/>
          </a:bodyPr>
          <a:lstStyle/>
          <a:p>
            <a:r>
              <a:rPr sz="1050" b="0" i="0">
                <a:solidFill>
                  <a:srgbClr val="1F2933"/>
                </a:solidFill>
                <a:latin typeface="Calibri"/>
              </a:rPr>
              <a:t>split cuts at a chosen text. With no argument it cuts at every run of whitespace.</a:t>
            </a:r>
          </a:p>
        </p:txBody>
      </p:sp>
      <p:sp>
        <p:nvSpPr>
          <p:cNvPr id="9" name="note card"/>
          <p:cNvSpPr/>
          <p:nvPr/>
        </p:nvSpPr>
        <p:spPr>
          <a:xfrm>
            <a:off x="5292090" y="2020061"/>
            <a:ext cx="3486150" cy="516255"/>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5337809" y="2020061"/>
            <a:ext cx="3394710" cy="516255"/>
          </a:xfrm>
          <a:prstGeom prst="rect">
            <a:avLst/>
          </a:prstGeom>
          <a:noFill/>
        </p:spPr>
        <p:txBody>
          <a:bodyPr wrap="square" lIns="45720" rIns="45720" tIns="27432" bIns="27432" anchor="ctr">
            <a:spAutoFit/>
          </a:bodyPr>
          <a:lstStyle/>
          <a:p>
            <a:r>
              <a:rPr sz="1050" b="0" i="0">
                <a:solidFill>
                  <a:srgbClr val="1F2933"/>
                </a:solidFill>
                <a:latin typeface="Calibri"/>
              </a:rPr>
              <a:t>splitlines handles every kind of line break. partition cuts once and keeps the separator.</a:t>
            </a:r>
          </a:p>
        </p:txBody>
      </p:sp>
      <p:sp>
        <p:nvSpPr>
          <p:cNvPr id="11" name="result label"/>
          <p:cNvSpPr txBox="1"/>
          <p:nvPr/>
        </p:nvSpPr>
        <p:spPr>
          <a:xfrm>
            <a:off x="365760" y="260946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2" name="chart"/>
          <p:cNvGraphicFramePr>
            <a:graphicFrameLocks noGrp="1"/>
          </p:cNvGraphicFramePr>
          <p:nvPr/>
        </p:nvGraphicFramePr>
        <p:xfrm>
          <a:off x="365760" y="2883789"/>
          <a:ext cx="4037990" cy="1724787"/>
        </p:xfrm>
        <a:graphic>
          <a:graphicData uri="http://schemas.openxmlformats.org/drawingml/2006/chart">
            <c:chart xmlns:c="http://schemas.openxmlformats.org/drawingml/2006/chart" r:id="rId3"/>
          </a:graphicData>
        </a:graphic>
      </p:graphicFrame>
      <p:graphicFrame>
        <p:nvGraphicFramePr>
          <p:cNvPr id="13" name="table"/>
          <p:cNvGraphicFramePr>
            <a:graphicFrameLocks noGrp="1"/>
          </p:cNvGraphicFramePr>
          <p:nvPr/>
        </p:nvGraphicFramePr>
        <p:xfrm>
          <a:off x="4572000" y="2929509"/>
          <a:ext cx="4206239" cy="1481328"/>
        </p:xfrm>
        <a:graphic>
          <a:graphicData uri="http://schemas.openxmlformats.org/drawingml/2006/table">
            <a:tbl>
              <a:tblPr firstRow="0" bandRow="0"/>
              <a:tblGrid>
                <a:gridCol w="1287624"/>
                <a:gridCol w="2918615"/>
              </a:tblGrid>
              <a:tr h="246888">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Pieces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00" b="0" i="0">
                          <a:solidFill>
                            <a:srgbClr val="1F2933"/>
                          </a:solidFill>
                          <a:latin typeface="Courier New"/>
                        </a:rPr>
                        <a:t>join(...)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'cats, rats, bats'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00" b="0" i="0">
                          <a:solidFill>
                            <a:srgbClr val="1F2933"/>
                          </a:solidFill>
                          <a:latin typeface="Courier New"/>
                        </a:rPr>
                        <a:t>split('m')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['My na', 'e is Si',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00" b="0" i="0">
                          <a:solidFill>
                            <a:srgbClr val="1F2933"/>
                          </a:solidFill>
                          <a:latin typeface="Courier New"/>
                        </a:rPr>
                        <a:t>split()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['My', 'name', 'is', 'Simon']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00" b="0" i="0">
                          <a:solidFill>
                            <a:srgbClr val="1F2933"/>
                          </a:solidFill>
                          <a:latin typeface="Courier New"/>
                        </a:rPr>
                        <a:t>splitlines()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['one', 'two', 'three']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00" b="0" i="0">
                          <a:solidFill>
                            <a:srgbClr val="1F2933"/>
                          </a:solidFill>
                          <a:latin typeface="Courier New"/>
                        </a:rPr>
                        <a:t>partition('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('Monty', ' ',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split cuts, join ties.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72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padding and trimming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rjust, ljust and center move a book to the right, left or middle of a shelf.</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360680">
                <a:tc>
                  <a:txBody>
                    <a:bodyPr wrap="square"/>
                    <a:lstStyle/>
                    <a:p>
                      <a:r>
                        <a:rPr sz="125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0680">
                <a:tc>
                  <a:txBody>
                    <a:bodyPr wrap="square"/>
                    <a:lstStyle/>
                    <a:p>
                      <a:r>
                        <a:rPr sz="1250" b="1" i="0">
                          <a:solidFill>
                            <a:srgbClr val="1F2933"/>
                          </a:solidFill>
                          <a:latin typeface="Calibri"/>
                        </a:rPr>
                        <a:t>Justifying and Centering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 bookshelf of fixed width: push the book to either end, or to the middle.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rjust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Pushing the book to the right end of the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ljust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Pushing the book to the left end of the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center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Placing the book exactly in the middle of the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Removing Whitespace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Trimming the white border off a photo 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Trimming both borders of the 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0680">
                <a:tc>
                  <a:txBody>
                    <a:bodyPr wrap="square"/>
                    <a:lstStyle/>
                    <a:p>
                      <a:r>
                        <a:rPr sz="1250" b="1" i="0">
                          <a:solidFill>
                            <a:srgbClr val="1F2933"/>
                          </a:solidFill>
                          <a:latin typeface="Calibri"/>
                        </a:rPr>
                        <a:t>lstrip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Trimming the left border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0680">
                <a:tc>
                  <a:txBody>
                    <a:bodyPr wrap="square"/>
                    <a:lstStyle/>
                    <a:p>
                      <a:r>
                        <a:rPr sz="1250" b="1" i="0">
                          <a:solidFill>
                            <a:srgbClr val="1F2933"/>
                          </a:solidFill>
                          <a:latin typeface="Calibri"/>
                        </a:rPr>
                        <a:t>rstrip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Trimming the right border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72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Justifying and centring text</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rjust, ljust and center pad a string with spaces, or with a fill character, until it reaches the width you give.</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Columns of text only line up when every cell has the same width.</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rjust, ljust and center move a book to the right, the left or the middle of a shelf.</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Word</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Hello, 5 characters</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Width</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10 wanted</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rjust</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adds 5 spaces on the left</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Result</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10 characters wide</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Padding makes columns line up.</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72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Justifying and centring text</a:t>
            </a:r>
          </a:p>
        </p:txBody>
      </p:sp>
      <p:sp>
        <p:nvSpPr>
          <p:cNvPr id="4" name="code"/>
          <p:cNvSpPr/>
          <p:nvPr/>
        </p:nvSpPr>
        <p:spPr>
          <a:xfrm>
            <a:off x="365760" y="841248"/>
            <a:ext cx="5102351" cy="1772412"/>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 pad to a width; the bar shows the trailing padding</a:t>
            </a:r>
          </a:p>
          <a:p>
            <a:pPr algn="l"/>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'Hello'</a:t>
            </a:r>
            <a:r>
              <a:rPr sz="1200" b="0" i="0">
                <a:solidFill>
                  <a:srgbClr val="E6EDF3"/>
                </a:solidFill>
                <a:latin typeface="Courier New"/>
              </a:rPr>
              <a:t>.</a:t>
            </a:r>
            <a:r>
              <a:rPr sz="1200" b="0" i="0">
                <a:solidFill>
                  <a:srgbClr val="E6EDF3"/>
                </a:solidFill>
                <a:latin typeface="Courier New"/>
              </a:rPr>
              <a:t>rjust</a:t>
            </a:r>
            <a:r>
              <a:rPr sz="1200" b="0" i="0">
                <a:solidFill>
                  <a:srgbClr val="E6EDF3"/>
                </a:solidFill>
                <a:latin typeface="Courier New"/>
              </a:rPr>
              <a:t>(</a:t>
            </a:r>
            <a:r>
              <a:rPr sz="1200" b="0" i="0">
                <a:solidFill>
                  <a:srgbClr val="7CC4FF"/>
                </a:solidFill>
                <a:latin typeface="Courier New"/>
              </a:rPr>
              <a:t>10</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t>
            </a:r>
            <a:r>
              <a:rPr sz="1200" b="0" i="0">
                <a:solidFill>
                  <a:srgbClr val="E6EDF3"/>
                </a:solidFill>
                <a:latin typeface="Courier New"/>
              </a:rPr>
              <a:t>)</a:t>
            </a:r>
          </a:p>
          <a:p>
            <a:pPr algn="l"/>
            <a:r>
              <a:rPr sz="1200" b="0" i="0">
                <a:solidFill>
                  <a:srgbClr val="8FA3B8"/>
                </a:solidFill>
                <a:latin typeface="Courier New"/>
              </a:rPr>
              <a:t># an optional fill character replaces the spaces</a:t>
            </a:r>
          </a:p>
          <a:p>
            <a:pPr algn="l"/>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'Hello'</a:t>
            </a:r>
            <a:r>
              <a:rPr sz="1200" b="0" i="0">
                <a:solidFill>
                  <a:srgbClr val="E6EDF3"/>
                </a:solidFill>
                <a:latin typeface="Courier New"/>
              </a:rPr>
              <a:t>.</a:t>
            </a:r>
            <a:r>
              <a:rPr sz="1200" b="0" i="0">
                <a:solidFill>
                  <a:srgbClr val="E6EDF3"/>
                </a:solidFill>
                <a:latin typeface="Courier New"/>
              </a:rPr>
              <a:t>ljust</a:t>
            </a:r>
            <a:r>
              <a:rPr sz="1200" b="0" i="0">
                <a:solidFill>
                  <a:srgbClr val="E6EDF3"/>
                </a:solidFill>
                <a:latin typeface="Courier New"/>
              </a:rPr>
              <a:t>(</a:t>
            </a:r>
            <a:r>
              <a:rPr sz="1200" b="0" i="0">
                <a:solidFill>
                  <a:srgbClr val="7CC4FF"/>
                </a:solidFill>
                <a:latin typeface="Courier New"/>
              </a:rPr>
              <a:t>10</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t>
            </a:r>
            <a:r>
              <a:rPr sz="1200" b="0" i="0">
                <a:solidFill>
                  <a:srgbClr val="E6EDF3"/>
                </a:solidFill>
                <a:latin typeface="Courier New"/>
              </a:rPr>
              <a:t>)</a:t>
            </a:r>
          </a:p>
          <a:p>
            <a:pPr algn="l"/>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'Hello'</a:t>
            </a:r>
            <a:r>
              <a:rPr sz="1200" b="0" i="0">
                <a:solidFill>
                  <a:srgbClr val="E6EDF3"/>
                </a:solidFill>
                <a:latin typeface="Courier New"/>
              </a:rPr>
              <a:t>.</a:t>
            </a:r>
            <a:r>
              <a:rPr sz="1200" b="0" i="0">
                <a:solidFill>
                  <a:srgbClr val="E6EDF3"/>
                </a:solidFill>
                <a:latin typeface="Courier New"/>
              </a:rPr>
              <a:t>center</a:t>
            </a:r>
            <a:r>
              <a:rPr sz="1200" b="0" i="0">
                <a:solidFill>
                  <a:srgbClr val="E6EDF3"/>
                </a:solidFill>
                <a:latin typeface="Courier New"/>
              </a:rPr>
              <a:t>(</a:t>
            </a:r>
            <a:r>
              <a:rPr sz="1200" b="0" i="0">
                <a:solidFill>
                  <a:srgbClr val="7CC4FF"/>
                </a:solidFill>
                <a:latin typeface="Courier New"/>
              </a:rPr>
              <a:t>20</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t>
            </a:r>
            <a:r>
              <a:rPr sz="1200" b="0" i="0">
                <a:solidFill>
                  <a:srgbClr val="E6EDF3"/>
                </a:solidFill>
                <a:latin typeface="Courier New"/>
              </a:rPr>
              <a:t>)</a:t>
            </a:r>
          </a:p>
        </p:txBody>
      </p:sp>
      <p:sp>
        <p:nvSpPr>
          <p:cNvPr id="5" name="note card"/>
          <p:cNvSpPr/>
          <p:nvPr/>
        </p:nvSpPr>
        <p:spPr>
          <a:xfrm>
            <a:off x="5577840" y="841248"/>
            <a:ext cx="3200400" cy="9448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623559" y="841248"/>
            <a:ext cx="3108960" cy="944880"/>
          </a:xfrm>
          <a:prstGeom prst="rect">
            <a:avLst/>
          </a:prstGeom>
          <a:noFill/>
        </p:spPr>
        <p:txBody>
          <a:bodyPr wrap="square" lIns="45720" rIns="45720" tIns="27432" bIns="27432" anchor="ctr">
            <a:spAutoFit/>
          </a:bodyPr>
          <a:lstStyle/>
          <a:p>
            <a:r>
              <a:rPr sz="1200" b="0" i="0">
                <a:solidFill>
                  <a:srgbClr val="1F2933"/>
                </a:solidFill>
                <a:latin typeface="Calibri"/>
              </a:rPr>
              <a:t>rjust pads on the left, ljust on the right, up to the width you give. An optional fill character replaces the spaces.</a:t>
            </a:r>
          </a:p>
        </p:txBody>
      </p:sp>
      <p:sp>
        <p:nvSpPr>
          <p:cNvPr id="7" name="note card"/>
          <p:cNvSpPr/>
          <p:nvPr/>
        </p:nvSpPr>
        <p:spPr>
          <a:xfrm>
            <a:off x="5577840" y="1859280"/>
            <a:ext cx="3200400" cy="7543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623559" y="1859280"/>
            <a:ext cx="3108960" cy="754380"/>
          </a:xfrm>
          <a:prstGeom prst="rect">
            <a:avLst/>
          </a:prstGeom>
          <a:noFill/>
        </p:spPr>
        <p:txBody>
          <a:bodyPr wrap="square" lIns="45720" rIns="45720" tIns="27432" bIns="27432" anchor="ctr">
            <a:spAutoFit/>
          </a:bodyPr>
          <a:lstStyle/>
          <a:p>
            <a:r>
              <a:rPr sz="1200" b="0" i="0">
                <a:solidFill>
                  <a:srgbClr val="1F2933"/>
                </a:solidFill>
                <a:latin typeface="Calibri"/>
              </a:rPr>
              <a:t>center pads both sides. The bar after each result makes the trailing padding visible.</a:t>
            </a:r>
          </a:p>
        </p:txBody>
      </p:sp>
      <p:sp>
        <p:nvSpPr>
          <p:cNvPr id="9" name="result label"/>
          <p:cNvSpPr txBox="1"/>
          <p:nvPr/>
        </p:nvSpPr>
        <p:spPr>
          <a:xfrm>
            <a:off x="365760" y="268681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TextBox 9"/>
          <p:cNvSpPr txBox="1"/>
          <p:nvPr/>
        </p:nvSpPr>
        <p:spPr>
          <a:xfrm>
            <a:off x="365760" y="2961132"/>
            <a:ext cx="2286000" cy="347472"/>
          </a:xfrm>
          <a:prstGeom prst="rect">
            <a:avLst/>
          </a:prstGeom>
          <a:noFill/>
        </p:spPr>
        <p:txBody>
          <a:bodyPr wrap="square" lIns="45720" rIns="45720" tIns="27432" bIns="27432" anchor="ctr">
            <a:spAutoFit/>
          </a:bodyPr>
          <a:lstStyle/>
          <a:p>
            <a:r>
              <a:rPr sz="950" b="0" i="0">
                <a:solidFill>
                  <a:srgbClr val="5B6773"/>
                </a:solidFill>
                <a:latin typeface="Calibri"/>
              </a:rPr>
              <a:t>'Hello'.rjust(10)</a:t>
            </a:r>
          </a:p>
        </p:txBody>
      </p:sp>
      <p:sp>
        <p:nvSpPr>
          <p:cNvPr id="11" name="Rounded Rectangle 10"/>
          <p:cNvSpPr/>
          <p:nvPr/>
        </p:nvSpPr>
        <p:spPr>
          <a:xfrm>
            <a:off x="2743200" y="2961132"/>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
            </a:r>
          </a:p>
        </p:txBody>
      </p:sp>
      <p:sp>
        <p:nvSpPr>
          <p:cNvPr id="12" name="Rounded Rectangle 11"/>
          <p:cNvSpPr/>
          <p:nvPr/>
        </p:nvSpPr>
        <p:spPr>
          <a:xfrm>
            <a:off x="2990088" y="2961132"/>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
            </a:r>
          </a:p>
        </p:txBody>
      </p:sp>
      <p:sp>
        <p:nvSpPr>
          <p:cNvPr id="13" name="Rounded Rectangle 12"/>
          <p:cNvSpPr/>
          <p:nvPr/>
        </p:nvSpPr>
        <p:spPr>
          <a:xfrm>
            <a:off x="3236976" y="2961132"/>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
            </a:r>
          </a:p>
        </p:txBody>
      </p:sp>
      <p:sp>
        <p:nvSpPr>
          <p:cNvPr id="14" name="Rounded Rectangle 13"/>
          <p:cNvSpPr/>
          <p:nvPr/>
        </p:nvSpPr>
        <p:spPr>
          <a:xfrm>
            <a:off x="3483864" y="2961132"/>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
            </a:r>
          </a:p>
        </p:txBody>
      </p:sp>
      <p:sp>
        <p:nvSpPr>
          <p:cNvPr id="15" name="Rounded Rectangle 14"/>
          <p:cNvSpPr/>
          <p:nvPr/>
        </p:nvSpPr>
        <p:spPr>
          <a:xfrm>
            <a:off x="3730752" y="2961132"/>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
            </a:r>
          </a:p>
        </p:txBody>
      </p:sp>
      <p:sp>
        <p:nvSpPr>
          <p:cNvPr id="16" name="Rounded Rectangle 15"/>
          <p:cNvSpPr/>
          <p:nvPr/>
        </p:nvSpPr>
        <p:spPr>
          <a:xfrm>
            <a:off x="3977639" y="2961132"/>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H</a:t>
            </a:r>
          </a:p>
        </p:txBody>
      </p:sp>
      <p:sp>
        <p:nvSpPr>
          <p:cNvPr id="17" name="Rounded Rectangle 16"/>
          <p:cNvSpPr/>
          <p:nvPr/>
        </p:nvSpPr>
        <p:spPr>
          <a:xfrm>
            <a:off x="4224528" y="2961132"/>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e</a:t>
            </a:r>
          </a:p>
        </p:txBody>
      </p:sp>
      <p:sp>
        <p:nvSpPr>
          <p:cNvPr id="18" name="Rounded Rectangle 17"/>
          <p:cNvSpPr/>
          <p:nvPr/>
        </p:nvSpPr>
        <p:spPr>
          <a:xfrm>
            <a:off x="4471416" y="2961132"/>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l</a:t>
            </a:r>
          </a:p>
        </p:txBody>
      </p:sp>
      <p:sp>
        <p:nvSpPr>
          <p:cNvPr id="19" name="Rounded Rectangle 18"/>
          <p:cNvSpPr/>
          <p:nvPr/>
        </p:nvSpPr>
        <p:spPr>
          <a:xfrm>
            <a:off x="4718304" y="2961132"/>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l</a:t>
            </a:r>
          </a:p>
        </p:txBody>
      </p:sp>
      <p:sp>
        <p:nvSpPr>
          <p:cNvPr id="20" name="Rounded Rectangle 19"/>
          <p:cNvSpPr/>
          <p:nvPr/>
        </p:nvSpPr>
        <p:spPr>
          <a:xfrm>
            <a:off x="4965192" y="2961132"/>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o</a:t>
            </a:r>
          </a:p>
        </p:txBody>
      </p:sp>
      <p:cxnSp>
        <p:nvCxnSpPr>
          <p:cNvPr id="21" name="arrow"/>
          <p:cNvCxnSpPr/>
          <p:nvPr/>
        </p:nvCxnSpPr>
        <p:spPr>
          <a:xfrm>
            <a:off x="5257800" y="3134868"/>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23560" y="2961132"/>
            <a:ext cx="1097280" cy="347472"/>
          </a:xfrm>
          <a:prstGeom prst="rect">
            <a:avLst/>
          </a:prstGeom>
          <a:noFill/>
        </p:spPr>
        <p:txBody>
          <a:bodyPr wrap="square" lIns="45720" rIns="45720" tIns="27432" bIns="27432" anchor="ctr">
            <a:spAutoFit/>
          </a:bodyPr>
          <a:lstStyle/>
          <a:p>
            <a:r>
              <a:rPr sz="1050" b="0" i="0">
                <a:solidFill>
                  <a:srgbClr val="1F2933"/>
                </a:solidFill>
                <a:latin typeface="Calibri"/>
              </a:rPr>
              <a:t>width 10</a:t>
            </a:r>
          </a:p>
        </p:txBody>
      </p:sp>
      <p:sp>
        <p:nvSpPr>
          <p:cNvPr id="23" name="TextBox 22"/>
          <p:cNvSpPr txBox="1"/>
          <p:nvPr/>
        </p:nvSpPr>
        <p:spPr>
          <a:xfrm>
            <a:off x="365760" y="3436620"/>
            <a:ext cx="2286000" cy="347472"/>
          </a:xfrm>
          <a:prstGeom prst="rect">
            <a:avLst/>
          </a:prstGeom>
          <a:noFill/>
        </p:spPr>
        <p:txBody>
          <a:bodyPr wrap="square" lIns="45720" rIns="45720" tIns="27432" bIns="27432" anchor="ctr">
            <a:spAutoFit/>
          </a:bodyPr>
          <a:lstStyle/>
          <a:p>
            <a:r>
              <a:rPr sz="950" b="0" i="0">
                <a:solidFill>
                  <a:srgbClr val="5B6773"/>
                </a:solidFill>
                <a:latin typeface="Calibri"/>
              </a:rPr>
              <a:t>'Hello'.ljust(10, '-')</a:t>
            </a:r>
          </a:p>
        </p:txBody>
      </p:sp>
      <p:sp>
        <p:nvSpPr>
          <p:cNvPr id="24" name="Rounded Rectangle 23"/>
          <p:cNvSpPr/>
          <p:nvPr/>
        </p:nvSpPr>
        <p:spPr>
          <a:xfrm>
            <a:off x="2743200" y="3436620"/>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H</a:t>
            </a:r>
          </a:p>
        </p:txBody>
      </p:sp>
      <p:sp>
        <p:nvSpPr>
          <p:cNvPr id="25" name="Rounded Rectangle 24"/>
          <p:cNvSpPr/>
          <p:nvPr/>
        </p:nvSpPr>
        <p:spPr>
          <a:xfrm>
            <a:off x="2990088" y="3436620"/>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e</a:t>
            </a:r>
          </a:p>
        </p:txBody>
      </p:sp>
      <p:sp>
        <p:nvSpPr>
          <p:cNvPr id="26" name="Rounded Rectangle 25"/>
          <p:cNvSpPr/>
          <p:nvPr/>
        </p:nvSpPr>
        <p:spPr>
          <a:xfrm>
            <a:off x="3236976" y="3436620"/>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l</a:t>
            </a:r>
          </a:p>
        </p:txBody>
      </p:sp>
      <p:sp>
        <p:nvSpPr>
          <p:cNvPr id="27" name="Rounded Rectangle 26"/>
          <p:cNvSpPr/>
          <p:nvPr/>
        </p:nvSpPr>
        <p:spPr>
          <a:xfrm>
            <a:off x="3483864" y="3436620"/>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l</a:t>
            </a:r>
          </a:p>
        </p:txBody>
      </p:sp>
      <p:sp>
        <p:nvSpPr>
          <p:cNvPr id="28" name="Rounded Rectangle 27"/>
          <p:cNvSpPr/>
          <p:nvPr/>
        </p:nvSpPr>
        <p:spPr>
          <a:xfrm>
            <a:off x="3730752" y="3436620"/>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o</a:t>
            </a:r>
          </a:p>
        </p:txBody>
      </p:sp>
      <p:sp>
        <p:nvSpPr>
          <p:cNvPr id="29" name="Rounded Rectangle 28"/>
          <p:cNvSpPr/>
          <p:nvPr/>
        </p:nvSpPr>
        <p:spPr>
          <a:xfrm>
            <a:off x="3977639" y="3436620"/>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30" name="Rounded Rectangle 29"/>
          <p:cNvSpPr/>
          <p:nvPr/>
        </p:nvSpPr>
        <p:spPr>
          <a:xfrm>
            <a:off x="4224528" y="3436620"/>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31" name="Rounded Rectangle 30"/>
          <p:cNvSpPr/>
          <p:nvPr/>
        </p:nvSpPr>
        <p:spPr>
          <a:xfrm>
            <a:off x="4471416" y="3436620"/>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32" name="Rounded Rectangle 31"/>
          <p:cNvSpPr/>
          <p:nvPr/>
        </p:nvSpPr>
        <p:spPr>
          <a:xfrm>
            <a:off x="4718304" y="3436620"/>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33" name="Rounded Rectangle 32"/>
          <p:cNvSpPr/>
          <p:nvPr/>
        </p:nvSpPr>
        <p:spPr>
          <a:xfrm>
            <a:off x="4965192" y="3436620"/>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cxnSp>
        <p:nvCxnSpPr>
          <p:cNvPr id="34" name="arrow"/>
          <p:cNvCxnSpPr/>
          <p:nvPr/>
        </p:nvCxnSpPr>
        <p:spPr>
          <a:xfrm>
            <a:off x="5257800" y="3610356"/>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23560" y="3436620"/>
            <a:ext cx="1097280" cy="347472"/>
          </a:xfrm>
          <a:prstGeom prst="rect">
            <a:avLst/>
          </a:prstGeom>
          <a:noFill/>
        </p:spPr>
        <p:txBody>
          <a:bodyPr wrap="square" lIns="45720" rIns="45720" tIns="27432" bIns="27432" anchor="ctr">
            <a:spAutoFit/>
          </a:bodyPr>
          <a:lstStyle/>
          <a:p>
            <a:r>
              <a:rPr sz="1050" b="0" i="0">
                <a:solidFill>
                  <a:srgbClr val="1F2933"/>
                </a:solidFill>
                <a:latin typeface="Calibri"/>
              </a:rPr>
              <a:t>width 10</a:t>
            </a:r>
          </a:p>
        </p:txBody>
      </p:sp>
      <p:sp>
        <p:nvSpPr>
          <p:cNvPr id="36" name="TextBox 35"/>
          <p:cNvSpPr txBox="1"/>
          <p:nvPr/>
        </p:nvSpPr>
        <p:spPr>
          <a:xfrm>
            <a:off x="365760" y="3912108"/>
            <a:ext cx="2286000" cy="347472"/>
          </a:xfrm>
          <a:prstGeom prst="rect">
            <a:avLst/>
          </a:prstGeom>
          <a:noFill/>
        </p:spPr>
        <p:txBody>
          <a:bodyPr wrap="square" lIns="45720" rIns="45720" tIns="27432" bIns="27432" anchor="ctr">
            <a:spAutoFit/>
          </a:bodyPr>
          <a:lstStyle/>
          <a:p>
            <a:r>
              <a:rPr sz="950" b="0" i="0">
                <a:solidFill>
                  <a:srgbClr val="5B6773"/>
                </a:solidFill>
                <a:latin typeface="Calibri"/>
              </a:rPr>
              <a:t>'Hello'.center(20, '=')</a:t>
            </a:r>
          </a:p>
        </p:txBody>
      </p:sp>
      <p:sp>
        <p:nvSpPr>
          <p:cNvPr id="37" name="Rounded Rectangle 36"/>
          <p:cNvSpPr/>
          <p:nvPr/>
        </p:nvSpPr>
        <p:spPr>
          <a:xfrm>
            <a:off x="2743200"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38" name="Rounded Rectangle 37"/>
          <p:cNvSpPr/>
          <p:nvPr/>
        </p:nvSpPr>
        <p:spPr>
          <a:xfrm>
            <a:off x="2990088"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39" name="Rounded Rectangle 38"/>
          <p:cNvSpPr/>
          <p:nvPr/>
        </p:nvSpPr>
        <p:spPr>
          <a:xfrm>
            <a:off x="3236976"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40" name="Rounded Rectangle 39"/>
          <p:cNvSpPr/>
          <p:nvPr/>
        </p:nvSpPr>
        <p:spPr>
          <a:xfrm>
            <a:off x="3483864"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41" name="Rounded Rectangle 40"/>
          <p:cNvSpPr/>
          <p:nvPr/>
        </p:nvSpPr>
        <p:spPr>
          <a:xfrm>
            <a:off x="3730752"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42" name="Rounded Rectangle 41"/>
          <p:cNvSpPr/>
          <p:nvPr/>
        </p:nvSpPr>
        <p:spPr>
          <a:xfrm>
            <a:off x="3977639"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43" name="Rounded Rectangle 42"/>
          <p:cNvSpPr/>
          <p:nvPr/>
        </p:nvSpPr>
        <p:spPr>
          <a:xfrm>
            <a:off x="4224528"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44" name="Rounded Rectangle 43"/>
          <p:cNvSpPr/>
          <p:nvPr/>
        </p:nvSpPr>
        <p:spPr>
          <a:xfrm>
            <a:off x="4471416" y="3912108"/>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H</a:t>
            </a:r>
          </a:p>
        </p:txBody>
      </p:sp>
      <p:sp>
        <p:nvSpPr>
          <p:cNvPr id="45" name="Rounded Rectangle 44"/>
          <p:cNvSpPr/>
          <p:nvPr/>
        </p:nvSpPr>
        <p:spPr>
          <a:xfrm>
            <a:off x="4718304" y="3912108"/>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e</a:t>
            </a:r>
          </a:p>
        </p:txBody>
      </p:sp>
      <p:sp>
        <p:nvSpPr>
          <p:cNvPr id="46" name="Rounded Rectangle 45"/>
          <p:cNvSpPr/>
          <p:nvPr/>
        </p:nvSpPr>
        <p:spPr>
          <a:xfrm>
            <a:off x="4965192" y="3912108"/>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l</a:t>
            </a:r>
          </a:p>
        </p:txBody>
      </p:sp>
      <p:sp>
        <p:nvSpPr>
          <p:cNvPr id="47" name="Rounded Rectangle 46"/>
          <p:cNvSpPr/>
          <p:nvPr/>
        </p:nvSpPr>
        <p:spPr>
          <a:xfrm>
            <a:off x="5212080" y="3912108"/>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l</a:t>
            </a:r>
          </a:p>
        </p:txBody>
      </p:sp>
      <p:sp>
        <p:nvSpPr>
          <p:cNvPr id="48" name="Rounded Rectangle 47"/>
          <p:cNvSpPr/>
          <p:nvPr/>
        </p:nvSpPr>
        <p:spPr>
          <a:xfrm>
            <a:off x="5458968" y="3912108"/>
            <a:ext cx="219456" cy="34747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o</a:t>
            </a:r>
          </a:p>
        </p:txBody>
      </p:sp>
      <p:sp>
        <p:nvSpPr>
          <p:cNvPr id="49" name="Rounded Rectangle 48"/>
          <p:cNvSpPr/>
          <p:nvPr/>
        </p:nvSpPr>
        <p:spPr>
          <a:xfrm>
            <a:off x="5705856"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50" name="Rounded Rectangle 49"/>
          <p:cNvSpPr/>
          <p:nvPr/>
        </p:nvSpPr>
        <p:spPr>
          <a:xfrm>
            <a:off x="5952744"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51" name="Rounded Rectangle 50"/>
          <p:cNvSpPr/>
          <p:nvPr/>
        </p:nvSpPr>
        <p:spPr>
          <a:xfrm>
            <a:off x="6199632"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52" name="Rounded Rectangle 51"/>
          <p:cNvSpPr/>
          <p:nvPr/>
        </p:nvSpPr>
        <p:spPr>
          <a:xfrm>
            <a:off x="6446520"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53" name="Rounded Rectangle 52"/>
          <p:cNvSpPr/>
          <p:nvPr/>
        </p:nvSpPr>
        <p:spPr>
          <a:xfrm>
            <a:off x="6693408"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54" name="Rounded Rectangle 53"/>
          <p:cNvSpPr/>
          <p:nvPr/>
        </p:nvSpPr>
        <p:spPr>
          <a:xfrm>
            <a:off x="6940296"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55" name="Rounded Rectangle 54"/>
          <p:cNvSpPr/>
          <p:nvPr/>
        </p:nvSpPr>
        <p:spPr>
          <a:xfrm>
            <a:off x="7187184"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sp>
        <p:nvSpPr>
          <p:cNvPr id="56" name="Rounded Rectangle 55"/>
          <p:cNvSpPr/>
          <p:nvPr/>
        </p:nvSpPr>
        <p:spPr>
          <a:xfrm>
            <a:off x="7434072" y="3912108"/>
            <a:ext cx="219456" cy="347472"/>
          </a:xfrm>
          <a:prstGeom prst="roundRect">
            <a:avLst>
              <a:gd name="adj" fmla="val 8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a:t>
            </a:r>
          </a:p>
        </p:txBody>
      </p:sp>
      <p:cxnSp>
        <p:nvCxnSpPr>
          <p:cNvPr id="57" name="arrow"/>
          <p:cNvCxnSpPr/>
          <p:nvPr/>
        </p:nvCxnSpPr>
        <p:spPr>
          <a:xfrm>
            <a:off x="7726680" y="4085844"/>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092440" y="3912108"/>
            <a:ext cx="1097280" cy="347472"/>
          </a:xfrm>
          <a:prstGeom prst="rect">
            <a:avLst/>
          </a:prstGeom>
          <a:noFill/>
        </p:spPr>
        <p:txBody>
          <a:bodyPr wrap="square" lIns="45720" rIns="45720" tIns="27432" bIns="27432" anchor="ctr">
            <a:spAutoFit/>
          </a:bodyPr>
          <a:lstStyle/>
          <a:p>
            <a:r>
              <a:rPr sz="1050" b="0" i="0">
                <a:solidFill>
                  <a:srgbClr val="1F2933"/>
                </a:solidFill>
                <a:latin typeface="Calibri"/>
              </a:rPr>
              <a:t>width 20</a:t>
            </a:r>
          </a:p>
        </p:txBody>
      </p:sp>
      <p:sp>
        <p:nvSpPr>
          <p:cNvPr id="5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Padding makes columns line up.</a:t>
            </a:r>
          </a:p>
        </p:txBody>
      </p:sp>
      <p:sp>
        <p:nvSpPr>
          <p:cNvPr id="6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72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Removing whitespace</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strip removes blanks, tabs and line breaks from both ends of a string. lstrip cuts the left end only, rstrip the right end only.</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Text read from files and forms often carries stray blanks that break comparisons.</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strip is trimming the white border off a photo print.</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Padded text</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four blanks each side</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strip()</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cuts both borders</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lstrip / rstrip</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cut one border</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Lengths</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20, 12, 16, 16</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strip(chars) removes a set, not a word.</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72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Removing whitespace</a:t>
            </a:r>
          </a:p>
        </p:txBody>
      </p:sp>
      <p:sp>
        <p:nvSpPr>
          <p:cNvPr id="4" name="code"/>
          <p:cNvSpPr/>
          <p:nvPr/>
        </p:nvSpPr>
        <p:spPr>
          <a:xfrm>
            <a:off x="365760" y="841248"/>
            <a:ext cx="5376672" cy="1899412"/>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E6EDF3"/>
                </a:solidFill>
                <a:latin typeface="Courier New"/>
              </a:rPr>
              <a:t>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    Hello, World    '</a:t>
            </a:r>
          </a:p>
          <a:p>
            <a:pPr algn="l"/>
            <a:r>
              <a:rPr sz="1050" b="0" i="0">
                <a:solidFill>
                  <a:srgbClr val="8FA3B8"/>
                </a:solidFill>
                <a:latin typeface="Courier New"/>
              </a:rPr>
              <a:t># the lengths show what each call cut</a:t>
            </a:r>
          </a:p>
          <a:p>
            <a:pPr algn="l"/>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len</a:t>
            </a:r>
            <a:r>
              <a:rPr sz="1050" b="0" i="0">
                <a:solidFill>
                  <a:srgbClr val="E6EDF3"/>
                </a:solidFill>
                <a:latin typeface="Courier New"/>
              </a:rPr>
              <a:t>(</a:t>
            </a:r>
            <a:r>
              <a:rPr sz="1050" b="0" i="0">
                <a:solidFill>
                  <a:srgbClr val="E6EDF3"/>
                </a:solidFill>
                <a:latin typeface="Courier New"/>
              </a:rPr>
              <a:t>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len</a:t>
            </a:r>
            <a:r>
              <a:rPr sz="1050" b="0" i="0">
                <a:solidFill>
                  <a:srgbClr val="E6EDF3"/>
                </a:solidFill>
                <a:latin typeface="Courier New"/>
              </a:rPr>
              <a:t>(</a:t>
            </a:r>
            <a:r>
              <a:rPr sz="1050" b="0" i="0">
                <a:solidFill>
                  <a:srgbClr val="E6EDF3"/>
                </a:solidFill>
                <a:latin typeface="Courier New"/>
              </a:rPr>
              <a:t>s</a:t>
            </a:r>
            <a:r>
              <a:rPr sz="1050" b="0" i="0">
                <a:solidFill>
                  <a:srgbClr val="E6EDF3"/>
                </a:solidFill>
                <a:latin typeface="Courier New"/>
              </a:rPr>
              <a:t>.</a:t>
            </a:r>
            <a:r>
              <a:rPr sz="1050" b="0" i="0">
                <a:solidFill>
                  <a:srgbClr val="E6EDF3"/>
                </a:solidFill>
                <a:latin typeface="Courier New"/>
              </a:rPr>
              <a:t>strip</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len</a:t>
            </a:r>
            <a:r>
              <a:rPr sz="1050" b="0" i="0">
                <a:solidFill>
                  <a:srgbClr val="E6EDF3"/>
                </a:solidFill>
                <a:latin typeface="Courier New"/>
              </a:rPr>
              <a:t>(</a:t>
            </a:r>
            <a:r>
              <a:rPr sz="1050" b="0" i="0">
                <a:solidFill>
                  <a:srgbClr val="E6EDF3"/>
                </a:solidFill>
                <a:latin typeface="Courier New"/>
              </a:rPr>
              <a:t>s</a:t>
            </a:r>
            <a:r>
              <a:rPr sz="1050" b="0" i="0">
                <a:solidFill>
                  <a:srgbClr val="E6EDF3"/>
                </a:solidFill>
                <a:latin typeface="Courier New"/>
              </a:rPr>
              <a:t>.</a:t>
            </a:r>
            <a:r>
              <a:rPr sz="1050" b="0" i="0">
                <a:solidFill>
                  <a:srgbClr val="E6EDF3"/>
                </a:solidFill>
                <a:latin typeface="Courier New"/>
              </a:rPr>
              <a:t>lstrip</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len</a:t>
            </a:r>
            <a:r>
              <a:rPr sz="1050" b="0" i="0">
                <a:solidFill>
                  <a:srgbClr val="E6EDF3"/>
                </a:solidFill>
                <a:latin typeface="Courier New"/>
              </a:rPr>
              <a:t>(</a:t>
            </a:r>
            <a:r>
              <a:rPr sz="1050" b="0" i="0">
                <a:solidFill>
                  <a:srgbClr val="E6EDF3"/>
                </a:solidFill>
                <a:latin typeface="Courier New"/>
              </a:rPr>
              <a:t>s</a:t>
            </a:r>
            <a:r>
              <a:rPr sz="1050" b="0" i="0">
                <a:solidFill>
                  <a:srgbClr val="E6EDF3"/>
                </a:solidFill>
                <a:latin typeface="Courier New"/>
              </a:rPr>
              <a:t>.</a:t>
            </a:r>
            <a:r>
              <a:rPr sz="1050" b="0" i="0">
                <a:solidFill>
                  <a:srgbClr val="E6EDF3"/>
                </a:solidFill>
                <a:latin typeface="Courier New"/>
              </a:rPr>
              <a:t>rstrip</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 with an argument: any of those characters, not a word</a:t>
            </a:r>
          </a:p>
          <a:p>
            <a:pPr algn="l"/>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'SpamSpamBaconSpamEggsSpamSpam'</a:t>
            </a:r>
            <a:r>
              <a:rPr sz="1050" b="0" i="0">
                <a:solidFill>
                  <a:srgbClr val="E6EDF3"/>
                </a:solidFill>
                <a:latin typeface="Courier New"/>
              </a:rPr>
              <a:t>.</a:t>
            </a:r>
            <a:r>
              <a:rPr sz="1050" b="0" i="0">
                <a:solidFill>
                  <a:srgbClr val="E6EDF3"/>
                </a:solidFill>
                <a:latin typeface="Courier New"/>
              </a:rPr>
              <a:t>strip</a:t>
            </a:r>
            <a:r>
              <a:rPr sz="1050" b="0" i="0">
                <a:solidFill>
                  <a:srgbClr val="E6EDF3"/>
                </a:solidFill>
                <a:latin typeface="Courier New"/>
              </a:rPr>
              <a:t>(</a:t>
            </a:r>
            <a:r>
              <a:rPr sz="1050" b="0" i="0">
                <a:solidFill>
                  <a:srgbClr val="9BE3A8"/>
                </a:solidFill>
                <a:latin typeface="Courier New"/>
              </a:rPr>
              <a:t>'ampS'</a:t>
            </a:r>
            <a:r>
              <a:rPr sz="1050" b="0" i="0">
                <a:solidFill>
                  <a:srgbClr val="E6EDF3"/>
                </a:solidFill>
                <a:latin typeface="Courier New"/>
              </a:rPr>
              <a:t>)</a:t>
            </a:r>
            <a:r>
              <a:rPr sz="1050" b="0" i="0">
                <a:solidFill>
                  <a:srgbClr val="E6EDF3"/>
                </a:solidFill>
                <a:latin typeface="Courier New"/>
              </a:rPr>
              <a:t>)</a:t>
            </a:r>
          </a:p>
        </p:txBody>
      </p:sp>
      <p:sp>
        <p:nvSpPr>
          <p:cNvPr id="5" name="note card"/>
          <p:cNvSpPr/>
          <p:nvPr/>
        </p:nvSpPr>
        <p:spPr>
          <a:xfrm>
            <a:off x="5852160" y="841248"/>
            <a:ext cx="2926079" cy="91313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897880" y="841248"/>
            <a:ext cx="2834639" cy="913130"/>
          </a:xfrm>
          <a:prstGeom prst="rect">
            <a:avLst/>
          </a:prstGeom>
          <a:noFill/>
        </p:spPr>
        <p:txBody>
          <a:bodyPr wrap="square" lIns="45720" rIns="45720" tIns="27432" bIns="27432" anchor="ctr">
            <a:spAutoFit/>
          </a:bodyPr>
          <a:lstStyle/>
          <a:p>
            <a:r>
              <a:rPr sz="1150" b="0" i="0">
                <a:solidFill>
                  <a:srgbClr val="1F2933"/>
                </a:solidFill>
                <a:latin typeface="Calibri"/>
              </a:rPr>
              <a:t>strip removes blanks at both ends, lstrip on the left only, rstrip on the right only. The lengths show what was cut.</a:t>
            </a:r>
          </a:p>
        </p:txBody>
      </p:sp>
      <p:sp>
        <p:nvSpPr>
          <p:cNvPr id="7" name="note card"/>
          <p:cNvSpPr/>
          <p:nvPr/>
        </p:nvSpPr>
        <p:spPr>
          <a:xfrm>
            <a:off x="5852160" y="1827530"/>
            <a:ext cx="2926079" cy="91313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897880" y="1827530"/>
            <a:ext cx="2834639" cy="913130"/>
          </a:xfrm>
          <a:prstGeom prst="rect">
            <a:avLst/>
          </a:prstGeom>
          <a:noFill/>
        </p:spPr>
        <p:txBody>
          <a:bodyPr wrap="square" lIns="45720" rIns="45720" tIns="27432" bIns="27432" anchor="ctr">
            <a:spAutoFit/>
          </a:bodyPr>
          <a:lstStyle/>
          <a:p>
            <a:r>
              <a:rPr sz="1150" b="0" i="0">
                <a:solidFill>
                  <a:srgbClr val="1F2933"/>
                </a:solidFill>
                <a:latin typeface="Calibri"/>
              </a:rPr>
              <a:t>Given an argument, strip removes any of those characters, in any order, from both ends. It is a set, not a word.</a:t>
            </a:r>
          </a:p>
        </p:txBody>
      </p:sp>
      <p:sp>
        <p:nvSpPr>
          <p:cNvPr id="9" name="result label"/>
          <p:cNvSpPr txBox="1"/>
          <p:nvPr/>
        </p:nvSpPr>
        <p:spPr>
          <a:xfrm>
            <a:off x="365760" y="281381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0" name="chart"/>
          <p:cNvGraphicFramePr>
            <a:graphicFrameLocks noGrp="1"/>
          </p:cNvGraphicFramePr>
          <p:nvPr/>
        </p:nvGraphicFramePr>
        <p:xfrm>
          <a:off x="365760" y="3088132"/>
          <a:ext cx="5047488" cy="1520444"/>
        </p:xfrm>
        <a:graphic>
          <a:graphicData uri="http://schemas.openxmlformats.org/drawingml/2006/chart">
            <c:chart xmlns:c="http://schemas.openxmlformats.org/drawingml/2006/chart" r:id="rId3"/>
          </a:graphicData>
        </a:graphic>
      </p:graphicFrame>
      <p:graphicFrame>
        <p:nvGraphicFramePr>
          <p:cNvPr id="11" name="table"/>
          <p:cNvGraphicFramePr>
            <a:graphicFrameLocks noGrp="1"/>
          </p:cNvGraphicFramePr>
          <p:nvPr/>
        </p:nvGraphicFramePr>
        <p:xfrm>
          <a:off x="5665622" y="3271012"/>
          <a:ext cx="3112616" cy="1097280"/>
        </p:xfrm>
        <a:graphic>
          <a:graphicData uri="http://schemas.openxmlformats.org/drawingml/2006/table">
            <a:tbl>
              <a:tblPr firstRow="0" bandRow="0"/>
              <a:tblGrid>
                <a:gridCol w="1281666"/>
                <a:gridCol w="915475"/>
                <a:gridCol w="915475"/>
              </a:tblGrid>
              <a:tr h="274320">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Left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lstrip()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kept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rstrip()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kept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strip(chars) removes a set, not a word.</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72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Finding, counting and replacing</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find gives the index of the first match, or -1. count tallies the matches. replace returns a copy with the matches changed.</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Searching inside text is the first step of almost every text task.</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find is the finger that follows a line of text until it lands on the word.</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Search text</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spam eggs spam</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find</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index of the first match</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count</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how many matches</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replace</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 new string, the old one stays</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find says where, count says how many.</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72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Finding, counting and replacing</a:t>
            </a:r>
          </a:p>
        </p:txBody>
      </p:sp>
      <p:sp>
        <p:nvSpPr>
          <p:cNvPr id="4" name="code"/>
          <p:cNvSpPr/>
          <p:nvPr/>
        </p:nvSpPr>
        <p:spPr>
          <a:xfrm>
            <a:off x="365760" y="841248"/>
            <a:ext cx="5338572" cy="1772412"/>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E6EDF3"/>
                </a:solidFill>
                <a:latin typeface="Courier New"/>
              </a:rPr>
              <a:t>s</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'spam eggs spam'</a:t>
            </a:r>
          </a:p>
          <a:p>
            <a:pPr algn="l"/>
            <a:r>
              <a:rPr sz="1150" b="0" i="0">
                <a:solidFill>
                  <a:srgbClr val="8FA3B8"/>
                </a:solidFill>
                <a:latin typeface="Courier New"/>
              </a:rPr>
              <a:t># index of the first match, or -1; then count them</a:t>
            </a:r>
          </a:p>
          <a:p>
            <a:pPr algn="l"/>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s</a:t>
            </a:r>
            <a:r>
              <a:rPr sz="1150" b="0" i="0">
                <a:solidFill>
                  <a:srgbClr val="E6EDF3"/>
                </a:solidFill>
                <a:latin typeface="Courier New"/>
              </a:rPr>
              <a:t>.</a:t>
            </a:r>
            <a:r>
              <a:rPr sz="1150" b="0" i="0">
                <a:solidFill>
                  <a:srgbClr val="E6EDF3"/>
                </a:solidFill>
                <a:latin typeface="Courier New"/>
              </a:rPr>
              <a:t>find</a:t>
            </a:r>
            <a:r>
              <a:rPr sz="1150" b="0" i="0">
                <a:solidFill>
                  <a:srgbClr val="E6EDF3"/>
                </a:solidFill>
                <a:latin typeface="Courier New"/>
              </a:rPr>
              <a:t>(</a:t>
            </a:r>
            <a:r>
              <a:rPr sz="1150" b="0" i="0">
                <a:solidFill>
                  <a:srgbClr val="9BE3A8"/>
                </a:solidFill>
                <a:latin typeface="Courier New"/>
              </a:rPr>
              <a:t>'spam'</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s</a:t>
            </a:r>
            <a:r>
              <a:rPr sz="1150" b="0" i="0">
                <a:solidFill>
                  <a:srgbClr val="E6EDF3"/>
                </a:solidFill>
                <a:latin typeface="Courier New"/>
              </a:rPr>
              <a:t>.</a:t>
            </a:r>
            <a:r>
              <a:rPr sz="1150" b="0" i="0">
                <a:solidFill>
                  <a:srgbClr val="E6EDF3"/>
                </a:solidFill>
                <a:latin typeface="Courier New"/>
              </a:rPr>
              <a:t>find</a:t>
            </a:r>
            <a:r>
              <a:rPr sz="1150" b="0" i="0">
                <a:solidFill>
                  <a:srgbClr val="E6EDF3"/>
                </a:solidFill>
                <a:latin typeface="Courier New"/>
              </a:rPr>
              <a:t>(</a:t>
            </a:r>
            <a:r>
              <a:rPr sz="1150" b="0" i="0">
                <a:solidFill>
                  <a:srgbClr val="9BE3A8"/>
                </a:solidFill>
                <a:latin typeface="Courier New"/>
              </a:rPr>
              <a:t>'spam'</a:t>
            </a:r>
            <a:r>
              <a:rPr sz="1150" b="0" i="0">
                <a:solidFill>
                  <a:srgbClr val="E6EDF3"/>
                </a:solidFill>
                <a:latin typeface="Courier New"/>
              </a:rPr>
              <a:t>,</a:t>
            </a:r>
            <a:r>
              <a:rPr sz="1150" b="0" i="0">
                <a:solidFill>
                  <a:srgbClr val="E6EDF3"/>
                </a:solidFill>
                <a:latin typeface="Courier New"/>
              </a:rPr>
              <a:t> </a:t>
            </a:r>
            <a:r>
              <a:rPr sz="1150" b="0" i="0">
                <a:solidFill>
                  <a:srgbClr val="7CC4FF"/>
                </a:solidFill>
                <a:latin typeface="Courier New"/>
              </a:rPr>
              <a:t>1</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s</a:t>
            </a:r>
            <a:r>
              <a:rPr sz="1150" b="0" i="0">
                <a:solidFill>
                  <a:srgbClr val="E6EDF3"/>
                </a:solidFill>
                <a:latin typeface="Courier New"/>
              </a:rPr>
              <a:t>.</a:t>
            </a:r>
            <a:r>
              <a:rPr sz="1150" b="0" i="0">
                <a:solidFill>
                  <a:srgbClr val="E6EDF3"/>
                </a:solidFill>
                <a:latin typeface="Courier New"/>
              </a:rPr>
              <a:t>count</a:t>
            </a:r>
            <a:r>
              <a:rPr sz="1150" b="0" i="0">
                <a:solidFill>
                  <a:srgbClr val="E6EDF3"/>
                </a:solidFill>
                <a:latin typeface="Courier New"/>
              </a:rPr>
              <a:t>(</a:t>
            </a:r>
            <a:r>
              <a:rPr sz="1150" b="0" i="0">
                <a:solidFill>
                  <a:srgbClr val="9BE3A8"/>
                </a:solidFill>
                <a:latin typeface="Courier New"/>
              </a:rPr>
              <a:t>'spam'</a:t>
            </a:r>
            <a:r>
              <a:rPr sz="1150" b="0" i="0">
                <a:solidFill>
                  <a:srgbClr val="E6EDF3"/>
                </a:solidFill>
                <a:latin typeface="Courier New"/>
              </a:rPr>
              <a:t>)</a:t>
            </a:r>
            <a:r>
              <a:rPr sz="1150" b="0" i="0">
                <a:solidFill>
                  <a:srgbClr val="E6EDF3"/>
                </a:solidFill>
                <a:latin typeface="Courier New"/>
              </a:rPr>
              <a:t>)</a:t>
            </a:r>
          </a:p>
          <a:p>
            <a:pPr algn="l"/>
            <a:r>
              <a:rPr sz="1150" b="0" i="0">
                <a:solidFill>
                  <a:srgbClr val="8FA3B8"/>
                </a:solidFill>
                <a:latin typeface="Courier New"/>
              </a:rPr>
              <a:t># replace returns a new string; the last number limits it</a:t>
            </a:r>
          </a:p>
          <a:p>
            <a:pPr algn="l"/>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s</a:t>
            </a:r>
            <a:r>
              <a:rPr sz="1150" b="0" i="0">
                <a:solidFill>
                  <a:srgbClr val="E6EDF3"/>
                </a:solidFill>
                <a:latin typeface="Courier New"/>
              </a:rPr>
              <a:t>.</a:t>
            </a:r>
            <a:r>
              <a:rPr sz="1150" b="0" i="0">
                <a:solidFill>
                  <a:srgbClr val="E6EDF3"/>
                </a:solidFill>
                <a:latin typeface="Courier New"/>
              </a:rPr>
              <a:t>replace</a:t>
            </a:r>
            <a:r>
              <a:rPr sz="1150" b="0" i="0">
                <a:solidFill>
                  <a:srgbClr val="E6EDF3"/>
                </a:solidFill>
                <a:latin typeface="Courier New"/>
              </a:rPr>
              <a:t>(</a:t>
            </a:r>
            <a:r>
              <a:rPr sz="1150" b="0" i="0">
                <a:solidFill>
                  <a:srgbClr val="9BE3A8"/>
                </a:solidFill>
                <a:latin typeface="Courier New"/>
              </a:rPr>
              <a:t>'spam'</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'ham'</a:t>
            </a:r>
            <a:r>
              <a:rPr sz="1150" b="0" i="0">
                <a:solidFill>
                  <a:srgbClr val="E6EDF3"/>
                </a:solidFill>
                <a:latin typeface="Courier New"/>
              </a:rPr>
              <a:t>,</a:t>
            </a:r>
            <a:r>
              <a:rPr sz="1150" b="0" i="0">
                <a:solidFill>
                  <a:srgbClr val="E6EDF3"/>
                </a:solidFill>
                <a:latin typeface="Courier New"/>
              </a:rPr>
              <a:t> </a:t>
            </a:r>
            <a:r>
              <a:rPr sz="1150" b="0" i="0">
                <a:solidFill>
                  <a:srgbClr val="7CC4FF"/>
                </a:solidFill>
                <a:latin typeface="Courier New"/>
              </a:rPr>
              <a:t>1</a:t>
            </a:r>
            <a:r>
              <a:rPr sz="1150" b="0" i="0">
                <a:solidFill>
                  <a:srgbClr val="E6EDF3"/>
                </a:solidFill>
                <a:latin typeface="Courier New"/>
              </a:rPr>
              <a:t>)</a:t>
            </a:r>
            <a:r>
              <a:rPr sz="1150" b="0" i="0">
                <a:solidFill>
                  <a:srgbClr val="E6EDF3"/>
                </a:solidFill>
                <a:latin typeface="Courier New"/>
              </a:rPr>
              <a:t>)</a:t>
            </a:r>
          </a:p>
        </p:txBody>
      </p:sp>
      <p:sp>
        <p:nvSpPr>
          <p:cNvPr id="5" name="note card"/>
          <p:cNvSpPr/>
          <p:nvPr/>
        </p:nvSpPr>
        <p:spPr>
          <a:xfrm>
            <a:off x="5814060" y="841248"/>
            <a:ext cx="2964179" cy="9448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859780" y="841248"/>
            <a:ext cx="2872739" cy="944880"/>
          </a:xfrm>
          <a:prstGeom prst="rect">
            <a:avLst/>
          </a:prstGeom>
          <a:noFill/>
        </p:spPr>
        <p:txBody>
          <a:bodyPr wrap="square" lIns="45720" rIns="45720" tIns="27432" bIns="27432" anchor="ctr">
            <a:spAutoFit/>
          </a:bodyPr>
          <a:lstStyle/>
          <a:p>
            <a:r>
              <a:rPr sz="1200" b="0" i="0">
                <a:solidFill>
                  <a:srgbClr val="1F2933"/>
                </a:solidFill>
                <a:latin typeface="Calibri"/>
              </a:rPr>
              <a:t>find gives the index of the first match, or -1. A start argument skips ahead. count tallies the matches.</a:t>
            </a:r>
          </a:p>
        </p:txBody>
      </p:sp>
      <p:sp>
        <p:nvSpPr>
          <p:cNvPr id="7" name="note card"/>
          <p:cNvSpPr/>
          <p:nvPr/>
        </p:nvSpPr>
        <p:spPr>
          <a:xfrm>
            <a:off x="5814060" y="1859280"/>
            <a:ext cx="2964179" cy="7543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859780" y="1859280"/>
            <a:ext cx="2872739" cy="754380"/>
          </a:xfrm>
          <a:prstGeom prst="rect">
            <a:avLst/>
          </a:prstGeom>
          <a:noFill/>
        </p:spPr>
        <p:txBody>
          <a:bodyPr wrap="square" lIns="45720" rIns="45720" tIns="27432" bIns="27432" anchor="ctr">
            <a:spAutoFit/>
          </a:bodyPr>
          <a:lstStyle/>
          <a:p>
            <a:r>
              <a:rPr sz="1200" b="0" i="0">
                <a:solidFill>
                  <a:srgbClr val="1F2933"/>
                </a:solidFill>
                <a:latin typeface="Calibri"/>
              </a:rPr>
              <a:t>replace returns a new string. The last argument limits how many matches change.</a:t>
            </a:r>
          </a:p>
        </p:txBody>
      </p:sp>
      <p:sp>
        <p:nvSpPr>
          <p:cNvPr id="9" name="result label"/>
          <p:cNvSpPr txBox="1"/>
          <p:nvPr/>
        </p:nvSpPr>
        <p:spPr>
          <a:xfrm>
            <a:off x="365760" y="268681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Rounded Rectangle 9"/>
          <p:cNvSpPr/>
          <p:nvPr/>
        </p:nvSpPr>
        <p:spPr>
          <a:xfrm>
            <a:off x="731519" y="2961132"/>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s</a:t>
            </a:r>
          </a:p>
        </p:txBody>
      </p:sp>
      <p:sp>
        <p:nvSpPr>
          <p:cNvPr id="11" name="TextBox 10"/>
          <p:cNvSpPr txBox="1"/>
          <p:nvPr/>
        </p:nvSpPr>
        <p:spPr>
          <a:xfrm>
            <a:off x="731519"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0</a:t>
            </a:r>
          </a:p>
        </p:txBody>
      </p:sp>
      <p:sp>
        <p:nvSpPr>
          <p:cNvPr id="12" name="Rounded Rectangle 11"/>
          <p:cNvSpPr/>
          <p:nvPr/>
        </p:nvSpPr>
        <p:spPr>
          <a:xfrm>
            <a:off x="1280159" y="2961132"/>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p</a:t>
            </a:r>
          </a:p>
        </p:txBody>
      </p:sp>
      <p:sp>
        <p:nvSpPr>
          <p:cNvPr id="13" name="TextBox 12"/>
          <p:cNvSpPr txBox="1"/>
          <p:nvPr/>
        </p:nvSpPr>
        <p:spPr>
          <a:xfrm>
            <a:off x="1280159"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1</a:t>
            </a:r>
          </a:p>
        </p:txBody>
      </p:sp>
      <p:sp>
        <p:nvSpPr>
          <p:cNvPr id="14" name="Rounded Rectangle 13"/>
          <p:cNvSpPr/>
          <p:nvPr/>
        </p:nvSpPr>
        <p:spPr>
          <a:xfrm>
            <a:off x="1828799" y="2961132"/>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a</a:t>
            </a:r>
          </a:p>
        </p:txBody>
      </p:sp>
      <p:sp>
        <p:nvSpPr>
          <p:cNvPr id="15" name="TextBox 14"/>
          <p:cNvSpPr txBox="1"/>
          <p:nvPr/>
        </p:nvSpPr>
        <p:spPr>
          <a:xfrm>
            <a:off x="1828799"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2</a:t>
            </a:r>
          </a:p>
        </p:txBody>
      </p:sp>
      <p:sp>
        <p:nvSpPr>
          <p:cNvPr id="16" name="Rounded Rectangle 15"/>
          <p:cNvSpPr/>
          <p:nvPr/>
        </p:nvSpPr>
        <p:spPr>
          <a:xfrm>
            <a:off x="2377439" y="2961132"/>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m</a:t>
            </a:r>
          </a:p>
        </p:txBody>
      </p:sp>
      <p:sp>
        <p:nvSpPr>
          <p:cNvPr id="17" name="TextBox 16"/>
          <p:cNvSpPr txBox="1"/>
          <p:nvPr/>
        </p:nvSpPr>
        <p:spPr>
          <a:xfrm>
            <a:off x="2377439"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3</a:t>
            </a:r>
          </a:p>
        </p:txBody>
      </p:sp>
      <p:sp>
        <p:nvSpPr>
          <p:cNvPr id="18" name="Rounded Rectangle 17"/>
          <p:cNvSpPr/>
          <p:nvPr/>
        </p:nvSpPr>
        <p:spPr>
          <a:xfrm>
            <a:off x="2926079" y="2961132"/>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a:t>
            </a:r>
          </a:p>
        </p:txBody>
      </p:sp>
      <p:sp>
        <p:nvSpPr>
          <p:cNvPr id="19" name="TextBox 18"/>
          <p:cNvSpPr txBox="1"/>
          <p:nvPr/>
        </p:nvSpPr>
        <p:spPr>
          <a:xfrm>
            <a:off x="2926079"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4</a:t>
            </a:r>
          </a:p>
        </p:txBody>
      </p:sp>
      <p:sp>
        <p:nvSpPr>
          <p:cNvPr id="20" name="Rounded Rectangle 19"/>
          <p:cNvSpPr/>
          <p:nvPr/>
        </p:nvSpPr>
        <p:spPr>
          <a:xfrm>
            <a:off x="3474719" y="2961132"/>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e</a:t>
            </a:r>
          </a:p>
        </p:txBody>
      </p:sp>
      <p:sp>
        <p:nvSpPr>
          <p:cNvPr id="21" name="TextBox 20"/>
          <p:cNvSpPr txBox="1"/>
          <p:nvPr/>
        </p:nvSpPr>
        <p:spPr>
          <a:xfrm>
            <a:off x="3474719"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5</a:t>
            </a:r>
          </a:p>
        </p:txBody>
      </p:sp>
      <p:sp>
        <p:nvSpPr>
          <p:cNvPr id="22" name="Rounded Rectangle 21"/>
          <p:cNvSpPr/>
          <p:nvPr/>
        </p:nvSpPr>
        <p:spPr>
          <a:xfrm>
            <a:off x="4023359" y="2961132"/>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g</a:t>
            </a:r>
          </a:p>
        </p:txBody>
      </p:sp>
      <p:sp>
        <p:nvSpPr>
          <p:cNvPr id="23" name="TextBox 22"/>
          <p:cNvSpPr txBox="1"/>
          <p:nvPr/>
        </p:nvSpPr>
        <p:spPr>
          <a:xfrm>
            <a:off x="4023359"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6</a:t>
            </a:r>
          </a:p>
        </p:txBody>
      </p:sp>
      <p:sp>
        <p:nvSpPr>
          <p:cNvPr id="24" name="Rounded Rectangle 23"/>
          <p:cNvSpPr/>
          <p:nvPr/>
        </p:nvSpPr>
        <p:spPr>
          <a:xfrm>
            <a:off x="4572000" y="2961132"/>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g</a:t>
            </a:r>
          </a:p>
        </p:txBody>
      </p:sp>
      <p:sp>
        <p:nvSpPr>
          <p:cNvPr id="25" name="TextBox 24"/>
          <p:cNvSpPr txBox="1"/>
          <p:nvPr/>
        </p:nvSpPr>
        <p:spPr>
          <a:xfrm>
            <a:off x="4572000"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7</a:t>
            </a:r>
          </a:p>
        </p:txBody>
      </p:sp>
      <p:sp>
        <p:nvSpPr>
          <p:cNvPr id="26" name="Rounded Rectangle 25"/>
          <p:cNvSpPr/>
          <p:nvPr/>
        </p:nvSpPr>
        <p:spPr>
          <a:xfrm>
            <a:off x="5120640" y="2961132"/>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s</a:t>
            </a:r>
          </a:p>
        </p:txBody>
      </p:sp>
      <p:sp>
        <p:nvSpPr>
          <p:cNvPr id="27" name="TextBox 26"/>
          <p:cNvSpPr txBox="1"/>
          <p:nvPr/>
        </p:nvSpPr>
        <p:spPr>
          <a:xfrm>
            <a:off x="5120640"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8</a:t>
            </a:r>
          </a:p>
        </p:txBody>
      </p:sp>
      <p:sp>
        <p:nvSpPr>
          <p:cNvPr id="28" name="Rounded Rectangle 27"/>
          <p:cNvSpPr/>
          <p:nvPr/>
        </p:nvSpPr>
        <p:spPr>
          <a:xfrm>
            <a:off x="5669279" y="2961132"/>
            <a:ext cx="521207"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a:t>
            </a:r>
          </a:p>
        </p:txBody>
      </p:sp>
      <p:sp>
        <p:nvSpPr>
          <p:cNvPr id="29" name="TextBox 28"/>
          <p:cNvSpPr txBox="1"/>
          <p:nvPr/>
        </p:nvSpPr>
        <p:spPr>
          <a:xfrm>
            <a:off x="5669279"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9</a:t>
            </a:r>
          </a:p>
        </p:txBody>
      </p:sp>
      <p:sp>
        <p:nvSpPr>
          <p:cNvPr id="30" name="Rounded Rectangle 29"/>
          <p:cNvSpPr/>
          <p:nvPr/>
        </p:nvSpPr>
        <p:spPr>
          <a:xfrm>
            <a:off x="6217920" y="2961132"/>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s</a:t>
            </a:r>
          </a:p>
        </p:txBody>
      </p:sp>
      <p:sp>
        <p:nvSpPr>
          <p:cNvPr id="31" name="TextBox 30"/>
          <p:cNvSpPr txBox="1"/>
          <p:nvPr/>
        </p:nvSpPr>
        <p:spPr>
          <a:xfrm>
            <a:off x="6217920"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10</a:t>
            </a:r>
          </a:p>
        </p:txBody>
      </p:sp>
      <p:sp>
        <p:nvSpPr>
          <p:cNvPr id="32" name="Rounded Rectangle 31"/>
          <p:cNvSpPr/>
          <p:nvPr/>
        </p:nvSpPr>
        <p:spPr>
          <a:xfrm>
            <a:off x="6766559" y="2961132"/>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p</a:t>
            </a:r>
          </a:p>
        </p:txBody>
      </p:sp>
      <p:sp>
        <p:nvSpPr>
          <p:cNvPr id="33" name="TextBox 32"/>
          <p:cNvSpPr txBox="1"/>
          <p:nvPr/>
        </p:nvSpPr>
        <p:spPr>
          <a:xfrm>
            <a:off x="6766559"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11</a:t>
            </a:r>
          </a:p>
        </p:txBody>
      </p:sp>
      <p:sp>
        <p:nvSpPr>
          <p:cNvPr id="34" name="Rounded Rectangle 33"/>
          <p:cNvSpPr/>
          <p:nvPr/>
        </p:nvSpPr>
        <p:spPr>
          <a:xfrm>
            <a:off x="7315199" y="2961132"/>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a</a:t>
            </a:r>
          </a:p>
        </p:txBody>
      </p:sp>
      <p:sp>
        <p:nvSpPr>
          <p:cNvPr id="35" name="TextBox 34"/>
          <p:cNvSpPr txBox="1"/>
          <p:nvPr/>
        </p:nvSpPr>
        <p:spPr>
          <a:xfrm>
            <a:off x="7315199"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12</a:t>
            </a:r>
          </a:p>
        </p:txBody>
      </p:sp>
      <p:sp>
        <p:nvSpPr>
          <p:cNvPr id="36" name="Rounded Rectangle 35"/>
          <p:cNvSpPr/>
          <p:nvPr/>
        </p:nvSpPr>
        <p:spPr>
          <a:xfrm>
            <a:off x="7863840" y="2961132"/>
            <a:ext cx="521207"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m</a:t>
            </a:r>
          </a:p>
        </p:txBody>
      </p:sp>
      <p:sp>
        <p:nvSpPr>
          <p:cNvPr id="37" name="TextBox 36"/>
          <p:cNvSpPr txBox="1"/>
          <p:nvPr/>
        </p:nvSpPr>
        <p:spPr>
          <a:xfrm>
            <a:off x="7863840" y="3326892"/>
            <a:ext cx="521207" cy="182880"/>
          </a:xfrm>
          <a:prstGeom prst="rect">
            <a:avLst/>
          </a:prstGeom>
          <a:noFill/>
        </p:spPr>
        <p:txBody>
          <a:bodyPr wrap="square" lIns="0" rIns="0" tIns="0" bIns="0" anchor="t">
            <a:spAutoFit/>
          </a:bodyPr>
          <a:lstStyle/>
          <a:p>
            <a:pPr algn="ctr"/>
            <a:r>
              <a:rPr sz="900" b="0" i="0">
                <a:solidFill>
                  <a:srgbClr val="5B6773"/>
                </a:solidFill>
                <a:latin typeface="Calibri"/>
              </a:rPr>
              <a:t>13</a:t>
            </a:r>
          </a:p>
        </p:txBody>
      </p:sp>
      <p:sp>
        <p:nvSpPr>
          <p:cNvPr id="38" name="Rounded Rectangle 37"/>
          <p:cNvSpPr/>
          <p:nvPr/>
        </p:nvSpPr>
        <p:spPr>
          <a:xfrm>
            <a:off x="731519" y="3674364"/>
            <a:ext cx="21031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find('spam') = 0</a:t>
            </a:r>
          </a:p>
        </p:txBody>
      </p:sp>
      <p:cxnSp>
        <p:nvCxnSpPr>
          <p:cNvPr id="39" name="arrow"/>
          <p:cNvCxnSpPr/>
          <p:nvPr/>
        </p:nvCxnSpPr>
        <p:spPr>
          <a:xfrm flipV="1">
            <a:off x="978407" y="3546348"/>
            <a:ext cx="0" cy="109728"/>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3017519" y="3674364"/>
            <a:ext cx="21031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count('spam') = 2</a:t>
            </a:r>
          </a:p>
        </p:txBody>
      </p:sp>
      <p:sp>
        <p:nvSpPr>
          <p:cNvPr id="41" name="Rounded Rectangle 40"/>
          <p:cNvSpPr/>
          <p:nvPr/>
        </p:nvSpPr>
        <p:spPr>
          <a:xfrm>
            <a:off x="5486400" y="3674364"/>
            <a:ext cx="246888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find('spam', 1) = 10</a:t>
            </a:r>
          </a:p>
        </p:txBody>
      </p:sp>
      <p:cxnSp>
        <p:nvCxnSpPr>
          <p:cNvPr id="42" name="arrow"/>
          <p:cNvCxnSpPr/>
          <p:nvPr/>
        </p:nvCxnSpPr>
        <p:spPr>
          <a:xfrm flipV="1">
            <a:off x="6464807" y="3546348"/>
            <a:ext cx="0" cy="109728"/>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731519" y="4058412"/>
            <a:ext cx="548640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replace('spam', 'ham', 1) -&gt; 'ham eggs spam'</a:t>
            </a:r>
          </a:p>
        </p:txBody>
      </p:sp>
      <p:sp>
        <p:nvSpPr>
          <p:cNvPr id="4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find says where, count says how many.</a:t>
            </a:r>
          </a:p>
        </p:txBody>
      </p:sp>
      <p:sp>
        <p:nvSpPr>
          <p:cNvPr id="4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47 / 72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Characters and bytes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Every character is a number, and bytes depend on the encoding</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Code point</a:t>
            </a:r>
          </a:p>
        </p:txBody>
      </p:sp>
      <p:sp>
        <p:nvSpPr>
          <p:cNvPr id="6" name="meaning"/>
          <p:cNvSpPr txBox="1"/>
          <p:nvPr/>
        </p:nvSpPr>
        <p:spPr>
          <a:xfrm>
            <a:off x="2606040" y="1417320"/>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The number Unicode gives to one character.</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ord and chr</a:t>
            </a:r>
          </a:p>
        </p:txBody>
      </p:sp>
      <p:sp>
        <p:nvSpPr>
          <p:cNvPr id="8" name="meaning"/>
          <p:cNvSpPr txBox="1"/>
          <p:nvPr/>
        </p:nvSpPr>
        <p:spPr>
          <a:xfrm>
            <a:off x="2606040" y="2075688"/>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Two functions that convert between character and number.</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Encoding</a:t>
            </a:r>
          </a:p>
        </p:txBody>
      </p:sp>
      <p:sp>
        <p:nvSpPr>
          <p:cNvPr id="10" name="meaning"/>
          <p:cNvSpPr txBox="1"/>
          <p:nvPr/>
        </p:nvSpPr>
        <p:spPr>
          <a:xfrm>
            <a:off x="2606040" y="2734056"/>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The rule that turns code points into bytes.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UTF-8</a:t>
            </a:r>
          </a:p>
        </p:txBody>
      </p:sp>
      <p:sp>
        <p:nvSpPr>
          <p:cNvPr id="12" name="meaning"/>
          <p:cNvSpPr txBox="1"/>
          <p:nvPr/>
        </p:nvSpPr>
        <p:spPr>
          <a:xfrm>
            <a:off x="2606040" y="3392424"/>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One to four bytes per character, ASCII unchanged.</a:t>
            </a:r>
          </a:p>
        </p:txBody>
      </p:sp>
      <p:graphicFrame>
        <p:nvGraphicFramePr>
          <p:cNvPr id="13" name="table"/>
          <p:cNvGraphicFramePr>
            <a:graphicFrameLocks noGrp="1"/>
          </p:cNvGraphicFramePr>
          <p:nvPr/>
        </p:nvGraphicFramePr>
        <p:xfrm>
          <a:off x="5760720" y="1417320"/>
          <a:ext cx="3017519" cy="2560320"/>
        </p:xfrm>
        <a:graphic>
          <a:graphicData uri="http://schemas.openxmlformats.org/drawingml/2006/table">
            <a:tbl>
              <a:tblPr firstRow="0" bandRow="0"/>
              <a:tblGrid>
                <a:gridCol w="484293"/>
                <a:gridCol w="2533226"/>
              </a:tblGrid>
              <a:tr h="365760">
                <a:tc>
                  <a:txBody>
                    <a:bodyPr wrap="square"/>
                    <a:lstStyle/>
                    <a:p>
                      <a:r>
                        <a:rPr sz="12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250" b="0" i="0">
                          <a:solidFill>
                            <a:srgbClr val="1F2933"/>
                          </a:solidFill>
                          <a:latin typeface="Calibri"/>
                        </a:rPr>
                        <a:t>49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Everyday pictures: characters and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Story: nine companies agree on one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52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Code points: ord() and chr()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53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Story: UTF-8 on a diner placemat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55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Characters are not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57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Re-running the book's rjust lines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48 / 72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characters and bytes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Every character has a locker number; the encoding decides how many boxes carry it.</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Numeric Code Points of Characters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locker room where every character has a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Unicode code point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catalogue number in one library shared by every language.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Looking up the number of a locker from the name on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chr()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Opening a locker by its number and taking out the character.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Encoding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shipping box: text must be packed into bytes to travel and unpacked to be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49 / 72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nine companies agree on one table</a:t>
            </a:r>
          </a:p>
        </p:txBody>
      </p:sp>
      <p:pic>
        <p:nvPicPr>
          <p:cNvPr id="4" name="photo unicode" descr="Picture for the story: nine companies agree on one table"/>
          <p:cNvPicPr>
            <a:picLocks noChangeAspect="1"/>
          </p:cNvPicPr>
          <p:nvPr/>
        </p:nvPicPr>
        <p:blipFill>
          <a:blip r:embed="rId3"/>
          <a:stretch>
            <a:fillRect/>
          </a:stretch>
        </p:blipFill>
        <p:spPr>
          <a:xfrm>
            <a:off x="365760" y="1005840"/>
            <a:ext cx="2651760" cy="265176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Unicode logo. Wikimedia Commons, CC BY-SA 4.0.</a:t>
            </a:r>
          </a:p>
        </p:txBody>
      </p:sp>
      <p:sp>
        <p:nvSpPr>
          <p:cNvPr id="6" name="card"/>
          <p:cNvSpPr/>
          <p:nvPr/>
        </p:nvSpPr>
        <p:spPr>
          <a:xfrm>
            <a:off x="3200400" y="868680"/>
            <a:ext cx="5577840" cy="115214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ory"/>
          <p:cNvSpPr txBox="1"/>
          <p:nvPr/>
        </p:nvSpPr>
        <p:spPr>
          <a:xfrm>
            <a:off x="3273552" y="868680"/>
            <a:ext cx="5440680" cy="1152144"/>
          </a:xfrm>
          <a:prstGeom prst="rect">
            <a:avLst/>
          </a:prstGeom>
          <a:noFill/>
        </p:spPr>
        <p:txBody>
          <a:bodyPr wrap="square" lIns="45720" rIns="45720" tIns="27432" bIns="27432" anchor="ctr">
            <a:spAutoFit/>
          </a:bodyPr>
          <a:lstStyle/>
          <a:p>
            <a:r>
              <a:rPr sz="1400" b="0" i="0">
                <a:solidFill>
                  <a:srgbClr val="1F2933"/>
                </a:solidFill>
                <a:latin typeface="Calibri"/>
              </a:rPr>
              <a:t>On 19 February 1991, a press release from Mountain View, California, announced Unicode Inc., backed by Apple, GO, IBM, Metaphor, Microsoft, NeXT, Novell, the Research Libraries Group and Sun.</a:t>
            </a:r>
          </a:p>
        </p:txBody>
      </p:sp>
      <p:sp>
        <p:nvSpPr>
          <p:cNvPr id="8" name="card"/>
          <p:cNvSpPr/>
          <p:nvPr/>
        </p:nvSpPr>
        <p:spPr>
          <a:xfrm>
            <a:off x="3200400" y="2112264"/>
            <a:ext cx="5577840" cy="90525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ory"/>
          <p:cNvSpPr txBox="1"/>
          <p:nvPr/>
        </p:nvSpPr>
        <p:spPr>
          <a:xfrm>
            <a:off x="3273552" y="2112264"/>
            <a:ext cx="5440680" cy="905256"/>
          </a:xfrm>
          <a:prstGeom prst="rect">
            <a:avLst/>
          </a:prstGeom>
          <a:noFill/>
        </p:spPr>
        <p:txBody>
          <a:bodyPr wrap="square" lIns="45720" rIns="45720" tIns="27432" bIns="27432" anchor="ctr">
            <a:spAutoFit/>
          </a:bodyPr>
          <a:lstStyle/>
          <a:p>
            <a:r>
              <a:rPr sz="1400" b="0" i="0">
                <a:solidFill>
                  <a:srgbClr val="1F2933"/>
                </a:solidFill>
                <a:latin typeface="Calibri"/>
              </a:rPr>
              <a:t>They agreed to keep one table that gives every character its number, so that any program can agree on what a number means.</a:t>
            </a:r>
          </a:p>
        </p:txBody>
      </p:sp>
      <p:sp>
        <p:nvSpPr>
          <p:cNvPr id="10" name="card"/>
          <p:cNvSpPr/>
          <p:nvPr/>
        </p:nvSpPr>
        <p:spPr>
          <a:xfrm>
            <a:off x="3200400" y="3108960"/>
            <a:ext cx="5577840" cy="65836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ory"/>
          <p:cNvSpPr txBox="1"/>
          <p:nvPr/>
        </p:nvSpPr>
        <p:spPr>
          <a:xfrm>
            <a:off x="3273552" y="3108960"/>
            <a:ext cx="5440680" cy="658368"/>
          </a:xfrm>
          <a:prstGeom prst="rect">
            <a:avLst/>
          </a:prstGeom>
          <a:noFill/>
        </p:spPr>
        <p:txBody>
          <a:bodyPr wrap="square" lIns="45720" rIns="45720" tIns="27432" bIns="27432" anchor="ctr">
            <a:spAutoFit/>
          </a:bodyPr>
          <a:lstStyle/>
          <a:p>
            <a:r>
              <a:rPr sz="1400" b="0" i="0">
                <a:solidFill>
                  <a:srgbClr val="1F2933"/>
                </a:solidFill>
                <a:latin typeface="Calibri"/>
              </a:rPr>
              <a:t>That is why ord('A') is 65 and chr(8364) is the euro sign: Python reads the same table.</a:t>
            </a:r>
          </a:p>
        </p:txBody>
      </p:sp>
      <p:sp>
        <p:nvSpPr>
          <p:cNvPr id="12" name="link"/>
          <p:cNvSpPr txBox="1"/>
          <p:nvPr/>
        </p:nvSpPr>
        <p:spPr>
          <a:xfrm>
            <a:off x="3200400" y="3877056"/>
            <a:ext cx="5577840" cy="329184"/>
          </a:xfrm>
          <a:prstGeom prst="rect">
            <a:avLst/>
          </a:prstGeom>
          <a:noFill/>
        </p:spPr>
        <p:txBody>
          <a:bodyPr wrap="square" lIns="45720" rIns="45720" tIns="27432" bIns="27432" anchor="t">
            <a:spAutoFit/>
          </a:bodyPr>
          <a:lstStyle/>
          <a:p>
            <a:r>
              <a:rPr sz="1300" b="1" i="0">
                <a:solidFill>
                  <a:srgbClr val="0E7C86"/>
                </a:solidFill>
                <a:latin typeface="Calibri"/>
                <a:hlinkClick r:id="rId4"/>
              </a:rPr>
              <a:t>Read the 1991 press release (unicode.org)</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50 / 72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Code points: ord() and chr()</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Every character has a number, its Unicode code point. ord turns a character into its number and chr turns a number back.</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Computers store numbers, not letters. One shared table lets every program agree which number means which character.</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code point is a locker number: ord reads it from the name, chr opens the locker.</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Character</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ord('A')</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65</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Add one</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66</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chr(66)</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B</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Every character is a number.</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51 / 72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Code points: ord() and chr()</a:t>
            </a:r>
          </a:p>
        </p:txBody>
      </p:sp>
      <p:sp>
        <p:nvSpPr>
          <p:cNvPr id="4" name="code"/>
          <p:cNvSpPr/>
          <p:nvPr/>
        </p:nvSpPr>
        <p:spPr>
          <a:xfrm>
            <a:off x="365760" y="841248"/>
            <a:ext cx="5102351" cy="1827974"/>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 ord: character to number; chr: number to character</a:t>
            </a:r>
          </a:p>
          <a:p>
            <a:pPr algn="l"/>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ord</a:t>
            </a:r>
            <a:r>
              <a:rPr sz="1200" b="0" i="0">
                <a:solidFill>
                  <a:srgbClr val="E6EDF3"/>
                </a:solidFill>
                <a:latin typeface="Courier New"/>
              </a:rPr>
              <a:t>(</a:t>
            </a:r>
            <a:r>
              <a:rPr sz="1200" b="0" i="0">
                <a:solidFill>
                  <a:srgbClr val="9BE3A8"/>
                </a:solidFill>
                <a:latin typeface="Courier New"/>
              </a:rPr>
              <a:t>'A'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chr</a:t>
            </a:r>
            <a:r>
              <a:rPr sz="1200" b="0" i="0">
                <a:solidFill>
                  <a:srgbClr val="E6EDF3"/>
                </a:solidFill>
                <a:latin typeface="Courier New"/>
              </a:rPr>
              <a:t>(</a:t>
            </a:r>
            <a:r>
              <a:rPr sz="1200" b="0" i="0">
                <a:solidFill>
                  <a:srgbClr val="7CC4FF"/>
                </a:solidFill>
                <a:latin typeface="Courier New"/>
              </a:rPr>
              <a:t>65</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chr</a:t>
            </a:r>
            <a:r>
              <a:rPr sz="1200" b="0" i="0">
                <a:solidFill>
                  <a:srgbClr val="E6EDF3"/>
                </a:solidFill>
                <a:latin typeface="Courier New"/>
              </a:rPr>
              <a:t>(</a:t>
            </a:r>
            <a:r>
              <a:rPr sz="1200" b="0" i="0">
                <a:solidFill>
                  <a:srgbClr val="E6EDF3"/>
                </a:solidFill>
                <a:latin typeface="Courier New"/>
              </a:rPr>
              <a:t>ord</a:t>
            </a:r>
            <a:r>
              <a:rPr sz="1200" b="0" i="0">
                <a:solidFill>
                  <a:srgbClr val="E6EDF3"/>
                </a:solidFill>
                <a:latin typeface="Courier New"/>
              </a:rPr>
              <a:t>(</a:t>
            </a:r>
            <a:r>
              <a:rPr sz="1200" b="0" i="0">
                <a:solidFill>
                  <a:srgbClr val="9BE3A8"/>
                </a:solidFill>
                <a:latin typeface="Courier New"/>
              </a:rPr>
              <a:t>'A'</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 every character has its own number</a:t>
            </a:r>
          </a:p>
          <a:p>
            <a:pPr algn="l"/>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ord</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9BE3A8"/>
                </a:solidFill>
                <a:latin typeface="Courier New"/>
              </a:rPr>
              <a:t>'Hello'</a:t>
            </a:r>
            <a:r>
              <a:rPr sz="1200" b="0" i="0">
                <a:solidFill>
                  <a:srgbClr val="E6EDF3"/>
                </a:solidFill>
                <a:latin typeface="Courier New"/>
              </a:rPr>
              <a:t>]</a:t>
            </a:r>
            <a:r>
              <a:rPr sz="1200" b="0" i="0">
                <a:solidFill>
                  <a:srgbClr val="E6EDF3"/>
                </a:solidFill>
                <a:latin typeface="Courier New"/>
              </a:rPr>
              <a:t>)</a:t>
            </a:r>
          </a:p>
        </p:txBody>
      </p:sp>
      <p:sp>
        <p:nvSpPr>
          <p:cNvPr id="5" name="note card"/>
          <p:cNvSpPr/>
          <p:nvPr/>
        </p:nvSpPr>
        <p:spPr>
          <a:xfrm>
            <a:off x="5577840" y="841248"/>
            <a:ext cx="3200400" cy="77819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623559" y="841248"/>
            <a:ext cx="3108960" cy="778192"/>
          </a:xfrm>
          <a:prstGeom prst="rect">
            <a:avLst/>
          </a:prstGeom>
          <a:noFill/>
        </p:spPr>
        <p:txBody>
          <a:bodyPr wrap="square" lIns="45720" rIns="45720" tIns="27432" bIns="27432" anchor="ctr">
            <a:spAutoFit/>
          </a:bodyPr>
          <a:lstStyle/>
          <a:p>
            <a:r>
              <a:rPr sz="1250" b="0" i="0">
                <a:solidFill>
                  <a:srgbClr val="1F2933"/>
                </a:solidFill>
                <a:latin typeface="Calibri"/>
              </a:rPr>
              <a:t>ord turns a character into its number. chr turns a number back into a character.</a:t>
            </a:r>
          </a:p>
        </p:txBody>
      </p:sp>
      <p:sp>
        <p:nvSpPr>
          <p:cNvPr id="7" name="note card"/>
          <p:cNvSpPr/>
          <p:nvPr/>
        </p:nvSpPr>
        <p:spPr>
          <a:xfrm>
            <a:off x="5577840" y="1692592"/>
            <a:ext cx="3200400" cy="97663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623559" y="1692592"/>
            <a:ext cx="3108960" cy="976630"/>
          </a:xfrm>
          <a:prstGeom prst="rect">
            <a:avLst/>
          </a:prstGeom>
          <a:noFill/>
        </p:spPr>
        <p:txBody>
          <a:bodyPr wrap="square" lIns="45720" rIns="45720" tIns="27432" bIns="27432" anchor="ctr">
            <a:spAutoFit/>
          </a:bodyPr>
          <a:lstStyle/>
          <a:p>
            <a:r>
              <a:rPr sz="1250" b="0" i="0">
                <a:solidFill>
                  <a:srgbClr val="1F2933"/>
                </a:solidFill>
                <a:latin typeface="Calibri"/>
              </a:rPr>
              <a:t>Every character has a number. Capitals and small letters have different numbers, a fixed distance apart.</a:t>
            </a:r>
          </a:p>
        </p:txBody>
      </p:sp>
      <p:sp>
        <p:nvSpPr>
          <p:cNvPr id="9" name="result label"/>
          <p:cNvSpPr txBox="1"/>
          <p:nvPr/>
        </p:nvSpPr>
        <p:spPr>
          <a:xfrm>
            <a:off x="365760" y="274237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0" name="chart"/>
          <p:cNvGraphicFramePr>
            <a:graphicFrameLocks noGrp="1"/>
          </p:cNvGraphicFramePr>
          <p:nvPr/>
        </p:nvGraphicFramePr>
        <p:xfrm>
          <a:off x="365760" y="3016694"/>
          <a:ext cx="5215737" cy="1591881"/>
        </p:xfrm>
        <a:graphic>
          <a:graphicData uri="http://schemas.openxmlformats.org/drawingml/2006/chart">
            <c:chart xmlns:c="http://schemas.openxmlformats.org/drawingml/2006/chart" r:id="rId3"/>
          </a:graphicData>
        </a:graphic>
      </p:graphicFrame>
      <p:graphicFrame>
        <p:nvGraphicFramePr>
          <p:cNvPr id="11" name="table"/>
          <p:cNvGraphicFramePr>
            <a:graphicFrameLocks noGrp="1"/>
          </p:cNvGraphicFramePr>
          <p:nvPr/>
        </p:nvGraphicFramePr>
        <p:xfrm>
          <a:off x="5833872" y="3108134"/>
          <a:ext cx="2944366" cy="1371600"/>
        </p:xfrm>
        <a:graphic>
          <a:graphicData uri="http://schemas.openxmlformats.org/drawingml/2006/table">
            <a:tbl>
              <a:tblPr firstRow="0" bandRow="0"/>
              <a:tblGrid>
                <a:gridCol w="2024252"/>
                <a:gridCol w="920114"/>
              </a:tblGrid>
              <a:tr h="274320">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Gives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ord('A')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65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chr(65)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chr(ord('A')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ord('a') - ord('A')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Every character is a number.</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52 / 72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UTF-8 on a diner placemat</a:t>
            </a:r>
          </a:p>
        </p:txBody>
      </p:sp>
      <p:pic>
        <p:nvPicPr>
          <p:cNvPr id="4" name="photo utf8" descr="Picture for the story: UTF-8 on a diner placemat"/>
          <p:cNvPicPr>
            <a:picLocks noChangeAspect="1"/>
          </p:cNvPicPr>
          <p:nvPr/>
        </p:nvPicPr>
        <p:blipFill>
          <a:blip r:embed="rId3"/>
          <a:stretch>
            <a:fillRect/>
          </a:stretch>
        </p:blipFill>
        <p:spPr>
          <a:xfrm>
            <a:off x="365760" y="925239"/>
            <a:ext cx="2651760" cy="2812961"/>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Ken Thompson, 2019. Photo: A.C.Diller, CC BY-SA 4.0, Wikimedia Commons.</a:t>
            </a:r>
          </a:p>
        </p:txBody>
      </p:sp>
      <p:sp>
        <p:nvSpPr>
          <p:cNvPr id="6" name="card"/>
          <p:cNvSpPr/>
          <p:nvPr/>
        </p:nvSpPr>
        <p:spPr>
          <a:xfrm>
            <a:off x="3200400" y="868680"/>
            <a:ext cx="5577840" cy="90525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ory"/>
          <p:cNvSpPr txBox="1"/>
          <p:nvPr/>
        </p:nvSpPr>
        <p:spPr>
          <a:xfrm>
            <a:off x="3273552" y="868680"/>
            <a:ext cx="5440680" cy="905256"/>
          </a:xfrm>
          <a:prstGeom prst="rect">
            <a:avLst/>
          </a:prstGeom>
          <a:noFill/>
        </p:spPr>
        <p:txBody>
          <a:bodyPr wrap="square" lIns="45720" rIns="45720" tIns="27432" bIns="27432" anchor="ctr">
            <a:spAutoFit/>
          </a:bodyPr>
          <a:lstStyle/>
          <a:p>
            <a:r>
              <a:rPr sz="1400" b="0" i="0">
                <a:solidFill>
                  <a:srgbClr val="1F2933"/>
                </a:solidFill>
                <a:latin typeface="Calibri"/>
              </a:rPr>
              <a:t>In September 1992, Ken Thompson and Rob Pike of Bell Labs were building Plan 9. In a New Jersey diner, in one evening, they sketched a new encoding.</a:t>
            </a:r>
          </a:p>
        </p:txBody>
      </p:sp>
      <p:sp>
        <p:nvSpPr>
          <p:cNvPr id="8" name="card"/>
          <p:cNvSpPr/>
          <p:nvPr/>
        </p:nvSpPr>
        <p:spPr>
          <a:xfrm>
            <a:off x="3200400" y="1865376"/>
            <a:ext cx="5577840" cy="90525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ory"/>
          <p:cNvSpPr txBox="1"/>
          <p:nvPr/>
        </p:nvSpPr>
        <p:spPr>
          <a:xfrm>
            <a:off x="3273552" y="1865376"/>
            <a:ext cx="5440680" cy="905256"/>
          </a:xfrm>
          <a:prstGeom prst="rect">
            <a:avLst/>
          </a:prstGeom>
          <a:noFill/>
        </p:spPr>
        <p:txBody>
          <a:bodyPr wrap="square" lIns="45720" rIns="45720" tIns="27432" bIns="27432" anchor="ctr">
            <a:spAutoFit/>
          </a:bodyPr>
          <a:lstStyle/>
          <a:p>
            <a:r>
              <a:rPr sz="1400" b="0" i="0">
                <a:solidFill>
                  <a:srgbClr val="1F2933"/>
                </a:solidFill>
                <a:latin typeface="Calibri"/>
              </a:rPr>
              <a:t>Programs needed one encoding for every language that did not break old ASCII text. Their answer gives a character one to four bytes and leaves plain ASCII unchanged.</a:t>
            </a:r>
          </a:p>
        </p:txBody>
      </p:sp>
      <p:sp>
        <p:nvSpPr>
          <p:cNvPr id="10" name="card"/>
          <p:cNvSpPr/>
          <p:nvPr/>
        </p:nvSpPr>
        <p:spPr>
          <a:xfrm>
            <a:off x="3200400" y="2862072"/>
            <a:ext cx="5577840" cy="90525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ory"/>
          <p:cNvSpPr txBox="1"/>
          <p:nvPr/>
        </p:nvSpPr>
        <p:spPr>
          <a:xfrm>
            <a:off x="3273552" y="2862072"/>
            <a:ext cx="5440680" cy="905256"/>
          </a:xfrm>
          <a:prstGeom prst="rect">
            <a:avLst/>
          </a:prstGeom>
          <a:noFill/>
        </p:spPr>
        <p:txBody>
          <a:bodyPr wrap="square" lIns="45720" rIns="45720" tIns="27432" bIns="27432" anchor="ctr">
            <a:spAutoFit/>
          </a:bodyPr>
          <a:lstStyle/>
          <a:p>
            <a:r>
              <a:rPr sz="1400" b="0" i="0">
                <a:solidFill>
                  <a:srgbClr val="1F2933"/>
                </a:solidFill>
                <a:latin typeface="Calibri"/>
              </a:rPr>
              <a:t>You can watch it work: 'café'.encode('utf-8') turns four characters into five bytes, and the next code slide runs exactly that.</a:t>
            </a:r>
          </a:p>
        </p:txBody>
      </p:sp>
      <p:sp>
        <p:nvSpPr>
          <p:cNvPr id="12" name="link"/>
          <p:cNvSpPr txBox="1"/>
          <p:nvPr/>
        </p:nvSpPr>
        <p:spPr>
          <a:xfrm>
            <a:off x="3200400" y="3877055"/>
            <a:ext cx="5577840" cy="329184"/>
          </a:xfrm>
          <a:prstGeom prst="rect">
            <a:avLst/>
          </a:prstGeom>
          <a:noFill/>
        </p:spPr>
        <p:txBody>
          <a:bodyPr wrap="square" lIns="45720" rIns="45720" tIns="27432" bIns="27432" anchor="t">
            <a:spAutoFit/>
          </a:bodyPr>
          <a:lstStyle/>
          <a:p>
            <a:r>
              <a:rPr sz="1300" b="1" i="0">
                <a:solidFill>
                  <a:srgbClr val="0E7C86"/>
                </a:solidFill>
                <a:latin typeface="Calibri"/>
                <a:hlinkClick r:id="rId4"/>
              </a:rPr>
              <a:t>Read Rob Pike's own account (doc.cat-v.org)</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53 / 72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Characters are not bytes</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An encoding is the rule that turns code points into bytes for storage and travel. UTF-8 uses one to four bytes for each character.</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Files and networks carry bytes, not characters. Both sides must use the same rule or the text breaks.</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Encoding is a shipping box: text is packed into bytes to travel and unpacked to be read.</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Text</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café, 4 characters</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encode('utf-8')</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packs each character</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Bytes</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5 bytes, the é takes two</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ASCII</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cannot hold é, so it becomes ?</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Characters are not bytes.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54 / 72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Characters are not bytes</a:t>
            </a:r>
          </a:p>
        </p:txBody>
      </p:sp>
      <p:sp>
        <p:nvSpPr>
          <p:cNvPr id="4" name="code"/>
          <p:cNvSpPr/>
          <p:nvPr/>
        </p:nvSpPr>
        <p:spPr>
          <a:xfrm>
            <a:off x="365760" y="841248"/>
            <a:ext cx="5376671" cy="1827974"/>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 four characters, but five bytes in UTF-8</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'café'</a:t>
            </a:r>
            <a:r>
              <a:rPr sz="1400" b="0" i="0">
                <a:solidFill>
                  <a:srgbClr val="E6EDF3"/>
                </a:solidFill>
                <a:latin typeface="Courier New"/>
              </a:rPr>
              <a:t>.</a:t>
            </a:r>
            <a:r>
              <a:rPr sz="1400" b="0" i="0">
                <a:solidFill>
                  <a:srgbClr val="E6EDF3"/>
                </a:solidFill>
                <a:latin typeface="Courier New"/>
              </a:rPr>
              <a:t>encode</a:t>
            </a:r>
            <a:r>
              <a:rPr sz="1400" b="0" i="0">
                <a:solidFill>
                  <a:srgbClr val="E6EDF3"/>
                </a:solidFill>
                <a:latin typeface="Courier New"/>
              </a:rPr>
              <a:t>(</a:t>
            </a:r>
            <a:r>
              <a:rPr sz="1400" b="0" i="0">
                <a:solidFill>
                  <a:srgbClr val="9BE3A8"/>
                </a:solidFill>
                <a:latin typeface="Courier New"/>
              </a:rPr>
              <a:t>'utf-8'</a:t>
            </a:r>
            <a:r>
              <a:rPr sz="1400" b="0" i="0">
                <a:solidFill>
                  <a:srgbClr val="E6EDF3"/>
                </a:solidFill>
                <a:latin typeface="Courier New"/>
              </a:rPr>
              <a:t>)</a:t>
            </a:r>
            <a:r>
              <a:rPr sz="1400" b="0" i="0">
                <a:solidFill>
                  <a:srgbClr val="E6EDF3"/>
                </a:solidFill>
                <a:latin typeface="Courier New"/>
              </a:rPr>
              <a:t>)</a:t>
            </a:r>
          </a:p>
          <a:p>
            <a:pPr algn="l"/>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'café'</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'café'</a:t>
            </a:r>
            <a:r>
              <a:rPr sz="1400" b="0" i="0">
                <a:solidFill>
                  <a:srgbClr val="E6EDF3"/>
                </a:solidFill>
                <a:latin typeface="Courier New"/>
              </a:rPr>
              <a:t>.</a:t>
            </a:r>
            <a:r>
              <a:rPr sz="1400" b="0" i="0">
                <a:solidFill>
                  <a:srgbClr val="E6EDF3"/>
                </a:solidFill>
                <a:latin typeface="Courier New"/>
              </a:rPr>
              <a:t>encode</a:t>
            </a:r>
            <a:r>
              <a:rPr sz="1400" b="0" i="0">
                <a:solidFill>
                  <a:srgbClr val="E6EDF3"/>
                </a:solidFill>
                <a:latin typeface="Courier New"/>
              </a:rPr>
              <a:t>(</a:t>
            </a:r>
            <a:r>
              <a:rPr sz="1400" b="0" i="0">
                <a:solidFill>
                  <a:srgbClr val="9BE3A8"/>
                </a:solidFill>
                <a:latin typeface="Courier New"/>
              </a:rPr>
              <a:t>'utf-8'</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 one to four bytes per character</a:t>
            </a:r>
          </a:p>
          <a:p>
            <a:pPr algn="l"/>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c</a:t>
            </a:r>
            <a:r>
              <a:rPr sz="1400" b="0" i="0">
                <a:solidFill>
                  <a:srgbClr val="E6EDF3"/>
                </a:solidFill>
                <a:latin typeface="Courier New"/>
              </a:rPr>
              <a:t>.</a:t>
            </a:r>
            <a:r>
              <a:rPr sz="1400" b="0" i="0">
                <a:solidFill>
                  <a:srgbClr val="E6EDF3"/>
                </a:solidFill>
                <a:latin typeface="Courier New"/>
              </a:rPr>
              <a:t>encode</a:t>
            </a:r>
            <a:r>
              <a:rPr sz="1400" b="0" i="0">
                <a:solidFill>
                  <a:srgbClr val="E6EDF3"/>
                </a:solidFill>
                <a:latin typeface="Courier New"/>
              </a:rPr>
              <a:t>(</a:t>
            </a:r>
            <a:r>
              <a:rPr sz="1400" b="0" i="0">
                <a:solidFill>
                  <a:srgbClr val="9BE3A8"/>
                </a:solidFill>
                <a:latin typeface="Courier New"/>
              </a:rPr>
              <a:t>'utf-8'</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c</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9BE3A8"/>
                </a:solidFill>
                <a:latin typeface="Courier New"/>
              </a:rPr>
              <a:t>'a€é'</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 ASCII cannot hold the accent</a:t>
            </a:r>
          </a:p>
          <a:p>
            <a:pPr algn="l"/>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'café'</a:t>
            </a:r>
            <a:r>
              <a:rPr sz="1400" b="0" i="0">
                <a:solidFill>
                  <a:srgbClr val="E6EDF3"/>
                </a:solidFill>
                <a:latin typeface="Courier New"/>
              </a:rPr>
              <a:t>.</a:t>
            </a:r>
            <a:r>
              <a:rPr sz="1400" b="0" i="0">
                <a:solidFill>
                  <a:srgbClr val="E6EDF3"/>
                </a:solidFill>
                <a:latin typeface="Courier New"/>
              </a:rPr>
              <a:t>encode</a:t>
            </a:r>
            <a:r>
              <a:rPr sz="1400" b="0" i="0">
                <a:solidFill>
                  <a:srgbClr val="E6EDF3"/>
                </a:solidFill>
                <a:latin typeface="Courier New"/>
              </a:rPr>
              <a:t>(</a:t>
            </a:r>
            <a:r>
              <a:rPr sz="1400" b="0" i="0">
                <a:solidFill>
                  <a:srgbClr val="9BE3A8"/>
                </a:solidFill>
                <a:latin typeface="Courier New"/>
              </a:rPr>
              <a:t>'ascii'</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errors</a:t>
            </a:r>
            <a:r>
              <a:rPr sz="1400" b="0" i="0">
                <a:solidFill>
                  <a:srgbClr val="E6EDF3"/>
                </a:solidFill>
                <a:latin typeface="Courier New"/>
              </a:rPr>
              <a:t>=</a:t>
            </a:r>
            <a:r>
              <a:rPr sz="1400" b="0" i="0">
                <a:solidFill>
                  <a:srgbClr val="9BE3A8"/>
                </a:solidFill>
                <a:latin typeface="Courier New"/>
              </a:rPr>
              <a:t>'replace'</a:t>
            </a:r>
            <a:r>
              <a:rPr sz="1400" b="0" i="0">
                <a:solidFill>
                  <a:srgbClr val="E6EDF3"/>
                </a:solidFill>
                <a:latin typeface="Courier New"/>
              </a:rPr>
              <a:t>)</a:t>
            </a:r>
            <a:r>
              <a:rPr sz="1400" b="0" i="0">
                <a:solidFill>
                  <a:srgbClr val="E6EDF3"/>
                </a:solidFill>
                <a:latin typeface="Courier New"/>
              </a:rPr>
              <a:t>)</a:t>
            </a:r>
          </a:p>
        </p:txBody>
      </p:sp>
      <p:sp>
        <p:nvSpPr>
          <p:cNvPr id="5" name="note card"/>
          <p:cNvSpPr/>
          <p:nvPr/>
        </p:nvSpPr>
        <p:spPr>
          <a:xfrm>
            <a:off x="5852159" y="841248"/>
            <a:ext cx="2926080" cy="77819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897879" y="841248"/>
            <a:ext cx="2834640" cy="778192"/>
          </a:xfrm>
          <a:prstGeom prst="rect">
            <a:avLst/>
          </a:prstGeom>
          <a:noFill/>
        </p:spPr>
        <p:txBody>
          <a:bodyPr wrap="square" lIns="45720" rIns="45720" tIns="27432" bIns="27432" anchor="ctr">
            <a:spAutoFit/>
          </a:bodyPr>
          <a:lstStyle/>
          <a:p>
            <a:r>
              <a:rPr sz="1250" b="0" i="0">
                <a:solidFill>
                  <a:srgbClr val="1F2933"/>
                </a:solidFill>
                <a:latin typeface="Calibri"/>
              </a:rPr>
              <a:t>Four characters become five bytes in UTF-8, because the accented letter takes two bytes.</a:t>
            </a:r>
          </a:p>
        </p:txBody>
      </p:sp>
      <p:sp>
        <p:nvSpPr>
          <p:cNvPr id="7" name="note card"/>
          <p:cNvSpPr/>
          <p:nvPr/>
        </p:nvSpPr>
        <p:spPr>
          <a:xfrm>
            <a:off x="5852159" y="1692592"/>
            <a:ext cx="2926080" cy="97663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897879" y="1692592"/>
            <a:ext cx="2834640" cy="976630"/>
          </a:xfrm>
          <a:prstGeom prst="rect">
            <a:avLst/>
          </a:prstGeom>
          <a:noFill/>
        </p:spPr>
        <p:txBody>
          <a:bodyPr wrap="square" lIns="45720" rIns="45720" tIns="27432" bIns="27432" anchor="ctr">
            <a:spAutoFit/>
          </a:bodyPr>
          <a:lstStyle/>
          <a:p>
            <a:r>
              <a:rPr sz="1250" b="0" i="0">
                <a:solidFill>
                  <a:srgbClr val="1F2933"/>
                </a:solidFill>
                <a:latin typeface="Calibri"/>
              </a:rPr>
              <a:t>UTF-8 spends one to four bytes per character. ASCII cannot hold the accent, so errors=replace puts a question mark.</a:t>
            </a:r>
          </a:p>
        </p:txBody>
      </p:sp>
      <p:sp>
        <p:nvSpPr>
          <p:cNvPr id="9" name="result label"/>
          <p:cNvSpPr txBox="1"/>
          <p:nvPr/>
        </p:nvSpPr>
        <p:spPr>
          <a:xfrm>
            <a:off x="365760" y="274237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0" name="chart"/>
          <p:cNvGraphicFramePr>
            <a:graphicFrameLocks noGrp="1"/>
          </p:cNvGraphicFramePr>
          <p:nvPr/>
        </p:nvGraphicFramePr>
        <p:xfrm>
          <a:off x="365760" y="3016694"/>
          <a:ext cx="4626864" cy="1591881"/>
        </p:xfrm>
        <a:graphic>
          <a:graphicData uri="http://schemas.openxmlformats.org/drawingml/2006/chart">
            <c:chart xmlns:c="http://schemas.openxmlformats.org/drawingml/2006/chart" r:id="rId3"/>
          </a:graphicData>
        </a:graphic>
      </p:graphicFrame>
      <p:sp>
        <p:nvSpPr>
          <p:cNvPr id="11" name="TextBox 10"/>
          <p:cNvSpPr txBox="1"/>
          <p:nvPr/>
        </p:nvSpPr>
        <p:spPr>
          <a:xfrm>
            <a:off x="5413248" y="3016694"/>
            <a:ext cx="3291840" cy="228600"/>
          </a:xfrm>
          <a:prstGeom prst="rect">
            <a:avLst/>
          </a:prstGeom>
          <a:noFill/>
        </p:spPr>
        <p:txBody>
          <a:bodyPr wrap="square" lIns="45720" rIns="45720" tIns="27432" bIns="27432" anchor="t">
            <a:spAutoFit/>
          </a:bodyPr>
          <a:lstStyle/>
          <a:p>
            <a:r>
              <a:rPr sz="1050" b="1" i="0">
                <a:solidFill>
                  <a:srgbClr val="1F2933"/>
                </a:solidFill>
                <a:latin typeface="Calibri"/>
              </a:rPr>
              <a:t>'café': 4 characters, 5 bytes</a:t>
            </a:r>
          </a:p>
        </p:txBody>
      </p:sp>
      <p:sp>
        <p:nvSpPr>
          <p:cNvPr id="12" name="Rounded Rectangle 11"/>
          <p:cNvSpPr/>
          <p:nvPr/>
        </p:nvSpPr>
        <p:spPr>
          <a:xfrm>
            <a:off x="5413248" y="3382454"/>
            <a:ext cx="731520"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alibri"/>
              </a:rPr>
              <a:t>c</a:t>
            </a:r>
          </a:p>
        </p:txBody>
      </p:sp>
      <p:sp>
        <p:nvSpPr>
          <p:cNvPr id="13" name="Rounded Rectangle 12"/>
          <p:cNvSpPr/>
          <p:nvPr/>
        </p:nvSpPr>
        <p:spPr>
          <a:xfrm>
            <a:off x="5413248" y="3931094"/>
            <a:ext cx="704088" cy="310896"/>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63</a:t>
            </a:r>
          </a:p>
        </p:txBody>
      </p:sp>
      <p:cxnSp>
        <p:nvCxnSpPr>
          <p:cNvPr id="14" name="arrow"/>
          <p:cNvCxnSpPr/>
          <p:nvPr/>
        </p:nvCxnSpPr>
        <p:spPr>
          <a:xfrm>
            <a:off x="5779008" y="3766502"/>
            <a:ext cx="0" cy="14630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90488" y="3382454"/>
            <a:ext cx="731520"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alibri"/>
              </a:rPr>
              <a:t>a</a:t>
            </a:r>
          </a:p>
        </p:txBody>
      </p:sp>
      <p:sp>
        <p:nvSpPr>
          <p:cNvPr id="16" name="Rounded Rectangle 15"/>
          <p:cNvSpPr/>
          <p:nvPr/>
        </p:nvSpPr>
        <p:spPr>
          <a:xfrm>
            <a:off x="6190488" y="3931094"/>
            <a:ext cx="704088" cy="310896"/>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61</a:t>
            </a:r>
          </a:p>
        </p:txBody>
      </p:sp>
      <p:cxnSp>
        <p:nvCxnSpPr>
          <p:cNvPr id="17" name="arrow"/>
          <p:cNvCxnSpPr/>
          <p:nvPr/>
        </p:nvCxnSpPr>
        <p:spPr>
          <a:xfrm>
            <a:off x="6556248" y="3766502"/>
            <a:ext cx="0" cy="14630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967728" y="3382454"/>
            <a:ext cx="731520"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alibri"/>
              </a:rPr>
              <a:t>f</a:t>
            </a:r>
          </a:p>
        </p:txBody>
      </p:sp>
      <p:sp>
        <p:nvSpPr>
          <p:cNvPr id="19" name="Rounded Rectangle 18"/>
          <p:cNvSpPr/>
          <p:nvPr/>
        </p:nvSpPr>
        <p:spPr>
          <a:xfrm>
            <a:off x="6967728" y="3931094"/>
            <a:ext cx="704088" cy="310896"/>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66</a:t>
            </a:r>
          </a:p>
        </p:txBody>
      </p:sp>
      <p:cxnSp>
        <p:nvCxnSpPr>
          <p:cNvPr id="20" name="arrow"/>
          <p:cNvCxnSpPr/>
          <p:nvPr/>
        </p:nvCxnSpPr>
        <p:spPr>
          <a:xfrm>
            <a:off x="7333488" y="3766502"/>
            <a:ext cx="0" cy="14630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44967" y="3382454"/>
            <a:ext cx="731520"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alibri"/>
              </a:rPr>
              <a:t>é</a:t>
            </a:r>
          </a:p>
        </p:txBody>
      </p:sp>
      <p:sp>
        <p:nvSpPr>
          <p:cNvPr id="22" name="Rounded Rectangle 21"/>
          <p:cNvSpPr/>
          <p:nvPr/>
        </p:nvSpPr>
        <p:spPr>
          <a:xfrm>
            <a:off x="7744967" y="3931094"/>
            <a:ext cx="338328" cy="310896"/>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c3</a:t>
            </a:r>
          </a:p>
        </p:txBody>
      </p:sp>
      <p:sp>
        <p:nvSpPr>
          <p:cNvPr id="23" name="Rounded Rectangle 22"/>
          <p:cNvSpPr/>
          <p:nvPr/>
        </p:nvSpPr>
        <p:spPr>
          <a:xfrm>
            <a:off x="8110727" y="3931094"/>
            <a:ext cx="338328" cy="310896"/>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a9</a:t>
            </a:r>
          </a:p>
        </p:txBody>
      </p:sp>
      <p:cxnSp>
        <p:nvCxnSpPr>
          <p:cNvPr id="24" name="arrow"/>
          <p:cNvCxnSpPr/>
          <p:nvPr/>
        </p:nvCxnSpPr>
        <p:spPr>
          <a:xfrm>
            <a:off x="8110727" y="3766502"/>
            <a:ext cx="0" cy="14630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Characters are not bytes.</a:t>
            </a:r>
          </a:p>
        </p:txBody>
      </p:sp>
      <p:sp>
        <p:nvSpPr>
          <p:cNvPr id="2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55 / 72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Checking the book against the run</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printed result in a book can be wrong for the Python you use. The only proof is to run the line and measure.</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Programmers trust measured results, not memory. Checking a source also teaches you to report differences.</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Re-running the book's lines is a second weighing on the shop scale.</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The book prints</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14 and 9 spaces</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You run it</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Python 3 gives 15 and 8</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Compare</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the numbers differ by one</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Report</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say what you measured</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the book's lines before you trust them.</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56 / 72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Re-running the book's rjust lines</a:t>
            </a:r>
          </a:p>
        </p:txBody>
      </p:sp>
      <p:sp>
        <p:nvSpPr>
          <p:cNvPr id="4" name="code"/>
          <p:cNvSpPr/>
          <p:nvPr/>
        </p:nvSpPr>
        <p:spPr>
          <a:xfrm>
            <a:off x="365760" y="841248"/>
            <a:ext cx="5426201" cy="976630"/>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 count the padding Python really adds</a:t>
            </a:r>
          </a:p>
          <a:p>
            <a:pPr algn="l"/>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len</a:t>
            </a:r>
            <a:r>
              <a:rPr sz="1150" b="0" i="0">
                <a:solidFill>
                  <a:srgbClr val="E6EDF3"/>
                </a:solidFill>
                <a:latin typeface="Courier New"/>
              </a:rPr>
              <a:t>(</a:t>
            </a:r>
            <a:r>
              <a:rPr sz="1150" b="0" i="0">
                <a:solidFill>
                  <a:srgbClr val="9BE3A8"/>
                </a:solidFill>
                <a:latin typeface="Courier New"/>
              </a:rPr>
              <a:t>'Hello'</a:t>
            </a:r>
            <a:r>
              <a:rPr sz="1150" b="0" i="0">
                <a:solidFill>
                  <a:srgbClr val="E6EDF3"/>
                </a:solidFill>
                <a:latin typeface="Courier New"/>
              </a:rPr>
              <a:t>.</a:t>
            </a:r>
            <a:r>
              <a:rPr sz="1150" b="0" i="0">
                <a:solidFill>
                  <a:srgbClr val="E6EDF3"/>
                </a:solidFill>
                <a:latin typeface="Courier New"/>
              </a:rPr>
              <a:t>rjust</a:t>
            </a:r>
            <a:r>
              <a:rPr sz="1150" b="0" i="0">
                <a:solidFill>
                  <a:srgbClr val="E6EDF3"/>
                </a:solidFill>
                <a:latin typeface="Courier New"/>
              </a:rPr>
              <a:t>(</a:t>
            </a:r>
            <a:r>
              <a:rPr sz="1150" b="0" i="0">
                <a:solidFill>
                  <a:srgbClr val="7CC4FF"/>
                </a:solidFill>
                <a:latin typeface="Courier New"/>
              </a:rPr>
              <a:t>20</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len</a:t>
            </a:r>
            <a:r>
              <a:rPr sz="1150" b="0" i="0">
                <a:solidFill>
                  <a:srgbClr val="E6EDF3"/>
                </a:solidFill>
                <a:latin typeface="Courier New"/>
              </a:rPr>
              <a:t>(</a:t>
            </a:r>
            <a:r>
              <a:rPr sz="1150" b="0" i="0">
                <a:solidFill>
                  <a:srgbClr val="9BE3A8"/>
                </a:solidFill>
                <a:latin typeface="Courier New"/>
              </a:rPr>
              <a:t>'Hello'</a:t>
            </a:r>
            <a:r>
              <a:rPr sz="1150" b="0" i="0">
                <a:solidFill>
                  <a:srgbClr val="E6EDF3"/>
                </a:solidFill>
                <a:latin typeface="Courier New"/>
              </a:rPr>
              <a:t>)</a:t>
            </a:r>
            <a:r>
              <a:rPr sz="1150" b="0" i="0">
                <a:solidFill>
                  <a:srgbClr val="E6EDF3"/>
                </a:solidFill>
                <a:latin typeface="Courier New"/>
              </a:rPr>
              <a:t>)</a:t>
            </a:r>
          </a:p>
          <a:p>
            <a:pPr algn="l"/>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len</a:t>
            </a:r>
            <a:r>
              <a:rPr sz="1150" b="0" i="0">
                <a:solidFill>
                  <a:srgbClr val="E6EDF3"/>
                </a:solidFill>
                <a:latin typeface="Courier New"/>
              </a:rPr>
              <a:t>(</a:t>
            </a:r>
            <a:r>
              <a:rPr sz="1150" b="0" i="0">
                <a:solidFill>
                  <a:srgbClr val="9BE3A8"/>
                </a:solidFill>
                <a:latin typeface="Courier New"/>
              </a:rPr>
              <a:t>'Hello, World'</a:t>
            </a:r>
            <a:r>
              <a:rPr sz="1150" b="0" i="0">
                <a:solidFill>
                  <a:srgbClr val="E6EDF3"/>
                </a:solidFill>
                <a:latin typeface="Courier New"/>
              </a:rPr>
              <a:t>.</a:t>
            </a:r>
            <a:r>
              <a:rPr sz="1150" b="0" i="0">
                <a:solidFill>
                  <a:srgbClr val="E6EDF3"/>
                </a:solidFill>
                <a:latin typeface="Courier New"/>
              </a:rPr>
              <a:t>rjust</a:t>
            </a:r>
            <a:r>
              <a:rPr sz="1150" b="0" i="0">
                <a:solidFill>
                  <a:srgbClr val="E6EDF3"/>
                </a:solidFill>
                <a:latin typeface="Courier New"/>
              </a:rPr>
              <a:t>(</a:t>
            </a:r>
            <a:r>
              <a:rPr sz="1150" b="0" i="0">
                <a:solidFill>
                  <a:srgbClr val="7CC4FF"/>
                </a:solidFill>
                <a:latin typeface="Courier New"/>
              </a:rPr>
              <a:t>20</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len</a:t>
            </a:r>
            <a:r>
              <a:rPr sz="1150" b="0" i="0">
                <a:solidFill>
                  <a:srgbClr val="E6EDF3"/>
                </a:solidFill>
                <a:latin typeface="Courier New"/>
              </a:rPr>
              <a:t>(</a:t>
            </a:r>
            <a:r>
              <a:rPr sz="1150" b="0" i="0">
                <a:solidFill>
                  <a:srgbClr val="9BE3A8"/>
                </a:solidFill>
                <a:latin typeface="Courier New"/>
              </a:rPr>
              <a:t>'Hello, World'</a:t>
            </a:r>
            <a:r>
              <a:rPr sz="1150" b="0" i="0">
                <a:solidFill>
                  <a:srgbClr val="E6EDF3"/>
                </a:solidFill>
                <a:latin typeface="Courier New"/>
              </a:rPr>
              <a:t>)</a:t>
            </a:r>
            <a:r>
              <a:rPr sz="1150" b="0" i="0">
                <a:solidFill>
                  <a:srgbClr val="E6EDF3"/>
                </a:solidFill>
                <a:latin typeface="Courier New"/>
              </a:rPr>
              <a:t>)</a:t>
            </a:r>
          </a:p>
        </p:txBody>
      </p:sp>
      <p:sp>
        <p:nvSpPr>
          <p:cNvPr id="5" name="note card"/>
          <p:cNvSpPr/>
          <p:nvPr/>
        </p:nvSpPr>
        <p:spPr>
          <a:xfrm>
            <a:off x="5901690" y="841248"/>
            <a:ext cx="2876549" cy="97663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947410" y="841248"/>
            <a:ext cx="2785109" cy="976630"/>
          </a:xfrm>
          <a:prstGeom prst="rect">
            <a:avLst/>
          </a:prstGeom>
          <a:noFill/>
        </p:spPr>
        <p:txBody>
          <a:bodyPr wrap="square" lIns="45720" rIns="45720" tIns="27432" bIns="27432" anchor="ctr">
            <a:spAutoFit/>
          </a:bodyPr>
          <a:lstStyle/>
          <a:p>
            <a:r>
              <a:rPr sz="1250" b="0" i="0">
                <a:solidFill>
                  <a:srgbClr val="1F2933"/>
                </a:solidFill>
                <a:latin typeface="Calibri"/>
              </a:rPr>
              <a:t>Count the padding Python really adds. Running the book's lines shows its printed spaces differ by one.</a:t>
            </a:r>
          </a:p>
        </p:txBody>
      </p:sp>
      <p:sp>
        <p:nvSpPr>
          <p:cNvPr id="7" name="result label"/>
          <p:cNvSpPr txBox="1"/>
          <p:nvPr/>
        </p:nvSpPr>
        <p:spPr>
          <a:xfrm>
            <a:off x="365760" y="189103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8" name="chart"/>
          <p:cNvGraphicFramePr>
            <a:graphicFrameLocks noGrp="1"/>
          </p:cNvGraphicFramePr>
          <p:nvPr/>
        </p:nvGraphicFramePr>
        <p:xfrm>
          <a:off x="365760" y="2165350"/>
          <a:ext cx="5215737" cy="2443226"/>
        </p:xfrm>
        <a:graphic>
          <a:graphicData uri="http://schemas.openxmlformats.org/drawingml/2006/chart">
            <c:chart xmlns:c="http://schemas.openxmlformats.org/drawingml/2006/chart" r:id="rId3"/>
          </a:graphicData>
        </a:graphic>
      </p:graphicFrame>
      <p:sp>
        <p:nvSpPr>
          <p:cNvPr id="9" name="TextBox 8"/>
          <p:cNvSpPr txBox="1"/>
          <p:nvPr/>
        </p:nvSpPr>
        <p:spPr>
          <a:xfrm>
            <a:off x="5917996" y="2348230"/>
            <a:ext cx="2860243" cy="1280160"/>
          </a:xfrm>
          <a:prstGeom prst="rect">
            <a:avLst/>
          </a:prstGeom>
          <a:noFill/>
        </p:spPr>
        <p:txBody>
          <a:bodyPr wrap="square" lIns="45720" rIns="45720" tIns="27432" bIns="27432" anchor="t">
            <a:spAutoFit/>
          </a:bodyPr>
          <a:lstStyle/>
          <a:p>
            <a:r>
              <a:rPr sz="1050" b="0" i="1">
                <a:solidFill>
                  <a:srgbClr val="5B6773"/>
                </a:solidFill>
                <a:latin typeface="Calibri"/>
              </a:rPr>
              <a:t>Leading spaces counted.</a:t>
            </a:r>
          </a:p>
          <a:p>
            <a:r>
              <a:rPr sz="1050" b="0" i="1">
                <a:solidFill>
                  <a:srgbClr val="5B6773"/>
                </a:solidFill>
                <a:latin typeface="Calibri"/>
              </a:rPr>
              <a:t>Book figures come from the chapter research (finding on printed outputs).</a:t>
            </a:r>
          </a:p>
        </p:txBody>
      </p:sp>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the book's lines before you trust them.</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57 / 72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5: Programs and the clipboard</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Small programs that use everything from parts 1 to 4</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Alternating case</a:t>
            </a:r>
          </a:p>
        </p:txBody>
      </p:sp>
      <p:sp>
        <p:nvSpPr>
          <p:cNvPr id="6" name="meaning"/>
          <p:cNvSpPr txBox="1"/>
          <p:nvPr/>
        </p:nvSpPr>
        <p:spPr>
          <a:xfrm>
            <a:off x="2606040" y="1417320"/>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Position decides whether a letter is upper or lower.</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Pig Latin</a:t>
            </a:r>
          </a:p>
        </p:txBody>
      </p:sp>
      <p:sp>
        <p:nvSpPr>
          <p:cNvPr id="8" name="meaning"/>
          <p:cNvSpPr txBox="1"/>
          <p:nvPr/>
        </p:nvSpPr>
        <p:spPr>
          <a:xfrm>
            <a:off x="2606040" y="2075688"/>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Move the opening consonants to the end and add ay.</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Table printer</a:t>
            </a:r>
          </a:p>
        </p:txBody>
      </p:sp>
      <p:sp>
        <p:nvSpPr>
          <p:cNvPr id="10" name="meaning"/>
          <p:cNvSpPr txBox="1"/>
          <p:nvPr/>
        </p:nvSpPr>
        <p:spPr>
          <a:xfrm>
            <a:off x="2606040" y="2734056"/>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Pad every cell to the width of its column.</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Clipboard program</a:t>
            </a:r>
          </a:p>
        </p:txBody>
      </p:sp>
      <p:sp>
        <p:nvSpPr>
          <p:cNvPr id="12" name="meaning"/>
          <p:cNvSpPr txBox="1"/>
          <p:nvPr/>
        </p:nvSpPr>
        <p:spPr>
          <a:xfrm>
            <a:off x="2606040" y="3392424"/>
            <a:ext cx="3017520" cy="548640"/>
          </a:xfrm>
          <a:prstGeom prst="rect">
            <a:avLst/>
          </a:prstGeom>
          <a:noFill/>
        </p:spPr>
        <p:txBody>
          <a:bodyPr wrap="square" lIns="45720" rIns="45720" tIns="27432" bIns="27432" anchor="ctr">
            <a:spAutoFit/>
          </a:bodyPr>
          <a:lstStyle/>
          <a:p>
            <a:r>
              <a:rPr sz="1300" b="0" i="0">
                <a:solidFill>
                  <a:srgbClr val="1F2933"/>
                </a:solidFill>
                <a:latin typeface="Calibri"/>
              </a:rPr>
              <a:t>Paste the text, change it, copy it back.</a:t>
            </a:r>
          </a:p>
        </p:txBody>
      </p:sp>
      <p:graphicFrame>
        <p:nvGraphicFramePr>
          <p:cNvPr id="13" name="table"/>
          <p:cNvGraphicFramePr>
            <a:graphicFrameLocks noGrp="1"/>
          </p:cNvGraphicFramePr>
          <p:nvPr/>
        </p:nvGraphicFramePr>
        <p:xfrm>
          <a:off x="5760720" y="1417320"/>
          <a:ext cx="3017519" cy="2560320"/>
        </p:xfrm>
        <a:graphic>
          <a:graphicData uri="http://schemas.openxmlformats.org/drawingml/2006/table">
            <a:tbl>
              <a:tblPr firstRow="0" bandRow="0"/>
              <a:tblGrid>
                <a:gridCol w="484293"/>
                <a:gridCol w="2533226"/>
              </a:tblGrid>
              <a:tr h="365760">
                <a:tc>
                  <a:txBody>
                    <a:bodyPr wrap="square"/>
                    <a:lstStyle/>
                    <a:p>
                      <a:r>
                        <a:rPr sz="12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250" b="0" i="0">
                          <a:solidFill>
                            <a:srgbClr val="1F2933"/>
                          </a:solidFill>
                          <a:latin typeface="Calibri"/>
                        </a:rPr>
                        <a:t>59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Everyday pictures: programs and the clipboard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61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Program: alternating case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63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Program: Pig Latin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65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Practice program: table printer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50" b="0" i="0">
                          <a:solidFill>
                            <a:srgbClr val="1F2933"/>
                          </a:solidFill>
                          <a:latin typeface="Calibri"/>
                        </a:rPr>
                        <a:t>66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Story: copy and paste is fifty years old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50" b="0" i="0">
                          <a:solidFill>
                            <a:srgbClr val="1F2933"/>
                          </a:solidFill>
                          <a:latin typeface="Calibri"/>
                        </a:rPr>
                        <a:t>68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Clipboard programs: copy, change, paste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58 / 72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programs and the clipboard</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clipboard is one shelf next to your desk: a new copy replaces whatever was there.</a:t>
            </a:r>
          </a:p>
        </p:txBody>
      </p:sp>
      <p:graphicFrame>
        <p:nvGraphicFramePr>
          <p:cNvPr id="6" name="table"/>
          <p:cNvGraphicFramePr>
            <a:graphicFrameLocks noGrp="1"/>
          </p:cNvGraphicFramePr>
          <p:nvPr/>
        </p:nvGraphicFramePr>
        <p:xfrm>
          <a:off x="365760" y="1463040"/>
          <a:ext cx="8412480" cy="3246120"/>
        </p:xfrm>
        <a:graphic>
          <a:graphicData uri="http://schemas.openxmlformats.org/drawingml/2006/table">
            <a:tbl>
              <a:tblPr firstRow="0" bandRow="0"/>
              <a:tblGrid>
                <a:gridCol w="2743200"/>
                <a:gridCol w="5669280"/>
              </a:tblGrid>
              <a:tr h="405765">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05765">
                <a:tc>
                  <a:txBody>
                    <a:bodyPr wrap="square"/>
                    <a:lstStyle/>
                    <a:p>
                      <a:r>
                        <a:rPr sz="1300" b="1" i="0">
                          <a:solidFill>
                            <a:srgbClr val="1F2933"/>
                          </a:solidFill>
                          <a:latin typeface="Calibri"/>
                        </a:rPr>
                        <a:t>Copying and Pasting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Putting a note on the shelf, and reading it back later.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ClipboardPrograms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An assembly line: take the item from the shelf, change it, put it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pyperclip.copy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Placing a new note on the shelf; the old note is gone.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pyperclip.paste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Reading the note on the shelf without taking it away.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Project 2: Add Bullets to Wiki Markup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Stamping a star in front of every line of a shopping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05765">
                <a:tc>
                  <a:txBody>
                    <a:bodyPr wrap="square"/>
                    <a:lstStyle/>
                    <a:p>
                      <a:r>
                        <a:rPr sz="1300" b="1" i="0">
                          <a:solidFill>
                            <a:srgbClr val="1F2933"/>
                          </a:solidFill>
                          <a:latin typeface="Calibri"/>
                        </a:rPr>
                        <a:t>A Short Program: Pig Latin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children's secret code: move the opening sounds to the back and add 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05765">
                <a:tc>
                  <a:txBody>
                    <a:bodyPr wrap="square"/>
                    <a:lstStyle/>
                    <a:p>
                      <a:r>
                        <a:rPr sz="1300" b="1" i="0">
                          <a:solidFill>
                            <a:srgbClr val="1F2933"/>
                          </a:solidFill>
                          <a:latin typeface="Calibri"/>
                        </a:rPr>
                        <a:t>Practice Program: Table Printer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typesetter measuring every column so all rows line 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59 / 72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Program: alternating case</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This program changes the case of each letter by its position. A function holds the rule, and enumerate supplies each position.</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It shows how a loop, an index and a method work together on text.</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It is a piano keyboard pattern: black key, white key, black key, white key.</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Position i</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0, 1, 2, 3 and so on</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Even i</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letter goes lower</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Odd i</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letter goes upper</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join</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glues the letters back together</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Position decides the case.</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60 / 72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Program: alternating case</a:t>
            </a:r>
          </a:p>
        </p:txBody>
      </p:sp>
      <p:sp>
        <p:nvSpPr>
          <p:cNvPr id="4" name="code"/>
          <p:cNvSpPr/>
          <p:nvPr/>
        </p:nvSpPr>
        <p:spPr>
          <a:xfrm>
            <a:off x="365760" y="841248"/>
            <a:ext cx="5285231" cy="1534287"/>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flip</a:t>
            </a:r>
            <a:r>
              <a:rPr sz="1000" b="0" i="0">
                <a:solidFill>
                  <a:srgbClr val="E6EDF3"/>
                </a:solidFill>
                <a:latin typeface="Courier New"/>
              </a:rPr>
              <a:t>(</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a:t>
            </a:r>
          </a:p>
          <a:p>
            <a:pPr algn="l"/>
            <a:r>
              <a:rPr sz="1000" b="0" i="0">
                <a:solidFill>
                  <a:srgbClr val="E6EDF3"/>
                </a:solidFill>
                <a:latin typeface="Courier New"/>
              </a:rPr>
              <a:t>    </a:t>
            </a:r>
            <a:r>
              <a:rPr sz="1000" b="0" i="0">
                <a:solidFill>
                  <a:srgbClr val="8FA3B8"/>
                </a:solidFill>
                <a:latin typeface="Courier New"/>
              </a:rPr>
              <a:t># even positions go lower, odd positions go upper</a:t>
            </a:r>
          </a:p>
          <a:p>
            <a:pPr algn="l"/>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0</a:t>
            </a:r>
            <a:r>
              <a:rPr sz="1000" b="0" i="0">
                <a:solidFill>
                  <a:srgbClr val="E6EDF3"/>
                </a:solidFill>
                <a:latin typeface="Courier New"/>
              </a:rPr>
              <a:t>:</a:t>
            </a:r>
          </a:p>
          <a:p>
            <a:pPr algn="l"/>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lower</a:t>
            </a:r>
            <a:r>
              <a:rPr sz="1000" b="0" i="0">
                <a:solidFill>
                  <a:srgbClr val="E6EDF3"/>
                </a:solidFill>
                <a:latin typeface="Courier New"/>
              </a:rPr>
              <a:t>(</a:t>
            </a:r>
            <a:r>
              <a:rPr sz="1000" b="0" i="0">
                <a:solidFill>
                  <a:srgbClr val="E6EDF3"/>
                </a:solidFill>
                <a:latin typeface="Courier New"/>
              </a:rPr>
              <a:t>)</a:t>
            </a:r>
          </a:p>
          <a:p>
            <a:pPr algn="l"/>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upper</a:t>
            </a:r>
            <a:r>
              <a:rPr sz="1000" b="0" i="0">
                <a:solidFill>
                  <a:srgbClr val="E6EDF3"/>
                </a:solidFill>
                <a:latin typeface="Courier New"/>
              </a:rPr>
              <a:t>(</a:t>
            </a:r>
            <a:r>
              <a:rPr sz="1000" b="0" i="0">
                <a:solidFill>
                  <a:srgbClr val="E6EDF3"/>
                </a:solidFill>
                <a:latin typeface="Courier New"/>
              </a:rPr>
              <a:t>)</a:t>
            </a:r>
          </a:p>
          <a:p>
            <a:pPr algn="l"/>
            <a:r>
              <a:rPr sz="1000" b="0" i="0">
                <a:solidFill>
                  <a:srgbClr val="E6EDF3"/>
                </a:solidFill>
                <a:latin typeface="Courier New"/>
              </a:rPr>
              <a:t> </a:t>
            </a:r>
          </a:p>
          <a:p>
            <a:pPr algn="l"/>
            <a:r>
              <a:rPr sz="1000" b="0" i="0">
                <a:solidFill>
                  <a:srgbClr val="8FA3B8"/>
                </a:solidFill>
                <a:latin typeface="Courier New"/>
              </a:rPr>
              <a:t># enumerate hands out each character with its position</a:t>
            </a:r>
          </a:p>
          <a:p>
            <a:pPr algn="l"/>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flip</a:t>
            </a:r>
            <a:r>
              <a:rPr sz="1000" b="0" i="0">
                <a:solidFill>
                  <a:srgbClr val="E6EDF3"/>
                </a:solidFill>
                <a:latin typeface="Courier New"/>
              </a:rPr>
              <a:t>(</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enumerate</a:t>
            </a:r>
            <a:r>
              <a:rPr sz="1000" b="0" i="0">
                <a:solidFill>
                  <a:srgbClr val="E6EDF3"/>
                </a:solidFill>
                <a:latin typeface="Courier New"/>
              </a:rPr>
              <a:t>(</a:t>
            </a:r>
            <a:r>
              <a:rPr sz="1000" b="0" i="0">
                <a:solidFill>
                  <a:srgbClr val="9BE3A8"/>
                </a:solidFill>
                <a:latin typeface="Courier New"/>
              </a:rPr>
              <a:t>'Hello, world!'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note card"/>
          <p:cNvSpPr/>
          <p:nvPr/>
        </p:nvSpPr>
        <p:spPr>
          <a:xfrm>
            <a:off x="5760720" y="841248"/>
            <a:ext cx="3017520" cy="730567"/>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5806440" y="841248"/>
            <a:ext cx="2926079" cy="730567"/>
          </a:xfrm>
          <a:prstGeom prst="rect">
            <a:avLst/>
          </a:prstGeom>
          <a:noFill/>
        </p:spPr>
        <p:txBody>
          <a:bodyPr wrap="square" lIns="45720" rIns="45720" tIns="27432" bIns="27432" anchor="ctr">
            <a:spAutoFit/>
          </a:bodyPr>
          <a:lstStyle/>
          <a:p>
            <a:r>
              <a:rPr sz="1150" b="0" i="0">
                <a:solidFill>
                  <a:srgbClr val="1F2933"/>
                </a:solidFill>
                <a:latin typeface="Calibri"/>
              </a:rPr>
              <a:t>A tiny rule in a function: even positions go to lower case, odd positions to upper case.</a:t>
            </a:r>
          </a:p>
        </p:txBody>
      </p:sp>
      <p:sp>
        <p:nvSpPr>
          <p:cNvPr id="7" name="note card"/>
          <p:cNvSpPr/>
          <p:nvPr/>
        </p:nvSpPr>
        <p:spPr>
          <a:xfrm>
            <a:off x="5760720" y="1644967"/>
            <a:ext cx="3017520" cy="730567"/>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5806440" y="1644967"/>
            <a:ext cx="2926079" cy="730567"/>
          </a:xfrm>
          <a:prstGeom prst="rect">
            <a:avLst/>
          </a:prstGeom>
          <a:noFill/>
        </p:spPr>
        <p:txBody>
          <a:bodyPr wrap="square" lIns="45720" rIns="45720" tIns="27432" bIns="27432" anchor="ctr">
            <a:spAutoFit/>
          </a:bodyPr>
          <a:lstStyle/>
          <a:p>
            <a:r>
              <a:rPr sz="1150" b="0" i="0">
                <a:solidFill>
                  <a:srgbClr val="1F2933"/>
                </a:solidFill>
                <a:latin typeface="Calibri"/>
              </a:rPr>
              <a:t>enumerate hands out each character with its position. join glues the new characters into one string.</a:t>
            </a:r>
          </a:p>
        </p:txBody>
      </p:sp>
      <p:sp>
        <p:nvSpPr>
          <p:cNvPr id="9" name="result label"/>
          <p:cNvSpPr txBox="1"/>
          <p:nvPr/>
        </p:nvSpPr>
        <p:spPr>
          <a:xfrm>
            <a:off x="365760" y="244868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Rounded Rectangle 9"/>
          <p:cNvSpPr/>
          <p:nvPr/>
        </p:nvSpPr>
        <p:spPr>
          <a:xfrm>
            <a:off x="886967"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H</a:t>
            </a:r>
          </a:p>
        </p:txBody>
      </p:sp>
      <p:cxnSp>
        <p:nvCxnSpPr>
          <p:cNvPr id="11" name="arrow"/>
          <p:cNvCxnSpPr/>
          <p:nvPr/>
        </p:nvCxnSpPr>
        <p:spPr>
          <a:xfrm>
            <a:off x="1152143" y="3107055"/>
            <a:ext cx="0" cy="329184"/>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86967" y="3454527"/>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h</a:t>
            </a:r>
          </a:p>
        </p:txBody>
      </p:sp>
      <p:sp>
        <p:nvSpPr>
          <p:cNvPr id="13" name="TextBox 12"/>
          <p:cNvSpPr txBox="1"/>
          <p:nvPr/>
        </p:nvSpPr>
        <p:spPr>
          <a:xfrm>
            <a:off x="886967"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0</a:t>
            </a:r>
          </a:p>
        </p:txBody>
      </p:sp>
      <p:sp>
        <p:nvSpPr>
          <p:cNvPr id="14" name="Rounded Rectangle 13"/>
          <p:cNvSpPr/>
          <p:nvPr/>
        </p:nvSpPr>
        <p:spPr>
          <a:xfrm>
            <a:off x="1453895"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e</a:t>
            </a:r>
          </a:p>
        </p:txBody>
      </p:sp>
      <p:cxnSp>
        <p:nvCxnSpPr>
          <p:cNvPr id="15" name="arrow"/>
          <p:cNvCxnSpPr/>
          <p:nvPr/>
        </p:nvCxnSpPr>
        <p:spPr>
          <a:xfrm>
            <a:off x="1719071" y="3107055"/>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453895" y="3454527"/>
            <a:ext cx="530352"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E</a:t>
            </a:r>
          </a:p>
        </p:txBody>
      </p:sp>
      <p:sp>
        <p:nvSpPr>
          <p:cNvPr id="17" name="TextBox 16"/>
          <p:cNvSpPr txBox="1"/>
          <p:nvPr/>
        </p:nvSpPr>
        <p:spPr>
          <a:xfrm>
            <a:off x="1453895"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1</a:t>
            </a:r>
          </a:p>
        </p:txBody>
      </p:sp>
      <p:sp>
        <p:nvSpPr>
          <p:cNvPr id="18" name="Rounded Rectangle 17"/>
          <p:cNvSpPr/>
          <p:nvPr/>
        </p:nvSpPr>
        <p:spPr>
          <a:xfrm>
            <a:off x="2020823"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l</a:t>
            </a:r>
          </a:p>
        </p:txBody>
      </p:sp>
      <p:cxnSp>
        <p:nvCxnSpPr>
          <p:cNvPr id="19" name="arrow"/>
          <p:cNvCxnSpPr/>
          <p:nvPr/>
        </p:nvCxnSpPr>
        <p:spPr>
          <a:xfrm>
            <a:off x="2285999" y="3107055"/>
            <a:ext cx="0" cy="329184"/>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020823" y="3454527"/>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l</a:t>
            </a:r>
          </a:p>
        </p:txBody>
      </p:sp>
      <p:sp>
        <p:nvSpPr>
          <p:cNvPr id="21" name="TextBox 20"/>
          <p:cNvSpPr txBox="1"/>
          <p:nvPr/>
        </p:nvSpPr>
        <p:spPr>
          <a:xfrm>
            <a:off x="2020823"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2</a:t>
            </a:r>
          </a:p>
        </p:txBody>
      </p:sp>
      <p:sp>
        <p:nvSpPr>
          <p:cNvPr id="22" name="Rounded Rectangle 21"/>
          <p:cNvSpPr/>
          <p:nvPr/>
        </p:nvSpPr>
        <p:spPr>
          <a:xfrm>
            <a:off x="2587751"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l</a:t>
            </a:r>
          </a:p>
        </p:txBody>
      </p:sp>
      <p:cxnSp>
        <p:nvCxnSpPr>
          <p:cNvPr id="23" name="arrow"/>
          <p:cNvCxnSpPr/>
          <p:nvPr/>
        </p:nvCxnSpPr>
        <p:spPr>
          <a:xfrm>
            <a:off x="2852927" y="3107055"/>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587751" y="3454527"/>
            <a:ext cx="530352"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L</a:t>
            </a:r>
          </a:p>
        </p:txBody>
      </p:sp>
      <p:sp>
        <p:nvSpPr>
          <p:cNvPr id="25" name="TextBox 24"/>
          <p:cNvSpPr txBox="1"/>
          <p:nvPr/>
        </p:nvSpPr>
        <p:spPr>
          <a:xfrm>
            <a:off x="2587751"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3</a:t>
            </a:r>
          </a:p>
        </p:txBody>
      </p:sp>
      <p:sp>
        <p:nvSpPr>
          <p:cNvPr id="26" name="Rounded Rectangle 25"/>
          <p:cNvSpPr/>
          <p:nvPr/>
        </p:nvSpPr>
        <p:spPr>
          <a:xfrm>
            <a:off x="3154679"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o</a:t>
            </a:r>
          </a:p>
        </p:txBody>
      </p:sp>
      <p:cxnSp>
        <p:nvCxnSpPr>
          <p:cNvPr id="27" name="arrow"/>
          <p:cNvCxnSpPr/>
          <p:nvPr/>
        </p:nvCxnSpPr>
        <p:spPr>
          <a:xfrm>
            <a:off x="3419855" y="3107055"/>
            <a:ext cx="0" cy="329184"/>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154679" y="3454527"/>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o</a:t>
            </a:r>
          </a:p>
        </p:txBody>
      </p:sp>
      <p:sp>
        <p:nvSpPr>
          <p:cNvPr id="29" name="TextBox 28"/>
          <p:cNvSpPr txBox="1"/>
          <p:nvPr/>
        </p:nvSpPr>
        <p:spPr>
          <a:xfrm>
            <a:off x="3154679"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4</a:t>
            </a:r>
          </a:p>
        </p:txBody>
      </p:sp>
      <p:sp>
        <p:nvSpPr>
          <p:cNvPr id="30" name="Rounded Rectangle 29"/>
          <p:cNvSpPr/>
          <p:nvPr/>
        </p:nvSpPr>
        <p:spPr>
          <a:xfrm>
            <a:off x="3721607"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a:t>
            </a:r>
          </a:p>
        </p:txBody>
      </p:sp>
      <p:cxnSp>
        <p:nvCxnSpPr>
          <p:cNvPr id="31" name="arrow"/>
          <p:cNvCxnSpPr/>
          <p:nvPr/>
        </p:nvCxnSpPr>
        <p:spPr>
          <a:xfrm>
            <a:off x="3986783" y="3107055"/>
            <a:ext cx="0" cy="329184"/>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3721607" y="3454527"/>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a:t>
            </a:r>
          </a:p>
        </p:txBody>
      </p:sp>
      <p:sp>
        <p:nvSpPr>
          <p:cNvPr id="33" name="TextBox 32"/>
          <p:cNvSpPr txBox="1"/>
          <p:nvPr/>
        </p:nvSpPr>
        <p:spPr>
          <a:xfrm>
            <a:off x="3721607"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5</a:t>
            </a:r>
          </a:p>
        </p:txBody>
      </p:sp>
      <p:sp>
        <p:nvSpPr>
          <p:cNvPr id="34" name="Rounded Rectangle 33"/>
          <p:cNvSpPr/>
          <p:nvPr/>
        </p:nvSpPr>
        <p:spPr>
          <a:xfrm>
            <a:off x="4288536"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a:t>
            </a:r>
          </a:p>
        </p:txBody>
      </p:sp>
      <p:cxnSp>
        <p:nvCxnSpPr>
          <p:cNvPr id="35" name="arrow"/>
          <p:cNvCxnSpPr/>
          <p:nvPr/>
        </p:nvCxnSpPr>
        <p:spPr>
          <a:xfrm>
            <a:off x="4553712" y="3107055"/>
            <a:ext cx="0" cy="329184"/>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288536" y="3454527"/>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a:t>
            </a:r>
          </a:p>
        </p:txBody>
      </p:sp>
      <p:sp>
        <p:nvSpPr>
          <p:cNvPr id="37" name="TextBox 36"/>
          <p:cNvSpPr txBox="1"/>
          <p:nvPr/>
        </p:nvSpPr>
        <p:spPr>
          <a:xfrm>
            <a:off x="4288536"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6</a:t>
            </a:r>
          </a:p>
        </p:txBody>
      </p:sp>
      <p:sp>
        <p:nvSpPr>
          <p:cNvPr id="38" name="Rounded Rectangle 37"/>
          <p:cNvSpPr/>
          <p:nvPr/>
        </p:nvSpPr>
        <p:spPr>
          <a:xfrm>
            <a:off x="4855464"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w</a:t>
            </a:r>
          </a:p>
        </p:txBody>
      </p:sp>
      <p:cxnSp>
        <p:nvCxnSpPr>
          <p:cNvPr id="39" name="arrow"/>
          <p:cNvCxnSpPr/>
          <p:nvPr/>
        </p:nvCxnSpPr>
        <p:spPr>
          <a:xfrm>
            <a:off x="5120640" y="3107055"/>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855464" y="3454527"/>
            <a:ext cx="530352"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W</a:t>
            </a:r>
          </a:p>
        </p:txBody>
      </p:sp>
      <p:sp>
        <p:nvSpPr>
          <p:cNvPr id="41" name="TextBox 40"/>
          <p:cNvSpPr txBox="1"/>
          <p:nvPr/>
        </p:nvSpPr>
        <p:spPr>
          <a:xfrm>
            <a:off x="4855464"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7</a:t>
            </a:r>
          </a:p>
        </p:txBody>
      </p:sp>
      <p:sp>
        <p:nvSpPr>
          <p:cNvPr id="42" name="Rounded Rectangle 41"/>
          <p:cNvSpPr/>
          <p:nvPr/>
        </p:nvSpPr>
        <p:spPr>
          <a:xfrm>
            <a:off x="5422392"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o</a:t>
            </a:r>
          </a:p>
        </p:txBody>
      </p:sp>
      <p:cxnSp>
        <p:nvCxnSpPr>
          <p:cNvPr id="43" name="arrow"/>
          <p:cNvCxnSpPr/>
          <p:nvPr/>
        </p:nvCxnSpPr>
        <p:spPr>
          <a:xfrm>
            <a:off x="5687568" y="3107055"/>
            <a:ext cx="0" cy="329184"/>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422392" y="3454527"/>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o</a:t>
            </a:r>
          </a:p>
        </p:txBody>
      </p:sp>
      <p:sp>
        <p:nvSpPr>
          <p:cNvPr id="45" name="TextBox 44"/>
          <p:cNvSpPr txBox="1"/>
          <p:nvPr/>
        </p:nvSpPr>
        <p:spPr>
          <a:xfrm>
            <a:off x="5422392"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8</a:t>
            </a:r>
          </a:p>
        </p:txBody>
      </p:sp>
      <p:sp>
        <p:nvSpPr>
          <p:cNvPr id="46" name="Rounded Rectangle 45"/>
          <p:cNvSpPr/>
          <p:nvPr/>
        </p:nvSpPr>
        <p:spPr>
          <a:xfrm>
            <a:off x="5989320"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r</a:t>
            </a:r>
          </a:p>
        </p:txBody>
      </p:sp>
      <p:cxnSp>
        <p:nvCxnSpPr>
          <p:cNvPr id="47" name="arrow"/>
          <p:cNvCxnSpPr/>
          <p:nvPr/>
        </p:nvCxnSpPr>
        <p:spPr>
          <a:xfrm>
            <a:off x="6254496" y="3107055"/>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989320" y="3454527"/>
            <a:ext cx="530352"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R</a:t>
            </a:r>
          </a:p>
        </p:txBody>
      </p:sp>
      <p:sp>
        <p:nvSpPr>
          <p:cNvPr id="49" name="TextBox 48"/>
          <p:cNvSpPr txBox="1"/>
          <p:nvPr/>
        </p:nvSpPr>
        <p:spPr>
          <a:xfrm>
            <a:off x="5989320"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9</a:t>
            </a:r>
          </a:p>
        </p:txBody>
      </p:sp>
      <p:sp>
        <p:nvSpPr>
          <p:cNvPr id="50" name="Rounded Rectangle 49"/>
          <p:cNvSpPr/>
          <p:nvPr/>
        </p:nvSpPr>
        <p:spPr>
          <a:xfrm>
            <a:off x="6556248"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l</a:t>
            </a:r>
          </a:p>
        </p:txBody>
      </p:sp>
      <p:cxnSp>
        <p:nvCxnSpPr>
          <p:cNvPr id="51" name="arrow"/>
          <p:cNvCxnSpPr/>
          <p:nvPr/>
        </p:nvCxnSpPr>
        <p:spPr>
          <a:xfrm>
            <a:off x="6821424" y="3107055"/>
            <a:ext cx="0" cy="329184"/>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6556248" y="3454527"/>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l</a:t>
            </a:r>
          </a:p>
        </p:txBody>
      </p:sp>
      <p:sp>
        <p:nvSpPr>
          <p:cNvPr id="53" name="TextBox 52"/>
          <p:cNvSpPr txBox="1"/>
          <p:nvPr/>
        </p:nvSpPr>
        <p:spPr>
          <a:xfrm>
            <a:off x="6556248"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10</a:t>
            </a:r>
          </a:p>
        </p:txBody>
      </p:sp>
      <p:sp>
        <p:nvSpPr>
          <p:cNvPr id="54" name="Rounded Rectangle 53"/>
          <p:cNvSpPr/>
          <p:nvPr/>
        </p:nvSpPr>
        <p:spPr>
          <a:xfrm>
            <a:off x="7123176"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d</a:t>
            </a:r>
          </a:p>
        </p:txBody>
      </p:sp>
      <p:cxnSp>
        <p:nvCxnSpPr>
          <p:cNvPr id="55" name="arrow"/>
          <p:cNvCxnSpPr/>
          <p:nvPr/>
        </p:nvCxnSpPr>
        <p:spPr>
          <a:xfrm>
            <a:off x="7388352" y="3107055"/>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7123176" y="3454527"/>
            <a:ext cx="530352" cy="365760"/>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D</a:t>
            </a:r>
          </a:p>
        </p:txBody>
      </p:sp>
      <p:sp>
        <p:nvSpPr>
          <p:cNvPr id="57" name="TextBox 56"/>
          <p:cNvSpPr txBox="1"/>
          <p:nvPr/>
        </p:nvSpPr>
        <p:spPr>
          <a:xfrm>
            <a:off x="7123176"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11</a:t>
            </a:r>
          </a:p>
        </p:txBody>
      </p:sp>
      <p:sp>
        <p:nvSpPr>
          <p:cNvPr id="58" name="Rounded Rectangle 57"/>
          <p:cNvSpPr/>
          <p:nvPr/>
        </p:nvSpPr>
        <p:spPr>
          <a:xfrm>
            <a:off x="7690103" y="2723007"/>
            <a:ext cx="530352" cy="36576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a:t>
            </a:r>
          </a:p>
        </p:txBody>
      </p:sp>
      <p:cxnSp>
        <p:nvCxnSpPr>
          <p:cNvPr id="59" name="arrow"/>
          <p:cNvCxnSpPr/>
          <p:nvPr/>
        </p:nvCxnSpPr>
        <p:spPr>
          <a:xfrm>
            <a:off x="7955279" y="3107055"/>
            <a:ext cx="0" cy="329184"/>
          </a:xfrm>
          <a:prstGeom prst="line">
            <a:avLst/>
          </a:prstGeom>
          <a:ln w="152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7690103" y="3454527"/>
            <a:ext cx="530352" cy="365760"/>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933"/>
                </a:solidFill>
                <a:latin typeface="Calibri"/>
              </a:rPr>
              <a:t>!</a:t>
            </a:r>
          </a:p>
        </p:txBody>
      </p:sp>
      <p:sp>
        <p:nvSpPr>
          <p:cNvPr id="61" name="TextBox 60"/>
          <p:cNvSpPr txBox="1"/>
          <p:nvPr/>
        </p:nvSpPr>
        <p:spPr>
          <a:xfrm>
            <a:off x="7690103" y="3838575"/>
            <a:ext cx="530352" cy="182880"/>
          </a:xfrm>
          <a:prstGeom prst="rect">
            <a:avLst/>
          </a:prstGeom>
          <a:noFill/>
        </p:spPr>
        <p:txBody>
          <a:bodyPr wrap="square" lIns="0" rIns="0" tIns="0" bIns="0" anchor="t">
            <a:spAutoFit/>
          </a:bodyPr>
          <a:lstStyle/>
          <a:p>
            <a:pPr algn="ctr"/>
            <a:r>
              <a:rPr sz="900" b="0" i="0">
                <a:solidFill>
                  <a:srgbClr val="5B6773"/>
                </a:solidFill>
                <a:latin typeface="Calibri"/>
              </a:rPr>
              <a:t>12</a:t>
            </a:r>
          </a:p>
        </p:txBody>
      </p:sp>
      <p:sp>
        <p:nvSpPr>
          <p:cNvPr id="62" name="TextBox 61"/>
          <p:cNvSpPr txBox="1"/>
          <p:nvPr/>
        </p:nvSpPr>
        <p:spPr>
          <a:xfrm>
            <a:off x="365760" y="4021455"/>
            <a:ext cx="8412480" cy="228600"/>
          </a:xfrm>
          <a:prstGeom prst="rect">
            <a:avLst/>
          </a:prstGeom>
          <a:noFill/>
        </p:spPr>
        <p:txBody>
          <a:bodyPr wrap="square" lIns="45720" rIns="45720" tIns="27432" bIns="27432" anchor="t">
            <a:spAutoFit/>
          </a:bodyPr>
          <a:lstStyle/>
          <a:p>
            <a:pPr algn="ctr"/>
            <a:r>
              <a:rPr sz="1000" b="0" i="0">
                <a:solidFill>
                  <a:srgbClr val="5B6773"/>
                </a:solidFill>
                <a:latin typeface="Calibri"/>
              </a:rPr>
              <a:t>even index: lower case (teal)   odd index: upper case (amber)</a:t>
            </a:r>
          </a:p>
        </p:txBody>
      </p:sp>
      <p:sp>
        <p:nvSpPr>
          <p:cNvPr id="6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Position decides the case.</a:t>
            </a:r>
          </a:p>
        </p:txBody>
      </p:sp>
      <p:sp>
        <p:nvSpPr>
          <p:cNvPr id="6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61 / 72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Program: Pig Latin</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Pig Latin moves the opening consonants of a word to the end and adds ay. A word that starts with a vowel just gets yay.</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It combines a search, slices and a join in one small program that you can predict by hand.</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Pig Latin is a children's secret code: move the opening sounds to the back and add ay.</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Word</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name</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cut</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finds the first vowel at index 1</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Slices</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ame plus n</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Add ay</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amenay</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Find the first vowel, then rearrange.</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62 / 72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Program: Pig Latin</a:t>
            </a:r>
          </a:p>
        </p:txBody>
      </p:sp>
      <p:sp>
        <p:nvSpPr>
          <p:cNvPr id="4" name="code"/>
          <p:cNvSpPr/>
          <p:nvPr/>
        </p:nvSpPr>
        <p:spPr>
          <a:xfrm>
            <a:off x="365760" y="841248"/>
            <a:ext cx="4165091" cy="2028444"/>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C9A0FF"/>
                </a:solidFill>
                <a:latin typeface="Courier New"/>
              </a:rPr>
              <a:t>def</a:t>
            </a:r>
            <a:r>
              <a:rPr sz="900" b="0" i="0">
                <a:solidFill>
                  <a:srgbClr val="E6EDF3"/>
                </a:solidFill>
                <a:latin typeface="Courier New"/>
              </a:rPr>
              <a:t> </a:t>
            </a:r>
            <a:r>
              <a:rPr sz="900" b="0" i="0">
                <a:solidFill>
                  <a:srgbClr val="E6EDF3"/>
                </a:solidFill>
                <a:latin typeface="Courier New"/>
              </a:rPr>
              <a:t>cut</a:t>
            </a:r>
            <a:r>
              <a:rPr sz="900" b="0" i="0">
                <a:solidFill>
                  <a:srgbClr val="E6EDF3"/>
                </a:solidFill>
                <a:latin typeface="Courier New"/>
              </a:rPr>
              <a:t>(</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a:t>
            </a:r>
          </a:p>
          <a:p>
            <a:pPr algn="l"/>
            <a:r>
              <a:rPr sz="900" b="0" i="0">
                <a:solidFill>
                  <a:srgbClr val="E6EDF3"/>
                </a:solidFill>
                <a:latin typeface="Courier New"/>
              </a:rPr>
              <a:t>    </a:t>
            </a:r>
            <a:r>
              <a:rPr sz="900" b="0" i="0">
                <a:solidFill>
                  <a:srgbClr val="8FA3B8"/>
                </a:solidFill>
                <a:latin typeface="Courier New"/>
              </a:rPr>
              <a:t># the index of the first vowel</a:t>
            </a:r>
          </a:p>
          <a:p>
            <a:pPr algn="l"/>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i</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enumerate</a:t>
            </a:r>
            <a:r>
              <a:rPr sz="900" b="0" i="0">
                <a:solidFill>
                  <a:srgbClr val="E6EDF3"/>
                </a:solidFill>
                <a:latin typeface="Courier New"/>
              </a:rPr>
              <a:t>(</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a:t>
            </a:r>
          </a:p>
          <a:p>
            <a:pPr algn="l"/>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c</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9BE3A8"/>
                </a:solidFill>
                <a:latin typeface="Courier New"/>
              </a:rPr>
              <a:t>'aeiouy'</a:t>
            </a:r>
            <a:r>
              <a:rPr sz="900" b="0" i="0">
                <a:solidFill>
                  <a:srgbClr val="E6EDF3"/>
                </a:solidFill>
                <a:latin typeface="Courier New"/>
              </a:rPr>
              <a:t>:</a:t>
            </a:r>
          </a:p>
          <a:p>
            <a:pPr algn="l"/>
            <a:r>
              <a:rPr sz="900" b="0" i="0">
                <a:solidFill>
                  <a:srgbClr val="E6EDF3"/>
                </a:solidFill>
                <a:latin typeface="Courier New"/>
              </a:rPr>
              <a:t>            </a:t>
            </a:r>
            <a:r>
              <a:rPr sz="900" b="0" i="0">
                <a:solidFill>
                  <a:srgbClr val="C9A0FF"/>
                </a:solidFill>
                <a:latin typeface="Courier New"/>
              </a:rPr>
              <a:t>return</a:t>
            </a:r>
            <a:r>
              <a:rPr sz="900" b="0" i="0">
                <a:solidFill>
                  <a:srgbClr val="E6EDF3"/>
                </a:solidFill>
                <a:latin typeface="Courier New"/>
              </a:rPr>
              <a:t> </a:t>
            </a:r>
            <a:r>
              <a:rPr sz="900" b="0" i="0">
                <a:solidFill>
                  <a:srgbClr val="E6EDF3"/>
                </a:solidFill>
                <a:latin typeface="Courier New"/>
              </a:rPr>
              <a:t>i</a:t>
            </a:r>
          </a:p>
          <a:p>
            <a:pPr algn="l"/>
            <a:r>
              <a:rPr sz="900" b="0" i="0">
                <a:solidFill>
                  <a:srgbClr val="E6EDF3"/>
                </a:solidFill>
                <a:latin typeface="Courier New"/>
              </a:rPr>
              <a:t>    </a:t>
            </a:r>
            <a:r>
              <a:rPr sz="900" b="0" i="0">
                <a:solidFill>
                  <a:srgbClr val="C9A0FF"/>
                </a:solidFill>
                <a:latin typeface="Courier New"/>
              </a:rPr>
              <a:t>return</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w</a:t>
            </a:r>
            <a:r>
              <a:rPr sz="900" b="0" i="0">
                <a:solidFill>
                  <a:srgbClr val="E6EDF3"/>
                </a:solidFill>
                <a:latin typeface="Courier New"/>
              </a:rPr>
              <a:t>)</a:t>
            </a:r>
          </a:p>
          <a:p>
            <a:pPr algn="l"/>
            <a:r>
              <a:rPr sz="900" b="0" i="0">
                <a:solidFill>
                  <a:srgbClr val="E6EDF3"/>
                </a:solidFill>
                <a:latin typeface="Courier New"/>
              </a:rPr>
              <a:t> </a:t>
            </a:r>
          </a:p>
          <a:p>
            <a:pPr algn="l"/>
            <a:r>
              <a:rPr sz="900" b="0" i="0">
                <a:solidFill>
                  <a:srgbClr val="C9A0FF"/>
                </a:solidFill>
                <a:latin typeface="Courier New"/>
              </a:rPr>
              <a:t>def</a:t>
            </a:r>
            <a:r>
              <a:rPr sz="900" b="0" i="0">
                <a:solidFill>
                  <a:srgbClr val="E6EDF3"/>
                </a:solidFill>
                <a:latin typeface="Courier New"/>
              </a:rPr>
              <a:t> </a:t>
            </a:r>
            <a:r>
              <a:rPr sz="900" b="0" i="0">
                <a:solidFill>
                  <a:srgbClr val="E6EDF3"/>
                </a:solidFill>
                <a:latin typeface="Courier New"/>
              </a:rPr>
              <a:t>pig</a:t>
            </a:r>
            <a:r>
              <a:rPr sz="900" b="0" i="0">
                <a:solidFill>
                  <a:srgbClr val="E6EDF3"/>
                </a:solidFill>
                <a:latin typeface="Courier New"/>
              </a:rPr>
              <a:t>(</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a:t>
            </a:r>
          </a:p>
          <a:p>
            <a:pPr algn="l"/>
            <a:r>
              <a:rPr sz="900" b="0" i="0">
                <a:solidFill>
                  <a:srgbClr val="E6EDF3"/>
                </a:solidFill>
                <a:latin typeface="Courier New"/>
              </a:rPr>
              <a:t>    </a:t>
            </a:r>
            <a:r>
              <a:rPr sz="900" b="0" i="0">
                <a:solidFill>
                  <a:srgbClr val="E6EDF3"/>
                </a:solidFill>
                <a:latin typeface="Courier New"/>
              </a:rPr>
              <a:t>k</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cut</a:t>
            </a:r>
            <a:r>
              <a:rPr sz="900" b="0" i="0">
                <a:solidFill>
                  <a:srgbClr val="E6EDF3"/>
                </a:solidFill>
                <a:latin typeface="Courier New"/>
              </a:rPr>
              <a:t>(</a:t>
            </a:r>
            <a:r>
              <a:rPr sz="900" b="0" i="0">
                <a:solidFill>
                  <a:srgbClr val="E6EDF3"/>
                </a:solidFill>
                <a:latin typeface="Courier New"/>
              </a:rPr>
              <a:t>w</a:t>
            </a:r>
            <a:r>
              <a:rPr sz="900" b="0" i="0">
                <a:solidFill>
                  <a:srgbClr val="E6EDF3"/>
                </a:solidFill>
                <a:latin typeface="Courier New"/>
              </a:rPr>
              <a:t>)</a:t>
            </a:r>
          </a:p>
          <a:p>
            <a:pPr algn="l"/>
            <a:r>
              <a:rPr sz="900" b="0" i="0">
                <a:solidFill>
                  <a:srgbClr val="E6EDF3"/>
                </a:solidFill>
                <a:latin typeface="Courier New"/>
              </a:rPr>
              <a:t>    </a:t>
            </a:r>
            <a:r>
              <a:rPr sz="900" b="0" i="0">
                <a:solidFill>
                  <a:srgbClr val="E6EDF3"/>
                </a:solidFill>
                <a:latin typeface="Courier New"/>
              </a:rPr>
              <a:t>ending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'yay'</a:t>
            </a:r>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k</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0</a:t>
            </a:r>
            <a:r>
              <a:rPr sz="900" b="0" i="0">
                <a:solidFill>
                  <a:srgbClr val="E6EDF3"/>
                </a:solidFill>
                <a:latin typeface="Courier New"/>
              </a:rPr>
              <a:t> </a:t>
            </a:r>
            <a:r>
              <a:rPr sz="900" b="0" i="0">
                <a:solidFill>
                  <a:srgbClr val="C9A0FF"/>
                </a:solidFill>
                <a:latin typeface="Courier New"/>
              </a:rPr>
              <a:t>else</a:t>
            </a:r>
            <a:r>
              <a:rPr sz="900" b="0" i="0">
                <a:solidFill>
                  <a:srgbClr val="E6EDF3"/>
                </a:solidFill>
                <a:latin typeface="Courier New"/>
              </a:rPr>
              <a:t> </a:t>
            </a:r>
            <a:r>
              <a:rPr sz="900" b="0" i="0">
                <a:solidFill>
                  <a:srgbClr val="9BE3A8"/>
                </a:solidFill>
                <a:latin typeface="Courier New"/>
              </a:rPr>
              <a:t>'ay'</a:t>
            </a:r>
          </a:p>
          <a:p>
            <a:pPr algn="l"/>
            <a:r>
              <a:rPr sz="900" b="0" i="0">
                <a:solidFill>
                  <a:srgbClr val="E6EDF3"/>
                </a:solidFill>
                <a:latin typeface="Courier New"/>
              </a:rPr>
              <a:t>    </a:t>
            </a:r>
            <a:r>
              <a:rPr sz="900" b="0" i="0">
                <a:solidFill>
                  <a:srgbClr val="C9A0FF"/>
                </a:solidFill>
                <a:latin typeface="Courier New"/>
              </a:rPr>
              <a:t>return</a:t>
            </a:r>
            <a:r>
              <a:rPr sz="900" b="0" i="0">
                <a:solidFill>
                  <a:srgbClr val="E6EDF3"/>
                </a:solidFill>
                <a:latin typeface="Courier New"/>
              </a:rPr>
              <a:t> </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k</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k</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ending</a:t>
            </a:r>
          </a:p>
          <a:p>
            <a:pPr algn="l"/>
            <a:r>
              <a:rPr sz="900" b="0" i="0">
                <a:solidFill>
                  <a:srgbClr val="E6EDF3"/>
                </a:solidFill>
                <a:latin typeface="Courier New"/>
              </a:rPr>
              <a:t> </a:t>
            </a:r>
          </a:p>
          <a:p>
            <a:pPr algn="l"/>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 '</a:t>
            </a:r>
            <a:r>
              <a:rPr sz="900" b="0" i="0">
                <a:solidFill>
                  <a:srgbClr val="E6EDF3"/>
                </a:solidFill>
                <a:latin typeface="Courier New"/>
              </a:rPr>
              <a:t>.</a:t>
            </a:r>
            <a:r>
              <a:rPr sz="900" b="0" i="0">
                <a:solidFill>
                  <a:srgbClr val="E6EDF3"/>
                </a:solidFill>
                <a:latin typeface="Courier New"/>
              </a:rPr>
              <a:t>join</a:t>
            </a:r>
            <a:r>
              <a:rPr sz="900" b="0" i="0">
                <a:solidFill>
                  <a:srgbClr val="E6EDF3"/>
                </a:solidFill>
                <a:latin typeface="Courier New"/>
              </a:rPr>
              <a:t>(</a:t>
            </a:r>
            <a:r>
              <a:rPr sz="900" b="0" i="0">
                <a:solidFill>
                  <a:srgbClr val="E6EDF3"/>
                </a:solidFill>
                <a:latin typeface="Courier New"/>
              </a:rPr>
              <a:t>pig</a:t>
            </a:r>
            <a:r>
              <a:rPr sz="900" b="0" i="0">
                <a:solidFill>
                  <a:srgbClr val="E6EDF3"/>
                </a:solidFill>
                <a:latin typeface="Courier New"/>
              </a:rPr>
              <a:t>(</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w</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9BE3A8"/>
                </a:solidFill>
                <a:latin typeface="Courier New"/>
              </a:rPr>
              <a:t>'my name is al'</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5" name="note card"/>
          <p:cNvSpPr/>
          <p:nvPr/>
        </p:nvSpPr>
        <p:spPr>
          <a:xfrm>
            <a:off x="4640579" y="841248"/>
            <a:ext cx="4137660" cy="5638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4686299" y="841248"/>
            <a:ext cx="4046220" cy="563880"/>
          </a:xfrm>
          <a:prstGeom prst="rect">
            <a:avLst/>
          </a:prstGeom>
          <a:noFill/>
        </p:spPr>
        <p:txBody>
          <a:bodyPr wrap="square" lIns="45720" rIns="45720" tIns="27432" bIns="27432" anchor="ctr">
            <a:spAutoFit/>
          </a:bodyPr>
          <a:lstStyle/>
          <a:p>
            <a:r>
              <a:rPr sz="1200" b="0" i="0">
                <a:solidFill>
                  <a:srgbClr val="1F2933"/>
                </a:solidFill>
                <a:latin typeface="Calibri"/>
              </a:rPr>
              <a:t>cut finds where the first vowel sits. That is the length of the opening consonants.</a:t>
            </a:r>
          </a:p>
        </p:txBody>
      </p:sp>
      <p:sp>
        <p:nvSpPr>
          <p:cNvPr id="7" name="note card"/>
          <p:cNvSpPr/>
          <p:nvPr/>
        </p:nvSpPr>
        <p:spPr>
          <a:xfrm>
            <a:off x="4640579" y="1478280"/>
            <a:ext cx="4137660" cy="7543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4686299" y="1478280"/>
            <a:ext cx="4046220" cy="754380"/>
          </a:xfrm>
          <a:prstGeom prst="rect">
            <a:avLst/>
          </a:prstGeom>
          <a:noFill/>
        </p:spPr>
        <p:txBody>
          <a:bodyPr wrap="square" lIns="45720" rIns="45720" tIns="27432" bIns="27432" anchor="ctr">
            <a:spAutoFit/>
          </a:bodyPr>
          <a:lstStyle/>
          <a:p>
            <a:r>
              <a:rPr sz="1200" b="0" i="0">
                <a:solidFill>
                  <a:srgbClr val="1F2933"/>
                </a:solidFill>
                <a:latin typeface="Calibri"/>
              </a:rPr>
              <a:t>pig moves the opening consonants to the end and adds ay. A word that starts with a vowel just gets yay.</a:t>
            </a:r>
          </a:p>
        </p:txBody>
      </p:sp>
      <p:sp>
        <p:nvSpPr>
          <p:cNvPr id="9" name="note card"/>
          <p:cNvSpPr/>
          <p:nvPr/>
        </p:nvSpPr>
        <p:spPr>
          <a:xfrm>
            <a:off x="4640579" y="2305812"/>
            <a:ext cx="4137660" cy="56388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anation"/>
          <p:cNvSpPr txBox="1"/>
          <p:nvPr/>
        </p:nvSpPr>
        <p:spPr>
          <a:xfrm>
            <a:off x="4686299" y="2305812"/>
            <a:ext cx="4046220" cy="563880"/>
          </a:xfrm>
          <a:prstGeom prst="rect">
            <a:avLst/>
          </a:prstGeom>
          <a:noFill/>
        </p:spPr>
        <p:txBody>
          <a:bodyPr wrap="square" lIns="45720" rIns="45720" tIns="27432" bIns="27432" anchor="ctr">
            <a:spAutoFit/>
          </a:bodyPr>
          <a:lstStyle/>
          <a:p>
            <a:r>
              <a:rPr sz="1200" b="0" i="0">
                <a:solidFill>
                  <a:srgbClr val="1F2933"/>
                </a:solidFill>
                <a:latin typeface="Calibri"/>
              </a:rPr>
              <a:t>split makes the words, pig translates each one, join puts the sentence back together.</a:t>
            </a:r>
          </a:p>
        </p:txBody>
      </p:sp>
      <p:sp>
        <p:nvSpPr>
          <p:cNvPr id="11" name="result label"/>
          <p:cNvSpPr txBox="1"/>
          <p:nvPr/>
        </p:nvSpPr>
        <p:spPr>
          <a:xfrm>
            <a:off x="365760" y="294284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2" name="table"/>
          <p:cNvGraphicFramePr>
            <a:graphicFrameLocks noGrp="1"/>
          </p:cNvGraphicFramePr>
          <p:nvPr/>
        </p:nvGraphicFramePr>
        <p:xfrm>
          <a:off x="365760" y="3217164"/>
          <a:ext cx="8412478" cy="1391410"/>
        </p:xfrm>
        <a:graphic>
          <a:graphicData uri="http://schemas.openxmlformats.org/drawingml/2006/table">
            <a:tbl>
              <a:tblPr firstRow="0" bandRow="0"/>
              <a:tblGrid>
                <a:gridCol w="1442139"/>
                <a:gridCol w="2643922"/>
                <a:gridCol w="1922852"/>
                <a:gridCol w="2403565"/>
              </a:tblGrid>
              <a:tr h="278282">
                <a:tc>
                  <a:txBody>
                    <a:bodyPr wrap="square"/>
                    <a:lstStyle/>
                    <a:p>
                      <a:r>
                        <a:rPr sz="1000" b="1" i="0">
                          <a:solidFill>
                            <a:srgbClr val="FFFFFF"/>
                          </a:solidFill>
                          <a:latin typeface="Calibri"/>
                        </a:rPr>
                        <a:t>Word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Opening consonants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Pig Latin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8282">
                <a:tc>
                  <a:txBody>
                    <a:bodyPr wrap="square"/>
                    <a:lstStyle/>
                    <a:p>
                      <a:r>
                        <a:rPr sz="1000" b="0" i="0">
                          <a:solidFill>
                            <a:srgbClr val="1F2933"/>
                          </a:solidFill>
                          <a:latin typeface="Courier New"/>
                        </a:rPr>
                        <a:t>my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ymay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8282">
                <a:tc>
                  <a:txBody>
                    <a:bodyPr wrap="square"/>
                    <a:lstStyle/>
                    <a:p>
                      <a:r>
                        <a:rPr sz="1000" b="0" i="0">
                          <a:solidFill>
                            <a:srgbClr val="1F2933"/>
                          </a:solidFill>
                          <a:latin typeface="Courier New"/>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amenay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8282">
                <a:tc>
                  <a:txBody>
                    <a:bodyPr wrap="square"/>
                    <a:lstStyle/>
                    <a:p>
                      <a:r>
                        <a:rPr sz="1000" b="0" i="0">
                          <a:solidFill>
                            <a:srgbClr val="1F2933"/>
                          </a:solidFill>
                          <a:latin typeface="Courier New"/>
                        </a:rPr>
                        <a:t>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isyay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8282">
                <a:tc>
                  <a:txBody>
                    <a:bodyPr wrap="square"/>
                    <a:lstStyle/>
                    <a:p>
                      <a:r>
                        <a:rPr sz="1000" b="0" i="0">
                          <a:solidFill>
                            <a:srgbClr val="1F2933"/>
                          </a:solidFill>
                          <a:latin typeface="Courier New"/>
                        </a:rPr>
                        <a: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alyay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Find the first vowel, then rearrange.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63 / 72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table printer</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The table printer pads every cell to the width of its column. A column is as wide as its longest string.</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Aligned columns are readable. The program shows how rjust, zip and a loop build a report.</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typesetter measures every column first, so all rows line up.</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Columns</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three lists of strings</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Measure</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longest string per column</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zip(*table)</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turns columns into rows</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rjust</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pads each cell to its width</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Column width is the longest string.</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64 / 72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table printer</a:t>
            </a:r>
          </a:p>
        </p:txBody>
      </p:sp>
      <p:sp>
        <p:nvSpPr>
          <p:cNvPr id="4" name="code"/>
          <p:cNvSpPr/>
          <p:nvPr/>
        </p:nvSpPr>
        <p:spPr>
          <a:xfrm>
            <a:off x="365760" y="841248"/>
            <a:ext cx="3913631" cy="2352039"/>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E6EDF3"/>
                </a:solidFill>
                <a:latin typeface="Courier New"/>
              </a:rPr>
              <a:t>a</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'apples'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'oranges'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'cherries'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'banana'</a:t>
            </a:r>
            <a:r>
              <a:rPr sz="1000" b="0" i="0">
                <a:solidFill>
                  <a:srgbClr val="E6EDF3"/>
                </a:solidFill>
                <a:latin typeface="Courier New"/>
              </a:rPr>
              <a:t>]</a:t>
            </a:r>
          </a:p>
          <a:p>
            <a:pPr algn="l"/>
            <a:r>
              <a:rPr sz="1000" b="0" i="0">
                <a:solidFill>
                  <a:srgbClr val="E6EDF3"/>
                </a:solidFill>
                <a:latin typeface="Courier New"/>
              </a:rPr>
              <a:t>b</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'Alice'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'Bob'</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'Carol'</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'David'</a:t>
            </a:r>
            <a:r>
              <a:rPr sz="1000" b="0" i="0">
                <a:solidFill>
                  <a:srgbClr val="E6EDF3"/>
                </a:solidFill>
                <a:latin typeface="Courier New"/>
              </a:rPr>
              <a:t>]</a:t>
            </a:r>
          </a:p>
          <a:p>
            <a:pPr algn="l"/>
            <a:r>
              <a:rPr sz="1000" b="0" i="0">
                <a:solidFill>
                  <a:srgbClr val="E6EDF3"/>
                </a:solidFill>
                <a:latin typeface="Courier New"/>
              </a:rPr>
              <a:t>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'dogs'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'cats'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'moose'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'goose'</a:t>
            </a:r>
            <a:r>
              <a:rPr sz="1000" b="0" i="0">
                <a:solidFill>
                  <a:srgbClr val="E6EDF3"/>
                </a:solidFill>
                <a:latin typeface="Courier New"/>
              </a:rPr>
              <a:t>]</a:t>
            </a:r>
          </a:p>
          <a:p>
            <a:pPr algn="l"/>
            <a:r>
              <a:rPr sz="1000" b="0" i="0">
                <a:solidFill>
                  <a:srgbClr val="E6EDF3"/>
                </a:solidFill>
                <a:latin typeface="Courier New"/>
              </a:rPr>
              <a:t>table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p>
          <a:p>
            <a:pPr algn="l"/>
            <a:r>
              <a:rPr sz="1000" b="0" i="0">
                <a:solidFill>
                  <a:srgbClr val="8FA3B8"/>
                </a:solidFill>
                <a:latin typeface="Courier New"/>
              </a:rPr>
              <a:t># a column is as wide as its longest string</a:t>
            </a:r>
          </a:p>
          <a:p>
            <a:pPr algn="l"/>
            <a:r>
              <a:rPr sz="1000" b="0" i="0">
                <a:solidFill>
                  <a:srgbClr val="E6EDF3"/>
                </a:solidFill>
                <a:latin typeface="Courier New"/>
              </a:rPr>
              <a:t>widths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p>
          <a:p>
            <a:pPr algn="l"/>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col</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table</a:t>
            </a:r>
            <a:r>
              <a:rPr sz="1000" b="0" i="0">
                <a:solidFill>
                  <a:srgbClr val="E6EDF3"/>
                </a:solidFill>
                <a:latin typeface="Courier New"/>
              </a:rPr>
              <a:t>:</a:t>
            </a:r>
          </a:p>
          <a:p>
            <a:pPr algn="l"/>
            <a:r>
              <a:rPr sz="1000" b="0" i="0">
                <a:solidFill>
                  <a:srgbClr val="E6EDF3"/>
                </a:solidFill>
                <a:latin typeface="Courier New"/>
              </a:rPr>
              <a:t>    </a:t>
            </a:r>
            <a:r>
              <a:rPr sz="1000" b="0" i="0">
                <a:solidFill>
                  <a:srgbClr val="E6EDF3"/>
                </a:solidFill>
                <a:latin typeface="Courier New"/>
              </a:rPr>
              <a:t>widths</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E6EDF3"/>
                </a:solidFill>
                <a:latin typeface="Courier New"/>
              </a:rPr>
              <a:t>max</a:t>
            </a:r>
            <a:r>
              <a:rPr sz="1000" b="0" i="0">
                <a:solidFill>
                  <a:srgbClr val="E6EDF3"/>
                </a:solidFill>
                <a:latin typeface="Courier New"/>
              </a:rPr>
              <a:t>(</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s</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s</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col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 zip(*table) turns columns into rows</a:t>
            </a:r>
          </a:p>
          <a:p>
            <a:pPr algn="l"/>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row</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zip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table</a:t>
            </a:r>
            <a:r>
              <a:rPr sz="1000" b="0" i="0">
                <a:solidFill>
                  <a:srgbClr val="E6EDF3"/>
                </a:solidFill>
                <a:latin typeface="Courier New"/>
              </a:rPr>
              <a:t>)</a:t>
            </a:r>
            <a:r>
              <a:rPr sz="1000" b="0" i="0">
                <a:solidFill>
                  <a:srgbClr val="E6EDF3"/>
                </a:solidFill>
                <a:latin typeface="Courier New"/>
              </a:rPr>
              <a:t>:</a:t>
            </a:r>
          </a:p>
          <a:p>
            <a:pPr algn="l"/>
            <a:r>
              <a:rPr sz="1000" b="0" i="0">
                <a:solidFill>
                  <a:srgbClr val="E6EDF3"/>
                </a:solidFill>
                <a:latin typeface="Courier New"/>
              </a:rPr>
              <a:t>    </a:t>
            </a:r>
            <a:r>
              <a:rPr sz="1000" b="0" i="0">
                <a:solidFill>
                  <a:srgbClr val="E6EDF3"/>
                </a:solidFill>
                <a:latin typeface="Courier New"/>
              </a:rPr>
              <a:t>cells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p>
          <a:p>
            <a:pPr algn="l"/>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j</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enumerate</a:t>
            </a:r>
            <a:r>
              <a:rPr sz="1000" b="0" i="0">
                <a:solidFill>
                  <a:srgbClr val="E6EDF3"/>
                </a:solidFill>
                <a:latin typeface="Courier New"/>
              </a:rPr>
              <a:t>(</a:t>
            </a:r>
            <a:r>
              <a:rPr sz="1000" b="0" i="0">
                <a:solidFill>
                  <a:srgbClr val="E6EDF3"/>
                </a:solidFill>
                <a:latin typeface="Courier New"/>
              </a:rPr>
              <a:t>row</a:t>
            </a:r>
            <a:r>
              <a:rPr sz="1000" b="0" i="0">
                <a:solidFill>
                  <a:srgbClr val="E6EDF3"/>
                </a:solidFill>
                <a:latin typeface="Courier New"/>
              </a:rPr>
              <a:t>)</a:t>
            </a:r>
            <a:r>
              <a:rPr sz="1000" b="0" i="0">
                <a:solidFill>
                  <a:srgbClr val="E6EDF3"/>
                </a:solidFill>
                <a:latin typeface="Courier New"/>
              </a:rPr>
              <a:t>:</a:t>
            </a:r>
          </a:p>
          <a:p>
            <a:pPr algn="l"/>
            <a:r>
              <a:rPr sz="1000" b="0" i="0">
                <a:solidFill>
                  <a:srgbClr val="E6EDF3"/>
                </a:solidFill>
                <a:latin typeface="Courier New"/>
              </a:rPr>
              <a:t>        </a:t>
            </a:r>
            <a:r>
              <a:rPr sz="1000" b="0" i="0">
                <a:solidFill>
                  <a:srgbClr val="E6EDF3"/>
                </a:solidFill>
                <a:latin typeface="Courier New"/>
              </a:rPr>
              <a:t>cells</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E6EDF3"/>
                </a:solidFill>
                <a:latin typeface="Courier New"/>
              </a:rPr>
              <a:t>s</a:t>
            </a:r>
            <a:r>
              <a:rPr sz="1000" b="0" i="0">
                <a:solidFill>
                  <a:srgbClr val="E6EDF3"/>
                </a:solidFill>
                <a:latin typeface="Courier New"/>
              </a:rPr>
              <a:t>.</a:t>
            </a:r>
            <a:r>
              <a:rPr sz="1000" b="0" i="0">
                <a:solidFill>
                  <a:srgbClr val="E6EDF3"/>
                </a:solidFill>
                <a:latin typeface="Courier New"/>
              </a:rPr>
              <a:t>rjust</a:t>
            </a:r>
            <a:r>
              <a:rPr sz="1000" b="0" i="0">
                <a:solidFill>
                  <a:srgbClr val="E6EDF3"/>
                </a:solidFill>
                <a:latin typeface="Courier New"/>
              </a:rPr>
              <a:t>(</a:t>
            </a:r>
            <a:r>
              <a:rPr sz="1000" b="0" i="0">
                <a:solidFill>
                  <a:srgbClr val="E6EDF3"/>
                </a:solidFill>
                <a:latin typeface="Courier New"/>
              </a:rPr>
              <a:t>widths</a:t>
            </a:r>
            <a:r>
              <a:rPr sz="1000" b="0" i="0">
                <a:solidFill>
                  <a:srgbClr val="E6EDF3"/>
                </a:solidFill>
                <a:latin typeface="Courier New"/>
              </a:rPr>
              <a:t>[</a:t>
            </a:r>
            <a:r>
              <a:rPr sz="1000" b="0" i="0">
                <a:solidFill>
                  <a:srgbClr val="E6EDF3"/>
                </a:solidFill>
                <a:latin typeface="Courier New"/>
              </a:rPr>
              <a:t>j</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 '</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cells</a:t>
            </a:r>
            <a:r>
              <a:rPr sz="1000" b="0" i="0">
                <a:solidFill>
                  <a:srgbClr val="E6EDF3"/>
                </a:solidFill>
                <a:latin typeface="Courier New"/>
              </a:rPr>
              <a:t>)</a:t>
            </a:r>
            <a:r>
              <a:rPr sz="1000" b="0" i="0">
                <a:solidFill>
                  <a:srgbClr val="E6EDF3"/>
                </a:solidFill>
                <a:latin typeface="Courier New"/>
              </a:rPr>
              <a:t>)</a:t>
            </a:r>
          </a:p>
        </p:txBody>
      </p:sp>
      <p:sp>
        <p:nvSpPr>
          <p:cNvPr id="5" name="note card"/>
          <p:cNvSpPr/>
          <p:nvPr/>
        </p:nvSpPr>
        <p:spPr>
          <a:xfrm>
            <a:off x="4389120" y="841248"/>
            <a:ext cx="4389120" cy="1040225"/>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4434840" y="841248"/>
            <a:ext cx="4297680" cy="1040225"/>
          </a:xfrm>
          <a:prstGeom prst="rect">
            <a:avLst/>
          </a:prstGeom>
          <a:noFill/>
        </p:spPr>
        <p:txBody>
          <a:bodyPr wrap="square" lIns="45720" rIns="45720" tIns="27432" bIns="27432" anchor="ctr">
            <a:spAutoFit/>
          </a:bodyPr>
          <a:lstStyle/>
          <a:p>
            <a:r>
              <a:rPr sz="1250" b="0" i="0">
                <a:solidFill>
                  <a:srgbClr val="1F2933"/>
                </a:solidFill>
                <a:latin typeface="Calibri"/>
              </a:rPr>
              <a:t>A table is a list of columns. Each column is a list of strings.</a:t>
            </a:r>
          </a:p>
        </p:txBody>
      </p:sp>
      <p:sp>
        <p:nvSpPr>
          <p:cNvPr id="7" name="note card"/>
          <p:cNvSpPr/>
          <p:nvPr/>
        </p:nvSpPr>
        <p:spPr>
          <a:xfrm>
            <a:off x="4389120" y="1954625"/>
            <a:ext cx="4389120" cy="1238662"/>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4434840" y="1954625"/>
            <a:ext cx="4297680" cy="1238662"/>
          </a:xfrm>
          <a:prstGeom prst="rect">
            <a:avLst/>
          </a:prstGeom>
          <a:noFill/>
        </p:spPr>
        <p:txBody>
          <a:bodyPr wrap="square" lIns="45720" rIns="45720" tIns="27432" bIns="27432" anchor="ctr">
            <a:spAutoFit/>
          </a:bodyPr>
          <a:lstStyle/>
          <a:p>
            <a:r>
              <a:rPr sz="1250" b="0" i="0">
                <a:solidFill>
                  <a:srgbClr val="1F2933"/>
                </a:solidFill>
                <a:latin typeface="Calibri"/>
              </a:rPr>
              <a:t>A column is as wide as its longest string. zip(*table) turns columns into rows, and rjust pads every cell.</a:t>
            </a:r>
          </a:p>
        </p:txBody>
      </p:sp>
      <p:sp>
        <p:nvSpPr>
          <p:cNvPr id="9" name="result label"/>
          <p:cNvSpPr txBox="1"/>
          <p:nvPr/>
        </p:nvSpPr>
        <p:spPr>
          <a:xfrm>
            <a:off x="365760" y="326643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0" name="table"/>
          <p:cNvGraphicFramePr>
            <a:graphicFrameLocks noGrp="1"/>
          </p:cNvGraphicFramePr>
          <p:nvPr/>
        </p:nvGraphicFramePr>
        <p:xfrm>
          <a:off x="365760" y="3540759"/>
          <a:ext cx="4626863" cy="1067816"/>
        </p:xfrm>
        <a:graphic>
          <a:graphicData uri="http://schemas.openxmlformats.org/drawingml/2006/table">
            <a:tbl>
              <a:tblPr firstRow="0" bandRow="0"/>
              <a:tblGrid>
                <a:gridCol w="2056383"/>
                <a:gridCol w="1285240"/>
                <a:gridCol w="1285240"/>
              </a:tblGrid>
              <a:tr h="266954">
                <a:tc>
                  <a:txBody>
                    <a:bodyPr wrap="square"/>
                    <a:lstStyle/>
                    <a:p>
                      <a:pPr algn="r"/>
                      <a:r>
                        <a:rPr sz="1000" b="0" i="0">
                          <a:solidFill>
                            <a:srgbClr val="1F2933"/>
                          </a:solidFill>
                          <a:latin typeface="Courier New"/>
                        </a:rPr>
                        <a:t>apples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100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1000" b="0" i="0">
                          <a:solidFill>
                            <a:srgbClr val="1F2933"/>
                          </a:solidFill>
                          <a:latin typeface="Courier New"/>
                        </a:rPr>
                        <a:t>dogs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954">
                <a:tc>
                  <a:txBody>
                    <a:bodyPr wrap="square"/>
                    <a:lstStyle/>
                    <a:p>
                      <a:pPr algn="r"/>
                      <a:r>
                        <a:rPr sz="1000" b="0" i="0">
                          <a:solidFill>
                            <a:srgbClr val="1F2933"/>
                          </a:solidFill>
                          <a:latin typeface="Courier New"/>
                        </a:rPr>
                        <a:t>oranges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1000" b="0" i="0">
                          <a:solidFill>
                            <a:srgbClr val="1F2933"/>
                          </a:solidFill>
                          <a:latin typeface="Courier New"/>
                        </a:rPr>
                        <a:t>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1000" b="0" i="0">
                          <a:solidFill>
                            <a:srgbClr val="1F2933"/>
                          </a:solidFill>
                          <a:latin typeface="Courier New"/>
                        </a:rPr>
                        <a:t>cats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954">
                <a:tc>
                  <a:txBody>
                    <a:bodyPr wrap="square"/>
                    <a:lstStyle/>
                    <a:p>
                      <a:pPr algn="r"/>
                      <a:r>
                        <a:rPr sz="1000" b="0" i="0">
                          <a:solidFill>
                            <a:srgbClr val="1F2933"/>
                          </a:solidFill>
                          <a:latin typeface="Courier New"/>
                        </a:rPr>
                        <a:t>cherries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1000" b="0" i="0">
                          <a:solidFill>
                            <a:srgbClr val="1F2933"/>
                          </a:solidFill>
                          <a:latin typeface="Courier New"/>
                        </a:rPr>
                        <a:t>Carol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1000" b="0" i="0">
                          <a:solidFill>
                            <a:srgbClr val="1F2933"/>
                          </a:solidFill>
                          <a:latin typeface="Courier New"/>
                        </a:rPr>
                        <a:t>moose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954">
                <a:tc>
                  <a:txBody>
                    <a:bodyPr wrap="square"/>
                    <a:lstStyle/>
                    <a:p>
                      <a:pPr algn="r"/>
                      <a:r>
                        <a:rPr sz="1000" b="0" i="0">
                          <a:solidFill>
                            <a:srgbClr val="1F2933"/>
                          </a:solidFill>
                          <a:latin typeface="Courier New"/>
                        </a:rPr>
                        <a:t>banana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1000" b="0" i="0">
                          <a:solidFill>
                            <a:srgbClr val="1F2933"/>
                          </a:solidFill>
                          <a:latin typeface="Courier New"/>
                        </a:rPr>
                        <a:t>David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1000" b="0" i="0">
                          <a:solidFill>
                            <a:srgbClr val="1F2933"/>
                          </a:solidFill>
                          <a:latin typeface="Courier New"/>
                        </a:rPr>
                        <a:t>goose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1" name="chart"/>
          <p:cNvGraphicFramePr>
            <a:graphicFrameLocks noGrp="1"/>
          </p:cNvGraphicFramePr>
          <p:nvPr/>
        </p:nvGraphicFramePr>
        <p:xfrm>
          <a:off x="5413248" y="3540759"/>
          <a:ext cx="3364991" cy="1067816"/>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Column width is the longest string.</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65 / 72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copy and paste is fifty years old</a:t>
            </a:r>
          </a:p>
        </p:txBody>
      </p:sp>
      <p:pic>
        <p:nvPicPr>
          <p:cNvPr id="4" name="photo tesler" descr="Picture for the story: copy and paste is fifty years old"/>
          <p:cNvPicPr>
            <a:picLocks noChangeAspect="1"/>
          </p:cNvPicPr>
          <p:nvPr/>
        </p:nvPicPr>
        <p:blipFill>
          <a:blip r:embed="rId3"/>
          <a:stretch>
            <a:fillRect/>
          </a:stretch>
        </p:blipFill>
        <p:spPr>
          <a:xfrm>
            <a:off x="545056" y="868680"/>
            <a:ext cx="2293166"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Larry Tesler, 2007. Photo: Yahoo! Blog, CC BY 2.0, Wikimedia Commons.</a:t>
            </a:r>
          </a:p>
        </p:txBody>
      </p:sp>
      <p:sp>
        <p:nvSpPr>
          <p:cNvPr id="6" name="card"/>
          <p:cNvSpPr/>
          <p:nvPr/>
        </p:nvSpPr>
        <p:spPr>
          <a:xfrm>
            <a:off x="3200400" y="868680"/>
            <a:ext cx="5577840" cy="90525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ory"/>
          <p:cNvSpPr txBox="1"/>
          <p:nvPr/>
        </p:nvSpPr>
        <p:spPr>
          <a:xfrm>
            <a:off x="3273552" y="868680"/>
            <a:ext cx="5440680" cy="905256"/>
          </a:xfrm>
          <a:prstGeom prst="rect">
            <a:avLst/>
          </a:prstGeom>
          <a:noFill/>
        </p:spPr>
        <p:txBody>
          <a:bodyPr wrap="square" lIns="45720" rIns="45720" tIns="27432" bIns="27432" anchor="ctr">
            <a:spAutoFit/>
          </a:bodyPr>
          <a:lstStyle/>
          <a:p>
            <a:r>
              <a:rPr sz="1400" b="0" i="0">
                <a:solidFill>
                  <a:srgbClr val="1F2933"/>
                </a:solidFill>
                <a:latin typeface="Calibri"/>
              </a:rPr>
              <a:t>From 1973, Larry Tesler, working with Tim Mott at Xerox PARC in Palo Alto, shaped cut, copy and paste on the Gypsy word processor. He died on 16 February 2020.</a:t>
            </a:r>
          </a:p>
        </p:txBody>
      </p:sp>
      <p:sp>
        <p:nvSpPr>
          <p:cNvPr id="8" name="card"/>
          <p:cNvSpPr/>
          <p:nvPr/>
        </p:nvSpPr>
        <p:spPr>
          <a:xfrm>
            <a:off x="3200400" y="1865376"/>
            <a:ext cx="5577840" cy="65836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ory"/>
          <p:cNvSpPr txBox="1"/>
          <p:nvPr/>
        </p:nvSpPr>
        <p:spPr>
          <a:xfrm>
            <a:off x="3273552" y="1865376"/>
            <a:ext cx="5440680" cy="658368"/>
          </a:xfrm>
          <a:prstGeom prst="rect">
            <a:avLst/>
          </a:prstGeom>
          <a:noFill/>
        </p:spPr>
        <p:txBody>
          <a:bodyPr wrap="square" lIns="45720" rIns="45720" tIns="27432" bIns="27432" anchor="ctr">
            <a:spAutoFit/>
          </a:bodyPr>
          <a:lstStyle/>
          <a:p>
            <a:r>
              <a:rPr sz="1400" b="0" i="0">
                <a:solidFill>
                  <a:srgbClr val="1F2933"/>
                </a:solidFill>
                <a:latin typeface="Calibri"/>
              </a:rPr>
              <a:t>Editing needs one simple idea: select something, hold it somewhere, insert it elsewhere.</a:t>
            </a:r>
          </a:p>
        </p:txBody>
      </p:sp>
      <p:sp>
        <p:nvSpPr>
          <p:cNvPr id="10" name="card"/>
          <p:cNvSpPr/>
          <p:nvPr/>
        </p:nvSpPr>
        <p:spPr>
          <a:xfrm>
            <a:off x="3200400" y="2615184"/>
            <a:ext cx="5577840" cy="65836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ory"/>
          <p:cNvSpPr txBox="1"/>
          <p:nvPr/>
        </p:nvSpPr>
        <p:spPr>
          <a:xfrm>
            <a:off x="3273552" y="2615184"/>
            <a:ext cx="5440680" cy="658368"/>
          </a:xfrm>
          <a:prstGeom prst="rect">
            <a:avLst/>
          </a:prstGeom>
          <a:noFill/>
        </p:spPr>
        <p:txBody>
          <a:bodyPr wrap="square" lIns="45720" rIns="45720" tIns="27432" bIns="27432" anchor="ctr">
            <a:spAutoFit/>
          </a:bodyPr>
          <a:lstStyle/>
          <a:p>
            <a:r>
              <a:rPr sz="1400" b="0" i="0">
                <a:solidFill>
                  <a:srgbClr val="1F2933"/>
                </a:solidFill>
                <a:latin typeface="Calibri"/>
              </a:rPr>
              <a:t>pyperclip.copy() and pyperclip.paste() are that idea in two function calls.</a:t>
            </a:r>
          </a:p>
        </p:txBody>
      </p:sp>
      <p:sp>
        <p:nvSpPr>
          <p:cNvPr id="12" name="link"/>
          <p:cNvSpPr txBox="1"/>
          <p:nvPr/>
        </p:nvSpPr>
        <p:spPr>
          <a:xfrm>
            <a:off x="3200400" y="3383279"/>
            <a:ext cx="5577840" cy="329184"/>
          </a:xfrm>
          <a:prstGeom prst="rect">
            <a:avLst/>
          </a:prstGeom>
          <a:noFill/>
        </p:spPr>
        <p:txBody>
          <a:bodyPr wrap="square" lIns="45720" rIns="45720" tIns="27432" bIns="27432" anchor="t">
            <a:spAutoFit/>
          </a:bodyPr>
          <a:lstStyle/>
          <a:p>
            <a:r>
              <a:rPr sz="1300" b="1" i="0">
                <a:solidFill>
                  <a:srgbClr val="0E7C86"/>
                </a:solidFill>
                <a:latin typeface="Calibri"/>
                <a:hlinkClick r:id="rId4"/>
              </a:rPr>
              <a:t>Read about Larry Tesler (Wikipedia)</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66 / 72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Clipboard programs: paste, change, copy</a:t>
            </a:r>
          </a:p>
        </p:txBody>
      </p:sp>
      <p:sp>
        <p:nvSpPr>
          <p:cNvPr id="4" name="card"/>
          <p:cNvSpPr/>
          <p:nvPr/>
        </p:nvSpPr>
        <p:spPr>
          <a:xfrm>
            <a:off x="365760" y="841248"/>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457200" y="877824"/>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idea</a:t>
            </a:r>
          </a:p>
        </p:txBody>
      </p:sp>
      <p:sp>
        <p:nvSpPr>
          <p:cNvPr id="6" name="card text"/>
          <p:cNvSpPr txBox="1"/>
          <p:nvPr/>
        </p:nvSpPr>
        <p:spPr>
          <a:xfrm>
            <a:off x="457200" y="1133856"/>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clipboard program reads the text on the clipboard, changes it and puts it back. Here a list of one item stands in for the clipboard.</a:t>
            </a:r>
          </a:p>
        </p:txBody>
      </p:sp>
      <p:sp>
        <p:nvSpPr>
          <p:cNvPr id="7" name="card"/>
          <p:cNvSpPr/>
          <p:nvPr/>
        </p:nvSpPr>
        <p:spPr>
          <a:xfrm>
            <a:off x="365760" y="2112264"/>
            <a:ext cx="4023360" cy="118872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457200" y="2148840"/>
            <a:ext cx="3840480" cy="256032"/>
          </a:xfrm>
          <a:prstGeom prst="rect">
            <a:avLst/>
          </a:prstGeom>
          <a:noFill/>
        </p:spPr>
        <p:txBody>
          <a:bodyPr wrap="square" lIns="45720" rIns="45720" tIns="27432" bIns="27432" anchor="t">
            <a:spAutoFit/>
          </a:bodyPr>
          <a:lstStyle/>
          <a:p>
            <a:r>
              <a:rPr sz="1200" b="1" i="0">
                <a:solidFill>
                  <a:srgbClr val="0E7C86"/>
                </a:solidFill>
                <a:latin typeface="Calibri"/>
              </a:rPr>
              <a:t>The reason</a:t>
            </a:r>
          </a:p>
        </p:txBody>
      </p:sp>
      <p:sp>
        <p:nvSpPr>
          <p:cNvPr id="9" name="card text"/>
          <p:cNvSpPr txBox="1"/>
          <p:nvPr/>
        </p:nvSpPr>
        <p:spPr>
          <a:xfrm>
            <a:off x="457200" y="2404872"/>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The same three steps automate many editing chores, such as adding a star to every line.</a:t>
            </a:r>
          </a:p>
        </p:txBody>
      </p:sp>
      <p:sp>
        <p:nvSpPr>
          <p:cNvPr id="10" name="card"/>
          <p:cNvSpPr/>
          <p:nvPr/>
        </p:nvSpPr>
        <p:spPr>
          <a:xfrm>
            <a:off x="365760" y="3383280"/>
            <a:ext cx="4023360" cy="1188720"/>
          </a:xfrm>
          <a:prstGeom prst="roundRect">
            <a:avLst>
              <a:gd name="adj" fmla="val 6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457200" y="3419856"/>
            <a:ext cx="3840480" cy="256032"/>
          </a:xfrm>
          <a:prstGeom prst="rect">
            <a:avLst/>
          </a:prstGeom>
          <a:noFill/>
        </p:spPr>
        <p:txBody>
          <a:bodyPr wrap="square" lIns="45720" rIns="45720" tIns="27432" bIns="27432" anchor="t">
            <a:spAutoFit/>
          </a:bodyPr>
          <a:lstStyle/>
          <a:p>
            <a:r>
              <a:rPr sz="1200" b="1" i="0">
                <a:solidFill>
                  <a:srgbClr val="B7791F"/>
                </a:solidFill>
                <a:latin typeface="Calibri"/>
              </a:rPr>
              <a:t>An everyday picture</a:t>
            </a:r>
          </a:p>
        </p:txBody>
      </p:sp>
      <p:sp>
        <p:nvSpPr>
          <p:cNvPr id="12" name="card text"/>
          <p:cNvSpPr txBox="1"/>
          <p:nvPr/>
        </p:nvSpPr>
        <p:spPr>
          <a:xfrm>
            <a:off x="457200" y="3675888"/>
            <a:ext cx="3840480" cy="859536"/>
          </a:xfrm>
          <a:prstGeom prst="rect">
            <a:avLst/>
          </a:prstGeom>
          <a:noFill/>
        </p:spPr>
        <p:txBody>
          <a:bodyPr wrap="square" lIns="45720" rIns="45720" tIns="27432" bIns="27432" anchor="t">
            <a:spAutoFit/>
          </a:bodyPr>
          <a:lstStyle/>
          <a:p>
            <a:r>
              <a:rPr sz="1250" b="0" i="0">
                <a:solidFill>
                  <a:srgbClr val="1F2933"/>
                </a:solidFill>
                <a:latin typeface="Calibri"/>
              </a:rPr>
              <a:t>A clipboard is one shelf next to your desk: a new copy replaces whatever was there.</a:t>
            </a:r>
          </a:p>
        </p:txBody>
      </p:sp>
      <p:sp>
        <p:nvSpPr>
          <p:cNvPr id="13" name="flow head"/>
          <p:cNvSpPr txBox="1"/>
          <p:nvPr/>
        </p:nvSpPr>
        <p:spPr>
          <a:xfrm>
            <a:off x="4617720" y="841248"/>
            <a:ext cx="4114800" cy="274320"/>
          </a:xfrm>
          <a:prstGeom prst="rect">
            <a:avLst/>
          </a:prstGeom>
          <a:noFill/>
        </p:spPr>
        <p:txBody>
          <a:bodyPr wrap="square" lIns="45720" rIns="45720" tIns="27432" bIns="27432" anchor="t">
            <a:spAutoFit/>
          </a:bodyPr>
          <a:lstStyle/>
          <a:p>
            <a:r>
              <a:rPr sz="1200" b="1" i="0">
                <a:solidFill>
                  <a:srgbClr val="0E7C86"/>
                </a:solidFill>
                <a:latin typeface="Calibri"/>
              </a:rPr>
              <a:t>How it works, step by step</a:t>
            </a:r>
          </a:p>
        </p:txBody>
      </p:sp>
      <p:sp>
        <p:nvSpPr>
          <p:cNvPr id="14" name="step"/>
          <p:cNvSpPr/>
          <p:nvPr/>
        </p:nvSpPr>
        <p:spPr>
          <a:xfrm>
            <a:off x="4617720" y="1188720"/>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4709160" y="1362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16" name="step title"/>
          <p:cNvSpPr txBox="1"/>
          <p:nvPr/>
        </p:nvSpPr>
        <p:spPr>
          <a:xfrm>
            <a:off x="5166360" y="1207008"/>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paste()</a:t>
            </a:r>
          </a:p>
        </p:txBody>
      </p:sp>
      <p:sp>
        <p:nvSpPr>
          <p:cNvPr id="17" name="step detail"/>
          <p:cNvSpPr txBox="1"/>
          <p:nvPr/>
        </p:nvSpPr>
        <p:spPr>
          <a:xfrm>
            <a:off x="5166360" y="1481328"/>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read the text from the shelf</a:t>
            </a:r>
          </a:p>
        </p:txBody>
      </p:sp>
      <p:cxnSp>
        <p:nvCxnSpPr>
          <p:cNvPr id="18" name="arrow"/>
          <p:cNvCxnSpPr/>
          <p:nvPr/>
        </p:nvCxnSpPr>
        <p:spPr>
          <a:xfrm>
            <a:off x="6675120" y="1901952"/>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p:cNvSpPr/>
          <p:nvPr/>
        </p:nvSpPr>
        <p:spPr>
          <a:xfrm>
            <a:off x="4617720" y="2084832"/>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 number"/>
          <p:cNvSpPr/>
          <p:nvPr/>
        </p:nvSpPr>
        <p:spPr>
          <a:xfrm>
            <a:off x="4709160" y="22585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21" name="step title"/>
          <p:cNvSpPr txBox="1"/>
          <p:nvPr/>
        </p:nvSpPr>
        <p:spPr>
          <a:xfrm>
            <a:off x="5166360" y="2103120"/>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split</a:t>
            </a:r>
          </a:p>
        </p:txBody>
      </p:sp>
      <p:sp>
        <p:nvSpPr>
          <p:cNvPr id="22" name="step detail"/>
          <p:cNvSpPr txBox="1"/>
          <p:nvPr/>
        </p:nvSpPr>
        <p:spPr>
          <a:xfrm>
            <a:off x="5166360" y="2377440"/>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cut it into lines</a:t>
            </a:r>
          </a:p>
        </p:txBody>
      </p:sp>
      <p:cxnSp>
        <p:nvCxnSpPr>
          <p:cNvPr id="23" name="arrow"/>
          <p:cNvCxnSpPr/>
          <p:nvPr/>
        </p:nvCxnSpPr>
        <p:spPr>
          <a:xfrm>
            <a:off x="6675120" y="2798064"/>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p:cNvSpPr/>
          <p:nvPr/>
        </p:nvSpPr>
        <p:spPr>
          <a:xfrm>
            <a:off x="4617720" y="2980944"/>
            <a:ext cx="4114800" cy="713232"/>
          </a:xfrm>
          <a:prstGeom prst="roundRect">
            <a:avLst>
              <a:gd name="adj" fmla="val 8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4709160" y="3154679"/>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26" name="step title"/>
          <p:cNvSpPr txBox="1"/>
          <p:nvPr/>
        </p:nvSpPr>
        <p:spPr>
          <a:xfrm>
            <a:off x="5166360" y="2999232"/>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Change</a:t>
            </a:r>
          </a:p>
        </p:txBody>
      </p:sp>
      <p:sp>
        <p:nvSpPr>
          <p:cNvPr id="27" name="step detail"/>
          <p:cNvSpPr txBox="1"/>
          <p:nvPr/>
        </p:nvSpPr>
        <p:spPr>
          <a:xfrm>
            <a:off x="5166360" y="3273551"/>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put a star in front of each</a:t>
            </a:r>
          </a:p>
        </p:txBody>
      </p:sp>
      <p:cxnSp>
        <p:nvCxnSpPr>
          <p:cNvPr id="28" name="arrow"/>
          <p:cNvCxnSpPr/>
          <p:nvPr/>
        </p:nvCxnSpPr>
        <p:spPr>
          <a:xfrm>
            <a:off x="6675120" y="3694176"/>
            <a:ext cx="0" cy="1828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p:cNvSpPr/>
          <p:nvPr/>
        </p:nvSpPr>
        <p:spPr>
          <a:xfrm>
            <a:off x="4617720" y="3877056"/>
            <a:ext cx="4114800" cy="713232"/>
          </a:xfrm>
          <a:prstGeom prst="roundRect">
            <a:avLst>
              <a:gd name="adj" fmla="val 8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ep number"/>
          <p:cNvSpPr/>
          <p:nvPr/>
        </p:nvSpPr>
        <p:spPr>
          <a:xfrm>
            <a:off x="4709160" y="405079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31" name="step title"/>
          <p:cNvSpPr txBox="1"/>
          <p:nvPr/>
        </p:nvSpPr>
        <p:spPr>
          <a:xfrm>
            <a:off x="5166360" y="3895344"/>
            <a:ext cx="3520440" cy="274320"/>
          </a:xfrm>
          <a:prstGeom prst="rect">
            <a:avLst/>
          </a:prstGeom>
          <a:noFill/>
        </p:spPr>
        <p:txBody>
          <a:bodyPr wrap="square" lIns="45720" rIns="45720" tIns="27432" bIns="27432" anchor="ctr">
            <a:spAutoFit/>
          </a:bodyPr>
          <a:lstStyle/>
          <a:p>
            <a:r>
              <a:rPr sz="1300" b="1" i="0">
                <a:solidFill>
                  <a:srgbClr val="1F2933"/>
                </a:solidFill>
                <a:latin typeface="Calibri"/>
              </a:rPr>
              <a:t>copy()</a:t>
            </a:r>
          </a:p>
        </p:txBody>
      </p:sp>
      <p:sp>
        <p:nvSpPr>
          <p:cNvPr id="32" name="step detail"/>
          <p:cNvSpPr txBox="1"/>
          <p:nvPr/>
        </p:nvSpPr>
        <p:spPr>
          <a:xfrm>
            <a:off x="5166360" y="4169664"/>
            <a:ext cx="3520440" cy="384048"/>
          </a:xfrm>
          <a:prstGeom prst="rect">
            <a:avLst/>
          </a:prstGeom>
          <a:noFill/>
        </p:spPr>
        <p:txBody>
          <a:bodyPr wrap="square" lIns="45720" rIns="45720" tIns="27432" bIns="27432" anchor="t">
            <a:spAutoFit/>
          </a:bodyPr>
          <a:lstStyle/>
          <a:p>
            <a:r>
              <a:rPr sz="1150" b="0" i="0">
                <a:solidFill>
                  <a:srgbClr val="5B6773"/>
                </a:solidFill>
                <a:latin typeface="Calibri"/>
              </a:rPr>
              <a:t>join and put it back</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Paste, change, copy: the same three steps.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67 / 72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Clipboard programs: copy, change, paste</a:t>
            </a:r>
          </a:p>
        </p:txBody>
      </p:sp>
      <p:sp>
        <p:nvSpPr>
          <p:cNvPr id="4" name="code"/>
          <p:cNvSpPr/>
          <p:nvPr/>
        </p:nvSpPr>
        <p:spPr>
          <a:xfrm>
            <a:off x="365760" y="841248"/>
            <a:ext cx="3989832" cy="2042160"/>
          </a:xfrm>
          <a:prstGeom prst="roundRect">
            <a:avLst>
              <a:gd name="adj" fmla="val 4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 a list of one item stands in for the clipboard</a:t>
            </a:r>
          </a:p>
          <a:p>
            <a:pPr algn="l"/>
            <a:r>
              <a:rPr sz="1000" b="0" i="0">
                <a:solidFill>
                  <a:srgbClr val="E6EDF3"/>
                </a:solidFill>
                <a:latin typeface="Courier New"/>
              </a:rPr>
              <a:t>shelf</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'Alice\nBob\nCarol'</a:t>
            </a:r>
            <a:r>
              <a:rPr sz="1000" b="0" i="0">
                <a:solidFill>
                  <a:srgbClr val="E6EDF3"/>
                </a:solidFill>
                <a:latin typeface="Courier New"/>
              </a:rPr>
              <a:t>]</a:t>
            </a:r>
          </a:p>
          <a:p>
            <a:pPr algn="l"/>
            <a:r>
              <a:rPr sz="1000" b="0" i="0">
                <a:solidFill>
                  <a:srgbClr val="8FA3B8"/>
                </a:solidFill>
                <a:latin typeface="Courier New"/>
              </a:rPr>
              <a:t># paste: read the text from the shelf</a:t>
            </a:r>
          </a:p>
          <a:p>
            <a:pPr algn="l"/>
            <a:r>
              <a:rPr sz="1000" b="0" i="0">
                <a:solidFill>
                  <a:srgbClr val="E6EDF3"/>
                </a:solidFill>
                <a:latin typeface="Courier New"/>
              </a:rPr>
              <a:t>text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shelf</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p>
          <a:p>
            <a:pPr algn="l"/>
            <a:r>
              <a:rPr sz="1000" b="0" i="0">
                <a:solidFill>
                  <a:srgbClr val="E6EDF3"/>
                </a:solidFill>
                <a:latin typeface="Courier New"/>
              </a:rPr>
              <a:t>lines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split</a:t>
            </a:r>
            <a:r>
              <a:rPr sz="1000" b="0" i="0">
                <a:solidFill>
                  <a:srgbClr val="E6EDF3"/>
                </a:solidFill>
                <a:latin typeface="Courier New"/>
              </a:rPr>
              <a:t>(</a:t>
            </a:r>
            <a:r>
              <a:rPr sz="1000" b="0" i="0">
                <a:solidFill>
                  <a:srgbClr val="9BE3A8"/>
                </a:solidFill>
                <a:latin typeface="Courier New"/>
              </a:rPr>
              <a:t>'\n'</a:t>
            </a:r>
            <a:r>
              <a:rPr sz="1000" b="0" i="0">
                <a:solidFill>
                  <a:srgbClr val="E6EDF3"/>
                </a:solidFill>
                <a:latin typeface="Courier New"/>
              </a:rPr>
              <a:t>)</a:t>
            </a:r>
          </a:p>
          <a:p>
            <a:pPr algn="l"/>
            <a:r>
              <a:rPr sz="1000" b="0" i="0">
                <a:solidFill>
                  <a:srgbClr val="8FA3B8"/>
                </a:solidFill>
                <a:latin typeface="Courier New"/>
              </a:rPr>
              <a:t># change: a star in front of each line</a:t>
            </a:r>
          </a:p>
          <a:p>
            <a:pPr algn="l"/>
            <a:r>
              <a:rPr sz="1000" b="0" i="0">
                <a:solidFill>
                  <a:srgbClr val="E6EDF3"/>
                </a:solidFill>
                <a:latin typeface="Courier New"/>
              </a:rPr>
              <a:t>starred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p>
          <a:p>
            <a:pPr algn="l"/>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line</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lines</a:t>
            </a:r>
            <a:r>
              <a:rPr sz="1000" b="0" i="0">
                <a:solidFill>
                  <a:srgbClr val="E6EDF3"/>
                </a:solidFill>
                <a:latin typeface="Courier New"/>
              </a:rPr>
              <a:t>:</a:t>
            </a:r>
          </a:p>
          <a:p>
            <a:pPr algn="l"/>
            <a:r>
              <a:rPr sz="1000" b="0" i="0">
                <a:solidFill>
                  <a:srgbClr val="E6EDF3"/>
                </a:solidFill>
                <a:latin typeface="Courier New"/>
              </a:rPr>
              <a:t>    </a:t>
            </a:r>
            <a:r>
              <a:rPr sz="1000" b="0" i="0">
                <a:solidFill>
                  <a:srgbClr val="E6EDF3"/>
                </a:solidFill>
                <a:latin typeface="Courier New"/>
              </a:rPr>
              <a:t>starred</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9BE3A8"/>
                </a:solidFill>
                <a:latin typeface="Courier New"/>
              </a:rPr>
              <a:t>'*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line</a:t>
            </a:r>
            <a:r>
              <a:rPr sz="1000" b="0" i="0">
                <a:solidFill>
                  <a:srgbClr val="E6EDF3"/>
                </a:solidFill>
                <a:latin typeface="Courier New"/>
              </a:rPr>
              <a:t>)</a:t>
            </a:r>
          </a:p>
          <a:p>
            <a:pPr algn="l"/>
            <a:r>
              <a:rPr sz="1000" b="0" i="0">
                <a:solidFill>
                  <a:srgbClr val="8FA3B8"/>
                </a:solidFill>
                <a:latin typeface="Courier New"/>
              </a:rPr>
              <a:t># copy: put the result back on the shelf</a:t>
            </a:r>
          </a:p>
          <a:p>
            <a:pPr algn="l"/>
            <a:r>
              <a:rPr sz="1000" b="0" i="0">
                <a:solidFill>
                  <a:srgbClr val="E6EDF3"/>
                </a:solidFill>
                <a:latin typeface="Courier New"/>
              </a:rPr>
              <a:t>shelf</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'\n'</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starred</a:t>
            </a:r>
            <a:r>
              <a:rPr sz="1000" b="0" i="0">
                <a:solidFill>
                  <a:srgbClr val="E6EDF3"/>
                </a:solidFill>
                <a:latin typeface="Courier New"/>
              </a:rPr>
              <a:t>)</a:t>
            </a:r>
          </a:p>
          <a:p>
            <a:pPr algn="l"/>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shelf</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p>
        </p:txBody>
      </p:sp>
      <p:sp>
        <p:nvSpPr>
          <p:cNvPr id="5" name="note card"/>
          <p:cNvSpPr/>
          <p:nvPr/>
        </p:nvSpPr>
        <p:spPr>
          <a:xfrm>
            <a:off x="4465320" y="841248"/>
            <a:ext cx="4312919" cy="984504"/>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planation"/>
          <p:cNvSpPr txBox="1"/>
          <p:nvPr/>
        </p:nvSpPr>
        <p:spPr>
          <a:xfrm>
            <a:off x="4511040" y="841248"/>
            <a:ext cx="4221480" cy="984504"/>
          </a:xfrm>
          <a:prstGeom prst="rect">
            <a:avLst/>
          </a:prstGeom>
          <a:noFill/>
        </p:spPr>
        <p:txBody>
          <a:bodyPr wrap="square" lIns="45720" rIns="45720" tIns="27432" bIns="27432" anchor="ctr">
            <a:spAutoFit/>
          </a:bodyPr>
          <a:lstStyle/>
          <a:p>
            <a:r>
              <a:rPr sz="1250" b="0" i="0">
                <a:solidFill>
                  <a:srgbClr val="1F2933"/>
                </a:solidFill>
                <a:latin typeface="Calibri"/>
              </a:rPr>
              <a:t>A list of one item stands in for the clipboard here. pyperclip.paste() would hand you that text.</a:t>
            </a:r>
          </a:p>
        </p:txBody>
      </p:sp>
      <p:sp>
        <p:nvSpPr>
          <p:cNvPr id="7" name="note card"/>
          <p:cNvSpPr/>
          <p:nvPr/>
        </p:nvSpPr>
        <p:spPr>
          <a:xfrm>
            <a:off x="4465320" y="1898904"/>
            <a:ext cx="4312919" cy="984504"/>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planation"/>
          <p:cNvSpPr txBox="1"/>
          <p:nvPr/>
        </p:nvSpPr>
        <p:spPr>
          <a:xfrm>
            <a:off x="4511040" y="1898904"/>
            <a:ext cx="4221480" cy="984504"/>
          </a:xfrm>
          <a:prstGeom prst="rect">
            <a:avLst/>
          </a:prstGeom>
          <a:noFill/>
        </p:spPr>
        <p:txBody>
          <a:bodyPr wrap="square" lIns="45720" rIns="45720" tIns="27432" bIns="27432" anchor="ctr">
            <a:spAutoFit/>
          </a:bodyPr>
          <a:lstStyle/>
          <a:p>
            <a:r>
              <a:rPr sz="1250" b="0" i="0">
                <a:solidFill>
                  <a:srgbClr val="1F2933"/>
                </a:solidFill>
                <a:latin typeface="Calibri"/>
              </a:rPr>
              <a:t>Split into lines, put a star in front of each, join, and put the result back. pyperclip.copy() would do that last step.</a:t>
            </a:r>
          </a:p>
        </p:txBody>
      </p:sp>
      <p:sp>
        <p:nvSpPr>
          <p:cNvPr id="9" name="result label"/>
          <p:cNvSpPr txBox="1"/>
          <p:nvPr/>
        </p:nvSpPr>
        <p:spPr>
          <a:xfrm>
            <a:off x="365760" y="295656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Rounded Rectangle 9"/>
          <p:cNvSpPr/>
          <p:nvPr/>
        </p:nvSpPr>
        <p:spPr>
          <a:xfrm>
            <a:off x="365760" y="3230880"/>
            <a:ext cx="1463039" cy="329184"/>
          </a:xfrm>
          <a:prstGeom prst="roundRect">
            <a:avLst>
              <a:gd name="adj" fmla="val 1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FFFFFF"/>
                </a:solidFill>
                <a:latin typeface="Calibri"/>
              </a:rPr>
              <a:t>paste()</a:t>
            </a:r>
          </a:p>
        </p:txBody>
      </p:sp>
      <p:sp>
        <p:nvSpPr>
          <p:cNvPr id="11" name="Rounded Rectangle 10"/>
          <p:cNvSpPr/>
          <p:nvPr/>
        </p:nvSpPr>
        <p:spPr>
          <a:xfrm>
            <a:off x="365760" y="3642360"/>
            <a:ext cx="1463039" cy="86868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'Alice⏎Bob⏎Carol'</a:t>
            </a:r>
          </a:p>
        </p:txBody>
      </p:sp>
      <p:cxnSp>
        <p:nvCxnSpPr>
          <p:cNvPr id="12" name="arrow"/>
          <p:cNvCxnSpPr/>
          <p:nvPr/>
        </p:nvCxnSpPr>
        <p:spPr>
          <a:xfrm>
            <a:off x="1847088" y="3395472"/>
            <a:ext cx="237743" cy="0"/>
          </a:xfrm>
          <a:prstGeom prst="line">
            <a:avLst/>
          </a:prstGeom>
          <a:ln w="2540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103120" y="3230880"/>
            <a:ext cx="1463039" cy="329184"/>
          </a:xfrm>
          <a:prstGeom prst="roundRect">
            <a:avLst>
              <a:gd name="adj" fmla="val 1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FFFFFF"/>
                </a:solidFill>
                <a:latin typeface="Calibri"/>
              </a:rPr>
              <a:t>split('\n')</a:t>
            </a:r>
          </a:p>
        </p:txBody>
      </p:sp>
      <p:sp>
        <p:nvSpPr>
          <p:cNvPr id="14" name="Rounded Rectangle 13"/>
          <p:cNvSpPr/>
          <p:nvPr/>
        </p:nvSpPr>
        <p:spPr>
          <a:xfrm>
            <a:off x="2103120" y="3642360"/>
            <a:ext cx="1463039" cy="86868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['Alice', 'Bob', 'Carol']</a:t>
            </a:r>
          </a:p>
        </p:txBody>
      </p:sp>
      <p:cxnSp>
        <p:nvCxnSpPr>
          <p:cNvPr id="15" name="arrow"/>
          <p:cNvCxnSpPr/>
          <p:nvPr/>
        </p:nvCxnSpPr>
        <p:spPr>
          <a:xfrm>
            <a:off x="3584447" y="3395472"/>
            <a:ext cx="237744" cy="0"/>
          </a:xfrm>
          <a:prstGeom prst="line">
            <a:avLst/>
          </a:prstGeom>
          <a:ln w="2540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840480" y="3230880"/>
            <a:ext cx="1463039" cy="329184"/>
          </a:xfrm>
          <a:prstGeom prst="roundRect">
            <a:avLst>
              <a:gd name="adj" fmla="val 1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FFFFFF"/>
                </a:solidFill>
                <a:latin typeface="Calibri"/>
              </a:rPr>
              <a:t>'* ' + line</a:t>
            </a:r>
          </a:p>
        </p:txBody>
      </p:sp>
      <p:sp>
        <p:nvSpPr>
          <p:cNvPr id="17" name="Rounded Rectangle 16"/>
          <p:cNvSpPr/>
          <p:nvPr/>
        </p:nvSpPr>
        <p:spPr>
          <a:xfrm>
            <a:off x="3840480" y="3642360"/>
            <a:ext cx="1463039" cy="86868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 Alice', '* Bob', '* Carol']</a:t>
            </a:r>
          </a:p>
        </p:txBody>
      </p:sp>
      <p:cxnSp>
        <p:nvCxnSpPr>
          <p:cNvPr id="18" name="arrow"/>
          <p:cNvCxnSpPr/>
          <p:nvPr/>
        </p:nvCxnSpPr>
        <p:spPr>
          <a:xfrm>
            <a:off x="5321807" y="3395472"/>
            <a:ext cx="237745" cy="0"/>
          </a:xfrm>
          <a:prstGeom prst="line">
            <a:avLst/>
          </a:prstGeom>
          <a:ln w="2540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577840" y="3230880"/>
            <a:ext cx="1463039" cy="329184"/>
          </a:xfrm>
          <a:prstGeom prst="roundRect">
            <a:avLst>
              <a:gd name="adj" fmla="val 1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FFFFFF"/>
                </a:solidFill>
                <a:latin typeface="Calibri"/>
              </a:rPr>
              <a:t>'\n'.join(...)</a:t>
            </a:r>
          </a:p>
        </p:txBody>
      </p:sp>
      <p:sp>
        <p:nvSpPr>
          <p:cNvPr id="20" name="Rounded Rectangle 19"/>
          <p:cNvSpPr/>
          <p:nvPr/>
        </p:nvSpPr>
        <p:spPr>
          <a:xfrm>
            <a:off x="5577840" y="3642360"/>
            <a:ext cx="1463039" cy="86868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 Alice⏎* Bob⏎* Carol'</a:t>
            </a:r>
          </a:p>
        </p:txBody>
      </p:sp>
      <p:cxnSp>
        <p:nvCxnSpPr>
          <p:cNvPr id="21" name="arrow"/>
          <p:cNvCxnSpPr/>
          <p:nvPr/>
        </p:nvCxnSpPr>
        <p:spPr>
          <a:xfrm>
            <a:off x="7059167" y="3395472"/>
            <a:ext cx="237745" cy="0"/>
          </a:xfrm>
          <a:prstGeom prst="line">
            <a:avLst/>
          </a:prstGeom>
          <a:ln w="2540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15200" y="3230880"/>
            <a:ext cx="1463039" cy="329184"/>
          </a:xfrm>
          <a:prstGeom prst="roundRect">
            <a:avLst>
              <a:gd name="adj" fmla="val 1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FFFFFF"/>
                </a:solidFill>
                <a:latin typeface="Calibri"/>
              </a:rPr>
              <a:t>copy()</a:t>
            </a:r>
          </a:p>
        </p:txBody>
      </p:sp>
      <p:sp>
        <p:nvSpPr>
          <p:cNvPr id="23" name="Rounded Rectangle 22"/>
          <p:cNvSpPr/>
          <p:nvPr/>
        </p:nvSpPr>
        <p:spPr>
          <a:xfrm>
            <a:off x="7315200" y="3642360"/>
            <a:ext cx="1463039" cy="86868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back on the shelf</a:t>
            </a:r>
          </a:p>
        </p:txBody>
      </p:sp>
      <p:sp>
        <p:nvSpPr>
          <p:cNvPr id="2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Paste, change, copy: the same three steps.</a:t>
            </a:r>
          </a:p>
        </p:txBody>
      </p:sp>
      <p:sp>
        <p:nvSpPr>
          <p:cNvPr id="2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68 / 72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Features newer than the book, from the chapter research</a:t>
            </a:r>
          </a:p>
        </p:txBody>
      </p:sp>
      <p:graphicFrame>
        <p:nvGraphicFramePr>
          <p:cNvPr id="5" name="table"/>
          <p:cNvGraphicFramePr>
            <a:graphicFrameLocks noGrp="1"/>
          </p:cNvGraphicFramePr>
          <p:nvPr/>
        </p:nvGraphicFramePr>
        <p:xfrm>
          <a:off x="457200" y="1143000"/>
          <a:ext cx="8229599" cy="3584448"/>
        </p:xfrm>
        <a:graphic>
          <a:graphicData uri="http://schemas.openxmlformats.org/drawingml/2006/table">
            <a:tbl>
              <a:tblPr firstRow="0" bandRow="0"/>
              <a:tblGrid>
                <a:gridCol w="3291839"/>
                <a:gridCol w="731520"/>
                <a:gridCol w="4206240"/>
              </a:tblGrid>
              <a:tr h="512064">
                <a:tc>
                  <a:txBody>
                    <a:bodyPr wrap="square"/>
                    <a:lstStyle/>
                    <a:p>
                      <a:r>
                        <a:rPr sz="135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5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12064">
                <a:tc>
                  <a:txBody>
                    <a:bodyPr wrap="square"/>
                    <a:lstStyle/>
                    <a:p>
                      <a:r>
                        <a:rPr sz="1350" b="1" i="0">
                          <a:solidFill>
                            <a:srgbClr val="1F2933"/>
                          </a:solidFill>
                          <a:latin typeface="Calibri"/>
                        </a:rPr>
                        <a:t>f'{x=}' debug specifier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5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Prints the name and the value together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12064">
                <a:tc>
                  <a:txBody>
                    <a:bodyPr wrap="square"/>
                    <a:lstStyle/>
                    <a:p>
                      <a:r>
                        <a:rPr sz="1350" b="1" i="0">
                          <a:solidFill>
                            <a:srgbClr val="1F2933"/>
                          </a:solidFill>
                          <a:latin typeface="Calibri"/>
                        </a:rPr>
                        <a:t>removeprefix, removesuffix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Cut exact text, not a set of characters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12064">
                <a:tc>
                  <a:txBody>
                    <a:bodyPr wrap="square"/>
                    <a:lstStyle/>
                    <a:p>
                      <a:r>
                        <a:rPr sz="1350" b="1" i="0">
                          <a:solidFill>
                            <a:srgbClr val="1F2933"/>
                          </a:solidFill>
                          <a:latin typeface="Calibri"/>
                        </a:rPr>
                        <a:t>f-string restrictions lifted (PEP 701)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50" b="0" i="0">
                          <a:solidFill>
                            <a:srgbClr val="1F2933"/>
                          </a:solidFill>
                          <a:latin typeface="Calibri"/>
                        </a:rPr>
                        <a:t>3.12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A field may reuse the quote and hold a backslash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12064">
                <a:tc>
                  <a:txBody>
                    <a:bodyPr wrap="square"/>
                    <a:lstStyle/>
                    <a:p>
                      <a:r>
                        <a:rPr sz="1350" b="1" i="0">
                          <a:solidFill>
                            <a:srgbClr val="1F2933"/>
                          </a:solidFill>
                          <a:latin typeface="Calibri"/>
                        </a:rPr>
                        <a:t>Unknown escape such as \d warns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50" b="0" i="0">
                          <a:solidFill>
                            <a:srgbClr val="1F2933"/>
                          </a:solidFill>
                          <a:latin typeface="Calibri"/>
                        </a:rPr>
                        <a:t>3.12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The backslash is kept, and a SyntaxWarning appears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12064">
                <a:tc>
                  <a:txBody>
                    <a:bodyPr wrap="square"/>
                    <a:lstStyle/>
                    <a:p>
                      <a:r>
                        <a:rPr sz="1350" b="1" i="0">
                          <a:solidFill>
                            <a:srgbClr val="1F2933"/>
                          </a:solidFill>
                          <a:latin typeface="Calibri"/>
                        </a:rPr>
                        <a:t>Template strings, t'...' (PEP 750)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5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A Template object to process; a SyntaxError in 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12064">
                <a:tc>
                  <a:txBody>
                    <a:bodyPr wrap="square"/>
                    <a:lstStyle/>
                    <a:p>
                      <a:r>
                        <a:rPr sz="1350" b="1" i="0">
                          <a:solidFill>
                            <a:srgbClr val="1F2933"/>
                          </a:solidFill>
                          <a:latin typeface="Calibri"/>
                        </a:rPr>
                        <a:t>UTF-8 mode by default (PEP 686)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50" b="0" i="0">
                          <a:solidFill>
                            <a:srgbClr val="1F2933"/>
                          </a:solidFill>
                          <a:latin typeface="Calibri"/>
                        </a:rPr>
                        <a:t>3.15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open() will no longer depend on the locale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69 / 72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Strings never change in place; every operation makes a new string or an answer.</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Quotes, escapes, raw and triple quotes decide which characters the literal holds.</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Indexes and slices read pieces; in and not in test for text inside text.</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f-strings put values into text; the specifier after the colon shapes them.</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Methods make, test or cut; characters are numbers; bytes depend on the encoding.</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String methods in this chapter, by what they give back</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No string operation changes a string in place.</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70 / 72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does 'a-b-c'.split('-')[::-1] give? Name the slice rule you used.</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Write one line that centres your name in 30 characters, with * as filler.</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Why does 'Hello'.upper() leave 'Hello' unchanged? What must you write to keep the result?</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Change the Pig Latin function pig so a word that starts with a vowel gets way, not yay.</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one line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71 / 72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97280"/>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115568"/>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Book: Automate the Boring Stuff, 3rd edition, chapter 8</a:t>
            </a:r>
          </a:p>
          <a:p>
            <a:r>
              <a:rPr sz="950" b="0" i="0">
                <a:solidFill>
                  <a:srgbClr val="0E7C86"/>
                </a:solidFill>
                <a:latin typeface="Calibri"/>
                <a:hlinkClick r:id="rId3"/>
              </a:rPr>
              <a:t>https://automatetheboringstuff.com/3e/chapter8.html</a:t>
            </a:r>
          </a:p>
        </p:txBody>
      </p:sp>
      <p:sp>
        <p:nvSpPr>
          <p:cNvPr id="7" name="card"/>
          <p:cNvSpPr/>
          <p:nvPr/>
        </p:nvSpPr>
        <p:spPr>
          <a:xfrm>
            <a:off x="365760" y="1700784"/>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719072"/>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Python documentation: string methods</a:t>
            </a:r>
          </a:p>
          <a:p>
            <a:r>
              <a:rPr sz="950" b="0" i="0">
                <a:solidFill>
                  <a:srgbClr val="0E7C86"/>
                </a:solidFill>
                <a:latin typeface="Calibri"/>
                <a:hlinkClick r:id="rId4"/>
              </a:rPr>
              <a:t>docs.python.org</a:t>
            </a:r>
          </a:p>
        </p:txBody>
      </p:sp>
      <p:sp>
        <p:nvSpPr>
          <p:cNvPr id="9" name="card"/>
          <p:cNvSpPr/>
          <p:nvPr/>
        </p:nvSpPr>
        <p:spPr>
          <a:xfrm>
            <a:off x="365760" y="2304288"/>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322576"/>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Python tutorial: text and strings</a:t>
            </a:r>
          </a:p>
          <a:p>
            <a:r>
              <a:rPr sz="950" b="0" i="0">
                <a:solidFill>
                  <a:srgbClr val="0E7C86"/>
                </a:solidFill>
                <a:latin typeface="Calibri"/>
                <a:hlinkClick r:id="rId5"/>
              </a:rPr>
              <a:t>https://docs.python.org/3/tutorial/introduction.html#text</a:t>
            </a:r>
          </a:p>
        </p:txBody>
      </p:sp>
      <p:sp>
        <p:nvSpPr>
          <p:cNvPr id="11" name="card"/>
          <p:cNvSpPr/>
          <p:nvPr/>
        </p:nvSpPr>
        <p:spPr>
          <a:xfrm>
            <a:off x="365760" y="2907791"/>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926079"/>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Format specification mini-language</a:t>
            </a:r>
          </a:p>
          <a:p>
            <a:r>
              <a:rPr sz="950" b="0" i="0">
                <a:solidFill>
                  <a:srgbClr val="0E7C86"/>
                </a:solidFill>
                <a:latin typeface="Calibri"/>
                <a:hlinkClick r:id="rId6"/>
              </a:rPr>
              <a:t>docs.python.org</a:t>
            </a:r>
          </a:p>
        </p:txBody>
      </p:sp>
      <p:sp>
        <p:nvSpPr>
          <p:cNvPr id="13" name="card"/>
          <p:cNvSpPr/>
          <p:nvPr/>
        </p:nvSpPr>
        <p:spPr>
          <a:xfrm>
            <a:off x="365760" y="3511296"/>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529584"/>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Unicode HOWTO</a:t>
            </a:r>
          </a:p>
          <a:p>
            <a:r>
              <a:rPr sz="950" b="0" i="0">
                <a:solidFill>
                  <a:srgbClr val="0E7C86"/>
                </a:solidFill>
                <a:latin typeface="Calibri"/>
                <a:hlinkClick r:id="rId7"/>
              </a:rPr>
              <a:t>https://docs.python.org/3/howto/unicode.html</a:t>
            </a:r>
          </a:p>
        </p:txBody>
      </p:sp>
      <p:sp>
        <p:nvSpPr>
          <p:cNvPr id="15" name="card"/>
          <p:cNvSpPr/>
          <p:nvPr/>
        </p:nvSpPr>
        <p:spPr>
          <a:xfrm>
            <a:off x="365760" y="4114800"/>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4133087"/>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PEP 498: Literal String Interpolation</a:t>
            </a:r>
          </a:p>
          <a:p>
            <a:r>
              <a:rPr sz="950" b="0" i="0">
                <a:solidFill>
                  <a:srgbClr val="0E7C86"/>
                </a:solidFill>
                <a:latin typeface="Calibri"/>
                <a:hlinkClick r:id="rId8"/>
              </a:rPr>
              <a:t>https://peps.python.org/pep-0498/</a:t>
            </a:r>
          </a:p>
        </p:txBody>
      </p:sp>
      <p:sp>
        <p:nvSpPr>
          <p:cNvPr id="17" name="card"/>
          <p:cNvSpPr/>
          <p:nvPr/>
        </p:nvSpPr>
        <p:spPr>
          <a:xfrm>
            <a:off x="4663440" y="1097280"/>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736592" y="1115568"/>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PEP 750: Template Strings</a:t>
            </a:r>
          </a:p>
          <a:p>
            <a:r>
              <a:rPr sz="950" b="0" i="0">
                <a:solidFill>
                  <a:srgbClr val="0E7C86"/>
                </a:solidFill>
                <a:latin typeface="Calibri"/>
                <a:hlinkClick r:id="rId9"/>
              </a:rPr>
              <a:t>https://peps.python.org/pep-0750/</a:t>
            </a:r>
          </a:p>
        </p:txBody>
      </p:sp>
      <p:sp>
        <p:nvSpPr>
          <p:cNvPr id="19" name="card"/>
          <p:cNvSpPr/>
          <p:nvPr/>
        </p:nvSpPr>
        <p:spPr>
          <a:xfrm>
            <a:off x="4663440" y="1700784"/>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719072"/>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Rob Pike: UTF-8 history</a:t>
            </a:r>
          </a:p>
          <a:p>
            <a:r>
              <a:rPr sz="950" b="0" i="0">
                <a:solidFill>
                  <a:srgbClr val="0E7C86"/>
                </a:solidFill>
                <a:latin typeface="Calibri"/>
                <a:hlinkClick r:id="rId10"/>
              </a:rPr>
              <a:t>https://doc.cat-v.org/bell_labs/utf-8_history</a:t>
            </a:r>
          </a:p>
        </p:txBody>
      </p:sp>
      <p:sp>
        <p:nvSpPr>
          <p:cNvPr id="21" name="card"/>
          <p:cNvSpPr/>
          <p:nvPr/>
        </p:nvSpPr>
        <p:spPr>
          <a:xfrm>
            <a:off x="4663440" y="2304288"/>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2322576"/>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Unicode Inc. press release, 1991</a:t>
            </a:r>
          </a:p>
          <a:p>
            <a:r>
              <a:rPr sz="950" b="0" i="0">
                <a:solidFill>
                  <a:srgbClr val="0E7C86"/>
                </a:solidFill>
                <a:latin typeface="Calibri"/>
                <a:hlinkClick r:id="rId11"/>
              </a:rPr>
              <a:t>https://www.unicode.org/history/first-pr.htm</a:t>
            </a:r>
          </a:p>
        </p:txBody>
      </p:sp>
      <p:sp>
        <p:nvSpPr>
          <p:cNvPr id="23" name="card"/>
          <p:cNvSpPr/>
          <p:nvPr/>
        </p:nvSpPr>
        <p:spPr>
          <a:xfrm>
            <a:off x="4663440" y="2907791"/>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926079"/>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Larry Tesler on Wikipedia</a:t>
            </a:r>
          </a:p>
          <a:p>
            <a:r>
              <a:rPr sz="950" b="0" i="0">
                <a:solidFill>
                  <a:srgbClr val="0E7C86"/>
                </a:solidFill>
                <a:latin typeface="Calibri"/>
                <a:hlinkClick r:id="rId12"/>
              </a:rPr>
              <a:t>https://en.wikipedia.org/wiki/Larry_Tesler</a:t>
            </a:r>
          </a:p>
        </p:txBody>
      </p:sp>
      <p:sp>
        <p:nvSpPr>
          <p:cNvPr id="25" name="card"/>
          <p:cNvSpPr/>
          <p:nvPr/>
        </p:nvSpPr>
        <p:spPr>
          <a:xfrm>
            <a:off x="4663440" y="3511296"/>
            <a:ext cx="4114800" cy="53035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3529584"/>
            <a:ext cx="3977639" cy="493776"/>
          </a:xfrm>
          <a:prstGeom prst="rect">
            <a:avLst/>
          </a:prstGeom>
          <a:noFill/>
        </p:spPr>
        <p:txBody>
          <a:bodyPr wrap="square" lIns="45720" rIns="45720" tIns="27432" bIns="27432" anchor="ctr">
            <a:spAutoFit/>
          </a:bodyPr>
          <a:lstStyle/>
          <a:p>
            <a:r>
              <a:rPr sz="1100" b="1" i="0">
                <a:solidFill>
                  <a:srgbClr val="1F2933"/>
                </a:solidFill>
                <a:latin typeface="Calibri"/>
              </a:rPr>
              <a:t>Video: Characters, Symbols and the Unicode Miracle (Computerphile)</a:t>
            </a:r>
          </a:p>
          <a:p>
            <a:r>
              <a:rPr sz="950" b="0" i="0">
                <a:solidFill>
                  <a:srgbClr val="0E7C86"/>
                </a:solidFill>
                <a:latin typeface="Calibri"/>
                <a:hlinkClick r:id="rId13"/>
              </a:rPr>
              <a:t>https://www.youtube.com/watch?v=MijmeoH9LT4</a:t>
            </a:r>
          </a:p>
        </p:txBody>
      </p:sp>
      <p:sp>
        <p:nvSpPr>
          <p:cNvPr id="2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2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72 / 72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8: Strings and Text Editing (lecture deck 2.1.0)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